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13.xml"/>
  <Override ContentType="application/vnd.openxmlformats-officedocument.presentationml.notesSlide+xml" PartName="/ppt/notesSlides/notesSlide14.xml"/>
  <Override ContentType="application/vnd.openxmlformats-officedocument.presentationml.notesSlide+xml" PartName="/ppt/notesSlides/notesSlide15.xml"/>
  <Override ContentType="application/vnd.openxmlformats-officedocument.presentationml.notesSlide+xml" PartName="/ppt/notesSlides/notesSlide16.xml"/>
  <Override ContentType="application/vnd.openxmlformats-officedocument.presentationml.notesSlide+xml" PartName="/ppt/notesSlides/notesSlide17.xml"/>
  <Override ContentType="application/vnd.openxmlformats-officedocument.presentationml.notesSlide+xml" PartName="/ppt/notesSlides/notesSlide18.xml"/>
  <Override ContentType="application/vnd.openxmlformats-officedocument.presentationml.notesSlide+xml" PartName="/ppt/notesSlides/notesSlide19.xml"/>
  <Override ContentType="application/vnd.openxmlformats-officedocument.presentationml.notesSlide+xml" PartName="/ppt/notesSlides/notesSlide20.xml"/>
  <Override ContentType="application/vnd.openxmlformats-officedocument.presentationml.notesSlide+xml" PartName="/ppt/notesSlides/notesSlide21.xml"/>
  <Override ContentType="application/vnd.openxmlformats-officedocument.presentationml.notesSlide+xml" PartName="/ppt/notesSlides/notesSlide22.xml"/>
  <Override ContentType="application/vnd.openxmlformats-officedocument.presentationml.notesSlide+xml" PartName="/ppt/notesSlides/notesSlide23.xml"/>
  <Override ContentType="application/vnd.openxmlformats-officedocument.presentationml.notesSlide+xml" PartName="/ppt/notesSlides/notesSlide24.xml"/>
  <Override ContentType="application/vnd.openxmlformats-officedocument.presentationml.notesSlide+xml" PartName="/ppt/notesSlides/notesSlide25.xml"/>
  <Override ContentType="application/vnd.openxmlformats-officedocument.presentationml.notesSlide+xml" PartName="/ppt/notesSlides/notesSlide26.xml"/>
  <Override ContentType="application/vnd.openxmlformats-officedocument.presentationml.notesSlide+xml" PartName="/ppt/notesSlides/notesSlide27.xml"/>
  <Override ContentType="application/vnd.openxmlformats-officedocument.presentationml.notesSlide+xml" PartName="/ppt/notesSlides/notesSlide28.xml"/>
  <Override ContentType="application/vnd.openxmlformats-officedocument.presentationml.notesSlide+xml" PartName="/ppt/notesSlides/notesSlide29.xml"/>
  <Override ContentType="application/vnd.openxmlformats-officedocument.presentationml.notesSlide+xml" PartName="/ppt/notesSlides/notesSlide30.xml"/>
  <Override ContentType="application/vnd.openxmlformats-officedocument.presentationml.notesSlide+xml" PartName="/ppt/notesSlides/notesSlide31.xml"/>
  <Override ContentType="application/vnd.openxmlformats-officedocument.presentationml.notesSlide+xml" PartName="/ppt/notesSlides/notesSlide32.xml"/>
  <Override ContentType="application/vnd.openxmlformats-officedocument.presentationml.notesSlide+xml" PartName="/ppt/notesSlides/notesSlide33.xml"/>
  <Override ContentType="application/vnd.openxmlformats-officedocument.presentationml.notesSlide+xml" PartName="/ppt/notesSlides/notesSlide34.xml"/>
  <Override ContentType="application/vnd.openxmlformats-officedocument.presentationml.notesSlide+xml" PartName="/ppt/notesSlides/notesSlide35.xml"/>
  <Override ContentType="application/vnd.openxmlformats-officedocument.presentationml.notesSlide+xml" PartName="/ppt/notesSlides/notesSlide36.xml"/>
  <Override ContentType="application/vnd.openxmlformats-officedocument.presentationml.notesSlide+xml" PartName="/ppt/notesSlides/notesSlide37.xml"/>
  <Override ContentType="application/vnd.openxmlformats-officedocument.presentationml.notesSlide+xml" PartName="/ppt/notesSlides/notesSlide38.xml"/>
  <Override ContentType="application/vnd.openxmlformats-officedocument.presentationml.notesSlide+xml" PartName="/ppt/notesSlides/notesSlide39.xml"/>
  <Override ContentType="application/vnd.openxmlformats-officedocument.presentationml.notesSlide+xml" PartName="/ppt/notesSlides/notesSlide40.xml"/>
  <Override ContentType="application/vnd.openxmlformats-officedocument.presentationml.notesSlide+xml" PartName="/ppt/notesSlides/notesSlide41.xml"/>
  <Override ContentType="application/vnd.openxmlformats-officedocument.presentationml.notesSlide+xml" PartName="/ppt/notesSlides/notesSlide42.xml"/>
  <Override ContentType="application/vnd.openxmlformats-officedocument.presentationml.notesSlide+xml" PartName="/ppt/notesSlides/notesSlide43.xml"/>
  <Override ContentType="application/vnd.openxmlformats-officedocument.presentationml.notesSlide+xml" PartName="/ppt/notesSlides/notesSlide4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47.xml"/>
  <Override ContentType="application/vnd.openxmlformats-officedocument.presentationml.notesSlide+xml" PartName="/ppt/notesSlides/notesSlide48.xml"/>
  <Override ContentType="application/vnd.openxmlformats-officedocument.presentationml.notesSlide+xml" PartName="/ppt/notesSlides/notesSlide49.xml"/>
  <Override ContentType="application/vnd.openxmlformats-officedocument.presentationml.notesSlide+xml" PartName="/ppt/notesSlides/notesSlide50.xml"/>
  <Override ContentType="application/vnd.openxmlformats-officedocument.presentationml.notesSlide+xml" PartName="/ppt/notesSlides/notesSlide51.xml"/>
  <Override ContentType="application/vnd.openxmlformats-officedocument.presentationml.notesSlide+xml" PartName="/ppt/notesSlides/notesSlide52.xml"/>
  <Override ContentType="application/vnd.openxmlformats-officedocument.presentationml.notesSlide+xml" PartName="/ppt/notesSlides/notesSlide53.xml"/>
  <Override ContentType="application/vnd.openxmlformats-officedocument.presentationml.notesSlide+xml" PartName="/ppt/notesSlides/notesSlide54.xml"/>
  <Override ContentType="application/vnd.openxmlformats-officedocument.presentationml.notesSlide+xml" PartName="/ppt/notesSlides/notesSlide55.xml"/>
  <Override ContentType="application/vnd.openxmlformats-officedocument.presentationml.notesSlide+xml" PartName="/ppt/notesSlides/notesSlide56.xml"/>
  <Override ContentType="application/vnd.openxmlformats-officedocument.presentationml.notesSlide+xml" PartName="/ppt/notesSlides/notesSlide57.xml"/>
  <Override ContentType="application/vnd.openxmlformats-officedocument.presentationml.notesSlide+xml" PartName="/ppt/notesSlides/notesSlide58.xml"/>
  <Override ContentType="application/vnd.openxmlformats-officedocument.presentationml.notesSlide+xml" PartName="/ppt/notesSlides/notesSlide59.xml"/>
  <Override ContentType="application/vnd.openxmlformats-officedocument.presentationml.notesSlide+xml" PartName="/ppt/notesSlides/notesSlide60.xml"/>
  <Override ContentType="application/vnd.openxmlformats-officedocument.presentationml.notesSlide+xml" PartName="/ppt/notesSlides/notesSlide6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slide+xml" PartName="/ppt/slides/slide30.xml"/>
  <Override ContentType="application/vnd.openxmlformats-officedocument.presentationml.slide+xml" PartName="/ppt/slides/slide31.xml"/>
  <Override ContentType="application/vnd.openxmlformats-officedocument.presentationml.slide+xml" PartName="/ppt/slides/slide32.xml"/>
  <Override ContentType="application/vnd.openxmlformats-officedocument.presentationml.slide+xml" PartName="/ppt/slides/slide33.xml"/>
  <Override ContentType="application/vnd.openxmlformats-officedocument.presentationml.slide+xml" PartName="/ppt/slides/slide34.xml"/>
  <Override ContentType="application/vnd.openxmlformats-officedocument.presentationml.slide+xml" PartName="/ppt/slides/slide35.xml"/>
  <Override ContentType="application/vnd.openxmlformats-officedocument.presentationml.slide+xml" PartName="/ppt/slides/slide36.xml"/>
  <Override ContentType="application/vnd.openxmlformats-officedocument.presentationml.slide+xml" PartName="/ppt/slides/slide37.xml"/>
  <Override ContentType="application/vnd.openxmlformats-officedocument.presentationml.slide+xml" PartName="/ppt/slides/slide38.xml"/>
  <Override ContentType="application/vnd.openxmlformats-officedocument.presentationml.slide+xml" PartName="/ppt/slides/slide39.xml"/>
  <Override ContentType="application/vnd.openxmlformats-officedocument.presentationml.slide+xml" PartName="/ppt/slides/slide40.xml"/>
  <Override ContentType="application/vnd.openxmlformats-officedocument.presentationml.slide+xml" PartName="/ppt/slides/slide41.xml"/>
  <Override ContentType="application/vnd.openxmlformats-officedocument.presentationml.slide+xml" PartName="/ppt/slides/slide42.xml"/>
  <Override ContentType="application/vnd.openxmlformats-officedocument.presentationml.slide+xml" PartName="/ppt/slides/slide43.xml"/>
  <Override ContentType="application/vnd.openxmlformats-officedocument.presentationml.slide+xml" PartName="/ppt/slides/slide44.xml"/>
  <Override ContentType="application/vnd.openxmlformats-officedocument.presentationml.slide+xml" PartName="/ppt/slides/slide45.xml"/>
  <Override ContentType="application/vnd.openxmlformats-officedocument.presentationml.slide+xml" PartName="/ppt/slides/slide46.xml"/>
  <Override ContentType="application/vnd.openxmlformats-officedocument.presentationml.slide+xml" PartName="/ppt/slides/slide47.xml"/>
  <Override ContentType="application/vnd.openxmlformats-officedocument.presentationml.slide+xml" PartName="/ppt/slides/slide48.xml"/>
  <Override ContentType="application/vnd.openxmlformats-officedocument.presentationml.slide+xml" PartName="/ppt/slides/slide49.xml"/>
  <Override ContentType="application/vnd.openxmlformats-officedocument.presentationml.slide+xml" PartName="/ppt/slides/slide50.xml"/>
  <Override ContentType="application/vnd.openxmlformats-officedocument.presentationml.slide+xml" PartName="/ppt/slides/slide51.xml"/>
  <Override ContentType="application/vnd.openxmlformats-officedocument.presentationml.slide+xml" PartName="/ppt/slides/slide52.xml"/>
  <Override ContentType="application/vnd.openxmlformats-officedocument.presentationml.slide+xml" PartName="/ppt/slides/slide53.xml"/>
  <Override ContentType="application/vnd.openxmlformats-officedocument.presentationml.slide+xml" PartName="/ppt/slides/slide54.xml"/>
  <Override ContentType="application/vnd.openxmlformats-officedocument.presentationml.slide+xml" PartName="/ppt/slides/slide55.xml"/>
  <Override ContentType="application/vnd.openxmlformats-officedocument.presentationml.slide+xml" PartName="/ppt/slides/slide56.xml"/>
  <Override ContentType="application/vnd.openxmlformats-officedocument.presentationml.slide+xml" PartName="/ppt/slides/slide57.xml"/>
  <Override ContentType="application/vnd.openxmlformats-officedocument.presentationml.slide+xml" PartName="/ppt/slides/slide58.xml"/>
  <Override ContentType="application/vnd.openxmlformats-officedocument.presentationml.slide+xml" PartName="/ppt/slides/slide59.xml"/>
  <Override ContentType="application/vnd.openxmlformats-officedocument.presentationml.slide+xml" PartName="/ppt/slides/slide60.xml"/>
  <Override ContentType="application/vnd.openxmlformats-officedocument.presentationml.slide+xml" PartName="/ppt/slides/slide61.xml"/>
  <Override ContentType="application/vnd.openxmlformats-officedocument.presentationml.slide+xml" PartName="/ppt/slides/slide62.xml"/>
  <Override ContentType="application/vnd.openxmlformats-officedocument.presentationml.slide+xml" PartName="/ppt/slides/slide63.xml"/>
  <Override ContentType="application/vnd.openxmlformats-officedocument.presentationml.slide+xml" PartName="/ppt/slides/slide64.xml"/>
  <Override ContentType="application/vnd.openxmlformats-officedocument.presentationml.slide+xml" PartName="/ppt/slides/slide65.xml"/>
  <Override ContentType="application/vnd.openxmlformats-officedocument.presentationml.slide+xml" PartName="/ppt/slides/slide66.xml"/>
  <Override ContentType="application/vnd.openxmlformats-officedocument.presentationml.slide+xml" PartName="/ppt/slides/slide67.xml"/>
  <Override ContentType="application/vnd.openxmlformats-officedocument.presentationml.slide+xml" PartName="/ppt/slides/slide68.xml"/>
  <Override ContentType="application/vnd.openxmlformats-officedocument.presentationml.slide+xml" PartName="/ppt/slides/slide69.xml"/>
  <Override ContentType="application/vnd.openxmlformats-officedocument.presentationml.slide+xml" PartName="/ppt/slides/slide70.xml"/>
  <Override ContentType="application/vnd.openxmlformats-officedocument.presentationml.slide+xml" PartName="/ppt/slides/slide71.xml"/>
  <Override ContentType="application/vnd.openxmlformats-officedocument.presentationml.slide+xml" PartName="/ppt/slides/slide72.xml"/>
  <Override ContentType="application/vnd.openxmlformats-officedocument.presentationml.slide+xml" PartName="/ppt/slides/slide73.xml"/>
  <Override ContentType="application/vnd.openxmlformats-officedocument.presentationml.slide+xml" PartName="/ppt/slides/slide74.xml"/>
  <Override ContentType="application/vnd.openxmlformats-officedocument.presentationml.slide+xml" PartName="/ppt/slides/slide75.xml"/>
  <Override ContentType="application/vnd.openxmlformats-officedocument.presentationml.slide+xml" PartName="/ppt/slides/slide76.xml"/>
  <Override ContentType="application/vnd.openxmlformats-officedocument.presentationml.slide+xml" PartName="/ppt/slides/slide77.xml"/>
  <Override ContentType="application/vnd.openxmlformats-officedocument.presentationml.slide+xml" PartName="/ppt/slides/slide78.xml"/>
  <Override ContentType="application/vnd.openxmlformats-officedocument.presentationml.slide+xml" PartName="/ppt/slides/slide79.xml"/>
  <Override ContentType="application/vnd.openxmlformats-officedocument.presentationml.slide+xml" PartName="/ppt/slides/slide80.xml"/>
  <Override ContentType="application/vnd.openxmlformats-officedocument.presentationml.slide+xml" PartName="/ppt/slides/slide81.xml"/>
  <Override ContentType="application/vnd.openxmlformats-officedocument.presentationml.slide+xml" PartName="/ppt/slides/slide82.xml"/>
  <Override ContentType="application/vnd.openxmlformats-officedocument.presentationml.slide+xml" PartName="/ppt/slides/slide83.xml"/>
  <Override ContentType="application/vnd.openxmlformats-officedocument.presentationml.slide+xml" PartName="/ppt/slides/slide84.xml"/>
  <Override ContentType="application/vnd.openxmlformats-officedocument.presentationml.slide+xml" PartName="/ppt/slides/slide85.xml"/>
  <Override ContentType="application/vnd.openxmlformats-officedocument.presentationml.slide+xml" PartName="/ppt/slides/slide86.xml"/>
  <Override ContentType="application/vnd.openxmlformats-officedocument.presentationml.slide+xml" PartName="/ppt/slides/slide87.xml"/>
  <Override ContentType="application/vnd.openxmlformats-officedocument.presentationml.slide+xml" PartName="/ppt/slides/slide88.xml"/>
  <Override ContentType="application/vnd.openxmlformats-officedocument.presentationml.slide+xml" PartName="/ppt/slides/slide89.xml"/>
  <Override ContentType="application/vnd.openxmlformats-officedocument.presentationml.slide+xml" PartName="/ppt/slides/slide90.xml"/>
  <Override ContentType="application/vnd.openxmlformats-officedocument.presentationml.slide+xml" PartName="/ppt/slides/slide91.xml"/>
  <Override ContentType="application/vnd.openxmlformats-officedocument.presentationml.slide+xml" PartName="/ppt/slides/slide92.xml"/>
  <Override ContentType="application/vnd.openxmlformats-officedocument.presentationml.slide+xml" PartName="/ppt/slides/slide93.xml"/>
  <Override ContentType="application/vnd.openxmlformats-officedocument.presentationml.slide+xml" PartName="/ppt/slides/slide94.xml"/>
  <Override ContentType="application/vnd.openxmlformats-officedocument.presentationml.slide+xml" PartName="/ppt/slides/slide95.xml"/>
  <Override ContentType="application/vnd.openxmlformats-officedocument.presentationml.slide+xml" PartName="/ppt/slides/slide96.xml"/>
  <Override ContentType="application/vnd.openxmlformats-officedocument.presentationml.slide+xml" PartName="/ppt/slides/slide97.xml"/>
  <Override ContentType="application/vnd.openxmlformats-officedocument.presentationml.slide+xml" PartName="/ppt/slides/slide98.xml"/>
  <Override ContentType="application/vnd.openxmlformats-officedocument.presentationml.slide+xml" PartName="/ppt/slides/slide99.xml"/>
  <Override ContentType="application/vnd.openxmlformats-officedocument.presentationml.slide+xml" PartName="/ppt/slides/slide100.xml"/>
  <Override ContentType="application/vnd.openxmlformats-officedocument.presentationml.slide+xml" PartName="/ppt/slides/slide101.xml"/>
  <Override ContentType="application/vnd.openxmlformats-officedocument.presentationml.slide+xml" PartName="/ppt/slides/slide102.xml"/>
  <Override ContentType="application/vnd.openxmlformats-officedocument.presentationml.slide+xml" PartName="/ppt/slides/slide103.xml"/>
  <Override ContentType="application/vnd.openxmlformats-officedocument.presentationml.slide+xml" PartName="/ppt/slides/slide104.xml"/>
  <Override ContentType="application/vnd.openxmlformats-officedocument.presentationml.slide+xml" PartName="/ppt/slides/slide105.xml"/>
  <Override ContentType="application/vnd.openxmlformats-officedocument.presentationml.slide+xml" PartName="/ppt/slides/slide106.xml"/>
  <Override ContentType="application/vnd.openxmlformats-officedocument.presentationml.slide+xml" PartName="/ppt/slides/slide107.xml"/>
  <Override ContentType="application/vnd.openxmlformats-officedocument.presentationml.slide+xml" PartName="/ppt/slides/slide108.xml"/>
  <Override ContentType="application/vnd.openxmlformats-officedocument.presentationml.slide+xml" PartName="/ppt/slides/slide109.xml"/>
  <Override ContentType="application/vnd.openxmlformats-officedocument.presentationml.slide+xml" PartName="/ppt/slides/slide110.xml"/>
  <Override ContentType="application/vnd.openxmlformats-officedocument.presentationml.slide+xml" PartName="/ppt/slides/slide111.xml"/>
  <Override ContentType="application/vnd.openxmlformats-officedocument.presentationml.slide+xml" PartName="/ppt/slides/slide112.xml"/>
  <Override ContentType="application/vnd.openxmlformats-officedocument.presentationml.slide+xml" PartName="/ppt/slides/slide113.xml"/>
  <Override ContentType="application/vnd.openxmlformats-officedocument.presentationml.slide+xml" PartName="/ppt/slides/slide114.xml"/>
  <Override ContentType="application/vnd.openxmlformats-officedocument.presentationml.slide+xml" PartName="/ppt/slides/slide115.xml"/>
  <Override ContentType="application/vnd.openxmlformats-officedocument.presentationml.slide+xml" PartName="/ppt/slides/slide116.xml"/>
  <Override ContentType="application/vnd.openxmlformats-officedocument.presentationml.slide+xml" PartName="/ppt/slides/slide117.xml"/>
  <Override ContentType="application/vnd.openxmlformats-officedocument.presentationml.slide+xml" PartName="/ppt/slides/slide118.xml"/>
  <Override ContentType="application/vnd.openxmlformats-officedocument.presentationml.slide+xml" PartName="/ppt/slides/slide119.xml"/>
  <Override ContentType="application/vnd.openxmlformats-officedocument.presentationml.slide+xml" PartName="/ppt/slides/slide120.xml"/>
  <Override ContentType="application/vnd.openxmlformats-officedocument.presentationml.slide+xml" PartName="/ppt/slides/slide121.xml"/>
  <Override ContentType="application/vnd.openxmlformats-officedocument.presentationml.slide+xml" PartName="/ppt/slides/slide122.xml"/>
  <Override ContentType="application/vnd.openxmlformats-officedocument.presentationml.slide+xml" PartName="/ppt/slides/slide123.xml"/>
  <Override ContentType="application/vnd.openxmlformats-officedocument.presentationml.slide+xml" PartName="/ppt/slides/slide124.xml"/>
  <Override ContentType="application/vnd.openxmlformats-officedocument.presentationml.slide+xml" PartName="/ppt/slides/slide125.xml"/>
  <Override ContentType="application/vnd.openxmlformats-officedocument.presentationml.slide+xml" PartName="/ppt/slides/slide126.xml"/>
  <Override ContentType="application/vnd.openxmlformats-officedocument.presentationml.slide+xml" PartName="/ppt/slides/slide127.xml"/>
  <Override ContentType="application/vnd.openxmlformats-officedocument.presentationml.slide+xml" PartName="/ppt/slides/slide128.xml"/>
  <Override ContentType="application/vnd.openxmlformats-officedocument.presentationml.slide+xml" PartName="/ppt/slides/slide129.xml"/>
  <Override ContentType="application/vnd.openxmlformats-officedocument.presentationml.slide+xml" PartName="/ppt/slides/slide130.xml"/>
  <Override ContentType="application/vnd.openxmlformats-officedocument.presentationml.slide+xml" PartName="/ppt/slides/slide131.xml"/>
  <Override ContentType="application/vnd.openxmlformats-officedocument.presentationml.slide+xml" PartName="/ppt/slides/slide132.xml"/>
  <Override ContentType="application/vnd.openxmlformats-officedocument.presentationml.slide+xml" PartName="/ppt/slides/slide133.xml"/>
  <Override ContentType="application/vnd.openxmlformats-officedocument.presentationml.slide+xml" PartName="/ppt/slides/slide134.xml"/>
  <Override ContentType="application/vnd.openxmlformats-officedocument.presentationml.slide+xml" PartName="/ppt/slides/slide135.xml"/>
  <Override ContentType="application/vnd.openxmlformats-officedocument.presentationml.slide+xml" PartName="/ppt/slides/slide136.xml"/>
  <Override ContentType="application/vnd.openxmlformats-officedocument.presentationml.slide+xml" PartName="/ppt/slides/slide137.xml"/>
  <Override ContentType="application/vnd.openxmlformats-officedocument.presentationml.slide+xml" PartName="/ppt/slides/slide138.xml"/>
  <Override ContentType="application/vnd.openxmlformats-officedocument.presentationml.slide+xml" PartName="/ppt/slides/slide139.xml"/>
  <Override ContentType="application/vnd.openxmlformats-officedocument.presentationml.slide+xml" PartName="/ppt/slides/slide140.xml"/>
  <Override ContentType="application/vnd.openxmlformats-officedocument.presentationml.slide+xml" PartName="/ppt/slides/slide141.xml"/>
  <Override ContentType="application/vnd.openxmlformats-officedocument.presentationml.slide+xml" PartName="/ppt/slides/slide142.xml"/>
  <Override ContentType="application/vnd.openxmlformats-officedocument.presentationml.slide+xml" PartName="/ppt/slides/slide143.xml"/>
  <Override ContentType="application/vnd.openxmlformats-officedocument.presentationml.slide+xml" PartName="/ppt/slides/slide144.xml"/>
  <Override ContentType="application/vnd.openxmlformats-officedocument.presentationml.slide+xml" PartName="/ppt/slides/slide145.xml"/>
  <Override ContentType="application/vnd.openxmlformats-officedocument.presentationml.slide+xml" PartName="/ppt/slides/slide146.xml"/>
  <Override ContentType="application/vnd.openxmlformats-officedocument.presentationml.slide+xml" PartName="/ppt/slides/slide147.xml"/>
  <Override ContentType="application/vnd.openxmlformats-officedocument.presentationml.slide+xml" PartName="/ppt/slides/slide148.xml"/>
  <Override ContentType="application/vnd.openxmlformats-officedocument.presentationml.slide+xml" PartName="/ppt/slides/slide149.xml"/>
  <Override ContentType="application/vnd.openxmlformats-officedocument.presentationml.slide+xml" PartName="/ppt/slides/slide150.xml"/>
  <Override ContentType="application/vnd.openxmlformats-officedocument.presentationml.slide+xml" PartName="/ppt/slides/slide151.xml"/>
  <Override ContentType="application/vnd.openxmlformats-officedocument.presentationml.slide+xml" PartName="/ppt/slides/slide152.xml"/>
  <Override ContentType="application/vnd.openxmlformats-officedocument.presentationml.slide+xml" PartName="/ppt/slides/slide153.xml"/>
  <Override ContentType="application/vnd.openxmlformats-officedocument.presentationml.slide+xml" PartName="/ppt/slides/slide154.xml"/>
  <Override ContentType="application/vnd.openxmlformats-officedocument.presentationml.slide+xml" PartName="/ppt/slides/slide155.xml"/>
  <Override ContentType="application/vnd.openxmlformats-officedocument.presentationml.slide+xml" PartName="/ppt/slides/slide156.xml"/>
  <Override ContentType="application/vnd.openxmlformats-officedocument.presentationml.slide+xml" PartName="/ppt/slides/slide157.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163"/>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 id="322" r:id="rId72"/>
    <p:sldId id="323" r:id="rId73"/>
    <p:sldId id="324" r:id="rId74"/>
    <p:sldId id="325" r:id="rId75"/>
    <p:sldId id="326" r:id="rId76"/>
    <p:sldId id="327" r:id="rId77"/>
    <p:sldId id="328" r:id="rId78"/>
    <p:sldId id="329" r:id="rId79"/>
    <p:sldId id="330" r:id="rId80"/>
    <p:sldId id="331" r:id="rId81"/>
    <p:sldId id="332" r:id="rId82"/>
    <p:sldId id="333" r:id="rId83"/>
    <p:sldId id="334" r:id="rId84"/>
    <p:sldId id="335" r:id="rId85"/>
    <p:sldId id="336" r:id="rId86"/>
    <p:sldId id="337" r:id="rId87"/>
    <p:sldId id="338" r:id="rId88"/>
    <p:sldId id="339" r:id="rId89"/>
    <p:sldId id="340" r:id="rId90"/>
    <p:sldId id="341" r:id="rId91"/>
    <p:sldId id="342" r:id="rId92"/>
    <p:sldId id="343" r:id="rId93"/>
    <p:sldId id="344" r:id="rId94"/>
    <p:sldId id="345" r:id="rId95"/>
    <p:sldId id="346" r:id="rId96"/>
    <p:sldId id="347" r:id="rId97"/>
    <p:sldId id="348" r:id="rId98"/>
    <p:sldId id="349" r:id="rId99"/>
    <p:sldId id="350" r:id="rId100"/>
    <p:sldId id="351" r:id="rId101"/>
    <p:sldId id="352" r:id="rId102"/>
    <p:sldId id="353" r:id="rId103"/>
    <p:sldId id="354" r:id="rId104"/>
    <p:sldId id="355" r:id="rId105"/>
    <p:sldId id="356" r:id="rId106"/>
    <p:sldId id="357" r:id="rId107"/>
    <p:sldId id="358" r:id="rId108"/>
    <p:sldId id="359" r:id="rId109"/>
    <p:sldId id="360" r:id="rId110"/>
    <p:sldId id="361" r:id="rId111"/>
    <p:sldId id="362" r:id="rId112"/>
    <p:sldId id="363" r:id="rId113"/>
    <p:sldId id="364" r:id="rId114"/>
    <p:sldId id="365" r:id="rId115"/>
    <p:sldId id="366" r:id="rId116"/>
    <p:sldId id="367" r:id="rId117"/>
    <p:sldId id="368" r:id="rId118"/>
    <p:sldId id="369" r:id="rId119"/>
    <p:sldId id="370" r:id="rId120"/>
    <p:sldId id="371" r:id="rId121"/>
    <p:sldId id="372" r:id="rId122"/>
    <p:sldId id="373" r:id="rId123"/>
    <p:sldId id="374" r:id="rId124"/>
    <p:sldId id="375" r:id="rId125"/>
    <p:sldId id="376" r:id="rId126"/>
    <p:sldId id="377" r:id="rId127"/>
    <p:sldId id="378" r:id="rId128"/>
    <p:sldId id="379" r:id="rId129"/>
    <p:sldId id="380" r:id="rId130"/>
    <p:sldId id="381" r:id="rId131"/>
    <p:sldId id="382" r:id="rId132"/>
    <p:sldId id="383" r:id="rId133"/>
    <p:sldId id="384" r:id="rId134"/>
    <p:sldId id="385" r:id="rId135"/>
    <p:sldId id="386" r:id="rId136"/>
    <p:sldId id="387" r:id="rId137"/>
    <p:sldId id="388" r:id="rId138"/>
    <p:sldId id="389" r:id="rId139"/>
    <p:sldId id="390" r:id="rId140"/>
    <p:sldId id="391" r:id="rId141"/>
    <p:sldId id="392" r:id="rId142"/>
    <p:sldId id="393" r:id="rId143"/>
    <p:sldId id="394" r:id="rId144"/>
    <p:sldId id="395" r:id="rId145"/>
    <p:sldId id="396" r:id="rId146"/>
    <p:sldId id="397" r:id="rId147"/>
    <p:sldId id="398" r:id="rId148"/>
    <p:sldId id="399" r:id="rId149"/>
    <p:sldId id="400" r:id="rId150"/>
    <p:sldId id="401" r:id="rId151"/>
    <p:sldId id="402" r:id="rId152"/>
    <p:sldId id="403" r:id="rId153"/>
    <p:sldId id="404" r:id="rId154"/>
    <p:sldId id="405" r:id="rId155"/>
    <p:sldId id="406" r:id="rId156"/>
    <p:sldId id="407" r:id="rId157"/>
    <p:sldId id="408" r:id="rId158"/>
    <p:sldId id="409" r:id="rId159"/>
    <p:sldId id="410" r:id="rId160"/>
    <p:sldId id="411" r:id="rId161"/>
    <p:sldId id="412" r:id="rId162"/>
  </p:sldIdLst>
  <p:sldSz cx="18288000" cy="10287000"/>
  <p:notesSz cx="6858000" cy="9144000"/>
  <p:embeddedFontLst>
    <p:embeddedFont>
      <p:font typeface="Calibri (MS) Bold" charset="1" panose="020F0702030404030204"/>
      <p:regular r:id="rId166"/>
    </p:embeddedFont>
    <p:embeddedFont>
      <p:font typeface="Cambria Bold" charset="1" panose="02040803050406030204"/>
      <p:regular r:id="rId167"/>
    </p:embeddedFont>
    <p:embeddedFont>
      <p:font typeface="Calibri (MS)" charset="1" panose="020F0502020204030204"/>
      <p:regular r:id="rId168"/>
    </p:embeddedFont>
    <p:embeddedFont>
      <p:font typeface="Cambria" charset="1" panose="02040503050406030204"/>
      <p:regular r:id="rId171"/>
    </p:embeddedFont>
    <p:embeddedFont>
      <p:font typeface="Calibri (MS) Italics" charset="1" panose="020F05020202040A0204"/>
      <p:regular r:id="rId172"/>
    </p:embeddedFont>
    <p:embeddedFont>
      <p:font typeface="DM Sans Bold" charset="1" panose="00000000000000000000"/>
      <p:regular r:id="rId176"/>
    </p:embeddedFont>
    <p:embeddedFont>
      <p:font typeface="DM Sans" charset="1" panose="00000000000000000000"/>
      <p:regular r:id="rId177"/>
    </p:embeddedFont>
    <p:embeddedFont>
      <p:font typeface="Merriweather Bold" charset="1" panose="00000800000000000000"/>
      <p:regular r:id="rId178"/>
    </p:embeddedFont>
    <p:embeddedFont>
      <p:font typeface="Cambria Italics" charset="1" panose="020405030504060A0204"/>
      <p:regular r:id="rId180"/>
    </p:embeddedFont>
    <p:embeddedFont>
      <p:font typeface="Arimo" charset="1" panose="020B0604020202020204"/>
      <p:regular r:id="rId23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00" Target="slides/slide95.xml" Type="http://schemas.openxmlformats.org/officeDocument/2006/relationships/slide"/><Relationship Id="rId101" Target="slides/slide96.xml" Type="http://schemas.openxmlformats.org/officeDocument/2006/relationships/slide"/><Relationship Id="rId102" Target="slides/slide97.xml" Type="http://schemas.openxmlformats.org/officeDocument/2006/relationships/slide"/><Relationship Id="rId103" Target="slides/slide98.xml" Type="http://schemas.openxmlformats.org/officeDocument/2006/relationships/slide"/><Relationship Id="rId104" Target="slides/slide99.xml" Type="http://schemas.openxmlformats.org/officeDocument/2006/relationships/slide"/><Relationship Id="rId105" Target="slides/slide100.xml" Type="http://schemas.openxmlformats.org/officeDocument/2006/relationships/slide"/><Relationship Id="rId106" Target="slides/slide101.xml" Type="http://schemas.openxmlformats.org/officeDocument/2006/relationships/slide"/><Relationship Id="rId107" Target="slides/slide102.xml" Type="http://schemas.openxmlformats.org/officeDocument/2006/relationships/slide"/><Relationship Id="rId108" Target="slides/slide103.xml" Type="http://schemas.openxmlformats.org/officeDocument/2006/relationships/slide"/><Relationship Id="rId109" Target="slides/slide104.xml" Type="http://schemas.openxmlformats.org/officeDocument/2006/relationships/slide"/><Relationship Id="rId11" Target="slides/slide6.xml" Type="http://schemas.openxmlformats.org/officeDocument/2006/relationships/slide"/><Relationship Id="rId110" Target="slides/slide105.xml" Type="http://schemas.openxmlformats.org/officeDocument/2006/relationships/slide"/><Relationship Id="rId111" Target="slides/slide106.xml" Type="http://schemas.openxmlformats.org/officeDocument/2006/relationships/slide"/><Relationship Id="rId112" Target="slides/slide107.xml" Type="http://schemas.openxmlformats.org/officeDocument/2006/relationships/slide"/><Relationship Id="rId113" Target="slides/slide108.xml" Type="http://schemas.openxmlformats.org/officeDocument/2006/relationships/slide"/><Relationship Id="rId114" Target="slides/slide109.xml" Type="http://schemas.openxmlformats.org/officeDocument/2006/relationships/slide"/><Relationship Id="rId115" Target="slides/slide110.xml" Type="http://schemas.openxmlformats.org/officeDocument/2006/relationships/slide"/><Relationship Id="rId116" Target="slides/slide111.xml" Type="http://schemas.openxmlformats.org/officeDocument/2006/relationships/slide"/><Relationship Id="rId117" Target="slides/slide112.xml" Type="http://schemas.openxmlformats.org/officeDocument/2006/relationships/slide"/><Relationship Id="rId118" Target="slides/slide113.xml" Type="http://schemas.openxmlformats.org/officeDocument/2006/relationships/slide"/><Relationship Id="rId119" Target="slides/slide114.xml" Type="http://schemas.openxmlformats.org/officeDocument/2006/relationships/slide"/><Relationship Id="rId12" Target="slides/slide7.xml" Type="http://schemas.openxmlformats.org/officeDocument/2006/relationships/slide"/><Relationship Id="rId120" Target="slides/slide115.xml" Type="http://schemas.openxmlformats.org/officeDocument/2006/relationships/slide"/><Relationship Id="rId121" Target="slides/slide116.xml" Type="http://schemas.openxmlformats.org/officeDocument/2006/relationships/slide"/><Relationship Id="rId122" Target="slides/slide117.xml" Type="http://schemas.openxmlformats.org/officeDocument/2006/relationships/slide"/><Relationship Id="rId123" Target="slides/slide118.xml" Type="http://schemas.openxmlformats.org/officeDocument/2006/relationships/slide"/><Relationship Id="rId124" Target="slides/slide119.xml" Type="http://schemas.openxmlformats.org/officeDocument/2006/relationships/slide"/><Relationship Id="rId125" Target="slides/slide120.xml" Type="http://schemas.openxmlformats.org/officeDocument/2006/relationships/slide"/><Relationship Id="rId126" Target="slides/slide121.xml" Type="http://schemas.openxmlformats.org/officeDocument/2006/relationships/slide"/><Relationship Id="rId127" Target="slides/slide122.xml" Type="http://schemas.openxmlformats.org/officeDocument/2006/relationships/slide"/><Relationship Id="rId128" Target="slides/slide123.xml" Type="http://schemas.openxmlformats.org/officeDocument/2006/relationships/slide"/><Relationship Id="rId129" Target="slides/slide124.xml" Type="http://schemas.openxmlformats.org/officeDocument/2006/relationships/slide"/><Relationship Id="rId13" Target="slides/slide8.xml" Type="http://schemas.openxmlformats.org/officeDocument/2006/relationships/slide"/><Relationship Id="rId130" Target="slides/slide125.xml" Type="http://schemas.openxmlformats.org/officeDocument/2006/relationships/slide"/><Relationship Id="rId131" Target="slides/slide126.xml" Type="http://schemas.openxmlformats.org/officeDocument/2006/relationships/slide"/><Relationship Id="rId132" Target="slides/slide127.xml" Type="http://schemas.openxmlformats.org/officeDocument/2006/relationships/slide"/><Relationship Id="rId133" Target="slides/slide128.xml" Type="http://schemas.openxmlformats.org/officeDocument/2006/relationships/slide"/><Relationship Id="rId134" Target="slides/slide129.xml" Type="http://schemas.openxmlformats.org/officeDocument/2006/relationships/slide"/><Relationship Id="rId135" Target="slides/slide130.xml" Type="http://schemas.openxmlformats.org/officeDocument/2006/relationships/slide"/><Relationship Id="rId136" Target="slides/slide131.xml" Type="http://schemas.openxmlformats.org/officeDocument/2006/relationships/slide"/><Relationship Id="rId137" Target="slides/slide132.xml" Type="http://schemas.openxmlformats.org/officeDocument/2006/relationships/slide"/><Relationship Id="rId138" Target="slides/slide133.xml" Type="http://schemas.openxmlformats.org/officeDocument/2006/relationships/slide"/><Relationship Id="rId139" Target="slides/slide134.xml" Type="http://schemas.openxmlformats.org/officeDocument/2006/relationships/slide"/><Relationship Id="rId14" Target="slides/slide9.xml" Type="http://schemas.openxmlformats.org/officeDocument/2006/relationships/slide"/><Relationship Id="rId140" Target="slides/slide135.xml" Type="http://schemas.openxmlformats.org/officeDocument/2006/relationships/slide"/><Relationship Id="rId141" Target="slides/slide136.xml" Type="http://schemas.openxmlformats.org/officeDocument/2006/relationships/slide"/><Relationship Id="rId142" Target="slides/slide137.xml" Type="http://schemas.openxmlformats.org/officeDocument/2006/relationships/slide"/><Relationship Id="rId143" Target="slides/slide138.xml" Type="http://schemas.openxmlformats.org/officeDocument/2006/relationships/slide"/><Relationship Id="rId144" Target="slides/slide139.xml" Type="http://schemas.openxmlformats.org/officeDocument/2006/relationships/slide"/><Relationship Id="rId145" Target="slides/slide140.xml" Type="http://schemas.openxmlformats.org/officeDocument/2006/relationships/slide"/><Relationship Id="rId146" Target="slides/slide141.xml" Type="http://schemas.openxmlformats.org/officeDocument/2006/relationships/slide"/><Relationship Id="rId147" Target="slides/slide142.xml" Type="http://schemas.openxmlformats.org/officeDocument/2006/relationships/slide"/><Relationship Id="rId148" Target="slides/slide143.xml" Type="http://schemas.openxmlformats.org/officeDocument/2006/relationships/slide"/><Relationship Id="rId149" Target="slides/slide144.xml" Type="http://schemas.openxmlformats.org/officeDocument/2006/relationships/slide"/><Relationship Id="rId15" Target="slides/slide10.xml" Type="http://schemas.openxmlformats.org/officeDocument/2006/relationships/slide"/><Relationship Id="rId150" Target="slides/slide145.xml" Type="http://schemas.openxmlformats.org/officeDocument/2006/relationships/slide"/><Relationship Id="rId151" Target="slides/slide146.xml" Type="http://schemas.openxmlformats.org/officeDocument/2006/relationships/slide"/><Relationship Id="rId152" Target="slides/slide147.xml" Type="http://schemas.openxmlformats.org/officeDocument/2006/relationships/slide"/><Relationship Id="rId153" Target="slides/slide148.xml" Type="http://schemas.openxmlformats.org/officeDocument/2006/relationships/slide"/><Relationship Id="rId154" Target="slides/slide149.xml" Type="http://schemas.openxmlformats.org/officeDocument/2006/relationships/slide"/><Relationship Id="rId155" Target="slides/slide150.xml" Type="http://schemas.openxmlformats.org/officeDocument/2006/relationships/slide"/><Relationship Id="rId156" Target="slides/slide151.xml" Type="http://schemas.openxmlformats.org/officeDocument/2006/relationships/slide"/><Relationship Id="rId157" Target="slides/slide152.xml" Type="http://schemas.openxmlformats.org/officeDocument/2006/relationships/slide"/><Relationship Id="rId158" Target="slides/slide153.xml" Type="http://schemas.openxmlformats.org/officeDocument/2006/relationships/slide"/><Relationship Id="rId159" Target="slides/slide154.xml" Type="http://schemas.openxmlformats.org/officeDocument/2006/relationships/slide"/><Relationship Id="rId16" Target="slides/slide11.xml" Type="http://schemas.openxmlformats.org/officeDocument/2006/relationships/slide"/><Relationship Id="rId160" Target="slides/slide155.xml" Type="http://schemas.openxmlformats.org/officeDocument/2006/relationships/slide"/><Relationship Id="rId161" Target="slides/slide156.xml" Type="http://schemas.openxmlformats.org/officeDocument/2006/relationships/slide"/><Relationship Id="rId162" Target="slides/slide157.xml" Type="http://schemas.openxmlformats.org/officeDocument/2006/relationships/slide"/><Relationship Id="rId163" Target="notesMasters/notesMaster1.xml" Type="http://schemas.openxmlformats.org/officeDocument/2006/relationships/notesMaster"/><Relationship Id="rId164" Target="theme/theme2.xml" Type="http://schemas.openxmlformats.org/officeDocument/2006/relationships/theme"/><Relationship Id="rId165" Target="notesSlides/notesSlide1.xml" Type="http://schemas.openxmlformats.org/officeDocument/2006/relationships/notesSlide"/><Relationship Id="rId166" Target="fonts/font166.fntdata" Type="http://schemas.openxmlformats.org/officeDocument/2006/relationships/font"/><Relationship Id="rId167" Target="fonts/font167.fntdata" Type="http://schemas.openxmlformats.org/officeDocument/2006/relationships/font"/><Relationship Id="rId168" Target="fonts/font168.fntdata" Type="http://schemas.openxmlformats.org/officeDocument/2006/relationships/font"/><Relationship Id="rId169" Target="notesSlides/notesSlide2.xml" Type="http://schemas.openxmlformats.org/officeDocument/2006/relationships/notesSlide"/><Relationship Id="rId17" Target="slides/slide12.xml" Type="http://schemas.openxmlformats.org/officeDocument/2006/relationships/slide"/><Relationship Id="rId170" Target="notesSlides/notesSlide3.xml" Type="http://schemas.openxmlformats.org/officeDocument/2006/relationships/notesSlide"/><Relationship Id="rId171" Target="fonts/font171.fntdata" Type="http://schemas.openxmlformats.org/officeDocument/2006/relationships/font"/><Relationship Id="rId172" Target="fonts/font172.fntdata" Type="http://schemas.openxmlformats.org/officeDocument/2006/relationships/font"/><Relationship Id="rId173" Target="notesSlides/notesSlide4.xml" Type="http://schemas.openxmlformats.org/officeDocument/2006/relationships/notesSlide"/><Relationship Id="rId174" Target="notesSlides/notesSlide5.xml" Type="http://schemas.openxmlformats.org/officeDocument/2006/relationships/notesSlide"/><Relationship Id="rId175" Target="notesSlides/notesSlide6.xml" Type="http://schemas.openxmlformats.org/officeDocument/2006/relationships/notesSlide"/><Relationship Id="rId176" Target="fonts/font176.fntdata" Type="http://schemas.openxmlformats.org/officeDocument/2006/relationships/font"/><Relationship Id="rId177" Target="fonts/font177.fntdata" Type="http://schemas.openxmlformats.org/officeDocument/2006/relationships/font"/><Relationship Id="rId178" Target="fonts/font178.fntdata" Type="http://schemas.openxmlformats.org/officeDocument/2006/relationships/font"/><Relationship Id="rId179" Target="notesSlides/notesSlide7.xml" Type="http://schemas.openxmlformats.org/officeDocument/2006/relationships/notesSlide"/><Relationship Id="rId18" Target="slides/slide13.xml" Type="http://schemas.openxmlformats.org/officeDocument/2006/relationships/slide"/><Relationship Id="rId180" Target="fonts/font180.fntdata" Type="http://schemas.openxmlformats.org/officeDocument/2006/relationships/font"/><Relationship Id="rId181" Target="notesSlides/notesSlide8.xml" Type="http://schemas.openxmlformats.org/officeDocument/2006/relationships/notesSlide"/><Relationship Id="rId182" Target="notesSlides/notesSlide9.xml" Type="http://schemas.openxmlformats.org/officeDocument/2006/relationships/notesSlide"/><Relationship Id="rId183" Target="notesSlides/notesSlide10.xml" Type="http://schemas.openxmlformats.org/officeDocument/2006/relationships/notesSlide"/><Relationship Id="rId184" Target="notesSlides/notesSlide11.xml" Type="http://schemas.openxmlformats.org/officeDocument/2006/relationships/notesSlide"/><Relationship Id="rId185" Target="notesSlides/notesSlide12.xml" Type="http://schemas.openxmlformats.org/officeDocument/2006/relationships/notesSlide"/><Relationship Id="rId186" Target="notesSlides/notesSlide13.xml" Type="http://schemas.openxmlformats.org/officeDocument/2006/relationships/notesSlide"/><Relationship Id="rId187" Target="notesSlides/notesSlide14.xml" Type="http://schemas.openxmlformats.org/officeDocument/2006/relationships/notesSlide"/><Relationship Id="rId188" Target="notesSlides/notesSlide15.xml" Type="http://schemas.openxmlformats.org/officeDocument/2006/relationships/notesSlide"/><Relationship Id="rId189" Target="notesSlides/notesSlide16.xml" Type="http://schemas.openxmlformats.org/officeDocument/2006/relationships/notesSlide"/><Relationship Id="rId19" Target="slides/slide14.xml" Type="http://schemas.openxmlformats.org/officeDocument/2006/relationships/slide"/><Relationship Id="rId190" Target="notesSlides/notesSlide17.xml" Type="http://schemas.openxmlformats.org/officeDocument/2006/relationships/notesSlide"/><Relationship Id="rId191" Target="notesSlides/notesSlide18.xml" Type="http://schemas.openxmlformats.org/officeDocument/2006/relationships/notesSlide"/><Relationship Id="rId192" Target="notesSlides/notesSlide19.xml" Type="http://schemas.openxmlformats.org/officeDocument/2006/relationships/notesSlide"/><Relationship Id="rId193" Target="notesSlides/notesSlide20.xml" Type="http://schemas.openxmlformats.org/officeDocument/2006/relationships/notesSlide"/><Relationship Id="rId194" Target="notesSlides/notesSlide21.xml" Type="http://schemas.openxmlformats.org/officeDocument/2006/relationships/notesSlide"/><Relationship Id="rId195" Target="notesSlides/notesSlide22.xml" Type="http://schemas.openxmlformats.org/officeDocument/2006/relationships/notesSlide"/><Relationship Id="rId196" Target="notesSlides/notesSlide23.xml" Type="http://schemas.openxmlformats.org/officeDocument/2006/relationships/notesSlide"/><Relationship Id="rId197" Target="notesSlides/notesSlide24.xml" Type="http://schemas.openxmlformats.org/officeDocument/2006/relationships/notesSlide"/><Relationship Id="rId198" Target="notesSlides/notesSlide25.xml" Type="http://schemas.openxmlformats.org/officeDocument/2006/relationships/notesSlide"/><Relationship Id="rId199" Target="notesSlides/notesSlide26.xml" Type="http://schemas.openxmlformats.org/officeDocument/2006/relationships/notesSlide"/><Relationship Id="rId2" Target="presProps.xml" Type="http://schemas.openxmlformats.org/officeDocument/2006/relationships/presProps"/><Relationship Id="rId20" Target="slides/slide15.xml" Type="http://schemas.openxmlformats.org/officeDocument/2006/relationships/slide"/><Relationship Id="rId200" Target="notesSlides/notesSlide27.xml" Type="http://schemas.openxmlformats.org/officeDocument/2006/relationships/notesSlide"/><Relationship Id="rId201" Target="notesSlides/notesSlide28.xml" Type="http://schemas.openxmlformats.org/officeDocument/2006/relationships/notesSlide"/><Relationship Id="rId202" Target="notesSlides/notesSlide29.xml" Type="http://schemas.openxmlformats.org/officeDocument/2006/relationships/notesSlide"/><Relationship Id="rId203" Target="notesSlides/notesSlide30.xml" Type="http://schemas.openxmlformats.org/officeDocument/2006/relationships/notesSlide"/><Relationship Id="rId204" Target="notesSlides/notesSlide31.xml" Type="http://schemas.openxmlformats.org/officeDocument/2006/relationships/notesSlide"/><Relationship Id="rId205" Target="notesSlides/notesSlide32.xml" Type="http://schemas.openxmlformats.org/officeDocument/2006/relationships/notesSlide"/><Relationship Id="rId206" Target="notesSlides/notesSlide33.xml" Type="http://schemas.openxmlformats.org/officeDocument/2006/relationships/notesSlide"/><Relationship Id="rId207" Target="notesSlides/notesSlide34.xml" Type="http://schemas.openxmlformats.org/officeDocument/2006/relationships/notesSlide"/><Relationship Id="rId208" Target="notesSlides/notesSlide35.xml" Type="http://schemas.openxmlformats.org/officeDocument/2006/relationships/notesSlide"/><Relationship Id="rId209" Target="notesSlides/notesSlide36.xml" Type="http://schemas.openxmlformats.org/officeDocument/2006/relationships/notesSlide"/><Relationship Id="rId21" Target="slides/slide16.xml" Type="http://schemas.openxmlformats.org/officeDocument/2006/relationships/slide"/><Relationship Id="rId210" Target="notesSlides/notesSlide37.xml" Type="http://schemas.openxmlformats.org/officeDocument/2006/relationships/notesSlide"/><Relationship Id="rId211" Target="notesSlides/notesSlide38.xml" Type="http://schemas.openxmlformats.org/officeDocument/2006/relationships/notesSlide"/><Relationship Id="rId212" Target="notesSlides/notesSlide39.xml" Type="http://schemas.openxmlformats.org/officeDocument/2006/relationships/notesSlide"/><Relationship Id="rId213" Target="notesSlides/notesSlide40.xml" Type="http://schemas.openxmlformats.org/officeDocument/2006/relationships/notesSlide"/><Relationship Id="rId214" Target="notesSlides/notesSlide41.xml" Type="http://schemas.openxmlformats.org/officeDocument/2006/relationships/notesSlide"/><Relationship Id="rId215" Target="notesSlides/notesSlide42.xml" Type="http://schemas.openxmlformats.org/officeDocument/2006/relationships/notesSlide"/><Relationship Id="rId216" Target="notesSlides/notesSlide43.xml" Type="http://schemas.openxmlformats.org/officeDocument/2006/relationships/notesSlide"/><Relationship Id="rId217" Target="notesSlides/notesSlide44.xml" Type="http://schemas.openxmlformats.org/officeDocument/2006/relationships/notesSlide"/><Relationship Id="rId218" Target="notesSlides/notesSlide45.xml" Type="http://schemas.openxmlformats.org/officeDocument/2006/relationships/notesSlide"/><Relationship Id="rId219" Target="notesSlides/notesSlide46.xml" Type="http://schemas.openxmlformats.org/officeDocument/2006/relationships/notesSlide"/><Relationship Id="rId22" Target="slides/slide17.xml" Type="http://schemas.openxmlformats.org/officeDocument/2006/relationships/slide"/><Relationship Id="rId220" Target="notesSlides/notesSlide47.xml" Type="http://schemas.openxmlformats.org/officeDocument/2006/relationships/notesSlide"/><Relationship Id="rId221" Target="notesSlides/notesSlide48.xml" Type="http://schemas.openxmlformats.org/officeDocument/2006/relationships/notesSlide"/><Relationship Id="rId222" Target="notesSlides/notesSlide49.xml" Type="http://schemas.openxmlformats.org/officeDocument/2006/relationships/notesSlide"/><Relationship Id="rId223" Target="notesSlides/notesSlide50.xml" Type="http://schemas.openxmlformats.org/officeDocument/2006/relationships/notesSlide"/><Relationship Id="rId224" Target="notesSlides/notesSlide51.xml" Type="http://schemas.openxmlformats.org/officeDocument/2006/relationships/notesSlide"/><Relationship Id="rId225" Target="notesSlides/notesSlide52.xml" Type="http://schemas.openxmlformats.org/officeDocument/2006/relationships/notesSlide"/><Relationship Id="rId226" Target="notesSlides/notesSlide53.xml" Type="http://schemas.openxmlformats.org/officeDocument/2006/relationships/notesSlide"/><Relationship Id="rId227" Target="notesSlides/notesSlide54.xml" Type="http://schemas.openxmlformats.org/officeDocument/2006/relationships/notesSlide"/><Relationship Id="rId228" Target="notesSlides/notesSlide55.xml" Type="http://schemas.openxmlformats.org/officeDocument/2006/relationships/notesSlide"/><Relationship Id="rId229" Target="notesSlides/notesSlide56.xml" Type="http://schemas.openxmlformats.org/officeDocument/2006/relationships/notesSlide"/><Relationship Id="rId23" Target="slides/slide18.xml" Type="http://schemas.openxmlformats.org/officeDocument/2006/relationships/slide"/><Relationship Id="rId230" Target="notesSlides/notesSlide57.xml" Type="http://schemas.openxmlformats.org/officeDocument/2006/relationships/notesSlide"/><Relationship Id="rId231" Target="notesSlides/notesSlide58.xml" Type="http://schemas.openxmlformats.org/officeDocument/2006/relationships/notesSlide"/><Relationship Id="rId232" Target="notesSlides/notesSlide59.xml" Type="http://schemas.openxmlformats.org/officeDocument/2006/relationships/notesSlide"/><Relationship Id="rId233" Target="notesSlides/notesSlide60.xml" Type="http://schemas.openxmlformats.org/officeDocument/2006/relationships/notesSlide"/><Relationship Id="rId234" Target="notesSlides/notesSlide61.xml" Type="http://schemas.openxmlformats.org/officeDocument/2006/relationships/notesSlide"/><Relationship Id="rId235" Target="fonts/font235.fntdata" Type="http://schemas.openxmlformats.org/officeDocument/2006/relationships/font"/><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slides/slide27.xml" Type="http://schemas.openxmlformats.org/officeDocument/2006/relationships/slide"/><Relationship Id="rId33" Target="slides/slide28.xml" Type="http://schemas.openxmlformats.org/officeDocument/2006/relationships/slide"/><Relationship Id="rId34" Target="slides/slide29.xml" Type="http://schemas.openxmlformats.org/officeDocument/2006/relationships/slide"/><Relationship Id="rId35" Target="slides/slide30.xml" Type="http://schemas.openxmlformats.org/officeDocument/2006/relationships/slide"/><Relationship Id="rId36" Target="slides/slide31.xml" Type="http://schemas.openxmlformats.org/officeDocument/2006/relationships/slide"/><Relationship Id="rId37" Target="slides/slide32.xml" Type="http://schemas.openxmlformats.org/officeDocument/2006/relationships/slide"/><Relationship Id="rId38" Target="slides/slide33.xml" Type="http://schemas.openxmlformats.org/officeDocument/2006/relationships/slide"/><Relationship Id="rId39" Target="slides/slide34.xml" Type="http://schemas.openxmlformats.org/officeDocument/2006/relationships/slide"/><Relationship Id="rId4" Target="theme/theme1.xml" Type="http://schemas.openxmlformats.org/officeDocument/2006/relationships/theme"/><Relationship Id="rId40" Target="slides/slide35.xml" Type="http://schemas.openxmlformats.org/officeDocument/2006/relationships/slide"/><Relationship Id="rId41" Target="slides/slide36.xml" Type="http://schemas.openxmlformats.org/officeDocument/2006/relationships/slide"/><Relationship Id="rId42" Target="slides/slide37.xml" Type="http://schemas.openxmlformats.org/officeDocument/2006/relationships/slide"/><Relationship Id="rId43" Target="slides/slide38.xml" Type="http://schemas.openxmlformats.org/officeDocument/2006/relationships/slide"/><Relationship Id="rId44" Target="slides/slide39.xml" Type="http://schemas.openxmlformats.org/officeDocument/2006/relationships/slide"/><Relationship Id="rId45" Target="slides/slide40.xml" Type="http://schemas.openxmlformats.org/officeDocument/2006/relationships/slide"/><Relationship Id="rId46" Target="slides/slide41.xml" Type="http://schemas.openxmlformats.org/officeDocument/2006/relationships/slide"/><Relationship Id="rId47" Target="slides/slide42.xml" Type="http://schemas.openxmlformats.org/officeDocument/2006/relationships/slide"/><Relationship Id="rId48" Target="slides/slide43.xml" Type="http://schemas.openxmlformats.org/officeDocument/2006/relationships/slide"/><Relationship Id="rId49" Target="slides/slide44.xml" Type="http://schemas.openxmlformats.org/officeDocument/2006/relationships/slide"/><Relationship Id="rId5" Target="tableStyles.xml" Type="http://schemas.openxmlformats.org/officeDocument/2006/relationships/tableStyles"/><Relationship Id="rId50" Target="slides/slide45.xml" Type="http://schemas.openxmlformats.org/officeDocument/2006/relationships/slide"/><Relationship Id="rId51" Target="slides/slide46.xml" Type="http://schemas.openxmlformats.org/officeDocument/2006/relationships/slide"/><Relationship Id="rId52" Target="slides/slide47.xml" Type="http://schemas.openxmlformats.org/officeDocument/2006/relationships/slide"/><Relationship Id="rId53" Target="slides/slide48.xml" Type="http://schemas.openxmlformats.org/officeDocument/2006/relationships/slide"/><Relationship Id="rId54" Target="slides/slide49.xml" Type="http://schemas.openxmlformats.org/officeDocument/2006/relationships/slide"/><Relationship Id="rId55" Target="slides/slide50.xml" Type="http://schemas.openxmlformats.org/officeDocument/2006/relationships/slide"/><Relationship Id="rId56" Target="slides/slide51.xml" Type="http://schemas.openxmlformats.org/officeDocument/2006/relationships/slide"/><Relationship Id="rId57" Target="slides/slide52.xml" Type="http://schemas.openxmlformats.org/officeDocument/2006/relationships/slide"/><Relationship Id="rId58" Target="slides/slide53.xml" Type="http://schemas.openxmlformats.org/officeDocument/2006/relationships/slide"/><Relationship Id="rId59" Target="slides/slide54.xml" Type="http://schemas.openxmlformats.org/officeDocument/2006/relationships/slide"/><Relationship Id="rId6" Target="slides/slide1.xml" Type="http://schemas.openxmlformats.org/officeDocument/2006/relationships/slide"/><Relationship Id="rId60" Target="slides/slide55.xml" Type="http://schemas.openxmlformats.org/officeDocument/2006/relationships/slide"/><Relationship Id="rId61" Target="slides/slide56.xml" Type="http://schemas.openxmlformats.org/officeDocument/2006/relationships/slide"/><Relationship Id="rId62" Target="slides/slide57.xml" Type="http://schemas.openxmlformats.org/officeDocument/2006/relationships/slide"/><Relationship Id="rId63" Target="slides/slide58.xml" Type="http://schemas.openxmlformats.org/officeDocument/2006/relationships/slide"/><Relationship Id="rId64" Target="slides/slide59.xml" Type="http://schemas.openxmlformats.org/officeDocument/2006/relationships/slide"/><Relationship Id="rId65" Target="slides/slide60.xml" Type="http://schemas.openxmlformats.org/officeDocument/2006/relationships/slide"/><Relationship Id="rId66" Target="slides/slide61.xml" Type="http://schemas.openxmlformats.org/officeDocument/2006/relationships/slide"/><Relationship Id="rId67" Target="slides/slide62.xml" Type="http://schemas.openxmlformats.org/officeDocument/2006/relationships/slide"/><Relationship Id="rId68" Target="slides/slide63.xml" Type="http://schemas.openxmlformats.org/officeDocument/2006/relationships/slide"/><Relationship Id="rId69" Target="slides/slide64.xml" Type="http://schemas.openxmlformats.org/officeDocument/2006/relationships/slide"/><Relationship Id="rId7" Target="slides/slide2.xml" Type="http://schemas.openxmlformats.org/officeDocument/2006/relationships/slide"/><Relationship Id="rId70" Target="slides/slide65.xml" Type="http://schemas.openxmlformats.org/officeDocument/2006/relationships/slide"/><Relationship Id="rId71" Target="slides/slide66.xml" Type="http://schemas.openxmlformats.org/officeDocument/2006/relationships/slide"/><Relationship Id="rId72" Target="slides/slide67.xml" Type="http://schemas.openxmlformats.org/officeDocument/2006/relationships/slide"/><Relationship Id="rId73" Target="slides/slide68.xml" Type="http://schemas.openxmlformats.org/officeDocument/2006/relationships/slide"/><Relationship Id="rId74" Target="slides/slide69.xml" Type="http://schemas.openxmlformats.org/officeDocument/2006/relationships/slide"/><Relationship Id="rId75" Target="slides/slide70.xml" Type="http://schemas.openxmlformats.org/officeDocument/2006/relationships/slide"/><Relationship Id="rId76" Target="slides/slide71.xml" Type="http://schemas.openxmlformats.org/officeDocument/2006/relationships/slide"/><Relationship Id="rId77" Target="slides/slide72.xml" Type="http://schemas.openxmlformats.org/officeDocument/2006/relationships/slide"/><Relationship Id="rId78" Target="slides/slide73.xml" Type="http://schemas.openxmlformats.org/officeDocument/2006/relationships/slide"/><Relationship Id="rId79" Target="slides/slide74.xml" Type="http://schemas.openxmlformats.org/officeDocument/2006/relationships/slide"/><Relationship Id="rId8" Target="slides/slide3.xml" Type="http://schemas.openxmlformats.org/officeDocument/2006/relationships/slide"/><Relationship Id="rId80" Target="slides/slide75.xml" Type="http://schemas.openxmlformats.org/officeDocument/2006/relationships/slide"/><Relationship Id="rId81" Target="slides/slide76.xml" Type="http://schemas.openxmlformats.org/officeDocument/2006/relationships/slide"/><Relationship Id="rId82" Target="slides/slide77.xml" Type="http://schemas.openxmlformats.org/officeDocument/2006/relationships/slide"/><Relationship Id="rId83" Target="slides/slide78.xml" Type="http://schemas.openxmlformats.org/officeDocument/2006/relationships/slide"/><Relationship Id="rId84" Target="slides/slide79.xml" Type="http://schemas.openxmlformats.org/officeDocument/2006/relationships/slide"/><Relationship Id="rId85" Target="slides/slide80.xml" Type="http://schemas.openxmlformats.org/officeDocument/2006/relationships/slide"/><Relationship Id="rId86" Target="slides/slide81.xml" Type="http://schemas.openxmlformats.org/officeDocument/2006/relationships/slide"/><Relationship Id="rId87" Target="slides/slide82.xml" Type="http://schemas.openxmlformats.org/officeDocument/2006/relationships/slide"/><Relationship Id="rId88" Target="slides/slide83.xml" Type="http://schemas.openxmlformats.org/officeDocument/2006/relationships/slide"/><Relationship Id="rId89" Target="slides/slide84.xml" Type="http://schemas.openxmlformats.org/officeDocument/2006/relationships/slide"/><Relationship Id="rId9" Target="slides/slide4.xml" Type="http://schemas.openxmlformats.org/officeDocument/2006/relationships/slide"/><Relationship Id="rId90" Target="slides/slide85.xml" Type="http://schemas.openxmlformats.org/officeDocument/2006/relationships/slide"/><Relationship Id="rId91" Target="slides/slide86.xml" Type="http://schemas.openxmlformats.org/officeDocument/2006/relationships/slide"/><Relationship Id="rId92" Target="slides/slide87.xml" Type="http://schemas.openxmlformats.org/officeDocument/2006/relationships/slide"/><Relationship Id="rId93" Target="slides/slide88.xml" Type="http://schemas.openxmlformats.org/officeDocument/2006/relationships/slide"/><Relationship Id="rId94" Target="slides/slide89.xml" Type="http://schemas.openxmlformats.org/officeDocument/2006/relationships/slide"/><Relationship Id="rId95" Target="slides/slide90.xml" Type="http://schemas.openxmlformats.org/officeDocument/2006/relationships/slide"/><Relationship Id="rId96" Target="slides/slide91.xml" Type="http://schemas.openxmlformats.org/officeDocument/2006/relationships/slide"/><Relationship Id="rId97" Target="slides/slide92.xml" Type="http://schemas.openxmlformats.org/officeDocument/2006/relationships/slide"/><Relationship Id="rId98" Target="slides/slide93.xml" Type="http://schemas.openxmlformats.org/officeDocument/2006/relationships/slide"/><Relationship Id="rId99" Target="slides/slide9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3.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4.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5.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6.xml" Type="http://schemas.openxmlformats.org/officeDocument/2006/relationships/slide"/></Relationships>
</file>

<file path=ppt/notesSlides/_rels/notesSlide1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7.xml" Type="http://schemas.openxmlformats.org/officeDocument/2006/relationships/slide"/></Relationships>
</file>

<file path=ppt/notesSlides/_rels/notesSlide1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8.xml" Type="http://schemas.openxmlformats.org/officeDocument/2006/relationships/slide"/></Relationships>
</file>

<file path=ppt/notesSlides/_rels/notesSlide1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9.xml" Type="http://schemas.openxmlformats.org/officeDocument/2006/relationships/slide"/></Relationships>
</file>

<file path=ppt/notesSlides/_rels/notesSlide1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0.xml" Type="http://schemas.openxmlformats.org/officeDocument/2006/relationships/slide"/></Relationships>
</file>

<file path=ppt/notesSlides/_rels/notesSlide1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1.xml" Type="http://schemas.openxmlformats.org/officeDocument/2006/relationships/slide"/></Relationships>
</file>

<file path=ppt/notesSlides/_rels/notesSlide1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2.xml" Type="http://schemas.openxmlformats.org/officeDocument/2006/relationships/slide"/></Relationships>
</file>

<file path=ppt/notesSlides/_rels/notesSlide1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3.xml" Type="http://schemas.openxmlformats.org/officeDocument/2006/relationships/slide"/></Relationships>
</file>

<file path=ppt/notesSlides/_rels/notesSlide1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4.xml" Type="http://schemas.openxmlformats.org/officeDocument/2006/relationships/slide"/></Relationships>
</file>

<file path=ppt/notesSlides/_rels/notesSlide2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5.xml" Type="http://schemas.openxmlformats.org/officeDocument/2006/relationships/slide"/></Relationships>
</file>

<file path=ppt/notesSlides/_rels/notesSlide2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6.xml" Type="http://schemas.openxmlformats.org/officeDocument/2006/relationships/slide"/></Relationships>
</file>

<file path=ppt/notesSlides/_rels/notesSlide2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7.xml" Type="http://schemas.openxmlformats.org/officeDocument/2006/relationships/slide"/></Relationships>
</file>

<file path=ppt/notesSlides/_rels/notesSlide2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8.xml" Type="http://schemas.openxmlformats.org/officeDocument/2006/relationships/slide"/></Relationships>
</file>

<file path=ppt/notesSlides/_rels/notesSlide2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9.xml" Type="http://schemas.openxmlformats.org/officeDocument/2006/relationships/slide"/></Relationships>
</file>

<file path=ppt/notesSlides/_rels/notesSlide2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0.xml" Type="http://schemas.openxmlformats.org/officeDocument/2006/relationships/slide"/></Relationships>
</file>

<file path=ppt/notesSlides/_rels/notesSlide2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1.xml" Type="http://schemas.openxmlformats.org/officeDocument/2006/relationships/slide"/></Relationships>
</file>

<file path=ppt/notesSlides/_rels/notesSlide2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2.xml" Type="http://schemas.openxmlformats.org/officeDocument/2006/relationships/slide"/></Relationships>
</file>

<file path=ppt/notesSlides/_rels/notesSlide2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3.xml" Type="http://schemas.openxmlformats.org/officeDocument/2006/relationships/slide"/></Relationships>
</file>

<file path=ppt/notesSlides/_rels/notesSlide2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4.xml" Type="http://schemas.openxmlformats.org/officeDocument/2006/relationships/slide"/></Relationships>
</file>

<file path=ppt/notesSlides/_rels/notesSlide3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5.xml" Type="http://schemas.openxmlformats.org/officeDocument/2006/relationships/slide"/></Relationships>
</file>

<file path=ppt/notesSlides/_rels/notesSlide3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6.xml" Type="http://schemas.openxmlformats.org/officeDocument/2006/relationships/slide"/></Relationships>
</file>

<file path=ppt/notesSlides/_rels/notesSlide3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7.xml" Type="http://schemas.openxmlformats.org/officeDocument/2006/relationships/slide"/></Relationships>
</file>

<file path=ppt/notesSlides/_rels/notesSlide3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8.xml" Type="http://schemas.openxmlformats.org/officeDocument/2006/relationships/slide"/></Relationships>
</file>

<file path=ppt/notesSlides/_rels/notesSlide3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9.xml" Type="http://schemas.openxmlformats.org/officeDocument/2006/relationships/slide"/></Relationships>
</file>

<file path=ppt/notesSlides/_rels/notesSlide3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0.xml" Type="http://schemas.openxmlformats.org/officeDocument/2006/relationships/slide"/></Relationships>
</file>

<file path=ppt/notesSlides/_rels/notesSlide3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1.xml" Type="http://schemas.openxmlformats.org/officeDocument/2006/relationships/slide"/></Relationships>
</file>

<file path=ppt/notesSlides/_rels/notesSlide3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2.xml" Type="http://schemas.openxmlformats.org/officeDocument/2006/relationships/slide"/></Relationships>
</file>

<file path=ppt/notesSlides/_rels/notesSlide3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3.xml" Type="http://schemas.openxmlformats.org/officeDocument/2006/relationships/slide"/></Relationships>
</file>

<file path=ppt/notesSlides/_rels/notesSlide3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4.xml" Type="http://schemas.openxmlformats.org/officeDocument/2006/relationships/slide"/></Relationships>
</file>

<file path=ppt/notesSlides/_rels/notesSlide4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5.xml" Type="http://schemas.openxmlformats.org/officeDocument/2006/relationships/slide"/></Relationships>
</file>

<file path=ppt/notesSlides/_rels/notesSlide4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6.xml" Type="http://schemas.openxmlformats.org/officeDocument/2006/relationships/slide"/></Relationships>
</file>

<file path=ppt/notesSlides/_rels/notesSlide4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7.xml" Type="http://schemas.openxmlformats.org/officeDocument/2006/relationships/slide"/></Relationships>
</file>

<file path=ppt/notesSlides/_rels/notesSlide4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8.xml" Type="http://schemas.openxmlformats.org/officeDocument/2006/relationships/slide"/></Relationships>
</file>

<file path=ppt/notesSlides/_rels/notesSlide4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9.xml" Type="http://schemas.openxmlformats.org/officeDocument/2006/relationships/slide"/></Relationships>
</file>

<file path=ppt/notesSlides/_rels/notesSlide4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0.xml" Type="http://schemas.openxmlformats.org/officeDocument/2006/relationships/slide"/></Relationships>
</file>

<file path=ppt/notesSlides/_rels/notesSlide4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1.xml" Type="http://schemas.openxmlformats.org/officeDocument/2006/relationships/slide"/></Relationships>
</file>

<file path=ppt/notesSlides/_rels/notesSlide4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2.xml" Type="http://schemas.openxmlformats.org/officeDocument/2006/relationships/slide"/></Relationships>
</file>

<file path=ppt/notesSlides/_rels/notesSlide4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3.xml" Type="http://schemas.openxmlformats.org/officeDocument/2006/relationships/slide"/></Relationships>
</file>

<file path=ppt/notesSlides/_rels/notesSlide4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4.xml" Type="http://schemas.openxmlformats.org/officeDocument/2006/relationships/slide"/></Relationships>
</file>

<file path=ppt/notesSlides/_rels/notesSlide5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5.xml" Type="http://schemas.openxmlformats.org/officeDocument/2006/relationships/slide"/></Relationships>
</file>

<file path=ppt/notesSlides/_rels/notesSlide5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6.xml" Type="http://schemas.openxmlformats.org/officeDocument/2006/relationships/slide"/></Relationships>
</file>

<file path=ppt/notesSlides/_rels/notesSlide5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7.xml" Type="http://schemas.openxmlformats.org/officeDocument/2006/relationships/slide"/></Relationships>
</file>

<file path=ppt/notesSlides/_rels/notesSlide5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8.xml" Type="http://schemas.openxmlformats.org/officeDocument/2006/relationships/slide"/></Relationships>
</file>

<file path=ppt/notesSlides/_rels/notesSlide5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9.xml" Type="http://schemas.openxmlformats.org/officeDocument/2006/relationships/slide"/></Relationships>
</file>

<file path=ppt/notesSlides/_rels/notesSlide5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0.xml" Type="http://schemas.openxmlformats.org/officeDocument/2006/relationships/slide"/></Relationships>
</file>

<file path=ppt/notesSlides/_rels/notesSlide5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1.xml" Type="http://schemas.openxmlformats.org/officeDocument/2006/relationships/slide"/></Relationships>
</file>

<file path=ppt/notesSlides/_rels/notesSlide5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2.xml" Type="http://schemas.openxmlformats.org/officeDocument/2006/relationships/slide"/></Relationships>
</file>

<file path=ppt/notesSlides/_rels/notesSlide5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3.xml" Type="http://schemas.openxmlformats.org/officeDocument/2006/relationships/slide"/></Relationships>
</file>

<file path=ppt/notesSlides/_rels/notesSlide5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4.xml" Type="http://schemas.openxmlformats.org/officeDocument/2006/relationships/slide"/></Relationships>
</file>

<file path=ppt/notesSlides/_rels/notesSlide6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5.xml" Type="http://schemas.openxmlformats.org/officeDocument/2006/relationships/slide"/></Relationships>
</file>

<file path=ppt/notesSlides/_rels/notesSlide6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6.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3</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4</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5</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6</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7</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8</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9</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10</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12</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13</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14</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15</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16</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18</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19</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20</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21</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22</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23</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24</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25</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26</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27</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28</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29</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30</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31</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32</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33</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35</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36</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37</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38</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39</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40</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41</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42</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43</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44</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45</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46</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47</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48</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49</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50</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51</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52</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53</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54</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55</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56</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57</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58</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59</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60</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61</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62</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63</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1.jpeg" Type="http://schemas.openxmlformats.org/officeDocument/2006/relationships/image"/><Relationship Id="rId4" Target="../media/image2.png" Type="http://schemas.openxmlformats.org/officeDocument/2006/relationships/image"/><Relationship Id="rId5" Target="../media/image3.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 Id="rId3" Target="../media/image4.png" Type="http://schemas.openxmlformats.org/officeDocument/2006/relationships/image"/><Relationship Id="rId4" Target="../media/image1.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 Id="rId3" Target="../media/image5.png" Type="http://schemas.openxmlformats.org/officeDocument/2006/relationships/image"/><Relationship Id="rId4" Target="../media/image1.jpe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 Id="rId3" Target="../media/image5.png" Type="http://schemas.openxmlformats.org/officeDocument/2006/relationships/image"/><Relationship Id="rId4" Target="../media/image1.jpe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 Id="rId3" Target="../media/image6.png" Type="http://schemas.openxmlformats.org/officeDocument/2006/relationships/image"/><Relationship Id="rId4" Target="../media/image1.jpe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xml" Type="http://schemas.openxmlformats.org/officeDocument/2006/relationships/notesSlide"/><Relationship Id="rId3" Target="../media/image7.png" Type="http://schemas.openxmlformats.org/officeDocument/2006/relationships/image"/><Relationship Id="rId4" Target="../media/image1.jpeg" Type="http://schemas.openxmlformats.org/officeDocument/2006/relationships/image"/><Relationship Id="rId5" Target="../media/image8.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0.png" Type="http://schemas.openxmlformats.org/officeDocument/2006/relationships/image"/><Relationship Id="rId4" Target="../media/image11.png" Type="http://schemas.openxmlformats.org/officeDocument/2006/relationships/image"/><Relationship Id="rId5" Target="../media/image12.png" Type="http://schemas.openxmlformats.org/officeDocument/2006/relationships/image"/><Relationship Id="rId6" Target="../media/image13.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0.png" Type="http://schemas.openxmlformats.org/officeDocument/2006/relationships/image"/><Relationship Id="rId4" Target="../media/image11.png" Type="http://schemas.openxmlformats.org/officeDocument/2006/relationships/image"/><Relationship Id="rId5" Target="../media/image12.png" Type="http://schemas.openxmlformats.org/officeDocument/2006/relationships/image"/><Relationship Id="rId6" Target="../media/image13.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0.png" Type="http://schemas.openxmlformats.org/officeDocument/2006/relationships/image"/><Relationship Id="rId4" Target="../media/image11.png" Type="http://schemas.openxmlformats.org/officeDocument/2006/relationships/image"/><Relationship Id="rId5" Target="../media/image12.png" Type="http://schemas.openxmlformats.org/officeDocument/2006/relationships/image"/><Relationship Id="rId6" Target="../media/image13.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0.png" Type="http://schemas.openxmlformats.org/officeDocument/2006/relationships/image"/><Relationship Id="rId4" Target="../media/image11.png" Type="http://schemas.openxmlformats.org/officeDocument/2006/relationships/image"/><Relationship Id="rId5" Target="../media/image12.png" Type="http://schemas.openxmlformats.org/officeDocument/2006/relationships/image"/><Relationship Id="rId6" Target="../media/image13.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0.png" Type="http://schemas.openxmlformats.org/officeDocument/2006/relationships/image"/><Relationship Id="rId4" Target="../media/image11.png" Type="http://schemas.openxmlformats.org/officeDocument/2006/relationships/image"/><Relationship Id="rId5" Target="../media/image12.png" Type="http://schemas.openxmlformats.org/officeDocument/2006/relationships/image"/><Relationship Id="rId6" Target="../media/image13.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7.xml" Type="http://schemas.openxmlformats.org/officeDocument/2006/relationships/notesSlide"/><Relationship Id="rId3" Target="../media/image1.jpe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8.xml" Type="http://schemas.openxmlformats.org/officeDocument/2006/relationships/notesSlide"/><Relationship Id="rId3" Target="../media/image14.png" Type="http://schemas.openxmlformats.org/officeDocument/2006/relationships/image"/><Relationship Id="rId4" Target="../media/image1.jpe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9.xml" Type="http://schemas.openxmlformats.org/officeDocument/2006/relationships/notesSlide"/><Relationship Id="rId3" Target="../media/image15.png" Type="http://schemas.openxmlformats.org/officeDocument/2006/relationships/image"/><Relationship Id="rId4" Target="../media/image1.jpe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0.xml" Type="http://schemas.openxmlformats.org/officeDocument/2006/relationships/notesSlide"/><Relationship Id="rId3" Target="../media/image4.png" Type="http://schemas.openxmlformats.org/officeDocument/2006/relationships/image"/><Relationship Id="rId4" Target="../media/image1.jpe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1.xml" Type="http://schemas.openxmlformats.org/officeDocument/2006/relationships/notesSlide"/><Relationship Id="rId3" Target="../media/image15.png" Type="http://schemas.openxmlformats.org/officeDocument/2006/relationships/image"/><Relationship Id="rId4" Target="../media/image1.jpe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2.xml" Type="http://schemas.openxmlformats.org/officeDocument/2006/relationships/notesSlide"/><Relationship Id="rId3" Target="../media/image1.jpe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3.xml" Type="http://schemas.openxmlformats.org/officeDocument/2006/relationships/notesSlide"/><Relationship Id="rId3" Target="../media/image1.jpeg" Type="http://schemas.openxmlformats.org/officeDocument/2006/relationships/image"/><Relationship Id="rId4" Target="../media/image2.png" Type="http://schemas.openxmlformats.org/officeDocument/2006/relationships/image"/><Relationship Id="rId5" Target="../media/image16.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4.xml" Type="http://schemas.openxmlformats.org/officeDocument/2006/relationships/notesSlide"/><Relationship Id="rId3" Target="../media/image1.jpe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5.xml" Type="http://schemas.openxmlformats.org/officeDocument/2006/relationships/notesSlide"/><Relationship Id="rId3" Target="../media/image1.jpe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6.xml" Type="http://schemas.openxmlformats.org/officeDocument/2006/relationships/notesSlide"/><Relationship Id="rId3" Target="../media/image1.jpe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7.xml" Type="http://schemas.openxmlformats.org/officeDocument/2006/relationships/notesSlide"/><Relationship Id="rId3" Target="../media/image1.jpe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8.xml" Type="http://schemas.openxmlformats.org/officeDocument/2006/relationships/notesSlide"/><Relationship Id="rId3" Target="../media/image1.jpe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9.xml" Type="http://schemas.openxmlformats.org/officeDocument/2006/relationships/notesSlide"/><Relationship Id="rId3" Target="../media/image1.jpe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0.xml" Type="http://schemas.openxmlformats.org/officeDocument/2006/relationships/notesSlide"/><Relationship Id="rId3" Target="../media/image1.jpeg" Type="http://schemas.openxmlformats.org/officeDocument/2006/relationships/image"/></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1.xml" Type="http://schemas.openxmlformats.org/officeDocument/2006/relationships/notesSlide"/><Relationship Id="rId3" Target="../media/image1.jpeg" Type="http://schemas.openxmlformats.org/officeDocument/2006/relationships/image"/></Relationships>
</file>

<file path=ppt/slides/_rels/slide2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2.xml" Type="http://schemas.openxmlformats.org/officeDocument/2006/relationships/notesSlide"/><Relationship Id="rId3" Target="../media/image1.jpeg" Type="http://schemas.openxmlformats.org/officeDocument/2006/relationships/image"/></Relationships>
</file>

<file path=ppt/slides/_rels/slide2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3.xml" Type="http://schemas.openxmlformats.org/officeDocument/2006/relationships/notesSlide"/><Relationship Id="rId3" Target="../media/image1.jpeg" Type="http://schemas.openxmlformats.org/officeDocument/2006/relationships/image"/></Relationships>
</file>

<file path=ppt/slides/_rels/slide2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4.xml" Type="http://schemas.openxmlformats.org/officeDocument/2006/relationships/notesSlide"/><Relationship Id="rId3" Target="../media/image1.jpeg" Type="http://schemas.openxmlformats.org/officeDocument/2006/relationships/image"/></Relationships>
</file>

<file path=ppt/slides/_rels/slide3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5.xml" Type="http://schemas.openxmlformats.org/officeDocument/2006/relationships/notesSlide"/><Relationship Id="rId3" Target="../media/image1.jpeg" Type="http://schemas.openxmlformats.org/officeDocument/2006/relationships/image"/></Relationships>
</file>

<file path=ppt/slides/_rels/slide3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6.xml" Type="http://schemas.openxmlformats.org/officeDocument/2006/relationships/notesSlide"/><Relationship Id="rId3" Target="../media/image1.jpeg" Type="http://schemas.openxmlformats.org/officeDocument/2006/relationships/image"/></Relationships>
</file>

<file path=ppt/slides/_rels/slide3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7.xml" Type="http://schemas.openxmlformats.org/officeDocument/2006/relationships/notesSlide"/><Relationship Id="rId3" Target="../media/image1.jpeg" Type="http://schemas.openxmlformats.org/officeDocument/2006/relationships/image"/></Relationships>
</file>

<file path=ppt/slides/_rels/slide3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8.xml" Type="http://schemas.openxmlformats.org/officeDocument/2006/relationships/notesSlide"/><Relationship Id="rId3" Target="../media/image1.jpeg" Type="http://schemas.openxmlformats.org/officeDocument/2006/relationships/image"/></Relationships>
</file>

<file path=ppt/slides/_rels/slide3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9.xml" Type="http://schemas.openxmlformats.org/officeDocument/2006/relationships/notesSlide"/><Relationship Id="rId3" Target="../media/image1.jpeg" Type="http://schemas.openxmlformats.org/officeDocument/2006/relationships/image"/></Relationships>
</file>

<file path=ppt/slides/_rels/slide3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0.xml" Type="http://schemas.openxmlformats.org/officeDocument/2006/relationships/notesSlide"/><Relationship Id="rId3" Target="../media/image1.jpeg" Type="http://schemas.openxmlformats.org/officeDocument/2006/relationships/image"/></Relationships>
</file>

<file path=ppt/slides/_rels/slide3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1.xml" Type="http://schemas.openxmlformats.org/officeDocument/2006/relationships/notesSlide"/><Relationship Id="rId3" Target="../media/image1.jpeg" Type="http://schemas.openxmlformats.org/officeDocument/2006/relationships/image"/></Relationships>
</file>

<file path=ppt/slides/_rels/slide3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2.xml" Type="http://schemas.openxmlformats.org/officeDocument/2006/relationships/notesSlide"/><Relationship Id="rId3" Target="../media/image4.png" Type="http://schemas.openxmlformats.org/officeDocument/2006/relationships/image"/><Relationship Id="rId4" Target="../media/image1.jpeg" Type="http://schemas.openxmlformats.org/officeDocument/2006/relationships/image"/></Relationships>
</file>

<file path=ppt/slides/_rels/slide3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3.xml" Type="http://schemas.openxmlformats.org/officeDocument/2006/relationships/notesSlide"/><Relationship Id="rId3" Target="../media/image1.jpeg" Type="http://schemas.openxmlformats.org/officeDocument/2006/relationships/image"/></Relationships>
</file>

<file path=ppt/slides/_rels/slide3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4.xml" Type="http://schemas.openxmlformats.org/officeDocument/2006/relationships/notesSlide"/><Relationship Id="rId3" Target="../media/image1.jpeg" Type="http://schemas.openxmlformats.org/officeDocument/2006/relationships/image"/></Relationships>
</file>

<file path=ppt/slides/_rels/slide4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5.xml" Type="http://schemas.openxmlformats.org/officeDocument/2006/relationships/notesSlide"/><Relationship Id="rId3" Target="../media/image1.jpeg" Type="http://schemas.openxmlformats.org/officeDocument/2006/relationships/image"/></Relationships>
</file>

<file path=ppt/slides/_rels/slide4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6.xml" Type="http://schemas.openxmlformats.org/officeDocument/2006/relationships/notesSlide"/><Relationship Id="rId3" Target="../media/image1.jpeg" Type="http://schemas.openxmlformats.org/officeDocument/2006/relationships/image"/><Relationship Id="rId4" Target="../media/image2.png" Type="http://schemas.openxmlformats.org/officeDocument/2006/relationships/image"/><Relationship Id="rId5" Target="../media/image17.png" Type="http://schemas.openxmlformats.org/officeDocument/2006/relationships/image"/></Relationships>
</file>

<file path=ppt/slides/_rels/slide4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7.xml" Type="http://schemas.openxmlformats.org/officeDocument/2006/relationships/notesSlide"/><Relationship Id="rId3" Target="../media/image1.jpeg" Type="http://schemas.openxmlformats.org/officeDocument/2006/relationships/image"/></Relationships>
</file>

<file path=ppt/slides/_rels/slide4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8.xml" Type="http://schemas.openxmlformats.org/officeDocument/2006/relationships/notesSlide"/><Relationship Id="rId3" Target="../media/image1.jpeg" Type="http://schemas.openxmlformats.org/officeDocument/2006/relationships/image"/></Relationships>
</file>

<file path=ppt/slides/_rels/slide4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9.xml" Type="http://schemas.openxmlformats.org/officeDocument/2006/relationships/notesSlide"/><Relationship Id="rId3" Target="../media/image1.jpeg" Type="http://schemas.openxmlformats.org/officeDocument/2006/relationships/image"/></Relationships>
</file>

<file path=ppt/slides/_rels/slide4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0.xml" Type="http://schemas.openxmlformats.org/officeDocument/2006/relationships/notesSlide"/><Relationship Id="rId3" Target="../media/image1.jpeg" Type="http://schemas.openxmlformats.org/officeDocument/2006/relationships/image"/></Relationships>
</file>

<file path=ppt/slides/_rels/slide4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1.xml" Type="http://schemas.openxmlformats.org/officeDocument/2006/relationships/notesSlide"/><Relationship Id="rId3" Target="../media/image1.jpeg" Type="http://schemas.openxmlformats.org/officeDocument/2006/relationships/image"/></Relationships>
</file>

<file path=ppt/slides/_rels/slide4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2.xml" Type="http://schemas.openxmlformats.org/officeDocument/2006/relationships/notesSlide"/><Relationship Id="rId3" Target="../media/image1.jpeg" Type="http://schemas.openxmlformats.org/officeDocument/2006/relationships/image"/></Relationships>
</file>

<file path=ppt/slides/_rels/slide4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3.xml" Type="http://schemas.openxmlformats.org/officeDocument/2006/relationships/notesSlide"/><Relationship Id="rId3" Target="../media/image1.jpeg" Type="http://schemas.openxmlformats.org/officeDocument/2006/relationships/image"/></Relationships>
</file>

<file path=ppt/slides/_rels/slide4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4.xml" Type="http://schemas.openxmlformats.org/officeDocument/2006/relationships/notesSlide"/><Relationship Id="rId3" Target="../media/image1.jpeg" Type="http://schemas.openxmlformats.org/officeDocument/2006/relationships/image"/></Relationships>
</file>

<file path=ppt/slides/_rels/slide5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5.xml" Type="http://schemas.openxmlformats.org/officeDocument/2006/relationships/notesSlide"/><Relationship Id="rId3" Target="../media/image1.jpeg" Type="http://schemas.openxmlformats.org/officeDocument/2006/relationships/image"/></Relationships>
</file>

<file path=ppt/slides/_rels/slide5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6.xml" Type="http://schemas.openxmlformats.org/officeDocument/2006/relationships/notesSlide"/><Relationship Id="rId3" Target="../media/image1.jpeg" Type="http://schemas.openxmlformats.org/officeDocument/2006/relationships/image"/></Relationships>
</file>

<file path=ppt/slides/_rels/slide5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7.xml" Type="http://schemas.openxmlformats.org/officeDocument/2006/relationships/notesSlide"/><Relationship Id="rId3" Target="../media/image1.jpeg" Type="http://schemas.openxmlformats.org/officeDocument/2006/relationships/image"/></Relationships>
</file>

<file path=ppt/slides/_rels/slide5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8.xml" Type="http://schemas.openxmlformats.org/officeDocument/2006/relationships/notesSlide"/><Relationship Id="rId3" Target="../media/image1.jpeg" Type="http://schemas.openxmlformats.org/officeDocument/2006/relationships/image"/></Relationships>
</file>

<file path=ppt/slides/_rels/slide5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9.xml" Type="http://schemas.openxmlformats.org/officeDocument/2006/relationships/notesSlide"/><Relationship Id="rId3" Target="../media/image1.jpeg" Type="http://schemas.openxmlformats.org/officeDocument/2006/relationships/image"/></Relationships>
</file>

<file path=ppt/slides/_rels/slide5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0.xml" Type="http://schemas.openxmlformats.org/officeDocument/2006/relationships/notesSlide"/><Relationship Id="rId3" Target="../media/image1.jpeg" Type="http://schemas.openxmlformats.org/officeDocument/2006/relationships/image"/></Relationships>
</file>

<file path=ppt/slides/_rels/slide5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1.xml" Type="http://schemas.openxmlformats.org/officeDocument/2006/relationships/notesSlide"/><Relationship Id="rId3" Target="../media/image1.jpeg" Type="http://schemas.openxmlformats.org/officeDocument/2006/relationships/image"/></Relationships>
</file>

<file path=ppt/slides/_rels/slide5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2.xml" Type="http://schemas.openxmlformats.org/officeDocument/2006/relationships/notesSlide"/><Relationship Id="rId3" Target="../media/image1.jpeg" Type="http://schemas.openxmlformats.org/officeDocument/2006/relationships/image"/></Relationships>
</file>

<file path=ppt/slides/_rels/slide5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3.xml" Type="http://schemas.openxmlformats.org/officeDocument/2006/relationships/notesSlide"/><Relationship Id="rId3" Target="../media/image1.jpeg" Type="http://schemas.openxmlformats.org/officeDocument/2006/relationships/image"/></Relationships>
</file>

<file path=ppt/slides/_rels/slide5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4.xml" Type="http://schemas.openxmlformats.org/officeDocument/2006/relationships/notesSlide"/><Relationship Id="rId3" Target="../media/image1.jpeg" Type="http://schemas.openxmlformats.org/officeDocument/2006/relationships/image"/></Relationships>
</file>

<file path=ppt/slides/_rels/slide6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5.xml" Type="http://schemas.openxmlformats.org/officeDocument/2006/relationships/notesSlide"/><Relationship Id="rId3" Target="../media/image1.jpeg" Type="http://schemas.openxmlformats.org/officeDocument/2006/relationships/image"/></Relationships>
</file>

<file path=ppt/slides/_rels/slide6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6.xml" Type="http://schemas.openxmlformats.org/officeDocument/2006/relationships/notesSlide"/><Relationship Id="rId3" Target="../media/image1.jpeg" Type="http://schemas.openxmlformats.org/officeDocument/2006/relationships/image"/></Relationships>
</file>

<file path=ppt/slides/_rels/slide6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7.xml" Type="http://schemas.openxmlformats.org/officeDocument/2006/relationships/notesSlide"/><Relationship Id="rId3" Target="../media/image1.jpeg" Type="http://schemas.openxmlformats.org/officeDocument/2006/relationships/image"/></Relationships>
</file>

<file path=ppt/slides/_rels/slide6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8.xml" Type="http://schemas.openxmlformats.org/officeDocument/2006/relationships/notesSlide"/><Relationship Id="rId3" Target="../media/image1.jpeg" Type="http://schemas.openxmlformats.org/officeDocument/2006/relationships/image"/></Relationships>
</file>

<file path=ppt/slides/_rels/slide6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9.xml" Type="http://schemas.openxmlformats.org/officeDocument/2006/relationships/notesSlide"/><Relationship Id="rId3" Target="../media/image1.jpeg" Type="http://schemas.openxmlformats.org/officeDocument/2006/relationships/image"/></Relationships>
</file>

<file path=ppt/slides/_rels/slide6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0.xml" Type="http://schemas.openxmlformats.org/officeDocument/2006/relationships/notesSlide"/><Relationship Id="rId3" Target="../media/image1.jpeg" Type="http://schemas.openxmlformats.org/officeDocument/2006/relationships/image"/></Relationships>
</file>

<file path=ppt/slides/_rels/slide6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1.xml" Type="http://schemas.openxmlformats.org/officeDocument/2006/relationships/notesSlide"/><Relationship Id="rId3" Target="../media/image1.jpeg" Type="http://schemas.openxmlformats.org/officeDocument/2006/relationships/image"/></Relationships>
</file>

<file path=ppt/slides/_rels/slide6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6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6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8.png" Type="http://schemas.openxmlformats.org/officeDocument/2006/relationships/image"/><Relationship Id="rId3" Target="../media/image1.jpeg" Type="http://schemas.openxmlformats.org/officeDocument/2006/relationships/image"/></Relationships>
</file>

<file path=ppt/slides/_rels/slide7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png" Type="http://schemas.openxmlformats.org/officeDocument/2006/relationships/image"/><Relationship Id="rId3" Target="../media/image1.jpeg" Type="http://schemas.openxmlformats.org/officeDocument/2006/relationships/image"/></Relationships>
</file>

<file path=ppt/slides/_rels/slide7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png" Type="http://schemas.openxmlformats.org/officeDocument/2006/relationships/image"/><Relationship Id="rId3" Target="../media/image1.jpeg" Type="http://schemas.openxmlformats.org/officeDocument/2006/relationships/image"/></Relationships>
</file>

<file path=ppt/slides/_rels/slide7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7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1.jpeg" Type="http://schemas.openxmlformats.org/officeDocument/2006/relationships/image"/></Relationships>
</file>

<file path=ppt/slides/_rels/slide7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8.png" Type="http://schemas.openxmlformats.org/officeDocument/2006/relationships/image"/><Relationship Id="rId3" Target="../media/image1.jpeg" Type="http://schemas.openxmlformats.org/officeDocument/2006/relationships/image"/></Relationships>
</file>

<file path=ppt/slides/_rels/slide7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png" Type="http://schemas.openxmlformats.org/officeDocument/2006/relationships/image"/><Relationship Id="rId3" Target="../media/image1.jpeg" Type="http://schemas.openxmlformats.org/officeDocument/2006/relationships/image"/></Relationships>
</file>

<file path=ppt/slides/_rels/slide7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19.png" Type="http://schemas.openxmlformats.org/officeDocument/2006/relationships/image"/></Relationships>
</file>

<file path=ppt/slides/_rels/slide7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7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7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8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8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8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8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8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8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8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8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8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8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9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9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9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9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9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9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9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9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9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9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10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10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10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10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10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10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10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10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10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10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1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1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1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1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1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1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1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1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1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1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png" Type="http://schemas.openxmlformats.org/officeDocument/2006/relationships/image"/><Relationship Id="rId3" Target="../media/image1.jpeg" Type="http://schemas.openxmlformats.org/officeDocument/2006/relationships/image"/></Relationships>
</file>

<file path=ppt/slides/_rels/slide1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png" Type="http://schemas.openxmlformats.org/officeDocument/2006/relationships/image"/><Relationship Id="rId3" Target="../media/image1.jpeg" Type="http://schemas.openxmlformats.org/officeDocument/2006/relationships/image"/></Relationships>
</file>

<file path=ppt/slides/_rels/slide1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12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1.jpeg" Type="http://schemas.openxmlformats.org/officeDocument/2006/relationships/image"/></Relationships>
</file>

<file path=ppt/slides/_rels/slide12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png" Type="http://schemas.openxmlformats.org/officeDocument/2006/relationships/image"/><Relationship Id="rId3" Target="../media/image1.jpeg" Type="http://schemas.openxmlformats.org/officeDocument/2006/relationships/image"/></Relationships>
</file>

<file path=ppt/slides/_rels/slide12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8.png" Type="http://schemas.openxmlformats.org/officeDocument/2006/relationships/image"/><Relationship Id="rId3" Target="../media/image1.jpeg" Type="http://schemas.openxmlformats.org/officeDocument/2006/relationships/image"/></Relationships>
</file>

<file path=ppt/slides/_rels/slide12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1.jpeg" Type="http://schemas.openxmlformats.org/officeDocument/2006/relationships/image"/></Relationships>
</file>

<file path=ppt/slides/_rels/slide12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20.png" Type="http://schemas.openxmlformats.org/officeDocument/2006/relationships/image"/></Relationships>
</file>

<file path=ppt/slides/_rels/slide12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12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12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13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13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13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13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13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13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13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13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13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13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14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14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14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14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14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14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14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14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14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14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15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15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15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15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15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15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15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15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1E2761"/>
        </a:solidFill>
      </p:bgPr>
    </p:bg>
    <p:spTree>
      <p:nvGrpSpPr>
        <p:cNvPr id="1" name=""/>
        <p:cNvGrpSpPr/>
        <p:nvPr/>
      </p:nvGrpSpPr>
      <p:grpSpPr>
        <a:xfrm>
          <a:off x="0" y="0"/>
          <a:ext cx="0" cy="0"/>
          <a:chOff x="0" y="0"/>
          <a:chExt cx="0" cy="0"/>
        </a:xfrm>
      </p:grpSpPr>
      <p:grpSp>
        <p:nvGrpSpPr>
          <p:cNvPr name="Group 2" id="2"/>
          <p:cNvGrpSpPr/>
          <p:nvPr/>
        </p:nvGrpSpPr>
        <p:grpSpPr>
          <a:xfrm rot="0">
            <a:off x="1234440" y="1303020"/>
            <a:ext cx="10972800" cy="548640"/>
            <a:chOff x="0" y="0"/>
            <a:chExt cx="14630400" cy="731520"/>
          </a:xfrm>
        </p:grpSpPr>
        <p:sp>
          <p:nvSpPr>
            <p:cNvPr name="Freeform 3" id="3"/>
            <p:cNvSpPr/>
            <p:nvPr/>
          </p:nvSpPr>
          <p:spPr>
            <a:xfrm flipH="false" flipV="false" rot="0">
              <a:off x="0" y="0"/>
              <a:ext cx="14630400" cy="731520"/>
            </a:xfrm>
            <a:custGeom>
              <a:avLst/>
              <a:gdLst/>
              <a:ahLst/>
              <a:cxnLst/>
              <a:rect r="r" b="b" t="t" l="l"/>
              <a:pathLst>
                <a:path h="731520" w="14630400">
                  <a:moveTo>
                    <a:pt x="0" y="0"/>
                  </a:moveTo>
                  <a:lnTo>
                    <a:pt x="14630400" y="0"/>
                  </a:lnTo>
                  <a:lnTo>
                    <a:pt x="14630400" y="731520"/>
                  </a:lnTo>
                  <a:lnTo>
                    <a:pt x="0" y="731520"/>
                  </a:lnTo>
                  <a:close/>
                </a:path>
              </a:pathLst>
            </a:custGeom>
            <a:blipFill>
              <a:blip r:embed="rId3">
                <a:alphaModFix amt="0"/>
              </a:blip>
              <a:stretch>
                <a:fillRect l="0" t="-339700" r="0" b="-339700"/>
              </a:stretch>
            </a:blipFill>
          </p:spPr>
        </p:sp>
        <p:sp>
          <p:nvSpPr>
            <p:cNvPr name="TextBox 4" id="4"/>
            <p:cNvSpPr txBox="true"/>
            <p:nvPr/>
          </p:nvSpPr>
          <p:spPr>
            <a:xfrm>
              <a:off x="0" y="-47625"/>
              <a:ext cx="14630400" cy="779145"/>
            </a:xfrm>
            <a:prstGeom prst="rect">
              <a:avLst/>
            </a:prstGeom>
          </p:spPr>
          <p:txBody>
            <a:bodyPr anchor="ctr" rtlCol="false" tIns="0" lIns="0" bIns="0" rIns="0"/>
            <a:lstStyle/>
            <a:p>
              <a:pPr algn="l">
                <a:lnSpc>
                  <a:spcPts val="2520"/>
                </a:lnSpc>
              </a:pPr>
              <a:r>
                <a:rPr lang="en-US" b="true" sz="2100" spc="299">
                  <a:solidFill>
                    <a:srgbClr val="00B4D8"/>
                  </a:solidFill>
                  <a:latin typeface="Calibri (MS) Bold"/>
                  <a:ea typeface="Calibri (MS) Bold"/>
                  <a:cs typeface="Calibri (MS) Bold"/>
                  <a:sym typeface="Calibri (MS) Bold"/>
                </a:rPr>
                <a:t>BEFORE WE BEGIN</a:t>
              </a:r>
            </a:p>
          </p:txBody>
        </p:sp>
      </p:grpSp>
      <p:grpSp>
        <p:nvGrpSpPr>
          <p:cNvPr name="Group 5" id="5"/>
          <p:cNvGrpSpPr/>
          <p:nvPr/>
        </p:nvGrpSpPr>
        <p:grpSpPr>
          <a:xfrm rot="0">
            <a:off x="1234440" y="1851660"/>
            <a:ext cx="9875520" cy="1783080"/>
            <a:chOff x="0" y="0"/>
            <a:chExt cx="13167360" cy="2377440"/>
          </a:xfrm>
        </p:grpSpPr>
        <p:sp>
          <p:nvSpPr>
            <p:cNvPr name="Freeform 6" id="6"/>
            <p:cNvSpPr/>
            <p:nvPr/>
          </p:nvSpPr>
          <p:spPr>
            <a:xfrm flipH="false" flipV="false" rot="0">
              <a:off x="0" y="0"/>
              <a:ext cx="13167361" cy="2377440"/>
            </a:xfrm>
            <a:custGeom>
              <a:avLst/>
              <a:gdLst/>
              <a:ahLst/>
              <a:cxnLst/>
              <a:rect r="r" b="b" t="t" l="l"/>
              <a:pathLst>
                <a:path h="2377440" w="13167361">
                  <a:moveTo>
                    <a:pt x="0" y="0"/>
                  </a:moveTo>
                  <a:lnTo>
                    <a:pt x="13167361" y="0"/>
                  </a:lnTo>
                  <a:lnTo>
                    <a:pt x="13167361" y="2377440"/>
                  </a:lnTo>
                  <a:lnTo>
                    <a:pt x="0" y="2377440"/>
                  </a:lnTo>
                  <a:close/>
                </a:path>
              </a:pathLst>
            </a:custGeom>
            <a:blipFill>
              <a:blip r:embed="rId3">
                <a:alphaModFix amt="0"/>
              </a:blip>
              <a:stretch>
                <a:fillRect l="0" t="-57917" r="0" b="-57917"/>
              </a:stretch>
            </a:blipFill>
          </p:spPr>
        </p:sp>
        <p:sp>
          <p:nvSpPr>
            <p:cNvPr name="TextBox 7" id="7"/>
            <p:cNvSpPr txBox="true"/>
            <p:nvPr/>
          </p:nvSpPr>
          <p:spPr>
            <a:xfrm>
              <a:off x="0" y="-9525"/>
              <a:ext cx="13167360" cy="2386965"/>
            </a:xfrm>
            <a:prstGeom prst="rect">
              <a:avLst/>
            </a:prstGeom>
          </p:spPr>
          <p:txBody>
            <a:bodyPr anchor="ctr" rtlCol="false" tIns="0" lIns="0" bIns="0" rIns="0"/>
            <a:lstStyle/>
            <a:p>
              <a:pPr algn="l">
                <a:lnSpc>
                  <a:spcPts val="7200"/>
                </a:lnSpc>
              </a:pPr>
              <a:r>
                <a:rPr lang="en-US" sz="6000" b="true">
                  <a:solidFill>
                    <a:srgbClr val="FFFFFF"/>
                  </a:solidFill>
                  <a:latin typeface="Cambria Bold"/>
                  <a:ea typeface="Cambria Bold"/>
                  <a:cs typeface="Cambria Bold"/>
                  <a:sym typeface="Cambria Bold"/>
                </a:rPr>
                <a:t>Tell Us What You Expect</a:t>
              </a:r>
            </a:p>
          </p:txBody>
        </p:sp>
      </p:grpSp>
      <p:sp>
        <p:nvSpPr>
          <p:cNvPr name="TextBox 8" id="8"/>
          <p:cNvSpPr txBox="true"/>
          <p:nvPr/>
        </p:nvSpPr>
        <p:spPr>
          <a:xfrm rot="0">
            <a:off x="1325880" y="3429000"/>
            <a:ext cx="8869680" cy="2080260"/>
          </a:xfrm>
          <a:prstGeom prst="rect">
            <a:avLst/>
          </a:prstGeom>
        </p:spPr>
        <p:txBody>
          <a:bodyPr anchor="t" rtlCol="false" tIns="0" lIns="0" bIns="0" rIns="0">
            <a:spAutoFit/>
          </a:bodyPr>
          <a:lstStyle/>
          <a:p>
            <a:pPr algn="l">
              <a:lnSpc>
                <a:spcPts val="3375"/>
              </a:lnSpc>
            </a:pPr>
            <a:r>
              <a:rPr lang="en-US" sz="2250">
                <a:solidFill>
                  <a:srgbClr val="CADCFC"/>
                </a:solidFill>
                <a:latin typeface="Calibri (MS)"/>
                <a:ea typeface="Calibri (MS)"/>
                <a:cs typeface="Calibri (MS)"/>
                <a:sym typeface="Calibri (MS)"/>
              </a:rPr>
              <a:t>Before we start, please take two minutes to share your office's current cybersecurity capability and what you hope to gain from this seminar. Your answers help us tailor the sessions to your needs.</a:t>
            </a:r>
          </a:p>
        </p:txBody>
      </p:sp>
      <p:grpSp>
        <p:nvGrpSpPr>
          <p:cNvPr name="Group 9" id="9"/>
          <p:cNvGrpSpPr/>
          <p:nvPr/>
        </p:nvGrpSpPr>
        <p:grpSpPr>
          <a:xfrm rot="0">
            <a:off x="1234440" y="5966460"/>
            <a:ext cx="754380" cy="754380"/>
            <a:chOff x="0" y="0"/>
            <a:chExt cx="1005840" cy="1005840"/>
          </a:xfrm>
        </p:grpSpPr>
        <p:sp>
          <p:nvSpPr>
            <p:cNvPr name="Freeform 10" id="10"/>
            <p:cNvSpPr/>
            <p:nvPr/>
          </p:nvSpPr>
          <p:spPr>
            <a:xfrm flipH="false" flipV="false" rot="0">
              <a:off x="0" y="0"/>
              <a:ext cx="1005840" cy="1005840"/>
            </a:xfrm>
            <a:custGeom>
              <a:avLst/>
              <a:gdLst/>
              <a:ahLst/>
              <a:cxnLst/>
              <a:rect r="r" b="b" t="t" l="l"/>
              <a:pathLst>
                <a:path h="1005840" w="1005840">
                  <a:moveTo>
                    <a:pt x="0" y="502920"/>
                  </a:moveTo>
                  <a:cubicBezTo>
                    <a:pt x="0" y="225171"/>
                    <a:pt x="225171" y="0"/>
                    <a:pt x="502920" y="0"/>
                  </a:cubicBezTo>
                  <a:cubicBezTo>
                    <a:pt x="780669" y="0"/>
                    <a:pt x="1005840" y="225171"/>
                    <a:pt x="1005840" y="502920"/>
                  </a:cubicBezTo>
                  <a:cubicBezTo>
                    <a:pt x="1005840" y="780669"/>
                    <a:pt x="780669" y="1005840"/>
                    <a:pt x="502920" y="1005840"/>
                  </a:cubicBezTo>
                  <a:cubicBezTo>
                    <a:pt x="225171" y="1005840"/>
                    <a:pt x="0" y="780669"/>
                    <a:pt x="0" y="502920"/>
                  </a:cubicBezTo>
                  <a:close/>
                </a:path>
              </a:pathLst>
            </a:custGeom>
            <a:solidFill>
              <a:srgbClr val="00B4D8"/>
            </a:solidFill>
          </p:spPr>
        </p:sp>
      </p:grpSp>
      <p:grpSp>
        <p:nvGrpSpPr>
          <p:cNvPr name="Group 11" id="11"/>
          <p:cNvGrpSpPr/>
          <p:nvPr/>
        </p:nvGrpSpPr>
        <p:grpSpPr>
          <a:xfrm rot="0">
            <a:off x="1412748" y="6144768"/>
            <a:ext cx="397764" cy="397764"/>
            <a:chOff x="0" y="0"/>
            <a:chExt cx="530352" cy="530352"/>
          </a:xfrm>
        </p:grpSpPr>
        <p:sp>
          <p:nvSpPr>
            <p:cNvPr name="Freeform 12" id="12" descr="link.png"/>
            <p:cNvSpPr/>
            <p:nvPr/>
          </p:nvSpPr>
          <p:spPr>
            <a:xfrm flipH="false" flipV="false" rot="0">
              <a:off x="0" y="0"/>
              <a:ext cx="530352" cy="530352"/>
            </a:xfrm>
            <a:custGeom>
              <a:avLst/>
              <a:gdLst/>
              <a:ahLst/>
              <a:cxnLst/>
              <a:rect r="r" b="b" t="t" l="l"/>
              <a:pathLst>
                <a:path h="530352" w="530352">
                  <a:moveTo>
                    <a:pt x="0" y="0"/>
                  </a:moveTo>
                  <a:lnTo>
                    <a:pt x="530352" y="0"/>
                  </a:lnTo>
                  <a:lnTo>
                    <a:pt x="530352" y="530352"/>
                  </a:lnTo>
                  <a:lnTo>
                    <a:pt x="0" y="530352"/>
                  </a:lnTo>
                  <a:lnTo>
                    <a:pt x="0" y="0"/>
                  </a:lnTo>
                  <a:close/>
                </a:path>
              </a:pathLst>
            </a:custGeom>
            <a:blipFill>
              <a:blip r:embed="rId4"/>
              <a:stretch>
                <a:fillRect l="0" t="0" r="0" b="0"/>
              </a:stretch>
            </a:blipFill>
          </p:spPr>
        </p:sp>
      </p:grpSp>
      <p:grpSp>
        <p:nvGrpSpPr>
          <p:cNvPr name="Group 13" id="13"/>
          <p:cNvGrpSpPr/>
          <p:nvPr/>
        </p:nvGrpSpPr>
        <p:grpSpPr>
          <a:xfrm rot="0">
            <a:off x="2263140" y="5925312"/>
            <a:ext cx="7543800" cy="411480"/>
            <a:chOff x="0" y="0"/>
            <a:chExt cx="10058400" cy="548640"/>
          </a:xfrm>
        </p:grpSpPr>
        <p:sp>
          <p:nvSpPr>
            <p:cNvPr name="Freeform 14" id="14"/>
            <p:cNvSpPr/>
            <p:nvPr/>
          </p:nvSpPr>
          <p:spPr>
            <a:xfrm flipH="false" flipV="false" rot="0">
              <a:off x="0" y="0"/>
              <a:ext cx="10058400" cy="548640"/>
            </a:xfrm>
            <a:custGeom>
              <a:avLst/>
              <a:gdLst/>
              <a:ahLst/>
              <a:cxnLst/>
              <a:rect r="r" b="b" t="t" l="l"/>
              <a:pathLst>
                <a:path h="548640" w="10058400">
                  <a:moveTo>
                    <a:pt x="0" y="0"/>
                  </a:moveTo>
                  <a:lnTo>
                    <a:pt x="10058400" y="0"/>
                  </a:lnTo>
                  <a:lnTo>
                    <a:pt x="10058400" y="548640"/>
                  </a:lnTo>
                  <a:lnTo>
                    <a:pt x="0" y="548640"/>
                  </a:lnTo>
                  <a:close/>
                </a:path>
              </a:pathLst>
            </a:custGeom>
            <a:blipFill>
              <a:blip r:embed="rId3">
                <a:alphaModFix amt="0"/>
              </a:blip>
              <a:stretch>
                <a:fillRect l="0" t="-307225" r="0" b="-307225"/>
              </a:stretch>
            </a:blipFill>
          </p:spPr>
        </p:sp>
        <p:sp>
          <p:nvSpPr>
            <p:cNvPr name="TextBox 15" id="15"/>
            <p:cNvSpPr txBox="true"/>
            <p:nvPr/>
          </p:nvSpPr>
          <p:spPr>
            <a:xfrm>
              <a:off x="0" y="-47625"/>
              <a:ext cx="10058400" cy="596265"/>
            </a:xfrm>
            <a:prstGeom prst="rect">
              <a:avLst/>
            </a:prstGeom>
          </p:spPr>
          <p:txBody>
            <a:bodyPr anchor="ctr" rtlCol="false" tIns="0" lIns="0" bIns="0" rIns="0"/>
            <a:lstStyle/>
            <a:p>
              <a:pPr algn="l">
                <a:lnSpc>
                  <a:spcPts val="2340"/>
                </a:lnSpc>
              </a:pPr>
              <a:r>
                <a:rPr lang="en-US" sz="1950">
                  <a:solidFill>
                    <a:srgbClr val="CADCFC"/>
                  </a:solidFill>
                  <a:latin typeface="Calibri (MS)"/>
                  <a:ea typeface="Calibri (MS)"/>
                  <a:cs typeface="Calibri (MS)"/>
                  <a:sym typeface="Calibri (MS)"/>
                </a:rPr>
                <a:t>Scan the QR code or visit:</a:t>
              </a:r>
            </a:p>
          </p:txBody>
        </p:sp>
      </p:grpSp>
      <p:grpSp>
        <p:nvGrpSpPr>
          <p:cNvPr name="Group 16" id="16"/>
          <p:cNvGrpSpPr/>
          <p:nvPr/>
        </p:nvGrpSpPr>
        <p:grpSpPr>
          <a:xfrm rot="0">
            <a:off x="2235708" y="6336792"/>
            <a:ext cx="7818120" cy="754380"/>
            <a:chOff x="0" y="0"/>
            <a:chExt cx="10424160" cy="1005840"/>
          </a:xfrm>
        </p:grpSpPr>
        <p:sp>
          <p:nvSpPr>
            <p:cNvPr name="Freeform 17" id="17"/>
            <p:cNvSpPr/>
            <p:nvPr/>
          </p:nvSpPr>
          <p:spPr>
            <a:xfrm flipH="false" flipV="false" rot="0">
              <a:off x="0" y="0"/>
              <a:ext cx="10424160" cy="1005840"/>
            </a:xfrm>
            <a:custGeom>
              <a:avLst/>
              <a:gdLst/>
              <a:ahLst/>
              <a:cxnLst/>
              <a:rect r="r" b="b" t="t" l="l"/>
              <a:pathLst>
                <a:path h="1005840" w="10424160">
                  <a:moveTo>
                    <a:pt x="0" y="0"/>
                  </a:moveTo>
                  <a:lnTo>
                    <a:pt x="10424160" y="0"/>
                  </a:lnTo>
                  <a:lnTo>
                    <a:pt x="10424160" y="1005840"/>
                  </a:lnTo>
                  <a:lnTo>
                    <a:pt x="0" y="1005840"/>
                  </a:lnTo>
                  <a:close/>
                </a:path>
              </a:pathLst>
            </a:custGeom>
            <a:blipFill>
              <a:blip r:embed="rId3">
                <a:alphaModFix amt="0"/>
              </a:blip>
              <a:stretch>
                <a:fillRect l="0" t="-151935" r="0" b="-151935"/>
              </a:stretch>
            </a:blipFill>
          </p:spPr>
        </p:sp>
        <p:sp>
          <p:nvSpPr>
            <p:cNvPr name="TextBox 18" id="18"/>
            <p:cNvSpPr txBox="true"/>
            <p:nvPr/>
          </p:nvSpPr>
          <p:spPr>
            <a:xfrm>
              <a:off x="0" y="0"/>
              <a:ext cx="10424160" cy="1005840"/>
            </a:xfrm>
            <a:prstGeom prst="rect">
              <a:avLst/>
            </a:prstGeom>
          </p:spPr>
          <p:txBody>
            <a:bodyPr anchor="ctr" rtlCol="false" tIns="0" lIns="0" bIns="0" rIns="0"/>
            <a:lstStyle/>
            <a:p>
              <a:pPr algn="l">
                <a:lnSpc>
                  <a:spcPts val="4680"/>
                </a:lnSpc>
              </a:pPr>
              <a:r>
                <a:rPr lang="en-US" sz="3900" b="true">
                  <a:solidFill>
                    <a:srgbClr val="FFFFFF"/>
                  </a:solidFill>
                  <a:latin typeface="Cambria Bold"/>
                  <a:ea typeface="Cambria Bold"/>
                  <a:cs typeface="Cambria Bold"/>
                  <a:sym typeface="Cambria Bold"/>
                </a:rPr>
                <a:t>bit.ly/cyberdelnorte</a:t>
              </a:r>
            </a:p>
          </p:txBody>
        </p:sp>
      </p:grpSp>
      <p:grpSp>
        <p:nvGrpSpPr>
          <p:cNvPr name="Group 19" id="19"/>
          <p:cNvGrpSpPr/>
          <p:nvPr/>
        </p:nvGrpSpPr>
        <p:grpSpPr>
          <a:xfrm rot="0">
            <a:off x="13098780" y="2125980"/>
            <a:ext cx="3977640" cy="3977640"/>
            <a:chOff x="0" y="0"/>
            <a:chExt cx="5303520" cy="5303520"/>
          </a:xfrm>
        </p:grpSpPr>
        <p:sp>
          <p:nvSpPr>
            <p:cNvPr name="Freeform 20" id="20"/>
            <p:cNvSpPr/>
            <p:nvPr/>
          </p:nvSpPr>
          <p:spPr>
            <a:xfrm flipH="false" flipV="false" rot="0">
              <a:off x="0" y="0"/>
              <a:ext cx="5303520" cy="5303520"/>
            </a:xfrm>
            <a:custGeom>
              <a:avLst/>
              <a:gdLst/>
              <a:ahLst/>
              <a:cxnLst/>
              <a:rect r="r" b="b" t="t" l="l"/>
              <a:pathLst>
                <a:path h="5303520" w="5303520">
                  <a:moveTo>
                    <a:pt x="0" y="219456"/>
                  </a:moveTo>
                  <a:cubicBezTo>
                    <a:pt x="0" y="98298"/>
                    <a:pt x="98298" y="0"/>
                    <a:pt x="219456" y="0"/>
                  </a:cubicBezTo>
                  <a:lnTo>
                    <a:pt x="5084064" y="0"/>
                  </a:lnTo>
                  <a:cubicBezTo>
                    <a:pt x="5205222" y="0"/>
                    <a:pt x="5303520" y="98298"/>
                    <a:pt x="5303520" y="219456"/>
                  </a:cubicBezTo>
                  <a:lnTo>
                    <a:pt x="5303520" y="5084064"/>
                  </a:lnTo>
                  <a:cubicBezTo>
                    <a:pt x="5303520" y="5205222"/>
                    <a:pt x="5205222" y="5303520"/>
                    <a:pt x="5084064" y="5303520"/>
                  </a:cubicBezTo>
                  <a:lnTo>
                    <a:pt x="219456" y="5303520"/>
                  </a:lnTo>
                  <a:cubicBezTo>
                    <a:pt x="98298" y="5303520"/>
                    <a:pt x="0" y="5205222"/>
                    <a:pt x="0" y="5084064"/>
                  </a:cubicBezTo>
                  <a:close/>
                </a:path>
              </a:pathLst>
            </a:custGeom>
            <a:solidFill>
              <a:srgbClr val="FFFFFF"/>
            </a:solidFill>
          </p:spPr>
        </p:sp>
      </p:grpSp>
      <p:grpSp>
        <p:nvGrpSpPr>
          <p:cNvPr name="Group 21" id="21"/>
          <p:cNvGrpSpPr/>
          <p:nvPr/>
        </p:nvGrpSpPr>
        <p:grpSpPr>
          <a:xfrm rot="0">
            <a:off x="13441680" y="2468880"/>
            <a:ext cx="3291840" cy="3291840"/>
            <a:chOff x="0" y="0"/>
            <a:chExt cx="4389120" cy="4389120"/>
          </a:xfrm>
        </p:grpSpPr>
        <p:sp>
          <p:nvSpPr>
            <p:cNvPr name="Freeform 22" id="22" descr="qr_survey.png"/>
            <p:cNvSpPr/>
            <p:nvPr/>
          </p:nvSpPr>
          <p:spPr>
            <a:xfrm flipH="false" flipV="false" rot="0">
              <a:off x="0" y="0"/>
              <a:ext cx="4389120" cy="4389120"/>
            </a:xfrm>
            <a:custGeom>
              <a:avLst/>
              <a:gdLst/>
              <a:ahLst/>
              <a:cxnLst/>
              <a:rect r="r" b="b" t="t" l="l"/>
              <a:pathLst>
                <a:path h="4389120" w="4389120">
                  <a:moveTo>
                    <a:pt x="0" y="0"/>
                  </a:moveTo>
                  <a:lnTo>
                    <a:pt x="4389120" y="0"/>
                  </a:lnTo>
                  <a:lnTo>
                    <a:pt x="4389120" y="4389120"/>
                  </a:lnTo>
                  <a:lnTo>
                    <a:pt x="0" y="4389120"/>
                  </a:lnTo>
                  <a:lnTo>
                    <a:pt x="0" y="0"/>
                  </a:lnTo>
                  <a:close/>
                </a:path>
              </a:pathLst>
            </a:custGeom>
            <a:blipFill>
              <a:blip r:embed="rId5"/>
              <a:stretch>
                <a:fillRect l="0" t="0" r="0" b="0"/>
              </a:stretch>
            </a:blipFill>
          </p:spPr>
        </p:sp>
      </p:grpSp>
      <p:grpSp>
        <p:nvGrpSpPr>
          <p:cNvPr name="Group 23" id="23"/>
          <p:cNvGrpSpPr/>
          <p:nvPr/>
        </p:nvGrpSpPr>
        <p:grpSpPr>
          <a:xfrm rot="0">
            <a:off x="13098780" y="6281928"/>
            <a:ext cx="3977640" cy="480060"/>
            <a:chOff x="0" y="0"/>
            <a:chExt cx="5303520" cy="640080"/>
          </a:xfrm>
        </p:grpSpPr>
        <p:sp>
          <p:nvSpPr>
            <p:cNvPr name="Freeform 24" id="24"/>
            <p:cNvSpPr/>
            <p:nvPr/>
          </p:nvSpPr>
          <p:spPr>
            <a:xfrm flipH="false" flipV="false" rot="0">
              <a:off x="0" y="0"/>
              <a:ext cx="5303520" cy="640080"/>
            </a:xfrm>
            <a:custGeom>
              <a:avLst/>
              <a:gdLst/>
              <a:ahLst/>
              <a:cxnLst/>
              <a:rect r="r" b="b" t="t" l="l"/>
              <a:pathLst>
                <a:path h="640080" w="5303520">
                  <a:moveTo>
                    <a:pt x="0" y="0"/>
                  </a:moveTo>
                  <a:lnTo>
                    <a:pt x="5303520" y="0"/>
                  </a:lnTo>
                  <a:lnTo>
                    <a:pt x="5303520" y="640080"/>
                  </a:lnTo>
                  <a:lnTo>
                    <a:pt x="0" y="640080"/>
                  </a:lnTo>
                  <a:close/>
                </a:path>
              </a:pathLst>
            </a:custGeom>
            <a:blipFill>
              <a:blip r:embed="rId3">
                <a:alphaModFix amt="0"/>
              </a:blip>
              <a:stretch>
                <a:fillRect l="0" t="-111447" r="0" b="-111447"/>
              </a:stretch>
            </a:blipFill>
          </p:spPr>
        </p:sp>
        <p:sp>
          <p:nvSpPr>
            <p:cNvPr name="TextBox 25" id="25"/>
            <p:cNvSpPr txBox="true"/>
            <p:nvPr/>
          </p:nvSpPr>
          <p:spPr>
            <a:xfrm>
              <a:off x="0" y="-38100"/>
              <a:ext cx="5303520" cy="678180"/>
            </a:xfrm>
            <a:prstGeom prst="rect">
              <a:avLst/>
            </a:prstGeom>
          </p:spPr>
          <p:txBody>
            <a:bodyPr anchor="ctr" rtlCol="false" tIns="0" lIns="0" bIns="0" rIns="0"/>
            <a:lstStyle/>
            <a:p>
              <a:pPr algn="ctr">
                <a:lnSpc>
                  <a:spcPts val="2160"/>
                </a:lnSpc>
              </a:pPr>
              <a:r>
                <a:rPr lang="en-US" sz="1800" b="true">
                  <a:solidFill>
                    <a:srgbClr val="CADCFC"/>
                  </a:solidFill>
                  <a:latin typeface="Calibri (MS) Bold"/>
                  <a:ea typeface="Calibri (MS) Bold"/>
                  <a:cs typeface="Calibri (MS) Bold"/>
                  <a:sym typeface="Calibri (MS) Bold"/>
                </a:rPr>
                <a:t>Pre-Seminar Survey</a:t>
              </a:r>
            </a:p>
          </p:txBody>
        </p:sp>
      </p:grpSp>
      <p:grpSp>
        <p:nvGrpSpPr>
          <p:cNvPr name="Group 26" id="26"/>
          <p:cNvGrpSpPr/>
          <p:nvPr/>
        </p:nvGrpSpPr>
        <p:grpSpPr>
          <a:xfrm rot="0">
            <a:off x="685800" y="9710928"/>
            <a:ext cx="10972800" cy="411480"/>
            <a:chOff x="0" y="0"/>
            <a:chExt cx="14630400" cy="548640"/>
          </a:xfrm>
        </p:grpSpPr>
        <p:sp>
          <p:nvSpPr>
            <p:cNvPr name="Freeform 27" id="27"/>
            <p:cNvSpPr/>
            <p:nvPr/>
          </p:nvSpPr>
          <p:spPr>
            <a:xfrm flipH="false" flipV="false" rot="0">
              <a:off x="0" y="0"/>
              <a:ext cx="14630400" cy="548640"/>
            </a:xfrm>
            <a:custGeom>
              <a:avLst/>
              <a:gdLst/>
              <a:ahLst/>
              <a:cxnLst/>
              <a:rect r="r" b="b" t="t" l="l"/>
              <a:pathLst>
                <a:path h="548640" w="14630400">
                  <a:moveTo>
                    <a:pt x="0" y="0"/>
                  </a:moveTo>
                  <a:lnTo>
                    <a:pt x="14630400" y="0"/>
                  </a:lnTo>
                  <a:lnTo>
                    <a:pt x="14630400" y="548640"/>
                  </a:lnTo>
                  <a:lnTo>
                    <a:pt x="0" y="548640"/>
                  </a:lnTo>
                  <a:close/>
                </a:path>
              </a:pathLst>
            </a:custGeom>
            <a:blipFill>
              <a:blip r:embed="rId3">
                <a:alphaModFix amt="0"/>
              </a:blip>
              <a:stretch>
                <a:fillRect l="0" t="-469601" r="0" b="-469601"/>
              </a:stretch>
            </a:blipFill>
          </p:spPr>
        </p:sp>
        <p:sp>
          <p:nvSpPr>
            <p:cNvPr name="TextBox 28" id="28"/>
            <p:cNvSpPr txBox="true"/>
            <p:nvPr/>
          </p:nvSpPr>
          <p:spPr>
            <a:xfrm>
              <a:off x="0" y="-38100"/>
              <a:ext cx="14630400" cy="586740"/>
            </a:xfrm>
            <a:prstGeom prst="rect">
              <a:avLst/>
            </a:prstGeom>
          </p:spPr>
          <p:txBody>
            <a:bodyPr anchor="ctr" rtlCol="false" tIns="0" lIns="0" bIns="0" rIns="0"/>
            <a:lstStyle/>
            <a:p>
              <a:pPr algn="l">
                <a:lnSpc>
                  <a:spcPts val="1800"/>
                </a:lnSpc>
              </a:pPr>
              <a:r>
                <a:rPr lang="en-US" sz="1500">
                  <a:solidFill>
                    <a:srgbClr val="CADCFC"/>
                  </a:solidFill>
                  <a:latin typeface="Calibri (MS)"/>
                  <a:ea typeface="Calibri (MS)"/>
                  <a:cs typeface="Calibri (MS)"/>
                  <a:sym typeface="Calibri (MS)"/>
                </a:rPr>
                <a:t>Davao del Norte Provincial Government — Cybersecurity Seminar</a:t>
              </a:r>
            </a:p>
          </p:txBody>
        </p:sp>
      </p:grpSp>
      <p:grpSp>
        <p:nvGrpSpPr>
          <p:cNvPr name="Group 29" id="29"/>
          <p:cNvGrpSpPr/>
          <p:nvPr/>
        </p:nvGrpSpPr>
        <p:grpSpPr>
          <a:xfrm rot="0">
            <a:off x="16911828" y="9710928"/>
            <a:ext cx="685800" cy="411480"/>
            <a:chOff x="0" y="0"/>
            <a:chExt cx="914400" cy="548640"/>
          </a:xfrm>
        </p:grpSpPr>
        <p:sp>
          <p:nvSpPr>
            <p:cNvPr name="Freeform 30" id="30"/>
            <p:cNvSpPr/>
            <p:nvPr/>
          </p:nvSpPr>
          <p:spPr>
            <a:xfrm flipH="false" flipV="false" rot="0">
              <a:off x="0" y="0"/>
              <a:ext cx="914400" cy="548640"/>
            </a:xfrm>
            <a:custGeom>
              <a:avLst/>
              <a:gdLst/>
              <a:ahLst/>
              <a:cxnLst/>
              <a:rect r="r" b="b" t="t" l="l"/>
              <a:pathLst>
                <a:path h="548640" w="914400">
                  <a:moveTo>
                    <a:pt x="0" y="0"/>
                  </a:moveTo>
                  <a:lnTo>
                    <a:pt x="914400" y="0"/>
                  </a:lnTo>
                  <a:lnTo>
                    <a:pt x="914400" y="548640"/>
                  </a:lnTo>
                  <a:lnTo>
                    <a:pt x="0" y="548640"/>
                  </a:lnTo>
                  <a:close/>
                </a:path>
              </a:pathLst>
            </a:custGeom>
            <a:blipFill>
              <a:blip r:embed="rId3">
                <a:alphaModFix amt="0"/>
              </a:blip>
              <a:stretch>
                <a:fillRect l="-26982" t="0" r="-26982" b="0"/>
              </a:stretch>
            </a:blipFill>
          </p:spPr>
        </p:sp>
        <p:sp>
          <p:nvSpPr>
            <p:cNvPr name="TextBox 31" id="31"/>
            <p:cNvSpPr txBox="true"/>
            <p:nvPr/>
          </p:nvSpPr>
          <p:spPr>
            <a:xfrm>
              <a:off x="0" y="-38100"/>
              <a:ext cx="914400" cy="586740"/>
            </a:xfrm>
            <a:prstGeom prst="rect">
              <a:avLst/>
            </a:prstGeom>
          </p:spPr>
          <p:txBody>
            <a:bodyPr anchor="ctr" rtlCol="false" tIns="0" lIns="0" bIns="0" rIns="0"/>
            <a:lstStyle/>
            <a:p>
              <a:pPr algn="r">
                <a:lnSpc>
                  <a:spcPts val="1800"/>
                </a:lnSpc>
              </a:pPr>
              <a:r>
                <a:rPr lang="en-US" sz="1500">
                  <a:solidFill>
                    <a:srgbClr val="CADCFC"/>
                  </a:solidFill>
                  <a:latin typeface="Calibri (MS)"/>
                  <a:ea typeface="Calibri (MS)"/>
                  <a:cs typeface="Calibri (MS)"/>
                  <a:sym typeface="Calibri (MS)"/>
                </a:rPr>
                <a:t>1</a:t>
              </a:r>
            </a:p>
          </p:txBody>
        </p:sp>
      </p:gr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3428" cy="10287000"/>
            <a:chOff x="0" y="0"/>
            <a:chExt cx="24377904" cy="13716000"/>
          </a:xfrm>
        </p:grpSpPr>
        <p:sp>
          <p:nvSpPr>
            <p:cNvPr name="Freeform 3" id="3"/>
            <p:cNvSpPr/>
            <p:nvPr/>
          </p:nvSpPr>
          <p:spPr>
            <a:xfrm flipH="false" flipV="false" rot="0">
              <a:off x="0" y="0"/>
              <a:ext cx="24377904" cy="13716000"/>
            </a:xfrm>
            <a:custGeom>
              <a:avLst/>
              <a:gdLst/>
              <a:ahLst/>
              <a:cxnLst/>
              <a:rect r="r" b="b" t="t" l="l"/>
              <a:pathLst>
                <a:path h="13716000" w="24377904">
                  <a:moveTo>
                    <a:pt x="0" y="0"/>
                  </a:moveTo>
                  <a:lnTo>
                    <a:pt x="24377904" y="0"/>
                  </a:lnTo>
                  <a:lnTo>
                    <a:pt x="24377904" y="13716000"/>
                  </a:lnTo>
                  <a:lnTo>
                    <a:pt x="0" y="13716000"/>
                  </a:lnTo>
                  <a:close/>
                </a:path>
              </a:pathLst>
            </a:custGeom>
            <a:solidFill>
              <a:srgbClr val="1E2761"/>
            </a:solidFill>
          </p:spPr>
        </p:sp>
      </p:grpSp>
      <p:grpSp>
        <p:nvGrpSpPr>
          <p:cNvPr name="Group 4" id="4"/>
          <p:cNvGrpSpPr/>
          <p:nvPr/>
        </p:nvGrpSpPr>
        <p:grpSpPr>
          <a:xfrm rot="0">
            <a:off x="13167360" y="-3017520"/>
            <a:ext cx="9601200" cy="9601200"/>
            <a:chOff x="0" y="0"/>
            <a:chExt cx="12801600" cy="12801600"/>
          </a:xfrm>
        </p:grpSpPr>
        <p:sp>
          <p:nvSpPr>
            <p:cNvPr name="Freeform 5" id="5"/>
            <p:cNvSpPr/>
            <p:nvPr/>
          </p:nvSpPr>
          <p:spPr>
            <a:xfrm flipH="false" flipV="false" rot="0">
              <a:off x="0" y="0"/>
              <a:ext cx="12801600" cy="12801600"/>
            </a:xfrm>
            <a:custGeom>
              <a:avLst/>
              <a:gdLst/>
              <a:ahLst/>
              <a:cxnLst/>
              <a:rect r="r" b="b" t="t" l="l"/>
              <a:pathLst>
                <a:path h="12801600" w="12801600">
                  <a:moveTo>
                    <a:pt x="0" y="6400800"/>
                  </a:moveTo>
                  <a:cubicBezTo>
                    <a:pt x="0" y="2865755"/>
                    <a:pt x="2865755" y="0"/>
                    <a:pt x="6400800" y="0"/>
                  </a:cubicBezTo>
                  <a:cubicBezTo>
                    <a:pt x="9935845" y="0"/>
                    <a:pt x="12801600" y="2865755"/>
                    <a:pt x="12801600" y="6400800"/>
                  </a:cubicBezTo>
                  <a:cubicBezTo>
                    <a:pt x="12801600" y="9935845"/>
                    <a:pt x="9935845" y="12801600"/>
                    <a:pt x="6400800" y="12801600"/>
                  </a:cubicBezTo>
                  <a:cubicBezTo>
                    <a:pt x="2865755" y="12801600"/>
                    <a:pt x="0" y="9935845"/>
                    <a:pt x="0" y="6400800"/>
                  </a:cubicBezTo>
                  <a:close/>
                </a:path>
              </a:pathLst>
            </a:custGeom>
            <a:solidFill>
              <a:srgbClr val="263186"/>
            </a:solidFill>
          </p:spPr>
        </p:sp>
      </p:grpSp>
      <p:grpSp>
        <p:nvGrpSpPr>
          <p:cNvPr name="Group 6" id="6"/>
          <p:cNvGrpSpPr/>
          <p:nvPr/>
        </p:nvGrpSpPr>
        <p:grpSpPr>
          <a:xfrm rot="0">
            <a:off x="14813280" y="5760720"/>
            <a:ext cx="5760720" cy="5760720"/>
            <a:chOff x="0" y="0"/>
            <a:chExt cx="7680960" cy="7680960"/>
          </a:xfrm>
        </p:grpSpPr>
        <p:sp>
          <p:nvSpPr>
            <p:cNvPr name="Freeform 7" id="7"/>
            <p:cNvSpPr/>
            <p:nvPr/>
          </p:nvSpPr>
          <p:spPr>
            <a:xfrm flipH="false" flipV="false" rot="0">
              <a:off x="0" y="0"/>
              <a:ext cx="7680960" cy="7680960"/>
            </a:xfrm>
            <a:custGeom>
              <a:avLst/>
              <a:gdLst/>
              <a:ahLst/>
              <a:cxnLst/>
              <a:rect r="r" b="b" t="t" l="l"/>
              <a:pathLst>
                <a:path h="7680960" w="7680960">
                  <a:moveTo>
                    <a:pt x="0" y="3840480"/>
                  </a:moveTo>
                  <a:cubicBezTo>
                    <a:pt x="0" y="1719453"/>
                    <a:pt x="1719453" y="0"/>
                    <a:pt x="3840480" y="0"/>
                  </a:cubicBezTo>
                  <a:cubicBezTo>
                    <a:pt x="5961507" y="0"/>
                    <a:pt x="7680960" y="1719453"/>
                    <a:pt x="7680960" y="3840480"/>
                  </a:cubicBezTo>
                  <a:cubicBezTo>
                    <a:pt x="7680960" y="5961507"/>
                    <a:pt x="5961507" y="7680960"/>
                    <a:pt x="3840480" y="7680960"/>
                  </a:cubicBezTo>
                  <a:cubicBezTo>
                    <a:pt x="1719453" y="7680960"/>
                    <a:pt x="0" y="5961507"/>
                    <a:pt x="0" y="3840480"/>
                  </a:cubicBezTo>
                  <a:close/>
                </a:path>
              </a:pathLst>
            </a:custGeom>
            <a:solidFill>
              <a:srgbClr val="141B4D"/>
            </a:solidFill>
          </p:spPr>
        </p:sp>
      </p:grpSp>
      <p:grpSp>
        <p:nvGrpSpPr>
          <p:cNvPr name="Group 8" id="8"/>
          <p:cNvGrpSpPr/>
          <p:nvPr/>
        </p:nvGrpSpPr>
        <p:grpSpPr>
          <a:xfrm rot="0">
            <a:off x="1303020" y="1165860"/>
            <a:ext cx="891540" cy="891540"/>
            <a:chOff x="0" y="0"/>
            <a:chExt cx="1188720" cy="1188720"/>
          </a:xfrm>
        </p:grpSpPr>
        <p:sp>
          <p:nvSpPr>
            <p:cNvPr name="Freeform 9" id="9"/>
            <p:cNvSpPr/>
            <p:nvPr/>
          </p:nvSpPr>
          <p:spPr>
            <a:xfrm flipH="false" flipV="false" rot="0">
              <a:off x="0" y="0"/>
              <a:ext cx="1188720" cy="1188720"/>
            </a:xfrm>
            <a:custGeom>
              <a:avLst/>
              <a:gdLst/>
              <a:ahLst/>
              <a:cxnLst/>
              <a:rect r="r" b="b" t="t" l="l"/>
              <a:pathLst>
                <a:path h="1188720" w="1188720">
                  <a:moveTo>
                    <a:pt x="0" y="594360"/>
                  </a:moveTo>
                  <a:cubicBezTo>
                    <a:pt x="0" y="266065"/>
                    <a:pt x="266065" y="0"/>
                    <a:pt x="594360" y="0"/>
                  </a:cubicBezTo>
                  <a:cubicBezTo>
                    <a:pt x="922655" y="0"/>
                    <a:pt x="1188720" y="266065"/>
                    <a:pt x="1188720" y="594360"/>
                  </a:cubicBezTo>
                  <a:cubicBezTo>
                    <a:pt x="1188720" y="922655"/>
                    <a:pt x="922655" y="1188720"/>
                    <a:pt x="594360" y="1188720"/>
                  </a:cubicBezTo>
                  <a:cubicBezTo>
                    <a:pt x="266065" y="1188720"/>
                    <a:pt x="0" y="922655"/>
                    <a:pt x="0" y="594360"/>
                  </a:cubicBezTo>
                  <a:close/>
                </a:path>
              </a:pathLst>
            </a:custGeom>
            <a:solidFill>
              <a:srgbClr val="00B4D8"/>
            </a:solidFill>
          </p:spPr>
        </p:sp>
      </p:grpSp>
      <p:grpSp>
        <p:nvGrpSpPr>
          <p:cNvPr name="Group 10" id="10"/>
          <p:cNvGrpSpPr/>
          <p:nvPr/>
        </p:nvGrpSpPr>
        <p:grpSpPr>
          <a:xfrm rot="0">
            <a:off x="1481328" y="1344168"/>
            <a:ext cx="534924" cy="534924"/>
            <a:chOff x="0" y="0"/>
            <a:chExt cx="713232" cy="713232"/>
          </a:xfrm>
        </p:grpSpPr>
        <p:sp>
          <p:nvSpPr>
            <p:cNvPr name="Freeform 11" id="11" descr="shield.png"/>
            <p:cNvSpPr/>
            <p:nvPr/>
          </p:nvSpPr>
          <p:spPr>
            <a:xfrm flipH="false" flipV="false" rot="0">
              <a:off x="0" y="0"/>
              <a:ext cx="713232" cy="713232"/>
            </a:xfrm>
            <a:custGeom>
              <a:avLst/>
              <a:gdLst/>
              <a:ahLst/>
              <a:cxnLst/>
              <a:rect r="r" b="b" t="t" l="l"/>
              <a:pathLst>
                <a:path h="713232" w="713232">
                  <a:moveTo>
                    <a:pt x="0" y="0"/>
                  </a:moveTo>
                  <a:lnTo>
                    <a:pt x="713232" y="0"/>
                  </a:lnTo>
                  <a:lnTo>
                    <a:pt x="713232" y="713232"/>
                  </a:lnTo>
                  <a:lnTo>
                    <a:pt x="0" y="713232"/>
                  </a:lnTo>
                  <a:lnTo>
                    <a:pt x="0" y="0"/>
                  </a:lnTo>
                  <a:close/>
                </a:path>
              </a:pathLst>
            </a:custGeom>
            <a:blipFill>
              <a:blip r:embed="rId3"/>
              <a:stretch>
                <a:fillRect l="0" t="0" r="0" b="0"/>
              </a:stretch>
            </a:blipFill>
          </p:spPr>
        </p:sp>
      </p:grpSp>
      <p:grpSp>
        <p:nvGrpSpPr>
          <p:cNvPr name="Group 12" id="12"/>
          <p:cNvGrpSpPr/>
          <p:nvPr/>
        </p:nvGrpSpPr>
        <p:grpSpPr>
          <a:xfrm rot="0">
            <a:off x="2400300" y="1179576"/>
            <a:ext cx="12344400" cy="480060"/>
            <a:chOff x="0" y="0"/>
            <a:chExt cx="16459200" cy="640080"/>
          </a:xfrm>
        </p:grpSpPr>
        <p:sp>
          <p:nvSpPr>
            <p:cNvPr name="Freeform 13" id="13"/>
            <p:cNvSpPr/>
            <p:nvPr/>
          </p:nvSpPr>
          <p:spPr>
            <a:xfrm flipH="false" flipV="false" rot="0">
              <a:off x="0" y="0"/>
              <a:ext cx="16459200" cy="640080"/>
            </a:xfrm>
            <a:custGeom>
              <a:avLst/>
              <a:gdLst/>
              <a:ahLst/>
              <a:cxnLst/>
              <a:rect r="r" b="b" t="t" l="l"/>
              <a:pathLst>
                <a:path h="640080" w="16459200">
                  <a:moveTo>
                    <a:pt x="0" y="0"/>
                  </a:moveTo>
                  <a:lnTo>
                    <a:pt x="16459200" y="0"/>
                  </a:lnTo>
                  <a:lnTo>
                    <a:pt x="16459200" y="640080"/>
                  </a:lnTo>
                  <a:lnTo>
                    <a:pt x="0" y="640080"/>
                  </a:lnTo>
                  <a:close/>
                </a:path>
              </a:pathLst>
            </a:custGeom>
            <a:blipFill>
              <a:blip r:embed="rId4">
                <a:alphaModFix amt="0"/>
              </a:blip>
              <a:stretch>
                <a:fillRect l="0" t="-451043" r="0" b="-451043"/>
              </a:stretch>
            </a:blipFill>
          </p:spPr>
        </p:sp>
        <p:sp>
          <p:nvSpPr>
            <p:cNvPr name="TextBox 14" id="14"/>
            <p:cNvSpPr txBox="true"/>
            <p:nvPr/>
          </p:nvSpPr>
          <p:spPr>
            <a:xfrm>
              <a:off x="0" y="-47625"/>
              <a:ext cx="16459200" cy="687705"/>
            </a:xfrm>
            <a:prstGeom prst="rect">
              <a:avLst/>
            </a:prstGeom>
          </p:spPr>
          <p:txBody>
            <a:bodyPr anchor="ctr" rtlCol="false" tIns="0" lIns="0" bIns="0" rIns="0"/>
            <a:lstStyle/>
            <a:p>
              <a:pPr algn="l">
                <a:lnSpc>
                  <a:spcPts val="2520"/>
                </a:lnSpc>
              </a:pPr>
              <a:r>
                <a:rPr lang="en-US" b="true" sz="2100" spc="225">
                  <a:solidFill>
                    <a:srgbClr val="00B4D8"/>
                  </a:solidFill>
                  <a:latin typeface="Calibri (MS) Bold"/>
                  <a:ea typeface="Calibri (MS) Bold"/>
                  <a:cs typeface="Calibri (MS) Bold"/>
                  <a:sym typeface="Calibri (MS) Bold"/>
                </a:rPr>
                <a:t>PROVINCIAL GOVERNMENT OF DAVAO DEL NORTE</a:t>
              </a:r>
            </a:p>
          </p:txBody>
        </p:sp>
      </p:grpSp>
      <p:grpSp>
        <p:nvGrpSpPr>
          <p:cNvPr name="Group 15" id="15"/>
          <p:cNvGrpSpPr/>
          <p:nvPr/>
        </p:nvGrpSpPr>
        <p:grpSpPr>
          <a:xfrm rot="0">
            <a:off x="1303020" y="3017520"/>
            <a:ext cx="14813280" cy="2057400"/>
            <a:chOff x="0" y="0"/>
            <a:chExt cx="19751040" cy="2743200"/>
          </a:xfrm>
        </p:grpSpPr>
        <p:sp>
          <p:nvSpPr>
            <p:cNvPr name="Freeform 16" id="16"/>
            <p:cNvSpPr/>
            <p:nvPr/>
          </p:nvSpPr>
          <p:spPr>
            <a:xfrm flipH="false" flipV="false" rot="0">
              <a:off x="0" y="0"/>
              <a:ext cx="19751039" cy="2743200"/>
            </a:xfrm>
            <a:custGeom>
              <a:avLst/>
              <a:gdLst/>
              <a:ahLst/>
              <a:cxnLst/>
              <a:rect r="r" b="b" t="t" l="l"/>
              <a:pathLst>
                <a:path h="2743200" w="19751039">
                  <a:moveTo>
                    <a:pt x="0" y="0"/>
                  </a:moveTo>
                  <a:lnTo>
                    <a:pt x="19751039" y="0"/>
                  </a:lnTo>
                  <a:lnTo>
                    <a:pt x="19751039" y="2743200"/>
                  </a:lnTo>
                  <a:lnTo>
                    <a:pt x="0" y="2743200"/>
                  </a:lnTo>
                  <a:close/>
                </a:path>
              </a:pathLst>
            </a:custGeom>
            <a:blipFill>
              <a:blip r:embed="rId4">
                <a:alphaModFix amt="0"/>
              </a:blip>
              <a:stretch>
                <a:fillRect l="0" t="-90292" r="0" b="-90292"/>
              </a:stretch>
            </a:blipFill>
          </p:spPr>
        </p:sp>
        <p:sp>
          <p:nvSpPr>
            <p:cNvPr name="TextBox 17" id="17"/>
            <p:cNvSpPr txBox="true"/>
            <p:nvPr/>
          </p:nvSpPr>
          <p:spPr>
            <a:xfrm>
              <a:off x="0" y="-19050"/>
              <a:ext cx="19751040" cy="2762250"/>
            </a:xfrm>
            <a:prstGeom prst="rect">
              <a:avLst/>
            </a:prstGeom>
          </p:spPr>
          <p:txBody>
            <a:bodyPr anchor="ctr" rtlCol="false" tIns="0" lIns="0" bIns="0" rIns="0"/>
            <a:lstStyle/>
            <a:p>
              <a:pPr algn="l">
                <a:lnSpc>
                  <a:spcPts val="8640"/>
                </a:lnSpc>
              </a:pPr>
              <a:r>
                <a:rPr lang="en-US" sz="7200" b="true">
                  <a:solidFill>
                    <a:srgbClr val="FFFFFF"/>
                  </a:solidFill>
                  <a:latin typeface="Cambria Bold"/>
                  <a:ea typeface="Cambria Bold"/>
                  <a:cs typeface="Cambria Bold"/>
                  <a:sym typeface="Cambria Bold"/>
                </a:rPr>
                <a:t>Cybersecurity Seminar</a:t>
              </a:r>
            </a:p>
          </p:txBody>
        </p:sp>
      </p:grpSp>
      <p:grpSp>
        <p:nvGrpSpPr>
          <p:cNvPr name="Group 18" id="18"/>
          <p:cNvGrpSpPr/>
          <p:nvPr/>
        </p:nvGrpSpPr>
        <p:grpSpPr>
          <a:xfrm rot="0">
            <a:off x="1303020" y="4869180"/>
            <a:ext cx="13167360" cy="1303020"/>
            <a:chOff x="0" y="0"/>
            <a:chExt cx="17556480" cy="1737360"/>
          </a:xfrm>
        </p:grpSpPr>
        <p:sp>
          <p:nvSpPr>
            <p:cNvPr name="Freeform 19" id="19"/>
            <p:cNvSpPr/>
            <p:nvPr/>
          </p:nvSpPr>
          <p:spPr>
            <a:xfrm flipH="false" flipV="false" rot="0">
              <a:off x="0" y="0"/>
              <a:ext cx="17556480" cy="1737360"/>
            </a:xfrm>
            <a:custGeom>
              <a:avLst/>
              <a:gdLst/>
              <a:ahLst/>
              <a:cxnLst/>
              <a:rect r="r" b="b" t="t" l="l"/>
              <a:pathLst>
                <a:path h="1737360" w="17556480">
                  <a:moveTo>
                    <a:pt x="0" y="0"/>
                  </a:moveTo>
                  <a:lnTo>
                    <a:pt x="17556480" y="0"/>
                  </a:lnTo>
                  <a:lnTo>
                    <a:pt x="17556480" y="1737360"/>
                  </a:lnTo>
                  <a:lnTo>
                    <a:pt x="0" y="1737360"/>
                  </a:lnTo>
                  <a:close/>
                </a:path>
              </a:pathLst>
            </a:custGeom>
            <a:blipFill>
              <a:blip r:embed="rId4">
                <a:alphaModFix amt="0"/>
              </a:blip>
              <a:stretch>
                <a:fillRect l="0" t="-146901" r="0" b="-146901"/>
              </a:stretch>
            </a:blipFill>
          </p:spPr>
        </p:sp>
        <p:sp>
          <p:nvSpPr>
            <p:cNvPr name="TextBox 20" id="20"/>
            <p:cNvSpPr txBox="true"/>
            <p:nvPr/>
          </p:nvSpPr>
          <p:spPr>
            <a:xfrm>
              <a:off x="0" y="-123825"/>
              <a:ext cx="17556480" cy="1861185"/>
            </a:xfrm>
            <a:prstGeom prst="rect">
              <a:avLst/>
            </a:prstGeom>
          </p:spPr>
          <p:txBody>
            <a:bodyPr anchor="ctr" rtlCol="false" tIns="0" lIns="0" bIns="0" rIns="0"/>
            <a:lstStyle/>
            <a:p>
              <a:pPr algn="l">
                <a:lnSpc>
                  <a:spcPts val="3825"/>
                </a:lnSpc>
              </a:pPr>
              <a:r>
                <a:rPr lang="en-US" sz="2550">
                  <a:solidFill>
                    <a:srgbClr val="CADCFC"/>
                  </a:solidFill>
                  <a:latin typeface="Calibri (MS)"/>
                  <a:ea typeface="Calibri (MS)"/>
                  <a:cs typeface="Calibri (MS)"/>
                  <a:sym typeface="Calibri (MS)"/>
                </a:rPr>
                <a:t>A 3-Day Capacity-Building Program on Risk Management, Attack Techniques, Incident Response, and Provincial Cybersecurity Governance</a:t>
              </a:r>
            </a:p>
          </p:txBody>
        </p:sp>
      </p:grpSp>
      <p:sp>
        <p:nvSpPr>
          <p:cNvPr name="AutoShape 21" id="21"/>
          <p:cNvSpPr/>
          <p:nvPr/>
        </p:nvSpPr>
        <p:spPr>
          <a:xfrm flipH="true">
            <a:off x="1303020" y="6633211"/>
            <a:ext cx="22094" cy="1643167"/>
          </a:xfrm>
          <a:prstGeom prst="line">
            <a:avLst/>
          </a:prstGeom>
          <a:ln cap="rnd" w="19050">
            <a:solidFill>
              <a:srgbClr val="00B4D8"/>
            </a:solidFill>
            <a:prstDash val="solid"/>
            <a:headEnd type="none" len="sm" w="sm"/>
            <a:tailEnd type="none" len="sm" w="sm"/>
          </a:ln>
        </p:spPr>
      </p:sp>
      <p:grpSp>
        <p:nvGrpSpPr>
          <p:cNvPr name="Group 22" id="22"/>
          <p:cNvGrpSpPr/>
          <p:nvPr/>
        </p:nvGrpSpPr>
        <p:grpSpPr>
          <a:xfrm rot="0">
            <a:off x="1714500" y="6624828"/>
            <a:ext cx="5486400" cy="411480"/>
            <a:chOff x="0" y="0"/>
            <a:chExt cx="7315200" cy="548640"/>
          </a:xfrm>
        </p:grpSpPr>
        <p:sp>
          <p:nvSpPr>
            <p:cNvPr name="Freeform 23" id="23"/>
            <p:cNvSpPr/>
            <p:nvPr/>
          </p:nvSpPr>
          <p:spPr>
            <a:xfrm flipH="false" flipV="false" rot="0">
              <a:off x="0" y="0"/>
              <a:ext cx="7315200" cy="548640"/>
            </a:xfrm>
            <a:custGeom>
              <a:avLst/>
              <a:gdLst/>
              <a:ahLst/>
              <a:cxnLst/>
              <a:rect r="r" b="b" t="t" l="l"/>
              <a:pathLst>
                <a:path h="548640" w="7315200">
                  <a:moveTo>
                    <a:pt x="0" y="0"/>
                  </a:moveTo>
                  <a:lnTo>
                    <a:pt x="7315200" y="0"/>
                  </a:lnTo>
                  <a:lnTo>
                    <a:pt x="7315200" y="548640"/>
                  </a:lnTo>
                  <a:lnTo>
                    <a:pt x="0" y="548640"/>
                  </a:lnTo>
                  <a:close/>
                </a:path>
              </a:pathLst>
            </a:custGeom>
            <a:blipFill>
              <a:blip r:embed="rId4">
                <a:alphaModFix amt="0"/>
              </a:blip>
              <a:stretch>
                <a:fillRect l="0" t="-209800" r="0" b="-209800"/>
              </a:stretch>
            </a:blipFill>
          </p:spPr>
        </p:sp>
        <p:sp>
          <p:nvSpPr>
            <p:cNvPr name="TextBox 24" id="24"/>
            <p:cNvSpPr txBox="true"/>
            <p:nvPr/>
          </p:nvSpPr>
          <p:spPr>
            <a:xfrm>
              <a:off x="0" y="-38100"/>
              <a:ext cx="7315200" cy="586740"/>
            </a:xfrm>
            <a:prstGeom prst="rect">
              <a:avLst/>
            </a:prstGeom>
          </p:spPr>
          <p:txBody>
            <a:bodyPr anchor="ctr" rtlCol="false" tIns="0" lIns="0" bIns="0" rIns="0"/>
            <a:lstStyle/>
            <a:p>
              <a:pPr algn="l">
                <a:lnSpc>
                  <a:spcPts val="2160"/>
                </a:lnSpc>
              </a:pPr>
              <a:r>
                <a:rPr lang="en-US" b="true" sz="1800" spc="149">
                  <a:solidFill>
                    <a:srgbClr val="00B4D8"/>
                  </a:solidFill>
                  <a:latin typeface="Calibri (MS) Bold"/>
                  <a:ea typeface="Calibri (MS) Bold"/>
                  <a:cs typeface="Calibri (MS) Bold"/>
                  <a:sym typeface="Calibri (MS) Bold"/>
                </a:rPr>
                <a:t>Resource Speakers</a:t>
              </a:r>
            </a:p>
          </p:txBody>
        </p:sp>
      </p:grpSp>
      <p:grpSp>
        <p:nvGrpSpPr>
          <p:cNvPr name="Group 25" id="25"/>
          <p:cNvGrpSpPr/>
          <p:nvPr/>
        </p:nvGrpSpPr>
        <p:grpSpPr>
          <a:xfrm rot="0">
            <a:off x="1714500" y="7063740"/>
            <a:ext cx="10972800" cy="685800"/>
            <a:chOff x="0" y="0"/>
            <a:chExt cx="14630400" cy="914400"/>
          </a:xfrm>
        </p:grpSpPr>
        <p:sp>
          <p:nvSpPr>
            <p:cNvPr name="Freeform 26" id="26"/>
            <p:cNvSpPr/>
            <p:nvPr/>
          </p:nvSpPr>
          <p:spPr>
            <a:xfrm flipH="false" flipV="false" rot="0">
              <a:off x="0" y="0"/>
              <a:ext cx="14630400" cy="914400"/>
            </a:xfrm>
            <a:custGeom>
              <a:avLst/>
              <a:gdLst/>
              <a:ahLst/>
              <a:cxnLst/>
              <a:rect r="r" b="b" t="t" l="l"/>
              <a:pathLst>
                <a:path h="914400" w="14630400">
                  <a:moveTo>
                    <a:pt x="0" y="0"/>
                  </a:moveTo>
                  <a:lnTo>
                    <a:pt x="14630400" y="0"/>
                  </a:lnTo>
                  <a:lnTo>
                    <a:pt x="14630400" y="914400"/>
                  </a:lnTo>
                  <a:lnTo>
                    <a:pt x="0" y="914400"/>
                  </a:lnTo>
                  <a:close/>
                </a:path>
              </a:pathLst>
            </a:custGeom>
            <a:blipFill>
              <a:blip r:embed="rId4">
                <a:alphaModFix amt="0"/>
              </a:blip>
              <a:stretch>
                <a:fillRect l="0" t="-261760" r="0" b="-261760"/>
              </a:stretch>
            </a:blipFill>
          </p:spPr>
        </p:sp>
        <p:sp>
          <p:nvSpPr>
            <p:cNvPr name="TextBox 27" id="27"/>
            <p:cNvSpPr txBox="true"/>
            <p:nvPr/>
          </p:nvSpPr>
          <p:spPr>
            <a:xfrm>
              <a:off x="0" y="-47625"/>
              <a:ext cx="14630400" cy="962025"/>
            </a:xfrm>
            <a:prstGeom prst="rect">
              <a:avLst/>
            </a:prstGeom>
          </p:spPr>
          <p:txBody>
            <a:bodyPr anchor="ctr" rtlCol="false" tIns="0" lIns="0" bIns="0" rIns="0"/>
            <a:lstStyle/>
            <a:p>
              <a:pPr algn="l">
                <a:lnSpc>
                  <a:spcPts val="3060"/>
                </a:lnSpc>
              </a:pPr>
              <a:r>
                <a:rPr lang="en-US" sz="2550">
                  <a:solidFill>
                    <a:srgbClr val="FFFFFF"/>
                  </a:solidFill>
                  <a:latin typeface="Calibri (MS)"/>
                  <a:ea typeface="Calibri (MS)"/>
                  <a:cs typeface="Calibri (MS)"/>
                  <a:sym typeface="Calibri (MS)"/>
                </a:rPr>
                <a:t>Ferdie James J. Nervida   •   Jasper Van Marcellones</a:t>
              </a:r>
            </a:p>
          </p:txBody>
        </p:sp>
      </p:grpSp>
      <p:grpSp>
        <p:nvGrpSpPr>
          <p:cNvPr name="Group 28" id="28"/>
          <p:cNvGrpSpPr/>
          <p:nvPr/>
        </p:nvGrpSpPr>
        <p:grpSpPr>
          <a:xfrm rot="0">
            <a:off x="685800" y="9710928"/>
            <a:ext cx="10972800" cy="411480"/>
            <a:chOff x="0" y="0"/>
            <a:chExt cx="14630400" cy="548640"/>
          </a:xfrm>
        </p:grpSpPr>
        <p:sp>
          <p:nvSpPr>
            <p:cNvPr name="Freeform 29" id="29"/>
            <p:cNvSpPr/>
            <p:nvPr/>
          </p:nvSpPr>
          <p:spPr>
            <a:xfrm flipH="false" flipV="false" rot="0">
              <a:off x="0" y="0"/>
              <a:ext cx="14630400" cy="548640"/>
            </a:xfrm>
            <a:custGeom>
              <a:avLst/>
              <a:gdLst/>
              <a:ahLst/>
              <a:cxnLst/>
              <a:rect r="r" b="b" t="t" l="l"/>
              <a:pathLst>
                <a:path h="548640" w="14630400">
                  <a:moveTo>
                    <a:pt x="0" y="0"/>
                  </a:moveTo>
                  <a:lnTo>
                    <a:pt x="14630400" y="0"/>
                  </a:lnTo>
                  <a:lnTo>
                    <a:pt x="14630400" y="548640"/>
                  </a:lnTo>
                  <a:lnTo>
                    <a:pt x="0" y="548640"/>
                  </a:lnTo>
                  <a:close/>
                </a:path>
              </a:pathLst>
            </a:custGeom>
            <a:blipFill>
              <a:blip r:embed="rId4">
                <a:alphaModFix amt="0"/>
              </a:blip>
              <a:stretch>
                <a:fillRect l="0" t="-469601" r="0" b="-469601"/>
              </a:stretch>
            </a:blipFill>
          </p:spPr>
        </p:sp>
        <p:sp>
          <p:nvSpPr>
            <p:cNvPr name="TextBox 30" id="30"/>
            <p:cNvSpPr txBox="true"/>
            <p:nvPr/>
          </p:nvSpPr>
          <p:spPr>
            <a:xfrm>
              <a:off x="0" y="-38100"/>
              <a:ext cx="14630400" cy="586740"/>
            </a:xfrm>
            <a:prstGeom prst="rect">
              <a:avLst/>
            </a:prstGeom>
          </p:spPr>
          <p:txBody>
            <a:bodyPr anchor="ctr" rtlCol="false" tIns="0" lIns="0" bIns="0" rIns="0"/>
            <a:lstStyle/>
            <a:p>
              <a:pPr algn="l">
                <a:lnSpc>
                  <a:spcPts val="1800"/>
                </a:lnSpc>
              </a:pPr>
              <a:r>
                <a:rPr lang="en-US" sz="1500">
                  <a:solidFill>
                    <a:srgbClr val="CADCFC"/>
                  </a:solidFill>
                  <a:latin typeface="Calibri (MS)"/>
                  <a:ea typeface="Calibri (MS)"/>
                  <a:cs typeface="Calibri (MS)"/>
                  <a:sym typeface="Calibri (MS)"/>
                </a:rPr>
                <a:t>Foundations of Cybersecurity Risk Management to Provincial Cybersecurity Governance</a:t>
              </a:r>
            </a:p>
          </p:txBody>
        </p:sp>
      </p:grpSp>
      <p:grpSp>
        <p:nvGrpSpPr>
          <p:cNvPr name="Group 31" id="31"/>
          <p:cNvGrpSpPr/>
          <p:nvPr/>
        </p:nvGrpSpPr>
        <p:grpSpPr>
          <a:xfrm rot="0">
            <a:off x="16911828" y="9710928"/>
            <a:ext cx="685800" cy="411480"/>
            <a:chOff x="0" y="0"/>
            <a:chExt cx="914400" cy="548640"/>
          </a:xfrm>
        </p:grpSpPr>
        <p:sp>
          <p:nvSpPr>
            <p:cNvPr name="Freeform 32" id="32"/>
            <p:cNvSpPr/>
            <p:nvPr/>
          </p:nvSpPr>
          <p:spPr>
            <a:xfrm flipH="false" flipV="false" rot="0">
              <a:off x="0" y="0"/>
              <a:ext cx="914400" cy="548640"/>
            </a:xfrm>
            <a:custGeom>
              <a:avLst/>
              <a:gdLst/>
              <a:ahLst/>
              <a:cxnLst/>
              <a:rect r="r" b="b" t="t" l="l"/>
              <a:pathLst>
                <a:path h="548640" w="914400">
                  <a:moveTo>
                    <a:pt x="0" y="0"/>
                  </a:moveTo>
                  <a:lnTo>
                    <a:pt x="914400" y="0"/>
                  </a:lnTo>
                  <a:lnTo>
                    <a:pt x="914400" y="548640"/>
                  </a:lnTo>
                  <a:lnTo>
                    <a:pt x="0" y="548640"/>
                  </a:lnTo>
                  <a:close/>
                </a:path>
              </a:pathLst>
            </a:custGeom>
            <a:blipFill>
              <a:blip r:embed="rId4">
                <a:alphaModFix amt="0"/>
              </a:blip>
              <a:stretch>
                <a:fillRect l="-26982" t="0" r="-26982" b="0"/>
              </a:stretch>
            </a:blipFill>
          </p:spPr>
        </p:sp>
        <p:sp>
          <p:nvSpPr>
            <p:cNvPr name="TextBox 33" id="33"/>
            <p:cNvSpPr txBox="true"/>
            <p:nvPr/>
          </p:nvSpPr>
          <p:spPr>
            <a:xfrm>
              <a:off x="0" y="-38100"/>
              <a:ext cx="914400" cy="586740"/>
            </a:xfrm>
            <a:prstGeom prst="rect">
              <a:avLst/>
            </a:prstGeom>
          </p:spPr>
          <p:txBody>
            <a:bodyPr anchor="ctr" rtlCol="false" tIns="0" lIns="0" bIns="0" rIns="0"/>
            <a:lstStyle/>
            <a:p>
              <a:pPr algn="r">
                <a:lnSpc>
                  <a:spcPts val="1800"/>
                </a:lnSpc>
              </a:pPr>
              <a:r>
                <a:rPr lang="en-US" sz="1500">
                  <a:solidFill>
                    <a:srgbClr val="CADCFC"/>
                  </a:solidFill>
                  <a:latin typeface="Calibri (MS)"/>
                  <a:ea typeface="Calibri (MS)"/>
                  <a:cs typeface="Calibri (MS)"/>
                  <a:sym typeface="Calibri (MS)"/>
                </a:rPr>
                <a:t>2</a:t>
              </a:r>
            </a:p>
          </p:txBody>
        </p:sp>
      </p:gr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5760720" cy="10287000"/>
            <a:chOff x="0" y="0"/>
            <a:chExt cx="7680960" cy="13716000"/>
          </a:xfrm>
        </p:grpSpPr>
        <p:sp>
          <p:nvSpPr>
            <p:cNvPr name="Freeform 3" id="3"/>
            <p:cNvSpPr/>
            <p:nvPr/>
          </p:nvSpPr>
          <p:spPr>
            <a:xfrm flipH="false" flipV="false" rot="0">
              <a:off x="0" y="0"/>
              <a:ext cx="7680960" cy="13716000"/>
            </a:xfrm>
            <a:custGeom>
              <a:avLst/>
              <a:gdLst/>
              <a:ahLst/>
              <a:cxnLst/>
              <a:rect r="r" b="b" t="t" l="l"/>
              <a:pathLst>
                <a:path h="13716000" w="7680960">
                  <a:moveTo>
                    <a:pt x="0" y="0"/>
                  </a:moveTo>
                  <a:lnTo>
                    <a:pt x="7680960" y="0"/>
                  </a:lnTo>
                  <a:lnTo>
                    <a:pt x="7680960" y="13716000"/>
                  </a:lnTo>
                  <a:lnTo>
                    <a:pt x="0" y="13716000"/>
                  </a:lnTo>
                  <a:close/>
                </a:path>
              </a:pathLst>
            </a:custGeom>
            <a:solidFill>
              <a:srgbClr val="1E2761"/>
            </a:solidFill>
          </p:spPr>
        </p:sp>
      </p:grpSp>
      <p:grpSp>
        <p:nvGrpSpPr>
          <p:cNvPr name="Group 4" id="4"/>
          <p:cNvGrpSpPr/>
          <p:nvPr/>
        </p:nvGrpSpPr>
        <p:grpSpPr>
          <a:xfrm rot="0">
            <a:off x="-2194560" y="7269480"/>
            <a:ext cx="6309360" cy="6309360"/>
            <a:chOff x="0" y="0"/>
            <a:chExt cx="8412480" cy="8412480"/>
          </a:xfrm>
        </p:grpSpPr>
        <p:sp>
          <p:nvSpPr>
            <p:cNvPr name="Freeform 5" id="5"/>
            <p:cNvSpPr/>
            <p:nvPr/>
          </p:nvSpPr>
          <p:spPr>
            <a:xfrm flipH="false" flipV="false" rot="0">
              <a:off x="0" y="0"/>
              <a:ext cx="8412480" cy="8412480"/>
            </a:xfrm>
            <a:custGeom>
              <a:avLst/>
              <a:gdLst/>
              <a:ahLst/>
              <a:cxnLst/>
              <a:rect r="r" b="b" t="t" l="l"/>
              <a:pathLst>
                <a:path h="8412480" w="8412480">
                  <a:moveTo>
                    <a:pt x="0" y="4206240"/>
                  </a:moveTo>
                  <a:cubicBezTo>
                    <a:pt x="0" y="1883156"/>
                    <a:pt x="1883156" y="0"/>
                    <a:pt x="4206240" y="0"/>
                  </a:cubicBezTo>
                  <a:cubicBezTo>
                    <a:pt x="6529325" y="0"/>
                    <a:pt x="8412480" y="1883156"/>
                    <a:pt x="8412480" y="4206240"/>
                  </a:cubicBezTo>
                  <a:cubicBezTo>
                    <a:pt x="8412480" y="6529325"/>
                    <a:pt x="6529324" y="8412480"/>
                    <a:pt x="4206240" y="8412480"/>
                  </a:cubicBezTo>
                  <a:cubicBezTo>
                    <a:pt x="1883156" y="8412480"/>
                    <a:pt x="0" y="6529324"/>
                    <a:pt x="0" y="4206240"/>
                  </a:cubicBezTo>
                  <a:close/>
                </a:path>
              </a:pathLst>
            </a:custGeom>
            <a:solidFill>
              <a:srgbClr val="263186"/>
            </a:solidFill>
          </p:spPr>
        </p:sp>
      </p:grpSp>
      <p:grpSp>
        <p:nvGrpSpPr>
          <p:cNvPr name="Group 6" id="6"/>
          <p:cNvGrpSpPr/>
          <p:nvPr/>
        </p:nvGrpSpPr>
        <p:grpSpPr>
          <a:xfrm rot="0">
            <a:off x="960120" y="1028700"/>
            <a:ext cx="960120" cy="960120"/>
            <a:chOff x="0" y="0"/>
            <a:chExt cx="1280160" cy="1280160"/>
          </a:xfrm>
        </p:grpSpPr>
        <p:sp>
          <p:nvSpPr>
            <p:cNvPr name="Freeform 7" id="7"/>
            <p:cNvSpPr/>
            <p:nvPr/>
          </p:nvSpPr>
          <p:spPr>
            <a:xfrm flipH="false" flipV="false" rot="0">
              <a:off x="0" y="0"/>
              <a:ext cx="1280160" cy="1280160"/>
            </a:xfrm>
            <a:custGeom>
              <a:avLst/>
              <a:gdLst/>
              <a:ahLst/>
              <a:cxnLst/>
              <a:rect r="r" b="b" t="t" l="l"/>
              <a:pathLst>
                <a:path h="1280160" w="1280160">
                  <a:moveTo>
                    <a:pt x="0" y="640080"/>
                  </a:moveTo>
                  <a:cubicBezTo>
                    <a:pt x="0" y="286512"/>
                    <a:pt x="286512" y="0"/>
                    <a:pt x="640080" y="0"/>
                  </a:cubicBezTo>
                  <a:cubicBezTo>
                    <a:pt x="993648" y="0"/>
                    <a:pt x="1280160" y="286512"/>
                    <a:pt x="1280160" y="640080"/>
                  </a:cubicBezTo>
                  <a:cubicBezTo>
                    <a:pt x="1280160" y="993648"/>
                    <a:pt x="993648" y="1280160"/>
                    <a:pt x="640080" y="1280160"/>
                  </a:cubicBezTo>
                  <a:cubicBezTo>
                    <a:pt x="286512" y="1280160"/>
                    <a:pt x="0" y="993648"/>
                    <a:pt x="0" y="640080"/>
                  </a:cubicBezTo>
                  <a:close/>
                </a:path>
              </a:pathLst>
            </a:custGeom>
            <a:solidFill>
              <a:srgbClr val="00B4D8"/>
            </a:solidFill>
          </p:spPr>
        </p:sp>
      </p:grpSp>
      <p:grpSp>
        <p:nvGrpSpPr>
          <p:cNvPr name="Group 8" id="8"/>
          <p:cNvGrpSpPr/>
          <p:nvPr/>
        </p:nvGrpSpPr>
        <p:grpSpPr>
          <a:xfrm rot="0">
            <a:off x="1138428" y="1207008"/>
            <a:ext cx="603504" cy="603504"/>
            <a:chOff x="0" y="0"/>
            <a:chExt cx="804672" cy="804672"/>
          </a:xfrm>
        </p:grpSpPr>
        <p:sp>
          <p:nvSpPr>
            <p:cNvPr name="Freeform 9" id="9" descr="user.png"/>
            <p:cNvSpPr/>
            <p:nvPr/>
          </p:nvSpPr>
          <p:spPr>
            <a:xfrm flipH="false" flipV="false" rot="0">
              <a:off x="0" y="0"/>
              <a:ext cx="804672" cy="804672"/>
            </a:xfrm>
            <a:custGeom>
              <a:avLst/>
              <a:gdLst/>
              <a:ahLst/>
              <a:cxnLst/>
              <a:rect r="r" b="b" t="t" l="l"/>
              <a:pathLst>
                <a:path h="804672" w="804672">
                  <a:moveTo>
                    <a:pt x="0" y="0"/>
                  </a:moveTo>
                  <a:lnTo>
                    <a:pt x="804672" y="0"/>
                  </a:lnTo>
                  <a:lnTo>
                    <a:pt x="804672" y="804672"/>
                  </a:lnTo>
                  <a:lnTo>
                    <a:pt x="0" y="804672"/>
                  </a:lnTo>
                  <a:lnTo>
                    <a:pt x="0" y="0"/>
                  </a:lnTo>
                  <a:close/>
                </a:path>
              </a:pathLst>
            </a:custGeom>
            <a:blipFill>
              <a:blip r:embed="rId3"/>
              <a:stretch>
                <a:fillRect l="0" t="0" r="0" b="0"/>
              </a:stretch>
            </a:blipFill>
          </p:spPr>
        </p:sp>
      </p:grpSp>
      <p:sp>
        <p:nvSpPr>
          <p:cNvPr name="TextBox 10" id="10"/>
          <p:cNvSpPr txBox="true"/>
          <p:nvPr/>
        </p:nvSpPr>
        <p:spPr>
          <a:xfrm rot="0">
            <a:off x="982980" y="2358390"/>
            <a:ext cx="4411980" cy="1436370"/>
          </a:xfrm>
          <a:prstGeom prst="rect">
            <a:avLst/>
          </a:prstGeom>
        </p:spPr>
        <p:txBody>
          <a:bodyPr anchor="t" rtlCol="false" tIns="0" lIns="0" bIns="0" rIns="0">
            <a:spAutoFit/>
          </a:bodyPr>
          <a:lstStyle/>
          <a:p>
            <a:pPr algn="l">
              <a:lnSpc>
                <a:spcPts val="4320"/>
              </a:lnSpc>
            </a:pPr>
            <a:r>
              <a:rPr lang="en-US" sz="3600" b="true">
                <a:solidFill>
                  <a:srgbClr val="FFFFFF"/>
                </a:solidFill>
                <a:latin typeface="Cambria Bold"/>
                <a:ea typeface="Cambria Bold"/>
                <a:cs typeface="Cambria Bold"/>
                <a:sym typeface="Cambria Bold"/>
              </a:rPr>
              <a:t>Ferdie James J. Nervida</a:t>
            </a:r>
          </a:p>
        </p:txBody>
      </p:sp>
      <p:sp>
        <p:nvSpPr>
          <p:cNvPr name="TextBox 11" id="11"/>
          <p:cNvSpPr txBox="true"/>
          <p:nvPr/>
        </p:nvSpPr>
        <p:spPr>
          <a:xfrm rot="0">
            <a:off x="982980" y="3722370"/>
            <a:ext cx="4411980" cy="1238250"/>
          </a:xfrm>
          <a:prstGeom prst="rect">
            <a:avLst/>
          </a:prstGeom>
        </p:spPr>
        <p:txBody>
          <a:bodyPr anchor="t" rtlCol="false" tIns="0" lIns="0" bIns="0" rIns="0">
            <a:spAutoFit/>
          </a:bodyPr>
          <a:lstStyle/>
          <a:p>
            <a:pPr algn="l">
              <a:lnSpc>
                <a:spcPts val="2808"/>
              </a:lnSpc>
            </a:pPr>
            <a:r>
              <a:rPr lang="en-US" sz="1950">
                <a:solidFill>
                  <a:srgbClr val="CADCFC"/>
                </a:solidFill>
                <a:latin typeface="Calibri (MS)"/>
                <a:ea typeface="Calibri (MS)"/>
                <a:cs typeface="Calibri (MS)"/>
                <a:sym typeface="Calibri (MS)"/>
              </a:rPr>
              <a:t>Resource Person / Technical Lecturer / Consultant</a:t>
            </a:r>
          </a:p>
        </p:txBody>
      </p:sp>
      <p:sp>
        <p:nvSpPr>
          <p:cNvPr name="TextBox 12" id="12"/>
          <p:cNvSpPr txBox="true"/>
          <p:nvPr/>
        </p:nvSpPr>
        <p:spPr>
          <a:xfrm rot="0">
            <a:off x="982980" y="6071235"/>
            <a:ext cx="4411980" cy="1426845"/>
          </a:xfrm>
          <a:prstGeom prst="rect">
            <a:avLst/>
          </a:prstGeom>
        </p:spPr>
        <p:txBody>
          <a:bodyPr anchor="t" rtlCol="false" tIns="0" lIns="0" bIns="0" rIns="0">
            <a:spAutoFit/>
          </a:bodyPr>
          <a:lstStyle/>
          <a:p>
            <a:pPr algn="l">
              <a:lnSpc>
                <a:spcPts val="5759"/>
              </a:lnSpc>
            </a:pPr>
            <a:r>
              <a:rPr lang="en-US" sz="4800" b="true">
                <a:solidFill>
                  <a:srgbClr val="00B4D8"/>
                </a:solidFill>
                <a:latin typeface="Cambria Bold"/>
                <a:ea typeface="Cambria Bold"/>
                <a:cs typeface="Cambria Bold"/>
                <a:sym typeface="Cambria Bold"/>
              </a:rPr>
              <a:t>7+</a:t>
            </a:r>
          </a:p>
          <a:p>
            <a:pPr algn="l">
              <a:lnSpc>
                <a:spcPts val="2160"/>
              </a:lnSpc>
            </a:pPr>
          </a:p>
          <a:p>
            <a:pPr algn="l">
              <a:lnSpc>
                <a:spcPts val="2160"/>
              </a:lnSpc>
            </a:pPr>
            <a:r>
              <a:rPr lang="en-US" sz="1800">
                <a:solidFill>
                  <a:srgbClr val="CADCFC"/>
                </a:solidFill>
                <a:latin typeface="Cambria"/>
                <a:ea typeface="Cambria"/>
                <a:cs typeface="Cambria"/>
                <a:sym typeface="Cambria"/>
              </a:rPr>
              <a:t>Years of Experience</a:t>
            </a:r>
          </a:p>
        </p:txBody>
      </p:sp>
      <p:sp>
        <p:nvSpPr>
          <p:cNvPr name="TextBox 13" id="13"/>
          <p:cNvSpPr txBox="true"/>
          <p:nvPr/>
        </p:nvSpPr>
        <p:spPr>
          <a:xfrm rot="0">
            <a:off x="982980" y="7797165"/>
            <a:ext cx="4411980" cy="1621155"/>
          </a:xfrm>
          <a:prstGeom prst="rect">
            <a:avLst/>
          </a:prstGeom>
        </p:spPr>
        <p:txBody>
          <a:bodyPr anchor="t" rtlCol="false" tIns="0" lIns="0" bIns="0" rIns="0">
            <a:spAutoFit/>
          </a:bodyPr>
          <a:lstStyle/>
          <a:p>
            <a:pPr algn="l">
              <a:lnSpc>
                <a:spcPts val="2376"/>
              </a:lnSpc>
            </a:pPr>
            <a:r>
              <a:rPr lang="en-US" sz="1650" i="true">
                <a:solidFill>
                  <a:srgbClr val="CADCFC"/>
                </a:solidFill>
                <a:latin typeface="Calibri (MS) Italics"/>
                <a:ea typeface="Calibri (MS) Italics"/>
                <a:cs typeface="Calibri (MS) Italics"/>
                <a:sym typeface="Calibri (MS) Italics"/>
              </a:rPr>
              <a:t>Cybersecurity, Cyber Threat Intelligence, Digital Investigations, and Blockchain Forensics</a:t>
            </a:r>
          </a:p>
        </p:txBody>
      </p:sp>
      <p:grpSp>
        <p:nvGrpSpPr>
          <p:cNvPr name="Group 14" id="14"/>
          <p:cNvGrpSpPr/>
          <p:nvPr/>
        </p:nvGrpSpPr>
        <p:grpSpPr>
          <a:xfrm rot="0">
            <a:off x="6377940" y="754380"/>
            <a:ext cx="10972800" cy="411480"/>
            <a:chOff x="0" y="0"/>
            <a:chExt cx="14630400" cy="548640"/>
          </a:xfrm>
        </p:grpSpPr>
        <p:sp>
          <p:nvSpPr>
            <p:cNvPr name="Freeform 15" id="15"/>
            <p:cNvSpPr/>
            <p:nvPr/>
          </p:nvSpPr>
          <p:spPr>
            <a:xfrm flipH="false" flipV="false" rot="0">
              <a:off x="0" y="0"/>
              <a:ext cx="14630400" cy="548640"/>
            </a:xfrm>
            <a:custGeom>
              <a:avLst/>
              <a:gdLst/>
              <a:ahLst/>
              <a:cxnLst/>
              <a:rect r="r" b="b" t="t" l="l"/>
              <a:pathLst>
                <a:path h="548640" w="14630400">
                  <a:moveTo>
                    <a:pt x="0" y="0"/>
                  </a:moveTo>
                  <a:lnTo>
                    <a:pt x="14630400" y="0"/>
                  </a:lnTo>
                  <a:lnTo>
                    <a:pt x="14630400" y="548640"/>
                  </a:lnTo>
                  <a:lnTo>
                    <a:pt x="0" y="548640"/>
                  </a:lnTo>
                  <a:close/>
                </a:path>
              </a:pathLst>
            </a:custGeom>
            <a:blipFill>
              <a:blip r:embed="rId4">
                <a:alphaModFix amt="0"/>
              </a:blip>
              <a:stretch>
                <a:fillRect l="0" t="-469601" r="0" b="-469601"/>
              </a:stretch>
            </a:blipFill>
          </p:spPr>
        </p:sp>
        <p:sp>
          <p:nvSpPr>
            <p:cNvPr name="TextBox 16" id="16"/>
            <p:cNvSpPr txBox="true"/>
            <p:nvPr/>
          </p:nvSpPr>
          <p:spPr>
            <a:xfrm>
              <a:off x="0" y="-38100"/>
              <a:ext cx="14630400" cy="586740"/>
            </a:xfrm>
            <a:prstGeom prst="rect">
              <a:avLst/>
            </a:prstGeom>
          </p:spPr>
          <p:txBody>
            <a:bodyPr anchor="ctr" rtlCol="false" tIns="0" lIns="0" bIns="0" rIns="0"/>
            <a:lstStyle/>
            <a:p>
              <a:pPr algn="l">
                <a:lnSpc>
                  <a:spcPts val="2160"/>
                </a:lnSpc>
              </a:pPr>
              <a:r>
                <a:rPr lang="en-US" b="true" sz="1800" spc="225">
                  <a:solidFill>
                    <a:srgbClr val="00B4D8"/>
                  </a:solidFill>
                  <a:latin typeface="Calibri (MS) Bold"/>
                  <a:ea typeface="Calibri (MS) Bold"/>
                  <a:cs typeface="Calibri (MS) Bold"/>
                  <a:sym typeface="Calibri (MS) Bold"/>
                </a:rPr>
                <a:t>PROFILE SUMMARY</a:t>
              </a:r>
            </a:p>
          </p:txBody>
        </p:sp>
      </p:grpSp>
      <p:sp>
        <p:nvSpPr>
          <p:cNvPr name="TextBox 17" id="17"/>
          <p:cNvSpPr txBox="true"/>
          <p:nvPr/>
        </p:nvSpPr>
        <p:spPr>
          <a:xfrm rot="0">
            <a:off x="6469380" y="1116330"/>
            <a:ext cx="10789920" cy="1443990"/>
          </a:xfrm>
          <a:prstGeom prst="rect">
            <a:avLst/>
          </a:prstGeom>
        </p:spPr>
        <p:txBody>
          <a:bodyPr anchor="t" rtlCol="false" tIns="0" lIns="0" bIns="0" rIns="0">
            <a:spAutoFit/>
          </a:bodyPr>
          <a:lstStyle/>
          <a:p>
            <a:pPr algn="l">
              <a:lnSpc>
                <a:spcPts val="2854"/>
              </a:lnSpc>
            </a:pPr>
            <a:r>
              <a:rPr lang="en-US" sz="1950">
                <a:solidFill>
                  <a:srgbClr val="23262F"/>
                </a:solidFill>
                <a:latin typeface="Calibri (MS)"/>
                <a:ea typeface="Calibri (MS)"/>
                <a:cs typeface="Calibri (MS)"/>
                <a:sym typeface="Calibri (MS)"/>
              </a:rPr>
              <a:t>Cybersecurity and threat intelligence practitioner with over seven years of experience in digital investigations, threat research, and technical capacity building. Experienced in supporting government cybersecurity initiatives, incident response readiness, cyber threat analysis, and complex digital investigations.</a:t>
            </a:r>
          </a:p>
        </p:txBody>
      </p:sp>
      <p:grpSp>
        <p:nvGrpSpPr>
          <p:cNvPr name="Group 18" id="18"/>
          <p:cNvGrpSpPr/>
          <p:nvPr/>
        </p:nvGrpSpPr>
        <p:grpSpPr>
          <a:xfrm rot="0">
            <a:off x="6342383" y="3598971"/>
            <a:ext cx="5280660" cy="3546718"/>
            <a:chOff x="0" y="0"/>
            <a:chExt cx="7040880" cy="4728957"/>
          </a:xfrm>
        </p:grpSpPr>
        <p:sp>
          <p:nvSpPr>
            <p:cNvPr name="Freeform 19" id="19"/>
            <p:cNvSpPr/>
            <p:nvPr/>
          </p:nvSpPr>
          <p:spPr>
            <a:xfrm flipH="false" flipV="false" rot="0">
              <a:off x="0" y="0"/>
              <a:ext cx="7040880" cy="4728958"/>
            </a:xfrm>
            <a:custGeom>
              <a:avLst/>
              <a:gdLst/>
              <a:ahLst/>
              <a:cxnLst/>
              <a:rect r="r" b="b" t="t" l="l"/>
              <a:pathLst>
                <a:path h="4728958" w="7040880">
                  <a:moveTo>
                    <a:pt x="0" y="78003"/>
                  </a:moveTo>
                  <a:cubicBezTo>
                    <a:pt x="0" y="34939"/>
                    <a:pt x="65532" y="0"/>
                    <a:pt x="146304" y="0"/>
                  </a:cubicBezTo>
                  <a:lnTo>
                    <a:pt x="6894576" y="0"/>
                  </a:lnTo>
                  <a:cubicBezTo>
                    <a:pt x="6975348" y="0"/>
                    <a:pt x="7040880" y="34939"/>
                    <a:pt x="7040880" y="78003"/>
                  </a:cubicBezTo>
                  <a:lnTo>
                    <a:pt x="7040880" y="4650954"/>
                  </a:lnTo>
                  <a:cubicBezTo>
                    <a:pt x="7040880" y="4694018"/>
                    <a:pt x="6975348" y="4728958"/>
                    <a:pt x="6894576" y="4728958"/>
                  </a:cubicBezTo>
                  <a:lnTo>
                    <a:pt x="146304" y="4728958"/>
                  </a:lnTo>
                  <a:cubicBezTo>
                    <a:pt x="65532" y="4728958"/>
                    <a:pt x="0" y="4694018"/>
                    <a:pt x="0" y="4650954"/>
                  </a:cubicBezTo>
                  <a:close/>
                </a:path>
              </a:pathLst>
            </a:custGeom>
            <a:solidFill>
              <a:srgbClr val="F4F7FC"/>
            </a:solidFill>
          </p:spPr>
        </p:sp>
      </p:grpSp>
      <p:grpSp>
        <p:nvGrpSpPr>
          <p:cNvPr name="Group 20" id="20"/>
          <p:cNvGrpSpPr/>
          <p:nvPr/>
        </p:nvGrpSpPr>
        <p:grpSpPr>
          <a:xfrm rot="0">
            <a:off x="6685283" y="4073652"/>
            <a:ext cx="4594860" cy="384048"/>
            <a:chOff x="0" y="0"/>
            <a:chExt cx="6126480" cy="512064"/>
          </a:xfrm>
        </p:grpSpPr>
        <p:sp>
          <p:nvSpPr>
            <p:cNvPr name="Freeform 21" id="21"/>
            <p:cNvSpPr/>
            <p:nvPr/>
          </p:nvSpPr>
          <p:spPr>
            <a:xfrm flipH="false" flipV="false" rot="0">
              <a:off x="0" y="0"/>
              <a:ext cx="6126480" cy="512064"/>
            </a:xfrm>
            <a:custGeom>
              <a:avLst/>
              <a:gdLst/>
              <a:ahLst/>
              <a:cxnLst/>
              <a:rect r="r" b="b" t="t" l="l"/>
              <a:pathLst>
                <a:path h="512064" w="6126480">
                  <a:moveTo>
                    <a:pt x="0" y="0"/>
                  </a:moveTo>
                  <a:lnTo>
                    <a:pt x="6126480" y="0"/>
                  </a:lnTo>
                  <a:lnTo>
                    <a:pt x="6126480" y="512064"/>
                  </a:lnTo>
                  <a:lnTo>
                    <a:pt x="0" y="512064"/>
                  </a:lnTo>
                  <a:close/>
                </a:path>
              </a:pathLst>
            </a:custGeom>
            <a:blipFill>
              <a:blip r:embed="rId4">
                <a:alphaModFix amt="0"/>
              </a:blip>
              <a:stretch>
                <a:fillRect l="0" t="-183124" r="0" b="-183124"/>
              </a:stretch>
            </a:blipFill>
          </p:spPr>
        </p:sp>
        <p:sp>
          <p:nvSpPr>
            <p:cNvPr name="TextBox 22" id="22"/>
            <p:cNvSpPr txBox="true"/>
            <p:nvPr/>
          </p:nvSpPr>
          <p:spPr>
            <a:xfrm>
              <a:off x="0" y="-28575"/>
              <a:ext cx="6126480" cy="540639"/>
            </a:xfrm>
            <a:prstGeom prst="rect">
              <a:avLst/>
            </a:prstGeom>
          </p:spPr>
          <p:txBody>
            <a:bodyPr anchor="ctr" rtlCol="false" tIns="0" lIns="0" bIns="0" rIns="0"/>
            <a:lstStyle/>
            <a:p>
              <a:pPr algn="l">
                <a:lnSpc>
                  <a:spcPts val="1980"/>
                </a:lnSpc>
              </a:pPr>
              <a:r>
                <a:rPr lang="en-US" b="true" sz="1650" spc="150">
                  <a:solidFill>
                    <a:srgbClr val="1E2761"/>
                  </a:solidFill>
                  <a:latin typeface="Calibri (MS) Bold"/>
                  <a:ea typeface="Calibri (MS) Bold"/>
                  <a:cs typeface="Calibri (MS) Bold"/>
                  <a:sym typeface="Calibri (MS) Bold"/>
                </a:rPr>
                <a:t>CERTIFICATIONS &amp; TRAINING</a:t>
              </a:r>
            </a:p>
          </p:txBody>
        </p:sp>
      </p:grpSp>
      <p:sp>
        <p:nvSpPr>
          <p:cNvPr name="TextBox 23" id="23"/>
          <p:cNvSpPr txBox="true"/>
          <p:nvPr/>
        </p:nvSpPr>
        <p:spPr>
          <a:xfrm rot="0">
            <a:off x="6685283" y="4466082"/>
            <a:ext cx="5260333" cy="1924050"/>
          </a:xfrm>
          <a:prstGeom prst="rect">
            <a:avLst/>
          </a:prstGeom>
        </p:spPr>
        <p:txBody>
          <a:bodyPr anchor="t" rtlCol="false" tIns="0" lIns="0" bIns="0" rIns="0">
            <a:spAutoFit/>
          </a:bodyPr>
          <a:lstStyle/>
          <a:p>
            <a:pPr algn="l" marL="285036" indent="-142518" lvl="1">
              <a:lnSpc>
                <a:spcPts val="1889"/>
              </a:lnSpc>
              <a:buFont typeface="Arial"/>
              <a:buChar char="•"/>
            </a:pPr>
            <a:r>
              <a:rPr lang="en-US" sz="1575">
                <a:solidFill>
                  <a:srgbClr val="23262F"/>
                </a:solidFill>
                <a:latin typeface="Calibri (MS)"/>
                <a:ea typeface="Calibri (MS)"/>
                <a:cs typeface="Calibri (MS)"/>
                <a:sym typeface="Calibri (MS)"/>
              </a:rPr>
              <a:t>DICT Certified Cybersecurity Professional (Level 3: Expert)</a:t>
            </a:r>
          </a:p>
          <a:p>
            <a:pPr algn="l" marL="285036" indent="-142518" lvl="1">
              <a:lnSpc>
                <a:spcPts val="1889"/>
              </a:lnSpc>
              <a:buFont typeface="Arial"/>
              <a:buChar char="•"/>
            </a:pPr>
            <a:r>
              <a:rPr lang="en-US" sz="1575">
                <a:solidFill>
                  <a:srgbClr val="23262F"/>
                </a:solidFill>
                <a:latin typeface="Calibri (MS)"/>
                <a:ea typeface="Calibri (MS)"/>
                <a:cs typeface="Calibri (MS)"/>
                <a:sym typeface="Calibri (MS)"/>
              </a:rPr>
              <a:t>Certified Cybersecurity Educator Professional (CCEP)</a:t>
            </a:r>
          </a:p>
          <a:p>
            <a:pPr algn="l" marL="285036" indent="-142518" lvl="1">
              <a:lnSpc>
                <a:spcPts val="1889"/>
              </a:lnSpc>
              <a:buFont typeface="Arial"/>
              <a:buChar char="•"/>
            </a:pPr>
            <a:r>
              <a:rPr lang="en-US" sz="1575">
                <a:solidFill>
                  <a:srgbClr val="23262F"/>
                </a:solidFill>
                <a:latin typeface="Calibri (MS)"/>
                <a:ea typeface="Calibri (MS)"/>
                <a:cs typeface="Calibri (MS)"/>
                <a:sym typeface="Calibri (MS)"/>
              </a:rPr>
              <a:t>Google Cybersecurity Professional Certificate</a:t>
            </a:r>
          </a:p>
          <a:p>
            <a:pPr algn="l" marL="285036" indent="-142518" lvl="1">
              <a:lnSpc>
                <a:spcPts val="1889"/>
              </a:lnSpc>
              <a:buFont typeface="Arial"/>
              <a:buChar char="•"/>
            </a:pPr>
            <a:r>
              <a:rPr lang="en-US" sz="1575">
                <a:solidFill>
                  <a:srgbClr val="23262F"/>
                </a:solidFill>
                <a:latin typeface="Calibri (MS)"/>
                <a:ea typeface="Calibri (MS)"/>
                <a:cs typeface="Calibri (MS)"/>
                <a:sym typeface="Calibri (MS)"/>
              </a:rPr>
              <a:t>IBM Cyber Threat Intelligence</a:t>
            </a:r>
          </a:p>
          <a:p>
            <a:pPr algn="l" marL="285036" indent="-142518" lvl="1">
              <a:lnSpc>
                <a:spcPts val="1889"/>
              </a:lnSpc>
              <a:buFont typeface="Arial"/>
              <a:buChar char="•"/>
            </a:pPr>
            <a:r>
              <a:rPr lang="en-US" sz="1575">
                <a:solidFill>
                  <a:srgbClr val="23262F"/>
                </a:solidFill>
                <a:latin typeface="Calibri (MS)"/>
                <a:ea typeface="Calibri (MS)"/>
                <a:cs typeface="Calibri (MS)"/>
                <a:sym typeface="Calibri (MS)"/>
              </a:rPr>
              <a:t>Cryptocurrency for Law Enforcement, U.S. Department of Homeland Security</a:t>
            </a:r>
          </a:p>
          <a:p>
            <a:pPr algn="l" marL="285036" indent="-142518" lvl="1">
              <a:lnSpc>
                <a:spcPts val="1889"/>
              </a:lnSpc>
              <a:buFont typeface="Arial"/>
              <a:buChar char="•"/>
            </a:pPr>
            <a:r>
              <a:rPr lang="en-US" sz="1575">
                <a:solidFill>
                  <a:srgbClr val="23262F"/>
                </a:solidFill>
                <a:latin typeface="Calibri (MS)"/>
                <a:ea typeface="Calibri (MS)"/>
                <a:cs typeface="Calibri (MS)"/>
                <a:sym typeface="Calibri (MS)"/>
              </a:rPr>
              <a:t>Advanced Blockchain Investigations, AnChain.AI</a:t>
            </a:r>
          </a:p>
          <a:p>
            <a:pPr algn="l" marL="285036" indent="-142518" lvl="1">
              <a:lnSpc>
                <a:spcPts val="1889"/>
              </a:lnSpc>
              <a:buFont typeface="Arial"/>
              <a:buChar char="•"/>
            </a:pPr>
            <a:r>
              <a:rPr lang="en-US" sz="1575">
                <a:solidFill>
                  <a:srgbClr val="23262F"/>
                </a:solidFill>
                <a:latin typeface="Calibri (MS)"/>
                <a:ea typeface="Calibri (MS)"/>
                <a:cs typeface="Calibri (MS)"/>
                <a:sym typeface="Calibri (MS)"/>
              </a:rPr>
              <a:t>Advanced Smart Contract Investigations, AnChain.AI</a:t>
            </a:r>
          </a:p>
        </p:txBody>
      </p:sp>
      <p:grpSp>
        <p:nvGrpSpPr>
          <p:cNvPr name="Group 24" id="24"/>
          <p:cNvGrpSpPr/>
          <p:nvPr/>
        </p:nvGrpSpPr>
        <p:grpSpPr>
          <a:xfrm rot="0">
            <a:off x="11945617" y="2766060"/>
            <a:ext cx="5280660" cy="6652260"/>
            <a:chOff x="0" y="0"/>
            <a:chExt cx="7040880" cy="8869680"/>
          </a:xfrm>
        </p:grpSpPr>
        <p:sp>
          <p:nvSpPr>
            <p:cNvPr name="Freeform 25" id="25"/>
            <p:cNvSpPr/>
            <p:nvPr/>
          </p:nvSpPr>
          <p:spPr>
            <a:xfrm flipH="false" flipV="false" rot="0">
              <a:off x="0" y="0"/>
              <a:ext cx="7040880" cy="8869680"/>
            </a:xfrm>
            <a:custGeom>
              <a:avLst/>
              <a:gdLst/>
              <a:ahLst/>
              <a:cxnLst/>
              <a:rect r="r" b="b" t="t" l="l"/>
              <a:pathLst>
                <a:path h="8869680" w="7040880">
                  <a:moveTo>
                    <a:pt x="0" y="146304"/>
                  </a:moveTo>
                  <a:cubicBezTo>
                    <a:pt x="0" y="65532"/>
                    <a:pt x="65532" y="0"/>
                    <a:pt x="146304" y="0"/>
                  </a:cubicBezTo>
                  <a:lnTo>
                    <a:pt x="6894576" y="0"/>
                  </a:lnTo>
                  <a:cubicBezTo>
                    <a:pt x="6975348" y="0"/>
                    <a:pt x="7040880" y="65532"/>
                    <a:pt x="7040880" y="146304"/>
                  </a:cubicBezTo>
                  <a:lnTo>
                    <a:pt x="7040880" y="8723376"/>
                  </a:lnTo>
                  <a:cubicBezTo>
                    <a:pt x="7040880" y="8804148"/>
                    <a:pt x="6975348" y="8869680"/>
                    <a:pt x="6894576" y="8869680"/>
                  </a:cubicBezTo>
                  <a:lnTo>
                    <a:pt x="146304" y="8869680"/>
                  </a:lnTo>
                  <a:cubicBezTo>
                    <a:pt x="65532" y="8869680"/>
                    <a:pt x="0" y="8804148"/>
                    <a:pt x="0" y="8723376"/>
                  </a:cubicBezTo>
                  <a:close/>
                </a:path>
              </a:pathLst>
            </a:custGeom>
            <a:solidFill>
              <a:srgbClr val="F4F7FC"/>
            </a:solidFill>
          </p:spPr>
        </p:sp>
      </p:grpSp>
      <p:grpSp>
        <p:nvGrpSpPr>
          <p:cNvPr name="Group 26" id="26"/>
          <p:cNvGrpSpPr/>
          <p:nvPr/>
        </p:nvGrpSpPr>
        <p:grpSpPr>
          <a:xfrm rot="0">
            <a:off x="12412980" y="3086100"/>
            <a:ext cx="4594860" cy="384048"/>
            <a:chOff x="0" y="0"/>
            <a:chExt cx="6126480" cy="512064"/>
          </a:xfrm>
        </p:grpSpPr>
        <p:sp>
          <p:nvSpPr>
            <p:cNvPr name="Freeform 27" id="27"/>
            <p:cNvSpPr/>
            <p:nvPr/>
          </p:nvSpPr>
          <p:spPr>
            <a:xfrm flipH="false" flipV="false" rot="0">
              <a:off x="0" y="0"/>
              <a:ext cx="6126480" cy="512064"/>
            </a:xfrm>
            <a:custGeom>
              <a:avLst/>
              <a:gdLst/>
              <a:ahLst/>
              <a:cxnLst/>
              <a:rect r="r" b="b" t="t" l="l"/>
              <a:pathLst>
                <a:path h="512064" w="6126480">
                  <a:moveTo>
                    <a:pt x="0" y="0"/>
                  </a:moveTo>
                  <a:lnTo>
                    <a:pt x="6126480" y="0"/>
                  </a:lnTo>
                  <a:lnTo>
                    <a:pt x="6126480" y="512064"/>
                  </a:lnTo>
                  <a:lnTo>
                    <a:pt x="0" y="512064"/>
                  </a:lnTo>
                  <a:close/>
                </a:path>
              </a:pathLst>
            </a:custGeom>
            <a:blipFill>
              <a:blip r:embed="rId4">
                <a:alphaModFix amt="0"/>
              </a:blip>
              <a:stretch>
                <a:fillRect l="0" t="-183124" r="0" b="-183124"/>
              </a:stretch>
            </a:blipFill>
          </p:spPr>
        </p:sp>
        <p:sp>
          <p:nvSpPr>
            <p:cNvPr name="TextBox 28" id="28"/>
            <p:cNvSpPr txBox="true"/>
            <p:nvPr/>
          </p:nvSpPr>
          <p:spPr>
            <a:xfrm>
              <a:off x="0" y="-28575"/>
              <a:ext cx="6126480" cy="540639"/>
            </a:xfrm>
            <a:prstGeom prst="rect">
              <a:avLst/>
            </a:prstGeom>
          </p:spPr>
          <p:txBody>
            <a:bodyPr anchor="ctr" rtlCol="false" tIns="0" lIns="0" bIns="0" rIns="0"/>
            <a:lstStyle/>
            <a:p>
              <a:pPr algn="l">
                <a:lnSpc>
                  <a:spcPts val="1980"/>
                </a:lnSpc>
              </a:pPr>
              <a:r>
                <a:rPr lang="en-US" b="true" sz="1650" spc="150">
                  <a:solidFill>
                    <a:srgbClr val="1E2761"/>
                  </a:solidFill>
                  <a:latin typeface="Calibri (MS) Bold"/>
                  <a:ea typeface="Calibri (MS) Bold"/>
                  <a:cs typeface="Calibri (MS) Bold"/>
                  <a:sym typeface="Calibri (MS) Bold"/>
                </a:rPr>
                <a:t>POSITIONS HELD</a:t>
              </a:r>
            </a:p>
          </p:txBody>
        </p:sp>
      </p:grpSp>
      <p:sp>
        <p:nvSpPr>
          <p:cNvPr name="TextBox 29" id="29"/>
          <p:cNvSpPr txBox="true"/>
          <p:nvPr/>
        </p:nvSpPr>
        <p:spPr>
          <a:xfrm rot="0">
            <a:off x="12070080" y="3570396"/>
            <a:ext cx="5189220" cy="1019440"/>
          </a:xfrm>
          <a:prstGeom prst="rect">
            <a:avLst/>
          </a:prstGeom>
        </p:spPr>
        <p:txBody>
          <a:bodyPr anchor="t" rtlCol="false" tIns="0" lIns="0" bIns="0" rIns="0">
            <a:spAutoFit/>
          </a:bodyPr>
          <a:lstStyle/>
          <a:p>
            <a:pPr algn="l" marL="298609" indent="-149304" lvl="1">
              <a:lnSpc>
                <a:spcPts val="1980"/>
              </a:lnSpc>
              <a:buFont typeface="Arial"/>
              <a:buChar char="•"/>
            </a:pPr>
            <a:r>
              <a:rPr lang="en-US" sz="1650">
                <a:solidFill>
                  <a:srgbClr val="23262F"/>
                </a:solidFill>
                <a:latin typeface="Calibri (MS)"/>
                <a:ea typeface="Calibri (MS)"/>
                <a:cs typeface="Calibri (MS)"/>
                <a:sym typeface="Calibri (MS)"/>
              </a:rPr>
              <a:t>Cybersecurity Consultant — City Government of Davao</a:t>
            </a:r>
          </a:p>
          <a:p>
            <a:pPr algn="l" marL="298609" indent="-149304" lvl="1">
              <a:lnSpc>
                <a:spcPts val="1980"/>
              </a:lnSpc>
              <a:buFont typeface="Arial"/>
              <a:buChar char="•"/>
            </a:pPr>
            <a:r>
              <a:rPr lang="en-US" sz="1650">
                <a:solidFill>
                  <a:srgbClr val="23262F"/>
                </a:solidFill>
                <a:latin typeface="Calibri (MS)"/>
                <a:ea typeface="Calibri (MS)"/>
                <a:cs typeface="Calibri (MS)"/>
                <a:sym typeface="Calibri (MS)"/>
              </a:rPr>
              <a:t>Threat Researcher — AnChain.AI</a:t>
            </a:r>
          </a:p>
          <a:p>
            <a:pPr algn="l" marL="298609" indent="-149304" lvl="1">
              <a:lnSpc>
                <a:spcPts val="1980"/>
              </a:lnSpc>
              <a:buFont typeface="Arial"/>
              <a:buChar char="•"/>
            </a:pPr>
            <a:r>
              <a:rPr lang="en-US" sz="1650">
                <a:solidFill>
                  <a:srgbClr val="23262F"/>
                </a:solidFill>
                <a:latin typeface="Calibri (MS)"/>
                <a:ea typeface="Calibri (MS)"/>
                <a:cs typeface="Calibri (MS)"/>
                <a:sym typeface="Calibri (MS)"/>
              </a:rPr>
              <a:t>Level 3 Resource Person — Department of Information and Communications Technology (DICT)</a:t>
            </a:r>
          </a:p>
        </p:txBody>
      </p:sp>
      <p:grpSp>
        <p:nvGrpSpPr>
          <p:cNvPr name="Group 30" id="30"/>
          <p:cNvGrpSpPr/>
          <p:nvPr/>
        </p:nvGrpSpPr>
        <p:grpSpPr>
          <a:xfrm rot="0">
            <a:off x="12412980" y="5349014"/>
            <a:ext cx="4594860" cy="384048"/>
            <a:chOff x="0" y="0"/>
            <a:chExt cx="6126480" cy="512064"/>
          </a:xfrm>
        </p:grpSpPr>
        <p:sp>
          <p:nvSpPr>
            <p:cNvPr name="Freeform 31" id="31"/>
            <p:cNvSpPr/>
            <p:nvPr/>
          </p:nvSpPr>
          <p:spPr>
            <a:xfrm flipH="false" flipV="false" rot="0">
              <a:off x="0" y="0"/>
              <a:ext cx="6126480" cy="512064"/>
            </a:xfrm>
            <a:custGeom>
              <a:avLst/>
              <a:gdLst/>
              <a:ahLst/>
              <a:cxnLst/>
              <a:rect r="r" b="b" t="t" l="l"/>
              <a:pathLst>
                <a:path h="512064" w="6126480">
                  <a:moveTo>
                    <a:pt x="0" y="0"/>
                  </a:moveTo>
                  <a:lnTo>
                    <a:pt x="6126480" y="0"/>
                  </a:lnTo>
                  <a:lnTo>
                    <a:pt x="6126480" y="512064"/>
                  </a:lnTo>
                  <a:lnTo>
                    <a:pt x="0" y="512064"/>
                  </a:lnTo>
                  <a:close/>
                </a:path>
              </a:pathLst>
            </a:custGeom>
            <a:blipFill>
              <a:blip r:embed="rId4">
                <a:alphaModFix amt="0"/>
              </a:blip>
              <a:stretch>
                <a:fillRect l="0" t="-183124" r="0" b="-183124"/>
              </a:stretch>
            </a:blipFill>
          </p:spPr>
        </p:sp>
        <p:sp>
          <p:nvSpPr>
            <p:cNvPr name="TextBox 32" id="32"/>
            <p:cNvSpPr txBox="true"/>
            <p:nvPr/>
          </p:nvSpPr>
          <p:spPr>
            <a:xfrm>
              <a:off x="0" y="-28575"/>
              <a:ext cx="6126480" cy="540639"/>
            </a:xfrm>
            <a:prstGeom prst="rect">
              <a:avLst/>
            </a:prstGeom>
          </p:spPr>
          <p:txBody>
            <a:bodyPr anchor="ctr" rtlCol="false" tIns="0" lIns="0" bIns="0" rIns="0"/>
            <a:lstStyle/>
            <a:p>
              <a:pPr algn="l">
                <a:lnSpc>
                  <a:spcPts val="1980"/>
                </a:lnSpc>
              </a:pPr>
              <a:r>
                <a:rPr lang="en-US" b="true" sz="1650" spc="150">
                  <a:solidFill>
                    <a:srgbClr val="1E2761"/>
                  </a:solidFill>
                  <a:latin typeface="Calibri (MS) Bold"/>
                  <a:ea typeface="Calibri (MS) Bold"/>
                  <a:cs typeface="Calibri (MS) Bold"/>
                  <a:sym typeface="Calibri (MS) Bold"/>
                </a:rPr>
                <a:t>TRACK RECORD</a:t>
              </a:r>
            </a:p>
          </p:txBody>
        </p:sp>
      </p:grpSp>
      <p:sp>
        <p:nvSpPr>
          <p:cNvPr name="TextBox 33" id="33"/>
          <p:cNvSpPr txBox="true"/>
          <p:nvPr/>
        </p:nvSpPr>
        <p:spPr>
          <a:xfrm rot="0">
            <a:off x="12412980" y="5913120"/>
            <a:ext cx="4411980" cy="2727960"/>
          </a:xfrm>
          <a:prstGeom prst="rect">
            <a:avLst/>
          </a:prstGeom>
        </p:spPr>
        <p:txBody>
          <a:bodyPr anchor="t" rtlCol="false" tIns="0" lIns="0" bIns="0" rIns="0">
            <a:spAutoFit/>
          </a:bodyPr>
          <a:lstStyle/>
          <a:p>
            <a:pPr algn="l">
              <a:lnSpc>
                <a:spcPts val="2475"/>
              </a:lnSpc>
            </a:pPr>
            <a:r>
              <a:rPr lang="en-US" sz="1650">
                <a:solidFill>
                  <a:srgbClr val="23262F"/>
                </a:solidFill>
                <a:latin typeface="Calibri (MS)"/>
                <a:ea typeface="Calibri (MS)"/>
                <a:cs typeface="Calibri (MS)"/>
                <a:sym typeface="Calibri (MS)"/>
              </a:rPr>
              <a:t>100+ lectures and technical training sessions delivered for government agencies, academic institutions, industry organizations, and professional audiences.</a:t>
            </a:r>
          </a:p>
        </p:txBody>
      </p:sp>
      <p:grpSp>
        <p:nvGrpSpPr>
          <p:cNvPr name="Group 34" id="34"/>
          <p:cNvGrpSpPr/>
          <p:nvPr/>
        </p:nvGrpSpPr>
        <p:grpSpPr>
          <a:xfrm rot="0">
            <a:off x="685800" y="9710928"/>
            <a:ext cx="10972800" cy="411480"/>
            <a:chOff x="0" y="0"/>
            <a:chExt cx="14630400" cy="548640"/>
          </a:xfrm>
        </p:grpSpPr>
        <p:sp>
          <p:nvSpPr>
            <p:cNvPr name="Freeform 35" id="35"/>
            <p:cNvSpPr/>
            <p:nvPr/>
          </p:nvSpPr>
          <p:spPr>
            <a:xfrm flipH="false" flipV="false" rot="0">
              <a:off x="0" y="0"/>
              <a:ext cx="14630400" cy="548640"/>
            </a:xfrm>
            <a:custGeom>
              <a:avLst/>
              <a:gdLst/>
              <a:ahLst/>
              <a:cxnLst/>
              <a:rect r="r" b="b" t="t" l="l"/>
              <a:pathLst>
                <a:path h="548640" w="14630400">
                  <a:moveTo>
                    <a:pt x="0" y="0"/>
                  </a:moveTo>
                  <a:lnTo>
                    <a:pt x="14630400" y="0"/>
                  </a:lnTo>
                  <a:lnTo>
                    <a:pt x="14630400" y="548640"/>
                  </a:lnTo>
                  <a:lnTo>
                    <a:pt x="0" y="548640"/>
                  </a:lnTo>
                  <a:close/>
                </a:path>
              </a:pathLst>
            </a:custGeom>
            <a:blipFill>
              <a:blip r:embed="rId4">
                <a:alphaModFix amt="0"/>
              </a:blip>
              <a:stretch>
                <a:fillRect l="0" t="-469601" r="0" b="-469601"/>
              </a:stretch>
            </a:blipFill>
          </p:spPr>
        </p:sp>
        <p:sp>
          <p:nvSpPr>
            <p:cNvPr name="TextBox 36" id="36"/>
            <p:cNvSpPr txBox="true"/>
            <p:nvPr/>
          </p:nvSpPr>
          <p:spPr>
            <a:xfrm>
              <a:off x="0" y="-38100"/>
              <a:ext cx="14630400" cy="586740"/>
            </a:xfrm>
            <a:prstGeom prst="rect">
              <a:avLst/>
            </a:prstGeom>
          </p:spPr>
          <p:txBody>
            <a:bodyPr anchor="ctr" rtlCol="false" tIns="0" lIns="0" bIns="0" rIns="0"/>
            <a:lstStyle/>
            <a:p>
              <a:pPr algn="l">
                <a:lnSpc>
                  <a:spcPts val="1800"/>
                </a:lnSpc>
              </a:pPr>
              <a:r>
                <a:rPr lang="en-US" sz="1500">
                  <a:solidFill>
                    <a:srgbClr val="6B7280"/>
                  </a:solidFill>
                  <a:latin typeface="Calibri (MS)"/>
                  <a:ea typeface="Calibri (MS)"/>
                  <a:cs typeface="Calibri (MS)"/>
                  <a:sym typeface="Calibri (MS)"/>
                </a:rPr>
                <a:t>Resource Speaker Profile</a:t>
              </a:r>
            </a:p>
          </p:txBody>
        </p:sp>
      </p:grpSp>
      <p:grpSp>
        <p:nvGrpSpPr>
          <p:cNvPr name="Group 37" id="37"/>
          <p:cNvGrpSpPr/>
          <p:nvPr/>
        </p:nvGrpSpPr>
        <p:grpSpPr>
          <a:xfrm rot="0">
            <a:off x="16911828" y="9710928"/>
            <a:ext cx="685800" cy="411480"/>
            <a:chOff x="0" y="0"/>
            <a:chExt cx="914400" cy="548640"/>
          </a:xfrm>
        </p:grpSpPr>
        <p:sp>
          <p:nvSpPr>
            <p:cNvPr name="Freeform 38" id="38"/>
            <p:cNvSpPr/>
            <p:nvPr/>
          </p:nvSpPr>
          <p:spPr>
            <a:xfrm flipH="false" flipV="false" rot="0">
              <a:off x="0" y="0"/>
              <a:ext cx="914400" cy="548640"/>
            </a:xfrm>
            <a:custGeom>
              <a:avLst/>
              <a:gdLst/>
              <a:ahLst/>
              <a:cxnLst/>
              <a:rect r="r" b="b" t="t" l="l"/>
              <a:pathLst>
                <a:path h="548640" w="914400">
                  <a:moveTo>
                    <a:pt x="0" y="0"/>
                  </a:moveTo>
                  <a:lnTo>
                    <a:pt x="914400" y="0"/>
                  </a:lnTo>
                  <a:lnTo>
                    <a:pt x="914400" y="548640"/>
                  </a:lnTo>
                  <a:lnTo>
                    <a:pt x="0" y="548640"/>
                  </a:lnTo>
                  <a:close/>
                </a:path>
              </a:pathLst>
            </a:custGeom>
            <a:blipFill>
              <a:blip r:embed="rId4">
                <a:alphaModFix amt="0"/>
              </a:blip>
              <a:stretch>
                <a:fillRect l="-26982" t="0" r="-26982" b="0"/>
              </a:stretch>
            </a:blipFill>
          </p:spPr>
        </p:sp>
        <p:sp>
          <p:nvSpPr>
            <p:cNvPr name="TextBox 39" id="39"/>
            <p:cNvSpPr txBox="true"/>
            <p:nvPr/>
          </p:nvSpPr>
          <p:spPr>
            <a:xfrm>
              <a:off x="0" y="-38100"/>
              <a:ext cx="914400" cy="586740"/>
            </a:xfrm>
            <a:prstGeom prst="rect">
              <a:avLst/>
            </a:prstGeom>
          </p:spPr>
          <p:txBody>
            <a:bodyPr anchor="ctr" rtlCol="false" tIns="0" lIns="0" bIns="0" rIns="0"/>
            <a:lstStyle/>
            <a:p>
              <a:pPr algn="r">
                <a:lnSpc>
                  <a:spcPts val="1800"/>
                </a:lnSpc>
              </a:pPr>
              <a:r>
                <a:rPr lang="en-US" sz="1500">
                  <a:solidFill>
                    <a:srgbClr val="6B7280"/>
                  </a:solidFill>
                  <a:latin typeface="Calibri (MS)"/>
                  <a:ea typeface="Calibri (MS)"/>
                  <a:cs typeface="Calibri (MS)"/>
                  <a:sym typeface="Calibri (MS)"/>
                </a:rPr>
                <a:t>3</a:t>
              </a:r>
            </a:p>
          </p:txBody>
        </p:sp>
      </p:gr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5760720" cy="10287000"/>
            <a:chOff x="0" y="0"/>
            <a:chExt cx="7680960" cy="13716000"/>
          </a:xfrm>
        </p:grpSpPr>
        <p:sp>
          <p:nvSpPr>
            <p:cNvPr name="Freeform 3" id="3"/>
            <p:cNvSpPr/>
            <p:nvPr/>
          </p:nvSpPr>
          <p:spPr>
            <a:xfrm flipH="false" flipV="false" rot="0">
              <a:off x="0" y="0"/>
              <a:ext cx="7680960" cy="13716000"/>
            </a:xfrm>
            <a:custGeom>
              <a:avLst/>
              <a:gdLst/>
              <a:ahLst/>
              <a:cxnLst/>
              <a:rect r="r" b="b" t="t" l="l"/>
              <a:pathLst>
                <a:path h="13716000" w="7680960">
                  <a:moveTo>
                    <a:pt x="0" y="0"/>
                  </a:moveTo>
                  <a:lnTo>
                    <a:pt x="7680960" y="0"/>
                  </a:lnTo>
                  <a:lnTo>
                    <a:pt x="7680960" y="13716000"/>
                  </a:lnTo>
                  <a:lnTo>
                    <a:pt x="0" y="13716000"/>
                  </a:lnTo>
                  <a:close/>
                </a:path>
              </a:pathLst>
            </a:custGeom>
            <a:solidFill>
              <a:srgbClr val="1E2761"/>
            </a:solidFill>
          </p:spPr>
        </p:sp>
      </p:grpSp>
      <p:grpSp>
        <p:nvGrpSpPr>
          <p:cNvPr name="Group 4" id="4"/>
          <p:cNvGrpSpPr/>
          <p:nvPr/>
        </p:nvGrpSpPr>
        <p:grpSpPr>
          <a:xfrm rot="0">
            <a:off x="-2194560" y="7269480"/>
            <a:ext cx="6309360" cy="6309360"/>
            <a:chOff x="0" y="0"/>
            <a:chExt cx="8412480" cy="8412480"/>
          </a:xfrm>
        </p:grpSpPr>
        <p:sp>
          <p:nvSpPr>
            <p:cNvPr name="Freeform 5" id="5"/>
            <p:cNvSpPr/>
            <p:nvPr/>
          </p:nvSpPr>
          <p:spPr>
            <a:xfrm flipH="false" flipV="false" rot="0">
              <a:off x="0" y="0"/>
              <a:ext cx="8412480" cy="8412480"/>
            </a:xfrm>
            <a:custGeom>
              <a:avLst/>
              <a:gdLst/>
              <a:ahLst/>
              <a:cxnLst/>
              <a:rect r="r" b="b" t="t" l="l"/>
              <a:pathLst>
                <a:path h="8412480" w="8412480">
                  <a:moveTo>
                    <a:pt x="0" y="4206240"/>
                  </a:moveTo>
                  <a:cubicBezTo>
                    <a:pt x="0" y="1883156"/>
                    <a:pt x="1883156" y="0"/>
                    <a:pt x="4206240" y="0"/>
                  </a:cubicBezTo>
                  <a:cubicBezTo>
                    <a:pt x="6529325" y="0"/>
                    <a:pt x="8412480" y="1883156"/>
                    <a:pt x="8412480" y="4206240"/>
                  </a:cubicBezTo>
                  <a:cubicBezTo>
                    <a:pt x="8412480" y="6529325"/>
                    <a:pt x="6529324" y="8412480"/>
                    <a:pt x="4206240" y="8412480"/>
                  </a:cubicBezTo>
                  <a:cubicBezTo>
                    <a:pt x="1883156" y="8412480"/>
                    <a:pt x="0" y="6529324"/>
                    <a:pt x="0" y="4206240"/>
                  </a:cubicBezTo>
                  <a:close/>
                </a:path>
              </a:pathLst>
            </a:custGeom>
            <a:solidFill>
              <a:srgbClr val="263186"/>
            </a:solidFill>
          </p:spPr>
        </p:sp>
      </p:grpSp>
      <p:grpSp>
        <p:nvGrpSpPr>
          <p:cNvPr name="Group 6" id="6"/>
          <p:cNvGrpSpPr/>
          <p:nvPr/>
        </p:nvGrpSpPr>
        <p:grpSpPr>
          <a:xfrm rot="0">
            <a:off x="960120" y="1028700"/>
            <a:ext cx="960120" cy="960120"/>
            <a:chOff x="0" y="0"/>
            <a:chExt cx="1280160" cy="1280160"/>
          </a:xfrm>
        </p:grpSpPr>
        <p:sp>
          <p:nvSpPr>
            <p:cNvPr name="Freeform 7" id="7"/>
            <p:cNvSpPr/>
            <p:nvPr/>
          </p:nvSpPr>
          <p:spPr>
            <a:xfrm flipH="false" flipV="false" rot="0">
              <a:off x="0" y="0"/>
              <a:ext cx="1280160" cy="1280160"/>
            </a:xfrm>
            <a:custGeom>
              <a:avLst/>
              <a:gdLst/>
              <a:ahLst/>
              <a:cxnLst/>
              <a:rect r="r" b="b" t="t" l="l"/>
              <a:pathLst>
                <a:path h="1280160" w="1280160">
                  <a:moveTo>
                    <a:pt x="0" y="640080"/>
                  </a:moveTo>
                  <a:cubicBezTo>
                    <a:pt x="0" y="286512"/>
                    <a:pt x="286512" y="0"/>
                    <a:pt x="640080" y="0"/>
                  </a:cubicBezTo>
                  <a:cubicBezTo>
                    <a:pt x="993648" y="0"/>
                    <a:pt x="1280160" y="286512"/>
                    <a:pt x="1280160" y="640080"/>
                  </a:cubicBezTo>
                  <a:cubicBezTo>
                    <a:pt x="1280160" y="993648"/>
                    <a:pt x="993648" y="1280160"/>
                    <a:pt x="640080" y="1280160"/>
                  </a:cubicBezTo>
                  <a:cubicBezTo>
                    <a:pt x="286512" y="1280160"/>
                    <a:pt x="0" y="993648"/>
                    <a:pt x="0" y="640080"/>
                  </a:cubicBezTo>
                  <a:close/>
                </a:path>
              </a:pathLst>
            </a:custGeom>
            <a:solidFill>
              <a:srgbClr val="00B4D8"/>
            </a:solidFill>
          </p:spPr>
        </p:sp>
      </p:grpSp>
      <p:grpSp>
        <p:nvGrpSpPr>
          <p:cNvPr name="Group 8" id="8"/>
          <p:cNvGrpSpPr/>
          <p:nvPr/>
        </p:nvGrpSpPr>
        <p:grpSpPr>
          <a:xfrm rot="0">
            <a:off x="1138428" y="1207008"/>
            <a:ext cx="603504" cy="603504"/>
            <a:chOff x="0" y="0"/>
            <a:chExt cx="804672" cy="804672"/>
          </a:xfrm>
        </p:grpSpPr>
        <p:sp>
          <p:nvSpPr>
            <p:cNvPr name="Freeform 9" id="9" descr="user.png"/>
            <p:cNvSpPr/>
            <p:nvPr/>
          </p:nvSpPr>
          <p:spPr>
            <a:xfrm flipH="false" flipV="false" rot="0">
              <a:off x="0" y="0"/>
              <a:ext cx="804672" cy="804672"/>
            </a:xfrm>
            <a:custGeom>
              <a:avLst/>
              <a:gdLst/>
              <a:ahLst/>
              <a:cxnLst/>
              <a:rect r="r" b="b" t="t" l="l"/>
              <a:pathLst>
                <a:path h="804672" w="804672">
                  <a:moveTo>
                    <a:pt x="0" y="0"/>
                  </a:moveTo>
                  <a:lnTo>
                    <a:pt x="804672" y="0"/>
                  </a:lnTo>
                  <a:lnTo>
                    <a:pt x="804672" y="804672"/>
                  </a:lnTo>
                  <a:lnTo>
                    <a:pt x="0" y="804672"/>
                  </a:lnTo>
                  <a:lnTo>
                    <a:pt x="0" y="0"/>
                  </a:lnTo>
                  <a:close/>
                </a:path>
              </a:pathLst>
            </a:custGeom>
            <a:blipFill>
              <a:blip r:embed="rId3"/>
              <a:stretch>
                <a:fillRect l="0" t="0" r="0" b="0"/>
              </a:stretch>
            </a:blipFill>
          </p:spPr>
        </p:sp>
      </p:grpSp>
      <p:sp>
        <p:nvSpPr>
          <p:cNvPr name="TextBox 10" id="10"/>
          <p:cNvSpPr txBox="true"/>
          <p:nvPr/>
        </p:nvSpPr>
        <p:spPr>
          <a:xfrm rot="0">
            <a:off x="982980" y="2358390"/>
            <a:ext cx="4411980" cy="1436370"/>
          </a:xfrm>
          <a:prstGeom prst="rect">
            <a:avLst/>
          </a:prstGeom>
        </p:spPr>
        <p:txBody>
          <a:bodyPr anchor="t" rtlCol="false" tIns="0" lIns="0" bIns="0" rIns="0">
            <a:spAutoFit/>
          </a:bodyPr>
          <a:lstStyle/>
          <a:p>
            <a:pPr algn="l">
              <a:lnSpc>
                <a:spcPts val="4320"/>
              </a:lnSpc>
            </a:pPr>
            <a:r>
              <a:rPr lang="en-US" sz="3600" b="true">
                <a:solidFill>
                  <a:srgbClr val="FFFFFF"/>
                </a:solidFill>
                <a:latin typeface="Cambria Bold"/>
                <a:ea typeface="Cambria Bold"/>
                <a:cs typeface="Cambria Bold"/>
                <a:sym typeface="Cambria Bold"/>
              </a:rPr>
              <a:t>Jasper Van Marcellones</a:t>
            </a:r>
          </a:p>
        </p:txBody>
      </p:sp>
      <p:sp>
        <p:nvSpPr>
          <p:cNvPr name="TextBox 11" id="11"/>
          <p:cNvSpPr txBox="true"/>
          <p:nvPr/>
        </p:nvSpPr>
        <p:spPr>
          <a:xfrm rot="0">
            <a:off x="982980" y="3722370"/>
            <a:ext cx="4411980" cy="1238250"/>
          </a:xfrm>
          <a:prstGeom prst="rect">
            <a:avLst/>
          </a:prstGeom>
        </p:spPr>
        <p:txBody>
          <a:bodyPr anchor="t" rtlCol="false" tIns="0" lIns="0" bIns="0" rIns="0">
            <a:spAutoFit/>
          </a:bodyPr>
          <a:lstStyle/>
          <a:p>
            <a:pPr algn="l">
              <a:lnSpc>
                <a:spcPts val="2808"/>
              </a:lnSpc>
            </a:pPr>
            <a:r>
              <a:rPr lang="en-US" sz="1950">
                <a:solidFill>
                  <a:srgbClr val="CADCFC"/>
                </a:solidFill>
                <a:latin typeface="Calibri (MS)"/>
                <a:ea typeface="Calibri (MS)"/>
                <a:cs typeface="Calibri (MS)"/>
                <a:sym typeface="Calibri (MS)"/>
              </a:rPr>
              <a:t>Cybersecurity Consultant / Offensive Security Engineer / Ethical Hacker</a:t>
            </a:r>
          </a:p>
        </p:txBody>
      </p:sp>
      <p:sp>
        <p:nvSpPr>
          <p:cNvPr name="TextBox 12" id="12"/>
          <p:cNvSpPr txBox="true"/>
          <p:nvPr/>
        </p:nvSpPr>
        <p:spPr>
          <a:xfrm rot="0">
            <a:off x="982980" y="6071235"/>
            <a:ext cx="4411980" cy="1426845"/>
          </a:xfrm>
          <a:prstGeom prst="rect">
            <a:avLst/>
          </a:prstGeom>
        </p:spPr>
        <p:txBody>
          <a:bodyPr anchor="t" rtlCol="false" tIns="0" lIns="0" bIns="0" rIns="0">
            <a:spAutoFit/>
          </a:bodyPr>
          <a:lstStyle/>
          <a:p>
            <a:pPr algn="l">
              <a:lnSpc>
                <a:spcPts val="5759"/>
              </a:lnSpc>
            </a:pPr>
            <a:r>
              <a:rPr lang="en-US" sz="4800" b="true">
                <a:solidFill>
                  <a:srgbClr val="00B4D8"/>
                </a:solidFill>
                <a:latin typeface="Cambria Bold"/>
                <a:ea typeface="Cambria Bold"/>
                <a:cs typeface="Cambria Bold"/>
                <a:sym typeface="Cambria Bold"/>
              </a:rPr>
              <a:t>6</a:t>
            </a:r>
          </a:p>
          <a:p>
            <a:pPr algn="l">
              <a:lnSpc>
                <a:spcPts val="2160"/>
              </a:lnSpc>
            </a:pPr>
          </a:p>
          <a:p>
            <a:pPr algn="l">
              <a:lnSpc>
                <a:spcPts val="2160"/>
              </a:lnSpc>
            </a:pPr>
            <a:r>
              <a:rPr lang="en-US" sz="1800">
                <a:solidFill>
                  <a:srgbClr val="CADCFC"/>
                </a:solidFill>
                <a:latin typeface="Cambria"/>
                <a:ea typeface="Cambria"/>
                <a:cs typeface="Cambria"/>
                <a:sym typeface="Cambria"/>
              </a:rPr>
              <a:t>Years of Experience</a:t>
            </a:r>
          </a:p>
        </p:txBody>
      </p:sp>
      <p:sp>
        <p:nvSpPr>
          <p:cNvPr name="TextBox 13" id="13"/>
          <p:cNvSpPr txBox="true"/>
          <p:nvPr/>
        </p:nvSpPr>
        <p:spPr>
          <a:xfrm rot="0">
            <a:off x="982980" y="7797165"/>
            <a:ext cx="4411980" cy="1621155"/>
          </a:xfrm>
          <a:prstGeom prst="rect">
            <a:avLst/>
          </a:prstGeom>
        </p:spPr>
        <p:txBody>
          <a:bodyPr anchor="t" rtlCol="false" tIns="0" lIns="0" bIns="0" rIns="0">
            <a:spAutoFit/>
          </a:bodyPr>
          <a:lstStyle/>
          <a:p>
            <a:pPr algn="l">
              <a:lnSpc>
                <a:spcPts val="2376"/>
              </a:lnSpc>
            </a:pPr>
            <a:r>
              <a:rPr lang="en-US" sz="1650" i="true">
                <a:solidFill>
                  <a:srgbClr val="CADCFC"/>
                </a:solidFill>
                <a:latin typeface="Calibri (MS) Italics"/>
                <a:ea typeface="Calibri (MS) Italics"/>
                <a:cs typeface="Calibri (MS) Italics"/>
                <a:sym typeface="Calibri (MS) Italics"/>
              </a:rPr>
              <a:t>Ethical Hacking, Penetration Testing, VAPT, Digital Forensics and Incident Response, Security Engineering</a:t>
            </a:r>
          </a:p>
        </p:txBody>
      </p:sp>
      <p:grpSp>
        <p:nvGrpSpPr>
          <p:cNvPr name="Group 14" id="14"/>
          <p:cNvGrpSpPr/>
          <p:nvPr/>
        </p:nvGrpSpPr>
        <p:grpSpPr>
          <a:xfrm rot="0">
            <a:off x="6377940" y="754380"/>
            <a:ext cx="10972800" cy="411480"/>
            <a:chOff x="0" y="0"/>
            <a:chExt cx="14630400" cy="548640"/>
          </a:xfrm>
        </p:grpSpPr>
        <p:sp>
          <p:nvSpPr>
            <p:cNvPr name="Freeform 15" id="15"/>
            <p:cNvSpPr/>
            <p:nvPr/>
          </p:nvSpPr>
          <p:spPr>
            <a:xfrm flipH="false" flipV="false" rot="0">
              <a:off x="0" y="0"/>
              <a:ext cx="14630400" cy="548640"/>
            </a:xfrm>
            <a:custGeom>
              <a:avLst/>
              <a:gdLst/>
              <a:ahLst/>
              <a:cxnLst/>
              <a:rect r="r" b="b" t="t" l="l"/>
              <a:pathLst>
                <a:path h="548640" w="14630400">
                  <a:moveTo>
                    <a:pt x="0" y="0"/>
                  </a:moveTo>
                  <a:lnTo>
                    <a:pt x="14630400" y="0"/>
                  </a:lnTo>
                  <a:lnTo>
                    <a:pt x="14630400" y="548640"/>
                  </a:lnTo>
                  <a:lnTo>
                    <a:pt x="0" y="548640"/>
                  </a:lnTo>
                  <a:close/>
                </a:path>
              </a:pathLst>
            </a:custGeom>
            <a:blipFill>
              <a:blip r:embed="rId4">
                <a:alphaModFix amt="0"/>
              </a:blip>
              <a:stretch>
                <a:fillRect l="0" t="-469601" r="0" b="-469601"/>
              </a:stretch>
            </a:blipFill>
          </p:spPr>
        </p:sp>
        <p:sp>
          <p:nvSpPr>
            <p:cNvPr name="TextBox 16" id="16"/>
            <p:cNvSpPr txBox="true"/>
            <p:nvPr/>
          </p:nvSpPr>
          <p:spPr>
            <a:xfrm>
              <a:off x="0" y="-38100"/>
              <a:ext cx="14630400" cy="586740"/>
            </a:xfrm>
            <a:prstGeom prst="rect">
              <a:avLst/>
            </a:prstGeom>
          </p:spPr>
          <p:txBody>
            <a:bodyPr anchor="ctr" rtlCol="false" tIns="0" lIns="0" bIns="0" rIns="0"/>
            <a:lstStyle/>
            <a:p>
              <a:pPr algn="l">
                <a:lnSpc>
                  <a:spcPts val="2160"/>
                </a:lnSpc>
              </a:pPr>
              <a:r>
                <a:rPr lang="en-US" b="true" sz="1800" spc="225">
                  <a:solidFill>
                    <a:srgbClr val="00B4D8"/>
                  </a:solidFill>
                  <a:latin typeface="Calibri (MS) Bold"/>
                  <a:ea typeface="Calibri (MS) Bold"/>
                  <a:cs typeface="Calibri (MS) Bold"/>
                  <a:sym typeface="Calibri (MS) Bold"/>
                </a:rPr>
                <a:t>PROFILE SUMMARY</a:t>
              </a:r>
            </a:p>
          </p:txBody>
        </p:sp>
      </p:grpSp>
      <p:sp>
        <p:nvSpPr>
          <p:cNvPr name="TextBox 17" id="17"/>
          <p:cNvSpPr txBox="true"/>
          <p:nvPr/>
        </p:nvSpPr>
        <p:spPr>
          <a:xfrm rot="0">
            <a:off x="6469380" y="1116330"/>
            <a:ext cx="10789920" cy="1443990"/>
          </a:xfrm>
          <a:prstGeom prst="rect">
            <a:avLst/>
          </a:prstGeom>
        </p:spPr>
        <p:txBody>
          <a:bodyPr anchor="t" rtlCol="false" tIns="0" lIns="0" bIns="0" rIns="0">
            <a:spAutoFit/>
          </a:bodyPr>
          <a:lstStyle/>
          <a:p>
            <a:pPr algn="l">
              <a:lnSpc>
                <a:spcPts val="2854"/>
              </a:lnSpc>
            </a:pPr>
            <a:r>
              <a:rPr lang="en-US" sz="1950">
                <a:solidFill>
                  <a:srgbClr val="23262F"/>
                </a:solidFill>
                <a:latin typeface="Calibri (MS)"/>
                <a:ea typeface="Calibri (MS)"/>
                <a:cs typeface="Calibri (MS)"/>
                <a:sym typeface="Calibri (MS)"/>
              </a:rPr>
              <a:t>Cybersecurity professional specializing in ethical hacking, penetration testing, vulnerability assessment and penetration testing (VAPT), digital forensics and incident response, and security engineering. Experienced in identifying, assessing, and mitigating security vulnerabilities across enterprise environments.</a:t>
            </a:r>
          </a:p>
        </p:txBody>
      </p:sp>
      <p:grpSp>
        <p:nvGrpSpPr>
          <p:cNvPr name="Group 18" id="18"/>
          <p:cNvGrpSpPr/>
          <p:nvPr/>
        </p:nvGrpSpPr>
        <p:grpSpPr>
          <a:xfrm rot="0">
            <a:off x="6377940" y="2811780"/>
            <a:ext cx="5280660" cy="6652260"/>
            <a:chOff x="0" y="0"/>
            <a:chExt cx="7040880" cy="8869680"/>
          </a:xfrm>
        </p:grpSpPr>
        <p:sp>
          <p:nvSpPr>
            <p:cNvPr name="Freeform 19" id="19"/>
            <p:cNvSpPr/>
            <p:nvPr/>
          </p:nvSpPr>
          <p:spPr>
            <a:xfrm flipH="false" flipV="false" rot="0">
              <a:off x="0" y="0"/>
              <a:ext cx="7040880" cy="8869680"/>
            </a:xfrm>
            <a:custGeom>
              <a:avLst/>
              <a:gdLst/>
              <a:ahLst/>
              <a:cxnLst/>
              <a:rect r="r" b="b" t="t" l="l"/>
              <a:pathLst>
                <a:path h="8869680" w="7040880">
                  <a:moveTo>
                    <a:pt x="0" y="146304"/>
                  </a:moveTo>
                  <a:cubicBezTo>
                    <a:pt x="0" y="65532"/>
                    <a:pt x="65532" y="0"/>
                    <a:pt x="146304" y="0"/>
                  </a:cubicBezTo>
                  <a:lnTo>
                    <a:pt x="6894576" y="0"/>
                  </a:lnTo>
                  <a:cubicBezTo>
                    <a:pt x="6975348" y="0"/>
                    <a:pt x="7040880" y="65532"/>
                    <a:pt x="7040880" y="146304"/>
                  </a:cubicBezTo>
                  <a:lnTo>
                    <a:pt x="7040880" y="8723376"/>
                  </a:lnTo>
                  <a:cubicBezTo>
                    <a:pt x="7040880" y="8804148"/>
                    <a:pt x="6975348" y="8869680"/>
                    <a:pt x="6894576" y="8869680"/>
                  </a:cubicBezTo>
                  <a:lnTo>
                    <a:pt x="146304" y="8869680"/>
                  </a:lnTo>
                  <a:cubicBezTo>
                    <a:pt x="65532" y="8869680"/>
                    <a:pt x="0" y="8804148"/>
                    <a:pt x="0" y="8723376"/>
                  </a:cubicBezTo>
                  <a:close/>
                </a:path>
              </a:pathLst>
            </a:custGeom>
            <a:solidFill>
              <a:srgbClr val="F4F7FC"/>
            </a:solidFill>
          </p:spPr>
        </p:sp>
      </p:grpSp>
      <p:grpSp>
        <p:nvGrpSpPr>
          <p:cNvPr name="Group 20" id="20"/>
          <p:cNvGrpSpPr/>
          <p:nvPr/>
        </p:nvGrpSpPr>
        <p:grpSpPr>
          <a:xfrm rot="0">
            <a:off x="6720840" y="3086100"/>
            <a:ext cx="4594860" cy="384048"/>
            <a:chOff x="0" y="0"/>
            <a:chExt cx="6126480" cy="512064"/>
          </a:xfrm>
        </p:grpSpPr>
        <p:sp>
          <p:nvSpPr>
            <p:cNvPr name="Freeform 21" id="21"/>
            <p:cNvSpPr/>
            <p:nvPr/>
          </p:nvSpPr>
          <p:spPr>
            <a:xfrm flipH="false" flipV="false" rot="0">
              <a:off x="0" y="0"/>
              <a:ext cx="6126480" cy="512064"/>
            </a:xfrm>
            <a:custGeom>
              <a:avLst/>
              <a:gdLst/>
              <a:ahLst/>
              <a:cxnLst/>
              <a:rect r="r" b="b" t="t" l="l"/>
              <a:pathLst>
                <a:path h="512064" w="6126480">
                  <a:moveTo>
                    <a:pt x="0" y="0"/>
                  </a:moveTo>
                  <a:lnTo>
                    <a:pt x="6126480" y="0"/>
                  </a:lnTo>
                  <a:lnTo>
                    <a:pt x="6126480" y="512064"/>
                  </a:lnTo>
                  <a:lnTo>
                    <a:pt x="0" y="512064"/>
                  </a:lnTo>
                  <a:close/>
                </a:path>
              </a:pathLst>
            </a:custGeom>
            <a:blipFill>
              <a:blip r:embed="rId4">
                <a:alphaModFix amt="0"/>
              </a:blip>
              <a:stretch>
                <a:fillRect l="0" t="-183124" r="0" b="-183124"/>
              </a:stretch>
            </a:blipFill>
          </p:spPr>
        </p:sp>
        <p:sp>
          <p:nvSpPr>
            <p:cNvPr name="TextBox 22" id="22"/>
            <p:cNvSpPr txBox="true"/>
            <p:nvPr/>
          </p:nvSpPr>
          <p:spPr>
            <a:xfrm>
              <a:off x="0" y="-28575"/>
              <a:ext cx="6126480" cy="540639"/>
            </a:xfrm>
            <a:prstGeom prst="rect">
              <a:avLst/>
            </a:prstGeom>
          </p:spPr>
          <p:txBody>
            <a:bodyPr anchor="ctr" rtlCol="false" tIns="0" lIns="0" bIns="0" rIns="0"/>
            <a:lstStyle/>
            <a:p>
              <a:pPr algn="l">
                <a:lnSpc>
                  <a:spcPts val="1980"/>
                </a:lnSpc>
              </a:pPr>
              <a:r>
                <a:rPr lang="en-US" b="true" sz="1650" spc="150">
                  <a:solidFill>
                    <a:srgbClr val="1E2761"/>
                  </a:solidFill>
                  <a:latin typeface="Calibri (MS) Bold"/>
                  <a:ea typeface="Calibri (MS) Bold"/>
                  <a:cs typeface="Calibri (MS) Bold"/>
                  <a:sym typeface="Calibri (MS) Bold"/>
                </a:rPr>
                <a:t>EDUCATION</a:t>
              </a:r>
            </a:p>
          </p:txBody>
        </p:sp>
      </p:grpSp>
      <p:sp>
        <p:nvSpPr>
          <p:cNvPr name="TextBox 23" id="23"/>
          <p:cNvSpPr txBox="true"/>
          <p:nvPr/>
        </p:nvSpPr>
        <p:spPr>
          <a:xfrm rot="0">
            <a:off x="6812280" y="3467100"/>
            <a:ext cx="4411980" cy="1493520"/>
          </a:xfrm>
          <a:prstGeom prst="rect">
            <a:avLst/>
          </a:prstGeom>
        </p:spPr>
        <p:txBody>
          <a:bodyPr anchor="t" rtlCol="false" tIns="0" lIns="0" bIns="0" rIns="0">
            <a:spAutoFit/>
          </a:bodyPr>
          <a:lstStyle/>
          <a:p>
            <a:pPr algn="l">
              <a:lnSpc>
                <a:spcPts val="2484"/>
              </a:lnSpc>
            </a:pPr>
            <a:r>
              <a:rPr lang="en-US" sz="1725">
                <a:solidFill>
                  <a:srgbClr val="23262F"/>
                </a:solidFill>
                <a:latin typeface="Calibri (MS)"/>
                <a:ea typeface="Calibri (MS)"/>
                <a:cs typeface="Calibri (MS)"/>
                <a:sym typeface="Calibri (MS)"/>
              </a:rPr>
              <a:t>Bachelor of Science in Computer Science, Mapua Malayan Colleges of Mindanao (2019–2025)</a:t>
            </a:r>
          </a:p>
        </p:txBody>
      </p:sp>
      <p:grpSp>
        <p:nvGrpSpPr>
          <p:cNvPr name="Group 24" id="24"/>
          <p:cNvGrpSpPr/>
          <p:nvPr/>
        </p:nvGrpSpPr>
        <p:grpSpPr>
          <a:xfrm rot="0">
            <a:off x="6720840" y="5074920"/>
            <a:ext cx="4594860" cy="384048"/>
            <a:chOff x="0" y="0"/>
            <a:chExt cx="6126480" cy="512064"/>
          </a:xfrm>
        </p:grpSpPr>
        <p:sp>
          <p:nvSpPr>
            <p:cNvPr name="Freeform 25" id="25"/>
            <p:cNvSpPr/>
            <p:nvPr/>
          </p:nvSpPr>
          <p:spPr>
            <a:xfrm flipH="false" flipV="false" rot="0">
              <a:off x="0" y="0"/>
              <a:ext cx="6126480" cy="512064"/>
            </a:xfrm>
            <a:custGeom>
              <a:avLst/>
              <a:gdLst/>
              <a:ahLst/>
              <a:cxnLst/>
              <a:rect r="r" b="b" t="t" l="l"/>
              <a:pathLst>
                <a:path h="512064" w="6126480">
                  <a:moveTo>
                    <a:pt x="0" y="0"/>
                  </a:moveTo>
                  <a:lnTo>
                    <a:pt x="6126480" y="0"/>
                  </a:lnTo>
                  <a:lnTo>
                    <a:pt x="6126480" y="512064"/>
                  </a:lnTo>
                  <a:lnTo>
                    <a:pt x="0" y="512064"/>
                  </a:lnTo>
                  <a:close/>
                </a:path>
              </a:pathLst>
            </a:custGeom>
            <a:blipFill>
              <a:blip r:embed="rId4">
                <a:alphaModFix amt="0"/>
              </a:blip>
              <a:stretch>
                <a:fillRect l="0" t="-183124" r="0" b="-183124"/>
              </a:stretch>
            </a:blipFill>
          </p:spPr>
        </p:sp>
        <p:sp>
          <p:nvSpPr>
            <p:cNvPr name="TextBox 26" id="26"/>
            <p:cNvSpPr txBox="true"/>
            <p:nvPr/>
          </p:nvSpPr>
          <p:spPr>
            <a:xfrm>
              <a:off x="0" y="-28575"/>
              <a:ext cx="6126480" cy="540639"/>
            </a:xfrm>
            <a:prstGeom prst="rect">
              <a:avLst/>
            </a:prstGeom>
          </p:spPr>
          <p:txBody>
            <a:bodyPr anchor="ctr" rtlCol="false" tIns="0" lIns="0" bIns="0" rIns="0"/>
            <a:lstStyle/>
            <a:p>
              <a:pPr algn="l">
                <a:lnSpc>
                  <a:spcPts val="1980"/>
                </a:lnSpc>
              </a:pPr>
              <a:r>
                <a:rPr lang="en-US" b="true" sz="1650" spc="150">
                  <a:solidFill>
                    <a:srgbClr val="1E2761"/>
                  </a:solidFill>
                  <a:latin typeface="Calibri (MS) Bold"/>
                  <a:ea typeface="Calibri (MS) Bold"/>
                  <a:cs typeface="Calibri (MS) Bold"/>
                  <a:sym typeface="Calibri (MS) Bold"/>
                </a:rPr>
                <a:t>CERTIFICATIONS &amp; TRAINING</a:t>
              </a:r>
            </a:p>
          </p:txBody>
        </p:sp>
      </p:grpSp>
      <p:sp>
        <p:nvSpPr>
          <p:cNvPr name="TextBox 27" id="27"/>
          <p:cNvSpPr txBox="true"/>
          <p:nvPr/>
        </p:nvSpPr>
        <p:spPr>
          <a:xfrm rot="0">
            <a:off x="6720840" y="5467350"/>
            <a:ext cx="4594860" cy="3790950"/>
          </a:xfrm>
          <a:prstGeom prst="rect">
            <a:avLst/>
          </a:prstGeom>
        </p:spPr>
        <p:txBody>
          <a:bodyPr anchor="t" rtlCol="false" tIns="0" lIns="0" bIns="0" rIns="0">
            <a:spAutoFit/>
          </a:bodyPr>
          <a:lstStyle/>
          <a:p>
            <a:pPr algn="l" marL="285036" indent="-142518" lvl="1">
              <a:lnSpc>
                <a:spcPts val="1889"/>
              </a:lnSpc>
              <a:buFont typeface="Arial"/>
              <a:buChar char="•"/>
            </a:pPr>
            <a:r>
              <a:rPr lang="en-US" sz="1575">
                <a:solidFill>
                  <a:srgbClr val="23262F"/>
                </a:solidFill>
                <a:latin typeface="Calibri (MS)"/>
                <a:ea typeface="Calibri (MS)"/>
                <a:cs typeface="Calibri (MS)"/>
                <a:sym typeface="Calibri (MS)"/>
              </a:rPr>
              <a:t>eLearnSecurity Web Application Penetration Tester eXtreme (eWPTXv2)</a:t>
            </a:r>
          </a:p>
          <a:p>
            <a:pPr algn="l" marL="285036" indent="-142518" lvl="1">
              <a:lnSpc>
                <a:spcPts val="1889"/>
              </a:lnSpc>
              <a:buFont typeface="Arial"/>
              <a:buChar char="•"/>
            </a:pPr>
            <a:r>
              <a:rPr lang="en-US" sz="1575">
                <a:solidFill>
                  <a:srgbClr val="23262F"/>
                </a:solidFill>
                <a:latin typeface="Calibri (MS)"/>
                <a:ea typeface="Calibri (MS)"/>
                <a:cs typeface="Calibri (MS)"/>
                <a:sym typeface="Calibri (MS)"/>
              </a:rPr>
              <a:t>Additional industry and government cybersecurity training programs (details subject to confidentiality agreements)</a:t>
            </a:r>
          </a:p>
        </p:txBody>
      </p:sp>
      <p:grpSp>
        <p:nvGrpSpPr>
          <p:cNvPr name="Group 28" id="28"/>
          <p:cNvGrpSpPr/>
          <p:nvPr/>
        </p:nvGrpSpPr>
        <p:grpSpPr>
          <a:xfrm rot="0">
            <a:off x="12070080" y="2811780"/>
            <a:ext cx="5280660" cy="6652260"/>
            <a:chOff x="0" y="0"/>
            <a:chExt cx="7040880" cy="8869680"/>
          </a:xfrm>
        </p:grpSpPr>
        <p:sp>
          <p:nvSpPr>
            <p:cNvPr name="Freeform 29" id="29"/>
            <p:cNvSpPr/>
            <p:nvPr/>
          </p:nvSpPr>
          <p:spPr>
            <a:xfrm flipH="false" flipV="false" rot="0">
              <a:off x="0" y="0"/>
              <a:ext cx="7040880" cy="8869680"/>
            </a:xfrm>
            <a:custGeom>
              <a:avLst/>
              <a:gdLst/>
              <a:ahLst/>
              <a:cxnLst/>
              <a:rect r="r" b="b" t="t" l="l"/>
              <a:pathLst>
                <a:path h="8869680" w="7040880">
                  <a:moveTo>
                    <a:pt x="0" y="146304"/>
                  </a:moveTo>
                  <a:cubicBezTo>
                    <a:pt x="0" y="65532"/>
                    <a:pt x="65532" y="0"/>
                    <a:pt x="146304" y="0"/>
                  </a:cubicBezTo>
                  <a:lnTo>
                    <a:pt x="6894576" y="0"/>
                  </a:lnTo>
                  <a:cubicBezTo>
                    <a:pt x="6975348" y="0"/>
                    <a:pt x="7040880" y="65532"/>
                    <a:pt x="7040880" y="146304"/>
                  </a:cubicBezTo>
                  <a:lnTo>
                    <a:pt x="7040880" y="8723376"/>
                  </a:lnTo>
                  <a:cubicBezTo>
                    <a:pt x="7040880" y="8804148"/>
                    <a:pt x="6975348" y="8869680"/>
                    <a:pt x="6894576" y="8869680"/>
                  </a:cubicBezTo>
                  <a:lnTo>
                    <a:pt x="146304" y="8869680"/>
                  </a:lnTo>
                  <a:cubicBezTo>
                    <a:pt x="65532" y="8869680"/>
                    <a:pt x="0" y="8804148"/>
                    <a:pt x="0" y="8723376"/>
                  </a:cubicBezTo>
                  <a:close/>
                </a:path>
              </a:pathLst>
            </a:custGeom>
            <a:solidFill>
              <a:srgbClr val="F4F7FC"/>
            </a:solidFill>
          </p:spPr>
        </p:sp>
      </p:grpSp>
      <p:grpSp>
        <p:nvGrpSpPr>
          <p:cNvPr name="Group 30" id="30"/>
          <p:cNvGrpSpPr/>
          <p:nvPr/>
        </p:nvGrpSpPr>
        <p:grpSpPr>
          <a:xfrm rot="0">
            <a:off x="12412980" y="3086100"/>
            <a:ext cx="4594860" cy="384048"/>
            <a:chOff x="0" y="0"/>
            <a:chExt cx="6126480" cy="512064"/>
          </a:xfrm>
        </p:grpSpPr>
        <p:sp>
          <p:nvSpPr>
            <p:cNvPr name="Freeform 31" id="31"/>
            <p:cNvSpPr/>
            <p:nvPr/>
          </p:nvSpPr>
          <p:spPr>
            <a:xfrm flipH="false" flipV="false" rot="0">
              <a:off x="0" y="0"/>
              <a:ext cx="6126480" cy="512064"/>
            </a:xfrm>
            <a:custGeom>
              <a:avLst/>
              <a:gdLst/>
              <a:ahLst/>
              <a:cxnLst/>
              <a:rect r="r" b="b" t="t" l="l"/>
              <a:pathLst>
                <a:path h="512064" w="6126480">
                  <a:moveTo>
                    <a:pt x="0" y="0"/>
                  </a:moveTo>
                  <a:lnTo>
                    <a:pt x="6126480" y="0"/>
                  </a:lnTo>
                  <a:lnTo>
                    <a:pt x="6126480" y="512064"/>
                  </a:lnTo>
                  <a:lnTo>
                    <a:pt x="0" y="512064"/>
                  </a:lnTo>
                  <a:close/>
                </a:path>
              </a:pathLst>
            </a:custGeom>
            <a:blipFill>
              <a:blip r:embed="rId4">
                <a:alphaModFix amt="0"/>
              </a:blip>
              <a:stretch>
                <a:fillRect l="0" t="-183124" r="0" b="-183124"/>
              </a:stretch>
            </a:blipFill>
          </p:spPr>
        </p:sp>
        <p:sp>
          <p:nvSpPr>
            <p:cNvPr name="TextBox 32" id="32"/>
            <p:cNvSpPr txBox="true"/>
            <p:nvPr/>
          </p:nvSpPr>
          <p:spPr>
            <a:xfrm>
              <a:off x="0" y="-28575"/>
              <a:ext cx="6126480" cy="540639"/>
            </a:xfrm>
            <a:prstGeom prst="rect">
              <a:avLst/>
            </a:prstGeom>
          </p:spPr>
          <p:txBody>
            <a:bodyPr anchor="ctr" rtlCol="false" tIns="0" lIns="0" bIns="0" rIns="0"/>
            <a:lstStyle/>
            <a:p>
              <a:pPr algn="l">
                <a:lnSpc>
                  <a:spcPts val="1980"/>
                </a:lnSpc>
              </a:pPr>
              <a:r>
                <a:rPr lang="en-US" b="true" sz="1650" spc="150">
                  <a:solidFill>
                    <a:srgbClr val="1E2761"/>
                  </a:solidFill>
                  <a:latin typeface="Calibri (MS) Bold"/>
                  <a:ea typeface="Calibri (MS) Bold"/>
                  <a:cs typeface="Calibri (MS) Bold"/>
                  <a:sym typeface="Calibri (MS) Bold"/>
                </a:rPr>
                <a:t>POSITIONS HELD</a:t>
              </a:r>
            </a:p>
          </p:txBody>
        </p:sp>
      </p:grpSp>
      <p:sp>
        <p:nvSpPr>
          <p:cNvPr name="TextBox 33" id="33"/>
          <p:cNvSpPr txBox="true"/>
          <p:nvPr/>
        </p:nvSpPr>
        <p:spPr>
          <a:xfrm rot="0">
            <a:off x="12412980" y="3469005"/>
            <a:ext cx="4594860" cy="2360295"/>
          </a:xfrm>
          <a:prstGeom prst="rect">
            <a:avLst/>
          </a:prstGeom>
        </p:spPr>
        <p:txBody>
          <a:bodyPr anchor="t" rtlCol="false" tIns="0" lIns="0" bIns="0" rIns="0">
            <a:spAutoFit/>
          </a:bodyPr>
          <a:lstStyle/>
          <a:p>
            <a:pPr algn="l" marL="298609" indent="-149304" lvl="1">
              <a:lnSpc>
                <a:spcPts val="1980"/>
              </a:lnSpc>
              <a:buFont typeface="Arial"/>
              <a:buChar char="•"/>
            </a:pPr>
            <a:r>
              <a:rPr lang="en-US" sz="1650">
                <a:solidFill>
                  <a:srgbClr val="23262F"/>
                </a:solidFill>
                <a:latin typeface="Calibri (MS)"/>
                <a:ea typeface="Calibri (MS)"/>
                <a:cs typeface="Calibri (MS)"/>
                <a:sym typeface="Calibri (MS)"/>
              </a:rPr>
              <a:t>Cybersecurity Consultant — City Government of Davao</a:t>
            </a:r>
          </a:p>
          <a:p>
            <a:pPr algn="l" marL="298609" indent="-149304" lvl="1">
              <a:lnSpc>
                <a:spcPts val="1980"/>
              </a:lnSpc>
              <a:buFont typeface="Arial"/>
              <a:buChar char="•"/>
            </a:pPr>
            <a:r>
              <a:rPr lang="en-US" sz="1650">
                <a:solidFill>
                  <a:srgbClr val="23262F"/>
                </a:solidFill>
                <a:latin typeface="Calibri (MS)"/>
                <a:ea typeface="Calibri (MS)"/>
                <a:cs typeface="Calibri (MS)"/>
                <a:sym typeface="Calibri (MS)"/>
              </a:rPr>
              <a:t>Offensive Security Engineer</a:t>
            </a:r>
          </a:p>
          <a:p>
            <a:pPr algn="l" marL="298609" indent="-149304" lvl="1">
              <a:lnSpc>
                <a:spcPts val="1980"/>
              </a:lnSpc>
              <a:buFont typeface="Arial"/>
              <a:buChar char="•"/>
            </a:pPr>
            <a:r>
              <a:rPr lang="en-US" sz="1650">
                <a:solidFill>
                  <a:srgbClr val="23262F"/>
                </a:solidFill>
                <a:latin typeface="Calibri (MS)"/>
                <a:ea typeface="Calibri (MS)"/>
                <a:cs typeface="Calibri (MS)"/>
                <a:sym typeface="Calibri (MS)"/>
              </a:rPr>
              <a:t>Ethical Hacker</a:t>
            </a:r>
          </a:p>
        </p:txBody>
      </p:sp>
      <p:grpSp>
        <p:nvGrpSpPr>
          <p:cNvPr name="Group 34" id="34"/>
          <p:cNvGrpSpPr/>
          <p:nvPr/>
        </p:nvGrpSpPr>
        <p:grpSpPr>
          <a:xfrm rot="0">
            <a:off x="12412980" y="6035040"/>
            <a:ext cx="4594860" cy="384048"/>
            <a:chOff x="0" y="0"/>
            <a:chExt cx="6126480" cy="512064"/>
          </a:xfrm>
        </p:grpSpPr>
        <p:sp>
          <p:nvSpPr>
            <p:cNvPr name="Freeform 35" id="35"/>
            <p:cNvSpPr/>
            <p:nvPr/>
          </p:nvSpPr>
          <p:spPr>
            <a:xfrm flipH="false" flipV="false" rot="0">
              <a:off x="0" y="0"/>
              <a:ext cx="6126480" cy="512064"/>
            </a:xfrm>
            <a:custGeom>
              <a:avLst/>
              <a:gdLst/>
              <a:ahLst/>
              <a:cxnLst/>
              <a:rect r="r" b="b" t="t" l="l"/>
              <a:pathLst>
                <a:path h="512064" w="6126480">
                  <a:moveTo>
                    <a:pt x="0" y="0"/>
                  </a:moveTo>
                  <a:lnTo>
                    <a:pt x="6126480" y="0"/>
                  </a:lnTo>
                  <a:lnTo>
                    <a:pt x="6126480" y="512064"/>
                  </a:lnTo>
                  <a:lnTo>
                    <a:pt x="0" y="512064"/>
                  </a:lnTo>
                  <a:close/>
                </a:path>
              </a:pathLst>
            </a:custGeom>
            <a:blipFill>
              <a:blip r:embed="rId4">
                <a:alphaModFix amt="0"/>
              </a:blip>
              <a:stretch>
                <a:fillRect l="0" t="-183124" r="0" b="-183124"/>
              </a:stretch>
            </a:blipFill>
          </p:spPr>
        </p:sp>
        <p:sp>
          <p:nvSpPr>
            <p:cNvPr name="TextBox 36" id="36"/>
            <p:cNvSpPr txBox="true"/>
            <p:nvPr/>
          </p:nvSpPr>
          <p:spPr>
            <a:xfrm>
              <a:off x="0" y="-28575"/>
              <a:ext cx="6126480" cy="540639"/>
            </a:xfrm>
            <a:prstGeom prst="rect">
              <a:avLst/>
            </a:prstGeom>
          </p:spPr>
          <p:txBody>
            <a:bodyPr anchor="ctr" rtlCol="false" tIns="0" lIns="0" bIns="0" rIns="0"/>
            <a:lstStyle/>
            <a:p>
              <a:pPr algn="l">
                <a:lnSpc>
                  <a:spcPts val="1980"/>
                </a:lnSpc>
              </a:pPr>
              <a:r>
                <a:rPr lang="en-US" b="true" sz="1650" spc="150">
                  <a:solidFill>
                    <a:srgbClr val="1E2761"/>
                  </a:solidFill>
                  <a:latin typeface="Calibri (MS) Bold"/>
                  <a:ea typeface="Calibri (MS) Bold"/>
                  <a:cs typeface="Calibri (MS) Bold"/>
                  <a:sym typeface="Calibri (MS) Bold"/>
                </a:rPr>
                <a:t>TRACK RECORD</a:t>
              </a:r>
            </a:p>
          </p:txBody>
        </p:sp>
      </p:grpSp>
      <p:sp>
        <p:nvSpPr>
          <p:cNvPr name="TextBox 37" id="37"/>
          <p:cNvSpPr txBox="true"/>
          <p:nvPr/>
        </p:nvSpPr>
        <p:spPr>
          <a:xfrm rot="0">
            <a:off x="12504420" y="6416040"/>
            <a:ext cx="4411980" cy="2727960"/>
          </a:xfrm>
          <a:prstGeom prst="rect">
            <a:avLst/>
          </a:prstGeom>
        </p:spPr>
        <p:txBody>
          <a:bodyPr anchor="t" rtlCol="false" tIns="0" lIns="0" bIns="0" rIns="0">
            <a:spAutoFit/>
          </a:bodyPr>
          <a:lstStyle/>
          <a:p>
            <a:pPr algn="l">
              <a:lnSpc>
                <a:spcPts val="2475"/>
              </a:lnSpc>
            </a:pPr>
            <a:r>
              <a:rPr lang="en-US" sz="1650">
                <a:solidFill>
                  <a:srgbClr val="23262F"/>
                </a:solidFill>
                <a:latin typeface="Calibri (MS)"/>
                <a:ea typeface="Calibri (MS)"/>
                <a:cs typeface="Calibri (MS)"/>
                <a:sym typeface="Calibri (MS)"/>
              </a:rPr>
              <a:t>1,500+ hours of technical cybersecurity instruction and practical skills training delivered to IT personnel, including regular offensive and defensive cybersecurity training for the City Government of Davao.</a:t>
            </a:r>
          </a:p>
        </p:txBody>
      </p:sp>
      <p:grpSp>
        <p:nvGrpSpPr>
          <p:cNvPr name="Group 38" id="38"/>
          <p:cNvGrpSpPr/>
          <p:nvPr/>
        </p:nvGrpSpPr>
        <p:grpSpPr>
          <a:xfrm rot="0">
            <a:off x="685800" y="9710928"/>
            <a:ext cx="10972800" cy="411480"/>
            <a:chOff x="0" y="0"/>
            <a:chExt cx="14630400" cy="548640"/>
          </a:xfrm>
        </p:grpSpPr>
        <p:sp>
          <p:nvSpPr>
            <p:cNvPr name="Freeform 39" id="39"/>
            <p:cNvSpPr/>
            <p:nvPr/>
          </p:nvSpPr>
          <p:spPr>
            <a:xfrm flipH="false" flipV="false" rot="0">
              <a:off x="0" y="0"/>
              <a:ext cx="14630400" cy="548640"/>
            </a:xfrm>
            <a:custGeom>
              <a:avLst/>
              <a:gdLst/>
              <a:ahLst/>
              <a:cxnLst/>
              <a:rect r="r" b="b" t="t" l="l"/>
              <a:pathLst>
                <a:path h="548640" w="14630400">
                  <a:moveTo>
                    <a:pt x="0" y="0"/>
                  </a:moveTo>
                  <a:lnTo>
                    <a:pt x="14630400" y="0"/>
                  </a:lnTo>
                  <a:lnTo>
                    <a:pt x="14630400" y="548640"/>
                  </a:lnTo>
                  <a:lnTo>
                    <a:pt x="0" y="548640"/>
                  </a:lnTo>
                  <a:close/>
                </a:path>
              </a:pathLst>
            </a:custGeom>
            <a:blipFill>
              <a:blip r:embed="rId4">
                <a:alphaModFix amt="0"/>
              </a:blip>
              <a:stretch>
                <a:fillRect l="0" t="-469601" r="0" b="-469601"/>
              </a:stretch>
            </a:blipFill>
          </p:spPr>
        </p:sp>
        <p:sp>
          <p:nvSpPr>
            <p:cNvPr name="TextBox 40" id="40"/>
            <p:cNvSpPr txBox="true"/>
            <p:nvPr/>
          </p:nvSpPr>
          <p:spPr>
            <a:xfrm>
              <a:off x="0" y="-38100"/>
              <a:ext cx="14630400" cy="586740"/>
            </a:xfrm>
            <a:prstGeom prst="rect">
              <a:avLst/>
            </a:prstGeom>
          </p:spPr>
          <p:txBody>
            <a:bodyPr anchor="ctr" rtlCol="false" tIns="0" lIns="0" bIns="0" rIns="0"/>
            <a:lstStyle/>
            <a:p>
              <a:pPr algn="l">
                <a:lnSpc>
                  <a:spcPts val="1800"/>
                </a:lnSpc>
              </a:pPr>
              <a:r>
                <a:rPr lang="en-US" sz="1500">
                  <a:solidFill>
                    <a:srgbClr val="6B7280"/>
                  </a:solidFill>
                  <a:latin typeface="Calibri (MS)"/>
                  <a:ea typeface="Calibri (MS)"/>
                  <a:cs typeface="Calibri (MS)"/>
                  <a:sym typeface="Calibri (MS)"/>
                </a:rPr>
                <a:t>Resource Speaker Profile</a:t>
              </a:r>
            </a:p>
          </p:txBody>
        </p:sp>
      </p:grpSp>
      <p:grpSp>
        <p:nvGrpSpPr>
          <p:cNvPr name="Group 41" id="41"/>
          <p:cNvGrpSpPr/>
          <p:nvPr/>
        </p:nvGrpSpPr>
        <p:grpSpPr>
          <a:xfrm rot="0">
            <a:off x="16911828" y="9710928"/>
            <a:ext cx="685800" cy="411480"/>
            <a:chOff x="0" y="0"/>
            <a:chExt cx="914400" cy="548640"/>
          </a:xfrm>
        </p:grpSpPr>
        <p:sp>
          <p:nvSpPr>
            <p:cNvPr name="Freeform 42" id="42"/>
            <p:cNvSpPr/>
            <p:nvPr/>
          </p:nvSpPr>
          <p:spPr>
            <a:xfrm flipH="false" flipV="false" rot="0">
              <a:off x="0" y="0"/>
              <a:ext cx="914400" cy="548640"/>
            </a:xfrm>
            <a:custGeom>
              <a:avLst/>
              <a:gdLst/>
              <a:ahLst/>
              <a:cxnLst/>
              <a:rect r="r" b="b" t="t" l="l"/>
              <a:pathLst>
                <a:path h="548640" w="914400">
                  <a:moveTo>
                    <a:pt x="0" y="0"/>
                  </a:moveTo>
                  <a:lnTo>
                    <a:pt x="914400" y="0"/>
                  </a:lnTo>
                  <a:lnTo>
                    <a:pt x="914400" y="548640"/>
                  </a:lnTo>
                  <a:lnTo>
                    <a:pt x="0" y="548640"/>
                  </a:lnTo>
                  <a:close/>
                </a:path>
              </a:pathLst>
            </a:custGeom>
            <a:blipFill>
              <a:blip r:embed="rId4">
                <a:alphaModFix amt="0"/>
              </a:blip>
              <a:stretch>
                <a:fillRect l="-26982" t="0" r="-26982" b="0"/>
              </a:stretch>
            </a:blipFill>
          </p:spPr>
        </p:sp>
        <p:sp>
          <p:nvSpPr>
            <p:cNvPr name="TextBox 43" id="43"/>
            <p:cNvSpPr txBox="true"/>
            <p:nvPr/>
          </p:nvSpPr>
          <p:spPr>
            <a:xfrm>
              <a:off x="0" y="-38100"/>
              <a:ext cx="914400" cy="586740"/>
            </a:xfrm>
            <a:prstGeom prst="rect">
              <a:avLst/>
            </a:prstGeom>
          </p:spPr>
          <p:txBody>
            <a:bodyPr anchor="ctr" rtlCol="false" tIns="0" lIns="0" bIns="0" rIns="0"/>
            <a:lstStyle/>
            <a:p>
              <a:pPr algn="r">
                <a:lnSpc>
                  <a:spcPts val="1800"/>
                </a:lnSpc>
              </a:pPr>
              <a:r>
                <a:rPr lang="en-US" sz="1500">
                  <a:solidFill>
                    <a:srgbClr val="6B7280"/>
                  </a:solidFill>
                  <a:latin typeface="Calibri (MS)"/>
                  <a:ea typeface="Calibri (MS)"/>
                  <a:cs typeface="Calibri (MS)"/>
                  <a:sym typeface="Calibri (MS)"/>
                </a:rPr>
                <a:t>4</a:t>
              </a:r>
            </a:p>
          </p:txBody>
        </p:sp>
      </p:gr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754380" y="685800"/>
            <a:ext cx="850392" cy="850392"/>
            <a:chOff x="0" y="0"/>
            <a:chExt cx="1133856" cy="1133856"/>
          </a:xfrm>
        </p:grpSpPr>
        <p:sp>
          <p:nvSpPr>
            <p:cNvPr name="Freeform 3" id="3"/>
            <p:cNvSpPr/>
            <p:nvPr/>
          </p:nvSpPr>
          <p:spPr>
            <a:xfrm flipH="false" flipV="false" rot="0">
              <a:off x="0" y="0"/>
              <a:ext cx="1133856" cy="1133856"/>
            </a:xfrm>
            <a:custGeom>
              <a:avLst/>
              <a:gdLst/>
              <a:ahLst/>
              <a:cxnLst/>
              <a:rect r="r" b="b" t="t" l="l"/>
              <a:pathLst>
                <a:path h="1133856" w="1133856">
                  <a:moveTo>
                    <a:pt x="0" y="566928"/>
                  </a:moveTo>
                  <a:cubicBezTo>
                    <a:pt x="0" y="253873"/>
                    <a:pt x="253873" y="0"/>
                    <a:pt x="566928" y="0"/>
                  </a:cubicBezTo>
                  <a:cubicBezTo>
                    <a:pt x="879983" y="0"/>
                    <a:pt x="1133856" y="253873"/>
                    <a:pt x="1133856" y="566928"/>
                  </a:cubicBezTo>
                  <a:cubicBezTo>
                    <a:pt x="1133856" y="879983"/>
                    <a:pt x="879983" y="1133856"/>
                    <a:pt x="566928" y="1133856"/>
                  </a:cubicBezTo>
                  <a:cubicBezTo>
                    <a:pt x="253873" y="1133856"/>
                    <a:pt x="0" y="879983"/>
                    <a:pt x="0" y="566928"/>
                  </a:cubicBezTo>
                  <a:close/>
                </a:path>
              </a:pathLst>
            </a:custGeom>
            <a:solidFill>
              <a:srgbClr val="1E2761"/>
            </a:solidFill>
          </p:spPr>
        </p:sp>
      </p:grpSp>
      <p:grpSp>
        <p:nvGrpSpPr>
          <p:cNvPr name="Group 4" id="4"/>
          <p:cNvGrpSpPr/>
          <p:nvPr/>
        </p:nvGrpSpPr>
        <p:grpSpPr>
          <a:xfrm rot="0">
            <a:off x="932688" y="864108"/>
            <a:ext cx="493776" cy="493776"/>
            <a:chOff x="0" y="0"/>
            <a:chExt cx="658368" cy="658368"/>
          </a:xfrm>
        </p:grpSpPr>
        <p:sp>
          <p:nvSpPr>
            <p:cNvPr name="Freeform 5" id="5" descr="cap.png"/>
            <p:cNvSpPr/>
            <p:nvPr/>
          </p:nvSpPr>
          <p:spPr>
            <a:xfrm flipH="false" flipV="false" rot="0">
              <a:off x="0" y="0"/>
              <a:ext cx="658368" cy="658368"/>
            </a:xfrm>
            <a:custGeom>
              <a:avLst/>
              <a:gdLst/>
              <a:ahLst/>
              <a:cxnLst/>
              <a:rect r="r" b="b" t="t" l="l"/>
              <a:pathLst>
                <a:path h="658368" w="658368">
                  <a:moveTo>
                    <a:pt x="0" y="0"/>
                  </a:moveTo>
                  <a:lnTo>
                    <a:pt x="658368" y="0"/>
                  </a:lnTo>
                  <a:lnTo>
                    <a:pt x="658368" y="658368"/>
                  </a:lnTo>
                  <a:lnTo>
                    <a:pt x="0" y="658368"/>
                  </a:lnTo>
                  <a:lnTo>
                    <a:pt x="0" y="0"/>
                  </a:lnTo>
                  <a:close/>
                </a:path>
              </a:pathLst>
            </a:custGeom>
            <a:blipFill>
              <a:blip r:embed="rId3"/>
              <a:stretch>
                <a:fillRect l="0" t="0" r="0" b="0"/>
              </a:stretch>
            </a:blipFill>
          </p:spPr>
        </p:sp>
      </p:grpSp>
      <p:grpSp>
        <p:nvGrpSpPr>
          <p:cNvPr name="Group 6" id="6"/>
          <p:cNvGrpSpPr/>
          <p:nvPr/>
        </p:nvGrpSpPr>
        <p:grpSpPr>
          <a:xfrm rot="0">
            <a:off x="1851660" y="603504"/>
            <a:ext cx="13716000" cy="466344"/>
            <a:chOff x="0" y="0"/>
            <a:chExt cx="18288000" cy="621792"/>
          </a:xfrm>
        </p:grpSpPr>
        <p:sp>
          <p:nvSpPr>
            <p:cNvPr name="Freeform 7" id="7"/>
            <p:cNvSpPr/>
            <p:nvPr/>
          </p:nvSpPr>
          <p:spPr>
            <a:xfrm flipH="false" flipV="false" rot="0">
              <a:off x="0" y="0"/>
              <a:ext cx="18288000" cy="621792"/>
            </a:xfrm>
            <a:custGeom>
              <a:avLst/>
              <a:gdLst/>
              <a:ahLst/>
              <a:cxnLst/>
              <a:rect r="r" b="b" t="t" l="l"/>
              <a:pathLst>
                <a:path h="621792" w="18288000">
                  <a:moveTo>
                    <a:pt x="0" y="0"/>
                  </a:moveTo>
                  <a:lnTo>
                    <a:pt x="18288000" y="0"/>
                  </a:lnTo>
                  <a:lnTo>
                    <a:pt x="18288000" y="621792"/>
                  </a:lnTo>
                  <a:lnTo>
                    <a:pt x="0" y="621792"/>
                  </a:lnTo>
                  <a:close/>
                </a:path>
              </a:pathLst>
            </a:custGeom>
            <a:blipFill>
              <a:blip r:embed="rId4">
                <a:alphaModFix amt="0"/>
              </a:blip>
              <a:stretch>
                <a:fillRect l="0" t="-523089" r="0" b="-523089"/>
              </a:stretch>
            </a:blipFill>
          </p:spPr>
        </p:sp>
        <p:sp>
          <p:nvSpPr>
            <p:cNvPr name="TextBox 8" id="8"/>
            <p:cNvSpPr txBox="true"/>
            <p:nvPr/>
          </p:nvSpPr>
          <p:spPr>
            <a:xfrm>
              <a:off x="0" y="-47625"/>
              <a:ext cx="18288000" cy="669417"/>
            </a:xfrm>
            <a:prstGeom prst="rect">
              <a:avLst/>
            </a:prstGeom>
          </p:spPr>
          <p:txBody>
            <a:bodyPr anchor="ctr" rtlCol="false" tIns="0" lIns="0" bIns="0" rIns="0"/>
            <a:lstStyle/>
            <a:p>
              <a:pPr algn="l">
                <a:lnSpc>
                  <a:spcPts val="2340"/>
                </a:lnSpc>
              </a:pPr>
              <a:r>
                <a:rPr lang="en-US" b="true" sz="1950" spc="150">
                  <a:solidFill>
                    <a:srgbClr val="00B4D8"/>
                  </a:solidFill>
                  <a:latin typeface="Calibri (MS) Bold"/>
                  <a:ea typeface="Calibri (MS) Bold"/>
                  <a:cs typeface="Calibri (MS) Bold"/>
                  <a:sym typeface="Calibri (MS) Bold"/>
                </a:rPr>
                <a:t>WHAT YOU WILL WALK AWAY WITH</a:t>
              </a:r>
            </a:p>
          </p:txBody>
        </p:sp>
      </p:grpSp>
      <p:grpSp>
        <p:nvGrpSpPr>
          <p:cNvPr name="Group 9" id="9"/>
          <p:cNvGrpSpPr/>
          <p:nvPr/>
        </p:nvGrpSpPr>
        <p:grpSpPr>
          <a:xfrm rot="0">
            <a:off x="1824228" y="987552"/>
            <a:ext cx="15361920" cy="850392"/>
            <a:chOff x="0" y="0"/>
            <a:chExt cx="20482560" cy="1133856"/>
          </a:xfrm>
        </p:grpSpPr>
        <p:sp>
          <p:nvSpPr>
            <p:cNvPr name="Freeform 10" id="10"/>
            <p:cNvSpPr/>
            <p:nvPr/>
          </p:nvSpPr>
          <p:spPr>
            <a:xfrm flipH="false" flipV="false" rot="0">
              <a:off x="0" y="0"/>
              <a:ext cx="20482561" cy="1133856"/>
            </a:xfrm>
            <a:custGeom>
              <a:avLst/>
              <a:gdLst/>
              <a:ahLst/>
              <a:cxnLst/>
              <a:rect r="r" b="b" t="t" l="l"/>
              <a:pathLst>
                <a:path h="1133856" w="20482561">
                  <a:moveTo>
                    <a:pt x="0" y="0"/>
                  </a:moveTo>
                  <a:lnTo>
                    <a:pt x="20482561" y="0"/>
                  </a:lnTo>
                  <a:lnTo>
                    <a:pt x="20482561" y="1133856"/>
                  </a:lnTo>
                  <a:lnTo>
                    <a:pt x="0" y="1133856"/>
                  </a:lnTo>
                  <a:close/>
                </a:path>
              </a:pathLst>
            </a:custGeom>
            <a:blipFill>
              <a:blip r:embed="rId4">
                <a:alphaModFix amt="0"/>
              </a:blip>
              <a:stretch>
                <a:fillRect l="0" t="-301987" r="0" b="-301987"/>
              </a:stretch>
            </a:blipFill>
          </p:spPr>
        </p:sp>
        <p:sp>
          <p:nvSpPr>
            <p:cNvPr name="TextBox 11" id="11"/>
            <p:cNvSpPr txBox="true"/>
            <p:nvPr/>
          </p:nvSpPr>
          <p:spPr>
            <a:xfrm>
              <a:off x="0" y="-9525"/>
              <a:ext cx="20482560" cy="1143381"/>
            </a:xfrm>
            <a:prstGeom prst="rect">
              <a:avLst/>
            </a:prstGeom>
          </p:spPr>
          <p:txBody>
            <a:bodyPr anchor="ctr" rtlCol="false" tIns="0" lIns="0" bIns="0" rIns="0"/>
            <a:lstStyle/>
            <a:p>
              <a:pPr algn="l">
                <a:lnSpc>
                  <a:spcPts val="5040"/>
                </a:lnSpc>
              </a:pPr>
              <a:r>
                <a:rPr lang="en-US" sz="4200" b="true">
                  <a:solidFill>
                    <a:srgbClr val="1E2761"/>
                  </a:solidFill>
                  <a:latin typeface="Cambria Bold"/>
                  <a:ea typeface="Cambria Bold"/>
                  <a:cs typeface="Cambria Bold"/>
                  <a:sym typeface="Cambria Bold"/>
                </a:rPr>
                <a:t>Training Outcomes</a:t>
              </a:r>
            </a:p>
          </p:txBody>
        </p:sp>
      </p:grpSp>
      <p:grpSp>
        <p:nvGrpSpPr>
          <p:cNvPr name="Group 12" id="12"/>
          <p:cNvGrpSpPr/>
          <p:nvPr/>
        </p:nvGrpSpPr>
        <p:grpSpPr>
          <a:xfrm rot="0">
            <a:off x="1824228" y="2125980"/>
            <a:ext cx="14813280" cy="754380"/>
            <a:chOff x="0" y="0"/>
            <a:chExt cx="19751040" cy="1005840"/>
          </a:xfrm>
        </p:grpSpPr>
        <p:sp>
          <p:nvSpPr>
            <p:cNvPr name="Freeform 13" id="13"/>
            <p:cNvSpPr/>
            <p:nvPr/>
          </p:nvSpPr>
          <p:spPr>
            <a:xfrm flipH="false" flipV="false" rot="0">
              <a:off x="0" y="0"/>
              <a:ext cx="19751039" cy="1005840"/>
            </a:xfrm>
            <a:custGeom>
              <a:avLst/>
              <a:gdLst/>
              <a:ahLst/>
              <a:cxnLst/>
              <a:rect r="r" b="b" t="t" l="l"/>
              <a:pathLst>
                <a:path h="1005840" w="19751039">
                  <a:moveTo>
                    <a:pt x="0" y="0"/>
                  </a:moveTo>
                  <a:lnTo>
                    <a:pt x="19751039" y="0"/>
                  </a:lnTo>
                  <a:lnTo>
                    <a:pt x="19751039" y="1005840"/>
                  </a:lnTo>
                  <a:lnTo>
                    <a:pt x="0" y="1005840"/>
                  </a:lnTo>
                  <a:close/>
                </a:path>
              </a:pathLst>
            </a:custGeom>
            <a:blipFill>
              <a:blip r:embed="rId4">
                <a:alphaModFix amt="0"/>
              </a:blip>
              <a:stretch>
                <a:fillRect l="0" t="-332615" r="0" b="-332615"/>
              </a:stretch>
            </a:blipFill>
          </p:spPr>
        </p:sp>
        <p:sp>
          <p:nvSpPr>
            <p:cNvPr name="TextBox 14" id="14"/>
            <p:cNvSpPr txBox="true"/>
            <p:nvPr/>
          </p:nvSpPr>
          <p:spPr>
            <a:xfrm>
              <a:off x="0" y="-47625"/>
              <a:ext cx="19751040" cy="1053465"/>
            </a:xfrm>
            <a:prstGeom prst="rect">
              <a:avLst/>
            </a:prstGeom>
          </p:spPr>
          <p:txBody>
            <a:bodyPr anchor="ctr" rtlCol="false" tIns="0" lIns="0" bIns="0" rIns="0"/>
            <a:lstStyle/>
            <a:p>
              <a:pPr algn="l">
                <a:lnSpc>
                  <a:spcPts val="2520"/>
                </a:lnSpc>
              </a:pPr>
              <a:r>
                <a:rPr lang="en-US" sz="2100" i="true">
                  <a:solidFill>
                    <a:srgbClr val="6B7280"/>
                  </a:solidFill>
                  <a:latin typeface="Calibri (MS) Italics"/>
                  <a:ea typeface="Calibri (MS) Italics"/>
                  <a:cs typeface="Calibri (MS) Italics"/>
                  <a:sym typeface="Calibri (MS) Italics"/>
                </a:rPr>
                <a:t>Upon successful completion of the program, participants will receive a Certificate of Completion and will be able to demonstrate:</a:t>
              </a:r>
            </a:p>
          </p:txBody>
        </p:sp>
      </p:grpSp>
      <p:grpSp>
        <p:nvGrpSpPr>
          <p:cNvPr name="Group 15" id="15"/>
          <p:cNvGrpSpPr/>
          <p:nvPr/>
        </p:nvGrpSpPr>
        <p:grpSpPr>
          <a:xfrm rot="0">
            <a:off x="960120" y="3223260"/>
            <a:ext cx="7612380" cy="2948940"/>
            <a:chOff x="0" y="0"/>
            <a:chExt cx="10149840" cy="3931920"/>
          </a:xfrm>
        </p:grpSpPr>
        <p:sp>
          <p:nvSpPr>
            <p:cNvPr name="Freeform 16" id="16"/>
            <p:cNvSpPr/>
            <p:nvPr/>
          </p:nvSpPr>
          <p:spPr>
            <a:xfrm flipH="false" flipV="false" rot="0">
              <a:off x="0" y="0"/>
              <a:ext cx="10149840" cy="3931920"/>
            </a:xfrm>
            <a:custGeom>
              <a:avLst/>
              <a:gdLst/>
              <a:ahLst/>
              <a:cxnLst/>
              <a:rect r="r" b="b" t="t" l="l"/>
              <a:pathLst>
                <a:path h="3931920" w="10149840">
                  <a:moveTo>
                    <a:pt x="0" y="146304"/>
                  </a:moveTo>
                  <a:cubicBezTo>
                    <a:pt x="0" y="65532"/>
                    <a:pt x="65532" y="0"/>
                    <a:pt x="146304" y="0"/>
                  </a:cubicBezTo>
                  <a:lnTo>
                    <a:pt x="10003536" y="0"/>
                  </a:lnTo>
                  <a:cubicBezTo>
                    <a:pt x="10084308" y="0"/>
                    <a:pt x="10149840" y="65532"/>
                    <a:pt x="10149840" y="146304"/>
                  </a:cubicBezTo>
                  <a:lnTo>
                    <a:pt x="10149840" y="3785616"/>
                  </a:lnTo>
                  <a:cubicBezTo>
                    <a:pt x="10149840" y="3866388"/>
                    <a:pt x="10084308" y="3931920"/>
                    <a:pt x="10003536" y="3931920"/>
                  </a:cubicBezTo>
                  <a:lnTo>
                    <a:pt x="146304" y="3931920"/>
                  </a:lnTo>
                  <a:cubicBezTo>
                    <a:pt x="65532" y="3931920"/>
                    <a:pt x="0" y="3866388"/>
                    <a:pt x="0" y="3785616"/>
                  </a:cubicBezTo>
                  <a:close/>
                </a:path>
              </a:pathLst>
            </a:custGeom>
            <a:solidFill>
              <a:srgbClr val="F4F7FC"/>
            </a:solidFill>
          </p:spPr>
        </p:sp>
      </p:grpSp>
      <p:grpSp>
        <p:nvGrpSpPr>
          <p:cNvPr name="Group 17" id="17"/>
          <p:cNvGrpSpPr/>
          <p:nvPr/>
        </p:nvGrpSpPr>
        <p:grpSpPr>
          <a:xfrm rot="0">
            <a:off x="1303020" y="3566160"/>
            <a:ext cx="685800" cy="685800"/>
            <a:chOff x="0" y="0"/>
            <a:chExt cx="914400" cy="914400"/>
          </a:xfrm>
        </p:grpSpPr>
        <p:sp>
          <p:nvSpPr>
            <p:cNvPr name="Freeform 18" id="18"/>
            <p:cNvSpPr/>
            <p:nvPr/>
          </p:nvSpPr>
          <p:spPr>
            <a:xfrm flipH="false" flipV="false" rot="0">
              <a:off x="0" y="0"/>
              <a:ext cx="914400" cy="914400"/>
            </a:xfrm>
            <a:custGeom>
              <a:avLst/>
              <a:gdLst/>
              <a:ahLst/>
              <a:cxnLst/>
              <a:rect r="r" b="b" t="t" l="l"/>
              <a:pathLst>
                <a:path h="914400" w="914400">
                  <a:moveTo>
                    <a:pt x="0" y="457200"/>
                  </a:moveTo>
                  <a:cubicBezTo>
                    <a:pt x="0" y="204724"/>
                    <a:pt x="204724" y="0"/>
                    <a:pt x="457200" y="0"/>
                  </a:cubicBezTo>
                  <a:cubicBezTo>
                    <a:pt x="709676" y="0"/>
                    <a:pt x="914400" y="204724"/>
                    <a:pt x="914400" y="457200"/>
                  </a:cubicBezTo>
                  <a:cubicBezTo>
                    <a:pt x="914400" y="709676"/>
                    <a:pt x="709676" y="914400"/>
                    <a:pt x="457200" y="914400"/>
                  </a:cubicBezTo>
                  <a:cubicBezTo>
                    <a:pt x="204724" y="914400"/>
                    <a:pt x="0" y="709676"/>
                    <a:pt x="0" y="457200"/>
                  </a:cubicBezTo>
                  <a:close/>
                </a:path>
              </a:pathLst>
            </a:custGeom>
            <a:solidFill>
              <a:srgbClr val="1E2761"/>
            </a:solidFill>
          </p:spPr>
        </p:sp>
      </p:grpSp>
      <p:grpSp>
        <p:nvGrpSpPr>
          <p:cNvPr name="Group 19" id="19"/>
          <p:cNvGrpSpPr/>
          <p:nvPr/>
        </p:nvGrpSpPr>
        <p:grpSpPr>
          <a:xfrm rot="0">
            <a:off x="1303020" y="3566160"/>
            <a:ext cx="685800" cy="685800"/>
            <a:chOff x="0" y="0"/>
            <a:chExt cx="914400" cy="914400"/>
          </a:xfrm>
        </p:grpSpPr>
        <p:sp>
          <p:nvSpPr>
            <p:cNvPr name="Freeform 20" id="20"/>
            <p:cNvSpPr/>
            <p:nvPr/>
          </p:nvSpPr>
          <p:spPr>
            <a:xfrm flipH="false" flipV="false" rot="0">
              <a:off x="0" y="0"/>
              <a:ext cx="914400" cy="914400"/>
            </a:xfrm>
            <a:custGeom>
              <a:avLst/>
              <a:gdLst/>
              <a:ahLst/>
              <a:cxnLst/>
              <a:rect r="r" b="b" t="t" l="l"/>
              <a:pathLst>
                <a:path h="914400" w="914400">
                  <a:moveTo>
                    <a:pt x="0" y="0"/>
                  </a:moveTo>
                  <a:lnTo>
                    <a:pt x="914400" y="0"/>
                  </a:lnTo>
                  <a:lnTo>
                    <a:pt x="914400" y="914400"/>
                  </a:lnTo>
                  <a:lnTo>
                    <a:pt x="0" y="914400"/>
                  </a:lnTo>
                  <a:close/>
                </a:path>
              </a:pathLst>
            </a:custGeom>
            <a:blipFill>
              <a:blip r:embed="rId4">
                <a:alphaModFix amt="0"/>
              </a:blip>
              <a:stretch>
                <a:fillRect l="-78303" t="0" r="-78303" b="0"/>
              </a:stretch>
            </a:blipFill>
          </p:spPr>
        </p:sp>
        <p:sp>
          <p:nvSpPr>
            <p:cNvPr name="TextBox 21" id="21"/>
            <p:cNvSpPr txBox="true"/>
            <p:nvPr/>
          </p:nvSpPr>
          <p:spPr>
            <a:xfrm>
              <a:off x="0" y="-19050"/>
              <a:ext cx="914400" cy="933450"/>
            </a:xfrm>
            <a:prstGeom prst="rect">
              <a:avLst/>
            </a:prstGeom>
          </p:spPr>
          <p:txBody>
            <a:bodyPr anchor="ctr" rtlCol="false" tIns="0" lIns="0" bIns="0" rIns="0"/>
            <a:lstStyle/>
            <a:p>
              <a:pPr algn="ctr">
                <a:lnSpc>
                  <a:spcPts val="3240"/>
                </a:lnSpc>
              </a:pPr>
              <a:r>
                <a:rPr lang="en-US" sz="2700" b="true">
                  <a:solidFill>
                    <a:srgbClr val="FFFFFF"/>
                  </a:solidFill>
                  <a:latin typeface="Cambria Bold"/>
                  <a:ea typeface="Cambria Bold"/>
                  <a:cs typeface="Cambria Bold"/>
                  <a:sym typeface="Cambria Bold"/>
                </a:rPr>
                <a:t>1</a:t>
              </a:r>
            </a:p>
          </p:txBody>
        </p:sp>
      </p:grpSp>
      <p:sp>
        <p:nvSpPr>
          <p:cNvPr name="TextBox 22" id="22"/>
          <p:cNvSpPr txBox="true"/>
          <p:nvPr/>
        </p:nvSpPr>
        <p:spPr>
          <a:xfrm rot="0">
            <a:off x="2354580" y="3475482"/>
            <a:ext cx="5783580" cy="2349246"/>
          </a:xfrm>
          <a:prstGeom prst="rect">
            <a:avLst/>
          </a:prstGeom>
        </p:spPr>
        <p:txBody>
          <a:bodyPr anchor="t" rtlCol="false" tIns="0" lIns="0" bIns="0" rIns="0">
            <a:spAutoFit/>
          </a:bodyPr>
          <a:lstStyle/>
          <a:p>
            <a:pPr algn="l">
              <a:lnSpc>
                <a:spcPts val="2808"/>
              </a:lnSpc>
            </a:pPr>
            <a:r>
              <a:rPr lang="en-US" sz="1950">
                <a:solidFill>
                  <a:srgbClr val="23262F"/>
                </a:solidFill>
                <a:latin typeface="Calibri (MS)"/>
                <a:ea typeface="Calibri (MS)"/>
                <a:cs typeface="Calibri (MS)"/>
                <a:sym typeface="Calibri (MS)"/>
              </a:rPr>
              <a:t>Applied understanding of cybersecurity risk management and governance frameworks relevant to provincial and local government environments</a:t>
            </a:r>
          </a:p>
        </p:txBody>
      </p:sp>
      <p:grpSp>
        <p:nvGrpSpPr>
          <p:cNvPr name="Group 23" id="23"/>
          <p:cNvGrpSpPr/>
          <p:nvPr/>
        </p:nvGrpSpPr>
        <p:grpSpPr>
          <a:xfrm rot="0">
            <a:off x="9052560" y="3223260"/>
            <a:ext cx="7612380" cy="2948940"/>
            <a:chOff x="0" y="0"/>
            <a:chExt cx="10149840" cy="3931920"/>
          </a:xfrm>
        </p:grpSpPr>
        <p:sp>
          <p:nvSpPr>
            <p:cNvPr name="Freeform 24" id="24"/>
            <p:cNvSpPr/>
            <p:nvPr/>
          </p:nvSpPr>
          <p:spPr>
            <a:xfrm flipH="false" flipV="false" rot="0">
              <a:off x="0" y="0"/>
              <a:ext cx="10149840" cy="3931920"/>
            </a:xfrm>
            <a:custGeom>
              <a:avLst/>
              <a:gdLst/>
              <a:ahLst/>
              <a:cxnLst/>
              <a:rect r="r" b="b" t="t" l="l"/>
              <a:pathLst>
                <a:path h="3931920" w="10149840">
                  <a:moveTo>
                    <a:pt x="0" y="146304"/>
                  </a:moveTo>
                  <a:cubicBezTo>
                    <a:pt x="0" y="65532"/>
                    <a:pt x="65532" y="0"/>
                    <a:pt x="146304" y="0"/>
                  </a:cubicBezTo>
                  <a:lnTo>
                    <a:pt x="10003536" y="0"/>
                  </a:lnTo>
                  <a:cubicBezTo>
                    <a:pt x="10084308" y="0"/>
                    <a:pt x="10149840" y="65532"/>
                    <a:pt x="10149840" y="146304"/>
                  </a:cubicBezTo>
                  <a:lnTo>
                    <a:pt x="10149840" y="3785616"/>
                  </a:lnTo>
                  <a:cubicBezTo>
                    <a:pt x="10149840" y="3866388"/>
                    <a:pt x="10084308" y="3931920"/>
                    <a:pt x="10003536" y="3931920"/>
                  </a:cubicBezTo>
                  <a:lnTo>
                    <a:pt x="146304" y="3931920"/>
                  </a:lnTo>
                  <a:cubicBezTo>
                    <a:pt x="65532" y="3931920"/>
                    <a:pt x="0" y="3866388"/>
                    <a:pt x="0" y="3785616"/>
                  </a:cubicBezTo>
                  <a:close/>
                </a:path>
              </a:pathLst>
            </a:custGeom>
            <a:solidFill>
              <a:srgbClr val="F4F7FC"/>
            </a:solidFill>
          </p:spPr>
        </p:sp>
      </p:grpSp>
      <p:grpSp>
        <p:nvGrpSpPr>
          <p:cNvPr name="Group 25" id="25"/>
          <p:cNvGrpSpPr/>
          <p:nvPr/>
        </p:nvGrpSpPr>
        <p:grpSpPr>
          <a:xfrm rot="0">
            <a:off x="9395460" y="3566160"/>
            <a:ext cx="685800" cy="685800"/>
            <a:chOff x="0" y="0"/>
            <a:chExt cx="914400" cy="914400"/>
          </a:xfrm>
        </p:grpSpPr>
        <p:sp>
          <p:nvSpPr>
            <p:cNvPr name="Freeform 26" id="26"/>
            <p:cNvSpPr/>
            <p:nvPr/>
          </p:nvSpPr>
          <p:spPr>
            <a:xfrm flipH="false" flipV="false" rot="0">
              <a:off x="0" y="0"/>
              <a:ext cx="914400" cy="914400"/>
            </a:xfrm>
            <a:custGeom>
              <a:avLst/>
              <a:gdLst/>
              <a:ahLst/>
              <a:cxnLst/>
              <a:rect r="r" b="b" t="t" l="l"/>
              <a:pathLst>
                <a:path h="914400" w="914400">
                  <a:moveTo>
                    <a:pt x="0" y="457200"/>
                  </a:moveTo>
                  <a:cubicBezTo>
                    <a:pt x="0" y="204724"/>
                    <a:pt x="204724" y="0"/>
                    <a:pt x="457200" y="0"/>
                  </a:cubicBezTo>
                  <a:cubicBezTo>
                    <a:pt x="709676" y="0"/>
                    <a:pt x="914400" y="204724"/>
                    <a:pt x="914400" y="457200"/>
                  </a:cubicBezTo>
                  <a:cubicBezTo>
                    <a:pt x="914400" y="709676"/>
                    <a:pt x="709676" y="914400"/>
                    <a:pt x="457200" y="914400"/>
                  </a:cubicBezTo>
                  <a:cubicBezTo>
                    <a:pt x="204724" y="914400"/>
                    <a:pt x="0" y="709676"/>
                    <a:pt x="0" y="457200"/>
                  </a:cubicBezTo>
                  <a:close/>
                </a:path>
              </a:pathLst>
            </a:custGeom>
            <a:solidFill>
              <a:srgbClr val="1E2761"/>
            </a:solidFill>
          </p:spPr>
        </p:sp>
      </p:grpSp>
      <p:grpSp>
        <p:nvGrpSpPr>
          <p:cNvPr name="Group 27" id="27"/>
          <p:cNvGrpSpPr/>
          <p:nvPr/>
        </p:nvGrpSpPr>
        <p:grpSpPr>
          <a:xfrm rot="0">
            <a:off x="9395460" y="3566160"/>
            <a:ext cx="685800" cy="685800"/>
            <a:chOff x="0" y="0"/>
            <a:chExt cx="914400" cy="914400"/>
          </a:xfrm>
        </p:grpSpPr>
        <p:sp>
          <p:nvSpPr>
            <p:cNvPr name="Freeform 28" id="28"/>
            <p:cNvSpPr/>
            <p:nvPr/>
          </p:nvSpPr>
          <p:spPr>
            <a:xfrm flipH="false" flipV="false" rot="0">
              <a:off x="0" y="0"/>
              <a:ext cx="914400" cy="914400"/>
            </a:xfrm>
            <a:custGeom>
              <a:avLst/>
              <a:gdLst/>
              <a:ahLst/>
              <a:cxnLst/>
              <a:rect r="r" b="b" t="t" l="l"/>
              <a:pathLst>
                <a:path h="914400" w="914400">
                  <a:moveTo>
                    <a:pt x="0" y="0"/>
                  </a:moveTo>
                  <a:lnTo>
                    <a:pt x="914400" y="0"/>
                  </a:lnTo>
                  <a:lnTo>
                    <a:pt x="914400" y="914400"/>
                  </a:lnTo>
                  <a:lnTo>
                    <a:pt x="0" y="914400"/>
                  </a:lnTo>
                  <a:close/>
                </a:path>
              </a:pathLst>
            </a:custGeom>
            <a:blipFill>
              <a:blip r:embed="rId4">
                <a:alphaModFix amt="0"/>
              </a:blip>
              <a:stretch>
                <a:fillRect l="-78303" t="0" r="-78303" b="0"/>
              </a:stretch>
            </a:blipFill>
          </p:spPr>
        </p:sp>
        <p:sp>
          <p:nvSpPr>
            <p:cNvPr name="TextBox 29" id="29"/>
            <p:cNvSpPr txBox="true"/>
            <p:nvPr/>
          </p:nvSpPr>
          <p:spPr>
            <a:xfrm>
              <a:off x="0" y="-19050"/>
              <a:ext cx="914400" cy="933450"/>
            </a:xfrm>
            <a:prstGeom prst="rect">
              <a:avLst/>
            </a:prstGeom>
          </p:spPr>
          <p:txBody>
            <a:bodyPr anchor="ctr" rtlCol="false" tIns="0" lIns="0" bIns="0" rIns="0"/>
            <a:lstStyle/>
            <a:p>
              <a:pPr algn="ctr">
                <a:lnSpc>
                  <a:spcPts val="3240"/>
                </a:lnSpc>
              </a:pPr>
              <a:r>
                <a:rPr lang="en-US" sz="2700" b="true">
                  <a:solidFill>
                    <a:srgbClr val="FFFFFF"/>
                  </a:solidFill>
                  <a:latin typeface="Cambria Bold"/>
                  <a:ea typeface="Cambria Bold"/>
                  <a:cs typeface="Cambria Bold"/>
                  <a:sym typeface="Cambria Bold"/>
                </a:rPr>
                <a:t>2</a:t>
              </a:r>
            </a:p>
          </p:txBody>
        </p:sp>
      </p:grpSp>
      <p:sp>
        <p:nvSpPr>
          <p:cNvPr name="TextBox 30" id="30"/>
          <p:cNvSpPr txBox="true"/>
          <p:nvPr/>
        </p:nvSpPr>
        <p:spPr>
          <a:xfrm rot="0">
            <a:off x="10447020" y="3475482"/>
            <a:ext cx="5783580" cy="2349246"/>
          </a:xfrm>
          <a:prstGeom prst="rect">
            <a:avLst/>
          </a:prstGeom>
        </p:spPr>
        <p:txBody>
          <a:bodyPr anchor="t" rtlCol="false" tIns="0" lIns="0" bIns="0" rIns="0">
            <a:spAutoFit/>
          </a:bodyPr>
          <a:lstStyle/>
          <a:p>
            <a:pPr algn="l">
              <a:lnSpc>
                <a:spcPts val="2808"/>
              </a:lnSpc>
            </a:pPr>
            <a:r>
              <a:rPr lang="en-US" sz="1950">
                <a:solidFill>
                  <a:srgbClr val="23262F"/>
                </a:solidFill>
                <a:latin typeface="Calibri (MS)"/>
                <a:ea typeface="Calibri (MS)"/>
                <a:cs typeface="Calibri (MS)"/>
                <a:sym typeface="Calibri (MS)"/>
              </a:rPr>
              <a:t>Practical experience conducting introductory VAPT, network and web application attack analysis, and defensive mitigation</a:t>
            </a:r>
          </a:p>
        </p:txBody>
      </p:sp>
      <p:grpSp>
        <p:nvGrpSpPr>
          <p:cNvPr name="Group 31" id="31"/>
          <p:cNvGrpSpPr/>
          <p:nvPr/>
        </p:nvGrpSpPr>
        <p:grpSpPr>
          <a:xfrm rot="0">
            <a:off x="960120" y="6583680"/>
            <a:ext cx="7612380" cy="2948940"/>
            <a:chOff x="0" y="0"/>
            <a:chExt cx="10149840" cy="3931920"/>
          </a:xfrm>
        </p:grpSpPr>
        <p:sp>
          <p:nvSpPr>
            <p:cNvPr name="Freeform 32" id="32"/>
            <p:cNvSpPr/>
            <p:nvPr/>
          </p:nvSpPr>
          <p:spPr>
            <a:xfrm flipH="false" flipV="false" rot="0">
              <a:off x="0" y="0"/>
              <a:ext cx="10149840" cy="3931920"/>
            </a:xfrm>
            <a:custGeom>
              <a:avLst/>
              <a:gdLst/>
              <a:ahLst/>
              <a:cxnLst/>
              <a:rect r="r" b="b" t="t" l="l"/>
              <a:pathLst>
                <a:path h="3931920" w="10149840">
                  <a:moveTo>
                    <a:pt x="0" y="146304"/>
                  </a:moveTo>
                  <a:cubicBezTo>
                    <a:pt x="0" y="65532"/>
                    <a:pt x="65532" y="0"/>
                    <a:pt x="146304" y="0"/>
                  </a:cubicBezTo>
                  <a:lnTo>
                    <a:pt x="10003536" y="0"/>
                  </a:lnTo>
                  <a:cubicBezTo>
                    <a:pt x="10084308" y="0"/>
                    <a:pt x="10149840" y="65532"/>
                    <a:pt x="10149840" y="146304"/>
                  </a:cubicBezTo>
                  <a:lnTo>
                    <a:pt x="10149840" y="3785616"/>
                  </a:lnTo>
                  <a:cubicBezTo>
                    <a:pt x="10149840" y="3866388"/>
                    <a:pt x="10084308" y="3931920"/>
                    <a:pt x="10003536" y="3931920"/>
                  </a:cubicBezTo>
                  <a:lnTo>
                    <a:pt x="146304" y="3931920"/>
                  </a:lnTo>
                  <a:cubicBezTo>
                    <a:pt x="65532" y="3931920"/>
                    <a:pt x="0" y="3866388"/>
                    <a:pt x="0" y="3785616"/>
                  </a:cubicBezTo>
                  <a:close/>
                </a:path>
              </a:pathLst>
            </a:custGeom>
            <a:solidFill>
              <a:srgbClr val="F4F7FC"/>
            </a:solidFill>
          </p:spPr>
        </p:sp>
      </p:grpSp>
      <p:grpSp>
        <p:nvGrpSpPr>
          <p:cNvPr name="Group 33" id="33"/>
          <p:cNvGrpSpPr/>
          <p:nvPr/>
        </p:nvGrpSpPr>
        <p:grpSpPr>
          <a:xfrm rot="0">
            <a:off x="1303020" y="6926580"/>
            <a:ext cx="685800" cy="685800"/>
            <a:chOff x="0" y="0"/>
            <a:chExt cx="914400" cy="914400"/>
          </a:xfrm>
        </p:grpSpPr>
        <p:sp>
          <p:nvSpPr>
            <p:cNvPr name="Freeform 34" id="34"/>
            <p:cNvSpPr/>
            <p:nvPr/>
          </p:nvSpPr>
          <p:spPr>
            <a:xfrm flipH="false" flipV="false" rot="0">
              <a:off x="0" y="0"/>
              <a:ext cx="914400" cy="914400"/>
            </a:xfrm>
            <a:custGeom>
              <a:avLst/>
              <a:gdLst/>
              <a:ahLst/>
              <a:cxnLst/>
              <a:rect r="r" b="b" t="t" l="l"/>
              <a:pathLst>
                <a:path h="914400" w="914400">
                  <a:moveTo>
                    <a:pt x="0" y="457200"/>
                  </a:moveTo>
                  <a:cubicBezTo>
                    <a:pt x="0" y="204724"/>
                    <a:pt x="204724" y="0"/>
                    <a:pt x="457200" y="0"/>
                  </a:cubicBezTo>
                  <a:cubicBezTo>
                    <a:pt x="709676" y="0"/>
                    <a:pt x="914400" y="204724"/>
                    <a:pt x="914400" y="457200"/>
                  </a:cubicBezTo>
                  <a:cubicBezTo>
                    <a:pt x="914400" y="709676"/>
                    <a:pt x="709676" y="914400"/>
                    <a:pt x="457200" y="914400"/>
                  </a:cubicBezTo>
                  <a:cubicBezTo>
                    <a:pt x="204724" y="914400"/>
                    <a:pt x="0" y="709676"/>
                    <a:pt x="0" y="457200"/>
                  </a:cubicBezTo>
                  <a:close/>
                </a:path>
              </a:pathLst>
            </a:custGeom>
            <a:solidFill>
              <a:srgbClr val="1E2761"/>
            </a:solidFill>
          </p:spPr>
        </p:sp>
      </p:grpSp>
      <p:grpSp>
        <p:nvGrpSpPr>
          <p:cNvPr name="Group 35" id="35"/>
          <p:cNvGrpSpPr/>
          <p:nvPr/>
        </p:nvGrpSpPr>
        <p:grpSpPr>
          <a:xfrm rot="0">
            <a:off x="1303020" y="6926580"/>
            <a:ext cx="685800" cy="685800"/>
            <a:chOff x="0" y="0"/>
            <a:chExt cx="914400" cy="914400"/>
          </a:xfrm>
        </p:grpSpPr>
        <p:sp>
          <p:nvSpPr>
            <p:cNvPr name="Freeform 36" id="36"/>
            <p:cNvSpPr/>
            <p:nvPr/>
          </p:nvSpPr>
          <p:spPr>
            <a:xfrm flipH="false" flipV="false" rot="0">
              <a:off x="0" y="0"/>
              <a:ext cx="914400" cy="914400"/>
            </a:xfrm>
            <a:custGeom>
              <a:avLst/>
              <a:gdLst/>
              <a:ahLst/>
              <a:cxnLst/>
              <a:rect r="r" b="b" t="t" l="l"/>
              <a:pathLst>
                <a:path h="914400" w="914400">
                  <a:moveTo>
                    <a:pt x="0" y="0"/>
                  </a:moveTo>
                  <a:lnTo>
                    <a:pt x="914400" y="0"/>
                  </a:lnTo>
                  <a:lnTo>
                    <a:pt x="914400" y="914400"/>
                  </a:lnTo>
                  <a:lnTo>
                    <a:pt x="0" y="914400"/>
                  </a:lnTo>
                  <a:close/>
                </a:path>
              </a:pathLst>
            </a:custGeom>
            <a:blipFill>
              <a:blip r:embed="rId4">
                <a:alphaModFix amt="0"/>
              </a:blip>
              <a:stretch>
                <a:fillRect l="-78303" t="0" r="-78303" b="0"/>
              </a:stretch>
            </a:blipFill>
          </p:spPr>
        </p:sp>
        <p:sp>
          <p:nvSpPr>
            <p:cNvPr name="TextBox 37" id="37"/>
            <p:cNvSpPr txBox="true"/>
            <p:nvPr/>
          </p:nvSpPr>
          <p:spPr>
            <a:xfrm>
              <a:off x="0" y="-19050"/>
              <a:ext cx="914400" cy="933450"/>
            </a:xfrm>
            <a:prstGeom prst="rect">
              <a:avLst/>
            </a:prstGeom>
          </p:spPr>
          <p:txBody>
            <a:bodyPr anchor="ctr" rtlCol="false" tIns="0" lIns="0" bIns="0" rIns="0"/>
            <a:lstStyle/>
            <a:p>
              <a:pPr algn="ctr">
                <a:lnSpc>
                  <a:spcPts val="3240"/>
                </a:lnSpc>
              </a:pPr>
              <a:r>
                <a:rPr lang="en-US" sz="2700" b="true">
                  <a:solidFill>
                    <a:srgbClr val="FFFFFF"/>
                  </a:solidFill>
                  <a:latin typeface="Cambria Bold"/>
                  <a:ea typeface="Cambria Bold"/>
                  <a:cs typeface="Cambria Bold"/>
                  <a:sym typeface="Cambria Bold"/>
                </a:rPr>
                <a:t>3</a:t>
              </a:r>
            </a:p>
          </p:txBody>
        </p:sp>
      </p:grpSp>
      <p:sp>
        <p:nvSpPr>
          <p:cNvPr name="TextBox 38" id="38"/>
          <p:cNvSpPr txBox="true"/>
          <p:nvPr/>
        </p:nvSpPr>
        <p:spPr>
          <a:xfrm rot="0">
            <a:off x="2354580" y="6835902"/>
            <a:ext cx="5783580" cy="2349246"/>
          </a:xfrm>
          <a:prstGeom prst="rect">
            <a:avLst/>
          </a:prstGeom>
        </p:spPr>
        <p:txBody>
          <a:bodyPr anchor="t" rtlCol="false" tIns="0" lIns="0" bIns="0" rIns="0">
            <a:spAutoFit/>
          </a:bodyPr>
          <a:lstStyle/>
          <a:p>
            <a:pPr algn="l">
              <a:lnSpc>
                <a:spcPts val="2808"/>
              </a:lnSpc>
            </a:pPr>
            <a:r>
              <a:rPr lang="en-US" sz="1950">
                <a:solidFill>
                  <a:srgbClr val="23262F"/>
                </a:solidFill>
                <a:latin typeface="Calibri (MS)"/>
                <a:ea typeface="Calibri (MS)"/>
                <a:cs typeface="Calibri (MS)"/>
                <a:sym typeface="Calibri (MS)"/>
              </a:rPr>
              <a:t>Working knowledge of incident response playbooks and hands-on experience in a simulated incident response exercise</a:t>
            </a:r>
          </a:p>
        </p:txBody>
      </p:sp>
      <p:grpSp>
        <p:nvGrpSpPr>
          <p:cNvPr name="Group 39" id="39"/>
          <p:cNvGrpSpPr/>
          <p:nvPr/>
        </p:nvGrpSpPr>
        <p:grpSpPr>
          <a:xfrm rot="0">
            <a:off x="9052560" y="6583680"/>
            <a:ext cx="7612380" cy="2948940"/>
            <a:chOff x="0" y="0"/>
            <a:chExt cx="10149840" cy="3931920"/>
          </a:xfrm>
        </p:grpSpPr>
        <p:sp>
          <p:nvSpPr>
            <p:cNvPr name="Freeform 40" id="40"/>
            <p:cNvSpPr/>
            <p:nvPr/>
          </p:nvSpPr>
          <p:spPr>
            <a:xfrm flipH="false" flipV="false" rot="0">
              <a:off x="0" y="0"/>
              <a:ext cx="10149840" cy="3931920"/>
            </a:xfrm>
            <a:custGeom>
              <a:avLst/>
              <a:gdLst/>
              <a:ahLst/>
              <a:cxnLst/>
              <a:rect r="r" b="b" t="t" l="l"/>
              <a:pathLst>
                <a:path h="3931920" w="10149840">
                  <a:moveTo>
                    <a:pt x="0" y="146304"/>
                  </a:moveTo>
                  <a:cubicBezTo>
                    <a:pt x="0" y="65532"/>
                    <a:pt x="65532" y="0"/>
                    <a:pt x="146304" y="0"/>
                  </a:cubicBezTo>
                  <a:lnTo>
                    <a:pt x="10003536" y="0"/>
                  </a:lnTo>
                  <a:cubicBezTo>
                    <a:pt x="10084308" y="0"/>
                    <a:pt x="10149840" y="65532"/>
                    <a:pt x="10149840" y="146304"/>
                  </a:cubicBezTo>
                  <a:lnTo>
                    <a:pt x="10149840" y="3785616"/>
                  </a:lnTo>
                  <a:cubicBezTo>
                    <a:pt x="10149840" y="3866388"/>
                    <a:pt x="10084308" y="3931920"/>
                    <a:pt x="10003536" y="3931920"/>
                  </a:cubicBezTo>
                  <a:lnTo>
                    <a:pt x="146304" y="3931920"/>
                  </a:lnTo>
                  <a:cubicBezTo>
                    <a:pt x="65532" y="3931920"/>
                    <a:pt x="0" y="3866388"/>
                    <a:pt x="0" y="3785616"/>
                  </a:cubicBezTo>
                  <a:close/>
                </a:path>
              </a:pathLst>
            </a:custGeom>
            <a:solidFill>
              <a:srgbClr val="F4F7FC"/>
            </a:solidFill>
          </p:spPr>
        </p:sp>
      </p:grpSp>
      <p:grpSp>
        <p:nvGrpSpPr>
          <p:cNvPr name="Group 41" id="41"/>
          <p:cNvGrpSpPr/>
          <p:nvPr/>
        </p:nvGrpSpPr>
        <p:grpSpPr>
          <a:xfrm rot="0">
            <a:off x="9395460" y="6926580"/>
            <a:ext cx="685800" cy="685800"/>
            <a:chOff x="0" y="0"/>
            <a:chExt cx="914400" cy="914400"/>
          </a:xfrm>
        </p:grpSpPr>
        <p:sp>
          <p:nvSpPr>
            <p:cNvPr name="Freeform 42" id="42"/>
            <p:cNvSpPr/>
            <p:nvPr/>
          </p:nvSpPr>
          <p:spPr>
            <a:xfrm flipH="false" flipV="false" rot="0">
              <a:off x="0" y="0"/>
              <a:ext cx="914400" cy="914400"/>
            </a:xfrm>
            <a:custGeom>
              <a:avLst/>
              <a:gdLst/>
              <a:ahLst/>
              <a:cxnLst/>
              <a:rect r="r" b="b" t="t" l="l"/>
              <a:pathLst>
                <a:path h="914400" w="914400">
                  <a:moveTo>
                    <a:pt x="0" y="457200"/>
                  </a:moveTo>
                  <a:cubicBezTo>
                    <a:pt x="0" y="204724"/>
                    <a:pt x="204724" y="0"/>
                    <a:pt x="457200" y="0"/>
                  </a:cubicBezTo>
                  <a:cubicBezTo>
                    <a:pt x="709676" y="0"/>
                    <a:pt x="914400" y="204724"/>
                    <a:pt x="914400" y="457200"/>
                  </a:cubicBezTo>
                  <a:cubicBezTo>
                    <a:pt x="914400" y="709676"/>
                    <a:pt x="709676" y="914400"/>
                    <a:pt x="457200" y="914400"/>
                  </a:cubicBezTo>
                  <a:cubicBezTo>
                    <a:pt x="204724" y="914400"/>
                    <a:pt x="0" y="709676"/>
                    <a:pt x="0" y="457200"/>
                  </a:cubicBezTo>
                  <a:close/>
                </a:path>
              </a:pathLst>
            </a:custGeom>
            <a:solidFill>
              <a:srgbClr val="1E2761"/>
            </a:solidFill>
          </p:spPr>
        </p:sp>
      </p:grpSp>
      <p:grpSp>
        <p:nvGrpSpPr>
          <p:cNvPr name="Group 43" id="43"/>
          <p:cNvGrpSpPr/>
          <p:nvPr/>
        </p:nvGrpSpPr>
        <p:grpSpPr>
          <a:xfrm rot="0">
            <a:off x="9395460" y="6926580"/>
            <a:ext cx="685800" cy="685800"/>
            <a:chOff x="0" y="0"/>
            <a:chExt cx="914400" cy="914400"/>
          </a:xfrm>
        </p:grpSpPr>
        <p:sp>
          <p:nvSpPr>
            <p:cNvPr name="Freeform 44" id="44"/>
            <p:cNvSpPr/>
            <p:nvPr/>
          </p:nvSpPr>
          <p:spPr>
            <a:xfrm flipH="false" flipV="false" rot="0">
              <a:off x="0" y="0"/>
              <a:ext cx="914400" cy="914400"/>
            </a:xfrm>
            <a:custGeom>
              <a:avLst/>
              <a:gdLst/>
              <a:ahLst/>
              <a:cxnLst/>
              <a:rect r="r" b="b" t="t" l="l"/>
              <a:pathLst>
                <a:path h="914400" w="914400">
                  <a:moveTo>
                    <a:pt x="0" y="0"/>
                  </a:moveTo>
                  <a:lnTo>
                    <a:pt x="914400" y="0"/>
                  </a:lnTo>
                  <a:lnTo>
                    <a:pt x="914400" y="914400"/>
                  </a:lnTo>
                  <a:lnTo>
                    <a:pt x="0" y="914400"/>
                  </a:lnTo>
                  <a:close/>
                </a:path>
              </a:pathLst>
            </a:custGeom>
            <a:blipFill>
              <a:blip r:embed="rId4">
                <a:alphaModFix amt="0"/>
              </a:blip>
              <a:stretch>
                <a:fillRect l="-78303" t="0" r="-78303" b="0"/>
              </a:stretch>
            </a:blipFill>
          </p:spPr>
        </p:sp>
        <p:sp>
          <p:nvSpPr>
            <p:cNvPr name="TextBox 45" id="45"/>
            <p:cNvSpPr txBox="true"/>
            <p:nvPr/>
          </p:nvSpPr>
          <p:spPr>
            <a:xfrm>
              <a:off x="0" y="-19050"/>
              <a:ext cx="914400" cy="933450"/>
            </a:xfrm>
            <a:prstGeom prst="rect">
              <a:avLst/>
            </a:prstGeom>
          </p:spPr>
          <p:txBody>
            <a:bodyPr anchor="ctr" rtlCol="false" tIns="0" lIns="0" bIns="0" rIns="0"/>
            <a:lstStyle/>
            <a:p>
              <a:pPr algn="ctr">
                <a:lnSpc>
                  <a:spcPts val="3240"/>
                </a:lnSpc>
              </a:pPr>
              <a:r>
                <a:rPr lang="en-US" sz="2700" b="true">
                  <a:solidFill>
                    <a:srgbClr val="FFFFFF"/>
                  </a:solidFill>
                  <a:latin typeface="Cambria Bold"/>
                  <a:ea typeface="Cambria Bold"/>
                  <a:cs typeface="Cambria Bold"/>
                  <a:sym typeface="Cambria Bold"/>
                </a:rPr>
                <a:t>4</a:t>
              </a:r>
            </a:p>
          </p:txBody>
        </p:sp>
      </p:grpSp>
      <p:sp>
        <p:nvSpPr>
          <p:cNvPr name="TextBox 46" id="46"/>
          <p:cNvSpPr txBox="true"/>
          <p:nvPr/>
        </p:nvSpPr>
        <p:spPr>
          <a:xfrm rot="0">
            <a:off x="10447020" y="6835902"/>
            <a:ext cx="5783580" cy="2349246"/>
          </a:xfrm>
          <a:prstGeom prst="rect">
            <a:avLst/>
          </a:prstGeom>
        </p:spPr>
        <p:txBody>
          <a:bodyPr anchor="t" rtlCol="false" tIns="0" lIns="0" bIns="0" rIns="0">
            <a:spAutoFit/>
          </a:bodyPr>
          <a:lstStyle/>
          <a:p>
            <a:pPr algn="l">
              <a:lnSpc>
                <a:spcPts val="2808"/>
              </a:lnSpc>
            </a:pPr>
            <a:r>
              <a:rPr lang="en-US" sz="1950">
                <a:solidFill>
                  <a:srgbClr val="23262F"/>
                </a:solidFill>
                <a:latin typeface="Calibri (MS)"/>
                <a:ea typeface="Calibri (MS)"/>
                <a:cs typeface="Calibri (MS)"/>
                <a:sym typeface="Calibri (MS)"/>
              </a:rPr>
              <a:t>Working understanding of the structure, function, and practical application of a Provincial Cybersecurity Maturity Framework and Provincial Cybersecurity Plan 2026–2028</a:t>
            </a:r>
          </a:p>
        </p:txBody>
      </p:sp>
      <p:grpSp>
        <p:nvGrpSpPr>
          <p:cNvPr name="Group 47" id="47"/>
          <p:cNvGrpSpPr/>
          <p:nvPr/>
        </p:nvGrpSpPr>
        <p:grpSpPr>
          <a:xfrm rot="0">
            <a:off x="685800" y="9710928"/>
            <a:ext cx="10972800" cy="411480"/>
            <a:chOff x="0" y="0"/>
            <a:chExt cx="14630400" cy="548640"/>
          </a:xfrm>
        </p:grpSpPr>
        <p:sp>
          <p:nvSpPr>
            <p:cNvPr name="Freeform 48" id="48"/>
            <p:cNvSpPr/>
            <p:nvPr/>
          </p:nvSpPr>
          <p:spPr>
            <a:xfrm flipH="false" flipV="false" rot="0">
              <a:off x="0" y="0"/>
              <a:ext cx="14630400" cy="548640"/>
            </a:xfrm>
            <a:custGeom>
              <a:avLst/>
              <a:gdLst/>
              <a:ahLst/>
              <a:cxnLst/>
              <a:rect r="r" b="b" t="t" l="l"/>
              <a:pathLst>
                <a:path h="548640" w="14630400">
                  <a:moveTo>
                    <a:pt x="0" y="0"/>
                  </a:moveTo>
                  <a:lnTo>
                    <a:pt x="14630400" y="0"/>
                  </a:lnTo>
                  <a:lnTo>
                    <a:pt x="14630400" y="548640"/>
                  </a:lnTo>
                  <a:lnTo>
                    <a:pt x="0" y="548640"/>
                  </a:lnTo>
                  <a:close/>
                </a:path>
              </a:pathLst>
            </a:custGeom>
            <a:blipFill>
              <a:blip r:embed="rId4">
                <a:alphaModFix amt="0"/>
              </a:blip>
              <a:stretch>
                <a:fillRect l="0" t="-469601" r="0" b="-469601"/>
              </a:stretch>
            </a:blipFill>
          </p:spPr>
        </p:sp>
        <p:sp>
          <p:nvSpPr>
            <p:cNvPr name="TextBox 49" id="49"/>
            <p:cNvSpPr txBox="true"/>
            <p:nvPr/>
          </p:nvSpPr>
          <p:spPr>
            <a:xfrm>
              <a:off x="0" y="-38100"/>
              <a:ext cx="14630400" cy="586740"/>
            </a:xfrm>
            <a:prstGeom prst="rect">
              <a:avLst/>
            </a:prstGeom>
          </p:spPr>
          <p:txBody>
            <a:bodyPr anchor="ctr" rtlCol="false" tIns="0" lIns="0" bIns="0" rIns="0"/>
            <a:lstStyle/>
            <a:p>
              <a:pPr algn="l">
                <a:lnSpc>
                  <a:spcPts val="1800"/>
                </a:lnSpc>
              </a:pPr>
              <a:r>
                <a:rPr lang="en-US" sz="1500">
                  <a:solidFill>
                    <a:srgbClr val="6B7280"/>
                  </a:solidFill>
                  <a:latin typeface="Calibri (MS)"/>
                  <a:ea typeface="Calibri (MS)"/>
                  <a:cs typeface="Calibri (MS)"/>
                  <a:sym typeface="Calibri (MS)"/>
                </a:rPr>
                <a:t>Davao del Norte Provincial Government — Cybersecurity Seminar</a:t>
              </a:r>
            </a:p>
          </p:txBody>
        </p:sp>
      </p:grpSp>
      <p:grpSp>
        <p:nvGrpSpPr>
          <p:cNvPr name="Group 50" id="50"/>
          <p:cNvGrpSpPr/>
          <p:nvPr/>
        </p:nvGrpSpPr>
        <p:grpSpPr>
          <a:xfrm rot="0">
            <a:off x="16911828" y="9710928"/>
            <a:ext cx="685800" cy="411480"/>
            <a:chOff x="0" y="0"/>
            <a:chExt cx="914400" cy="548640"/>
          </a:xfrm>
        </p:grpSpPr>
        <p:sp>
          <p:nvSpPr>
            <p:cNvPr name="Freeform 51" id="51"/>
            <p:cNvSpPr/>
            <p:nvPr/>
          </p:nvSpPr>
          <p:spPr>
            <a:xfrm flipH="false" flipV="false" rot="0">
              <a:off x="0" y="0"/>
              <a:ext cx="914400" cy="548640"/>
            </a:xfrm>
            <a:custGeom>
              <a:avLst/>
              <a:gdLst/>
              <a:ahLst/>
              <a:cxnLst/>
              <a:rect r="r" b="b" t="t" l="l"/>
              <a:pathLst>
                <a:path h="548640" w="914400">
                  <a:moveTo>
                    <a:pt x="0" y="0"/>
                  </a:moveTo>
                  <a:lnTo>
                    <a:pt x="914400" y="0"/>
                  </a:lnTo>
                  <a:lnTo>
                    <a:pt x="914400" y="548640"/>
                  </a:lnTo>
                  <a:lnTo>
                    <a:pt x="0" y="548640"/>
                  </a:lnTo>
                  <a:close/>
                </a:path>
              </a:pathLst>
            </a:custGeom>
            <a:blipFill>
              <a:blip r:embed="rId4">
                <a:alphaModFix amt="0"/>
              </a:blip>
              <a:stretch>
                <a:fillRect l="-26982" t="0" r="-26982" b="0"/>
              </a:stretch>
            </a:blipFill>
          </p:spPr>
        </p:sp>
        <p:sp>
          <p:nvSpPr>
            <p:cNvPr name="TextBox 52" id="52"/>
            <p:cNvSpPr txBox="true"/>
            <p:nvPr/>
          </p:nvSpPr>
          <p:spPr>
            <a:xfrm>
              <a:off x="0" y="-38100"/>
              <a:ext cx="914400" cy="586740"/>
            </a:xfrm>
            <a:prstGeom prst="rect">
              <a:avLst/>
            </a:prstGeom>
          </p:spPr>
          <p:txBody>
            <a:bodyPr anchor="ctr" rtlCol="false" tIns="0" lIns="0" bIns="0" rIns="0"/>
            <a:lstStyle/>
            <a:p>
              <a:pPr algn="r">
                <a:lnSpc>
                  <a:spcPts val="1800"/>
                </a:lnSpc>
              </a:pPr>
              <a:r>
                <a:rPr lang="en-US" sz="1500">
                  <a:solidFill>
                    <a:srgbClr val="6B7280"/>
                  </a:solidFill>
                  <a:latin typeface="Calibri (MS)"/>
                  <a:ea typeface="Calibri (MS)"/>
                  <a:cs typeface="Calibri (MS)"/>
                  <a:sym typeface="Calibri (MS)"/>
                </a:rPr>
                <a:t>5</a:t>
              </a:r>
            </a:p>
          </p:txBody>
        </p:sp>
      </p:gr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754380" y="685800"/>
            <a:ext cx="850392" cy="850392"/>
            <a:chOff x="0" y="0"/>
            <a:chExt cx="1133856" cy="1133856"/>
          </a:xfrm>
        </p:grpSpPr>
        <p:sp>
          <p:nvSpPr>
            <p:cNvPr name="Freeform 3" id="3"/>
            <p:cNvSpPr/>
            <p:nvPr/>
          </p:nvSpPr>
          <p:spPr>
            <a:xfrm flipH="false" flipV="false" rot="0">
              <a:off x="0" y="0"/>
              <a:ext cx="1133856" cy="1133856"/>
            </a:xfrm>
            <a:custGeom>
              <a:avLst/>
              <a:gdLst/>
              <a:ahLst/>
              <a:cxnLst/>
              <a:rect r="r" b="b" t="t" l="l"/>
              <a:pathLst>
                <a:path h="1133856" w="1133856">
                  <a:moveTo>
                    <a:pt x="0" y="566928"/>
                  </a:moveTo>
                  <a:cubicBezTo>
                    <a:pt x="0" y="253873"/>
                    <a:pt x="253873" y="0"/>
                    <a:pt x="566928" y="0"/>
                  </a:cubicBezTo>
                  <a:cubicBezTo>
                    <a:pt x="879983" y="0"/>
                    <a:pt x="1133856" y="253873"/>
                    <a:pt x="1133856" y="566928"/>
                  </a:cubicBezTo>
                  <a:cubicBezTo>
                    <a:pt x="1133856" y="879983"/>
                    <a:pt x="879983" y="1133856"/>
                    <a:pt x="566928" y="1133856"/>
                  </a:cubicBezTo>
                  <a:cubicBezTo>
                    <a:pt x="253873" y="1133856"/>
                    <a:pt x="0" y="879983"/>
                    <a:pt x="0" y="566928"/>
                  </a:cubicBezTo>
                  <a:close/>
                </a:path>
              </a:pathLst>
            </a:custGeom>
            <a:solidFill>
              <a:srgbClr val="1E2761"/>
            </a:solidFill>
          </p:spPr>
        </p:sp>
      </p:grpSp>
      <p:grpSp>
        <p:nvGrpSpPr>
          <p:cNvPr name="Group 4" id="4"/>
          <p:cNvGrpSpPr/>
          <p:nvPr/>
        </p:nvGrpSpPr>
        <p:grpSpPr>
          <a:xfrm rot="0">
            <a:off x="932688" y="864108"/>
            <a:ext cx="493776" cy="493776"/>
            <a:chOff x="0" y="0"/>
            <a:chExt cx="658368" cy="658368"/>
          </a:xfrm>
        </p:grpSpPr>
        <p:sp>
          <p:nvSpPr>
            <p:cNvPr name="Freeform 5" id="5" descr="sun.png"/>
            <p:cNvSpPr/>
            <p:nvPr/>
          </p:nvSpPr>
          <p:spPr>
            <a:xfrm flipH="false" flipV="false" rot="0">
              <a:off x="0" y="0"/>
              <a:ext cx="658368" cy="658368"/>
            </a:xfrm>
            <a:custGeom>
              <a:avLst/>
              <a:gdLst/>
              <a:ahLst/>
              <a:cxnLst/>
              <a:rect r="r" b="b" t="t" l="l"/>
              <a:pathLst>
                <a:path h="658368" w="658368">
                  <a:moveTo>
                    <a:pt x="0" y="0"/>
                  </a:moveTo>
                  <a:lnTo>
                    <a:pt x="658368" y="0"/>
                  </a:lnTo>
                  <a:lnTo>
                    <a:pt x="658368" y="658368"/>
                  </a:lnTo>
                  <a:lnTo>
                    <a:pt x="0" y="658368"/>
                  </a:lnTo>
                  <a:lnTo>
                    <a:pt x="0" y="0"/>
                  </a:lnTo>
                  <a:close/>
                </a:path>
              </a:pathLst>
            </a:custGeom>
            <a:blipFill>
              <a:blip r:embed="rId3"/>
              <a:stretch>
                <a:fillRect l="0" t="0" r="0" b="0"/>
              </a:stretch>
            </a:blipFill>
          </p:spPr>
        </p:sp>
      </p:grpSp>
      <p:grpSp>
        <p:nvGrpSpPr>
          <p:cNvPr name="Group 6" id="6"/>
          <p:cNvGrpSpPr/>
          <p:nvPr/>
        </p:nvGrpSpPr>
        <p:grpSpPr>
          <a:xfrm rot="0">
            <a:off x="1851660" y="603504"/>
            <a:ext cx="13716000" cy="466344"/>
            <a:chOff x="0" y="0"/>
            <a:chExt cx="18288000" cy="621792"/>
          </a:xfrm>
        </p:grpSpPr>
        <p:sp>
          <p:nvSpPr>
            <p:cNvPr name="Freeform 7" id="7"/>
            <p:cNvSpPr/>
            <p:nvPr/>
          </p:nvSpPr>
          <p:spPr>
            <a:xfrm flipH="false" flipV="false" rot="0">
              <a:off x="0" y="0"/>
              <a:ext cx="18288000" cy="621792"/>
            </a:xfrm>
            <a:custGeom>
              <a:avLst/>
              <a:gdLst/>
              <a:ahLst/>
              <a:cxnLst/>
              <a:rect r="r" b="b" t="t" l="l"/>
              <a:pathLst>
                <a:path h="621792" w="18288000">
                  <a:moveTo>
                    <a:pt x="0" y="0"/>
                  </a:moveTo>
                  <a:lnTo>
                    <a:pt x="18288000" y="0"/>
                  </a:lnTo>
                  <a:lnTo>
                    <a:pt x="18288000" y="621792"/>
                  </a:lnTo>
                  <a:lnTo>
                    <a:pt x="0" y="621792"/>
                  </a:lnTo>
                  <a:close/>
                </a:path>
              </a:pathLst>
            </a:custGeom>
            <a:blipFill>
              <a:blip r:embed="rId4">
                <a:alphaModFix amt="0"/>
              </a:blip>
              <a:stretch>
                <a:fillRect l="0" t="-523089" r="0" b="-523089"/>
              </a:stretch>
            </a:blipFill>
          </p:spPr>
        </p:sp>
        <p:sp>
          <p:nvSpPr>
            <p:cNvPr name="TextBox 8" id="8"/>
            <p:cNvSpPr txBox="true"/>
            <p:nvPr/>
          </p:nvSpPr>
          <p:spPr>
            <a:xfrm>
              <a:off x="0" y="-47625"/>
              <a:ext cx="18288000" cy="669417"/>
            </a:xfrm>
            <a:prstGeom prst="rect">
              <a:avLst/>
            </a:prstGeom>
          </p:spPr>
          <p:txBody>
            <a:bodyPr anchor="ctr" rtlCol="false" tIns="0" lIns="0" bIns="0" rIns="0"/>
            <a:lstStyle/>
            <a:p>
              <a:pPr algn="l">
                <a:lnSpc>
                  <a:spcPts val="2340"/>
                </a:lnSpc>
              </a:pPr>
              <a:r>
                <a:rPr lang="en-US" b="true" sz="1950" spc="150">
                  <a:solidFill>
                    <a:srgbClr val="00B4D8"/>
                  </a:solidFill>
                  <a:latin typeface="Calibri (MS) Bold"/>
                  <a:ea typeface="Calibri (MS) Bold"/>
                  <a:cs typeface="Calibri (MS) Bold"/>
                  <a:sym typeface="Calibri (MS) Bold"/>
                </a:rPr>
                <a:t>DAY 1 · MORNING SESSION</a:t>
              </a:r>
            </a:p>
          </p:txBody>
        </p:sp>
      </p:grpSp>
      <p:grpSp>
        <p:nvGrpSpPr>
          <p:cNvPr name="Group 9" id="9"/>
          <p:cNvGrpSpPr/>
          <p:nvPr/>
        </p:nvGrpSpPr>
        <p:grpSpPr>
          <a:xfrm rot="0">
            <a:off x="1824228" y="987552"/>
            <a:ext cx="15361920" cy="850392"/>
            <a:chOff x="0" y="0"/>
            <a:chExt cx="20482560" cy="1133856"/>
          </a:xfrm>
        </p:grpSpPr>
        <p:sp>
          <p:nvSpPr>
            <p:cNvPr name="Freeform 10" id="10"/>
            <p:cNvSpPr/>
            <p:nvPr/>
          </p:nvSpPr>
          <p:spPr>
            <a:xfrm flipH="false" flipV="false" rot="0">
              <a:off x="0" y="0"/>
              <a:ext cx="20482561" cy="1133856"/>
            </a:xfrm>
            <a:custGeom>
              <a:avLst/>
              <a:gdLst/>
              <a:ahLst/>
              <a:cxnLst/>
              <a:rect r="r" b="b" t="t" l="l"/>
              <a:pathLst>
                <a:path h="1133856" w="20482561">
                  <a:moveTo>
                    <a:pt x="0" y="0"/>
                  </a:moveTo>
                  <a:lnTo>
                    <a:pt x="20482561" y="0"/>
                  </a:lnTo>
                  <a:lnTo>
                    <a:pt x="20482561" y="1133856"/>
                  </a:lnTo>
                  <a:lnTo>
                    <a:pt x="0" y="1133856"/>
                  </a:lnTo>
                  <a:close/>
                </a:path>
              </a:pathLst>
            </a:custGeom>
            <a:blipFill>
              <a:blip r:embed="rId4">
                <a:alphaModFix amt="0"/>
              </a:blip>
              <a:stretch>
                <a:fillRect l="0" t="-301987" r="0" b="-301987"/>
              </a:stretch>
            </a:blipFill>
          </p:spPr>
        </p:sp>
        <p:sp>
          <p:nvSpPr>
            <p:cNvPr name="TextBox 11" id="11"/>
            <p:cNvSpPr txBox="true"/>
            <p:nvPr/>
          </p:nvSpPr>
          <p:spPr>
            <a:xfrm>
              <a:off x="0" y="-9525"/>
              <a:ext cx="20482560" cy="1143381"/>
            </a:xfrm>
            <a:prstGeom prst="rect">
              <a:avLst/>
            </a:prstGeom>
          </p:spPr>
          <p:txBody>
            <a:bodyPr anchor="ctr" rtlCol="false" tIns="0" lIns="0" bIns="0" rIns="0"/>
            <a:lstStyle/>
            <a:p>
              <a:pPr algn="l">
                <a:lnSpc>
                  <a:spcPts val="5040"/>
                </a:lnSpc>
              </a:pPr>
              <a:r>
                <a:rPr lang="en-US" sz="4200" b="true">
                  <a:solidFill>
                    <a:srgbClr val="1E2761"/>
                  </a:solidFill>
                  <a:latin typeface="Cambria Bold"/>
                  <a:ea typeface="Cambria Bold"/>
                  <a:cs typeface="Cambria Bold"/>
                  <a:sym typeface="Cambria Bold"/>
                </a:rPr>
                <a:t>Foundations of Cybersecurity Risk Management</a:t>
              </a:r>
            </a:p>
          </p:txBody>
        </p:sp>
      </p:grpSp>
      <p:grpSp>
        <p:nvGrpSpPr>
          <p:cNvPr name="Group 12" id="12"/>
          <p:cNvGrpSpPr/>
          <p:nvPr/>
        </p:nvGrpSpPr>
        <p:grpSpPr>
          <a:xfrm rot="0">
            <a:off x="960120" y="2263140"/>
            <a:ext cx="7612380" cy="6789420"/>
            <a:chOff x="0" y="0"/>
            <a:chExt cx="10149840" cy="9052560"/>
          </a:xfrm>
        </p:grpSpPr>
        <p:sp>
          <p:nvSpPr>
            <p:cNvPr name="Freeform 13" id="13"/>
            <p:cNvSpPr/>
            <p:nvPr/>
          </p:nvSpPr>
          <p:spPr>
            <a:xfrm flipH="false" flipV="false" rot="0">
              <a:off x="0" y="0"/>
              <a:ext cx="10149840" cy="9052561"/>
            </a:xfrm>
            <a:custGeom>
              <a:avLst/>
              <a:gdLst/>
              <a:ahLst/>
              <a:cxnLst/>
              <a:rect r="r" b="b" t="t" l="l"/>
              <a:pathLst>
                <a:path h="9052561" w="10149840">
                  <a:moveTo>
                    <a:pt x="0" y="146304"/>
                  </a:moveTo>
                  <a:cubicBezTo>
                    <a:pt x="0" y="65532"/>
                    <a:pt x="65532" y="0"/>
                    <a:pt x="146304" y="0"/>
                  </a:cubicBezTo>
                  <a:lnTo>
                    <a:pt x="10003536" y="0"/>
                  </a:lnTo>
                  <a:cubicBezTo>
                    <a:pt x="10084308" y="0"/>
                    <a:pt x="10149840" y="65532"/>
                    <a:pt x="10149840" y="146304"/>
                  </a:cubicBezTo>
                  <a:lnTo>
                    <a:pt x="10149840" y="8906256"/>
                  </a:lnTo>
                  <a:cubicBezTo>
                    <a:pt x="10149840" y="8987028"/>
                    <a:pt x="10084308" y="9052561"/>
                    <a:pt x="10003536" y="9052561"/>
                  </a:cubicBezTo>
                  <a:lnTo>
                    <a:pt x="146304" y="9052561"/>
                  </a:lnTo>
                  <a:cubicBezTo>
                    <a:pt x="65532" y="9052560"/>
                    <a:pt x="0" y="8987028"/>
                    <a:pt x="0" y="8906256"/>
                  </a:cubicBezTo>
                  <a:close/>
                </a:path>
              </a:pathLst>
            </a:custGeom>
            <a:solidFill>
              <a:srgbClr val="F4F7FC"/>
            </a:solidFill>
          </p:spPr>
        </p:sp>
      </p:grpSp>
      <p:grpSp>
        <p:nvGrpSpPr>
          <p:cNvPr name="Group 14" id="14"/>
          <p:cNvGrpSpPr/>
          <p:nvPr/>
        </p:nvGrpSpPr>
        <p:grpSpPr>
          <a:xfrm rot="0">
            <a:off x="5486400" y="5966460"/>
            <a:ext cx="2880360" cy="2880360"/>
            <a:chOff x="0" y="0"/>
            <a:chExt cx="3840480" cy="3840480"/>
          </a:xfrm>
        </p:grpSpPr>
        <p:sp>
          <p:nvSpPr>
            <p:cNvPr name="Freeform 15" id="15" descr="sun_navy.png"/>
            <p:cNvSpPr/>
            <p:nvPr/>
          </p:nvSpPr>
          <p:spPr>
            <a:xfrm flipH="false" flipV="false" rot="0">
              <a:off x="0" y="0"/>
              <a:ext cx="3840480" cy="3840480"/>
            </a:xfrm>
            <a:custGeom>
              <a:avLst/>
              <a:gdLst/>
              <a:ahLst/>
              <a:cxnLst/>
              <a:rect r="r" b="b" t="t" l="l"/>
              <a:pathLst>
                <a:path h="3840480" w="3840480">
                  <a:moveTo>
                    <a:pt x="0" y="0"/>
                  </a:moveTo>
                  <a:lnTo>
                    <a:pt x="3840480" y="0"/>
                  </a:lnTo>
                  <a:lnTo>
                    <a:pt x="3840480" y="3840480"/>
                  </a:lnTo>
                  <a:lnTo>
                    <a:pt x="0" y="3840480"/>
                  </a:lnTo>
                  <a:lnTo>
                    <a:pt x="0" y="0"/>
                  </a:lnTo>
                  <a:close/>
                </a:path>
              </a:pathLst>
            </a:custGeom>
            <a:blipFill>
              <a:blip r:embed="rId5">
                <a:alphaModFix amt="9999"/>
              </a:blip>
              <a:stretch>
                <a:fillRect l="0" t="0" r="0" b="0"/>
              </a:stretch>
            </a:blipFill>
          </p:spPr>
        </p:sp>
      </p:grpSp>
      <p:grpSp>
        <p:nvGrpSpPr>
          <p:cNvPr name="Group 16" id="16"/>
          <p:cNvGrpSpPr/>
          <p:nvPr/>
        </p:nvGrpSpPr>
        <p:grpSpPr>
          <a:xfrm rot="0">
            <a:off x="1399032" y="2702052"/>
            <a:ext cx="6734556" cy="5911596"/>
            <a:chOff x="0" y="0"/>
            <a:chExt cx="8979408" cy="7882128"/>
          </a:xfrm>
        </p:grpSpPr>
        <p:sp>
          <p:nvSpPr>
            <p:cNvPr name="Freeform 17" id="17"/>
            <p:cNvSpPr/>
            <p:nvPr/>
          </p:nvSpPr>
          <p:spPr>
            <a:xfrm flipH="false" flipV="false" rot="0">
              <a:off x="0" y="0"/>
              <a:ext cx="8979408" cy="7882128"/>
            </a:xfrm>
            <a:custGeom>
              <a:avLst/>
              <a:gdLst/>
              <a:ahLst/>
              <a:cxnLst/>
              <a:rect r="r" b="b" t="t" l="l"/>
              <a:pathLst>
                <a:path h="7882128" w="8979408">
                  <a:moveTo>
                    <a:pt x="0" y="0"/>
                  </a:moveTo>
                  <a:lnTo>
                    <a:pt x="8979408" y="0"/>
                  </a:lnTo>
                  <a:lnTo>
                    <a:pt x="8979408" y="7882128"/>
                  </a:lnTo>
                  <a:lnTo>
                    <a:pt x="0" y="7882128"/>
                  </a:lnTo>
                  <a:close/>
                </a:path>
              </a:pathLst>
            </a:custGeom>
            <a:blipFill>
              <a:blip r:embed="rId4">
                <a:alphaModFix amt="0"/>
              </a:blip>
              <a:stretch>
                <a:fillRect l="-62624" t="0" r="-62624" b="0"/>
              </a:stretch>
            </a:blipFill>
          </p:spPr>
        </p:sp>
        <p:sp>
          <p:nvSpPr>
            <p:cNvPr name="TextBox 18" id="18"/>
            <p:cNvSpPr txBox="true"/>
            <p:nvPr/>
          </p:nvSpPr>
          <p:spPr>
            <a:xfrm>
              <a:off x="0" y="-47625"/>
              <a:ext cx="8979408" cy="7929753"/>
            </a:xfrm>
            <a:prstGeom prst="rect">
              <a:avLst/>
            </a:prstGeom>
          </p:spPr>
          <p:txBody>
            <a:bodyPr anchor="ctr" rtlCol="false" tIns="0" lIns="0" bIns="0" rIns="0"/>
            <a:lstStyle/>
            <a:p>
              <a:pPr algn="l" marL="393621" indent="-196810" lvl="1">
                <a:lnSpc>
                  <a:spcPts val="2610"/>
                </a:lnSpc>
                <a:buFont typeface="Arial"/>
                <a:buChar char="•"/>
              </a:pPr>
              <a:r>
                <a:rPr lang="en-US" sz="2175">
                  <a:solidFill>
                    <a:srgbClr val="23262F"/>
                  </a:solidFill>
                  <a:latin typeface="Calibri (MS)"/>
                  <a:ea typeface="Calibri (MS)"/>
                  <a:cs typeface="Calibri (MS)"/>
                  <a:sym typeface="Calibri (MS)"/>
                </a:rPr>
                <a:t>Applying risk management within a Provincial Government environment</a:t>
              </a:r>
            </a:p>
            <a:p>
              <a:pPr algn="l" marL="393621" indent="-196810" lvl="1">
                <a:lnSpc>
                  <a:spcPts val="2610"/>
                </a:lnSpc>
                <a:buFont typeface="Arial"/>
                <a:buChar char="•"/>
              </a:pPr>
              <a:r>
                <a:rPr lang="en-US" sz="2175">
                  <a:solidFill>
                    <a:srgbClr val="23262F"/>
                  </a:solidFill>
                  <a:latin typeface="Calibri (MS)"/>
                  <a:ea typeface="Calibri (MS)"/>
                  <a:cs typeface="Calibri (MS)"/>
                  <a:sym typeface="Calibri (MS)"/>
                </a:rPr>
                <a:t>CIA Triad — Confidentiality, Integrity, and Availability — and its link to LGU information assets and public services</a:t>
              </a:r>
            </a:p>
            <a:p>
              <a:pPr algn="l" marL="393621" indent="-196810" lvl="1">
                <a:lnSpc>
                  <a:spcPts val="2610"/>
                </a:lnSpc>
                <a:buFont typeface="Arial"/>
                <a:buChar char="•"/>
              </a:pPr>
              <a:r>
                <a:rPr lang="en-US" sz="2175">
                  <a:solidFill>
                    <a:srgbClr val="23262F"/>
                  </a:solidFill>
                  <a:latin typeface="Calibri (MS)"/>
                  <a:ea typeface="Calibri (MS)"/>
                  <a:cs typeface="Calibri (MS)"/>
                  <a:sym typeface="Calibri (MS)"/>
                </a:rPr>
                <a:t>Overview of the NIST Cybersecurity Framework adapted for LGU operations</a:t>
              </a:r>
            </a:p>
          </p:txBody>
        </p:sp>
      </p:grpSp>
      <p:grpSp>
        <p:nvGrpSpPr>
          <p:cNvPr name="Group 19" id="19"/>
          <p:cNvGrpSpPr/>
          <p:nvPr/>
        </p:nvGrpSpPr>
        <p:grpSpPr>
          <a:xfrm rot="0">
            <a:off x="9052560" y="2263140"/>
            <a:ext cx="7612380" cy="6789420"/>
            <a:chOff x="0" y="0"/>
            <a:chExt cx="10149840" cy="9052560"/>
          </a:xfrm>
        </p:grpSpPr>
        <p:sp>
          <p:nvSpPr>
            <p:cNvPr name="Freeform 20" id="20"/>
            <p:cNvSpPr/>
            <p:nvPr/>
          </p:nvSpPr>
          <p:spPr>
            <a:xfrm flipH="false" flipV="false" rot="0">
              <a:off x="0" y="0"/>
              <a:ext cx="10149840" cy="9052561"/>
            </a:xfrm>
            <a:custGeom>
              <a:avLst/>
              <a:gdLst/>
              <a:ahLst/>
              <a:cxnLst/>
              <a:rect r="r" b="b" t="t" l="l"/>
              <a:pathLst>
                <a:path h="9052561" w="10149840">
                  <a:moveTo>
                    <a:pt x="0" y="146304"/>
                  </a:moveTo>
                  <a:cubicBezTo>
                    <a:pt x="0" y="65532"/>
                    <a:pt x="65532" y="0"/>
                    <a:pt x="146304" y="0"/>
                  </a:cubicBezTo>
                  <a:lnTo>
                    <a:pt x="10003536" y="0"/>
                  </a:lnTo>
                  <a:cubicBezTo>
                    <a:pt x="10084308" y="0"/>
                    <a:pt x="10149840" y="65532"/>
                    <a:pt x="10149840" y="146304"/>
                  </a:cubicBezTo>
                  <a:lnTo>
                    <a:pt x="10149840" y="8906256"/>
                  </a:lnTo>
                  <a:cubicBezTo>
                    <a:pt x="10149840" y="8987028"/>
                    <a:pt x="10084308" y="9052561"/>
                    <a:pt x="10003536" y="9052561"/>
                  </a:cubicBezTo>
                  <a:lnTo>
                    <a:pt x="146304" y="9052561"/>
                  </a:lnTo>
                  <a:cubicBezTo>
                    <a:pt x="65532" y="9052560"/>
                    <a:pt x="0" y="8987028"/>
                    <a:pt x="0" y="8906256"/>
                  </a:cubicBezTo>
                  <a:close/>
                </a:path>
              </a:pathLst>
            </a:custGeom>
            <a:solidFill>
              <a:srgbClr val="F4F7FC"/>
            </a:solidFill>
          </p:spPr>
        </p:sp>
      </p:grpSp>
      <p:grpSp>
        <p:nvGrpSpPr>
          <p:cNvPr name="Group 21" id="21"/>
          <p:cNvGrpSpPr/>
          <p:nvPr/>
        </p:nvGrpSpPr>
        <p:grpSpPr>
          <a:xfrm rot="0">
            <a:off x="13578840" y="5966460"/>
            <a:ext cx="2880360" cy="2880360"/>
            <a:chOff x="0" y="0"/>
            <a:chExt cx="3840480" cy="3840480"/>
          </a:xfrm>
        </p:grpSpPr>
        <p:sp>
          <p:nvSpPr>
            <p:cNvPr name="Freeform 22" id="22" descr="sun_navy.png"/>
            <p:cNvSpPr/>
            <p:nvPr/>
          </p:nvSpPr>
          <p:spPr>
            <a:xfrm flipH="false" flipV="false" rot="0">
              <a:off x="0" y="0"/>
              <a:ext cx="3840480" cy="3840480"/>
            </a:xfrm>
            <a:custGeom>
              <a:avLst/>
              <a:gdLst/>
              <a:ahLst/>
              <a:cxnLst/>
              <a:rect r="r" b="b" t="t" l="l"/>
              <a:pathLst>
                <a:path h="3840480" w="3840480">
                  <a:moveTo>
                    <a:pt x="0" y="0"/>
                  </a:moveTo>
                  <a:lnTo>
                    <a:pt x="3840480" y="0"/>
                  </a:lnTo>
                  <a:lnTo>
                    <a:pt x="3840480" y="3840480"/>
                  </a:lnTo>
                  <a:lnTo>
                    <a:pt x="0" y="3840480"/>
                  </a:lnTo>
                  <a:lnTo>
                    <a:pt x="0" y="0"/>
                  </a:lnTo>
                  <a:close/>
                </a:path>
              </a:pathLst>
            </a:custGeom>
            <a:blipFill>
              <a:blip r:embed="rId5">
                <a:alphaModFix amt="9999"/>
              </a:blip>
              <a:stretch>
                <a:fillRect l="0" t="0" r="0" b="0"/>
              </a:stretch>
            </a:blipFill>
          </p:spPr>
        </p:sp>
      </p:grpSp>
      <p:grpSp>
        <p:nvGrpSpPr>
          <p:cNvPr name="Group 23" id="23"/>
          <p:cNvGrpSpPr/>
          <p:nvPr/>
        </p:nvGrpSpPr>
        <p:grpSpPr>
          <a:xfrm rot="0">
            <a:off x="9505188" y="2702052"/>
            <a:ext cx="6734556" cy="5911596"/>
            <a:chOff x="0" y="0"/>
            <a:chExt cx="8979408" cy="7882128"/>
          </a:xfrm>
        </p:grpSpPr>
        <p:sp>
          <p:nvSpPr>
            <p:cNvPr name="Freeform 24" id="24"/>
            <p:cNvSpPr/>
            <p:nvPr/>
          </p:nvSpPr>
          <p:spPr>
            <a:xfrm flipH="false" flipV="false" rot="0">
              <a:off x="0" y="0"/>
              <a:ext cx="8979408" cy="7882128"/>
            </a:xfrm>
            <a:custGeom>
              <a:avLst/>
              <a:gdLst/>
              <a:ahLst/>
              <a:cxnLst/>
              <a:rect r="r" b="b" t="t" l="l"/>
              <a:pathLst>
                <a:path h="7882128" w="8979408">
                  <a:moveTo>
                    <a:pt x="0" y="0"/>
                  </a:moveTo>
                  <a:lnTo>
                    <a:pt x="8979408" y="0"/>
                  </a:lnTo>
                  <a:lnTo>
                    <a:pt x="8979408" y="7882128"/>
                  </a:lnTo>
                  <a:lnTo>
                    <a:pt x="0" y="7882128"/>
                  </a:lnTo>
                  <a:close/>
                </a:path>
              </a:pathLst>
            </a:custGeom>
            <a:blipFill>
              <a:blip r:embed="rId4">
                <a:alphaModFix amt="0"/>
              </a:blip>
              <a:stretch>
                <a:fillRect l="-62624" t="0" r="-62624" b="0"/>
              </a:stretch>
            </a:blipFill>
          </p:spPr>
        </p:sp>
        <p:sp>
          <p:nvSpPr>
            <p:cNvPr name="TextBox 25" id="25"/>
            <p:cNvSpPr txBox="true"/>
            <p:nvPr/>
          </p:nvSpPr>
          <p:spPr>
            <a:xfrm>
              <a:off x="0" y="-47625"/>
              <a:ext cx="8979408" cy="7929753"/>
            </a:xfrm>
            <a:prstGeom prst="rect">
              <a:avLst/>
            </a:prstGeom>
          </p:spPr>
          <p:txBody>
            <a:bodyPr anchor="ctr" rtlCol="false" tIns="0" lIns="0" bIns="0" rIns="0"/>
            <a:lstStyle/>
            <a:p>
              <a:pPr algn="l" marL="393621" indent="-196810" lvl="1">
                <a:lnSpc>
                  <a:spcPts val="2610"/>
                </a:lnSpc>
                <a:buFont typeface="Arial"/>
                <a:buChar char="•"/>
              </a:pPr>
              <a:r>
                <a:rPr lang="en-US" sz="2175">
                  <a:solidFill>
                    <a:srgbClr val="23262F"/>
                  </a:solidFill>
                  <a:latin typeface="Calibri (MS)"/>
                  <a:ea typeface="Calibri (MS)"/>
                  <a:cs typeface="Calibri (MS)"/>
                  <a:sym typeface="Calibri (MS)"/>
                </a:rPr>
                <a:t>Governance structures and internal security responsibilities</a:t>
              </a:r>
            </a:p>
            <a:p>
              <a:pPr algn="l" marL="393621" indent="-196810" lvl="1">
                <a:lnSpc>
                  <a:spcPts val="2610"/>
                </a:lnSpc>
                <a:buFont typeface="Arial"/>
                <a:buChar char="•"/>
              </a:pPr>
              <a:r>
                <a:rPr lang="en-US" sz="2175">
                  <a:solidFill>
                    <a:srgbClr val="23262F"/>
                  </a:solidFill>
                  <a:latin typeface="Calibri (MS)"/>
                  <a:ea typeface="Calibri (MS)"/>
                  <a:cs typeface="Calibri (MS)"/>
                  <a:sym typeface="Calibri (MS)"/>
                </a:rPr>
                <a:t>Philippine cybersecurity regulatory landscape and compliance considerations for local government units</a:t>
              </a:r>
            </a:p>
            <a:p>
              <a:pPr algn="l" marL="393621" indent="-196810" lvl="1">
                <a:lnSpc>
                  <a:spcPts val="2610"/>
                </a:lnSpc>
                <a:buFont typeface="Arial"/>
                <a:buChar char="•"/>
              </a:pPr>
              <a:r>
                <a:rPr lang="en-US" sz="2175">
                  <a:solidFill>
                    <a:srgbClr val="23262F"/>
                  </a:solidFill>
                  <a:latin typeface="Calibri (MS)"/>
                  <a:ea typeface="Calibri (MS)"/>
                  <a:cs typeface="Calibri (MS)"/>
                  <a:sym typeface="Calibri (MS)"/>
                </a:rPr>
                <a:t>Responsible disclosure principles and government considerations for reporting and remediation</a:t>
              </a:r>
            </a:p>
          </p:txBody>
        </p:sp>
      </p:grpSp>
      <p:grpSp>
        <p:nvGrpSpPr>
          <p:cNvPr name="Group 26" id="26"/>
          <p:cNvGrpSpPr/>
          <p:nvPr/>
        </p:nvGrpSpPr>
        <p:grpSpPr>
          <a:xfrm rot="0">
            <a:off x="685800" y="9710928"/>
            <a:ext cx="10972800" cy="411480"/>
            <a:chOff x="0" y="0"/>
            <a:chExt cx="14630400" cy="548640"/>
          </a:xfrm>
        </p:grpSpPr>
        <p:sp>
          <p:nvSpPr>
            <p:cNvPr name="Freeform 27" id="27"/>
            <p:cNvSpPr/>
            <p:nvPr/>
          </p:nvSpPr>
          <p:spPr>
            <a:xfrm flipH="false" flipV="false" rot="0">
              <a:off x="0" y="0"/>
              <a:ext cx="14630400" cy="548640"/>
            </a:xfrm>
            <a:custGeom>
              <a:avLst/>
              <a:gdLst/>
              <a:ahLst/>
              <a:cxnLst/>
              <a:rect r="r" b="b" t="t" l="l"/>
              <a:pathLst>
                <a:path h="548640" w="14630400">
                  <a:moveTo>
                    <a:pt x="0" y="0"/>
                  </a:moveTo>
                  <a:lnTo>
                    <a:pt x="14630400" y="0"/>
                  </a:lnTo>
                  <a:lnTo>
                    <a:pt x="14630400" y="548640"/>
                  </a:lnTo>
                  <a:lnTo>
                    <a:pt x="0" y="548640"/>
                  </a:lnTo>
                  <a:close/>
                </a:path>
              </a:pathLst>
            </a:custGeom>
            <a:blipFill>
              <a:blip r:embed="rId4">
                <a:alphaModFix amt="0"/>
              </a:blip>
              <a:stretch>
                <a:fillRect l="0" t="-469601" r="0" b="-469601"/>
              </a:stretch>
            </a:blipFill>
          </p:spPr>
        </p:sp>
        <p:sp>
          <p:nvSpPr>
            <p:cNvPr name="TextBox 28" id="28"/>
            <p:cNvSpPr txBox="true"/>
            <p:nvPr/>
          </p:nvSpPr>
          <p:spPr>
            <a:xfrm>
              <a:off x="0" y="-38100"/>
              <a:ext cx="14630400" cy="586740"/>
            </a:xfrm>
            <a:prstGeom prst="rect">
              <a:avLst/>
            </a:prstGeom>
          </p:spPr>
          <p:txBody>
            <a:bodyPr anchor="ctr" rtlCol="false" tIns="0" lIns="0" bIns="0" rIns="0"/>
            <a:lstStyle/>
            <a:p>
              <a:pPr algn="l">
                <a:lnSpc>
                  <a:spcPts val="1800"/>
                </a:lnSpc>
              </a:pPr>
              <a:r>
                <a:rPr lang="en-US" sz="1500">
                  <a:solidFill>
                    <a:srgbClr val="6B7280"/>
                  </a:solidFill>
                  <a:latin typeface="Calibri (MS)"/>
                  <a:ea typeface="Calibri (MS)"/>
                  <a:cs typeface="Calibri (MS)"/>
                  <a:sym typeface="Calibri (MS)"/>
                </a:rPr>
                <a:t>Davao del Norte Provincial Government — Cybersecurity Seminar</a:t>
              </a:r>
            </a:p>
          </p:txBody>
        </p:sp>
      </p:grpSp>
      <p:grpSp>
        <p:nvGrpSpPr>
          <p:cNvPr name="Group 29" id="29"/>
          <p:cNvGrpSpPr/>
          <p:nvPr/>
        </p:nvGrpSpPr>
        <p:grpSpPr>
          <a:xfrm rot="0">
            <a:off x="16911828" y="9710928"/>
            <a:ext cx="685800" cy="411480"/>
            <a:chOff x="0" y="0"/>
            <a:chExt cx="914400" cy="548640"/>
          </a:xfrm>
        </p:grpSpPr>
        <p:sp>
          <p:nvSpPr>
            <p:cNvPr name="Freeform 30" id="30"/>
            <p:cNvSpPr/>
            <p:nvPr/>
          </p:nvSpPr>
          <p:spPr>
            <a:xfrm flipH="false" flipV="false" rot="0">
              <a:off x="0" y="0"/>
              <a:ext cx="914400" cy="548640"/>
            </a:xfrm>
            <a:custGeom>
              <a:avLst/>
              <a:gdLst/>
              <a:ahLst/>
              <a:cxnLst/>
              <a:rect r="r" b="b" t="t" l="l"/>
              <a:pathLst>
                <a:path h="548640" w="914400">
                  <a:moveTo>
                    <a:pt x="0" y="0"/>
                  </a:moveTo>
                  <a:lnTo>
                    <a:pt x="914400" y="0"/>
                  </a:lnTo>
                  <a:lnTo>
                    <a:pt x="914400" y="548640"/>
                  </a:lnTo>
                  <a:lnTo>
                    <a:pt x="0" y="548640"/>
                  </a:lnTo>
                  <a:close/>
                </a:path>
              </a:pathLst>
            </a:custGeom>
            <a:blipFill>
              <a:blip r:embed="rId4">
                <a:alphaModFix amt="0"/>
              </a:blip>
              <a:stretch>
                <a:fillRect l="-26982" t="0" r="-26982" b="0"/>
              </a:stretch>
            </a:blipFill>
          </p:spPr>
        </p:sp>
        <p:sp>
          <p:nvSpPr>
            <p:cNvPr name="TextBox 31" id="31"/>
            <p:cNvSpPr txBox="true"/>
            <p:nvPr/>
          </p:nvSpPr>
          <p:spPr>
            <a:xfrm>
              <a:off x="0" y="-38100"/>
              <a:ext cx="914400" cy="586740"/>
            </a:xfrm>
            <a:prstGeom prst="rect">
              <a:avLst/>
            </a:prstGeom>
          </p:spPr>
          <p:txBody>
            <a:bodyPr anchor="ctr" rtlCol="false" tIns="0" lIns="0" bIns="0" rIns="0"/>
            <a:lstStyle/>
            <a:p>
              <a:pPr algn="r">
                <a:lnSpc>
                  <a:spcPts val="1800"/>
                </a:lnSpc>
              </a:pPr>
              <a:r>
                <a:rPr lang="en-US" sz="1500">
                  <a:solidFill>
                    <a:srgbClr val="6B7280"/>
                  </a:solidFill>
                  <a:latin typeface="Calibri (MS)"/>
                  <a:ea typeface="Calibri (MS)"/>
                  <a:cs typeface="Calibri (MS)"/>
                  <a:sym typeface="Calibri (MS)"/>
                </a:rPr>
                <a:t>6</a:t>
              </a:r>
            </a:p>
          </p:txBody>
        </p:sp>
      </p:gr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857250" y="9358312"/>
            <a:ext cx="16573500" cy="428625"/>
            <a:chOff x="0" y="0"/>
            <a:chExt cx="22098000" cy="571500"/>
          </a:xfrm>
        </p:grpSpPr>
        <p:sp>
          <p:nvSpPr>
            <p:cNvPr name="Freeform 3" id="3" descr="image.png"/>
            <p:cNvSpPr/>
            <p:nvPr/>
          </p:nvSpPr>
          <p:spPr>
            <a:xfrm flipH="false" flipV="false" rot="0">
              <a:off x="0" y="0"/>
              <a:ext cx="22098000" cy="571500"/>
            </a:xfrm>
            <a:custGeom>
              <a:avLst/>
              <a:gdLst/>
              <a:ahLst/>
              <a:cxnLst/>
              <a:rect r="r" b="b" t="t" l="l"/>
              <a:pathLst>
                <a:path h="571500" w="22098000">
                  <a:moveTo>
                    <a:pt x="0" y="0"/>
                  </a:moveTo>
                  <a:lnTo>
                    <a:pt x="22098000" y="0"/>
                  </a:lnTo>
                  <a:lnTo>
                    <a:pt x="22098000" y="571500"/>
                  </a:lnTo>
                  <a:lnTo>
                    <a:pt x="0" y="571500"/>
                  </a:lnTo>
                  <a:lnTo>
                    <a:pt x="0" y="0"/>
                  </a:lnTo>
                  <a:close/>
                </a:path>
              </a:pathLst>
            </a:custGeom>
            <a:blipFill>
              <a:blip r:embed="rId2"/>
              <a:stretch>
                <a:fillRect l="0" t="0" r="0" b="0"/>
              </a:stretch>
            </a:blipFill>
          </p:spPr>
        </p:sp>
      </p:grpSp>
      <p:grpSp>
        <p:nvGrpSpPr>
          <p:cNvPr name="Group 4" id="4"/>
          <p:cNvGrpSpPr/>
          <p:nvPr/>
        </p:nvGrpSpPr>
        <p:grpSpPr>
          <a:xfrm rot="0">
            <a:off x="857250" y="1954482"/>
            <a:ext cx="8072438" cy="7118080"/>
            <a:chOff x="0" y="0"/>
            <a:chExt cx="10763250" cy="9490774"/>
          </a:xfrm>
        </p:grpSpPr>
        <p:sp>
          <p:nvSpPr>
            <p:cNvPr name="Freeform 5" id="5" descr="image.png"/>
            <p:cNvSpPr/>
            <p:nvPr/>
          </p:nvSpPr>
          <p:spPr>
            <a:xfrm flipH="false" flipV="false" rot="0">
              <a:off x="0" y="0"/>
              <a:ext cx="10763250" cy="9490710"/>
            </a:xfrm>
            <a:custGeom>
              <a:avLst/>
              <a:gdLst/>
              <a:ahLst/>
              <a:cxnLst/>
              <a:rect r="r" b="b" t="t" l="l"/>
              <a:pathLst>
                <a:path h="9490710" w="10763250">
                  <a:moveTo>
                    <a:pt x="0" y="0"/>
                  </a:moveTo>
                  <a:lnTo>
                    <a:pt x="10763250" y="0"/>
                  </a:lnTo>
                  <a:lnTo>
                    <a:pt x="10763250" y="9490710"/>
                  </a:lnTo>
                  <a:lnTo>
                    <a:pt x="0" y="9490710"/>
                  </a:lnTo>
                  <a:lnTo>
                    <a:pt x="0" y="0"/>
                  </a:lnTo>
                  <a:close/>
                </a:path>
              </a:pathLst>
            </a:custGeom>
            <a:blipFill>
              <a:blip r:embed="rId3"/>
              <a:stretch>
                <a:fillRect l="0" t="-80" r="0" b="-80"/>
              </a:stretch>
            </a:blipFill>
          </p:spPr>
        </p:sp>
      </p:grpSp>
      <p:grpSp>
        <p:nvGrpSpPr>
          <p:cNvPr name="Group 6" id="6"/>
          <p:cNvGrpSpPr/>
          <p:nvPr/>
        </p:nvGrpSpPr>
        <p:grpSpPr>
          <a:xfrm rot="0">
            <a:off x="9358312" y="1954482"/>
            <a:ext cx="8072438" cy="7118080"/>
            <a:chOff x="0" y="0"/>
            <a:chExt cx="10763250" cy="9490774"/>
          </a:xfrm>
        </p:grpSpPr>
        <p:sp>
          <p:nvSpPr>
            <p:cNvPr name="Freeform 7" id="7" descr="image.png"/>
            <p:cNvSpPr/>
            <p:nvPr/>
          </p:nvSpPr>
          <p:spPr>
            <a:xfrm flipH="false" flipV="false" rot="0">
              <a:off x="0" y="0"/>
              <a:ext cx="10763250" cy="9490710"/>
            </a:xfrm>
            <a:custGeom>
              <a:avLst/>
              <a:gdLst/>
              <a:ahLst/>
              <a:cxnLst/>
              <a:rect r="r" b="b" t="t" l="l"/>
              <a:pathLst>
                <a:path h="9490710" w="10763250">
                  <a:moveTo>
                    <a:pt x="0" y="0"/>
                  </a:moveTo>
                  <a:lnTo>
                    <a:pt x="10763250" y="0"/>
                  </a:lnTo>
                  <a:lnTo>
                    <a:pt x="10763250" y="9490710"/>
                  </a:lnTo>
                  <a:lnTo>
                    <a:pt x="0" y="9490710"/>
                  </a:lnTo>
                  <a:lnTo>
                    <a:pt x="0" y="0"/>
                  </a:lnTo>
                  <a:close/>
                </a:path>
              </a:pathLst>
            </a:custGeom>
            <a:blipFill>
              <a:blip r:embed="rId3"/>
              <a:stretch>
                <a:fillRect l="0" t="-80" r="0" b="-80"/>
              </a:stretch>
            </a:blipFill>
          </p:spPr>
        </p:sp>
      </p:grpSp>
      <p:grpSp>
        <p:nvGrpSpPr>
          <p:cNvPr name="Group 8" id="8"/>
          <p:cNvGrpSpPr/>
          <p:nvPr/>
        </p:nvGrpSpPr>
        <p:grpSpPr>
          <a:xfrm rot="0">
            <a:off x="857250" y="700088"/>
            <a:ext cx="742950" cy="742950"/>
            <a:chOff x="0" y="0"/>
            <a:chExt cx="990600" cy="990600"/>
          </a:xfrm>
        </p:grpSpPr>
        <p:sp>
          <p:nvSpPr>
            <p:cNvPr name="Freeform 9" id="9" descr="image.png"/>
            <p:cNvSpPr/>
            <p:nvPr/>
          </p:nvSpPr>
          <p:spPr>
            <a:xfrm flipH="false" flipV="false" rot="0">
              <a:off x="0" y="0"/>
              <a:ext cx="990600" cy="990600"/>
            </a:xfrm>
            <a:custGeom>
              <a:avLst/>
              <a:gdLst/>
              <a:ahLst/>
              <a:cxnLst/>
              <a:rect r="r" b="b" t="t" l="l"/>
              <a:pathLst>
                <a:path h="990600" w="990600">
                  <a:moveTo>
                    <a:pt x="0" y="0"/>
                  </a:moveTo>
                  <a:lnTo>
                    <a:pt x="990600" y="0"/>
                  </a:lnTo>
                  <a:lnTo>
                    <a:pt x="990600" y="990600"/>
                  </a:lnTo>
                  <a:lnTo>
                    <a:pt x="0" y="990600"/>
                  </a:lnTo>
                  <a:lnTo>
                    <a:pt x="0" y="0"/>
                  </a:lnTo>
                  <a:close/>
                </a:path>
              </a:pathLst>
            </a:custGeom>
            <a:blipFill>
              <a:blip r:embed="rId4"/>
              <a:stretch>
                <a:fillRect l="0" t="0" r="0" b="0"/>
              </a:stretch>
            </a:blipFill>
          </p:spPr>
        </p:sp>
      </p:grpSp>
      <p:sp>
        <p:nvSpPr>
          <p:cNvPr name="TextBox 10" id="10"/>
          <p:cNvSpPr txBox="true"/>
          <p:nvPr/>
        </p:nvSpPr>
        <p:spPr>
          <a:xfrm rot="0">
            <a:off x="1885950" y="642938"/>
            <a:ext cx="7686675" cy="954357"/>
          </a:xfrm>
          <a:prstGeom prst="rect">
            <a:avLst/>
          </a:prstGeom>
        </p:spPr>
        <p:txBody>
          <a:bodyPr anchor="t" rtlCol="false" tIns="0" lIns="0" bIns="0" rIns="0">
            <a:spAutoFit/>
          </a:bodyPr>
          <a:lstStyle/>
          <a:p>
            <a:pPr algn="l">
              <a:lnSpc>
                <a:spcPts val="2160"/>
              </a:lnSpc>
            </a:pPr>
            <a:r>
              <a:rPr lang="en-US" sz="1800" b="true">
                <a:solidFill>
                  <a:srgbClr val="0284C7"/>
                </a:solidFill>
                <a:latin typeface="DM Sans Bold"/>
                <a:ea typeface="DM Sans Bold"/>
                <a:cs typeface="DM Sans Bold"/>
                <a:sym typeface="DM Sans Bold"/>
              </a:rPr>
              <a:t>DAY 1 · AFTERNOON SESSION</a:t>
            </a:r>
          </a:p>
        </p:txBody>
      </p:sp>
      <p:sp>
        <p:nvSpPr>
          <p:cNvPr name="TextBox 11" id="11"/>
          <p:cNvSpPr txBox="true"/>
          <p:nvPr/>
        </p:nvSpPr>
        <p:spPr>
          <a:xfrm rot="0">
            <a:off x="857250" y="9544050"/>
            <a:ext cx="5305130" cy="242888"/>
          </a:xfrm>
          <a:prstGeom prst="rect">
            <a:avLst/>
          </a:prstGeom>
        </p:spPr>
        <p:txBody>
          <a:bodyPr anchor="t" rtlCol="false" tIns="0" lIns="0" bIns="0" rIns="0">
            <a:spAutoFit/>
          </a:bodyPr>
          <a:lstStyle/>
          <a:p>
            <a:pPr algn="l">
              <a:lnSpc>
                <a:spcPts val="1755"/>
              </a:lnSpc>
            </a:pPr>
            <a:r>
              <a:rPr lang="en-US" sz="1462">
                <a:solidFill>
                  <a:srgbClr val="94A3B8"/>
                </a:solidFill>
                <a:latin typeface="DM Sans"/>
                <a:ea typeface="DM Sans"/>
                <a:cs typeface="DM Sans"/>
                <a:sym typeface="DM Sans"/>
              </a:rPr>
              <a:t>Davao del Norte Provincial Government — Cybersecurity Seminar</a:t>
            </a:r>
          </a:p>
        </p:txBody>
      </p:sp>
      <p:sp>
        <p:nvSpPr>
          <p:cNvPr name="TextBox 12" id="12"/>
          <p:cNvSpPr txBox="true"/>
          <p:nvPr/>
        </p:nvSpPr>
        <p:spPr>
          <a:xfrm rot="0">
            <a:off x="17330738" y="9544050"/>
            <a:ext cx="100012" cy="242888"/>
          </a:xfrm>
          <a:prstGeom prst="rect">
            <a:avLst/>
          </a:prstGeom>
        </p:spPr>
        <p:txBody>
          <a:bodyPr anchor="t" rtlCol="false" tIns="0" lIns="0" bIns="0" rIns="0">
            <a:spAutoFit/>
          </a:bodyPr>
          <a:lstStyle/>
          <a:p>
            <a:pPr algn="l">
              <a:lnSpc>
                <a:spcPts val="1755"/>
              </a:lnSpc>
            </a:pPr>
            <a:r>
              <a:rPr lang="en-US" sz="1462">
                <a:solidFill>
                  <a:srgbClr val="94A3B8"/>
                </a:solidFill>
                <a:latin typeface="DM Sans"/>
                <a:ea typeface="DM Sans"/>
                <a:cs typeface="DM Sans"/>
                <a:sym typeface="DM Sans"/>
              </a:rPr>
              <a:t>2</a:t>
            </a:r>
          </a:p>
        </p:txBody>
      </p:sp>
      <p:grpSp>
        <p:nvGrpSpPr>
          <p:cNvPr name="Group 13" id="13"/>
          <p:cNvGrpSpPr/>
          <p:nvPr/>
        </p:nvGrpSpPr>
        <p:grpSpPr>
          <a:xfrm rot="0">
            <a:off x="1057275" y="900112"/>
            <a:ext cx="342900" cy="342900"/>
            <a:chOff x="0" y="0"/>
            <a:chExt cx="457200" cy="457200"/>
          </a:xfrm>
        </p:grpSpPr>
        <p:sp>
          <p:nvSpPr>
            <p:cNvPr name="Freeform 14" id="14" descr="image.png"/>
            <p:cNvSpPr/>
            <p:nvPr/>
          </p:nvSpPr>
          <p:spPr>
            <a:xfrm flipH="false" flipV="false" rot="0">
              <a:off x="0" y="0"/>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5"/>
              <a:stretch>
                <a:fillRect l="0" t="0" r="0" b="0"/>
              </a:stretch>
            </a:blipFill>
          </p:spPr>
        </p:sp>
      </p:grpSp>
      <p:sp>
        <p:nvSpPr>
          <p:cNvPr name="TextBox 15" id="15"/>
          <p:cNvSpPr txBox="true"/>
          <p:nvPr/>
        </p:nvSpPr>
        <p:spPr>
          <a:xfrm rot="0">
            <a:off x="1885950" y="1014412"/>
            <a:ext cx="8071009" cy="582882"/>
          </a:xfrm>
          <a:prstGeom prst="rect">
            <a:avLst/>
          </a:prstGeom>
        </p:spPr>
        <p:txBody>
          <a:bodyPr anchor="t" rtlCol="false" tIns="0" lIns="0" bIns="0" rIns="0">
            <a:spAutoFit/>
          </a:bodyPr>
          <a:lstStyle/>
          <a:p>
            <a:pPr algn="l">
              <a:lnSpc>
                <a:spcPts val="4590"/>
              </a:lnSpc>
            </a:pPr>
            <a:r>
              <a:rPr lang="en-US" sz="3825" b="true">
                <a:solidFill>
                  <a:srgbClr val="1E2B58"/>
                </a:solidFill>
                <a:latin typeface="Merriweather Bold"/>
                <a:ea typeface="Merriweather Bold"/>
                <a:cs typeface="Merriweather Bold"/>
                <a:sym typeface="Merriweather Bold"/>
              </a:rPr>
              <a:t>VAPT Concepts &amp; Fundamentals</a:t>
            </a:r>
          </a:p>
        </p:txBody>
      </p:sp>
      <p:sp>
        <p:nvSpPr>
          <p:cNvPr name="TextBox 16" id="16"/>
          <p:cNvSpPr txBox="true"/>
          <p:nvPr/>
        </p:nvSpPr>
        <p:spPr>
          <a:xfrm rot="0">
            <a:off x="1714500" y="2411682"/>
            <a:ext cx="6700838" cy="785812"/>
          </a:xfrm>
          <a:prstGeom prst="rect">
            <a:avLst/>
          </a:prstGeom>
        </p:spPr>
        <p:txBody>
          <a:bodyPr anchor="t" rtlCol="false" tIns="0" lIns="0" bIns="0" rIns="0">
            <a:spAutoFit/>
          </a:bodyPr>
          <a:lstStyle/>
          <a:p>
            <a:pPr algn="l">
              <a:lnSpc>
                <a:spcPts val="2868"/>
              </a:lnSpc>
            </a:pPr>
            <a:r>
              <a:rPr lang="en-US" sz="1912" b="true">
                <a:solidFill>
                  <a:srgbClr val="1E2B58"/>
                </a:solidFill>
                <a:latin typeface="DM Sans Bold"/>
                <a:ea typeface="DM Sans Bold"/>
                <a:cs typeface="DM Sans Bold"/>
                <a:sym typeface="DM Sans Bold"/>
              </a:rPr>
              <a:t>Risk Identification:</a:t>
            </a:r>
            <a:r>
              <a:rPr lang="en-US" sz="1912">
                <a:solidFill>
                  <a:srgbClr val="334155"/>
                </a:solidFill>
                <a:latin typeface="DM Sans"/>
                <a:ea typeface="DM Sans"/>
                <a:cs typeface="DM Sans"/>
                <a:sym typeface="DM Sans"/>
              </a:rPr>
              <a:t> Principles of risk identification, assessment, and treatment strategies within public sector infrastructure.</a:t>
            </a:r>
          </a:p>
        </p:txBody>
      </p:sp>
      <p:sp>
        <p:nvSpPr>
          <p:cNvPr name="TextBox 17" id="17"/>
          <p:cNvSpPr txBox="true"/>
          <p:nvPr/>
        </p:nvSpPr>
        <p:spPr>
          <a:xfrm rot="0">
            <a:off x="1714500" y="3397520"/>
            <a:ext cx="6700838" cy="785812"/>
          </a:xfrm>
          <a:prstGeom prst="rect">
            <a:avLst/>
          </a:prstGeom>
        </p:spPr>
        <p:txBody>
          <a:bodyPr anchor="t" rtlCol="false" tIns="0" lIns="0" bIns="0" rIns="0">
            <a:spAutoFit/>
          </a:bodyPr>
          <a:lstStyle/>
          <a:p>
            <a:pPr algn="l">
              <a:lnSpc>
                <a:spcPts val="2868"/>
              </a:lnSpc>
            </a:pPr>
            <a:r>
              <a:rPr lang="en-US" sz="1912" b="true">
                <a:solidFill>
                  <a:srgbClr val="1E2B58"/>
                </a:solidFill>
                <a:latin typeface="DM Sans Bold"/>
                <a:ea typeface="DM Sans Bold"/>
                <a:cs typeface="DM Sans Bold"/>
                <a:sym typeface="DM Sans Bold"/>
              </a:rPr>
              <a:t>Purpose &amp; Scope:</a:t>
            </a:r>
            <a:r>
              <a:rPr lang="en-US" sz="1912">
                <a:solidFill>
                  <a:srgbClr val="334155"/>
                </a:solidFill>
                <a:latin typeface="DM Sans"/>
                <a:ea typeface="DM Sans"/>
                <a:cs typeface="DM Sans"/>
                <a:sym typeface="DM Sans"/>
              </a:rPr>
              <a:t> Objectives, boundaries, and methodology of Vulnerability Assessment and Penetration Testing (VAPT).</a:t>
            </a:r>
          </a:p>
        </p:txBody>
      </p:sp>
      <p:grpSp>
        <p:nvGrpSpPr>
          <p:cNvPr name="Group 18" id="18"/>
          <p:cNvGrpSpPr/>
          <p:nvPr/>
        </p:nvGrpSpPr>
        <p:grpSpPr>
          <a:xfrm rot="0">
            <a:off x="6572250" y="6215062"/>
            <a:ext cx="2714625" cy="2714625"/>
            <a:chOff x="0" y="0"/>
            <a:chExt cx="3619500" cy="3619500"/>
          </a:xfrm>
        </p:grpSpPr>
        <p:sp>
          <p:nvSpPr>
            <p:cNvPr name="Freeform 19" id="19" descr="image.png"/>
            <p:cNvSpPr/>
            <p:nvPr/>
          </p:nvSpPr>
          <p:spPr>
            <a:xfrm flipH="false" flipV="false" rot="0">
              <a:off x="0" y="0"/>
              <a:ext cx="3619500" cy="3619500"/>
            </a:xfrm>
            <a:custGeom>
              <a:avLst/>
              <a:gdLst/>
              <a:ahLst/>
              <a:cxnLst/>
              <a:rect r="r" b="b" t="t" l="l"/>
              <a:pathLst>
                <a:path h="3619500" w="3619500">
                  <a:moveTo>
                    <a:pt x="0" y="0"/>
                  </a:moveTo>
                  <a:lnTo>
                    <a:pt x="3619500" y="0"/>
                  </a:lnTo>
                  <a:lnTo>
                    <a:pt x="3619500" y="3619500"/>
                  </a:lnTo>
                  <a:lnTo>
                    <a:pt x="0" y="3619500"/>
                  </a:lnTo>
                  <a:lnTo>
                    <a:pt x="0" y="0"/>
                  </a:lnTo>
                  <a:close/>
                </a:path>
              </a:pathLst>
            </a:custGeom>
            <a:blipFill>
              <a:blip r:embed="rId6"/>
              <a:stretch>
                <a:fillRect l="0" t="0" r="0" b="0"/>
              </a:stretch>
            </a:blipFill>
          </p:spPr>
        </p:sp>
      </p:grpSp>
      <p:sp>
        <p:nvSpPr>
          <p:cNvPr name="TextBox 20" id="20"/>
          <p:cNvSpPr txBox="true"/>
          <p:nvPr/>
        </p:nvSpPr>
        <p:spPr>
          <a:xfrm rot="0">
            <a:off x="10215562" y="2411682"/>
            <a:ext cx="6700838" cy="785812"/>
          </a:xfrm>
          <a:prstGeom prst="rect">
            <a:avLst/>
          </a:prstGeom>
        </p:spPr>
        <p:txBody>
          <a:bodyPr anchor="t" rtlCol="false" tIns="0" lIns="0" bIns="0" rIns="0">
            <a:spAutoFit/>
          </a:bodyPr>
          <a:lstStyle/>
          <a:p>
            <a:pPr algn="l">
              <a:lnSpc>
                <a:spcPts val="2868"/>
              </a:lnSpc>
            </a:pPr>
            <a:r>
              <a:rPr lang="en-US" sz="1912" b="true">
                <a:solidFill>
                  <a:srgbClr val="1E2B58"/>
                </a:solidFill>
                <a:latin typeface="DM Sans Bold"/>
                <a:ea typeface="DM Sans Bold"/>
                <a:cs typeface="DM Sans Bold"/>
                <a:sym typeface="DM Sans Bold"/>
              </a:rPr>
              <a:t>Assessment vs. Testing:</a:t>
            </a:r>
            <a:r>
              <a:rPr lang="en-US" sz="1912">
                <a:solidFill>
                  <a:srgbClr val="334155"/>
                </a:solidFill>
                <a:latin typeface="DM Sans"/>
                <a:ea typeface="DM Sans"/>
                <a:cs typeface="DM Sans"/>
                <a:sym typeface="DM Sans"/>
              </a:rPr>
              <a:t> Key differences between automated vulnerability assessment and active penetration testing.</a:t>
            </a:r>
          </a:p>
        </p:txBody>
      </p:sp>
      <p:grpSp>
        <p:nvGrpSpPr>
          <p:cNvPr name="Group 21" id="21"/>
          <p:cNvGrpSpPr/>
          <p:nvPr/>
        </p:nvGrpSpPr>
        <p:grpSpPr>
          <a:xfrm rot="0">
            <a:off x="15073312" y="6215062"/>
            <a:ext cx="2714625" cy="2714625"/>
            <a:chOff x="0" y="0"/>
            <a:chExt cx="3619500" cy="3619500"/>
          </a:xfrm>
        </p:grpSpPr>
        <p:sp>
          <p:nvSpPr>
            <p:cNvPr name="Freeform 22" id="22" descr="image.png"/>
            <p:cNvSpPr/>
            <p:nvPr/>
          </p:nvSpPr>
          <p:spPr>
            <a:xfrm flipH="false" flipV="false" rot="0">
              <a:off x="0" y="0"/>
              <a:ext cx="3619500" cy="3619500"/>
            </a:xfrm>
            <a:custGeom>
              <a:avLst/>
              <a:gdLst/>
              <a:ahLst/>
              <a:cxnLst/>
              <a:rect r="r" b="b" t="t" l="l"/>
              <a:pathLst>
                <a:path h="3619500" w="3619500">
                  <a:moveTo>
                    <a:pt x="0" y="0"/>
                  </a:moveTo>
                  <a:lnTo>
                    <a:pt x="3619500" y="0"/>
                  </a:lnTo>
                  <a:lnTo>
                    <a:pt x="3619500" y="3619500"/>
                  </a:lnTo>
                  <a:lnTo>
                    <a:pt x="0" y="3619500"/>
                  </a:lnTo>
                  <a:lnTo>
                    <a:pt x="0" y="0"/>
                  </a:lnTo>
                  <a:close/>
                </a:path>
              </a:pathLst>
            </a:custGeom>
            <a:blipFill>
              <a:blip r:embed="rId6"/>
              <a:stretch>
                <a:fillRect l="0" t="0" r="0" b="0"/>
              </a:stretch>
            </a:blipFill>
          </p:spPr>
        </p:sp>
      </p:grpSp>
      <p:sp>
        <p:nvSpPr>
          <p:cNvPr name="TextBox 23" id="23"/>
          <p:cNvSpPr txBox="true"/>
          <p:nvPr/>
        </p:nvSpPr>
        <p:spPr>
          <a:xfrm rot="0">
            <a:off x="1457325" y="2373582"/>
            <a:ext cx="85725" cy="495300"/>
          </a:xfrm>
          <a:prstGeom prst="rect">
            <a:avLst/>
          </a:prstGeom>
        </p:spPr>
        <p:txBody>
          <a:bodyPr anchor="t" rtlCol="false" tIns="0" lIns="0" bIns="0" rIns="0">
            <a:spAutoFit/>
          </a:bodyPr>
          <a:lstStyle/>
          <a:p>
            <a:pPr algn="l">
              <a:lnSpc>
                <a:spcPts val="3375"/>
              </a:lnSpc>
            </a:pPr>
            <a:r>
              <a:rPr lang="en-US" sz="2250" b="true">
                <a:solidFill>
                  <a:srgbClr val="1E2B58"/>
                </a:solidFill>
                <a:latin typeface="DM Sans Bold"/>
                <a:ea typeface="DM Sans Bold"/>
                <a:cs typeface="DM Sans Bold"/>
                <a:sym typeface="DM Sans Bold"/>
              </a:rPr>
              <a:t>•</a:t>
            </a:r>
          </a:p>
        </p:txBody>
      </p:sp>
      <p:sp>
        <p:nvSpPr>
          <p:cNvPr name="TextBox 24" id="24"/>
          <p:cNvSpPr txBox="true"/>
          <p:nvPr/>
        </p:nvSpPr>
        <p:spPr>
          <a:xfrm rot="0">
            <a:off x="1457325" y="3359420"/>
            <a:ext cx="85725" cy="495300"/>
          </a:xfrm>
          <a:prstGeom prst="rect">
            <a:avLst/>
          </a:prstGeom>
        </p:spPr>
        <p:txBody>
          <a:bodyPr anchor="t" rtlCol="false" tIns="0" lIns="0" bIns="0" rIns="0">
            <a:spAutoFit/>
          </a:bodyPr>
          <a:lstStyle/>
          <a:p>
            <a:pPr algn="l">
              <a:lnSpc>
                <a:spcPts val="3375"/>
              </a:lnSpc>
            </a:pPr>
            <a:r>
              <a:rPr lang="en-US" sz="2250" b="true">
                <a:solidFill>
                  <a:srgbClr val="1E2B58"/>
                </a:solidFill>
                <a:latin typeface="DM Sans Bold"/>
                <a:ea typeface="DM Sans Bold"/>
                <a:cs typeface="DM Sans Bold"/>
                <a:sym typeface="DM Sans Bold"/>
              </a:rPr>
              <a:t>•</a:t>
            </a:r>
          </a:p>
        </p:txBody>
      </p:sp>
      <p:sp>
        <p:nvSpPr>
          <p:cNvPr name="TextBox 25" id="25"/>
          <p:cNvSpPr txBox="true"/>
          <p:nvPr/>
        </p:nvSpPr>
        <p:spPr>
          <a:xfrm rot="0">
            <a:off x="9958388" y="2373582"/>
            <a:ext cx="85725" cy="495300"/>
          </a:xfrm>
          <a:prstGeom prst="rect">
            <a:avLst/>
          </a:prstGeom>
        </p:spPr>
        <p:txBody>
          <a:bodyPr anchor="t" rtlCol="false" tIns="0" lIns="0" bIns="0" rIns="0">
            <a:spAutoFit/>
          </a:bodyPr>
          <a:lstStyle/>
          <a:p>
            <a:pPr algn="l">
              <a:lnSpc>
                <a:spcPts val="3375"/>
              </a:lnSpc>
            </a:pPr>
            <a:r>
              <a:rPr lang="en-US" sz="2250" b="true">
                <a:solidFill>
                  <a:srgbClr val="1E2B58"/>
                </a:solidFill>
                <a:latin typeface="DM Sans Bold"/>
                <a:ea typeface="DM Sans Bold"/>
                <a:cs typeface="DM Sans Bold"/>
                <a:sym typeface="DM Sans Bold"/>
              </a:rPr>
              <a:t>•</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857250" y="9358312"/>
            <a:ext cx="16573500" cy="428625"/>
            <a:chOff x="0" y="0"/>
            <a:chExt cx="22098000" cy="571500"/>
          </a:xfrm>
        </p:grpSpPr>
        <p:sp>
          <p:nvSpPr>
            <p:cNvPr name="Freeform 3" id="3" descr="image.png"/>
            <p:cNvSpPr/>
            <p:nvPr/>
          </p:nvSpPr>
          <p:spPr>
            <a:xfrm flipH="false" flipV="false" rot="0">
              <a:off x="0" y="0"/>
              <a:ext cx="22098000" cy="571500"/>
            </a:xfrm>
            <a:custGeom>
              <a:avLst/>
              <a:gdLst/>
              <a:ahLst/>
              <a:cxnLst/>
              <a:rect r="r" b="b" t="t" l="l"/>
              <a:pathLst>
                <a:path h="571500" w="22098000">
                  <a:moveTo>
                    <a:pt x="0" y="0"/>
                  </a:moveTo>
                  <a:lnTo>
                    <a:pt x="22098000" y="0"/>
                  </a:lnTo>
                  <a:lnTo>
                    <a:pt x="22098000" y="571500"/>
                  </a:lnTo>
                  <a:lnTo>
                    <a:pt x="0" y="571500"/>
                  </a:lnTo>
                  <a:lnTo>
                    <a:pt x="0" y="0"/>
                  </a:lnTo>
                  <a:close/>
                </a:path>
              </a:pathLst>
            </a:custGeom>
            <a:blipFill>
              <a:blip r:embed="rId2"/>
              <a:stretch>
                <a:fillRect l="0" t="0" r="0" b="0"/>
              </a:stretch>
            </a:blipFill>
          </p:spPr>
        </p:sp>
      </p:grpSp>
      <p:grpSp>
        <p:nvGrpSpPr>
          <p:cNvPr name="Group 4" id="4"/>
          <p:cNvGrpSpPr/>
          <p:nvPr/>
        </p:nvGrpSpPr>
        <p:grpSpPr>
          <a:xfrm rot="0">
            <a:off x="857250" y="1954482"/>
            <a:ext cx="8072438" cy="7118080"/>
            <a:chOff x="0" y="0"/>
            <a:chExt cx="10763250" cy="9490774"/>
          </a:xfrm>
        </p:grpSpPr>
        <p:sp>
          <p:nvSpPr>
            <p:cNvPr name="Freeform 5" id="5" descr="image.png"/>
            <p:cNvSpPr/>
            <p:nvPr/>
          </p:nvSpPr>
          <p:spPr>
            <a:xfrm flipH="false" flipV="false" rot="0">
              <a:off x="0" y="0"/>
              <a:ext cx="10763250" cy="9490710"/>
            </a:xfrm>
            <a:custGeom>
              <a:avLst/>
              <a:gdLst/>
              <a:ahLst/>
              <a:cxnLst/>
              <a:rect r="r" b="b" t="t" l="l"/>
              <a:pathLst>
                <a:path h="9490710" w="10763250">
                  <a:moveTo>
                    <a:pt x="0" y="0"/>
                  </a:moveTo>
                  <a:lnTo>
                    <a:pt x="10763250" y="0"/>
                  </a:lnTo>
                  <a:lnTo>
                    <a:pt x="10763250" y="9490710"/>
                  </a:lnTo>
                  <a:lnTo>
                    <a:pt x="0" y="9490710"/>
                  </a:lnTo>
                  <a:lnTo>
                    <a:pt x="0" y="0"/>
                  </a:lnTo>
                  <a:close/>
                </a:path>
              </a:pathLst>
            </a:custGeom>
            <a:blipFill>
              <a:blip r:embed="rId3"/>
              <a:stretch>
                <a:fillRect l="0" t="-80" r="0" b="-80"/>
              </a:stretch>
            </a:blipFill>
          </p:spPr>
        </p:sp>
      </p:grpSp>
      <p:grpSp>
        <p:nvGrpSpPr>
          <p:cNvPr name="Group 6" id="6"/>
          <p:cNvGrpSpPr/>
          <p:nvPr/>
        </p:nvGrpSpPr>
        <p:grpSpPr>
          <a:xfrm rot="0">
            <a:off x="9358312" y="1954482"/>
            <a:ext cx="8072438" cy="7118080"/>
            <a:chOff x="0" y="0"/>
            <a:chExt cx="10763250" cy="9490774"/>
          </a:xfrm>
        </p:grpSpPr>
        <p:sp>
          <p:nvSpPr>
            <p:cNvPr name="Freeform 7" id="7" descr="image.png"/>
            <p:cNvSpPr/>
            <p:nvPr/>
          </p:nvSpPr>
          <p:spPr>
            <a:xfrm flipH="false" flipV="false" rot="0">
              <a:off x="0" y="0"/>
              <a:ext cx="10763250" cy="9490710"/>
            </a:xfrm>
            <a:custGeom>
              <a:avLst/>
              <a:gdLst/>
              <a:ahLst/>
              <a:cxnLst/>
              <a:rect r="r" b="b" t="t" l="l"/>
              <a:pathLst>
                <a:path h="9490710" w="10763250">
                  <a:moveTo>
                    <a:pt x="0" y="0"/>
                  </a:moveTo>
                  <a:lnTo>
                    <a:pt x="10763250" y="0"/>
                  </a:lnTo>
                  <a:lnTo>
                    <a:pt x="10763250" y="9490710"/>
                  </a:lnTo>
                  <a:lnTo>
                    <a:pt x="0" y="9490710"/>
                  </a:lnTo>
                  <a:lnTo>
                    <a:pt x="0" y="0"/>
                  </a:lnTo>
                  <a:close/>
                </a:path>
              </a:pathLst>
            </a:custGeom>
            <a:blipFill>
              <a:blip r:embed="rId3"/>
              <a:stretch>
                <a:fillRect l="0" t="-80" r="0" b="-80"/>
              </a:stretch>
            </a:blipFill>
          </p:spPr>
        </p:sp>
      </p:grpSp>
      <p:grpSp>
        <p:nvGrpSpPr>
          <p:cNvPr name="Group 8" id="8"/>
          <p:cNvGrpSpPr/>
          <p:nvPr/>
        </p:nvGrpSpPr>
        <p:grpSpPr>
          <a:xfrm rot="0">
            <a:off x="857250" y="700088"/>
            <a:ext cx="742950" cy="742950"/>
            <a:chOff x="0" y="0"/>
            <a:chExt cx="990600" cy="990600"/>
          </a:xfrm>
        </p:grpSpPr>
        <p:sp>
          <p:nvSpPr>
            <p:cNvPr name="Freeform 9" id="9" descr="image.png"/>
            <p:cNvSpPr/>
            <p:nvPr/>
          </p:nvSpPr>
          <p:spPr>
            <a:xfrm flipH="false" flipV="false" rot="0">
              <a:off x="0" y="0"/>
              <a:ext cx="990600" cy="990600"/>
            </a:xfrm>
            <a:custGeom>
              <a:avLst/>
              <a:gdLst/>
              <a:ahLst/>
              <a:cxnLst/>
              <a:rect r="r" b="b" t="t" l="l"/>
              <a:pathLst>
                <a:path h="990600" w="990600">
                  <a:moveTo>
                    <a:pt x="0" y="0"/>
                  </a:moveTo>
                  <a:lnTo>
                    <a:pt x="990600" y="0"/>
                  </a:lnTo>
                  <a:lnTo>
                    <a:pt x="990600" y="990600"/>
                  </a:lnTo>
                  <a:lnTo>
                    <a:pt x="0" y="990600"/>
                  </a:lnTo>
                  <a:lnTo>
                    <a:pt x="0" y="0"/>
                  </a:lnTo>
                  <a:close/>
                </a:path>
              </a:pathLst>
            </a:custGeom>
            <a:blipFill>
              <a:blip r:embed="rId4"/>
              <a:stretch>
                <a:fillRect l="0" t="0" r="0" b="0"/>
              </a:stretch>
            </a:blipFill>
          </p:spPr>
        </p:sp>
      </p:grpSp>
      <p:sp>
        <p:nvSpPr>
          <p:cNvPr name="TextBox 10" id="10"/>
          <p:cNvSpPr txBox="true"/>
          <p:nvPr/>
        </p:nvSpPr>
        <p:spPr>
          <a:xfrm rot="0">
            <a:off x="1885950" y="642938"/>
            <a:ext cx="9858375" cy="954357"/>
          </a:xfrm>
          <a:prstGeom prst="rect">
            <a:avLst/>
          </a:prstGeom>
        </p:spPr>
        <p:txBody>
          <a:bodyPr anchor="t" rtlCol="false" tIns="0" lIns="0" bIns="0" rIns="0">
            <a:spAutoFit/>
          </a:bodyPr>
          <a:lstStyle/>
          <a:p>
            <a:pPr algn="l">
              <a:lnSpc>
                <a:spcPts val="2160"/>
              </a:lnSpc>
            </a:pPr>
            <a:r>
              <a:rPr lang="en-US" sz="1800" b="true">
                <a:solidFill>
                  <a:srgbClr val="0284C7"/>
                </a:solidFill>
                <a:latin typeface="DM Sans Bold"/>
                <a:ea typeface="DM Sans Bold"/>
                <a:cs typeface="DM Sans Bold"/>
                <a:sym typeface="DM Sans Bold"/>
              </a:rPr>
              <a:t>DAY 2 · MORNING SESSION</a:t>
            </a:r>
          </a:p>
        </p:txBody>
      </p:sp>
      <p:sp>
        <p:nvSpPr>
          <p:cNvPr name="TextBox 11" id="11"/>
          <p:cNvSpPr txBox="true"/>
          <p:nvPr/>
        </p:nvSpPr>
        <p:spPr>
          <a:xfrm rot="0">
            <a:off x="857250" y="9544050"/>
            <a:ext cx="5305130" cy="242888"/>
          </a:xfrm>
          <a:prstGeom prst="rect">
            <a:avLst/>
          </a:prstGeom>
        </p:spPr>
        <p:txBody>
          <a:bodyPr anchor="t" rtlCol="false" tIns="0" lIns="0" bIns="0" rIns="0">
            <a:spAutoFit/>
          </a:bodyPr>
          <a:lstStyle/>
          <a:p>
            <a:pPr algn="l">
              <a:lnSpc>
                <a:spcPts val="1755"/>
              </a:lnSpc>
            </a:pPr>
            <a:r>
              <a:rPr lang="en-US" sz="1462">
                <a:solidFill>
                  <a:srgbClr val="94A3B8"/>
                </a:solidFill>
                <a:latin typeface="DM Sans"/>
                <a:ea typeface="DM Sans"/>
                <a:cs typeface="DM Sans"/>
                <a:sym typeface="DM Sans"/>
              </a:rPr>
              <a:t>Davao del Norte Provincial Government — Cybersecurity Seminar</a:t>
            </a:r>
          </a:p>
        </p:txBody>
      </p:sp>
      <p:sp>
        <p:nvSpPr>
          <p:cNvPr name="TextBox 12" id="12"/>
          <p:cNvSpPr txBox="true"/>
          <p:nvPr/>
        </p:nvSpPr>
        <p:spPr>
          <a:xfrm rot="0">
            <a:off x="17330738" y="9544050"/>
            <a:ext cx="100012" cy="242888"/>
          </a:xfrm>
          <a:prstGeom prst="rect">
            <a:avLst/>
          </a:prstGeom>
        </p:spPr>
        <p:txBody>
          <a:bodyPr anchor="t" rtlCol="false" tIns="0" lIns="0" bIns="0" rIns="0">
            <a:spAutoFit/>
          </a:bodyPr>
          <a:lstStyle/>
          <a:p>
            <a:pPr algn="l">
              <a:lnSpc>
                <a:spcPts val="1755"/>
              </a:lnSpc>
            </a:pPr>
            <a:r>
              <a:rPr lang="en-US" sz="1462">
                <a:solidFill>
                  <a:srgbClr val="94A3B8"/>
                </a:solidFill>
                <a:latin typeface="DM Sans"/>
                <a:ea typeface="DM Sans"/>
                <a:cs typeface="DM Sans"/>
                <a:sym typeface="DM Sans"/>
              </a:rPr>
              <a:t>3</a:t>
            </a:r>
          </a:p>
        </p:txBody>
      </p:sp>
      <p:grpSp>
        <p:nvGrpSpPr>
          <p:cNvPr name="Group 13" id="13"/>
          <p:cNvGrpSpPr/>
          <p:nvPr/>
        </p:nvGrpSpPr>
        <p:grpSpPr>
          <a:xfrm rot="0">
            <a:off x="1057275" y="900112"/>
            <a:ext cx="342900" cy="342900"/>
            <a:chOff x="0" y="0"/>
            <a:chExt cx="457200" cy="457200"/>
          </a:xfrm>
        </p:grpSpPr>
        <p:sp>
          <p:nvSpPr>
            <p:cNvPr name="Freeform 14" id="14" descr="image.png"/>
            <p:cNvSpPr/>
            <p:nvPr/>
          </p:nvSpPr>
          <p:spPr>
            <a:xfrm flipH="false" flipV="false" rot="0">
              <a:off x="0" y="0"/>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5"/>
              <a:stretch>
                <a:fillRect l="0" t="0" r="0" b="0"/>
              </a:stretch>
            </a:blipFill>
          </p:spPr>
        </p:sp>
      </p:grpSp>
      <p:sp>
        <p:nvSpPr>
          <p:cNvPr name="TextBox 15" id="15"/>
          <p:cNvSpPr txBox="true"/>
          <p:nvPr/>
        </p:nvSpPr>
        <p:spPr>
          <a:xfrm rot="0">
            <a:off x="1885950" y="1014412"/>
            <a:ext cx="10351294" cy="582882"/>
          </a:xfrm>
          <a:prstGeom prst="rect">
            <a:avLst/>
          </a:prstGeom>
        </p:spPr>
        <p:txBody>
          <a:bodyPr anchor="t" rtlCol="false" tIns="0" lIns="0" bIns="0" rIns="0">
            <a:spAutoFit/>
          </a:bodyPr>
          <a:lstStyle/>
          <a:p>
            <a:pPr algn="l">
              <a:lnSpc>
                <a:spcPts val="4590"/>
              </a:lnSpc>
            </a:pPr>
            <a:r>
              <a:rPr lang="en-US" sz="3825" b="true">
                <a:solidFill>
                  <a:srgbClr val="1E2B58"/>
                </a:solidFill>
                <a:latin typeface="Merriweather Bold"/>
                <a:ea typeface="Merriweather Bold"/>
                <a:cs typeface="Merriweather Bold"/>
                <a:sym typeface="Merriweather Bold"/>
              </a:rPr>
              <a:t>Incident Response Planning &amp; Playbooks</a:t>
            </a:r>
          </a:p>
        </p:txBody>
      </p:sp>
      <p:sp>
        <p:nvSpPr>
          <p:cNvPr name="TextBox 16" id="16"/>
          <p:cNvSpPr txBox="true"/>
          <p:nvPr/>
        </p:nvSpPr>
        <p:spPr>
          <a:xfrm rot="0">
            <a:off x="1714500" y="2411682"/>
            <a:ext cx="6700838" cy="785812"/>
          </a:xfrm>
          <a:prstGeom prst="rect">
            <a:avLst/>
          </a:prstGeom>
        </p:spPr>
        <p:txBody>
          <a:bodyPr anchor="t" rtlCol="false" tIns="0" lIns="0" bIns="0" rIns="0">
            <a:spAutoFit/>
          </a:bodyPr>
          <a:lstStyle/>
          <a:p>
            <a:pPr algn="l">
              <a:lnSpc>
                <a:spcPts val="2868"/>
              </a:lnSpc>
            </a:pPr>
            <a:r>
              <a:rPr lang="en-US" sz="1912" b="true">
                <a:solidFill>
                  <a:srgbClr val="1E2B58"/>
                </a:solidFill>
                <a:latin typeface="DM Sans Bold"/>
                <a:ea typeface="DM Sans Bold"/>
                <a:cs typeface="DM Sans Bold"/>
                <a:sym typeface="DM Sans Bold"/>
              </a:rPr>
              <a:t>Incident Response Plan:</a:t>
            </a:r>
            <a:r>
              <a:rPr lang="en-US" sz="1912">
                <a:solidFill>
                  <a:srgbClr val="334155"/>
                </a:solidFill>
                <a:latin typeface="DM Sans"/>
                <a:ea typeface="DM Sans"/>
                <a:cs typeface="DM Sans"/>
                <a:sym typeface="DM Sans"/>
              </a:rPr>
              <a:t> Structure and components of a CIRP with a drafting workshop tailored to Provincial Government context.</a:t>
            </a:r>
          </a:p>
        </p:txBody>
      </p:sp>
      <p:sp>
        <p:nvSpPr>
          <p:cNvPr name="TextBox 17" id="17"/>
          <p:cNvSpPr txBox="true"/>
          <p:nvPr/>
        </p:nvSpPr>
        <p:spPr>
          <a:xfrm rot="0">
            <a:off x="1714500" y="3397520"/>
            <a:ext cx="6700838" cy="785812"/>
          </a:xfrm>
          <a:prstGeom prst="rect">
            <a:avLst/>
          </a:prstGeom>
        </p:spPr>
        <p:txBody>
          <a:bodyPr anchor="t" rtlCol="false" tIns="0" lIns="0" bIns="0" rIns="0">
            <a:spAutoFit/>
          </a:bodyPr>
          <a:lstStyle/>
          <a:p>
            <a:pPr algn="l">
              <a:lnSpc>
                <a:spcPts val="2868"/>
              </a:lnSpc>
            </a:pPr>
            <a:r>
              <a:rPr lang="en-US" sz="1912" b="true">
                <a:solidFill>
                  <a:srgbClr val="1E2B58"/>
                </a:solidFill>
                <a:latin typeface="DM Sans Bold"/>
                <a:ea typeface="DM Sans Bold"/>
                <a:cs typeface="DM Sans Bold"/>
                <a:sym typeface="DM Sans Bold"/>
              </a:rPr>
              <a:t>Frameworks &amp; Roles:</a:t>
            </a:r>
            <a:r>
              <a:rPr lang="en-US" sz="1912">
                <a:solidFill>
                  <a:srgbClr val="334155"/>
                </a:solidFill>
                <a:latin typeface="DM Sans"/>
                <a:ea typeface="DM Sans"/>
                <a:cs typeface="DM Sans"/>
                <a:sym typeface="DM Sans"/>
              </a:rPr>
              <a:t> Introduction to IR frameworks, defined roles during cyber incidents, and tabletop execution.</a:t>
            </a:r>
          </a:p>
        </p:txBody>
      </p:sp>
      <p:sp>
        <p:nvSpPr>
          <p:cNvPr name="TextBox 18" id="18"/>
          <p:cNvSpPr txBox="true"/>
          <p:nvPr/>
        </p:nvSpPr>
        <p:spPr>
          <a:xfrm rot="0">
            <a:off x="1714500" y="4383357"/>
            <a:ext cx="6700838" cy="785812"/>
          </a:xfrm>
          <a:prstGeom prst="rect">
            <a:avLst/>
          </a:prstGeom>
        </p:spPr>
        <p:txBody>
          <a:bodyPr anchor="t" rtlCol="false" tIns="0" lIns="0" bIns="0" rIns="0">
            <a:spAutoFit/>
          </a:bodyPr>
          <a:lstStyle/>
          <a:p>
            <a:pPr algn="l">
              <a:lnSpc>
                <a:spcPts val="2868"/>
              </a:lnSpc>
            </a:pPr>
            <a:r>
              <a:rPr lang="en-US" sz="1912" b="true">
                <a:solidFill>
                  <a:srgbClr val="1E2B58"/>
                </a:solidFill>
                <a:latin typeface="DM Sans Bold"/>
                <a:ea typeface="DM Sans Bold"/>
                <a:cs typeface="DM Sans Bold"/>
                <a:sym typeface="DM Sans Bold"/>
              </a:rPr>
              <a:t>IR Playbooks:</a:t>
            </a:r>
            <a:r>
              <a:rPr lang="en-US" sz="1912">
                <a:solidFill>
                  <a:srgbClr val="334155"/>
                </a:solidFill>
                <a:latin typeface="DM Sans"/>
                <a:ea typeface="DM Sans"/>
                <a:cs typeface="DM Sans"/>
                <a:sym typeface="DM Sans"/>
              </a:rPr>
              <a:t> Key phases including detection, containment, eradication, recovery, and post-incident lessons learned.</a:t>
            </a:r>
          </a:p>
        </p:txBody>
      </p:sp>
      <p:grpSp>
        <p:nvGrpSpPr>
          <p:cNvPr name="Group 19" id="19"/>
          <p:cNvGrpSpPr/>
          <p:nvPr/>
        </p:nvGrpSpPr>
        <p:grpSpPr>
          <a:xfrm rot="0">
            <a:off x="6572250" y="6215062"/>
            <a:ext cx="2714625" cy="2714625"/>
            <a:chOff x="0" y="0"/>
            <a:chExt cx="3619500" cy="3619500"/>
          </a:xfrm>
        </p:grpSpPr>
        <p:sp>
          <p:nvSpPr>
            <p:cNvPr name="Freeform 20" id="20" descr="image.png"/>
            <p:cNvSpPr/>
            <p:nvPr/>
          </p:nvSpPr>
          <p:spPr>
            <a:xfrm flipH="false" flipV="false" rot="0">
              <a:off x="0" y="0"/>
              <a:ext cx="3619500" cy="3619500"/>
            </a:xfrm>
            <a:custGeom>
              <a:avLst/>
              <a:gdLst/>
              <a:ahLst/>
              <a:cxnLst/>
              <a:rect r="r" b="b" t="t" l="l"/>
              <a:pathLst>
                <a:path h="3619500" w="3619500">
                  <a:moveTo>
                    <a:pt x="0" y="0"/>
                  </a:moveTo>
                  <a:lnTo>
                    <a:pt x="3619500" y="0"/>
                  </a:lnTo>
                  <a:lnTo>
                    <a:pt x="3619500" y="3619500"/>
                  </a:lnTo>
                  <a:lnTo>
                    <a:pt x="0" y="3619500"/>
                  </a:lnTo>
                  <a:lnTo>
                    <a:pt x="0" y="0"/>
                  </a:lnTo>
                  <a:close/>
                </a:path>
              </a:pathLst>
            </a:custGeom>
            <a:blipFill>
              <a:blip r:embed="rId6"/>
              <a:stretch>
                <a:fillRect l="0" t="0" r="0" b="0"/>
              </a:stretch>
            </a:blipFill>
          </p:spPr>
        </p:sp>
      </p:grpSp>
      <p:sp>
        <p:nvSpPr>
          <p:cNvPr name="TextBox 21" id="21"/>
          <p:cNvSpPr txBox="true"/>
          <p:nvPr/>
        </p:nvSpPr>
        <p:spPr>
          <a:xfrm rot="0">
            <a:off x="10215562" y="2411682"/>
            <a:ext cx="6700838" cy="785812"/>
          </a:xfrm>
          <a:prstGeom prst="rect">
            <a:avLst/>
          </a:prstGeom>
        </p:spPr>
        <p:txBody>
          <a:bodyPr anchor="t" rtlCol="false" tIns="0" lIns="0" bIns="0" rIns="0">
            <a:spAutoFit/>
          </a:bodyPr>
          <a:lstStyle/>
          <a:p>
            <a:pPr algn="l">
              <a:lnSpc>
                <a:spcPts val="2868"/>
              </a:lnSpc>
            </a:pPr>
            <a:r>
              <a:rPr lang="en-US" sz="1912" b="true">
                <a:solidFill>
                  <a:srgbClr val="1E2B58"/>
                </a:solidFill>
                <a:latin typeface="DM Sans Bold"/>
                <a:ea typeface="DM Sans Bold"/>
                <a:cs typeface="DM Sans Bold"/>
                <a:sym typeface="DM Sans Bold"/>
              </a:rPr>
              <a:t>Threat Actor Profiles:</a:t>
            </a:r>
            <a:r>
              <a:rPr lang="en-US" sz="1912">
                <a:solidFill>
                  <a:srgbClr val="334155"/>
                </a:solidFill>
                <a:latin typeface="DM Sans"/>
                <a:ea typeface="DM Sans"/>
                <a:cs typeface="DM Sans"/>
                <a:sym typeface="DM Sans"/>
              </a:rPr>
              <a:t> Adversaries targeting government institutions, attack lifecycles, and stages of compromise.</a:t>
            </a:r>
          </a:p>
        </p:txBody>
      </p:sp>
      <p:sp>
        <p:nvSpPr>
          <p:cNvPr name="TextBox 22" id="22"/>
          <p:cNvSpPr txBox="true"/>
          <p:nvPr/>
        </p:nvSpPr>
        <p:spPr>
          <a:xfrm rot="0">
            <a:off x="10215562" y="3397520"/>
            <a:ext cx="6700838" cy="785812"/>
          </a:xfrm>
          <a:prstGeom prst="rect">
            <a:avLst/>
          </a:prstGeom>
        </p:spPr>
        <p:txBody>
          <a:bodyPr anchor="t" rtlCol="false" tIns="0" lIns="0" bIns="0" rIns="0">
            <a:spAutoFit/>
          </a:bodyPr>
          <a:lstStyle/>
          <a:p>
            <a:pPr algn="l">
              <a:lnSpc>
                <a:spcPts val="2868"/>
              </a:lnSpc>
            </a:pPr>
            <a:r>
              <a:rPr lang="en-US" sz="1912" b="true">
                <a:solidFill>
                  <a:srgbClr val="1E2B58"/>
                </a:solidFill>
                <a:latin typeface="DM Sans Bold"/>
                <a:ea typeface="DM Sans Bold"/>
                <a:cs typeface="DM Sans Bold"/>
                <a:sym typeface="DM Sans Bold"/>
              </a:rPr>
              <a:t>Tactics &amp; Procedures:</a:t>
            </a:r>
            <a:r>
              <a:rPr lang="en-US" sz="1912">
                <a:solidFill>
                  <a:srgbClr val="334155"/>
                </a:solidFill>
                <a:latin typeface="DM Sans"/>
                <a:ea typeface="DM Sans"/>
                <a:cs typeface="DM Sans"/>
                <a:sym typeface="DM Sans"/>
              </a:rPr>
              <a:t> Real-world Tactics, Techniques, and Procedures (TTPs) observed in public sector incidents.</a:t>
            </a:r>
          </a:p>
        </p:txBody>
      </p:sp>
      <p:sp>
        <p:nvSpPr>
          <p:cNvPr name="TextBox 23" id="23"/>
          <p:cNvSpPr txBox="true"/>
          <p:nvPr/>
        </p:nvSpPr>
        <p:spPr>
          <a:xfrm rot="0">
            <a:off x="10215562" y="4383357"/>
            <a:ext cx="6700838" cy="785812"/>
          </a:xfrm>
          <a:prstGeom prst="rect">
            <a:avLst/>
          </a:prstGeom>
        </p:spPr>
        <p:txBody>
          <a:bodyPr anchor="t" rtlCol="false" tIns="0" lIns="0" bIns="0" rIns="0">
            <a:spAutoFit/>
          </a:bodyPr>
          <a:lstStyle/>
          <a:p>
            <a:pPr algn="l">
              <a:lnSpc>
                <a:spcPts val="2868"/>
              </a:lnSpc>
            </a:pPr>
            <a:r>
              <a:rPr lang="en-US" sz="1912" b="true">
                <a:solidFill>
                  <a:srgbClr val="1E2B58"/>
                </a:solidFill>
                <a:latin typeface="DM Sans Bold"/>
                <a:ea typeface="DM Sans Bold"/>
                <a:cs typeface="DM Sans Bold"/>
                <a:sym typeface="DM Sans Bold"/>
              </a:rPr>
              <a:t>Network Attack Vectors:</a:t>
            </a:r>
            <a:r>
              <a:rPr lang="en-US" sz="1912">
                <a:solidFill>
                  <a:srgbClr val="334155"/>
                </a:solidFill>
                <a:latin typeface="DM Sans"/>
                <a:ea typeface="DM Sans"/>
                <a:cs typeface="DM Sans"/>
                <a:sym typeface="DM Sans"/>
              </a:rPr>
              <a:t> Reconnaissance, service exploitation, lateral movement, and access control misconfigurations.</a:t>
            </a:r>
          </a:p>
        </p:txBody>
      </p:sp>
      <p:grpSp>
        <p:nvGrpSpPr>
          <p:cNvPr name="Group 24" id="24"/>
          <p:cNvGrpSpPr/>
          <p:nvPr/>
        </p:nvGrpSpPr>
        <p:grpSpPr>
          <a:xfrm rot="0">
            <a:off x="15073312" y="6215062"/>
            <a:ext cx="2714625" cy="2714625"/>
            <a:chOff x="0" y="0"/>
            <a:chExt cx="3619500" cy="3619500"/>
          </a:xfrm>
        </p:grpSpPr>
        <p:sp>
          <p:nvSpPr>
            <p:cNvPr name="Freeform 25" id="25" descr="image.png"/>
            <p:cNvSpPr/>
            <p:nvPr/>
          </p:nvSpPr>
          <p:spPr>
            <a:xfrm flipH="false" flipV="false" rot="0">
              <a:off x="0" y="0"/>
              <a:ext cx="3619500" cy="3619500"/>
            </a:xfrm>
            <a:custGeom>
              <a:avLst/>
              <a:gdLst/>
              <a:ahLst/>
              <a:cxnLst/>
              <a:rect r="r" b="b" t="t" l="l"/>
              <a:pathLst>
                <a:path h="3619500" w="3619500">
                  <a:moveTo>
                    <a:pt x="0" y="0"/>
                  </a:moveTo>
                  <a:lnTo>
                    <a:pt x="3619500" y="0"/>
                  </a:lnTo>
                  <a:lnTo>
                    <a:pt x="3619500" y="3619500"/>
                  </a:lnTo>
                  <a:lnTo>
                    <a:pt x="0" y="3619500"/>
                  </a:lnTo>
                  <a:lnTo>
                    <a:pt x="0" y="0"/>
                  </a:lnTo>
                  <a:close/>
                </a:path>
              </a:pathLst>
            </a:custGeom>
            <a:blipFill>
              <a:blip r:embed="rId6"/>
              <a:stretch>
                <a:fillRect l="0" t="0" r="0" b="0"/>
              </a:stretch>
            </a:blipFill>
          </p:spPr>
        </p:sp>
      </p:grpSp>
      <p:sp>
        <p:nvSpPr>
          <p:cNvPr name="TextBox 26" id="26"/>
          <p:cNvSpPr txBox="true"/>
          <p:nvPr/>
        </p:nvSpPr>
        <p:spPr>
          <a:xfrm rot="0">
            <a:off x="1457325" y="2373582"/>
            <a:ext cx="85725" cy="495300"/>
          </a:xfrm>
          <a:prstGeom prst="rect">
            <a:avLst/>
          </a:prstGeom>
        </p:spPr>
        <p:txBody>
          <a:bodyPr anchor="t" rtlCol="false" tIns="0" lIns="0" bIns="0" rIns="0">
            <a:spAutoFit/>
          </a:bodyPr>
          <a:lstStyle/>
          <a:p>
            <a:pPr algn="l">
              <a:lnSpc>
                <a:spcPts val="3375"/>
              </a:lnSpc>
            </a:pPr>
            <a:r>
              <a:rPr lang="en-US" sz="2250" b="true">
                <a:solidFill>
                  <a:srgbClr val="1E2B58"/>
                </a:solidFill>
                <a:latin typeface="DM Sans Bold"/>
                <a:ea typeface="DM Sans Bold"/>
                <a:cs typeface="DM Sans Bold"/>
                <a:sym typeface="DM Sans Bold"/>
              </a:rPr>
              <a:t>•</a:t>
            </a:r>
          </a:p>
        </p:txBody>
      </p:sp>
      <p:sp>
        <p:nvSpPr>
          <p:cNvPr name="TextBox 27" id="27"/>
          <p:cNvSpPr txBox="true"/>
          <p:nvPr/>
        </p:nvSpPr>
        <p:spPr>
          <a:xfrm rot="0">
            <a:off x="1457325" y="3359420"/>
            <a:ext cx="85725" cy="495300"/>
          </a:xfrm>
          <a:prstGeom prst="rect">
            <a:avLst/>
          </a:prstGeom>
        </p:spPr>
        <p:txBody>
          <a:bodyPr anchor="t" rtlCol="false" tIns="0" lIns="0" bIns="0" rIns="0">
            <a:spAutoFit/>
          </a:bodyPr>
          <a:lstStyle/>
          <a:p>
            <a:pPr algn="l">
              <a:lnSpc>
                <a:spcPts val="3375"/>
              </a:lnSpc>
            </a:pPr>
            <a:r>
              <a:rPr lang="en-US" sz="2250" b="true">
                <a:solidFill>
                  <a:srgbClr val="1E2B58"/>
                </a:solidFill>
                <a:latin typeface="DM Sans Bold"/>
                <a:ea typeface="DM Sans Bold"/>
                <a:cs typeface="DM Sans Bold"/>
                <a:sym typeface="DM Sans Bold"/>
              </a:rPr>
              <a:t>•</a:t>
            </a:r>
          </a:p>
        </p:txBody>
      </p:sp>
      <p:sp>
        <p:nvSpPr>
          <p:cNvPr name="TextBox 28" id="28"/>
          <p:cNvSpPr txBox="true"/>
          <p:nvPr/>
        </p:nvSpPr>
        <p:spPr>
          <a:xfrm rot="0">
            <a:off x="1457325" y="4345257"/>
            <a:ext cx="85725" cy="495300"/>
          </a:xfrm>
          <a:prstGeom prst="rect">
            <a:avLst/>
          </a:prstGeom>
        </p:spPr>
        <p:txBody>
          <a:bodyPr anchor="t" rtlCol="false" tIns="0" lIns="0" bIns="0" rIns="0">
            <a:spAutoFit/>
          </a:bodyPr>
          <a:lstStyle/>
          <a:p>
            <a:pPr algn="l">
              <a:lnSpc>
                <a:spcPts val="3375"/>
              </a:lnSpc>
            </a:pPr>
            <a:r>
              <a:rPr lang="en-US" sz="2250" b="true">
                <a:solidFill>
                  <a:srgbClr val="1E2B58"/>
                </a:solidFill>
                <a:latin typeface="DM Sans Bold"/>
                <a:ea typeface="DM Sans Bold"/>
                <a:cs typeface="DM Sans Bold"/>
                <a:sym typeface="DM Sans Bold"/>
              </a:rPr>
              <a:t>•</a:t>
            </a:r>
          </a:p>
        </p:txBody>
      </p:sp>
      <p:sp>
        <p:nvSpPr>
          <p:cNvPr name="TextBox 29" id="29"/>
          <p:cNvSpPr txBox="true"/>
          <p:nvPr/>
        </p:nvSpPr>
        <p:spPr>
          <a:xfrm rot="0">
            <a:off x="9958388" y="2373582"/>
            <a:ext cx="85725" cy="495300"/>
          </a:xfrm>
          <a:prstGeom prst="rect">
            <a:avLst/>
          </a:prstGeom>
        </p:spPr>
        <p:txBody>
          <a:bodyPr anchor="t" rtlCol="false" tIns="0" lIns="0" bIns="0" rIns="0">
            <a:spAutoFit/>
          </a:bodyPr>
          <a:lstStyle/>
          <a:p>
            <a:pPr algn="l">
              <a:lnSpc>
                <a:spcPts val="3375"/>
              </a:lnSpc>
            </a:pPr>
            <a:r>
              <a:rPr lang="en-US" sz="2250" b="true">
                <a:solidFill>
                  <a:srgbClr val="1E2B58"/>
                </a:solidFill>
                <a:latin typeface="DM Sans Bold"/>
                <a:ea typeface="DM Sans Bold"/>
                <a:cs typeface="DM Sans Bold"/>
                <a:sym typeface="DM Sans Bold"/>
              </a:rPr>
              <a:t>•</a:t>
            </a:r>
          </a:p>
        </p:txBody>
      </p:sp>
      <p:sp>
        <p:nvSpPr>
          <p:cNvPr name="TextBox 30" id="30"/>
          <p:cNvSpPr txBox="true"/>
          <p:nvPr/>
        </p:nvSpPr>
        <p:spPr>
          <a:xfrm rot="0">
            <a:off x="9958388" y="3359420"/>
            <a:ext cx="85725" cy="495300"/>
          </a:xfrm>
          <a:prstGeom prst="rect">
            <a:avLst/>
          </a:prstGeom>
        </p:spPr>
        <p:txBody>
          <a:bodyPr anchor="t" rtlCol="false" tIns="0" lIns="0" bIns="0" rIns="0">
            <a:spAutoFit/>
          </a:bodyPr>
          <a:lstStyle/>
          <a:p>
            <a:pPr algn="l">
              <a:lnSpc>
                <a:spcPts val="3375"/>
              </a:lnSpc>
            </a:pPr>
            <a:r>
              <a:rPr lang="en-US" sz="2250" b="true">
                <a:solidFill>
                  <a:srgbClr val="1E2B58"/>
                </a:solidFill>
                <a:latin typeface="DM Sans Bold"/>
                <a:ea typeface="DM Sans Bold"/>
                <a:cs typeface="DM Sans Bold"/>
                <a:sym typeface="DM Sans Bold"/>
              </a:rPr>
              <a:t>•</a:t>
            </a:r>
          </a:p>
        </p:txBody>
      </p:sp>
      <p:sp>
        <p:nvSpPr>
          <p:cNvPr name="TextBox 31" id="31"/>
          <p:cNvSpPr txBox="true"/>
          <p:nvPr/>
        </p:nvSpPr>
        <p:spPr>
          <a:xfrm rot="0">
            <a:off x="9958388" y="4345257"/>
            <a:ext cx="85725" cy="495300"/>
          </a:xfrm>
          <a:prstGeom prst="rect">
            <a:avLst/>
          </a:prstGeom>
        </p:spPr>
        <p:txBody>
          <a:bodyPr anchor="t" rtlCol="false" tIns="0" lIns="0" bIns="0" rIns="0">
            <a:spAutoFit/>
          </a:bodyPr>
          <a:lstStyle/>
          <a:p>
            <a:pPr algn="l">
              <a:lnSpc>
                <a:spcPts val="3375"/>
              </a:lnSpc>
            </a:pPr>
            <a:r>
              <a:rPr lang="en-US" sz="2250" b="true">
                <a:solidFill>
                  <a:srgbClr val="1E2B58"/>
                </a:solidFill>
                <a:latin typeface="DM Sans Bold"/>
                <a:ea typeface="DM Sans Bold"/>
                <a:cs typeface="DM Sans Bold"/>
                <a:sym typeface="DM Sans Bold"/>
              </a:rPr>
              <a:t>•</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857250" y="9358312"/>
            <a:ext cx="16573500" cy="428625"/>
            <a:chOff x="0" y="0"/>
            <a:chExt cx="22098000" cy="571500"/>
          </a:xfrm>
        </p:grpSpPr>
        <p:sp>
          <p:nvSpPr>
            <p:cNvPr name="Freeform 3" id="3" descr="image.png"/>
            <p:cNvSpPr/>
            <p:nvPr/>
          </p:nvSpPr>
          <p:spPr>
            <a:xfrm flipH="false" flipV="false" rot="0">
              <a:off x="0" y="0"/>
              <a:ext cx="22098000" cy="571500"/>
            </a:xfrm>
            <a:custGeom>
              <a:avLst/>
              <a:gdLst/>
              <a:ahLst/>
              <a:cxnLst/>
              <a:rect r="r" b="b" t="t" l="l"/>
              <a:pathLst>
                <a:path h="571500" w="22098000">
                  <a:moveTo>
                    <a:pt x="0" y="0"/>
                  </a:moveTo>
                  <a:lnTo>
                    <a:pt x="22098000" y="0"/>
                  </a:lnTo>
                  <a:lnTo>
                    <a:pt x="22098000" y="571500"/>
                  </a:lnTo>
                  <a:lnTo>
                    <a:pt x="0" y="571500"/>
                  </a:lnTo>
                  <a:lnTo>
                    <a:pt x="0" y="0"/>
                  </a:lnTo>
                  <a:close/>
                </a:path>
              </a:pathLst>
            </a:custGeom>
            <a:blipFill>
              <a:blip r:embed="rId2"/>
              <a:stretch>
                <a:fillRect l="0" t="0" r="0" b="0"/>
              </a:stretch>
            </a:blipFill>
          </p:spPr>
        </p:sp>
      </p:grpSp>
      <p:grpSp>
        <p:nvGrpSpPr>
          <p:cNvPr name="Group 4" id="4"/>
          <p:cNvGrpSpPr/>
          <p:nvPr/>
        </p:nvGrpSpPr>
        <p:grpSpPr>
          <a:xfrm rot="0">
            <a:off x="857250" y="1954482"/>
            <a:ext cx="8072438" cy="7118080"/>
            <a:chOff x="0" y="0"/>
            <a:chExt cx="10763250" cy="9490774"/>
          </a:xfrm>
        </p:grpSpPr>
        <p:sp>
          <p:nvSpPr>
            <p:cNvPr name="Freeform 5" id="5" descr="image.png"/>
            <p:cNvSpPr/>
            <p:nvPr/>
          </p:nvSpPr>
          <p:spPr>
            <a:xfrm flipH="false" flipV="false" rot="0">
              <a:off x="0" y="0"/>
              <a:ext cx="10763250" cy="9490710"/>
            </a:xfrm>
            <a:custGeom>
              <a:avLst/>
              <a:gdLst/>
              <a:ahLst/>
              <a:cxnLst/>
              <a:rect r="r" b="b" t="t" l="l"/>
              <a:pathLst>
                <a:path h="9490710" w="10763250">
                  <a:moveTo>
                    <a:pt x="0" y="0"/>
                  </a:moveTo>
                  <a:lnTo>
                    <a:pt x="10763250" y="0"/>
                  </a:lnTo>
                  <a:lnTo>
                    <a:pt x="10763250" y="9490710"/>
                  </a:lnTo>
                  <a:lnTo>
                    <a:pt x="0" y="9490710"/>
                  </a:lnTo>
                  <a:lnTo>
                    <a:pt x="0" y="0"/>
                  </a:lnTo>
                  <a:close/>
                </a:path>
              </a:pathLst>
            </a:custGeom>
            <a:blipFill>
              <a:blip r:embed="rId3"/>
              <a:stretch>
                <a:fillRect l="0" t="-80" r="0" b="-80"/>
              </a:stretch>
            </a:blipFill>
          </p:spPr>
        </p:sp>
      </p:grpSp>
      <p:grpSp>
        <p:nvGrpSpPr>
          <p:cNvPr name="Group 6" id="6"/>
          <p:cNvGrpSpPr/>
          <p:nvPr/>
        </p:nvGrpSpPr>
        <p:grpSpPr>
          <a:xfrm rot="0">
            <a:off x="9358312" y="1954482"/>
            <a:ext cx="8072438" cy="7118080"/>
            <a:chOff x="0" y="0"/>
            <a:chExt cx="10763250" cy="9490774"/>
          </a:xfrm>
        </p:grpSpPr>
        <p:sp>
          <p:nvSpPr>
            <p:cNvPr name="Freeform 7" id="7" descr="image.png"/>
            <p:cNvSpPr/>
            <p:nvPr/>
          </p:nvSpPr>
          <p:spPr>
            <a:xfrm flipH="false" flipV="false" rot="0">
              <a:off x="0" y="0"/>
              <a:ext cx="10763250" cy="9490710"/>
            </a:xfrm>
            <a:custGeom>
              <a:avLst/>
              <a:gdLst/>
              <a:ahLst/>
              <a:cxnLst/>
              <a:rect r="r" b="b" t="t" l="l"/>
              <a:pathLst>
                <a:path h="9490710" w="10763250">
                  <a:moveTo>
                    <a:pt x="0" y="0"/>
                  </a:moveTo>
                  <a:lnTo>
                    <a:pt x="10763250" y="0"/>
                  </a:lnTo>
                  <a:lnTo>
                    <a:pt x="10763250" y="9490710"/>
                  </a:lnTo>
                  <a:lnTo>
                    <a:pt x="0" y="9490710"/>
                  </a:lnTo>
                  <a:lnTo>
                    <a:pt x="0" y="0"/>
                  </a:lnTo>
                  <a:close/>
                </a:path>
              </a:pathLst>
            </a:custGeom>
            <a:blipFill>
              <a:blip r:embed="rId3"/>
              <a:stretch>
                <a:fillRect l="0" t="-80" r="0" b="-80"/>
              </a:stretch>
            </a:blipFill>
          </p:spPr>
        </p:sp>
      </p:grpSp>
      <p:grpSp>
        <p:nvGrpSpPr>
          <p:cNvPr name="Group 8" id="8"/>
          <p:cNvGrpSpPr/>
          <p:nvPr/>
        </p:nvGrpSpPr>
        <p:grpSpPr>
          <a:xfrm rot="0">
            <a:off x="857250" y="700088"/>
            <a:ext cx="742950" cy="742950"/>
            <a:chOff x="0" y="0"/>
            <a:chExt cx="990600" cy="990600"/>
          </a:xfrm>
        </p:grpSpPr>
        <p:sp>
          <p:nvSpPr>
            <p:cNvPr name="Freeform 9" id="9" descr="image.png"/>
            <p:cNvSpPr/>
            <p:nvPr/>
          </p:nvSpPr>
          <p:spPr>
            <a:xfrm flipH="false" flipV="false" rot="0">
              <a:off x="0" y="0"/>
              <a:ext cx="990600" cy="990600"/>
            </a:xfrm>
            <a:custGeom>
              <a:avLst/>
              <a:gdLst/>
              <a:ahLst/>
              <a:cxnLst/>
              <a:rect r="r" b="b" t="t" l="l"/>
              <a:pathLst>
                <a:path h="990600" w="990600">
                  <a:moveTo>
                    <a:pt x="0" y="0"/>
                  </a:moveTo>
                  <a:lnTo>
                    <a:pt x="990600" y="0"/>
                  </a:lnTo>
                  <a:lnTo>
                    <a:pt x="990600" y="990600"/>
                  </a:lnTo>
                  <a:lnTo>
                    <a:pt x="0" y="990600"/>
                  </a:lnTo>
                  <a:lnTo>
                    <a:pt x="0" y="0"/>
                  </a:lnTo>
                  <a:close/>
                </a:path>
              </a:pathLst>
            </a:custGeom>
            <a:blipFill>
              <a:blip r:embed="rId4"/>
              <a:stretch>
                <a:fillRect l="0" t="0" r="0" b="0"/>
              </a:stretch>
            </a:blipFill>
          </p:spPr>
        </p:sp>
      </p:grpSp>
      <p:sp>
        <p:nvSpPr>
          <p:cNvPr name="TextBox 10" id="10"/>
          <p:cNvSpPr txBox="true"/>
          <p:nvPr/>
        </p:nvSpPr>
        <p:spPr>
          <a:xfrm rot="0">
            <a:off x="1885950" y="642938"/>
            <a:ext cx="11915775" cy="954357"/>
          </a:xfrm>
          <a:prstGeom prst="rect">
            <a:avLst/>
          </a:prstGeom>
        </p:spPr>
        <p:txBody>
          <a:bodyPr anchor="t" rtlCol="false" tIns="0" lIns="0" bIns="0" rIns="0">
            <a:spAutoFit/>
          </a:bodyPr>
          <a:lstStyle/>
          <a:p>
            <a:pPr algn="l">
              <a:lnSpc>
                <a:spcPts val="2160"/>
              </a:lnSpc>
            </a:pPr>
            <a:r>
              <a:rPr lang="en-US" sz="1800" b="true">
                <a:solidFill>
                  <a:srgbClr val="0284C7"/>
                </a:solidFill>
                <a:latin typeface="DM Sans Bold"/>
                <a:ea typeface="DM Sans Bold"/>
                <a:cs typeface="DM Sans Bold"/>
                <a:sym typeface="DM Sans Bold"/>
              </a:rPr>
              <a:t>DAY 2 · AFTERNOON SESSION</a:t>
            </a:r>
          </a:p>
        </p:txBody>
      </p:sp>
      <p:sp>
        <p:nvSpPr>
          <p:cNvPr name="TextBox 11" id="11"/>
          <p:cNvSpPr txBox="true"/>
          <p:nvPr/>
        </p:nvSpPr>
        <p:spPr>
          <a:xfrm rot="0">
            <a:off x="857250" y="9544050"/>
            <a:ext cx="5305130" cy="242888"/>
          </a:xfrm>
          <a:prstGeom prst="rect">
            <a:avLst/>
          </a:prstGeom>
        </p:spPr>
        <p:txBody>
          <a:bodyPr anchor="t" rtlCol="false" tIns="0" lIns="0" bIns="0" rIns="0">
            <a:spAutoFit/>
          </a:bodyPr>
          <a:lstStyle/>
          <a:p>
            <a:pPr algn="l">
              <a:lnSpc>
                <a:spcPts val="1755"/>
              </a:lnSpc>
            </a:pPr>
            <a:r>
              <a:rPr lang="en-US" sz="1462">
                <a:solidFill>
                  <a:srgbClr val="94A3B8"/>
                </a:solidFill>
                <a:latin typeface="DM Sans"/>
                <a:ea typeface="DM Sans"/>
                <a:cs typeface="DM Sans"/>
                <a:sym typeface="DM Sans"/>
              </a:rPr>
              <a:t>Davao del Norte Provincial Government — Cybersecurity Seminar</a:t>
            </a:r>
          </a:p>
        </p:txBody>
      </p:sp>
      <p:sp>
        <p:nvSpPr>
          <p:cNvPr name="TextBox 12" id="12"/>
          <p:cNvSpPr txBox="true"/>
          <p:nvPr/>
        </p:nvSpPr>
        <p:spPr>
          <a:xfrm rot="0">
            <a:off x="17330738" y="9544050"/>
            <a:ext cx="100012" cy="242888"/>
          </a:xfrm>
          <a:prstGeom prst="rect">
            <a:avLst/>
          </a:prstGeom>
        </p:spPr>
        <p:txBody>
          <a:bodyPr anchor="t" rtlCol="false" tIns="0" lIns="0" bIns="0" rIns="0">
            <a:spAutoFit/>
          </a:bodyPr>
          <a:lstStyle/>
          <a:p>
            <a:pPr algn="l">
              <a:lnSpc>
                <a:spcPts val="1755"/>
              </a:lnSpc>
            </a:pPr>
            <a:r>
              <a:rPr lang="en-US" sz="1462">
                <a:solidFill>
                  <a:srgbClr val="94A3B8"/>
                </a:solidFill>
                <a:latin typeface="DM Sans"/>
                <a:ea typeface="DM Sans"/>
                <a:cs typeface="DM Sans"/>
                <a:sym typeface="DM Sans"/>
              </a:rPr>
              <a:t>4</a:t>
            </a:r>
          </a:p>
        </p:txBody>
      </p:sp>
      <p:grpSp>
        <p:nvGrpSpPr>
          <p:cNvPr name="Group 13" id="13"/>
          <p:cNvGrpSpPr/>
          <p:nvPr/>
        </p:nvGrpSpPr>
        <p:grpSpPr>
          <a:xfrm rot="0">
            <a:off x="1057275" y="900112"/>
            <a:ext cx="342900" cy="342900"/>
            <a:chOff x="0" y="0"/>
            <a:chExt cx="457200" cy="457200"/>
          </a:xfrm>
        </p:grpSpPr>
        <p:sp>
          <p:nvSpPr>
            <p:cNvPr name="Freeform 14" id="14" descr="image.png"/>
            <p:cNvSpPr/>
            <p:nvPr/>
          </p:nvSpPr>
          <p:spPr>
            <a:xfrm flipH="false" flipV="false" rot="0">
              <a:off x="0" y="0"/>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5"/>
              <a:stretch>
                <a:fillRect l="0" t="0" r="0" b="0"/>
              </a:stretch>
            </a:blipFill>
          </p:spPr>
        </p:sp>
      </p:grpSp>
      <p:sp>
        <p:nvSpPr>
          <p:cNvPr name="TextBox 15" id="15"/>
          <p:cNvSpPr txBox="true"/>
          <p:nvPr/>
        </p:nvSpPr>
        <p:spPr>
          <a:xfrm rot="0">
            <a:off x="1885950" y="1014412"/>
            <a:ext cx="12511564" cy="582882"/>
          </a:xfrm>
          <a:prstGeom prst="rect">
            <a:avLst/>
          </a:prstGeom>
        </p:spPr>
        <p:txBody>
          <a:bodyPr anchor="t" rtlCol="false" tIns="0" lIns="0" bIns="0" rIns="0">
            <a:spAutoFit/>
          </a:bodyPr>
          <a:lstStyle/>
          <a:p>
            <a:pPr algn="l">
              <a:lnSpc>
                <a:spcPts val="4590"/>
              </a:lnSpc>
            </a:pPr>
            <a:r>
              <a:rPr lang="en-US" sz="3825" b="true">
                <a:solidFill>
                  <a:srgbClr val="1E2B58"/>
                </a:solidFill>
                <a:latin typeface="Merriweather Bold"/>
                <a:ea typeface="Merriweather Bold"/>
                <a:cs typeface="Merriweather Bold"/>
                <a:sym typeface="Merriweather Bold"/>
              </a:rPr>
              <a:t>Web App &amp; Credential Attacks, Defensive Controls</a:t>
            </a:r>
          </a:p>
        </p:txBody>
      </p:sp>
      <p:sp>
        <p:nvSpPr>
          <p:cNvPr name="TextBox 16" id="16"/>
          <p:cNvSpPr txBox="true"/>
          <p:nvPr/>
        </p:nvSpPr>
        <p:spPr>
          <a:xfrm rot="0">
            <a:off x="1714500" y="2411682"/>
            <a:ext cx="6700838" cy="785812"/>
          </a:xfrm>
          <a:prstGeom prst="rect">
            <a:avLst/>
          </a:prstGeom>
        </p:spPr>
        <p:txBody>
          <a:bodyPr anchor="t" rtlCol="false" tIns="0" lIns="0" bIns="0" rIns="0">
            <a:spAutoFit/>
          </a:bodyPr>
          <a:lstStyle/>
          <a:p>
            <a:pPr algn="l">
              <a:lnSpc>
                <a:spcPts val="2868"/>
              </a:lnSpc>
            </a:pPr>
            <a:r>
              <a:rPr lang="en-US" sz="1912" b="true">
                <a:solidFill>
                  <a:srgbClr val="1E2B58"/>
                </a:solidFill>
                <a:latin typeface="DM Sans Bold"/>
                <a:ea typeface="DM Sans Bold"/>
                <a:cs typeface="DM Sans Bold"/>
                <a:sym typeface="DM Sans Bold"/>
              </a:rPr>
              <a:t>Defensive Controls:</a:t>
            </a:r>
            <a:r>
              <a:rPr lang="en-US" sz="1912">
                <a:solidFill>
                  <a:srgbClr val="334155"/>
                </a:solidFill>
                <a:latin typeface="DM Sans"/>
                <a:ea typeface="DM Sans"/>
                <a:cs typeface="DM Sans"/>
                <a:sym typeface="DM Sans"/>
              </a:rPr>
              <a:t> Network segmentation, access control, log monitoring, anomaly detection, and infrastructure hardening.</a:t>
            </a:r>
          </a:p>
        </p:txBody>
      </p:sp>
      <p:sp>
        <p:nvSpPr>
          <p:cNvPr name="TextBox 17" id="17"/>
          <p:cNvSpPr txBox="true"/>
          <p:nvPr/>
        </p:nvSpPr>
        <p:spPr>
          <a:xfrm rot="0">
            <a:off x="1714500" y="3397520"/>
            <a:ext cx="6700838" cy="785812"/>
          </a:xfrm>
          <a:prstGeom prst="rect">
            <a:avLst/>
          </a:prstGeom>
        </p:spPr>
        <p:txBody>
          <a:bodyPr anchor="t" rtlCol="false" tIns="0" lIns="0" bIns="0" rIns="0">
            <a:spAutoFit/>
          </a:bodyPr>
          <a:lstStyle/>
          <a:p>
            <a:pPr algn="l">
              <a:lnSpc>
                <a:spcPts val="2868"/>
              </a:lnSpc>
            </a:pPr>
            <a:r>
              <a:rPr lang="en-US" sz="1912" b="true">
                <a:solidFill>
                  <a:srgbClr val="1E2B58"/>
                </a:solidFill>
                <a:latin typeface="DM Sans Bold"/>
                <a:ea typeface="DM Sans Bold"/>
                <a:cs typeface="DM Sans Bold"/>
                <a:sym typeface="DM Sans Bold"/>
              </a:rPr>
              <a:t>SQL Injection:</a:t>
            </a:r>
            <a:r>
              <a:rPr lang="en-US" sz="1912">
                <a:solidFill>
                  <a:srgbClr val="334155"/>
                </a:solidFill>
                <a:latin typeface="DM Sans"/>
                <a:ea typeface="DM Sans"/>
                <a:cs typeface="DM Sans"/>
                <a:sym typeface="DM Sans"/>
              </a:rPr>
              <a:t> SQLi concepts and practical demonstration of exploitation mechanisms in a controlled lab setting.</a:t>
            </a:r>
          </a:p>
        </p:txBody>
      </p:sp>
      <p:sp>
        <p:nvSpPr>
          <p:cNvPr name="TextBox 18" id="18"/>
          <p:cNvSpPr txBox="true"/>
          <p:nvPr/>
        </p:nvSpPr>
        <p:spPr>
          <a:xfrm rot="0">
            <a:off x="1714500" y="4383357"/>
            <a:ext cx="6700838" cy="785812"/>
          </a:xfrm>
          <a:prstGeom prst="rect">
            <a:avLst/>
          </a:prstGeom>
        </p:spPr>
        <p:txBody>
          <a:bodyPr anchor="t" rtlCol="false" tIns="0" lIns="0" bIns="0" rIns="0">
            <a:spAutoFit/>
          </a:bodyPr>
          <a:lstStyle/>
          <a:p>
            <a:pPr algn="l">
              <a:lnSpc>
                <a:spcPts val="2868"/>
              </a:lnSpc>
            </a:pPr>
            <a:r>
              <a:rPr lang="en-US" sz="1912" b="true">
                <a:solidFill>
                  <a:srgbClr val="1E2B58"/>
                </a:solidFill>
                <a:latin typeface="DM Sans Bold"/>
                <a:ea typeface="DM Sans Bold"/>
                <a:cs typeface="DM Sans Bold"/>
                <a:sym typeface="DM Sans Bold"/>
              </a:rPr>
              <a:t>Secure Coding:</a:t>
            </a:r>
            <a:r>
              <a:rPr lang="en-US" sz="1912">
                <a:solidFill>
                  <a:srgbClr val="334155"/>
                </a:solidFill>
                <a:latin typeface="DM Sans"/>
                <a:ea typeface="DM Sans"/>
                <a:cs typeface="DM Sans"/>
                <a:sym typeface="DM Sans"/>
              </a:rPr>
              <a:t> Defensive development practices and input validation principles for government web services.</a:t>
            </a:r>
          </a:p>
        </p:txBody>
      </p:sp>
      <p:grpSp>
        <p:nvGrpSpPr>
          <p:cNvPr name="Group 19" id="19"/>
          <p:cNvGrpSpPr/>
          <p:nvPr/>
        </p:nvGrpSpPr>
        <p:grpSpPr>
          <a:xfrm rot="0">
            <a:off x="6572250" y="6215062"/>
            <a:ext cx="2714625" cy="2714625"/>
            <a:chOff x="0" y="0"/>
            <a:chExt cx="3619500" cy="3619500"/>
          </a:xfrm>
        </p:grpSpPr>
        <p:sp>
          <p:nvSpPr>
            <p:cNvPr name="Freeform 20" id="20" descr="image.png"/>
            <p:cNvSpPr/>
            <p:nvPr/>
          </p:nvSpPr>
          <p:spPr>
            <a:xfrm flipH="false" flipV="false" rot="0">
              <a:off x="0" y="0"/>
              <a:ext cx="3619500" cy="3619500"/>
            </a:xfrm>
            <a:custGeom>
              <a:avLst/>
              <a:gdLst/>
              <a:ahLst/>
              <a:cxnLst/>
              <a:rect r="r" b="b" t="t" l="l"/>
              <a:pathLst>
                <a:path h="3619500" w="3619500">
                  <a:moveTo>
                    <a:pt x="0" y="0"/>
                  </a:moveTo>
                  <a:lnTo>
                    <a:pt x="3619500" y="0"/>
                  </a:lnTo>
                  <a:lnTo>
                    <a:pt x="3619500" y="3619500"/>
                  </a:lnTo>
                  <a:lnTo>
                    <a:pt x="0" y="3619500"/>
                  </a:lnTo>
                  <a:lnTo>
                    <a:pt x="0" y="0"/>
                  </a:lnTo>
                  <a:close/>
                </a:path>
              </a:pathLst>
            </a:custGeom>
            <a:blipFill>
              <a:blip r:embed="rId6"/>
              <a:stretch>
                <a:fillRect l="0" t="0" r="0" b="0"/>
              </a:stretch>
            </a:blipFill>
          </p:spPr>
        </p:sp>
      </p:grpSp>
      <p:sp>
        <p:nvSpPr>
          <p:cNvPr name="TextBox 21" id="21"/>
          <p:cNvSpPr txBox="true"/>
          <p:nvPr/>
        </p:nvSpPr>
        <p:spPr>
          <a:xfrm rot="0">
            <a:off x="10215562" y="2411682"/>
            <a:ext cx="6700838" cy="785812"/>
          </a:xfrm>
          <a:prstGeom prst="rect">
            <a:avLst/>
          </a:prstGeom>
        </p:spPr>
        <p:txBody>
          <a:bodyPr anchor="t" rtlCol="false" tIns="0" lIns="0" bIns="0" rIns="0">
            <a:spAutoFit/>
          </a:bodyPr>
          <a:lstStyle/>
          <a:p>
            <a:pPr algn="l">
              <a:lnSpc>
                <a:spcPts val="2868"/>
              </a:lnSpc>
            </a:pPr>
            <a:r>
              <a:rPr lang="en-US" sz="1912" b="true">
                <a:solidFill>
                  <a:srgbClr val="1E2B58"/>
                </a:solidFill>
                <a:latin typeface="DM Sans Bold"/>
                <a:ea typeface="DM Sans Bold"/>
                <a:cs typeface="DM Sans Bold"/>
                <a:sym typeface="DM Sans Bold"/>
              </a:rPr>
              <a:t>Credential Attacks:</a:t>
            </a:r>
            <a:r>
              <a:rPr lang="en-US" sz="1912">
                <a:solidFill>
                  <a:srgbClr val="334155"/>
                </a:solidFill>
                <a:latin typeface="DM Sans"/>
                <a:ea typeface="DM Sans"/>
                <a:cs typeface="DM Sans"/>
                <a:sym typeface="DM Sans"/>
              </a:rPr>
              <a:t> Brute force and password spraying methods alongside MFA and account lockout protection.</a:t>
            </a:r>
          </a:p>
        </p:txBody>
      </p:sp>
      <p:sp>
        <p:nvSpPr>
          <p:cNvPr name="TextBox 22" id="22"/>
          <p:cNvSpPr txBox="true"/>
          <p:nvPr/>
        </p:nvSpPr>
        <p:spPr>
          <a:xfrm rot="0">
            <a:off x="10215562" y="3397520"/>
            <a:ext cx="6700838" cy="785812"/>
          </a:xfrm>
          <a:prstGeom prst="rect">
            <a:avLst/>
          </a:prstGeom>
        </p:spPr>
        <p:txBody>
          <a:bodyPr anchor="t" rtlCol="false" tIns="0" lIns="0" bIns="0" rIns="0">
            <a:spAutoFit/>
          </a:bodyPr>
          <a:lstStyle/>
          <a:p>
            <a:pPr algn="l">
              <a:lnSpc>
                <a:spcPts val="2868"/>
              </a:lnSpc>
            </a:pPr>
            <a:r>
              <a:rPr lang="en-US" sz="1912" b="true">
                <a:solidFill>
                  <a:srgbClr val="1E2B58"/>
                </a:solidFill>
                <a:latin typeface="DM Sans Bold"/>
                <a:ea typeface="DM Sans Bold"/>
                <a:cs typeface="DM Sans Bold"/>
                <a:sym typeface="DM Sans Bold"/>
              </a:rPr>
              <a:t>Hands-On Laboratory:</a:t>
            </a:r>
            <a:r>
              <a:rPr lang="en-US" sz="1912">
                <a:solidFill>
                  <a:srgbClr val="334155"/>
                </a:solidFill>
                <a:latin typeface="DM Sans"/>
                <a:ea typeface="DM Sans"/>
                <a:cs typeface="DM Sans"/>
                <a:sym typeface="DM Sans"/>
              </a:rPr>
              <a:t> Controlled exercises using Hydra and Burp Suite to discover flaws and apply defensive mitigations.</a:t>
            </a:r>
          </a:p>
        </p:txBody>
      </p:sp>
      <p:grpSp>
        <p:nvGrpSpPr>
          <p:cNvPr name="Group 23" id="23"/>
          <p:cNvGrpSpPr/>
          <p:nvPr/>
        </p:nvGrpSpPr>
        <p:grpSpPr>
          <a:xfrm rot="0">
            <a:off x="15073312" y="6215062"/>
            <a:ext cx="2714625" cy="2714625"/>
            <a:chOff x="0" y="0"/>
            <a:chExt cx="3619500" cy="3619500"/>
          </a:xfrm>
        </p:grpSpPr>
        <p:sp>
          <p:nvSpPr>
            <p:cNvPr name="Freeform 24" id="24" descr="image.png"/>
            <p:cNvSpPr/>
            <p:nvPr/>
          </p:nvSpPr>
          <p:spPr>
            <a:xfrm flipH="false" flipV="false" rot="0">
              <a:off x="0" y="0"/>
              <a:ext cx="3619500" cy="3619500"/>
            </a:xfrm>
            <a:custGeom>
              <a:avLst/>
              <a:gdLst/>
              <a:ahLst/>
              <a:cxnLst/>
              <a:rect r="r" b="b" t="t" l="l"/>
              <a:pathLst>
                <a:path h="3619500" w="3619500">
                  <a:moveTo>
                    <a:pt x="0" y="0"/>
                  </a:moveTo>
                  <a:lnTo>
                    <a:pt x="3619500" y="0"/>
                  </a:lnTo>
                  <a:lnTo>
                    <a:pt x="3619500" y="3619500"/>
                  </a:lnTo>
                  <a:lnTo>
                    <a:pt x="0" y="3619500"/>
                  </a:lnTo>
                  <a:lnTo>
                    <a:pt x="0" y="0"/>
                  </a:lnTo>
                  <a:close/>
                </a:path>
              </a:pathLst>
            </a:custGeom>
            <a:blipFill>
              <a:blip r:embed="rId6"/>
              <a:stretch>
                <a:fillRect l="0" t="0" r="0" b="0"/>
              </a:stretch>
            </a:blipFill>
          </p:spPr>
        </p:sp>
      </p:grpSp>
      <p:sp>
        <p:nvSpPr>
          <p:cNvPr name="TextBox 25" id="25"/>
          <p:cNvSpPr txBox="true"/>
          <p:nvPr/>
        </p:nvSpPr>
        <p:spPr>
          <a:xfrm rot="0">
            <a:off x="1457325" y="2373582"/>
            <a:ext cx="85725" cy="495300"/>
          </a:xfrm>
          <a:prstGeom prst="rect">
            <a:avLst/>
          </a:prstGeom>
        </p:spPr>
        <p:txBody>
          <a:bodyPr anchor="t" rtlCol="false" tIns="0" lIns="0" bIns="0" rIns="0">
            <a:spAutoFit/>
          </a:bodyPr>
          <a:lstStyle/>
          <a:p>
            <a:pPr algn="l">
              <a:lnSpc>
                <a:spcPts val="3375"/>
              </a:lnSpc>
            </a:pPr>
            <a:r>
              <a:rPr lang="en-US" sz="2250" b="true">
                <a:solidFill>
                  <a:srgbClr val="1E2B58"/>
                </a:solidFill>
                <a:latin typeface="DM Sans Bold"/>
                <a:ea typeface="DM Sans Bold"/>
                <a:cs typeface="DM Sans Bold"/>
                <a:sym typeface="DM Sans Bold"/>
              </a:rPr>
              <a:t>•</a:t>
            </a:r>
          </a:p>
        </p:txBody>
      </p:sp>
      <p:sp>
        <p:nvSpPr>
          <p:cNvPr name="TextBox 26" id="26"/>
          <p:cNvSpPr txBox="true"/>
          <p:nvPr/>
        </p:nvSpPr>
        <p:spPr>
          <a:xfrm rot="0">
            <a:off x="1457325" y="3359420"/>
            <a:ext cx="85725" cy="495300"/>
          </a:xfrm>
          <a:prstGeom prst="rect">
            <a:avLst/>
          </a:prstGeom>
        </p:spPr>
        <p:txBody>
          <a:bodyPr anchor="t" rtlCol="false" tIns="0" lIns="0" bIns="0" rIns="0">
            <a:spAutoFit/>
          </a:bodyPr>
          <a:lstStyle/>
          <a:p>
            <a:pPr algn="l">
              <a:lnSpc>
                <a:spcPts val="3375"/>
              </a:lnSpc>
            </a:pPr>
            <a:r>
              <a:rPr lang="en-US" sz="2250" b="true">
                <a:solidFill>
                  <a:srgbClr val="1E2B58"/>
                </a:solidFill>
                <a:latin typeface="DM Sans Bold"/>
                <a:ea typeface="DM Sans Bold"/>
                <a:cs typeface="DM Sans Bold"/>
                <a:sym typeface="DM Sans Bold"/>
              </a:rPr>
              <a:t>•</a:t>
            </a:r>
          </a:p>
        </p:txBody>
      </p:sp>
      <p:sp>
        <p:nvSpPr>
          <p:cNvPr name="TextBox 27" id="27"/>
          <p:cNvSpPr txBox="true"/>
          <p:nvPr/>
        </p:nvSpPr>
        <p:spPr>
          <a:xfrm rot="0">
            <a:off x="1457325" y="4345257"/>
            <a:ext cx="85725" cy="495300"/>
          </a:xfrm>
          <a:prstGeom prst="rect">
            <a:avLst/>
          </a:prstGeom>
        </p:spPr>
        <p:txBody>
          <a:bodyPr anchor="t" rtlCol="false" tIns="0" lIns="0" bIns="0" rIns="0">
            <a:spAutoFit/>
          </a:bodyPr>
          <a:lstStyle/>
          <a:p>
            <a:pPr algn="l">
              <a:lnSpc>
                <a:spcPts val="3375"/>
              </a:lnSpc>
            </a:pPr>
            <a:r>
              <a:rPr lang="en-US" sz="2250" b="true">
                <a:solidFill>
                  <a:srgbClr val="1E2B58"/>
                </a:solidFill>
                <a:latin typeface="DM Sans Bold"/>
                <a:ea typeface="DM Sans Bold"/>
                <a:cs typeface="DM Sans Bold"/>
                <a:sym typeface="DM Sans Bold"/>
              </a:rPr>
              <a:t>•</a:t>
            </a:r>
          </a:p>
        </p:txBody>
      </p:sp>
      <p:sp>
        <p:nvSpPr>
          <p:cNvPr name="TextBox 28" id="28"/>
          <p:cNvSpPr txBox="true"/>
          <p:nvPr/>
        </p:nvSpPr>
        <p:spPr>
          <a:xfrm rot="0">
            <a:off x="9958388" y="2373582"/>
            <a:ext cx="85725" cy="495300"/>
          </a:xfrm>
          <a:prstGeom prst="rect">
            <a:avLst/>
          </a:prstGeom>
        </p:spPr>
        <p:txBody>
          <a:bodyPr anchor="t" rtlCol="false" tIns="0" lIns="0" bIns="0" rIns="0">
            <a:spAutoFit/>
          </a:bodyPr>
          <a:lstStyle/>
          <a:p>
            <a:pPr algn="l">
              <a:lnSpc>
                <a:spcPts val="3375"/>
              </a:lnSpc>
            </a:pPr>
            <a:r>
              <a:rPr lang="en-US" sz="2250" b="true">
                <a:solidFill>
                  <a:srgbClr val="1E2B58"/>
                </a:solidFill>
                <a:latin typeface="DM Sans Bold"/>
                <a:ea typeface="DM Sans Bold"/>
                <a:cs typeface="DM Sans Bold"/>
                <a:sym typeface="DM Sans Bold"/>
              </a:rPr>
              <a:t>•</a:t>
            </a:r>
          </a:p>
        </p:txBody>
      </p:sp>
      <p:sp>
        <p:nvSpPr>
          <p:cNvPr name="TextBox 29" id="29"/>
          <p:cNvSpPr txBox="true"/>
          <p:nvPr/>
        </p:nvSpPr>
        <p:spPr>
          <a:xfrm rot="0">
            <a:off x="9958388" y="3359420"/>
            <a:ext cx="85725" cy="495300"/>
          </a:xfrm>
          <a:prstGeom prst="rect">
            <a:avLst/>
          </a:prstGeom>
        </p:spPr>
        <p:txBody>
          <a:bodyPr anchor="t" rtlCol="false" tIns="0" lIns="0" bIns="0" rIns="0">
            <a:spAutoFit/>
          </a:bodyPr>
          <a:lstStyle/>
          <a:p>
            <a:pPr algn="l">
              <a:lnSpc>
                <a:spcPts val="3375"/>
              </a:lnSpc>
            </a:pPr>
            <a:r>
              <a:rPr lang="en-US" sz="2250" b="true">
                <a:solidFill>
                  <a:srgbClr val="1E2B58"/>
                </a:solidFill>
                <a:latin typeface="DM Sans Bold"/>
                <a:ea typeface="DM Sans Bold"/>
                <a:cs typeface="DM Sans Bold"/>
                <a:sym typeface="DM Sans Bold"/>
              </a:rPr>
              <a:t>•</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857250" y="9358312"/>
            <a:ext cx="16573500" cy="428625"/>
            <a:chOff x="0" y="0"/>
            <a:chExt cx="22098000" cy="571500"/>
          </a:xfrm>
        </p:grpSpPr>
        <p:sp>
          <p:nvSpPr>
            <p:cNvPr name="Freeform 3" id="3" descr="image.png"/>
            <p:cNvSpPr/>
            <p:nvPr/>
          </p:nvSpPr>
          <p:spPr>
            <a:xfrm flipH="false" flipV="false" rot="0">
              <a:off x="0" y="0"/>
              <a:ext cx="22098000" cy="571500"/>
            </a:xfrm>
            <a:custGeom>
              <a:avLst/>
              <a:gdLst/>
              <a:ahLst/>
              <a:cxnLst/>
              <a:rect r="r" b="b" t="t" l="l"/>
              <a:pathLst>
                <a:path h="571500" w="22098000">
                  <a:moveTo>
                    <a:pt x="0" y="0"/>
                  </a:moveTo>
                  <a:lnTo>
                    <a:pt x="22098000" y="0"/>
                  </a:lnTo>
                  <a:lnTo>
                    <a:pt x="22098000" y="571500"/>
                  </a:lnTo>
                  <a:lnTo>
                    <a:pt x="0" y="571500"/>
                  </a:lnTo>
                  <a:lnTo>
                    <a:pt x="0" y="0"/>
                  </a:lnTo>
                  <a:close/>
                </a:path>
              </a:pathLst>
            </a:custGeom>
            <a:blipFill>
              <a:blip r:embed="rId2"/>
              <a:stretch>
                <a:fillRect l="0" t="0" r="0" b="0"/>
              </a:stretch>
            </a:blipFill>
          </p:spPr>
        </p:sp>
      </p:grpSp>
      <p:grpSp>
        <p:nvGrpSpPr>
          <p:cNvPr name="Group 4" id="4"/>
          <p:cNvGrpSpPr/>
          <p:nvPr/>
        </p:nvGrpSpPr>
        <p:grpSpPr>
          <a:xfrm rot="0">
            <a:off x="857250" y="1954482"/>
            <a:ext cx="8072438" cy="7118080"/>
            <a:chOff x="0" y="0"/>
            <a:chExt cx="10763250" cy="9490774"/>
          </a:xfrm>
        </p:grpSpPr>
        <p:sp>
          <p:nvSpPr>
            <p:cNvPr name="Freeform 5" id="5" descr="image.png"/>
            <p:cNvSpPr/>
            <p:nvPr/>
          </p:nvSpPr>
          <p:spPr>
            <a:xfrm flipH="false" flipV="false" rot="0">
              <a:off x="0" y="0"/>
              <a:ext cx="10763250" cy="9490710"/>
            </a:xfrm>
            <a:custGeom>
              <a:avLst/>
              <a:gdLst/>
              <a:ahLst/>
              <a:cxnLst/>
              <a:rect r="r" b="b" t="t" l="l"/>
              <a:pathLst>
                <a:path h="9490710" w="10763250">
                  <a:moveTo>
                    <a:pt x="0" y="0"/>
                  </a:moveTo>
                  <a:lnTo>
                    <a:pt x="10763250" y="0"/>
                  </a:lnTo>
                  <a:lnTo>
                    <a:pt x="10763250" y="9490710"/>
                  </a:lnTo>
                  <a:lnTo>
                    <a:pt x="0" y="9490710"/>
                  </a:lnTo>
                  <a:lnTo>
                    <a:pt x="0" y="0"/>
                  </a:lnTo>
                  <a:close/>
                </a:path>
              </a:pathLst>
            </a:custGeom>
            <a:blipFill>
              <a:blip r:embed="rId3"/>
              <a:stretch>
                <a:fillRect l="0" t="-80" r="0" b="-80"/>
              </a:stretch>
            </a:blipFill>
          </p:spPr>
        </p:sp>
      </p:grpSp>
      <p:grpSp>
        <p:nvGrpSpPr>
          <p:cNvPr name="Group 6" id="6"/>
          <p:cNvGrpSpPr/>
          <p:nvPr/>
        </p:nvGrpSpPr>
        <p:grpSpPr>
          <a:xfrm rot="0">
            <a:off x="9358312" y="1954482"/>
            <a:ext cx="8072438" cy="7118080"/>
            <a:chOff x="0" y="0"/>
            <a:chExt cx="10763250" cy="9490774"/>
          </a:xfrm>
        </p:grpSpPr>
        <p:sp>
          <p:nvSpPr>
            <p:cNvPr name="Freeform 7" id="7" descr="image.png"/>
            <p:cNvSpPr/>
            <p:nvPr/>
          </p:nvSpPr>
          <p:spPr>
            <a:xfrm flipH="false" flipV="false" rot="0">
              <a:off x="0" y="0"/>
              <a:ext cx="10763250" cy="9490710"/>
            </a:xfrm>
            <a:custGeom>
              <a:avLst/>
              <a:gdLst/>
              <a:ahLst/>
              <a:cxnLst/>
              <a:rect r="r" b="b" t="t" l="l"/>
              <a:pathLst>
                <a:path h="9490710" w="10763250">
                  <a:moveTo>
                    <a:pt x="0" y="0"/>
                  </a:moveTo>
                  <a:lnTo>
                    <a:pt x="10763250" y="0"/>
                  </a:lnTo>
                  <a:lnTo>
                    <a:pt x="10763250" y="9490710"/>
                  </a:lnTo>
                  <a:lnTo>
                    <a:pt x="0" y="9490710"/>
                  </a:lnTo>
                  <a:lnTo>
                    <a:pt x="0" y="0"/>
                  </a:lnTo>
                  <a:close/>
                </a:path>
              </a:pathLst>
            </a:custGeom>
            <a:blipFill>
              <a:blip r:embed="rId3"/>
              <a:stretch>
                <a:fillRect l="0" t="-80" r="0" b="-80"/>
              </a:stretch>
            </a:blipFill>
          </p:spPr>
        </p:sp>
      </p:grpSp>
      <p:grpSp>
        <p:nvGrpSpPr>
          <p:cNvPr name="Group 8" id="8"/>
          <p:cNvGrpSpPr/>
          <p:nvPr/>
        </p:nvGrpSpPr>
        <p:grpSpPr>
          <a:xfrm rot="0">
            <a:off x="857250" y="700088"/>
            <a:ext cx="742950" cy="742950"/>
            <a:chOff x="0" y="0"/>
            <a:chExt cx="990600" cy="990600"/>
          </a:xfrm>
        </p:grpSpPr>
        <p:sp>
          <p:nvSpPr>
            <p:cNvPr name="Freeform 9" id="9" descr="image.png"/>
            <p:cNvSpPr/>
            <p:nvPr/>
          </p:nvSpPr>
          <p:spPr>
            <a:xfrm flipH="false" flipV="false" rot="0">
              <a:off x="0" y="0"/>
              <a:ext cx="990600" cy="990600"/>
            </a:xfrm>
            <a:custGeom>
              <a:avLst/>
              <a:gdLst/>
              <a:ahLst/>
              <a:cxnLst/>
              <a:rect r="r" b="b" t="t" l="l"/>
              <a:pathLst>
                <a:path h="990600" w="990600">
                  <a:moveTo>
                    <a:pt x="0" y="0"/>
                  </a:moveTo>
                  <a:lnTo>
                    <a:pt x="990600" y="0"/>
                  </a:lnTo>
                  <a:lnTo>
                    <a:pt x="990600" y="990600"/>
                  </a:lnTo>
                  <a:lnTo>
                    <a:pt x="0" y="990600"/>
                  </a:lnTo>
                  <a:lnTo>
                    <a:pt x="0" y="0"/>
                  </a:lnTo>
                  <a:close/>
                </a:path>
              </a:pathLst>
            </a:custGeom>
            <a:blipFill>
              <a:blip r:embed="rId4"/>
              <a:stretch>
                <a:fillRect l="0" t="0" r="0" b="0"/>
              </a:stretch>
            </a:blipFill>
          </p:spPr>
        </p:sp>
      </p:grpSp>
      <p:sp>
        <p:nvSpPr>
          <p:cNvPr name="TextBox 10" id="10"/>
          <p:cNvSpPr txBox="true"/>
          <p:nvPr/>
        </p:nvSpPr>
        <p:spPr>
          <a:xfrm rot="0">
            <a:off x="1885950" y="642938"/>
            <a:ext cx="8572500" cy="954357"/>
          </a:xfrm>
          <a:prstGeom prst="rect">
            <a:avLst/>
          </a:prstGeom>
        </p:spPr>
        <p:txBody>
          <a:bodyPr anchor="t" rtlCol="false" tIns="0" lIns="0" bIns="0" rIns="0">
            <a:spAutoFit/>
          </a:bodyPr>
          <a:lstStyle/>
          <a:p>
            <a:pPr algn="l">
              <a:lnSpc>
                <a:spcPts val="2160"/>
              </a:lnSpc>
            </a:pPr>
            <a:r>
              <a:rPr lang="en-US" sz="1800" b="true">
                <a:solidFill>
                  <a:srgbClr val="0284C7"/>
                </a:solidFill>
                <a:latin typeface="DM Sans Bold"/>
                <a:ea typeface="DM Sans Bold"/>
                <a:cs typeface="DM Sans Bold"/>
                <a:sym typeface="DM Sans Bold"/>
              </a:rPr>
              <a:t>DAY 3 · MORNING SESSION</a:t>
            </a:r>
          </a:p>
        </p:txBody>
      </p:sp>
      <p:sp>
        <p:nvSpPr>
          <p:cNvPr name="TextBox 11" id="11"/>
          <p:cNvSpPr txBox="true"/>
          <p:nvPr/>
        </p:nvSpPr>
        <p:spPr>
          <a:xfrm rot="0">
            <a:off x="857250" y="9544050"/>
            <a:ext cx="5305130" cy="242888"/>
          </a:xfrm>
          <a:prstGeom prst="rect">
            <a:avLst/>
          </a:prstGeom>
        </p:spPr>
        <p:txBody>
          <a:bodyPr anchor="t" rtlCol="false" tIns="0" lIns="0" bIns="0" rIns="0">
            <a:spAutoFit/>
          </a:bodyPr>
          <a:lstStyle/>
          <a:p>
            <a:pPr algn="l">
              <a:lnSpc>
                <a:spcPts val="1755"/>
              </a:lnSpc>
            </a:pPr>
            <a:r>
              <a:rPr lang="en-US" sz="1462">
                <a:solidFill>
                  <a:srgbClr val="94A3B8"/>
                </a:solidFill>
                <a:latin typeface="DM Sans"/>
                <a:ea typeface="DM Sans"/>
                <a:cs typeface="DM Sans"/>
                <a:sym typeface="DM Sans"/>
              </a:rPr>
              <a:t>Davao del Norte Provincial Government — Cybersecurity Seminar</a:t>
            </a:r>
          </a:p>
        </p:txBody>
      </p:sp>
      <p:sp>
        <p:nvSpPr>
          <p:cNvPr name="TextBox 12" id="12"/>
          <p:cNvSpPr txBox="true"/>
          <p:nvPr/>
        </p:nvSpPr>
        <p:spPr>
          <a:xfrm rot="0">
            <a:off x="17316450" y="9544050"/>
            <a:ext cx="114300" cy="242888"/>
          </a:xfrm>
          <a:prstGeom prst="rect">
            <a:avLst/>
          </a:prstGeom>
        </p:spPr>
        <p:txBody>
          <a:bodyPr anchor="t" rtlCol="false" tIns="0" lIns="0" bIns="0" rIns="0">
            <a:spAutoFit/>
          </a:bodyPr>
          <a:lstStyle/>
          <a:p>
            <a:pPr algn="l">
              <a:lnSpc>
                <a:spcPts val="1755"/>
              </a:lnSpc>
            </a:pPr>
            <a:r>
              <a:rPr lang="en-US" sz="1462">
                <a:solidFill>
                  <a:srgbClr val="94A3B8"/>
                </a:solidFill>
                <a:latin typeface="DM Sans"/>
                <a:ea typeface="DM Sans"/>
                <a:cs typeface="DM Sans"/>
                <a:sym typeface="DM Sans"/>
              </a:rPr>
              <a:t>5</a:t>
            </a:r>
          </a:p>
        </p:txBody>
      </p:sp>
      <p:grpSp>
        <p:nvGrpSpPr>
          <p:cNvPr name="Group 13" id="13"/>
          <p:cNvGrpSpPr/>
          <p:nvPr/>
        </p:nvGrpSpPr>
        <p:grpSpPr>
          <a:xfrm rot="0">
            <a:off x="1057275" y="900112"/>
            <a:ext cx="342900" cy="342900"/>
            <a:chOff x="0" y="0"/>
            <a:chExt cx="457200" cy="457200"/>
          </a:xfrm>
        </p:grpSpPr>
        <p:sp>
          <p:nvSpPr>
            <p:cNvPr name="Freeform 14" id="14" descr="image.png"/>
            <p:cNvSpPr/>
            <p:nvPr/>
          </p:nvSpPr>
          <p:spPr>
            <a:xfrm flipH="false" flipV="false" rot="0">
              <a:off x="0" y="0"/>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5"/>
              <a:stretch>
                <a:fillRect l="0" t="0" r="0" b="0"/>
              </a:stretch>
            </a:blipFill>
          </p:spPr>
        </p:sp>
      </p:grpSp>
      <p:sp>
        <p:nvSpPr>
          <p:cNvPr name="TextBox 15" id="15"/>
          <p:cNvSpPr txBox="true"/>
          <p:nvPr/>
        </p:nvSpPr>
        <p:spPr>
          <a:xfrm rot="0">
            <a:off x="1885950" y="1014412"/>
            <a:ext cx="9001125" cy="582882"/>
          </a:xfrm>
          <a:prstGeom prst="rect">
            <a:avLst/>
          </a:prstGeom>
        </p:spPr>
        <p:txBody>
          <a:bodyPr anchor="t" rtlCol="false" tIns="0" lIns="0" bIns="0" rIns="0">
            <a:spAutoFit/>
          </a:bodyPr>
          <a:lstStyle/>
          <a:p>
            <a:pPr algn="l">
              <a:lnSpc>
                <a:spcPts val="4590"/>
              </a:lnSpc>
            </a:pPr>
            <a:r>
              <a:rPr lang="en-US" sz="3825" b="true">
                <a:solidFill>
                  <a:srgbClr val="1E2B58"/>
                </a:solidFill>
                <a:latin typeface="Merriweather Bold"/>
                <a:ea typeface="Merriweather Bold"/>
                <a:cs typeface="Merriweather Bold"/>
                <a:sym typeface="Merriweather Bold"/>
              </a:rPr>
              <a:t>Defensive Operations &amp; Monitoring</a:t>
            </a:r>
          </a:p>
        </p:txBody>
      </p:sp>
      <p:sp>
        <p:nvSpPr>
          <p:cNvPr name="TextBox 16" id="16"/>
          <p:cNvSpPr txBox="true"/>
          <p:nvPr/>
        </p:nvSpPr>
        <p:spPr>
          <a:xfrm rot="0">
            <a:off x="1714500" y="2411682"/>
            <a:ext cx="6700838" cy="785812"/>
          </a:xfrm>
          <a:prstGeom prst="rect">
            <a:avLst/>
          </a:prstGeom>
        </p:spPr>
        <p:txBody>
          <a:bodyPr anchor="t" rtlCol="false" tIns="0" lIns="0" bIns="0" rIns="0">
            <a:spAutoFit/>
          </a:bodyPr>
          <a:lstStyle/>
          <a:p>
            <a:pPr algn="l">
              <a:lnSpc>
                <a:spcPts val="2868"/>
              </a:lnSpc>
            </a:pPr>
            <a:r>
              <a:rPr lang="en-US" sz="1912" b="true">
                <a:solidFill>
                  <a:srgbClr val="1E2B58"/>
                </a:solidFill>
                <a:latin typeface="DM Sans Bold"/>
                <a:ea typeface="DM Sans Bold"/>
                <a:cs typeface="DM Sans Bold"/>
                <a:sym typeface="DM Sans Bold"/>
              </a:rPr>
              <a:t>Cybersecurity Posture:</a:t>
            </a:r>
            <a:r>
              <a:rPr lang="en-US" sz="1912">
                <a:solidFill>
                  <a:srgbClr val="334155"/>
                </a:solidFill>
                <a:latin typeface="DM Sans"/>
                <a:ea typeface="DM Sans"/>
                <a:cs typeface="DM Sans"/>
                <a:sym typeface="DM Sans"/>
              </a:rPr>
              <a:t> Strengthening posture in a provincial setting by aligning technical controls with risk priorities.</a:t>
            </a:r>
          </a:p>
        </p:txBody>
      </p:sp>
      <p:sp>
        <p:nvSpPr>
          <p:cNvPr name="TextBox 17" id="17"/>
          <p:cNvSpPr txBox="true"/>
          <p:nvPr/>
        </p:nvSpPr>
        <p:spPr>
          <a:xfrm rot="0">
            <a:off x="1714500" y="3397520"/>
            <a:ext cx="6700838" cy="785812"/>
          </a:xfrm>
          <a:prstGeom prst="rect">
            <a:avLst/>
          </a:prstGeom>
        </p:spPr>
        <p:txBody>
          <a:bodyPr anchor="t" rtlCol="false" tIns="0" lIns="0" bIns="0" rIns="0">
            <a:spAutoFit/>
          </a:bodyPr>
          <a:lstStyle/>
          <a:p>
            <a:pPr algn="l">
              <a:lnSpc>
                <a:spcPts val="2868"/>
              </a:lnSpc>
            </a:pPr>
            <a:r>
              <a:rPr lang="en-US" sz="1912" b="true">
                <a:solidFill>
                  <a:srgbClr val="1E2B58"/>
                </a:solidFill>
                <a:latin typeface="DM Sans Bold"/>
                <a:ea typeface="DM Sans Bold"/>
                <a:cs typeface="DM Sans Bold"/>
                <a:sym typeface="DM Sans Bold"/>
              </a:rPr>
              <a:t>Patch Lifecycle:</a:t>
            </a:r>
            <a:r>
              <a:rPr lang="en-US" sz="1912">
                <a:solidFill>
                  <a:srgbClr val="334155"/>
                </a:solidFill>
                <a:latin typeface="DM Sans"/>
                <a:ea typeface="DM Sans"/>
                <a:cs typeface="DM Sans"/>
                <a:sym typeface="DM Sans"/>
              </a:rPr>
              <a:t> Prioritization matrix, patch deployment workflows, and network isolation/segmentation strategies.</a:t>
            </a:r>
          </a:p>
        </p:txBody>
      </p:sp>
      <p:grpSp>
        <p:nvGrpSpPr>
          <p:cNvPr name="Group 18" id="18"/>
          <p:cNvGrpSpPr/>
          <p:nvPr/>
        </p:nvGrpSpPr>
        <p:grpSpPr>
          <a:xfrm rot="0">
            <a:off x="6572250" y="6215062"/>
            <a:ext cx="2714625" cy="2714625"/>
            <a:chOff x="0" y="0"/>
            <a:chExt cx="3619500" cy="3619500"/>
          </a:xfrm>
        </p:grpSpPr>
        <p:sp>
          <p:nvSpPr>
            <p:cNvPr name="Freeform 19" id="19" descr="image.png"/>
            <p:cNvSpPr/>
            <p:nvPr/>
          </p:nvSpPr>
          <p:spPr>
            <a:xfrm flipH="false" flipV="false" rot="0">
              <a:off x="0" y="0"/>
              <a:ext cx="3619500" cy="3619500"/>
            </a:xfrm>
            <a:custGeom>
              <a:avLst/>
              <a:gdLst/>
              <a:ahLst/>
              <a:cxnLst/>
              <a:rect r="r" b="b" t="t" l="l"/>
              <a:pathLst>
                <a:path h="3619500" w="3619500">
                  <a:moveTo>
                    <a:pt x="0" y="0"/>
                  </a:moveTo>
                  <a:lnTo>
                    <a:pt x="3619500" y="0"/>
                  </a:lnTo>
                  <a:lnTo>
                    <a:pt x="3619500" y="3619500"/>
                  </a:lnTo>
                  <a:lnTo>
                    <a:pt x="0" y="3619500"/>
                  </a:lnTo>
                  <a:lnTo>
                    <a:pt x="0" y="0"/>
                  </a:lnTo>
                  <a:close/>
                </a:path>
              </a:pathLst>
            </a:custGeom>
            <a:blipFill>
              <a:blip r:embed="rId6"/>
              <a:stretch>
                <a:fillRect l="0" t="0" r="0" b="0"/>
              </a:stretch>
            </a:blipFill>
          </p:spPr>
        </p:sp>
      </p:grpSp>
      <p:sp>
        <p:nvSpPr>
          <p:cNvPr name="TextBox 20" id="20"/>
          <p:cNvSpPr txBox="true"/>
          <p:nvPr/>
        </p:nvSpPr>
        <p:spPr>
          <a:xfrm rot="0">
            <a:off x="10215562" y="2411682"/>
            <a:ext cx="6700838" cy="785812"/>
          </a:xfrm>
          <a:prstGeom prst="rect">
            <a:avLst/>
          </a:prstGeom>
        </p:spPr>
        <p:txBody>
          <a:bodyPr anchor="t" rtlCol="false" tIns="0" lIns="0" bIns="0" rIns="0">
            <a:spAutoFit/>
          </a:bodyPr>
          <a:lstStyle/>
          <a:p>
            <a:pPr algn="l">
              <a:lnSpc>
                <a:spcPts val="2868"/>
              </a:lnSpc>
            </a:pPr>
            <a:r>
              <a:rPr lang="en-US" sz="1912" b="true">
                <a:solidFill>
                  <a:srgbClr val="1E2B58"/>
                </a:solidFill>
                <a:latin typeface="DM Sans Bold"/>
                <a:ea typeface="DM Sans Bold"/>
                <a:cs typeface="DM Sans Bold"/>
                <a:sym typeface="DM Sans Bold"/>
              </a:rPr>
              <a:t>Log Management:</a:t>
            </a:r>
            <a:r>
              <a:rPr lang="en-US" sz="1912">
                <a:solidFill>
                  <a:srgbClr val="334155"/>
                </a:solidFill>
                <a:latin typeface="DM Sans"/>
                <a:ea typeface="DM Sans"/>
                <a:cs typeface="DM Sans"/>
                <a:sym typeface="DM Sans"/>
              </a:rPr>
              <a:t> Centralized log collection, security monitoring architecture, and active alerting strategies.</a:t>
            </a:r>
          </a:p>
        </p:txBody>
      </p:sp>
      <p:sp>
        <p:nvSpPr>
          <p:cNvPr name="TextBox 21" id="21"/>
          <p:cNvSpPr txBox="true"/>
          <p:nvPr/>
        </p:nvSpPr>
        <p:spPr>
          <a:xfrm rot="0">
            <a:off x="10215562" y="3397520"/>
            <a:ext cx="6700838" cy="785812"/>
          </a:xfrm>
          <a:prstGeom prst="rect">
            <a:avLst/>
          </a:prstGeom>
        </p:spPr>
        <p:txBody>
          <a:bodyPr anchor="t" rtlCol="false" tIns="0" lIns="0" bIns="0" rIns="0">
            <a:spAutoFit/>
          </a:bodyPr>
          <a:lstStyle/>
          <a:p>
            <a:pPr algn="l">
              <a:lnSpc>
                <a:spcPts val="2868"/>
              </a:lnSpc>
            </a:pPr>
            <a:r>
              <a:rPr lang="en-US" sz="1912" b="true">
                <a:solidFill>
                  <a:srgbClr val="1E2B58"/>
                </a:solidFill>
                <a:latin typeface="DM Sans Bold"/>
                <a:ea typeface="DM Sans Bold"/>
                <a:cs typeface="DM Sans Bold"/>
                <a:sym typeface="DM Sans Bold"/>
              </a:rPr>
              <a:t>Hands-On Laboratory:</a:t>
            </a:r>
            <a:r>
              <a:rPr lang="en-US" sz="1912">
                <a:solidFill>
                  <a:srgbClr val="334155"/>
                </a:solidFill>
                <a:latin typeface="DM Sans"/>
                <a:ea typeface="DM Sans"/>
                <a:cs typeface="DM Sans"/>
                <a:sym typeface="DM Sans"/>
              </a:rPr>
              <a:t> Configuring monitoring alerts using Zabbix and Wazuh, log parsing, and threat detection.</a:t>
            </a:r>
          </a:p>
        </p:txBody>
      </p:sp>
      <p:grpSp>
        <p:nvGrpSpPr>
          <p:cNvPr name="Group 22" id="22"/>
          <p:cNvGrpSpPr/>
          <p:nvPr/>
        </p:nvGrpSpPr>
        <p:grpSpPr>
          <a:xfrm rot="0">
            <a:off x="15073312" y="6215062"/>
            <a:ext cx="2714625" cy="2714625"/>
            <a:chOff x="0" y="0"/>
            <a:chExt cx="3619500" cy="3619500"/>
          </a:xfrm>
        </p:grpSpPr>
        <p:sp>
          <p:nvSpPr>
            <p:cNvPr name="Freeform 23" id="23" descr="image.png"/>
            <p:cNvSpPr/>
            <p:nvPr/>
          </p:nvSpPr>
          <p:spPr>
            <a:xfrm flipH="false" flipV="false" rot="0">
              <a:off x="0" y="0"/>
              <a:ext cx="3619500" cy="3619500"/>
            </a:xfrm>
            <a:custGeom>
              <a:avLst/>
              <a:gdLst/>
              <a:ahLst/>
              <a:cxnLst/>
              <a:rect r="r" b="b" t="t" l="l"/>
              <a:pathLst>
                <a:path h="3619500" w="3619500">
                  <a:moveTo>
                    <a:pt x="0" y="0"/>
                  </a:moveTo>
                  <a:lnTo>
                    <a:pt x="3619500" y="0"/>
                  </a:lnTo>
                  <a:lnTo>
                    <a:pt x="3619500" y="3619500"/>
                  </a:lnTo>
                  <a:lnTo>
                    <a:pt x="0" y="3619500"/>
                  </a:lnTo>
                  <a:lnTo>
                    <a:pt x="0" y="0"/>
                  </a:lnTo>
                  <a:close/>
                </a:path>
              </a:pathLst>
            </a:custGeom>
            <a:blipFill>
              <a:blip r:embed="rId6"/>
              <a:stretch>
                <a:fillRect l="0" t="0" r="0" b="0"/>
              </a:stretch>
            </a:blipFill>
          </p:spPr>
        </p:sp>
      </p:grpSp>
      <p:sp>
        <p:nvSpPr>
          <p:cNvPr name="TextBox 24" id="24"/>
          <p:cNvSpPr txBox="true"/>
          <p:nvPr/>
        </p:nvSpPr>
        <p:spPr>
          <a:xfrm rot="0">
            <a:off x="1457325" y="2373582"/>
            <a:ext cx="85725" cy="495300"/>
          </a:xfrm>
          <a:prstGeom prst="rect">
            <a:avLst/>
          </a:prstGeom>
        </p:spPr>
        <p:txBody>
          <a:bodyPr anchor="t" rtlCol="false" tIns="0" lIns="0" bIns="0" rIns="0">
            <a:spAutoFit/>
          </a:bodyPr>
          <a:lstStyle/>
          <a:p>
            <a:pPr algn="l">
              <a:lnSpc>
                <a:spcPts val="3375"/>
              </a:lnSpc>
            </a:pPr>
            <a:r>
              <a:rPr lang="en-US" sz="2250" b="true">
                <a:solidFill>
                  <a:srgbClr val="1E2B58"/>
                </a:solidFill>
                <a:latin typeface="DM Sans Bold"/>
                <a:ea typeface="DM Sans Bold"/>
                <a:cs typeface="DM Sans Bold"/>
                <a:sym typeface="DM Sans Bold"/>
              </a:rPr>
              <a:t>•</a:t>
            </a:r>
          </a:p>
        </p:txBody>
      </p:sp>
      <p:sp>
        <p:nvSpPr>
          <p:cNvPr name="TextBox 25" id="25"/>
          <p:cNvSpPr txBox="true"/>
          <p:nvPr/>
        </p:nvSpPr>
        <p:spPr>
          <a:xfrm rot="0">
            <a:off x="1457325" y="3359420"/>
            <a:ext cx="85725" cy="495300"/>
          </a:xfrm>
          <a:prstGeom prst="rect">
            <a:avLst/>
          </a:prstGeom>
        </p:spPr>
        <p:txBody>
          <a:bodyPr anchor="t" rtlCol="false" tIns="0" lIns="0" bIns="0" rIns="0">
            <a:spAutoFit/>
          </a:bodyPr>
          <a:lstStyle/>
          <a:p>
            <a:pPr algn="l">
              <a:lnSpc>
                <a:spcPts val="3375"/>
              </a:lnSpc>
            </a:pPr>
            <a:r>
              <a:rPr lang="en-US" sz="2250" b="true">
                <a:solidFill>
                  <a:srgbClr val="1E2B58"/>
                </a:solidFill>
                <a:latin typeface="DM Sans Bold"/>
                <a:ea typeface="DM Sans Bold"/>
                <a:cs typeface="DM Sans Bold"/>
                <a:sym typeface="DM Sans Bold"/>
              </a:rPr>
              <a:t>•</a:t>
            </a:r>
          </a:p>
        </p:txBody>
      </p:sp>
      <p:sp>
        <p:nvSpPr>
          <p:cNvPr name="TextBox 26" id="26"/>
          <p:cNvSpPr txBox="true"/>
          <p:nvPr/>
        </p:nvSpPr>
        <p:spPr>
          <a:xfrm rot="0">
            <a:off x="9958388" y="2373582"/>
            <a:ext cx="85725" cy="495300"/>
          </a:xfrm>
          <a:prstGeom prst="rect">
            <a:avLst/>
          </a:prstGeom>
        </p:spPr>
        <p:txBody>
          <a:bodyPr anchor="t" rtlCol="false" tIns="0" lIns="0" bIns="0" rIns="0">
            <a:spAutoFit/>
          </a:bodyPr>
          <a:lstStyle/>
          <a:p>
            <a:pPr algn="l">
              <a:lnSpc>
                <a:spcPts val="3375"/>
              </a:lnSpc>
            </a:pPr>
            <a:r>
              <a:rPr lang="en-US" sz="2250" b="true">
                <a:solidFill>
                  <a:srgbClr val="1E2B58"/>
                </a:solidFill>
                <a:latin typeface="DM Sans Bold"/>
                <a:ea typeface="DM Sans Bold"/>
                <a:cs typeface="DM Sans Bold"/>
                <a:sym typeface="DM Sans Bold"/>
              </a:rPr>
              <a:t>•</a:t>
            </a:r>
          </a:p>
        </p:txBody>
      </p:sp>
      <p:sp>
        <p:nvSpPr>
          <p:cNvPr name="TextBox 27" id="27"/>
          <p:cNvSpPr txBox="true"/>
          <p:nvPr/>
        </p:nvSpPr>
        <p:spPr>
          <a:xfrm rot="0">
            <a:off x="9958388" y="3359420"/>
            <a:ext cx="85725" cy="495300"/>
          </a:xfrm>
          <a:prstGeom prst="rect">
            <a:avLst/>
          </a:prstGeom>
        </p:spPr>
        <p:txBody>
          <a:bodyPr anchor="t" rtlCol="false" tIns="0" lIns="0" bIns="0" rIns="0">
            <a:spAutoFit/>
          </a:bodyPr>
          <a:lstStyle/>
          <a:p>
            <a:pPr algn="l">
              <a:lnSpc>
                <a:spcPts val="3375"/>
              </a:lnSpc>
            </a:pPr>
            <a:r>
              <a:rPr lang="en-US" sz="2250" b="true">
                <a:solidFill>
                  <a:srgbClr val="1E2B58"/>
                </a:solidFill>
                <a:latin typeface="DM Sans Bold"/>
                <a:ea typeface="DM Sans Bold"/>
                <a:cs typeface="DM Sans Bold"/>
                <a:sym typeface="DM Sans Bold"/>
              </a:rPr>
              <a:t>•</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857250" y="9358312"/>
            <a:ext cx="16573500" cy="428625"/>
            <a:chOff x="0" y="0"/>
            <a:chExt cx="22098000" cy="571500"/>
          </a:xfrm>
        </p:grpSpPr>
        <p:sp>
          <p:nvSpPr>
            <p:cNvPr name="Freeform 3" id="3" descr="image.png"/>
            <p:cNvSpPr/>
            <p:nvPr/>
          </p:nvSpPr>
          <p:spPr>
            <a:xfrm flipH="false" flipV="false" rot="0">
              <a:off x="0" y="0"/>
              <a:ext cx="22098000" cy="571500"/>
            </a:xfrm>
            <a:custGeom>
              <a:avLst/>
              <a:gdLst/>
              <a:ahLst/>
              <a:cxnLst/>
              <a:rect r="r" b="b" t="t" l="l"/>
              <a:pathLst>
                <a:path h="571500" w="22098000">
                  <a:moveTo>
                    <a:pt x="0" y="0"/>
                  </a:moveTo>
                  <a:lnTo>
                    <a:pt x="22098000" y="0"/>
                  </a:lnTo>
                  <a:lnTo>
                    <a:pt x="22098000" y="571500"/>
                  </a:lnTo>
                  <a:lnTo>
                    <a:pt x="0" y="571500"/>
                  </a:lnTo>
                  <a:lnTo>
                    <a:pt x="0" y="0"/>
                  </a:lnTo>
                  <a:close/>
                </a:path>
              </a:pathLst>
            </a:custGeom>
            <a:blipFill>
              <a:blip r:embed="rId2"/>
              <a:stretch>
                <a:fillRect l="0" t="0" r="0" b="0"/>
              </a:stretch>
            </a:blipFill>
          </p:spPr>
        </p:sp>
      </p:grpSp>
      <p:grpSp>
        <p:nvGrpSpPr>
          <p:cNvPr name="Group 4" id="4"/>
          <p:cNvGrpSpPr/>
          <p:nvPr/>
        </p:nvGrpSpPr>
        <p:grpSpPr>
          <a:xfrm rot="0">
            <a:off x="857250" y="1954482"/>
            <a:ext cx="8072438" cy="7118080"/>
            <a:chOff x="0" y="0"/>
            <a:chExt cx="10763250" cy="9490774"/>
          </a:xfrm>
        </p:grpSpPr>
        <p:sp>
          <p:nvSpPr>
            <p:cNvPr name="Freeform 5" id="5" descr="image.png"/>
            <p:cNvSpPr/>
            <p:nvPr/>
          </p:nvSpPr>
          <p:spPr>
            <a:xfrm flipH="false" flipV="false" rot="0">
              <a:off x="0" y="0"/>
              <a:ext cx="10763250" cy="9490710"/>
            </a:xfrm>
            <a:custGeom>
              <a:avLst/>
              <a:gdLst/>
              <a:ahLst/>
              <a:cxnLst/>
              <a:rect r="r" b="b" t="t" l="l"/>
              <a:pathLst>
                <a:path h="9490710" w="10763250">
                  <a:moveTo>
                    <a:pt x="0" y="0"/>
                  </a:moveTo>
                  <a:lnTo>
                    <a:pt x="10763250" y="0"/>
                  </a:lnTo>
                  <a:lnTo>
                    <a:pt x="10763250" y="9490710"/>
                  </a:lnTo>
                  <a:lnTo>
                    <a:pt x="0" y="9490710"/>
                  </a:lnTo>
                  <a:lnTo>
                    <a:pt x="0" y="0"/>
                  </a:lnTo>
                  <a:close/>
                </a:path>
              </a:pathLst>
            </a:custGeom>
            <a:blipFill>
              <a:blip r:embed="rId3"/>
              <a:stretch>
                <a:fillRect l="0" t="-80" r="0" b="-80"/>
              </a:stretch>
            </a:blipFill>
          </p:spPr>
        </p:sp>
      </p:grpSp>
      <p:grpSp>
        <p:nvGrpSpPr>
          <p:cNvPr name="Group 6" id="6"/>
          <p:cNvGrpSpPr/>
          <p:nvPr/>
        </p:nvGrpSpPr>
        <p:grpSpPr>
          <a:xfrm rot="0">
            <a:off x="9358312" y="1954482"/>
            <a:ext cx="8072438" cy="7118080"/>
            <a:chOff x="0" y="0"/>
            <a:chExt cx="10763250" cy="9490774"/>
          </a:xfrm>
        </p:grpSpPr>
        <p:sp>
          <p:nvSpPr>
            <p:cNvPr name="Freeform 7" id="7" descr="image.png"/>
            <p:cNvSpPr/>
            <p:nvPr/>
          </p:nvSpPr>
          <p:spPr>
            <a:xfrm flipH="false" flipV="false" rot="0">
              <a:off x="0" y="0"/>
              <a:ext cx="10763250" cy="9490710"/>
            </a:xfrm>
            <a:custGeom>
              <a:avLst/>
              <a:gdLst/>
              <a:ahLst/>
              <a:cxnLst/>
              <a:rect r="r" b="b" t="t" l="l"/>
              <a:pathLst>
                <a:path h="9490710" w="10763250">
                  <a:moveTo>
                    <a:pt x="0" y="0"/>
                  </a:moveTo>
                  <a:lnTo>
                    <a:pt x="10763250" y="0"/>
                  </a:lnTo>
                  <a:lnTo>
                    <a:pt x="10763250" y="9490710"/>
                  </a:lnTo>
                  <a:lnTo>
                    <a:pt x="0" y="9490710"/>
                  </a:lnTo>
                  <a:lnTo>
                    <a:pt x="0" y="0"/>
                  </a:lnTo>
                  <a:close/>
                </a:path>
              </a:pathLst>
            </a:custGeom>
            <a:blipFill>
              <a:blip r:embed="rId3"/>
              <a:stretch>
                <a:fillRect l="0" t="-80" r="0" b="-80"/>
              </a:stretch>
            </a:blipFill>
          </p:spPr>
        </p:sp>
      </p:grpSp>
      <p:grpSp>
        <p:nvGrpSpPr>
          <p:cNvPr name="Group 8" id="8"/>
          <p:cNvGrpSpPr/>
          <p:nvPr/>
        </p:nvGrpSpPr>
        <p:grpSpPr>
          <a:xfrm rot="0">
            <a:off x="857250" y="700088"/>
            <a:ext cx="742950" cy="742950"/>
            <a:chOff x="0" y="0"/>
            <a:chExt cx="990600" cy="990600"/>
          </a:xfrm>
        </p:grpSpPr>
        <p:sp>
          <p:nvSpPr>
            <p:cNvPr name="Freeform 9" id="9" descr="image.png"/>
            <p:cNvSpPr/>
            <p:nvPr/>
          </p:nvSpPr>
          <p:spPr>
            <a:xfrm flipH="false" flipV="false" rot="0">
              <a:off x="0" y="0"/>
              <a:ext cx="990600" cy="990600"/>
            </a:xfrm>
            <a:custGeom>
              <a:avLst/>
              <a:gdLst/>
              <a:ahLst/>
              <a:cxnLst/>
              <a:rect r="r" b="b" t="t" l="l"/>
              <a:pathLst>
                <a:path h="990600" w="990600">
                  <a:moveTo>
                    <a:pt x="0" y="0"/>
                  </a:moveTo>
                  <a:lnTo>
                    <a:pt x="990600" y="0"/>
                  </a:lnTo>
                  <a:lnTo>
                    <a:pt x="990600" y="990600"/>
                  </a:lnTo>
                  <a:lnTo>
                    <a:pt x="0" y="990600"/>
                  </a:lnTo>
                  <a:lnTo>
                    <a:pt x="0" y="0"/>
                  </a:lnTo>
                  <a:close/>
                </a:path>
              </a:pathLst>
            </a:custGeom>
            <a:blipFill>
              <a:blip r:embed="rId4"/>
              <a:stretch>
                <a:fillRect l="0" t="0" r="0" b="0"/>
              </a:stretch>
            </a:blipFill>
          </p:spPr>
        </p:sp>
      </p:grpSp>
      <p:sp>
        <p:nvSpPr>
          <p:cNvPr name="TextBox 10" id="10"/>
          <p:cNvSpPr txBox="true"/>
          <p:nvPr/>
        </p:nvSpPr>
        <p:spPr>
          <a:xfrm rot="0">
            <a:off x="1885950" y="642938"/>
            <a:ext cx="9272588" cy="954357"/>
          </a:xfrm>
          <a:prstGeom prst="rect">
            <a:avLst/>
          </a:prstGeom>
        </p:spPr>
        <p:txBody>
          <a:bodyPr anchor="t" rtlCol="false" tIns="0" lIns="0" bIns="0" rIns="0">
            <a:spAutoFit/>
          </a:bodyPr>
          <a:lstStyle/>
          <a:p>
            <a:pPr algn="l">
              <a:lnSpc>
                <a:spcPts val="2160"/>
              </a:lnSpc>
            </a:pPr>
            <a:r>
              <a:rPr lang="en-US" sz="1800" b="true">
                <a:solidFill>
                  <a:srgbClr val="0284C7"/>
                </a:solidFill>
                <a:latin typeface="DM Sans Bold"/>
                <a:ea typeface="DM Sans Bold"/>
                <a:cs typeface="DM Sans Bold"/>
                <a:sym typeface="DM Sans Bold"/>
              </a:rPr>
              <a:t>DAY 3 · AFTERNOON SESSION</a:t>
            </a:r>
          </a:p>
        </p:txBody>
      </p:sp>
      <p:sp>
        <p:nvSpPr>
          <p:cNvPr name="TextBox 11" id="11"/>
          <p:cNvSpPr txBox="true"/>
          <p:nvPr/>
        </p:nvSpPr>
        <p:spPr>
          <a:xfrm rot="0">
            <a:off x="857250" y="9544050"/>
            <a:ext cx="5305130" cy="242888"/>
          </a:xfrm>
          <a:prstGeom prst="rect">
            <a:avLst/>
          </a:prstGeom>
        </p:spPr>
        <p:txBody>
          <a:bodyPr anchor="t" rtlCol="false" tIns="0" lIns="0" bIns="0" rIns="0">
            <a:spAutoFit/>
          </a:bodyPr>
          <a:lstStyle/>
          <a:p>
            <a:pPr algn="l">
              <a:lnSpc>
                <a:spcPts val="1755"/>
              </a:lnSpc>
            </a:pPr>
            <a:r>
              <a:rPr lang="en-US" sz="1462">
                <a:solidFill>
                  <a:srgbClr val="94A3B8"/>
                </a:solidFill>
                <a:latin typeface="DM Sans"/>
                <a:ea typeface="DM Sans"/>
                <a:cs typeface="DM Sans"/>
                <a:sym typeface="DM Sans"/>
              </a:rPr>
              <a:t>Davao del Norte Provincial Government — Cybersecurity Seminar</a:t>
            </a:r>
          </a:p>
        </p:txBody>
      </p:sp>
      <p:sp>
        <p:nvSpPr>
          <p:cNvPr name="TextBox 12" id="12"/>
          <p:cNvSpPr txBox="true"/>
          <p:nvPr/>
        </p:nvSpPr>
        <p:spPr>
          <a:xfrm rot="0">
            <a:off x="17316450" y="9544050"/>
            <a:ext cx="114300" cy="242888"/>
          </a:xfrm>
          <a:prstGeom prst="rect">
            <a:avLst/>
          </a:prstGeom>
        </p:spPr>
        <p:txBody>
          <a:bodyPr anchor="t" rtlCol="false" tIns="0" lIns="0" bIns="0" rIns="0">
            <a:spAutoFit/>
          </a:bodyPr>
          <a:lstStyle/>
          <a:p>
            <a:pPr algn="l">
              <a:lnSpc>
                <a:spcPts val="1755"/>
              </a:lnSpc>
            </a:pPr>
            <a:r>
              <a:rPr lang="en-US" sz="1462">
                <a:solidFill>
                  <a:srgbClr val="94A3B8"/>
                </a:solidFill>
                <a:latin typeface="DM Sans"/>
                <a:ea typeface="DM Sans"/>
                <a:cs typeface="DM Sans"/>
                <a:sym typeface="DM Sans"/>
              </a:rPr>
              <a:t>6</a:t>
            </a:r>
          </a:p>
        </p:txBody>
      </p:sp>
      <p:grpSp>
        <p:nvGrpSpPr>
          <p:cNvPr name="Group 13" id="13"/>
          <p:cNvGrpSpPr/>
          <p:nvPr/>
        </p:nvGrpSpPr>
        <p:grpSpPr>
          <a:xfrm rot="0">
            <a:off x="1057275" y="900112"/>
            <a:ext cx="342900" cy="342900"/>
            <a:chOff x="0" y="0"/>
            <a:chExt cx="457200" cy="457200"/>
          </a:xfrm>
        </p:grpSpPr>
        <p:sp>
          <p:nvSpPr>
            <p:cNvPr name="Freeform 14" id="14" descr="image.png"/>
            <p:cNvSpPr/>
            <p:nvPr/>
          </p:nvSpPr>
          <p:spPr>
            <a:xfrm flipH="false" flipV="false" rot="0">
              <a:off x="0" y="0"/>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5"/>
              <a:stretch>
                <a:fillRect l="0" t="0" r="0" b="0"/>
              </a:stretch>
            </a:blipFill>
          </p:spPr>
        </p:sp>
      </p:grpSp>
      <p:sp>
        <p:nvSpPr>
          <p:cNvPr name="TextBox 15" id="15"/>
          <p:cNvSpPr txBox="true"/>
          <p:nvPr/>
        </p:nvSpPr>
        <p:spPr>
          <a:xfrm rot="0">
            <a:off x="1885950" y="1014412"/>
            <a:ext cx="9736217" cy="582882"/>
          </a:xfrm>
          <a:prstGeom prst="rect">
            <a:avLst/>
          </a:prstGeom>
        </p:spPr>
        <p:txBody>
          <a:bodyPr anchor="t" rtlCol="false" tIns="0" lIns="0" bIns="0" rIns="0">
            <a:spAutoFit/>
          </a:bodyPr>
          <a:lstStyle/>
          <a:p>
            <a:pPr algn="l">
              <a:lnSpc>
                <a:spcPts val="4590"/>
              </a:lnSpc>
            </a:pPr>
            <a:r>
              <a:rPr lang="en-US" sz="3825" b="true">
                <a:solidFill>
                  <a:srgbClr val="1E2B58"/>
                </a:solidFill>
                <a:latin typeface="Merriweather Bold"/>
                <a:ea typeface="Merriweather Bold"/>
                <a:cs typeface="Merriweather Bold"/>
                <a:sym typeface="Merriweather Bold"/>
              </a:rPr>
              <a:t>Provincial Maturity Framework &amp; Plan</a:t>
            </a:r>
          </a:p>
        </p:txBody>
      </p:sp>
      <p:sp>
        <p:nvSpPr>
          <p:cNvPr name="TextBox 16" id="16"/>
          <p:cNvSpPr txBox="true"/>
          <p:nvPr/>
        </p:nvSpPr>
        <p:spPr>
          <a:xfrm rot="0">
            <a:off x="1714500" y="2411682"/>
            <a:ext cx="6700838" cy="785812"/>
          </a:xfrm>
          <a:prstGeom prst="rect">
            <a:avLst/>
          </a:prstGeom>
        </p:spPr>
        <p:txBody>
          <a:bodyPr anchor="t" rtlCol="false" tIns="0" lIns="0" bIns="0" rIns="0">
            <a:spAutoFit/>
          </a:bodyPr>
          <a:lstStyle/>
          <a:p>
            <a:pPr algn="l">
              <a:lnSpc>
                <a:spcPts val="2868"/>
              </a:lnSpc>
            </a:pPr>
            <a:r>
              <a:rPr lang="en-US" sz="1912" b="true">
                <a:solidFill>
                  <a:srgbClr val="1E2B58"/>
                </a:solidFill>
                <a:latin typeface="DM Sans Bold"/>
                <a:ea typeface="DM Sans Bold"/>
                <a:cs typeface="DM Sans Bold"/>
                <a:sym typeface="DM Sans Bold"/>
              </a:rPr>
              <a:t>Maturity Framework:</a:t>
            </a:r>
            <a:r>
              <a:rPr lang="en-US" sz="1912">
                <a:solidFill>
                  <a:srgbClr val="334155"/>
                </a:solidFill>
                <a:latin typeface="DM Sans"/>
                <a:ea typeface="DM Sans"/>
                <a:cs typeface="DM Sans"/>
                <a:sym typeface="DM Sans"/>
              </a:rPr>
              <a:t> Orientation to the Provincial Cybersecurity Maturity Framework and assessment metrics.</a:t>
            </a:r>
          </a:p>
        </p:txBody>
      </p:sp>
      <p:sp>
        <p:nvSpPr>
          <p:cNvPr name="TextBox 17" id="17"/>
          <p:cNvSpPr txBox="true"/>
          <p:nvPr/>
        </p:nvSpPr>
        <p:spPr>
          <a:xfrm rot="0">
            <a:off x="1714500" y="3397520"/>
            <a:ext cx="6700838" cy="785812"/>
          </a:xfrm>
          <a:prstGeom prst="rect">
            <a:avLst/>
          </a:prstGeom>
        </p:spPr>
        <p:txBody>
          <a:bodyPr anchor="t" rtlCol="false" tIns="0" lIns="0" bIns="0" rIns="0">
            <a:spAutoFit/>
          </a:bodyPr>
          <a:lstStyle/>
          <a:p>
            <a:pPr algn="l">
              <a:lnSpc>
                <a:spcPts val="2868"/>
              </a:lnSpc>
            </a:pPr>
            <a:r>
              <a:rPr lang="en-US" sz="1912" b="true">
                <a:solidFill>
                  <a:srgbClr val="1E2B58"/>
                </a:solidFill>
                <a:latin typeface="DM Sans Bold"/>
                <a:ea typeface="DM Sans Bold"/>
                <a:cs typeface="DM Sans Bold"/>
                <a:sym typeface="DM Sans Bold"/>
              </a:rPr>
              <a:t>Provincial Plan 2026–2028:</a:t>
            </a:r>
            <a:r>
              <a:rPr lang="en-US" sz="1912">
                <a:solidFill>
                  <a:srgbClr val="334155"/>
                </a:solidFill>
                <a:latin typeface="DM Sans"/>
                <a:ea typeface="DM Sans"/>
                <a:cs typeface="DM Sans"/>
                <a:sym typeface="DM Sans"/>
              </a:rPr>
              <a:t> Overview of structure, core components, and implementation roadmap.</a:t>
            </a:r>
          </a:p>
        </p:txBody>
      </p:sp>
      <p:grpSp>
        <p:nvGrpSpPr>
          <p:cNvPr name="Group 18" id="18"/>
          <p:cNvGrpSpPr/>
          <p:nvPr/>
        </p:nvGrpSpPr>
        <p:grpSpPr>
          <a:xfrm rot="0">
            <a:off x="6572250" y="6215062"/>
            <a:ext cx="2714625" cy="2714625"/>
            <a:chOff x="0" y="0"/>
            <a:chExt cx="3619500" cy="3619500"/>
          </a:xfrm>
        </p:grpSpPr>
        <p:sp>
          <p:nvSpPr>
            <p:cNvPr name="Freeform 19" id="19" descr="image.png"/>
            <p:cNvSpPr/>
            <p:nvPr/>
          </p:nvSpPr>
          <p:spPr>
            <a:xfrm flipH="false" flipV="false" rot="0">
              <a:off x="0" y="0"/>
              <a:ext cx="3619500" cy="3619500"/>
            </a:xfrm>
            <a:custGeom>
              <a:avLst/>
              <a:gdLst/>
              <a:ahLst/>
              <a:cxnLst/>
              <a:rect r="r" b="b" t="t" l="l"/>
              <a:pathLst>
                <a:path h="3619500" w="3619500">
                  <a:moveTo>
                    <a:pt x="0" y="0"/>
                  </a:moveTo>
                  <a:lnTo>
                    <a:pt x="3619500" y="0"/>
                  </a:lnTo>
                  <a:lnTo>
                    <a:pt x="3619500" y="3619500"/>
                  </a:lnTo>
                  <a:lnTo>
                    <a:pt x="0" y="3619500"/>
                  </a:lnTo>
                  <a:lnTo>
                    <a:pt x="0" y="0"/>
                  </a:lnTo>
                  <a:close/>
                </a:path>
              </a:pathLst>
            </a:custGeom>
            <a:blipFill>
              <a:blip r:embed="rId6"/>
              <a:stretch>
                <a:fillRect l="0" t="0" r="0" b="0"/>
              </a:stretch>
            </a:blipFill>
          </p:spPr>
        </p:sp>
      </p:grpSp>
      <p:sp>
        <p:nvSpPr>
          <p:cNvPr name="TextBox 20" id="20"/>
          <p:cNvSpPr txBox="true"/>
          <p:nvPr/>
        </p:nvSpPr>
        <p:spPr>
          <a:xfrm rot="0">
            <a:off x="10215562" y="2411682"/>
            <a:ext cx="6700838" cy="785812"/>
          </a:xfrm>
          <a:prstGeom prst="rect">
            <a:avLst/>
          </a:prstGeom>
        </p:spPr>
        <p:txBody>
          <a:bodyPr anchor="t" rtlCol="false" tIns="0" lIns="0" bIns="0" rIns="0">
            <a:spAutoFit/>
          </a:bodyPr>
          <a:lstStyle/>
          <a:p>
            <a:pPr algn="l">
              <a:lnSpc>
                <a:spcPts val="2868"/>
              </a:lnSpc>
            </a:pPr>
            <a:r>
              <a:rPr lang="en-US" sz="1912" b="true">
                <a:solidFill>
                  <a:srgbClr val="1E2B58"/>
                </a:solidFill>
                <a:latin typeface="DM Sans Bold"/>
                <a:ea typeface="DM Sans Bold"/>
                <a:cs typeface="DM Sans Bold"/>
                <a:sym typeface="DM Sans Bold"/>
              </a:rPr>
              <a:t>Policy &amp; Operations:</a:t>
            </a:r>
            <a:r>
              <a:rPr lang="en-US" sz="1912">
                <a:solidFill>
                  <a:srgbClr val="334155"/>
                </a:solidFill>
                <a:latin typeface="DM Sans"/>
                <a:ea typeface="DM Sans"/>
                <a:cs typeface="DM Sans"/>
                <a:sym typeface="DM Sans"/>
              </a:rPr>
              <a:t> Guiding policy improvements, governance, detection capabilities, and capacity building.</a:t>
            </a:r>
          </a:p>
        </p:txBody>
      </p:sp>
      <p:sp>
        <p:nvSpPr>
          <p:cNvPr name="TextBox 21" id="21"/>
          <p:cNvSpPr txBox="true"/>
          <p:nvPr/>
        </p:nvSpPr>
        <p:spPr>
          <a:xfrm rot="0">
            <a:off x="10215562" y="3397520"/>
            <a:ext cx="6700838" cy="785812"/>
          </a:xfrm>
          <a:prstGeom prst="rect">
            <a:avLst/>
          </a:prstGeom>
        </p:spPr>
        <p:txBody>
          <a:bodyPr anchor="t" rtlCol="false" tIns="0" lIns="0" bIns="0" rIns="0">
            <a:spAutoFit/>
          </a:bodyPr>
          <a:lstStyle/>
          <a:p>
            <a:pPr algn="l">
              <a:lnSpc>
                <a:spcPts val="2868"/>
              </a:lnSpc>
            </a:pPr>
            <a:r>
              <a:rPr lang="en-US" sz="1912" b="true">
                <a:solidFill>
                  <a:srgbClr val="1E2B58"/>
                </a:solidFill>
                <a:latin typeface="DM Sans Bold"/>
                <a:ea typeface="DM Sans Bold"/>
                <a:cs typeface="DM Sans Bold"/>
                <a:sym typeface="DM Sans Bold"/>
              </a:rPr>
              <a:t>Program Closing:</a:t>
            </a:r>
            <a:r>
              <a:rPr lang="en-US" sz="1912">
                <a:solidFill>
                  <a:srgbClr val="334155"/>
                </a:solidFill>
                <a:latin typeface="DM Sans"/>
                <a:ea typeface="DM Sans"/>
                <a:cs typeface="DM Sans"/>
                <a:sym typeface="DM Sans"/>
              </a:rPr>
              <a:t> Key takeaway synthesis, Q&amp;A, and awarding of Certificates of Completion.</a:t>
            </a:r>
          </a:p>
        </p:txBody>
      </p:sp>
      <p:grpSp>
        <p:nvGrpSpPr>
          <p:cNvPr name="Group 22" id="22"/>
          <p:cNvGrpSpPr/>
          <p:nvPr/>
        </p:nvGrpSpPr>
        <p:grpSpPr>
          <a:xfrm rot="0">
            <a:off x="15073312" y="6215062"/>
            <a:ext cx="2714625" cy="2714625"/>
            <a:chOff x="0" y="0"/>
            <a:chExt cx="3619500" cy="3619500"/>
          </a:xfrm>
        </p:grpSpPr>
        <p:sp>
          <p:nvSpPr>
            <p:cNvPr name="Freeform 23" id="23" descr="image.png"/>
            <p:cNvSpPr/>
            <p:nvPr/>
          </p:nvSpPr>
          <p:spPr>
            <a:xfrm flipH="false" flipV="false" rot="0">
              <a:off x="0" y="0"/>
              <a:ext cx="3619500" cy="3619500"/>
            </a:xfrm>
            <a:custGeom>
              <a:avLst/>
              <a:gdLst/>
              <a:ahLst/>
              <a:cxnLst/>
              <a:rect r="r" b="b" t="t" l="l"/>
              <a:pathLst>
                <a:path h="3619500" w="3619500">
                  <a:moveTo>
                    <a:pt x="0" y="0"/>
                  </a:moveTo>
                  <a:lnTo>
                    <a:pt x="3619500" y="0"/>
                  </a:lnTo>
                  <a:lnTo>
                    <a:pt x="3619500" y="3619500"/>
                  </a:lnTo>
                  <a:lnTo>
                    <a:pt x="0" y="3619500"/>
                  </a:lnTo>
                  <a:lnTo>
                    <a:pt x="0" y="0"/>
                  </a:lnTo>
                  <a:close/>
                </a:path>
              </a:pathLst>
            </a:custGeom>
            <a:blipFill>
              <a:blip r:embed="rId6"/>
              <a:stretch>
                <a:fillRect l="0" t="0" r="0" b="0"/>
              </a:stretch>
            </a:blipFill>
          </p:spPr>
        </p:sp>
      </p:grpSp>
      <p:sp>
        <p:nvSpPr>
          <p:cNvPr name="TextBox 24" id="24"/>
          <p:cNvSpPr txBox="true"/>
          <p:nvPr/>
        </p:nvSpPr>
        <p:spPr>
          <a:xfrm rot="0">
            <a:off x="1457325" y="2373582"/>
            <a:ext cx="85725" cy="495300"/>
          </a:xfrm>
          <a:prstGeom prst="rect">
            <a:avLst/>
          </a:prstGeom>
        </p:spPr>
        <p:txBody>
          <a:bodyPr anchor="t" rtlCol="false" tIns="0" lIns="0" bIns="0" rIns="0">
            <a:spAutoFit/>
          </a:bodyPr>
          <a:lstStyle/>
          <a:p>
            <a:pPr algn="l">
              <a:lnSpc>
                <a:spcPts val="3375"/>
              </a:lnSpc>
            </a:pPr>
            <a:r>
              <a:rPr lang="en-US" sz="2250" b="true">
                <a:solidFill>
                  <a:srgbClr val="1E2B58"/>
                </a:solidFill>
                <a:latin typeface="DM Sans Bold"/>
                <a:ea typeface="DM Sans Bold"/>
                <a:cs typeface="DM Sans Bold"/>
                <a:sym typeface="DM Sans Bold"/>
              </a:rPr>
              <a:t>•</a:t>
            </a:r>
          </a:p>
        </p:txBody>
      </p:sp>
      <p:sp>
        <p:nvSpPr>
          <p:cNvPr name="TextBox 25" id="25"/>
          <p:cNvSpPr txBox="true"/>
          <p:nvPr/>
        </p:nvSpPr>
        <p:spPr>
          <a:xfrm rot="0">
            <a:off x="1457325" y="3359420"/>
            <a:ext cx="85725" cy="495300"/>
          </a:xfrm>
          <a:prstGeom prst="rect">
            <a:avLst/>
          </a:prstGeom>
        </p:spPr>
        <p:txBody>
          <a:bodyPr anchor="t" rtlCol="false" tIns="0" lIns="0" bIns="0" rIns="0">
            <a:spAutoFit/>
          </a:bodyPr>
          <a:lstStyle/>
          <a:p>
            <a:pPr algn="l">
              <a:lnSpc>
                <a:spcPts val="3375"/>
              </a:lnSpc>
            </a:pPr>
            <a:r>
              <a:rPr lang="en-US" sz="2250" b="true">
                <a:solidFill>
                  <a:srgbClr val="1E2B58"/>
                </a:solidFill>
                <a:latin typeface="DM Sans Bold"/>
                <a:ea typeface="DM Sans Bold"/>
                <a:cs typeface="DM Sans Bold"/>
                <a:sym typeface="DM Sans Bold"/>
              </a:rPr>
              <a:t>•</a:t>
            </a:r>
          </a:p>
        </p:txBody>
      </p:sp>
      <p:sp>
        <p:nvSpPr>
          <p:cNvPr name="TextBox 26" id="26"/>
          <p:cNvSpPr txBox="true"/>
          <p:nvPr/>
        </p:nvSpPr>
        <p:spPr>
          <a:xfrm rot="0">
            <a:off x="9958388" y="2373582"/>
            <a:ext cx="85725" cy="495300"/>
          </a:xfrm>
          <a:prstGeom prst="rect">
            <a:avLst/>
          </a:prstGeom>
        </p:spPr>
        <p:txBody>
          <a:bodyPr anchor="t" rtlCol="false" tIns="0" lIns="0" bIns="0" rIns="0">
            <a:spAutoFit/>
          </a:bodyPr>
          <a:lstStyle/>
          <a:p>
            <a:pPr algn="l">
              <a:lnSpc>
                <a:spcPts val="3375"/>
              </a:lnSpc>
            </a:pPr>
            <a:r>
              <a:rPr lang="en-US" sz="2250" b="true">
                <a:solidFill>
                  <a:srgbClr val="1E2B58"/>
                </a:solidFill>
                <a:latin typeface="DM Sans Bold"/>
                <a:ea typeface="DM Sans Bold"/>
                <a:cs typeface="DM Sans Bold"/>
                <a:sym typeface="DM Sans Bold"/>
              </a:rPr>
              <a:t>•</a:t>
            </a:r>
          </a:p>
        </p:txBody>
      </p:sp>
      <p:sp>
        <p:nvSpPr>
          <p:cNvPr name="TextBox 27" id="27"/>
          <p:cNvSpPr txBox="true"/>
          <p:nvPr/>
        </p:nvSpPr>
        <p:spPr>
          <a:xfrm rot="0">
            <a:off x="9958388" y="3359420"/>
            <a:ext cx="85725" cy="495300"/>
          </a:xfrm>
          <a:prstGeom prst="rect">
            <a:avLst/>
          </a:prstGeom>
        </p:spPr>
        <p:txBody>
          <a:bodyPr anchor="t" rtlCol="false" tIns="0" lIns="0" bIns="0" rIns="0">
            <a:spAutoFit/>
          </a:bodyPr>
          <a:lstStyle/>
          <a:p>
            <a:pPr algn="l">
              <a:lnSpc>
                <a:spcPts val="3375"/>
              </a:lnSpc>
            </a:pPr>
            <a:r>
              <a:rPr lang="en-US" sz="2250" b="true">
                <a:solidFill>
                  <a:srgbClr val="1E2B58"/>
                </a:solidFill>
                <a:latin typeface="DM Sans Bold"/>
                <a:ea typeface="DM Sans Bold"/>
                <a:cs typeface="DM Sans Bold"/>
                <a:sym typeface="DM Sans Bold"/>
              </a:rPr>
              <a:t>•</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1E2761"/>
        </a:solidFill>
      </p:bgPr>
    </p:bg>
    <p:spTree>
      <p:nvGrpSpPr>
        <p:cNvPr id="1" name=""/>
        <p:cNvGrpSpPr/>
        <p:nvPr/>
      </p:nvGrpSpPr>
      <p:grpSpPr>
        <a:xfrm>
          <a:off x="0" y="0"/>
          <a:ext cx="0" cy="0"/>
          <a:chOff x="0" y="0"/>
          <a:chExt cx="0" cy="0"/>
        </a:xfrm>
      </p:grpSpPr>
      <p:grpSp>
        <p:nvGrpSpPr>
          <p:cNvPr name="Group 2" id="2"/>
          <p:cNvGrpSpPr/>
          <p:nvPr/>
        </p:nvGrpSpPr>
        <p:grpSpPr>
          <a:xfrm rot="0">
            <a:off x="13441680" y="-3566160"/>
            <a:ext cx="8915400" cy="8915400"/>
            <a:chOff x="0" y="0"/>
            <a:chExt cx="11887200" cy="11887200"/>
          </a:xfrm>
        </p:grpSpPr>
        <p:sp>
          <p:nvSpPr>
            <p:cNvPr name="Freeform 3" id="3"/>
            <p:cNvSpPr/>
            <p:nvPr/>
          </p:nvSpPr>
          <p:spPr>
            <a:xfrm flipH="false" flipV="false" rot="0">
              <a:off x="0" y="0"/>
              <a:ext cx="11887200" cy="11887200"/>
            </a:xfrm>
            <a:custGeom>
              <a:avLst/>
              <a:gdLst/>
              <a:ahLst/>
              <a:cxnLst/>
              <a:rect r="r" b="b" t="t" l="l"/>
              <a:pathLst>
                <a:path h="11887200" w="11887200">
                  <a:moveTo>
                    <a:pt x="0" y="5943600"/>
                  </a:moveTo>
                  <a:cubicBezTo>
                    <a:pt x="0" y="2661031"/>
                    <a:pt x="2661031" y="0"/>
                    <a:pt x="5943600" y="0"/>
                  </a:cubicBezTo>
                  <a:cubicBezTo>
                    <a:pt x="9226169" y="0"/>
                    <a:pt x="11887200" y="2661031"/>
                    <a:pt x="11887200" y="5943600"/>
                  </a:cubicBezTo>
                  <a:cubicBezTo>
                    <a:pt x="11887200" y="9226169"/>
                    <a:pt x="9226169" y="11887200"/>
                    <a:pt x="5943600" y="11887200"/>
                  </a:cubicBezTo>
                  <a:cubicBezTo>
                    <a:pt x="2661031" y="11887200"/>
                    <a:pt x="0" y="9226169"/>
                    <a:pt x="0" y="5943600"/>
                  </a:cubicBezTo>
                  <a:close/>
                </a:path>
              </a:pathLst>
            </a:custGeom>
            <a:solidFill>
              <a:srgbClr val="263186"/>
            </a:solidFill>
          </p:spPr>
        </p:sp>
      </p:grpSp>
      <p:grpSp>
        <p:nvGrpSpPr>
          <p:cNvPr name="Group 4" id="4"/>
          <p:cNvGrpSpPr/>
          <p:nvPr/>
        </p:nvGrpSpPr>
        <p:grpSpPr>
          <a:xfrm rot="0">
            <a:off x="8229600" y="3771900"/>
            <a:ext cx="754380" cy="1097280"/>
            <a:chOff x="0" y="0"/>
            <a:chExt cx="1005840" cy="1463040"/>
          </a:xfrm>
        </p:grpSpPr>
        <p:sp>
          <p:nvSpPr>
            <p:cNvPr name="Freeform 5" id="5"/>
            <p:cNvSpPr/>
            <p:nvPr/>
          </p:nvSpPr>
          <p:spPr>
            <a:xfrm flipH="false" flipV="false" rot="0">
              <a:off x="0" y="0"/>
              <a:ext cx="1005840" cy="1463040"/>
            </a:xfrm>
            <a:custGeom>
              <a:avLst/>
              <a:gdLst/>
              <a:ahLst/>
              <a:cxnLst/>
              <a:rect r="r" b="b" t="t" l="l"/>
              <a:pathLst>
                <a:path h="1463040" w="1005840">
                  <a:moveTo>
                    <a:pt x="0" y="73152"/>
                  </a:moveTo>
                  <a:cubicBezTo>
                    <a:pt x="0" y="32766"/>
                    <a:pt x="32766" y="0"/>
                    <a:pt x="73152" y="0"/>
                  </a:cubicBezTo>
                  <a:lnTo>
                    <a:pt x="932688" y="0"/>
                  </a:lnTo>
                  <a:cubicBezTo>
                    <a:pt x="973074" y="0"/>
                    <a:pt x="1005840" y="32766"/>
                    <a:pt x="1005840" y="73152"/>
                  </a:cubicBezTo>
                  <a:lnTo>
                    <a:pt x="1005840" y="1389888"/>
                  </a:lnTo>
                  <a:cubicBezTo>
                    <a:pt x="1005840" y="1430274"/>
                    <a:pt x="973074" y="1463040"/>
                    <a:pt x="932688" y="1463040"/>
                  </a:cubicBezTo>
                  <a:lnTo>
                    <a:pt x="73152" y="1463040"/>
                  </a:lnTo>
                  <a:cubicBezTo>
                    <a:pt x="32766" y="1463040"/>
                    <a:pt x="0" y="1430274"/>
                    <a:pt x="0" y="1389888"/>
                  </a:cubicBezTo>
                  <a:close/>
                </a:path>
              </a:pathLst>
            </a:custGeom>
            <a:solidFill>
              <a:srgbClr val="2E9E6B"/>
            </a:solidFill>
          </p:spPr>
        </p:sp>
      </p:grpSp>
      <p:grpSp>
        <p:nvGrpSpPr>
          <p:cNvPr name="Group 6" id="6"/>
          <p:cNvGrpSpPr/>
          <p:nvPr/>
        </p:nvGrpSpPr>
        <p:grpSpPr>
          <a:xfrm rot="0">
            <a:off x="9464040" y="3003804"/>
            <a:ext cx="754380" cy="1865376"/>
            <a:chOff x="0" y="0"/>
            <a:chExt cx="1005840" cy="2487168"/>
          </a:xfrm>
        </p:grpSpPr>
        <p:sp>
          <p:nvSpPr>
            <p:cNvPr name="Freeform 7" id="7"/>
            <p:cNvSpPr/>
            <p:nvPr/>
          </p:nvSpPr>
          <p:spPr>
            <a:xfrm flipH="false" flipV="false" rot="0">
              <a:off x="0" y="0"/>
              <a:ext cx="1005840" cy="2487168"/>
            </a:xfrm>
            <a:custGeom>
              <a:avLst/>
              <a:gdLst/>
              <a:ahLst/>
              <a:cxnLst/>
              <a:rect r="r" b="b" t="t" l="l"/>
              <a:pathLst>
                <a:path h="2487168" w="1005840">
                  <a:moveTo>
                    <a:pt x="0" y="73152"/>
                  </a:moveTo>
                  <a:cubicBezTo>
                    <a:pt x="0" y="32766"/>
                    <a:pt x="32766" y="0"/>
                    <a:pt x="73152" y="0"/>
                  </a:cubicBezTo>
                  <a:lnTo>
                    <a:pt x="932688" y="0"/>
                  </a:lnTo>
                  <a:cubicBezTo>
                    <a:pt x="973074" y="0"/>
                    <a:pt x="1005840" y="32766"/>
                    <a:pt x="1005840" y="73152"/>
                  </a:cubicBezTo>
                  <a:lnTo>
                    <a:pt x="1005840" y="2414016"/>
                  </a:lnTo>
                  <a:cubicBezTo>
                    <a:pt x="1005840" y="2454402"/>
                    <a:pt x="973074" y="2487168"/>
                    <a:pt x="932688" y="2487168"/>
                  </a:cubicBezTo>
                  <a:lnTo>
                    <a:pt x="73152" y="2487168"/>
                  </a:lnTo>
                  <a:cubicBezTo>
                    <a:pt x="32766" y="2487168"/>
                    <a:pt x="0" y="2454402"/>
                    <a:pt x="0" y="2414016"/>
                  </a:cubicBezTo>
                  <a:close/>
                </a:path>
              </a:pathLst>
            </a:custGeom>
            <a:solidFill>
              <a:srgbClr val="C98A12"/>
            </a:solidFill>
          </p:spPr>
        </p:sp>
      </p:grpSp>
      <p:grpSp>
        <p:nvGrpSpPr>
          <p:cNvPr name="Group 8" id="8"/>
          <p:cNvGrpSpPr/>
          <p:nvPr/>
        </p:nvGrpSpPr>
        <p:grpSpPr>
          <a:xfrm rot="0">
            <a:off x="10698480" y="2125980"/>
            <a:ext cx="754380" cy="2743200"/>
            <a:chOff x="0" y="0"/>
            <a:chExt cx="1005840" cy="3657600"/>
          </a:xfrm>
        </p:grpSpPr>
        <p:sp>
          <p:nvSpPr>
            <p:cNvPr name="Freeform 9" id="9"/>
            <p:cNvSpPr/>
            <p:nvPr/>
          </p:nvSpPr>
          <p:spPr>
            <a:xfrm flipH="false" flipV="false" rot="0">
              <a:off x="0" y="0"/>
              <a:ext cx="1005840" cy="3657600"/>
            </a:xfrm>
            <a:custGeom>
              <a:avLst/>
              <a:gdLst/>
              <a:ahLst/>
              <a:cxnLst/>
              <a:rect r="r" b="b" t="t" l="l"/>
              <a:pathLst>
                <a:path h="3657600" w="1005840">
                  <a:moveTo>
                    <a:pt x="0" y="73152"/>
                  </a:moveTo>
                  <a:cubicBezTo>
                    <a:pt x="0" y="32766"/>
                    <a:pt x="32766" y="0"/>
                    <a:pt x="73152" y="0"/>
                  </a:cubicBezTo>
                  <a:lnTo>
                    <a:pt x="932688" y="0"/>
                  </a:lnTo>
                  <a:cubicBezTo>
                    <a:pt x="973074" y="0"/>
                    <a:pt x="1005840" y="32766"/>
                    <a:pt x="1005840" y="73152"/>
                  </a:cubicBezTo>
                  <a:lnTo>
                    <a:pt x="1005840" y="3584448"/>
                  </a:lnTo>
                  <a:cubicBezTo>
                    <a:pt x="1005840" y="3624834"/>
                    <a:pt x="973074" y="3657600"/>
                    <a:pt x="932688" y="3657600"/>
                  </a:cubicBezTo>
                  <a:lnTo>
                    <a:pt x="73152" y="3657600"/>
                  </a:lnTo>
                  <a:cubicBezTo>
                    <a:pt x="32766" y="3657600"/>
                    <a:pt x="0" y="3624834"/>
                    <a:pt x="0" y="3584448"/>
                  </a:cubicBezTo>
                  <a:close/>
                </a:path>
              </a:pathLst>
            </a:custGeom>
            <a:solidFill>
              <a:srgbClr val="C62839"/>
            </a:solidFill>
          </p:spPr>
        </p:sp>
      </p:grpSp>
      <p:grpSp>
        <p:nvGrpSpPr>
          <p:cNvPr name="Group 10" id="10"/>
          <p:cNvGrpSpPr/>
          <p:nvPr/>
        </p:nvGrpSpPr>
        <p:grpSpPr>
          <a:xfrm rot="0">
            <a:off x="0" y="5692140"/>
            <a:ext cx="18283428" cy="480060"/>
            <a:chOff x="0" y="0"/>
            <a:chExt cx="24377904" cy="640080"/>
          </a:xfrm>
        </p:grpSpPr>
        <p:sp>
          <p:nvSpPr>
            <p:cNvPr name="Freeform 11" id="11"/>
            <p:cNvSpPr/>
            <p:nvPr/>
          </p:nvSpPr>
          <p:spPr>
            <a:xfrm flipH="false" flipV="false" rot="0">
              <a:off x="0" y="0"/>
              <a:ext cx="24377904" cy="640080"/>
            </a:xfrm>
            <a:custGeom>
              <a:avLst/>
              <a:gdLst/>
              <a:ahLst/>
              <a:cxnLst/>
              <a:rect r="r" b="b" t="t" l="l"/>
              <a:pathLst>
                <a:path h="640080" w="24377904">
                  <a:moveTo>
                    <a:pt x="0" y="0"/>
                  </a:moveTo>
                  <a:lnTo>
                    <a:pt x="24377904" y="0"/>
                  </a:lnTo>
                  <a:lnTo>
                    <a:pt x="24377904" y="640080"/>
                  </a:lnTo>
                  <a:lnTo>
                    <a:pt x="0" y="640080"/>
                  </a:lnTo>
                  <a:close/>
                </a:path>
              </a:pathLst>
            </a:custGeom>
            <a:blipFill>
              <a:blip r:embed="rId3">
                <a:alphaModFix amt="0"/>
              </a:blip>
              <a:stretch>
                <a:fillRect l="0" t="-692101" r="0" b="-692101"/>
              </a:stretch>
            </a:blipFill>
          </p:spPr>
        </p:sp>
        <p:sp>
          <p:nvSpPr>
            <p:cNvPr name="TextBox 12" id="12"/>
            <p:cNvSpPr txBox="true"/>
            <p:nvPr/>
          </p:nvSpPr>
          <p:spPr>
            <a:xfrm>
              <a:off x="0" y="-47625"/>
              <a:ext cx="24377904" cy="687705"/>
            </a:xfrm>
            <a:prstGeom prst="rect">
              <a:avLst/>
            </a:prstGeom>
          </p:spPr>
          <p:txBody>
            <a:bodyPr anchor="ctr" rtlCol="false" tIns="0" lIns="0" bIns="0" rIns="0"/>
            <a:lstStyle/>
            <a:p>
              <a:pPr algn="ctr">
                <a:lnSpc>
                  <a:spcPts val="2340"/>
                </a:lnSpc>
              </a:pPr>
              <a:r>
                <a:rPr lang="en-US" b="true" sz="1950" spc="299">
                  <a:solidFill>
                    <a:srgbClr val="00B4D8"/>
                  </a:solidFill>
                  <a:latin typeface="Calibri (MS) Bold"/>
                  <a:ea typeface="Calibri (MS) Bold"/>
                  <a:cs typeface="Calibri (MS) Bold"/>
                  <a:sym typeface="Calibri (MS) Bold"/>
                </a:rPr>
                <a:t>TODAY'S FIRST TOPIC</a:t>
              </a:r>
            </a:p>
          </p:txBody>
        </p:sp>
      </p:grpSp>
      <p:grpSp>
        <p:nvGrpSpPr>
          <p:cNvPr name="Group 13" id="13"/>
          <p:cNvGrpSpPr/>
          <p:nvPr/>
        </p:nvGrpSpPr>
        <p:grpSpPr>
          <a:xfrm rot="0">
            <a:off x="0" y="6144768"/>
            <a:ext cx="18283428" cy="1028700"/>
            <a:chOff x="0" y="0"/>
            <a:chExt cx="24377904" cy="1371600"/>
          </a:xfrm>
        </p:grpSpPr>
        <p:sp>
          <p:nvSpPr>
            <p:cNvPr name="Freeform 14" id="14"/>
            <p:cNvSpPr/>
            <p:nvPr/>
          </p:nvSpPr>
          <p:spPr>
            <a:xfrm flipH="false" flipV="false" rot="0">
              <a:off x="0" y="0"/>
              <a:ext cx="24377904" cy="1371600"/>
            </a:xfrm>
            <a:custGeom>
              <a:avLst/>
              <a:gdLst/>
              <a:ahLst/>
              <a:cxnLst/>
              <a:rect r="r" b="b" t="t" l="l"/>
              <a:pathLst>
                <a:path h="1371600" w="24377904">
                  <a:moveTo>
                    <a:pt x="0" y="0"/>
                  </a:moveTo>
                  <a:lnTo>
                    <a:pt x="24377904" y="0"/>
                  </a:lnTo>
                  <a:lnTo>
                    <a:pt x="24377904" y="1371600"/>
                  </a:lnTo>
                  <a:lnTo>
                    <a:pt x="0" y="1371600"/>
                  </a:lnTo>
                  <a:close/>
                </a:path>
              </a:pathLst>
            </a:custGeom>
            <a:blipFill>
              <a:blip r:embed="rId3">
                <a:alphaModFix amt="0"/>
              </a:blip>
              <a:stretch>
                <a:fillRect l="0" t="-296314" r="0" b="-296314"/>
              </a:stretch>
            </a:blipFill>
          </p:spPr>
        </p:sp>
        <p:sp>
          <p:nvSpPr>
            <p:cNvPr name="TextBox 15" id="15"/>
            <p:cNvSpPr txBox="true"/>
            <p:nvPr/>
          </p:nvSpPr>
          <p:spPr>
            <a:xfrm>
              <a:off x="0" y="-9525"/>
              <a:ext cx="24377904" cy="1381125"/>
            </a:xfrm>
            <a:prstGeom prst="rect">
              <a:avLst/>
            </a:prstGeom>
          </p:spPr>
          <p:txBody>
            <a:bodyPr anchor="ctr" rtlCol="false" tIns="0" lIns="0" bIns="0" rIns="0"/>
            <a:lstStyle/>
            <a:p>
              <a:pPr algn="ctr">
                <a:lnSpc>
                  <a:spcPts val="6839"/>
                </a:lnSpc>
              </a:pPr>
              <a:r>
                <a:rPr lang="en-US" sz="5700" b="true">
                  <a:solidFill>
                    <a:srgbClr val="FFFFFF"/>
                  </a:solidFill>
                  <a:latin typeface="Cambria Bold"/>
                  <a:ea typeface="Cambria Bold"/>
                  <a:cs typeface="Cambria Bold"/>
                  <a:sym typeface="Cambria Bold"/>
                </a:rPr>
                <a:t>Applying Risk Management</a:t>
              </a:r>
            </a:p>
          </p:txBody>
        </p:sp>
      </p:grpSp>
      <p:grpSp>
        <p:nvGrpSpPr>
          <p:cNvPr name="Group 16" id="16"/>
          <p:cNvGrpSpPr/>
          <p:nvPr/>
        </p:nvGrpSpPr>
        <p:grpSpPr>
          <a:xfrm rot="0">
            <a:off x="0" y="7132320"/>
            <a:ext cx="18283428" cy="685800"/>
            <a:chOff x="0" y="0"/>
            <a:chExt cx="24377904" cy="914400"/>
          </a:xfrm>
        </p:grpSpPr>
        <p:sp>
          <p:nvSpPr>
            <p:cNvPr name="Freeform 17" id="17"/>
            <p:cNvSpPr/>
            <p:nvPr/>
          </p:nvSpPr>
          <p:spPr>
            <a:xfrm flipH="false" flipV="false" rot="0">
              <a:off x="0" y="0"/>
              <a:ext cx="24377904" cy="914400"/>
            </a:xfrm>
            <a:custGeom>
              <a:avLst/>
              <a:gdLst/>
              <a:ahLst/>
              <a:cxnLst/>
              <a:rect r="r" b="b" t="t" l="l"/>
              <a:pathLst>
                <a:path h="914400" w="24377904">
                  <a:moveTo>
                    <a:pt x="0" y="0"/>
                  </a:moveTo>
                  <a:lnTo>
                    <a:pt x="24377904" y="0"/>
                  </a:lnTo>
                  <a:lnTo>
                    <a:pt x="24377904" y="914400"/>
                  </a:lnTo>
                  <a:lnTo>
                    <a:pt x="0" y="914400"/>
                  </a:lnTo>
                  <a:close/>
                </a:path>
              </a:pathLst>
            </a:custGeom>
            <a:blipFill>
              <a:blip r:embed="rId3">
                <a:alphaModFix amt="0"/>
              </a:blip>
              <a:stretch>
                <a:fillRect l="0" t="-469471" r="0" b="-469471"/>
              </a:stretch>
            </a:blipFill>
          </p:spPr>
        </p:sp>
        <p:sp>
          <p:nvSpPr>
            <p:cNvPr name="TextBox 18" id="18"/>
            <p:cNvSpPr txBox="true"/>
            <p:nvPr/>
          </p:nvSpPr>
          <p:spPr>
            <a:xfrm>
              <a:off x="0" y="-19050"/>
              <a:ext cx="24377904" cy="933450"/>
            </a:xfrm>
            <a:prstGeom prst="rect">
              <a:avLst/>
            </a:prstGeom>
          </p:spPr>
          <p:txBody>
            <a:bodyPr anchor="ctr" rtlCol="false" tIns="0" lIns="0" bIns="0" rIns="0"/>
            <a:lstStyle/>
            <a:p>
              <a:pPr algn="ctr">
                <a:lnSpc>
                  <a:spcPts val="3600"/>
                </a:lnSpc>
              </a:pPr>
              <a:r>
                <a:rPr lang="en-US" sz="3000" i="true">
                  <a:solidFill>
                    <a:srgbClr val="CADCFC"/>
                  </a:solidFill>
                  <a:latin typeface="Cambria Italics"/>
                  <a:ea typeface="Cambria Italics"/>
                  <a:cs typeface="Cambria Italics"/>
                  <a:sym typeface="Cambria Italics"/>
                </a:rPr>
                <a:t>Within a Provincial Government Environment</a:t>
              </a:r>
            </a:p>
          </p:txBody>
        </p:sp>
      </p:grpSp>
      <p:grpSp>
        <p:nvGrpSpPr>
          <p:cNvPr name="Group 19" id="19"/>
          <p:cNvGrpSpPr/>
          <p:nvPr/>
        </p:nvGrpSpPr>
        <p:grpSpPr>
          <a:xfrm rot="0">
            <a:off x="0" y="8023860"/>
            <a:ext cx="18283428" cy="548640"/>
            <a:chOff x="0" y="0"/>
            <a:chExt cx="24377904" cy="731520"/>
          </a:xfrm>
        </p:grpSpPr>
        <p:sp>
          <p:nvSpPr>
            <p:cNvPr name="Freeform 20" id="20"/>
            <p:cNvSpPr/>
            <p:nvPr/>
          </p:nvSpPr>
          <p:spPr>
            <a:xfrm flipH="false" flipV="false" rot="0">
              <a:off x="0" y="0"/>
              <a:ext cx="24377904" cy="731520"/>
            </a:xfrm>
            <a:custGeom>
              <a:avLst/>
              <a:gdLst/>
              <a:ahLst/>
              <a:cxnLst/>
              <a:rect r="r" b="b" t="t" l="l"/>
              <a:pathLst>
                <a:path h="731520" w="24377904">
                  <a:moveTo>
                    <a:pt x="0" y="0"/>
                  </a:moveTo>
                  <a:lnTo>
                    <a:pt x="24377904" y="0"/>
                  </a:lnTo>
                  <a:lnTo>
                    <a:pt x="24377904" y="731520"/>
                  </a:lnTo>
                  <a:lnTo>
                    <a:pt x="0" y="731520"/>
                  </a:lnTo>
                  <a:close/>
                </a:path>
              </a:pathLst>
            </a:custGeom>
            <a:blipFill>
              <a:blip r:embed="rId3">
                <a:alphaModFix amt="0"/>
              </a:blip>
              <a:stretch>
                <a:fillRect l="0" t="-599338" r="0" b="-599338"/>
              </a:stretch>
            </a:blipFill>
          </p:spPr>
        </p:sp>
        <p:sp>
          <p:nvSpPr>
            <p:cNvPr name="TextBox 21" id="21"/>
            <p:cNvSpPr txBox="true"/>
            <p:nvPr/>
          </p:nvSpPr>
          <p:spPr>
            <a:xfrm>
              <a:off x="0" y="-47625"/>
              <a:ext cx="24377904" cy="779145"/>
            </a:xfrm>
            <a:prstGeom prst="rect">
              <a:avLst/>
            </a:prstGeom>
          </p:spPr>
          <p:txBody>
            <a:bodyPr anchor="ctr" rtlCol="false" tIns="0" lIns="0" bIns="0" rIns="0"/>
            <a:lstStyle/>
            <a:p>
              <a:pPr algn="ctr">
                <a:lnSpc>
                  <a:spcPts val="2520"/>
                </a:lnSpc>
              </a:pPr>
              <a:r>
                <a:rPr lang="en-US" sz="2100">
                  <a:solidFill>
                    <a:srgbClr val="CADCFC"/>
                  </a:solidFill>
                  <a:latin typeface="Calibri (MS)"/>
                  <a:ea typeface="Calibri (MS)"/>
                  <a:cs typeface="Calibri (MS)"/>
                  <a:sym typeface="Calibri (MS)"/>
                </a:rPr>
                <a:t>You already do this, every day — you just don't call it that.</a:t>
              </a:r>
            </a:p>
          </p:txBody>
        </p:sp>
      </p:grpSp>
      <p:grpSp>
        <p:nvGrpSpPr>
          <p:cNvPr name="Group 22" id="22"/>
          <p:cNvGrpSpPr/>
          <p:nvPr/>
        </p:nvGrpSpPr>
        <p:grpSpPr>
          <a:xfrm rot="0">
            <a:off x="685800" y="9710928"/>
            <a:ext cx="10972800" cy="411480"/>
            <a:chOff x="0" y="0"/>
            <a:chExt cx="14630400" cy="548640"/>
          </a:xfrm>
        </p:grpSpPr>
        <p:sp>
          <p:nvSpPr>
            <p:cNvPr name="Freeform 23" id="23"/>
            <p:cNvSpPr/>
            <p:nvPr/>
          </p:nvSpPr>
          <p:spPr>
            <a:xfrm flipH="false" flipV="false" rot="0">
              <a:off x="0" y="0"/>
              <a:ext cx="14630400" cy="548640"/>
            </a:xfrm>
            <a:custGeom>
              <a:avLst/>
              <a:gdLst/>
              <a:ahLst/>
              <a:cxnLst/>
              <a:rect r="r" b="b" t="t" l="l"/>
              <a:pathLst>
                <a:path h="548640" w="14630400">
                  <a:moveTo>
                    <a:pt x="0" y="0"/>
                  </a:moveTo>
                  <a:lnTo>
                    <a:pt x="14630400" y="0"/>
                  </a:lnTo>
                  <a:lnTo>
                    <a:pt x="14630400" y="548640"/>
                  </a:lnTo>
                  <a:lnTo>
                    <a:pt x="0" y="548640"/>
                  </a:lnTo>
                  <a:close/>
                </a:path>
              </a:pathLst>
            </a:custGeom>
            <a:blipFill>
              <a:blip r:embed="rId3">
                <a:alphaModFix amt="0"/>
              </a:blip>
              <a:stretch>
                <a:fillRect l="0" t="-469601" r="0" b="-469601"/>
              </a:stretch>
            </a:blipFill>
          </p:spPr>
        </p:sp>
        <p:sp>
          <p:nvSpPr>
            <p:cNvPr name="TextBox 24" id="24"/>
            <p:cNvSpPr txBox="true"/>
            <p:nvPr/>
          </p:nvSpPr>
          <p:spPr>
            <a:xfrm>
              <a:off x="0" y="-38100"/>
              <a:ext cx="14630400" cy="586740"/>
            </a:xfrm>
            <a:prstGeom prst="rect">
              <a:avLst/>
            </a:prstGeom>
          </p:spPr>
          <p:txBody>
            <a:bodyPr anchor="ctr" rtlCol="false" tIns="0" lIns="0" bIns="0" rIns="0"/>
            <a:lstStyle/>
            <a:p>
              <a:pPr algn="l">
                <a:lnSpc>
                  <a:spcPts val="1800"/>
                </a:lnSpc>
              </a:pPr>
              <a:r>
                <a:rPr lang="en-US" sz="1500">
                  <a:solidFill>
                    <a:srgbClr val="CADCFC"/>
                  </a:solidFill>
                  <a:latin typeface="Calibri (MS)"/>
                  <a:ea typeface="Calibri (MS)"/>
                  <a:cs typeface="Calibri (MS)"/>
                  <a:sym typeface="Calibri (MS)"/>
                </a:rPr>
                <a:t>Davao del Norte Provincial Government — Cybersecurity Seminar</a:t>
              </a:r>
            </a:p>
          </p:txBody>
        </p:sp>
      </p:grpSp>
      <p:grpSp>
        <p:nvGrpSpPr>
          <p:cNvPr name="Group 25" id="25"/>
          <p:cNvGrpSpPr/>
          <p:nvPr/>
        </p:nvGrpSpPr>
        <p:grpSpPr>
          <a:xfrm rot="0">
            <a:off x="16911828" y="9710928"/>
            <a:ext cx="685800" cy="411480"/>
            <a:chOff x="0" y="0"/>
            <a:chExt cx="914400" cy="548640"/>
          </a:xfrm>
        </p:grpSpPr>
        <p:sp>
          <p:nvSpPr>
            <p:cNvPr name="Freeform 26" id="26"/>
            <p:cNvSpPr/>
            <p:nvPr/>
          </p:nvSpPr>
          <p:spPr>
            <a:xfrm flipH="false" flipV="false" rot="0">
              <a:off x="0" y="0"/>
              <a:ext cx="914400" cy="548640"/>
            </a:xfrm>
            <a:custGeom>
              <a:avLst/>
              <a:gdLst/>
              <a:ahLst/>
              <a:cxnLst/>
              <a:rect r="r" b="b" t="t" l="l"/>
              <a:pathLst>
                <a:path h="548640" w="914400">
                  <a:moveTo>
                    <a:pt x="0" y="0"/>
                  </a:moveTo>
                  <a:lnTo>
                    <a:pt x="914400" y="0"/>
                  </a:lnTo>
                  <a:lnTo>
                    <a:pt x="914400" y="548640"/>
                  </a:lnTo>
                  <a:lnTo>
                    <a:pt x="0" y="548640"/>
                  </a:lnTo>
                  <a:close/>
                </a:path>
              </a:pathLst>
            </a:custGeom>
            <a:blipFill>
              <a:blip r:embed="rId3">
                <a:alphaModFix amt="0"/>
              </a:blip>
              <a:stretch>
                <a:fillRect l="-26982" t="0" r="-26982" b="0"/>
              </a:stretch>
            </a:blipFill>
          </p:spPr>
        </p:sp>
        <p:sp>
          <p:nvSpPr>
            <p:cNvPr name="TextBox 27" id="27"/>
            <p:cNvSpPr txBox="true"/>
            <p:nvPr/>
          </p:nvSpPr>
          <p:spPr>
            <a:xfrm>
              <a:off x="0" y="-38100"/>
              <a:ext cx="914400" cy="586740"/>
            </a:xfrm>
            <a:prstGeom prst="rect">
              <a:avLst/>
            </a:prstGeom>
          </p:spPr>
          <p:txBody>
            <a:bodyPr anchor="ctr" rtlCol="false" tIns="0" lIns="0" bIns="0" rIns="0"/>
            <a:lstStyle/>
            <a:p>
              <a:pPr algn="r">
                <a:lnSpc>
                  <a:spcPts val="1800"/>
                </a:lnSpc>
              </a:pPr>
              <a:r>
                <a:rPr lang="en-US" sz="1500">
                  <a:solidFill>
                    <a:srgbClr val="CADCFC"/>
                  </a:solidFill>
                  <a:latin typeface="Calibri (MS)"/>
                  <a:ea typeface="Calibri (MS)"/>
                  <a:cs typeface="Calibri (MS)"/>
                  <a:sym typeface="Calibri (MS)"/>
                </a:rPr>
                <a:t>7</a:t>
              </a:r>
            </a:p>
          </p:txBody>
        </p:sp>
      </p:gr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754380" y="685800"/>
            <a:ext cx="850392" cy="850392"/>
            <a:chOff x="0" y="0"/>
            <a:chExt cx="1133856" cy="1133856"/>
          </a:xfrm>
        </p:grpSpPr>
        <p:sp>
          <p:nvSpPr>
            <p:cNvPr name="Freeform 3" id="3"/>
            <p:cNvSpPr/>
            <p:nvPr/>
          </p:nvSpPr>
          <p:spPr>
            <a:xfrm flipH="false" flipV="false" rot="0">
              <a:off x="0" y="0"/>
              <a:ext cx="1133856" cy="1133856"/>
            </a:xfrm>
            <a:custGeom>
              <a:avLst/>
              <a:gdLst/>
              <a:ahLst/>
              <a:cxnLst/>
              <a:rect r="r" b="b" t="t" l="l"/>
              <a:pathLst>
                <a:path h="1133856" w="1133856">
                  <a:moveTo>
                    <a:pt x="0" y="566928"/>
                  </a:moveTo>
                  <a:cubicBezTo>
                    <a:pt x="0" y="253873"/>
                    <a:pt x="253873" y="0"/>
                    <a:pt x="566928" y="0"/>
                  </a:cubicBezTo>
                  <a:cubicBezTo>
                    <a:pt x="879983" y="0"/>
                    <a:pt x="1133856" y="253873"/>
                    <a:pt x="1133856" y="566928"/>
                  </a:cubicBezTo>
                  <a:cubicBezTo>
                    <a:pt x="1133856" y="879983"/>
                    <a:pt x="879983" y="1133856"/>
                    <a:pt x="566928" y="1133856"/>
                  </a:cubicBezTo>
                  <a:cubicBezTo>
                    <a:pt x="253873" y="1133856"/>
                    <a:pt x="0" y="879983"/>
                    <a:pt x="0" y="566928"/>
                  </a:cubicBezTo>
                  <a:close/>
                </a:path>
              </a:pathLst>
            </a:custGeom>
            <a:solidFill>
              <a:srgbClr val="1E2761"/>
            </a:solidFill>
          </p:spPr>
        </p:sp>
      </p:grpSp>
      <p:grpSp>
        <p:nvGrpSpPr>
          <p:cNvPr name="Group 4" id="4"/>
          <p:cNvGrpSpPr/>
          <p:nvPr/>
        </p:nvGrpSpPr>
        <p:grpSpPr>
          <a:xfrm rot="0">
            <a:off x="932688" y="864108"/>
            <a:ext cx="493776" cy="493776"/>
            <a:chOff x="0" y="0"/>
            <a:chExt cx="658368" cy="658368"/>
          </a:xfrm>
        </p:grpSpPr>
        <p:sp>
          <p:nvSpPr>
            <p:cNvPr name="Freeform 5" id="5" descr="bullseye.png"/>
            <p:cNvSpPr/>
            <p:nvPr/>
          </p:nvSpPr>
          <p:spPr>
            <a:xfrm flipH="false" flipV="false" rot="0">
              <a:off x="0" y="0"/>
              <a:ext cx="658368" cy="658368"/>
            </a:xfrm>
            <a:custGeom>
              <a:avLst/>
              <a:gdLst/>
              <a:ahLst/>
              <a:cxnLst/>
              <a:rect r="r" b="b" t="t" l="l"/>
              <a:pathLst>
                <a:path h="658368" w="658368">
                  <a:moveTo>
                    <a:pt x="0" y="0"/>
                  </a:moveTo>
                  <a:lnTo>
                    <a:pt x="658368" y="0"/>
                  </a:lnTo>
                  <a:lnTo>
                    <a:pt x="658368" y="658368"/>
                  </a:lnTo>
                  <a:lnTo>
                    <a:pt x="0" y="658368"/>
                  </a:lnTo>
                  <a:lnTo>
                    <a:pt x="0" y="0"/>
                  </a:lnTo>
                  <a:close/>
                </a:path>
              </a:pathLst>
            </a:custGeom>
            <a:blipFill>
              <a:blip r:embed="rId3"/>
              <a:stretch>
                <a:fillRect l="0" t="0" r="0" b="0"/>
              </a:stretch>
            </a:blipFill>
          </p:spPr>
        </p:sp>
      </p:grpSp>
      <p:grpSp>
        <p:nvGrpSpPr>
          <p:cNvPr name="Group 6" id="6"/>
          <p:cNvGrpSpPr/>
          <p:nvPr/>
        </p:nvGrpSpPr>
        <p:grpSpPr>
          <a:xfrm rot="0">
            <a:off x="1851660" y="603504"/>
            <a:ext cx="13716000" cy="466344"/>
            <a:chOff x="0" y="0"/>
            <a:chExt cx="18288000" cy="621792"/>
          </a:xfrm>
        </p:grpSpPr>
        <p:sp>
          <p:nvSpPr>
            <p:cNvPr name="Freeform 7" id="7"/>
            <p:cNvSpPr/>
            <p:nvPr/>
          </p:nvSpPr>
          <p:spPr>
            <a:xfrm flipH="false" flipV="false" rot="0">
              <a:off x="0" y="0"/>
              <a:ext cx="18288000" cy="621792"/>
            </a:xfrm>
            <a:custGeom>
              <a:avLst/>
              <a:gdLst/>
              <a:ahLst/>
              <a:cxnLst/>
              <a:rect r="r" b="b" t="t" l="l"/>
              <a:pathLst>
                <a:path h="621792" w="18288000">
                  <a:moveTo>
                    <a:pt x="0" y="0"/>
                  </a:moveTo>
                  <a:lnTo>
                    <a:pt x="18288000" y="0"/>
                  </a:lnTo>
                  <a:lnTo>
                    <a:pt x="18288000" y="621792"/>
                  </a:lnTo>
                  <a:lnTo>
                    <a:pt x="0" y="621792"/>
                  </a:lnTo>
                  <a:close/>
                </a:path>
              </a:pathLst>
            </a:custGeom>
            <a:blipFill>
              <a:blip r:embed="rId4">
                <a:alphaModFix amt="0"/>
              </a:blip>
              <a:stretch>
                <a:fillRect l="0" t="-523089" r="0" b="-523089"/>
              </a:stretch>
            </a:blipFill>
          </p:spPr>
        </p:sp>
        <p:sp>
          <p:nvSpPr>
            <p:cNvPr name="TextBox 8" id="8"/>
            <p:cNvSpPr txBox="true"/>
            <p:nvPr/>
          </p:nvSpPr>
          <p:spPr>
            <a:xfrm>
              <a:off x="0" y="-47625"/>
              <a:ext cx="18288000" cy="669417"/>
            </a:xfrm>
            <a:prstGeom prst="rect">
              <a:avLst/>
            </a:prstGeom>
          </p:spPr>
          <p:txBody>
            <a:bodyPr anchor="ctr" rtlCol="false" tIns="0" lIns="0" bIns="0" rIns="0"/>
            <a:lstStyle/>
            <a:p>
              <a:pPr algn="l">
                <a:lnSpc>
                  <a:spcPts val="2340"/>
                </a:lnSpc>
              </a:pPr>
              <a:r>
                <a:rPr lang="en-US" b="true" sz="1950" spc="150">
                  <a:solidFill>
                    <a:srgbClr val="00B4D8"/>
                  </a:solidFill>
                  <a:latin typeface="Calibri (MS) Bold"/>
                  <a:ea typeface="Calibri (MS) Bold"/>
                  <a:cs typeface="Calibri (MS) Bold"/>
                  <a:sym typeface="Calibri (MS) Bold"/>
                </a:rPr>
                <a:t>RISK MANAGEMENT</a:t>
              </a:r>
            </a:p>
          </p:txBody>
        </p:sp>
      </p:grpSp>
      <p:grpSp>
        <p:nvGrpSpPr>
          <p:cNvPr name="Group 9" id="9"/>
          <p:cNvGrpSpPr/>
          <p:nvPr/>
        </p:nvGrpSpPr>
        <p:grpSpPr>
          <a:xfrm rot="0">
            <a:off x="1824228" y="987552"/>
            <a:ext cx="15361920" cy="850392"/>
            <a:chOff x="0" y="0"/>
            <a:chExt cx="20482560" cy="1133856"/>
          </a:xfrm>
        </p:grpSpPr>
        <p:sp>
          <p:nvSpPr>
            <p:cNvPr name="Freeform 10" id="10"/>
            <p:cNvSpPr/>
            <p:nvPr/>
          </p:nvSpPr>
          <p:spPr>
            <a:xfrm flipH="false" flipV="false" rot="0">
              <a:off x="0" y="0"/>
              <a:ext cx="20482561" cy="1133856"/>
            </a:xfrm>
            <a:custGeom>
              <a:avLst/>
              <a:gdLst/>
              <a:ahLst/>
              <a:cxnLst/>
              <a:rect r="r" b="b" t="t" l="l"/>
              <a:pathLst>
                <a:path h="1133856" w="20482561">
                  <a:moveTo>
                    <a:pt x="0" y="0"/>
                  </a:moveTo>
                  <a:lnTo>
                    <a:pt x="20482561" y="0"/>
                  </a:lnTo>
                  <a:lnTo>
                    <a:pt x="20482561" y="1133856"/>
                  </a:lnTo>
                  <a:lnTo>
                    <a:pt x="0" y="1133856"/>
                  </a:lnTo>
                  <a:close/>
                </a:path>
              </a:pathLst>
            </a:custGeom>
            <a:blipFill>
              <a:blip r:embed="rId4">
                <a:alphaModFix amt="0"/>
              </a:blip>
              <a:stretch>
                <a:fillRect l="0" t="-301987" r="0" b="-301987"/>
              </a:stretch>
            </a:blipFill>
          </p:spPr>
        </p:sp>
        <p:sp>
          <p:nvSpPr>
            <p:cNvPr name="TextBox 11" id="11"/>
            <p:cNvSpPr txBox="true"/>
            <p:nvPr/>
          </p:nvSpPr>
          <p:spPr>
            <a:xfrm>
              <a:off x="0" y="-9525"/>
              <a:ext cx="20482560" cy="1143381"/>
            </a:xfrm>
            <a:prstGeom prst="rect">
              <a:avLst/>
            </a:prstGeom>
          </p:spPr>
          <p:txBody>
            <a:bodyPr anchor="ctr" rtlCol="false" tIns="0" lIns="0" bIns="0" rIns="0"/>
            <a:lstStyle/>
            <a:p>
              <a:pPr algn="l">
                <a:lnSpc>
                  <a:spcPts val="5040"/>
                </a:lnSpc>
              </a:pPr>
              <a:r>
                <a:rPr lang="en-US" sz="4200" b="true">
                  <a:solidFill>
                    <a:srgbClr val="1E2761"/>
                  </a:solidFill>
                  <a:latin typeface="Cambria Bold"/>
                  <a:ea typeface="Cambria Bold"/>
                  <a:cs typeface="Cambria Bold"/>
                  <a:sym typeface="Cambria Bold"/>
                </a:rPr>
                <a:t>What Is Risk Management?</a:t>
              </a:r>
            </a:p>
          </p:txBody>
        </p:sp>
      </p:grpSp>
      <p:sp>
        <p:nvSpPr>
          <p:cNvPr name="TextBox 12" id="12"/>
          <p:cNvSpPr txBox="true"/>
          <p:nvPr/>
        </p:nvSpPr>
        <p:spPr>
          <a:xfrm rot="0">
            <a:off x="1325880" y="2567940"/>
            <a:ext cx="14493240" cy="2735580"/>
          </a:xfrm>
          <a:prstGeom prst="rect">
            <a:avLst/>
          </a:prstGeom>
        </p:spPr>
        <p:txBody>
          <a:bodyPr anchor="t" rtlCol="false" tIns="0" lIns="0" bIns="0" rIns="0">
            <a:spAutoFit/>
          </a:bodyPr>
          <a:lstStyle/>
          <a:p>
            <a:pPr algn="l">
              <a:lnSpc>
                <a:spcPts val="5040"/>
              </a:lnSpc>
            </a:pPr>
            <a:r>
              <a:rPr lang="en-US" sz="3000" i="true">
                <a:solidFill>
                  <a:srgbClr val="23262F"/>
                </a:solidFill>
                <a:latin typeface="Cambria Italics"/>
                <a:ea typeface="Cambria Italics"/>
                <a:cs typeface="Cambria Italics"/>
                <a:sym typeface="Cambria Italics"/>
              </a:rPr>
              <a:t>Spot what could go wrong. Judge how serious it is. Decide what to do about it. Check that your response still works. That's the whole cycle — and it's not new, and it's not optional. DBM's own National Guidelines on Internal Control Systems already requires every government office to run this, built on the international ISO 31000 standard.</a:t>
            </a:r>
          </a:p>
        </p:txBody>
      </p:sp>
      <p:grpSp>
        <p:nvGrpSpPr>
          <p:cNvPr name="Group 13" id="13"/>
          <p:cNvGrpSpPr/>
          <p:nvPr/>
        </p:nvGrpSpPr>
        <p:grpSpPr>
          <a:xfrm rot="0">
            <a:off x="1234440" y="5966460"/>
            <a:ext cx="5074920" cy="1851660"/>
            <a:chOff x="0" y="0"/>
            <a:chExt cx="6766560" cy="2468880"/>
          </a:xfrm>
        </p:grpSpPr>
        <p:sp>
          <p:nvSpPr>
            <p:cNvPr name="Freeform 14" id="14"/>
            <p:cNvSpPr/>
            <p:nvPr/>
          </p:nvSpPr>
          <p:spPr>
            <a:xfrm flipH="false" flipV="false" rot="0">
              <a:off x="0" y="0"/>
              <a:ext cx="6766560" cy="2468880"/>
            </a:xfrm>
            <a:custGeom>
              <a:avLst/>
              <a:gdLst/>
              <a:ahLst/>
              <a:cxnLst/>
              <a:rect r="r" b="b" t="t" l="l"/>
              <a:pathLst>
                <a:path h="2468880" w="6766560">
                  <a:moveTo>
                    <a:pt x="0" y="182880"/>
                  </a:moveTo>
                  <a:cubicBezTo>
                    <a:pt x="0" y="81915"/>
                    <a:pt x="81915" y="0"/>
                    <a:pt x="182880" y="0"/>
                  </a:cubicBezTo>
                  <a:lnTo>
                    <a:pt x="6583680" y="0"/>
                  </a:lnTo>
                  <a:cubicBezTo>
                    <a:pt x="6684645" y="0"/>
                    <a:pt x="6766560" y="81915"/>
                    <a:pt x="6766560" y="182880"/>
                  </a:cubicBezTo>
                  <a:lnTo>
                    <a:pt x="6766560" y="2286000"/>
                  </a:lnTo>
                  <a:cubicBezTo>
                    <a:pt x="6766560" y="2386965"/>
                    <a:pt x="6684645" y="2468880"/>
                    <a:pt x="6583680" y="2468880"/>
                  </a:cubicBezTo>
                  <a:lnTo>
                    <a:pt x="182880" y="2468880"/>
                  </a:lnTo>
                  <a:cubicBezTo>
                    <a:pt x="81915" y="2468880"/>
                    <a:pt x="0" y="2386965"/>
                    <a:pt x="0" y="2286000"/>
                  </a:cubicBezTo>
                  <a:close/>
                </a:path>
              </a:pathLst>
            </a:custGeom>
            <a:solidFill>
              <a:srgbClr val="F4F7FC"/>
            </a:solidFill>
          </p:spPr>
        </p:sp>
      </p:grpSp>
      <p:grpSp>
        <p:nvGrpSpPr>
          <p:cNvPr name="Group 15" id="15"/>
          <p:cNvGrpSpPr/>
          <p:nvPr/>
        </p:nvGrpSpPr>
        <p:grpSpPr>
          <a:xfrm rot="0">
            <a:off x="1577340" y="6213348"/>
            <a:ext cx="4389120" cy="548640"/>
            <a:chOff x="0" y="0"/>
            <a:chExt cx="5852160" cy="731520"/>
          </a:xfrm>
        </p:grpSpPr>
        <p:sp>
          <p:nvSpPr>
            <p:cNvPr name="Freeform 16" id="16"/>
            <p:cNvSpPr/>
            <p:nvPr/>
          </p:nvSpPr>
          <p:spPr>
            <a:xfrm flipH="false" flipV="false" rot="0">
              <a:off x="0" y="0"/>
              <a:ext cx="5852160" cy="731520"/>
            </a:xfrm>
            <a:custGeom>
              <a:avLst/>
              <a:gdLst/>
              <a:ahLst/>
              <a:cxnLst/>
              <a:rect r="r" b="b" t="t" l="l"/>
              <a:pathLst>
                <a:path h="731520" w="5852160">
                  <a:moveTo>
                    <a:pt x="0" y="0"/>
                  </a:moveTo>
                  <a:lnTo>
                    <a:pt x="5852160" y="0"/>
                  </a:lnTo>
                  <a:lnTo>
                    <a:pt x="5852160" y="731520"/>
                  </a:lnTo>
                  <a:lnTo>
                    <a:pt x="0" y="731520"/>
                  </a:lnTo>
                  <a:close/>
                </a:path>
              </a:pathLst>
            </a:custGeom>
            <a:blipFill>
              <a:blip r:embed="rId4">
                <a:alphaModFix amt="0"/>
              </a:blip>
              <a:stretch>
                <a:fillRect l="0" t="-105880" r="0" b="-105880"/>
              </a:stretch>
            </a:blipFill>
          </p:spPr>
        </p:sp>
        <p:sp>
          <p:nvSpPr>
            <p:cNvPr name="TextBox 17" id="17"/>
            <p:cNvSpPr txBox="true"/>
            <p:nvPr/>
          </p:nvSpPr>
          <p:spPr>
            <a:xfrm>
              <a:off x="0" y="-9525"/>
              <a:ext cx="5852160" cy="741045"/>
            </a:xfrm>
            <a:prstGeom prst="rect">
              <a:avLst/>
            </a:prstGeom>
          </p:spPr>
          <p:txBody>
            <a:bodyPr anchor="ctr" rtlCol="false" tIns="0" lIns="0" bIns="0" rIns="0"/>
            <a:lstStyle/>
            <a:p>
              <a:pPr algn="l">
                <a:lnSpc>
                  <a:spcPts val="2879"/>
                </a:lnSpc>
              </a:pPr>
              <a:r>
                <a:rPr lang="en-US" sz="2400" b="true">
                  <a:solidFill>
                    <a:srgbClr val="1E2761"/>
                  </a:solidFill>
                  <a:latin typeface="Cambria Bold"/>
                  <a:ea typeface="Cambria Bold"/>
                  <a:cs typeface="Cambria Bold"/>
                  <a:sym typeface="Cambria Bold"/>
                </a:rPr>
                <a:t>Bidding Rules</a:t>
              </a:r>
            </a:p>
          </p:txBody>
        </p:sp>
      </p:grpSp>
      <p:sp>
        <p:nvSpPr>
          <p:cNvPr name="TextBox 18" id="18"/>
          <p:cNvSpPr txBox="true"/>
          <p:nvPr/>
        </p:nvSpPr>
        <p:spPr>
          <a:xfrm rot="0">
            <a:off x="1668780" y="6776847"/>
            <a:ext cx="4206240" cy="817245"/>
          </a:xfrm>
          <a:prstGeom prst="rect">
            <a:avLst/>
          </a:prstGeom>
        </p:spPr>
        <p:txBody>
          <a:bodyPr anchor="t" rtlCol="false" tIns="0" lIns="0" bIns="0" rIns="0">
            <a:spAutoFit/>
          </a:bodyPr>
          <a:lstStyle/>
          <a:p>
            <a:pPr algn="l">
              <a:lnSpc>
                <a:spcPts val="2587"/>
              </a:lnSpc>
            </a:pPr>
            <a:r>
              <a:rPr lang="en-US" sz="1725">
                <a:solidFill>
                  <a:srgbClr val="6B7280"/>
                </a:solidFill>
                <a:latin typeface="Calibri (MS)"/>
                <a:ea typeface="Calibri (MS)"/>
                <a:cs typeface="Calibri (MS)"/>
                <a:sym typeface="Calibri (MS)"/>
              </a:rPr>
              <a:t>already manage financial &amp; procurement risk</a:t>
            </a:r>
          </a:p>
        </p:txBody>
      </p:sp>
      <p:grpSp>
        <p:nvGrpSpPr>
          <p:cNvPr name="Group 19" id="19"/>
          <p:cNvGrpSpPr/>
          <p:nvPr/>
        </p:nvGrpSpPr>
        <p:grpSpPr>
          <a:xfrm rot="0">
            <a:off x="6789420" y="5966460"/>
            <a:ext cx="5074920" cy="1851660"/>
            <a:chOff x="0" y="0"/>
            <a:chExt cx="6766560" cy="2468880"/>
          </a:xfrm>
        </p:grpSpPr>
        <p:sp>
          <p:nvSpPr>
            <p:cNvPr name="Freeform 20" id="20"/>
            <p:cNvSpPr/>
            <p:nvPr/>
          </p:nvSpPr>
          <p:spPr>
            <a:xfrm flipH="false" flipV="false" rot="0">
              <a:off x="0" y="0"/>
              <a:ext cx="6766560" cy="2468880"/>
            </a:xfrm>
            <a:custGeom>
              <a:avLst/>
              <a:gdLst/>
              <a:ahLst/>
              <a:cxnLst/>
              <a:rect r="r" b="b" t="t" l="l"/>
              <a:pathLst>
                <a:path h="2468880" w="6766560">
                  <a:moveTo>
                    <a:pt x="0" y="182880"/>
                  </a:moveTo>
                  <a:cubicBezTo>
                    <a:pt x="0" y="81915"/>
                    <a:pt x="81915" y="0"/>
                    <a:pt x="182880" y="0"/>
                  </a:cubicBezTo>
                  <a:lnTo>
                    <a:pt x="6583680" y="0"/>
                  </a:lnTo>
                  <a:cubicBezTo>
                    <a:pt x="6684645" y="0"/>
                    <a:pt x="6766560" y="81915"/>
                    <a:pt x="6766560" y="182880"/>
                  </a:cubicBezTo>
                  <a:lnTo>
                    <a:pt x="6766560" y="2286000"/>
                  </a:lnTo>
                  <a:cubicBezTo>
                    <a:pt x="6766560" y="2386965"/>
                    <a:pt x="6684645" y="2468880"/>
                    <a:pt x="6583680" y="2468880"/>
                  </a:cubicBezTo>
                  <a:lnTo>
                    <a:pt x="182880" y="2468880"/>
                  </a:lnTo>
                  <a:cubicBezTo>
                    <a:pt x="81915" y="2468880"/>
                    <a:pt x="0" y="2386965"/>
                    <a:pt x="0" y="2286000"/>
                  </a:cubicBezTo>
                  <a:close/>
                </a:path>
              </a:pathLst>
            </a:custGeom>
            <a:solidFill>
              <a:srgbClr val="F4F7FC"/>
            </a:solidFill>
          </p:spPr>
        </p:sp>
      </p:grpSp>
      <p:grpSp>
        <p:nvGrpSpPr>
          <p:cNvPr name="Group 21" id="21"/>
          <p:cNvGrpSpPr/>
          <p:nvPr/>
        </p:nvGrpSpPr>
        <p:grpSpPr>
          <a:xfrm rot="0">
            <a:off x="7132320" y="6213348"/>
            <a:ext cx="4389120" cy="548640"/>
            <a:chOff x="0" y="0"/>
            <a:chExt cx="5852160" cy="731520"/>
          </a:xfrm>
        </p:grpSpPr>
        <p:sp>
          <p:nvSpPr>
            <p:cNvPr name="Freeform 22" id="22"/>
            <p:cNvSpPr/>
            <p:nvPr/>
          </p:nvSpPr>
          <p:spPr>
            <a:xfrm flipH="false" flipV="false" rot="0">
              <a:off x="0" y="0"/>
              <a:ext cx="5852160" cy="731520"/>
            </a:xfrm>
            <a:custGeom>
              <a:avLst/>
              <a:gdLst/>
              <a:ahLst/>
              <a:cxnLst/>
              <a:rect r="r" b="b" t="t" l="l"/>
              <a:pathLst>
                <a:path h="731520" w="5852160">
                  <a:moveTo>
                    <a:pt x="0" y="0"/>
                  </a:moveTo>
                  <a:lnTo>
                    <a:pt x="5852160" y="0"/>
                  </a:lnTo>
                  <a:lnTo>
                    <a:pt x="5852160" y="731520"/>
                  </a:lnTo>
                  <a:lnTo>
                    <a:pt x="0" y="731520"/>
                  </a:lnTo>
                  <a:close/>
                </a:path>
              </a:pathLst>
            </a:custGeom>
            <a:blipFill>
              <a:blip r:embed="rId4">
                <a:alphaModFix amt="0"/>
              </a:blip>
              <a:stretch>
                <a:fillRect l="0" t="-105880" r="0" b="-105880"/>
              </a:stretch>
            </a:blipFill>
          </p:spPr>
        </p:sp>
        <p:sp>
          <p:nvSpPr>
            <p:cNvPr name="TextBox 23" id="23"/>
            <p:cNvSpPr txBox="true"/>
            <p:nvPr/>
          </p:nvSpPr>
          <p:spPr>
            <a:xfrm>
              <a:off x="0" y="-9525"/>
              <a:ext cx="5852160" cy="741045"/>
            </a:xfrm>
            <a:prstGeom prst="rect">
              <a:avLst/>
            </a:prstGeom>
          </p:spPr>
          <p:txBody>
            <a:bodyPr anchor="ctr" rtlCol="false" tIns="0" lIns="0" bIns="0" rIns="0"/>
            <a:lstStyle/>
            <a:p>
              <a:pPr algn="l">
                <a:lnSpc>
                  <a:spcPts val="2879"/>
                </a:lnSpc>
              </a:pPr>
              <a:r>
                <a:rPr lang="en-US" sz="2400" b="true">
                  <a:solidFill>
                    <a:srgbClr val="1E2761"/>
                  </a:solidFill>
                  <a:latin typeface="Cambria Bold"/>
                  <a:ea typeface="Cambria Bold"/>
                  <a:cs typeface="Cambria Bold"/>
                  <a:sym typeface="Cambria Bold"/>
                </a:rPr>
                <a:t>Background Checks</a:t>
              </a:r>
            </a:p>
          </p:txBody>
        </p:sp>
      </p:grpSp>
      <p:sp>
        <p:nvSpPr>
          <p:cNvPr name="TextBox 24" id="24"/>
          <p:cNvSpPr txBox="true"/>
          <p:nvPr/>
        </p:nvSpPr>
        <p:spPr>
          <a:xfrm rot="0">
            <a:off x="7223760" y="6776847"/>
            <a:ext cx="4206240" cy="817245"/>
          </a:xfrm>
          <a:prstGeom prst="rect">
            <a:avLst/>
          </a:prstGeom>
        </p:spPr>
        <p:txBody>
          <a:bodyPr anchor="t" rtlCol="false" tIns="0" lIns="0" bIns="0" rIns="0">
            <a:spAutoFit/>
          </a:bodyPr>
          <a:lstStyle/>
          <a:p>
            <a:pPr algn="l">
              <a:lnSpc>
                <a:spcPts val="2587"/>
              </a:lnSpc>
            </a:pPr>
            <a:r>
              <a:rPr lang="en-US" sz="1725">
                <a:solidFill>
                  <a:srgbClr val="6B7280"/>
                </a:solidFill>
                <a:latin typeface="Calibri (MS)"/>
                <a:ea typeface="Calibri (MS)"/>
                <a:cs typeface="Calibri (MS)"/>
                <a:sym typeface="Calibri (MS)"/>
              </a:rPr>
              <a:t>already manage personnel &amp; access risk</a:t>
            </a:r>
          </a:p>
        </p:txBody>
      </p:sp>
      <p:grpSp>
        <p:nvGrpSpPr>
          <p:cNvPr name="Group 25" id="25"/>
          <p:cNvGrpSpPr/>
          <p:nvPr/>
        </p:nvGrpSpPr>
        <p:grpSpPr>
          <a:xfrm rot="0">
            <a:off x="12344400" y="5966460"/>
            <a:ext cx="5074920" cy="1851660"/>
            <a:chOff x="0" y="0"/>
            <a:chExt cx="6766560" cy="2468880"/>
          </a:xfrm>
        </p:grpSpPr>
        <p:sp>
          <p:nvSpPr>
            <p:cNvPr name="Freeform 26" id="26"/>
            <p:cNvSpPr/>
            <p:nvPr/>
          </p:nvSpPr>
          <p:spPr>
            <a:xfrm flipH="false" flipV="false" rot="0">
              <a:off x="0" y="0"/>
              <a:ext cx="6766560" cy="2468880"/>
            </a:xfrm>
            <a:custGeom>
              <a:avLst/>
              <a:gdLst/>
              <a:ahLst/>
              <a:cxnLst/>
              <a:rect r="r" b="b" t="t" l="l"/>
              <a:pathLst>
                <a:path h="2468880" w="6766560">
                  <a:moveTo>
                    <a:pt x="0" y="182880"/>
                  </a:moveTo>
                  <a:cubicBezTo>
                    <a:pt x="0" y="81915"/>
                    <a:pt x="81915" y="0"/>
                    <a:pt x="182880" y="0"/>
                  </a:cubicBezTo>
                  <a:lnTo>
                    <a:pt x="6583680" y="0"/>
                  </a:lnTo>
                  <a:cubicBezTo>
                    <a:pt x="6684645" y="0"/>
                    <a:pt x="6766560" y="81915"/>
                    <a:pt x="6766560" y="182880"/>
                  </a:cubicBezTo>
                  <a:lnTo>
                    <a:pt x="6766560" y="2286000"/>
                  </a:lnTo>
                  <a:cubicBezTo>
                    <a:pt x="6766560" y="2386965"/>
                    <a:pt x="6684645" y="2468880"/>
                    <a:pt x="6583680" y="2468880"/>
                  </a:cubicBezTo>
                  <a:lnTo>
                    <a:pt x="182880" y="2468880"/>
                  </a:lnTo>
                  <a:cubicBezTo>
                    <a:pt x="81915" y="2468880"/>
                    <a:pt x="0" y="2386965"/>
                    <a:pt x="0" y="2286000"/>
                  </a:cubicBezTo>
                  <a:close/>
                </a:path>
              </a:pathLst>
            </a:custGeom>
            <a:solidFill>
              <a:srgbClr val="F4F7FC"/>
            </a:solidFill>
          </p:spPr>
        </p:sp>
      </p:grpSp>
      <p:grpSp>
        <p:nvGrpSpPr>
          <p:cNvPr name="Group 27" id="27"/>
          <p:cNvGrpSpPr/>
          <p:nvPr/>
        </p:nvGrpSpPr>
        <p:grpSpPr>
          <a:xfrm rot="0">
            <a:off x="12687300" y="6213348"/>
            <a:ext cx="4389120" cy="548640"/>
            <a:chOff x="0" y="0"/>
            <a:chExt cx="5852160" cy="731520"/>
          </a:xfrm>
        </p:grpSpPr>
        <p:sp>
          <p:nvSpPr>
            <p:cNvPr name="Freeform 28" id="28"/>
            <p:cNvSpPr/>
            <p:nvPr/>
          </p:nvSpPr>
          <p:spPr>
            <a:xfrm flipH="false" flipV="false" rot="0">
              <a:off x="0" y="0"/>
              <a:ext cx="5852160" cy="731520"/>
            </a:xfrm>
            <a:custGeom>
              <a:avLst/>
              <a:gdLst/>
              <a:ahLst/>
              <a:cxnLst/>
              <a:rect r="r" b="b" t="t" l="l"/>
              <a:pathLst>
                <a:path h="731520" w="5852160">
                  <a:moveTo>
                    <a:pt x="0" y="0"/>
                  </a:moveTo>
                  <a:lnTo>
                    <a:pt x="5852160" y="0"/>
                  </a:lnTo>
                  <a:lnTo>
                    <a:pt x="5852160" y="731520"/>
                  </a:lnTo>
                  <a:lnTo>
                    <a:pt x="0" y="731520"/>
                  </a:lnTo>
                  <a:close/>
                </a:path>
              </a:pathLst>
            </a:custGeom>
            <a:blipFill>
              <a:blip r:embed="rId4">
                <a:alphaModFix amt="0"/>
              </a:blip>
              <a:stretch>
                <a:fillRect l="0" t="-105880" r="0" b="-105880"/>
              </a:stretch>
            </a:blipFill>
          </p:spPr>
        </p:sp>
        <p:sp>
          <p:nvSpPr>
            <p:cNvPr name="TextBox 29" id="29"/>
            <p:cNvSpPr txBox="true"/>
            <p:nvPr/>
          </p:nvSpPr>
          <p:spPr>
            <a:xfrm>
              <a:off x="0" y="-9525"/>
              <a:ext cx="5852160" cy="741045"/>
            </a:xfrm>
            <a:prstGeom prst="rect">
              <a:avLst/>
            </a:prstGeom>
          </p:spPr>
          <p:txBody>
            <a:bodyPr anchor="ctr" rtlCol="false" tIns="0" lIns="0" bIns="0" rIns="0"/>
            <a:lstStyle/>
            <a:p>
              <a:pPr algn="l">
                <a:lnSpc>
                  <a:spcPts val="2879"/>
                </a:lnSpc>
              </a:pPr>
              <a:r>
                <a:rPr lang="en-US" sz="2400" b="true">
                  <a:solidFill>
                    <a:srgbClr val="1E2761"/>
                  </a:solidFill>
                  <a:latin typeface="Cambria Bold"/>
                  <a:ea typeface="Cambria Bold"/>
                  <a:cs typeface="Cambria Bold"/>
                  <a:sym typeface="Cambria Bold"/>
                </a:rPr>
                <a:t>Evacuation Drills</a:t>
              </a:r>
            </a:p>
          </p:txBody>
        </p:sp>
      </p:grpSp>
      <p:sp>
        <p:nvSpPr>
          <p:cNvPr name="TextBox 30" id="30"/>
          <p:cNvSpPr txBox="true"/>
          <p:nvPr/>
        </p:nvSpPr>
        <p:spPr>
          <a:xfrm rot="0">
            <a:off x="12778740" y="6776847"/>
            <a:ext cx="4206240" cy="817245"/>
          </a:xfrm>
          <a:prstGeom prst="rect">
            <a:avLst/>
          </a:prstGeom>
        </p:spPr>
        <p:txBody>
          <a:bodyPr anchor="t" rtlCol="false" tIns="0" lIns="0" bIns="0" rIns="0">
            <a:spAutoFit/>
          </a:bodyPr>
          <a:lstStyle/>
          <a:p>
            <a:pPr algn="l">
              <a:lnSpc>
                <a:spcPts val="2587"/>
              </a:lnSpc>
            </a:pPr>
            <a:r>
              <a:rPr lang="en-US" sz="1725">
                <a:solidFill>
                  <a:srgbClr val="6B7280"/>
                </a:solidFill>
                <a:latin typeface="Calibri (MS)"/>
                <a:ea typeface="Calibri (MS)"/>
                <a:cs typeface="Calibri (MS)"/>
                <a:sym typeface="Calibri (MS)"/>
              </a:rPr>
              <a:t>already manage disaster &amp; continuity risk</a:t>
            </a:r>
          </a:p>
        </p:txBody>
      </p:sp>
      <p:grpSp>
        <p:nvGrpSpPr>
          <p:cNvPr name="Group 31" id="31"/>
          <p:cNvGrpSpPr/>
          <p:nvPr/>
        </p:nvGrpSpPr>
        <p:grpSpPr>
          <a:xfrm rot="0">
            <a:off x="685800" y="9710928"/>
            <a:ext cx="10972800" cy="411480"/>
            <a:chOff x="0" y="0"/>
            <a:chExt cx="14630400" cy="548640"/>
          </a:xfrm>
        </p:grpSpPr>
        <p:sp>
          <p:nvSpPr>
            <p:cNvPr name="Freeform 32" id="32"/>
            <p:cNvSpPr/>
            <p:nvPr/>
          </p:nvSpPr>
          <p:spPr>
            <a:xfrm flipH="false" flipV="false" rot="0">
              <a:off x="0" y="0"/>
              <a:ext cx="14630400" cy="548640"/>
            </a:xfrm>
            <a:custGeom>
              <a:avLst/>
              <a:gdLst/>
              <a:ahLst/>
              <a:cxnLst/>
              <a:rect r="r" b="b" t="t" l="l"/>
              <a:pathLst>
                <a:path h="548640" w="14630400">
                  <a:moveTo>
                    <a:pt x="0" y="0"/>
                  </a:moveTo>
                  <a:lnTo>
                    <a:pt x="14630400" y="0"/>
                  </a:lnTo>
                  <a:lnTo>
                    <a:pt x="14630400" y="548640"/>
                  </a:lnTo>
                  <a:lnTo>
                    <a:pt x="0" y="548640"/>
                  </a:lnTo>
                  <a:close/>
                </a:path>
              </a:pathLst>
            </a:custGeom>
            <a:blipFill>
              <a:blip r:embed="rId4">
                <a:alphaModFix amt="0"/>
              </a:blip>
              <a:stretch>
                <a:fillRect l="0" t="-469601" r="0" b="-469601"/>
              </a:stretch>
            </a:blipFill>
          </p:spPr>
        </p:sp>
        <p:sp>
          <p:nvSpPr>
            <p:cNvPr name="TextBox 33" id="33"/>
            <p:cNvSpPr txBox="true"/>
            <p:nvPr/>
          </p:nvSpPr>
          <p:spPr>
            <a:xfrm>
              <a:off x="0" y="-38100"/>
              <a:ext cx="14630400" cy="586740"/>
            </a:xfrm>
            <a:prstGeom prst="rect">
              <a:avLst/>
            </a:prstGeom>
          </p:spPr>
          <p:txBody>
            <a:bodyPr anchor="ctr" rtlCol="false" tIns="0" lIns="0" bIns="0" rIns="0"/>
            <a:lstStyle/>
            <a:p>
              <a:pPr algn="l">
                <a:lnSpc>
                  <a:spcPts val="1800"/>
                </a:lnSpc>
              </a:pPr>
              <a:r>
                <a:rPr lang="en-US" sz="1500">
                  <a:solidFill>
                    <a:srgbClr val="6B7280"/>
                  </a:solidFill>
                  <a:latin typeface="Calibri (MS)"/>
                  <a:ea typeface="Calibri (MS)"/>
                  <a:cs typeface="Calibri (MS)"/>
                  <a:sym typeface="Calibri (MS)"/>
                </a:rPr>
                <a:t>Davao del Norte Provincial Government — Cybersecurity Seminar</a:t>
              </a:r>
            </a:p>
          </p:txBody>
        </p:sp>
      </p:grpSp>
      <p:grpSp>
        <p:nvGrpSpPr>
          <p:cNvPr name="Group 34" id="34"/>
          <p:cNvGrpSpPr/>
          <p:nvPr/>
        </p:nvGrpSpPr>
        <p:grpSpPr>
          <a:xfrm rot="0">
            <a:off x="16911828" y="9710928"/>
            <a:ext cx="685800" cy="411480"/>
            <a:chOff x="0" y="0"/>
            <a:chExt cx="914400" cy="548640"/>
          </a:xfrm>
        </p:grpSpPr>
        <p:sp>
          <p:nvSpPr>
            <p:cNvPr name="Freeform 35" id="35"/>
            <p:cNvSpPr/>
            <p:nvPr/>
          </p:nvSpPr>
          <p:spPr>
            <a:xfrm flipH="false" flipV="false" rot="0">
              <a:off x="0" y="0"/>
              <a:ext cx="914400" cy="548640"/>
            </a:xfrm>
            <a:custGeom>
              <a:avLst/>
              <a:gdLst/>
              <a:ahLst/>
              <a:cxnLst/>
              <a:rect r="r" b="b" t="t" l="l"/>
              <a:pathLst>
                <a:path h="548640" w="914400">
                  <a:moveTo>
                    <a:pt x="0" y="0"/>
                  </a:moveTo>
                  <a:lnTo>
                    <a:pt x="914400" y="0"/>
                  </a:lnTo>
                  <a:lnTo>
                    <a:pt x="914400" y="548640"/>
                  </a:lnTo>
                  <a:lnTo>
                    <a:pt x="0" y="548640"/>
                  </a:lnTo>
                  <a:close/>
                </a:path>
              </a:pathLst>
            </a:custGeom>
            <a:blipFill>
              <a:blip r:embed="rId4">
                <a:alphaModFix amt="0"/>
              </a:blip>
              <a:stretch>
                <a:fillRect l="-26982" t="0" r="-26982" b="0"/>
              </a:stretch>
            </a:blipFill>
          </p:spPr>
        </p:sp>
        <p:sp>
          <p:nvSpPr>
            <p:cNvPr name="TextBox 36" id="36"/>
            <p:cNvSpPr txBox="true"/>
            <p:nvPr/>
          </p:nvSpPr>
          <p:spPr>
            <a:xfrm>
              <a:off x="0" y="-38100"/>
              <a:ext cx="914400" cy="586740"/>
            </a:xfrm>
            <a:prstGeom prst="rect">
              <a:avLst/>
            </a:prstGeom>
          </p:spPr>
          <p:txBody>
            <a:bodyPr anchor="ctr" rtlCol="false" tIns="0" lIns="0" bIns="0" rIns="0"/>
            <a:lstStyle/>
            <a:p>
              <a:pPr algn="r">
                <a:lnSpc>
                  <a:spcPts val="1800"/>
                </a:lnSpc>
              </a:pPr>
              <a:r>
                <a:rPr lang="en-US" sz="1500">
                  <a:solidFill>
                    <a:srgbClr val="6B7280"/>
                  </a:solidFill>
                  <a:latin typeface="Calibri (MS)"/>
                  <a:ea typeface="Calibri (MS)"/>
                  <a:cs typeface="Calibri (MS)"/>
                  <a:sym typeface="Calibri (MS)"/>
                </a:rPr>
                <a:t>8</a:t>
              </a:r>
            </a:p>
          </p:txBody>
        </p:sp>
      </p:gr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754380" y="685800"/>
            <a:ext cx="850392" cy="850392"/>
            <a:chOff x="0" y="0"/>
            <a:chExt cx="1133856" cy="1133856"/>
          </a:xfrm>
        </p:grpSpPr>
        <p:sp>
          <p:nvSpPr>
            <p:cNvPr name="Freeform 3" id="3"/>
            <p:cNvSpPr/>
            <p:nvPr/>
          </p:nvSpPr>
          <p:spPr>
            <a:xfrm flipH="false" flipV="false" rot="0">
              <a:off x="0" y="0"/>
              <a:ext cx="1133856" cy="1133856"/>
            </a:xfrm>
            <a:custGeom>
              <a:avLst/>
              <a:gdLst/>
              <a:ahLst/>
              <a:cxnLst/>
              <a:rect r="r" b="b" t="t" l="l"/>
              <a:pathLst>
                <a:path h="1133856" w="1133856">
                  <a:moveTo>
                    <a:pt x="0" y="566928"/>
                  </a:moveTo>
                  <a:cubicBezTo>
                    <a:pt x="0" y="253873"/>
                    <a:pt x="253873" y="0"/>
                    <a:pt x="566928" y="0"/>
                  </a:cubicBezTo>
                  <a:cubicBezTo>
                    <a:pt x="879983" y="0"/>
                    <a:pt x="1133856" y="253873"/>
                    <a:pt x="1133856" y="566928"/>
                  </a:cubicBezTo>
                  <a:cubicBezTo>
                    <a:pt x="1133856" y="879983"/>
                    <a:pt x="879983" y="1133856"/>
                    <a:pt x="566928" y="1133856"/>
                  </a:cubicBezTo>
                  <a:cubicBezTo>
                    <a:pt x="253873" y="1133856"/>
                    <a:pt x="0" y="879983"/>
                    <a:pt x="0" y="566928"/>
                  </a:cubicBezTo>
                  <a:close/>
                </a:path>
              </a:pathLst>
            </a:custGeom>
            <a:solidFill>
              <a:srgbClr val="1E2761"/>
            </a:solidFill>
          </p:spPr>
        </p:sp>
      </p:grpSp>
      <p:grpSp>
        <p:nvGrpSpPr>
          <p:cNvPr name="Group 4" id="4"/>
          <p:cNvGrpSpPr/>
          <p:nvPr/>
        </p:nvGrpSpPr>
        <p:grpSpPr>
          <a:xfrm rot="0">
            <a:off x="932688" y="864108"/>
            <a:ext cx="493776" cy="493776"/>
            <a:chOff x="0" y="0"/>
            <a:chExt cx="658368" cy="658368"/>
          </a:xfrm>
        </p:grpSpPr>
        <p:sp>
          <p:nvSpPr>
            <p:cNvPr name="Freeform 5" id="5" descr="clipboard.png"/>
            <p:cNvSpPr/>
            <p:nvPr/>
          </p:nvSpPr>
          <p:spPr>
            <a:xfrm flipH="false" flipV="false" rot="0">
              <a:off x="0" y="0"/>
              <a:ext cx="658368" cy="658368"/>
            </a:xfrm>
            <a:custGeom>
              <a:avLst/>
              <a:gdLst/>
              <a:ahLst/>
              <a:cxnLst/>
              <a:rect r="r" b="b" t="t" l="l"/>
              <a:pathLst>
                <a:path h="658368" w="658368">
                  <a:moveTo>
                    <a:pt x="0" y="0"/>
                  </a:moveTo>
                  <a:lnTo>
                    <a:pt x="658368" y="0"/>
                  </a:lnTo>
                  <a:lnTo>
                    <a:pt x="658368" y="658368"/>
                  </a:lnTo>
                  <a:lnTo>
                    <a:pt x="0" y="658368"/>
                  </a:lnTo>
                  <a:lnTo>
                    <a:pt x="0" y="0"/>
                  </a:lnTo>
                  <a:close/>
                </a:path>
              </a:pathLst>
            </a:custGeom>
            <a:blipFill>
              <a:blip r:embed="rId3"/>
              <a:stretch>
                <a:fillRect l="0" t="0" r="0" b="0"/>
              </a:stretch>
            </a:blipFill>
          </p:spPr>
        </p:sp>
      </p:grpSp>
      <p:grpSp>
        <p:nvGrpSpPr>
          <p:cNvPr name="Group 6" id="6"/>
          <p:cNvGrpSpPr/>
          <p:nvPr/>
        </p:nvGrpSpPr>
        <p:grpSpPr>
          <a:xfrm rot="0">
            <a:off x="1851660" y="603504"/>
            <a:ext cx="13716000" cy="466344"/>
            <a:chOff x="0" y="0"/>
            <a:chExt cx="18288000" cy="621792"/>
          </a:xfrm>
        </p:grpSpPr>
        <p:sp>
          <p:nvSpPr>
            <p:cNvPr name="Freeform 7" id="7"/>
            <p:cNvSpPr/>
            <p:nvPr/>
          </p:nvSpPr>
          <p:spPr>
            <a:xfrm flipH="false" flipV="false" rot="0">
              <a:off x="0" y="0"/>
              <a:ext cx="18288000" cy="621792"/>
            </a:xfrm>
            <a:custGeom>
              <a:avLst/>
              <a:gdLst/>
              <a:ahLst/>
              <a:cxnLst/>
              <a:rect r="r" b="b" t="t" l="l"/>
              <a:pathLst>
                <a:path h="621792" w="18288000">
                  <a:moveTo>
                    <a:pt x="0" y="0"/>
                  </a:moveTo>
                  <a:lnTo>
                    <a:pt x="18288000" y="0"/>
                  </a:lnTo>
                  <a:lnTo>
                    <a:pt x="18288000" y="621792"/>
                  </a:lnTo>
                  <a:lnTo>
                    <a:pt x="0" y="621792"/>
                  </a:lnTo>
                  <a:close/>
                </a:path>
              </a:pathLst>
            </a:custGeom>
            <a:blipFill>
              <a:blip r:embed="rId4">
                <a:alphaModFix amt="0"/>
              </a:blip>
              <a:stretch>
                <a:fillRect l="0" t="-523089" r="0" b="-523089"/>
              </a:stretch>
            </a:blipFill>
          </p:spPr>
        </p:sp>
        <p:sp>
          <p:nvSpPr>
            <p:cNvPr name="TextBox 8" id="8"/>
            <p:cNvSpPr txBox="true"/>
            <p:nvPr/>
          </p:nvSpPr>
          <p:spPr>
            <a:xfrm>
              <a:off x="0" y="-47625"/>
              <a:ext cx="18288000" cy="669417"/>
            </a:xfrm>
            <a:prstGeom prst="rect">
              <a:avLst/>
            </a:prstGeom>
          </p:spPr>
          <p:txBody>
            <a:bodyPr anchor="ctr" rtlCol="false" tIns="0" lIns="0" bIns="0" rIns="0"/>
            <a:lstStyle/>
            <a:p>
              <a:pPr algn="l">
                <a:lnSpc>
                  <a:spcPts val="2340"/>
                </a:lnSpc>
              </a:pPr>
              <a:r>
                <a:rPr lang="en-US" b="true" sz="1950" spc="150">
                  <a:solidFill>
                    <a:srgbClr val="00B4D8"/>
                  </a:solidFill>
                  <a:latin typeface="Calibri (MS) Bold"/>
                  <a:ea typeface="Calibri (MS) Bold"/>
                  <a:cs typeface="Calibri (MS) Bold"/>
                  <a:sym typeface="Calibri (MS) Bold"/>
                </a:rPr>
                <a:t>RISK MANAGEMENT</a:t>
              </a:r>
            </a:p>
          </p:txBody>
        </p:sp>
      </p:grpSp>
      <p:grpSp>
        <p:nvGrpSpPr>
          <p:cNvPr name="Group 9" id="9"/>
          <p:cNvGrpSpPr/>
          <p:nvPr/>
        </p:nvGrpSpPr>
        <p:grpSpPr>
          <a:xfrm rot="0">
            <a:off x="1824228" y="987552"/>
            <a:ext cx="15361920" cy="850392"/>
            <a:chOff x="0" y="0"/>
            <a:chExt cx="20482560" cy="1133856"/>
          </a:xfrm>
        </p:grpSpPr>
        <p:sp>
          <p:nvSpPr>
            <p:cNvPr name="Freeform 10" id="10"/>
            <p:cNvSpPr/>
            <p:nvPr/>
          </p:nvSpPr>
          <p:spPr>
            <a:xfrm flipH="false" flipV="false" rot="0">
              <a:off x="0" y="0"/>
              <a:ext cx="20482561" cy="1133856"/>
            </a:xfrm>
            <a:custGeom>
              <a:avLst/>
              <a:gdLst/>
              <a:ahLst/>
              <a:cxnLst/>
              <a:rect r="r" b="b" t="t" l="l"/>
              <a:pathLst>
                <a:path h="1133856" w="20482561">
                  <a:moveTo>
                    <a:pt x="0" y="0"/>
                  </a:moveTo>
                  <a:lnTo>
                    <a:pt x="20482561" y="0"/>
                  </a:lnTo>
                  <a:lnTo>
                    <a:pt x="20482561" y="1133856"/>
                  </a:lnTo>
                  <a:lnTo>
                    <a:pt x="0" y="1133856"/>
                  </a:lnTo>
                  <a:close/>
                </a:path>
              </a:pathLst>
            </a:custGeom>
            <a:blipFill>
              <a:blip r:embed="rId4">
                <a:alphaModFix amt="0"/>
              </a:blip>
              <a:stretch>
                <a:fillRect l="0" t="-301987" r="0" b="-301987"/>
              </a:stretch>
            </a:blipFill>
          </p:spPr>
        </p:sp>
        <p:sp>
          <p:nvSpPr>
            <p:cNvPr name="TextBox 11" id="11"/>
            <p:cNvSpPr txBox="true"/>
            <p:nvPr/>
          </p:nvSpPr>
          <p:spPr>
            <a:xfrm>
              <a:off x="0" y="-9525"/>
              <a:ext cx="20482560" cy="1143381"/>
            </a:xfrm>
            <a:prstGeom prst="rect">
              <a:avLst/>
            </a:prstGeom>
          </p:spPr>
          <p:txBody>
            <a:bodyPr anchor="ctr" rtlCol="false" tIns="0" lIns="0" bIns="0" rIns="0"/>
            <a:lstStyle/>
            <a:p>
              <a:pPr algn="l">
                <a:lnSpc>
                  <a:spcPts val="5040"/>
                </a:lnSpc>
              </a:pPr>
              <a:r>
                <a:rPr lang="en-US" sz="4200" b="true">
                  <a:solidFill>
                    <a:srgbClr val="1E2761"/>
                  </a:solidFill>
                  <a:latin typeface="Cambria Bold"/>
                  <a:ea typeface="Cambria Bold"/>
                  <a:cs typeface="Cambria Bold"/>
                  <a:sym typeface="Cambria Bold"/>
                </a:rPr>
                <a:t>The Risk Management Cycle</a:t>
              </a:r>
            </a:p>
          </p:txBody>
        </p:sp>
      </p:grpSp>
      <p:sp>
        <p:nvSpPr>
          <p:cNvPr name="AutoShape 12" id="12"/>
          <p:cNvSpPr/>
          <p:nvPr/>
        </p:nvSpPr>
        <p:spPr>
          <a:xfrm rot="10500">
            <a:off x="3101311" y="2665095"/>
            <a:ext cx="12506001" cy="0"/>
          </a:xfrm>
          <a:prstGeom prst="line">
            <a:avLst/>
          </a:prstGeom>
          <a:ln cap="rnd" w="19050">
            <a:solidFill>
              <a:srgbClr val="D7DCEC"/>
            </a:solidFill>
            <a:prstDash val="solid"/>
            <a:headEnd type="none" len="sm" w="sm"/>
            <a:tailEnd type="none" len="sm" w="sm"/>
          </a:ln>
        </p:spPr>
      </p:sp>
      <p:grpSp>
        <p:nvGrpSpPr>
          <p:cNvPr name="Group 13" id="13"/>
          <p:cNvGrpSpPr/>
          <p:nvPr/>
        </p:nvGrpSpPr>
        <p:grpSpPr>
          <a:xfrm rot="0">
            <a:off x="2818638" y="2372868"/>
            <a:ext cx="603504" cy="603504"/>
            <a:chOff x="0" y="0"/>
            <a:chExt cx="804672" cy="804672"/>
          </a:xfrm>
        </p:grpSpPr>
        <p:sp>
          <p:nvSpPr>
            <p:cNvPr name="Freeform 14" id="14"/>
            <p:cNvSpPr/>
            <p:nvPr/>
          </p:nvSpPr>
          <p:spPr>
            <a:xfrm flipH="false" flipV="false" rot="0">
              <a:off x="0" y="0"/>
              <a:ext cx="804672" cy="804672"/>
            </a:xfrm>
            <a:custGeom>
              <a:avLst/>
              <a:gdLst/>
              <a:ahLst/>
              <a:cxnLst/>
              <a:rect r="r" b="b" t="t" l="l"/>
              <a:pathLst>
                <a:path h="804672" w="804672">
                  <a:moveTo>
                    <a:pt x="0" y="402336"/>
                  </a:moveTo>
                  <a:cubicBezTo>
                    <a:pt x="0" y="180086"/>
                    <a:pt x="180086" y="0"/>
                    <a:pt x="402336" y="0"/>
                  </a:cubicBezTo>
                  <a:cubicBezTo>
                    <a:pt x="624586" y="0"/>
                    <a:pt x="804672" y="180086"/>
                    <a:pt x="804672" y="402336"/>
                  </a:cubicBezTo>
                  <a:cubicBezTo>
                    <a:pt x="804672" y="624586"/>
                    <a:pt x="624586" y="804672"/>
                    <a:pt x="402336" y="804672"/>
                  </a:cubicBezTo>
                  <a:cubicBezTo>
                    <a:pt x="180086" y="804672"/>
                    <a:pt x="0" y="624586"/>
                    <a:pt x="0" y="402336"/>
                  </a:cubicBezTo>
                  <a:close/>
                </a:path>
              </a:pathLst>
            </a:custGeom>
            <a:solidFill>
              <a:srgbClr val="1E2761"/>
            </a:solidFill>
          </p:spPr>
        </p:sp>
      </p:grpSp>
      <p:grpSp>
        <p:nvGrpSpPr>
          <p:cNvPr name="Group 15" id="15"/>
          <p:cNvGrpSpPr/>
          <p:nvPr/>
        </p:nvGrpSpPr>
        <p:grpSpPr>
          <a:xfrm rot="0">
            <a:off x="2818638" y="2372868"/>
            <a:ext cx="603504" cy="603504"/>
            <a:chOff x="0" y="0"/>
            <a:chExt cx="804672" cy="804672"/>
          </a:xfrm>
        </p:grpSpPr>
        <p:sp>
          <p:nvSpPr>
            <p:cNvPr name="Freeform 16" id="16"/>
            <p:cNvSpPr/>
            <p:nvPr/>
          </p:nvSpPr>
          <p:spPr>
            <a:xfrm flipH="false" flipV="false" rot="0">
              <a:off x="0" y="0"/>
              <a:ext cx="804672" cy="804672"/>
            </a:xfrm>
            <a:custGeom>
              <a:avLst/>
              <a:gdLst/>
              <a:ahLst/>
              <a:cxnLst/>
              <a:rect r="r" b="b" t="t" l="l"/>
              <a:pathLst>
                <a:path h="804672" w="804672">
                  <a:moveTo>
                    <a:pt x="0" y="0"/>
                  </a:moveTo>
                  <a:lnTo>
                    <a:pt x="804672" y="0"/>
                  </a:lnTo>
                  <a:lnTo>
                    <a:pt x="804672" y="804672"/>
                  </a:lnTo>
                  <a:lnTo>
                    <a:pt x="0" y="804672"/>
                  </a:lnTo>
                  <a:close/>
                </a:path>
              </a:pathLst>
            </a:custGeom>
            <a:blipFill>
              <a:blip r:embed="rId4">
                <a:alphaModFix amt="0"/>
              </a:blip>
              <a:stretch>
                <a:fillRect l="-78303" t="0" r="-78303" b="0"/>
              </a:stretch>
            </a:blipFill>
          </p:spPr>
        </p:sp>
        <p:sp>
          <p:nvSpPr>
            <p:cNvPr name="TextBox 17" id="17"/>
            <p:cNvSpPr txBox="true"/>
            <p:nvPr/>
          </p:nvSpPr>
          <p:spPr>
            <a:xfrm>
              <a:off x="0" y="-47625"/>
              <a:ext cx="804672" cy="852297"/>
            </a:xfrm>
            <a:prstGeom prst="rect">
              <a:avLst/>
            </a:prstGeom>
          </p:spPr>
          <p:txBody>
            <a:bodyPr anchor="ctr" rtlCol="false" tIns="0" lIns="0" bIns="0" rIns="0"/>
            <a:lstStyle/>
            <a:p>
              <a:pPr algn="ctr">
                <a:lnSpc>
                  <a:spcPts val="2520"/>
                </a:lnSpc>
              </a:pPr>
              <a:r>
                <a:rPr lang="en-US" sz="2100" b="true">
                  <a:solidFill>
                    <a:srgbClr val="FFFFFF"/>
                  </a:solidFill>
                  <a:latin typeface="Calibri (MS) Bold"/>
                  <a:ea typeface="Calibri (MS) Bold"/>
                  <a:cs typeface="Calibri (MS) Bold"/>
                  <a:sym typeface="Calibri (MS) Bold"/>
                </a:rPr>
                <a:t>1</a:t>
              </a:r>
            </a:p>
          </p:txBody>
        </p:sp>
      </p:grpSp>
      <p:grpSp>
        <p:nvGrpSpPr>
          <p:cNvPr name="Group 18" id="18"/>
          <p:cNvGrpSpPr/>
          <p:nvPr/>
        </p:nvGrpSpPr>
        <p:grpSpPr>
          <a:xfrm rot="0">
            <a:off x="1234440" y="3429000"/>
            <a:ext cx="3771900" cy="3977640"/>
            <a:chOff x="0" y="0"/>
            <a:chExt cx="5029200" cy="5303520"/>
          </a:xfrm>
        </p:grpSpPr>
        <p:sp>
          <p:nvSpPr>
            <p:cNvPr name="Freeform 19" id="19"/>
            <p:cNvSpPr/>
            <p:nvPr/>
          </p:nvSpPr>
          <p:spPr>
            <a:xfrm flipH="false" flipV="false" rot="0">
              <a:off x="0" y="0"/>
              <a:ext cx="5029200" cy="5303520"/>
            </a:xfrm>
            <a:custGeom>
              <a:avLst/>
              <a:gdLst/>
              <a:ahLst/>
              <a:cxnLst/>
              <a:rect r="r" b="b" t="t" l="l"/>
              <a:pathLst>
                <a:path h="5303520" w="5029200">
                  <a:moveTo>
                    <a:pt x="0" y="182880"/>
                  </a:moveTo>
                  <a:cubicBezTo>
                    <a:pt x="0" y="81915"/>
                    <a:pt x="81915" y="0"/>
                    <a:pt x="182880" y="0"/>
                  </a:cubicBezTo>
                  <a:lnTo>
                    <a:pt x="4846320" y="0"/>
                  </a:lnTo>
                  <a:cubicBezTo>
                    <a:pt x="4947285" y="0"/>
                    <a:pt x="5029200" y="81915"/>
                    <a:pt x="5029200" y="182880"/>
                  </a:cubicBezTo>
                  <a:lnTo>
                    <a:pt x="5029200" y="5120640"/>
                  </a:lnTo>
                  <a:cubicBezTo>
                    <a:pt x="5029200" y="5221605"/>
                    <a:pt x="4947285" y="5303520"/>
                    <a:pt x="4846320" y="5303520"/>
                  </a:cubicBezTo>
                  <a:lnTo>
                    <a:pt x="182880" y="5303520"/>
                  </a:lnTo>
                  <a:cubicBezTo>
                    <a:pt x="81915" y="5303520"/>
                    <a:pt x="0" y="5221605"/>
                    <a:pt x="0" y="5120640"/>
                  </a:cubicBezTo>
                  <a:close/>
                </a:path>
              </a:pathLst>
            </a:custGeom>
            <a:solidFill>
              <a:srgbClr val="F4F7FC"/>
            </a:solidFill>
          </p:spPr>
        </p:sp>
      </p:grpSp>
      <p:grpSp>
        <p:nvGrpSpPr>
          <p:cNvPr name="Group 20" id="20"/>
          <p:cNvGrpSpPr/>
          <p:nvPr/>
        </p:nvGrpSpPr>
        <p:grpSpPr>
          <a:xfrm rot="0">
            <a:off x="1508760" y="3771900"/>
            <a:ext cx="3223260" cy="685800"/>
            <a:chOff x="0" y="0"/>
            <a:chExt cx="4297680" cy="914400"/>
          </a:xfrm>
        </p:grpSpPr>
        <p:sp>
          <p:nvSpPr>
            <p:cNvPr name="Freeform 21" id="21"/>
            <p:cNvSpPr/>
            <p:nvPr/>
          </p:nvSpPr>
          <p:spPr>
            <a:xfrm flipH="false" flipV="false" rot="0">
              <a:off x="0" y="0"/>
              <a:ext cx="4297680" cy="914400"/>
            </a:xfrm>
            <a:custGeom>
              <a:avLst/>
              <a:gdLst/>
              <a:ahLst/>
              <a:cxnLst/>
              <a:rect r="r" b="b" t="t" l="l"/>
              <a:pathLst>
                <a:path h="914400" w="4297680">
                  <a:moveTo>
                    <a:pt x="0" y="0"/>
                  </a:moveTo>
                  <a:lnTo>
                    <a:pt x="4297680" y="0"/>
                  </a:lnTo>
                  <a:lnTo>
                    <a:pt x="4297680" y="914400"/>
                  </a:lnTo>
                  <a:lnTo>
                    <a:pt x="0" y="914400"/>
                  </a:lnTo>
                  <a:close/>
                </a:path>
              </a:pathLst>
            </a:custGeom>
            <a:blipFill>
              <a:blip r:embed="rId4">
                <a:alphaModFix amt="0"/>
              </a:blip>
              <a:stretch>
                <a:fillRect l="0" t="-41579" r="0" b="-41579"/>
              </a:stretch>
            </a:blipFill>
          </p:spPr>
        </p:sp>
        <p:sp>
          <p:nvSpPr>
            <p:cNvPr name="TextBox 22" id="22"/>
            <p:cNvSpPr txBox="true"/>
            <p:nvPr/>
          </p:nvSpPr>
          <p:spPr>
            <a:xfrm>
              <a:off x="0" y="-9525"/>
              <a:ext cx="4297680" cy="923925"/>
            </a:xfrm>
            <a:prstGeom prst="rect">
              <a:avLst/>
            </a:prstGeom>
          </p:spPr>
          <p:txBody>
            <a:bodyPr anchor="ctr" rtlCol="false" tIns="0" lIns="0" bIns="0" rIns="0"/>
            <a:lstStyle/>
            <a:p>
              <a:pPr algn="l">
                <a:lnSpc>
                  <a:spcPts val="3419"/>
                </a:lnSpc>
              </a:pPr>
              <a:r>
                <a:rPr lang="en-US" sz="2850" b="true">
                  <a:solidFill>
                    <a:srgbClr val="1E2761"/>
                  </a:solidFill>
                  <a:latin typeface="Cambria Bold"/>
                  <a:ea typeface="Cambria Bold"/>
                  <a:cs typeface="Cambria Bold"/>
                  <a:sym typeface="Cambria Bold"/>
                </a:rPr>
                <a:t>Identify</a:t>
              </a:r>
            </a:p>
          </p:txBody>
        </p:sp>
      </p:grpSp>
      <p:sp>
        <p:nvSpPr>
          <p:cNvPr name="TextBox 23" id="23"/>
          <p:cNvSpPr txBox="true"/>
          <p:nvPr/>
        </p:nvSpPr>
        <p:spPr>
          <a:xfrm rot="0">
            <a:off x="1600200" y="4535805"/>
            <a:ext cx="3040380" cy="2345055"/>
          </a:xfrm>
          <a:prstGeom prst="rect">
            <a:avLst/>
          </a:prstGeom>
        </p:spPr>
        <p:txBody>
          <a:bodyPr anchor="t" rtlCol="false" tIns="0" lIns="0" bIns="0" rIns="0">
            <a:spAutoFit/>
          </a:bodyPr>
          <a:lstStyle/>
          <a:p>
            <a:pPr algn="l">
              <a:lnSpc>
                <a:spcPts val="2925"/>
              </a:lnSpc>
            </a:pPr>
            <a:r>
              <a:rPr lang="en-US" sz="1875">
                <a:solidFill>
                  <a:srgbClr val="23262F"/>
                </a:solidFill>
                <a:latin typeface="Calibri (MS)"/>
                <a:ea typeface="Calibri (MS)"/>
                <a:cs typeface="Calibri (MS)"/>
                <a:sym typeface="Calibri (MS)"/>
              </a:rPr>
              <a:t>What could actually go wrong, in your own office?</a:t>
            </a:r>
          </a:p>
        </p:txBody>
      </p:sp>
      <p:grpSp>
        <p:nvGrpSpPr>
          <p:cNvPr name="Group 24" id="24"/>
          <p:cNvGrpSpPr/>
          <p:nvPr/>
        </p:nvGrpSpPr>
        <p:grpSpPr>
          <a:xfrm rot="5400000">
            <a:off x="5074920" y="5266944"/>
            <a:ext cx="301752" cy="301752"/>
            <a:chOff x="0" y="0"/>
            <a:chExt cx="402336" cy="402336"/>
          </a:xfrm>
        </p:grpSpPr>
        <p:sp>
          <p:nvSpPr>
            <p:cNvPr name="Freeform 25" id="25"/>
            <p:cNvSpPr/>
            <p:nvPr/>
          </p:nvSpPr>
          <p:spPr>
            <a:xfrm flipH="false" flipV="false" rot="0">
              <a:off x="0" y="0"/>
              <a:ext cx="402336" cy="402336"/>
            </a:xfrm>
            <a:custGeom>
              <a:avLst/>
              <a:gdLst/>
              <a:ahLst/>
              <a:cxnLst/>
              <a:rect r="r" b="b" t="t" l="l"/>
              <a:pathLst>
                <a:path h="402336" w="402336">
                  <a:moveTo>
                    <a:pt x="0" y="402336"/>
                  </a:moveTo>
                  <a:lnTo>
                    <a:pt x="201168" y="0"/>
                  </a:lnTo>
                  <a:lnTo>
                    <a:pt x="402336" y="402336"/>
                  </a:lnTo>
                  <a:close/>
                </a:path>
              </a:pathLst>
            </a:custGeom>
            <a:solidFill>
              <a:srgbClr val="00B4D8"/>
            </a:solidFill>
          </p:spPr>
        </p:sp>
      </p:grpSp>
      <p:grpSp>
        <p:nvGrpSpPr>
          <p:cNvPr name="Group 26" id="26"/>
          <p:cNvGrpSpPr/>
          <p:nvPr/>
        </p:nvGrpSpPr>
        <p:grpSpPr>
          <a:xfrm rot="0">
            <a:off x="6974586" y="2372868"/>
            <a:ext cx="603504" cy="603504"/>
            <a:chOff x="0" y="0"/>
            <a:chExt cx="804672" cy="804672"/>
          </a:xfrm>
        </p:grpSpPr>
        <p:sp>
          <p:nvSpPr>
            <p:cNvPr name="Freeform 27" id="27"/>
            <p:cNvSpPr/>
            <p:nvPr/>
          </p:nvSpPr>
          <p:spPr>
            <a:xfrm flipH="false" flipV="false" rot="0">
              <a:off x="0" y="0"/>
              <a:ext cx="804672" cy="804672"/>
            </a:xfrm>
            <a:custGeom>
              <a:avLst/>
              <a:gdLst/>
              <a:ahLst/>
              <a:cxnLst/>
              <a:rect r="r" b="b" t="t" l="l"/>
              <a:pathLst>
                <a:path h="804672" w="804672">
                  <a:moveTo>
                    <a:pt x="0" y="402336"/>
                  </a:moveTo>
                  <a:cubicBezTo>
                    <a:pt x="0" y="180086"/>
                    <a:pt x="180086" y="0"/>
                    <a:pt x="402336" y="0"/>
                  </a:cubicBezTo>
                  <a:cubicBezTo>
                    <a:pt x="624586" y="0"/>
                    <a:pt x="804672" y="180086"/>
                    <a:pt x="804672" y="402336"/>
                  </a:cubicBezTo>
                  <a:cubicBezTo>
                    <a:pt x="804672" y="624586"/>
                    <a:pt x="624586" y="804672"/>
                    <a:pt x="402336" y="804672"/>
                  </a:cubicBezTo>
                  <a:cubicBezTo>
                    <a:pt x="180086" y="804672"/>
                    <a:pt x="0" y="624586"/>
                    <a:pt x="0" y="402336"/>
                  </a:cubicBezTo>
                  <a:close/>
                </a:path>
              </a:pathLst>
            </a:custGeom>
            <a:solidFill>
              <a:srgbClr val="1E2761"/>
            </a:solidFill>
          </p:spPr>
        </p:sp>
      </p:grpSp>
      <p:grpSp>
        <p:nvGrpSpPr>
          <p:cNvPr name="Group 28" id="28"/>
          <p:cNvGrpSpPr/>
          <p:nvPr/>
        </p:nvGrpSpPr>
        <p:grpSpPr>
          <a:xfrm rot="0">
            <a:off x="6974586" y="2372868"/>
            <a:ext cx="603504" cy="603504"/>
            <a:chOff x="0" y="0"/>
            <a:chExt cx="804672" cy="804672"/>
          </a:xfrm>
        </p:grpSpPr>
        <p:sp>
          <p:nvSpPr>
            <p:cNvPr name="Freeform 29" id="29"/>
            <p:cNvSpPr/>
            <p:nvPr/>
          </p:nvSpPr>
          <p:spPr>
            <a:xfrm flipH="false" flipV="false" rot="0">
              <a:off x="0" y="0"/>
              <a:ext cx="804672" cy="804672"/>
            </a:xfrm>
            <a:custGeom>
              <a:avLst/>
              <a:gdLst/>
              <a:ahLst/>
              <a:cxnLst/>
              <a:rect r="r" b="b" t="t" l="l"/>
              <a:pathLst>
                <a:path h="804672" w="804672">
                  <a:moveTo>
                    <a:pt x="0" y="0"/>
                  </a:moveTo>
                  <a:lnTo>
                    <a:pt x="804672" y="0"/>
                  </a:lnTo>
                  <a:lnTo>
                    <a:pt x="804672" y="804672"/>
                  </a:lnTo>
                  <a:lnTo>
                    <a:pt x="0" y="804672"/>
                  </a:lnTo>
                  <a:close/>
                </a:path>
              </a:pathLst>
            </a:custGeom>
            <a:blipFill>
              <a:blip r:embed="rId4">
                <a:alphaModFix amt="0"/>
              </a:blip>
              <a:stretch>
                <a:fillRect l="-78303" t="0" r="-78303" b="0"/>
              </a:stretch>
            </a:blipFill>
          </p:spPr>
        </p:sp>
        <p:sp>
          <p:nvSpPr>
            <p:cNvPr name="TextBox 30" id="30"/>
            <p:cNvSpPr txBox="true"/>
            <p:nvPr/>
          </p:nvSpPr>
          <p:spPr>
            <a:xfrm>
              <a:off x="0" y="-47625"/>
              <a:ext cx="804672" cy="852297"/>
            </a:xfrm>
            <a:prstGeom prst="rect">
              <a:avLst/>
            </a:prstGeom>
          </p:spPr>
          <p:txBody>
            <a:bodyPr anchor="ctr" rtlCol="false" tIns="0" lIns="0" bIns="0" rIns="0"/>
            <a:lstStyle/>
            <a:p>
              <a:pPr algn="ctr">
                <a:lnSpc>
                  <a:spcPts val="2520"/>
                </a:lnSpc>
              </a:pPr>
              <a:r>
                <a:rPr lang="en-US" sz="2100" b="true">
                  <a:solidFill>
                    <a:srgbClr val="FFFFFF"/>
                  </a:solidFill>
                  <a:latin typeface="Calibri (MS) Bold"/>
                  <a:ea typeface="Calibri (MS) Bold"/>
                  <a:cs typeface="Calibri (MS) Bold"/>
                  <a:sym typeface="Calibri (MS) Bold"/>
                </a:rPr>
                <a:t>2</a:t>
              </a:r>
            </a:p>
          </p:txBody>
        </p:sp>
      </p:grpSp>
      <p:grpSp>
        <p:nvGrpSpPr>
          <p:cNvPr name="Group 31" id="31"/>
          <p:cNvGrpSpPr/>
          <p:nvPr/>
        </p:nvGrpSpPr>
        <p:grpSpPr>
          <a:xfrm rot="0">
            <a:off x="5390388" y="3429000"/>
            <a:ext cx="3771900" cy="3977640"/>
            <a:chOff x="0" y="0"/>
            <a:chExt cx="5029200" cy="5303520"/>
          </a:xfrm>
        </p:grpSpPr>
        <p:sp>
          <p:nvSpPr>
            <p:cNvPr name="Freeform 32" id="32"/>
            <p:cNvSpPr/>
            <p:nvPr/>
          </p:nvSpPr>
          <p:spPr>
            <a:xfrm flipH="false" flipV="false" rot="0">
              <a:off x="0" y="0"/>
              <a:ext cx="5029200" cy="5303520"/>
            </a:xfrm>
            <a:custGeom>
              <a:avLst/>
              <a:gdLst/>
              <a:ahLst/>
              <a:cxnLst/>
              <a:rect r="r" b="b" t="t" l="l"/>
              <a:pathLst>
                <a:path h="5303520" w="5029200">
                  <a:moveTo>
                    <a:pt x="0" y="182880"/>
                  </a:moveTo>
                  <a:cubicBezTo>
                    <a:pt x="0" y="81915"/>
                    <a:pt x="81915" y="0"/>
                    <a:pt x="182880" y="0"/>
                  </a:cubicBezTo>
                  <a:lnTo>
                    <a:pt x="4846320" y="0"/>
                  </a:lnTo>
                  <a:cubicBezTo>
                    <a:pt x="4947285" y="0"/>
                    <a:pt x="5029200" y="81915"/>
                    <a:pt x="5029200" y="182880"/>
                  </a:cubicBezTo>
                  <a:lnTo>
                    <a:pt x="5029200" y="5120640"/>
                  </a:lnTo>
                  <a:cubicBezTo>
                    <a:pt x="5029200" y="5221605"/>
                    <a:pt x="4947285" y="5303520"/>
                    <a:pt x="4846320" y="5303520"/>
                  </a:cubicBezTo>
                  <a:lnTo>
                    <a:pt x="182880" y="5303520"/>
                  </a:lnTo>
                  <a:cubicBezTo>
                    <a:pt x="81915" y="5303520"/>
                    <a:pt x="0" y="5221605"/>
                    <a:pt x="0" y="5120640"/>
                  </a:cubicBezTo>
                  <a:close/>
                </a:path>
              </a:pathLst>
            </a:custGeom>
            <a:solidFill>
              <a:srgbClr val="F4F7FC"/>
            </a:solidFill>
          </p:spPr>
        </p:sp>
      </p:grpSp>
      <p:grpSp>
        <p:nvGrpSpPr>
          <p:cNvPr name="Group 33" id="33"/>
          <p:cNvGrpSpPr/>
          <p:nvPr/>
        </p:nvGrpSpPr>
        <p:grpSpPr>
          <a:xfrm rot="0">
            <a:off x="5664708" y="3771900"/>
            <a:ext cx="3223260" cy="685800"/>
            <a:chOff x="0" y="0"/>
            <a:chExt cx="4297680" cy="914400"/>
          </a:xfrm>
        </p:grpSpPr>
        <p:sp>
          <p:nvSpPr>
            <p:cNvPr name="Freeform 34" id="34"/>
            <p:cNvSpPr/>
            <p:nvPr/>
          </p:nvSpPr>
          <p:spPr>
            <a:xfrm flipH="false" flipV="false" rot="0">
              <a:off x="0" y="0"/>
              <a:ext cx="4297680" cy="914400"/>
            </a:xfrm>
            <a:custGeom>
              <a:avLst/>
              <a:gdLst/>
              <a:ahLst/>
              <a:cxnLst/>
              <a:rect r="r" b="b" t="t" l="l"/>
              <a:pathLst>
                <a:path h="914400" w="4297680">
                  <a:moveTo>
                    <a:pt x="0" y="0"/>
                  </a:moveTo>
                  <a:lnTo>
                    <a:pt x="4297680" y="0"/>
                  </a:lnTo>
                  <a:lnTo>
                    <a:pt x="4297680" y="914400"/>
                  </a:lnTo>
                  <a:lnTo>
                    <a:pt x="0" y="914400"/>
                  </a:lnTo>
                  <a:close/>
                </a:path>
              </a:pathLst>
            </a:custGeom>
            <a:blipFill>
              <a:blip r:embed="rId4">
                <a:alphaModFix amt="0"/>
              </a:blip>
              <a:stretch>
                <a:fillRect l="0" t="-41579" r="0" b="-41579"/>
              </a:stretch>
            </a:blipFill>
          </p:spPr>
        </p:sp>
        <p:sp>
          <p:nvSpPr>
            <p:cNvPr name="TextBox 35" id="35"/>
            <p:cNvSpPr txBox="true"/>
            <p:nvPr/>
          </p:nvSpPr>
          <p:spPr>
            <a:xfrm>
              <a:off x="0" y="-9525"/>
              <a:ext cx="4297680" cy="923925"/>
            </a:xfrm>
            <a:prstGeom prst="rect">
              <a:avLst/>
            </a:prstGeom>
          </p:spPr>
          <p:txBody>
            <a:bodyPr anchor="ctr" rtlCol="false" tIns="0" lIns="0" bIns="0" rIns="0"/>
            <a:lstStyle/>
            <a:p>
              <a:pPr algn="l">
                <a:lnSpc>
                  <a:spcPts val="3419"/>
                </a:lnSpc>
              </a:pPr>
              <a:r>
                <a:rPr lang="en-US" sz="2850" b="true">
                  <a:solidFill>
                    <a:srgbClr val="1E2761"/>
                  </a:solidFill>
                  <a:latin typeface="Cambria Bold"/>
                  <a:ea typeface="Cambria Bold"/>
                  <a:cs typeface="Cambria Bold"/>
                  <a:sym typeface="Cambria Bold"/>
                </a:rPr>
                <a:t>Assess</a:t>
              </a:r>
            </a:p>
          </p:txBody>
        </p:sp>
      </p:grpSp>
      <p:sp>
        <p:nvSpPr>
          <p:cNvPr name="TextBox 36" id="36"/>
          <p:cNvSpPr txBox="true"/>
          <p:nvPr/>
        </p:nvSpPr>
        <p:spPr>
          <a:xfrm rot="0">
            <a:off x="5756148" y="4535805"/>
            <a:ext cx="3040380" cy="2345055"/>
          </a:xfrm>
          <a:prstGeom prst="rect">
            <a:avLst/>
          </a:prstGeom>
        </p:spPr>
        <p:txBody>
          <a:bodyPr anchor="t" rtlCol="false" tIns="0" lIns="0" bIns="0" rIns="0">
            <a:spAutoFit/>
          </a:bodyPr>
          <a:lstStyle/>
          <a:p>
            <a:pPr algn="l">
              <a:lnSpc>
                <a:spcPts val="2925"/>
              </a:lnSpc>
            </a:pPr>
            <a:r>
              <a:rPr lang="en-US" sz="1875">
                <a:solidFill>
                  <a:srgbClr val="23262F"/>
                </a:solidFill>
                <a:latin typeface="Calibri (MS)"/>
                <a:ea typeface="Calibri (MS)"/>
                <a:cs typeface="Calibri (MS)"/>
                <a:sym typeface="Calibri (MS)"/>
              </a:rPr>
              <a:t>How likely is it, and how bad would it be?</a:t>
            </a:r>
          </a:p>
        </p:txBody>
      </p:sp>
      <p:grpSp>
        <p:nvGrpSpPr>
          <p:cNvPr name="Group 37" id="37"/>
          <p:cNvGrpSpPr/>
          <p:nvPr/>
        </p:nvGrpSpPr>
        <p:grpSpPr>
          <a:xfrm rot="5400000">
            <a:off x="9230868" y="5266944"/>
            <a:ext cx="301752" cy="301752"/>
            <a:chOff x="0" y="0"/>
            <a:chExt cx="402336" cy="402336"/>
          </a:xfrm>
        </p:grpSpPr>
        <p:sp>
          <p:nvSpPr>
            <p:cNvPr name="Freeform 38" id="38"/>
            <p:cNvSpPr/>
            <p:nvPr/>
          </p:nvSpPr>
          <p:spPr>
            <a:xfrm flipH="false" flipV="false" rot="0">
              <a:off x="0" y="0"/>
              <a:ext cx="402336" cy="402336"/>
            </a:xfrm>
            <a:custGeom>
              <a:avLst/>
              <a:gdLst/>
              <a:ahLst/>
              <a:cxnLst/>
              <a:rect r="r" b="b" t="t" l="l"/>
              <a:pathLst>
                <a:path h="402336" w="402336">
                  <a:moveTo>
                    <a:pt x="0" y="402336"/>
                  </a:moveTo>
                  <a:lnTo>
                    <a:pt x="201168" y="0"/>
                  </a:lnTo>
                  <a:lnTo>
                    <a:pt x="402336" y="402336"/>
                  </a:lnTo>
                  <a:close/>
                </a:path>
              </a:pathLst>
            </a:custGeom>
            <a:solidFill>
              <a:srgbClr val="00B4D8"/>
            </a:solidFill>
          </p:spPr>
        </p:sp>
      </p:grpSp>
      <p:grpSp>
        <p:nvGrpSpPr>
          <p:cNvPr name="Group 39" id="39"/>
          <p:cNvGrpSpPr/>
          <p:nvPr/>
        </p:nvGrpSpPr>
        <p:grpSpPr>
          <a:xfrm rot="0">
            <a:off x="11130534" y="2372868"/>
            <a:ext cx="603504" cy="603504"/>
            <a:chOff x="0" y="0"/>
            <a:chExt cx="804672" cy="804672"/>
          </a:xfrm>
        </p:grpSpPr>
        <p:sp>
          <p:nvSpPr>
            <p:cNvPr name="Freeform 40" id="40"/>
            <p:cNvSpPr/>
            <p:nvPr/>
          </p:nvSpPr>
          <p:spPr>
            <a:xfrm flipH="false" flipV="false" rot="0">
              <a:off x="0" y="0"/>
              <a:ext cx="804672" cy="804672"/>
            </a:xfrm>
            <a:custGeom>
              <a:avLst/>
              <a:gdLst/>
              <a:ahLst/>
              <a:cxnLst/>
              <a:rect r="r" b="b" t="t" l="l"/>
              <a:pathLst>
                <a:path h="804672" w="804672">
                  <a:moveTo>
                    <a:pt x="0" y="402336"/>
                  </a:moveTo>
                  <a:cubicBezTo>
                    <a:pt x="0" y="180086"/>
                    <a:pt x="180086" y="0"/>
                    <a:pt x="402336" y="0"/>
                  </a:cubicBezTo>
                  <a:cubicBezTo>
                    <a:pt x="624586" y="0"/>
                    <a:pt x="804672" y="180086"/>
                    <a:pt x="804672" y="402336"/>
                  </a:cubicBezTo>
                  <a:cubicBezTo>
                    <a:pt x="804672" y="624586"/>
                    <a:pt x="624586" y="804672"/>
                    <a:pt x="402336" y="804672"/>
                  </a:cubicBezTo>
                  <a:cubicBezTo>
                    <a:pt x="180086" y="804672"/>
                    <a:pt x="0" y="624586"/>
                    <a:pt x="0" y="402336"/>
                  </a:cubicBezTo>
                  <a:close/>
                </a:path>
              </a:pathLst>
            </a:custGeom>
            <a:solidFill>
              <a:srgbClr val="1E2761"/>
            </a:solidFill>
          </p:spPr>
        </p:sp>
      </p:grpSp>
      <p:grpSp>
        <p:nvGrpSpPr>
          <p:cNvPr name="Group 41" id="41"/>
          <p:cNvGrpSpPr/>
          <p:nvPr/>
        </p:nvGrpSpPr>
        <p:grpSpPr>
          <a:xfrm rot="0">
            <a:off x="11130534" y="2372868"/>
            <a:ext cx="603504" cy="603504"/>
            <a:chOff x="0" y="0"/>
            <a:chExt cx="804672" cy="804672"/>
          </a:xfrm>
        </p:grpSpPr>
        <p:sp>
          <p:nvSpPr>
            <p:cNvPr name="Freeform 42" id="42"/>
            <p:cNvSpPr/>
            <p:nvPr/>
          </p:nvSpPr>
          <p:spPr>
            <a:xfrm flipH="false" flipV="false" rot="0">
              <a:off x="0" y="0"/>
              <a:ext cx="804672" cy="804672"/>
            </a:xfrm>
            <a:custGeom>
              <a:avLst/>
              <a:gdLst/>
              <a:ahLst/>
              <a:cxnLst/>
              <a:rect r="r" b="b" t="t" l="l"/>
              <a:pathLst>
                <a:path h="804672" w="804672">
                  <a:moveTo>
                    <a:pt x="0" y="0"/>
                  </a:moveTo>
                  <a:lnTo>
                    <a:pt x="804672" y="0"/>
                  </a:lnTo>
                  <a:lnTo>
                    <a:pt x="804672" y="804672"/>
                  </a:lnTo>
                  <a:lnTo>
                    <a:pt x="0" y="804672"/>
                  </a:lnTo>
                  <a:close/>
                </a:path>
              </a:pathLst>
            </a:custGeom>
            <a:blipFill>
              <a:blip r:embed="rId4">
                <a:alphaModFix amt="0"/>
              </a:blip>
              <a:stretch>
                <a:fillRect l="-78303" t="0" r="-78303" b="0"/>
              </a:stretch>
            </a:blipFill>
          </p:spPr>
        </p:sp>
        <p:sp>
          <p:nvSpPr>
            <p:cNvPr name="TextBox 43" id="43"/>
            <p:cNvSpPr txBox="true"/>
            <p:nvPr/>
          </p:nvSpPr>
          <p:spPr>
            <a:xfrm>
              <a:off x="0" y="-47625"/>
              <a:ext cx="804672" cy="852297"/>
            </a:xfrm>
            <a:prstGeom prst="rect">
              <a:avLst/>
            </a:prstGeom>
          </p:spPr>
          <p:txBody>
            <a:bodyPr anchor="ctr" rtlCol="false" tIns="0" lIns="0" bIns="0" rIns="0"/>
            <a:lstStyle/>
            <a:p>
              <a:pPr algn="ctr">
                <a:lnSpc>
                  <a:spcPts val="2520"/>
                </a:lnSpc>
              </a:pPr>
              <a:r>
                <a:rPr lang="en-US" sz="2100" b="true">
                  <a:solidFill>
                    <a:srgbClr val="FFFFFF"/>
                  </a:solidFill>
                  <a:latin typeface="Calibri (MS) Bold"/>
                  <a:ea typeface="Calibri (MS) Bold"/>
                  <a:cs typeface="Calibri (MS) Bold"/>
                  <a:sym typeface="Calibri (MS) Bold"/>
                </a:rPr>
                <a:t>3</a:t>
              </a:r>
            </a:p>
          </p:txBody>
        </p:sp>
      </p:grpSp>
      <p:grpSp>
        <p:nvGrpSpPr>
          <p:cNvPr name="Group 44" id="44"/>
          <p:cNvGrpSpPr/>
          <p:nvPr/>
        </p:nvGrpSpPr>
        <p:grpSpPr>
          <a:xfrm rot="0">
            <a:off x="9546336" y="3429000"/>
            <a:ext cx="3771900" cy="3977640"/>
            <a:chOff x="0" y="0"/>
            <a:chExt cx="5029200" cy="5303520"/>
          </a:xfrm>
        </p:grpSpPr>
        <p:sp>
          <p:nvSpPr>
            <p:cNvPr name="Freeform 45" id="45"/>
            <p:cNvSpPr/>
            <p:nvPr/>
          </p:nvSpPr>
          <p:spPr>
            <a:xfrm flipH="false" flipV="false" rot="0">
              <a:off x="0" y="0"/>
              <a:ext cx="5029200" cy="5303520"/>
            </a:xfrm>
            <a:custGeom>
              <a:avLst/>
              <a:gdLst/>
              <a:ahLst/>
              <a:cxnLst/>
              <a:rect r="r" b="b" t="t" l="l"/>
              <a:pathLst>
                <a:path h="5303520" w="5029200">
                  <a:moveTo>
                    <a:pt x="0" y="182880"/>
                  </a:moveTo>
                  <a:cubicBezTo>
                    <a:pt x="0" y="81915"/>
                    <a:pt x="81915" y="0"/>
                    <a:pt x="182880" y="0"/>
                  </a:cubicBezTo>
                  <a:lnTo>
                    <a:pt x="4846320" y="0"/>
                  </a:lnTo>
                  <a:cubicBezTo>
                    <a:pt x="4947285" y="0"/>
                    <a:pt x="5029200" y="81915"/>
                    <a:pt x="5029200" y="182880"/>
                  </a:cubicBezTo>
                  <a:lnTo>
                    <a:pt x="5029200" y="5120640"/>
                  </a:lnTo>
                  <a:cubicBezTo>
                    <a:pt x="5029200" y="5221605"/>
                    <a:pt x="4947285" y="5303520"/>
                    <a:pt x="4846320" y="5303520"/>
                  </a:cubicBezTo>
                  <a:lnTo>
                    <a:pt x="182880" y="5303520"/>
                  </a:lnTo>
                  <a:cubicBezTo>
                    <a:pt x="81915" y="5303520"/>
                    <a:pt x="0" y="5221605"/>
                    <a:pt x="0" y="5120640"/>
                  </a:cubicBezTo>
                  <a:close/>
                </a:path>
              </a:pathLst>
            </a:custGeom>
            <a:solidFill>
              <a:srgbClr val="F4F7FC"/>
            </a:solidFill>
          </p:spPr>
        </p:sp>
      </p:grpSp>
      <p:grpSp>
        <p:nvGrpSpPr>
          <p:cNvPr name="Group 46" id="46"/>
          <p:cNvGrpSpPr/>
          <p:nvPr/>
        </p:nvGrpSpPr>
        <p:grpSpPr>
          <a:xfrm rot="0">
            <a:off x="9820656" y="3771900"/>
            <a:ext cx="3223260" cy="685800"/>
            <a:chOff x="0" y="0"/>
            <a:chExt cx="4297680" cy="914400"/>
          </a:xfrm>
        </p:grpSpPr>
        <p:sp>
          <p:nvSpPr>
            <p:cNvPr name="Freeform 47" id="47"/>
            <p:cNvSpPr/>
            <p:nvPr/>
          </p:nvSpPr>
          <p:spPr>
            <a:xfrm flipH="false" flipV="false" rot="0">
              <a:off x="0" y="0"/>
              <a:ext cx="4297680" cy="914400"/>
            </a:xfrm>
            <a:custGeom>
              <a:avLst/>
              <a:gdLst/>
              <a:ahLst/>
              <a:cxnLst/>
              <a:rect r="r" b="b" t="t" l="l"/>
              <a:pathLst>
                <a:path h="914400" w="4297680">
                  <a:moveTo>
                    <a:pt x="0" y="0"/>
                  </a:moveTo>
                  <a:lnTo>
                    <a:pt x="4297680" y="0"/>
                  </a:lnTo>
                  <a:lnTo>
                    <a:pt x="4297680" y="914400"/>
                  </a:lnTo>
                  <a:lnTo>
                    <a:pt x="0" y="914400"/>
                  </a:lnTo>
                  <a:close/>
                </a:path>
              </a:pathLst>
            </a:custGeom>
            <a:blipFill>
              <a:blip r:embed="rId4">
                <a:alphaModFix amt="0"/>
              </a:blip>
              <a:stretch>
                <a:fillRect l="0" t="-41579" r="0" b="-41579"/>
              </a:stretch>
            </a:blipFill>
          </p:spPr>
        </p:sp>
        <p:sp>
          <p:nvSpPr>
            <p:cNvPr name="TextBox 48" id="48"/>
            <p:cNvSpPr txBox="true"/>
            <p:nvPr/>
          </p:nvSpPr>
          <p:spPr>
            <a:xfrm>
              <a:off x="0" y="-9525"/>
              <a:ext cx="4297680" cy="923925"/>
            </a:xfrm>
            <a:prstGeom prst="rect">
              <a:avLst/>
            </a:prstGeom>
          </p:spPr>
          <p:txBody>
            <a:bodyPr anchor="ctr" rtlCol="false" tIns="0" lIns="0" bIns="0" rIns="0"/>
            <a:lstStyle/>
            <a:p>
              <a:pPr algn="l">
                <a:lnSpc>
                  <a:spcPts val="3419"/>
                </a:lnSpc>
              </a:pPr>
              <a:r>
                <a:rPr lang="en-US" sz="2850" b="true">
                  <a:solidFill>
                    <a:srgbClr val="1E2761"/>
                  </a:solidFill>
                  <a:latin typeface="Cambria Bold"/>
                  <a:ea typeface="Cambria Bold"/>
                  <a:cs typeface="Cambria Bold"/>
                  <a:sym typeface="Cambria Bold"/>
                </a:rPr>
                <a:t>Respond</a:t>
              </a:r>
            </a:p>
          </p:txBody>
        </p:sp>
      </p:grpSp>
      <p:sp>
        <p:nvSpPr>
          <p:cNvPr name="TextBox 49" id="49"/>
          <p:cNvSpPr txBox="true"/>
          <p:nvPr/>
        </p:nvSpPr>
        <p:spPr>
          <a:xfrm rot="0">
            <a:off x="9912096" y="4535805"/>
            <a:ext cx="3040380" cy="2345055"/>
          </a:xfrm>
          <a:prstGeom prst="rect">
            <a:avLst/>
          </a:prstGeom>
        </p:spPr>
        <p:txBody>
          <a:bodyPr anchor="t" rtlCol="false" tIns="0" lIns="0" bIns="0" rIns="0">
            <a:spAutoFit/>
          </a:bodyPr>
          <a:lstStyle/>
          <a:p>
            <a:pPr algn="l">
              <a:lnSpc>
                <a:spcPts val="2925"/>
              </a:lnSpc>
            </a:pPr>
            <a:r>
              <a:rPr lang="en-US" sz="1875">
                <a:solidFill>
                  <a:srgbClr val="23262F"/>
                </a:solidFill>
                <a:latin typeface="Calibri (MS)"/>
                <a:ea typeface="Calibri (MS)"/>
                <a:cs typeface="Calibri (MS)"/>
                <a:sym typeface="Calibri (MS)"/>
              </a:rPr>
              <a:t>Treat, Transfer, Tolerate, or Terminate it.</a:t>
            </a:r>
          </a:p>
        </p:txBody>
      </p:sp>
      <p:grpSp>
        <p:nvGrpSpPr>
          <p:cNvPr name="Group 50" id="50"/>
          <p:cNvGrpSpPr/>
          <p:nvPr/>
        </p:nvGrpSpPr>
        <p:grpSpPr>
          <a:xfrm rot="5400000">
            <a:off x="13386816" y="5266944"/>
            <a:ext cx="301752" cy="301752"/>
            <a:chOff x="0" y="0"/>
            <a:chExt cx="402336" cy="402336"/>
          </a:xfrm>
        </p:grpSpPr>
        <p:sp>
          <p:nvSpPr>
            <p:cNvPr name="Freeform 51" id="51"/>
            <p:cNvSpPr/>
            <p:nvPr/>
          </p:nvSpPr>
          <p:spPr>
            <a:xfrm flipH="false" flipV="false" rot="0">
              <a:off x="0" y="0"/>
              <a:ext cx="402336" cy="402336"/>
            </a:xfrm>
            <a:custGeom>
              <a:avLst/>
              <a:gdLst/>
              <a:ahLst/>
              <a:cxnLst/>
              <a:rect r="r" b="b" t="t" l="l"/>
              <a:pathLst>
                <a:path h="402336" w="402336">
                  <a:moveTo>
                    <a:pt x="0" y="402336"/>
                  </a:moveTo>
                  <a:lnTo>
                    <a:pt x="201168" y="0"/>
                  </a:lnTo>
                  <a:lnTo>
                    <a:pt x="402336" y="402336"/>
                  </a:lnTo>
                  <a:close/>
                </a:path>
              </a:pathLst>
            </a:custGeom>
            <a:solidFill>
              <a:srgbClr val="00B4D8"/>
            </a:solidFill>
          </p:spPr>
        </p:sp>
      </p:grpSp>
      <p:grpSp>
        <p:nvGrpSpPr>
          <p:cNvPr name="Group 52" id="52"/>
          <p:cNvGrpSpPr/>
          <p:nvPr/>
        </p:nvGrpSpPr>
        <p:grpSpPr>
          <a:xfrm rot="0">
            <a:off x="15286482" y="2372868"/>
            <a:ext cx="603504" cy="603504"/>
            <a:chOff x="0" y="0"/>
            <a:chExt cx="804672" cy="804672"/>
          </a:xfrm>
        </p:grpSpPr>
        <p:sp>
          <p:nvSpPr>
            <p:cNvPr name="Freeform 53" id="53"/>
            <p:cNvSpPr/>
            <p:nvPr/>
          </p:nvSpPr>
          <p:spPr>
            <a:xfrm flipH="false" flipV="false" rot="0">
              <a:off x="0" y="0"/>
              <a:ext cx="804672" cy="804672"/>
            </a:xfrm>
            <a:custGeom>
              <a:avLst/>
              <a:gdLst/>
              <a:ahLst/>
              <a:cxnLst/>
              <a:rect r="r" b="b" t="t" l="l"/>
              <a:pathLst>
                <a:path h="804672" w="804672">
                  <a:moveTo>
                    <a:pt x="0" y="402336"/>
                  </a:moveTo>
                  <a:cubicBezTo>
                    <a:pt x="0" y="180086"/>
                    <a:pt x="180086" y="0"/>
                    <a:pt x="402336" y="0"/>
                  </a:cubicBezTo>
                  <a:cubicBezTo>
                    <a:pt x="624586" y="0"/>
                    <a:pt x="804672" y="180086"/>
                    <a:pt x="804672" y="402336"/>
                  </a:cubicBezTo>
                  <a:cubicBezTo>
                    <a:pt x="804672" y="624586"/>
                    <a:pt x="624586" y="804672"/>
                    <a:pt x="402336" y="804672"/>
                  </a:cubicBezTo>
                  <a:cubicBezTo>
                    <a:pt x="180086" y="804672"/>
                    <a:pt x="0" y="624586"/>
                    <a:pt x="0" y="402336"/>
                  </a:cubicBezTo>
                  <a:close/>
                </a:path>
              </a:pathLst>
            </a:custGeom>
            <a:solidFill>
              <a:srgbClr val="1E2761"/>
            </a:solidFill>
          </p:spPr>
        </p:sp>
      </p:grpSp>
      <p:grpSp>
        <p:nvGrpSpPr>
          <p:cNvPr name="Group 54" id="54"/>
          <p:cNvGrpSpPr/>
          <p:nvPr/>
        </p:nvGrpSpPr>
        <p:grpSpPr>
          <a:xfrm rot="0">
            <a:off x="15286482" y="2372868"/>
            <a:ext cx="603504" cy="603504"/>
            <a:chOff x="0" y="0"/>
            <a:chExt cx="804672" cy="804672"/>
          </a:xfrm>
        </p:grpSpPr>
        <p:sp>
          <p:nvSpPr>
            <p:cNvPr name="Freeform 55" id="55"/>
            <p:cNvSpPr/>
            <p:nvPr/>
          </p:nvSpPr>
          <p:spPr>
            <a:xfrm flipH="false" flipV="false" rot="0">
              <a:off x="0" y="0"/>
              <a:ext cx="804672" cy="804672"/>
            </a:xfrm>
            <a:custGeom>
              <a:avLst/>
              <a:gdLst/>
              <a:ahLst/>
              <a:cxnLst/>
              <a:rect r="r" b="b" t="t" l="l"/>
              <a:pathLst>
                <a:path h="804672" w="804672">
                  <a:moveTo>
                    <a:pt x="0" y="0"/>
                  </a:moveTo>
                  <a:lnTo>
                    <a:pt x="804672" y="0"/>
                  </a:lnTo>
                  <a:lnTo>
                    <a:pt x="804672" y="804672"/>
                  </a:lnTo>
                  <a:lnTo>
                    <a:pt x="0" y="804672"/>
                  </a:lnTo>
                  <a:close/>
                </a:path>
              </a:pathLst>
            </a:custGeom>
            <a:blipFill>
              <a:blip r:embed="rId4">
                <a:alphaModFix amt="0"/>
              </a:blip>
              <a:stretch>
                <a:fillRect l="-78303" t="0" r="-78303" b="0"/>
              </a:stretch>
            </a:blipFill>
          </p:spPr>
        </p:sp>
        <p:sp>
          <p:nvSpPr>
            <p:cNvPr name="TextBox 56" id="56"/>
            <p:cNvSpPr txBox="true"/>
            <p:nvPr/>
          </p:nvSpPr>
          <p:spPr>
            <a:xfrm>
              <a:off x="0" y="-47625"/>
              <a:ext cx="804672" cy="852297"/>
            </a:xfrm>
            <a:prstGeom prst="rect">
              <a:avLst/>
            </a:prstGeom>
          </p:spPr>
          <p:txBody>
            <a:bodyPr anchor="ctr" rtlCol="false" tIns="0" lIns="0" bIns="0" rIns="0"/>
            <a:lstStyle/>
            <a:p>
              <a:pPr algn="ctr">
                <a:lnSpc>
                  <a:spcPts val="2520"/>
                </a:lnSpc>
              </a:pPr>
              <a:r>
                <a:rPr lang="en-US" sz="2100" b="true">
                  <a:solidFill>
                    <a:srgbClr val="FFFFFF"/>
                  </a:solidFill>
                  <a:latin typeface="Calibri (MS) Bold"/>
                  <a:ea typeface="Calibri (MS) Bold"/>
                  <a:cs typeface="Calibri (MS) Bold"/>
                  <a:sym typeface="Calibri (MS) Bold"/>
                </a:rPr>
                <a:t>4</a:t>
              </a:r>
            </a:p>
          </p:txBody>
        </p:sp>
      </p:grpSp>
      <p:grpSp>
        <p:nvGrpSpPr>
          <p:cNvPr name="Group 57" id="57"/>
          <p:cNvGrpSpPr/>
          <p:nvPr/>
        </p:nvGrpSpPr>
        <p:grpSpPr>
          <a:xfrm rot="0">
            <a:off x="13702284" y="3429000"/>
            <a:ext cx="3771900" cy="3977640"/>
            <a:chOff x="0" y="0"/>
            <a:chExt cx="5029200" cy="5303520"/>
          </a:xfrm>
        </p:grpSpPr>
        <p:sp>
          <p:nvSpPr>
            <p:cNvPr name="Freeform 58" id="58"/>
            <p:cNvSpPr/>
            <p:nvPr/>
          </p:nvSpPr>
          <p:spPr>
            <a:xfrm flipH="false" flipV="false" rot="0">
              <a:off x="0" y="0"/>
              <a:ext cx="5029200" cy="5303520"/>
            </a:xfrm>
            <a:custGeom>
              <a:avLst/>
              <a:gdLst/>
              <a:ahLst/>
              <a:cxnLst/>
              <a:rect r="r" b="b" t="t" l="l"/>
              <a:pathLst>
                <a:path h="5303520" w="5029200">
                  <a:moveTo>
                    <a:pt x="0" y="182880"/>
                  </a:moveTo>
                  <a:cubicBezTo>
                    <a:pt x="0" y="81915"/>
                    <a:pt x="81915" y="0"/>
                    <a:pt x="182880" y="0"/>
                  </a:cubicBezTo>
                  <a:lnTo>
                    <a:pt x="4846320" y="0"/>
                  </a:lnTo>
                  <a:cubicBezTo>
                    <a:pt x="4947285" y="0"/>
                    <a:pt x="5029200" y="81915"/>
                    <a:pt x="5029200" y="182880"/>
                  </a:cubicBezTo>
                  <a:lnTo>
                    <a:pt x="5029200" y="5120640"/>
                  </a:lnTo>
                  <a:cubicBezTo>
                    <a:pt x="5029200" y="5221605"/>
                    <a:pt x="4947285" y="5303520"/>
                    <a:pt x="4846320" y="5303520"/>
                  </a:cubicBezTo>
                  <a:lnTo>
                    <a:pt x="182880" y="5303520"/>
                  </a:lnTo>
                  <a:cubicBezTo>
                    <a:pt x="81915" y="5303520"/>
                    <a:pt x="0" y="5221605"/>
                    <a:pt x="0" y="5120640"/>
                  </a:cubicBezTo>
                  <a:close/>
                </a:path>
              </a:pathLst>
            </a:custGeom>
            <a:solidFill>
              <a:srgbClr val="F4F7FC"/>
            </a:solidFill>
          </p:spPr>
        </p:sp>
      </p:grpSp>
      <p:grpSp>
        <p:nvGrpSpPr>
          <p:cNvPr name="Group 59" id="59"/>
          <p:cNvGrpSpPr/>
          <p:nvPr/>
        </p:nvGrpSpPr>
        <p:grpSpPr>
          <a:xfrm rot="0">
            <a:off x="13976604" y="3771900"/>
            <a:ext cx="3223260" cy="685800"/>
            <a:chOff x="0" y="0"/>
            <a:chExt cx="4297680" cy="914400"/>
          </a:xfrm>
        </p:grpSpPr>
        <p:sp>
          <p:nvSpPr>
            <p:cNvPr name="Freeform 60" id="60"/>
            <p:cNvSpPr/>
            <p:nvPr/>
          </p:nvSpPr>
          <p:spPr>
            <a:xfrm flipH="false" flipV="false" rot="0">
              <a:off x="0" y="0"/>
              <a:ext cx="4297680" cy="914400"/>
            </a:xfrm>
            <a:custGeom>
              <a:avLst/>
              <a:gdLst/>
              <a:ahLst/>
              <a:cxnLst/>
              <a:rect r="r" b="b" t="t" l="l"/>
              <a:pathLst>
                <a:path h="914400" w="4297680">
                  <a:moveTo>
                    <a:pt x="0" y="0"/>
                  </a:moveTo>
                  <a:lnTo>
                    <a:pt x="4297680" y="0"/>
                  </a:lnTo>
                  <a:lnTo>
                    <a:pt x="4297680" y="914400"/>
                  </a:lnTo>
                  <a:lnTo>
                    <a:pt x="0" y="914400"/>
                  </a:lnTo>
                  <a:close/>
                </a:path>
              </a:pathLst>
            </a:custGeom>
            <a:blipFill>
              <a:blip r:embed="rId4">
                <a:alphaModFix amt="0"/>
              </a:blip>
              <a:stretch>
                <a:fillRect l="0" t="-41579" r="0" b="-41579"/>
              </a:stretch>
            </a:blipFill>
          </p:spPr>
        </p:sp>
        <p:sp>
          <p:nvSpPr>
            <p:cNvPr name="TextBox 61" id="61"/>
            <p:cNvSpPr txBox="true"/>
            <p:nvPr/>
          </p:nvSpPr>
          <p:spPr>
            <a:xfrm>
              <a:off x="0" y="-9525"/>
              <a:ext cx="4297680" cy="923925"/>
            </a:xfrm>
            <a:prstGeom prst="rect">
              <a:avLst/>
            </a:prstGeom>
          </p:spPr>
          <p:txBody>
            <a:bodyPr anchor="ctr" rtlCol="false" tIns="0" lIns="0" bIns="0" rIns="0"/>
            <a:lstStyle/>
            <a:p>
              <a:pPr algn="l">
                <a:lnSpc>
                  <a:spcPts val="3419"/>
                </a:lnSpc>
              </a:pPr>
              <a:r>
                <a:rPr lang="en-US" sz="2850" b="true">
                  <a:solidFill>
                    <a:srgbClr val="1E2761"/>
                  </a:solidFill>
                  <a:latin typeface="Cambria Bold"/>
                  <a:ea typeface="Cambria Bold"/>
                  <a:cs typeface="Cambria Bold"/>
                  <a:sym typeface="Cambria Bold"/>
                </a:rPr>
                <a:t>Monitor</a:t>
              </a:r>
            </a:p>
          </p:txBody>
        </p:sp>
      </p:grpSp>
      <p:sp>
        <p:nvSpPr>
          <p:cNvPr name="TextBox 62" id="62"/>
          <p:cNvSpPr txBox="true"/>
          <p:nvPr/>
        </p:nvSpPr>
        <p:spPr>
          <a:xfrm rot="0">
            <a:off x="14068044" y="4535805"/>
            <a:ext cx="3040380" cy="2345055"/>
          </a:xfrm>
          <a:prstGeom prst="rect">
            <a:avLst/>
          </a:prstGeom>
        </p:spPr>
        <p:txBody>
          <a:bodyPr anchor="t" rtlCol="false" tIns="0" lIns="0" bIns="0" rIns="0">
            <a:spAutoFit/>
          </a:bodyPr>
          <a:lstStyle/>
          <a:p>
            <a:pPr algn="l">
              <a:lnSpc>
                <a:spcPts val="2925"/>
              </a:lnSpc>
            </a:pPr>
            <a:r>
              <a:rPr lang="en-US" sz="1875">
                <a:solidFill>
                  <a:srgbClr val="23262F"/>
                </a:solidFill>
                <a:latin typeface="Calibri (MS)"/>
                <a:ea typeface="Calibri (MS)"/>
                <a:cs typeface="Calibri (MS)"/>
                <a:sym typeface="Calibri (MS)"/>
              </a:rPr>
              <a:t>Check regularly that your response still holds.</a:t>
            </a:r>
          </a:p>
        </p:txBody>
      </p:sp>
      <p:grpSp>
        <p:nvGrpSpPr>
          <p:cNvPr name="Group 63" id="63"/>
          <p:cNvGrpSpPr/>
          <p:nvPr/>
        </p:nvGrpSpPr>
        <p:grpSpPr>
          <a:xfrm rot="0">
            <a:off x="1234440" y="7886700"/>
            <a:ext cx="15499080" cy="480060"/>
            <a:chOff x="0" y="0"/>
            <a:chExt cx="20665440" cy="640080"/>
          </a:xfrm>
        </p:grpSpPr>
        <p:sp>
          <p:nvSpPr>
            <p:cNvPr name="Freeform 64" id="64"/>
            <p:cNvSpPr/>
            <p:nvPr/>
          </p:nvSpPr>
          <p:spPr>
            <a:xfrm flipH="false" flipV="false" rot="0">
              <a:off x="0" y="0"/>
              <a:ext cx="20665439" cy="640080"/>
            </a:xfrm>
            <a:custGeom>
              <a:avLst/>
              <a:gdLst/>
              <a:ahLst/>
              <a:cxnLst/>
              <a:rect r="r" b="b" t="t" l="l"/>
              <a:pathLst>
                <a:path h="640080" w="20665439">
                  <a:moveTo>
                    <a:pt x="0" y="0"/>
                  </a:moveTo>
                  <a:lnTo>
                    <a:pt x="20665439" y="0"/>
                  </a:lnTo>
                  <a:lnTo>
                    <a:pt x="20665439" y="640080"/>
                  </a:lnTo>
                  <a:lnTo>
                    <a:pt x="0" y="640080"/>
                  </a:lnTo>
                  <a:close/>
                </a:path>
              </a:pathLst>
            </a:custGeom>
            <a:blipFill>
              <a:blip r:embed="rId4">
                <a:alphaModFix amt="0"/>
              </a:blip>
              <a:stretch>
                <a:fillRect l="0" t="-579088" r="0" b="-579088"/>
              </a:stretch>
            </a:blipFill>
          </p:spPr>
        </p:sp>
        <p:sp>
          <p:nvSpPr>
            <p:cNvPr name="TextBox 65" id="65"/>
            <p:cNvSpPr txBox="true"/>
            <p:nvPr/>
          </p:nvSpPr>
          <p:spPr>
            <a:xfrm>
              <a:off x="0" y="-19050"/>
              <a:ext cx="20665440" cy="659130"/>
            </a:xfrm>
            <a:prstGeom prst="rect">
              <a:avLst/>
            </a:prstGeom>
          </p:spPr>
          <p:txBody>
            <a:bodyPr anchor="ctr" rtlCol="false" tIns="0" lIns="0" bIns="0" rIns="0"/>
            <a:lstStyle/>
            <a:p>
              <a:pPr algn="l">
                <a:lnSpc>
                  <a:spcPts val="1889"/>
                </a:lnSpc>
              </a:pPr>
              <a:r>
                <a:rPr lang="en-US" sz="1575" i="true">
                  <a:solidFill>
                    <a:srgbClr val="6B7280"/>
                  </a:solidFill>
                  <a:latin typeface="Calibri (MS) Italics"/>
                  <a:ea typeface="Calibri (MS) Italics"/>
                  <a:cs typeface="Calibri (MS) Italics"/>
                  <a:sym typeface="Calibri (MS) Italics"/>
                </a:rPr>
                <a:t>Based on DBM's National Guidelines on Internal Control Systems (NGICS), Sec. 3.2–3.5 — built on ISO 31000</a:t>
              </a:r>
            </a:p>
          </p:txBody>
        </p:sp>
      </p:grpSp>
      <p:grpSp>
        <p:nvGrpSpPr>
          <p:cNvPr name="Group 66" id="66"/>
          <p:cNvGrpSpPr/>
          <p:nvPr/>
        </p:nvGrpSpPr>
        <p:grpSpPr>
          <a:xfrm rot="0">
            <a:off x="685800" y="9710928"/>
            <a:ext cx="10972800" cy="411480"/>
            <a:chOff x="0" y="0"/>
            <a:chExt cx="14630400" cy="548640"/>
          </a:xfrm>
        </p:grpSpPr>
        <p:sp>
          <p:nvSpPr>
            <p:cNvPr name="Freeform 67" id="67"/>
            <p:cNvSpPr/>
            <p:nvPr/>
          </p:nvSpPr>
          <p:spPr>
            <a:xfrm flipH="false" flipV="false" rot="0">
              <a:off x="0" y="0"/>
              <a:ext cx="14630400" cy="548640"/>
            </a:xfrm>
            <a:custGeom>
              <a:avLst/>
              <a:gdLst/>
              <a:ahLst/>
              <a:cxnLst/>
              <a:rect r="r" b="b" t="t" l="l"/>
              <a:pathLst>
                <a:path h="548640" w="14630400">
                  <a:moveTo>
                    <a:pt x="0" y="0"/>
                  </a:moveTo>
                  <a:lnTo>
                    <a:pt x="14630400" y="0"/>
                  </a:lnTo>
                  <a:lnTo>
                    <a:pt x="14630400" y="548640"/>
                  </a:lnTo>
                  <a:lnTo>
                    <a:pt x="0" y="548640"/>
                  </a:lnTo>
                  <a:close/>
                </a:path>
              </a:pathLst>
            </a:custGeom>
            <a:blipFill>
              <a:blip r:embed="rId4">
                <a:alphaModFix amt="0"/>
              </a:blip>
              <a:stretch>
                <a:fillRect l="0" t="-469601" r="0" b="-469601"/>
              </a:stretch>
            </a:blipFill>
          </p:spPr>
        </p:sp>
        <p:sp>
          <p:nvSpPr>
            <p:cNvPr name="TextBox 68" id="68"/>
            <p:cNvSpPr txBox="true"/>
            <p:nvPr/>
          </p:nvSpPr>
          <p:spPr>
            <a:xfrm>
              <a:off x="0" y="-38100"/>
              <a:ext cx="14630400" cy="586740"/>
            </a:xfrm>
            <a:prstGeom prst="rect">
              <a:avLst/>
            </a:prstGeom>
          </p:spPr>
          <p:txBody>
            <a:bodyPr anchor="ctr" rtlCol="false" tIns="0" lIns="0" bIns="0" rIns="0"/>
            <a:lstStyle/>
            <a:p>
              <a:pPr algn="l">
                <a:lnSpc>
                  <a:spcPts val="1800"/>
                </a:lnSpc>
              </a:pPr>
              <a:r>
                <a:rPr lang="en-US" sz="1500">
                  <a:solidFill>
                    <a:srgbClr val="6B7280"/>
                  </a:solidFill>
                  <a:latin typeface="Calibri (MS)"/>
                  <a:ea typeface="Calibri (MS)"/>
                  <a:cs typeface="Calibri (MS)"/>
                  <a:sym typeface="Calibri (MS)"/>
                </a:rPr>
                <a:t>Davao del Norte Provincial Government — Cybersecurity Seminar</a:t>
              </a:r>
            </a:p>
          </p:txBody>
        </p:sp>
      </p:grpSp>
      <p:grpSp>
        <p:nvGrpSpPr>
          <p:cNvPr name="Group 69" id="69"/>
          <p:cNvGrpSpPr/>
          <p:nvPr/>
        </p:nvGrpSpPr>
        <p:grpSpPr>
          <a:xfrm rot="0">
            <a:off x="16911828" y="9710928"/>
            <a:ext cx="685800" cy="411480"/>
            <a:chOff x="0" y="0"/>
            <a:chExt cx="914400" cy="548640"/>
          </a:xfrm>
        </p:grpSpPr>
        <p:sp>
          <p:nvSpPr>
            <p:cNvPr name="Freeform 70" id="70"/>
            <p:cNvSpPr/>
            <p:nvPr/>
          </p:nvSpPr>
          <p:spPr>
            <a:xfrm flipH="false" flipV="false" rot="0">
              <a:off x="0" y="0"/>
              <a:ext cx="914400" cy="548640"/>
            </a:xfrm>
            <a:custGeom>
              <a:avLst/>
              <a:gdLst/>
              <a:ahLst/>
              <a:cxnLst/>
              <a:rect r="r" b="b" t="t" l="l"/>
              <a:pathLst>
                <a:path h="548640" w="914400">
                  <a:moveTo>
                    <a:pt x="0" y="0"/>
                  </a:moveTo>
                  <a:lnTo>
                    <a:pt x="914400" y="0"/>
                  </a:lnTo>
                  <a:lnTo>
                    <a:pt x="914400" y="548640"/>
                  </a:lnTo>
                  <a:lnTo>
                    <a:pt x="0" y="548640"/>
                  </a:lnTo>
                  <a:close/>
                </a:path>
              </a:pathLst>
            </a:custGeom>
            <a:blipFill>
              <a:blip r:embed="rId4">
                <a:alphaModFix amt="0"/>
              </a:blip>
              <a:stretch>
                <a:fillRect l="-26982" t="0" r="-26982" b="0"/>
              </a:stretch>
            </a:blipFill>
          </p:spPr>
        </p:sp>
        <p:sp>
          <p:nvSpPr>
            <p:cNvPr name="TextBox 71" id="71"/>
            <p:cNvSpPr txBox="true"/>
            <p:nvPr/>
          </p:nvSpPr>
          <p:spPr>
            <a:xfrm>
              <a:off x="0" y="-38100"/>
              <a:ext cx="914400" cy="586740"/>
            </a:xfrm>
            <a:prstGeom prst="rect">
              <a:avLst/>
            </a:prstGeom>
          </p:spPr>
          <p:txBody>
            <a:bodyPr anchor="ctr" rtlCol="false" tIns="0" lIns="0" bIns="0" rIns="0"/>
            <a:lstStyle/>
            <a:p>
              <a:pPr algn="r">
                <a:lnSpc>
                  <a:spcPts val="1800"/>
                </a:lnSpc>
              </a:pPr>
              <a:r>
                <a:rPr lang="en-US" sz="1500">
                  <a:solidFill>
                    <a:srgbClr val="6B7280"/>
                  </a:solidFill>
                  <a:latin typeface="Calibri (MS)"/>
                  <a:ea typeface="Calibri (MS)"/>
                  <a:cs typeface="Calibri (MS)"/>
                  <a:sym typeface="Calibri (MS)"/>
                </a:rPr>
                <a:t>9</a:t>
              </a:r>
            </a:p>
          </p:txBody>
        </p:sp>
      </p:gr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754380" y="685800"/>
            <a:ext cx="850392" cy="850392"/>
            <a:chOff x="0" y="0"/>
            <a:chExt cx="1133856" cy="1133856"/>
          </a:xfrm>
        </p:grpSpPr>
        <p:sp>
          <p:nvSpPr>
            <p:cNvPr name="Freeform 3" id="3"/>
            <p:cNvSpPr/>
            <p:nvPr/>
          </p:nvSpPr>
          <p:spPr>
            <a:xfrm flipH="false" flipV="false" rot="0">
              <a:off x="0" y="0"/>
              <a:ext cx="1133856" cy="1133856"/>
            </a:xfrm>
            <a:custGeom>
              <a:avLst/>
              <a:gdLst/>
              <a:ahLst/>
              <a:cxnLst/>
              <a:rect r="r" b="b" t="t" l="l"/>
              <a:pathLst>
                <a:path h="1133856" w="1133856">
                  <a:moveTo>
                    <a:pt x="0" y="566928"/>
                  </a:moveTo>
                  <a:cubicBezTo>
                    <a:pt x="0" y="253873"/>
                    <a:pt x="253873" y="0"/>
                    <a:pt x="566928" y="0"/>
                  </a:cubicBezTo>
                  <a:cubicBezTo>
                    <a:pt x="879983" y="0"/>
                    <a:pt x="1133856" y="253873"/>
                    <a:pt x="1133856" y="566928"/>
                  </a:cubicBezTo>
                  <a:cubicBezTo>
                    <a:pt x="1133856" y="879983"/>
                    <a:pt x="879983" y="1133856"/>
                    <a:pt x="566928" y="1133856"/>
                  </a:cubicBezTo>
                  <a:cubicBezTo>
                    <a:pt x="253873" y="1133856"/>
                    <a:pt x="0" y="879983"/>
                    <a:pt x="0" y="566928"/>
                  </a:cubicBezTo>
                  <a:close/>
                </a:path>
              </a:pathLst>
            </a:custGeom>
            <a:solidFill>
              <a:srgbClr val="1E2761"/>
            </a:solidFill>
          </p:spPr>
        </p:sp>
      </p:grpSp>
      <p:grpSp>
        <p:nvGrpSpPr>
          <p:cNvPr name="Group 4" id="4"/>
          <p:cNvGrpSpPr/>
          <p:nvPr/>
        </p:nvGrpSpPr>
        <p:grpSpPr>
          <a:xfrm rot="0">
            <a:off x="932688" y="864108"/>
            <a:ext cx="493776" cy="493776"/>
            <a:chOff x="0" y="0"/>
            <a:chExt cx="658368" cy="658368"/>
          </a:xfrm>
        </p:grpSpPr>
        <p:sp>
          <p:nvSpPr>
            <p:cNvPr name="Freeform 5" id="5" descr="shield.png"/>
            <p:cNvSpPr/>
            <p:nvPr/>
          </p:nvSpPr>
          <p:spPr>
            <a:xfrm flipH="false" flipV="false" rot="0">
              <a:off x="0" y="0"/>
              <a:ext cx="658368" cy="658368"/>
            </a:xfrm>
            <a:custGeom>
              <a:avLst/>
              <a:gdLst/>
              <a:ahLst/>
              <a:cxnLst/>
              <a:rect r="r" b="b" t="t" l="l"/>
              <a:pathLst>
                <a:path h="658368" w="658368">
                  <a:moveTo>
                    <a:pt x="0" y="0"/>
                  </a:moveTo>
                  <a:lnTo>
                    <a:pt x="658368" y="0"/>
                  </a:lnTo>
                  <a:lnTo>
                    <a:pt x="658368" y="658368"/>
                  </a:lnTo>
                  <a:lnTo>
                    <a:pt x="0" y="658368"/>
                  </a:lnTo>
                  <a:lnTo>
                    <a:pt x="0" y="0"/>
                  </a:lnTo>
                  <a:close/>
                </a:path>
              </a:pathLst>
            </a:custGeom>
            <a:blipFill>
              <a:blip r:embed="rId3"/>
              <a:stretch>
                <a:fillRect l="0" t="0" r="0" b="0"/>
              </a:stretch>
            </a:blipFill>
          </p:spPr>
        </p:sp>
      </p:grpSp>
      <p:grpSp>
        <p:nvGrpSpPr>
          <p:cNvPr name="Group 6" id="6"/>
          <p:cNvGrpSpPr/>
          <p:nvPr/>
        </p:nvGrpSpPr>
        <p:grpSpPr>
          <a:xfrm rot="0">
            <a:off x="1851660" y="603504"/>
            <a:ext cx="13716000" cy="466344"/>
            <a:chOff x="0" y="0"/>
            <a:chExt cx="18288000" cy="621792"/>
          </a:xfrm>
        </p:grpSpPr>
        <p:sp>
          <p:nvSpPr>
            <p:cNvPr name="Freeform 7" id="7"/>
            <p:cNvSpPr/>
            <p:nvPr/>
          </p:nvSpPr>
          <p:spPr>
            <a:xfrm flipH="false" flipV="false" rot="0">
              <a:off x="0" y="0"/>
              <a:ext cx="18288000" cy="621792"/>
            </a:xfrm>
            <a:custGeom>
              <a:avLst/>
              <a:gdLst/>
              <a:ahLst/>
              <a:cxnLst/>
              <a:rect r="r" b="b" t="t" l="l"/>
              <a:pathLst>
                <a:path h="621792" w="18288000">
                  <a:moveTo>
                    <a:pt x="0" y="0"/>
                  </a:moveTo>
                  <a:lnTo>
                    <a:pt x="18288000" y="0"/>
                  </a:lnTo>
                  <a:lnTo>
                    <a:pt x="18288000" y="621792"/>
                  </a:lnTo>
                  <a:lnTo>
                    <a:pt x="0" y="621792"/>
                  </a:lnTo>
                  <a:close/>
                </a:path>
              </a:pathLst>
            </a:custGeom>
            <a:blipFill>
              <a:blip r:embed="rId4">
                <a:alphaModFix amt="0"/>
              </a:blip>
              <a:stretch>
                <a:fillRect l="0" t="-523089" r="0" b="-523089"/>
              </a:stretch>
            </a:blipFill>
          </p:spPr>
        </p:sp>
        <p:sp>
          <p:nvSpPr>
            <p:cNvPr name="TextBox 8" id="8"/>
            <p:cNvSpPr txBox="true"/>
            <p:nvPr/>
          </p:nvSpPr>
          <p:spPr>
            <a:xfrm>
              <a:off x="0" y="-47625"/>
              <a:ext cx="18288000" cy="669417"/>
            </a:xfrm>
            <a:prstGeom prst="rect">
              <a:avLst/>
            </a:prstGeom>
          </p:spPr>
          <p:txBody>
            <a:bodyPr anchor="ctr" rtlCol="false" tIns="0" lIns="0" bIns="0" rIns="0"/>
            <a:lstStyle/>
            <a:p>
              <a:pPr algn="l">
                <a:lnSpc>
                  <a:spcPts val="2340"/>
                </a:lnSpc>
              </a:pPr>
              <a:r>
                <a:rPr lang="en-US" b="true" sz="1950" spc="150">
                  <a:solidFill>
                    <a:srgbClr val="00B4D8"/>
                  </a:solidFill>
                  <a:latin typeface="Calibri (MS) Bold"/>
                  <a:ea typeface="Calibri (MS) Bold"/>
                  <a:cs typeface="Calibri (MS) Bold"/>
                  <a:sym typeface="Calibri (MS) Bold"/>
                </a:rPr>
                <a:t>RISK MANAGEMENT</a:t>
              </a:r>
            </a:p>
          </p:txBody>
        </p:sp>
      </p:grpSp>
      <p:grpSp>
        <p:nvGrpSpPr>
          <p:cNvPr name="Group 9" id="9"/>
          <p:cNvGrpSpPr/>
          <p:nvPr/>
        </p:nvGrpSpPr>
        <p:grpSpPr>
          <a:xfrm rot="0">
            <a:off x="1824228" y="987552"/>
            <a:ext cx="15361920" cy="850392"/>
            <a:chOff x="0" y="0"/>
            <a:chExt cx="20482560" cy="1133856"/>
          </a:xfrm>
        </p:grpSpPr>
        <p:sp>
          <p:nvSpPr>
            <p:cNvPr name="Freeform 10" id="10"/>
            <p:cNvSpPr/>
            <p:nvPr/>
          </p:nvSpPr>
          <p:spPr>
            <a:xfrm flipH="false" flipV="false" rot="0">
              <a:off x="0" y="0"/>
              <a:ext cx="20482561" cy="1133856"/>
            </a:xfrm>
            <a:custGeom>
              <a:avLst/>
              <a:gdLst/>
              <a:ahLst/>
              <a:cxnLst/>
              <a:rect r="r" b="b" t="t" l="l"/>
              <a:pathLst>
                <a:path h="1133856" w="20482561">
                  <a:moveTo>
                    <a:pt x="0" y="0"/>
                  </a:moveTo>
                  <a:lnTo>
                    <a:pt x="20482561" y="0"/>
                  </a:lnTo>
                  <a:lnTo>
                    <a:pt x="20482561" y="1133856"/>
                  </a:lnTo>
                  <a:lnTo>
                    <a:pt x="0" y="1133856"/>
                  </a:lnTo>
                  <a:close/>
                </a:path>
              </a:pathLst>
            </a:custGeom>
            <a:blipFill>
              <a:blip r:embed="rId4">
                <a:alphaModFix amt="0"/>
              </a:blip>
              <a:stretch>
                <a:fillRect l="0" t="-301987" r="0" b="-301987"/>
              </a:stretch>
            </a:blipFill>
          </p:spPr>
        </p:sp>
        <p:sp>
          <p:nvSpPr>
            <p:cNvPr name="TextBox 11" id="11"/>
            <p:cNvSpPr txBox="true"/>
            <p:nvPr/>
          </p:nvSpPr>
          <p:spPr>
            <a:xfrm>
              <a:off x="0" y="-9525"/>
              <a:ext cx="20482560" cy="1143381"/>
            </a:xfrm>
            <a:prstGeom prst="rect">
              <a:avLst/>
            </a:prstGeom>
          </p:spPr>
          <p:txBody>
            <a:bodyPr anchor="ctr" rtlCol="false" tIns="0" lIns="0" bIns="0" rIns="0"/>
            <a:lstStyle/>
            <a:p>
              <a:pPr algn="l">
                <a:lnSpc>
                  <a:spcPts val="5040"/>
                </a:lnSpc>
              </a:pPr>
              <a:r>
                <a:rPr lang="en-US" sz="4200" b="true">
                  <a:solidFill>
                    <a:srgbClr val="1E2761"/>
                  </a:solidFill>
                  <a:latin typeface="Cambria Bold"/>
                  <a:ea typeface="Cambria Bold"/>
                  <a:cs typeface="Cambria Bold"/>
                  <a:sym typeface="Cambria Bold"/>
                </a:rPr>
                <a:t>Deciding What To Do: The 4 T's</a:t>
              </a:r>
            </a:p>
          </p:txBody>
        </p:sp>
      </p:grpSp>
      <p:grpSp>
        <p:nvGrpSpPr>
          <p:cNvPr name="Group 12" id="12"/>
          <p:cNvGrpSpPr/>
          <p:nvPr/>
        </p:nvGrpSpPr>
        <p:grpSpPr>
          <a:xfrm rot="0">
            <a:off x="1220152" y="2728912"/>
            <a:ext cx="7778115" cy="2840355"/>
            <a:chOff x="0" y="0"/>
            <a:chExt cx="10370820" cy="3787140"/>
          </a:xfrm>
        </p:grpSpPr>
        <p:sp>
          <p:nvSpPr>
            <p:cNvPr name="Freeform 13" id="13"/>
            <p:cNvSpPr/>
            <p:nvPr/>
          </p:nvSpPr>
          <p:spPr>
            <a:xfrm flipH="false" flipV="false" rot="0">
              <a:off x="0" y="0"/>
              <a:ext cx="10370820" cy="3787140"/>
            </a:xfrm>
            <a:custGeom>
              <a:avLst/>
              <a:gdLst/>
              <a:ahLst/>
              <a:cxnLst/>
              <a:rect r="r" b="b" t="t" l="l"/>
              <a:pathLst>
                <a:path h="3787140" w="10370820">
                  <a:moveTo>
                    <a:pt x="0" y="184785"/>
                  </a:moveTo>
                  <a:cubicBezTo>
                    <a:pt x="0" y="82677"/>
                    <a:pt x="82677" y="0"/>
                    <a:pt x="184785" y="0"/>
                  </a:cubicBezTo>
                  <a:lnTo>
                    <a:pt x="10186035" y="0"/>
                  </a:lnTo>
                  <a:cubicBezTo>
                    <a:pt x="10288016" y="0"/>
                    <a:pt x="10370820" y="82677"/>
                    <a:pt x="10370820" y="184785"/>
                  </a:cubicBezTo>
                  <a:lnTo>
                    <a:pt x="10370820" y="3602355"/>
                  </a:lnTo>
                  <a:cubicBezTo>
                    <a:pt x="10370820" y="3704336"/>
                    <a:pt x="10288143" y="3787140"/>
                    <a:pt x="10186035" y="3787140"/>
                  </a:cubicBezTo>
                  <a:lnTo>
                    <a:pt x="184785" y="3787140"/>
                  </a:lnTo>
                  <a:cubicBezTo>
                    <a:pt x="82677" y="3787140"/>
                    <a:pt x="0" y="3704463"/>
                    <a:pt x="0" y="3602355"/>
                  </a:cubicBezTo>
                  <a:close/>
                </a:path>
              </a:pathLst>
            </a:custGeom>
            <a:solidFill>
              <a:srgbClr val="F4F7FC"/>
            </a:solidFill>
            <a:ln w="28575" cap="sq">
              <a:solidFill>
                <a:srgbClr val="1E2761"/>
              </a:solidFill>
              <a:prstDash val="solid"/>
              <a:miter/>
            </a:ln>
          </p:spPr>
        </p:sp>
      </p:grpSp>
      <p:grpSp>
        <p:nvGrpSpPr>
          <p:cNvPr name="Group 14" id="14"/>
          <p:cNvGrpSpPr/>
          <p:nvPr/>
        </p:nvGrpSpPr>
        <p:grpSpPr>
          <a:xfrm rot="0">
            <a:off x="1234440" y="2743200"/>
            <a:ext cx="192024" cy="2811780"/>
            <a:chOff x="0" y="0"/>
            <a:chExt cx="256032" cy="3749040"/>
          </a:xfrm>
        </p:grpSpPr>
        <p:sp>
          <p:nvSpPr>
            <p:cNvPr name="Freeform 15" id="15"/>
            <p:cNvSpPr/>
            <p:nvPr/>
          </p:nvSpPr>
          <p:spPr>
            <a:xfrm flipH="false" flipV="false" rot="0">
              <a:off x="0" y="0"/>
              <a:ext cx="256032" cy="3749040"/>
            </a:xfrm>
            <a:custGeom>
              <a:avLst/>
              <a:gdLst/>
              <a:ahLst/>
              <a:cxnLst/>
              <a:rect r="r" b="b" t="t" l="l"/>
              <a:pathLst>
                <a:path h="3749040" w="256032">
                  <a:moveTo>
                    <a:pt x="0" y="42672"/>
                  </a:moveTo>
                  <a:cubicBezTo>
                    <a:pt x="0" y="19050"/>
                    <a:pt x="19050" y="0"/>
                    <a:pt x="42672" y="0"/>
                  </a:cubicBezTo>
                  <a:lnTo>
                    <a:pt x="213360" y="0"/>
                  </a:lnTo>
                  <a:cubicBezTo>
                    <a:pt x="236982" y="0"/>
                    <a:pt x="256032" y="19050"/>
                    <a:pt x="256032" y="42672"/>
                  </a:cubicBezTo>
                  <a:lnTo>
                    <a:pt x="256032" y="3706368"/>
                  </a:lnTo>
                  <a:cubicBezTo>
                    <a:pt x="256032" y="3729990"/>
                    <a:pt x="236982" y="3749040"/>
                    <a:pt x="213360" y="3749040"/>
                  </a:cubicBezTo>
                  <a:lnTo>
                    <a:pt x="42672" y="3749040"/>
                  </a:lnTo>
                  <a:cubicBezTo>
                    <a:pt x="19050" y="3749040"/>
                    <a:pt x="0" y="3729990"/>
                    <a:pt x="0" y="3706368"/>
                  </a:cubicBezTo>
                  <a:close/>
                </a:path>
              </a:pathLst>
            </a:custGeom>
            <a:solidFill>
              <a:srgbClr val="1E2761"/>
            </a:solidFill>
          </p:spPr>
        </p:sp>
      </p:grpSp>
      <p:grpSp>
        <p:nvGrpSpPr>
          <p:cNvPr name="Group 16" id="16"/>
          <p:cNvGrpSpPr/>
          <p:nvPr/>
        </p:nvGrpSpPr>
        <p:grpSpPr>
          <a:xfrm rot="0">
            <a:off x="1714500" y="2990088"/>
            <a:ext cx="6926580" cy="576072"/>
            <a:chOff x="0" y="0"/>
            <a:chExt cx="9235440" cy="768096"/>
          </a:xfrm>
        </p:grpSpPr>
        <p:sp>
          <p:nvSpPr>
            <p:cNvPr name="Freeform 17" id="17"/>
            <p:cNvSpPr/>
            <p:nvPr/>
          </p:nvSpPr>
          <p:spPr>
            <a:xfrm flipH="false" flipV="false" rot="0">
              <a:off x="0" y="0"/>
              <a:ext cx="9235440" cy="768096"/>
            </a:xfrm>
            <a:custGeom>
              <a:avLst/>
              <a:gdLst/>
              <a:ahLst/>
              <a:cxnLst/>
              <a:rect r="r" b="b" t="t" l="l"/>
              <a:pathLst>
                <a:path h="768096" w="9235440">
                  <a:moveTo>
                    <a:pt x="0" y="0"/>
                  </a:moveTo>
                  <a:lnTo>
                    <a:pt x="9235440" y="0"/>
                  </a:lnTo>
                  <a:lnTo>
                    <a:pt x="9235440" y="768096"/>
                  </a:lnTo>
                  <a:lnTo>
                    <a:pt x="0" y="768096"/>
                  </a:lnTo>
                  <a:close/>
                </a:path>
              </a:pathLst>
            </a:custGeom>
            <a:blipFill>
              <a:blip r:embed="rId4">
                <a:alphaModFix amt="0"/>
              </a:blip>
              <a:stretch>
                <a:fillRect l="0" t="-184284" r="0" b="-184284"/>
              </a:stretch>
            </a:blipFill>
          </p:spPr>
        </p:sp>
        <p:sp>
          <p:nvSpPr>
            <p:cNvPr name="TextBox 18" id="18"/>
            <p:cNvSpPr txBox="true"/>
            <p:nvPr/>
          </p:nvSpPr>
          <p:spPr>
            <a:xfrm>
              <a:off x="0" y="-9525"/>
              <a:ext cx="9235440" cy="777621"/>
            </a:xfrm>
            <a:prstGeom prst="rect">
              <a:avLst/>
            </a:prstGeom>
          </p:spPr>
          <p:txBody>
            <a:bodyPr anchor="ctr" rtlCol="false" tIns="0" lIns="0" bIns="0" rIns="0"/>
            <a:lstStyle/>
            <a:p>
              <a:pPr algn="l">
                <a:lnSpc>
                  <a:spcPts val="3419"/>
                </a:lnSpc>
              </a:pPr>
              <a:r>
                <a:rPr lang="en-US" sz="2850" b="true">
                  <a:solidFill>
                    <a:srgbClr val="1E2761"/>
                  </a:solidFill>
                  <a:latin typeface="Cambria Bold"/>
                  <a:ea typeface="Cambria Bold"/>
                  <a:cs typeface="Cambria Bold"/>
                  <a:sym typeface="Cambria Bold"/>
                </a:rPr>
                <a:t>Treat</a:t>
              </a:r>
            </a:p>
          </p:txBody>
        </p:sp>
      </p:grpSp>
      <p:sp>
        <p:nvSpPr>
          <p:cNvPr name="TextBox 19" id="19"/>
          <p:cNvSpPr txBox="true"/>
          <p:nvPr/>
        </p:nvSpPr>
        <p:spPr>
          <a:xfrm rot="0">
            <a:off x="1805940" y="3598926"/>
            <a:ext cx="6743700" cy="963930"/>
          </a:xfrm>
          <a:prstGeom prst="rect">
            <a:avLst/>
          </a:prstGeom>
        </p:spPr>
        <p:txBody>
          <a:bodyPr anchor="t" rtlCol="false" tIns="0" lIns="0" bIns="0" rIns="0">
            <a:spAutoFit/>
          </a:bodyPr>
          <a:lstStyle/>
          <a:p>
            <a:pPr algn="l">
              <a:lnSpc>
                <a:spcPts val="2812"/>
              </a:lnSpc>
            </a:pPr>
            <a:r>
              <a:rPr lang="en-US" sz="1875">
                <a:solidFill>
                  <a:srgbClr val="23262F"/>
                </a:solidFill>
                <a:latin typeface="Calibri (MS)"/>
                <a:ea typeface="Calibri (MS)"/>
                <a:cs typeface="Calibri (MS)"/>
                <a:sym typeface="Calibri (MS)"/>
              </a:rPr>
              <a:t>Reduce the likelihood or impact directly — fix the actual weakness.</a:t>
            </a:r>
          </a:p>
        </p:txBody>
      </p:sp>
      <p:sp>
        <p:nvSpPr>
          <p:cNvPr name="TextBox 20" id="20"/>
          <p:cNvSpPr txBox="true"/>
          <p:nvPr/>
        </p:nvSpPr>
        <p:spPr>
          <a:xfrm rot="0">
            <a:off x="1805940" y="4669917"/>
            <a:ext cx="6743700" cy="729615"/>
          </a:xfrm>
          <a:prstGeom prst="rect">
            <a:avLst/>
          </a:prstGeom>
        </p:spPr>
        <p:txBody>
          <a:bodyPr anchor="t" rtlCol="false" tIns="0" lIns="0" bIns="0" rIns="0">
            <a:spAutoFit/>
          </a:bodyPr>
          <a:lstStyle/>
          <a:p>
            <a:pPr algn="l">
              <a:lnSpc>
                <a:spcPts val="2376"/>
              </a:lnSpc>
            </a:pPr>
            <a:r>
              <a:rPr lang="en-US" sz="1650" i="true">
                <a:solidFill>
                  <a:srgbClr val="6B7280"/>
                </a:solidFill>
                <a:latin typeface="Calibri (MS) Italics"/>
                <a:ea typeface="Calibri (MS) Italics"/>
                <a:cs typeface="Calibri (MS) Italics"/>
                <a:sym typeface="Calibri (MS) Italics"/>
              </a:rPr>
              <a:t>e.g. Add backups, restrict file access, patch a server.</a:t>
            </a:r>
          </a:p>
        </p:txBody>
      </p:sp>
      <p:grpSp>
        <p:nvGrpSpPr>
          <p:cNvPr name="Group 21" id="21"/>
          <p:cNvGrpSpPr/>
          <p:nvPr/>
        </p:nvGrpSpPr>
        <p:grpSpPr>
          <a:xfrm rot="0">
            <a:off x="9449752" y="2728912"/>
            <a:ext cx="7778115" cy="2840355"/>
            <a:chOff x="0" y="0"/>
            <a:chExt cx="10370820" cy="3787140"/>
          </a:xfrm>
        </p:grpSpPr>
        <p:sp>
          <p:nvSpPr>
            <p:cNvPr name="Freeform 22" id="22"/>
            <p:cNvSpPr/>
            <p:nvPr/>
          </p:nvSpPr>
          <p:spPr>
            <a:xfrm flipH="false" flipV="false" rot="0">
              <a:off x="0" y="0"/>
              <a:ext cx="10370820" cy="3787140"/>
            </a:xfrm>
            <a:custGeom>
              <a:avLst/>
              <a:gdLst/>
              <a:ahLst/>
              <a:cxnLst/>
              <a:rect r="r" b="b" t="t" l="l"/>
              <a:pathLst>
                <a:path h="3787140" w="10370820">
                  <a:moveTo>
                    <a:pt x="0" y="184785"/>
                  </a:moveTo>
                  <a:cubicBezTo>
                    <a:pt x="0" y="82677"/>
                    <a:pt x="82677" y="0"/>
                    <a:pt x="184785" y="0"/>
                  </a:cubicBezTo>
                  <a:lnTo>
                    <a:pt x="10186035" y="0"/>
                  </a:lnTo>
                  <a:cubicBezTo>
                    <a:pt x="10288016" y="0"/>
                    <a:pt x="10370820" y="82677"/>
                    <a:pt x="10370820" y="184785"/>
                  </a:cubicBezTo>
                  <a:lnTo>
                    <a:pt x="10370820" y="3602355"/>
                  </a:lnTo>
                  <a:cubicBezTo>
                    <a:pt x="10370820" y="3704336"/>
                    <a:pt x="10288143" y="3787140"/>
                    <a:pt x="10186035" y="3787140"/>
                  </a:cubicBezTo>
                  <a:lnTo>
                    <a:pt x="184785" y="3787140"/>
                  </a:lnTo>
                  <a:cubicBezTo>
                    <a:pt x="82677" y="3787140"/>
                    <a:pt x="0" y="3704463"/>
                    <a:pt x="0" y="3602355"/>
                  </a:cubicBezTo>
                  <a:close/>
                </a:path>
              </a:pathLst>
            </a:custGeom>
            <a:solidFill>
              <a:srgbClr val="F4F7FC"/>
            </a:solidFill>
            <a:ln w="28575" cap="sq">
              <a:solidFill>
                <a:srgbClr val="6C4FD1"/>
              </a:solidFill>
              <a:prstDash val="solid"/>
              <a:miter/>
            </a:ln>
          </p:spPr>
        </p:sp>
      </p:grpSp>
      <p:grpSp>
        <p:nvGrpSpPr>
          <p:cNvPr name="Group 23" id="23"/>
          <p:cNvGrpSpPr/>
          <p:nvPr/>
        </p:nvGrpSpPr>
        <p:grpSpPr>
          <a:xfrm rot="0">
            <a:off x="9464040" y="2743200"/>
            <a:ext cx="192024" cy="2811780"/>
            <a:chOff x="0" y="0"/>
            <a:chExt cx="256032" cy="3749040"/>
          </a:xfrm>
        </p:grpSpPr>
        <p:sp>
          <p:nvSpPr>
            <p:cNvPr name="Freeform 24" id="24"/>
            <p:cNvSpPr/>
            <p:nvPr/>
          </p:nvSpPr>
          <p:spPr>
            <a:xfrm flipH="false" flipV="false" rot="0">
              <a:off x="0" y="0"/>
              <a:ext cx="256032" cy="3749040"/>
            </a:xfrm>
            <a:custGeom>
              <a:avLst/>
              <a:gdLst/>
              <a:ahLst/>
              <a:cxnLst/>
              <a:rect r="r" b="b" t="t" l="l"/>
              <a:pathLst>
                <a:path h="3749040" w="256032">
                  <a:moveTo>
                    <a:pt x="0" y="42672"/>
                  </a:moveTo>
                  <a:cubicBezTo>
                    <a:pt x="0" y="19050"/>
                    <a:pt x="19050" y="0"/>
                    <a:pt x="42672" y="0"/>
                  </a:cubicBezTo>
                  <a:lnTo>
                    <a:pt x="213360" y="0"/>
                  </a:lnTo>
                  <a:cubicBezTo>
                    <a:pt x="236982" y="0"/>
                    <a:pt x="256032" y="19050"/>
                    <a:pt x="256032" y="42672"/>
                  </a:cubicBezTo>
                  <a:lnTo>
                    <a:pt x="256032" y="3706368"/>
                  </a:lnTo>
                  <a:cubicBezTo>
                    <a:pt x="256032" y="3729990"/>
                    <a:pt x="236982" y="3749040"/>
                    <a:pt x="213360" y="3749040"/>
                  </a:cubicBezTo>
                  <a:lnTo>
                    <a:pt x="42672" y="3749040"/>
                  </a:lnTo>
                  <a:cubicBezTo>
                    <a:pt x="19050" y="3749040"/>
                    <a:pt x="0" y="3729990"/>
                    <a:pt x="0" y="3706368"/>
                  </a:cubicBezTo>
                  <a:close/>
                </a:path>
              </a:pathLst>
            </a:custGeom>
            <a:solidFill>
              <a:srgbClr val="6C4FD1"/>
            </a:solidFill>
          </p:spPr>
        </p:sp>
      </p:grpSp>
      <p:grpSp>
        <p:nvGrpSpPr>
          <p:cNvPr name="Group 25" id="25"/>
          <p:cNvGrpSpPr/>
          <p:nvPr/>
        </p:nvGrpSpPr>
        <p:grpSpPr>
          <a:xfrm rot="0">
            <a:off x="9944100" y="2990088"/>
            <a:ext cx="6926580" cy="576072"/>
            <a:chOff x="0" y="0"/>
            <a:chExt cx="9235440" cy="768096"/>
          </a:xfrm>
        </p:grpSpPr>
        <p:sp>
          <p:nvSpPr>
            <p:cNvPr name="Freeform 26" id="26"/>
            <p:cNvSpPr/>
            <p:nvPr/>
          </p:nvSpPr>
          <p:spPr>
            <a:xfrm flipH="false" flipV="false" rot="0">
              <a:off x="0" y="0"/>
              <a:ext cx="9235440" cy="768096"/>
            </a:xfrm>
            <a:custGeom>
              <a:avLst/>
              <a:gdLst/>
              <a:ahLst/>
              <a:cxnLst/>
              <a:rect r="r" b="b" t="t" l="l"/>
              <a:pathLst>
                <a:path h="768096" w="9235440">
                  <a:moveTo>
                    <a:pt x="0" y="0"/>
                  </a:moveTo>
                  <a:lnTo>
                    <a:pt x="9235440" y="0"/>
                  </a:lnTo>
                  <a:lnTo>
                    <a:pt x="9235440" y="768096"/>
                  </a:lnTo>
                  <a:lnTo>
                    <a:pt x="0" y="768096"/>
                  </a:lnTo>
                  <a:close/>
                </a:path>
              </a:pathLst>
            </a:custGeom>
            <a:blipFill>
              <a:blip r:embed="rId4">
                <a:alphaModFix amt="0"/>
              </a:blip>
              <a:stretch>
                <a:fillRect l="0" t="-184284" r="0" b="-184284"/>
              </a:stretch>
            </a:blipFill>
          </p:spPr>
        </p:sp>
        <p:sp>
          <p:nvSpPr>
            <p:cNvPr name="TextBox 27" id="27"/>
            <p:cNvSpPr txBox="true"/>
            <p:nvPr/>
          </p:nvSpPr>
          <p:spPr>
            <a:xfrm>
              <a:off x="0" y="-9525"/>
              <a:ext cx="9235440" cy="777621"/>
            </a:xfrm>
            <a:prstGeom prst="rect">
              <a:avLst/>
            </a:prstGeom>
          </p:spPr>
          <p:txBody>
            <a:bodyPr anchor="ctr" rtlCol="false" tIns="0" lIns="0" bIns="0" rIns="0"/>
            <a:lstStyle/>
            <a:p>
              <a:pPr algn="l">
                <a:lnSpc>
                  <a:spcPts val="3419"/>
                </a:lnSpc>
              </a:pPr>
              <a:r>
                <a:rPr lang="en-US" sz="2850" b="true">
                  <a:solidFill>
                    <a:srgbClr val="6C4FD1"/>
                  </a:solidFill>
                  <a:latin typeface="Cambria Bold"/>
                  <a:ea typeface="Cambria Bold"/>
                  <a:cs typeface="Cambria Bold"/>
                  <a:sym typeface="Cambria Bold"/>
                </a:rPr>
                <a:t>Transfer</a:t>
              </a:r>
            </a:p>
          </p:txBody>
        </p:sp>
      </p:grpSp>
      <p:sp>
        <p:nvSpPr>
          <p:cNvPr name="TextBox 28" id="28"/>
          <p:cNvSpPr txBox="true"/>
          <p:nvPr/>
        </p:nvSpPr>
        <p:spPr>
          <a:xfrm rot="0">
            <a:off x="10035540" y="3598926"/>
            <a:ext cx="6743700" cy="963930"/>
          </a:xfrm>
          <a:prstGeom prst="rect">
            <a:avLst/>
          </a:prstGeom>
        </p:spPr>
        <p:txBody>
          <a:bodyPr anchor="t" rtlCol="false" tIns="0" lIns="0" bIns="0" rIns="0">
            <a:spAutoFit/>
          </a:bodyPr>
          <a:lstStyle/>
          <a:p>
            <a:pPr algn="l">
              <a:lnSpc>
                <a:spcPts val="2812"/>
              </a:lnSpc>
            </a:pPr>
            <a:r>
              <a:rPr lang="en-US" sz="1875">
                <a:solidFill>
                  <a:srgbClr val="23262F"/>
                </a:solidFill>
                <a:latin typeface="Calibri (MS)"/>
                <a:ea typeface="Calibri (MS)"/>
                <a:cs typeface="Calibri (MS)"/>
                <a:sym typeface="Calibri (MS)"/>
              </a:rPr>
              <a:t>Shift the risk to someone else through a contract or insurance.</a:t>
            </a:r>
          </a:p>
        </p:txBody>
      </p:sp>
      <p:sp>
        <p:nvSpPr>
          <p:cNvPr name="TextBox 29" id="29"/>
          <p:cNvSpPr txBox="true"/>
          <p:nvPr/>
        </p:nvSpPr>
        <p:spPr>
          <a:xfrm rot="0">
            <a:off x="10035540" y="4669917"/>
            <a:ext cx="6743700" cy="729615"/>
          </a:xfrm>
          <a:prstGeom prst="rect">
            <a:avLst/>
          </a:prstGeom>
        </p:spPr>
        <p:txBody>
          <a:bodyPr anchor="t" rtlCol="false" tIns="0" lIns="0" bIns="0" rIns="0">
            <a:spAutoFit/>
          </a:bodyPr>
          <a:lstStyle/>
          <a:p>
            <a:pPr algn="l">
              <a:lnSpc>
                <a:spcPts val="2376"/>
              </a:lnSpc>
            </a:pPr>
            <a:r>
              <a:rPr lang="en-US" sz="1650" i="true">
                <a:solidFill>
                  <a:srgbClr val="6B7280"/>
                </a:solidFill>
                <a:latin typeface="Calibri (MS) Italics"/>
                <a:ea typeface="Calibri (MS) Italics"/>
                <a:cs typeface="Calibri (MS) Italics"/>
                <a:sym typeface="Calibri (MS) Italics"/>
              </a:rPr>
              <a:t>e.g. A vendor's SLA, cyber insurance, an outsourced service.</a:t>
            </a:r>
          </a:p>
        </p:txBody>
      </p:sp>
      <p:grpSp>
        <p:nvGrpSpPr>
          <p:cNvPr name="Group 30" id="30"/>
          <p:cNvGrpSpPr/>
          <p:nvPr/>
        </p:nvGrpSpPr>
        <p:grpSpPr>
          <a:xfrm rot="0">
            <a:off x="1220152" y="5952172"/>
            <a:ext cx="7778115" cy="2840355"/>
            <a:chOff x="0" y="0"/>
            <a:chExt cx="10370820" cy="3787140"/>
          </a:xfrm>
        </p:grpSpPr>
        <p:sp>
          <p:nvSpPr>
            <p:cNvPr name="Freeform 31" id="31"/>
            <p:cNvSpPr/>
            <p:nvPr/>
          </p:nvSpPr>
          <p:spPr>
            <a:xfrm flipH="false" flipV="false" rot="0">
              <a:off x="0" y="0"/>
              <a:ext cx="10370820" cy="3787140"/>
            </a:xfrm>
            <a:custGeom>
              <a:avLst/>
              <a:gdLst/>
              <a:ahLst/>
              <a:cxnLst/>
              <a:rect r="r" b="b" t="t" l="l"/>
              <a:pathLst>
                <a:path h="3787140" w="10370820">
                  <a:moveTo>
                    <a:pt x="0" y="184785"/>
                  </a:moveTo>
                  <a:cubicBezTo>
                    <a:pt x="0" y="82677"/>
                    <a:pt x="82677" y="0"/>
                    <a:pt x="184785" y="0"/>
                  </a:cubicBezTo>
                  <a:lnTo>
                    <a:pt x="10186035" y="0"/>
                  </a:lnTo>
                  <a:cubicBezTo>
                    <a:pt x="10288016" y="0"/>
                    <a:pt x="10370820" y="82677"/>
                    <a:pt x="10370820" y="184785"/>
                  </a:cubicBezTo>
                  <a:lnTo>
                    <a:pt x="10370820" y="3602355"/>
                  </a:lnTo>
                  <a:cubicBezTo>
                    <a:pt x="10370820" y="3704336"/>
                    <a:pt x="10288143" y="3787140"/>
                    <a:pt x="10186035" y="3787140"/>
                  </a:cubicBezTo>
                  <a:lnTo>
                    <a:pt x="184785" y="3787140"/>
                  </a:lnTo>
                  <a:cubicBezTo>
                    <a:pt x="82677" y="3787140"/>
                    <a:pt x="0" y="3704463"/>
                    <a:pt x="0" y="3602355"/>
                  </a:cubicBezTo>
                  <a:close/>
                </a:path>
              </a:pathLst>
            </a:custGeom>
            <a:solidFill>
              <a:srgbClr val="F4F7FC"/>
            </a:solidFill>
            <a:ln w="28575" cap="sq">
              <a:solidFill>
                <a:srgbClr val="0F8A6E"/>
              </a:solidFill>
              <a:prstDash val="solid"/>
              <a:miter/>
            </a:ln>
          </p:spPr>
        </p:sp>
      </p:grpSp>
      <p:grpSp>
        <p:nvGrpSpPr>
          <p:cNvPr name="Group 32" id="32"/>
          <p:cNvGrpSpPr/>
          <p:nvPr/>
        </p:nvGrpSpPr>
        <p:grpSpPr>
          <a:xfrm rot="0">
            <a:off x="1234440" y="5966460"/>
            <a:ext cx="192024" cy="2811780"/>
            <a:chOff x="0" y="0"/>
            <a:chExt cx="256032" cy="3749040"/>
          </a:xfrm>
        </p:grpSpPr>
        <p:sp>
          <p:nvSpPr>
            <p:cNvPr name="Freeform 33" id="33"/>
            <p:cNvSpPr/>
            <p:nvPr/>
          </p:nvSpPr>
          <p:spPr>
            <a:xfrm flipH="false" flipV="false" rot="0">
              <a:off x="0" y="0"/>
              <a:ext cx="256032" cy="3749040"/>
            </a:xfrm>
            <a:custGeom>
              <a:avLst/>
              <a:gdLst/>
              <a:ahLst/>
              <a:cxnLst/>
              <a:rect r="r" b="b" t="t" l="l"/>
              <a:pathLst>
                <a:path h="3749040" w="256032">
                  <a:moveTo>
                    <a:pt x="0" y="42672"/>
                  </a:moveTo>
                  <a:cubicBezTo>
                    <a:pt x="0" y="19050"/>
                    <a:pt x="19050" y="0"/>
                    <a:pt x="42672" y="0"/>
                  </a:cubicBezTo>
                  <a:lnTo>
                    <a:pt x="213360" y="0"/>
                  </a:lnTo>
                  <a:cubicBezTo>
                    <a:pt x="236982" y="0"/>
                    <a:pt x="256032" y="19050"/>
                    <a:pt x="256032" y="42672"/>
                  </a:cubicBezTo>
                  <a:lnTo>
                    <a:pt x="256032" y="3706368"/>
                  </a:lnTo>
                  <a:cubicBezTo>
                    <a:pt x="256032" y="3729990"/>
                    <a:pt x="236982" y="3749040"/>
                    <a:pt x="213360" y="3749040"/>
                  </a:cubicBezTo>
                  <a:lnTo>
                    <a:pt x="42672" y="3749040"/>
                  </a:lnTo>
                  <a:cubicBezTo>
                    <a:pt x="19050" y="3749040"/>
                    <a:pt x="0" y="3729990"/>
                    <a:pt x="0" y="3706368"/>
                  </a:cubicBezTo>
                  <a:close/>
                </a:path>
              </a:pathLst>
            </a:custGeom>
            <a:solidFill>
              <a:srgbClr val="0F8A6E"/>
            </a:solidFill>
          </p:spPr>
        </p:sp>
      </p:grpSp>
      <p:grpSp>
        <p:nvGrpSpPr>
          <p:cNvPr name="Group 34" id="34"/>
          <p:cNvGrpSpPr/>
          <p:nvPr/>
        </p:nvGrpSpPr>
        <p:grpSpPr>
          <a:xfrm rot="0">
            <a:off x="1714500" y="6213348"/>
            <a:ext cx="6926580" cy="576072"/>
            <a:chOff x="0" y="0"/>
            <a:chExt cx="9235440" cy="768096"/>
          </a:xfrm>
        </p:grpSpPr>
        <p:sp>
          <p:nvSpPr>
            <p:cNvPr name="Freeform 35" id="35"/>
            <p:cNvSpPr/>
            <p:nvPr/>
          </p:nvSpPr>
          <p:spPr>
            <a:xfrm flipH="false" flipV="false" rot="0">
              <a:off x="0" y="0"/>
              <a:ext cx="9235440" cy="768096"/>
            </a:xfrm>
            <a:custGeom>
              <a:avLst/>
              <a:gdLst/>
              <a:ahLst/>
              <a:cxnLst/>
              <a:rect r="r" b="b" t="t" l="l"/>
              <a:pathLst>
                <a:path h="768096" w="9235440">
                  <a:moveTo>
                    <a:pt x="0" y="0"/>
                  </a:moveTo>
                  <a:lnTo>
                    <a:pt x="9235440" y="0"/>
                  </a:lnTo>
                  <a:lnTo>
                    <a:pt x="9235440" y="768096"/>
                  </a:lnTo>
                  <a:lnTo>
                    <a:pt x="0" y="768096"/>
                  </a:lnTo>
                  <a:close/>
                </a:path>
              </a:pathLst>
            </a:custGeom>
            <a:blipFill>
              <a:blip r:embed="rId4">
                <a:alphaModFix amt="0"/>
              </a:blip>
              <a:stretch>
                <a:fillRect l="0" t="-184284" r="0" b="-184284"/>
              </a:stretch>
            </a:blipFill>
          </p:spPr>
        </p:sp>
        <p:sp>
          <p:nvSpPr>
            <p:cNvPr name="TextBox 36" id="36"/>
            <p:cNvSpPr txBox="true"/>
            <p:nvPr/>
          </p:nvSpPr>
          <p:spPr>
            <a:xfrm>
              <a:off x="0" y="-9525"/>
              <a:ext cx="9235440" cy="777621"/>
            </a:xfrm>
            <a:prstGeom prst="rect">
              <a:avLst/>
            </a:prstGeom>
          </p:spPr>
          <p:txBody>
            <a:bodyPr anchor="ctr" rtlCol="false" tIns="0" lIns="0" bIns="0" rIns="0"/>
            <a:lstStyle/>
            <a:p>
              <a:pPr algn="l">
                <a:lnSpc>
                  <a:spcPts val="3419"/>
                </a:lnSpc>
              </a:pPr>
              <a:r>
                <a:rPr lang="en-US" sz="2850" b="true">
                  <a:solidFill>
                    <a:srgbClr val="0F8A6E"/>
                  </a:solidFill>
                  <a:latin typeface="Cambria Bold"/>
                  <a:ea typeface="Cambria Bold"/>
                  <a:cs typeface="Cambria Bold"/>
                  <a:sym typeface="Cambria Bold"/>
                </a:rPr>
                <a:t>Tolerate</a:t>
              </a:r>
            </a:p>
          </p:txBody>
        </p:sp>
      </p:grpSp>
      <p:sp>
        <p:nvSpPr>
          <p:cNvPr name="TextBox 37" id="37"/>
          <p:cNvSpPr txBox="true"/>
          <p:nvPr/>
        </p:nvSpPr>
        <p:spPr>
          <a:xfrm rot="0">
            <a:off x="1805940" y="6822186"/>
            <a:ext cx="6743700" cy="963930"/>
          </a:xfrm>
          <a:prstGeom prst="rect">
            <a:avLst/>
          </a:prstGeom>
        </p:spPr>
        <p:txBody>
          <a:bodyPr anchor="t" rtlCol="false" tIns="0" lIns="0" bIns="0" rIns="0">
            <a:spAutoFit/>
          </a:bodyPr>
          <a:lstStyle/>
          <a:p>
            <a:pPr algn="l">
              <a:lnSpc>
                <a:spcPts val="2812"/>
              </a:lnSpc>
            </a:pPr>
            <a:r>
              <a:rPr lang="en-US" sz="1875">
                <a:solidFill>
                  <a:srgbClr val="23262F"/>
                </a:solidFill>
                <a:latin typeface="Calibri (MS)"/>
                <a:ea typeface="Calibri (MS)"/>
                <a:cs typeface="Calibri (MS)"/>
                <a:sym typeface="Calibri (MS)"/>
              </a:rPr>
              <a:t>Accept it and monitor — not worth the cost or effort to fix.</a:t>
            </a:r>
          </a:p>
        </p:txBody>
      </p:sp>
      <p:sp>
        <p:nvSpPr>
          <p:cNvPr name="TextBox 38" id="38"/>
          <p:cNvSpPr txBox="true"/>
          <p:nvPr/>
        </p:nvSpPr>
        <p:spPr>
          <a:xfrm rot="0">
            <a:off x="1805940" y="7893177"/>
            <a:ext cx="6743700" cy="729615"/>
          </a:xfrm>
          <a:prstGeom prst="rect">
            <a:avLst/>
          </a:prstGeom>
        </p:spPr>
        <p:txBody>
          <a:bodyPr anchor="t" rtlCol="false" tIns="0" lIns="0" bIns="0" rIns="0">
            <a:spAutoFit/>
          </a:bodyPr>
          <a:lstStyle/>
          <a:p>
            <a:pPr algn="l">
              <a:lnSpc>
                <a:spcPts val="2376"/>
              </a:lnSpc>
            </a:pPr>
            <a:r>
              <a:rPr lang="en-US" sz="1650" i="true">
                <a:solidFill>
                  <a:srgbClr val="6B7280"/>
                </a:solidFill>
                <a:latin typeface="Calibri (MS) Italics"/>
                <a:ea typeface="Calibri (MS) Italics"/>
                <a:cs typeface="Calibri (MS) Italics"/>
                <a:sym typeface="Calibri (MS) Italics"/>
              </a:rPr>
              <a:t>e.g. A low-likelihood, low-impact inconvenience.</a:t>
            </a:r>
          </a:p>
        </p:txBody>
      </p:sp>
      <p:grpSp>
        <p:nvGrpSpPr>
          <p:cNvPr name="Group 39" id="39"/>
          <p:cNvGrpSpPr/>
          <p:nvPr/>
        </p:nvGrpSpPr>
        <p:grpSpPr>
          <a:xfrm rot="0">
            <a:off x="9449752" y="5952172"/>
            <a:ext cx="7778115" cy="2840355"/>
            <a:chOff x="0" y="0"/>
            <a:chExt cx="10370820" cy="3787140"/>
          </a:xfrm>
        </p:grpSpPr>
        <p:sp>
          <p:nvSpPr>
            <p:cNvPr name="Freeform 40" id="40"/>
            <p:cNvSpPr/>
            <p:nvPr/>
          </p:nvSpPr>
          <p:spPr>
            <a:xfrm flipH="false" flipV="false" rot="0">
              <a:off x="0" y="0"/>
              <a:ext cx="10370820" cy="3787140"/>
            </a:xfrm>
            <a:custGeom>
              <a:avLst/>
              <a:gdLst/>
              <a:ahLst/>
              <a:cxnLst/>
              <a:rect r="r" b="b" t="t" l="l"/>
              <a:pathLst>
                <a:path h="3787140" w="10370820">
                  <a:moveTo>
                    <a:pt x="0" y="184785"/>
                  </a:moveTo>
                  <a:cubicBezTo>
                    <a:pt x="0" y="82677"/>
                    <a:pt x="82677" y="0"/>
                    <a:pt x="184785" y="0"/>
                  </a:cubicBezTo>
                  <a:lnTo>
                    <a:pt x="10186035" y="0"/>
                  </a:lnTo>
                  <a:cubicBezTo>
                    <a:pt x="10288016" y="0"/>
                    <a:pt x="10370820" y="82677"/>
                    <a:pt x="10370820" y="184785"/>
                  </a:cubicBezTo>
                  <a:lnTo>
                    <a:pt x="10370820" y="3602355"/>
                  </a:lnTo>
                  <a:cubicBezTo>
                    <a:pt x="10370820" y="3704336"/>
                    <a:pt x="10288143" y="3787140"/>
                    <a:pt x="10186035" y="3787140"/>
                  </a:cubicBezTo>
                  <a:lnTo>
                    <a:pt x="184785" y="3787140"/>
                  </a:lnTo>
                  <a:cubicBezTo>
                    <a:pt x="82677" y="3787140"/>
                    <a:pt x="0" y="3704463"/>
                    <a:pt x="0" y="3602355"/>
                  </a:cubicBezTo>
                  <a:close/>
                </a:path>
              </a:pathLst>
            </a:custGeom>
            <a:solidFill>
              <a:srgbClr val="F4F7FC"/>
            </a:solidFill>
            <a:ln w="28575" cap="sq">
              <a:solidFill>
                <a:srgbClr val="7A2048"/>
              </a:solidFill>
              <a:prstDash val="solid"/>
              <a:miter/>
            </a:ln>
          </p:spPr>
        </p:sp>
      </p:grpSp>
      <p:grpSp>
        <p:nvGrpSpPr>
          <p:cNvPr name="Group 41" id="41"/>
          <p:cNvGrpSpPr/>
          <p:nvPr/>
        </p:nvGrpSpPr>
        <p:grpSpPr>
          <a:xfrm rot="0">
            <a:off x="9464040" y="5966460"/>
            <a:ext cx="192024" cy="2811780"/>
            <a:chOff x="0" y="0"/>
            <a:chExt cx="256032" cy="3749040"/>
          </a:xfrm>
        </p:grpSpPr>
        <p:sp>
          <p:nvSpPr>
            <p:cNvPr name="Freeform 42" id="42"/>
            <p:cNvSpPr/>
            <p:nvPr/>
          </p:nvSpPr>
          <p:spPr>
            <a:xfrm flipH="false" flipV="false" rot="0">
              <a:off x="0" y="0"/>
              <a:ext cx="256032" cy="3749040"/>
            </a:xfrm>
            <a:custGeom>
              <a:avLst/>
              <a:gdLst/>
              <a:ahLst/>
              <a:cxnLst/>
              <a:rect r="r" b="b" t="t" l="l"/>
              <a:pathLst>
                <a:path h="3749040" w="256032">
                  <a:moveTo>
                    <a:pt x="0" y="42672"/>
                  </a:moveTo>
                  <a:cubicBezTo>
                    <a:pt x="0" y="19050"/>
                    <a:pt x="19050" y="0"/>
                    <a:pt x="42672" y="0"/>
                  </a:cubicBezTo>
                  <a:lnTo>
                    <a:pt x="213360" y="0"/>
                  </a:lnTo>
                  <a:cubicBezTo>
                    <a:pt x="236982" y="0"/>
                    <a:pt x="256032" y="19050"/>
                    <a:pt x="256032" y="42672"/>
                  </a:cubicBezTo>
                  <a:lnTo>
                    <a:pt x="256032" y="3706368"/>
                  </a:lnTo>
                  <a:cubicBezTo>
                    <a:pt x="256032" y="3729990"/>
                    <a:pt x="236982" y="3749040"/>
                    <a:pt x="213360" y="3749040"/>
                  </a:cubicBezTo>
                  <a:lnTo>
                    <a:pt x="42672" y="3749040"/>
                  </a:lnTo>
                  <a:cubicBezTo>
                    <a:pt x="19050" y="3749040"/>
                    <a:pt x="0" y="3729990"/>
                    <a:pt x="0" y="3706368"/>
                  </a:cubicBezTo>
                  <a:close/>
                </a:path>
              </a:pathLst>
            </a:custGeom>
            <a:solidFill>
              <a:srgbClr val="7A2048"/>
            </a:solidFill>
          </p:spPr>
        </p:sp>
      </p:grpSp>
      <p:grpSp>
        <p:nvGrpSpPr>
          <p:cNvPr name="Group 43" id="43"/>
          <p:cNvGrpSpPr/>
          <p:nvPr/>
        </p:nvGrpSpPr>
        <p:grpSpPr>
          <a:xfrm rot="0">
            <a:off x="9944100" y="6213348"/>
            <a:ext cx="6926580" cy="576072"/>
            <a:chOff x="0" y="0"/>
            <a:chExt cx="9235440" cy="768096"/>
          </a:xfrm>
        </p:grpSpPr>
        <p:sp>
          <p:nvSpPr>
            <p:cNvPr name="Freeform 44" id="44"/>
            <p:cNvSpPr/>
            <p:nvPr/>
          </p:nvSpPr>
          <p:spPr>
            <a:xfrm flipH="false" flipV="false" rot="0">
              <a:off x="0" y="0"/>
              <a:ext cx="9235440" cy="768096"/>
            </a:xfrm>
            <a:custGeom>
              <a:avLst/>
              <a:gdLst/>
              <a:ahLst/>
              <a:cxnLst/>
              <a:rect r="r" b="b" t="t" l="l"/>
              <a:pathLst>
                <a:path h="768096" w="9235440">
                  <a:moveTo>
                    <a:pt x="0" y="0"/>
                  </a:moveTo>
                  <a:lnTo>
                    <a:pt x="9235440" y="0"/>
                  </a:lnTo>
                  <a:lnTo>
                    <a:pt x="9235440" y="768096"/>
                  </a:lnTo>
                  <a:lnTo>
                    <a:pt x="0" y="768096"/>
                  </a:lnTo>
                  <a:close/>
                </a:path>
              </a:pathLst>
            </a:custGeom>
            <a:blipFill>
              <a:blip r:embed="rId4">
                <a:alphaModFix amt="0"/>
              </a:blip>
              <a:stretch>
                <a:fillRect l="0" t="-184284" r="0" b="-184284"/>
              </a:stretch>
            </a:blipFill>
          </p:spPr>
        </p:sp>
        <p:sp>
          <p:nvSpPr>
            <p:cNvPr name="TextBox 45" id="45"/>
            <p:cNvSpPr txBox="true"/>
            <p:nvPr/>
          </p:nvSpPr>
          <p:spPr>
            <a:xfrm>
              <a:off x="0" y="-9525"/>
              <a:ext cx="9235440" cy="777621"/>
            </a:xfrm>
            <a:prstGeom prst="rect">
              <a:avLst/>
            </a:prstGeom>
          </p:spPr>
          <p:txBody>
            <a:bodyPr anchor="ctr" rtlCol="false" tIns="0" lIns="0" bIns="0" rIns="0"/>
            <a:lstStyle/>
            <a:p>
              <a:pPr algn="l">
                <a:lnSpc>
                  <a:spcPts val="3419"/>
                </a:lnSpc>
              </a:pPr>
              <a:r>
                <a:rPr lang="en-US" sz="2850" b="true">
                  <a:solidFill>
                    <a:srgbClr val="7A2048"/>
                  </a:solidFill>
                  <a:latin typeface="Cambria Bold"/>
                  <a:ea typeface="Cambria Bold"/>
                  <a:cs typeface="Cambria Bold"/>
                  <a:sym typeface="Cambria Bold"/>
                </a:rPr>
                <a:t>Terminate</a:t>
              </a:r>
            </a:p>
          </p:txBody>
        </p:sp>
      </p:grpSp>
      <p:sp>
        <p:nvSpPr>
          <p:cNvPr name="TextBox 46" id="46"/>
          <p:cNvSpPr txBox="true"/>
          <p:nvPr/>
        </p:nvSpPr>
        <p:spPr>
          <a:xfrm rot="0">
            <a:off x="10035540" y="6822186"/>
            <a:ext cx="6743700" cy="963930"/>
          </a:xfrm>
          <a:prstGeom prst="rect">
            <a:avLst/>
          </a:prstGeom>
        </p:spPr>
        <p:txBody>
          <a:bodyPr anchor="t" rtlCol="false" tIns="0" lIns="0" bIns="0" rIns="0">
            <a:spAutoFit/>
          </a:bodyPr>
          <a:lstStyle/>
          <a:p>
            <a:pPr algn="l">
              <a:lnSpc>
                <a:spcPts val="2812"/>
              </a:lnSpc>
            </a:pPr>
            <a:r>
              <a:rPr lang="en-US" sz="1875">
                <a:solidFill>
                  <a:srgbClr val="23262F"/>
                </a:solidFill>
                <a:latin typeface="Calibri (MS)"/>
                <a:ea typeface="Calibri (MS)"/>
                <a:cs typeface="Calibri (MS)"/>
                <a:sym typeface="Calibri (MS)"/>
              </a:rPr>
              <a:t>Eliminate it entirely by stopping the activity that causes it.</a:t>
            </a:r>
          </a:p>
        </p:txBody>
      </p:sp>
      <p:sp>
        <p:nvSpPr>
          <p:cNvPr name="TextBox 47" id="47"/>
          <p:cNvSpPr txBox="true"/>
          <p:nvPr/>
        </p:nvSpPr>
        <p:spPr>
          <a:xfrm rot="0">
            <a:off x="10035540" y="7893177"/>
            <a:ext cx="6743700" cy="729615"/>
          </a:xfrm>
          <a:prstGeom prst="rect">
            <a:avLst/>
          </a:prstGeom>
        </p:spPr>
        <p:txBody>
          <a:bodyPr anchor="t" rtlCol="false" tIns="0" lIns="0" bIns="0" rIns="0">
            <a:spAutoFit/>
          </a:bodyPr>
          <a:lstStyle/>
          <a:p>
            <a:pPr algn="l">
              <a:lnSpc>
                <a:spcPts val="2376"/>
              </a:lnSpc>
            </a:pPr>
            <a:r>
              <a:rPr lang="en-US" sz="1650" i="true">
                <a:solidFill>
                  <a:srgbClr val="6B7280"/>
                </a:solidFill>
                <a:latin typeface="Calibri (MS) Italics"/>
                <a:ea typeface="Calibri (MS) Italics"/>
                <a:cs typeface="Calibri (MS) Italics"/>
                <a:sym typeface="Calibri (MS) Italics"/>
              </a:rPr>
              <a:t>e.g. Decommission a system nobody uses anymore.</a:t>
            </a:r>
          </a:p>
        </p:txBody>
      </p:sp>
      <p:grpSp>
        <p:nvGrpSpPr>
          <p:cNvPr name="Group 48" id="48"/>
          <p:cNvGrpSpPr/>
          <p:nvPr/>
        </p:nvGrpSpPr>
        <p:grpSpPr>
          <a:xfrm rot="0">
            <a:off x="685800" y="9710928"/>
            <a:ext cx="10972800" cy="411480"/>
            <a:chOff x="0" y="0"/>
            <a:chExt cx="14630400" cy="548640"/>
          </a:xfrm>
        </p:grpSpPr>
        <p:sp>
          <p:nvSpPr>
            <p:cNvPr name="Freeform 49" id="49"/>
            <p:cNvSpPr/>
            <p:nvPr/>
          </p:nvSpPr>
          <p:spPr>
            <a:xfrm flipH="false" flipV="false" rot="0">
              <a:off x="0" y="0"/>
              <a:ext cx="14630400" cy="548640"/>
            </a:xfrm>
            <a:custGeom>
              <a:avLst/>
              <a:gdLst/>
              <a:ahLst/>
              <a:cxnLst/>
              <a:rect r="r" b="b" t="t" l="l"/>
              <a:pathLst>
                <a:path h="548640" w="14630400">
                  <a:moveTo>
                    <a:pt x="0" y="0"/>
                  </a:moveTo>
                  <a:lnTo>
                    <a:pt x="14630400" y="0"/>
                  </a:lnTo>
                  <a:lnTo>
                    <a:pt x="14630400" y="548640"/>
                  </a:lnTo>
                  <a:lnTo>
                    <a:pt x="0" y="548640"/>
                  </a:lnTo>
                  <a:close/>
                </a:path>
              </a:pathLst>
            </a:custGeom>
            <a:blipFill>
              <a:blip r:embed="rId4">
                <a:alphaModFix amt="0"/>
              </a:blip>
              <a:stretch>
                <a:fillRect l="0" t="-469601" r="0" b="-469601"/>
              </a:stretch>
            </a:blipFill>
          </p:spPr>
        </p:sp>
        <p:sp>
          <p:nvSpPr>
            <p:cNvPr name="TextBox 50" id="50"/>
            <p:cNvSpPr txBox="true"/>
            <p:nvPr/>
          </p:nvSpPr>
          <p:spPr>
            <a:xfrm>
              <a:off x="0" y="-38100"/>
              <a:ext cx="14630400" cy="586740"/>
            </a:xfrm>
            <a:prstGeom prst="rect">
              <a:avLst/>
            </a:prstGeom>
          </p:spPr>
          <p:txBody>
            <a:bodyPr anchor="ctr" rtlCol="false" tIns="0" lIns="0" bIns="0" rIns="0"/>
            <a:lstStyle/>
            <a:p>
              <a:pPr algn="l">
                <a:lnSpc>
                  <a:spcPts val="1800"/>
                </a:lnSpc>
              </a:pPr>
              <a:r>
                <a:rPr lang="en-US" sz="1500">
                  <a:solidFill>
                    <a:srgbClr val="6B7280"/>
                  </a:solidFill>
                  <a:latin typeface="Calibri (MS)"/>
                  <a:ea typeface="Calibri (MS)"/>
                  <a:cs typeface="Calibri (MS)"/>
                  <a:sym typeface="Calibri (MS)"/>
                </a:rPr>
                <a:t>Davao del Norte Provincial Government — Cybersecurity Seminar</a:t>
              </a:r>
            </a:p>
          </p:txBody>
        </p:sp>
      </p:grpSp>
      <p:grpSp>
        <p:nvGrpSpPr>
          <p:cNvPr name="Group 51" id="51"/>
          <p:cNvGrpSpPr/>
          <p:nvPr/>
        </p:nvGrpSpPr>
        <p:grpSpPr>
          <a:xfrm rot="0">
            <a:off x="16911828" y="9710928"/>
            <a:ext cx="685800" cy="411480"/>
            <a:chOff x="0" y="0"/>
            <a:chExt cx="914400" cy="548640"/>
          </a:xfrm>
        </p:grpSpPr>
        <p:sp>
          <p:nvSpPr>
            <p:cNvPr name="Freeform 52" id="52"/>
            <p:cNvSpPr/>
            <p:nvPr/>
          </p:nvSpPr>
          <p:spPr>
            <a:xfrm flipH="false" flipV="false" rot="0">
              <a:off x="0" y="0"/>
              <a:ext cx="914400" cy="548640"/>
            </a:xfrm>
            <a:custGeom>
              <a:avLst/>
              <a:gdLst/>
              <a:ahLst/>
              <a:cxnLst/>
              <a:rect r="r" b="b" t="t" l="l"/>
              <a:pathLst>
                <a:path h="548640" w="914400">
                  <a:moveTo>
                    <a:pt x="0" y="0"/>
                  </a:moveTo>
                  <a:lnTo>
                    <a:pt x="914400" y="0"/>
                  </a:lnTo>
                  <a:lnTo>
                    <a:pt x="914400" y="548640"/>
                  </a:lnTo>
                  <a:lnTo>
                    <a:pt x="0" y="548640"/>
                  </a:lnTo>
                  <a:close/>
                </a:path>
              </a:pathLst>
            </a:custGeom>
            <a:blipFill>
              <a:blip r:embed="rId4">
                <a:alphaModFix amt="0"/>
              </a:blip>
              <a:stretch>
                <a:fillRect l="-26982" t="0" r="-26982" b="0"/>
              </a:stretch>
            </a:blipFill>
          </p:spPr>
        </p:sp>
        <p:sp>
          <p:nvSpPr>
            <p:cNvPr name="TextBox 53" id="53"/>
            <p:cNvSpPr txBox="true"/>
            <p:nvPr/>
          </p:nvSpPr>
          <p:spPr>
            <a:xfrm>
              <a:off x="0" y="-38100"/>
              <a:ext cx="914400" cy="586740"/>
            </a:xfrm>
            <a:prstGeom prst="rect">
              <a:avLst/>
            </a:prstGeom>
          </p:spPr>
          <p:txBody>
            <a:bodyPr anchor="ctr" rtlCol="false" tIns="0" lIns="0" bIns="0" rIns="0"/>
            <a:lstStyle/>
            <a:p>
              <a:pPr algn="r">
                <a:lnSpc>
                  <a:spcPts val="1800"/>
                </a:lnSpc>
              </a:pPr>
              <a:r>
                <a:rPr lang="en-US" sz="1500">
                  <a:solidFill>
                    <a:srgbClr val="6B7280"/>
                  </a:solidFill>
                  <a:latin typeface="Calibri (MS)"/>
                  <a:ea typeface="Calibri (MS)"/>
                  <a:cs typeface="Calibri (MS)"/>
                  <a:sym typeface="Calibri (MS)"/>
                </a:rPr>
                <a:t>10</a:t>
              </a:r>
            </a:p>
          </p:txBody>
        </p:sp>
      </p:gr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754380" y="685800"/>
            <a:ext cx="850392" cy="850392"/>
            <a:chOff x="0" y="0"/>
            <a:chExt cx="1133856" cy="1133856"/>
          </a:xfrm>
        </p:grpSpPr>
        <p:sp>
          <p:nvSpPr>
            <p:cNvPr name="Freeform 3" id="3"/>
            <p:cNvSpPr/>
            <p:nvPr/>
          </p:nvSpPr>
          <p:spPr>
            <a:xfrm flipH="false" flipV="false" rot="0">
              <a:off x="0" y="0"/>
              <a:ext cx="1133856" cy="1133856"/>
            </a:xfrm>
            <a:custGeom>
              <a:avLst/>
              <a:gdLst/>
              <a:ahLst/>
              <a:cxnLst/>
              <a:rect r="r" b="b" t="t" l="l"/>
              <a:pathLst>
                <a:path h="1133856" w="1133856">
                  <a:moveTo>
                    <a:pt x="0" y="566928"/>
                  </a:moveTo>
                  <a:cubicBezTo>
                    <a:pt x="0" y="253873"/>
                    <a:pt x="253873" y="0"/>
                    <a:pt x="566928" y="0"/>
                  </a:cubicBezTo>
                  <a:cubicBezTo>
                    <a:pt x="879983" y="0"/>
                    <a:pt x="1133856" y="253873"/>
                    <a:pt x="1133856" y="566928"/>
                  </a:cubicBezTo>
                  <a:cubicBezTo>
                    <a:pt x="1133856" y="879983"/>
                    <a:pt x="879983" y="1133856"/>
                    <a:pt x="566928" y="1133856"/>
                  </a:cubicBezTo>
                  <a:cubicBezTo>
                    <a:pt x="253873" y="1133856"/>
                    <a:pt x="0" y="879983"/>
                    <a:pt x="0" y="566928"/>
                  </a:cubicBezTo>
                  <a:close/>
                </a:path>
              </a:pathLst>
            </a:custGeom>
            <a:solidFill>
              <a:srgbClr val="1E2761"/>
            </a:solidFill>
          </p:spPr>
        </p:sp>
      </p:grpSp>
      <p:grpSp>
        <p:nvGrpSpPr>
          <p:cNvPr name="Group 4" id="4"/>
          <p:cNvGrpSpPr/>
          <p:nvPr/>
        </p:nvGrpSpPr>
        <p:grpSpPr>
          <a:xfrm rot="0">
            <a:off x="932688" y="864108"/>
            <a:ext cx="493776" cy="493776"/>
            <a:chOff x="0" y="0"/>
            <a:chExt cx="658368" cy="658368"/>
          </a:xfrm>
        </p:grpSpPr>
        <p:sp>
          <p:nvSpPr>
            <p:cNvPr name="Freeform 5" id="5" descr="clipboard.png"/>
            <p:cNvSpPr/>
            <p:nvPr/>
          </p:nvSpPr>
          <p:spPr>
            <a:xfrm flipH="false" flipV="false" rot="0">
              <a:off x="0" y="0"/>
              <a:ext cx="658368" cy="658368"/>
            </a:xfrm>
            <a:custGeom>
              <a:avLst/>
              <a:gdLst/>
              <a:ahLst/>
              <a:cxnLst/>
              <a:rect r="r" b="b" t="t" l="l"/>
              <a:pathLst>
                <a:path h="658368" w="658368">
                  <a:moveTo>
                    <a:pt x="0" y="0"/>
                  </a:moveTo>
                  <a:lnTo>
                    <a:pt x="658368" y="0"/>
                  </a:lnTo>
                  <a:lnTo>
                    <a:pt x="658368" y="658368"/>
                  </a:lnTo>
                  <a:lnTo>
                    <a:pt x="0" y="658368"/>
                  </a:lnTo>
                  <a:lnTo>
                    <a:pt x="0" y="0"/>
                  </a:lnTo>
                  <a:close/>
                </a:path>
              </a:pathLst>
            </a:custGeom>
            <a:blipFill>
              <a:blip r:embed="rId3"/>
              <a:stretch>
                <a:fillRect l="0" t="0" r="0" b="0"/>
              </a:stretch>
            </a:blipFill>
          </p:spPr>
        </p:sp>
      </p:grpSp>
      <p:grpSp>
        <p:nvGrpSpPr>
          <p:cNvPr name="Group 6" id="6"/>
          <p:cNvGrpSpPr/>
          <p:nvPr/>
        </p:nvGrpSpPr>
        <p:grpSpPr>
          <a:xfrm rot="0">
            <a:off x="1851660" y="603504"/>
            <a:ext cx="13716000" cy="466344"/>
            <a:chOff x="0" y="0"/>
            <a:chExt cx="18288000" cy="621792"/>
          </a:xfrm>
        </p:grpSpPr>
        <p:sp>
          <p:nvSpPr>
            <p:cNvPr name="Freeform 7" id="7"/>
            <p:cNvSpPr/>
            <p:nvPr/>
          </p:nvSpPr>
          <p:spPr>
            <a:xfrm flipH="false" flipV="false" rot="0">
              <a:off x="0" y="0"/>
              <a:ext cx="18288000" cy="621792"/>
            </a:xfrm>
            <a:custGeom>
              <a:avLst/>
              <a:gdLst/>
              <a:ahLst/>
              <a:cxnLst/>
              <a:rect r="r" b="b" t="t" l="l"/>
              <a:pathLst>
                <a:path h="621792" w="18288000">
                  <a:moveTo>
                    <a:pt x="0" y="0"/>
                  </a:moveTo>
                  <a:lnTo>
                    <a:pt x="18288000" y="0"/>
                  </a:lnTo>
                  <a:lnTo>
                    <a:pt x="18288000" y="621792"/>
                  </a:lnTo>
                  <a:lnTo>
                    <a:pt x="0" y="621792"/>
                  </a:lnTo>
                  <a:close/>
                </a:path>
              </a:pathLst>
            </a:custGeom>
            <a:blipFill>
              <a:blip r:embed="rId4">
                <a:alphaModFix amt="0"/>
              </a:blip>
              <a:stretch>
                <a:fillRect l="0" t="-523089" r="0" b="-523089"/>
              </a:stretch>
            </a:blipFill>
          </p:spPr>
        </p:sp>
        <p:sp>
          <p:nvSpPr>
            <p:cNvPr name="TextBox 8" id="8"/>
            <p:cNvSpPr txBox="true"/>
            <p:nvPr/>
          </p:nvSpPr>
          <p:spPr>
            <a:xfrm>
              <a:off x="0" y="-47625"/>
              <a:ext cx="18288000" cy="669417"/>
            </a:xfrm>
            <a:prstGeom prst="rect">
              <a:avLst/>
            </a:prstGeom>
          </p:spPr>
          <p:txBody>
            <a:bodyPr anchor="ctr" rtlCol="false" tIns="0" lIns="0" bIns="0" rIns="0"/>
            <a:lstStyle/>
            <a:p>
              <a:pPr algn="l">
                <a:lnSpc>
                  <a:spcPts val="2340"/>
                </a:lnSpc>
              </a:pPr>
              <a:r>
                <a:rPr lang="en-US" b="true" sz="1950" spc="150">
                  <a:solidFill>
                    <a:srgbClr val="00B4D8"/>
                  </a:solidFill>
                  <a:latin typeface="Calibri (MS) Bold"/>
                  <a:ea typeface="Calibri (MS) Bold"/>
                  <a:cs typeface="Calibri (MS) Bold"/>
                  <a:sym typeface="Calibri (MS) Bold"/>
                </a:rPr>
                <a:t>RISK MANAGEMENT</a:t>
              </a:r>
            </a:p>
          </p:txBody>
        </p:sp>
      </p:grpSp>
      <p:grpSp>
        <p:nvGrpSpPr>
          <p:cNvPr name="Group 9" id="9"/>
          <p:cNvGrpSpPr/>
          <p:nvPr/>
        </p:nvGrpSpPr>
        <p:grpSpPr>
          <a:xfrm rot="0">
            <a:off x="1824228" y="987552"/>
            <a:ext cx="15361920" cy="850392"/>
            <a:chOff x="0" y="0"/>
            <a:chExt cx="20482560" cy="1133856"/>
          </a:xfrm>
        </p:grpSpPr>
        <p:sp>
          <p:nvSpPr>
            <p:cNvPr name="Freeform 10" id="10"/>
            <p:cNvSpPr/>
            <p:nvPr/>
          </p:nvSpPr>
          <p:spPr>
            <a:xfrm flipH="false" flipV="false" rot="0">
              <a:off x="0" y="0"/>
              <a:ext cx="20482561" cy="1133856"/>
            </a:xfrm>
            <a:custGeom>
              <a:avLst/>
              <a:gdLst/>
              <a:ahLst/>
              <a:cxnLst/>
              <a:rect r="r" b="b" t="t" l="l"/>
              <a:pathLst>
                <a:path h="1133856" w="20482561">
                  <a:moveTo>
                    <a:pt x="0" y="0"/>
                  </a:moveTo>
                  <a:lnTo>
                    <a:pt x="20482561" y="0"/>
                  </a:lnTo>
                  <a:lnTo>
                    <a:pt x="20482561" y="1133856"/>
                  </a:lnTo>
                  <a:lnTo>
                    <a:pt x="0" y="1133856"/>
                  </a:lnTo>
                  <a:close/>
                </a:path>
              </a:pathLst>
            </a:custGeom>
            <a:blipFill>
              <a:blip r:embed="rId4">
                <a:alphaModFix amt="0"/>
              </a:blip>
              <a:stretch>
                <a:fillRect l="0" t="-301987" r="0" b="-301987"/>
              </a:stretch>
            </a:blipFill>
          </p:spPr>
        </p:sp>
        <p:sp>
          <p:nvSpPr>
            <p:cNvPr name="TextBox 11" id="11"/>
            <p:cNvSpPr txBox="true"/>
            <p:nvPr/>
          </p:nvSpPr>
          <p:spPr>
            <a:xfrm>
              <a:off x="0" y="-9525"/>
              <a:ext cx="20482560" cy="1143381"/>
            </a:xfrm>
            <a:prstGeom prst="rect">
              <a:avLst/>
            </a:prstGeom>
          </p:spPr>
          <p:txBody>
            <a:bodyPr anchor="ctr" rtlCol="false" tIns="0" lIns="0" bIns="0" rIns="0"/>
            <a:lstStyle/>
            <a:p>
              <a:pPr algn="l">
                <a:lnSpc>
                  <a:spcPts val="5040"/>
                </a:lnSpc>
              </a:pPr>
              <a:r>
                <a:rPr lang="en-US" sz="4200" b="true">
                  <a:solidFill>
                    <a:srgbClr val="1E2761"/>
                  </a:solidFill>
                  <a:latin typeface="Cambria Bold"/>
                  <a:ea typeface="Cambria Bold"/>
                  <a:cs typeface="Cambria Bold"/>
                  <a:sym typeface="Cambria Bold"/>
                </a:rPr>
                <a:t>What Kinds of Risk Do We Carry?</a:t>
              </a:r>
            </a:p>
          </p:txBody>
        </p:sp>
      </p:grpSp>
      <p:grpSp>
        <p:nvGrpSpPr>
          <p:cNvPr name="Group 12" id="12"/>
          <p:cNvGrpSpPr/>
          <p:nvPr/>
        </p:nvGrpSpPr>
        <p:grpSpPr>
          <a:xfrm rot="0">
            <a:off x="1234440" y="2811780"/>
            <a:ext cx="15499080" cy="1069848"/>
            <a:chOff x="0" y="0"/>
            <a:chExt cx="20665440" cy="1426464"/>
          </a:xfrm>
        </p:grpSpPr>
        <p:sp>
          <p:nvSpPr>
            <p:cNvPr name="Freeform 13" id="13"/>
            <p:cNvSpPr/>
            <p:nvPr/>
          </p:nvSpPr>
          <p:spPr>
            <a:xfrm flipH="false" flipV="false" rot="0">
              <a:off x="0" y="0"/>
              <a:ext cx="20665441" cy="1426464"/>
            </a:xfrm>
            <a:custGeom>
              <a:avLst/>
              <a:gdLst/>
              <a:ahLst/>
              <a:cxnLst/>
              <a:rect r="r" b="b" t="t" l="l"/>
              <a:pathLst>
                <a:path h="1426464" w="20665441">
                  <a:moveTo>
                    <a:pt x="0" y="146304"/>
                  </a:moveTo>
                  <a:cubicBezTo>
                    <a:pt x="0" y="65532"/>
                    <a:pt x="65532" y="0"/>
                    <a:pt x="146304" y="0"/>
                  </a:cubicBezTo>
                  <a:lnTo>
                    <a:pt x="20519137" y="0"/>
                  </a:lnTo>
                  <a:cubicBezTo>
                    <a:pt x="20599908" y="0"/>
                    <a:pt x="20665441" y="65532"/>
                    <a:pt x="20665441" y="146304"/>
                  </a:cubicBezTo>
                  <a:lnTo>
                    <a:pt x="20665441" y="1280160"/>
                  </a:lnTo>
                  <a:cubicBezTo>
                    <a:pt x="20665441" y="1360932"/>
                    <a:pt x="20599908" y="1426464"/>
                    <a:pt x="20519137" y="1426464"/>
                  </a:cubicBezTo>
                  <a:lnTo>
                    <a:pt x="146304" y="1426464"/>
                  </a:lnTo>
                  <a:cubicBezTo>
                    <a:pt x="65532" y="1426464"/>
                    <a:pt x="0" y="1360932"/>
                    <a:pt x="0" y="1280160"/>
                  </a:cubicBezTo>
                  <a:close/>
                </a:path>
              </a:pathLst>
            </a:custGeom>
            <a:solidFill>
              <a:srgbClr val="F4F7FC"/>
            </a:solidFill>
          </p:spPr>
        </p:sp>
      </p:grpSp>
      <p:grpSp>
        <p:nvGrpSpPr>
          <p:cNvPr name="Group 14" id="14"/>
          <p:cNvGrpSpPr/>
          <p:nvPr/>
        </p:nvGrpSpPr>
        <p:grpSpPr>
          <a:xfrm rot="0">
            <a:off x="1234440" y="2811780"/>
            <a:ext cx="137160" cy="1069848"/>
            <a:chOff x="0" y="0"/>
            <a:chExt cx="182880" cy="1426464"/>
          </a:xfrm>
        </p:grpSpPr>
        <p:sp>
          <p:nvSpPr>
            <p:cNvPr name="Freeform 15" id="15"/>
            <p:cNvSpPr/>
            <p:nvPr/>
          </p:nvSpPr>
          <p:spPr>
            <a:xfrm flipH="false" flipV="false" rot="0">
              <a:off x="0" y="0"/>
              <a:ext cx="182880" cy="1426464"/>
            </a:xfrm>
            <a:custGeom>
              <a:avLst/>
              <a:gdLst/>
              <a:ahLst/>
              <a:cxnLst/>
              <a:rect r="r" b="b" t="t" l="l"/>
              <a:pathLst>
                <a:path h="1426464" w="182880">
                  <a:moveTo>
                    <a:pt x="0" y="30480"/>
                  </a:moveTo>
                  <a:cubicBezTo>
                    <a:pt x="0" y="13589"/>
                    <a:pt x="13589" y="0"/>
                    <a:pt x="30480" y="0"/>
                  </a:cubicBezTo>
                  <a:lnTo>
                    <a:pt x="152400" y="0"/>
                  </a:lnTo>
                  <a:cubicBezTo>
                    <a:pt x="169291" y="0"/>
                    <a:pt x="182880" y="13589"/>
                    <a:pt x="182880" y="30480"/>
                  </a:cubicBezTo>
                  <a:lnTo>
                    <a:pt x="182880" y="1395984"/>
                  </a:lnTo>
                  <a:cubicBezTo>
                    <a:pt x="182880" y="1412875"/>
                    <a:pt x="169291" y="1426464"/>
                    <a:pt x="152400" y="1426464"/>
                  </a:cubicBezTo>
                  <a:lnTo>
                    <a:pt x="30480" y="1426464"/>
                  </a:lnTo>
                  <a:cubicBezTo>
                    <a:pt x="13589" y="1426464"/>
                    <a:pt x="0" y="1412875"/>
                    <a:pt x="0" y="1395984"/>
                  </a:cubicBezTo>
                  <a:close/>
                </a:path>
              </a:pathLst>
            </a:custGeom>
            <a:solidFill>
              <a:srgbClr val="1E2761"/>
            </a:solidFill>
          </p:spPr>
        </p:sp>
      </p:grpSp>
      <p:grpSp>
        <p:nvGrpSpPr>
          <p:cNvPr name="Group 16" id="16"/>
          <p:cNvGrpSpPr/>
          <p:nvPr/>
        </p:nvGrpSpPr>
        <p:grpSpPr>
          <a:xfrm rot="0">
            <a:off x="1714500" y="2811780"/>
            <a:ext cx="5212080" cy="1069848"/>
            <a:chOff x="0" y="0"/>
            <a:chExt cx="6949440" cy="1426464"/>
          </a:xfrm>
        </p:grpSpPr>
        <p:sp>
          <p:nvSpPr>
            <p:cNvPr name="Freeform 17" id="17"/>
            <p:cNvSpPr/>
            <p:nvPr/>
          </p:nvSpPr>
          <p:spPr>
            <a:xfrm flipH="false" flipV="false" rot="0">
              <a:off x="0" y="0"/>
              <a:ext cx="6949440" cy="1426464"/>
            </a:xfrm>
            <a:custGeom>
              <a:avLst/>
              <a:gdLst/>
              <a:ahLst/>
              <a:cxnLst/>
              <a:rect r="r" b="b" t="t" l="l"/>
              <a:pathLst>
                <a:path h="1426464" w="6949440">
                  <a:moveTo>
                    <a:pt x="0" y="0"/>
                  </a:moveTo>
                  <a:lnTo>
                    <a:pt x="6949440" y="0"/>
                  </a:lnTo>
                  <a:lnTo>
                    <a:pt x="6949440" y="1426464"/>
                  </a:lnTo>
                  <a:lnTo>
                    <a:pt x="0" y="1426464"/>
                  </a:lnTo>
                  <a:close/>
                </a:path>
              </a:pathLst>
            </a:custGeom>
            <a:blipFill>
              <a:blip r:embed="rId4">
                <a:alphaModFix amt="0"/>
              </a:blip>
              <a:stretch>
                <a:fillRect l="0" t="-44927" r="0" b="-44927"/>
              </a:stretch>
            </a:blipFill>
          </p:spPr>
        </p:sp>
        <p:sp>
          <p:nvSpPr>
            <p:cNvPr name="TextBox 18" id="18"/>
            <p:cNvSpPr txBox="true"/>
            <p:nvPr/>
          </p:nvSpPr>
          <p:spPr>
            <a:xfrm>
              <a:off x="0" y="-19050"/>
              <a:ext cx="6949440" cy="1445514"/>
            </a:xfrm>
            <a:prstGeom prst="rect">
              <a:avLst/>
            </a:prstGeom>
          </p:spPr>
          <p:txBody>
            <a:bodyPr anchor="ctr" rtlCol="false" tIns="0" lIns="0" bIns="0" rIns="0"/>
            <a:lstStyle/>
            <a:p>
              <a:pPr algn="l">
                <a:lnSpc>
                  <a:spcPts val="2700"/>
                </a:lnSpc>
              </a:pPr>
              <a:r>
                <a:rPr lang="en-US" sz="2250" b="true">
                  <a:solidFill>
                    <a:srgbClr val="1E2761"/>
                  </a:solidFill>
                  <a:latin typeface="Cambria Bold"/>
                  <a:ea typeface="Cambria Bold"/>
                  <a:cs typeface="Cambria Bold"/>
                  <a:sym typeface="Cambria Bold"/>
                </a:rPr>
                <a:t>Financial &amp; Procurement</a:t>
              </a:r>
            </a:p>
          </p:txBody>
        </p:sp>
      </p:grpSp>
      <p:grpSp>
        <p:nvGrpSpPr>
          <p:cNvPr name="Group 19" id="19"/>
          <p:cNvGrpSpPr/>
          <p:nvPr/>
        </p:nvGrpSpPr>
        <p:grpSpPr>
          <a:xfrm rot="0">
            <a:off x="7132320" y="2811780"/>
            <a:ext cx="9395460" cy="1069848"/>
            <a:chOff x="0" y="0"/>
            <a:chExt cx="12527280" cy="1426464"/>
          </a:xfrm>
        </p:grpSpPr>
        <p:sp>
          <p:nvSpPr>
            <p:cNvPr name="Freeform 20" id="20"/>
            <p:cNvSpPr/>
            <p:nvPr/>
          </p:nvSpPr>
          <p:spPr>
            <a:xfrm flipH="false" flipV="false" rot="0">
              <a:off x="0" y="0"/>
              <a:ext cx="12527280" cy="1426464"/>
            </a:xfrm>
            <a:custGeom>
              <a:avLst/>
              <a:gdLst/>
              <a:ahLst/>
              <a:cxnLst/>
              <a:rect r="r" b="b" t="t" l="l"/>
              <a:pathLst>
                <a:path h="1426464" w="12527280">
                  <a:moveTo>
                    <a:pt x="0" y="0"/>
                  </a:moveTo>
                  <a:lnTo>
                    <a:pt x="12527280" y="0"/>
                  </a:lnTo>
                  <a:lnTo>
                    <a:pt x="12527280" y="1426464"/>
                  </a:lnTo>
                  <a:lnTo>
                    <a:pt x="0" y="1426464"/>
                  </a:lnTo>
                  <a:close/>
                </a:path>
              </a:pathLst>
            </a:custGeom>
            <a:blipFill>
              <a:blip r:embed="rId4">
                <a:alphaModFix amt="0"/>
              </a:blip>
              <a:stretch>
                <a:fillRect l="0" t="-121118" r="0" b="-121118"/>
              </a:stretch>
            </a:blipFill>
          </p:spPr>
        </p:sp>
        <p:sp>
          <p:nvSpPr>
            <p:cNvPr name="TextBox 21" id="21"/>
            <p:cNvSpPr txBox="true"/>
            <p:nvPr/>
          </p:nvSpPr>
          <p:spPr>
            <a:xfrm>
              <a:off x="0" y="-38100"/>
              <a:ext cx="12527280" cy="1464564"/>
            </a:xfrm>
            <a:prstGeom prst="rect">
              <a:avLst/>
            </a:prstGeom>
          </p:spPr>
          <p:txBody>
            <a:bodyPr anchor="ctr" rtlCol="false" tIns="0" lIns="0" bIns="0" rIns="0"/>
            <a:lstStyle/>
            <a:p>
              <a:pPr algn="l">
                <a:lnSpc>
                  <a:spcPts val="2250"/>
                </a:lnSpc>
              </a:pPr>
              <a:r>
                <a:rPr lang="en-US" sz="1875">
                  <a:solidFill>
                    <a:srgbClr val="23262F"/>
                  </a:solidFill>
                  <a:latin typeface="Calibri (MS)"/>
                  <a:ea typeface="Calibri (MS)"/>
                  <a:cs typeface="Calibri (MS)"/>
                  <a:sym typeface="Calibri (MS)"/>
                </a:rPr>
                <a:t>Bidding irregularities, disallowed disbursements</a:t>
              </a:r>
            </a:p>
          </p:txBody>
        </p:sp>
      </p:grpSp>
      <p:grpSp>
        <p:nvGrpSpPr>
          <p:cNvPr name="Group 22" id="22"/>
          <p:cNvGrpSpPr/>
          <p:nvPr/>
        </p:nvGrpSpPr>
        <p:grpSpPr>
          <a:xfrm rot="0">
            <a:off x="1234440" y="4046220"/>
            <a:ext cx="15499080" cy="1069848"/>
            <a:chOff x="0" y="0"/>
            <a:chExt cx="20665440" cy="1426464"/>
          </a:xfrm>
        </p:grpSpPr>
        <p:sp>
          <p:nvSpPr>
            <p:cNvPr name="Freeform 23" id="23"/>
            <p:cNvSpPr/>
            <p:nvPr/>
          </p:nvSpPr>
          <p:spPr>
            <a:xfrm flipH="false" flipV="false" rot="0">
              <a:off x="0" y="0"/>
              <a:ext cx="20665441" cy="1426464"/>
            </a:xfrm>
            <a:custGeom>
              <a:avLst/>
              <a:gdLst/>
              <a:ahLst/>
              <a:cxnLst/>
              <a:rect r="r" b="b" t="t" l="l"/>
              <a:pathLst>
                <a:path h="1426464" w="20665441">
                  <a:moveTo>
                    <a:pt x="0" y="146304"/>
                  </a:moveTo>
                  <a:cubicBezTo>
                    <a:pt x="0" y="65532"/>
                    <a:pt x="65532" y="0"/>
                    <a:pt x="146304" y="0"/>
                  </a:cubicBezTo>
                  <a:lnTo>
                    <a:pt x="20519137" y="0"/>
                  </a:lnTo>
                  <a:cubicBezTo>
                    <a:pt x="20599908" y="0"/>
                    <a:pt x="20665441" y="65532"/>
                    <a:pt x="20665441" y="146304"/>
                  </a:cubicBezTo>
                  <a:lnTo>
                    <a:pt x="20665441" y="1280160"/>
                  </a:lnTo>
                  <a:cubicBezTo>
                    <a:pt x="20665441" y="1360932"/>
                    <a:pt x="20599908" y="1426464"/>
                    <a:pt x="20519137" y="1426464"/>
                  </a:cubicBezTo>
                  <a:lnTo>
                    <a:pt x="146304" y="1426464"/>
                  </a:lnTo>
                  <a:cubicBezTo>
                    <a:pt x="65532" y="1426464"/>
                    <a:pt x="0" y="1360932"/>
                    <a:pt x="0" y="1280160"/>
                  </a:cubicBezTo>
                  <a:close/>
                </a:path>
              </a:pathLst>
            </a:custGeom>
            <a:solidFill>
              <a:srgbClr val="F4F7FC"/>
            </a:solidFill>
          </p:spPr>
        </p:sp>
      </p:grpSp>
      <p:grpSp>
        <p:nvGrpSpPr>
          <p:cNvPr name="Group 24" id="24"/>
          <p:cNvGrpSpPr/>
          <p:nvPr/>
        </p:nvGrpSpPr>
        <p:grpSpPr>
          <a:xfrm rot="0">
            <a:off x="1234440" y="4046220"/>
            <a:ext cx="137160" cy="1069848"/>
            <a:chOff x="0" y="0"/>
            <a:chExt cx="182880" cy="1426464"/>
          </a:xfrm>
        </p:grpSpPr>
        <p:sp>
          <p:nvSpPr>
            <p:cNvPr name="Freeform 25" id="25"/>
            <p:cNvSpPr/>
            <p:nvPr/>
          </p:nvSpPr>
          <p:spPr>
            <a:xfrm flipH="false" flipV="false" rot="0">
              <a:off x="0" y="0"/>
              <a:ext cx="182880" cy="1426464"/>
            </a:xfrm>
            <a:custGeom>
              <a:avLst/>
              <a:gdLst/>
              <a:ahLst/>
              <a:cxnLst/>
              <a:rect r="r" b="b" t="t" l="l"/>
              <a:pathLst>
                <a:path h="1426464" w="182880">
                  <a:moveTo>
                    <a:pt x="0" y="30480"/>
                  </a:moveTo>
                  <a:cubicBezTo>
                    <a:pt x="0" y="13589"/>
                    <a:pt x="13589" y="0"/>
                    <a:pt x="30480" y="0"/>
                  </a:cubicBezTo>
                  <a:lnTo>
                    <a:pt x="152400" y="0"/>
                  </a:lnTo>
                  <a:cubicBezTo>
                    <a:pt x="169291" y="0"/>
                    <a:pt x="182880" y="13589"/>
                    <a:pt x="182880" y="30480"/>
                  </a:cubicBezTo>
                  <a:lnTo>
                    <a:pt x="182880" y="1395984"/>
                  </a:lnTo>
                  <a:cubicBezTo>
                    <a:pt x="182880" y="1412875"/>
                    <a:pt x="169291" y="1426464"/>
                    <a:pt x="152400" y="1426464"/>
                  </a:cubicBezTo>
                  <a:lnTo>
                    <a:pt x="30480" y="1426464"/>
                  </a:lnTo>
                  <a:cubicBezTo>
                    <a:pt x="13589" y="1426464"/>
                    <a:pt x="0" y="1412875"/>
                    <a:pt x="0" y="1395984"/>
                  </a:cubicBezTo>
                  <a:close/>
                </a:path>
              </a:pathLst>
            </a:custGeom>
            <a:solidFill>
              <a:srgbClr val="1E2761"/>
            </a:solidFill>
          </p:spPr>
        </p:sp>
      </p:grpSp>
      <p:grpSp>
        <p:nvGrpSpPr>
          <p:cNvPr name="Group 26" id="26"/>
          <p:cNvGrpSpPr/>
          <p:nvPr/>
        </p:nvGrpSpPr>
        <p:grpSpPr>
          <a:xfrm rot="0">
            <a:off x="1714500" y="4046220"/>
            <a:ext cx="5212080" cy="1069848"/>
            <a:chOff x="0" y="0"/>
            <a:chExt cx="6949440" cy="1426464"/>
          </a:xfrm>
        </p:grpSpPr>
        <p:sp>
          <p:nvSpPr>
            <p:cNvPr name="Freeform 27" id="27"/>
            <p:cNvSpPr/>
            <p:nvPr/>
          </p:nvSpPr>
          <p:spPr>
            <a:xfrm flipH="false" flipV="false" rot="0">
              <a:off x="0" y="0"/>
              <a:ext cx="6949440" cy="1426464"/>
            </a:xfrm>
            <a:custGeom>
              <a:avLst/>
              <a:gdLst/>
              <a:ahLst/>
              <a:cxnLst/>
              <a:rect r="r" b="b" t="t" l="l"/>
              <a:pathLst>
                <a:path h="1426464" w="6949440">
                  <a:moveTo>
                    <a:pt x="0" y="0"/>
                  </a:moveTo>
                  <a:lnTo>
                    <a:pt x="6949440" y="0"/>
                  </a:lnTo>
                  <a:lnTo>
                    <a:pt x="6949440" y="1426464"/>
                  </a:lnTo>
                  <a:lnTo>
                    <a:pt x="0" y="1426464"/>
                  </a:lnTo>
                  <a:close/>
                </a:path>
              </a:pathLst>
            </a:custGeom>
            <a:blipFill>
              <a:blip r:embed="rId4">
                <a:alphaModFix amt="0"/>
              </a:blip>
              <a:stretch>
                <a:fillRect l="0" t="-44927" r="0" b="-44927"/>
              </a:stretch>
            </a:blipFill>
          </p:spPr>
        </p:sp>
        <p:sp>
          <p:nvSpPr>
            <p:cNvPr name="TextBox 28" id="28"/>
            <p:cNvSpPr txBox="true"/>
            <p:nvPr/>
          </p:nvSpPr>
          <p:spPr>
            <a:xfrm>
              <a:off x="0" y="-19050"/>
              <a:ext cx="6949440" cy="1445514"/>
            </a:xfrm>
            <a:prstGeom prst="rect">
              <a:avLst/>
            </a:prstGeom>
          </p:spPr>
          <p:txBody>
            <a:bodyPr anchor="ctr" rtlCol="false" tIns="0" lIns="0" bIns="0" rIns="0"/>
            <a:lstStyle/>
            <a:p>
              <a:pPr algn="l">
                <a:lnSpc>
                  <a:spcPts val="2700"/>
                </a:lnSpc>
              </a:pPr>
              <a:r>
                <a:rPr lang="en-US" sz="2250" b="true">
                  <a:solidFill>
                    <a:srgbClr val="1E2761"/>
                  </a:solidFill>
                  <a:latin typeface="Cambria Bold"/>
                  <a:ea typeface="Cambria Bold"/>
                  <a:cs typeface="Cambria Bold"/>
                  <a:sym typeface="Cambria Bold"/>
                </a:rPr>
                <a:t>Service Continuity</a:t>
              </a:r>
            </a:p>
          </p:txBody>
        </p:sp>
      </p:grpSp>
      <p:grpSp>
        <p:nvGrpSpPr>
          <p:cNvPr name="Group 29" id="29"/>
          <p:cNvGrpSpPr/>
          <p:nvPr/>
        </p:nvGrpSpPr>
        <p:grpSpPr>
          <a:xfrm rot="0">
            <a:off x="7132320" y="4046220"/>
            <a:ext cx="9395460" cy="1069848"/>
            <a:chOff x="0" y="0"/>
            <a:chExt cx="12527280" cy="1426464"/>
          </a:xfrm>
        </p:grpSpPr>
        <p:sp>
          <p:nvSpPr>
            <p:cNvPr name="Freeform 30" id="30"/>
            <p:cNvSpPr/>
            <p:nvPr/>
          </p:nvSpPr>
          <p:spPr>
            <a:xfrm flipH="false" flipV="false" rot="0">
              <a:off x="0" y="0"/>
              <a:ext cx="12527280" cy="1426464"/>
            </a:xfrm>
            <a:custGeom>
              <a:avLst/>
              <a:gdLst/>
              <a:ahLst/>
              <a:cxnLst/>
              <a:rect r="r" b="b" t="t" l="l"/>
              <a:pathLst>
                <a:path h="1426464" w="12527280">
                  <a:moveTo>
                    <a:pt x="0" y="0"/>
                  </a:moveTo>
                  <a:lnTo>
                    <a:pt x="12527280" y="0"/>
                  </a:lnTo>
                  <a:lnTo>
                    <a:pt x="12527280" y="1426464"/>
                  </a:lnTo>
                  <a:lnTo>
                    <a:pt x="0" y="1426464"/>
                  </a:lnTo>
                  <a:close/>
                </a:path>
              </a:pathLst>
            </a:custGeom>
            <a:blipFill>
              <a:blip r:embed="rId4">
                <a:alphaModFix amt="0"/>
              </a:blip>
              <a:stretch>
                <a:fillRect l="0" t="-121118" r="0" b="-121118"/>
              </a:stretch>
            </a:blipFill>
          </p:spPr>
        </p:sp>
        <p:sp>
          <p:nvSpPr>
            <p:cNvPr name="TextBox 31" id="31"/>
            <p:cNvSpPr txBox="true"/>
            <p:nvPr/>
          </p:nvSpPr>
          <p:spPr>
            <a:xfrm>
              <a:off x="0" y="-38100"/>
              <a:ext cx="12527280" cy="1464564"/>
            </a:xfrm>
            <a:prstGeom prst="rect">
              <a:avLst/>
            </a:prstGeom>
          </p:spPr>
          <p:txBody>
            <a:bodyPr anchor="ctr" rtlCol="false" tIns="0" lIns="0" bIns="0" rIns="0"/>
            <a:lstStyle/>
            <a:p>
              <a:pPr algn="l">
                <a:lnSpc>
                  <a:spcPts val="2250"/>
                </a:lnSpc>
              </a:pPr>
              <a:r>
                <a:rPr lang="en-US" sz="1875">
                  <a:solidFill>
                    <a:srgbClr val="23262F"/>
                  </a:solidFill>
                  <a:latin typeface="Calibri (MS)"/>
                  <a:ea typeface="Calibri (MS)"/>
                  <a:cs typeface="Calibri (MS)"/>
                  <a:sym typeface="Calibri (MS)"/>
                </a:rPr>
                <a:t>A payment portal or permit system going down</a:t>
              </a:r>
            </a:p>
          </p:txBody>
        </p:sp>
      </p:grpSp>
      <p:grpSp>
        <p:nvGrpSpPr>
          <p:cNvPr name="Group 32" id="32"/>
          <p:cNvGrpSpPr/>
          <p:nvPr/>
        </p:nvGrpSpPr>
        <p:grpSpPr>
          <a:xfrm rot="0">
            <a:off x="1234440" y="5280660"/>
            <a:ext cx="15499080" cy="1069848"/>
            <a:chOff x="0" y="0"/>
            <a:chExt cx="20665440" cy="1426464"/>
          </a:xfrm>
        </p:grpSpPr>
        <p:sp>
          <p:nvSpPr>
            <p:cNvPr name="Freeform 33" id="33"/>
            <p:cNvSpPr/>
            <p:nvPr/>
          </p:nvSpPr>
          <p:spPr>
            <a:xfrm flipH="false" flipV="false" rot="0">
              <a:off x="0" y="0"/>
              <a:ext cx="20665441" cy="1426464"/>
            </a:xfrm>
            <a:custGeom>
              <a:avLst/>
              <a:gdLst/>
              <a:ahLst/>
              <a:cxnLst/>
              <a:rect r="r" b="b" t="t" l="l"/>
              <a:pathLst>
                <a:path h="1426464" w="20665441">
                  <a:moveTo>
                    <a:pt x="0" y="146304"/>
                  </a:moveTo>
                  <a:cubicBezTo>
                    <a:pt x="0" y="65532"/>
                    <a:pt x="65532" y="0"/>
                    <a:pt x="146304" y="0"/>
                  </a:cubicBezTo>
                  <a:lnTo>
                    <a:pt x="20519137" y="0"/>
                  </a:lnTo>
                  <a:cubicBezTo>
                    <a:pt x="20599908" y="0"/>
                    <a:pt x="20665441" y="65532"/>
                    <a:pt x="20665441" y="146304"/>
                  </a:cubicBezTo>
                  <a:lnTo>
                    <a:pt x="20665441" y="1280160"/>
                  </a:lnTo>
                  <a:cubicBezTo>
                    <a:pt x="20665441" y="1360932"/>
                    <a:pt x="20599908" y="1426464"/>
                    <a:pt x="20519137" y="1426464"/>
                  </a:cubicBezTo>
                  <a:lnTo>
                    <a:pt x="146304" y="1426464"/>
                  </a:lnTo>
                  <a:cubicBezTo>
                    <a:pt x="65532" y="1426464"/>
                    <a:pt x="0" y="1360932"/>
                    <a:pt x="0" y="1280160"/>
                  </a:cubicBezTo>
                  <a:close/>
                </a:path>
              </a:pathLst>
            </a:custGeom>
            <a:solidFill>
              <a:srgbClr val="F4F7FC"/>
            </a:solidFill>
          </p:spPr>
        </p:sp>
      </p:grpSp>
      <p:grpSp>
        <p:nvGrpSpPr>
          <p:cNvPr name="Group 34" id="34"/>
          <p:cNvGrpSpPr/>
          <p:nvPr/>
        </p:nvGrpSpPr>
        <p:grpSpPr>
          <a:xfrm rot="0">
            <a:off x="1234440" y="5280660"/>
            <a:ext cx="137160" cy="1069848"/>
            <a:chOff x="0" y="0"/>
            <a:chExt cx="182880" cy="1426464"/>
          </a:xfrm>
        </p:grpSpPr>
        <p:sp>
          <p:nvSpPr>
            <p:cNvPr name="Freeform 35" id="35"/>
            <p:cNvSpPr/>
            <p:nvPr/>
          </p:nvSpPr>
          <p:spPr>
            <a:xfrm flipH="false" flipV="false" rot="0">
              <a:off x="0" y="0"/>
              <a:ext cx="182880" cy="1426464"/>
            </a:xfrm>
            <a:custGeom>
              <a:avLst/>
              <a:gdLst/>
              <a:ahLst/>
              <a:cxnLst/>
              <a:rect r="r" b="b" t="t" l="l"/>
              <a:pathLst>
                <a:path h="1426464" w="182880">
                  <a:moveTo>
                    <a:pt x="0" y="30480"/>
                  </a:moveTo>
                  <a:cubicBezTo>
                    <a:pt x="0" y="13589"/>
                    <a:pt x="13589" y="0"/>
                    <a:pt x="30480" y="0"/>
                  </a:cubicBezTo>
                  <a:lnTo>
                    <a:pt x="152400" y="0"/>
                  </a:lnTo>
                  <a:cubicBezTo>
                    <a:pt x="169291" y="0"/>
                    <a:pt x="182880" y="13589"/>
                    <a:pt x="182880" y="30480"/>
                  </a:cubicBezTo>
                  <a:lnTo>
                    <a:pt x="182880" y="1395984"/>
                  </a:lnTo>
                  <a:cubicBezTo>
                    <a:pt x="182880" y="1412875"/>
                    <a:pt x="169291" y="1426464"/>
                    <a:pt x="152400" y="1426464"/>
                  </a:cubicBezTo>
                  <a:lnTo>
                    <a:pt x="30480" y="1426464"/>
                  </a:lnTo>
                  <a:cubicBezTo>
                    <a:pt x="13589" y="1426464"/>
                    <a:pt x="0" y="1412875"/>
                    <a:pt x="0" y="1395984"/>
                  </a:cubicBezTo>
                  <a:close/>
                </a:path>
              </a:pathLst>
            </a:custGeom>
            <a:solidFill>
              <a:srgbClr val="1E2761"/>
            </a:solidFill>
          </p:spPr>
        </p:sp>
      </p:grpSp>
      <p:grpSp>
        <p:nvGrpSpPr>
          <p:cNvPr name="Group 36" id="36"/>
          <p:cNvGrpSpPr/>
          <p:nvPr/>
        </p:nvGrpSpPr>
        <p:grpSpPr>
          <a:xfrm rot="0">
            <a:off x="1714500" y="5280660"/>
            <a:ext cx="5212080" cy="1069848"/>
            <a:chOff x="0" y="0"/>
            <a:chExt cx="6949440" cy="1426464"/>
          </a:xfrm>
        </p:grpSpPr>
        <p:sp>
          <p:nvSpPr>
            <p:cNvPr name="Freeform 37" id="37"/>
            <p:cNvSpPr/>
            <p:nvPr/>
          </p:nvSpPr>
          <p:spPr>
            <a:xfrm flipH="false" flipV="false" rot="0">
              <a:off x="0" y="0"/>
              <a:ext cx="6949440" cy="1426464"/>
            </a:xfrm>
            <a:custGeom>
              <a:avLst/>
              <a:gdLst/>
              <a:ahLst/>
              <a:cxnLst/>
              <a:rect r="r" b="b" t="t" l="l"/>
              <a:pathLst>
                <a:path h="1426464" w="6949440">
                  <a:moveTo>
                    <a:pt x="0" y="0"/>
                  </a:moveTo>
                  <a:lnTo>
                    <a:pt x="6949440" y="0"/>
                  </a:lnTo>
                  <a:lnTo>
                    <a:pt x="6949440" y="1426464"/>
                  </a:lnTo>
                  <a:lnTo>
                    <a:pt x="0" y="1426464"/>
                  </a:lnTo>
                  <a:close/>
                </a:path>
              </a:pathLst>
            </a:custGeom>
            <a:blipFill>
              <a:blip r:embed="rId4">
                <a:alphaModFix amt="0"/>
              </a:blip>
              <a:stretch>
                <a:fillRect l="0" t="-44927" r="0" b="-44927"/>
              </a:stretch>
            </a:blipFill>
          </p:spPr>
        </p:sp>
        <p:sp>
          <p:nvSpPr>
            <p:cNvPr name="TextBox 38" id="38"/>
            <p:cNvSpPr txBox="true"/>
            <p:nvPr/>
          </p:nvSpPr>
          <p:spPr>
            <a:xfrm>
              <a:off x="0" y="-19050"/>
              <a:ext cx="6949440" cy="1445514"/>
            </a:xfrm>
            <a:prstGeom prst="rect">
              <a:avLst/>
            </a:prstGeom>
          </p:spPr>
          <p:txBody>
            <a:bodyPr anchor="ctr" rtlCol="false" tIns="0" lIns="0" bIns="0" rIns="0"/>
            <a:lstStyle/>
            <a:p>
              <a:pPr algn="l">
                <a:lnSpc>
                  <a:spcPts val="2700"/>
                </a:lnSpc>
              </a:pPr>
              <a:r>
                <a:rPr lang="en-US" sz="2250" b="true">
                  <a:solidFill>
                    <a:srgbClr val="1E2761"/>
                  </a:solidFill>
                  <a:latin typeface="Cambria Bold"/>
                  <a:ea typeface="Cambria Bold"/>
                  <a:cs typeface="Cambria Bold"/>
                  <a:sym typeface="Cambria Bold"/>
                </a:rPr>
                <a:t>Compliance &amp; Privacy</a:t>
              </a:r>
            </a:p>
          </p:txBody>
        </p:sp>
      </p:grpSp>
      <p:grpSp>
        <p:nvGrpSpPr>
          <p:cNvPr name="Group 39" id="39"/>
          <p:cNvGrpSpPr/>
          <p:nvPr/>
        </p:nvGrpSpPr>
        <p:grpSpPr>
          <a:xfrm rot="0">
            <a:off x="7132320" y="5280660"/>
            <a:ext cx="9395460" cy="1069848"/>
            <a:chOff x="0" y="0"/>
            <a:chExt cx="12527280" cy="1426464"/>
          </a:xfrm>
        </p:grpSpPr>
        <p:sp>
          <p:nvSpPr>
            <p:cNvPr name="Freeform 40" id="40"/>
            <p:cNvSpPr/>
            <p:nvPr/>
          </p:nvSpPr>
          <p:spPr>
            <a:xfrm flipH="false" flipV="false" rot="0">
              <a:off x="0" y="0"/>
              <a:ext cx="12527280" cy="1426464"/>
            </a:xfrm>
            <a:custGeom>
              <a:avLst/>
              <a:gdLst/>
              <a:ahLst/>
              <a:cxnLst/>
              <a:rect r="r" b="b" t="t" l="l"/>
              <a:pathLst>
                <a:path h="1426464" w="12527280">
                  <a:moveTo>
                    <a:pt x="0" y="0"/>
                  </a:moveTo>
                  <a:lnTo>
                    <a:pt x="12527280" y="0"/>
                  </a:lnTo>
                  <a:lnTo>
                    <a:pt x="12527280" y="1426464"/>
                  </a:lnTo>
                  <a:lnTo>
                    <a:pt x="0" y="1426464"/>
                  </a:lnTo>
                  <a:close/>
                </a:path>
              </a:pathLst>
            </a:custGeom>
            <a:blipFill>
              <a:blip r:embed="rId4">
                <a:alphaModFix amt="0"/>
              </a:blip>
              <a:stretch>
                <a:fillRect l="0" t="-121118" r="0" b="-121118"/>
              </a:stretch>
            </a:blipFill>
          </p:spPr>
        </p:sp>
        <p:sp>
          <p:nvSpPr>
            <p:cNvPr name="TextBox 41" id="41"/>
            <p:cNvSpPr txBox="true"/>
            <p:nvPr/>
          </p:nvSpPr>
          <p:spPr>
            <a:xfrm>
              <a:off x="0" y="-38100"/>
              <a:ext cx="12527280" cy="1464564"/>
            </a:xfrm>
            <a:prstGeom prst="rect">
              <a:avLst/>
            </a:prstGeom>
          </p:spPr>
          <p:txBody>
            <a:bodyPr anchor="ctr" rtlCol="false" tIns="0" lIns="0" bIns="0" rIns="0"/>
            <a:lstStyle/>
            <a:p>
              <a:pPr algn="l">
                <a:lnSpc>
                  <a:spcPts val="2250"/>
                </a:lnSpc>
              </a:pPr>
              <a:r>
                <a:rPr lang="en-US" sz="1875">
                  <a:solidFill>
                    <a:srgbClr val="23262F"/>
                  </a:solidFill>
                  <a:latin typeface="Calibri (MS)"/>
                  <a:ea typeface="Calibri (MS)"/>
                  <a:cs typeface="Calibri (MS)"/>
                  <a:sym typeface="Calibri (MS)"/>
                </a:rPr>
                <a:t>RA 10173 (Data Privacy Act), NPC requirements</a:t>
              </a:r>
            </a:p>
          </p:txBody>
        </p:sp>
      </p:grpSp>
      <p:grpSp>
        <p:nvGrpSpPr>
          <p:cNvPr name="Group 42" id="42"/>
          <p:cNvGrpSpPr/>
          <p:nvPr/>
        </p:nvGrpSpPr>
        <p:grpSpPr>
          <a:xfrm rot="0">
            <a:off x="1234440" y="6515100"/>
            <a:ext cx="15499080" cy="1069848"/>
            <a:chOff x="0" y="0"/>
            <a:chExt cx="20665440" cy="1426464"/>
          </a:xfrm>
        </p:grpSpPr>
        <p:sp>
          <p:nvSpPr>
            <p:cNvPr name="Freeform 43" id="43"/>
            <p:cNvSpPr/>
            <p:nvPr/>
          </p:nvSpPr>
          <p:spPr>
            <a:xfrm flipH="false" flipV="false" rot="0">
              <a:off x="0" y="0"/>
              <a:ext cx="20665441" cy="1426464"/>
            </a:xfrm>
            <a:custGeom>
              <a:avLst/>
              <a:gdLst/>
              <a:ahLst/>
              <a:cxnLst/>
              <a:rect r="r" b="b" t="t" l="l"/>
              <a:pathLst>
                <a:path h="1426464" w="20665441">
                  <a:moveTo>
                    <a:pt x="0" y="146304"/>
                  </a:moveTo>
                  <a:cubicBezTo>
                    <a:pt x="0" y="65532"/>
                    <a:pt x="65532" y="0"/>
                    <a:pt x="146304" y="0"/>
                  </a:cubicBezTo>
                  <a:lnTo>
                    <a:pt x="20519137" y="0"/>
                  </a:lnTo>
                  <a:cubicBezTo>
                    <a:pt x="20599908" y="0"/>
                    <a:pt x="20665441" y="65532"/>
                    <a:pt x="20665441" y="146304"/>
                  </a:cubicBezTo>
                  <a:lnTo>
                    <a:pt x="20665441" y="1280160"/>
                  </a:lnTo>
                  <a:cubicBezTo>
                    <a:pt x="20665441" y="1360932"/>
                    <a:pt x="20599908" y="1426464"/>
                    <a:pt x="20519137" y="1426464"/>
                  </a:cubicBezTo>
                  <a:lnTo>
                    <a:pt x="146304" y="1426464"/>
                  </a:lnTo>
                  <a:cubicBezTo>
                    <a:pt x="65532" y="1426464"/>
                    <a:pt x="0" y="1360932"/>
                    <a:pt x="0" y="1280160"/>
                  </a:cubicBezTo>
                  <a:close/>
                </a:path>
              </a:pathLst>
            </a:custGeom>
            <a:solidFill>
              <a:srgbClr val="F4F7FC"/>
            </a:solidFill>
          </p:spPr>
        </p:sp>
      </p:grpSp>
      <p:grpSp>
        <p:nvGrpSpPr>
          <p:cNvPr name="Group 44" id="44"/>
          <p:cNvGrpSpPr/>
          <p:nvPr/>
        </p:nvGrpSpPr>
        <p:grpSpPr>
          <a:xfrm rot="0">
            <a:off x="1234440" y="6515100"/>
            <a:ext cx="137160" cy="1069848"/>
            <a:chOff x="0" y="0"/>
            <a:chExt cx="182880" cy="1426464"/>
          </a:xfrm>
        </p:grpSpPr>
        <p:sp>
          <p:nvSpPr>
            <p:cNvPr name="Freeform 45" id="45"/>
            <p:cNvSpPr/>
            <p:nvPr/>
          </p:nvSpPr>
          <p:spPr>
            <a:xfrm flipH="false" flipV="false" rot="0">
              <a:off x="0" y="0"/>
              <a:ext cx="182880" cy="1426464"/>
            </a:xfrm>
            <a:custGeom>
              <a:avLst/>
              <a:gdLst/>
              <a:ahLst/>
              <a:cxnLst/>
              <a:rect r="r" b="b" t="t" l="l"/>
              <a:pathLst>
                <a:path h="1426464" w="182880">
                  <a:moveTo>
                    <a:pt x="0" y="30480"/>
                  </a:moveTo>
                  <a:cubicBezTo>
                    <a:pt x="0" y="13589"/>
                    <a:pt x="13589" y="0"/>
                    <a:pt x="30480" y="0"/>
                  </a:cubicBezTo>
                  <a:lnTo>
                    <a:pt x="152400" y="0"/>
                  </a:lnTo>
                  <a:cubicBezTo>
                    <a:pt x="169291" y="0"/>
                    <a:pt x="182880" y="13589"/>
                    <a:pt x="182880" y="30480"/>
                  </a:cubicBezTo>
                  <a:lnTo>
                    <a:pt x="182880" y="1395984"/>
                  </a:lnTo>
                  <a:cubicBezTo>
                    <a:pt x="182880" y="1412875"/>
                    <a:pt x="169291" y="1426464"/>
                    <a:pt x="152400" y="1426464"/>
                  </a:cubicBezTo>
                  <a:lnTo>
                    <a:pt x="30480" y="1426464"/>
                  </a:lnTo>
                  <a:cubicBezTo>
                    <a:pt x="13589" y="1426464"/>
                    <a:pt x="0" y="1412875"/>
                    <a:pt x="0" y="1395984"/>
                  </a:cubicBezTo>
                  <a:close/>
                </a:path>
              </a:pathLst>
            </a:custGeom>
            <a:solidFill>
              <a:srgbClr val="1E2761"/>
            </a:solidFill>
          </p:spPr>
        </p:sp>
      </p:grpSp>
      <p:grpSp>
        <p:nvGrpSpPr>
          <p:cNvPr name="Group 46" id="46"/>
          <p:cNvGrpSpPr/>
          <p:nvPr/>
        </p:nvGrpSpPr>
        <p:grpSpPr>
          <a:xfrm rot="0">
            <a:off x="1714500" y="6515100"/>
            <a:ext cx="5212080" cy="1069848"/>
            <a:chOff x="0" y="0"/>
            <a:chExt cx="6949440" cy="1426464"/>
          </a:xfrm>
        </p:grpSpPr>
        <p:sp>
          <p:nvSpPr>
            <p:cNvPr name="Freeform 47" id="47"/>
            <p:cNvSpPr/>
            <p:nvPr/>
          </p:nvSpPr>
          <p:spPr>
            <a:xfrm flipH="false" flipV="false" rot="0">
              <a:off x="0" y="0"/>
              <a:ext cx="6949440" cy="1426464"/>
            </a:xfrm>
            <a:custGeom>
              <a:avLst/>
              <a:gdLst/>
              <a:ahLst/>
              <a:cxnLst/>
              <a:rect r="r" b="b" t="t" l="l"/>
              <a:pathLst>
                <a:path h="1426464" w="6949440">
                  <a:moveTo>
                    <a:pt x="0" y="0"/>
                  </a:moveTo>
                  <a:lnTo>
                    <a:pt x="6949440" y="0"/>
                  </a:lnTo>
                  <a:lnTo>
                    <a:pt x="6949440" y="1426464"/>
                  </a:lnTo>
                  <a:lnTo>
                    <a:pt x="0" y="1426464"/>
                  </a:lnTo>
                  <a:close/>
                </a:path>
              </a:pathLst>
            </a:custGeom>
            <a:blipFill>
              <a:blip r:embed="rId4">
                <a:alphaModFix amt="0"/>
              </a:blip>
              <a:stretch>
                <a:fillRect l="0" t="-44927" r="0" b="-44927"/>
              </a:stretch>
            </a:blipFill>
          </p:spPr>
        </p:sp>
        <p:sp>
          <p:nvSpPr>
            <p:cNvPr name="TextBox 48" id="48"/>
            <p:cNvSpPr txBox="true"/>
            <p:nvPr/>
          </p:nvSpPr>
          <p:spPr>
            <a:xfrm>
              <a:off x="0" y="-19050"/>
              <a:ext cx="6949440" cy="1445514"/>
            </a:xfrm>
            <a:prstGeom prst="rect">
              <a:avLst/>
            </a:prstGeom>
          </p:spPr>
          <p:txBody>
            <a:bodyPr anchor="ctr" rtlCol="false" tIns="0" lIns="0" bIns="0" rIns="0"/>
            <a:lstStyle/>
            <a:p>
              <a:pPr algn="l">
                <a:lnSpc>
                  <a:spcPts val="2700"/>
                </a:lnSpc>
              </a:pPr>
              <a:r>
                <a:rPr lang="en-US" sz="2250" b="true">
                  <a:solidFill>
                    <a:srgbClr val="1E2761"/>
                  </a:solidFill>
                  <a:latin typeface="Cambria Bold"/>
                  <a:ea typeface="Cambria Bold"/>
                  <a:cs typeface="Cambria Bold"/>
                  <a:sym typeface="Cambria Bold"/>
                </a:rPr>
                <a:t>Reputational</a:t>
              </a:r>
            </a:p>
          </p:txBody>
        </p:sp>
      </p:grpSp>
      <p:grpSp>
        <p:nvGrpSpPr>
          <p:cNvPr name="Group 49" id="49"/>
          <p:cNvGrpSpPr/>
          <p:nvPr/>
        </p:nvGrpSpPr>
        <p:grpSpPr>
          <a:xfrm rot="0">
            <a:off x="7132320" y="6515100"/>
            <a:ext cx="9395460" cy="1069848"/>
            <a:chOff x="0" y="0"/>
            <a:chExt cx="12527280" cy="1426464"/>
          </a:xfrm>
        </p:grpSpPr>
        <p:sp>
          <p:nvSpPr>
            <p:cNvPr name="Freeform 50" id="50"/>
            <p:cNvSpPr/>
            <p:nvPr/>
          </p:nvSpPr>
          <p:spPr>
            <a:xfrm flipH="false" flipV="false" rot="0">
              <a:off x="0" y="0"/>
              <a:ext cx="12527280" cy="1426464"/>
            </a:xfrm>
            <a:custGeom>
              <a:avLst/>
              <a:gdLst/>
              <a:ahLst/>
              <a:cxnLst/>
              <a:rect r="r" b="b" t="t" l="l"/>
              <a:pathLst>
                <a:path h="1426464" w="12527280">
                  <a:moveTo>
                    <a:pt x="0" y="0"/>
                  </a:moveTo>
                  <a:lnTo>
                    <a:pt x="12527280" y="0"/>
                  </a:lnTo>
                  <a:lnTo>
                    <a:pt x="12527280" y="1426464"/>
                  </a:lnTo>
                  <a:lnTo>
                    <a:pt x="0" y="1426464"/>
                  </a:lnTo>
                  <a:close/>
                </a:path>
              </a:pathLst>
            </a:custGeom>
            <a:blipFill>
              <a:blip r:embed="rId4">
                <a:alphaModFix amt="0"/>
              </a:blip>
              <a:stretch>
                <a:fillRect l="0" t="-121118" r="0" b="-121118"/>
              </a:stretch>
            </a:blipFill>
          </p:spPr>
        </p:sp>
        <p:sp>
          <p:nvSpPr>
            <p:cNvPr name="TextBox 51" id="51"/>
            <p:cNvSpPr txBox="true"/>
            <p:nvPr/>
          </p:nvSpPr>
          <p:spPr>
            <a:xfrm>
              <a:off x="0" y="-38100"/>
              <a:ext cx="12527280" cy="1464564"/>
            </a:xfrm>
            <a:prstGeom prst="rect">
              <a:avLst/>
            </a:prstGeom>
          </p:spPr>
          <p:txBody>
            <a:bodyPr anchor="ctr" rtlCol="false" tIns="0" lIns="0" bIns="0" rIns="0"/>
            <a:lstStyle/>
            <a:p>
              <a:pPr algn="l">
                <a:lnSpc>
                  <a:spcPts val="2250"/>
                </a:lnSpc>
              </a:pPr>
              <a:r>
                <a:rPr lang="en-US" sz="1875">
                  <a:solidFill>
                    <a:srgbClr val="23262F"/>
                  </a:solidFill>
                  <a:latin typeface="Calibri (MS)"/>
                  <a:ea typeface="Calibri (MS)"/>
                  <a:cs typeface="Calibri (MS)"/>
                  <a:sym typeface="Calibri (MS)"/>
                </a:rPr>
                <a:t>Public trust after a leak, outage, or scandal</a:t>
              </a:r>
            </a:p>
          </p:txBody>
        </p:sp>
      </p:grpSp>
      <p:grpSp>
        <p:nvGrpSpPr>
          <p:cNvPr name="Group 52" id="52"/>
          <p:cNvGrpSpPr/>
          <p:nvPr/>
        </p:nvGrpSpPr>
        <p:grpSpPr>
          <a:xfrm rot="0">
            <a:off x="1234440" y="7749540"/>
            <a:ext cx="15499080" cy="1069848"/>
            <a:chOff x="0" y="0"/>
            <a:chExt cx="20665440" cy="1426464"/>
          </a:xfrm>
        </p:grpSpPr>
        <p:sp>
          <p:nvSpPr>
            <p:cNvPr name="Freeform 53" id="53"/>
            <p:cNvSpPr/>
            <p:nvPr/>
          </p:nvSpPr>
          <p:spPr>
            <a:xfrm flipH="false" flipV="false" rot="0">
              <a:off x="0" y="0"/>
              <a:ext cx="20665441" cy="1426464"/>
            </a:xfrm>
            <a:custGeom>
              <a:avLst/>
              <a:gdLst/>
              <a:ahLst/>
              <a:cxnLst/>
              <a:rect r="r" b="b" t="t" l="l"/>
              <a:pathLst>
                <a:path h="1426464" w="20665441">
                  <a:moveTo>
                    <a:pt x="0" y="146304"/>
                  </a:moveTo>
                  <a:cubicBezTo>
                    <a:pt x="0" y="65532"/>
                    <a:pt x="65532" y="0"/>
                    <a:pt x="146304" y="0"/>
                  </a:cubicBezTo>
                  <a:lnTo>
                    <a:pt x="20519137" y="0"/>
                  </a:lnTo>
                  <a:cubicBezTo>
                    <a:pt x="20599908" y="0"/>
                    <a:pt x="20665441" y="65532"/>
                    <a:pt x="20665441" y="146304"/>
                  </a:cubicBezTo>
                  <a:lnTo>
                    <a:pt x="20665441" y="1280160"/>
                  </a:lnTo>
                  <a:cubicBezTo>
                    <a:pt x="20665441" y="1360932"/>
                    <a:pt x="20599908" y="1426464"/>
                    <a:pt x="20519137" y="1426464"/>
                  </a:cubicBezTo>
                  <a:lnTo>
                    <a:pt x="146304" y="1426464"/>
                  </a:lnTo>
                  <a:cubicBezTo>
                    <a:pt x="65532" y="1426464"/>
                    <a:pt x="0" y="1360932"/>
                    <a:pt x="0" y="1280160"/>
                  </a:cubicBezTo>
                  <a:close/>
                </a:path>
              </a:pathLst>
            </a:custGeom>
            <a:solidFill>
              <a:srgbClr val="F4F7FC"/>
            </a:solidFill>
          </p:spPr>
        </p:sp>
      </p:grpSp>
      <p:grpSp>
        <p:nvGrpSpPr>
          <p:cNvPr name="Group 54" id="54"/>
          <p:cNvGrpSpPr/>
          <p:nvPr/>
        </p:nvGrpSpPr>
        <p:grpSpPr>
          <a:xfrm rot="0">
            <a:off x="1234440" y="7749540"/>
            <a:ext cx="137160" cy="1069848"/>
            <a:chOff x="0" y="0"/>
            <a:chExt cx="182880" cy="1426464"/>
          </a:xfrm>
        </p:grpSpPr>
        <p:sp>
          <p:nvSpPr>
            <p:cNvPr name="Freeform 55" id="55"/>
            <p:cNvSpPr/>
            <p:nvPr/>
          </p:nvSpPr>
          <p:spPr>
            <a:xfrm flipH="false" flipV="false" rot="0">
              <a:off x="0" y="0"/>
              <a:ext cx="182880" cy="1426464"/>
            </a:xfrm>
            <a:custGeom>
              <a:avLst/>
              <a:gdLst/>
              <a:ahLst/>
              <a:cxnLst/>
              <a:rect r="r" b="b" t="t" l="l"/>
              <a:pathLst>
                <a:path h="1426464" w="182880">
                  <a:moveTo>
                    <a:pt x="0" y="30480"/>
                  </a:moveTo>
                  <a:cubicBezTo>
                    <a:pt x="0" y="13589"/>
                    <a:pt x="13589" y="0"/>
                    <a:pt x="30480" y="0"/>
                  </a:cubicBezTo>
                  <a:lnTo>
                    <a:pt x="152400" y="0"/>
                  </a:lnTo>
                  <a:cubicBezTo>
                    <a:pt x="169291" y="0"/>
                    <a:pt x="182880" y="13589"/>
                    <a:pt x="182880" y="30480"/>
                  </a:cubicBezTo>
                  <a:lnTo>
                    <a:pt x="182880" y="1395984"/>
                  </a:lnTo>
                  <a:cubicBezTo>
                    <a:pt x="182880" y="1412875"/>
                    <a:pt x="169291" y="1426464"/>
                    <a:pt x="152400" y="1426464"/>
                  </a:cubicBezTo>
                  <a:lnTo>
                    <a:pt x="30480" y="1426464"/>
                  </a:lnTo>
                  <a:cubicBezTo>
                    <a:pt x="13589" y="1426464"/>
                    <a:pt x="0" y="1412875"/>
                    <a:pt x="0" y="1395984"/>
                  </a:cubicBezTo>
                  <a:close/>
                </a:path>
              </a:pathLst>
            </a:custGeom>
            <a:solidFill>
              <a:srgbClr val="1E2761"/>
            </a:solidFill>
          </p:spPr>
        </p:sp>
      </p:grpSp>
      <p:grpSp>
        <p:nvGrpSpPr>
          <p:cNvPr name="Group 56" id="56"/>
          <p:cNvGrpSpPr/>
          <p:nvPr/>
        </p:nvGrpSpPr>
        <p:grpSpPr>
          <a:xfrm rot="0">
            <a:off x="1714500" y="7749540"/>
            <a:ext cx="5212080" cy="1069848"/>
            <a:chOff x="0" y="0"/>
            <a:chExt cx="6949440" cy="1426464"/>
          </a:xfrm>
        </p:grpSpPr>
        <p:sp>
          <p:nvSpPr>
            <p:cNvPr name="Freeform 57" id="57"/>
            <p:cNvSpPr/>
            <p:nvPr/>
          </p:nvSpPr>
          <p:spPr>
            <a:xfrm flipH="false" flipV="false" rot="0">
              <a:off x="0" y="0"/>
              <a:ext cx="6949440" cy="1426464"/>
            </a:xfrm>
            <a:custGeom>
              <a:avLst/>
              <a:gdLst/>
              <a:ahLst/>
              <a:cxnLst/>
              <a:rect r="r" b="b" t="t" l="l"/>
              <a:pathLst>
                <a:path h="1426464" w="6949440">
                  <a:moveTo>
                    <a:pt x="0" y="0"/>
                  </a:moveTo>
                  <a:lnTo>
                    <a:pt x="6949440" y="0"/>
                  </a:lnTo>
                  <a:lnTo>
                    <a:pt x="6949440" y="1426464"/>
                  </a:lnTo>
                  <a:lnTo>
                    <a:pt x="0" y="1426464"/>
                  </a:lnTo>
                  <a:close/>
                </a:path>
              </a:pathLst>
            </a:custGeom>
            <a:blipFill>
              <a:blip r:embed="rId4">
                <a:alphaModFix amt="0"/>
              </a:blip>
              <a:stretch>
                <a:fillRect l="0" t="-44927" r="0" b="-44927"/>
              </a:stretch>
            </a:blipFill>
          </p:spPr>
        </p:sp>
        <p:sp>
          <p:nvSpPr>
            <p:cNvPr name="TextBox 58" id="58"/>
            <p:cNvSpPr txBox="true"/>
            <p:nvPr/>
          </p:nvSpPr>
          <p:spPr>
            <a:xfrm>
              <a:off x="0" y="-19050"/>
              <a:ext cx="6949440" cy="1445514"/>
            </a:xfrm>
            <a:prstGeom prst="rect">
              <a:avLst/>
            </a:prstGeom>
          </p:spPr>
          <p:txBody>
            <a:bodyPr anchor="ctr" rtlCol="false" tIns="0" lIns="0" bIns="0" rIns="0"/>
            <a:lstStyle/>
            <a:p>
              <a:pPr algn="l">
                <a:lnSpc>
                  <a:spcPts val="2700"/>
                </a:lnSpc>
              </a:pPr>
              <a:r>
                <a:rPr lang="en-US" sz="2250" b="true">
                  <a:solidFill>
                    <a:srgbClr val="1E2761"/>
                  </a:solidFill>
                  <a:latin typeface="Cambria Bold"/>
                  <a:ea typeface="Cambria Bold"/>
                  <a:cs typeface="Cambria Bold"/>
                  <a:sym typeface="Cambria Bold"/>
                </a:rPr>
                <a:t>Disaster &amp; Operational</a:t>
              </a:r>
            </a:p>
          </p:txBody>
        </p:sp>
      </p:grpSp>
      <p:grpSp>
        <p:nvGrpSpPr>
          <p:cNvPr name="Group 59" id="59"/>
          <p:cNvGrpSpPr/>
          <p:nvPr/>
        </p:nvGrpSpPr>
        <p:grpSpPr>
          <a:xfrm rot="0">
            <a:off x="7132320" y="7749540"/>
            <a:ext cx="9395460" cy="1069848"/>
            <a:chOff x="0" y="0"/>
            <a:chExt cx="12527280" cy="1426464"/>
          </a:xfrm>
        </p:grpSpPr>
        <p:sp>
          <p:nvSpPr>
            <p:cNvPr name="Freeform 60" id="60"/>
            <p:cNvSpPr/>
            <p:nvPr/>
          </p:nvSpPr>
          <p:spPr>
            <a:xfrm flipH="false" flipV="false" rot="0">
              <a:off x="0" y="0"/>
              <a:ext cx="12527280" cy="1426464"/>
            </a:xfrm>
            <a:custGeom>
              <a:avLst/>
              <a:gdLst/>
              <a:ahLst/>
              <a:cxnLst/>
              <a:rect r="r" b="b" t="t" l="l"/>
              <a:pathLst>
                <a:path h="1426464" w="12527280">
                  <a:moveTo>
                    <a:pt x="0" y="0"/>
                  </a:moveTo>
                  <a:lnTo>
                    <a:pt x="12527280" y="0"/>
                  </a:lnTo>
                  <a:lnTo>
                    <a:pt x="12527280" y="1426464"/>
                  </a:lnTo>
                  <a:lnTo>
                    <a:pt x="0" y="1426464"/>
                  </a:lnTo>
                  <a:close/>
                </a:path>
              </a:pathLst>
            </a:custGeom>
            <a:blipFill>
              <a:blip r:embed="rId4">
                <a:alphaModFix amt="0"/>
              </a:blip>
              <a:stretch>
                <a:fillRect l="0" t="-121118" r="0" b="-121118"/>
              </a:stretch>
            </a:blipFill>
          </p:spPr>
        </p:sp>
        <p:sp>
          <p:nvSpPr>
            <p:cNvPr name="TextBox 61" id="61"/>
            <p:cNvSpPr txBox="true"/>
            <p:nvPr/>
          </p:nvSpPr>
          <p:spPr>
            <a:xfrm>
              <a:off x="0" y="-38100"/>
              <a:ext cx="12527280" cy="1464564"/>
            </a:xfrm>
            <a:prstGeom prst="rect">
              <a:avLst/>
            </a:prstGeom>
          </p:spPr>
          <p:txBody>
            <a:bodyPr anchor="ctr" rtlCol="false" tIns="0" lIns="0" bIns="0" rIns="0"/>
            <a:lstStyle/>
            <a:p>
              <a:pPr algn="l">
                <a:lnSpc>
                  <a:spcPts val="2250"/>
                </a:lnSpc>
              </a:pPr>
              <a:r>
                <a:rPr lang="en-US" sz="1875">
                  <a:solidFill>
                    <a:srgbClr val="23262F"/>
                  </a:solidFill>
                  <a:latin typeface="Calibri (MS)"/>
                  <a:ea typeface="Calibri (MS)"/>
                  <a:cs typeface="Calibri (MS)"/>
                  <a:sym typeface="Calibri (MS)"/>
                </a:rPr>
                <a:t>Floods, fires, power loss, equipment failure</a:t>
              </a:r>
            </a:p>
          </p:txBody>
        </p:sp>
      </p:grpSp>
      <p:grpSp>
        <p:nvGrpSpPr>
          <p:cNvPr name="Group 62" id="62"/>
          <p:cNvGrpSpPr/>
          <p:nvPr/>
        </p:nvGrpSpPr>
        <p:grpSpPr>
          <a:xfrm rot="0">
            <a:off x="1234440" y="9052560"/>
            <a:ext cx="15499080" cy="548640"/>
            <a:chOff x="0" y="0"/>
            <a:chExt cx="20665440" cy="731520"/>
          </a:xfrm>
        </p:grpSpPr>
        <p:sp>
          <p:nvSpPr>
            <p:cNvPr name="Freeform 63" id="63"/>
            <p:cNvSpPr/>
            <p:nvPr/>
          </p:nvSpPr>
          <p:spPr>
            <a:xfrm flipH="false" flipV="false" rot="0">
              <a:off x="0" y="0"/>
              <a:ext cx="20665439" cy="731520"/>
            </a:xfrm>
            <a:custGeom>
              <a:avLst/>
              <a:gdLst/>
              <a:ahLst/>
              <a:cxnLst/>
              <a:rect r="r" b="b" t="t" l="l"/>
              <a:pathLst>
                <a:path h="731520" w="20665439">
                  <a:moveTo>
                    <a:pt x="0" y="0"/>
                  </a:moveTo>
                  <a:lnTo>
                    <a:pt x="20665439" y="0"/>
                  </a:lnTo>
                  <a:lnTo>
                    <a:pt x="20665439" y="731520"/>
                  </a:lnTo>
                  <a:lnTo>
                    <a:pt x="0" y="731520"/>
                  </a:lnTo>
                  <a:close/>
                </a:path>
              </a:pathLst>
            </a:custGeom>
            <a:blipFill>
              <a:blip r:embed="rId4">
                <a:alphaModFix amt="0"/>
              </a:blip>
              <a:stretch>
                <a:fillRect l="0" t="-500452" r="0" b="-500452"/>
              </a:stretch>
            </a:blipFill>
          </p:spPr>
        </p:sp>
        <p:sp>
          <p:nvSpPr>
            <p:cNvPr name="TextBox 64" id="64"/>
            <p:cNvSpPr txBox="true"/>
            <p:nvPr/>
          </p:nvSpPr>
          <p:spPr>
            <a:xfrm>
              <a:off x="0" y="-19050"/>
              <a:ext cx="20665440" cy="750570"/>
            </a:xfrm>
            <a:prstGeom prst="rect">
              <a:avLst/>
            </a:prstGeom>
          </p:spPr>
          <p:txBody>
            <a:bodyPr anchor="ctr" rtlCol="false" tIns="0" lIns="0" bIns="0" rIns="0"/>
            <a:lstStyle/>
            <a:p>
              <a:pPr algn="l">
                <a:lnSpc>
                  <a:spcPts val="1889"/>
                </a:lnSpc>
              </a:pPr>
              <a:r>
                <a:rPr lang="en-US" sz="1575" i="true">
                  <a:solidFill>
                    <a:srgbClr val="6B7280"/>
                  </a:solidFill>
                  <a:latin typeface="Calibri (MS) Italics"/>
                  <a:ea typeface="Calibri (MS) Italics"/>
                  <a:cs typeface="Calibri (MS) Italics"/>
                  <a:sym typeface="Calibri (MS) Italics"/>
                </a:rPr>
                <a:t>Your internal audit manual (PGIAM) groups these formally as Control, Operations, Support-to-Operations, and General Administration risks — today we'll use plainer, everyday labels.</a:t>
              </a:r>
            </a:p>
          </p:txBody>
        </p:sp>
      </p:grpSp>
      <p:grpSp>
        <p:nvGrpSpPr>
          <p:cNvPr name="Group 65" id="65"/>
          <p:cNvGrpSpPr/>
          <p:nvPr/>
        </p:nvGrpSpPr>
        <p:grpSpPr>
          <a:xfrm rot="0">
            <a:off x="685800" y="9710928"/>
            <a:ext cx="10972800" cy="411480"/>
            <a:chOff x="0" y="0"/>
            <a:chExt cx="14630400" cy="548640"/>
          </a:xfrm>
        </p:grpSpPr>
        <p:sp>
          <p:nvSpPr>
            <p:cNvPr name="Freeform 66" id="66"/>
            <p:cNvSpPr/>
            <p:nvPr/>
          </p:nvSpPr>
          <p:spPr>
            <a:xfrm flipH="false" flipV="false" rot="0">
              <a:off x="0" y="0"/>
              <a:ext cx="14630400" cy="548640"/>
            </a:xfrm>
            <a:custGeom>
              <a:avLst/>
              <a:gdLst/>
              <a:ahLst/>
              <a:cxnLst/>
              <a:rect r="r" b="b" t="t" l="l"/>
              <a:pathLst>
                <a:path h="548640" w="14630400">
                  <a:moveTo>
                    <a:pt x="0" y="0"/>
                  </a:moveTo>
                  <a:lnTo>
                    <a:pt x="14630400" y="0"/>
                  </a:lnTo>
                  <a:lnTo>
                    <a:pt x="14630400" y="548640"/>
                  </a:lnTo>
                  <a:lnTo>
                    <a:pt x="0" y="548640"/>
                  </a:lnTo>
                  <a:close/>
                </a:path>
              </a:pathLst>
            </a:custGeom>
            <a:blipFill>
              <a:blip r:embed="rId4">
                <a:alphaModFix amt="0"/>
              </a:blip>
              <a:stretch>
                <a:fillRect l="0" t="-469601" r="0" b="-469601"/>
              </a:stretch>
            </a:blipFill>
          </p:spPr>
        </p:sp>
        <p:sp>
          <p:nvSpPr>
            <p:cNvPr name="TextBox 67" id="67"/>
            <p:cNvSpPr txBox="true"/>
            <p:nvPr/>
          </p:nvSpPr>
          <p:spPr>
            <a:xfrm>
              <a:off x="0" y="-38100"/>
              <a:ext cx="14630400" cy="586740"/>
            </a:xfrm>
            <a:prstGeom prst="rect">
              <a:avLst/>
            </a:prstGeom>
          </p:spPr>
          <p:txBody>
            <a:bodyPr anchor="ctr" rtlCol="false" tIns="0" lIns="0" bIns="0" rIns="0"/>
            <a:lstStyle/>
            <a:p>
              <a:pPr algn="l">
                <a:lnSpc>
                  <a:spcPts val="1800"/>
                </a:lnSpc>
              </a:pPr>
              <a:r>
                <a:rPr lang="en-US" sz="1500">
                  <a:solidFill>
                    <a:srgbClr val="6B7280"/>
                  </a:solidFill>
                  <a:latin typeface="Calibri (MS)"/>
                  <a:ea typeface="Calibri (MS)"/>
                  <a:cs typeface="Calibri (MS)"/>
                  <a:sym typeface="Calibri (MS)"/>
                </a:rPr>
                <a:t>Davao del Norte Provincial Government — Cybersecurity Seminar</a:t>
              </a:r>
            </a:p>
          </p:txBody>
        </p:sp>
      </p:grpSp>
      <p:grpSp>
        <p:nvGrpSpPr>
          <p:cNvPr name="Group 68" id="68"/>
          <p:cNvGrpSpPr/>
          <p:nvPr/>
        </p:nvGrpSpPr>
        <p:grpSpPr>
          <a:xfrm rot="0">
            <a:off x="16911828" y="9710928"/>
            <a:ext cx="685800" cy="411480"/>
            <a:chOff x="0" y="0"/>
            <a:chExt cx="914400" cy="548640"/>
          </a:xfrm>
        </p:grpSpPr>
        <p:sp>
          <p:nvSpPr>
            <p:cNvPr name="Freeform 69" id="69"/>
            <p:cNvSpPr/>
            <p:nvPr/>
          </p:nvSpPr>
          <p:spPr>
            <a:xfrm flipH="false" flipV="false" rot="0">
              <a:off x="0" y="0"/>
              <a:ext cx="914400" cy="548640"/>
            </a:xfrm>
            <a:custGeom>
              <a:avLst/>
              <a:gdLst/>
              <a:ahLst/>
              <a:cxnLst/>
              <a:rect r="r" b="b" t="t" l="l"/>
              <a:pathLst>
                <a:path h="548640" w="914400">
                  <a:moveTo>
                    <a:pt x="0" y="0"/>
                  </a:moveTo>
                  <a:lnTo>
                    <a:pt x="914400" y="0"/>
                  </a:lnTo>
                  <a:lnTo>
                    <a:pt x="914400" y="548640"/>
                  </a:lnTo>
                  <a:lnTo>
                    <a:pt x="0" y="548640"/>
                  </a:lnTo>
                  <a:close/>
                </a:path>
              </a:pathLst>
            </a:custGeom>
            <a:blipFill>
              <a:blip r:embed="rId4">
                <a:alphaModFix amt="0"/>
              </a:blip>
              <a:stretch>
                <a:fillRect l="-26982" t="0" r="-26982" b="0"/>
              </a:stretch>
            </a:blipFill>
          </p:spPr>
        </p:sp>
        <p:sp>
          <p:nvSpPr>
            <p:cNvPr name="TextBox 70" id="70"/>
            <p:cNvSpPr txBox="true"/>
            <p:nvPr/>
          </p:nvSpPr>
          <p:spPr>
            <a:xfrm>
              <a:off x="0" y="-38100"/>
              <a:ext cx="914400" cy="586740"/>
            </a:xfrm>
            <a:prstGeom prst="rect">
              <a:avLst/>
            </a:prstGeom>
          </p:spPr>
          <p:txBody>
            <a:bodyPr anchor="ctr" rtlCol="false" tIns="0" lIns="0" bIns="0" rIns="0"/>
            <a:lstStyle/>
            <a:p>
              <a:pPr algn="r">
                <a:lnSpc>
                  <a:spcPts val="1800"/>
                </a:lnSpc>
              </a:pPr>
              <a:r>
                <a:rPr lang="en-US" sz="1500">
                  <a:solidFill>
                    <a:srgbClr val="6B7280"/>
                  </a:solidFill>
                  <a:latin typeface="Calibri (MS)"/>
                  <a:ea typeface="Calibri (MS)"/>
                  <a:cs typeface="Calibri (MS)"/>
                  <a:sym typeface="Calibri (MS)"/>
                </a:rPr>
                <a:t>12</a:t>
              </a:r>
            </a:p>
          </p:txBody>
        </p:sp>
      </p:gr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1E2761"/>
        </a:solidFill>
      </p:bgPr>
    </p:bg>
    <p:spTree>
      <p:nvGrpSpPr>
        <p:cNvPr id="1" name=""/>
        <p:cNvGrpSpPr/>
        <p:nvPr/>
      </p:nvGrpSpPr>
      <p:grpSpPr>
        <a:xfrm>
          <a:off x="0" y="0"/>
          <a:ext cx="0" cy="0"/>
          <a:chOff x="0" y="0"/>
          <a:chExt cx="0" cy="0"/>
        </a:xfrm>
      </p:grpSpPr>
      <p:grpSp>
        <p:nvGrpSpPr>
          <p:cNvPr name="Group 2" id="2"/>
          <p:cNvGrpSpPr/>
          <p:nvPr/>
        </p:nvGrpSpPr>
        <p:grpSpPr>
          <a:xfrm rot="0">
            <a:off x="-3017520" y="-3566160"/>
            <a:ext cx="8229600" cy="8229600"/>
            <a:chOff x="0" y="0"/>
            <a:chExt cx="10972800" cy="10972800"/>
          </a:xfrm>
        </p:grpSpPr>
        <p:sp>
          <p:nvSpPr>
            <p:cNvPr name="Freeform 3" id="3"/>
            <p:cNvSpPr/>
            <p:nvPr/>
          </p:nvSpPr>
          <p:spPr>
            <a:xfrm flipH="false" flipV="false" rot="0">
              <a:off x="0" y="0"/>
              <a:ext cx="10972800" cy="10972800"/>
            </a:xfrm>
            <a:custGeom>
              <a:avLst/>
              <a:gdLst/>
              <a:ahLst/>
              <a:cxnLst/>
              <a:rect r="r" b="b" t="t" l="l"/>
              <a:pathLst>
                <a:path h="10972800" w="10972800">
                  <a:moveTo>
                    <a:pt x="0" y="5486400"/>
                  </a:moveTo>
                  <a:cubicBezTo>
                    <a:pt x="0" y="2456307"/>
                    <a:pt x="2456307" y="0"/>
                    <a:pt x="5486400" y="0"/>
                  </a:cubicBezTo>
                  <a:cubicBezTo>
                    <a:pt x="8516493" y="0"/>
                    <a:pt x="10972800" y="2456307"/>
                    <a:pt x="10972800" y="5486400"/>
                  </a:cubicBezTo>
                  <a:cubicBezTo>
                    <a:pt x="10972800" y="8516493"/>
                    <a:pt x="8516493" y="10972800"/>
                    <a:pt x="5486400" y="10972800"/>
                  </a:cubicBezTo>
                  <a:cubicBezTo>
                    <a:pt x="2456307" y="10972800"/>
                    <a:pt x="0" y="8516493"/>
                    <a:pt x="0" y="5486400"/>
                  </a:cubicBezTo>
                  <a:close/>
                </a:path>
              </a:pathLst>
            </a:custGeom>
            <a:solidFill>
              <a:srgbClr val="263186"/>
            </a:solidFill>
          </p:spPr>
        </p:sp>
      </p:grpSp>
      <p:grpSp>
        <p:nvGrpSpPr>
          <p:cNvPr name="Group 4" id="4"/>
          <p:cNvGrpSpPr/>
          <p:nvPr/>
        </p:nvGrpSpPr>
        <p:grpSpPr>
          <a:xfrm rot="0">
            <a:off x="745547" y="2230773"/>
            <a:ext cx="16707849" cy="3298825"/>
            <a:chOff x="0" y="0"/>
            <a:chExt cx="22277132" cy="4398433"/>
          </a:xfrm>
        </p:grpSpPr>
        <p:sp>
          <p:nvSpPr>
            <p:cNvPr name="Freeform 5" id="5"/>
            <p:cNvSpPr/>
            <p:nvPr/>
          </p:nvSpPr>
          <p:spPr>
            <a:xfrm flipH="false" flipV="false" rot="0">
              <a:off x="0" y="0"/>
              <a:ext cx="22277133" cy="4398433"/>
            </a:xfrm>
            <a:custGeom>
              <a:avLst/>
              <a:gdLst/>
              <a:ahLst/>
              <a:cxnLst/>
              <a:rect r="r" b="b" t="t" l="l"/>
              <a:pathLst>
                <a:path h="4398433" w="22277133">
                  <a:moveTo>
                    <a:pt x="0" y="0"/>
                  </a:moveTo>
                  <a:lnTo>
                    <a:pt x="22277133" y="0"/>
                  </a:lnTo>
                  <a:lnTo>
                    <a:pt x="22277133" y="4398433"/>
                  </a:lnTo>
                  <a:lnTo>
                    <a:pt x="0" y="4398433"/>
                  </a:lnTo>
                  <a:close/>
                </a:path>
              </a:pathLst>
            </a:custGeom>
            <a:blipFill>
              <a:blip r:embed="rId3">
                <a:alphaModFix amt="0"/>
              </a:blip>
              <a:stretch>
                <a:fillRect l="0" t="-67273" r="17085" b="3621"/>
              </a:stretch>
            </a:blipFill>
          </p:spPr>
        </p:sp>
        <p:sp>
          <p:nvSpPr>
            <p:cNvPr name="TextBox 6" id="6"/>
            <p:cNvSpPr txBox="true"/>
            <p:nvPr/>
          </p:nvSpPr>
          <p:spPr>
            <a:xfrm>
              <a:off x="0" y="-95250"/>
              <a:ext cx="22277132" cy="4493683"/>
            </a:xfrm>
            <a:prstGeom prst="rect">
              <a:avLst/>
            </a:prstGeom>
          </p:spPr>
          <p:txBody>
            <a:bodyPr anchor="ctr" rtlCol="false" tIns="0" lIns="0" bIns="0" rIns="0"/>
            <a:lstStyle/>
            <a:p>
              <a:pPr algn="ctr">
                <a:lnSpc>
                  <a:spcPts val="5184"/>
                </a:lnSpc>
              </a:pPr>
              <a:r>
                <a:rPr lang="en-US" sz="3600" b="true">
                  <a:solidFill>
                    <a:srgbClr val="FFFFFF"/>
                  </a:solidFill>
                  <a:latin typeface="Cambria Bold"/>
                  <a:ea typeface="Cambria Bold"/>
                  <a:cs typeface="Cambria Bold"/>
                  <a:sym typeface="Cambria Bold"/>
                </a:rPr>
                <a:t>A growing share of these risks now live inside your information systems.</a:t>
              </a:r>
            </a:p>
          </p:txBody>
        </p:sp>
      </p:grpSp>
      <p:grpSp>
        <p:nvGrpSpPr>
          <p:cNvPr name="Group 7" id="7"/>
          <p:cNvGrpSpPr/>
          <p:nvPr/>
        </p:nvGrpSpPr>
        <p:grpSpPr>
          <a:xfrm rot="0">
            <a:off x="1485413" y="4432317"/>
            <a:ext cx="15228118" cy="1097280"/>
            <a:chOff x="0" y="0"/>
            <a:chExt cx="20304157" cy="1463040"/>
          </a:xfrm>
        </p:grpSpPr>
        <p:sp>
          <p:nvSpPr>
            <p:cNvPr name="Freeform 8" id="8"/>
            <p:cNvSpPr/>
            <p:nvPr/>
          </p:nvSpPr>
          <p:spPr>
            <a:xfrm flipH="false" flipV="false" rot="0">
              <a:off x="0" y="0"/>
              <a:ext cx="20304156" cy="1463040"/>
            </a:xfrm>
            <a:custGeom>
              <a:avLst/>
              <a:gdLst/>
              <a:ahLst/>
              <a:cxnLst/>
              <a:rect r="r" b="b" t="t" l="l"/>
              <a:pathLst>
                <a:path h="1463040" w="20304156">
                  <a:moveTo>
                    <a:pt x="0" y="0"/>
                  </a:moveTo>
                  <a:lnTo>
                    <a:pt x="20304156" y="0"/>
                  </a:lnTo>
                  <a:lnTo>
                    <a:pt x="20304156" y="1463040"/>
                  </a:lnTo>
                  <a:lnTo>
                    <a:pt x="0" y="1463040"/>
                  </a:lnTo>
                  <a:close/>
                </a:path>
              </a:pathLst>
            </a:custGeom>
            <a:blipFill>
              <a:blip r:embed="rId3">
                <a:alphaModFix amt="0"/>
              </a:blip>
              <a:stretch>
                <a:fillRect l="0" t="-169206" r="18936" b="-169206"/>
              </a:stretch>
            </a:blipFill>
          </p:spPr>
        </p:sp>
        <p:sp>
          <p:nvSpPr>
            <p:cNvPr name="TextBox 9" id="9"/>
            <p:cNvSpPr txBox="true"/>
            <p:nvPr/>
          </p:nvSpPr>
          <p:spPr>
            <a:xfrm>
              <a:off x="0" y="-142875"/>
              <a:ext cx="20304157" cy="1605915"/>
            </a:xfrm>
            <a:prstGeom prst="rect">
              <a:avLst/>
            </a:prstGeom>
          </p:spPr>
          <p:txBody>
            <a:bodyPr anchor="ctr" rtlCol="false" tIns="0" lIns="0" bIns="0" rIns="0"/>
            <a:lstStyle/>
            <a:p>
              <a:pPr algn="ctr">
                <a:lnSpc>
                  <a:spcPts val="3645"/>
                </a:lnSpc>
              </a:pPr>
              <a:r>
                <a:rPr lang="en-US" sz="2250">
                  <a:solidFill>
                    <a:srgbClr val="CADCFC"/>
                  </a:solidFill>
                  <a:latin typeface="Calibri (MS)"/>
                  <a:ea typeface="Calibri (MS)"/>
                  <a:cs typeface="Calibri (MS)"/>
                  <a:sym typeface="Calibri (MS)"/>
                </a:rPr>
                <a:t>Before we go further, we need shared vocabulary for exactly what's at stake when we talk about a digital system.</a:t>
              </a:r>
            </a:p>
          </p:txBody>
        </p:sp>
      </p:grpSp>
      <p:grpSp>
        <p:nvGrpSpPr>
          <p:cNvPr name="Group 10" id="10"/>
          <p:cNvGrpSpPr/>
          <p:nvPr/>
        </p:nvGrpSpPr>
        <p:grpSpPr>
          <a:xfrm rot="0">
            <a:off x="685800" y="9710928"/>
            <a:ext cx="10972800" cy="411480"/>
            <a:chOff x="0" y="0"/>
            <a:chExt cx="14630400" cy="548640"/>
          </a:xfrm>
        </p:grpSpPr>
        <p:sp>
          <p:nvSpPr>
            <p:cNvPr name="Freeform 11" id="11"/>
            <p:cNvSpPr/>
            <p:nvPr/>
          </p:nvSpPr>
          <p:spPr>
            <a:xfrm flipH="false" flipV="false" rot="0">
              <a:off x="0" y="0"/>
              <a:ext cx="14630400" cy="548640"/>
            </a:xfrm>
            <a:custGeom>
              <a:avLst/>
              <a:gdLst/>
              <a:ahLst/>
              <a:cxnLst/>
              <a:rect r="r" b="b" t="t" l="l"/>
              <a:pathLst>
                <a:path h="548640" w="14630400">
                  <a:moveTo>
                    <a:pt x="0" y="0"/>
                  </a:moveTo>
                  <a:lnTo>
                    <a:pt x="14630400" y="0"/>
                  </a:lnTo>
                  <a:lnTo>
                    <a:pt x="14630400" y="548640"/>
                  </a:lnTo>
                  <a:lnTo>
                    <a:pt x="0" y="548640"/>
                  </a:lnTo>
                  <a:close/>
                </a:path>
              </a:pathLst>
            </a:custGeom>
            <a:blipFill>
              <a:blip r:embed="rId3">
                <a:alphaModFix amt="0"/>
              </a:blip>
              <a:stretch>
                <a:fillRect l="0" t="-469601" r="0" b="-469601"/>
              </a:stretch>
            </a:blipFill>
          </p:spPr>
        </p:sp>
        <p:sp>
          <p:nvSpPr>
            <p:cNvPr name="TextBox 12" id="12"/>
            <p:cNvSpPr txBox="true"/>
            <p:nvPr/>
          </p:nvSpPr>
          <p:spPr>
            <a:xfrm>
              <a:off x="0" y="-38100"/>
              <a:ext cx="14630400" cy="586740"/>
            </a:xfrm>
            <a:prstGeom prst="rect">
              <a:avLst/>
            </a:prstGeom>
          </p:spPr>
          <p:txBody>
            <a:bodyPr anchor="ctr" rtlCol="false" tIns="0" lIns="0" bIns="0" rIns="0"/>
            <a:lstStyle/>
            <a:p>
              <a:pPr algn="l">
                <a:lnSpc>
                  <a:spcPts val="1800"/>
                </a:lnSpc>
              </a:pPr>
              <a:r>
                <a:rPr lang="en-US" sz="1500">
                  <a:solidFill>
                    <a:srgbClr val="CADCFC"/>
                  </a:solidFill>
                  <a:latin typeface="Calibri (MS)"/>
                  <a:ea typeface="Calibri (MS)"/>
                  <a:cs typeface="Calibri (MS)"/>
                  <a:sym typeface="Calibri (MS)"/>
                </a:rPr>
                <a:t>Davao del Norte Provincial Government — Cybersecurity Seminar</a:t>
              </a:r>
            </a:p>
          </p:txBody>
        </p:sp>
      </p:grpSp>
      <p:grpSp>
        <p:nvGrpSpPr>
          <p:cNvPr name="Group 13" id="13"/>
          <p:cNvGrpSpPr/>
          <p:nvPr/>
        </p:nvGrpSpPr>
        <p:grpSpPr>
          <a:xfrm rot="0">
            <a:off x="16911828" y="9710928"/>
            <a:ext cx="685800" cy="411480"/>
            <a:chOff x="0" y="0"/>
            <a:chExt cx="914400" cy="548640"/>
          </a:xfrm>
        </p:grpSpPr>
        <p:sp>
          <p:nvSpPr>
            <p:cNvPr name="Freeform 14" id="14"/>
            <p:cNvSpPr/>
            <p:nvPr/>
          </p:nvSpPr>
          <p:spPr>
            <a:xfrm flipH="false" flipV="false" rot="0">
              <a:off x="0" y="0"/>
              <a:ext cx="914400" cy="548640"/>
            </a:xfrm>
            <a:custGeom>
              <a:avLst/>
              <a:gdLst/>
              <a:ahLst/>
              <a:cxnLst/>
              <a:rect r="r" b="b" t="t" l="l"/>
              <a:pathLst>
                <a:path h="548640" w="914400">
                  <a:moveTo>
                    <a:pt x="0" y="0"/>
                  </a:moveTo>
                  <a:lnTo>
                    <a:pt x="914400" y="0"/>
                  </a:lnTo>
                  <a:lnTo>
                    <a:pt x="914400" y="548640"/>
                  </a:lnTo>
                  <a:lnTo>
                    <a:pt x="0" y="548640"/>
                  </a:lnTo>
                  <a:close/>
                </a:path>
              </a:pathLst>
            </a:custGeom>
            <a:blipFill>
              <a:blip r:embed="rId3">
                <a:alphaModFix amt="0"/>
              </a:blip>
              <a:stretch>
                <a:fillRect l="-26982" t="0" r="-26982" b="0"/>
              </a:stretch>
            </a:blipFill>
          </p:spPr>
        </p:sp>
        <p:sp>
          <p:nvSpPr>
            <p:cNvPr name="TextBox 15" id="15"/>
            <p:cNvSpPr txBox="true"/>
            <p:nvPr/>
          </p:nvSpPr>
          <p:spPr>
            <a:xfrm>
              <a:off x="0" y="-38100"/>
              <a:ext cx="914400" cy="586740"/>
            </a:xfrm>
            <a:prstGeom prst="rect">
              <a:avLst/>
            </a:prstGeom>
          </p:spPr>
          <p:txBody>
            <a:bodyPr anchor="ctr" rtlCol="false" tIns="0" lIns="0" bIns="0" rIns="0"/>
            <a:lstStyle/>
            <a:p>
              <a:pPr algn="r">
                <a:lnSpc>
                  <a:spcPts val="1800"/>
                </a:lnSpc>
              </a:pPr>
              <a:r>
                <a:rPr lang="en-US" sz="1500">
                  <a:solidFill>
                    <a:srgbClr val="CADCFC"/>
                  </a:solidFill>
                  <a:latin typeface="Calibri (MS)"/>
                  <a:ea typeface="Calibri (MS)"/>
                  <a:cs typeface="Calibri (MS)"/>
                  <a:sym typeface="Calibri (MS)"/>
                </a:rPr>
                <a:t>13</a:t>
              </a:r>
            </a:p>
          </p:txBody>
        </p:sp>
      </p:gr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1E2761"/>
        </a:solidFill>
      </p:bgPr>
    </p:bg>
    <p:spTree>
      <p:nvGrpSpPr>
        <p:cNvPr id="1" name=""/>
        <p:cNvGrpSpPr/>
        <p:nvPr/>
      </p:nvGrpSpPr>
      <p:grpSpPr>
        <a:xfrm>
          <a:off x="0" y="0"/>
          <a:ext cx="0" cy="0"/>
          <a:chOff x="0" y="0"/>
          <a:chExt cx="0" cy="0"/>
        </a:xfrm>
      </p:grpSpPr>
      <p:grpSp>
        <p:nvGrpSpPr>
          <p:cNvPr name="Group 2" id="2"/>
          <p:cNvGrpSpPr/>
          <p:nvPr/>
        </p:nvGrpSpPr>
        <p:grpSpPr>
          <a:xfrm rot="0">
            <a:off x="-3017520" y="6309360"/>
            <a:ext cx="8229600" cy="8229600"/>
            <a:chOff x="0" y="0"/>
            <a:chExt cx="10972800" cy="10972800"/>
          </a:xfrm>
        </p:grpSpPr>
        <p:sp>
          <p:nvSpPr>
            <p:cNvPr name="Freeform 3" id="3"/>
            <p:cNvSpPr/>
            <p:nvPr/>
          </p:nvSpPr>
          <p:spPr>
            <a:xfrm flipH="false" flipV="false" rot="0">
              <a:off x="0" y="0"/>
              <a:ext cx="10972800" cy="10972800"/>
            </a:xfrm>
            <a:custGeom>
              <a:avLst/>
              <a:gdLst/>
              <a:ahLst/>
              <a:cxnLst/>
              <a:rect r="r" b="b" t="t" l="l"/>
              <a:pathLst>
                <a:path h="10972800" w="10972800">
                  <a:moveTo>
                    <a:pt x="0" y="5486400"/>
                  </a:moveTo>
                  <a:cubicBezTo>
                    <a:pt x="0" y="2456307"/>
                    <a:pt x="2456307" y="0"/>
                    <a:pt x="5486400" y="0"/>
                  </a:cubicBezTo>
                  <a:cubicBezTo>
                    <a:pt x="8516493" y="0"/>
                    <a:pt x="10972800" y="2456307"/>
                    <a:pt x="10972800" y="5486400"/>
                  </a:cubicBezTo>
                  <a:cubicBezTo>
                    <a:pt x="10972800" y="8516493"/>
                    <a:pt x="8516493" y="10972800"/>
                    <a:pt x="5486400" y="10972800"/>
                  </a:cubicBezTo>
                  <a:cubicBezTo>
                    <a:pt x="2456307" y="10972800"/>
                    <a:pt x="0" y="8516493"/>
                    <a:pt x="0" y="5486400"/>
                  </a:cubicBezTo>
                  <a:close/>
                </a:path>
              </a:pathLst>
            </a:custGeom>
            <a:solidFill>
              <a:srgbClr val="263186"/>
            </a:solidFill>
          </p:spPr>
        </p:sp>
      </p:grpSp>
      <p:grpSp>
        <p:nvGrpSpPr>
          <p:cNvPr name="Group 4" id="4"/>
          <p:cNvGrpSpPr/>
          <p:nvPr/>
        </p:nvGrpSpPr>
        <p:grpSpPr>
          <a:xfrm rot="0">
            <a:off x="1234440" y="1303020"/>
            <a:ext cx="10972800" cy="548640"/>
            <a:chOff x="0" y="0"/>
            <a:chExt cx="14630400" cy="731520"/>
          </a:xfrm>
        </p:grpSpPr>
        <p:sp>
          <p:nvSpPr>
            <p:cNvPr name="Freeform 5" id="5"/>
            <p:cNvSpPr/>
            <p:nvPr/>
          </p:nvSpPr>
          <p:spPr>
            <a:xfrm flipH="false" flipV="false" rot="0">
              <a:off x="0" y="0"/>
              <a:ext cx="14630400" cy="731520"/>
            </a:xfrm>
            <a:custGeom>
              <a:avLst/>
              <a:gdLst/>
              <a:ahLst/>
              <a:cxnLst/>
              <a:rect r="r" b="b" t="t" l="l"/>
              <a:pathLst>
                <a:path h="731520" w="14630400">
                  <a:moveTo>
                    <a:pt x="0" y="0"/>
                  </a:moveTo>
                  <a:lnTo>
                    <a:pt x="14630400" y="0"/>
                  </a:lnTo>
                  <a:lnTo>
                    <a:pt x="14630400" y="731520"/>
                  </a:lnTo>
                  <a:lnTo>
                    <a:pt x="0" y="731520"/>
                  </a:lnTo>
                  <a:close/>
                </a:path>
              </a:pathLst>
            </a:custGeom>
            <a:blipFill>
              <a:blip r:embed="rId3">
                <a:alphaModFix amt="0"/>
              </a:blip>
              <a:stretch>
                <a:fillRect l="0" t="-339700" r="0" b="-339700"/>
              </a:stretch>
            </a:blipFill>
          </p:spPr>
        </p:sp>
        <p:sp>
          <p:nvSpPr>
            <p:cNvPr name="TextBox 6" id="6"/>
            <p:cNvSpPr txBox="true"/>
            <p:nvPr/>
          </p:nvSpPr>
          <p:spPr>
            <a:xfrm>
              <a:off x="0" y="-47625"/>
              <a:ext cx="14630400" cy="779145"/>
            </a:xfrm>
            <a:prstGeom prst="rect">
              <a:avLst/>
            </a:prstGeom>
          </p:spPr>
          <p:txBody>
            <a:bodyPr anchor="ctr" rtlCol="false" tIns="0" lIns="0" bIns="0" rIns="0"/>
            <a:lstStyle/>
            <a:p>
              <a:pPr algn="l">
                <a:lnSpc>
                  <a:spcPts val="2520"/>
                </a:lnSpc>
              </a:pPr>
              <a:r>
                <a:rPr lang="en-US" b="true" sz="2100" spc="299">
                  <a:solidFill>
                    <a:srgbClr val="00B4D8"/>
                  </a:solidFill>
                  <a:latin typeface="Calibri (MS) Bold"/>
                  <a:ea typeface="Calibri (MS) Bold"/>
                  <a:cs typeface="Calibri (MS) Bold"/>
                  <a:sym typeface="Calibri (MS) Bold"/>
                </a:rPr>
                <a:t>YOUR TURN</a:t>
              </a:r>
            </a:p>
          </p:txBody>
        </p:sp>
      </p:grpSp>
      <p:grpSp>
        <p:nvGrpSpPr>
          <p:cNvPr name="Group 7" id="7"/>
          <p:cNvGrpSpPr/>
          <p:nvPr/>
        </p:nvGrpSpPr>
        <p:grpSpPr>
          <a:xfrm rot="0">
            <a:off x="1234440" y="1851660"/>
            <a:ext cx="10149840" cy="1783080"/>
            <a:chOff x="0" y="0"/>
            <a:chExt cx="13533120" cy="2377440"/>
          </a:xfrm>
        </p:grpSpPr>
        <p:sp>
          <p:nvSpPr>
            <p:cNvPr name="Freeform 8" id="8"/>
            <p:cNvSpPr/>
            <p:nvPr/>
          </p:nvSpPr>
          <p:spPr>
            <a:xfrm flipH="false" flipV="false" rot="0">
              <a:off x="0" y="0"/>
              <a:ext cx="13533120" cy="2377440"/>
            </a:xfrm>
            <a:custGeom>
              <a:avLst/>
              <a:gdLst/>
              <a:ahLst/>
              <a:cxnLst/>
              <a:rect r="r" b="b" t="t" l="l"/>
              <a:pathLst>
                <a:path h="2377440" w="13533120">
                  <a:moveTo>
                    <a:pt x="0" y="0"/>
                  </a:moveTo>
                  <a:lnTo>
                    <a:pt x="13533120" y="0"/>
                  </a:lnTo>
                  <a:lnTo>
                    <a:pt x="13533120" y="2377440"/>
                  </a:lnTo>
                  <a:lnTo>
                    <a:pt x="0" y="2377440"/>
                  </a:lnTo>
                  <a:close/>
                </a:path>
              </a:pathLst>
            </a:custGeom>
            <a:blipFill>
              <a:blip r:embed="rId3">
                <a:alphaModFix amt="0"/>
              </a:blip>
              <a:stretch>
                <a:fillRect l="0" t="-60914" r="0" b="-60914"/>
              </a:stretch>
            </a:blipFill>
          </p:spPr>
        </p:sp>
        <p:sp>
          <p:nvSpPr>
            <p:cNvPr name="TextBox 9" id="9"/>
            <p:cNvSpPr txBox="true"/>
            <p:nvPr/>
          </p:nvSpPr>
          <p:spPr>
            <a:xfrm>
              <a:off x="0" y="-9525"/>
              <a:ext cx="13533120" cy="2386965"/>
            </a:xfrm>
            <a:prstGeom prst="rect">
              <a:avLst/>
            </a:prstGeom>
          </p:spPr>
          <p:txBody>
            <a:bodyPr anchor="ctr" rtlCol="false" tIns="0" lIns="0" bIns="0" rIns="0"/>
            <a:lstStyle/>
            <a:p>
              <a:pPr algn="l">
                <a:lnSpc>
                  <a:spcPts val="6839"/>
                </a:lnSpc>
              </a:pPr>
              <a:r>
                <a:rPr lang="en-US" sz="5700" b="true">
                  <a:solidFill>
                    <a:srgbClr val="FFFFFF"/>
                  </a:solidFill>
                  <a:latin typeface="Cambria Bold"/>
                  <a:ea typeface="Cambria Bold"/>
                  <a:cs typeface="Cambria Bold"/>
                  <a:sym typeface="Cambria Bold"/>
                </a:rPr>
                <a:t>Rate 8 Real Scenarios</a:t>
              </a:r>
            </a:p>
          </p:txBody>
        </p:sp>
      </p:grpSp>
      <p:sp>
        <p:nvSpPr>
          <p:cNvPr name="TextBox 10" id="10"/>
          <p:cNvSpPr txBox="true"/>
          <p:nvPr/>
        </p:nvSpPr>
        <p:spPr>
          <a:xfrm rot="0">
            <a:off x="1325880" y="3429000"/>
            <a:ext cx="8869680" cy="2080260"/>
          </a:xfrm>
          <a:prstGeom prst="rect">
            <a:avLst/>
          </a:prstGeom>
        </p:spPr>
        <p:txBody>
          <a:bodyPr anchor="t" rtlCol="false" tIns="0" lIns="0" bIns="0" rIns="0">
            <a:spAutoFit/>
          </a:bodyPr>
          <a:lstStyle/>
          <a:p>
            <a:pPr algn="l">
              <a:lnSpc>
                <a:spcPts val="3375"/>
              </a:lnSpc>
            </a:pPr>
            <a:r>
              <a:rPr lang="en-US" sz="2250">
                <a:solidFill>
                  <a:srgbClr val="CADCFC"/>
                </a:solidFill>
                <a:latin typeface="Calibri (MS)"/>
                <a:ea typeface="Calibri (MS)"/>
                <a:cs typeface="Calibri (MS)"/>
                <a:sym typeface="Calibri (MS)"/>
              </a:rPr>
              <a:t>Scan the code or visit the link below. For each scenario: rate the likelihood, rate the impact, then pick the right response — Treat, Transfer, Tolerate, or Terminate.</a:t>
            </a:r>
          </a:p>
        </p:txBody>
      </p:sp>
      <p:grpSp>
        <p:nvGrpSpPr>
          <p:cNvPr name="Group 11" id="11"/>
          <p:cNvGrpSpPr/>
          <p:nvPr/>
        </p:nvGrpSpPr>
        <p:grpSpPr>
          <a:xfrm rot="0">
            <a:off x="1234440" y="5692140"/>
            <a:ext cx="754380" cy="754380"/>
            <a:chOff x="0" y="0"/>
            <a:chExt cx="1005840" cy="1005840"/>
          </a:xfrm>
        </p:grpSpPr>
        <p:sp>
          <p:nvSpPr>
            <p:cNvPr name="Freeform 12" id="12"/>
            <p:cNvSpPr/>
            <p:nvPr/>
          </p:nvSpPr>
          <p:spPr>
            <a:xfrm flipH="false" flipV="false" rot="0">
              <a:off x="0" y="0"/>
              <a:ext cx="1005840" cy="1005840"/>
            </a:xfrm>
            <a:custGeom>
              <a:avLst/>
              <a:gdLst/>
              <a:ahLst/>
              <a:cxnLst/>
              <a:rect r="r" b="b" t="t" l="l"/>
              <a:pathLst>
                <a:path h="1005840" w="1005840">
                  <a:moveTo>
                    <a:pt x="0" y="502920"/>
                  </a:moveTo>
                  <a:cubicBezTo>
                    <a:pt x="0" y="225171"/>
                    <a:pt x="225171" y="0"/>
                    <a:pt x="502920" y="0"/>
                  </a:cubicBezTo>
                  <a:cubicBezTo>
                    <a:pt x="780669" y="0"/>
                    <a:pt x="1005840" y="225171"/>
                    <a:pt x="1005840" y="502920"/>
                  </a:cubicBezTo>
                  <a:cubicBezTo>
                    <a:pt x="1005840" y="780669"/>
                    <a:pt x="780669" y="1005840"/>
                    <a:pt x="502920" y="1005840"/>
                  </a:cubicBezTo>
                  <a:cubicBezTo>
                    <a:pt x="225171" y="1005840"/>
                    <a:pt x="0" y="780669"/>
                    <a:pt x="0" y="502920"/>
                  </a:cubicBezTo>
                  <a:close/>
                </a:path>
              </a:pathLst>
            </a:custGeom>
            <a:solidFill>
              <a:srgbClr val="00B4D8"/>
            </a:solidFill>
          </p:spPr>
        </p:sp>
      </p:grpSp>
      <p:grpSp>
        <p:nvGrpSpPr>
          <p:cNvPr name="Group 13" id="13"/>
          <p:cNvGrpSpPr/>
          <p:nvPr/>
        </p:nvGrpSpPr>
        <p:grpSpPr>
          <a:xfrm rot="0">
            <a:off x="1412748" y="5870448"/>
            <a:ext cx="397764" cy="397764"/>
            <a:chOff x="0" y="0"/>
            <a:chExt cx="530352" cy="530352"/>
          </a:xfrm>
        </p:grpSpPr>
        <p:sp>
          <p:nvSpPr>
            <p:cNvPr name="Freeform 14" id="14" descr="link.png"/>
            <p:cNvSpPr/>
            <p:nvPr/>
          </p:nvSpPr>
          <p:spPr>
            <a:xfrm flipH="false" flipV="false" rot="0">
              <a:off x="0" y="0"/>
              <a:ext cx="530352" cy="530352"/>
            </a:xfrm>
            <a:custGeom>
              <a:avLst/>
              <a:gdLst/>
              <a:ahLst/>
              <a:cxnLst/>
              <a:rect r="r" b="b" t="t" l="l"/>
              <a:pathLst>
                <a:path h="530352" w="530352">
                  <a:moveTo>
                    <a:pt x="0" y="0"/>
                  </a:moveTo>
                  <a:lnTo>
                    <a:pt x="530352" y="0"/>
                  </a:lnTo>
                  <a:lnTo>
                    <a:pt x="530352" y="530352"/>
                  </a:lnTo>
                  <a:lnTo>
                    <a:pt x="0" y="530352"/>
                  </a:lnTo>
                  <a:lnTo>
                    <a:pt x="0" y="0"/>
                  </a:lnTo>
                  <a:close/>
                </a:path>
              </a:pathLst>
            </a:custGeom>
            <a:blipFill>
              <a:blip r:embed="rId4"/>
              <a:stretch>
                <a:fillRect l="0" t="0" r="0" b="0"/>
              </a:stretch>
            </a:blipFill>
          </p:spPr>
        </p:sp>
      </p:grpSp>
      <p:grpSp>
        <p:nvGrpSpPr>
          <p:cNvPr name="Group 15" id="15"/>
          <p:cNvGrpSpPr/>
          <p:nvPr/>
        </p:nvGrpSpPr>
        <p:grpSpPr>
          <a:xfrm rot="0">
            <a:off x="2263140" y="5650992"/>
            <a:ext cx="7543800" cy="411480"/>
            <a:chOff x="0" y="0"/>
            <a:chExt cx="10058400" cy="548640"/>
          </a:xfrm>
        </p:grpSpPr>
        <p:sp>
          <p:nvSpPr>
            <p:cNvPr name="Freeform 16" id="16"/>
            <p:cNvSpPr/>
            <p:nvPr/>
          </p:nvSpPr>
          <p:spPr>
            <a:xfrm flipH="false" flipV="false" rot="0">
              <a:off x="0" y="0"/>
              <a:ext cx="10058400" cy="548640"/>
            </a:xfrm>
            <a:custGeom>
              <a:avLst/>
              <a:gdLst/>
              <a:ahLst/>
              <a:cxnLst/>
              <a:rect r="r" b="b" t="t" l="l"/>
              <a:pathLst>
                <a:path h="548640" w="10058400">
                  <a:moveTo>
                    <a:pt x="0" y="0"/>
                  </a:moveTo>
                  <a:lnTo>
                    <a:pt x="10058400" y="0"/>
                  </a:lnTo>
                  <a:lnTo>
                    <a:pt x="10058400" y="548640"/>
                  </a:lnTo>
                  <a:lnTo>
                    <a:pt x="0" y="548640"/>
                  </a:lnTo>
                  <a:close/>
                </a:path>
              </a:pathLst>
            </a:custGeom>
            <a:blipFill>
              <a:blip r:embed="rId3">
                <a:alphaModFix amt="0"/>
              </a:blip>
              <a:stretch>
                <a:fillRect l="0" t="-307225" r="0" b="-307225"/>
              </a:stretch>
            </a:blipFill>
          </p:spPr>
        </p:sp>
        <p:sp>
          <p:nvSpPr>
            <p:cNvPr name="TextBox 17" id="17"/>
            <p:cNvSpPr txBox="true"/>
            <p:nvPr/>
          </p:nvSpPr>
          <p:spPr>
            <a:xfrm>
              <a:off x="0" y="-47625"/>
              <a:ext cx="10058400" cy="596265"/>
            </a:xfrm>
            <a:prstGeom prst="rect">
              <a:avLst/>
            </a:prstGeom>
          </p:spPr>
          <p:txBody>
            <a:bodyPr anchor="ctr" rtlCol="false" tIns="0" lIns="0" bIns="0" rIns="0"/>
            <a:lstStyle/>
            <a:p>
              <a:pPr algn="l">
                <a:lnSpc>
                  <a:spcPts val="2340"/>
                </a:lnSpc>
              </a:pPr>
              <a:r>
                <a:rPr lang="en-US" sz="1950">
                  <a:solidFill>
                    <a:srgbClr val="CADCFC"/>
                  </a:solidFill>
                  <a:latin typeface="Calibri (MS)"/>
                  <a:ea typeface="Calibri (MS)"/>
                  <a:cs typeface="Calibri (MS)"/>
                  <a:sym typeface="Calibri (MS)"/>
                </a:rPr>
                <a:t>Go to:</a:t>
              </a:r>
            </a:p>
          </p:txBody>
        </p:sp>
      </p:grpSp>
      <p:grpSp>
        <p:nvGrpSpPr>
          <p:cNvPr name="Group 18" id="18"/>
          <p:cNvGrpSpPr/>
          <p:nvPr/>
        </p:nvGrpSpPr>
        <p:grpSpPr>
          <a:xfrm rot="0">
            <a:off x="2235708" y="6062472"/>
            <a:ext cx="9326880" cy="754380"/>
            <a:chOff x="0" y="0"/>
            <a:chExt cx="12435840" cy="1005840"/>
          </a:xfrm>
        </p:grpSpPr>
        <p:sp>
          <p:nvSpPr>
            <p:cNvPr name="Freeform 19" id="19"/>
            <p:cNvSpPr/>
            <p:nvPr/>
          </p:nvSpPr>
          <p:spPr>
            <a:xfrm flipH="false" flipV="false" rot="0">
              <a:off x="0" y="0"/>
              <a:ext cx="12435840" cy="1005840"/>
            </a:xfrm>
            <a:custGeom>
              <a:avLst/>
              <a:gdLst/>
              <a:ahLst/>
              <a:cxnLst/>
              <a:rect r="r" b="b" t="t" l="l"/>
              <a:pathLst>
                <a:path h="1005840" w="12435840">
                  <a:moveTo>
                    <a:pt x="0" y="0"/>
                  </a:moveTo>
                  <a:lnTo>
                    <a:pt x="12435840" y="0"/>
                  </a:lnTo>
                  <a:lnTo>
                    <a:pt x="12435840" y="1005840"/>
                  </a:lnTo>
                  <a:lnTo>
                    <a:pt x="0" y="1005840"/>
                  </a:lnTo>
                  <a:close/>
                </a:path>
              </a:pathLst>
            </a:custGeom>
            <a:blipFill>
              <a:blip r:embed="rId3">
                <a:alphaModFix amt="0"/>
              </a:blip>
              <a:stretch>
                <a:fillRect l="0" t="-190905" r="0" b="-190905"/>
              </a:stretch>
            </a:blipFill>
          </p:spPr>
        </p:sp>
        <p:sp>
          <p:nvSpPr>
            <p:cNvPr name="TextBox 20" id="20"/>
            <p:cNvSpPr txBox="true"/>
            <p:nvPr/>
          </p:nvSpPr>
          <p:spPr>
            <a:xfrm>
              <a:off x="0" y="-19050"/>
              <a:ext cx="12435840" cy="1024890"/>
            </a:xfrm>
            <a:prstGeom prst="rect">
              <a:avLst/>
            </a:prstGeom>
          </p:spPr>
          <p:txBody>
            <a:bodyPr anchor="ctr" rtlCol="false" tIns="0" lIns="0" bIns="0" rIns="0"/>
            <a:lstStyle/>
            <a:p>
              <a:pPr algn="l">
                <a:lnSpc>
                  <a:spcPts val="4320"/>
                </a:lnSpc>
              </a:pPr>
              <a:r>
                <a:rPr lang="en-US" sz="3600" b="true">
                  <a:solidFill>
                    <a:srgbClr val="FFFFFF"/>
                  </a:solidFill>
                  <a:latin typeface="Cambria Bold"/>
                  <a:ea typeface="Cambria Bold"/>
                  <a:cs typeface="Cambria Bold"/>
                  <a:sym typeface="Cambria Bold"/>
                </a:rPr>
                <a:t>ferdienervida.com/riskmatrix</a:t>
              </a:r>
            </a:p>
          </p:txBody>
        </p:sp>
      </p:grpSp>
      <p:grpSp>
        <p:nvGrpSpPr>
          <p:cNvPr name="Group 21" id="21"/>
          <p:cNvGrpSpPr/>
          <p:nvPr/>
        </p:nvGrpSpPr>
        <p:grpSpPr>
          <a:xfrm rot="0">
            <a:off x="1234440" y="7063740"/>
            <a:ext cx="9601200" cy="548640"/>
            <a:chOff x="0" y="0"/>
            <a:chExt cx="12801600" cy="731520"/>
          </a:xfrm>
        </p:grpSpPr>
        <p:sp>
          <p:nvSpPr>
            <p:cNvPr name="Freeform 22" id="22"/>
            <p:cNvSpPr/>
            <p:nvPr/>
          </p:nvSpPr>
          <p:spPr>
            <a:xfrm flipH="false" flipV="false" rot="0">
              <a:off x="0" y="0"/>
              <a:ext cx="12801600" cy="731520"/>
            </a:xfrm>
            <a:custGeom>
              <a:avLst/>
              <a:gdLst/>
              <a:ahLst/>
              <a:cxnLst/>
              <a:rect r="r" b="b" t="t" l="l"/>
              <a:pathLst>
                <a:path h="731520" w="12801600">
                  <a:moveTo>
                    <a:pt x="0" y="0"/>
                  </a:moveTo>
                  <a:lnTo>
                    <a:pt x="12801600" y="0"/>
                  </a:lnTo>
                  <a:lnTo>
                    <a:pt x="12801600" y="731520"/>
                  </a:lnTo>
                  <a:lnTo>
                    <a:pt x="0" y="731520"/>
                  </a:lnTo>
                  <a:close/>
                </a:path>
              </a:pathLst>
            </a:custGeom>
            <a:blipFill>
              <a:blip r:embed="rId3">
                <a:alphaModFix amt="0"/>
              </a:blip>
              <a:stretch>
                <a:fillRect l="0" t="-290988" r="0" b="-290988"/>
              </a:stretch>
            </a:blipFill>
          </p:spPr>
        </p:sp>
        <p:sp>
          <p:nvSpPr>
            <p:cNvPr name="TextBox 23" id="23"/>
            <p:cNvSpPr txBox="true"/>
            <p:nvPr/>
          </p:nvSpPr>
          <p:spPr>
            <a:xfrm>
              <a:off x="0" y="-47625"/>
              <a:ext cx="12801600" cy="779145"/>
            </a:xfrm>
            <a:prstGeom prst="rect">
              <a:avLst/>
            </a:prstGeom>
          </p:spPr>
          <p:txBody>
            <a:bodyPr anchor="ctr" rtlCol="false" tIns="0" lIns="0" bIns="0" rIns="0"/>
            <a:lstStyle/>
            <a:p>
              <a:pPr algn="l">
                <a:lnSpc>
                  <a:spcPts val="2340"/>
                </a:lnSpc>
              </a:pPr>
              <a:r>
                <a:rPr lang="en-US" sz="1950" i="true">
                  <a:solidFill>
                    <a:srgbClr val="CADCFC"/>
                  </a:solidFill>
                  <a:latin typeface="Calibri (MS) Italics"/>
                  <a:ea typeface="Calibri (MS) Italics"/>
                  <a:cs typeface="Calibri (MS) Italics"/>
                  <a:sym typeface="Calibri (MS) Italics"/>
                </a:rPr>
                <a:t>⏱  About 15 minutes, then we review together</a:t>
              </a:r>
            </a:p>
          </p:txBody>
        </p:sp>
      </p:grpSp>
      <p:grpSp>
        <p:nvGrpSpPr>
          <p:cNvPr name="Group 24" id="24"/>
          <p:cNvGrpSpPr/>
          <p:nvPr/>
        </p:nvGrpSpPr>
        <p:grpSpPr>
          <a:xfrm rot="0">
            <a:off x="13098780" y="2125980"/>
            <a:ext cx="3977640" cy="3977640"/>
            <a:chOff x="0" y="0"/>
            <a:chExt cx="5303520" cy="5303520"/>
          </a:xfrm>
        </p:grpSpPr>
        <p:sp>
          <p:nvSpPr>
            <p:cNvPr name="Freeform 25" id="25"/>
            <p:cNvSpPr/>
            <p:nvPr/>
          </p:nvSpPr>
          <p:spPr>
            <a:xfrm flipH="false" flipV="false" rot="0">
              <a:off x="0" y="0"/>
              <a:ext cx="5303520" cy="5303520"/>
            </a:xfrm>
            <a:custGeom>
              <a:avLst/>
              <a:gdLst/>
              <a:ahLst/>
              <a:cxnLst/>
              <a:rect r="r" b="b" t="t" l="l"/>
              <a:pathLst>
                <a:path h="5303520" w="5303520">
                  <a:moveTo>
                    <a:pt x="0" y="219456"/>
                  </a:moveTo>
                  <a:cubicBezTo>
                    <a:pt x="0" y="98298"/>
                    <a:pt x="98298" y="0"/>
                    <a:pt x="219456" y="0"/>
                  </a:cubicBezTo>
                  <a:lnTo>
                    <a:pt x="5084064" y="0"/>
                  </a:lnTo>
                  <a:cubicBezTo>
                    <a:pt x="5205222" y="0"/>
                    <a:pt x="5303520" y="98298"/>
                    <a:pt x="5303520" y="219456"/>
                  </a:cubicBezTo>
                  <a:lnTo>
                    <a:pt x="5303520" y="5084064"/>
                  </a:lnTo>
                  <a:cubicBezTo>
                    <a:pt x="5303520" y="5205222"/>
                    <a:pt x="5205222" y="5303520"/>
                    <a:pt x="5084064" y="5303520"/>
                  </a:cubicBezTo>
                  <a:lnTo>
                    <a:pt x="219456" y="5303520"/>
                  </a:lnTo>
                  <a:cubicBezTo>
                    <a:pt x="98298" y="5303520"/>
                    <a:pt x="0" y="5205222"/>
                    <a:pt x="0" y="5084064"/>
                  </a:cubicBezTo>
                  <a:close/>
                </a:path>
              </a:pathLst>
            </a:custGeom>
            <a:solidFill>
              <a:srgbClr val="FFFFFF"/>
            </a:solidFill>
          </p:spPr>
        </p:sp>
      </p:grpSp>
      <p:grpSp>
        <p:nvGrpSpPr>
          <p:cNvPr name="Group 26" id="26"/>
          <p:cNvGrpSpPr/>
          <p:nvPr/>
        </p:nvGrpSpPr>
        <p:grpSpPr>
          <a:xfrm rot="0">
            <a:off x="13441680" y="2468880"/>
            <a:ext cx="3291840" cy="3291840"/>
            <a:chOff x="0" y="0"/>
            <a:chExt cx="4389120" cy="4389120"/>
          </a:xfrm>
        </p:grpSpPr>
        <p:sp>
          <p:nvSpPr>
            <p:cNvPr name="Freeform 27" id="27" descr="qr_riskmatrix.png"/>
            <p:cNvSpPr/>
            <p:nvPr/>
          </p:nvSpPr>
          <p:spPr>
            <a:xfrm flipH="false" flipV="false" rot="0">
              <a:off x="0" y="0"/>
              <a:ext cx="4389120" cy="4389120"/>
            </a:xfrm>
            <a:custGeom>
              <a:avLst/>
              <a:gdLst/>
              <a:ahLst/>
              <a:cxnLst/>
              <a:rect r="r" b="b" t="t" l="l"/>
              <a:pathLst>
                <a:path h="4389120" w="4389120">
                  <a:moveTo>
                    <a:pt x="0" y="0"/>
                  </a:moveTo>
                  <a:lnTo>
                    <a:pt x="4389120" y="0"/>
                  </a:lnTo>
                  <a:lnTo>
                    <a:pt x="4389120" y="4389120"/>
                  </a:lnTo>
                  <a:lnTo>
                    <a:pt x="0" y="4389120"/>
                  </a:lnTo>
                  <a:lnTo>
                    <a:pt x="0" y="0"/>
                  </a:lnTo>
                  <a:close/>
                </a:path>
              </a:pathLst>
            </a:custGeom>
            <a:blipFill>
              <a:blip r:embed="rId5"/>
              <a:stretch>
                <a:fillRect l="0" t="0" r="0" b="0"/>
              </a:stretch>
            </a:blipFill>
          </p:spPr>
        </p:sp>
      </p:grpSp>
      <p:grpSp>
        <p:nvGrpSpPr>
          <p:cNvPr name="Group 28" id="28"/>
          <p:cNvGrpSpPr/>
          <p:nvPr/>
        </p:nvGrpSpPr>
        <p:grpSpPr>
          <a:xfrm rot="0">
            <a:off x="13098780" y="6281928"/>
            <a:ext cx="3977640" cy="480060"/>
            <a:chOff x="0" y="0"/>
            <a:chExt cx="5303520" cy="640080"/>
          </a:xfrm>
        </p:grpSpPr>
        <p:sp>
          <p:nvSpPr>
            <p:cNvPr name="Freeform 29" id="29"/>
            <p:cNvSpPr/>
            <p:nvPr/>
          </p:nvSpPr>
          <p:spPr>
            <a:xfrm flipH="false" flipV="false" rot="0">
              <a:off x="0" y="0"/>
              <a:ext cx="5303520" cy="640080"/>
            </a:xfrm>
            <a:custGeom>
              <a:avLst/>
              <a:gdLst/>
              <a:ahLst/>
              <a:cxnLst/>
              <a:rect r="r" b="b" t="t" l="l"/>
              <a:pathLst>
                <a:path h="640080" w="5303520">
                  <a:moveTo>
                    <a:pt x="0" y="0"/>
                  </a:moveTo>
                  <a:lnTo>
                    <a:pt x="5303520" y="0"/>
                  </a:lnTo>
                  <a:lnTo>
                    <a:pt x="5303520" y="640080"/>
                  </a:lnTo>
                  <a:lnTo>
                    <a:pt x="0" y="640080"/>
                  </a:lnTo>
                  <a:close/>
                </a:path>
              </a:pathLst>
            </a:custGeom>
            <a:blipFill>
              <a:blip r:embed="rId3">
                <a:alphaModFix amt="0"/>
              </a:blip>
              <a:stretch>
                <a:fillRect l="0" t="-111447" r="0" b="-111447"/>
              </a:stretch>
            </a:blipFill>
          </p:spPr>
        </p:sp>
        <p:sp>
          <p:nvSpPr>
            <p:cNvPr name="TextBox 30" id="30"/>
            <p:cNvSpPr txBox="true"/>
            <p:nvPr/>
          </p:nvSpPr>
          <p:spPr>
            <a:xfrm>
              <a:off x="0" y="-38100"/>
              <a:ext cx="5303520" cy="678180"/>
            </a:xfrm>
            <a:prstGeom prst="rect">
              <a:avLst/>
            </a:prstGeom>
          </p:spPr>
          <p:txBody>
            <a:bodyPr anchor="ctr" rtlCol="false" tIns="0" lIns="0" bIns="0" rIns="0"/>
            <a:lstStyle/>
            <a:p>
              <a:pPr algn="ctr">
                <a:lnSpc>
                  <a:spcPts val="2160"/>
                </a:lnSpc>
              </a:pPr>
              <a:r>
                <a:rPr lang="en-US" sz="1800" b="true">
                  <a:solidFill>
                    <a:srgbClr val="CADCFC"/>
                  </a:solidFill>
                  <a:latin typeface="Calibri (MS) Bold"/>
                  <a:ea typeface="Calibri (MS) Bold"/>
                  <a:cs typeface="Calibri (MS) Bold"/>
                  <a:sym typeface="Calibri (MS) Bold"/>
                </a:rPr>
                <a:t>Risk Matrix Sort</a:t>
              </a:r>
            </a:p>
          </p:txBody>
        </p:sp>
      </p:grpSp>
      <p:grpSp>
        <p:nvGrpSpPr>
          <p:cNvPr name="Group 31" id="31"/>
          <p:cNvGrpSpPr/>
          <p:nvPr/>
        </p:nvGrpSpPr>
        <p:grpSpPr>
          <a:xfrm rot="0">
            <a:off x="685800" y="9710928"/>
            <a:ext cx="10972800" cy="411480"/>
            <a:chOff x="0" y="0"/>
            <a:chExt cx="14630400" cy="548640"/>
          </a:xfrm>
        </p:grpSpPr>
        <p:sp>
          <p:nvSpPr>
            <p:cNvPr name="Freeform 32" id="32"/>
            <p:cNvSpPr/>
            <p:nvPr/>
          </p:nvSpPr>
          <p:spPr>
            <a:xfrm flipH="false" flipV="false" rot="0">
              <a:off x="0" y="0"/>
              <a:ext cx="14630400" cy="548640"/>
            </a:xfrm>
            <a:custGeom>
              <a:avLst/>
              <a:gdLst/>
              <a:ahLst/>
              <a:cxnLst/>
              <a:rect r="r" b="b" t="t" l="l"/>
              <a:pathLst>
                <a:path h="548640" w="14630400">
                  <a:moveTo>
                    <a:pt x="0" y="0"/>
                  </a:moveTo>
                  <a:lnTo>
                    <a:pt x="14630400" y="0"/>
                  </a:lnTo>
                  <a:lnTo>
                    <a:pt x="14630400" y="548640"/>
                  </a:lnTo>
                  <a:lnTo>
                    <a:pt x="0" y="548640"/>
                  </a:lnTo>
                  <a:close/>
                </a:path>
              </a:pathLst>
            </a:custGeom>
            <a:blipFill>
              <a:blip r:embed="rId3">
                <a:alphaModFix amt="0"/>
              </a:blip>
              <a:stretch>
                <a:fillRect l="0" t="-469601" r="0" b="-469601"/>
              </a:stretch>
            </a:blipFill>
          </p:spPr>
        </p:sp>
        <p:sp>
          <p:nvSpPr>
            <p:cNvPr name="TextBox 33" id="33"/>
            <p:cNvSpPr txBox="true"/>
            <p:nvPr/>
          </p:nvSpPr>
          <p:spPr>
            <a:xfrm>
              <a:off x="0" y="-38100"/>
              <a:ext cx="14630400" cy="586740"/>
            </a:xfrm>
            <a:prstGeom prst="rect">
              <a:avLst/>
            </a:prstGeom>
          </p:spPr>
          <p:txBody>
            <a:bodyPr anchor="ctr" rtlCol="false" tIns="0" lIns="0" bIns="0" rIns="0"/>
            <a:lstStyle/>
            <a:p>
              <a:pPr algn="l">
                <a:lnSpc>
                  <a:spcPts val="1800"/>
                </a:lnSpc>
              </a:pPr>
              <a:r>
                <a:rPr lang="en-US" sz="1500">
                  <a:solidFill>
                    <a:srgbClr val="CADCFC"/>
                  </a:solidFill>
                  <a:latin typeface="Calibri (MS)"/>
                  <a:ea typeface="Calibri (MS)"/>
                  <a:cs typeface="Calibri (MS)"/>
                  <a:sym typeface="Calibri (MS)"/>
                </a:rPr>
                <a:t>Davao del Norte Provincial Government — Cybersecurity Seminar</a:t>
              </a:r>
            </a:p>
          </p:txBody>
        </p:sp>
      </p:grpSp>
      <p:grpSp>
        <p:nvGrpSpPr>
          <p:cNvPr name="Group 34" id="34"/>
          <p:cNvGrpSpPr/>
          <p:nvPr/>
        </p:nvGrpSpPr>
        <p:grpSpPr>
          <a:xfrm rot="0">
            <a:off x="16911828" y="9710928"/>
            <a:ext cx="685800" cy="411480"/>
            <a:chOff x="0" y="0"/>
            <a:chExt cx="914400" cy="548640"/>
          </a:xfrm>
        </p:grpSpPr>
        <p:sp>
          <p:nvSpPr>
            <p:cNvPr name="Freeform 35" id="35"/>
            <p:cNvSpPr/>
            <p:nvPr/>
          </p:nvSpPr>
          <p:spPr>
            <a:xfrm flipH="false" flipV="false" rot="0">
              <a:off x="0" y="0"/>
              <a:ext cx="914400" cy="548640"/>
            </a:xfrm>
            <a:custGeom>
              <a:avLst/>
              <a:gdLst/>
              <a:ahLst/>
              <a:cxnLst/>
              <a:rect r="r" b="b" t="t" l="l"/>
              <a:pathLst>
                <a:path h="548640" w="914400">
                  <a:moveTo>
                    <a:pt x="0" y="0"/>
                  </a:moveTo>
                  <a:lnTo>
                    <a:pt x="914400" y="0"/>
                  </a:lnTo>
                  <a:lnTo>
                    <a:pt x="914400" y="548640"/>
                  </a:lnTo>
                  <a:lnTo>
                    <a:pt x="0" y="548640"/>
                  </a:lnTo>
                  <a:close/>
                </a:path>
              </a:pathLst>
            </a:custGeom>
            <a:blipFill>
              <a:blip r:embed="rId3">
                <a:alphaModFix amt="0"/>
              </a:blip>
              <a:stretch>
                <a:fillRect l="-26982" t="0" r="-26982" b="0"/>
              </a:stretch>
            </a:blipFill>
          </p:spPr>
        </p:sp>
        <p:sp>
          <p:nvSpPr>
            <p:cNvPr name="TextBox 36" id="36"/>
            <p:cNvSpPr txBox="true"/>
            <p:nvPr/>
          </p:nvSpPr>
          <p:spPr>
            <a:xfrm>
              <a:off x="0" y="-38100"/>
              <a:ext cx="914400" cy="586740"/>
            </a:xfrm>
            <a:prstGeom prst="rect">
              <a:avLst/>
            </a:prstGeom>
          </p:spPr>
          <p:txBody>
            <a:bodyPr anchor="ctr" rtlCol="false" tIns="0" lIns="0" bIns="0" rIns="0"/>
            <a:lstStyle/>
            <a:p>
              <a:pPr algn="r">
                <a:lnSpc>
                  <a:spcPts val="1800"/>
                </a:lnSpc>
              </a:pPr>
              <a:r>
                <a:rPr lang="en-US" sz="1500">
                  <a:solidFill>
                    <a:srgbClr val="CADCFC"/>
                  </a:solidFill>
                  <a:latin typeface="Calibri (MS)"/>
                  <a:ea typeface="Calibri (MS)"/>
                  <a:cs typeface="Calibri (MS)"/>
                  <a:sym typeface="Calibri (MS)"/>
                </a:rPr>
                <a:t>14</a:t>
              </a:r>
            </a:p>
          </p:txBody>
        </p:sp>
      </p:gr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60120" y="576072"/>
            <a:ext cx="13716000" cy="411480"/>
            <a:chOff x="0" y="0"/>
            <a:chExt cx="18288000" cy="548640"/>
          </a:xfrm>
        </p:grpSpPr>
        <p:sp>
          <p:nvSpPr>
            <p:cNvPr name="Freeform 3" id="3"/>
            <p:cNvSpPr/>
            <p:nvPr/>
          </p:nvSpPr>
          <p:spPr>
            <a:xfrm flipH="false" flipV="false" rot="0">
              <a:off x="0" y="0"/>
              <a:ext cx="18288000" cy="548640"/>
            </a:xfrm>
            <a:custGeom>
              <a:avLst/>
              <a:gdLst/>
              <a:ahLst/>
              <a:cxnLst/>
              <a:rect r="r" b="b" t="t" l="l"/>
              <a:pathLst>
                <a:path h="548640" w="18288000">
                  <a:moveTo>
                    <a:pt x="0" y="0"/>
                  </a:moveTo>
                  <a:lnTo>
                    <a:pt x="18288000" y="0"/>
                  </a:lnTo>
                  <a:lnTo>
                    <a:pt x="18288000" y="548640"/>
                  </a:lnTo>
                  <a:lnTo>
                    <a:pt x="0" y="548640"/>
                  </a:lnTo>
                  <a:close/>
                </a:path>
              </a:pathLst>
            </a:custGeom>
            <a:blipFill>
              <a:blip r:embed="rId3">
                <a:alphaModFix amt="0"/>
              </a:blip>
              <a:stretch>
                <a:fillRect l="0" t="-599501" r="0" b="-599501"/>
              </a:stretch>
            </a:blipFill>
          </p:spPr>
        </p:sp>
        <p:sp>
          <p:nvSpPr>
            <p:cNvPr name="TextBox 4" id="4"/>
            <p:cNvSpPr txBox="true"/>
            <p:nvPr/>
          </p:nvSpPr>
          <p:spPr>
            <a:xfrm>
              <a:off x="0" y="-38100"/>
              <a:ext cx="18288000" cy="586740"/>
            </a:xfrm>
            <a:prstGeom prst="rect">
              <a:avLst/>
            </a:prstGeom>
          </p:spPr>
          <p:txBody>
            <a:bodyPr anchor="ctr" rtlCol="false" tIns="0" lIns="0" bIns="0" rIns="0"/>
            <a:lstStyle/>
            <a:p>
              <a:pPr algn="l">
                <a:lnSpc>
                  <a:spcPts val="2160"/>
                </a:lnSpc>
              </a:pPr>
              <a:r>
                <a:rPr lang="en-US" b="true" sz="1800" spc="225">
                  <a:solidFill>
                    <a:srgbClr val="00B4D8"/>
                  </a:solidFill>
                  <a:latin typeface="Calibri (MS) Bold"/>
                  <a:ea typeface="Calibri (MS) Bold"/>
                  <a:cs typeface="Calibri (MS) Bold"/>
                  <a:sym typeface="Calibri (MS) Bold"/>
                </a:rPr>
                <a:t>RISK MATRIX SORT · SCENARIO</a:t>
              </a:r>
            </a:p>
          </p:txBody>
        </p:sp>
      </p:grpSp>
      <p:grpSp>
        <p:nvGrpSpPr>
          <p:cNvPr name="Group 5" id="5"/>
          <p:cNvGrpSpPr/>
          <p:nvPr/>
        </p:nvGrpSpPr>
        <p:grpSpPr>
          <a:xfrm rot="0">
            <a:off x="960120" y="960120"/>
            <a:ext cx="10972800" cy="754380"/>
            <a:chOff x="0" y="0"/>
            <a:chExt cx="14630400" cy="1005840"/>
          </a:xfrm>
        </p:grpSpPr>
        <p:sp>
          <p:nvSpPr>
            <p:cNvPr name="Freeform 6" id="6"/>
            <p:cNvSpPr/>
            <p:nvPr/>
          </p:nvSpPr>
          <p:spPr>
            <a:xfrm flipH="false" flipV="false" rot="0">
              <a:off x="0" y="0"/>
              <a:ext cx="14630400" cy="1005840"/>
            </a:xfrm>
            <a:custGeom>
              <a:avLst/>
              <a:gdLst/>
              <a:ahLst/>
              <a:cxnLst/>
              <a:rect r="r" b="b" t="t" l="l"/>
              <a:pathLst>
                <a:path h="1005840" w="14630400">
                  <a:moveTo>
                    <a:pt x="0" y="0"/>
                  </a:moveTo>
                  <a:lnTo>
                    <a:pt x="14630400" y="0"/>
                  </a:lnTo>
                  <a:lnTo>
                    <a:pt x="14630400" y="1005840"/>
                  </a:lnTo>
                  <a:lnTo>
                    <a:pt x="0" y="1005840"/>
                  </a:lnTo>
                  <a:close/>
                </a:path>
              </a:pathLst>
            </a:custGeom>
            <a:blipFill>
              <a:blip r:embed="rId3">
                <a:alphaModFix amt="0"/>
              </a:blip>
              <a:stretch>
                <a:fillRect l="0" t="-233418" r="0" b="-233418"/>
              </a:stretch>
            </a:blipFill>
          </p:spPr>
        </p:sp>
        <p:sp>
          <p:nvSpPr>
            <p:cNvPr name="TextBox 7" id="7"/>
            <p:cNvSpPr txBox="true"/>
            <p:nvPr/>
          </p:nvSpPr>
          <p:spPr>
            <a:xfrm>
              <a:off x="0" y="-19050"/>
              <a:ext cx="14630400" cy="1024890"/>
            </a:xfrm>
            <a:prstGeom prst="rect">
              <a:avLst/>
            </a:prstGeom>
          </p:spPr>
          <p:txBody>
            <a:bodyPr anchor="ctr" rtlCol="false" tIns="0" lIns="0" bIns="0" rIns="0"/>
            <a:lstStyle/>
            <a:p>
              <a:pPr algn="l">
                <a:lnSpc>
                  <a:spcPts val="4320"/>
                </a:lnSpc>
              </a:pPr>
              <a:r>
                <a:rPr lang="en-US" sz="3600" b="true">
                  <a:solidFill>
                    <a:srgbClr val="1E2761"/>
                  </a:solidFill>
                  <a:latin typeface="Cambria Bold"/>
                  <a:ea typeface="Cambria Bold"/>
                  <a:cs typeface="Cambria Bold"/>
                  <a:sym typeface="Cambria Bold"/>
                </a:rPr>
                <a:t>Scenario 1</a:t>
              </a:r>
            </a:p>
          </p:txBody>
        </p:sp>
      </p:grpSp>
      <p:grpSp>
        <p:nvGrpSpPr>
          <p:cNvPr name="Group 8" id="8"/>
          <p:cNvGrpSpPr/>
          <p:nvPr/>
        </p:nvGrpSpPr>
        <p:grpSpPr>
          <a:xfrm rot="0">
            <a:off x="960120" y="1645920"/>
            <a:ext cx="8229600" cy="411480"/>
            <a:chOff x="0" y="0"/>
            <a:chExt cx="10972800" cy="548640"/>
          </a:xfrm>
        </p:grpSpPr>
        <p:sp>
          <p:nvSpPr>
            <p:cNvPr name="Freeform 9" id="9"/>
            <p:cNvSpPr/>
            <p:nvPr/>
          </p:nvSpPr>
          <p:spPr>
            <a:xfrm flipH="false" flipV="false" rot="0">
              <a:off x="0" y="0"/>
              <a:ext cx="10972800" cy="548640"/>
            </a:xfrm>
            <a:custGeom>
              <a:avLst/>
              <a:gdLst/>
              <a:ahLst/>
              <a:cxnLst/>
              <a:rect r="r" b="b" t="t" l="l"/>
              <a:pathLst>
                <a:path h="548640" w="10972800">
                  <a:moveTo>
                    <a:pt x="0" y="0"/>
                  </a:moveTo>
                  <a:lnTo>
                    <a:pt x="10972800" y="0"/>
                  </a:lnTo>
                  <a:lnTo>
                    <a:pt x="10972800" y="548640"/>
                  </a:lnTo>
                  <a:lnTo>
                    <a:pt x="0" y="548640"/>
                  </a:lnTo>
                  <a:close/>
                </a:path>
              </a:pathLst>
            </a:custGeom>
            <a:blipFill>
              <a:blip r:embed="rId3">
                <a:alphaModFix amt="0"/>
              </a:blip>
              <a:stretch>
                <a:fillRect l="0" t="-339700" r="0" b="-339700"/>
              </a:stretch>
            </a:blipFill>
          </p:spPr>
        </p:sp>
        <p:sp>
          <p:nvSpPr>
            <p:cNvPr name="TextBox 10" id="10"/>
            <p:cNvSpPr txBox="true"/>
            <p:nvPr/>
          </p:nvSpPr>
          <p:spPr>
            <a:xfrm>
              <a:off x="0" y="-28575"/>
              <a:ext cx="10972800" cy="577215"/>
            </a:xfrm>
            <a:prstGeom prst="rect">
              <a:avLst/>
            </a:prstGeom>
          </p:spPr>
          <p:txBody>
            <a:bodyPr anchor="ctr" rtlCol="false" tIns="0" lIns="0" bIns="0" rIns="0"/>
            <a:lstStyle/>
            <a:p>
              <a:pPr algn="l">
                <a:lnSpc>
                  <a:spcPts val="1980"/>
                </a:lnSpc>
              </a:pPr>
              <a:r>
                <a:rPr lang="en-US" sz="1650">
                  <a:solidFill>
                    <a:srgbClr val="6B7280"/>
                  </a:solidFill>
                  <a:latin typeface="Calibri (MS)"/>
                  <a:ea typeface="Calibri (MS)"/>
                  <a:cs typeface="Calibri (MS)"/>
                  <a:sym typeface="Calibri (MS)"/>
                </a:rPr>
                <a:t>1 of 8</a:t>
              </a:r>
            </a:p>
          </p:txBody>
        </p:sp>
      </p:grpSp>
      <p:grpSp>
        <p:nvGrpSpPr>
          <p:cNvPr name="Group 11" id="11"/>
          <p:cNvGrpSpPr/>
          <p:nvPr/>
        </p:nvGrpSpPr>
        <p:grpSpPr>
          <a:xfrm rot="0">
            <a:off x="960120" y="2194560"/>
            <a:ext cx="16322040" cy="2125980"/>
            <a:chOff x="0" y="0"/>
            <a:chExt cx="21762720" cy="2834640"/>
          </a:xfrm>
        </p:grpSpPr>
        <p:sp>
          <p:nvSpPr>
            <p:cNvPr name="Freeform 12" id="12"/>
            <p:cNvSpPr/>
            <p:nvPr/>
          </p:nvSpPr>
          <p:spPr>
            <a:xfrm flipH="false" flipV="false" rot="0">
              <a:off x="0" y="0"/>
              <a:ext cx="21762720" cy="2834640"/>
            </a:xfrm>
            <a:custGeom>
              <a:avLst/>
              <a:gdLst/>
              <a:ahLst/>
              <a:cxnLst/>
              <a:rect r="r" b="b" t="t" l="l"/>
              <a:pathLst>
                <a:path h="2834640" w="21762720">
                  <a:moveTo>
                    <a:pt x="0" y="182880"/>
                  </a:moveTo>
                  <a:cubicBezTo>
                    <a:pt x="0" y="81915"/>
                    <a:pt x="81915" y="0"/>
                    <a:pt x="182880" y="0"/>
                  </a:cubicBezTo>
                  <a:lnTo>
                    <a:pt x="21579839" y="0"/>
                  </a:lnTo>
                  <a:cubicBezTo>
                    <a:pt x="21680804" y="0"/>
                    <a:pt x="21762720" y="81915"/>
                    <a:pt x="21762720" y="182880"/>
                  </a:cubicBezTo>
                  <a:lnTo>
                    <a:pt x="21762720" y="2651760"/>
                  </a:lnTo>
                  <a:cubicBezTo>
                    <a:pt x="21762720" y="2752725"/>
                    <a:pt x="21680804" y="2834640"/>
                    <a:pt x="21579839" y="2834640"/>
                  </a:cubicBezTo>
                  <a:lnTo>
                    <a:pt x="182880" y="2834640"/>
                  </a:lnTo>
                  <a:cubicBezTo>
                    <a:pt x="81915" y="2834640"/>
                    <a:pt x="0" y="2752725"/>
                    <a:pt x="0" y="2651760"/>
                  </a:cubicBezTo>
                  <a:close/>
                </a:path>
              </a:pathLst>
            </a:custGeom>
            <a:solidFill>
              <a:srgbClr val="F4F7FC"/>
            </a:solidFill>
          </p:spPr>
        </p:sp>
      </p:grpSp>
      <p:grpSp>
        <p:nvGrpSpPr>
          <p:cNvPr name="Group 13" id="13"/>
          <p:cNvGrpSpPr/>
          <p:nvPr/>
        </p:nvGrpSpPr>
        <p:grpSpPr>
          <a:xfrm rot="0">
            <a:off x="1371600" y="2441448"/>
            <a:ext cx="15499080" cy="1645920"/>
            <a:chOff x="0" y="0"/>
            <a:chExt cx="20665440" cy="2194560"/>
          </a:xfrm>
        </p:grpSpPr>
        <p:sp>
          <p:nvSpPr>
            <p:cNvPr name="Freeform 14" id="14"/>
            <p:cNvSpPr/>
            <p:nvPr/>
          </p:nvSpPr>
          <p:spPr>
            <a:xfrm flipH="false" flipV="false" rot="0">
              <a:off x="0" y="0"/>
              <a:ext cx="20665439" cy="2194560"/>
            </a:xfrm>
            <a:custGeom>
              <a:avLst/>
              <a:gdLst/>
              <a:ahLst/>
              <a:cxnLst/>
              <a:rect r="r" b="b" t="t" l="l"/>
              <a:pathLst>
                <a:path h="2194560" w="20665439">
                  <a:moveTo>
                    <a:pt x="0" y="0"/>
                  </a:moveTo>
                  <a:lnTo>
                    <a:pt x="20665439" y="0"/>
                  </a:lnTo>
                  <a:lnTo>
                    <a:pt x="20665439" y="2194560"/>
                  </a:lnTo>
                  <a:lnTo>
                    <a:pt x="0" y="2194560"/>
                  </a:lnTo>
                  <a:close/>
                </a:path>
              </a:pathLst>
            </a:custGeom>
            <a:blipFill>
              <a:blip r:embed="rId3">
                <a:alphaModFix amt="0"/>
              </a:blip>
              <a:stretch>
                <a:fillRect l="0" t="-133484" r="0" b="-133484"/>
              </a:stretch>
            </a:blipFill>
          </p:spPr>
        </p:sp>
        <p:sp>
          <p:nvSpPr>
            <p:cNvPr name="TextBox 15" id="15"/>
            <p:cNvSpPr txBox="true"/>
            <p:nvPr/>
          </p:nvSpPr>
          <p:spPr>
            <a:xfrm>
              <a:off x="0" y="-85725"/>
              <a:ext cx="20665440" cy="2280285"/>
            </a:xfrm>
            <a:prstGeom prst="rect">
              <a:avLst/>
            </a:prstGeom>
          </p:spPr>
          <p:txBody>
            <a:bodyPr anchor="ctr" rtlCol="false" tIns="0" lIns="0" bIns="0" rIns="0"/>
            <a:lstStyle/>
            <a:p>
              <a:pPr algn="l">
                <a:lnSpc>
                  <a:spcPts val="3600"/>
                </a:lnSpc>
              </a:pPr>
              <a:r>
                <a:rPr lang="en-US" sz="2400" i="true">
                  <a:solidFill>
                    <a:srgbClr val="23262F"/>
                  </a:solidFill>
                  <a:latin typeface="Cambria Italics"/>
                  <a:ea typeface="Cambria Italics"/>
                  <a:cs typeface="Cambria Italics"/>
                  <a:sym typeface="Cambria Italics"/>
                </a:rPr>
                <a:t>“During typhoon relief, the Bids and Awards Committee skips the usual three-canvasser requirement to rush emergency food-pack purchases.”</a:t>
              </a:r>
            </a:p>
          </p:txBody>
        </p:sp>
      </p:grpSp>
      <p:grpSp>
        <p:nvGrpSpPr>
          <p:cNvPr name="Group 16" id="16"/>
          <p:cNvGrpSpPr/>
          <p:nvPr/>
        </p:nvGrpSpPr>
        <p:grpSpPr>
          <a:xfrm rot="0">
            <a:off x="960120" y="4594860"/>
            <a:ext cx="16322040" cy="685800"/>
            <a:chOff x="0" y="0"/>
            <a:chExt cx="21762720" cy="914400"/>
          </a:xfrm>
        </p:grpSpPr>
        <p:sp>
          <p:nvSpPr>
            <p:cNvPr name="Freeform 17" id="17"/>
            <p:cNvSpPr/>
            <p:nvPr/>
          </p:nvSpPr>
          <p:spPr>
            <a:xfrm flipH="false" flipV="false" rot="0">
              <a:off x="0" y="0"/>
              <a:ext cx="21762720" cy="914400"/>
            </a:xfrm>
            <a:custGeom>
              <a:avLst/>
              <a:gdLst/>
              <a:ahLst/>
              <a:cxnLst/>
              <a:rect r="r" b="b" t="t" l="l"/>
              <a:pathLst>
                <a:path h="914400" w="21762720">
                  <a:moveTo>
                    <a:pt x="0" y="0"/>
                  </a:moveTo>
                  <a:lnTo>
                    <a:pt x="21762720" y="0"/>
                  </a:lnTo>
                  <a:lnTo>
                    <a:pt x="21762720" y="914400"/>
                  </a:lnTo>
                  <a:lnTo>
                    <a:pt x="0" y="914400"/>
                  </a:lnTo>
                  <a:close/>
                </a:path>
              </a:pathLst>
            </a:custGeom>
            <a:blipFill>
              <a:blip r:embed="rId3">
                <a:alphaModFix amt="0"/>
              </a:blip>
              <a:stretch>
                <a:fillRect l="0" t="-413743" r="0" b="-413743"/>
              </a:stretch>
            </a:blipFill>
          </p:spPr>
        </p:sp>
        <p:sp>
          <p:nvSpPr>
            <p:cNvPr name="TextBox 18" id="18"/>
            <p:cNvSpPr txBox="true"/>
            <p:nvPr/>
          </p:nvSpPr>
          <p:spPr>
            <a:xfrm>
              <a:off x="0" y="-47625"/>
              <a:ext cx="21762720" cy="962025"/>
            </a:xfrm>
            <a:prstGeom prst="rect">
              <a:avLst/>
            </a:prstGeom>
          </p:spPr>
          <p:txBody>
            <a:bodyPr anchor="ctr" rtlCol="false" tIns="0" lIns="0" bIns="0" rIns="0"/>
            <a:lstStyle/>
            <a:p>
              <a:pPr algn="ctr">
                <a:lnSpc>
                  <a:spcPts val="2520"/>
                </a:lnSpc>
              </a:pPr>
              <a:r>
                <a:rPr lang="en-US" sz="2100" i="true">
                  <a:solidFill>
                    <a:srgbClr val="6B7280"/>
                  </a:solidFill>
                  <a:latin typeface="Calibri (MS) Italics"/>
                  <a:ea typeface="Calibri (MS) Italics"/>
                  <a:cs typeface="Calibri (MS) Italics"/>
                  <a:sym typeface="Calibri (MS) Italics"/>
                </a:rPr>
                <a:t>Rate the likelihood, rate the impact, then pick a response. Discuss, then we'll reveal the answer.</a:t>
              </a:r>
            </a:p>
          </p:txBody>
        </p:sp>
      </p:grpSp>
      <p:grpSp>
        <p:nvGrpSpPr>
          <p:cNvPr name="Group 19" id="19"/>
          <p:cNvGrpSpPr/>
          <p:nvPr/>
        </p:nvGrpSpPr>
        <p:grpSpPr>
          <a:xfrm rot="0">
            <a:off x="960120" y="5486400"/>
            <a:ext cx="16322040" cy="384048"/>
            <a:chOff x="0" y="0"/>
            <a:chExt cx="21762720" cy="512064"/>
          </a:xfrm>
        </p:grpSpPr>
        <p:sp>
          <p:nvSpPr>
            <p:cNvPr name="Freeform 20" id="20"/>
            <p:cNvSpPr/>
            <p:nvPr/>
          </p:nvSpPr>
          <p:spPr>
            <a:xfrm flipH="false" flipV="false" rot="0">
              <a:off x="0" y="0"/>
              <a:ext cx="21762720" cy="512064"/>
            </a:xfrm>
            <a:custGeom>
              <a:avLst/>
              <a:gdLst/>
              <a:ahLst/>
              <a:cxnLst/>
              <a:rect r="r" b="b" t="t" l="l"/>
              <a:pathLst>
                <a:path h="512064" w="21762720">
                  <a:moveTo>
                    <a:pt x="0" y="0"/>
                  </a:moveTo>
                  <a:lnTo>
                    <a:pt x="21762720" y="0"/>
                  </a:lnTo>
                  <a:lnTo>
                    <a:pt x="21762720" y="512064"/>
                  </a:lnTo>
                  <a:lnTo>
                    <a:pt x="0" y="512064"/>
                  </a:lnTo>
                  <a:close/>
                </a:path>
              </a:pathLst>
            </a:custGeom>
            <a:blipFill>
              <a:blip r:embed="rId3">
                <a:alphaModFix amt="0"/>
              </a:blip>
              <a:stretch>
                <a:fillRect l="0" t="-778114" r="0" b="-778114"/>
              </a:stretch>
            </a:blipFill>
          </p:spPr>
        </p:sp>
        <p:sp>
          <p:nvSpPr>
            <p:cNvPr name="TextBox 21" id="21"/>
            <p:cNvSpPr txBox="true"/>
            <p:nvPr/>
          </p:nvSpPr>
          <p:spPr>
            <a:xfrm>
              <a:off x="0" y="-19050"/>
              <a:ext cx="21762720" cy="531114"/>
            </a:xfrm>
            <a:prstGeom prst="rect">
              <a:avLst/>
            </a:prstGeom>
          </p:spPr>
          <p:txBody>
            <a:bodyPr anchor="ctr" rtlCol="false" tIns="0" lIns="0" bIns="0" rIns="0"/>
            <a:lstStyle/>
            <a:p>
              <a:pPr algn="ctr">
                <a:lnSpc>
                  <a:spcPts val="1889"/>
                </a:lnSpc>
              </a:pPr>
              <a:r>
                <a:rPr lang="en-US" b="true" sz="1575" spc="74">
                  <a:solidFill>
                    <a:srgbClr val="6B7280"/>
                  </a:solidFill>
                  <a:latin typeface="Calibri (MS) Bold"/>
                  <a:ea typeface="Calibri (MS) Bold"/>
                  <a:cs typeface="Calibri (MS) Bold"/>
                  <a:sym typeface="Calibri (MS) Bold"/>
                </a:rPr>
                <a:t>SCALE FOR LIKELIHOOD &amp; IMPACT</a:t>
              </a:r>
            </a:p>
          </p:txBody>
        </p:sp>
      </p:grpSp>
      <p:grpSp>
        <p:nvGrpSpPr>
          <p:cNvPr name="Group 22" id="22"/>
          <p:cNvGrpSpPr/>
          <p:nvPr/>
        </p:nvGrpSpPr>
        <p:grpSpPr>
          <a:xfrm rot="0">
            <a:off x="3371469" y="5915787"/>
            <a:ext cx="3585210" cy="773430"/>
            <a:chOff x="0" y="0"/>
            <a:chExt cx="4780280" cy="1031240"/>
          </a:xfrm>
        </p:grpSpPr>
        <p:sp>
          <p:nvSpPr>
            <p:cNvPr name="Freeform 23" id="23"/>
            <p:cNvSpPr/>
            <p:nvPr/>
          </p:nvSpPr>
          <p:spPr>
            <a:xfrm flipH="false" flipV="false" rot="0">
              <a:off x="0" y="0"/>
              <a:ext cx="4780280" cy="1031240"/>
            </a:xfrm>
            <a:custGeom>
              <a:avLst/>
              <a:gdLst/>
              <a:ahLst/>
              <a:cxnLst/>
              <a:rect r="r" b="b" t="t" l="l"/>
              <a:pathLst>
                <a:path h="1031240" w="4780280">
                  <a:moveTo>
                    <a:pt x="0" y="168783"/>
                  </a:moveTo>
                  <a:cubicBezTo>
                    <a:pt x="0" y="75565"/>
                    <a:pt x="75565" y="0"/>
                    <a:pt x="168783" y="0"/>
                  </a:cubicBezTo>
                  <a:lnTo>
                    <a:pt x="4611497" y="0"/>
                  </a:lnTo>
                  <a:cubicBezTo>
                    <a:pt x="4704715" y="0"/>
                    <a:pt x="4780280" y="75565"/>
                    <a:pt x="4780280" y="168783"/>
                  </a:cubicBezTo>
                  <a:lnTo>
                    <a:pt x="4780280" y="862457"/>
                  </a:lnTo>
                  <a:cubicBezTo>
                    <a:pt x="4780280" y="955675"/>
                    <a:pt x="4704715" y="1031240"/>
                    <a:pt x="4611497" y="1031240"/>
                  </a:cubicBezTo>
                  <a:lnTo>
                    <a:pt x="168783" y="1031240"/>
                  </a:lnTo>
                  <a:cubicBezTo>
                    <a:pt x="75565" y="1031240"/>
                    <a:pt x="0" y="955675"/>
                    <a:pt x="0" y="862457"/>
                  </a:cubicBezTo>
                  <a:close/>
                </a:path>
              </a:pathLst>
            </a:custGeom>
            <a:solidFill>
              <a:srgbClr val="F4F7FC"/>
            </a:solidFill>
            <a:ln w="19050" cap="sq">
              <a:solidFill>
                <a:srgbClr val="D7DCEC"/>
              </a:solidFill>
              <a:prstDash val="solid"/>
              <a:miter/>
            </a:ln>
          </p:spPr>
        </p:sp>
      </p:grpSp>
      <p:grpSp>
        <p:nvGrpSpPr>
          <p:cNvPr name="Group 24" id="24"/>
          <p:cNvGrpSpPr/>
          <p:nvPr/>
        </p:nvGrpSpPr>
        <p:grpSpPr>
          <a:xfrm rot="0">
            <a:off x="3380994" y="5925312"/>
            <a:ext cx="3566160" cy="754380"/>
            <a:chOff x="0" y="0"/>
            <a:chExt cx="4754880" cy="1005840"/>
          </a:xfrm>
        </p:grpSpPr>
        <p:sp>
          <p:nvSpPr>
            <p:cNvPr name="Freeform 25" id="25"/>
            <p:cNvSpPr/>
            <p:nvPr/>
          </p:nvSpPr>
          <p:spPr>
            <a:xfrm flipH="false" flipV="false" rot="0">
              <a:off x="0" y="0"/>
              <a:ext cx="4754880" cy="1005840"/>
            </a:xfrm>
            <a:custGeom>
              <a:avLst/>
              <a:gdLst/>
              <a:ahLst/>
              <a:cxnLst/>
              <a:rect r="r" b="b" t="t" l="l"/>
              <a:pathLst>
                <a:path h="1005840" w="4754880">
                  <a:moveTo>
                    <a:pt x="0" y="0"/>
                  </a:moveTo>
                  <a:lnTo>
                    <a:pt x="4754880" y="0"/>
                  </a:lnTo>
                  <a:lnTo>
                    <a:pt x="4754880" y="1005840"/>
                  </a:lnTo>
                  <a:lnTo>
                    <a:pt x="0" y="1005840"/>
                  </a:lnTo>
                  <a:close/>
                </a:path>
              </a:pathLst>
            </a:custGeom>
            <a:blipFill>
              <a:blip r:embed="rId3">
                <a:alphaModFix amt="0"/>
              </a:blip>
              <a:stretch>
                <a:fillRect l="0" t="-42111" r="0" b="-42111"/>
              </a:stretch>
            </a:blipFill>
          </p:spPr>
        </p:sp>
        <p:sp>
          <p:nvSpPr>
            <p:cNvPr name="TextBox 26" id="26"/>
            <p:cNvSpPr txBox="true"/>
            <p:nvPr/>
          </p:nvSpPr>
          <p:spPr>
            <a:xfrm>
              <a:off x="0" y="-47625"/>
              <a:ext cx="4754880" cy="1053465"/>
            </a:xfrm>
            <a:prstGeom prst="rect">
              <a:avLst/>
            </a:prstGeom>
          </p:spPr>
          <p:txBody>
            <a:bodyPr anchor="ctr" rtlCol="false" tIns="0" lIns="0" bIns="0" rIns="0"/>
            <a:lstStyle/>
            <a:p>
              <a:pPr algn="ctr">
                <a:lnSpc>
                  <a:spcPts val="2340"/>
                </a:lnSpc>
              </a:pPr>
              <a:r>
                <a:rPr lang="en-US" sz="1950">
                  <a:solidFill>
                    <a:srgbClr val="6B7280"/>
                  </a:solidFill>
                  <a:latin typeface="Calibri (MS)"/>
                  <a:ea typeface="Calibri (MS)"/>
                  <a:cs typeface="Calibri (MS)"/>
                  <a:sym typeface="Calibri (MS)"/>
                </a:rPr>
                <a:t>Low</a:t>
              </a:r>
            </a:p>
          </p:txBody>
        </p:sp>
      </p:grpSp>
      <p:grpSp>
        <p:nvGrpSpPr>
          <p:cNvPr name="Group 27" id="27"/>
          <p:cNvGrpSpPr/>
          <p:nvPr/>
        </p:nvGrpSpPr>
        <p:grpSpPr>
          <a:xfrm rot="0">
            <a:off x="7349109" y="5915787"/>
            <a:ext cx="3585210" cy="773430"/>
            <a:chOff x="0" y="0"/>
            <a:chExt cx="4780280" cy="1031240"/>
          </a:xfrm>
        </p:grpSpPr>
        <p:sp>
          <p:nvSpPr>
            <p:cNvPr name="Freeform 28" id="28"/>
            <p:cNvSpPr/>
            <p:nvPr/>
          </p:nvSpPr>
          <p:spPr>
            <a:xfrm flipH="false" flipV="false" rot="0">
              <a:off x="0" y="0"/>
              <a:ext cx="4780280" cy="1031240"/>
            </a:xfrm>
            <a:custGeom>
              <a:avLst/>
              <a:gdLst/>
              <a:ahLst/>
              <a:cxnLst/>
              <a:rect r="r" b="b" t="t" l="l"/>
              <a:pathLst>
                <a:path h="1031240" w="4780280">
                  <a:moveTo>
                    <a:pt x="0" y="168783"/>
                  </a:moveTo>
                  <a:cubicBezTo>
                    <a:pt x="0" y="75565"/>
                    <a:pt x="75565" y="0"/>
                    <a:pt x="168783" y="0"/>
                  </a:cubicBezTo>
                  <a:lnTo>
                    <a:pt x="4611497" y="0"/>
                  </a:lnTo>
                  <a:cubicBezTo>
                    <a:pt x="4704715" y="0"/>
                    <a:pt x="4780280" y="75565"/>
                    <a:pt x="4780280" y="168783"/>
                  </a:cubicBezTo>
                  <a:lnTo>
                    <a:pt x="4780280" y="862457"/>
                  </a:lnTo>
                  <a:cubicBezTo>
                    <a:pt x="4780280" y="955675"/>
                    <a:pt x="4704715" y="1031240"/>
                    <a:pt x="4611497" y="1031240"/>
                  </a:cubicBezTo>
                  <a:lnTo>
                    <a:pt x="168783" y="1031240"/>
                  </a:lnTo>
                  <a:cubicBezTo>
                    <a:pt x="75565" y="1031240"/>
                    <a:pt x="0" y="955675"/>
                    <a:pt x="0" y="862457"/>
                  </a:cubicBezTo>
                  <a:close/>
                </a:path>
              </a:pathLst>
            </a:custGeom>
            <a:solidFill>
              <a:srgbClr val="F4F7FC"/>
            </a:solidFill>
            <a:ln w="19050" cap="sq">
              <a:solidFill>
                <a:srgbClr val="D7DCEC"/>
              </a:solidFill>
              <a:prstDash val="solid"/>
              <a:miter/>
            </a:ln>
          </p:spPr>
        </p:sp>
      </p:grpSp>
      <p:grpSp>
        <p:nvGrpSpPr>
          <p:cNvPr name="Group 29" id="29"/>
          <p:cNvGrpSpPr/>
          <p:nvPr/>
        </p:nvGrpSpPr>
        <p:grpSpPr>
          <a:xfrm rot="0">
            <a:off x="7358634" y="5925312"/>
            <a:ext cx="3566160" cy="754380"/>
            <a:chOff x="0" y="0"/>
            <a:chExt cx="4754880" cy="1005840"/>
          </a:xfrm>
        </p:grpSpPr>
        <p:sp>
          <p:nvSpPr>
            <p:cNvPr name="Freeform 30" id="30"/>
            <p:cNvSpPr/>
            <p:nvPr/>
          </p:nvSpPr>
          <p:spPr>
            <a:xfrm flipH="false" flipV="false" rot="0">
              <a:off x="0" y="0"/>
              <a:ext cx="4754880" cy="1005840"/>
            </a:xfrm>
            <a:custGeom>
              <a:avLst/>
              <a:gdLst/>
              <a:ahLst/>
              <a:cxnLst/>
              <a:rect r="r" b="b" t="t" l="l"/>
              <a:pathLst>
                <a:path h="1005840" w="4754880">
                  <a:moveTo>
                    <a:pt x="0" y="0"/>
                  </a:moveTo>
                  <a:lnTo>
                    <a:pt x="4754880" y="0"/>
                  </a:lnTo>
                  <a:lnTo>
                    <a:pt x="4754880" y="1005840"/>
                  </a:lnTo>
                  <a:lnTo>
                    <a:pt x="0" y="1005840"/>
                  </a:lnTo>
                  <a:close/>
                </a:path>
              </a:pathLst>
            </a:custGeom>
            <a:blipFill>
              <a:blip r:embed="rId3">
                <a:alphaModFix amt="0"/>
              </a:blip>
              <a:stretch>
                <a:fillRect l="0" t="-42111" r="0" b="-42111"/>
              </a:stretch>
            </a:blipFill>
          </p:spPr>
        </p:sp>
        <p:sp>
          <p:nvSpPr>
            <p:cNvPr name="TextBox 31" id="31"/>
            <p:cNvSpPr txBox="true"/>
            <p:nvPr/>
          </p:nvSpPr>
          <p:spPr>
            <a:xfrm>
              <a:off x="0" y="-47625"/>
              <a:ext cx="4754880" cy="1053465"/>
            </a:xfrm>
            <a:prstGeom prst="rect">
              <a:avLst/>
            </a:prstGeom>
          </p:spPr>
          <p:txBody>
            <a:bodyPr anchor="ctr" rtlCol="false" tIns="0" lIns="0" bIns="0" rIns="0"/>
            <a:lstStyle/>
            <a:p>
              <a:pPr algn="ctr">
                <a:lnSpc>
                  <a:spcPts val="2340"/>
                </a:lnSpc>
              </a:pPr>
              <a:r>
                <a:rPr lang="en-US" sz="1950">
                  <a:solidFill>
                    <a:srgbClr val="6B7280"/>
                  </a:solidFill>
                  <a:latin typeface="Calibri (MS)"/>
                  <a:ea typeface="Calibri (MS)"/>
                  <a:cs typeface="Calibri (MS)"/>
                  <a:sym typeface="Calibri (MS)"/>
                </a:rPr>
                <a:t>Medium</a:t>
              </a:r>
            </a:p>
          </p:txBody>
        </p:sp>
      </p:grpSp>
      <p:grpSp>
        <p:nvGrpSpPr>
          <p:cNvPr name="Group 32" id="32"/>
          <p:cNvGrpSpPr/>
          <p:nvPr/>
        </p:nvGrpSpPr>
        <p:grpSpPr>
          <a:xfrm rot="0">
            <a:off x="11326749" y="5915787"/>
            <a:ext cx="3585210" cy="773430"/>
            <a:chOff x="0" y="0"/>
            <a:chExt cx="4780280" cy="1031240"/>
          </a:xfrm>
        </p:grpSpPr>
        <p:sp>
          <p:nvSpPr>
            <p:cNvPr name="Freeform 33" id="33"/>
            <p:cNvSpPr/>
            <p:nvPr/>
          </p:nvSpPr>
          <p:spPr>
            <a:xfrm flipH="false" flipV="false" rot="0">
              <a:off x="0" y="0"/>
              <a:ext cx="4780280" cy="1031240"/>
            </a:xfrm>
            <a:custGeom>
              <a:avLst/>
              <a:gdLst/>
              <a:ahLst/>
              <a:cxnLst/>
              <a:rect r="r" b="b" t="t" l="l"/>
              <a:pathLst>
                <a:path h="1031240" w="4780280">
                  <a:moveTo>
                    <a:pt x="0" y="168783"/>
                  </a:moveTo>
                  <a:cubicBezTo>
                    <a:pt x="0" y="75565"/>
                    <a:pt x="75565" y="0"/>
                    <a:pt x="168783" y="0"/>
                  </a:cubicBezTo>
                  <a:lnTo>
                    <a:pt x="4611497" y="0"/>
                  </a:lnTo>
                  <a:cubicBezTo>
                    <a:pt x="4704715" y="0"/>
                    <a:pt x="4780280" y="75565"/>
                    <a:pt x="4780280" y="168783"/>
                  </a:cubicBezTo>
                  <a:lnTo>
                    <a:pt x="4780280" y="862457"/>
                  </a:lnTo>
                  <a:cubicBezTo>
                    <a:pt x="4780280" y="955675"/>
                    <a:pt x="4704715" y="1031240"/>
                    <a:pt x="4611497" y="1031240"/>
                  </a:cubicBezTo>
                  <a:lnTo>
                    <a:pt x="168783" y="1031240"/>
                  </a:lnTo>
                  <a:cubicBezTo>
                    <a:pt x="75565" y="1031240"/>
                    <a:pt x="0" y="955675"/>
                    <a:pt x="0" y="862457"/>
                  </a:cubicBezTo>
                  <a:close/>
                </a:path>
              </a:pathLst>
            </a:custGeom>
            <a:solidFill>
              <a:srgbClr val="F4F7FC"/>
            </a:solidFill>
            <a:ln w="19050" cap="sq">
              <a:solidFill>
                <a:srgbClr val="D7DCEC"/>
              </a:solidFill>
              <a:prstDash val="solid"/>
              <a:miter/>
            </a:ln>
          </p:spPr>
        </p:sp>
      </p:grpSp>
      <p:grpSp>
        <p:nvGrpSpPr>
          <p:cNvPr name="Group 34" id="34"/>
          <p:cNvGrpSpPr/>
          <p:nvPr/>
        </p:nvGrpSpPr>
        <p:grpSpPr>
          <a:xfrm rot="0">
            <a:off x="11336274" y="5925312"/>
            <a:ext cx="3566160" cy="754380"/>
            <a:chOff x="0" y="0"/>
            <a:chExt cx="4754880" cy="1005840"/>
          </a:xfrm>
        </p:grpSpPr>
        <p:sp>
          <p:nvSpPr>
            <p:cNvPr name="Freeform 35" id="35"/>
            <p:cNvSpPr/>
            <p:nvPr/>
          </p:nvSpPr>
          <p:spPr>
            <a:xfrm flipH="false" flipV="false" rot="0">
              <a:off x="0" y="0"/>
              <a:ext cx="4754880" cy="1005840"/>
            </a:xfrm>
            <a:custGeom>
              <a:avLst/>
              <a:gdLst/>
              <a:ahLst/>
              <a:cxnLst/>
              <a:rect r="r" b="b" t="t" l="l"/>
              <a:pathLst>
                <a:path h="1005840" w="4754880">
                  <a:moveTo>
                    <a:pt x="0" y="0"/>
                  </a:moveTo>
                  <a:lnTo>
                    <a:pt x="4754880" y="0"/>
                  </a:lnTo>
                  <a:lnTo>
                    <a:pt x="4754880" y="1005840"/>
                  </a:lnTo>
                  <a:lnTo>
                    <a:pt x="0" y="1005840"/>
                  </a:lnTo>
                  <a:close/>
                </a:path>
              </a:pathLst>
            </a:custGeom>
            <a:blipFill>
              <a:blip r:embed="rId3">
                <a:alphaModFix amt="0"/>
              </a:blip>
              <a:stretch>
                <a:fillRect l="0" t="-42111" r="0" b="-42111"/>
              </a:stretch>
            </a:blipFill>
          </p:spPr>
        </p:sp>
        <p:sp>
          <p:nvSpPr>
            <p:cNvPr name="TextBox 36" id="36"/>
            <p:cNvSpPr txBox="true"/>
            <p:nvPr/>
          </p:nvSpPr>
          <p:spPr>
            <a:xfrm>
              <a:off x="0" y="-47625"/>
              <a:ext cx="4754880" cy="1053465"/>
            </a:xfrm>
            <a:prstGeom prst="rect">
              <a:avLst/>
            </a:prstGeom>
          </p:spPr>
          <p:txBody>
            <a:bodyPr anchor="ctr" rtlCol="false" tIns="0" lIns="0" bIns="0" rIns="0"/>
            <a:lstStyle/>
            <a:p>
              <a:pPr algn="ctr">
                <a:lnSpc>
                  <a:spcPts val="2340"/>
                </a:lnSpc>
              </a:pPr>
              <a:r>
                <a:rPr lang="en-US" sz="1950">
                  <a:solidFill>
                    <a:srgbClr val="6B7280"/>
                  </a:solidFill>
                  <a:latin typeface="Calibri (MS)"/>
                  <a:ea typeface="Calibri (MS)"/>
                  <a:cs typeface="Calibri (MS)"/>
                  <a:sym typeface="Calibri (MS)"/>
                </a:rPr>
                <a:t>High</a:t>
              </a:r>
            </a:p>
          </p:txBody>
        </p:sp>
      </p:grpSp>
      <p:grpSp>
        <p:nvGrpSpPr>
          <p:cNvPr name="Group 37" id="37"/>
          <p:cNvGrpSpPr/>
          <p:nvPr/>
        </p:nvGrpSpPr>
        <p:grpSpPr>
          <a:xfrm rot="0">
            <a:off x="960120" y="7063740"/>
            <a:ext cx="16322040" cy="384048"/>
            <a:chOff x="0" y="0"/>
            <a:chExt cx="21762720" cy="512064"/>
          </a:xfrm>
        </p:grpSpPr>
        <p:sp>
          <p:nvSpPr>
            <p:cNvPr name="Freeform 38" id="38"/>
            <p:cNvSpPr/>
            <p:nvPr/>
          </p:nvSpPr>
          <p:spPr>
            <a:xfrm flipH="false" flipV="false" rot="0">
              <a:off x="0" y="0"/>
              <a:ext cx="21762720" cy="512064"/>
            </a:xfrm>
            <a:custGeom>
              <a:avLst/>
              <a:gdLst/>
              <a:ahLst/>
              <a:cxnLst/>
              <a:rect r="r" b="b" t="t" l="l"/>
              <a:pathLst>
                <a:path h="512064" w="21762720">
                  <a:moveTo>
                    <a:pt x="0" y="0"/>
                  </a:moveTo>
                  <a:lnTo>
                    <a:pt x="21762720" y="0"/>
                  </a:lnTo>
                  <a:lnTo>
                    <a:pt x="21762720" y="512064"/>
                  </a:lnTo>
                  <a:lnTo>
                    <a:pt x="0" y="512064"/>
                  </a:lnTo>
                  <a:close/>
                </a:path>
              </a:pathLst>
            </a:custGeom>
            <a:blipFill>
              <a:blip r:embed="rId3">
                <a:alphaModFix amt="0"/>
              </a:blip>
              <a:stretch>
                <a:fillRect l="0" t="-778114" r="0" b="-778114"/>
              </a:stretch>
            </a:blipFill>
          </p:spPr>
        </p:sp>
        <p:sp>
          <p:nvSpPr>
            <p:cNvPr name="TextBox 39" id="39"/>
            <p:cNvSpPr txBox="true"/>
            <p:nvPr/>
          </p:nvSpPr>
          <p:spPr>
            <a:xfrm>
              <a:off x="0" y="-19050"/>
              <a:ext cx="21762720" cy="531114"/>
            </a:xfrm>
            <a:prstGeom prst="rect">
              <a:avLst/>
            </a:prstGeom>
          </p:spPr>
          <p:txBody>
            <a:bodyPr anchor="ctr" rtlCol="false" tIns="0" lIns="0" bIns="0" rIns="0"/>
            <a:lstStyle/>
            <a:p>
              <a:pPr algn="ctr">
                <a:lnSpc>
                  <a:spcPts val="1889"/>
                </a:lnSpc>
              </a:pPr>
              <a:r>
                <a:rPr lang="en-US" b="true" sz="1575" spc="74">
                  <a:solidFill>
                    <a:srgbClr val="6B7280"/>
                  </a:solidFill>
                  <a:latin typeface="Calibri (MS) Bold"/>
                  <a:ea typeface="Calibri (MS) Bold"/>
                  <a:cs typeface="Calibri (MS) Bold"/>
                  <a:sym typeface="Calibri (MS) Bold"/>
                </a:rPr>
                <a:t>RESPONSE OPTIONS</a:t>
              </a:r>
            </a:p>
          </p:txBody>
        </p:sp>
      </p:grpSp>
      <p:grpSp>
        <p:nvGrpSpPr>
          <p:cNvPr name="Group 40" id="40"/>
          <p:cNvGrpSpPr/>
          <p:nvPr/>
        </p:nvGrpSpPr>
        <p:grpSpPr>
          <a:xfrm rot="0">
            <a:off x="1012317" y="7493127"/>
            <a:ext cx="3790950" cy="773430"/>
            <a:chOff x="0" y="0"/>
            <a:chExt cx="5054600" cy="1031240"/>
          </a:xfrm>
        </p:grpSpPr>
        <p:sp>
          <p:nvSpPr>
            <p:cNvPr name="Freeform 41" id="41"/>
            <p:cNvSpPr/>
            <p:nvPr/>
          </p:nvSpPr>
          <p:spPr>
            <a:xfrm flipH="false" flipV="false" rot="0">
              <a:off x="0" y="0"/>
              <a:ext cx="5054600" cy="1031240"/>
            </a:xfrm>
            <a:custGeom>
              <a:avLst/>
              <a:gdLst/>
              <a:ahLst/>
              <a:cxnLst/>
              <a:rect r="r" b="b" t="t" l="l"/>
              <a:pathLst>
                <a:path h="1031240" w="5054600">
                  <a:moveTo>
                    <a:pt x="0" y="168783"/>
                  </a:moveTo>
                  <a:cubicBezTo>
                    <a:pt x="0" y="75565"/>
                    <a:pt x="75565" y="0"/>
                    <a:pt x="168783" y="0"/>
                  </a:cubicBezTo>
                  <a:lnTo>
                    <a:pt x="4885817" y="0"/>
                  </a:lnTo>
                  <a:cubicBezTo>
                    <a:pt x="4979035" y="0"/>
                    <a:pt x="5054600" y="75565"/>
                    <a:pt x="5054600" y="168783"/>
                  </a:cubicBezTo>
                  <a:lnTo>
                    <a:pt x="5054600" y="862457"/>
                  </a:lnTo>
                  <a:cubicBezTo>
                    <a:pt x="5054600" y="955675"/>
                    <a:pt x="4979035" y="1031240"/>
                    <a:pt x="4885817" y="1031240"/>
                  </a:cubicBezTo>
                  <a:lnTo>
                    <a:pt x="168783" y="1031240"/>
                  </a:lnTo>
                  <a:cubicBezTo>
                    <a:pt x="75565" y="1031240"/>
                    <a:pt x="0" y="955675"/>
                    <a:pt x="0" y="862457"/>
                  </a:cubicBezTo>
                  <a:close/>
                </a:path>
              </a:pathLst>
            </a:custGeom>
            <a:solidFill>
              <a:srgbClr val="F4F7FC"/>
            </a:solidFill>
            <a:ln w="19050" cap="sq">
              <a:solidFill>
                <a:srgbClr val="D7DCEC"/>
              </a:solidFill>
              <a:prstDash val="solid"/>
              <a:miter/>
            </a:ln>
          </p:spPr>
        </p:sp>
      </p:grpSp>
      <p:grpSp>
        <p:nvGrpSpPr>
          <p:cNvPr name="Group 42" id="42"/>
          <p:cNvGrpSpPr/>
          <p:nvPr/>
        </p:nvGrpSpPr>
        <p:grpSpPr>
          <a:xfrm rot="0">
            <a:off x="1021842" y="7502652"/>
            <a:ext cx="3771900" cy="754380"/>
            <a:chOff x="0" y="0"/>
            <a:chExt cx="5029200" cy="1005840"/>
          </a:xfrm>
        </p:grpSpPr>
        <p:sp>
          <p:nvSpPr>
            <p:cNvPr name="Freeform 43" id="43"/>
            <p:cNvSpPr/>
            <p:nvPr/>
          </p:nvSpPr>
          <p:spPr>
            <a:xfrm flipH="false" flipV="false" rot="0">
              <a:off x="0" y="0"/>
              <a:ext cx="5029200" cy="1005840"/>
            </a:xfrm>
            <a:custGeom>
              <a:avLst/>
              <a:gdLst/>
              <a:ahLst/>
              <a:cxnLst/>
              <a:rect r="r" b="b" t="t" l="l"/>
              <a:pathLst>
                <a:path h="1005840" w="5029200">
                  <a:moveTo>
                    <a:pt x="0" y="0"/>
                  </a:moveTo>
                  <a:lnTo>
                    <a:pt x="5029200" y="0"/>
                  </a:lnTo>
                  <a:lnTo>
                    <a:pt x="5029200" y="1005840"/>
                  </a:lnTo>
                  <a:lnTo>
                    <a:pt x="0" y="1005840"/>
                  </a:lnTo>
                  <a:close/>
                </a:path>
              </a:pathLst>
            </a:custGeom>
            <a:blipFill>
              <a:blip r:embed="rId3">
                <a:alphaModFix amt="0"/>
              </a:blip>
              <a:stretch>
                <a:fillRect l="0" t="-47425" r="0" b="-47425"/>
              </a:stretch>
            </a:blipFill>
          </p:spPr>
        </p:sp>
        <p:sp>
          <p:nvSpPr>
            <p:cNvPr name="TextBox 44" id="44"/>
            <p:cNvSpPr txBox="true"/>
            <p:nvPr/>
          </p:nvSpPr>
          <p:spPr>
            <a:xfrm>
              <a:off x="0" y="-47625"/>
              <a:ext cx="5029200" cy="1053465"/>
            </a:xfrm>
            <a:prstGeom prst="rect">
              <a:avLst/>
            </a:prstGeom>
          </p:spPr>
          <p:txBody>
            <a:bodyPr anchor="ctr" rtlCol="false" tIns="0" lIns="0" bIns="0" rIns="0"/>
            <a:lstStyle/>
            <a:p>
              <a:pPr algn="ctr">
                <a:lnSpc>
                  <a:spcPts val="2340"/>
                </a:lnSpc>
              </a:pPr>
              <a:r>
                <a:rPr lang="en-US" sz="1950">
                  <a:solidFill>
                    <a:srgbClr val="6B7280"/>
                  </a:solidFill>
                  <a:latin typeface="Calibri (MS)"/>
                  <a:ea typeface="Calibri (MS)"/>
                  <a:cs typeface="Calibri (MS)"/>
                  <a:sym typeface="Calibri (MS)"/>
                </a:rPr>
                <a:t>Treat</a:t>
              </a:r>
            </a:p>
          </p:txBody>
        </p:sp>
      </p:grpSp>
      <p:grpSp>
        <p:nvGrpSpPr>
          <p:cNvPr name="Group 45" id="45"/>
          <p:cNvGrpSpPr/>
          <p:nvPr/>
        </p:nvGrpSpPr>
        <p:grpSpPr>
          <a:xfrm rot="0">
            <a:off x="5168265" y="7493127"/>
            <a:ext cx="3790950" cy="773430"/>
            <a:chOff x="0" y="0"/>
            <a:chExt cx="5054600" cy="1031240"/>
          </a:xfrm>
        </p:grpSpPr>
        <p:sp>
          <p:nvSpPr>
            <p:cNvPr name="Freeform 46" id="46"/>
            <p:cNvSpPr/>
            <p:nvPr/>
          </p:nvSpPr>
          <p:spPr>
            <a:xfrm flipH="false" flipV="false" rot="0">
              <a:off x="0" y="0"/>
              <a:ext cx="5054600" cy="1031240"/>
            </a:xfrm>
            <a:custGeom>
              <a:avLst/>
              <a:gdLst/>
              <a:ahLst/>
              <a:cxnLst/>
              <a:rect r="r" b="b" t="t" l="l"/>
              <a:pathLst>
                <a:path h="1031240" w="5054600">
                  <a:moveTo>
                    <a:pt x="0" y="168783"/>
                  </a:moveTo>
                  <a:cubicBezTo>
                    <a:pt x="0" y="75565"/>
                    <a:pt x="75565" y="0"/>
                    <a:pt x="168783" y="0"/>
                  </a:cubicBezTo>
                  <a:lnTo>
                    <a:pt x="4885817" y="0"/>
                  </a:lnTo>
                  <a:cubicBezTo>
                    <a:pt x="4979035" y="0"/>
                    <a:pt x="5054600" y="75565"/>
                    <a:pt x="5054600" y="168783"/>
                  </a:cubicBezTo>
                  <a:lnTo>
                    <a:pt x="5054600" y="862457"/>
                  </a:lnTo>
                  <a:cubicBezTo>
                    <a:pt x="5054600" y="955675"/>
                    <a:pt x="4979035" y="1031240"/>
                    <a:pt x="4885817" y="1031240"/>
                  </a:cubicBezTo>
                  <a:lnTo>
                    <a:pt x="168783" y="1031240"/>
                  </a:lnTo>
                  <a:cubicBezTo>
                    <a:pt x="75565" y="1031240"/>
                    <a:pt x="0" y="955675"/>
                    <a:pt x="0" y="862457"/>
                  </a:cubicBezTo>
                  <a:close/>
                </a:path>
              </a:pathLst>
            </a:custGeom>
            <a:solidFill>
              <a:srgbClr val="F4F7FC"/>
            </a:solidFill>
            <a:ln w="19050" cap="sq">
              <a:solidFill>
                <a:srgbClr val="D7DCEC"/>
              </a:solidFill>
              <a:prstDash val="solid"/>
              <a:miter/>
            </a:ln>
          </p:spPr>
        </p:sp>
      </p:grpSp>
      <p:grpSp>
        <p:nvGrpSpPr>
          <p:cNvPr name="Group 47" id="47"/>
          <p:cNvGrpSpPr/>
          <p:nvPr/>
        </p:nvGrpSpPr>
        <p:grpSpPr>
          <a:xfrm rot="0">
            <a:off x="5177790" y="7502652"/>
            <a:ext cx="3771900" cy="754380"/>
            <a:chOff x="0" y="0"/>
            <a:chExt cx="5029200" cy="1005840"/>
          </a:xfrm>
        </p:grpSpPr>
        <p:sp>
          <p:nvSpPr>
            <p:cNvPr name="Freeform 48" id="48"/>
            <p:cNvSpPr/>
            <p:nvPr/>
          </p:nvSpPr>
          <p:spPr>
            <a:xfrm flipH="false" flipV="false" rot="0">
              <a:off x="0" y="0"/>
              <a:ext cx="5029200" cy="1005840"/>
            </a:xfrm>
            <a:custGeom>
              <a:avLst/>
              <a:gdLst/>
              <a:ahLst/>
              <a:cxnLst/>
              <a:rect r="r" b="b" t="t" l="l"/>
              <a:pathLst>
                <a:path h="1005840" w="5029200">
                  <a:moveTo>
                    <a:pt x="0" y="0"/>
                  </a:moveTo>
                  <a:lnTo>
                    <a:pt x="5029200" y="0"/>
                  </a:lnTo>
                  <a:lnTo>
                    <a:pt x="5029200" y="1005840"/>
                  </a:lnTo>
                  <a:lnTo>
                    <a:pt x="0" y="1005840"/>
                  </a:lnTo>
                  <a:close/>
                </a:path>
              </a:pathLst>
            </a:custGeom>
            <a:blipFill>
              <a:blip r:embed="rId3">
                <a:alphaModFix amt="0"/>
              </a:blip>
              <a:stretch>
                <a:fillRect l="0" t="-47425" r="0" b="-47425"/>
              </a:stretch>
            </a:blipFill>
          </p:spPr>
        </p:sp>
        <p:sp>
          <p:nvSpPr>
            <p:cNvPr name="TextBox 49" id="49"/>
            <p:cNvSpPr txBox="true"/>
            <p:nvPr/>
          </p:nvSpPr>
          <p:spPr>
            <a:xfrm>
              <a:off x="0" y="-47625"/>
              <a:ext cx="5029200" cy="1053465"/>
            </a:xfrm>
            <a:prstGeom prst="rect">
              <a:avLst/>
            </a:prstGeom>
          </p:spPr>
          <p:txBody>
            <a:bodyPr anchor="ctr" rtlCol="false" tIns="0" lIns="0" bIns="0" rIns="0"/>
            <a:lstStyle/>
            <a:p>
              <a:pPr algn="ctr">
                <a:lnSpc>
                  <a:spcPts val="2340"/>
                </a:lnSpc>
              </a:pPr>
              <a:r>
                <a:rPr lang="en-US" sz="1950">
                  <a:solidFill>
                    <a:srgbClr val="6B7280"/>
                  </a:solidFill>
                  <a:latin typeface="Calibri (MS)"/>
                  <a:ea typeface="Calibri (MS)"/>
                  <a:cs typeface="Calibri (MS)"/>
                  <a:sym typeface="Calibri (MS)"/>
                </a:rPr>
                <a:t>Transfer</a:t>
              </a:r>
            </a:p>
          </p:txBody>
        </p:sp>
      </p:grpSp>
      <p:grpSp>
        <p:nvGrpSpPr>
          <p:cNvPr name="Group 50" id="50"/>
          <p:cNvGrpSpPr/>
          <p:nvPr/>
        </p:nvGrpSpPr>
        <p:grpSpPr>
          <a:xfrm rot="0">
            <a:off x="9324213" y="7493127"/>
            <a:ext cx="3790950" cy="773430"/>
            <a:chOff x="0" y="0"/>
            <a:chExt cx="5054600" cy="1031240"/>
          </a:xfrm>
        </p:grpSpPr>
        <p:sp>
          <p:nvSpPr>
            <p:cNvPr name="Freeform 51" id="51"/>
            <p:cNvSpPr/>
            <p:nvPr/>
          </p:nvSpPr>
          <p:spPr>
            <a:xfrm flipH="false" flipV="false" rot="0">
              <a:off x="0" y="0"/>
              <a:ext cx="5054600" cy="1031240"/>
            </a:xfrm>
            <a:custGeom>
              <a:avLst/>
              <a:gdLst/>
              <a:ahLst/>
              <a:cxnLst/>
              <a:rect r="r" b="b" t="t" l="l"/>
              <a:pathLst>
                <a:path h="1031240" w="5054600">
                  <a:moveTo>
                    <a:pt x="0" y="168783"/>
                  </a:moveTo>
                  <a:cubicBezTo>
                    <a:pt x="0" y="75565"/>
                    <a:pt x="75565" y="0"/>
                    <a:pt x="168783" y="0"/>
                  </a:cubicBezTo>
                  <a:lnTo>
                    <a:pt x="4885817" y="0"/>
                  </a:lnTo>
                  <a:cubicBezTo>
                    <a:pt x="4979035" y="0"/>
                    <a:pt x="5054600" y="75565"/>
                    <a:pt x="5054600" y="168783"/>
                  </a:cubicBezTo>
                  <a:lnTo>
                    <a:pt x="5054600" y="862457"/>
                  </a:lnTo>
                  <a:cubicBezTo>
                    <a:pt x="5054600" y="955675"/>
                    <a:pt x="4979035" y="1031240"/>
                    <a:pt x="4885817" y="1031240"/>
                  </a:cubicBezTo>
                  <a:lnTo>
                    <a:pt x="168783" y="1031240"/>
                  </a:lnTo>
                  <a:cubicBezTo>
                    <a:pt x="75565" y="1031240"/>
                    <a:pt x="0" y="955675"/>
                    <a:pt x="0" y="862457"/>
                  </a:cubicBezTo>
                  <a:close/>
                </a:path>
              </a:pathLst>
            </a:custGeom>
            <a:solidFill>
              <a:srgbClr val="F4F7FC"/>
            </a:solidFill>
            <a:ln w="19050" cap="sq">
              <a:solidFill>
                <a:srgbClr val="D7DCEC"/>
              </a:solidFill>
              <a:prstDash val="solid"/>
              <a:miter/>
            </a:ln>
          </p:spPr>
        </p:sp>
      </p:grpSp>
      <p:grpSp>
        <p:nvGrpSpPr>
          <p:cNvPr name="Group 52" id="52"/>
          <p:cNvGrpSpPr/>
          <p:nvPr/>
        </p:nvGrpSpPr>
        <p:grpSpPr>
          <a:xfrm rot="0">
            <a:off x="9333738" y="7502652"/>
            <a:ext cx="3771900" cy="754380"/>
            <a:chOff x="0" y="0"/>
            <a:chExt cx="5029200" cy="1005840"/>
          </a:xfrm>
        </p:grpSpPr>
        <p:sp>
          <p:nvSpPr>
            <p:cNvPr name="Freeform 53" id="53"/>
            <p:cNvSpPr/>
            <p:nvPr/>
          </p:nvSpPr>
          <p:spPr>
            <a:xfrm flipH="false" flipV="false" rot="0">
              <a:off x="0" y="0"/>
              <a:ext cx="5029200" cy="1005840"/>
            </a:xfrm>
            <a:custGeom>
              <a:avLst/>
              <a:gdLst/>
              <a:ahLst/>
              <a:cxnLst/>
              <a:rect r="r" b="b" t="t" l="l"/>
              <a:pathLst>
                <a:path h="1005840" w="5029200">
                  <a:moveTo>
                    <a:pt x="0" y="0"/>
                  </a:moveTo>
                  <a:lnTo>
                    <a:pt x="5029200" y="0"/>
                  </a:lnTo>
                  <a:lnTo>
                    <a:pt x="5029200" y="1005840"/>
                  </a:lnTo>
                  <a:lnTo>
                    <a:pt x="0" y="1005840"/>
                  </a:lnTo>
                  <a:close/>
                </a:path>
              </a:pathLst>
            </a:custGeom>
            <a:blipFill>
              <a:blip r:embed="rId3">
                <a:alphaModFix amt="0"/>
              </a:blip>
              <a:stretch>
                <a:fillRect l="0" t="-47425" r="0" b="-47425"/>
              </a:stretch>
            </a:blipFill>
          </p:spPr>
        </p:sp>
        <p:sp>
          <p:nvSpPr>
            <p:cNvPr name="TextBox 54" id="54"/>
            <p:cNvSpPr txBox="true"/>
            <p:nvPr/>
          </p:nvSpPr>
          <p:spPr>
            <a:xfrm>
              <a:off x="0" y="-47625"/>
              <a:ext cx="5029200" cy="1053465"/>
            </a:xfrm>
            <a:prstGeom prst="rect">
              <a:avLst/>
            </a:prstGeom>
          </p:spPr>
          <p:txBody>
            <a:bodyPr anchor="ctr" rtlCol="false" tIns="0" lIns="0" bIns="0" rIns="0"/>
            <a:lstStyle/>
            <a:p>
              <a:pPr algn="ctr">
                <a:lnSpc>
                  <a:spcPts val="2340"/>
                </a:lnSpc>
              </a:pPr>
              <a:r>
                <a:rPr lang="en-US" sz="1950">
                  <a:solidFill>
                    <a:srgbClr val="6B7280"/>
                  </a:solidFill>
                  <a:latin typeface="Calibri (MS)"/>
                  <a:ea typeface="Calibri (MS)"/>
                  <a:cs typeface="Calibri (MS)"/>
                  <a:sym typeface="Calibri (MS)"/>
                </a:rPr>
                <a:t>Tolerate</a:t>
              </a:r>
            </a:p>
          </p:txBody>
        </p:sp>
      </p:grpSp>
      <p:grpSp>
        <p:nvGrpSpPr>
          <p:cNvPr name="Group 55" id="55"/>
          <p:cNvGrpSpPr/>
          <p:nvPr/>
        </p:nvGrpSpPr>
        <p:grpSpPr>
          <a:xfrm rot="0">
            <a:off x="13480161" y="7493127"/>
            <a:ext cx="3790950" cy="773430"/>
            <a:chOff x="0" y="0"/>
            <a:chExt cx="5054600" cy="1031240"/>
          </a:xfrm>
        </p:grpSpPr>
        <p:sp>
          <p:nvSpPr>
            <p:cNvPr name="Freeform 56" id="56"/>
            <p:cNvSpPr/>
            <p:nvPr/>
          </p:nvSpPr>
          <p:spPr>
            <a:xfrm flipH="false" flipV="false" rot="0">
              <a:off x="0" y="0"/>
              <a:ext cx="5054600" cy="1031240"/>
            </a:xfrm>
            <a:custGeom>
              <a:avLst/>
              <a:gdLst/>
              <a:ahLst/>
              <a:cxnLst/>
              <a:rect r="r" b="b" t="t" l="l"/>
              <a:pathLst>
                <a:path h="1031240" w="5054600">
                  <a:moveTo>
                    <a:pt x="0" y="168783"/>
                  </a:moveTo>
                  <a:cubicBezTo>
                    <a:pt x="0" y="75565"/>
                    <a:pt x="75565" y="0"/>
                    <a:pt x="168783" y="0"/>
                  </a:cubicBezTo>
                  <a:lnTo>
                    <a:pt x="4885817" y="0"/>
                  </a:lnTo>
                  <a:cubicBezTo>
                    <a:pt x="4979035" y="0"/>
                    <a:pt x="5054600" y="75565"/>
                    <a:pt x="5054600" y="168783"/>
                  </a:cubicBezTo>
                  <a:lnTo>
                    <a:pt x="5054600" y="862457"/>
                  </a:lnTo>
                  <a:cubicBezTo>
                    <a:pt x="5054600" y="955675"/>
                    <a:pt x="4979035" y="1031240"/>
                    <a:pt x="4885817" y="1031240"/>
                  </a:cubicBezTo>
                  <a:lnTo>
                    <a:pt x="168783" y="1031240"/>
                  </a:lnTo>
                  <a:cubicBezTo>
                    <a:pt x="75565" y="1031240"/>
                    <a:pt x="0" y="955675"/>
                    <a:pt x="0" y="862457"/>
                  </a:cubicBezTo>
                  <a:close/>
                </a:path>
              </a:pathLst>
            </a:custGeom>
            <a:solidFill>
              <a:srgbClr val="F4F7FC"/>
            </a:solidFill>
            <a:ln w="19050" cap="sq">
              <a:solidFill>
                <a:srgbClr val="D7DCEC"/>
              </a:solidFill>
              <a:prstDash val="solid"/>
              <a:miter/>
            </a:ln>
          </p:spPr>
        </p:sp>
      </p:grpSp>
      <p:grpSp>
        <p:nvGrpSpPr>
          <p:cNvPr name="Group 57" id="57"/>
          <p:cNvGrpSpPr/>
          <p:nvPr/>
        </p:nvGrpSpPr>
        <p:grpSpPr>
          <a:xfrm rot="0">
            <a:off x="13489686" y="7502652"/>
            <a:ext cx="3771900" cy="754380"/>
            <a:chOff x="0" y="0"/>
            <a:chExt cx="5029200" cy="1005840"/>
          </a:xfrm>
        </p:grpSpPr>
        <p:sp>
          <p:nvSpPr>
            <p:cNvPr name="Freeform 58" id="58"/>
            <p:cNvSpPr/>
            <p:nvPr/>
          </p:nvSpPr>
          <p:spPr>
            <a:xfrm flipH="false" flipV="false" rot="0">
              <a:off x="0" y="0"/>
              <a:ext cx="5029200" cy="1005840"/>
            </a:xfrm>
            <a:custGeom>
              <a:avLst/>
              <a:gdLst/>
              <a:ahLst/>
              <a:cxnLst/>
              <a:rect r="r" b="b" t="t" l="l"/>
              <a:pathLst>
                <a:path h="1005840" w="5029200">
                  <a:moveTo>
                    <a:pt x="0" y="0"/>
                  </a:moveTo>
                  <a:lnTo>
                    <a:pt x="5029200" y="0"/>
                  </a:lnTo>
                  <a:lnTo>
                    <a:pt x="5029200" y="1005840"/>
                  </a:lnTo>
                  <a:lnTo>
                    <a:pt x="0" y="1005840"/>
                  </a:lnTo>
                  <a:close/>
                </a:path>
              </a:pathLst>
            </a:custGeom>
            <a:blipFill>
              <a:blip r:embed="rId3">
                <a:alphaModFix amt="0"/>
              </a:blip>
              <a:stretch>
                <a:fillRect l="0" t="-47425" r="0" b="-47425"/>
              </a:stretch>
            </a:blipFill>
          </p:spPr>
        </p:sp>
        <p:sp>
          <p:nvSpPr>
            <p:cNvPr name="TextBox 59" id="59"/>
            <p:cNvSpPr txBox="true"/>
            <p:nvPr/>
          </p:nvSpPr>
          <p:spPr>
            <a:xfrm>
              <a:off x="0" y="-47625"/>
              <a:ext cx="5029200" cy="1053465"/>
            </a:xfrm>
            <a:prstGeom prst="rect">
              <a:avLst/>
            </a:prstGeom>
          </p:spPr>
          <p:txBody>
            <a:bodyPr anchor="ctr" rtlCol="false" tIns="0" lIns="0" bIns="0" rIns="0"/>
            <a:lstStyle/>
            <a:p>
              <a:pPr algn="ctr">
                <a:lnSpc>
                  <a:spcPts val="2340"/>
                </a:lnSpc>
              </a:pPr>
              <a:r>
                <a:rPr lang="en-US" sz="1950">
                  <a:solidFill>
                    <a:srgbClr val="6B7280"/>
                  </a:solidFill>
                  <a:latin typeface="Calibri (MS)"/>
                  <a:ea typeface="Calibri (MS)"/>
                  <a:cs typeface="Calibri (MS)"/>
                  <a:sym typeface="Calibri (MS)"/>
                </a:rPr>
                <a:t>Terminate</a:t>
              </a:r>
            </a:p>
          </p:txBody>
        </p:sp>
      </p:grpSp>
      <p:grpSp>
        <p:nvGrpSpPr>
          <p:cNvPr name="Group 60" id="60"/>
          <p:cNvGrpSpPr/>
          <p:nvPr/>
        </p:nvGrpSpPr>
        <p:grpSpPr>
          <a:xfrm rot="0">
            <a:off x="685800" y="9710928"/>
            <a:ext cx="10972800" cy="411480"/>
            <a:chOff x="0" y="0"/>
            <a:chExt cx="14630400" cy="548640"/>
          </a:xfrm>
        </p:grpSpPr>
        <p:sp>
          <p:nvSpPr>
            <p:cNvPr name="Freeform 61" id="61"/>
            <p:cNvSpPr/>
            <p:nvPr/>
          </p:nvSpPr>
          <p:spPr>
            <a:xfrm flipH="false" flipV="false" rot="0">
              <a:off x="0" y="0"/>
              <a:ext cx="14630400" cy="548640"/>
            </a:xfrm>
            <a:custGeom>
              <a:avLst/>
              <a:gdLst/>
              <a:ahLst/>
              <a:cxnLst/>
              <a:rect r="r" b="b" t="t" l="l"/>
              <a:pathLst>
                <a:path h="548640" w="14630400">
                  <a:moveTo>
                    <a:pt x="0" y="0"/>
                  </a:moveTo>
                  <a:lnTo>
                    <a:pt x="14630400" y="0"/>
                  </a:lnTo>
                  <a:lnTo>
                    <a:pt x="14630400" y="548640"/>
                  </a:lnTo>
                  <a:lnTo>
                    <a:pt x="0" y="548640"/>
                  </a:lnTo>
                  <a:close/>
                </a:path>
              </a:pathLst>
            </a:custGeom>
            <a:blipFill>
              <a:blip r:embed="rId3">
                <a:alphaModFix amt="0"/>
              </a:blip>
              <a:stretch>
                <a:fillRect l="0" t="-469601" r="0" b="-469601"/>
              </a:stretch>
            </a:blipFill>
          </p:spPr>
        </p:sp>
        <p:sp>
          <p:nvSpPr>
            <p:cNvPr name="TextBox 62" id="62"/>
            <p:cNvSpPr txBox="true"/>
            <p:nvPr/>
          </p:nvSpPr>
          <p:spPr>
            <a:xfrm>
              <a:off x="0" y="-38100"/>
              <a:ext cx="14630400" cy="586740"/>
            </a:xfrm>
            <a:prstGeom prst="rect">
              <a:avLst/>
            </a:prstGeom>
          </p:spPr>
          <p:txBody>
            <a:bodyPr anchor="ctr" rtlCol="false" tIns="0" lIns="0" bIns="0" rIns="0"/>
            <a:lstStyle/>
            <a:p>
              <a:pPr algn="l">
                <a:lnSpc>
                  <a:spcPts val="1800"/>
                </a:lnSpc>
              </a:pPr>
              <a:r>
                <a:rPr lang="en-US" sz="1500">
                  <a:solidFill>
                    <a:srgbClr val="6B7280"/>
                  </a:solidFill>
                  <a:latin typeface="Calibri (MS)"/>
                  <a:ea typeface="Calibri (MS)"/>
                  <a:cs typeface="Calibri (MS)"/>
                  <a:sym typeface="Calibri (MS)"/>
                </a:rPr>
                <a:t>Davao del Norte Provincial Government — Cybersecurity Seminar</a:t>
              </a:r>
            </a:p>
          </p:txBody>
        </p:sp>
      </p:grpSp>
      <p:grpSp>
        <p:nvGrpSpPr>
          <p:cNvPr name="Group 63" id="63"/>
          <p:cNvGrpSpPr/>
          <p:nvPr/>
        </p:nvGrpSpPr>
        <p:grpSpPr>
          <a:xfrm rot="0">
            <a:off x="16911828" y="9710928"/>
            <a:ext cx="685800" cy="411480"/>
            <a:chOff x="0" y="0"/>
            <a:chExt cx="914400" cy="548640"/>
          </a:xfrm>
        </p:grpSpPr>
        <p:sp>
          <p:nvSpPr>
            <p:cNvPr name="Freeform 64" id="64"/>
            <p:cNvSpPr/>
            <p:nvPr/>
          </p:nvSpPr>
          <p:spPr>
            <a:xfrm flipH="false" flipV="false" rot="0">
              <a:off x="0" y="0"/>
              <a:ext cx="914400" cy="548640"/>
            </a:xfrm>
            <a:custGeom>
              <a:avLst/>
              <a:gdLst/>
              <a:ahLst/>
              <a:cxnLst/>
              <a:rect r="r" b="b" t="t" l="l"/>
              <a:pathLst>
                <a:path h="548640" w="914400">
                  <a:moveTo>
                    <a:pt x="0" y="0"/>
                  </a:moveTo>
                  <a:lnTo>
                    <a:pt x="914400" y="0"/>
                  </a:lnTo>
                  <a:lnTo>
                    <a:pt x="914400" y="548640"/>
                  </a:lnTo>
                  <a:lnTo>
                    <a:pt x="0" y="548640"/>
                  </a:lnTo>
                  <a:close/>
                </a:path>
              </a:pathLst>
            </a:custGeom>
            <a:blipFill>
              <a:blip r:embed="rId3">
                <a:alphaModFix amt="0"/>
              </a:blip>
              <a:stretch>
                <a:fillRect l="-26982" t="0" r="-26982" b="0"/>
              </a:stretch>
            </a:blipFill>
          </p:spPr>
        </p:sp>
        <p:sp>
          <p:nvSpPr>
            <p:cNvPr name="TextBox 65" id="65"/>
            <p:cNvSpPr txBox="true"/>
            <p:nvPr/>
          </p:nvSpPr>
          <p:spPr>
            <a:xfrm>
              <a:off x="0" y="-38100"/>
              <a:ext cx="914400" cy="586740"/>
            </a:xfrm>
            <a:prstGeom prst="rect">
              <a:avLst/>
            </a:prstGeom>
          </p:spPr>
          <p:txBody>
            <a:bodyPr anchor="ctr" rtlCol="false" tIns="0" lIns="0" bIns="0" rIns="0"/>
            <a:lstStyle/>
            <a:p>
              <a:pPr algn="r">
                <a:lnSpc>
                  <a:spcPts val="1800"/>
                </a:lnSpc>
              </a:pPr>
              <a:r>
                <a:rPr lang="en-US" sz="1500">
                  <a:solidFill>
                    <a:srgbClr val="6B7280"/>
                  </a:solidFill>
                  <a:latin typeface="Calibri (MS)"/>
                  <a:ea typeface="Calibri (MS)"/>
                  <a:cs typeface="Calibri (MS)"/>
                  <a:sym typeface="Calibri (MS)"/>
                </a:rPr>
                <a:t>15</a:t>
              </a:r>
            </a:p>
          </p:txBody>
        </p:sp>
      </p:gr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60120" y="576072"/>
            <a:ext cx="13716000" cy="411480"/>
            <a:chOff x="0" y="0"/>
            <a:chExt cx="18288000" cy="548640"/>
          </a:xfrm>
        </p:grpSpPr>
        <p:sp>
          <p:nvSpPr>
            <p:cNvPr name="Freeform 3" id="3"/>
            <p:cNvSpPr/>
            <p:nvPr/>
          </p:nvSpPr>
          <p:spPr>
            <a:xfrm flipH="false" flipV="false" rot="0">
              <a:off x="0" y="0"/>
              <a:ext cx="18288000" cy="548640"/>
            </a:xfrm>
            <a:custGeom>
              <a:avLst/>
              <a:gdLst/>
              <a:ahLst/>
              <a:cxnLst/>
              <a:rect r="r" b="b" t="t" l="l"/>
              <a:pathLst>
                <a:path h="548640" w="18288000">
                  <a:moveTo>
                    <a:pt x="0" y="0"/>
                  </a:moveTo>
                  <a:lnTo>
                    <a:pt x="18288000" y="0"/>
                  </a:lnTo>
                  <a:lnTo>
                    <a:pt x="18288000" y="548640"/>
                  </a:lnTo>
                  <a:lnTo>
                    <a:pt x="0" y="548640"/>
                  </a:lnTo>
                  <a:close/>
                </a:path>
              </a:pathLst>
            </a:custGeom>
            <a:blipFill>
              <a:blip r:embed="rId3">
                <a:alphaModFix amt="0"/>
              </a:blip>
              <a:stretch>
                <a:fillRect l="0" t="-599501" r="0" b="-599501"/>
              </a:stretch>
            </a:blipFill>
          </p:spPr>
        </p:sp>
        <p:sp>
          <p:nvSpPr>
            <p:cNvPr name="TextBox 4" id="4"/>
            <p:cNvSpPr txBox="true"/>
            <p:nvPr/>
          </p:nvSpPr>
          <p:spPr>
            <a:xfrm>
              <a:off x="0" y="-38100"/>
              <a:ext cx="18288000" cy="586740"/>
            </a:xfrm>
            <a:prstGeom prst="rect">
              <a:avLst/>
            </a:prstGeom>
          </p:spPr>
          <p:txBody>
            <a:bodyPr anchor="ctr" rtlCol="false" tIns="0" lIns="0" bIns="0" rIns="0"/>
            <a:lstStyle/>
            <a:p>
              <a:pPr algn="l">
                <a:lnSpc>
                  <a:spcPts val="2160"/>
                </a:lnSpc>
              </a:pPr>
              <a:r>
                <a:rPr lang="en-US" b="true" sz="1800" spc="225">
                  <a:solidFill>
                    <a:srgbClr val="00B4D8"/>
                  </a:solidFill>
                  <a:latin typeface="Calibri (MS) Bold"/>
                  <a:ea typeface="Calibri (MS) Bold"/>
                  <a:cs typeface="Calibri (MS) Bold"/>
                  <a:sym typeface="Calibri (MS) Bold"/>
                </a:rPr>
                <a:t>RISK MATRIX SORT · ANSWER</a:t>
              </a:r>
            </a:p>
          </p:txBody>
        </p:sp>
      </p:grpSp>
      <p:grpSp>
        <p:nvGrpSpPr>
          <p:cNvPr name="Group 5" id="5"/>
          <p:cNvGrpSpPr/>
          <p:nvPr/>
        </p:nvGrpSpPr>
        <p:grpSpPr>
          <a:xfrm rot="0">
            <a:off x="960120" y="960120"/>
            <a:ext cx="10972800" cy="754380"/>
            <a:chOff x="0" y="0"/>
            <a:chExt cx="14630400" cy="1005840"/>
          </a:xfrm>
        </p:grpSpPr>
        <p:sp>
          <p:nvSpPr>
            <p:cNvPr name="Freeform 6" id="6"/>
            <p:cNvSpPr/>
            <p:nvPr/>
          </p:nvSpPr>
          <p:spPr>
            <a:xfrm flipH="false" flipV="false" rot="0">
              <a:off x="0" y="0"/>
              <a:ext cx="14630400" cy="1005840"/>
            </a:xfrm>
            <a:custGeom>
              <a:avLst/>
              <a:gdLst/>
              <a:ahLst/>
              <a:cxnLst/>
              <a:rect r="r" b="b" t="t" l="l"/>
              <a:pathLst>
                <a:path h="1005840" w="14630400">
                  <a:moveTo>
                    <a:pt x="0" y="0"/>
                  </a:moveTo>
                  <a:lnTo>
                    <a:pt x="14630400" y="0"/>
                  </a:lnTo>
                  <a:lnTo>
                    <a:pt x="14630400" y="1005840"/>
                  </a:lnTo>
                  <a:lnTo>
                    <a:pt x="0" y="1005840"/>
                  </a:lnTo>
                  <a:close/>
                </a:path>
              </a:pathLst>
            </a:custGeom>
            <a:blipFill>
              <a:blip r:embed="rId3">
                <a:alphaModFix amt="0"/>
              </a:blip>
              <a:stretch>
                <a:fillRect l="0" t="-233418" r="0" b="-233418"/>
              </a:stretch>
            </a:blipFill>
          </p:spPr>
        </p:sp>
        <p:sp>
          <p:nvSpPr>
            <p:cNvPr name="TextBox 7" id="7"/>
            <p:cNvSpPr txBox="true"/>
            <p:nvPr/>
          </p:nvSpPr>
          <p:spPr>
            <a:xfrm>
              <a:off x="0" y="-19050"/>
              <a:ext cx="14630400" cy="1024890"/>
            </a:xfrm>
            <a:prstGeom prst="rect">
              <a:avLst/>
            </a:prstGeom>
          </p:spPr>
          <p:txBody>
            <a:bodyPr anchor="ctr" rtlCol="false" tIns="0" lIns="0" bIns="0" rIns="0"/>
            <a:lstStyle/>
            <a:p>
              <a:pPr algn="l">
                <a:lnSpc>
                  <a:spcPts val="4320"/>
                </a:lnSpc>
              </a:pPr>
              <a:r>
                <a:rPr lang="en-US" sz="3600" b="true">
                  <a:solidFill>
                    <a:srgbClr val="1E2761"/>
                  </a:solidFill>
                  <a:latin typeface="Cambria Bold"/>
                  <a:ea typeface="Cambria Bold"/>
                  <a:cs typeface="Cambria Bold"/>
                  <a:sym typeface="Cambria Bold"/>
                </a:rPr>
                <a:t>Scenario 1 — Answer</a:t>
              </a:r>
            </a:p>
          </p:txBody>
        </p:sp>
      </p:grpSp>
      <p:grpSp>
        <p:nvGrpSpPr>
          <p:cNvPr name="Group 8" id="8"/>
          <p:cNvGrpSpPr/>
          <p:nvPr/>
        </p:nvGrpSpPr>
        <p:grpSpPr>
          <a:xfrm rot="0">
            <a:off x="960120" y="1645920"/>
            <a:ext cx="8229600" cy="411480"/>
            <a:chOff x="0" y="0"/>
            <a:chExt cx="10972800" cy="548640"/>
          </a:xfrm>
        </p:grpSpPr>
        <p:sp>
          <p:nvSpPr>
            <p:cNvPr name="Freeform 9" id="9"/>
            <p:cNvSpPr/>
            <p:nvPr/>
          </p:nvSpPr>
          <p:spPr>
            <a:xfrm flipH="false" flipV="false" rot="0">
              <a:off x="0" y="0"/>
              <a:ext cx="10972800" cy="548640"/>
            </a:xfrm>
            <a:custGeom>
              <a:avLst/>
              <a:gdLst/>
              <a:ahLst/>
              <a:cxnLst/>
              <a:rect r="r" b="b" t="t" l="l"/>
              <a:pathLst>
                <a:path h="548640" w="10972800">
                  <a:moveTo>
                    <a:pt x="0" y="0"/>
                  </a:moveTo>
                  <a:lnTo>
                    <a:pt x="10972800" y="0"/>
                  </a:lnTo>
                  <a:lnTo>
                    <a:pt x="10972800" y="548640"/>
                  </a:lnTo>
                  <a:lnTo>
                    <a:pt x="0" y="548640"/>
                  </a:lnTo>
                  <a:close/>
                </a:path>
              </a:pathLst>
            </a:custGeom>
            <a:blipFill>
              <a:blip r:embed="rId3">
                <a:alphaModFix amt="0"/>
              </a:blip>
              <a:stretch>
                <a:fillRect l="0" t="-339700" r="0" b="-339700"/>
              </a:stretch>
            </a:blipFill>
          </p:spPr>
        </p:sp>
        <p:sp>
          <p:nvSpPr>
            <p:cNvPr name="TextBox 10" id="10"/>
            <p:cNvSpPr txBox="true"/>
            <p:nvPr/>
          </p:nvSpPr>
          <p:spPr>
            <a:xfrm>
              <a:off x="0" y="-28575"/>
              <a:ext cx="10972800" cy="577215"/>
            </a:xfrm>
            <a:prstGeom prst="rect">
              <a:avLst/>
            </a:prstGeom>
          </p:spPr>
          <p:txBody>
            <a:bodyPr anchor="ctr" rtlCol="false" tIns="0" lIns="0" bIns="0" rIns="0"/>
            <a:lstStyle/>
            <a:p>
              <a:pPr algn="l">
                <a:lnSpc>
                  <a:spcPts val="1980"/>
                </a:lnSpc>
              </a:pPr>
              <a:r>
                <a:rPr lang="en-US" sz="1650">
                  <a:solidFill>
                    <a:srgbClr val="6B7280"/>
                  </a:solidFill>
                  <a:latin typeface="Calibri (MS)"/>
                  <a:ea typeface="Calibri (MS)"/>
                  <a:cs typeface="Calibri (MS)"/>
                  <a:sym typeface="Calibri (MS)"/>
                </a:rPr>
                <a:t>1 of 8</a:t>
              </a:r>
            </a:p>
          </p:txBody>
        </p:sp>
      </p:grpSp>
      <p:grpSp>
        <p:nvGrpSpPr>
          <p:cNvPr name="Group 11" id="11"/>
          <p:cNvGrpSpPr/>
          <p:nvPr/>
        </p:nvGrpSpPr>
        <p:grpSpPr>
          <a:xfrm rot="0">
            <a:off x="960120" y="2194560"/>
            <a:ext cx="16322040" cy="1851660"/>
            <a:chOff x="0" y="0"/>
            <a:chExt cx="21762720" cy="2468880"/>
          </a:xfrm>
        </p:grpSpPr>
        <p:sp>
          <p:nvSpPr>
            <p:cNvPr name="Freeform 12" id="12"/>
            <p:cNvSpPr/>
            <p:nvPr/>
          </p:nvSpPr>
          <p:spPr>
            <a:xfrm flipH="false" flipV="false" rot="0">
              <a:off x="0" y="0"/>
              <a:ext cx="21762720" cy="2468880"/>
            </a:xfrm>
            <a:custGeom>
              <a:avLst/>
              <a:gdLst/>
              <a:ahLst/>
              <a:cxnLst/>
              <a:rect r="r" b="b" t="t" l="l"/>
              <a:pathLst>
                <a:path h="2468880" w="21762720">
                  <a:moveTo>
                    <a:pt x="0" y="182880"/>
                  </a:moveTo>
                  <a:cubicBezTo>
                    <a:pt x="0" y="81915"/>
                    <a:pt x="81915" y="0"/>
                    <a:pt x="182880" y="0"/>
                  </a:cubicBezTo>
                  <a:lnTo>
                    <a:pt x="21579839" y="0"/>
                  </a:lnTo>
                  <a:cubicBezTo>
                    <a:pt x="21680804" y="0"/>
                    <a:pt x="21762720" y="81915"/>
                    <a:pt x="21762720" y="182880"/>
                  </a:cubicBezTo>
                  <a:lnTo>
                    <a:pt x="21762720" y="2286000"/>
                  </a:lnTo>
                  <a:cubicBezTo>
                    <a:pt x="21762720" y="2386965"/>
                    <a:pt x="21680804" y="2468880"/>
                    <a:pt x="21579839" y="2468880"/>
                  </a:cubicBezTo>
                  <a:lnTo>
                    <a:pt x="182880" y="2468880"/>
                  </a:lnTo>
                  <a:cubicBezTo>
                    <a:pt x="81915" y="2468880"/>
                    <a:pt x="0" y="2386965"/>
                    <a:pt x="0" y="2286000"/>
                  </a:cubicBezTo>
                  <a:close/>
                </a:path>
              </a:pathLst>
            </a:custGeom>
            <a:solidFill>
              <a:srgbClr val="F4F7FC"/>
            </a:solidFill>
          </p:spPr>
        </p:sp>
      </p:grpSp>
      <p:grpSp>
        <p:nvGrpSpPr>
          <p:cNvPr name="Group 13" id="13"/>
          <p:cNvGrpSpPr/>
          <p:nvPr/>
        </p:nvGrpSpPr>
        <p:grpSpPr>
          <a:xfrm rot="0">
            <a:off x="1371600" y="2400300"/>
            <a:ext cx="15499080" cy="1440180"/>
            <a:chOff x="0" y="0"/>
            <a:chExt cx="20665440" cy="1920240"/>
          </a:xfrm>
        </p:grpSpPr>
        <p:sp>
          <p:nvSpPr>
            <p:cNvPr name="Freeform 14" id="14"/>
            <p:cNvSpPr/>
            <p:nvPr/>
          </p:nvSpPr>
          <p:spPr>
            <a:xfrm flipH="false" flipV="false" rot="0">
              <a:off x="0" y="0"/>
              <a:ext cx="20665439" cy="1920240"/>
            </a:xfrm>
            <a:custGeom>
              <a:avLst/>
              <a:gdLst/>
              <a:ahLst/>
              <a:cxnLst/>
              <a:rect r="r" b="b" t="t" l="l"/>
              <a:pathLst>
                <a:path h="1920240" w="20665439">
                  <a:moveTo>
                    <a:pt x="0" y="0"/>
                  </a:moveTo>
                  <a:lnTo>
                    <a:pt x="20665439" y="0"/>
                  </a:lnTo>
                  <a:lnTo>
                    <a:pt x="20665439" y="1920240"/>
                  </a:lnTo>
                  <a:lnTo>
                    <a:pt x="0" y="1920240"/>
                  </a:lnTo>
                  <a:close/>
                </a:path>
              </a:pathLst>
            </a:custGeom>
            <a:blipFill>
              <a:blip r:embed="rId3">
                <a:alphaModFix amt="0"/>
              </a:blip>
              <a:stretch>
                <a:fillRect l="0" t="-159696" r="0" b="-159696"/>
              </a:stretch>
            </a:blipFill>
          </p:spPr>
        </p:sp>
        <p:sp>
          <p:nvSpPr>
            <p:cNvPr name="TextBox 15" id="15"/>
            <p:cNvSpPr txBox="true"/>
            <p:nvPr/>
          </p:nvSpPr>
          <p:spPr>
            <a:xfrm>
              <a:off x="0" y="-66675"/>
              <a:ext cx="20665440" cy="1986915"/>
            </a:xfrm>
            <a:prstGeom prst="rect">
              <a:avLst/>
            </a:prstGeom>
          </p:spPr>
          <p:txBody>
            <a:bodyPr anchor="ctr" rtlCol="false" tIns="0" lIns="0" bIns="0" rIns="0"/>
            <a:lstStyle/>
            <a:p>
              <a:pPr algn="l">
                <a:lnSpc>
                  <a:spcPts val="3184"/>
                </a:lnSpc>
              </a:pPr>
              <a:r>
                <a:rPr lang="en-US" sz="2175" i="true">
                  <a:solidFill>
                    <a:srgbClr val="23262F"/>
                  </a:solidFill>
                  <a:latin typeface="Cambria Italics"/>
                  <a:ea typeface="Cambria Italics"/>
                  <a:cs typeface="Cambria Italics"/>
                  <a:sym typeface="Cambria Italics"/>
                </a:rPr>
                <a:t>“During typhoon relief, the Bids and Awards Committee skips the usual three-canvasser requirement to rush emergency food-pack purchases.”</a:t>
              </a:r>
            </a:p>
          </p:txBody>
        </p:sp>
      </p:grpSp>
      <p:grpSp>
        <p:nvGrpSpPr>
          <p:cNvPr name="Group 16" id="16"/>
          <p:cNvGrpSpPr/>
          <p:nvPr/>
        </p:nvGrpSpPr>
        <p:grpSpPr>
          <a:xfrm rot="0">
            <a:off x="960120" y="4320540"/>
            <a:ext cx="3909060" cy="1165860"/>
            <a:chOff x="0" y="0"/>
            <a:chExt cx="5212080" cy="1554480"/>
          </a:xfrm>
        </p:grpSpPr>
        <p:sp>
          <p:nvSpPr>
            <p:cNvPr name="Freeform 17" id="17"/>
            <p:cNvSpPr/>
            <p:nvPr/>
          </p:nvSpPr>
          <p:spPr>
            <a:xfrm flipH="false" flipV="false" rot="0">
              <a:off x="0" y="0"/>
              <a:ext cx="5212080" cy="1554480"/>
            </a:xfrm>
            <a:custGeom>
              <a:avLst/>
              <a:gdLst/>
              <a:ahLst/>
              <a:cxnLst/>
              <a:rect r="r" b="b" t="t" l="l"/>
              <a:pathLst>
                <a:path h="1554480" w="5212080">
                  <a:moveTo>
                    <a:pt x="0" y="146304"/>
                  </a:moveTo>
                  <a:cubicBezTo>
                    <a:pt x="0" y="65532"/>
                    <a:pt x="65532" y="0"/>
                    <a:pt x="146304" y="0"/>
                  </a:cubicBezTo>
                  <a:lnTo>
                    <a:pt x="5065776" y="0"/>
                  </a:lnTo>
                  <a:cubicBezTo>
                    <a:pt x="5146548" y="0"/>
                    <a:pt x="5212080" y="65532"/>
                    <a:pt x="5212080" y="146304"/>
                  </a:cubicBezTo>
                  <a:lnTo>
                    <a:pt x="5212080" y="1408176"/>
                  </a:lnTo>
                  <a:cubicBezTo>
                    <a:pt x="5212080" y="1488948"/>
                    <a:pt x="5146548" y="1554480"/>
                    <a:pt x="5065776" y="1554480"/>
                  </a:cubicBezTo>
                  <a:lnTo>
                    <a:pt x="146304" y="1554480"/>
                  </a:lnTo>
                  <a:cubicBezTo>
                    <a:pt x="65532" y="1554480"/>
                    <a:pt x="0" y="1488948"/>
                    <a:pt x="0" y="1408176"/>
                  </a:cubicBezTo>
                  <a:close/>
                </a:path>
              </a:pathLst>
            </a:custGeom>
            <a:solidFill>
              <a:srgbClr val="F4F7FC"/>
            </a:solidFill>
          </p:spPr>
        </p:sp>
      </p:grpSp>
      <p:grpSp>
        <p:nvGrpSpPr>
          <p:cNvPr name="Group 18" id="18"/>
          <p:cNvGrpSpPr/>
          <p:nvPr/>
        </p:nvGrpSpPr>
        <p:grpSpPr>
          <a:xfrm rot="0">
            <a:off x="1207008" y="4457700"/>
            <a:ext cx="3415284" cy="384048"/>
            <a:chOff x="0" y="0"/>
            <a:chExt cx="4553712" cy="512064"/>
          </a:xfrm>
        </p:grpSpPr>
        <p:sp>
          <p:nvSpPr>
            <p:cNvPr name="Freeform 19" id="19"/>
            <p:cNvSpPr/>
            <p:nvPr/>
          </p:nvSpPr>
          <p:spPr>
            <a:xfrm flipH="false" flipV="false" rot="0">
              <a:off x="0" y="0"/>
              <a:ext cx="4553712" cy="512064"/>
            </a:xfrm>
            <a:custGeom>
              <a:avLst/>
              <a:gdLst/>
              <a:ahLst/>
              <a:cxnLst/>
              <a:rect r="r" b="b" t="t" l="l"/>
              <a:pathLst>
                <a:path h="512064" w="4553712">
                  <a:moveTo>
                    <a:pt x="0" y="0"/>
                  </a:moveTo>
                  <a:lnTo>
                    <a:pt x="4553712" y="0"/>
                  </a:lnTo>
                  <a:lnTo>
                    <a:pt x="4553712" y="512064"/>
                  </a:lnTo>
                  <a:lnTo>
                    <a:pt x="0" y="512064"/>
                  </a:lnTo>
                  <a:close/>
                </a:path>
              </a:pathLst>
            </a:custGeom>
            <a:blipFill>
              <a:blip r:embed="rId3">
                <a:alphaModFix amt="0"/>
              </a:blip>
              <a:stretch>
                <a:fillRect l="0" t="-123277" r="0" b="-123277"/>
              </a:stretch>
            </a:blipFill>
          </p:spPr>
        </p:sp>
        <p:sp>
          <p:nvSpPr>
            <p:cNvPr name="TextBox 20" id="20"/>
            <p:cNvSpPr txBox="true"/>
            <p:nvPr/>
          </p:nvSpPr>
          <p:spPr>
            <a:xfrm>
              <a:off x="0" y="-38100"/>
              <a:ext cx="4553712" cy="550164"/>
            </a:xfrm>
            <a:prstGeom prst="rect">
              <a:avLst/>
            </a:prstGeom>
          </p:spPr>
          <p:txBody>
            <a:bodyPr anchor="ctr" rtlCol="false" tIns="0" lIns="0" bIns="0" rIns="0"/>
            <a:lstStyle/>
            <a:p>
              <a:pPr algn="l">
                <a:lnSpc>
                  <a:spcPts val="1800"/>
                </a:lnSpc>
              </a:pPr>
              <a:r>
                <a:rPr lang="en-US" b="true" sz="1500" spc="75">
                  <a:solidFill>
                    <a:srgbClr val="6B7280"/>
                  </a:solidFill>
                  <a:latin typeface="Calibri (MS) Bold"/>
                  <a:ea typeface="Calibri (MS) Bold"/>
                  <a:cs typeface="Calibri (MS) Bold"/>
                  <a:sym typeface="Calibri (MS) Bold"/>
                </a:rPr>
                <a:t>LIKELIHOOD</a:t>
              </a:r>
            </a:p>
          </p:txBody>
        </p:sp>
      </p:grpSp>
      <p:sp>
        <p:nvSpPr>
          <p:cNvPr name="TextBox 21" id="21"/>
          <p:cNvSpPr txBox="true"/>
          <p:nvPr/>
        </p:nvSpPr>
        <p:spPr>
          <a:xfrm rot="0">
            <a:off x="1298448" y="4840986"/>
            <a:ext cx="3232404" cy="462534"/>
          </a:xfrm>
          <a:prstGeom prst="rect">
            <a:avLst/>
          </a:prstGeom>
        </p:spPr>
        <p:txBody>
          <a:bodyPr anchor="t" rtlCol="false" tIns="0" lIns="0" bIns="0" rIns="0">
            <a:spAutoFit/>
          </a:bodyPr>
          <a:lstStyle/>
          <a:p>
            <a:pPr algn="l">
              <a:lnSpc>
                <a:spcPts val="3240"/>
              </a:lnSpc>
            </a:pPr>
            <a:r>
              <a:rPr lang="en-US" sz="2700" b="true">
                <a:solidFill>
                  <a:srgbClr val="1E2761"/>
                </a:solidFill>
                <a:latin typeface="Cambria Bold"/>
                <a:ea typeface="Cambria Bold"/>
                <a:cs typeface="Cambria Bold"/>
                <a:sym typeface="Cambria Bold"/>
              </a:rPr>
              <a:t>Medium</a:t>
            </a:r>
          </a:p>
        </p:txBody>
      </p:sp>
      <p:grpSp>
        <p:nvGrpSpPr>
          <p:cNvPr name="Group 22" id="22"/>
          <p:cNvGrpSpPr/>
          <p:nvPr/>
        </p:nvGrpSpPr>
        <p:grpSpPr>
          <a:xfrm rot="0">
            <a:off x="5074920" y="4320540"/>
            <a:ext cx="3909060" cy="1165860"/>
            <a:chOff x="0" y="0"/>
            <a:chExt cx="5212080" cy="1554480"/>
          </a:xfrm>
        </p:grpSpPr>
        <p:sp>
          <p:nvSpPr>
            <p:cNvPr name="Freeform 23" id="23"/>
            <p:cNvSpPr/>
            <p:nvPr/>
          </p:nvSpPr>
          <p:spPr>
            <a:xfrm flipH="false" flipV="false" rot="0">
              <a:off x="0" y="0"/>
              <a:ext cx="5212080" cy="1554480"/>
            </a:xfrm>
            <a:custGeom>
              <a:avLst/>
              <a:gdLst/>
              <a:ahLst/>
              <a:cxnLst/>
              <a:rect r="r" b="b" t="t" l="l"/>
              <a:pathLst>
                <a:path h="1554480" w="5212080">
                  <a:moveTo>
                    <a:pt x="0" y="146304"/>
                  </a:moveTo>
                  <a:cubicBezTo>
                    <a:pt x="0" y="65532"/>
                    <a:pt x="65532" y="0"/>
                    <a:pt x="146304" y="0"/>
                  </a:cubicBezTo>
                  <a:lnTo>
                    <a:pt x="5065776" y="0"/>
                  </a:lnTo>
                  <a:cubicBezTo>
                    <a:pt x="5146548" y="0"/>
                    <a:pt x="5212080" y="65532"/>
                    <a:pt x="5212080" y="146304"/>
                  </a:cubicBezTo>
                  <a:lnTo>
                    <a:pt x="5212080" y="1408176"/>
                  </a:lnTo>
                  <a:cubicBezTo>
                    <a:pt x="5212080" y="1488948"/>
                    <a:pt x="5146548" y="1554480"/>
                    <a:pt x="5065776" y="1554480"/>
                  </a:cubicBezTo>
                  <a:lnTo>
                    <a:pt x="146304" y="1554480"/>
                  </a:lnTo>
                  <a:cubicBezTo>
                    <a:pt x="65532" y="1554480"/>
                    <a:pt x="0" y="1488948"/>
                    <a:pt x="0" y="1408176"/>
                  </a:cubicBezTo>
                  <a:close/>
                </a:path>
              </a:pathLst>
            </a:custGeom>
            <a:solidFill>
              <a:srgbClr val="F4F7FC"/>
            </a:solidFill>
          </p:spPr>
        </p:sp>
      </p:grpSp>
      <p:grpSp>
        <p:nvGrpSpPr>
          <p:cNvPr name="Group 24" id="24"/>
          <p:cNvGrpSpPr/>
          <p:nvPr/>
        </p:nvGrpSpPr>
        <p:grpSpPr>
          <a:xfrm rot="0">
            <a:off x="5321808" y="4457700"/>
            <a:ext cx="3415284" cy="384048"/>
            <a:chOff x="0" y="0"/>
            <a:chExt cx="4553712" cy="512064"/>
          </a:xfrm>
        </p:grpSpPr>
        <p:sp>
          <p:nvSpPr>
            <p:cNvPr name="Freeform 25" id="25"/>
            <p:cNvSpPr/>
            <p:nvPr/>
          </p:nvSpPr>
          <p:spPr>
            <a:xfrm flipH="false" flipV="false" rot="0">
              <a:off x="0" y="0"/>
              <a:ext cx="4553712" cy="512064"/>
            </a:xfrm>
            <a:custGeom>
              <a:avLst/>
              <a:gdLst/>
              <a:ahLst/>
              <a:cxnLst/>
              <a:rect r="r" b="b" t="t" l="l"/>
              <a:pathLst>
                <a:path h="512064" w="4553712">
                  <a:moveTo>
                    <a:pt x="0" y="0"/>
                  </a:moveTo>
                  <a:lnTo>
                    <a:pt x="4553712" y="0"/>
                  </a:lnTo>
                  <a:lnTo>
                    <a:pt x="4553712" y="512064"/>
                  </a:lnTo>
                  <a:lnTo>
                    <a:pt x="0" y="512064"/>
                  </a:lnTo>
                  <a:close/>
                </a:path>
              </a:pathLst>
            </a:custGeom>
            <a:blipFill>
              <a:blip r:embed="rId3">
                <a:alphaModFix amt="0"/>
              </a:blip>
              <a:stretch>
                <a:fillRect l="0" t="-123277" r="0" b="-123277"/>
              </a:stretch>
            </a:blipFill>
          </p:spPr>
        </p:sp>
        <p:sp>
          <p:nvSpPr>
            <p:cNvPr name="TextBox 26" id="26"/>
            <p:cNvSpPr txBox="true"/>
            <p:nvPr/>
          </p:nvSpPr>
          <p:spPr>
            <a:xfrm>
              <a:off x="0" y="-38100"/>
              <a:ext cx="4553712" cy="550164"/>
            </a:xfrm>
            <a:prstGeom prst="rect">
              <a:avLst/>
            </a:prstGeom>
          </p:spPr>
          <p:txBody>
            <a:bodyPr anchor="ctr" rtlCol="false" tIns="0" lIns="0" bIns="0" rIns="0"/>
            <a:lstStyle/>
            <a:p>
              <a:pPr algn="l">
                <a:lnSpc>
                  <a:spcPts val="1800"/>
                </a:lnSpc>
              </a:pPr>
              <a:r>
                <a:rPr lang="en-US" b="true" sz="1500" spc="75">
                  <a:solidFill>
                    <a:srgbClr val="6B7280"/>
                  </a:solidFill>
                  <a:latin typeface="Calibri (MS) Bold"/>
                  <a:ea typeface="Calibri (MS) Bold"/>
                  <a:cs typeface="Calibri (MS) Bold"/>
                  <a:sym typeface="Calibri (MS) Bold"/>
                </a:rPr>
                <a:t>IMPACT</a:t>
              </a:r>
            </a:p>
          </p:txBody>
        </p:sp>
      </p:grpSp>
      <p:sp>
        <p:nvSpPr>
          <p:cNvPr name="TextBox 27" id="27"/>
          <p:cNvSpPr txBox="true"/>
          <p:nvPr/>
        </p:nvSpPr>
        <p:spPr>
          <a:xfrm rot="0">
            <a:off x="5413248" y="4840986"/>
            <a:ext cx="3232404" cy="462534"/>
          </a:xfrm>
          <a:prstGeom prst="rect">
            <a:avLst/>
          </a:prstGeom>
        </p:spPr>
        <p:txBody>
          <a:bodyPr anchor="t" rtlCol="false" tIns="0" lIns="0" bIns="0" rIns="0">
            <a:spAutoFit/>
          </a:bodyPr>
          <a:lstStyle/>
          <a:p>
            <a:pPr algn="l">
              <a:lnSpc>
                <a:spcPts val="3240"/>
              </a:lnSpc>
            </a:pPr>
            <a:r>
              <a:rPr lang="en-US" sz="2700" b="true">
                <a:solidFill>
                  <a:srgbClr val="1E2761"/>
                </a:solidFill>
                <a:latin typeface="Cambria Bold"/>
                <a:ea typeface="Cambria Bold"/>
                <a:cs typeface="Cambria Bold"/>
                <a:sym typeface="Cambria Bold"/>
              </a:rPr>
              <a:t>High</a:t>
            </a:r>
          </a:p>
        </p:txBody>
      </p:sp>
      <p:grpSp>
        <p:nvGrpSpPr>
          <p:cNvPr name="Group 28" id="28"/>
          <p:cNvGrpSpPr/>
          <p:nvPr/>
        </p:nvGrpSpPr>
        <p:grpSpPr>
          <a:xfrm rot="0">
            <a:off x="9189720" y="4320540"/>
            <a:ext cx="3909060" cy="1165860"/>
            <a:chOff x="0" y="0"/>
            <a:chExt cx="5212080" cy="1554480"/>
          </a:xfrm>
        </p:grpSpPr>
        <p:sp>
          <p:nvSpPr>
            <p:cNvPr name="Freeform 29" id="29"/>
            <p:cNvSpPr/>
            <p:nvPr/>
          </p:nvSpPr>
          <p:spPr>
            <a:xfrm flipH="false" flipV="false" rot="0">
              <a:off x="0" y="0"/>
              <a:ext cx="5212080" cy="1554480"/>
            </a:xfrm>
            <a:custGeom>
              <a:avLst/>
              <a:gdLst/>
              <a:ahLst/>
              <a:cxnLst/>
              <a:rect r="r" b="b" t="t" l="l"/>
              <a:pathLst>
                <a:path h="1554480" w="5212080">
                  <a:moveTo>
                    <a:pt x="0" y="146304"/>
                  </a:moveTo>
                  <a:cubicBezTo>
                    <a:pt x="0" y="65532"/>
                    <a:pt x="65532" y="0"/>
                    <a:pt x="146304" y="0"/>
                  </a:cubicBezTo>
                  <a:lnTo>
                    <a:pt x="5065776" y="0"/>
                  </a:lnTo>
                  <a:cubicBezTo>
                    <a:pt x="5146548" y="0"/>
                    <a:pt x="5212080" y="65532"/>
                    <a:pt x="5212080" y="146304"/>
                  </a:cubicBezTo>
                  <a:lnTo>
                    <a:pt x="5212080" y="1408176"/>
                  </a:lnTo>
                  <a:cubicBezTo>
                    <a:pt x="5212080" y="1488948"/>
                    <a:pt x="5146548" y="1554480"/>
                    <a:pt x="5065776" y="1554480"/>
                  </a:cubicBezTo>
                  <a:lnTo>
                    <a:pt x="146304" y="1554480"/>
                  </a:lnTo>
                  <a:cubicBezTo>
                    <a:pt x="65532" y="1554480"/>
                    <a:pt x="0" y="1488948"/>
                    <a:pt x="0" y="1408176"/>
                  </a:cubicBezTo>
                  <a:close/>
                </a:path>
              </a:pathLst>
            </a:custGeom>
            <a:solidFill>
              <a:srgbClr val="F4F7FC"/>
            </a:solidFill>
          </p:spPr>
        </p:sp>
      </p:grpSp>
      <p:grpSp>
        <p:nvGrpSpPr>
          <p:cNvPr name="Group 30" id="30"/>
          <p:cNvGrpSpPr/>
          <p:nvPr/>
        </p:nvGrpSpPr>
        <p:grpSpPr>
          <a:xfrm rot="0">
            <a:off x="9436608" y="4457700"/>
            <a:ext cx="3415284" cy="384048"/>
            <a:chOff x="0" y="0"/>
            <a:chExt cx="4553712" cy="512064"/>
          </a:xfrm>
        </p:grpSpPr>
        <p:sp>
          <p:nvSpPr>
            <p:cNvPr name="Freeform 31" id="31"/>
            <p:cNvSpPr/>
            <p:nvPr/>
          </p:nvSpPr>
          <p:spPr>
            <a:xfrm flipH="false" flipV="false" rot="0">
              <a:off x="0" y="0"/>
              <a:ext cx="4553712" cy="512064"/>
            </a:xfrm>
            <a:custGeom>
              <a:avLst/>
              <a:gdLst/>
              <a:ahLst/>
              <a:cxnLst/>
              <a:rect r="r" b="b" t="t" l="l"/>
              <a:pathLst>
                <a:path h="512064" w="4553712">
                  <a:moveTo>
                    <a:pt x="0" y="0"/>
                  </a:moveTo>
                  <a:lnTo>
                    <a:pt x="4553712" y="0"/>
                  </a:lnTo>
                  <a:lnTo>
                    <a:pt x="4553712" y="512064"/>
                  </a:lnTo>
                  <a:lnTo>
                    <a:pt x="0" y="512064"/>
                  </a:lnTo>
                  <a:close/>
                </a:path>
              </a:pathLst>
            </a:custGeom>
            <a:blipFill>
              <a:blip r:embed="rId3">
                <a:alphaModFix amt="0"/>
              </a:blip>
              <a:stretch>
                <a:fillRect l="0" t="-123277" r="0" b="-123277"/>
              </a:stretch>
            </a:blipFill>
          </p:spPr>
        </p:sp>
        <p:sp>
          <p:nvSpPr>
            <p:cNvPr name="TextBox 32" id="32"/>
            <p:cNvSpPr txBox="true"/>
            <p:nvPr/>
          </p:nvSpPr>
          <p:spPr>
            <a:xfrm>
              <a:off x="0" y="-38100"/>
              <a:ext cx="4553712" cy="550164"/>
            </a:xfrm>
            <a:prstGeom prst="rect">
              <a:avLst/>
            </a:prstGeom>
          </p:spPr>
          <p:txBody>
            <a:bodyPr anchor="ctr" rtlCol="false" tIns="0" lIns="0" bIns="0" rIns="0"/>
            <a:lstStyle/>
            <a:p>
              <a:pPr algn="l">
                <a:lnSpc>
                  <a:spcPts val="1800"/>
                </a:lnSpc>
              </a:pPr>
              <a:r>
                <a:rPr lang="en-US" b="true" sz="1500" spc="75">
                  <a:solidFill>
                    <a:srgbClr val="6B7280"/>
                  </a:solidFill>
                  <a:latin typeface="Calibri (MS) Bold"/>
                  <a:ea typeface="Calibri (MS) Bold"/>
                  <a:cs typeface="Calibri (MS) Bold"/>
                  <a:sym typeface="Calibri (MS) Bold"/>
                </a:rPr>
                <a:t>RISK RATING</a:t>
              </a:r>
            </a:p>
          </p:txBody>
        </p:sp>
      </p:grpSp>
      <p:sp>
        <p:nvSpPr>
          <p:cNvPr name="TextBox 33" id="33"/>
          <p:cNvSpPr txBox="true"/>
          <p:nvPr/>
        </p:nvSpPr>
        <p:spPr>
          <a:xfrm rot="0">
            <a:off x="9528048" y="4840986"/>
            <a:ext cx="3232404" cy="462534"/>
          </a:xfrm>
          <a:prstGeom prst="rect">
            <a:avLst/>
          </a:prstGeom>
        </p:spPr>
        <p:txBody>
          <a:bodyPr anchor="t" rtlCol="false" tIns="0" lIns="0" bIns="0" rIns="0">
            <a:spAutoFit/>
          </a:bodyPr>
          <a:lstStyle/>
          <a:p>
            <a:pPr algn="l">
              <a:lnSpc>
                <a:spcPts val="3240"/>
              </a:lnSpc>
            </a:pPr>
            <a:r>
              <a:rPr lang="en-US" sz="2700" b="true">
                <a:solidFill>
                  <a:srgbClr val="D9631E"/>
                </a:solidFill>
                <a:latin typeface="Cambria Bold"/>
                <a:ea typeface="Cambria Bold"/>
                <a:cs typeface="Cambria Bold"/>
                <a:sym typeface="Cambria Bold"/>
              </a:rPr>
              <a:t>High</a:t>
            </a:r>
          </a:p>
        </p:txBody>
      </p:sp>
      <p:grpSp>
        <p:nvGrpSpPr>
          <p:cNvPr name="Group 34" id="34"/>
          <p:cNvGrpSpPr/>
          <p:nvPr/>
        </p:nvGrpSpPr>
        <p:grpSpPr>
          <a:xfrm rot="0">
            <a:off x="13304520" y="4320540"/>
            <a:ext cx="3977640" cy="1165860"/>
            <a:chOff x="0" y="0"/>
            <a:chExt cx="5303520" cy="1554480"/>
          </a:xfrm>
        </p:grpSpPr>
        <p:sp>
          <p:nvSpPr>
            <p:cNvPr name="Freeform 35" id="35"/>
            <p:cNvSpPr/>
            <p:nvPr/>
          </p:nvSpPr>
          <p:spPr>
            <a:xfrm flipH="false" flipV="false" rot="0">
              <a:off x="0" y="0"/>
              <a:ext cx="5303520" cy="1554480"/>
            </a:xfrm>
            <a:custGeom>
              <a:avLst/>
              <a:gdLst/>
              <a:ahLst/>
              <a:cxnLst/>
              <a:rect r="r" b="b" t="t" l="l"/>
              <a:pathLst>
                <a:path h="1554480" w="5303520">
                  <a:moveTo>
                    <a:pt x="0" y="146304"/>
                  </a:moveTo>
                  <a:cubicBezTo>
                    <a:pt x="0" y="65532"/>
                    <a:pt x="65532" y="0"/>
                    <a:pt x="146304" y="0"/>
                  </a:cubicBezTo>
                  <a:lnTo>
                    <a:pt x="5157216" y="0"/>
                  </a:lnTo>
                  <a:cubicBezTo>
                    <a:pt x="5237988" y="0"/>
                    <a:pt x="5303520" y="65532"/>
                    <a:pt x="5303520" y="146304"/>
                  </a:cubicBezTo>
                  <a:lnTo>
                    <a:pt x="5303520" y="1408176"/>
                  </a:lnTo>
                  <a:cubicBezTo>
                    <a:pt x="5303520" y="1488948"/>
                    <a:pt x="5237988" y="1554480"/>
                    <a:pt x="5157216" y="1554480"/>
                  </a:cubicBezTo>
                  <a:lnTo>
                    <a:pt x="146304" y="1554480"/>
                  </a:lnTo>
                  <a:cubicBezTo>
                    <a:pt x="65532" y="1554480"/>
                    <a:pt x="0" y="1488948"/>
                    <a:pt x="0" y="1408176"/>
                  </a:cubicBezTo>
                  <a:close/>
                </a:path>
              </a:pathLst>
            </a:custGeom>
            <a:solidFill>
              <a:srgbClr val="1E2761"/>
            </a:solidFill>
          </p:spPr>
        </p:sp>
      </p:grpSp>
      <p:grpSp>
        <p:nvGrpSpPr>
          <p:cNvPr name="Group 36" id="36"/>
          <p:cNvGrpSpPr/>
          <p:nvPr/>
        </p:nvGrpSpPr>
        <p:grpSpPr>
          <a:xfrm rot="0">
            <a:off x="13551408" y="4457700"/>
            <a:ext cx="3429000" cy="384048"/>
            <a:chOff x="0" y="0"/>
            <a:chExt cx="4572000" cy="512064"/>
          </a:xfrm>
        </p:grpSpPr>
        <p:sp>
          <p:nvSpPr>
            <p:cNvPr name="Freeform 37" id="37"/>
            <p:cNvSpPr/>
            <p:nvPr/>
          </p:nvSpPr>
          <p:spPr>
            <a:xfrm flipH="false" flipV="false" rot="0">
              <a:off x="0" y="0"/>
              <a:ext cx="4572000" cy="512064"/>
            </a:xfrm>
            <a:custGeom>
              <a:avLst/>
              <a:gdLst/>
              <a:ahLst/>
              <a:cxnLst/>
              <a:rect r="r" b="b" t="t" l="l"/>
              <a:pathLst>
                <a:path h="512064" w="4572000">
                  <a:moveTo>
                    <a:pt x="0" y="0"/>
                  </a:moveTo>
                  <a:lnTo>
                    <a:pt x="4572000" y="0"/>
                  </a:lnTo>
                  <a:lnTo>
                    <a:pt x="4572000" y="512064"/>
                  </a:lnTo>
                  <a:lnTo>
                    <a:pt x="0" y="512064"/>
                  </a:lnTo>
                  <a:close/>
                </a:path>
              </a:pathLst>
            </a:custGeom>
            <a:blipFill>
              <a:blip r:embed="rId3">
                <a:alphaModFix amt="0"/>
              </a:blip>
              <a:stretch>
                <a:fillRect l="0" t="-123973" r="0" b="-123973"/>
              </a:stretch>
            </a:blipFill>
          </p:spPr>
        </p:sp>
        <p:sp>
          <p:nvSpPr>
            <p:cNvPr name="TextBox 38" id="38"/>
            <p:cNvSpPr txBox="true"/>
            <p:nvPr/>
          </p:nvSpPr>
          <p:spPr>
            <a:xfrm>
              <a:off x="0" y="-38100"/>
              <a:ext cx="4572000" cy="550164"/>
            </a:xfrm>
            <a:prstGeom prst="rect">
              <a:avLst/>
            </a:prstGeom>
          </p:spPr>
          <p:txBody>
            <a:bodyPr anchor="ctr" rtlCol="false" tIns="0" lIns="0" bIns="0" rIns="0"/>
            <a:lstStyle/>
            <a:p>
              <a:pPr algn="l">
                <a:lnSpc>
                  <a:spcPts val="1800"/>
                </a:lnSpc>
              </a:pPr>
              <a:r>
                <a:rPr lang="en-US" b="true" sz="1500" spc="75">
                  <a:solidFill>
                    <a:srgbClr val="CADCFC"/>
                  </a:solidFill>
                  <a:latin typeface="Calibri (MS) Bold"/>
                  <a:ea typeface="Calibri (MS) Bold"/>
                  <a:cs typeface="Calibri (MS) Bold"/>
                  <a:sym typeface="Calibri (MS) Bold"/>
                </a:rPr>
                <a:t>RESPONSE</a:t>
              </a:r>
            </a:p>
          </p:txBody>
        </p:sp>
      </p:grpSp>
      <p:sp>
        <p:nvSpPr>
          <p:cNvPr name="TextBox 39" id="39"/>
          <p:cNvSpPr txBox="true"/>
          <p:nvPr/>
        </p:nvSpPr>
        <p:spPr>
          <a:xfrm rot="0">
            <a:off x="13642848" y="4840986"/>
            <a:ext cx="3246120" cy="476250"/>
          </a:xfrm>
          <a:prstGeom prst="rect">
            <a:avLst/>
          </a:prstGeom>
        </p:spPr>
        <p:txBody>
          <a:bodyPr anchor="t" rtlCol="false" tIns="0" lIns="0" bIns="0" rIns="0">
            <a:spAutoFit/>
          </a:bodyPr>
          <a:lstStyle/>
          <a:p>
            <a:pPr algn="l">
              <a:lnSpc>
                <a:spcPts val="3240"/>
              </a:lnSpc>
            </a:pPr>
            <a:r>
              <a:rPr lang="en-US" sz="2700" b="true">
                <a:solidFill>
                  <a:srgbClr val="FFFFFF"/>
                </a:solidFill>
                <a:latin typeface="Cambria Bold"/>
                <a:ea typeface="Cambria Bold"/>
                <a:cs typeface="Cambria Bold"/>
                <a:sym typeface="Cambria Bold"/>
              </a:rPr>
              <a:t>Treat</a:t>
            </a:r>
          </a:p>
        </p:txBody>
      </p:sp>
      <p:grpSp>
        <p:nvGrpSpPr>
          <p:cNvPr name="Group 40" id="40"/>
          <p:cNvGrpSpPr/>
          <p:nvPr/>
        </p:nvGrpSpPr>
        <p:grpSpPr>
          <a:xfrm rot="0">
            <a:off x="950595" y="5888355"/>
            <a:ext cx="16341090" cy="2967990"/>
            <a:chOff x="0" y="0"/>
            <a:chExt cx="21788120" cy="3957320"/>
          </a:xfrm>
        </p:grpSpPr>
        <p:sp>
          <p:nvSpPr>
            <p:cNvPr name="Freeform 41" id="41"/>
            <p:cNvSpPr/>
            <p:nvPr/>
          </p:nvSpPr>
          <p:spPr>
            <a:xfrm flipH="false" flipV="false" rot="0">
              <a:off x="0" y="0"/>
              <a:ext cx="21788120" cy="3957320"/>
            </a:xfrm>
            <a:custGeom>
              <a:avLst/>
              <a:gdLst/>
              <a:ahLst/>
              <a:cxnLst/>
              <a:rect r="r" b="b" t="t" l="l"/>
              <a:pathLst>
                <a:path h="3957320" w="21788120">
                  <a:moveTo>
                    <a:pt x="0" y="184023"/>
                  </a:moveTo>
                  <a:cubicBezTo>
                    <a:pt x="0" y="82423"/>
                    <a:pt x="82423" y="0"/>
                    <a:pt x="184023" y="0"/>
                  </a:cubicBezTo>
                  <a:lnTo>
                    <a:pt x="21604097" y="0"/>
                  </a:lnTo>
                  <a:cubicBezTo>
                    <a:pt x="21705697" y="0"/>
                    <a:pt x="21788120" y="82423"/>
                    <a:pt x="21788120" y="184023"/>
                  </a:cubicBezTo>
                  <a:lnTo>
                    <a:pt x="21788120" y="3773297"/>
                  </a:lnTo>
                  <a:cubicBezTo>
                    <a:pt x="21788120" y="3874897"/>
                    <a:pt x="21705697" y="3957320"/>
                    <a:pt x="21604097" y="3957320"/>
                  </a:cubicBezTo>
                  <a:lnTo>
                    <a:pt x="184023" y="3957320"/>
                  </a:lnTo>
                  <a:cubicBezTo>
                    <a:pt x="82423" y="3957320"/>
                    <a:pt x="0" y="3874897"/>
                    <a:pt x="0" y="3773297"/>
                  </a:cubicBezTo>
                  <a:close/>
                </a:path>
              </a:pathLst>
            </a:custGeom>
            <a:solidFill>
              <a:srgbClr val="FBF9F4"/>
            </a:solidFill>
            <a:ln w="19050" cap="sq">
              <a:solidFill>
                <a:srgbClr val="EFE6D2"/>
              </a:solidFill>
              <a:prstDash val="solid"/>
              <a:miter/>
            </a:ln>
          </p:spPr>
        </p:sp>
      </p:grpSp>
      <p:sp>
        <p:nvSpPr>
          <p:cNvPr name="TextBox 42" id="42"/>
          <p:cNvSpPr txBox="true"/>
          <p:nvPr/>
        </p:nvSpPr>
        <p:spPr>
          <a:xfrm rot="0">
            <a:off x="1463040" y="6084570"/>
            <a:ext cx="15316200" cy="2510790"/>
          </a:xfrm>
          <a:prstGeom prst="rect">
            <a:avLst/>
          </a:prstGeom>
        </p:spPr>
        <p:txBody>
          <a:bodyPr anchor="t" rtlCol="false" tIns="0" lIns="0" bIns="0" rIns="0">
            <a:spAutoFit/>
          </a:bodyPr>
          <a:lstStyle/>
          <a:p>
            <a:pPr algn="l">
              <a:lnSpc>
                <a:spcPts val="3402"/>
              </a:lnSpc>
            </a:pPr>
            <a:r>
              <a:rPr lang="en-US" sz="2100">
                <a:solidFill>
                  <a:srgbClr val="23262F"/>
                </a:solidFill>
                <a:latin typeface="Calibri (MS)"/>
                <a:ea typeface="Calibri (MS)"/>
                <a:cs typeface="Calibri (MS)"/>
                <a:sym typeface="Calibri (MS)"/>
              </a:rPr>
              <a:t>Emergency procurement without full canvass is legally allowed under RA 9184 — the fix isn't to avoid it, it's to require a documented justification and after-the-fact review every time it's used. That's Treat: reduce the risk without giving up the option.</a:t>
            </a:r>
          </a:p>
        </p:txBody>
      </p:sp>
      <p:grpSp>
        <p:nvGrpSpPr>
          <p:cNvPr name="Group 43" id="43"/>
          <p:cNvGrpSpPr/>
          <p:nvPr/>
        </p:nvGrpSpPr>
        <p:grpSpPr>
          <a:xfrm rot="0">
            <a:off x="685800" y="9710928"/>
            <a:ext cx="10972800" cy="411480"/>
            <a:chOff x="0" y="0"/>
            <a:chExt cx="14630400" cy="548640"/>
          </a:xfrm>
        </p:grpSpPr>
        <p:sp>
          <p:nvSpPr>
            <p:cNvPr name="Freeform 44" id="44"/>
            <p:cNvSpPr/>
            <p:nvPr/>
          </p:nvSpPr>
          <p:spPr>
            <a:xfrm flipH="false" flipV="false" rot="0">
              <a:off x="0" y="0"/>
              <a:ext cx="14630400" cy="548640"/>
            </a:xfrm>
            <a:custGeom>
              <a:avLst/>
              <a:gdLst/>
              <a:ahLst/>
              <a:cxnLst/>
              <a:rect r="r" b="b" t="t" l="l"/>
              <a:pathLst>
                <a:path h="548640" w="14630400">
                  <a:moveTo>
                    <a:pt x="0" y="0"/>
                  </a:moveTo>
                  <a:lnTo>
                    <a:pt x="14630400" y="0"/>
                  </a:lnTo>
                  <a:lnTo>
                    <a:pt x="14630400" y="548640"/>
                  </a:lnTo>
                  <a:lnTo>
                    <a:pt x="0" y="548640"/>
                  </a:lnTo>
                  <a:close/>
                </a:path>
              </a:pathLst>
            </a:custGeom>
            <a:blipFill>
              <a:blip r:embed="rId3">
                <a:alphaModFix amt="0"/>
              </a:blip>
              <a:stretch>
                <a:fillRect l="0" t="-469601" r="0" b="-469601"/>
              </a:stretch>
            </a:blipFill>
          </p:spPr>
        </p:sp>
        <p:sp>
          <p:nvSpPr>
            <p:cNvPr name="TextBox 45" id="45"/>
            <p:cNvSpPr txBox="true"/>
            <p:nvPr/>
          </p:nvSpPr>
          <p:spPr>
            <a:xfrm>
              <a:off x="0" y="-38100"/>
              <a:ext cx="14630400" cy="586740"/>
            </a:xfrm>
            <a:prstGeom prst="rect">
              <a:avLst/>
            </a:prstGeom>
          </p:spPr>
          <p:txBody>
            <a:bodyPr anchor="ctr" rtlCol="false" tIns="0" lIns="0" bIns="0" rIns="0"/>
            <a:lstStyle/>
            <a:p>
              <a:pPr algn="l">
                <a:lnSpc>
                  <a:spcPts val="1800"/>
                </a:lnSpc>
              </a:pPr>
              <a:r>
                <a:rPr lang="en-US" sz="1500">
                  <a:solidFill>
                    <a:srgbClr val="6B7280"/>
                  </a:solidFill>
                  <a:latin typeface="Calibri (MS)"/>
                  <a:ea typeface="Calibri (MS)"/>
                  <a:cs typeface="Calibri (MS)"/>
                  <a:sym typeface="Calibri (MS)"/>
                </a:rPr>
                <a:t>Davao del Norte Provincial Government — Cybersecurity Seminar</a:t>
              </a:r>
            </a:p>
          </p:txBody>
        </p:sp>
      </p:grpSp>
      <p:grpSp>
        <p:nvGrpSpPr>
          <p:cNvPr name="Group 46" id="46"/>
          <p:cNvGrpSpPr/>
          <p:nvPr/>
        </p:nvGrpSpPr>
        <p:grpSpPr>
          <a:xfrm rot="0">
            <a:off x="16911828" y="9710928"/>
            <a:ext cx="685800" cy="411480"/>
            <a:chOff x="0" y="0"/>
            <a:chExt cx="914400" cy="548640"/>
          </a:xfrm>
        </p:grpSpPr>
        <p:sp>
          <p:nvSpPr>
            <p:cNvPr name="Freeform 47" id="47"/>
            <p:cNvSpPr/>
            <p:nvPr/>
          </p:nvSpPr>
          <p:spPr>
            <a:xfrm flipH="false" flipV="false" rot="0">
              <a:off x="0" y="0"/>
              <a:ext cx="914400" cy="548640"/>
            </a:xfrm>
            <a:custGeom>
              <a:avLst/>
              <a:gdLst/>
              <a:ahLst/>
              <a:cxnLst/>
              <a:rect r="r" b="b" t="t" l="l"/>
              <a:pathLst>
                <a:path h="548640" w="914400">
                  <a:moveTo>
                    <a:pt x="0" y="0"/>
                  </a:moveTo>
                  <a:lnTo>
                    <a:pt x="914400" y="0"/>
                  </a:lnTo>
                  <a:lnTo>
                    <a:pt x="914400" y="548640"/>
                  </a:lnTo>
                  <a:lnTo>
                    <a:pt x="0" y="548640"/>
                  </a:lnTo>
                  <a:close/>
                </a:path>
              </a:pathLst>
            </a:custGeom>
            <a:blipFill>
              <a:blip r:embed="rId3">
                <a:alphaModFix amt="0"/>
              </a:blip>
              <a:stretch>
                <a:fillRect l="-26982" t="0" r="-26982" b="0"/>
              </a:stretch>
            </a:blipFill>
          </p:spPr>
        </p:sp>
        <p:sp>
          <p:nvSpPr>
            <p:cNvPr name="TextBox 48" id="48"/>
            <p:cNvSpPr txBox="true"/>
            <p:nvPr/>
          </p:nvSpPr>
          <p:spPr>
            <a:xfrm>
              <a:off x="0" y="-38100"/>
              <a:ext cx="914400" cy="586740"/>
            </a:xfrm>
            <a:prstGeom prst="rect">
              <a:avLst/>
            </a:prstGeom>
          </p:spPr>
          <p:txBody>
            <a:bodyPr anchor="ctr" rtlCol="false" tIns="0" lIns="0" bIns="0" rIns="0"/>
            <a:lstStyle/>
            <a:p>
              <a:pPr algn="r">
                <a:lnSpc>
                  <a:spcPts val="1800"/>
                </a:lnSpc>
              </a:pPr>
              <a:r>
                <a:rPr lang="en-US" sz="1500">
                  <a:solidFill>
                    <a:srgbClr val="6B7280"/>
                  </a:solidFill>
                  <a:latin typeface="Calibri (MS)"/>
                  <a:ea typeface="Calibri (MS)"/>
                  <a:cs typeface="Calibri (MS)"/>
                  <a:sym typeface="Calibri (MS)"/>
                </a:rPr>
                <a:t>16</a:t>
              </a:r>
            </a:p>
          </p:txBody>
        </p:sp>
      </p:gr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60120" y="576072"/>
            <a:ext cx="13716000" cy="411480"/>
            <a:chOff x="0" y="0"/>
            <a:chExt cx="18288000" cy="548640"/>
          </a:xfrm>
        </p:grpSpPr>
        <p:sp>
          <p:nvSpPr>
            <p:cNvPr name="Freeform 3" id="3"/>
            <p:cNvSpPr/>
            <p:nvPr/>
          </p:nvSpPr>
          <p:spPr>
            <a:xfrm flipH="false" flipV="false" rot="0">
              <a:off x="0" y="0"/>
              <a:ext cx="18288000" cy="548640"/>
            </a:xfrm>
            <a:custGeom>
              <a:avLst/>
              <a:gdLst/>
              <a:ahLst/>
              <a:cxnLst/>
              <a:rect r="r" b="b" t="t" l="l"/>
              <a:pathLst>
                <a:path h="548640" w="18288000">
                  <a:moveTo>
                    <a:pt x="0" y="0"/>
                  </a:moveTo>
                  <a:lnTo>
                    <a:pt x="18288000" y="0"/>
                  </a:lnTo>
                  <a:lnTo>
                    <a:pt x="18288000" y="548640"/>
                  </a:lnTo>
                  <a:lnTo>
                    <a:pt x="0" y="548640"/>
                  </a:lnTo>
                  <a:close/>
                </a:path>
              </a:pathLst>
            </a:custGeom>
            <a:blipFill>
              <a:blip r:embed="rId3">
                <a:alphaModFix amt="0"/>
              </a:blip>
              <a:stretch>
                <a:fillRect l="0" t="-599501" r="0" b="-599501"/>
              </a:stretch>
            </a:blipFill>
          </p:spPr>
        </p:sp>
        <p:sp>
          <p:nvSpPr>
            <p:cNvPr name="TextBox 4" id="4"/>
            <p:cNvSpPr txBox="true"/>
            <p:nvPr/>
          </p:nvSpPr>
          <p:spPr>
            <a:xfrm>
              <a:off x="0" y="-38100"/>
              <a:ext cx="18288000" cy="586740"/>
            </a:xfrm>
            <a:prstGeom prst="rect">
              <a:avLst/>
            </a:prstGeom>
          </p:spPr>
          <p:txBody>
            <a:bodyPr anchor="ctr" rtlCol="false" tIns="0" lIns="0" bIns="0" rIns="0"/>
            <a:lstStyle/>
            <a:p>
              <a:pPr algn="l">
                <a:lnSpc>
                  <a:spcPts val="2160"/>
                </a:lnSpc>
              </a:pPr>
              <a:r>
                <a:rPr lang="en-US" b="true" sz="1800" spc="225">
                  <a:solidFill>
                    <a:srgbClr val="00B4D8"/>
                  </a:solidFill>
                  <a:latin typeface="Calibri (MS) Bold"/>
                  <a:ea typeface="Calibri (MS) Bold"/>
                  <a:cs typeface="Calibri (MS) Bold"/>
                  <a:sym typeface="Calibri (MS) Bold"/>
                </a:rPr>
                <a:t>RISK MATRIX SORT · SCENARIO</a:t>
              </a:r>
            </a:p>
          </p:txBody>
        </p:sp>
      </p:grpSp>
      <p:grpSp>
        <p:nvGrpSpPr>
          <p:cNvPr name="Group 5" id="5"/>
          <p:cNvGrpSpPr/>
          <p:nvPr/>
        </p:nvGrpSpPr>
        <p:grpSpPr>
          <a:xfrm rot="0">
            <a:off x="960120" y="960120"/>
            <a:ext cx="10972800" cy="754380"/>
            <a:chOff x="0" y="0"/>
            <a:chExt cx="14630400" cy="1005840"/>
          </a:xfrm>
        </p:grpSpPr>
        <p:sp>
          <p:nvSpPr>
            <p:cNvPr name="Freeform 6" id="6"/>
            <p:cNvSpPr/>
            <p:nvPr/>
          </p:nvSpPr>
          <p:spPr>
            <a:xfrm flipH="false" flipV="false" rot="0">
              <a:off x="0" y="0"/>
              <a:ext cx="14630400" cy="1005840"/>
            </a:xfrm>
            <a:custGeom>
              <a:avLst/>
              <a:gdLst/>
              <a:ahLst/>
              <a:cxnLst/>
              <a:rect r="r" b="b" t="t" l="l"/>
              <a:pathLst>
                <a:path h="1005840" w="14630400">
                  <a:moveTo>
                    <a:pt x="0" y="0"/>
                  </a:moveTo>
                  <a:lnTo>
                    <a:pt x="14630400" y="0"/>
                  </a:lnTo>
                  <a:lnTo>
                    <a:pt x="14630400" y="1005840"/>
                  </a:lnTo>
                  <a:lnTo>
                    <a:pt x="0" y="1005840"/>
                  </a:lnTo>
                  <a:close/>
                </a:path>
              </a:pathLst>
            </a:custGeom>
            <a:blipFill>
              <a:blip r:embed="rId3">
                <a:alphaModFix amt="0"/>
              </a:blip>
              <a:stretch>
                <a:fillRect l="0" t="-233418" r="0" b="-233418"/>
              </a:stretch>
            </a:blipFill>
          </p:spPr>
        </p:sp>
        <p:sp>
          <p:nvSpPr>
            <p:cNvPr name="TextBox 7" id="7"/>
            <p:cNvSpPr txBox="true"/>
            <p:nvPr/>
          </p:nvSpPr>
          <p:spPr>
            <a:xfrm>
              <a:off x="0" y="-19050"/>
              <a:ext cx="14630400" cy="1024890"/>
            </a:xfrm>
            <a:prstGeom prst="rect">
              <a:avLst/>
            </a:prstGeom>
          </p:spPr>
          <p:txBody>
            <a:bodyPr anchor="ctr" rtlCol="false" tIns="0" lIns="0" bIns="0" rIns="0"/>
            <a:lstStyle/>
            <a:p>
              <a:pPr algn="l">
                <a:lnSpc>
                  <a:spcPts val="4320"/>
                </a:lnSpc>
              </a:pPr>
              <a:r>
                <a:rPr lang="en-US" sz="3600" b="true">
                  <a:solidFill>
                    <a:srgbClr val="1E2761"/>
                  </a:solidFill>
                  <a:latin typeface="Cambria Bold"/>
                  <a:ea typeface="Cambria Bold"/>
                  <a:cs typeface="Cambria Bold"/>
                  <a:sym typeface="Cambria Bold"/>
                </a:rPr>
                <a:t>Scenario 2</a:t>
              </a:r>
            </a:p>
          </p:txBody>
        </p:sp>
      </p:grpSp>
      <p:grpSp>
        <p:nvGrpSpPr>
          <p:cNvPr name="Group 8" id="8"/>
          <p:cNvGrpSpPr/>
          <p:nvPr/>
        </p:nvGrpSpPr>
        <p:grpSpPr>
          <a:xfrm rot="0">
            <a:off x="960120" y="1645920"/>
            <a:ext cx="8229600" cy="411480"/>
            <a:chOff x="0" y="0"/>
            <a:chExt cx="10972800" cy="548640"/>
          </a:xfrm>
        </p:grpSpPr>
        <p:sp>
          <p:nvSpPr>
            <p:cNvPr name="Freeform 9" id="9"/>
            <p:cNvSpPr/>
            <p:nvPr/>
          </p:nvSpPr>
          <p:spPr>
            <a:xfrm flipH="false" flipV="false" rot="0">
              <a:off x="0" y="0"/>
              <a:ext cx="10972800" cy="548640"/>
            </a:xfrm>
            <a:custGeom>
              <a:avLst/>
              <a:gdLst/>
              <a:ahLst/>
              <a:cxnLst/>
              <a:rect r="r" b="b" t="t" l="l"/>
              <a:pathLst>
                <a:path h="548640" w="10972800">
                  <a:moveTo>
                    <a:pt x="0" y="0"/>
                  </a:moveTo>
                  <a:lnTo>
                    <a:pt x="10972800" y="0"/>
                  </a:lnTo>
                  <a:lnTo>
                    <a:pt x="10972800" y="548640"/>
                  </a:lnTo>
                  <a:lnTo>
                    <a:pt x="0" y="548640"/>
                  </a:lnTo>
                  <a:close/>
                </a:path>
              </a:pathLst>
            </a:custGeom>
            <a:blipFill>
              <a:blip r:embed="rId3">
                <a:alphaModFix amt="0"/>
              </a:blip>
              <a:stretch>
                <a:fillRect l="0" t="-339700" r="0" b="-339700"/>
              </a:stretch>
            </a:blipFill>
          </p:spPr>
        </p:sp>
        <p:sp>
          <p:nvSpPr>
            <p:cNvPr name="TextBox 10" id="10"/>
            <p:cNvSpPr txBox="true"/>
            <p:nvPr/>
          </p:nvSpPr>
          <p:spPr>
            <a:xfrm>
              <a:off x="0" y="-28575"/>
              <a:ext cx="10972800" cy="577215"/>
            </a:xfrm>
            <a:prstGeom prst="rect">
              <a:avLst/>
            </a:prstGeom>
          </p:spPr>
          <p:txBody>
            <a:bodyPr anchor="ctr" rtlCol="false" tIns="0" lIns="0" bIns="0" rIns="0"/>
            <a:lstStyle/>
            <a:p>
              <a:pPr algn="l">
                <a:lnSpc>
                  <a:spcPts val="1980"/>
                </a:lnSpc>
              </a:pPr>
              <a:r>
                <a:rPr lang="en-US" sz="1650">
                  <a:solidFill>
                    <a:srgbClr val="6B7280"/>
                  </a:solidFill>
                  <a:latin typeface="Calibri (MS)"/>
                  <a:ea typeface="Calibri (MS)"/>
                  <a:cs typeface="Calibri (MS)"/>
                  <a:sym typeface="Calibri (MS)"/>
                </a:rPr>
                <a:t>2 of 8</a:t>
              </a:r>
            </a:p>
          </p:txBody>
        </p:sp>
      </p:grpSp>
      <p:grpSp>
        <p:nvGrpSpPr>
          <p:cNvPr name="Group 11" id="11"/>
          <p:cNvGrpSpPr/>
          <p:nvPr/>
        </p:nvGrpSpPr>
        <p:grpSpPr>
          <a:xfrm rot="0">
            <a:off x="960120" y="2194560"/>
            <a:ext cx="16322040" cy="2125980"/>
            <a:chOff x="0" y="0"/>
            <a:chExt cx="21762720" cy="2834640"/>
          </a:xfrm>
        </p:grpSpPr>
        <p:sp>
          <p:nvSpPr>
            <p:cNvPr name="Freeform 12" id="12"/>
            <p:cNvSpPr/>
            <p:nvPr/>
          </p:nvSpPr>
          <p:spPr>
            <a:xfrm flipH="false" flipV="false" rot="0">
              <a:off x="0" y="0"/>
              <a:ext cx="21762720" cy="2834640"/>
            </a:xfrm>
            <a:custGeom>
              <a:avLst/>
              <a:gdLst/>
              <a:ahLst/>
              <a:cxnLst/>
              <a:rect r="r" b="b" t="t" l="l"/>
              <a:pathLst>
                <a:path h="2834640" w="21762720">
                  <a:moveTo>
                    <a:pt x="0" y="182880"/>
                  </a:moveTo>
                  <a:cubicBezTo>
                    <a:pt x="0" y="81915"/>
                    <a:pt x="81915" y="0"/>
                    <a:pt x="182880" y="0"/>
                  </a:cubicBezTo>
                  <a:lnTo>
                    <a:pt x="21579839" y="0"/>
                  </a:lnTo>
                  <a:cubicBezTo>
                    <a:pt x="21680804" y="0"/>
                    <a:pt x="21762720" y="81915"/>
                    <a:pt x="21762720" y="182880"/>
                  </a:cubicBezTo>
                  <a:lnTo>
                    <a:pt x="21762720" y="2651760"/>
                  </a:lnTo>
                  <a:cubicBezTo>
                    <a:pt x="21762720" y="2752725"/>
                    <a:pt x="21680804" y="2834640"/>
                    <a:pt x="21579839" y="2834640"/>
                  </a:cubicBezTo>
                  <a:lnTo>
                    <a:pt x="182880" y="2834640"/>
                  </a:lnTo>
                  <a:cubicBezTo>
                    <a:pt x="81915" y="2834640"/>
                    <a:pt x="0" y="2752725"/>
                    <a:pt x="0" y="2651760"/>
                  </a:cubicBezTo>
                  <a:close/>
                </a:path>
              </a:pathLst>
            </a:custGeom>
            <a:solidFill>
              <a:srgbClr val="F4F7FC"/>
            </a:solidFill>
          </p:spPr>
        </p:sp>
      </p:grpSp>
      <p:grpSp>
        <p:nvGrpSpPr>
          <p:cNvPr name="Group 13" id="13"/>
          <p:cNvGrpSpPr/>
          <p:nvPr/>
        </p:nvGrpSpPr>
        <p:grpSpPr>
          <a:xfrm rot="0">
            <a:off x="1371600" y="2441448"/>
            <a:ext cx="15499080" cy="1645920"/>
            <a:chOff x="0" y="0"/>
            <a:chExt cx="20665440" cy="2194560"/>
          </a:xfrm>
        </p:grpSpPr>
        <p:sp>
          <p:nvSpPr>
            <p:cNvPr name="Freeform 14" id="14"/>
            <p:cNvSpPr/>
            <p:nvPr/>
          </p:nvSpPr>
          <p:spPr>
            <a:xfrm flipH="false" flipV="false" rot="0">
              <a:off x="0" y="0"/>
              <a:ext cx="20665439" cy="2194560"/>
            </a:xfrm>
            <a:custGeom>
              <a:avLst/>
              <a:gdLst/>
              <a:ahLst/>
              <a:cxnLst/>
              <a:rect r="r" b="b" t="t" l="l"/>
              <a:pathLst>
                <a:path h="2194560" w="20665439">
                  <a:moveTo>
                    <a:pt x="0" y="0"/>
                  </a:moveTo>
                  <a:lnTo>
                    <a:pt x="20665439" y="0"/>
                  </a:lnTo>
                  <a:lnTo>
                    <a:pt x="20665439" y="2194560"/>
                  </a:lnTo>
                  <a:lnTo>
                    <a:pt x="0" y="2194560"/>
                  </a:lnTo>
                  <a:close/>
                </a:path>
              </a:pathLst>
            </a:custGeom>
            <a:blipFill>
              <a:blip r:embed="rId3">
                <a:alphaModFix amt="0"/>
              </a:blip>
              <a:stretch>
                <a:fillRect l="0" t="-133484" r="0" b="-133484"/>
              </a:stretch>
            </a:blipFill>
          </p:spPr>
        </p:sp>
        <p:sp>
          <p:nvSpPr>
            <p:cNvPr name="TextBox 15" id="15"/>
            <p:cNvSpPr txBox="true"/>
            <p:nvPr/>
          </p:nvSpPr>
          <p:spPr>
            <a:xfrm>
              <a:off x="0" y="-85725"/>
              <a:ext cx="20665440" cy="2280285"/>
            </a:xfrm>
            <a:prstGeom prst="rect">
              <a:avLst/>
            </a:prstGeom>
          </p:spPr>
          <p:txBody>
            <a:bodyPr anchor="ctr" rtlCol="false" tIns="0" lIns="0" bIns="0" rIns="0"/>
            <a:lstStyle/>
            <a:p>
              <a:pPr algn="l">
                <a:lnSpc>
                  <a:spcPts val="3600"/>
                </a:lnSpc>
              </a:pPr>
              <a:r>
                <a:rPr lang="en-US" sz="2400" i="true">
                  <a:solidFill>
                    <a:srgbClr val="23262F"/>
                  </a:solidFill>
                  <a:latin typeface="Cambria Italics"/>
                  <a:ea typeface="Cambria Italics"/>
                  <a:cs typeface="Cambria Italics"/>
                  <a:sym typeface="Cambria Italics"/>
                </a:rPr>
                <a:t>“The Provincial Treasurer's revenue-collection system runs on a single aging server. The last successful backup was six months ago.”</a:t>
              </a:r>
            </a:p>
          </p:txBody>
        </p:sp>
      </p:grpSp>
      <p:grpSp>
        <p:nvGrpSpPr>
          <p:cNvPr name="Group 16" id="16"/>
          <p:cNvGrpSpPr/>
          <p:nvPr/>
        </p:nvGrpSpPr>
        <p:grpSpPr>
          <a:xfrm rot="0">
            <a:off x="960120" y="4594860"/>
            <a:ext cx="16322040" cy="685800"/>
            <a:chOff x="0" y="0"/>
            <a:chExt cx="21762720" cy="914400"/>
          </a:xfrm>
        </p:grpSpPr>
        <p:sp>
          <p:nvSpPr>
            <p:cNvPr name="Freeform 17" id="17"/>
            <p:cNvSpPr/>
            <p:nvPr/>
          </p:nvSpPr>
          <p:spPr>
            <a:xfrm flipH="false" flipV="false" rot="0">
              <a:off x="0" y="0"/>
              <a:ext cx="21762720" cy="914400"/>
            </a:xfrm>
            <a:custGeom>
              <a:avLst/>
              <a:gdLst/>
              <a:ahLst/>
              <a:cxnLst/>
              <a:rect r="r" b="b" t="t" l="l"/>
              <a:pathLst>
                <a:path h="914400" w="21762720">
                  <a:moveTo>
                    <a:pt x="0" y="0"/>
                  </a:moveTo>
                  <a:lnTo>
                    <a:pt x="21762720" y="0"/>
                  </a:lnTo>
                  <a:lnTo>
                    <a:pt x="21762720" y="914400"/>
                  </a:lnTo>
                  <a:lnTo>
                    <a:pt x="0" y="914400"/>
                  </a:lnTo>
                  <a:close/>
                </a:path>
              </a:pathLst>
            </a:custGeom>
            <a:blipFill>
              <a:blip r:embed="rId3">
                <a:alphaModFix amt="0"/>
              </a:blip>
              <a:stretch>
                <a:fillRect l="0" t="-413743" r="0" b="-413743"/>
              </a:stretch>
            </a:blipFill>
          </p:spPr>
        </p:sp>
        <p:sp>
          <p:nvSpPr>
            <p:cNvPr name="TextBox 18" id="18"/>
            <p:cNvSpPr txBox="true"/>
            <p:nvPr/>
          </p:nvSpPr>
          <p:spPr>
            <a:xfrm>
              <a:off x="0" y="-47625"/>
              <a:ext cx="21762720" cy="962025"/>
            </a:xfrm>
            <a:prstGeom prst="rect">
              <a:avLst/>
            </a:prstGeom>
          </p:spPr>
          <p:txBody>
            <a:bodyPr anchor="ctr" rtlCol="false" tIns="0" lIns="0" bIns="0" rIns="0"/>
            <a:lstStyle/>
            <a:p>
              <a:pPr algn="ctr">
                <a:lnSpc>
                  <a:spcPts val="2520"/>
                </a:lnSpc>
              </a:pPr>
              <a:r>
                <a:rPr lang="en-US" sz="2100" i="true">
                  <a:solidFill>
                    <a:srgbClr val="6B7280"/>
                  </a:solidFill>
                  <a:latin typeface="Calibri (MS) Italics"/>
                  <a:ea typeface="Calibri (MS) Italics"/>
                  <a:cs typeface="Calibri (MS) Italics"/>
                  <a:sym typeface="Calibri (MS) Italics"/>
                </a:rPr>
                <a:t>Rate the likelihood, rate the impact, then pick a response. Discuss, then we'll reveal the answer.</a:t>
              </a:r>
            </a:p>
          </p:txBody>
        </p:sp>
      </p:grpSp>
      <p:grpSp>
        <p:nvGrpSpPr>
          <p:cNvPr name="Group 19" id="19"/>
          <p:cNvGrpSpPr/>
          <p:nvPr/>
        </p:nvGrpSpPr>
        <p:grpSpPr>
          <a:xfrm rot="0">
            <a:off x="960120" y="5486400"/>
            <a:ext cx="16322040" cy="384048"/>
            <a:chOff x="0" y="0"/>
            <a:chExt cx="21762720" cy="512064"/>
          </a:xfrm>
        </p:grpSpPr>
        <p:sp>
          <p:nvSpPr>
            <p:cNvPr name="Freeform 20" id="20"/>
            <p:cNvSpPr/>
            <p:nvPr/>
          </p:nvSpPr>
          <p:spPr>
            <a:xfrm flipH="false" flipV="false" rot="0">
              <a:off x="0" y="0"/>
              <a:ext cx="21762720" cy="512064"/>
            </a:xfrm>
            <a:custGeom>
              <a:avLst/>
              <a:gdLst/>
              <a:ahLst/>
              <a:cxnLst/>
              <a:rect r="r" b="b" t="t" l="l"/>
              <a:pathLst>
                <a:path h="512064" w="21762720">
                  <a:moveTo>
                    <a:pt x="0" y="0"/>
                  </a:moveTo>
                  <a:lnTo>
                    <a:pt x="21762720" y="0"/>
                  </a:lnTo>
                  <a:lnTo>
                    <a:pt x="21762720" y="512064"/>
                  </a:lnTo>
                  <a:lnTo>
                    <a:pt x="0" y="512064"/>
                  </a:lnTo>
                  <a:close/>
                </a:path>
              </a:pathLst>
            </a:custGeom>
            <a:blipFill>
              <a:blip r:embed="rId3">
                <a:alphaModFix amt="0"/>
              </a:blip>
              <a:stretch>
                <a:fillRect l="0" t="-778114" r="0" b="-778114"/>
              </a:stretch>
            </a:blipFill>
          </p:spPr>
        </p:sp>
        <p:sp>
          <p:nvSpPr>
            <p:cNvPr name="TextBox 21" id="21"/>
            <p:cNvSpPr txBox="true"/>
            <p:nvPr/>
          </p:nvSpPr>
          <p:spPr>
            <a:xfrm>
              <a:off x="0" y="-19050"/>
              <a:ext cx="21762720" cy="531114"/>
            </a:xfrm>
            <a:prstGeom prst="rect">
              <a:avLst/>
            </a:prstGeom>
          </p:spPr>
          <p:txBody>
            <a:bodyPr anchor="ctr" rtlCol="false" tIns="0" lIns="0" bIns="0" rIns="0"/>
            <a:lstStyle/>
            <a:p>
              <a:pPr algn="ctr">
                <a:lnSpc>
                  <a:spcPts val="1889"/>
                </a:lnSpc>
              </a:pPr>
              <a:r>
                <a:rPr lang="en-US" b="true" sz="1575" spc="74">
                  <a:solidFill>
                    <a:srgbClr val="6B7280"/>
                  </a:solidFill>
                  <a:latin typeface="Calibri (MS) Bold"/>
                  <a:ea typeface="Calibri (MS) Bold"/>
                  <a:cs typeface="Calibri (MS) Bold"/>
                  <a:sym typeface="Calibri (MS) Bold"/>
                </a:rPr>
                <a:t>SCALE FOR LIKELIHOOD &amp; IMPACT</a:t>
              </a:r>
            </a:p>
          </p:txBody>
        </p:sp>
      </p:grpSp>
      <p:grpSp>
        <p:nvGrpSpPr>
          <p:cNvPr name="Group 22" id="22"/>
          <p:cNvGrpSpPr/>
          <p:nvPr/>
        </p:nvGrpSpPr>
        <p:grpSpPr>
          <a:xfrm rot="0">
            <a:off x="3371469" y="5915787"/>
            <a:ext cx="3585210" cy="773430"/>
            <a:chOff x="0" y="0"/>
            <a:chExt cx="4780280" cy="1031240"/>
          </a:xfrm>
        </p:grpSpPr>
        <p:sp>
          <p:nvSpPr>
            <p:cNvPr name="Freeform 23" id="23"/>
            <p:cNvSpPr/>
            <p:nvPr/>
          </p:nvSpPr>
          <p:spPr>
            <a:xfrm flipH="false" flipV="false" rot="0">
              <a:off x="0" y="0"/>
              <a:ext cx="4780280" cy="1031240"/>
            </a:xfrm>
            <a:custGeom>
              <a:avLst/>
              <a:gdLst/>
              <a:ahLst/>
              <a:cxnLst/>
              <a:rect r="r" b="b" t="t" l="l"/>
              <a:pathLst>
                <a:path h="1031240" w="4780280">
                  <a:moveTo>
                    <a:pt x="0" y="168783"/>
                  </a:moveTo>
                  <a:cubicBezTo>
                    <a:pt x="0" y="75565"/>
                    <a:pt x="75565" y="0"/>
                    <a:pt x="168783" y="0"/>
                  </a:cubicBezTo>
                  <a:lnTo>
                    <a:pt x="4611497" y="0"/>
                  </a:lnTo>
                  <a:cubicBezTo>
                    <a:pt x="4704715" y="0"/>
                    <a:pt x="4780280" y="75565"/>
                    <a:pt x="4780280" y="168783"/>
                  </a:cubicBezTo>
                  <a:lnTo>
                    <a:pt x="4780280" y="862457"/>
                  </a:lnTo>
                  <a:cubicBezTo>
                    <a:pt x="4780280" y="955675"/>
                    <a:pt x="4704715" y="1031240"/>
                    <a:pt x="4611497" y="1031240"/>
                  </a:cubicBezTo>
                  <a:lnTo>
                    <a:pt x="168783" y="1031240"/>
                  </a:lnTo>
                  <a:cubicBezTo>
                    <a:pt x="75565" y="1031240"/>
                    <a:pt x="0" y="955675"/>
                    <a:pt x="0" y="862457"/>
                  </a:cubicBezTo>
                  <a:close/>
                </a:path>
              </a:pathLst>
            </a:custGeom>
            <a:solidFill>
              <a:srgbClr val="F4F7FC"/>
            </a:solidFill>
            <a:ln w="19050" cap="sq">
              <a:solidFill>
                <a:srgbClr val="D7DCEC"/>
              </a:solidFill>
              <a:prstDash val="solid"/>
              <a:miter/>
            </a:ln>
          </p:spPr>
        </p:sp>
      </p:grpSp>
      <p:grpSp>
        <p:nvGrpSpPr>
          <p:cNvPr name="Group 24" id="24"/>
          <p:cNvGrpSpPr/>
          <p:nvPr/>
        </p:nvGrpSpPr>
        <p:grpSpPr>
          <a:xfrm rot="0">
            <a:off x="3380994" y="5925312"/>
            <a:ext cx="3566160" cy="754380"/>
            <a:chOff x="0" y="0"/>
            <a:chExt cx="4754880" cy="1005840"/>
          </a:xfrm>
        </p:grpSpPr>
        <p:sp>
          <p:nvSpPr>
            <p:cNvPr name="Freeform 25" id="25"/>
            <p:cNvSpPr/>
            <p:nvPr/>
          </p:nvSpPr>
          <p:spPr>
            <a:xfrm flipH="false" flipV="false" rot="0">
              <a:off x="0" y="0"/>
              <a:ext cx="4754880" cy="1005840"/>
            </a:xfrm>
            <a:custGeom>
              <a:avLst/>
              <a:gdLst/>
              <a:ahLst/>
              <a:cxnLst/>
              <a:rect r="r" b="b" t="t" l="l"/>
              <a:pathLst>
                <a:path h="1005840" w="4754880">
                  <a:moveTo>
                    <a:pt x="0" y="0"/>
                  </a:moveTo>
                  <a:lnTo>
                    <a:pt x="4754880" y="0"/>
                  </a:lnTo>
                  <a:lnTo>
                    <a:pt x="4754880" y="1005840"/>
                  </a:lnTo>
                  <a:lnTo>
                    <a:pt x="0" y="1005840"/>
                  </a:lnTo>
                  <a:close/>
                </a:path>
              </a:pathLst>
            </a:custGeom>
            <a:blipFill>
              <a:blip r:embed="rId3">
                <a:alphaModFix amt="0"/>
              </a:blip>
              <a:stretch>
                <a:fillRect l="0" t="-42111" r="0" b="-42111"/>
              </a:stretch>
            </a:blipFill>
          </p:spPr>
        </p:sp>
        <p:sp>
          <p:nvSpPr>
            <p:cNvPr name="TextBox 26" id="26"/>
            <p:cNvSpPr txBox="true"/>
            <p:nvPr/>
          </p:nvSpPr>
          <p:spPr>
            <a:xfrm>
              <a:off x="0" y="-47625"/>
              <a:ext cx="4754880" cy="1053465"/>
            </a:xfrm>
            <a:prstGeom prst="rect">
              <a:avLst/>
            </a:prstGeom>
          </p:spPr>
          <p:txBody>
            <a:bodyPr anchor="ctr" rtlCol="false" tIns="0" lIns="0" bIns="0" rIns="0"/>
            <a:lstStyle/>
            <a:p>
              <a:pPr algn="ctr">
                <a:lnSpc>
                  <a:spcPts val="2340"/>
                </a:lnSpc>
              </a:pPr>
              <a:r>
                <a:rPr lang="en-US" sz="1950">
                  <a:solidFill>
                    <a:srgbClr val="6B7280"/>
                  </a:solidFill>
                  <a:latin typeface="Calibri (MS)"/>
                  <a:ea typeface="Calibri (MS)"/>
                  <a:cs typeface="Calibri (MS)"/>
                  <a:sym typeface="Calibri (MS)"/>
                </a:rPr>
                <a:t>Low</a:t>
              </a:r>
            </a:p>
          </p:txBody>
        </p:sp>
      </p:grpSp>
      <p:grpSp>
        <p:nvGrpSpPr>
          <p:cNvPr name="Group 27" id="27"/>
          <p:cNvGrpSpPr/>
          <p:nvPr/>
        </p:nvGrpSpPr>
        <p:grpSpPr>
          <a:xfrm rot="0">
            <a:off x="7349109" y="5915787"/>
            <a:ext cx="3585210" cy="773430"/>
            <a:chOff x="0" y="0"/>
            <a:chExt cx="4780280" cy="1031240"/>
          </a:xfrm>
        </p:grpSpPr>
        <p:sp>
          <p:nvSpPr>
            <p:cNvPr name="Freeform 28" id="28"/>
            <p:cNvSpPr/>
            <p:nvPr/>
          </p:nvSpPr>
          <p:spPr>
            <a:xfrm flipH="false" flipV="false" rot="0">
              <a:off x="0" y="0"/>
              <a:ext cx="4780280" cy="1031240"/>
            </a:xfrm>
            <a:custGeom>
              <a:avLst/>
              <a:gdLst/>
              <a:ahLst/>
              <a:cxnLst/>
              <a:rect r="r" b="b" t="t" l="l"/>
              <a:pathLst>
                <a:path h="1031240" w="4780280">
                  <a:moveTo>
                    <a:pt x="0" y="168783"/>
                  </a:moveTo>
                  <a:cubicBezTo>
                    <a:pt x="0" y="75565"/>
                    <a:pt x="75565" y="0"/>
                    <a:pt x="168783" y="0"/>
                  </a:cubicBezTo>
                  <a:lnTo>
                    <a:pt x="4611497" y="0"/>
                  </a:lnTo>
                  <a:cubicBezTo>
                    <a:pt x="4704715" y="0"/>
                    <a:pt x="4780280" y="75565"/>
                    <a:pt x="4780280" y="168783"/>
                  </a:cubicBezTo>
                  <a:lnTo>
                    <a:pt x="4780280" y="862457"/>
                  </a:lnTo>
                  <a:cubicBezTo>
                    <a:pt x="4780280" y="955675"/>
                    <a:pt x="4704715" y="1031240"/>
                    <a:pt x="4611497" y="1031240"/>
                  </a:cubicBezTo>
                  <a:lnTo>
                    <a:pt x="168783" y="1031240"/>
                  </a:lnTo>
                  <a:cubicBezTo>
                    <a:pt x="75565" y="1031240"/>
                    <a:pt x="0" y="955675"/>
                    <a:pt x="0" y="862457"/>
                  </a:cubicBezTo>
                  <a:close/>
                </a:path>
              </a:pathLst>
            </a:custGeom>
            <a:solidFill>
              <a:srgbClr val="F4F7FC"/>
            </a:solidFill>
            <a:ln w="19050" cap="sq">
              <a:solidFill>
                <a:srgbClr val="D7DCEC"/>
              </a:solidFill>
              <a:prstDash val="solid"/>
              <a:miter/>
            </a:ln>
          </p:spPr>
        </p:sp>
      </p:grpSp>
      <p:grpSp>
        <p:nvGrpSpPr>
          <p:cNvPr name="Group 29" id="29"/>
          <p:cNvGrpSpPr/>
          <p:nvPr/>
        </p:nvGrpSpPr>
        <p:grpSpPr>
          <a:xfrm rot="0">
            <a:off x="7358634" y="5925312"/>
            <a:ext cx="3566160" cy="754380"/>
            <a:chOff x="0" y="0"/>
            <a:chExt cx="4754880" cy="1005840"/>
          </a:xfrm>
        </p:grpSpPr>
        <p:sp>
          <p:nvSpPr>
            <p:cNvPr name="Freeform 30" id="30"/>
            <p:cNvSpPr/>
            <p:nvPr/>
          </p:nvSpPr>
          <p:spPr>
            <a:xfrm flipH="false" flipV="false" rot="0">
              <a:off x="0" y="0"/>
              <a:ext cx="4754880" cy="1005840"/>
            </a:xfrm>
            <a:custGeom>
              <a:avLst/>
              <a:gdLst/>
              <a:ahLst/>
              <a:cxnLst/>
              <a:rect r="r" b="b" t="t" l="l"/>
              <a:pathLst>
                <a:path h="1005840" w="4754880">
                  <a:moveTo>
                    <a:pt x="0" y="0"/>
                  </a:moveTo>
                  <a:lnTo>
                    <a:pt x="4754880" y="0"/>
                  </a:lnTo>
                  <a:lnTo>
                    <a:pt x="4754880" y="1005840"/>
                  </a:lnTo>
                  <a:lnTo>
                    <a:pt x="0" y="1005840"/>
                  </a:lnTo>
                  <a:close/>
                </a:path>
              </a:pathLst>
            </a:custGeom>
            <a:blipFill>
              <a:blip r:embed="rId3">
                <a:alphaModFix amt="0"/>
              </a:blip>
              <a:stretch>
                <a:fillRect l="0" t="-42111" r="0" b="-42111"/>
              </a:stretch>
            </a:blipFill>
          </p:spPr>
        </p:sp>
        <p:sp>
          <p:nvSpPr>
            <p:cNvPr name="TextBox 31" id="31"/>
            <p:cNvSpPr txBox="true"/>
            <p:nvPr/>
          </p:nvSpPr>
          <p:spPr>
            <a:xfrm>
              <a:off x="0" y="-47625"/>
              <a:ext cx="4754880" cy="1053465"/>
            </a:xfrm>
            <a:prstGeom prst="rect">
              <a:avLst/>
            </a:prstGeom>
          </p:spPr>
          <p:txBody>
            <a:bodyPr anchor="ctr" rtlCol="false" tIns="0" lIns="0" bIns="0" rIns="0"/>
            <a:lstStyle/>
            <a:p>
              <a:pPr algn="ctr">
                <a:lnSpc>
                  <a:spcPts val="2340"/>
                </a:lnSpc>
              </a:pPr>
              <a:r>
                <a:rPr lang="en-US" sz="1950">
                  <a:solidFill>
                    <a:srgbClr val="6B7280"/>
                  </a:solidFill>
                  <a:latin typeface="Calibri (MS)"/>
                  <a:ea typeface="Calibri (MS)"/>
                  <a:cs typeface="Calibri (MS)"/>
                  <a:sym typeface="Calibri (MS)"/>
                </a:rPr>
                <a:t>Medium</a:t>
              </a:r>
            </a:p>
          </p:txBody>
        </p:sp>
      </p:grpSp>
      <p:grpSp>
        <p:nvGrpSpPr>
          <p:cNvPr name="Group 32" id="32"/>
          <p:cNvGrpSpPr/>
          <p:nvPr/>
        </p:nvGrpSpPr>
        <p:grpSpPr>
          <a:xfrm rot="0">
            <a:off x="11326749" y="5915787"/>
            <a:ext cx="3585210" cy="773430"/>
            <a:chOff x="0" y="0"/>
            <a:chExt cx="4780280" cy="1031240"/>
          </a:xfrm>
        </p:grpSpPr>
        <p:sp>
          <p:nvSpPr>
            <p:cNvPr name="Freeform 33" id="33"/>
            <p:cNvSpPr/>
            <p:nvPr/>
          </p:nvSpPr>
          <p:spPr>
            <a:xfrm flipH="false" flipV="false" rot="0">
              <a:off x="0" y="0"/>
              <a:ext cx="4780280" cy="1031240"/>
            </a:xfrm>
            <a:custGeom>
              <a:avLst/>
              <a:gdLst/>
              <a:ahLst/>
              <a:cxnLst/>
              <a:rect r="r" b="b" t="t" l="l"/>
              <a:pathLst>
                <a:path h="1031240" w="4780280">
                  <a:moveTo>
                    <a:pt x="0" y="168783"/>
                  </a:moveTo>
                  <a:cubicBezTo>
                    <a:pt x="0" y="75565"/>
                    <a:pt x="75565" y="0"/>
                    <a:pt x="168783" y="0"/>
                  </a:cubicBezTo>
                  <a:lnTo>
                    <a:pt x="4611497" y="0"/>
                  </a:lnTo>
                  <a:cubicBezTo>
                    <a:pt x="4704715" y="0"/>
                    <a:pt x="4780280" y="75565"/>
                    <a:pt x="4780280" y="168783"/>
                  </a:cubicBezTo>
                  <a:lnTo>
                    <a:pt x="4780280" y="862457"/>
                  </a:lnTo>
                  <a:cubicBezTo>
                    <a:pt x="4780280" y="955675"/>
                    <a:pt x="4704715" y="1031240"/>
                    <a:pt x="4611497" y="1031240"/>
                  </a:cubicBezTo>
                  <a:lnTo>
                    <a:pt x="168783" y="1031240"/>
                  </a:lnTo>
                  <a:cubicBezTo>
                    <a:pt x="75565" y="1031240"/>
                    <a:pt x="0" y="955675"/>
                    <a:pt x="0" y="862457"/>
                  </a:cubicBezTo>
                  <a:close/>
                </a:path>
              </a:pathLst>
            </a:custGeom>
            <a:solidFill>
              <a:srgbClr val="F4F7FC"/>
            </a:solidFill>
            <a:ln w="19050" cap="sq">
              <a:solidFill>
                <a:srgbClr val="D7DCEC"/>
              </a:solidFill>
              <a:prstDash val="solid"/>
              <a:miter/>
            </a:ln>
          </p:spPr>
        </p:sp>
      </p:grpSp>
      <p:grpSp>
        <p:nvGrpSpPr>
          <p:cNvPr name="Group 34" id="34"/>
          <p:cNvGrpSpPr/>
          <p:nvPr/>
        </p:nvGrpSpPr>
        <p:grpSpPr>
          <a:xfrm rot="0">
            <a:off x="11336274" y="5925312"/>
            <a:ext cx="3566160" cy="754380"/>
            <a:chOff x="0" y="0"/>
            <a:chExt cx="4754880" cy="1005840"/>
          </a:xfrm>
        </p:grpSpPr>
        <p:sp>
          <p:nvSpPr>
            <p:cNvPr name="Freeform 35" id="35"/>
            <p:cNvSpPr/>
            <p:nvPr/>
          </p:nvSpPr>
          <p:spPr>
            <a:xfrm flipH="false" flipV="false" rot="0">
              <a:off x="0" y="0"/>
              <a:ext cx="4754880" cy="1005840"/>
            </a:xfrm>
            <a:custGeom>
              <a:avLst/>
              <a:gdLst/>
              <a:ahLst/>
              <a:cxnLst/>
              <a:rect r="r" b="b" t="t" l="l"/>
              <a:pathLst>
                <a:path h="1005840" w="4754880">
                  <a:moveTo>
                    <a:pt x="0" y="0"/>
                  </a:moveTo>
                  <a:lnTo>
                    <a:pt x="4754880" y="0"/>
                  </a:lnTo>
                  <a:lnTo>
                    <a:pt x="4754880" y="1005840"/>
                  </a:lnTo>
                  <a:lnTo>
                    <a:pt x="0" y="1005840"/>
                  </a:lnTo>
                  <a:close/>
                </a:path>
              </a:pathLst>
            </a:custGeom>
            <a:blipFill>
              <a:blip r:embed="rId3">
                <a:alphaModFix amt="0"/>
              </a:blip>
              <a:stretch>
                <a:fillRect l="0" t="-42111" r="0" b="-42111"/>
              </a:stretch>
            </a:blipFill>
          </p:spPr>
        </p:sp>
        <p:sp>
          <p:nvSpPr>
            <p:cNvPr name="TextBox 36" id="36"/>
            <p:cNvSpPr txBox="true"/>
            <p:nvPr/>
          </p:nvSpPr>
          <p:spPr>
            <a:xfrm>
              <a:off x="0" y="-47625"/>
              <a:ext cx="4754880" cy="1053465"/>
            </a:xfrm>
            <a:prstGeom prst="rect">
              <a:avLst/>
            </a:prstGeom>
          </p:spPr>
          <p:txBody>
            <a:bodyPr anchor="ctr" rtlCol="false" tIns="0" lIns="0" bIns="0" rIns="0"/>
            <a:lstStyle/>
            <a:p>
              <a:pPr algn="ctr">
                <a:lnSpc>
                  <a:spcPts val="2340"/>
                </a:lnSpc>
              </a:pPr>
              <a:r>
                <a:rPr lang="en-US" sz="1950">
                  <a:solidFill>
                    <a:srgbClr val="6B7280"/>
                  </a:solidFill>
                  <a:latin typeface="Calibri (MS)"/>
                  <a:ea typeface="Calibri (MS)"/>
                  <a:cs typeface="Calibri (MS)"/>
                  <a:sym typeface="Calibri (MS)"/>
                </a:rPr>
                <a:t>High</a:t>
              </a:r>
            </a:p>
          </p:txBody>
        </p:sp>
      </p:grpSp>
      <p:grpSp>
        <p:nvGrpSpPr>
          <p:cNvPr name="Group 37" id="37"/>
          <p:cNvGrpSpPr/>
          <p:nvPr/>
        </p:nvGrpSpPr>
        <p:grpSpPr>
          <a:xfrm rot="0">
            <a:off x="960120" y="7063740"/>
            <a:ext cx="16322040" cy="384048"/>
            <a:chOff x="0" y="0"/>
            <a:chExt cx="21762720" cy="512064"/>
          </a:xfrm>
        </p:grpSpPr>
        <p:sp>
          <p:nvSpPr>
            <p:cNvPr name="Freeform 38" id="38"/>
            <p:cNvSpPr/>
            <p:nvPr/>
          </p:nvSpPr>
          <p:spPr>
            <a:xfrm flipH="false" flipV="false" rot="0">
              <a:off x="0" y="0"/>
              <a:ext cx="21762720" cy="512064"/>
            </a:xfrm>
            <a:custGeom>
              <a:avLst/>
              <a:gdLst/>
              <a:ahLst/>
              <a:cxnLst/>
              <a:rect r="r" b="b" t="t" l="l"/>
              <a:pathLst>
                <a:path h="512064" w="21762720">
                  <a:moveTo>
                    <a:pt x="0" y="0"/>
                  </a:moveTo>
                  <a:lnTo>
                    <a:pt x="21762720" y="0"/>
                  </a:lnTo>
                  <a:lnTo>
                    <a:pt x="21762720" y="512064"/>
                  </a:lnTo>
                  <a:lnTo>
                    <a:pt x="0" y="512064"/>
                  </a:lnTo>
                  <a:close/>
                </a:path>
              </a:pathLst>
            </a:custGeom>
            <a:blipFill>
              <a:blip r:embed="rId3">
                <a:alphaModFix amt="0"/>
              </a:blip>
              <a:stretch>
                <a:fillRect l="0" t="-778114" r="0" b="-778114"/>
              </a:stretch>
            </a:blipFill>
          </p:spPr>
        </p:sp>
        <p:sp>
          <p:nvSpPr>
            <p:cNvPr name="TextBox 39" id="39"/>
            <p:cNvSpPr txBox="true"/>
            <p:nvPr/>
          </p:nvSpPr>
          <p:spPr>
            <a:xfrm>
              <a:off x="0" y="-19050"/>
              <a:ext cx="21762720" cy="531114"/>
            </a:xfrm>
            <a:prstGeom prst="rect">
              <a:avLst/>
            </a:prstGeom>
          </p:spPr>
          <p:txBody>
            <a:bodyPr anchor="ctr" rtlCol="false" tIns="0" lIns="0" bIns="0" rIns="0"/>
            <a:lstStyle/>
            <a:p>
              <a:pPr algn="ctr">
                <a:lnSpc>
                  <a:spcPts val="1889"/>
                </a:lnSpc>
              </a:pPr>
              <a:r>
                <a:rPr lang="en-US" b="true" sz="1575" spc="74">
                  <a:solidFill>
                    <a:srgbClr val="6B7280"/>
                  </a:solidFill>
                  <a:latin typeface="Calibri (MS) Bold"/>
                  <a:ea typeface="Calibri (MS) Bold"/>
                  <a:cs typeface="Calibri (MS) Bold"/>
                  <a:sym typeface="Calibri (MS) Bold"/>
                </a:rPr>
                <a:t>RESPONSE OPTIONS</a:t>
              </a:r>
            </a:p>
          </p:txBody>
        </p:sp>
      </p:grpSp>
      <p:grpSp>
        <p:nvGrpSpPr>
          <p:cNvPr name="Group 40" id="40"/>
          <p:cNvGrpSpPr/>
          <p:nvPr/>
        </p:nvGrpSpPr>
        <p:grpSpPr>
          <a:xfrm rot="0">
            <a:off x="1012317" y="7493127"/>
            <a:ext cx="3790950" cy="773430"/>
            <a:chOff x="0" y="0"/>
            <a:chExt cx="5054600" cy="1031240"/>
          </a:xfrm>
        </p:grpSpPr>
        <p:sp>
          <p:nvSpPr>
            <p:cNvPr name="Freeform 41" id="41"/>
            <p:cNvSpPr/>
            <p:nvPr/>
          </p:nvSpPr>
          <p:spPr>
            <a:xfrm flipH="false" flipV="false" rot="0">
              <a:off x="0" y="0"/>
              <a:ext cx="5054600" cy="1031240"/>
            </a:xfrm>
            <a:custGeom>
              <a:avLst/>
              <a:gdLst/>
              <a:ahLst/>
              <a:cxnLst/>
              <a:rect r="r" b="b" t="t" l="l"/>
              <a:pathLst>
                <a:path h="1031240" w="5054600">
                  <a:moveTo>
                    <a:pt x="0" y="168783"/>
                  </a:moveTo>
                  <a:cubicBezTo>
                    <a:pt x="0" y="75565"/>
                    <a:pt x="75565" y="0"/>
                    <a:pt x="168783" y="0"/>
                  </a:cubicBezTo>
                  <a:lnTo>
                    <a:pt x="4885817" y="0"/>
                  </a:lnTo>
                  <a:cubicBezTo>
                    <a:pt x="4979035" y="0"/>
                    <a:pt x="5054600" y="75565"/>
                    <a:pt x="5054600" y="168783"/>
                  </a:cubicBezTo>
                  <a:lnTo>
                    <a:pt x="5054600" y="862457"/>
                  </a:lnTo>
                  <a:cubicBezTo>
                    <a:pt x="5054600" y="955675"/>
                    <a:pt x="4979035" y="1031240"/>
                    <a:pt x="4885817" y="1031240"/>
                  </a:cubicBezTo>
                  <a:lnTo>
                    <a:pt x="168783" y="1031240"/>
                  </a:lnTo>
                  <a:cubicBezTo>
                    <a:pt x="75565" y="1031240"/>
                    <a:pt x="0" y="955675"/>
                    <a:pt x="0" y="862457"/>
                  </a:cubicBezTo>
                  <a:close/>
                </a:path>
              </a:pathLst>
            </a:custGeom>
            <a:solidFill>
              <a:srgbClr val="F4F7FC"/>
            </a:solidFill>
            <a:ln w="19050" cap="sq">
              <a:solidFill>
                <a:srgbClr val="D7DCEC"/>
              </a:solidFill>
              <a:prstDash val="solid"/>
              <a:miter/>
            </a:ln>
          </p:spPr>
        </p:sp>
      </p:grpSp>
      <p:grpSp>
        <p:nvGrpSpPr>
          <p:cNvPr name="Group 42" id="42"/>
          <p:cNvGrpSpPr/>
          <p:nvPr/>
        </p:nvGrpSpPr>
        <p:grpSpPr>
          <a:xfrm rot="0">
            <a:off x="1021842" y="7502652"/>
            <a:ext cx="3771900" cy="754380"/>
            <a:chOff x="0" y="0"/>
            <a:chExt cx="5029200" cy="1005840"/>
          </a:xfrm>
        </p:grpSpPr>
        <p:sp>
          <p:nvSpPr>
            <p:cNvPr name="Freeform 43" id="43"/>
            <p:cNvSpPr/>
            <p:nvPr/>
          </p:nvSpPr>
          <p:spPr>
            <a:xfrm flipH="false" flipV="false" rot="0">
              <a:off x="0" y="0"/>
              <a:ext cx="5029200" cy="1005840"/>
            </a:xfrm>
            <a:custGeom>
              <a:avLst/>
              <a:gdLst/>
              <a:ahLst/>
              <a:cxnLst/>
              <a:rect r="r" b="b" t="t" l="l"/>
              <a:pathLst>
                <a:path h="1005840" w="5029200">
                  <a:moveTo>
                    <a:pt x="0" y="0"/>
                  </a:moveTo>
                  <a:lnTo>
                    <a:pt x="5029200" y="0"/>
                  </a:lnTo>
                  <a:lnTo>
                    <a:pt x="5029200" y="1005840"/>
                  </a:lnTo>
                  <a:lnTo>
                    <a:pt x="0" y="1005840"/>
                  </a:lnTo>
                  <a:close/>
                </a:path>
              </a:pathLst>
            </a:custGeom>
            <a:blipFill>
              <a:blip r:embed="rId3">
                <a:alphaModFix amt="0"/>
              </a:blip>
              <a:stretch>
                <a:fillRect l="0" t="-47425" r="0" b="-47425"/>
              </a:stretch>
            </a:blipFill>
          </p:spPr>
        </p:sp>
        <p:sp>
          <p:nvSpPr>
            <p:cNvPr name="TextBox 44" id="44"/>
            <p:cNvSpPr txBox="true"/>
            <p:nvPr/>
          </p:nvSpPr>
          <p:spPr>
            <a:xfrm>
              <a:off x="0" y="-47625"/>
              <a:ext cx="5029200" cy="1053465"/>
            </a:xfrm>
            <a:prstGeom prst="rect">
              <a:avLst/>
            </a:prstGeom>
          </p:spPr>
          <p:txBody>
            <a:bodyPr anchor="ctr" rtlCol="false" tIns="0" lIns="0" bIns="0" rIns="0"/>
            <a:lstStyle/>
            <a:p>
              <a:pPr algn="ctr">
                <a:lnSpc>
                  <a:spcPts val="2340"/>
                </a:lnSpc>
              </a:pPr>
              <a:r>
                <a:rPr lang="en-US" sz="1950">
                  <a:solidFill>
                    <a:srgbClr val="6B7280"/>
                  </a:solidFill>
                  <a:latin typeface="Calibri (MS)"/>
                  <a:ea typeface="Calibri (MS)"/>
                  <a:cs typeface="Calibri (MS)"/>
                  <a:sym typeface="Calibri (MS)"/>
                </a:rPr>
                <a:t>Treat</a:t>
              </a:r>
            </a:p>
          </p:txBody>
        </p:sp>
      </p:grpSp>
      <p:grpSp>
        <p:nvGrpSpPr>
          <p:cNvPr name="Group 45" id="45"/>
          <p:cNvGrpSpPr/>
          <p:nvPr/>
        </p:nvGrpSpPr>
        <p:grpSpPr>
          <a:xfrm rot="0">
            <a:off x="5168265" y="7493127"/>
            <a:ext cx="3790950" cy="773430"/>
            <a:chOff x="0" y="0"/>
            <a:chExt cx="5054600" cy="1031240"/>
          </a:xfrm>
        </p:grpSpPr>
        <p:sp>
          <p:nvSpPr>
            <p:cNvPr name="Freeform 46" id="46"/>
            <p:cNvSpPr/>
            <p:nvPr/>
          </p:nvSpPr>
          <p:spPr>
            <a:xfrm flipH="false" flipV="false" rot="0">
              <a:off x="0" y="0"/>
              <a:ext cx="5054600" cy="1031240"/>
            </a:xfrm>
            <a:custGeom>
              <a:avLst/>
              <a:gdLst/>
              <a:ahLst/>
              <a:cxnLst/>
              <a:rect r="r" b="b" t="t" l="l"/>
              <a:pathLst>
                <a:path h="1031240" w="5054600">
                  <a:moveTo>
                    <a:pt x="0" y="168783"/>
                  </a:moveTo>
                  <a:cubicBezTo>
                    <a:pt x="0" y="75565"/>
                    <a:pt x="75565" y="0"/>
                    <a:pt x="168783" y="0"/>
                  </a:cubicBezTo>
                  <a:lnTo>
                    <a:pt x="4885817" y="0"/>
                  </a:lnTo>
                  <a:cubicBezTo>
                    <a:pt x="4979035" y="0"/>
                    <a:pt x="5054600" y="75565"/>
                    <a:pt x="5054600" y="168783"/>
                  </a:cubicBezTo>
                  <a:lnTo>
                    <a:pt x="5054600" y="862457"/>
                  </a:lnTo>
                  <a:cubicBezTo>
                    <a:pt x="5054600" y="955675"/>
                    <a:pt x="4979035" y="1031240"/>
                    <a:pt x="4885817" y="1031240"/>
                  </a:cubicBezTo>
                  <a:lnTo>
                    <a:pt x="168783" y="1031240"/>
                  </a:lnTo>
                  <a:cubicBezTo>
                    <a:pt x="75565" y="1031240"/>
                    <a:pt x="0" y="955675"/>
                    <a:pt x="0" y="862457"/>
                  </a:cubicBezTo>
                  <a:close/>
                </a:path>
              </a:pathLst>
            </a:custGeom>
            <a:solidFill>
              <a:srgbClr val="F4F7FC"/>
            </a:solidFill>
            <a:ln w="19050" cap="sq">
              <a:solidFill>
                <a:srgbClr val="D7DCEC"/>
              </a:solidFill>
              <a:prstDash val="solid"/>
              <a:miter/>
            </a:ln>
          </p:spPr>
        </p:sp>
      </p:grpSp>
      <p:grpSp>
        <p:nvGrpSpPr>
          <p:cNvPr name="Group 47" id="47"/>
          <p:cNvGrpSpPr/>
          <p:nvPr/>
        </p:nvGrpSpPr>
        <p:grpSpPr>
          <a:xfrm rot="0">
            <a:off x="5177790" y="7502652"/>
            <a:ext cx="3771900" cy="754380"/>
            <a:chOff x="0" y="0"/>
            <a:chExt cx="5029200" cy="1005840"/>
          </a:xfrm>
        </p:grpSpPr>
        <p:sp>
          <p:nvSpPr>
            <p:cNvPr name="Freeform 48" id="48"/>
            <p:cNvSpPr/>
            <p:nvPr/>
          </p:nvSpPr>
          <p:spPr>
            <a:xfrm flipH="false" flipV="false" rot="0">
              <a:off x="0" y="0"/>
              <a:ext cx="5029200" cy="1005840"/>
            </a:xfrm>
            <a:custGeom>
              <a:avLst/>
              <a:gdLst/>
              <a:ahLst/>
              <a:cxnLst/>
              <a:rect r="r" b="b" t="t" l="l"/>
              <a:pathLst>
                <a:path h="1005840" w="5029200">
                  <a:moveTo>
                    <a:pt x="0" y="0"/>
                  </a:moveTo>
                  <a:lnTo>
                    <a:pt x="5029200" y="0"/>
                  </a:lnTo>
                  <a:lnTo>
                    <a:pt x="5029200" y="1005840"/>
                  </a:lnTo>
                  <a:lnTo>
                    <a:pt x="0" y="1005840"/>
                  </a:lnTo>
                  <a:close/>
                </a:path>
              </a:pathLst>
            </a:custGeom>
            <a:blipFill>
              <a:blip r:embed="rId3">
                <a:alphaModFix amt="0"/>
              </a:blip>
              <a:stretch>
                <a:fillRect l="0" t="-47425" r="0" b="-47425"/>
              </a:stretch>
            </a:blipFill>
          </p:spPr>
        </p:sp>
        <p:sp>
          <p:nvSpPr>
            <p:cNvPr name="TextBox 49" id="49"/>
            <p:cNvSpPr txBox="true"/>
            <p:nvPr/>
          </p:nvSpPr>
          <p:spPr>
            <a:xfrm>
              <a:off x="0" y="-47625"/>
              <a:ext cx="5029200" cy="1053465"/>
            </a:xfrm>
            <a:prstGeom prst="rect">
              <a:avLst/>
            </a:prstGeom>
          </p:spPr>
          <p:txBody>
            <a:bodyPr anchor="ctr" rtlCol="false" tIns="0" lIns="0" bIns="0" rIns="0"/>
            <a:lstStyle/>
            <a:p>
              <a:pPr algn="ctr">
                <a:lnSpc>
                  <a:spcPts val="2340"/>
                </a:lnSpc>
              </a:pPr>
              <a:r>
                <a:rPr lang="en-US" sz="1950">
                  <a:solidFill>
                    <a:srgbClr val="6B7280"/>
                  </a:solidFill>
                  <a:latin typeface="Calibri (MS)"/>
                  <a:ea typeface="Calibri (MS)"/>
                  <a:cs typeface="Calibri (MS)"/>
                  <a:sym typeface="Calibri (MS)"/>
                </a:rPr>
                <a:t>Transfer</a:t>
              </a:r>
            </a:p>
          </p:txBody>
        </p:sp>
      </p:grpSp>
      <p:grpSp>
        <p:nvGrpSpPr>
          <p:cNvPr name="Group 50" id="50"/>
          <p:cNvGrpSpPr/>
          <p:nvPr/>
        </p:nvGrpSpPr>
        <p:grpSpPr>
          <a:xfrm rot="0">
            <a:off x="9324213" y="7493127"/>
            <a:ext cx="3790950" cy="773430"/>
            <a:chOff x="0" y="0"/>
            <a:chExt cx="5054600" cy="1031240"/>
          </a:xfrm>
        </p:grpSpPr>
        <p:sp>
          <p:nvSpPr>
            <p:cNvPr name="Freeform 51" id="51"/>
            <p:cNvSpPr/>
            <p:nvPr/>
          </p:nvSpPr>
          <p:spPr>
            <a:xfrm flipH="false" flipV="false" rot="0">
              <a:off x="0" y="0"/>
              <a:ext cx="5054600" cy="1031240"/>
            </a:xfrm>
            <a:custGeom>
              <a:avLst/>
              <a:gdLst/>
              <a:ahLst/>
              <a:cxnLst/>
              <a:rect r="r" b="b" t="t" l="l"/>
              <a:pathLst>
                <a:path h="1031240" w="5054600">
                  <a:moveTo>
                    <a:pt x="0" y="168783"/>
                  </a:moveTo>
                  <a:cubicBezTo>
                    <a:pt x="0" y="75565"/>
                    <a:pt x="75565" y="0"/>
                    <a:pt x="168783" y="0"/>
                  </a:cubicBezTo>
                  <a:lnTo>
                    <a:pt x="4885817" y="0"/>
                  </a:lnTo>
                  <a:cubicBezTo>
                    <a:pt x="4979035" y="0"/>
                    <a:pt x="5054600" y="75565"/>
                    <a:pt x="5054600" y="168783"/>
                  </a:cubicBezTo>
                  <a:lnTo>
                    <a:pt x="5054600" y="862457"/>
                  </a:lnTo>
                  <a:cubicBezTo>
                    <a:pt x="5054600" y="955675"/>
                    <a:pt x="4979035" y="1031240"/>
                    <a:pt x="4885817" y="1031240"/>
                  </a:cubicBezTo>
                  <a:lnTo>
                    <a:pt x="168783" y="1031240"/>
                  </a:lnTo>
                  <a:cubicBezTo>
                    <a:pt x="75565" y="1031240"/>
                    <a:pt x="0" y="955675"/>
                    <a:pt x="0" y="862457"/>
                  </a:cubicBezTo>
                  <a:close/>
                </a:path>
              </a:pathLst>
            </a:custGeom>
            <a:solidFill>
              <a:srgbClr val="F4F7FC"/>
            </a:solidFill>
            <a:ln w="19050" cap="sq">
              <a:solidFill>
                <a:srgbClr val="D7DCEC"/>
              </a:solidFill>
              <a:prstDash val="solid"/>
              <a:miter/>
            </a:ln>
          </p:spPr>
        </p:sp>
      </p:grpSp>
      <p:grpSp>
        <p:nvGrpSpPr>
          <p:cNvPr name="Group 52" id="52"/>
          <p:cNvGrpSpPr/>
          <p:nvPr/>
        </p:nvGrpSpPr>
        <p:grpSpPr>
          <a:xfrm rot="0">
            <a:off x="9333738" y="7502652"/>
            <a:ext cx="3771900" cy="754380"/>
            <a:chOff x="0" y="0"/>
            <a:chExt cx="5029200" cy="1005840"/>
          </a:xfrm>
        </p:grpSpPr>
        <p:sp>
          <p:nvSpPr>
            <p:cNvPr name="Freeform 53" id="53"/>
            <p:cNvSpPr/>
            <p:nvPr/>
          </p:nvSpPr>
          <p:spPr>
            <a:xfrm flipH="false" flipV="false" rot="0">
              <a:off x="0" y="0"/>
              <a:ext cx="5029200" cy="1005840"/>
            </a:xfrm>
            <a:custGeom>
              <a:avLst/>
              <a:gdLst/>
              <a:ahLst/>
              <a:cxnLst/>
              <a:rect r="r" b="b" t="t" l="l"/>
              <a:pathLst>
                <a:path h="1005840" w="5029200">
                  <a:moveTo>
                    <a:pt x="0" y="0"/>
                  </a:moveTo>
                  <a:lnTo>
                    <a:pt x="5029200" y="0"/>
                  </a:lnTo>
                  <a:lnTo>
                    <a:pt x="5029200" y="1005840"/>
                  </a:lnTo>
                  <a:lnTo>
                    <a:pt x="0" y="1005840"/>
                  </a:lnTo>
                  <a:close/>
                </a:path>
              </a:pathLst>
            </a:custGeom>
            <a:blipFill>
              <a:blip r:embed="rId3">
                <a:alphaModFix amt="0"/>
              </a:blip>
              <a:stretch>
                <a:fillRect l="0" t="-47425" r="0" b="-47425"/>
              </a:stretch>
            </a:blipFill>
          </p:spPr>
        </p:sp>
        <p:sp>
          <p:nvSpPr>
            <p:cNvPr name="TextBox 54" id="54"/>
            <p:cNvSpPr txBox="true"/>
            <p:nvPr/>
          </p:nvSpPr>
          <p:spPr>
            <a:xfrm>
              <a:off x="0" y="-47625"/>
              <a:ext cx="5029200" cy="1053465"/>
            </a:xfrm>
            <a:prstGeom prst="rect">
              <a:avLst/>
            </a:prstGeom>
          </p:spPr>
          <p:txBody>
            <a:bodyPr anchor="ctr" rtlCol="false" tIns="0" lIns="0" bIns="0" rIns="0"/>
            <a:lstStyle/>
            <a:p>
              <a:pPr algn="ctr">
                <a:lnSpc>
                  <a:spcPts val="2340"/>
                </a:lnSpc>
              </a:pPr>
              <a:r>
                <a:rPr lang="en-US" sz="1950">
                  <a:solidFill>
                    <a:srgbClr val="6B7280"/>
                  </a:solidFill>
                  <a:latin typeface="Calibri (MS)"/>
                  <a:ea typeface="Calibri (MS)"/>
                  <a:cs typeface="Calibri (MS)"/>
                  <a:sym typeface="Calibri (MS)"/>
                </a:rPr>
                <a:t>Tolerate</a:t>
              </a:r>
            </a:p>
          </p:txBody>
        </p:sp>
      </p:grpSp>
      <p:grpSp>
        <p:nvGrpSpPr>
          <p:cNvPr name="Group 55" id="55"/>
          <p:cNvGrpSpPr/>
          <p:nvPr/>
        </p:nvGrpSpPr>
        <p:grpSpPr>
          <a:xfrm rot="0">
            <a:off x="13480161" y="7493127"/>
            <a:ext cx="3790950" cy="773430"/>
            <a:chOff x="0" y="0"/>
            <a:chExt cx="5054600" cy="1031240"/>
          </a:xfrm>
        </p:grpSpPr>
        <p:sp>
          <p:nvSpPr>
            <p:cNvPr name="Freeform 56" id="56"/>
            <p:cNvSpPr/>
            <p:nvPr/>
          </p:nvSpPr>
          <p:spPr>
            <a:xfrm flipH="false" flipV="false" rot="0">
              <a:off x="0" y="0"/>
              <a:ext cx="5054600" cy="1031240"/>
            </a:xfrm>
            <a:custGeom>
              <a:avLst/>
              <a:gdLst/>
              <a:ahLst/>
              <a:cxnLst/>
              <a:rect r="r" b="b" t="t" l="l"/>
              <a:pathLst>
                <a:path h="1031240" w="5054600">
                  <a:moveTo>
                    <a:pt x="0" y="168783"/>
                  </a:moveTo>
                  <a:cubicBezTo>
                    <a:pt x="0" y="75565"/>
                    <a:pt x="75565" y="0"/>
                    <a:pt x="168783" y="0"/>
                  </a:cubicBezTo>
                  <a:lnTo>
                    <a:pt x="4885817" y="0"/>
                  </a:lnTo>
                  <a:cubicBezTo>
                    <a:pt x="4979035" y="0"/>
                    <a:pt x="5054600" y="75565"/>
                    <a:pt x="5054600" y="168783"/>
                  </a:cubicBezTo>
                  <a:lnTo>
                    <a:pt x="5054600" y="862457"/>
                  </a:lnTo>
                  <a:cubicBezTo>
                    <a:pt x="5054600" y="955675"/>
                    <a:pt x="4979035" y="1031240"/>
                    <a:pt x="4885817" y="1031240"/>
                  </a:cubicBezTo>
                  <a:lnTo>
                    <a:pt x="168783" y="1031240"/>
                  </a:lnTo>
                  <a:cubicBezTo>
                    <a:pt x="75565" y="1031240"/>
                    <a:pt x="0" y="955675"/>
                    <a:pt x="0" y="862457"/>
                  </a:cubicBezTo>
                  <a:close/>
                </a:path>
              </a:pathLst>
            </a:custGeom>
            <a:solidFill>
              <a:srgbClr val="F4F7FC"/>
            </a:solidFill>
            <a:ln w="19050" cap="sq">
              <a:solidFill>
                <a:srgbClr val="D7DCEC"/>
              </a:solidFill>
              <a:prstDash val="solid"/>
              <a:miter/>
            </a:ln>
          </p:spPr>
        </p:sp>
      </p:grpSp>
      <p:grpSp>
        <p:nvGrpSpPr>
          <p:cNvPr name="Group 57" id="57"/>
          <p:cNvGrpSpPr/>
          <p:nvPr/>
        </p:nvGrpSpPr>
        <p:grpSpPr>
          <a:xfrm rot="0">
            <a:off x="13489686" y="7502652"/>
            <a:ext cx="3771900" cy="754380"/>
            <a:chOff x="0" y="0"/>
            <a:chExt cx="5029200" cy="1005840"/>
          </a:xfrm>
        </p:grpSpPr>
        <p:sp>
          <p:nvSpPr>
            <p:cNvPr name="Freeform 58" id="58"/>
            <p:cNvSpPr/>
            <p:nvPr/>
          </p:nvSpPr>
          <p:spPr>
            <a:xfrm flipH="false" flipV="false" rot="0">
              <a:off x="0" y="0"/>
              <a:ext cx="5029200" cy="1005840"/>
            </a:xfrm>
            <a:custGeom>
              <a:avLst/>
              <a:gdLst/>
              <a:ahLst/>
              <a:cxnLst/>
              <a:rect r="r" b="b" t="t" l="l"/>
              <a:pathLst>
                <a:path h="1005840" w="5029200">
                  <a:moveTo>
                    <a:pt x="0" y="0"/>
                  </a:moveTo>
                  <a:lnTo>
                    <a:pt x="5029200" y="0"/>
                  </a:lnTo>
                  <a:lnTo>
                    <a:pt x="5029200" y="1005840"/>
                  </a:lnTo>
                  <a:lnTo>
                    <a:pt x="0" y="1005840"/>
                  </a:lnTo>
                  <a:close/>
                </a:path>
              </a:pathLst>
            </a:custGeom>
            <a:blipFill>
              <a:blip r:embed="rId3">
                <a:alphaModFix amt="0"/>
              </a:blip>
              <a:stretch>
                <a:fillRect l="0" t="-47425" r="0" b="-47425"/>
              </a:stretch>
            </a:blipFill>
          </p:spPr>
        </p:sp>
        <p:sp>
          <p:nvSpPr>
            <p:cNvPr name="TextBox 59" id="59"/>
            <p:cNvSpPr txBox="true"/>
            <p:nvPr/>
          </p:nvSpPr>
          <p:spPr>
            <a:xfrm>
              <a:off x="0" y="-47625"/>
              <a:ext cx="5029200" cy="1053465"/>
            </a:xfrm>
            <a:prstGeom prst="rect">
              <a:avLst/>
            </a:prstGeom>
          </p:spPr>
          <p:txBody>
            <a:bodyPr anchor="ctr" rtlCol="false" tIns="0" lIns="0" bIns="0" rIns="0"/>
            <a:lstStyle/>
            <a:p>
              <a:pPr algn="ctr">
                <a:lnSpc>
                  <a:spcPts val="2340"/>
                </a:lnSpc>
              </a:pPr>
              <a:r>
                <a:rPr lang="en-US" sz="1950">
                  <a:solidFill>
                    <a:srgbClr val="6B7280"/>
                  </a:solidFill>
                  <a:latin typeface="Calibri (MS)"/>
                  <a:ea typeface="Calibri (MS)"/>
                  <a:cs typeface="Calibri (MS)"/>
                  <a:sym typeface="Calibri (MS)"/>
                </a:rPr>
                <a:t>Terminate</a:t>
              </a:r>
            </a:p>
          </p:txBody>
        </p:sp>
      </p:grpSp>
      <p:grpSp>
        <p:nvGrpSpPr>
          <p:cNvPr name="Group 60" id="60"/>
          <p:cNvGrpSpPr/>
          <p:nvPr/>
        </p:nvGrpSpPr>
        <p:grpSpPr>
          <a:xfrm rot="0">
            <a:off x="685800" y="9710928"/>
            <a:ext cx="10972800" cy="411480"/>
            <a:chOff x="0" y="0"/>
            <a:chExt cx="14630400" cy="548640"/>
          </a:xfrm>
        </p:grpSpPr>
        <p:sp>
          <p:nvSpPr>
            <p:cNvPr name="Freeform 61" id="61"/>
            <p:cNvSpPr/>
            <p:nvPr/>
          </p:nvSpPr>
          <p:spPr>
            <a:xfrm flipH="false" flipV="false" rot="0">
              <a:off x="0" y="0"/>
              <a:ext cx="14630400" cy="548640"/>
            </a:xfrm>
            <a:custGeom>
              <a:avLst/>
              <a:gdLst/>
              <a:ahLst/>
              <a:cxnLst/>
              <a:rect r="r" b="b" t="t" l="l"/>
              <a:pathLst>
                <a:path h="548640" w="14630400">
                  <a:moveTo>
                    <a:pt x="0" y="0"/>
                  </a:moveTo>
                  <a:lnTo>
                    <a:pt x="14630400" y="0"/>
                  </a:lnTo>
                  <a:lnTo>
                    <a:pt x="14630400" y="548640"/>
                  </a:lnTo>
                  <a:lnTo>
                    <a:pt x="0" y="548640"/>
                  </a:lnTo>
                  <a:close/>
                </a:path>
              </a:pathLst>
            </a:custGeom>
            <a:blipFill>
              <a:blip r:embed="rId3">
                <a:alphaModFix amt="0"/>
              </a:blip>
              <a:stretch>
                <a:fillRect l="0" t="-469601" r="0" b="-469601"/>
              </a:stretch>
            </a:blipFill>
          </p:spPr>
        </p:sp>
        <p:sp>
          <p:nvSpPr>
            <p:cNvPr name="TextBox 62" id="62"/>
            <p:cNvSpPr txBox="true"/>
            <p:nvPr/>
          </p:nvSpPr>
          <p:spPr>
            <a:xfrm>
              <a:off x="0" y="-38100"/>
              <a:ext cx="14630400" cy="586740"/>
            </a:xfrm>
            <a:prstGeom prst="rect">
              <a:avLst/>
            </a:prstGeom>
          </p:spPr>
          <p:txBody>
            <a:bodyPr anchor="ctr" rtlCol="false" tIns="0" lIns="0" bIns="0" rIns="0"/>
            <a:lstStyle/>
            <a:p>
              <a:pPr algn="l">
                <a:lnSpc>
                  <a:spcPts val="1800"/>
                </a:lnSpc>
              </a:pPr>
              <a:r>
                <a:rPr lang="en-US" sz="1500">
                  <a:solidFill>
                    <a:srgbClr val="6B7280"/>
                  </a:solidFill>
                  <a:latin typeface="Calibri (MS)"/>
                  <a:ea typeface="Calibri (MS)"/>
                  <a:cs typeface="Calibri (MS)"/>
                  <a:sym typeface="Calibri (MS)"/>
                </a:rPr>
                <a:t>Davao del Norte Provincial Government — Cybersecurity Seminar</a:t>
              </a:r>
            </a:p>
          </p:txBody>
        </p:sp>
      </p:grpSp>
      <p:grpSp>
        <p:nvGrpSpPr>
          <p:cNvPr name="Group 63" id="63"/>
          <p:cNvGrpSpPr/>
          <p:nvPr/>
        </p:nvGrpSpPr>
        <p:grpSpPr>
          <a:xfrm rot="0">
            <a:off x="16911828" y="9710928"/>
            <a:ext cx="685800" cy="411480"/>
            <a:chOff x="0" y="0"/>
            <a:chExt cx="914400" cy="548640"/>
          </a:xfrm>
        </p:grpSpPr>
        <p:sp>
          <p:nvSpPr>
            <p:cNvPr name="Freeform 64" id="64"/>
            <p:cNvSpPr/>
            <p:nvPr/>
          </p:nvSpPr>
          <p:spPr>
            <a:xfrm flipH="false" flipV="false" rot="0">
              <a:off x="0" y="0"/>
              <a:ext cx="914400" cy="548640"/>
            </a:xfrm>
            <a:custGeom>
              <a:avLst/>
              <a:gdLst/>
              <a:ahLst/>
              <a:cxnLst/>
              <a:rect r="r" b="b" t="t" l="l"/>
              <a:pathLst>
                <a:path h="548640" w="914400">
                  <a:moveTo>
                    <a:pt x="0" y="0"/>
                  </a:moveTo>
                  <a:lnTo>
                    <a:pt x="914400" y="0"/>
                  </a:lnTo>
                  <a:lnTo>
                    <a:pt x="914400" y="548640"/>
                  </a:lnTo>
                  <a:lnTo>
                    <a:pt x="0" y="548640"/>
                  </a:lnTo>
                  <a:close/>
                </a:path>
              </a:pathLst>
            </a:custGeom>
            <a:blipFill>
              <a:blip r:embed="rId3">
                <a:alphaModFix amt="0"/>
              </a:blip>
              <a:stretch>
                <a:fillRect l="-26982" t="0" r="-26982" b="0"/>
              </a:stretch>
            </a:blipFill>
          </p:spPr>
        </p:sp>
        <p:sp>
          <p:nvSpPr>
            <p:cNvPr name="TextBox 65" id="65"/>
            <p:cNvSpPr txBox="true"/>
            <p:nvPr/>
          </p:nvSpPr>
          <p:spPr>
            <a:xfrm>
              <a:off x="0" y="-38100"/>
              <a:ext cx="914400" cy="586740"/>
            </a:xfrm>
            <a:prstGeom prst="rect">
              <a:avLst/>
            </a:prstGeom>
          </p:spPr>
          <p:txBody>
            <a:bodyPr anchor="ctr" rtlCol="false" tIns="0" lIns="0" bIns="0" rIns="0"/>
            <a:lstStyle/>
            <a:p>
              <a:pPr algn="r">
                <a:lnSpc>
                  <a:spcPts val="1800"/>
                </a:lnSpc>
              </a:pPr>
              <a:r>
                <a:rPr lang="en-US" sz="1500">
                  <a:solidFill>
                    <a:srgbClr val="6B7280"/>
                  </a:solidFill>
                  <a:latin typeface="Calibri (MS)"/>
                  <a:ea typeface="Calibri (MS)"/>
                  <a:cs typeface="Calibri (MS)"/>
                  <a:sym typeface="Calibri (MS)"/>
                </a:rPr>
                <a:t>17</a:t>
              </a:r>
            </a:p>
          </p:txBody>
        </p:sp>
      </p:gr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60120" y="576072"/>
            <a:ext cx="13716000" cy="411480"/>
            <a:chOff x="0" y="0"/>
            <a:chExt cx="18288000" cy="548640"/>
          </a:xfrm>
        </p:grpSpPr>
        <p:sp>
          <p:nvSpPr>
            <p:cNvPr name="Freeform 3" id="3"/>
            <p:cNvSpPr/>
            <p:nvPr/>
          </p:nvSpPr>
          <p:spPr>
            <a:xfrm flipH="false" flipV="false" rot="0">
              <a:off x="0" y="0"/>
              <a:ext cx="18288000" cy="548640"/>
            </a:xfrm>
            <a:custGeom>
              <a:avLst/>
              <a:gdLst/>
              <a:ahLst/>
              <a:cxnLst/>
              <a:rect r="r" b="b" t="t" l="l"/>
              <a:pathLst>
                <a:path h="548640" w="18288000">
                  <a:moveTo>
                    <a:pt x="0" y="0"/>
                  </a:moveTo>
                  <a:lnTo>
                    <a:pt x="18288000" y="0"/>
                  </a:lnTo>
                  <a:lnTo>
                    <a:pt x="18288000" y="548640"/>
                  </a:lnTo>
                  <a:lnTo>
                    <a:pt x="0" y="548640"/>
                  </a:lnTo>
                  <a:close/>
                </a:path>
              </a:pathLst>
            </a:custGeom>
            <a:blipFill>
              <a:blip r:embed="rId3">
                <a:alphaModFix amt="0"/>
              </a:blip>
              <a:stretch>
                <a:fillRect l="0" t="-599501" r="0" b="-599501"/>
              </a:stretch>
            </a:blipFill>
          </p:spPr>
        </p:sp>
        <p:sp>
          <p:nvSpPr>
            <p:cNvPr name="TextBox 4" id="4"/>
            <p:cNvSpPr txBox="true"/>
            <p:nvPr/>
          </p:nvSpPr>
          <p:spPr>
            <a:xfrm>
              <a:off x="0" y="-38100"/>
              <a:ext cx="18288000" cy="586740"/>
            </a:xfrm>
            <a:prstGeom prst="rect">
              <a:avLst/>
            </a:prstGeom>
          </p:spPr>
          <p:txBody>
            <a:bodyPr anchor="ctr" rtlCol="false" tIns="0" lIns="0" bIns="0" rIns="0"/>
            <a:lstStyle/>
            <a:p>
              <a:pPr algn="l">
                <a:lnSpc>
                  <a:spcPts val="2160"/>
                </a:lnSpc>
              </a:pPr>
              <a:r>
                <a:rPr lang="en-US" b="true" sz="1800" spc="225">
                  <a:solidFill>
                    <a:srgbClr val="00B4D8"/>
                  </a:solidFill>
                  <a:latin typeface="Calibri (MS) Bold"/>
                  <a:ea typeface="Calibri (MS) Bold"/>
                  <a:cs typeface="Calibri (MS) Bold"/>
                  <a:sym typeface="Calibri (MS) Bold"/>
                </a:rPr>
                <a:t>RISK MATRIX SORT · ANSWER</a:t>
              </a:r>
            </a:p>
          </p:txBody>
        </p:sp>
      </p:grpSp>
      <p:grpSp>
        <p:nvGrpSpPr>
          <p:cNvPr name="Group 5" id="5"/>
          <p:cNvGrpSpPr/>
          <p:nvPr/>
        </p:nvGrpSpPr>
        <p:grpSpPr>
          <a:xfrm rot="0">
            <a:off x="960120" y="960120"/>
            <a:ext cx="10972800" cy="754380"/>
            <a:chOff x="0" y="0"/>
            <a:chExt cx="14630400" cy="1005840"/>
          </a:xfrm>
        </p:grpSpPr>
        <p:sp>
          <p:nvSpPr>
            <p:cNvPr name="Freeform 6" id="6"/>
            <p:cNvSpPr/>
            <p:nvPr/>
          </p:nvSpPr>
          <p:spPr>
            <a:xfrm flipH="false" flipV="false" rot="0">
              <a:off x="0" y="0"/>
              <a:ext cx="14630400" cy="1005840"/>
            </a:xfrm>
            <a:custGeom>
              <a:avLst/>
              <a:gdLst/>
              <a:ahLst/>
              <a:cxnLst/>
              <a:rect r="r" b="b" t="t" l="l"/>
              <a:pathLst>
                <a:path h="1005840" w="14630400">
                  <a:moveTo>
                    <a:pt x="0" y="0"/>
                  </a:moveTo>
                  <a:lnTo>
                    <a:pt x="14630400" y="0"/>
                  </a:lnTo>
                  <a:lnTo>
                    <a:pt x="14630400" y="1005840"/>
                  </a:lnTo>
                  <a:lnTo>
                    <a:pt x="0" y="1005840"/>
                  </a:lnTo>
                  <a:close/>
                </a:path>
              </a:pathLst>
            </a:custGeom>
            <a:blipFill>
              <a:blip r:embed="rId3">
                <a:alphaModFix amt="0"/>
              </a:blip>
              <a:stretch>
                <a:fillRect l="0" t="-233418" r="0" b="-233418"/>
              </a:stretch>
            </a:blipFill>
          </p:spPr>
        </p:sp>
        <p:sp>
          <p:nvSpPr>
            <p:cNvPr name="TextBox 7" id="7"/>
            <p:cNvSpPr txBox="true"/>
            <p:nvPr/>
          </p:nvSpPr>
          <p:spPr>
            <a:xfrm>
              <a:off x="0" y="-19050"/>
              <a:ext cx="14630400" cy="1024890"/>
            </a:xfrm>
            <a:prstGeom prst="rect">
              <a:avLst/>
            </a:prstGeom>
          </p:spPr>
          <p:txBody>
            <a:bodyPr anchor="ctr" rtlCol="false" tIns="0" lIns="0" bIns="0" rIns="0"/>
            <a:lstStyle/>
            <a:p>
              <a:pPr algn="l">
                <a:lnSpc>
                  <a:spcPts val="4320"/>
                </a:lnSpc>
              </a:pPr>
              <a:r>
                <a:rPr lang="en-US" sz="3600" b="true">
                  <a:solidFill>
                    <a:srgbClr val="1E2761"/>
                  </a:solidFill>
                  <a:latin typeface="Cambria Bold"/>
                  <a:ea typeface="Cambria Bold"/>
                  <a:cs typeface="Cambria Bold"/>
                  <a:sym typeface="Cambria Bold"/>
                </a:rPr>
                <a:t>Scenario 2 — Answer</a:t>
              </a:r>
            </a:p>
          </p:txBody>
        </p:sp>
      </p:grpSp>
      <p:grpSp>
        <p:nvGrpSpPr>
          <p:cNvPr name="Group 8" id="8"/>
          <p:cNvGrpSpPr/>
          <p:nvPr/>
        </p:nvGrpSpPr>
        <p:grpSpPr>
          <a:xfrm rot="0">
            <a:off x="960120" y="1645920"/>
            <a:ext cx="8229600" cy="411480"/>
            <a:chOff x="0" y="0"/>
            <a:chExt cx="10972800" cy="548640"/>
          </a:xfrm>
        </p:grpSpPr>
        <p:sp>
          <p:nvSpPr>
            <p:cNvPr name="Freeform 9" id="9"/>
            <p:cNvSpPr/>
            <p:nvPr/>
          </p:nvSpPr>
          <p:spPr>
            <a:xfrm flipH="false" flipV="false" rot="0">
              <a:off x="0" y="0"/>
              <a:ext cx="10972800" cy="548640"/>
            </a:xfrm>
            <a:custGeom>
              <a:avLst/>
              <a:gdLst/>
              <a:ahLst/>
              <a:cxnLst/>
              <a:rect r="r" b="b" t="t" l="l"/>
              <a:pathLst>
                <a:path h="548640" w="10972800">
                  <a:moveTo>
                    <a:pt x="0" y="0"/>
                  </a:moveTo>
                  <a:lnTo>
                    <a:pt x="10972800" y="0"/>
                  </a:lnTo>
                  <a:lnTo>
                    <a:pt x="10972800" y="548640"/>
                  </a:lnTo>
                  <a:lnTo>
                    <a:pt x="0" y="548640"/>
                  </a:lnTo>
                  <a:close/>
                </a:path>
              </a:pathLst>
            </a:custGeom>
            <a:blipFill>
              <a:blip r:embed="rId3">
                <a:alphaModFix amt="0"/>
              </a:blip>
              <a:stretch>
                <a:fillRect l="0" t="-339700" r="0" b="-339700"/>
              </a:stretch>
            </a:blipFill>
          </p:spPr>
        </p:sp>
        <p:sp>
          <p:nvSpPr>
            <p:cNvPr name="TextBox 10" id="10"/>
            <p:cNvSpPr txBox="true"/>
            <p:nvPr/>
          </p:nvSpPr>
          <p:spPr>
            <a:xfrm>
              <a:off x="0" y="-28575"/>
              <a:ext cx="10972800" cy="577215"/>
            </a:xfrm>
            <a:prstGeom prst="rect">
              <a:avLst/>
            </a:prstGeom>
          </p:spPr>
          <p:txBody>
            <a:bodyPr anchor="ctr" rtlCol="false" tIns="0" lIns="0" bIns="0" rIns="0"/>
            <a:lstStyle/>
            <a:p>
              <a:pPr algn="l">
                <a:lnSpc>
                  <a:spcPts val="1980"/>
                </a:lnSpc>
              </a:pPr>
              <a:r>
                <a:rPr lang="en-US" sz="1650">
                  <a:solidFill>
                    <a:srgbClr val="6B7280"/>
                  </a:solidFill>
                  <a:latin typeface="Calibri (MS)"/>
                  <a:ea typeface="Calibri (MS)"/>
                  <a:cs typeface="Calibri (MS)"/>
                  <a:sym typeface="Calibri (MS)"/>
                </a:rPr>
                <a:t>2 of 8</a:t>
              </a:r>
            </a:p>
          </p:txBody>
        </p:sp>
      </p:grpSp>
      <p:grpSp>
        <p:nvGrpSpPr>
          <p:cNvPr name="Group 11" id="11"/>
          <p:cNvGrpSpPr/>
          <p:nvPr/>
        </p:nvGrpSpPr>
        <p:grpSpPr>
          <a:xfrm rot="0">
            <a:off x="960120" y="2194560"/>
            <a:ext cx="16322040" cy="1851660"/>
            <a:chOff x="0" y="0"/>
            <a:chExt cx="21762720" cy="2468880"/>
          </a:xfrm>
        </p:grpSpPr>
        <p:sp>
          <p:nvSpPr>
            <p:cNvPr name="Freeform 12" id="12"/>
            <p:cNvSpPr/>
            <p:nvPr/>
          </p:nvSpPr>
          <p:spPr>
            <a:xfrm flipH="false" flipV="false" rot="0">
              <a:off x="0" y="0"/>
              <a:ext cx="21762720" cy="2468880"/>
            </a:xfrm>
            <a:custGeom>
              <a:avLst/>
              <a:gdLst/>
              <a:ahLst/>
              <a:cxnLst/>
              <a:rect r="r" b="b" t="t" l="l"/>
              <a:pathLst>
                <a:path h="2468880" w="21762720">
                  <a:moveTo>
                    <a:pt x="0" y="182880"/>
                  </a:moveTo>
                  <a:cubicBezTo>
                    <a:pt x="0" y="81915"/>
                    <a:pt x="81915" y="0"/>
                    <a:pt x="182880" y="0"/>
                  </a:cubicBezTo>
                  <a:lnTo>
                    <a:pt x="21579839" y="0"/>
                  </a:lnTo>
                  <a:cubicBezTo>
                    <a:pt x="21680804" y="0"/>
                    <a:pt x="21762720" y="81915"/>
                    <a:pt x="21762720" y="182880"/>
                  </a:cubicBezTo>
                  <a:lnTo>
                    <a:pt x="21762720" y="2286000"/>
                  </a:lnTo>
                  <a:cubicBezTo>
                    <a:pt x="21762720" y="2386965"/>
                    <a:pt x="21680804" y="2468880"/>
                    <a:pt x="21579839" y="2468880"/>
                  </a:cubicBezTo>
                  <a:lnTo>
                    <a:pt x="182880" y="2468880"/>
                  </a:lnTo>
                  <a:cubicBezTo>
                    <a:pt x="81915" y="2468880"/>
                    <a:pt x="0" y="2386965"/>
                    <a:pt x="0" y="2286000"/>
                  </a:cubicBezTo>
                  <a:close/>
                </a:path>
              </a:pathLst>
            </a:custGeom>
            <a:solidFill>
              <a:srgbClr val="F4F7FC"/>
            </a:solidFill>
          </p:spPr>
        </p:sp>
      </p:grpSp>
      <p:grpSp>
        <p:nvGrpSpPr>
          <p:cNvPr name="Group 13" id="13"/>
          <p:cNvGrpSpPr/>
          <p:nvPr/>
        </p:nvGrpSpPr>
        <p:grpSpPr>
          <a:xfrm rot="0">
            <a:off x="1371600" y="2400300"/>
            <a:ext cx="15499080" cy="1440180"/>
            <a:chOff x="0" y="0"/>
            <a:chExt cx="20665440" cy="1920240"/>
          </a:xfrm>
        </p:grpSpPr>
        <p:sp>
          <p:nvSpPr>
            <p:cNvPr name="Freeform 14" id="14"/>
            <p:cNvSpPr/>
            <p:nvPr/>
          </p:nvSpPr>
          <p:spPr>
            <a:xfrm flipH="false" flipV="false" rot="0">
              <a:off x="0" y="0"/>
              <a:ext cx="20665439" cy="1920240"/>
            </a:xfrm>
            <a:custGeom>
              <a:avLst/>
              <a:gdLst/>
              <a:ahLst/>
              <a:cxnLst/>
              <a:rect r="r" b="b" t="t" l="l"/>
              <a:pathLst>
                <a:path h="1920240" w="20665439">
                  <a:moveTo>
                    <a:pt x="0" y="0"/>
                  </a:moveTo>
                  <a:lnTo>
                    <a:pt x="20665439" y="0"/>
                  </a:lnTo>
                  <a:lnTo>
                    <a:pt x="20665439" y="1920240"/>
                  </a:lnTo>
                  <a:lnTo>
                    <a:pt x="0" y="1920240"/>
                  </a:lnTo>
                  <a:close/>
                </a:path>
              </a:pathLst>
            </a:custGeom>
            <a:blipFill>
              <a:blip r:embed="rId3">
                <a:alphaModFix amt="0"/>
              </a:blip>
              <a:stretch>
                <a:fillRect l="0" t="-159696" r="0" b="-159696"/>
              </a:stretch>
            </a:blipFill>
          </p:spPr>
        </p:sp>
        <p:sp>
          <p:nvSpPr>
            <p:cNvPr name="TextBox 15" id="15"/>
            <p:cNvSpPr txBox="true"/>
            <p:nvPr/>
          </p:nvSpPr>
          <p:spPr>
            <a:xfrm>
              <a:off x="0" y="-66675"/>
              <a:ext cx="20665440" cy="1986915"/>
            </a:xfrm>
            <a:prstGeom prst="rect">
              <a:avLst/>
            </a:prstGeom>
          </p:spPr>
          <p:txBody>
            <a:bodyPr anchor="ctr" rtlCol="false" tIns="0" lIns="0" bIns="0" rIns="0"/>
            <a:lstStyle/>
            <a:p>
              <a:pPr algn="l">
                <a:lnSpc>
                  <a:spcPts val="3184"/>
                </a:lnSpc>
              </a:pPr>
              <a:r>
                <a:rPr lang="en-US" sz="2175" i="true">
                  <a:solidFill>
                    <a:srgbClr val="23262F"/>
                  </a:solidFill>
                  <a:latin typeface="Cambria Italics"/>
                  <a:ea typeface="Cambria Italics"/>
                  <a:cs typeface="Cambria Italics"/>
                  <a:sym typeface="Cambria Italics"/>
                </a:rPr>
                <a:t>“The Provincial Treasurer's revenue-collection system runs on a single aging server. The last successful backup was six months ago.”</a:t>
              </a:r>
            </a:p>
          </p:txBody>
        </p:sp>
      </p:grpSp>
      <p:grpSp>
        <p:nvGrpSpPr>
          <p:cNvPr name="Group 16" id="16"/>
          <p:cNvGrpSpPr/>
          <p:nvPr/>
        </p:nvGrpSpPr>
        <p:grpSpPr>
          <a:xfrm rot="0">
            <a:off x="960120" y="4320540"/>
            <a:ext cx="3909060" cy="1165860"/>
            <a:chOff x="0" y="0"/>
            <a:chExt cx="5212080" cy="1554480"/>
          </a:xfrm>
        </p:grpSpPr>
        <p:sp>
          <p:nvSpPr>
            <p:cNvPr name="Freeform 17" id="17"/>
            <p:cNvSpPr/>
            <p:nvPr/>
          </p:nvSpPr>
          <p:spPr>
            <a:xfrm flipH="false" flipV="false" rot="0">
              <a:off x="0" y="0"/>
              <a:ext cx="5212080" cy="1554480"/>
            </a:xfrm>
            <a:custGeom>
              <a:avLst/>
              <a:gdLst/>
              <a:ahLst/>
              <a:cxnLst/>
              <a:rect r="r" b="b" t="t" l="l"/>
              <a:pathLst>
                <a:path h="1554480" w="5212080">
                  <a:moveTo>
                    <a:pt x="0" y="146304"/>
                  </a:moveTo>
                  <a:cubicBezTo>
                    <a:pt x="0" y="65532"/>
                    <a:pt x="65532" y="0"/>
                    <a:pt x="146304" y="0"/>
                  </a:cubicBezTo>
                  <a:lnTo>
                    <a:pt x="5065776" y="0"/>
                  </a:lnTo>
                  <a:cubicBezTo>
                    <a:pt x="5146548" y="0"/>
                    <a:pt x="5212080" y="65532"/>
                    <a:pt x="5212080" y="146304"/>
                  </a:cubicBezTo>
                  <a:lnTo>
                    <a:pt x="5212080" y="1408176"/>
                  </a:lnTo>
                  <a:cubicBezTo>
                    <a:pt x="5212080" y="1488948"/>
                    <a:pt x="5146548" y="1554480"/>
                    <a:pt x="5065776" y="1554480"/>
                  </a:cubicBezTo>
                  <a:lnTo>
                    <a:pt x="146304" y="1554480"/>
                  </a:lnTo>
                  <a:cubicBezTo>
                    <a:pt x="65532" y="1554480"/>
                    <a:pt x="0" y="1488948"/>
                    <a:pt x="0" y="1408176"/>
                  </a:cubicBezTo>
                  <a:close/>
                </a:path>
              </a:pathLst>
            </a:custGeom>
            <a:solidFill>
              <a:srgbClr val="F4F7FC"/>
            </a:solidFill>
          </p:spPr>
        </p:sp>
      </p:grpSp>
      <p:grpSp>
        <p:nvGrpSpPr>
          <p:cNvPr name="Group 18" id="18"/>
          <p:cNvGrpSpPr/>
          <p:nvPr/>
        </p:nvGrpSpPr>
        <p:grpSpPr>
          <a:xfrm rot="0">
            <a:off x="1207008" y="4457700"/>
            <a:ext cx="3415284" cy="384048"/>
            <a:chOff x="0" y="0"/>
            <a:chExt cx="4553712" cy="512064"/>
          </a:xfrm>
        </p:grpSpPr>
        <p:sp>
          <p:nvSpPr>
            <p:cNvPr name="Freeform 19" id="19"/>
            <p:cNvSpPr/>
            <p:nvPr/>
          </p:nvSpPr>
          <p:spPr>
            <a:xfrm flipH="false" flipV="false" rot="0">
              <a:off x="0" y="0"/>
              <a:ext cx="4553712" cy="512064"/>
            </a:xfrm>
            <a:custGeom>
              <a:avLst/>
              <a:gdLst/>
              <a:ahLst/>
              <a:cxnLst/>
              <a:rect r="r" b="b" t="t" l="l"/>
              <a:pathLst>
                <a:path h="512064" w="4553712">
                  <a:moveTo>
                    <a:pt x="0" y="0"/>
                  </a:moveTo>
                  <a:lnTo>
                    <a:pt x="4553712" y="0"/>
                  </a:lnTo>
                  <a:lnTo>
                    <a:pt x="4553712" y="512064"/>
                  </a:lnTo>
                  <a:lnTo>
                    <a:pt x="0" y="512064"/>
                  </a:lnTo>
                  <a:close/>
                </a:path>
              </a:pathLst>
            </a:custGeom>
            <a:blipFill>
              <a:blip r:embed="rId3">
                <a:alphaModFix amt="0"/>
              </a:blip>
              <a:stretch>
                <a:fillRect l="0" t="-123277" r="0" b="-123277"/>
              </a:stretch>
            </a:blipFill>
          </p:spPr>
        </p:sp>
        <p:sp>
          <p:nvSpPr>
            <p:cNvPr name="TextBox 20" id="20"/>
            <p:cNvSpPr txBox="true"/>
            <p:nvPr/>
          </p:nvSpPr>
          <p:spPr>
            <a:xfrm>
              <a:off x="0" y="-38100"/>
              <a:ext cx="4553712" cy="550164"/>
            </a:xfrm>
            <a:prstGeom prst="rect">
              <a:avLst/>
            </a:prstGeom>
          </p:spPr>
          <p:txBody>
            <a:bodyPr anchor="ctr" rtlCol="false" tIns="0" lIns="0" bIns="0" rIns="0"/>
            <a:lstStyle/>
            <a:p>
              <a:pPr algn="l">
                <a:lnSpc>
                  <a:spcPts val="1800"/>
                </a:lnSpc>
              </a:pPr>
              <a:r>
                <a:rPr lang="en-US" b="true" sz="1500" spc="75">
                  <a:solidFill>
                    <a:srgbClr val="6B7280"/>
                  </a:solidFill>
                  <a:latin typeface="Calibri (MS) Bold"/>
                  <a:ea typeface="Calibri (MS) Bold"/>
                  <a:cs typeface="Calibri (MS) Bold"/>
                  <a:sym typeface="Calibri (MS) Bold"/>
                </a:rPr>
                <a:t>LIKELIHOOD</a:t>
              </a:r>
            </a:p>
          </p:txBody>
        </p:sp>
      </p:grpSp>
      <p:sp>
        <p:nvSpPr>
          <p:cNvPr name="TextBox 21" id="21"/>
          <p:cNvSpPr txBox="true"/>
          <p:nvPr/>
        </p:nvSpPr>
        <p:spPr>
          <a:xfrm rot="0">
            <a:off x="1298448" y="4840986"/>
            <a:ext cx="3232404" cy="462534"/>
          </a:xfrm>
          <a:prstGeom prst="rect">
            <a:avLst/>
          </a:prstGeom>
        </p:spPr>
        <p:txBody>
          <a:bodyPr anchor="t" rtlCol="false" tIns="0" lIns="0" bIns="0" rIns="0">
            <a:spAutoFit/>
          </a:bodyPr>
          <a:lstStyle/>
          <a:p>
            <a:pPr algn="l">
              <a:lnSpc>
                <a:spcPts val="3240"/>
              </a:lnSpc>
            </a:pPr>
            <a:r>
              <a:rPr lang="en-US" sz="2700" b="true">
                <a:solidFill>
                  <a:srgbClr val="1E2761"/>
                </a:solidFill>
                <a:latin typeface="Cambria Bold"/>
                <a:ea typeface="Cambria Bold"/>
                <a:cs typeface="Cambria Bold"/>
                <a:sym typeface="Cambria Bold"/>
              </a:rPr>
              <a:t>High</a:t>
            </a:r>
          </a:p>
        </p:txBody>
      </p:sp>
      <p:grpSp>
        <p:nvGrpSpPr>
          <p:cNvPr name="Group 22" id="22"/>
          <p:cNvGrpSpPr/>
          <p:nvPr/>
        </p:nvGrpSpPr>
        <p:grpSpPr>
          <a:xfrm rot="0">
            <a:off x="5074920" y="4320540"/>
            <a:ext cx="3909060" cy="1165860"/>
            <a:chOff x="0" y="0"/>
            <a:chExt cx="5212080" cy="1554480"/>
          </a:xfrm>
        </p:grpSpPr>
        <p:sp>
          <p:nvSpPr>
            <p:cNvPr name="Freeform 23" id="23"/>
            <p:cNvSpPr/>
            <p:nvPr/>
          </p:nvSpPr>
          <p:spPr>
            <a:xfrm flipH="false" flipV="false" rot="0">
              <a:off x="0" y="0"/>
              <a:ext cx="5212080" cy="1554480"/>
            </a:xfrm>
            <a:custGeom>
              <a:avLst/>
              <a:gdLst/>
              <a:ahLst/>
              <a:cxnLst/>
              <a:rect r="r" b="b" t="t" l="l"/>
              <a:pathLst>
                <a:path h="1554480" w="5212080">
                  <a:moveTo>
                    <a:pt x="0" y="146304"/>
                  </a:moveTo>
                  <a:cubicBezTo>
                    <a:pt x="0" y="65532"/>
                    <a:pt x="65532" y="0"/>
                    <a:pt x="146304" y="0"/>
                  </a:cubicBezTo>
                  <a:lnTo>
                    <a:pt x="5065776" y="0"/>
                  </a:lnTo>
                  <a:cubicBezTo>
                    <a:pt x="5146548" y="0"/>
                    <a:pt x="5212080" y="65532"/>
                    <a:pt x="5212080" y="146304"/>
                  </a:cubicBezTo>
                  <a:lnTo>
                    <a:pt x="5212080" y="1408176"/>
                  </a:lnTo>
                  <a:cubicBezTo>
                    <a:pt x="5212080" y="1488948"/>
                    <a:pt x="5146548" y="1554480"/>
                    <a:pt x="5065776" y="1554480"/>
                  </a:cubicBezTo>
                  <a:lnTo>
                    <a:pt x="146304" y="1554480"/>
                  </a:lnTo>
                  <a:cubicBezTo>
                    <a:pt x="65532" y="1554480"/>
                    <a:pt x="0" y="1488948"/>
                    <a:pt x="0" y="1408176"/>
                  </a:cubicBezTo>
                  <a:close/>
                </a:path>
              </a:pathLst>
            </a:custGeom>
            <a:solidFill>
              <a:srgbClr val="F4F7FC"/>
            </a:solidFill>
          </p:spPr>
        </p:sp>
      </p:grpSp>
      <p:grpSp>
        <p:nvGrpSpPr>
          <p:cNvPr name="Group 24" id="24"/>
          <p:cNvGrpSpPr/>
          <p:nvPr/>
        </p:nvGrpSpPr>
        <p:grpSpPr>
          <a:xfrm rot="0">
            <a:off x="5321808" y="4457700"/>
            <a:ext cx="3415284" cy="384048"/>
            <a:chOff x="0" y="0"/>
            <a:chExt cx="4553712" cy="512064"/>
          </a:xfrm>
        </p:grpSpPr>
        <p:sp>
          <p:nvSpPr>
            <p:cNvPr name="Freeform 25" id="25"/>
            <p:cNvSpPr/>
            <p:nvPr/>
          </p:nvSpPr>
          <p:spPr>
            <a:xfrm flipH="false" flipV="false" rot="0">
              <a:off x="0" y="0"/>
              <a:ext cx="4553712" cy="512064"/>
            </a:xfrm>
            <a:custGeom>
              <a:avLst/>
              <a:gdLst/>
              <a:ahLst/>
              <a:cxnLst/>
              <a:rect r="r" b="b" t="t" l="l"/>
              <a:pathLst>
                <a:path h="512064" w="4553712">
                  <a:moveTo>
                    <a:pt x="0" y="0"/>
                  </a:moveTo>
                  <a:lnTo>
                    <a:pt x="4553712" y="0"/>
                  </a:lnTo>
                  <a:lnTo>
                    <a:pt x="4553712" y="512064"/>
                  </a:lnTo>
                  <a:lnTo>
                    <a:pt x="0" y="512064"/>
                  </a:lnTo>
                  <a:close/>
                </a:path>
              </a:pathLst>
            </a:custGeom>
            <a:blipFill>
              <a:blip r:embed="rId3">
                <a:alphaModFix amt="0"/>
              </a:blip>
              <a:stretch>
                <a:fillRect l="0" t="-123277" r="0" b="-123277"/>
              </a:stretch>
            </a:blipFill>
          </p:spPr>
        </p:sp>
        <p:sp>
          <p:nvSpPr>
            <p:cNvPr name="TextBox 26" id="26"/>
            <p:cNvSpPr txBox="true"/>
            <p:nvPr/>
          </p:nvSpPr>
          <p:spPr>
            <a:xfrm>
              <a:off x="0" y="-38100"/>
              <a:ext cx="4553712" cy="550164"/>
            </a:xfrm>
            <a:prstGeom prst="rect">
              <a:avLst/>
            </a:prstGeom>
          </p:spPr>
          <p:txBody>
            <a:bodyPr anchor="ctr" rtlCol="false" tIns="0" lIns="0" bIns="0" rIns="0"/>
            <a:lstStyle/>
            <a:p>
              <a:pPr algn="l">
                <a:lnSpc>
                  <a:spcPts val="1800"/>
                </a:lnSpc>
              </a:pPr>
              <a:r>
                <a:rPr lang="en-US" b="true" sz="1500" spc="75">
                  <a:solidFill>
                    <a:srgbClr val="6B7280"/>
                  </a:solidFill>
                  <a:latin typeface="Calibri (MS) Bold"/>
                  <a:ea typeface="Calibri (MS) Bold"/>
                  <a:cs typeface="Calibri (MS) Bold"/>
                  <a:sym typeface="Calibri (MS) Bold"/>
                </a:rPr>
                <a:t>IMPACT</a:t>
              </a:r>
            </a:p>
          </p:txBody>
        </p:sp>
      </p:grpSp>
      <p:sp>
        <p:nvSpPr>
          <p:cNvPr name="TextBox 27" id="27"/>
          <p:cNvSpPr txBox="true"/>
          <p:nvPr/>
        </p:nvSpPr>
        <p:spPr>
          <a:xfrm rot="0">
            <a:off x="5413248" y="4840986"/>
            <a:ext cx="3232404" cy="462534"/>
          </a:xfrm>
          <a:prstGeom prst="rect">
            <a:avLst/>
          </a:prstGeom>
        </p:spPr>
        <p:txBody>
          <a:bodyPr anchor="t" rtlCol="false" tIns="0" lIns="0" bIns="0" rIns="0">
            <a:spAutoFit/>
          </a:bodyPr>
          <a:lstStyle/>
          <a:p>
            <a:pPr algn="l">
              <a:lnSpc>
                <a:spcPts val="3240"/>
              </a:lnSpc>
            </a:pPr>
            <a:r>
              <a:rPr lang="en-US" sz="2700" b="true">
                <a:solidFill>
                  <a:srgbClr val="1E2761"/>
                </a:solidFill>
                <a:latin typeface="Cambria Bold"/>
                <a:ea typeface="Cambria Bold"/>
                <a:cs typeface="Cambria Bold"/>
                <a:sym typeface="Cambria Bold"/>
              </a:rPr>
              <a:t>High</a:t>
            </a:r>
          </a:p>
        </p:txBody>
      </p:sp>
      <p:grpSp>
        <p:nvGrpSpPr>
          <p:cNvPr name="Group 28" id="28"/>
          <p:cNvGrpSpPr/>
          <p:nvPr/>
        </p:nvGrpSpPr>
        <p:grpSpPr>
          <a:xfrm rot="0">
            <a:off x="9189720" y="4320540"/>
            <a:ext cx="3909060" cy="1165860"/>
            <a:chOff x="0" y="0"/>
            <a:chExt cx="5212080" cy="1554480"/>
          </a:xfrm>
        </p:grpSpPr>
        <p:sp>
          <p:nvSpPr>
            <p:cNvPr name="Freeform 29" id="29"/>
            <p:cNvSpPr/>
            <p:nvPr/>
          </p:nvSpPr>
          <p:spPr>
            <a:xfrm flipH="false" flipV="false" rot="0">
              <a:off x="0" y="0"/>
              <a:ext cx="5212080" cy="1554480"/>
            </a:xfrm>
            <a:custGeom>
              <a:avLst/>
              <a:gdLst/>
              <a:ahLst/>
              <a:cxnLst/>
              <a:rect r="r" b="b" t="t" l="l"/>
              <a:pathLst>
                <a:path h="1554480" w="5212080">
                  <a:moveTo>
                    <a:pt x="0" y="146304"/>
                  </a:moveTo>
                  <a:cubicBezTo>
                    <a:pt x="0" y="65532"/>
                    <a:pt x="65532" y="0"/>
                    <a:pt x="146304" y="0"/>
                  </a:cubicBezTo>
                  <a:lnTo>
                    <a:pt x="5065776" y="0"/>
                  </a:lnTo>
                  <a:cubicBezTo>
                    <a:pt x="5146548" y="0"/>
                    <a:pt x="5212080" y="65532"/>
                    <a:pt x="5212080" y="146304"/>
                  </a:cubicBezTo>
                  <a:lnTo>
                    <a:pt x="5212080" y="1408176"/>
                  </a:lnTo>
                  <a:cubicBezTo>
                    <a:pt x="5212080" y="1488948"/>
                    <a:pt x="5146548" y="1554480"/>
                    <a:pt x="5065776" y="1554480"/>
                  </a:cubicBezTo>
                  <a:lnTo>
                    <a:pt x="146304" y="1554480"/>
                  </a:lnTo>
                  <a:cubicBezTo>
                    <a:pt x="65532" y="1554480"/>
                    <a:pt x="0" y="1488948"/>
                    <a:pt x="0" y="1408176"/>
                  </a:cubicBezTo>
                  <a:close/>
                </a:path>
              </a:pathLst>
            </a:custGeom>
            <a:solidFill>
              <a:srgbClr val="F4F7FC"/>
            </a:solidFill>
          </p:spPr>
        </p:sp>
      </p:grpSp>
      <p:grpSp>
        <p:nvGrpSpPr>
          <p:cNvPr name="Group 30" id="30"/>
          <p:cNvGrpSpPr/>
          <p:nvPr/>
        </p:nvGrpSpPr>
        <p:grpSpPr>
          <a:xfrm rot="0">
            <a:off x="9436608" y="4457700"/>
            <a:ext cx="3415284" cy="384048"/>
            <a:chOff x="0" y="0"/>
            <a:chExt cx="4553712" cy="512064"/>
          </a:xfrm>
        </p:grpSpPr>
        <p:sp>
          <p:nvSpPr>
            <p:cNvPr name="Freeform 31" id="31"/>
            <p:cNvSpPr/>
            <p:nvPr/>
          </p:nvSpPr>
          <p:spPr>
            <a:xfrm flipH="false" flipV="false" rot="0">
              <a:off x="0" y="0"/>
              <a:ext cx="4553712" cy="512064"/>
            </a:xfrm>
            <a:custGeom>
              <a:avLst/>
              <a:gdLst/>
              <a:ahLst/>
              <a:cxnLst/>
              <a:rect r="r" b="b" t="t" l="l"/>
              <a:pathLst>
                <a:path h="512064" w="4553712">
                  <a:moveTo>
                    <a:pt x="0" y="0"/>
                  </a:moveTo>
                  <a:lnTo>
                    <a:pt x="4553712" y="0"/>
                  </a:lnTo>
                  <a:lnTo>
                    <a:pt x="4553712" y="512064"/>
                  </a:lnTo>
                  <a:lnTo>
                    <a:pt x="0" y="512064"/>
                  </a:lnTo>
                  <a:close/>
                </a:path>
              </a:pathLst>
            </a:custGeom>
            <a:blipFill>
              <a:blip r:embed="rId3">
                <a:alphaModFix amt="0"/>
              </a:blip>
              <a:stretch>
                <a:fillRect l="0" t="-123277" r="0" b="-123277"/>
              </a:stretch>
            </a:blipFill>
          </p:spPr>
        </p:sp>
        <p:sp>
          <p:nvSpPr>
            <p:cNvPr name="TextBox 32" id="32"/>
            <p:cNvSpPr txBox="true"/>
            <p:nvPr/>
          </p:nvSpPr>
          <p:spPr>
            <a:xfrm>
              <a:off x="0" y="-38100"/>
              <a:ext cx="4553712" cy="550164"/>
            </a:xfrm>
            <a:prstGeom prst="rect">
              <a:avLst/>
            </a:prstGeom>
          </p:spPr>
          <p:txBody>
            <a:bodyPr anchor="ctr" rtlCol="false" tIns="0" lIns="0" bIns="0" rIns="0"/>
            <a:lstStyle/>
            <a:p>
              <a:pPr algn="l">
                <a:lnSpc>
                  <a:spcPts val="1800"/>
                </a:lnSpc>
              </a:pPr>
              <a:r>
                <a:rPr lang="en-US" b="true" sz="1500" spc="75">
                  <a:solidFill>
                    <a:srgbClr val="6B7280"/>
                  </a:solidFill>
                  <a:latin typeface="Calibri (MS) Bold"/>
                  <a:ea typeface="Calibri (MS) Bold"/>
                  <a:cs typeface="Calibri (MS) Bold"/>
                  <a:sym typeface="Calibri (MS) Bold"/>
                </a:rPr>
                <a:t>RISK RATING</a:t>
              </a:r>
            </a:p>
          </p:txBody>
        </p:sp>
      </p:grpSp>
      <p:sp>
        <p:nvSpPr>
          <p:cNvPr name="TextBox 33" id="33"/>
          <p:cNvSpPr txBox="true"/>
          <p:nvPr/>
        </p:nvSpPr>
        <p:spPr>
          <a:xfrm rot="0">
            <a:off x="9528048" y="4840986"/>
            <a:ext cx="3232404" cy="462534"/>
          </a:xfrm>
          <a:prstGeom prst="rect">
            <a:avLst/>
          </a:prstGeom>
        </p:spPr>
        <p:txBody>
          <a:bodyPr anchor="t" rtlCol="false" tIns="0" lIns="0" bIns="0" rIns="0">
            <a:spAutoFit/>
          </a:bodyPr>
          <a:lstStyle/>
          <a:p>
            <a:pPr algn="l">
              <a:lnSpc>
                <a:spcPts val="3240"/>
              </a:lnSpc>
            </a:pPr>
            <a:r>
              <a:rPr lang="en-US" sz="2700" b="true">
                <a:solidFill>
                  <a:srgbClr val="C62839"/>
                </a:solidFill>
                <a:latin typeface="Cambria Bold"/>
                <a:ea typeface="Cambria Bold"/>
                <a:cs typeface="Cambria Bold"/>
                <a:sym typeface="Cambria Bold"/>
              </a:rPr>
              <a:t>Critical</a:t>
            </a:r>
          </a:p>
        </p:txBody>
      </p:sp>
      <p:grpSp>
        <p:nvGrpSpPr>
          <p:cNvPr name="Group 34" id="34"/>
          <p:cNvGrpSpPr/>
          <p:nvPr/>
        </p:nvGrpSpPr>
        <p:grpSpPr>
          <a:xfrm rot="0">
            <a:off x="13304520" y="4320540"/>
            <a:ext cx="3977640" cy="1165860"/>
            <a:chOff x="0" y="0"/>
            <a:chExt cx="5303520" cy="1554480"/>
          </a:xfrm>
        </p:grpSpPr>
        <p:sp>
          <p:nvSpPr>
            <p:cNvPr name="Freeform 35" id="35"/>
            <p:cNvSpPr/>
            <p:nvPr/>
          </p:nvSpPr>
          <p:spPr>
            <a:xfrm flipH="false" flipV="false" rot="0">
              <a:off x="0" y="0"/>
              <a:ext cx="5303520" cy="1554480"/>
            </a:xfrm>
            <a:custGeom>
              <a:avLst/>
              <a:gdLst/>
              <a:ahLst/>
              <a:cxnLst/>
              <a:rect r="r" b="b" t="t" l="l"/>
              <a:pathLst>
                <a:path h="1554480" w="5303520">
                  <a:moveTo>
                    <a:pt x="0" y="146304"/>
                  </a:moveTo>
                  <a:cubicBezTo>
                    <a:pt x="0" y="65532"/>
                    <a:pt x="65532" y="0"/>
                    <a:pt x="146304" y="0"/>
                  </a:cubicBezTo>
                  <a:lnTo>
                    <a:pt x="5157216" y="0"/>
                  </a:lnTo>
                  <a:cubicBezTo>
                    <a:pt x="5237988" y="0"/>
                    <a:pt x="5303520" y="65532"/>
                    <a:pt x="5303520" y="146304"/>
                  </a:cubicBezTo>
                  <a:lnTo>
                    <a:pt x="5303520" y="1408176"/>
                  </a:lnTo>
                  <a:cubicBezTo>
                    <a:pt x="5303520" y="1488948"/>
                    <a:pt x="5237988" y="1554480"/>
                    <a:pt x="5157216" y="1554480"/>
                  </a:cubicBezTo>
                  <a:lnTo>
                    <a:pt x="146304" y="1554480"/>
                  </a:lnTo>
                  <a:cubicBezTo>
                    <a:pt x="65532" y="1554480"/>
                    <a:pt x="0" y="1488948"/>
                    <a:pt x="0" y="1408176"/>
                  </a:cubicBezTo>
                  <a:close/>
                </a:path>
              </a:pathLst>
            </a:custGeom>
            <a:solidFill>
              <a:srgbClr val="1E2761"/>
            </a:solidFill>
          </p:spPr>
        </p:sp>
      </p:grpSp>
      <p:grpSp>
        <p:nvGrpSpPr>
          <p:cNvPr name="Group 36" id="36"/>
          <p:cNvGrpSpPr/>
          <p:nvPr/>
        </p:nvGrpSpPr>
        <p:grpSpPr>
          <a:xfrm rot="0">
            <a:off x="13551408" y="4457700"/>
            <a:ext cx="3429000" cy="384048"/>
            <a:chOff x="0" y="0"/>
            <a:chExt cx="4572000" cy="512064"/>
          </a:xfrm>
        </p:grpSpPr>
        <p:sp>
          <p:nvSpPr>
            <p:cNvPr name="Freeform 37" id="37"/>
            <p:cNvSpPr/>
            <p:nvPr/>
          </p:nvSpPr>
          <p:spPr>
            <a:xfrm flipH="false" flipV="false" rot="0">
              <a:off x="0" y="0"/>
              <a:ext cx="4572000" cy="512064"/>
            </a:xfrm>
            <a:custGeom>
              <a:avLst/>
              <a:gdLst/>
              <a:ahLst/>
              <a:cxnLst/>
              <a:rect r="r" b="b" t="t" l="l"/>
              <a:pathLst>
                <a:path h="512064" w="4572000">
                  <a:moveTo>
                    <a:pt x="0" y="0"/>
                  </a:moveTo>
                  <a:lnTo>
                    <a:pt x="4572000" y="0"/>
                  </a:lnTo>
                  <a:lnTo>
                    <a:pt x="4572000" y="512064"/>
                  </a:lnTo>
                  <a:lnTo>
                    <a:pt x="0" y="512064"/>
                  </a:lnTo>
                  <a:close/>
                </a:path>
              </a:pathLst>
            </a:custGeom>
            <a:blipFill>
              <a:blip r:embed="rId3">
                <a:alphaModFix amt="0"/>
              </a:blip>
              <a:stretch>
                <a:fillRect l="0" t="-123973" r="0" b="-123973"/>
              </a:stretch>
            </a:blipFill>
          </p:spPr>
        </p:sp>
        <p:sp>
          <p:nvSpPr>
            <p:cNvPr name="TextBox 38" id="38"/>
            <p:cNvSpPr txBox="true"/>
            <p:nvPr/>
          </p:nvSpPr>
          <p:spPr>
            <a:xfrm>
              <a:off x="0" y="-38100"/>
              <a:ext cx="4572000" cy="550164"/>
            </a:xfrm>
            <a:prstGeom prst="rect">
              <a:avLst/>
            </a:prstGeom>
          </p:spPr>
          <p:txBody>
            <a:bodyPr anchor="ctr" rtlCol="false" tIns="0" lIns="0" bIns="0" rIns="0"/>
            <a:lstStyle/>
            <a:p>
              <a:pPr algn="l">
                <a:lnSpc>
                  <a:spcPts val="1800"/>
                </a:lnSpc>
              </a:pPr>
              <a:r>
                <a:rPr lang="en-US" b="true" sz="1500" spc="75">
                  <a:solidFill>
                    <a:srgbClr val="CADCFC"/>
                  </a:solidFill>
                  <a:latin typeface="Calibri (MS) Bold"/>
                  <a:ea typeface="Calibri (MS) Bold"/>
                  <a:cs typeface="Calibri (MS) Bold"/>
                  <a:sym typeface="Calibri (MS) Bold"/>
                </a:rPr>
                <a:t>RESPONSE</a:t>
              </a:r>
            </a:p>
          </p:txBody>
        </p:sp>
      </p:grpSp>
      <p:sp>
        <p:nvSpPr>
          <p:cNvPr name="TextBox 39" id="39"/>
          <p:cNvSpPr txBox="true"/>
          <p:nvPr/>
        </p:nvSpPr>
        <p:spPr>
          <a:xfrm rot="0">
            <a:off x="13642848" y="4840986"/>
            <a:ext cx="3246120" cy="476250"/>
          </a:xfrm>
          <a:prstGeom prst="rect">
            <a:avLst/>
          </a:prstGeom>
        </p:spPr>
        <p:txBody>
          <a:bodyPr anchor="t" rtlCol="false" tIns="0" lIns="0" bIns="0" rIns="0">
            <a:spAutoFit/>
          </a:bodyPr>
          <a:lstStyle/>
          <a:p>
            <a:pPr algn="l">
              <a:lnSpc>
                <a:spcPts val="3240"/>
              </a:lnSpc>
            </a:pPr>
            <a:r>
              <a:rPr lang="en-US" sz="2700" b="true">
                <a:solidFill>
                  <a:srgbClr val="FFFFFF"/>
                </a:solidFill>
                <a:latin typeface="Cambria Bold"/>
                <a:ea typeface="Cambria Bold"/>
                <a:cs typeface="Cambria Bold"/>
                <a:sym typeface="Cambria Bold"/>
              </a:rPr>
              <a:t>Treat</a:t>
            </a:r>
          </a:p>
        </p:txBody>
      </p:sp>
      <p:grpSp>
        <p:nvGrpSpPr>
          <p:cNvPr name="Group 40" id="40"/>
          <p:cNvGrpSpPr/>
          <p:nvPr/>
        </p:nvGrpSpPr>
        <p:grpSpPr>
          <a:xfrm rot="0">
            <a:off x="950595" y="5888355"/>
            <a:ext cx="16341090" cy="2967990"/>
            <a:chOff x="0" y="0"/>
            <a:chExt cx="21788120" cy="3957320"/>
          </a:xfrm>
        </p:grpSpPr>
        <p:sp>
          <p:nvSpPr>
            <p:cNvPr name="Freeform 41" id="41"/>
            <p:cNvSpPr/>
            <p:nvPr/>
          </p:nvSpPr>
          <p:spPr>
            <a:xfrm flipH="false" flipV="false" rot="0">
              <a:off x="0" y="0"/>
              <a:ext cx="21788120" cy="3957320"/>
            </a:xfrm>
            <a:custGeom>
              <a:avLst/>
              <a:gdLst/>
              <a:ahLst/>
              <a:cxnLst/>
              <a:rect r="r" b="b" t="t" l="l"/>
              <a:pathLst>
                <a:path h="3957320" w="21788120">
                  <a:moveTo>
                    <a:pt x="0" y="184023"/>
                  </a:moveTo>
                  <a:cubicBezTo>
                    <a:pt x="0" y="82423"/>
                    <a:pt x="82423" y="0"/>
                    <a:pt x="184023" y="0"/>
                  </a:cubicBezTo>
                  <a:lnTo>
                    <a:pt x="21604097" y="0"/>
                  </a:lnTo>
                  <a:cubicBezTo>
                    <a:pt x="21705697" y="0"/>
                    <a:pt x="21788120" y="82423"/>
                    <a:pt x="21788120" y="184023"/>
                  </a:cubicBezTo>
                  <a:lnTo>
                    <a:pt x="21788120" y="3773297"/>
                  </a:lnTo>
                  <a:cubicBezTo>
                    <a:pt x="21788120" y="3874897"/>
                    <a:pt x="21705697" y="3957320"/>
                    <a:pt x="21604097" y="3957320"/>
                  </a:cubicBezTo>
                  <a:lnTo>
                    <a:pt x="184023" y="3957320"/>
                  </a:lnTo>
                  <a:cubicBezTo>
                    <a:pt x="82423" y="3957320"/>
                    <a:pt x="0" y="3874897"/>
                    <a:pt x="0" y="3773297"/>
                  </a:cubicBezTo>
                  <a:close/>
                </a:path>
              </a:pathLst>
            </a:custGeom>
            <a:solidFill>
              <a:srgbClr val="FBF9F4"/>
            </a:solidFill>
            <a:ln w="19050" cap="sq">
              <a:solidFill>
                <a:srgbClr val="EFE6D2"/>
              </a:solidFill>
              <a:prstDash val="solid"/>
              <a:miter/>
            </a:ln>
          </p:spPr>
        </p:sp>
      </p:grpSp>
      <p:sp>
        <p:nvSpPr>
          <p:cNvPr name="TextBox 42" id="42"/>
          <p:cNvSpPr txBox="true"/>
          <p:nvPr/>
        </p:nvSpPr>
        <p:spPr>
          <a:xfrm rot="0">
            <a:off x="1463040" y="6084570"/>
            <a:ext cx="15316200" cy="2510790"/>
          </a:xfrm>
          <a:prstGeom prst="rect">
            <a:avLst/>
          </a:prstGeom>
        </p:spPr>
        <p:txBody>
          <a:bodyPr anchor="t" rtlCol="false" tIns="0" lIns="0" bIns="0" rIns="0">
            <a:spAutoFit/>
          </a:bodyPr>
          <a:lstStyle/>
          <a:p>
            <a:pPr algn="l">
              <a:lnSpc>
                <a:spcPts val="3402"/>
              </a:lnSpc>
            </a:pPr>
            <a:r>
              <a:rPr lang="en-US" sz="2100">
                <a:solidFill>
                  <a:srgbClr val="23262F"/>
                </a:solidFill>
                <a:latin typeface="Calibri (MS)"/>
                <a:ea typeface="Calibri (MS)"/>
                <a:cs typeface="Calibri (MS)"/>
                <a:sym typeface="Calibri (MS)"/>
              </a:rPr>
              <a:t>A revenue system with no recent backup is a Critical risk that's entirely fixable — redundant backups, a tested restore process, and a hardware refresh. This is Treat, not something to accept or hand off.</a:t>
            </a:r>
          </a:p>
        </p:txBody>
      </p:sp>
      <p:grpSp>
        <p:nvGrpSpPr>
          <p:cNvPr name="Group 43" id="43"/>
          <p:cNvGrpSpPr/>
          <p:nvPr/>
        </p:nvGrpSpPr>
        <p:grpSpPr>
          <a:xfrm rot="0">
            <a:off x="685800" y="9710928"/>
            <a:ext cx="10972800" cy="411480"/>
            <a:chOff x="0" y="0"/>
            <a:chExt cx="14630400" cy="548640"/>
          </a:xfrm>
        </p:grpSpPr>
        <p:sp>
          <p:nvSpPr>
            <p:cNvPr name="Freeform 44" id="44"/>
            <p:cNvSpPr/>
            <p:nvPr/>
          </p:nvSpPr>
          <p:spPr>
            <a:xfrm flipH="false" flipV="false" rot="0">
              <a:off x="0" y="0"/>
              <a:ext cx="14630400" cy="548640"/>
            </a:xfrm>
            <a:custGeom>
              <a:avLst/>
              <a:gdLst/>
              <a:ahLst/>
              <a:cxnLst/>
              <a:rect r="r" b="b" t="t" l="l"/>
              <a:pathLst>
                <a:path h="548640" w="14630400">
                  <a:moveTo>
                    <a:pt x="0" y="0"/>
                  </a:moveTo>
                  <a:lnTo>
                    <a:pt x="14630400" y="0"/>
                  </a:lnTo>
                  <a:lnTo>
                    <a:pt x="14630400" y="548640"/>
                  </a:lnTo>
                  <a:lnTo>
                    <a:pt x="0" y="548640"/>
                  </a:lnTo>
                  <a:close/>
                </a:path>
              </a:pathLst>
            </a:custGeom>
            <a:blipFill>
              <a:blip r:embed="rId3">
                <a:alphaModFix amt="0"/>
              </a:blip>
              <a:stretch>
                <a:fillRect l="0" t="-469601" r="0" b="-469601"/>
              </a:stretch>
            </a:blipFill>
          </p:spPr>
        </p:sp>
        <p:sp>
          <p:nvSpPr>
            <p:cNvPr name="TextBox 45" id="45"/>
            <p:cNvSpPr txBox="true"/>
            <p:nvPr/>
          </p:nvSpPr>
          <p:spPr>
            <a:xfrm>
              <a:off x="0" y="-38100"/>
              <a:ext cx="14630400" cy="586740"/>
            </a:xfrm>
            <a:prstGeom prst="rect">
              <a:avLst/>
            </a:prstGeom>
          </p:spPr>
          <p:txBody>
            <a:bodyPr anchor="ctr" rtlCol="false" tIns="0" lIns="0" bIns="0" rIns="0"/>
            <a:lstStyle/>
            <a:p>
              <a:pPr algn="l">
                <a:lnSpc>
                  <a:spcPts val="1800"/>
                </a:lnSpc>
              </a:pPr>
              <a:r>
                <a:rPr lang="en-US" sz="1500">
                  <a:solidFill>
                    <a:srgbClr val="6B7280"/>
                  </a:solidFill>
                  <a:latin typeface="Calibri (MS)"/>
                  <a:ea typeface="Calibri (MS)"/>
                  <a:cs typeface="Calibri (MS)"/>
                  <a:sym typeface="Calibri (MS)"/>
                </a:rPr>
                <a:t>Davao del Norte Provincial Government — Cybersecurity Seminar</a:t>
              </a:r>
            </a:p>
          </p:txBody>
        </p:sp>
      </p:grpSp>
      <p:grpSp>
        <p:nvGrpSpPr>
          <p:cNvPr name="Group 46" id="46"/>
          <p:cNvGrpSpPr/>
          <p:nvPr/>
        </p:nvGrpSpPr>
        <p:grpSpPr>
          <a:xfrm rot="0">
            <a:off x="16911828" y="9710928"/>
            <a:ext cx="685800" cy="411480"/>
            <a:chOff x="0" y="0"/>
            <a:chExt cx="914400" cy="548640"/>
          </a:xfrm>
        </p:grpSpPr>
        <p:sp>
          <p:nvSpPr>
            <p:cNvPr name="Freeform 47" id="47"/>
            <p:cNvSpPr/>
            <p:nvPr/>
          </p:nvSpPr>
          <p:spPr>
            <a:xfrm flipH="false" flipV="false" rot="0">
              <a:off x="0" y="0"/>
              <a:ext cx="914400" cy="548640"/>
            </a:xfrm>
            <a:custGeom>
              <a:avLst/>
              <a:gdLst/>
              <a:ahLst/>
              <a:cxnLst/>
              <a:rect r="r" b="b" t="t" l="l"/>
              <a:pathLst>
                <a:path h="548640" w="914400">
                  <a:moveTo>
                    <a:pt x="0" y="0"/>
                  </a:moveTo>
                  <a:lnTo>
                    <a:pt x="914400" y="0"/>
                  </a:lnTo>
                  <a:lnTo>
                    <a:pt x="914400" y="548640"/>
                  </a:lnTo>
                  <a:lnTo>
                    <a:pt x="0" y="548640"/>
                  </a:lnTo>
                  <a:close/>
                </a:path>
              </a:pathLst>
            </a:custGeom>
            <a:blipFill>
              <a:blip r:embed="rId3">
                <a:alphaModFix amt="0"/>
              </a:blip>
              <a:stretch>
                <a:fillRect l="-26982" t="0" r="-26982" b="0"/>
              </a:stretch>
            </a:blipFill>
          </p:spPr>
        </p:sp>
        <p:sp>
          <p:nvSpPr>
            <p:cNvPr name="TextBox 48" id="48"/>
            <p:cNvSpPr txBox="true"/>
            <p:nvPr/>
          </p:nvSpPr>
          <p:spPr>
            <a:xfrm>
              <a:off x="0" y="-38100"/>
              <a:ext cx="914400" cy="586740"/>
            </a:xfrm>
            <a:prstGeom prst="rect">
              <a:avLst/>
            </a:prstGeom>
          </p:spPr>
          <p:txBody>
            <a:bodyPr anchor="ctr" rtlCol="false" tIns="0" lIns="0" bIns="0" rIns="0"/>
            <a:lstStyle/>
            <a:p>
              <a:pPr algn="r">
                <a:lnSpc>
                  <a:spcPts val="1800"/>
                </a:lnSpc>
              </a:pPr>
              <a:r>
                <a:rPr lang="en-US" sz="1500">
                  <a:solidFill>
                    <a:srgbClr val="6B7280"/>
                  </a:solidFill>
                  <a:latin typeface="Calibri (MS)"/>
                  <a:ea typeface="Calibri (MS)"/>
                  <a:cs typeface="Calibri (MS)"/>
                  <a:sym typeface="Calibri (MS)"/>
                </a:rPr>
                <a:t>18</a:t>
              </a:r>
            </a:p>
          </p:txBody>
        </p:sp>
      </p:gr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60120" y="576072"/>
            <a:ext cx="13716000" cy="411480"/>
            <a:chOff x="0" y="0"/>
            <a:chExt cx="18288000" cy="548640"/>
          </a:xfrm>
        </p:grpSpPr>
        <p:sp>
          <p:nvSpPr>
            <p:cNvPr name="Freeform 3" id="3"/>
            <p:cNvSpPr/>
            <p:nvPr/>
          </p:nvSpPr>
          <p:spPr>
            <a:xfrm flipH="false" flipV="false" rot="0">
              <a:off x="0" y="0"/>
              <a:ext cx="18288000" cy="548640"/>
            </a:xfrm>
            <a:custGeom>
              <a:avLst/>
              <a:gdLst/>
              <a:ahLst/>
              <a:cxnLst/>
              <a:rect r="r" b="b" t="t" l="l"/>
              <a:pathLst>
                <a:path h="548640" w="18288000">
                  <a:moveTo>
                    <a:pt x="0" y="0"/>
                  </a:moveTo>
                  <a:lnTo>
                    <a:pt x="18288000" y="0"/>
                  </a:lnTo>
                  <a:lnTo>
                    <a:pt x="18288000" y="548640"/>
                  </a:lnTo>
                  <a:lnTo>
                    <a:pt x="0" y="548640"/>
                  </a:lnTo>
                  <a:close/>
                </a:path>
              </a:pathLst>
            </a:custGeom>
            <a:blipFill>
              <a:blip r:embed="rId3">
                <a:alphaModFix amt="0"/>
              </a:blip>
              <a:stretch>
                <a:fillRect l="0" t="-599501" r="0" b="-599501"/>
              </a:stretch>
            </a:blipFill>
          </p:spPr>
        </p:sp>
        <p:sp>
          <p:nvSpPr>
            <p:cNvPr name="TextBox 4" id="4"/>
            <p:cNvSpPr txBox="true"/>
            <p:nvPr/>
          </p:nvSpPr>
          <p:spPr>
            <a:xfrm>
              <a:off x="0" y="-38100"/>
              <a:ext cx="18288000" cy="586740"/>
            </a:xfrm>
            <a:prstGeom prst="rect">
              <a:avLst/>
            </a:prstGeom>
          </p:spPr>
          <p:txBody>
            <a:bodyPr anchor="ctr" rtlCol="false" tIns="0" lIns="0" bIns="0" rIns="0"/>
            <a:lstStyle/>
            <a:p>
              <a:pPr algn="l">
                <a:lnSpc>
                  <a:spcPts val="2160"/>
                </a:lnSpc>
              </a:pPr>
              <a:r>
                <a:rPr lang="en-US" b="true" sz="1800" spc="225">
                  <a:solidFill>
                    <a:srgbClr val="00B4D8"/>
                  </a:solidFill>
                  <a:latin typeface="Calibri (MS) Bold"/>
                  <a:ea typeface="Calibri (MS) Bold"/>
                  <a:cs typeface="Calibri (MS) Bold"/>
                  <a:sym typeface="Calibri (MS) Bold"/>
                </a:rPr>
                <a:t>RISK MATRIX SORT · SCENARIO</a:t>
              </a:r>
            </a:p>
          </p:txBody>
        </p:sp>
      </p:grpSp>
      <p:grpSp>
        <p:nvGrpSpPr>
          <p:cNvPr name="Group 5" id="5"/>
          <p:cNvGrpSpPr/>
          <p:nvPr/>
        </p:nvGrpSpPr>
        <p:grpSpPr>
          <a:xfrm rot="0">
            <a:off x="960120" y="960120"/>
            <a:ext cx="10972800" cy="754380"/>
            <a:chOff x="0" y="0"/>
            <a:chExt cx="14630400" cy="1005840"/>
          </a:xfrm>
        </p:grpSpPr>
        <p:sp>
          <p:nvSpPr>
            <p:cNvPr name="Freeform 6" id="6"/>
            <p:cNvSpPr/>
            <p:nvPr/>
          </p:nvSpPr>
          <p:spPr>
            <a:xfrm flipH="false" flipV="false" rot="0">
              <a:off x="0" y="0"/>
              <a:ext cx="14630400" cy="1005840"/>
            </a:xfrm>
            <a:custGeom>
              <a:avLst/>
              <a:gdLst/>
              <a:ahLst/>
              <a:cxnLst/>
              <a:rect r="r" b="b" t="t" l="l"/>
              <a:pathLst>
                <a:path h="1005840" w="14630400">
                  <a:moveTo>
                    <a:pt x="0" y="0"/>
                  </a:moveTo>
                  <a:lnTo>
                    <a:pt x="14630400" y="0"/>
                  </a:lnTo>
                  <a:lnTo>
                    <a:pt x="14630400" y="1005840"/>
                  </a:lnTo>
                  <a:lnTo>
                    <a:pt x="0" y="1005840"/>
                  </a:lnTo>
                  <a:close/>
                </a:path>
              </a:pathLst>
            </a:custGeom>
            <a:blipFill>
              <a:blip r:embed="rId3">
                <a:alphaModFix amt="0"/>
              </a:blip>
              <a:stretch>
                <a:fillRect l="0" t="-233418" r="0" b="-233418"/>
              </a:stretch>
            </a:blipFill>
          </p:spPr>
        </p:sp>
        <p:sp>
          <p:nvSpPr>
            <p:cNvPr name="TextBox 7" id="7"/>
            <p:cNvSpPr txBox="true"/>
            <p:nvPr/>
          </p:nvSpPr>
          <p:spPr>
            <a:xfrm>
              <a:off x="0" y="-19050"/>
              <a:ext cx="14630400" cy="1024890"/>
            </a:xfrm>
            <a:prstGeom prst="rect">
              <a:avLst/>
            </a:prstGeom>
          </p:spPr>
          <p:txBody>
            <a:bodyPr anchor="ctr" rtlCol="false" tIns="0" lIns="0" bIns="0" rIns="0"/>
            <a:lstStyle/>
            <a:p>
              <a:pPr algn="l">
                <a:lnSpc>
                  <a:spcPts val="4320"/>
                </a:lnSpc>
              </a:pPr>
              <a:r>
                <a:rPr lang="en-US" sz="3600" b="true">
                  <a:solidFill>
                    <a:srgbClr val="1E2761"/>
                  </a:solidFill>
                  <a:latin typeface="Cambria Bold"/>
                  <a:ea typeface="Cambria Bold"/>
                  <a:cs typeface="Cambria Bold"/>
                  <a:sym typeface="Cambria Bold"/>
                </a:rPr>
                <a:t>Scenario 3</a:t>
              </a:r>
            </a:p>
          </p:txBody>
        </p:sp>
      </p:grpSp>
      <p:grpSp>
        <p:nvGrpSpPr>
          <p:cNvPr name="Group 8" id="8"/>
          <p:cNvGrpSpPr/>
          <p:nvPr/>
        </p:nvGrpSpPr>
        <p:grpSpPr>
          <a:xfrm rot="0">
            <a:off x="960120" y="1645920"/>
            <a:ext cx="8229600" cy="411480"/>
            <a:chOff x="0" y="0"/>
            <a:chExt cx="10972800" cy="548640"/>
          </a:xfrm>
        </p:grpSpPr>
        <p:sp>
          <p:nvSpPr>
            <p:cNvPr name="Freeform 9" id="9"/>
            <p:cNvSpPr/>
            <p:nvPr/>
          </p:nvSpPr>
          <p:spPr>
            <a:xfrm flipH="false" flipV="false" rot="0">
              <a:off x="0" y="0"/>
              <a:ext cx="10972800" cy="548640"/>
            </a:xfrm>
            <a:custGeom>
              <a:avLst/>
              <a:gdLst/>
              <a:ahLst/>
              <a:cxnLst/>
              <a:rect r="r" b="b" t="t" l="l"/>
              <a:pathLst>
                <a:path h="548640" w="10972800">
                  <a:moveTo>
                    <a:pt x="0" y="0"/>
                  </a:moveTo>
                  <a:lnTo>
                    <a:pt x="10972800" y="0"/>
                  </a:lnTo>
                  <a:lnTo>
                    <a:pt x="10972800" y="548640"/>
                  </a:lnTo>
                  <a:lnTo>
                    <a:pt x="0" y="548640"/>
                  </a:lnTo>
                  <a:close/>
                </a:path>
              </a:pathLst>
            </a:custGeom>
            <a:blipFill>
              <a:blip r:embed="rId3">
                <a:alphaModFix amt="0"/>
              </a:blip>
              <a:stretch>
                <a:fillRect l="0" t="-339700" r="0" b="-339700"/>
              </a:stretch>
            </a:blipFill>
          </p:spPr>
        </p:sp>
        <p:sp>
          <p:nvSpPr>
            <p:cNvPr name="TextBox 10" id="10"/>
            <p:cNvSpPr txBox="true"/>
            <p:nvPr/>
          </p:nvSpPr>
          <p:spPr>
            <a:xfrm>
              <a:off x="0" y="-28575"/>
              <a:ext cx="10972800" cy="577215"/>
            </a:xfrm>
            <a:prstGeom prst="rect">
              <a:avLst/>
            </a:prstGeom>
          </p:spPr>
          <p:txBody>
            <a:bodyPr anchor="ctr" rtlCol="false" tIns="0" lIns="0" bIns="0" rIns="0"/>
            <a:lstStyle/>
            <a:p>
              <a:pPr algn="l">
                <a:lnSpc>
                  <a:spcPts val="1980"/>
                </a:lnSpc>
              </a:pPr>
              <a:r>
                <a:rPr lang="en-US" sz="1650">
                  <a:solidFill>
                    <a:srgbClr val="6B7280"/>
                  </a:solidFill>
                  <a:latin typeface="Calibri (MS)"/>
                  <a:ea typeface="Calibri (MS)"/>
                  <a:cs typeface="Calibri (MS)"/>
                  <a:sym typeface="Calibri (MS)"/>
                </a:rPr>
                <a:t>3 of 8</a:t>
              </a:r>
            </a:p>
          </p:txBody>
        </p:sp>
      </p:grpSp>
      <p:grpSp>
        <p:nvGrpSpPr>
          <p:cNvPr name="Group 11" id="11"/>
          <p:cNvGrpSpPr/>
          <p:nvPr/>
        </p:nvGrpSpPr>
        <p:grpSpPr>
          <a:xfrm rot="0">
            <a:off x="960120" y="2194560"/>
            <a:ext cx="16322040" cy="2125980"/>
            <a:chOff x="0" y="0"/>
            <a:chExt cx="21762720" cy="2834640"/>
          </a:xfrm>
        </p:grpSpPr>
        <p:sp>
          <p:nvSpPr>
            <p:cNvPr name="Freeform 12" id="12"/>
            <p:cNvSpPr/>
            <p:nvPr/>
          </p:nvSpPr>
          <p:spPr>
            <a:xfrm flipH="false" flipV="false" rot="0">
              <a:off x="0" y="0"/>
              <a:ext cx="21762720" cy="2834640"/>
            </a:xfrm>
            <a:custGeom>
              <a:avLst/>
              <a:gdLst/>
              <a:ahLst/>
              <a:cxnLst/>
              <a:rect r="r" b="b" t="t" l="l"/>
              <a:pathLst>
                <a:path h="2834640" w="21762720">
                  <a:moveTo>
                    <a:pt x="0" y="182880"/>
                  </a:moveTo>
                  <a:cubicBezTo>
                    <a:pt x="0" y="81915"/>
                    <a:pt x="81915" y="0"/>
                    <a:pt x="182880" y="0"/>
                  </a:cubicBezTo>
                  <a:lnTo>
                    <a:pt x="21579839" y="0"/>
                  </a:lnTo>
                  <a:cubicBezTo>
                    <a:pt x="21680804" y="0"/>
                    <a:pt x="21762720" y="81915"/>
                    <a:pt x="21762720" y="182880"/>
                  </a:cubicBezTo>
                  <a:lnTo>
                    <a:pt x="21762720" y="2651760"/>
                  </a:lnTo>
                  <a:cubicBezTo>
                    <a:pt x="21762720" y="2752725"/>
                    <a:pt x="21680804" y="2834640"/>
                    <a:pt x="21579839" y="2834640"/>
                  </a:cubicBezTo>
                  <a:lnTo>
                    <a:pt x="182880" y="2834640"/>
                  </a:lnTo>
                  <a:cubicBezTo>
                    <a:pt x="81915" y="2834640"/>
                    <a:pt x="0" y="2752725"/>
                    <a:pt x="0" y="2651760"/>
                  </a:cubicBezTo>
                  <a:close/>
                </a:path>
              </a:pathLst>
            </a:custGeom>
            <a:solidFill>
              <a:srgbClr val="F4F7FC"/>
            </a:solidFill>
          </p:spPr>
        </p:sp>
      </p:grpSp>
      <p:grpSp>
        <p:nvGrpSpPr>
          <p:cNvPr name="Group 13" id="13"/>
          <p:cNvGrpSpPr/>
          <p:nvPr/>
        </p:nvGrpSpPr>
        <p:grpSpPr>
          <a:xfrm rot="0">
            <a:off x="1371600" y="2441448"/>
            <a:ext cx="15499080" cy="1645920"/>
            <a:chOff x="0" y="0"/>
            <a:chExt cx="20665440" cy="2194560"/>
          </a:xfrm>
        </p:grpSpPr>
        <p:sp>
          <p:nvSpPr>
            <p:cNvPr name="Freeform 14" id="14"/>
            <p:cNvSpPr/>
            <p:nvPr/>
          </p:nvSpPr>
          <p:spPr>
            <a:xfrm flipH="false" flipV="false" rot="0">
              <a:off x="0" y="0"/>
              <a:ext cx="20665439" cy="2194560"/>
            </a:xfrm>
            <a:custGeom>
              <a:avLst/>
              <a:gdLst/>
              <a:ahLst/>
              <a:cxnLst/>
              <a:rect r="r" b="b" t="t" l="l"/>
              <a:pathLst>
                <a:path h="2194560" w="20665439">
                  <a:moveTo>
                    <a:pt x="0" y="0"/>
                  </a:moveTo>
                  <a:lnTo>
                    <a:pt x="20665439" y="0"/>
                  </a:lnTo>
                  <a:lnTo>
                    <a:pt x="20665439" y="2194560"/>
                  </a:lnTo>
                  <a:lnTo>
                    <a:pt x="0" y="2194560"/>
                  </a:lnTo>
                  <a:close/>
                </a:path>
              </a:pathLst>
            </a:custGeom>
            <a:blipFill>
              <a:blip r:embed="rId3">
                <a:alphaModFix amt="0"/>
              </a:blip>
              <a:stretch>
                <a:fillRect l="0" t="-133484" r="0" b="-133484"/>
              </a:stretch>
            </a:blipFill>
          </p:spPr>
        </p:sp>
        <p:sp>
          <p:nvSpPr>
            <p:cNvPr name="TextBox 15" id="15"/>
            <p:cNvSpPr txBox="true"/>
            <p:nvPr/>
          </p:nvSpPr>
          <p:spPr>
            <a:xfrm>
              <a:off x="0" y="-85725"/>
              <a:ext cx="20665440" cy="2280285"/>
            </a:xfrm>
            <a:prstGeom prst="rect">
              <a:avLst/>
            </a:prstGeom>
          </p:spPr>
          <p:txBody>
            <a:bodyPr anchor="ctr" rtlCol="false" tIns="0" lIns="0" bIns="0" rIns="0"/>
            <a:lstStyle/>
            <a:p>
              <a:pPr algn="l">
                <a:lnSpc>
                  <a:spcPts val="3600"/>
                </a:lnSpc>
              </a:pPr>
              <a:r>
                <a:rPr lang="en-US" sz="2400" i="true">
                  <a:solidFill>
                    <a:srgbClr val="23262F"/>
                  </a:solidFill>
                  <a:latin typeface="Cambria Italics"/>
                  <a:ea typeface="Cambria Italics"/>
                  <a:cs typeface="Cambria Italics"/>
                  <a:sym typeface="Cambria Italics"/>
                </a:rPr>
                <a:t>“PhilHealth eligibility records sit in a shared office drive that every provincial employee can open, including staff who have no reason to see them.”</a:t>
              </a:r>
            </a:p>
          </p:txBody>
        </p:sp>
      </p:grpSp>
      <p:grpSp>
        <p:nvGrpSpPr>
          <p:cNvPr name="Group 16" id="16"/>
          <p:cNvGrpSpPr/>
          <p:nvPr/>
        </p:nvGrpSpPr>
        <p:grpSpPr>
          <a:xfrm rot="0">
            <a:off x="960120" y="4594860"/>
            <a:ext cx="16322040" cy="685800"/>
            <a:chOff x="0" y="0"/>
            <a:chExt cx="21762720" cy="914400"/>
          </a:xfrm>
        </p:grpSpPr>
        <p:sp>
          <p:nvSpPr>
            <p:cNvPr name="Freeform 17" id="17"/>
            <p:cNvSpPr/>
            <p:nvPr/>
          </p:nvSpPr>
          <p:spPr>
            <a:xfrm flipH="false" flipV="false" rot="0">
              <a:off x="0" y="0"/>
              <a:ext cx="21762720" cy="914400"/>
            </a:xfrm>
            <a:custGeom>
              <a:avLst/>
              <a:gdLst/>
              <a:ahLst/>
              <a:cxnLst/>
              <a:rect r="r" b="b" t="t" l="l"/>
              <a:pathLst>
                <a:path h="914400" w="21762720">
                  <a:moveTo>
                    <a:pt x="0" y="0"/>
                  </a:moveTo>
                  <a:lnTo>
                    <a:pt x="21762720" y="0"/>
                  </a:lnTo>
                  <a:lnTo>
                    <a:pt x="21762720" y="914400"/>
                  </a:lnTo>
                  <a:lnTo>
                    <a:pt x="0" y="914400"/>
                  </a:lnTo>
                  <a:close/>
                </a:path>
              </a:pathLst>
            </a:custGeom>
            <a:blipFill>
              <a:blip r:embed="rId3">
                <a:alphaModFix amt="0"/>
              </a:blip>
              <a:stretch>
                <a:fillRect l="0" t="-413743" r="0" b="-413743"/>
              </a:stretch>
            </a:blipFill>
          </p:spPr>
        </p:sp>
        <p:sp>
          <p:nvSpPr>
            <p:cNvPr name="TextBox 18" id="18"/>
            <p:cNvSpPr txBox="true"/>
            <p:nvPr/>
          </p:nvSpPr>
          <p:spPr>
            <a:xfrm>
              <a:off x="0" y="-47625"/>
              <a:ext cx="21762720" cy="962025"/>
            </a:xfrm>
            <a:prstGeom prst="rect">
              <a:avLst/>
            </a:prstGeom>
          </p:spPr>
          <p:txBody>
            <a:bodyPr anchor="ctr" rtlCol="false" tIns="0" lIns="0" bIns="0" rIns="0"/>
            <a:lstStyle/>
            <a:p>
              <a:pPr algn="ctr">
                <a:lnSpc>
                  <a:spcPts val="2520"/>
                </a:lnSpc>
              </a:pPr>
              <a:r>
                <a:rPr lang="en-US" sz="2100" i="true">
                  <a:solidFill>
                    <a:srgbClr val="6B7280"/>
                  </a:solidFill>
                  <a:latin typeface="Calibri (MS) Italics"/>
                  <a:ea typeface="Calibri (MS) Italics"/>
                  <a:cs typeface="Calibri (MS) Italics"/>
                  <a:sym typeface="Calibri (MS) Italics"/>
                </a:rPr>
                <a:t>Rate the likelihood, rate the impact, then pick a response. Discuss, then we'll reveal the answer.</a:t>
              </a:r>
            </a:p>
          </p:txBody>
        </p:sp>
      </p:grpSp>
      <p:grpSp>
        <p:nvGrpSpPr>
          <p:cNvPr name="Group 19" id="19"/>
          <p:cNvGrpSpPr/>
          <p:nvPr/>
        </p:nvGrpSpPr>
        <p:grpSpPr>
          <a:xfrm rot="0">
            <a:off x="960120" y="5486400"/>
            <a:ext cx="16322040" cy="384048"/>
            <a:chOff x="0" y="0"/>
            <a:chExt cx="21762720" cy="512064"/>
          </a:xfrm>
        </p:grpSpPr>
        <p:sp>
          <p:nvSpPr>
            <p:cNvPr name="Freeform 20" id="20"/>
            <p:cNvSpPr/>
            <p:nvPr/>
          </p:nvSpPr>
          <p:spPr>
            <a:xfrm flipH="false" flipV="false" rot="0">
              <a:off x="0" y="0"/>
              <a:ext cx="21762720" cy="512064"/>
            </a:xfrm>
            <a:custGeom>
              <a:avLst/>
              <a:gdLst/>
              <a:ahLst/>
              <a:cxnLst/>
              <a:rect r="r" b="b" t="t" l="l"/>
              <a:pathLst>
                <a:path h="512064" w="21762720">
                  <a:moveTo>
                    <a:pt x="0" y="0"/>
                  </a:moveTo>
                  <a:lnTo>
                    <a:pt x="21762720" y="0"/>
                  </a:lnTo>
                  <a:lnTo>
                    <a:pt x="21762720" y="512064"/>
                  </a:lnTo>
                  <a:lnTo>
                    <a:pt x="0" y="512064"/>
                  </a:lnTo>
                  <a:close/>
                </a:path>
              </a:pathLst>
            </a:custGeom>
            <a:blipFill>
              <a:blip r:embed="rId3">
                <a:alphaModFix amt="0"/>
              </a:blip>
              <a:stretch>
                <a:fillRect l="0" t="-778114" r="0" b="-778114"/>
              </a:stretch>
            </a:blipFill>
          </p:spPr>
        </p:sp>
        <p:sp>
          <p:nvSpPr>
            <p:cNvPr name="TextBox 21" id="21"/>
            <p:cNvSpPr txBox="true"/>
            <p:nvPr/>
          </p:nvSpPr>
          <p:spPr>
            <a:xfrm>
              <a:off x="0" y="-19050"/>
              <a:ext cx="21762720" cy="531114"/>
            </a:xfrm>
            <a:prstGeom prst="rect">
              <a:avLst/>
            </a:prstGeom>
          </p:spPr>
          <p:txBody>
            <a:bodyPr anchor="ctr" rtlCol="false" tIns="0" lIns="0" bIns="0" rIns="0"/>
            <a:lstStyle/>
            <a:p>
              <a:pPr algn="ctr">
                <a:lnSpc>
                  <a:spcPts val="1889"/>
                </a:lnSpc>
              </a:pPr>
              <a:r>
                <a:rPr lang="en-US" b="true" sz="1575" spc="74">
                  <a:solidFill>
                    <a:srgbClr val="6B7280"/>
                  </a:solidFill>
                  <a:latin typeface="Calibri (MS) Bold"/>
                  <a:ea typeface="Calibri (MS) Bold"/>
                  <a:cs typeface="Calibri (MS) Bold"/>
                  <a:sym typeface="Calibri (MS) Bold"/>
                </a:rPr>
                <a:t>SCALE FOR LIKELIHOOD &amp; IMPACT</a:t>
              </a:r>
            </a:p>
          </p:txBody>
        </p:sp>
      </p:grpSp>
      <p:grpSp>
        <p:nvGrpSpPr>
          <p:cNvPr name="Group 22" id="22"/>
          <p:cNvGrpSpPr/>
          <p:nvPr/>
        </p:nvGrpSpPr>
        <p:grpSpPr>
          <a:xfrm rot="0">
            <a:off x="3371469" y="5915787"/>
            <a:ext cx="3585210" cy="773430"/>
            <a:chOff x="0" y="0"/>
            <a:chExt cx="4780280" cy="1031240"/>
          </a:xfrm>
        </p:grpSpPr>
        <p:sp>
          <p:nvSpPr>
            <p:cNvPr name="Freeform 23" id="23"/>
            <p:cNvSpPr/>
            <p:nvPr/>
          </p:nvSpPr>
          <p:spPr>
            <a:xfrm flipH="false" flipV="false" rot="0">
              <a:off x="0" y="0"/>
              <a:ext cx="4780280" cy="1031240"/>
            </a:xfrm>
            <a:custGeom>
              <a:avLst/>
              <a:gdLst/>
              <a:ahLst/>
              <a:cxnLst/>
              <a:rect r="r" b="b" t="t" l="l"/>
              <a:pathLst>
                <a:path h="1031240" w="4780280">
                  <a:moveTo>
                    <a:pt x="0" y="168783"/>
                  </a:moveTo>
                  <a:cubicBezTo>
                    <a:pt x="0" y="75565"/>
                    <a:pt x="75565" y="0"/>
                    <a:pt x="168783" y="0"/>
                  </a:cubicBezTo>
                  <a:lnTo>
                    <a:pt x="4611497" y="0"/>
                  </a:lnTo>
                  <a:cubicBezTo>
                    <a:pt x="4704715" y="0"/>
                    <a:pt x="4780280" y="75565"/>
                    <a:pt x="4780280" y="168783"/>
                  </a:cubicBezTo>
                  <a:lnTo>
                    <a:pt x="4780280" y="862457"/>
                  </a:lnTo>
                  <a:cubicBezTo>
                    <a:pt x="4780280" y="955675"/>
                    <a:pt x="4704715" y="1031240"/>
                    <a:pt x="4611497" y="1031240"/>
                  </a:cubicBezTo>
                  <a:lnTo>
                    <a:pt x="168783" y="1031240"/>
                  </a:lnTo>
                  <a:cubicBezTo>
                    <a:pt x="75565" y="1031240"/>
                    <a:pt x="0" y="955675"/>
                    <a:pt x="0" y="862457"/>
                  </a:cubicBezTo>
                  <a:close/>
                </a:path>
              </a:pathLst>
            </a:custGeom>
            <a:solidFill>
              <a:srgbClr val="F4F7FC"/>
            </a:solidFill>
            <a:ln w="19050" cap="sq">
              <a:solidFill>
                <a:srgbClr val="D7DCEC"/>
              </a:solidFill>
              <a:prstDash val="solid"/>
              <a:miter/>
            </a:ln>
          </p:spPr>
        </p:sp>
      </p:grpSp>
      <p:grpSp>
        <p:nvGrpSpPr>
          <p:cNvPr name="Group 24" id="24"/>
          <p:cNvGrpSpPr/>
          <p:nvPr/>
        </p:nvGrpSpPr>
        <p:grpSpPr>
          <a:xfrm rot="0">
            <a:off x="3380994" y="5925312"/>
            <a:ext cx="3566160" cy="754380"/>
            <a:chOff x="0" y="0"/>
            <a:chExt cx="4754880" cy="1005840"/>
          </a:xfrm>
        </p:grpSpPr>
        <p:sp>
          <p:nvSpPr>
            <p:cNvPr name="Freeform 25" id="25"/>
            <p:cNvSpPr/>
            <p:nvPr/>
          </p:nvSpPr>
          <p:spPr>
            <a:xfrm flipH="false" flipV="false" rot="0">
              <a:off x="0" y="0"/>
              <a:ext cx="4754880" cy="1005840"/>
            </a:xfrm>
            <a:custGeom>
              <a:avLst/>
              <a:gdLst/>
              <a:ahLst/>
              <a:cxnLst/>
              <a:rect r="r" b="b" t="t" l="l"/>
              <a:pathLst>
                <a:path h="1005840" w="4754880">
                  <a:moveTo>
                    <a:pt x="0" y="0"/>
                  </a:moveTo>
                  <a:lnTo>
                    <a:pt x="4754880" y="0"/>
                  </a:lnTo>
                  <a:lnTo>
                    <a:pt x="4754880" y="1005840"/>
                  </a:lnTo>
                  <a:lnTo>
                    <a:pt x="0" y="1005840"/>
                  </a:lnTo>
                  <a:close/>
                </a:path>
              </a:pathLst>
            </a:custGeom>
            <a:blipFill>
              <a:blip r:embed="rId3">
                <a:alphaModFix amt="0"/>
              </a:blip>
              <a:stretch>
                <a:fillRect l="0" t="-42111" r="0" b="-42111"/>
              </a:stretch>
            </a:blipFill>
          </p:spPr>
        </p:sp>
        <p:sp>
          <p:nvSpPr>
            <p:cNvPr name="TextBox 26" id="26"/>
            <p:cNvSpPr txBox="true"/>
            <p:nvPr/>
          </p:nvSpPr>
          <p:spPr>
            <a:xfrm>
              <a:off x="0" y="-47625"/>
              <a:ext cx="4754880" cy="1053465"/>
            </a:xfrm>
            <a:prstGeom prst="rect">
              <a:avLst/>
            </a:prstGeom>
          </p:spPr>
          <p:txBody>
            <a:bodyPr anchor="ctr" rtlCol="false" tIns="0" lIns="0" bIns="0" rIns="0"/>
            <a:lstStyle/>
            <a:p>
              <a:pPr algn="ctr">
                <a:lnSpc>
                  <a:spcPts val="2340"/>
                </a:lnSpc>
              </a:pPr>
              <a:r>
                <a:rPr lang="en-US" sz="1950">
                  <a:solidFill>
                    <a:srgbClr val="6B7280"/>
                  </a:solidFill>
                  <a:latin typeface="Calibri (MS)"/>
                  <a:ea typeface="Calibri (MS)"/>
                  <a:cs typeface="Calibri (MS)"/>
                  <a:sym typeface="Calibri (MS)"/>
                </a:rPr>
                <a:t>Low</a:t>
              </a:r>
            </a:p>
          </p:txBody>
        </p:sp>
      </p:grpSp>
      <p:grpSp>
        <p:nvGrpSpPr>
          <p:cNvPr name="Group 27" id="27"/>
          <p:cNvGrpSpPr/>
          <p:nvPr/>
        </p:nvGrpSpPr>
        <p:grpSpPr>
          <a:xfrm rot="0">
            <a:off x="7349109" y="5915787"/>
            <a:ext cx="3585210" cy="773430"/>
            <a:chOff x="0" y="0"/>
            <a:chExt cx="4780280" cy="1031240"/>
          </a:xfrm>
        </p:grpSpPr>
        <p:sp>
          <p:nvSpPr>
            <p:cNvPr name="Freeform 28" id="28"/>
            <p:cNvSpPr/>
            <p:nvPr/>
          </p:nvSpPr>
          <p:spPr>
            <a:xfrm flipH="false" flipV="false" rot="0">
              <a:off x="0" y="0"/>
              <a:ext cx="4780280" cy="1031240"/>
            </a:xfrm>
            <a:custGeom>
              <a:avLst/>
              <a:gdLst/>
              <a:ahLst/>
              <a:cxnLst/>
              <a:rect r="r" b="b" t="t" l="l"/>
              <a:pathLst>
                <a:path h="1031240" w="4780280">
                  <a:moveTo>
                    <a:pt x="0" y="168783"/>
                  </a:moveTo>
                  <a:cubicBezTo>
                    <a:pt x="0" y="75565"/>
                    <a:pt x="75565" y="0"/>
                    <a:pt x="168783" y="0"/>
                  </a:cubicBezTo>
                  <a:lnTo>
                    <a:pt x="4611497" y="0"/>
                  </a:lnTo>
                  <a:cubicBezTo>
                    <a:pt x="4704715" y="0"/>
                    <a:pt x="4780280" y="75565"/>
                    <a:pt x="4780280" y="168783"/>
                  </a:cubicBezTo>
                  <a:lnTo>
                    <a:pt x="4780280" y="862457"/>
                  </a:lnTo>
                  <a:cubicBezTo>
                    <a:pt x="4780280" y="955675"/>
                    <a:pt x="4704715" y="1031240"/>
                    <a:pt x="4611497" y="1031240"/>
                  </a:cubicBezTo>
                  <a:lnTo>
                    <a:pt x="168783" y="1031240"/>
                  </a:lnTo>
                  <a:cubicBezTo>
                    <a:pt x="75565" y="1031240"/>
                    <a:pt x="0" y="955675"/>
                    <a:pt x="0" y="862457"/>
                  </a:cubicBezTo>
                  <a:close/>
                </a:path>
              </a:pathLst>
            </a:custGeom>
            <a:solidFill>
              <a:srgbClr val="F4F7FC"/>
            </a:solidFill>
            <a:ln w="19050" cap="sq">
              <a:solidFill>
                <a:srgbClr val="D7DCEC"/>
              </a:solidFill>
              <a:prstDash val="solid"/>
              <a:miter/>
            </a:ln>
          </p:spPr>
        </p:sp>
      </p:grpSp>
      <p:grpSp>
        <p:nvGrpSpPr>
          <p:cNvPr name="Group 29" id="29"/>
          <p:cNvGrpSpPr/>
          <p:nvPr/>
        </p:nvGrpSpPr>
        <p:grpSpPr>
          <a:xfrm rot="0">
            <a:off x="7358634" y="5925312"/>
            <a:ext cx="3566160" cy="754380"/>
            <a:chOff x="0" y="0"/>
            <a:chExt cx="4754880" cy="1005840"/>
          </a:xfrm>
        </p:grpSpPr>
        <p:sp>
          <p:nvSpPr>
            <p:cNvPr name="Freeform 30" id="30"/>
            <p:cNvSpPr/>
            <p:nvPr/>
          </p:nvSpPr>
          <p:spPr>
            <a:xfrm flipH="false" flipV="false" rot="0">
              <a:off x="0" y="0"/>
              <a:ext cx="4754880" cy="1005840"/>
            </a:xfrm>
            <a:custGeom>
              <a:avLst/>
              <a:gdLst/>
              <a:ahLst/>
              <a:cxnLst/>
              <a:rect r="r" b="b" t="t" l="l"/>
              <a:pathLst>
                <a:path h="1005840" w="4754880">
                  <a:moveTo>
                    <a:pt x="0" y="0"/>
                  </a:moveTo>
                  <a:lnTo>
                    <a:pt x="4754880" y="0"/>
                  </a:lnTo>
                  <a:lnTo>
                    <a:pt x="4754880" y="1005840"/>
                  </a:lnTo>
                  <a:lnTo>
                    <a:pt x="0" y="1005840"/>
                  </a:lnTo>
                  <a:close/>
                </a:path>
              </a:pathLst>
            </a:custGeom>
            <a:blipFill>
              <a:blip r:embed="rId3">
                <a:alphaModFix amt="0"/>
              </a:blip>
              <a:stretch>
                <a:fillRect l="0" t="-42111" r="0" b="-42111"/>
              </a:stretch>
            </a:blipFill>
          </p:spPr>
        </p:sp>
        <p:sp>
          <p:nvSpPr>
            <p:cNvPr name="TextBox 31" id="31"/>
            <p:cNvSpPr txBox="true"/>
            <p:nvPr/>
          </p:nvSpPr>
          <p:spPr>
            <a:xfrm>
              <a:off x="0" y="-47625"/>
              <a:ext cx="4754880" cy="1053465"/>
            </a:xfrm>
            <a:prstGeom prst="rect">
              <a:avLst/>
            </a:prstGeom>
          </p:spPr>
          <p:txBody>
            <a:bodyPr anchor="ctr" rtlCol="false" tIns="0" lIns="0" bIns="0" rIns="0"/>
            <a:lstStyle/>
            <a:p>
              <a:pPr algn="ctr">
                <a:lnSpc>
                  <a:spcPts val="2340"/>
                </a:lnSpc>
              </a:pPr>
              <a:r>
                <a:rPr lang="en-US" sz="1950">
                  <a:solidFill>
                    <a:srgbClr val="6B7280"/>
                  </a:solidFill>
                  <a:latin typeface="Calibri (MS)"/>
                  <a:ea typeface="Calibri (MS)"/>
                  <a:cs typeface="Calibri (MS)"/>
                  <a:sym typeface="Calibri (MS)"/>
                </a:rPr>
                <a:t>Medium</a:t>
              </a:r>
            </a:p>
          </p:txBody>
        </p:sp>
      </p:grpSp>
      <p:grpSp>
        <p:nvGrpSpPr>
          <p:cNvPr name="Group 32" id="32"/>
          <p:cNvGrpSpPr/>
          <p:nvPr/>
        </p:nvGrpSpPr>
        <p:grpSpPr>
          <a:xfrm rot="0">
            <a:off x="11326749" y="5915787"/>
            <a:ext cx="3585210" cy="773430"/>
            <a:chOff x="0" y="0"/>
            <a:chExt cx="4780280" cy="1031240"/>
          </a:xfrm>
        </p:grpSpPr>
        <p:sp>
          <p:nvSpPr>
            <p:cNvPr name="Freeform 33" id="33"/>
            <p:cNvSpPr/>
            <p:nvPr/>
          </p:nvSpPr>
          <p:spPr>
            <a:xfrm flipH="false" flipV="false" rot="0">
              <a:off x="0" y="0"/>
              <a:ext cx="4780280" cy="1031240"/>
            </a:xfrm>
            <a:custGeom>
              <a:avLst/>
              <a:gdLst/>
              <a:ahLst/>
              <a:cxnLst/>
              <a:rect r="r" b="b" t="t" l="l"/>
              <a:pathLst>
                <a:path h="1031240" w="4780280">
                  <a:moveTo>
                    <a:pt x="0" y="168783"/>
                  </a:moveTo>
                  <a:cubicBezTo>
                    <a:pt x="0" y="75565"/>
                    <a:pt x="75565" y="0"/>
                    <a:pt x="168783" y="0"/>
                  </a:cubicBezTo>
                  <a:lnTo>
                    <a:pt x="4611497" y="0"/>
                  </a:lnTo>
                  <a:cubicBezTo>
                    <a:pt x="4704715" y="0"/>
                    <a:pt x="4780280" y="75565"/>
                    <a:pt x="4780280" y="168783"/>
                  </a:cubicBezTo>
                  <a:lnTo>
                    <a:pt x="4780280" y="862457"/>
                  </a:lnTo>
                  <a:cubicBezTo>
                    <a:pt x="4780280" y="955675"/>
                    <a:pt x="4704715" y="1031240"/>
                    <a:pt x="4611497" y="1031240"/>
                  </a:cubicBezTo>
                  <a:lnTo>
                    <a:pt x="168783" y="1031240"/>
                  </a:lnTo>
                  <a:cubicBezTo>
                    <a:pt x="75565" y="1031240"/>
                    <a:pt x="0" y="955675"/>
                    <a:pt x="0" y="862457"/>
                  </a:cubicBezTo>
                  <a:close/>
                </a:path>
              </a:pathLst>
            </a:custGeom>
            <a:solidFill>
              <a:srgbClr val="F4F7FC"/>
            </a:solidFill>
            <a:ln w="19050" cap="sq">
              <a:solidFill>
                <a:srgbClr val="D7DCEC"/>
              </a:solidFill>
              <a:prstDash val="solid"/>
              <a:miter/>
            </a:ln>
          </p:spPr>
        </p:sp>
      </p:grpSp>
      <p:grpSp>
        <p:nvGrpSpPr>
          <p:cNvPr name="Group 34" id="34"/>
          <p:cNvGrpSpPr/>
          <p:nvPr/>
        </p:nvGrpSpPr>
        <p:grpSpPr>
          <a:xfrm rot="0">
            <a:off x="11336274" y="5925312"/>
            <a:ext cx="3566160" cy="754380"/>
            <a:chOff x="0" y="0"/>
            <a:chExt cx="4754880" cy="1005840"/>
          </a:xfrm>
        </p:grpSpPr>
        <p:sp>
          <p:nvSpPr>
            <p:cNvPr name="Freeform 35" id="35"/>
            <p:cNvSpPr/>
            <p:nvPr/>
          </p:nvSpPr>
          <p:spPr>
            <a:xfrm flipH="false" flipV="false" rot="0">
              <a:off x="0" y="0"/>
              <a:ext cx="4754880" cy="1005840"/>
            </a:xfrm>
            <a:custGeom>
              <a:avLst/>
              <a:gdLst/>
              <a:ahLst/>
              <a:cxnLst/>
              <a:rect r="r" b="b" t="t" l="l"/>
              <a:pathLst>
                <a:path h="1005840" w="4754880">
                  <a:moveTo>
                    <a:pt x="0" y="0"/>
                  </a:moveTo>
                  <a:lnTo>
                    <a:pt x="4754880" y="0"/>
                  </a:lnTo>
                  <a:lnTo>
                    <a:pt x="4754880" y="1005840"/>
                  </a:lnTo>
                  <a:lnTo>
                    <a:pt x="0" y="1005840"/>
                  </a:lnTo>
                  <a:close/>
                </a:path>
              </a:pathLst>
            </a:custGeom>
            <a:blipFill>
              <a:blip r:embed="rId3">
                <a:alphaModFix amt="0"/>
              </a:blip>
              <a:stretch>
                <a:fillRect l="0" t="-42111" r="0" b="-42111"/>
              </a:stretch>
            </a:blipFill>
          </p:spPr>
        </p:sp>
        <p:sp>
          <p:nvSpPr>
            <p:cNvPr name="TextBox 36" id="36"/>
            <p:cNvSpPr txBox="true"/>
            <p:nvPr/>
          </p:nvSpPr>
          <p:spPr>
            <a:xfrm>
              <a:off x="0" y="-47625"/>
              <a:ext cx="4754880" cy="1053465"/>
            </a:xfrm>
            <a:prstGeom prst="rect">
              <a:avLst/>
            </a:prstGeom>
          </p:spPr>
          <p:txBody>
            <a:bodyPr anchor="ctr" rtlCol="false" tIns="0" lIns="0" bIns="0" rIns="0"/>
            <a:lstStyle/>
            <a:p>
              <a:pPr algn="ctr">
                <a:lnSpc>
                  <a:spcPts val="2340"/>
                </a:lnSpc>
              </a:pPr>
              <a:r>
                <a:rPr lang="en-US" sz="1950">
                  <a:solidFill>
                    <a:srgbClr val="6B7280"/>
                  </a:solidFill>
                  <a:latin typeface="Calibri (MS)"/>
                  <a:ea typeface="Calibri (MS)"/>
                  <a:cs typeface="Calibri (MS)"/>
                  <a:sym typeface="Calibri (MS)"/>
                </a:rPr>
                <a:t>High</a:t>
              </a:r>
            </a:p>
          </p:txBody>
        </p:sp>
      </p:grpSp>
      <p:grpSp>
        <p:nvGrpSpPr>
          <p:cNvPr name="Group 37" id="37"/>
          <p:cNvGrpSpPr/>
          <p:nvPr/>
        </p:nvGrpSpPr>
        <p:grpSpPr>
          <a:xfrm rot="0">
            <a:off x="960120" y="7063740"/>
            <a:ext cx="16322040" cy="384048"/>
            <a:chOff x="0" y="0"/>
            <a:chExt cx="21762720" cy="512064"/>
          </a:xfrm>
        </p:grpSpPr>
        <p:sp>
          <p:nvSpPr>
            <p:cNvPr name="Freeform 38" id="38"/>
            <p:cNvSpPr/>
            <p:nvPr/>
          </p:nvSpPr>
          <p:spPr>
            <a:xfrm flipH="false" flipV="false" rot="0">
              <a:off x="0" y="0"/>
              <a:ext cx="21762720" cy="512064"/>
            </a:xfrm>
            <a:custGeom>
              <a:avLst/>
              <a:gdLst/>
              <a:ahLst/>
              <a:cxnLst/>
              <a:rect r="r" b="b" t="t" l="l"/>
              <a:pathLst>
                <a:path h="512064" w="21762720">
                  <a:moveTo>
                    <a:pt x="0" y="0"/>
                  </a:moveTo>
                  <a:lnTo>
                    <a:pt x="21762720" y="0"/>
                  </a:lnTo>
                  <a:lnTo>
                    <a:pt x="21762720" y="512064"/>
                  </a:lnTo>
                  <a:lnTo>
                    <a:pt x="0" y="512064"/>
                  </a:lnTo>
                  <a:close/>
                </a:path>
              </a:pathLst>
            </a:custGeom>
            <a:blipFill>
              <a:blip r:embed="rId3">
                <a:alphaModFix amt="0"/>
              </a:blip>
              <a:stretch>
                <a:fillRect l="0" t="-778114" r="0" b="-778114"/>
              </a:stretch>
            </a:blipFill>
          </p:spPr>
        </p:sp>
        <p:sp>
          <p:nvSpPr>
            <p:cNvPr name="TextBox 39" id="39"/>
            <p:cNvSpPr txBox="true"/>
            <p:nvPr/>
          </p:nvSpPr>
          <p:spPr>
            <a:xfrm>
              <a:off x="0" y="-19050"/>
              <a:ext cx="21762720" cy="531114"/>
            </a:xfrm>
            <a:prstGeom prst="rect">
              <a:avLst/>
            </a:prstGeom>
          </p:spPr>
          <p:txBody>
            <a:bodyPr anchor="ctr" rtlCol="false" tIns="0" lIns="0" bIns="0" rIns="0"/>
            <a:lstStyle/>
            <a:p>
              <a:pPr algn="ctr">
                <a:lnSpc>
                  <a:spcPts val="1889"/>
                </a:lnSpc>
              </a:pPr>
              <a:r>
                <a:rPr lang="en-US" b="true" sz="1575" spc="74">
                  <a:solidFill>
                    <a:srgbClr val="6B7280"/>
                  </a:solidFill>
                  <a:latin typeface="Calibri (MS) Bold"/>
                  <a:ea typeface="Calibri (MS) Bold"/>
                  <a:cs typeface="Calibri (MS) Bold"/>
                  <a:sym typeface="Calibri (MS) Bold"/>
                </a:rPr>
                <a:t>RESPONSE OPTIONS</a:t>
              </a:r>
            </a:p>
          </p:txBody>
        </p:sp>
      </p:grpSp>
      <p:grpSp>
        <p:nvGrpSpPr>
          <p:cNvPr name="Group 40" id="40"/>
          <p:cNvGrpSpPr/>
          <p:nvPr/>
        </p:nvGrpSpPr>
        <p:grpSpPr>
          <a:xfrm rot="0">
            <a:off x="1012317" y="7493127"/>
            <a:ext cx="3790950" cy="773430"/>
            <a:chOff x="0" y="0"/>
            <a:chExt cx="5054600" cy="1031240"/>
          </a:xfrm>
        </p:grpSpPr>
        <p:sp>
          <p:nvSpPr>
            <p:cNvPr name="Freeform 41" id="41"/>
            <p:cNvSpPr/>
            <p:nvPr/>
          </p:nvSpPr>
          <p:spPr>
            <a:xfrm flipH="false" flipV="false" rot="0">
              <a:off x="0" y="0"/>
              <a:ext cx="5054600" cy="1031240"/>
            </a:xfrm>
            <a:custGeom>
              <a:avLst/>
              <a:gdLst/>
              <a:ahLst/>
              <a:cxnLst/>
              <a:rect r="r" b="b" t="t" l="l"/>
              <a:pathLst>
                <a:path h="1031240" w="5054600">
                  <a:moveTo>
                    <a:pt x="0" y="168783"/>
                  </a:moveTo>
                  <a:cubicBezTo>
                    <a:pt x="0" y="75565"/>
                    <a:pt x="75565" y="0"/>
                    <a:pt x="168783" y="0"/>
                  </a:cubicBezTo>
                  <a:lnTo>
                    <a:pt x="4885817" y="0"/>
                  </a:lnTo>
                  <a:cubicBezTo>
                    <a:pt x="4979035" y="0"/>
                    <a:pt x="5054600" y="75565"/>
                    <a:pt x="5054600" y="168783"/>
                  </a:cubicBezTo>
                  <a:lnTo>
                    <a:pt x="5054600" y="862457"/>
                  </a:lnTo>
                  <a:cubicBezTo>
                    <a:pt x="5054600" y="955675"/>
                    <a:pt x="4979035" y="1031240"/>
                    <a:pt x="4885817" y="1031240"/>
                  </a:cubicBezTo>
                  <a:lnTo>
                    <a:pt x="168783" y="1031240"/>
                  </a:lnTo>
                  <a:cubicBezTo>
                    <a:pt x="75565" y="1031240"/>
                    <a:pt x="0" y="955675"/>
                    <a:pt x="0" y="862457"/>
                  </a:cubicBezTo>
                  <a:close/>
                </a:path>
              </a:pathLst>
            </a:custGeom>
            <a:solidFill>
              <a:srgbClr val="F4F7FC"/>
            </a:solidFill>
            <a:ln w="19050" cap="sq">
              <a:solidFill>
                <a:srgbClr val="D7DCEC"/>
              </a:solidFill>
              <a:prstDash val="solid"/>
              <a:miter/>
            </a:ln>
          </p:spPr>
        </p:sp>
      </p:grpSp>
      <p:grpSp>
        <p:nvGrpSpPr>
          <p:cNvPr name="Group 42" id="42"/>
          <p:cNvGrpSpPr/>
          <p:nvPr/>
        </p:nvGrpSpPr>
        <p:grpSpPr>
          <a:xfrm rot="0">
            <a:off x="1021842" y="7502652"/>
            <a:ext cx="3771900" cy="754380"/>
            <a:chOff x="0" y="0"/>
            <a:chExt cx="5029200" cy="1005840"/>
          </a:xfrm>
        </p:grpSpPr>
        <p:sp>
          <p:nvSpPr>
            <p:cNvPr name="Freeform 43" id="43"/>
            <p:cNvSpPr/>
            <p:nvPr/>
          </p:nvSpPr>
          <p:spPr>
            <a:xfrm flipH="false" flipV="false" rot="0">
              <a:off x="0" y="0"/>
              <a:ext cx="5029200" cy="1005840"/>
            </a:xfrm>
            <a:custGeom>
              <a:avLst/>
              <a:gdLst/>
              <a:ahLst/>
              <a:cxnLst/>
              <a:rect r="r" b="b" t="t" l="l"/>
              <a:pathLst>
                <a:path h="1005840" w="5029200">
                  <a:moveTo>
                    <a:pt x="0" y="0"/>
                  </a:moveTo>
                  <a:lnTo>
                    <a:pt x="5029200" y="0"/>
                  </a:lnTo>
                  <a:lnTo>
                    <a:pt x="5029200" y="1005840"/>
                  </a:lnTo>
                  <a:lnTo>
                    <a:pt x="0" y="1005840"/>
                  </a:lnTo>
                  <a:close/>
                </a:path>
              </a:pathLst>
            </a:custGeom>
            <a:blipFill>
              <a:blip r:embed="rId3">
                <a:alphaModFix amt="0"/>
              </a:blip>
              <a:stretch>
                <a:fillRect l="0" t="-47425" r="0" b="-47425"/>
              </a:stretch>
            </a:blipFill>
          </p:spPr>
        </p:sp>
        <p:sp>
          <p:nvSpPr>
            <p:cNvPr name="TextBox 44" id="44"/>
            <p:cNvSpPr txBox="true"/>
            <p:nvPr/>
          </p:nvSpPr>
          <p:spPr>
            <a:xfrm>
              <a:off x="0" y="-47625"/>
              <a:ext cx="5029200" cy="1053465"/>
            </a:xfrm>
            <a:prstGeom prst="rect">
              <a:avLst/>
            </a:prstGeom>
          </p:spPr>
          <p:txBody>
            <a:bodyPr anchor="ctr" rtlCol="false" tIns="0" lIns="0" bIns="0" rIns="0"/>
            <a:lstStyle/>
            <a:p>
              <a:pPr algn="ctr">
                <a:lnSpc>
                  <a:spcPts val="2340"/>
                </a:lnSpc>
              </a:pPr>
              <a:r>
                <a:rPr lang="en-US" sz="1950">
                  <a:solidFill>
                    <a:srgbClr val="6B7280"/>
                  </a:solidFill>
                  <a:latin typeface="Calibri (MS)"/>
                  <a:ea typeface="Calibri (MS)"/>
                  <a:cs typeface="Calibri (MS)"/>
                  <a:sym typeface="Calibri (MS)"/>
                </a:rPr>
                <a:t>Treat</a:t>
              </a:r>
            </a:p>
          </p:txBody>
        </p:sp>
      </p:grpSp>
      <p:grpSp>
        <p:nvGrpSpPr>
          <p:cNvPr name="Group 45" id="45"/>
          <p:cNvGrpSpPr/>
          <p:nvPr/>
        </p:nvGrpSpPr>
        <p:grpSpPr>
          <a:xfrm rot="0">
            <a:off x="5168265" y="7493127"/>
            <a:ext cx="3790950" cy="773430"/>
            <a:chOff x="0" y="0"/>
            <a:chExt cx="5054600" cy="1031240"/>
          </a:xfrm>
        </p:grpSpPr>
        <p:sp>
          <p:nvSpPr>
            <p:cNvPr name="Freeform 46" id="46"/>
            <p:cNvSpPr/>
            <p:nvPr/>
          </p:nvSpPr>
          <p:spPr>
            <a:xfrm flipH="false" flipV="false" rot="0">
              <a:off x="0" y="0"/>
              <a:ext cx="5054600" cy="1031240"/>
            </a:xfrm>
            <a:custGeom>
              <a:avLst/>
              <a:gdLst/>
              <a:ahLst/>
              <a:cxnLst/>
              <a:rect r="r" b="b" t="t" l="l"/>
              <a:pathLst>
                <a:path h="1031240" w="5054600">
                  <a:moveTo>
                    <a:pt x="0" y="168783"/>
                  </a:moveTo>
                  <a:cubicBezTo>
                    <a:pt x="0" y="75565"/>
                    <a:pt x="75565" y="0"/>
                    <a:pt x="168783" y="0"/>
                  </a:cubicBezTo>
                  <a:lnTo>
                    <a:pt x="4885817" y="0"/>
                  </a:lnTo>
                  <a:cubicBezTo>
                    <a:pt x="4979035" y="0"/>
                    <a:pt x="5054600" y="75565"/>
                    <a:pt x="5054600" y="168783"/>
                  </a:cubicBezTo>
                  <a:lnTo>
                    <a:pt x="5054600" y="862457"/>
                  </a:lnTo>
                  <a:cubicBezTo>
                    <a:pt x="5054600" y="955675"/>
                    <a:pt x="4979035" y="1031240"/>
                    <a:pt x="4885817" y="1031240"/>
                  </a:cubicBezTo>
                  <a:lnTo>
                    <a:pt x="168783" y="1031240"/>
                  </a:lnTo>
                  <a:cubicBezTo>
                    <a:pt x="75565" y="1031240"/>
                    <a:pt x="0" y="955675"/>
                    <a:pt x="0" y="862457"/>
                  </a:cubicBezTo>
                  <a:close/>
                </a:path>
              </a:pathLst>
            </a:custGeom>
            <a:solidFill>
              <a:srgbClr val="F4F7FC"/>
            </a:solidFill>
            <a:ln w="19050" cap="sq">
              <a:solidFill>
                <a:srgbClr val="D7DCEC"/>
              </a:solidFill>
              <a:prstDash val="solid"/>
              <a:miter/>
            </a:ln>
          </p:spPr>
        </p:sp>
      </p:grpSp>
      <p:grpSp>
        <p:nvGrpSpPr>
          <p:cNvPr name="Group 47" id="47"/>
          <p:cNvGrpSpPr/>
          <p:nvPr/>
        </p:nvGrpSpPr>
        <p:grpSpPr>
          <a:xfrm rot="0">
            <a:off x="5177790" y="7502652"/>
            <a:ext cx="3771900" cy="754380"/>
            <a:chOff x="0" y="0"/>
            <a:chExt cx="5029200" cy="1005840"/>
          </a:xfrm>
        </p:grpSpPr>
        <p:sp>
          <p:nvSpPr>
            <p:cNvPr name="Freeform 48" id="48"/>
            <p:cNvSpPr/>
            <p:nvPr/>
          </p:nvSpPr>
          <p:spPr>
            <a:xfrm flipH="false" flipV="false" rot="0">
              <a:off x="0" y="0"/>
              <a:ext cx="5029200" cy="1005840"/>
            </a:xfrm>
            <a:custGeom>
              <a:avLst/>
              <a:gdLst/>
              <a:ahLst/>
              <a:cxnLst/>
              <a:rect r="r" b="b" t="t" l="l"/>
              <a:pathLst>
                <a:path h="1005840" w="5029200">
                  <a:moveTo>
                    <a:pt x="0" y="0"/>
                  </a:moveTo>
                  <a:lnTo>
                    <a:pt x="5029200" y="0"/>
                  </a:lnTo>
                  <a:lnTo>
                    <a:pt x="5029200" y="1005840"/>
                  </a:lnTo>
                  <a:lnTo>
                    <a:pt x="0" y="1005840"/>
                  </a:lnTo>
                  <a:close/>
                </a:path>
              </a:pathLst>
            </a:custGeom>
            <a:blipFill>
              <a:blip r:embed="rId3">
                <a:alphaModFix amt="0"/>
              </a:blip>
              <a:stretch>
                <a:fillRect l="0" t="-47425" r="0" b="-47425"/>
              </a:stretch>
            </a:blipFill>
          </p:spPr>
        </p:sp>
        <p:sp>
          <p:nvSpPr>
            <p:cNvPr name="TextBox 49" id="49"/>
            <p:cNvSpPr txBox="true"/>
            <p:nvPr/>
          </p:nvSpPr>
          <p:spPr>
            <a:xfrm>
              <a:off x="0" y="-47625"/>
              <a:ext cx="5029200" cy="1053465"/>
            </a:xfrm>
            <a:prstGeom prst="rect">
              <a:avLst/>
            </a:prstGeom>
          </p:spPr>
          <p:txBody>
            <a:bodyPr anchor="ctr" rtlCol="false" tIns="0" lIns="0" bIns="0" rIns="0"/>
            <a:lstStyle/>
            <a:p>
              <a:pPr algn="ctr">
                <a:lnSpc>
                  <a:spcPts val="2340"/>
                </a:lnSpc>
              </a:pPr>
              <a:r>
                <a:rPr lang="en-US" sz="1950">
                  <a:solidFill>
                    <a:srgbClr val="6B7280"/>
                  </a:solidFill>
                  <a:latin typeface="Calibri (MS)"/>
                  <a:ea typeface="Calibri (MS)"/>
                  <a:cs typeface="Calibri (MS)"/>
                  <a:sym typeface="Calibri (MS)"/>
                </a:rPr>
                <a:t>Transfer</a:t>
              </a:r>
            </a:p>
          </p:txBody>
        </p:sp>
      </p:grpSp>
      <p:grpSp>
        <p:nvGrpSpPr>
          <p:cNvPr name="Group 50" id="50"/>
          <p:cNvGrpSpPr/>
          <p:nvPr/>
        </p:nvGrpSpPr>
        <p:grpSpPr>
          <a:xfrm rot="0">
            <a:off x="9324213" y="7493127"/>
            <a:ext cx="3790950" cy="773430"/>
            <a:chOff x="0" y="0"/>
            <a:chExt cx="5054600" cy="1031240"/>
          </a:xfrm>
        </p:grpSpPr>
        <p:sp>
          <p:nvSpPr>
            <p:cNvPr name="Freeform 51" id="51"/>
            <p:cNvSpPr/>
            <p:nvPr/>
          </p:nvSpPr>
          <p:spPr>
            <a:xfrm flipH="false" flipV="false" rot="0">
              <a:off x="0" y="0"/>
              <a:ext cx="5054600" cy="1031240"/>
            </a:xfrm>
            <a:custGeom>
              <a:avLst/>
              <a:gdLst/>
              <a:ahLst/>
              <a:cxnLst/>
              <a:rect r="r" b="b" t="t" l="l"/>
              <a:pathLst>
                <a:path h="1031240" w="5054600">
                  <a:moveTo>
                    <a:pt x="0" y="168783"/>
                  </a:moveTo>
                  <a:cubicBezTo>
                    <a:pt x="0" y="75565"/>
                    <a:pt x="75565" y="0"/>
                    <a:pt x="168783" y="0"/>
                  </a:cubicBezTo>
                  <a:lnTo>
                    <a:pt x="4885817" y="0"/>
                  </a:lnTo>
                  <a:cubicBezTo>
                    <a:pt x="4979035" y="0"/>
                    <a:pt x="5054600" y="75565"/>
                    <a:pt x="5054600" y="168783"/>
                  </a:cubicBezTo>
                  <a:lnTo>
                    <a:pt x="5054600" y="862457"/>
                  </a:lnTo>
                  <a:cubicBezTo>
                    <a:pt x="5054600" y="955675"/>
                    <a:pt x="4979035" y="1031240"/>
                    <a:pt x="4885817" y="1031240"/>
                  </a:cubicBezTo>
                  <a:lnTo>
                    <a:pt x="168783" y="1031240"/>
                  </a:lnTo>
                  <a:cubicBezTo>
                    <a:pt x="75565" y="1031240"/>
                    <a:pt x="0" y="955675"/>
                    <a:pt x="0" y="862457"/>
                  </a:cubicBezTo>
                  <a:close/>
                </a:path>
              </a:pathLst>
            </a:custGeom>
            <a:solidFill>
              <a:srgbClr val="F4F7FC"/>
            </a:solidFill>
            <a:ln w="19050" cap="sq">
              <a:solidFill>
                <a:srgbClr val="D7DCEC"/>
              </a:solidFill>
              <a:prstDash val="solid"/>
              <a:miter/>
            </a:ln>
          </p:spPr>
        </p:sp>
      </p:grpSp>
      <p:grpSp>
        <p:nvGrpSpPr>
          <p:cNvPr name="Group 52" id="52"/>
          <p:cNvGrpSpPr/>
          <p:nvPr/>
        </p:nvGrpSpPr>
        <p:grpSpPr>
          <a:xfrm rot="0">
            <a:off x="9333738" y="7502652"/>
            <a:ext cx="3771900" cy="754380"/>
            <a:chOff x="0" y="0"/>
            <a:chExt cx="5029200" cy="1005840"/>
          </a:xfrm>
        </p:grpSpPr>
        <p:sp>
          <p:nvSpPr>
            <p:cNvPr name="Freeform 53" id="53"/>
            <p:cNvSpPr/>
            <p:nvPr/>
          </p:nvSpPr>
          <p:spPr>
            <a:xfrm flipH="false" flipV="false" rot="0">
              <a:off x="0" y="0"/>
              <a:ext cx="5029200" cy="1005840"/>
            </a:xfrm>
            <a:custGeom>
              <a:avLst/>
              <a:gdLst/>
              <a:ahLst/>
              <a:cxnLst/>
              <a:rect r="r" b="b" t="t" l="l"/>
              <a:pathLst>
                <a:path h="1005840" w="5029200">
                  <a:moveTo>
                    <a:pt x="0" y="0"/>
                  </a:moveTo>
                  <a:lnTo>
                    <a:pt x="5029200" y="0"/>
                  </a:lnTo>
                  <a:lnTo>
                    <a:pt x="5029200" y="1005840"/>
                  </a:lnTo>
                  <a:lnTo>
                    <a:pt x="0" y="1005840"/>
                  </a:lnTo>
                  <a:close/>
                </a:path>
              </a:pathLst>
            </a:custGeom>
            <a:blipFill>
              <a:blip r:embed="rId3">
                <a:alphaModFix amt="0"/>
              </a:blip>
              <a:stretch>
                <a:fillRect l="0" t="-47425" r="0" b="-47425"/>
              </a:stretch>
            </a:blipFill>
          </p:spPr>
        </p:sp>
        <p:sp>
          <p:nvSpPr>
            <p:cNvPr name="TextBox 54" id="54"/>
            <p:cNvSpPr txBox="true"/>
            <p:nvPr/>
          </p:nvSpPr>
          <p:spPr>
            <a:xfrm>
              <a:off x="0" y="-47625"/>
              <a:ext cx="5029200" cy="1053465"/>
            </a:xfrm>
            <a:prstGeom prst="rect">
              <a:avLst/>
            </a:prstGeom>
          </p:spPr>
          <p:txBody>
            <a:bodyPr anchor="ctr" rtlCol="false" tIns="0" lIns="0" bIns="0" rIns="0"/>
            <a:lstStyle/>
            <a:p>
              <a:pPr algn="ctr">
                <a:lnSpc>
                  <a:spcPts val="2340"/>
                </a:lnSpc>
              </a:pPr>
              <a:r>
                <a:rPr lang="en-US" sz="1950">
                  <a:solidFill>
                    <a:srgbClr val="6B7280"/>
                  </a:solidFill>
                  <a:latin typeface="Calibri (MS)"/>
                  <a:ea typeface="Calibri (MS)"/>
                  <a:cs typeface="Calibri (MS)"/>
                  <a:sym typeface="Calibri (MS)"/>
                </a:rPr>
                <a:t>Tolerate</a:t>
              </a:r>
            </a:p>
          </p:txBody>
        </p:sp>
      </p:grpSp>
      <p:grpSp>
        <p:nvGrpSpPr>
          <p:cNvPr name="Group 55" id="55"/>
          <p:cNvGrpSpPr/>
          <p:nvPr/>
        </p:nvGrpSpPr>
        <p:grpSpPr>
          <a:xfrm rot="0">
            <a:off x="13480161" y="7493127"/>
            <a:ext cx="3790950" cy="773430"/>
            <a:chOff x="0" y="0"/>
            <a:chExt cx="5054600" cy="1031240"/>
          </a:xfrm>
        </p:grpSpPr>
        <p:sp>
          <p:nvSpPr>
            <p:cNvPr name="Freeform 56" id="56"/>
            <p:cNvSpPr/>
            <p:nvPr/>
          </p:nvSpPr>
          <p:spPr>
            <a:xfrm flipH="false" flipV="false" rot="0">
              <a:off x="0" y="0"/>
              <a:ext cx="5054600" cy="1031240"/>
            </a:xfrm>
            <a:custGeom>
              <a:avLst/>
              <a:gdLst/>
              <a:ahLst/>
              <a:cxnLst/>
              <a:rect r="r" b="b" t="t" l="l"/>
              <a:pathLst>
                <a:path h="1031240" w="5054600">
                  <a:moveTo>
                    <a:pt x="0" y="168783"/>
                  </a:moveTo>
                  <a:cubicBezTo>
                    <a:pt x="0" y="75565"/>
                    <a:pt x="75565" y="0"/>
                    <a:pt x="168783" y="0"/>
                  </a:cubicBezTo>
                  <a:lnTo>
                    <a:pt x="4885817" y="0"/>
                  </a:lnTo>
                  <a:cubicBezTo>
                    <a:pt x="4979035" y="0"/>
                    <a:pt x="5054600" y="75565"/>
                    <a:pt x="5054600" y="168783"/>
                  </a:cubicBezTo>
                  <a:lnTo>
                    <a:pt x="5054600" y="862457"/>
                  </a:lnTo>
                  <a:cubicBezTo>
                    <a:pt x="5054600" y="955675"/>
                    <a:pt x="4979035" y="1031240"/>
                    <a:pt x="4885817" y="1031240"/>
                  </a:cubicBezTo>
                  <a:lnTo>
                    <a:pt x="168783" y="1031240"/>
                  </a:lnTo>
                  <a:cubicBezTo>
                    <a:pt x="75565" y="1031240"/>
                    <a:pt x="0" y="955675"/>
                    <a:pt x="0" y="862457"/>
                  </a:cubicBezTo>
                  <a:close/>
                </a:path>
              </a:pathLst>
            </a:custGeom>
            <a:solidFill>
              <a:srgbClr val="F4F7FC"/>
            </a:solidFill>
            <a:ln w="19050" cap="sq">
              <a:solidFill>
                <a:srgbClr val="D7DCEC"/>
              </a:solidFill>
              <a:prstDash val="solid"/>
              <a:miter/>
            </a:ln>
          </p:spPr>
        </p:sp>
      </p:grpSp>
      <p:grpSp>
        <p:nvGrpSpPr>
          <p:cNvPr name="Group 57" id="57"/>
          <p:cNvGrpSpPr/>
          <p:nvPr/>
        </p:nvGrpSpPr>
        <p:grpSpPr>
          <a:xfrm rot="0">
            <a:off x="13489686" y="7502652"/>
            <a:ext cx="3771900" cy="754380"/>
            <a:chOff x="0" y="0"/>
            <a:chExt cx="5029200" cy="1005840"/>
          </a:xfrm>
        </p:grpSpPr>
        <p:sp>
          <p:nvSpPr>
            <p:cNvPr name="Freeform 58" id="58"/>
            <p:cNvSpPr/>
            <p:nvPr/>
          </p:nvSpPr>
          <p:spPr>
            <a:xfrm flipH="false" flipV="false" rot="0">
              <a:off x="0" y="0"/>
              <a:ext cx="5029200" cy="1005840"/>
            </a:xfrm>
            <a:custGeom>
              <a:avLst/>
              <a:gdLst/>
              <a:ahLst/>
              <a:cxnLst/>
              <a:rect r="r" b="b" t="t" l="l"/>
              <a:pathLst>
                <a:path h="1005840" w="5029200">
                  <a:moveTo>
                    <a:pt x="0" y="0"/>
                  </a:moveTo>
                  <a:lnTo>
                    <a:pt x="5029200" y="0"/>
                  </a:lnTo>
                  <a:lnTo>
                    <a:pt x="5029200" y="1005840"/>
                  </a:lnTo>
                  <a:lnTo>
                    <a:pt x="0" y="1005840"/>
                  </a:lnTo>
                  <a:close/>
                </a:path>
              </a:pathLst>
            </a:custGeom>
            <a:blipFill>
              <a:blip r:embed="rId3">
                <a:alphaModFix amt="0"/>
              </a:blip>
              <a:stretch>
                <a:fillRect l="0" t="-47425" r="0" b="-47425"/>
              </a:stretch>
            </a:blipFill>
          </p:spPr>
        </p:sp>
        <p:sp>
          <p:nvSpPr>
            <p:cNvPr name="TextBox 59" id="59"/>
            <p:cNvSpPr txBox="true"/>
            <p:nvPr/>
          </p:nvSpPr>
          <p:spPr>
            <a:xfrm>
              <a:off x="0" y="-47625"/>
              <a:ext cx="5029200" cy="1053465"/>
            </a:xfrm>
            <a:prstGeom prst="rect">
              <a:avLst/>
            </a:prstGeom>
          </p:spPr>
          <p:txBody>
            <a:bodyPr anchor="ctr" rtlCol="false" tIns="0" lIns="0" bIns="0" rIns="0"/>
            <a:lstStyle/>
            <a:p>
              <a:pPr algn="ctr">
                <a:lnSpc>
                  <a:spcPts val="2340"/>
                </a:lnSpc>
              </a:pPr>
              <a:r>
                <a:rPr lang="en-US" sz="1950">
                  <a:solidFill>
                    <a:srgbClr val="6B7280"/>
                  </a:solidFill>
                  <a:latin typeface="Calibri (MS)"/>
                  <a:ea typeface="Calibri (MS)"/>
                  <a:cs typeface="Calibri (MS)"/>
                  <a:sym typeface="Calibri (MS)"/>
                </a:rPr>
                <a:t>Terminate</a:t>
              </a:r>
            </a:p>
          </p:txBody>
        </p:sp>
      </p:grpSp>
      <p:grpSp>
        <p:nvGrpSpPr>
          <p:cNvPr name="Group 60" id="60"/>
          <p:cNvGrpSpPr/>
          <p:nvPr/>
        </p:nvGrpSpPr>
        <p:grpSpPr>
          <a:xfrm rot="0">
            <a:off x="685800" y="9710928"/>
            <a:ext cx="10972800" cy="411480"/>
            <a:chOff x="0" y="0"/>
            <a:chExt cx="14630400" cy="548640"/>
          </a:xfrm>
        </p:grpSpPr>
        <p:sp>
          <p:nvSpPr>
            <p:cNvPr name="Freeform 61" id="61"/>
            <p:cNvSpPr/>
            <p:nvPr/>
          </p:nvSpPr>
          <p:spPr>
            <a:xfrm flipH="false" flipV="false" rot="0">
              <a:off x="0" y="0"/>
              <a:ext cx="14630400" cy="548640"/>
            </a:xfrm>
            <a:custGeom>
              <a:avLst/>
              <a:gdLst/>
              <a:ahLst/>
              <a:cxnLst/>
              <a:rect r="r" b="b" t="t" l="l"/>
              <a:pathLst>
                <a:path h="548640" w="14630400">
                  <a:moveTo>
                    <a:pt x="0" y="0"/>
                  </a:moveTo>
                  <a:lnTo>
                    <a:pt x="14630400" y="0"/>
                  </a:lnTo>
                  <a:lnTo>
                    <a:pt x="14630400" y="548640"/>
                  </a:lnTo>
                  <a:lnTo>
                    <a:pt x="0" y="548640"/>
                  </a:lnTo>
                  <a:close/>
                </a:path>
              </a:pathLst>
            </a:custGeom>
            <a:blipFill>
              <a:blip r:embed="rId3">
                <a:alphaModFix amt="0"/>
              </a:blip>
              <a:stretch>
                <a:fillRect l="0" t="-469601" r="0" b="-469601"/>
              </a:stretch>
            </a:blipFill>
          </p:spPr>
        </p:sp>
        <p:sp>
          <p:nvSpPr>
            <p:cNvPr name="TextBox 62" id="62"/>
            <p:cNvSpPr txBox="true"/>
            <p:nvPr/>
          </p:nvSpPr>
          <p:spPr>
            <a:xfrm>
              <a:off x="0" y="-38100"/>
              <a:ext cx="14630400" cy="586740"/>
            </a:xfrm>
            <a:prstGeom prst="rect">
              <a:avLst/>
            </a:prstGeom>
          </p:spPr>
          <p:txBody>
            <a:bodyPr anchor="ctr" rtlCol="false" tIns="0" lIns="0" bIns="0" rIns="0"/>
            <a:lstStyle/>
            <a:p>
              <a:pPr algn="l">
                <a:lnSpc>
                  <a:spcPts val="1800"/>
                </a:lnSpc>
              </a:pPr>
              <a:r>
                <a:rPr lang="en-US" sz="1500">
                  <a:solidFill>
                    <a:srgbClr val="6B7280"/>
                  </a:solidFill>
                  <a:latin typeface="Calibri (MS)"/>
                  <a:ea typeface="Calibri (MS)"/>
                  <a:cs typeface="Calibri (MS)"/>
                  <a:sym typeface="Calibri (MS)"/>
                </a:rPr>
                <a:t>Davao del Norte Provincial Government — Cybersecurity Seminar</a:t>
              </a:r>
            </a:p>
          </p:txBody>
        </p:sp>
      </p:grpSp>
      <p:grpSp>
        <p:nvGrpSpPr>
          <p:cNvPr name="Group 63" id="63"/>
          <p:cNvGrpSpPr/>
          <p:nvPr/>
        </p:nvGrpSpPr>
        <p:grpSpPr>
          <a:xfrm rot="0">
            <a:off x="16911828" y="9710928"/>
            <a:ext cx="685800" cy="411480"/>
            <a:chOff x="0" y="0"/>
            <a:chExt cx="914400" cy="548640"/>
          </a:xfrm>
        </p:grpSpPr>
        <p:sp>
          <p:nvSpPr>
            <p:cNvPr name="Freeform 64" id="64"/>
            <p:cNvSpPr/>
            <p:nvPr/>
          </p:nvSpPr>
          <p:spPr>
            <a:xfrm flipH="false" flipV="false" rot="0">
              <a:off x="0" y="0"/>
              <a:ext cx="914400" cy="548640"/>
            </a:xfrm>
            <a:custGeom>
              <a:avLst/>
              <a:gdLst/>
              <a:ahLst/>
              <a:cxnLst/>
              <a:rect r="r" b="b" t="t" l="l"/>
              <a:pathLst>
                <a:path h="548640" w="914400">
                  <a:moveTo>
                    <a:pt x="0" y="0"/>
                  </a:moveTo>
                  <a:lnTo>
                    <a:pt x="914400" y="0"/>
                  </a:lnTo>
                  <a:lnTo>
                    <a:pt x="914400" y="548640"/>
                  </a:lnTo>
                  <a:lnTo>
                    <a:pt x="0" y="548640"/>
                  </a:lnTo>
                  <a:close/>
                </a:path>
              </a:pathLst>
            </a:custGeom>
            <a:blipFill>
              <a:blip r:embed="rId3">
                <a:alphaModFix amt="0"/>
              </a:blip>
              <a:stretch>
                <a:fillRect l="-26982" t="0" r="-26982" b="0"/>
              </a:stretch>
            </a:blipFill>
          </p:spPr>
        </p:sp>
        <p:sp>
          <p:nvSpPr>
            <p:cNvPr name="TextBox 65" id="65"/>
            <p:cNvSpPr txBox="true"/>
            <p:nvPr/>
          </p:nvSpPr>
          <p:spPr>
            <a:xfrm>
              <a:off x="0" y="-38100"/>
              <a:ext cx="914400" cy="586740"/>
            </a:xfrm>
            <a:prstGeom prst="rect">
              <a:avLst/>
            </a:prstGeom>
          </p:spPr>
          <p:txBody>
            <a:bodyPr anchor="ctr" rtlCol="false" tIns="0" lIns="0" bIns="0" rIns="0"/>
            <a:lstStyle/>
            <a:p>
              <a:pPr algn="r">
                <a:lnSpc>
                  <a:spcPts val="1800"/>
                </a:lnSpc>
              </a:pPr>
              <a:r>
                <a:rPr lang="en-US" sz="1500">
                  <a:solidFill>
                    <a:srgbClr val="6B7280"/>
                  </a:solidFill>
                  <a:latin typeface="Calibri (MS)"/>
                  <a:ea typeface="Calibri (MS)"/>
                  <a:cs typeface="Calibri (MS)"/>
                  <a:sym typeface="Calibri (MS)"/>
                </a:rPr>
                <a:t>19</a:t>
              </a:r>
            </a:p>
          </p:txBody>
        </p:sp>
      </p:gr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60120" y="576072"/>
            <a:ext cx="13716000" cy="411480"/>
            <a:chOff x="0" y="0"/>
            <a:chExt cx="18288000" cy="548640"/>
          </a:xfrm>
        </p:grpSpPr>
        <p:sp>
          <p:nvSpPr>
            <p:cNvPr name="Freeform 3" id="3"/>
            <p:cNvSpPr/>
            <p:nvPr/>
          </p:nvSpPr>
          <p:spPr>
            <a:xfrm flipH="false" flipV="false" rot="0">
              <a:off x="0" y="0"/>
              <a:ext cx="18288000" cy="548640"/>
            </a:xfrm>
            <a:custGeom>
              <a:avLst/>
              <a:gdLst/>
              <a:ahLst/>
              <a:cxnLst/>
              <a:rect r="r" b="b" t="t" l="l"/>
              <a:pathLst>
                <a:path h="548640" w="18288000">
                  <a:moveTo>
                    <a:pt x="0" y="0"/>
                  </a:moveTo>
                  <a:lnTo>
                    <a:pt x="18288000" y="0"/>
                  </a:lnTo>
                  <a:lnTo>
                    <a:pt x="18288000" y="548640"/>
                  </a:lnTo>
                  <a:lnTo>
                    <a:pt x="0" y="548640"/>
                  </a:lnTo>
                  <a:close/>
                </a:path>
              </a:pathLst>
            </a:custGeom>
            <a:blipFill>
              <a:blip r:embed="rId3">
                <a:alphaModFix amt="0"/>
              </a:blip>
              <a:stretch>
                <a:fillRect l="0" t="-599501" r="0" b="-599501"/>
              </a:stretch>
            </a:blipFill>
          </p:spPr>
        </p:sp>
        <p:sp>
          <p:nvSpPr>
            <p:cNvPr name="TextBox 4" id="4"/>
            <p:cNvSpPr txBox="true"/>
            <p:nvPr/>
          </p:nvSpPr>
          <p:spPr>
            <a:xfrm>
              <a:off x="0" y="-38100"/>
              <a:ext cx="18288000" cy="586740"/>
            </a:xfrm>
            <a:prstGeom prst="rect">
              <a:avLst/>
            </a:prstGeom>
          </p:spPr>
          <p:txBody>
            <a:bodyPr anchor="ctr" rtlCol="false" tIns="0" lIns="0" bIns="0" rIns="0"/>
            <a:lstStyle/>
            <a:p>
              <a:pPr algn="l">
                <a:lnSpc>
                  <a:spcPts val="2160"/>
                </a:lnSpc>
              </a:pPr>
              <a:r>
                <a:rPr lang="en-US" b="true" sz="1800" spc="225">
                  <a:solidFill>
                    <a:srgbClr val="00B4D8"/>
                  </a:solidFill>
                  <a:latin typeface="Calibri (MS) Bold"/>
                  <a:ea typeface="Calibri (MS) Bold"/>
                  <a:cs typeface="Calibri (MS) Bold"/>
                  <a:sym typeface="Calibri (MS) Bold"/>
                </a:rPr>
                <a:t>RISK MATRIX SORT · ANSWER</a:t>
              </a:r>
            </a:p>
          </p:txBody>
        </p:sp>
      </p:grpSp>
      <p:grpSp>
        <p:nvGrpSpPr>
          <p:cNvPr name="Group 5" id="5"/>
          <p:cNvGrpSpPr/>
          <p:nvPr/>
        </p:nvGrpSpPr>
        <p:grpSpPr>
          <a:xfrm rot="0">
            <a:off x="960120" y="960120"/>
            <a:ext cx="10972800" cy="754380"/>
            <a:chOff x="0" y="0"/>
            <a:chExt cx="14630400" cy="1005840"/>
          </a:xfrm>
        </p:grpSpPr>
        <p:sp>
          <p:nvSpPr>
            <p:cNvPr name="Freeform 6" id="6"/>
            <p:cNvSpPr/>
            <p:nvPr/>
          </p:nvSpPr>
          <p:spPr>
            <a:xfrm flipH="false" flipV="false" rot="0">
              <a:off x="0" y="0"/>
              <a:ext cx="14630400" cy="1005840"/>
            </a:xfrm>
            <a:custGeom>
              <a:avLst/>
              <a:gdLst/>
              <a:ahLst/>
              <a:cxnLst/>
              <a:rect r="r" b="b" t="t" l="l"/>
              <a:pathLst>
                <a:path h="1005840" w="14630400">
                  <a:moveTo>
                    <a:pt x="0" y="0"/>
                  </a:moveTo>
                  <a:lnTo>
                    <a:pt x="14630400" y="0"/>
                  </a:lnTo>
                  <a:lnTo>
                    <a:pt x="14630400" y="1005840"/>
                  </a:lnTo>
                  <a:lnTo>
                    <a:pt x="0" y="1005840"/>
                  </a:lnTo>
                  <a:close/>
                </a:path>
              </a:pathLst>
            </a:custGeom>
            <a:blipFill>
              <a:blip r:embed="rId3">
                <a:alphaModFix amt="0"/>
              </a:blip>
              <a:stretch>
                <a:fillRect l="0" t="-233418" r="0" b="-233418"/>
              </a:stretch>
            </a:blipFill>
          </p:spPr>
        </p:sp>
        <p:sp>
          <p:nvSpPr>
            <p:cNvPr name="TextBox 7" id="7"/>
            <p:cNvSpPr txBox="true"/>
            <p:nvPr/>
          </p:nvSpPr>
          <p:spPr>
            <a:xfrm>
              <a:off x="0" y="-19050"/>
              <a:ext cx="14630400" cy="1024890"/>
            </a:xfrm>
            <a:prstGeom prst="rect">
              <a:avLst/>
            </a:prstGeom>
          </p:spPr>
          <p:txBody>
            <a:bodyPr anchor="ctr" rtlCol="false" tIns="0" lIns="0" bIns="0" rIns="0"/>
            <a:lstStyle/>
            <a:p>
              <a:pPr algn="l">
                <a:lnSpc>
                  <a:spcPts val="4320"/>
                </a:lnSpc>
              </a:pPr>
              <a:r>
                <a:rPr lang="en-US" sz="3600" b="true">
                  <a:solidFill>
                    <a:srgbClr val="1E2761"/>
                  </a:solidFill>
                  <a:latin typeface="Cambria Bold"/>
                  <a:ea typeface="Cambria Bold"/>
                  <a:cs typeface="Cambria Bold"/>
                  <a:sym typeface="Cambria Bold"/>
                </a:rPr>
                <a:t>Scenario 3 — Answer</a:t>
              </a:r>
            </a:p>
          </p:txBody>
        </p:sp>
      </p:grpSp>
      <p:grpSp>
        <p:nvGrpSpPr>
          <p:cNvPr name="Group 8" id="8"/>
          <p:cNvGrpSpPr/>
          <p:nvPr/>
        </p:nvGrpSpPr>
        <p:grpSpPr>
          <a:xfrm rot="0">
            <a:off x="960120" y="1645920"/>
            <a:ext cx="8229600" cy="411480"/>
            <a:chOff x="0" y="0"/>
            <a:chExt cx="10972800" cy="548640"/>
          </a:xfrm>
        </p:grpSpPr>
        <p:sp>
          <p:nvSpPr>
            <p:cNvPr name="Freeform 9" id="9"/>
            <p:cNvSpPr/>
            <p:nvPr/>
          </p:nvSpPr>
          <p:spPr>
            <a:xfrm flipH="false" flipV="false" rot="0">
              <a:off x="0" y="0"/>
              <a:ext cx="10972800" cy="548640"/>
            </a:xfrm>
            <a:custGeom>
              <a:avLst/>
              <a:gdLst/>
              <a:ahLst/>
              <a:cxnLst/>
              <a:rect r="r" b="b" t="t" l="l"/>
              <a:pathLst>
                <a:path h="548640" w="10972800">
                  <a:moveTo>
                    <a:pt x="0" y="0"/>
                  </a:moveTo>
                  <a:lnTo>
                    <a:pt x="10972800" y="0"/>
                  </a:lnTo>
                  <a:lnTo>
                    <a:pt x="10972800" y="548640"/>
                  </a:lnTo>
                  <a:lnTo>
                    <a:pt x="0" y="548640"/>
                  </a:lnTo>
                  <a:close/>
                </a:path>
              </a:pathLst>
            </a:custGeom>
            <a:blipFill>
              <a:blip r:embed="rId3">
                <a:alphaModFix amt="0"/>
              </a:blip>
              <a:stretch>
                <a:fillRect l="0" t="-339700" r="0" b="-339700"/>
              </a:stretch>
            </a:blipFill>
          </p:spPr>
        </p:sp>
        <p:sp>
          <p:nvSpPr>
            <p:cNvPr name="TextBox 10" id="10"/>
            <p:cNvSpPr txBox="true"/>
            <p:nvPr/>
          </p:nvSpPr>
          <p:spPr>
            <a:xfrm>
              <a:off x="0" y="-28575"/>
              <a:ext cx="10972800" cy="577215"/>
            </a:xfrm>
            <a:prstGeom prst="rect">
              <a:avLst/>
            </a:prstGeom>
          </p:spPr>
          <p:txBody>
            <a:bodyPr anchor="ctr" rtlCol="false" tIns="0" lIns="0" bIns="0" rIns="0"/>
            <a:lstStyle/>
            <a:p>
              <a:pPr algn="l">
                <a:lnSpc>
                  <a:spcPts val="1980"/>
                </a:lnSpc>
              </a:pPr>
              <a:r>
                <a:rPr lang="en-US" sz="1650">
                  <a:solidFill>
                    <a:srgbClr val="6B7280"/>
                  </a:solidFill>
                  <a:latin typeface="Calibri (MS)"/>
                  <a:ea typeface="Calibri (MS)"/>
                  <a:cs typeface="Calibri (MS)"/>
                  <a:sym typeface="Calibri (MS)"/>
                </a:rPr>
                <a:t>3 of 8</a:t>
              </a:r>
            </a:p>
          </p:txBody>
        </p:sp>
      </p:grpSp>
      <p:grpSp>
        <p:nvGrpSpPr>
          <p:cNvPr name="Group 11" id="11"/>
          <p:cNvGrpSpPr/>
          <p:nvPr/>
        </p:nvGrpSpPr>
        <p:grpSpPr>
          <a:xfrm rot="0">
            <a:off x="960120" y="2194560"/>
            <a:ext cx="16322040" cy="1851660"/>
            <a:chOff x="0" y="0"/>
            <a:chExt cx="21762720" cy="2468880"/>
          </a:xfrm>
        </p:grpSpPr>
        <p:sp>
          <p:nvSpPr>
            <p:cNvPr name="Freeform 12" id="12"/>
            <p:cNvSpPr/>
            <p:nvPr/>
          </p:nvSpPr>
          <p:spPr>
            <a:xfrm flipH="false" flipV="false" rot="0">
              <a:off x="0" y="0"/>
              <a:ext cx="21762720" cy="2468880"/>
            </a:xfrm>
            <a:custGeom>
              <a:avLst/>
              <a:gdLst/>
              <a:ahLst/>
              <a:cxnLst/>
              <a:rect r="r" b="b" t="t" l="l"/>
              <a:pathLst>
                <a:path h="2468880" w="21762720">
                  <a:moveTo>
                    <a:pt x="0" y="182880"/>
                  </a:moveTo>
                  <a:cubicBezTo>
                    <a:pt x="0" y="81915"/>
                    <a:pt x="81915" y="0"/>
                    <a:pt x="182880" y="0"/>
                  </a:cubicBezTo>
                  <a:lnTo>
                    <a:pt x="21579839" y="0"/>
                  </a:lnTo>
                  <a:cubicBezTo>
                    <a:pt x="21680804" y="0"/>
                    <a:pt x="21762720" y="81915"/>
                    <a:pt x="21762720" y="182880"/>
                  </a:cubicBezTo>
                  <a:lnTo>
                    <a:pt x="21762720" y="2286000"/>
                  </a:lnTo>
                  <a:cubicBezTo>
                    <a:pt x="21762720" y="2386965"/>
                    <a:pt x="21680804" y="2468880"/>
                    <a:pt x="21579839" y="2468880"/>
                  </a:cubicBezTo>
                  <a:lnTo>
                    <a:pt x="182880" y="2468880"/>
                  </a:lnTo>
                  <a:cubicBezTo>
                    <a:pt x="81915" y="2468880"/>
                    <a:pt x="0" y="2386965"/>
                    <a:pt x="0" y="2286000"/>
                  </a:cubicBezTo>
                  <a:close/>
                </a:path>
              </a:pathLst>
            </a:custGeom>
            <a:solidFill>
              <a:srgbClr val="F4F7FC"/>
            </a:solidFill>
          </p:spPr>
        </p:sp>
      </p:grpSp>
      <p:grpSp>
        <p:nvGrpSpPr>
          <p:cNvPr name="Group 13" id="13"/>
          <p:cNvGrpSpPr/>
          <p:nvPr/>
        </p:nvGrpSpPr>
        <p:grpSpPr>
          <a:xfrm rot="0">
            <a:off x="1371600" y="2400300"/>
            <a:ext cx="15499080" cy="1440180"/>
            <a:chOff x="0" y="0"/>
            <a:chExt cx="20665440" cy="1920240"/>
          </a:xfrm>
        </p:grpSpPr>
        <p:sp>
          <p:nvSpPr>
            <p:cNvPr name="Freeform 14" id="14"/>
            <p:cNvSpPr/>
            <p:nvPr/>
          </p:nvSpPr>
          <p:spPr>
            <a:xfrm flipH="false" flipV="false" rot="0">
              <a:off x="0" y="0"/>
              <a:ext cx="20665439" cy="1920240"/>
            </a:xfrm>
            <a:custGeom>
              <a:avLst/>
              <a:gdLst/>
              <a:ahLst/>
              <a:cxnLst/>
              <a:rect r="r" b="b" t="t" l="l"/>
              <a:pathLst>
                <a:path h="1920240" w="20665439">
                  <a:moveTo>
                    <a:pt x="0" y="0"/>
                  </a:moveTo>
                  <a:lnTo>
                    <a:pt x="20665439" y="0"/>
                  </a:lnTo>
                  <a:lnTo>
                    <a:pt x="20665439" y="1920240"/>
                  </a:lnTo>
                  <a:lnTo>
                    <a:pt x="0" y="1920240"/>
                  </a:lnTo>
                  <a:close/>
                </a:path>
              </a:pathLst>
            </a:custGeom>
            <a:blipFill>
              <a:blip r:embed="rId3">
                <a:alphaModFix amt="0"/>
              </a:blip>
              <a:stretch>
                <a:fillRect l="0" t="-159696" r="0" b="-159696"/>
              </a:stretch>
            </a:blipFill>
          </p:spPr>
        </p:sp>
        <p:sp>
          <p:nvSpPr>
            <p:cNvPr name="TextBox 15" id="15"/>
            <p:cNvSpPr txBox="true"/>
            <p:nvPr/>
          </p:nvSpPr>
          <p:spPr>
            <a:xfrm>
              <a:off x="0" y="-66675"/>
              <a:ext cx="20665440" cy="1986915"/>
            </a:xfrm>
            <a:prstGeom prst="rect">
              <a:avLst/>
            </a:prstGeom>
          </p:spPr>
          <p:txBody>
            <a:bodyPr anchor="ctr" rtlCol="false" tIns="0" lIns="0" bIns="0" rIns="0"/>
            <a:lstStyle/>
            <a:p>
              <a:pPr algn="l">
                <a:lnSpc>
                  <a:spcPts val="3184"/>
                </a:lnSpc>
              </a:pPr>
              <a:r>
                <a:rPr lang="en-US" sz="2175" i="true">
                  <a:solidFill>
                    <a:srgbClr val="23262F"/>
                  </a:solidFill>
                  <a:latin typeface="Cambria Italics"/>
                  <a:ea typeface="Cambria Italics"/>
                  <a:cs typeface="Cambria Italics"/>
                  <a:sym typeface="Cambria Italics"/>
                </a:rPr>
                <a:t>“PhilHealth eligibility records sit in a shared office drive that every provincial employee can open, including staff who have no reason to see them.”</a:t>
              </a:r>
            </a:p>
          </p:txBody>
        </p:sp>
      </p:grpSp>
      <p:grpSp>
        <p:nvGrpSpPr>
          <p:cNvPr name="Group 16" id="16"/>
          <p:cNvGrpSpPr/>
          <p:nvPr/>
        </p:nvGrpSpPr>
        <p:grpSpPr>
          <a:xfrm rot="0">
            <a:off x="960120" y="4320540"/>
            <a:ext cx="3909060" cy="1165860"/>
            <a:chOff x="0" y="0"/>
            <a:chExt cx="5212080" cy="1554480"/>
          </a:xfrm>
        </p:grpSpPr>
        <p:sp>
          <p:nvSpPr>
            <p:cNvPr name="Freeform 17" id="17"/>
            <p:cNvSpPr/>
            <p:nvPr/>
          </p:nvSpPr>
          <p:spPr>
            <a:xfrm flipH="false" flipV="false" rot="0">
              <a:off x="0" y="0"/>
              <a:ext cx="5212080" cy="1554480"/>
            </a:xfrm>
            <a:custGeom>
              <a:avLst/>
              <a:gdLst/>
              <a:ahLst/>
              <a:cxnLst/>
              <a:rect r="r" b="b" t="t" l="l"/>
              <a:pathLst>
                <a:path h="1554480" w="5212080">
                  <a:moveTo>
                    <a:pt x="0" y="146304"/>
                  </a:moveTo>
                  <a:cubicBezTo>
                    <a:pt x="0" y="65532"/>
                    <a:pt x="65532" y="0"/>
                    <a:pt x="146304" y="0"/>
                  </a:cubicBezTo>
                  <a:lnTo>
                    <a:pt x="5065776" y="0"/>
                  </a:lnTo>
                  <a:cubicBezTo>
                    <a:pt x="5146548" y="0"/>
                    <a:pt x="5212080" y="65532"/>
                    <a:pt x="5212080" y="146304"/>
                  </a:cubicBezTo>
                  <a:lnTo>
                    <a:pt x="5212080" y="1408176"/>
                  </a:lnTo>
                  <a:cubicBezTo>
                    <a:pt x="5212080" y="1488948"/>
                    <a:pt x="5146548" y="1554480"/>
                    <a:pt x="5065776" y="1554480"/>
                  </a:cubicBezTo>
                  <a:lnTo>
                    <a:pt x="146304" y="1554480"/>
                  </a:lnTo>
                  <a:cubicBezTo>
                    <a:pt x="65532" y="1554480"/>
                    <a:pt x="0" y="1488948"/>
                    <a:pt x="0" y="1408176"/>
                  </a:cubicBezTo>
                  <a:close/>
                </a:path>
              </a:pathLst>
            </a:custGeom>
            <a:solidFill>
              <a:srgbClr val="F4F7FC"/>
            </a:solidFill>
          </p:spPr>
        </p:sp>
      </p:grpSp>
      <p:grpSp>
        <p:nvGrpSpPr>
          <p:cNvPr name="Group 18" id="18"/>
          <p:cNvGrpSpPr/>
          <p:nvPr/>
        </p:nvGrpSpPr>
        <p:grpSpPr>
          <a:xfrm rot="0">
            <a:off x="1207008" y="4457700"/>
            <a:ext cx="3415284" cy="384048"/>
            <a:chOff x="0" y="0"/>
            <a:chExt cx="4553712" cy="512064"/>
          </a:xfrm>
        </p:grpSpPr>
        <p:sp>
          <p:nvSpPr>
            <p:cNvPr name="Freeform 19" id="19"/>
            <p:cNvSpPr/>
            <p:nvPr/>
          </p:nvSpPr>
          <p:spPr>
            <a:xfrm flipH="false" flipV="false" rot="0">
              <a:off x="0" y="0"/>
              <a:ext cx="4553712" cy="512064"/>
            </a:xfrm>
            <a:custGeom>
              <a:avLst/>
              <a:gdLst/>
              <a:ahLst/>
              <a:cxnLst/>
              <a:rect r="r" b="b" t="t" l="l"/>
              <a:pathLst>
                <a:path h="512064" w="4553712">
                  <a:moveTo>
                    <a:pt x="0" y="0"/>
                  </a:moveTo>
                  <a:lnTo>
                    <a:pt x="4553712" y="0"/>
                  </a:lnTo>
                  <a:lnTo>
                    <a:pt x="4553712" y="512064"/>
                  </a:lnTo>
                  <a:lnTo>
                    <a:pt x="0" y="512064"/>
                  </a:lnTo>
                  <a:close/>
                </a:path>
              </a:pathLst>
            </a:custGeom>
            <a:blipFill>
              <a:blip r:embed="rId3">
                <a:alphaModFix amt="0"/>
              </a:blip>
              <a:stretch>
                <a:fillRect l="0" t="-123277" r="0" b="-123277"/>
              </a:stretch>
            </a:blipFill>
          </p:spPr>
        </p:sp>
        <p:sp>
          <p:nvSpPr>
            <p:cNvPr name="TextBox 20" id="20"/>
            <p:cNvSpPr txBox="true"/>
            <p:nvPr/>
          </p:nvSpPr>
          <p:spPr>
            <a:xfrm>
              <a:off x="0" y="-38100"/>
              <a:ext cx="4553712" cy="550164"/>
            </a:xfrm>
            <a:prstGeom prst="rect">
              <a:avLst/>
            </a:prstGeom>
          </p:spPr>
          <p:txBody>
            <a:bodyPr anchor="ctr" rtlCol="false" tIns="0" lIns="0" bIns="0" rIns="0"/>
            <a:lstStyle/>
            <a:p>
              <a:pPr algn="l">
                <a:lnSpc>
                  <a:spcPts val="1800"/>
                </a:lnSpc>
              </a:pPr>
              <a:r>
                <a:rPr lang="en-US" b="true" sz="1500" spc="75">
                  <a:solidFill>
                    <a:srgbClr val="6B7280"/>
                  </a:solidFill>
                  <a:latin typeface="Calibri (MS) Bold"/>
                  <a:ea typeface="Calibri (MS) Bold"/>
                  <a:cs typeface="Calibri (MS) Bold"/>
                  <a:sym typeface="Calibri (MS) Bold"/>
                </a:rPr>
                <a:t>LIKELIHOOD</a:t>
              </a:r>
            </a:p>
          </p:txBody>
        </p:sp>
      </p:grpSp>
      <p:sp>
        <p:nvSpPr>
          <p:cNvPr name="TextBox 21" id="21"/>
          <p:cNvSpPr txBox="true"/>
          <p:nvPr/>
        </p:nvSpPr>
        <p:spPr>
          <a:xfrm rot="0">
            <a:off x="1298448" y="4840986"/>
            <a:ext cx="3232404" cy="462534"/>
          </a:xfrm>
          <a:prstGeom prst="rect">
            <a:avLst/>
          </a:prstGeom>
        </p:spPr>
        <p:txBody>
          <a:bodyPr anchor="t" rtlCol="false" tIns="0" lIns="0" bIns="0" rIns="0">
            <a:spAutoFit/>
          </a:bodyPr>
          <a:lstStyle/>
          <a:p>
            <a:pPr algn="l">
              <a:lnSpc>
                <a:spcPts val="3240"/>
              </a:lnSpc>
            </a:pPr>
            <a:r>
              <a:rPr lang="en-US" sz="2700" b="true">
                <a:solidFill>
                  <a:srgbClr val="1E2761"/>
                </a:solidFill>
                <a:latin typeface="Cambria Bold"/>
                <a:ea typeface="Cambria Bold"/>
                <a:cs typeface="Cambria Bold"/>
                <a:sym typeface="Cambria Bold"/>
              </a:rPr>
              <a:t>High</a:t>
            </a:r>
          </a:p>
        </p:txBody>
      </p:sp>
      <p:grpSp>
        <p:nvGrpSpPr>
          <p:cNvPr name="Group 22" id="22"/>
          <p:cNvGrpSpPr/>
          <p:nvPr/>
        </p:nvGrpSpPr>
        <p:grpSpPr>
          <a:xfrm rot="0">
            <a:off x="5074920" y="4320540"/>
            <a:ext cx="3909060" cy="1165860"/>
            <a:chOff x="0" y="0"/>
            <a:chExt cx="5212080" cy="1554480"/>
          </a:xfrm>
        </p:grpSpPr>
        <p:sp>
          <p:nvSpPr>
            <p:cNvPr name="Freeform 23" id="23"/>
            <p:cNvSpPr/>
            <p:nvPr/>
          </p:nvSpPr>
          <p:spPr>
            <a:xfrm flipH="false" flipV="false" rot="0">
              <a:off x="0" y="0"/>
              <a:ext cx="5212080" cy="1554480"/>
            </a:xfrm>
            <a:custGeom>
              <a:avLst/>
              <a:gdLst/>
              <a:ahLst/>
              <a:cxnLst/>
              <a:rect r="r" b="b" t="t" l="l"/>
              <a:pathLst>
                <a:path h="1554480" w="5212080">
                  <a:moveTo>
                    <a:pt x="0" y="146304"/>
                  </a:moveTo>
                  <a:cubicBezTo>
                    <a:pt x="0" y="65532"/>
                    <a:pt x="65532" y="0"/>
                    <a:pt x="146304" y="0"/>
                  </a:cubicBezTo>
                  <a:lnTo>
                    <a:pt x="5065776" y="0"/>
                  </a:lnTo>
                  <a:cubicBezTo>
                    <a:pt x="5146548" y="0"/>
                    <a:pt x="5212080" y="65532"/>
                    <a:pt x="5212080" y="146304"/>
                  </a:cubicBezTo>
                  <a:lnTo>
                    <a:pt x="5212080" y="1408176"/>
                  </a:lnTo>
                  <a:cubicBezTo>
                    <a:pt x="5212080" y="1488948"/>
                    <a:pt x="5146548" y="1554480"/>
                    <a:pt x="5065776" y="1554480"/>
                  </a:cubicBezTo>
                  <a:lnTo>
                    <a:pt x="146304" y="1554480"/>
                  </a:lnTo>
                  <a:cubicBezTo>
                    <a:pt x="65532" y="1554480"/>
                    <a:pt x="0" y="1488948"/>
                    <a:pt x="0" y="1408176"/>
                  </a:cubicBezTo>
                  <a:close/>
                </a:path>
              </a:pathLst>
            </a:custGeom>
            <a:solidFill>
              <a:srgbClr val="F4F7FC"/>
            </a:solidFill>
          </p:spPr>
        </p:sp>
      </p:grpSp>
      <p:grpSp>
        <p:nvGrpSpPr>
          <p:cNvPr name="Group 24" id="24"/>
          <p:cNvGrpSpPr/>
          <p:nvPr/>
        </p:nvGrpSpPr>
        <p:grpSpPr>
          <a:xfrm rot="0">
            <a:off x="5321808" y="4457700"/>
            <a:ext cx="3415284" cy="384048"/>
            <a:chOff x="0" y="0"/>
            <a:chExt cx="4553712" cy="512064"/>
          </a:xfrm>
        </p:grpSpPr>
        <p:sp>
          <p:nvSpPr>
            <p:cNvPr name="Freeform 25" id="25"/>
            <p:cNvSpPr/>
            <p:nvPr/>
          </p:nvSpPr>
          <p:spPr>
            <a:xfrm flipH="false" flipV="false" rot="0">
              <a:off x="0" y="0"/>
              <a:ext cx="4553712" cy="512064"/>
            </a:xfrm>
            <a:custGeom>
              <a:avLst/>
              <a:gdLst/>
              <a:ahLst/>
              <a:cxnLst/>
              <a:rect r="r" b="b" t="t" l="l"/>
              <a:pathLst>
                <a:path h="512064" w="4553712">
                  <a:moveTo>
                    <a:pt x="0" y="0"/>
                  </a:moveTo>
                  <a:lnTo>
                    <a:pt x="4553712" y="0"/>
                  </a:lnTo>
                  <a:lnTo>
                    <a:pt x="4553712" y="512064"/>
                  </a:lnTo>
                  <a:lnTo>
                    <a:pt x="0" y="512064"/>
                  </a:lnTo>
                  <a:close/>
                </a:path>
              </a:pathLst>
            </a:custGeom>
            <a:blipFill>
              <a:blip r:embed="rId3">
                <a:alphaModFix amt="0"/>
              </a:blip>
              <a:stretch>
                <a:fillRect l="0" t="-123277" r="0" b="-123277"/>
              </a:stretch>
            </a:blipFill>
          </p:spPr>
        </p:sp>
        <p:sp>
          <p:nvSpPr>
            <p:cNvPr name="TextBox 26" id="26"/>
            <p:cNvSpPr txBox="true"/>
            <p:nvPr/>
          </p:nvSpPr>
          <p:spPr>
            <a:xfrm>
              <a:off x="0" y="-38100"/>
              <a:ext cx="4553712" cy="550164"/>
            </a:xfrm>
            <a:prstGeom prst="rect">
              <a:avLst/>
            </a:prstGeom>
          </p:spPr>
          <p:txBody>
            <a:bodyPr anchor="ctr" rtlCol="false" tIns="0" lIns="0" bIns="0" rIns="0"/>
            <a:lstStyle/>
            <a:p>
              <a:pPr algn="l">
                <a:lnSpc>
                  <a:spcPts val="1800"/>
                </a:lnSpc>
              </a:pPr>
              <a:r>
                <a:rPr lang="en-US" b="true" sz="1500" spc="75">
                  <a:solidFill>
                    <a:srgbClr val="6B7280"/>
                  </a:solidFill>
                  <a:latin typeface="Calibri (MS) Bold"/>
                  <a:ea typeface="Calibri (MS) Bold"/>
                  <a:cs typeface="Calibri (MS) Bold"/>
                  <a:sym typeface="Calibri (MS) Bold"/>
                </a:rPr>
                <a:t>IMPACT</a:t>
              </a:r>
            </a:p>
          </p:txBody>
        </p:sp>
      </p:grpSp>
      <p:sp>
        <p:nvSpPr>
          <p:cNvPr name="TextBox 27" id="27"/>
          <p:cNvSpPr txBox="true"/>
          <p:nvPr/>
        </p:nvSpPr>
        <p:spPr>
          <a:xfrm rot="0">
            <a:off x="5413248" y="4840986"/>
            <a:ext cx="3232404" cy="462534"/>
          </a:xfrm>
          <a:prstGeom prst="rect">
            <a:avLst/>
          </a:prstGeom>
        </p:spPr>
        <p:txBody>
          <a:bodyPr anchor="t" rtlCol="false" tIns="0" lIns="0" bIns="0" rIns="0">
            <a:spAutoFit/>
          </a:bodyPr>
          <a:lstStyle/>
          <a:p>
            <a:pPr algn="l">
              <a:lnSpc>
                <a:spcPts val="3240"/>
              </a:lnSpc>
            </a:pPr>
            <a:r>
              <a:rPr lang="en-US" sz="2700" b="true">
                <a:solidFill>
                  <a:srgbClr val="1E2761"/>
                </a:solidFill>
                <a:latin typeface="Cambria Bold"/>
                <a:ea typeface="Cambria Bold"/>
                <a:cs typeface="Cambria Bold"/>
                <a:sym typeface="Cambria Bold"/>
              </a:rPr>
              <a:t>Medium</a:t>
            </a:r>
          </a:p>
        </p:txBody>
      </p:sp>
      <p:grpSp>
        <p:nvGrpSpPr>
          <p:cNvPr name="Group 28" id="28"/>
          <p:cNvGrpSpPr/>
          <p:nvPr/>
        </p:nvGrpSpPr>
        <p:grpSpPr>
          <a:xfrm rot="0">
            <a:off x="9189720" y="4320540"/>
            <a:ext cx="3909060" cy="1165860"/>
            <a:chOff x="0" y="0"/>
            <a:chExt cx="5212080" cy="1554480"/>
          </a:xfrm>
        </p:grpSpPr>
        <p:sp>
          <p:nvSpPr>
            <p:cNvPr name="Freeform 29" id="29"/>
            <p:cNvSpPr/>
            <p:nvPr/>
          </p:nvSpPr>
          <p:spPr>
            <a:xfrm flipH="false" flipV="false" rot="0">
              <a:off x="0" y="0"/>
              <a:ext cx="5212080" cy="1554480"/>
            </a:xfrm>
            <a:custGeom>
              <a:avLst/>
              <a:gdLst/>
              <a:ahLst/>
              <a:cxnLst/>
              <a:rect r="r" b="b" t="t" l="l"/>
              <a:pathLst>
                <a:path h="1554480" w="5212080">
                  <a:moveTo>
                    <a:pt x="0" y="146304"/>
                  </a:moveTo>
                  <a:cubicBezTo>
                    <a:pt x="0" y="65532"/>
                    <a:pt x="65532" y="0"/>
                    <a:pt x="146304" y="0"/>
                  </a:cubicBezTo>
                  <a:lnTo>
                    <a:pt x="5065776" y="0"/>
                  </a:lnTo>
                  <a:cubicBezTo>
                    <a:pt x="5146548" y="0"/>
                    <a:pt x="5212080" y="65532"/>
                    <a:pt x="5212080" y="146304"/>
                  </a:cubicBezTo>
                  <a:lnTo>
                    <a:pt x="5212080" y="1408176"/>
                  </a:lnTo>
                  <a:cubicBezTo>
                    <a:pt x="5212080" y="1488948"/>
                    <a:pt x="5146548" y="1554480"/>
                    <a:pt x="5065776" y="1554480"/>
                  </a:cubicBezTo>
                  <a:lnTo>
                    <a:pt x="146304" y="1554480"/>
                  </a:lnTo>
                  <a:cubicBezTo>
                    <a:pt x="65532" y="1554480"/>
                    <a:pt x="0" y="1488948"/>
                    <a:pt x="0" y="1408176"/>
                  </a:cubicBezTo>
                  <a:close/>
                </a:path>
              </a:pathLst>
            </a:custGeom>
            <a:solidFill>
              <a:srgbClr val="F4F7FC"/>
            </a:solidFill>
          </p:spPr>
        </p:sp>
      </p:grpSp>
      <p:grpSp>
        <p:nvGrpSpPr>
          <p:cNvPr name="Group 30" id="30"/>
          <p:cNvGrpSpPr/>
          <p:nvPr/>
        </p:nvGrpSpPr>
        <p:grpSpPr>
          <a:xfrm rot="0">
            <a:off x="9436608" y="4457700"/>
            <a:ext cx="3415284" cy="384048"/>
            <a:chOff x="0" y="0"/>
            <a:chExt cx="4553712" cy="512064"/>
          </a:xfrm>
        </p:grpSpPr>
        <p:sp>
          <p:nvSpPr>
            <p:cNvPr name="Freeform 31" id="31"/>
            <p:cNvSpPr/>
            <p:nvPr/>
          </p:nvSpPr>
          <p:spPr>
            <a:xfrm flipH="false" flipV="false" rot="0">
              <a:off x="0" y="0"/>
              <a:ext cx="4553712" cy="512064"/>
            </a:xfrm>
            <a:custGeom>
              <a:avLst/>
              <a:gdLst/>
              <a:ahLst/>
              <a:cxnLst/>
              <a:rect r="r" b="b" t="t" l="l"/>
              <a:pathLst>
                <a:path h="512064" w="4553712">
                  <a:moveTo>
                    <a:pt x="0" y="0"/>
                  </a:moveTo>
                  <a:lnTo>
                    <a:pt x="4553712" y="0"/>
                  </a:lnTo>
                  <a:lnTo>
                    <a:pt x="4553712" y="512064"/>
                  </a:lnTo>
                  <a:lnTo>
                    <a:pt x="0" y="512064"/>
                  </a:lnTo>
                  <a:close/>
                </a:path>
              </a:pathLst>
            </a:custGeom>
            <a:blipFill>
              <a:blip r:embed="rId3">
                <a:alphaModFix amt="0"/>
              </a:blip>
              <a:stretch>
                <a:fillRect l="0" t="-123277" r="0" b="-123277"/>
              </a:stretch>
            </a:blipFill>
          </p:spPr>
        </p:sp>
        <p:sp>
          <p:nvSpPr>
            <p:cNvPr name="TextBox 32" id="32"/>
            <p:cNvSpPr txBox="true"/>
            <p:nvPr/>
          </p:nvSpPr>
          <p:spPr>
            <a:xfrm>
              <a:off x="0" y="-38100"/>
              <a:ext cx="4553712" cy="550164"/>
            </a:xfrm>
            <a:prstGeom prst="rect">
              <a:avLst/>
            </a:prstGeom>
          </p:spPr>
          <p:txBody>
            <a:bodyPr anchor="ctr" rtlCol="false" tIns="0" lIns="0" bIns="0" rIns="0"/>
            <a:lstStyle/>
            <a:p>
              <a:pPr algn="l">
                <a:lnSpc>
                  <a:spcPts val="1800"/>
                </a:lnSpc>
              </a:pPr>
              <a:r>
                <a:rPr lang="en-US" b="true" sz="1500" spc="75">
                  <a:solidFill>
                    <a:srgbClr val="6B7280"/>
                  </a:solidFill>
                  <a:latin typeface="Calibri (MS) Bold"/>
                  <a:ea typeface="Calibri (MS) Bold"/>
                  <a:cs typeface="Calibri (MS) Bold"/>
                  <a:sym typeface="Calibri (MS) Bold"/>
                </a:rPr>
                <a:t>RISK RATING</a:t>
              </a:r>
            </a:p>
          </p:txBody>
        </p:sp>
      </p:grpSp>
      <p:sp>
        <p:nvSpPr>
          <p:cNvPr name="TextBox 33" id="33"/>
          <p:cNvSpPr txBox="true"/>
          <p:nvPr/>
        </p:nvSpPr>
        <p:spPr>
          <a:xfrm rot="0">
            <a:off x="9528048" y="4840986"/>
            <a:ext cx="3232404" cy="462534"/>
          </a:xfrm>
          <a:prstGeom prst="rect">
            <a:avLst/>
          </a:prstGeom>
        </p:spPr>
        <p:txBody>
          <a:bodyPr anchor="t" rtlCol="false" tIns="0" lIns="0" bIns="0" rIns="0">
            <a:spAutoFit/>
          </a:bodyPr>
          <a:lstStyle/>
          <a:p>
            <a:pPr algn="l">
              <a:lnSpc>
                <a:spcPts val="3240"/>
              </a:lnSpc>
            </a:pPr>
            <a:r>
              <a:rPr lang="en-US" sz="2700" b="true">
                <a:solidFill>
                  <a:srgbClr val="D9631E"/>
                </a:solidFill>
                <a:latin typeface="Cambria Bold"/>
                <a:ea typeface="Cambria Bold"/>
                <a:cs typeface="Cambria Bold"/>
                <a:sym typeface="Cambria Bold"/>
              </a:rPr>
              <a:t>High</a:t>
            </a:r>
          </a:p>
        </p:txBody>
      </p:sp>
      <p:grpSp>
        <p:nvGrpSpPr>
          <p:cNvPr name="Group 34" id="34"/>
          <p:cNvGrpSpPr/>
          <p:nvPr/>
        </p:nvGrpSpPr>
        <p:grpSpPr>
          <a:xfrm rot="0">
            <a:off x="13304520" y="4320540"/>
            <a:ext cx="3977640" cy="1165860"/>
            <a:chOff x="0" y="0"/>
            <a:chExt cx="5303520" cy="1554480"/>
          </a:xfrm>
        </p:grpSpPr>
        <p:sp>
          <p:nvSpPr>
            <p:cNvPr name="Freeform 35" id="35"/>
            <p:cNvSpPr/>
            <p:nvPr/>
          </p:nvSpPr>
          <p:spPr>
            <a:xfrm flipH="false" flipV="false" rot="0">
              <a:off x="0" y="0"/>
              <a:ext cx="5303520" cy="1554480"/>
            </a:xfrm>
            <a:custGeom>
              <a:avLst/>
              <a:gdLst/>
              <a:ahLst/>
              <a:cxnLst/>
              <a:rect r="r" b="b" t="t" l="l"/>
              <a:pathLst>
                <a:path h="1554480" w="5303520">
                  <a:moveTo>
                    <a:pt x="0" y="146304"/>
                  </a:moveTo>
                  <a:cubicBezTo>
                    <a:pt x="0" y="65532"/>
                    <a:pt x="65532" y="0"/>
                    <a:pt x="146304" y="0"/>
                  </a:cubicBezTo>
                  <a:lnTo>
                    <a:pt x="5157216" y="0"/>
                  </a:lnTo>
                  <a:cubicBezTo>
                    <a:pt x="5237988" y="0"/>
                    <a:pt x="5303520" y="65532"/>
                    <a:pt x="5303520" y="146304"/>
                  </a:cubicBezTo>
                  <a:lnTo>
                    <a:pt x="5303520" y="1408176"/>
                  </a:lnTo>
                  <a:cubicBezTo>
                    <a:pt x="5303520" y="1488948"/>
                    <a:pt x="5237988" y="1554480"/>
                    <a:pt x="5157216" y="1554480"/>
                  </a:cubicBezTo>
                  <a:lnTo>
                    <a:pt x="146304" y="1554480"/>
                  </a:lnTo>
                  <a:cubicBezTo>
                    <a:pt x="65532" y="1554480"/>
                    <a:pt x="0" y="1488948"/>
                    <a:pt x="0" y="1408176"/>
                  </a:cubicBezTo>
                  <a:close/>
                </a:path>
              </a:pathLst>
            </a:custGeom>
            <a:solidFill>
              <a:srgbClr val="1E2761"/>
            </a:solidFill>
          </p:spPr>
        </p:sp>
      </p:grpSp>
      <p:grpSp>
        <p:nvGrpSpPr>
          <p:cNvPr name="Group 36" id="36"/>
          <p:cNvGrpSpPr/>
          <p:nvPr/>
        </p:nvGrpSpPr>
        <p:grpSpPr>
          <a:xfrm rot="0">
            <a:off x="13551408" y="4457700"/>
            <a:ext cx="3429000" cy="384048"/>
            <a:chOff x="0" y="0"/>
            <a:chExt cx="4572000" cy="512064"/>
          </a:xfrm>
        </p:grpSpPr>
        <p:sp>
          <p:nvSpPr>
            <p:cNvPr name="Freeform 37" id="37"/>
            <p:cNvSpPr/>
            <p:nvPr/>
          </p:nvSpPr>
          <p:spPr>
            <a:xfrm flipH="false" flipV="false" rot="0">
              <a:off x="0" y="0"/>
              <a:ext cx="4572000" cy="512064"/>
            </a:xfrm>
            <a:custGeom>
              <a:avLst/>
              <a:gdLst/>
              <a:ahLst/>
              <a:cxnLst/>
              <a:rect r="r" b="b" t="t" l="l"/>
              <a:pathLst>
                <a:path h="512064" w="4572000">
                  <a:moveTo>
                    <a:pt x="0" y="0"/>
                  </a:moveTo>
                  <a:lnTo>
                    <a:pt x="4572000" y="0"/>
                  </a:lnTo>
                  <a:lnTo>
                    <a:pt x="4572000" y="512064"/>
                  </a:lnTo>
                  <a:lnTo>
                    <a:pt x="0" y="512064"/>
                  </a:lnTo>
                  <a:close/>
                </a:path>
              </a:pathLst>
            </a:custGeom>
            <a:blipFill>
              <a:blip r:embed="rId3">
                <a:alphaModFix amt="0"/>
              </a:blip>
              <a:stretch>
                <a:fillRect l="0" t="-123973" r="0" b="-123973"/>
              </a:stretch>
            </a:blipFill>
          </p:spPr>
        </p:sp>
        <p:sp>
          <p:nvSpPr>
            <p:cNvPr name="TextBox 38" id="38"/>
            <p:cNvSpPr txBox="true"/>
            <p:nvPr/>
          </p:nvSpPr>
          <p:spPr>
            <a:xfrm>
              <a:off x="0" y="-38100"/>
              <a:ext cx="4572000" cy="550164"/>
            </a:xfrm>
            <a:prstGeom prst="rect">
              <a:avLst/>
            </a:prstGeom>
          </p:spPr>
          <p:txBody>
            <a:bodyPr anchor="ctr" rtlCol="false" tIns="0" lIns="0" bIns="0" rIns="0"/>
            <a:lstStyle/>
            <a:p>
              <a:pPr algn="l">
                <a:lnSpc>
                  <a:spcPts val="1800"/>
                </a:lnSpc>
              </a:pPr>
              <a:r>
                <a:rPr lang="en-US" b="true" sz="1500" spc="75">
                  <a:solidFill>
                    <a:srgbClr val="CADCFC"/>
                  </a:solidFill>
                  <a:latin typeface="Calibri (MS) Bold"/>
                  <a:ea typeface="Calibri (MS) Bold"/>
                  <a:cs typeface="Calibri (MS) Bold"/>
                  <a:sym typeface="Calibri (MS) Bold"/>
                </a:rPr>
                <a:t>RESPONSE</a:t>
              </a:r>
            </a:p>
          </p:txBody>
        </p:sp>
      </p:grpSp>
      <p:sp>
        <p:nvSpPr>
          <p:cNvPr name="TextBox 39" id="39"/>
          <p:cNvSpPr txBox="true"/>
          <p:nvPr/>
        </p:nvSpPr>
        <p:spPr>
          <a:xfrm rot="0">
            <a:off x="13642848" y="4840986"/>
            <a:ext cx="3246120" cy="476250"/>
          </a:xfrm>
          <a:prstGeom prst="rect">
            <a:avLst/>
          </a:prstGeom>
        </p:spPr>
        <p:txBody>
          <a:bodyPr anchor="t" rtlCol="false" tIns="0" lIns="0" bIns="0" rIns="0">
            <a:spAutoFit/>
          </a:bodyPr>
          <a:lstStyle/>
          <a:p>
            <a:pPr algn="l">
              <a:lnSpc>
                <a:spcPts val="3240"/>
              </a:lnSpc>
            </a:pPr>
            <a:r>
              <a:rPr lang="en-US" sz="2700" b="true">
                <a:solidFill>
                  <a:srgbClr val="FFFFFF"/>
                </a:solidFill>
                <a:latin typeface="Cambria Bold"/>
                <a:ea typeface="Cambria Bold"/>
                <a:cs typeface="Cambria Bold"/>
                <a:sym typeface="Cambria Bold"/>
              </a:rPr>
              <a:t>Treat</a:t>
            </a:r>
          </a:p>
        </p:txBody>
      </p:sp>
      <p:grpSp>
        <p:nvGrpSpPr>
          <p:cNvPr name="Group 40" id="40"/>
          <p:cNvGrpSpPr/>
          <p:nvPr/>
        </p:nvGrpSpPr>
        <p:grpSpPr>
          <a:xfrm rot="0">
            <a:off x="950595" y="5888355"/>
            <a:ext cx="16341090" cy="2967990"/>
            <a:chOff x="0" y="0"/>
            <a:chExt cx="21788120" cy="3957320"/>
          </a:xfrm>
        </p:grpSpPr>
        <p:sp>
          <p:nvSpPr>
            <p:cNvPr name="Freeform 41" id="41"/>
            <p:cNvSpPr/>
            <p:nvPr/>
          </p:nvSpPr>
          <p:spPr>
            <a:xfrm flipH="false" flipV="false" rot="0">
              <a:off x="0" y="0"/>
              <a:ext cx="21788120" cy="3957320"/>
            </a:xfrm>
            <a:custGeom>
              <a:avLst/>
              <a:gdLst/>
              <a:ahLst/>
              <a:cxnLst/>
              <a:rect r="r" b="b" t="t" l="l"/>
              <a:pathLst>
                <a:path h="3957320" w="21788120">
                  <a:moveTo>
                    <a:pt x="0" y="184023"/>
                  </a:moveTo>
                  <a:cubicBezTo>
                    <a:pt x="0" y="82423"/>
                    <a:pt x="82423" y="0"/>
                    <a:pt x="184023" y="0"/>
                  </a:cubicBezTo>
                  <a:lnTo>
                    <a:pt x="21604097" y="0"/>
                  </a:lnTo>
                  <a:cubicBezTo>
                    <a:pt x="21705697" y="0"/>
                    <a:pt x="21788120" y="82423"/>
                    <a:pt x="21788120" y="184023"/>
                  </a:cubicBezTo>
                  <a:lnTo>
                    <a:pt x="21788120" y="3773297"/>
                  </a:lnTo>
                  <a:cubicBezTo>
                    <a:pt x="21788120" y="3874897"/>
                    <a:pt x="21705697" y="3957320"/>
                    <a:pt x="21604097" y="3957320"/>
                  </a:cubicBezTo>
                  <a:lnTo>
                    <a:pt x="184023" y="3957320"/>
                  </a:lnTo>
                  <a:cubicBezTo>
                    <a:pt x="82423" y="3957320"/>
                    <a:pt x="0" y="3874897"/>
                    <a:pt x="0" y="3773297"/>
                  </a:cubicBezTo>
                  <a:close/>
                </a:path>
              </a:pathLst>
            </a:custGeom>
            <a:solidFill>
              <a:srgbClr val="FBF9F4"/>
            </a:solidFill>
            <a:ln w="19050" cap="sq">
              <a:solidFill>
                <a:srgbClr val="EFE6D2"/>
              </a:solidFill>
              <a:prstDash val="solid"/>
              <a:miter/>
            </a:ln>
          </p:spPr>
        </p:sp>
      </p:grpSp>
      <p:sp>
        <p:nvSpPr>
          <p:cNvPr name="TextBox 42" id="42"/>
          <p:cNvSpPr txBox="true"/>
          <p:nvPr/>
        </p:nvSpPr>
        <p:spPr>
          <a:xfrm rot="0">
            <a:off x="1463040" y="6084570"/>
            <a:ext cx="15316200" cy="2510790"/>
          </a:xfrm>
          <a:prstGeom prst="rect">
            <a:avLst/>
          </a:prstGeom>
        </p:spPr>
        <p:txBody>
          <a:bodyPr anchor="t" rtlCol="false" tIns="0" lIns="0" bIns="0" rIns="0">
            <a:spAutoFit/>
          </a:bodyPr>
          <a:lstStyle/>
          <a:p>
            <a:pPr algn="l">
              <a:lnSpc>
                <a:spcPts val="3402"/>
              </a:lnSpc>
            </a:pPr>
            <a:r>
              <a:rPr lang="en-US" sz="2100">
                <a:solidFill>
                  <a:srgbClr val="23262F"/>
                </a:solidFill>
                <a:latin typeface="Calibri (MS)"/>
                <a:ea typeface="Calibri (MS)"/>
                <a:cs typeface="Calibri (MS)"/>
                <a:sym typeface="Calibri (MS)"/>
              </a:rPr>
              <a:t>This is a straightforward access-control fix, not a reason to stop using shared drives — restrict access to only the staff who actually need it (least privilege). That's Treat.</a:t>
            </a:r>
          </a:p>
        </p:txBody>
      </p:sp>
      <p:grpSp>
        <p:nvGrpSpPr>
          <p:cNvPr name="Group 43" id="43"/>
          <p:cNvGrpSpPr/>
          <p:nvPr/>
        </p:nvGrpSpPr>
        <p:grpSpPr>
          <a:xfrm rot="0">
            <a:off x="685800" y="9710928"/>
            <a:ext cx="10972800" cy="411480"/>
            <a:chOff x="0" y="0"/>
            <a:chExt cx="14630400" cy="548640"/>
          </a:xfrm>
        </p:grpSpPr>
        <p:sp>
          <p:nvSpPr>
            <p:cNvPr name="Freeform 44" id="44"/>
            <p:cNvSpPr/>
            <p:nvPr/>
          </p:nvSpPr>
          <p:spPr>
            <a:xfrm flipH="false" flipV="false" rot="0">
              <a:off x="0" y="0"/>
              <a:ext cx="14630400" cy="548640"/>
            </a:xfrm>
            <a:custGeom>
              <a:avLst/>
              <a:gdLst/>
              <a:ahLst/>
              <a:cxnLst/>
              <a:rect r="r" b="b" t="t" l="l"/>
              <a:pathLst>
                <a:path h="548640" w="14630400">
                  <a:moveTo>
                    <a:pt x="0" y="0"/>
                  </a:moveTo>
                  <a:lnTo>
                    <a:pt x="14630400" y="0"/>
                  </a:lnTo>
                  <a:lnTo>
                    <a:pt x="14630400" y="548640"/>
                  </a:lnTo>
                  <a:lnTo>
                    <a:pt x="0" y="548640"/>
                  </a:lnTo>
                  <a:close/>
                </a:path>
              </a:pathLst>
            </a:custGeom>
            <a:blipFill>
              <a:blip r:embed="rId3">
                <a:alphaModFix amt="0"/>
              </a:blip>
              <a:stretch>
                <a:fillRect l="0" t="-469601" r="0" b="-469601"/>
              </a:stretch>
            </a:blipFill>
          </p:spPr>
        </p:sp>
        <p:sp>
          <p:nvSpPr>
            <p:cNvPr name="TextBox 45" id="45"/>
            <p:cNvSpPr txBox="true"/>
            <p:nvPr/>
          </p:nvSpPr>
          <p:spPr>
            <a:xfrm>
              <a:off x="0" y="-38100"/>
              <a:ext cx="14630400" cy="586740"/>
            </a:xfrm>
            <a:prstGeom prst="rect">
              <a:avLst/>
            </a:prstGeom>
          </p:spPr>
          <p:txBody>
            <a:bodyPr anchor="ctr" rtlCol="false" tIns="0" lIns="0" bIns="0" rIns="0"/>
            <a:lstStyle/>
            <a:p>
              <a:pPr algn="l">
                <a:lnSpc>
                  <a:spcPts val="1800"/>
                </a:lnSpc>
              </a:pPr>
              <a:r>
                <a:rPr lang="en-US" sz="1500">
                  <a:solidFill>
                    <a:srgbClr val="6B7280"/>
                  </a:solidFill>
                  <a:latin typeface="Calibri (MS)"/>
                  <a:ea typeface="Calibri (MS)"/>
                  <a:cs typeface="Calibri (MS)"/>
                  <a:sym typeface="Calibri (MS)"/>
                </a:rPr>
                <a:t>Davao del Norte Provincial Government — Cybersecurity Seminar</a:t>
              </a:r>
            </a:p>
          </p:txBody>
        </p:sp>
      </p:grpSp>
      <p:grpSp>
        <p:nvGrpSpPr>
          <p:cNvPr name="Group 46" id="46"/>
          <p:cNvGrpSpPr/>
          <p:nvPr/>
        </p:nvGrpSpPr>
        <p:grpSpPr>
          <a:xfrm rot="0">
            <a:off x="16911828" y="9710928"/>
            <a:ext cx="685800" cy="411480"/>
            <a:chOff x="0" y="0"/>
            <a:chExt cx="914400" cy="548640"/>
          </a:xfrm>
        </p:grpSpPr>
        <p:sp>
          <p:nvSpPr>
            <p:cNvPr name="Freeform 47" id="47"/>
            <p:cNvSpPr/>
            <p:nvPr/>
          </p:nvSpPr>
          <p:spPr>
            <a:xfrm flipH="false" flipV="false" rot="0">
              <a:off x="0" y="0"/>
              <a:ext cx="914400" cy="548640"/>
            </a:xfrm>
            <a:custGeom>
              <a:avLst/>
              <a:gdLst/>
              <a:ahLst/>
              <a:cxnLst/>
              <a:rect r="r" b="b" t="t" l="l"/>
              <a:pathLst>
                <a:path h="548640" w="914400">
                  <a:moveTo>
                    <a:pt x="0" y="0"/>
                  </a:moveTo>
                  <a:lnTo>
                    <a:pt x="914400" y="0"/>
                  </a:lnTo>
                  <a:lnTo>
                    <a:pt x="914400" y="548640"/>
                  </a:lnTo>
                  <a:lnTo>
                    <a:pt x="0" y="548640"/>
                  </a:lnTo>
                  <a:close/>
                </a:path>
              </a:pathLst>
            </a:custGeom>
            <a:blipFill>
              <a:blip r:embed="rId3">
                <a:alphaModFix amt="0"/>
              </a:blip>
              <a:stretch>
                <a:fillRect l="-26982" t="0" r="-26982" b="0"/>
              </a:stretch>
            </a:blipFill>
          </p:spPr>
        </p:sp>
        <p:sp>
          <p:nvSpPr>
            <p:cNvPr name="TextBox 48" id="48"/>
            <p:cNvSpPr txBox="true"/>
            <p:nvPr/>
          </p:nvSpPr>
          <p:spPr>
            <a:xfrm>
              <a:off x="0" y="-38100"/>
              <a:ext cx="914400" cy="586740"/>
            </a:xfrm>
            <a:prstGeom prst="rect">
              <a:avLst/>
            </a:prstGeom>
          </p:spPr>
          <p:txBody>
            <a:bodyPr anchor="ctr" rtlCol="false" tIns="0" lIns="0" bIns="0" rIns="0"/>
            <a:lstStyle/>
            <a:p>
              <a:pPr algn="r">
                <a:lnSpc>
                  <a:spcPts val="1800"/>
                </a:lnSpc>
              </a:pPr>
              <a:r>
                <a:rPr lang="en-US" sz="1500">
                  <a:solidFill>
                    <a:srgbClr val="6B7280"/>
                  </a:solidFill>
                  <a:latin typeface="Calibri (MS)"/>
                  <a:ea typeface="Calibri (MS)"/>
                  <a:cs typeface="Calibri (MS)"/>
                  <a:sym typeface="Calibri (MS)"/>
                </a:rPr>
                <a:t>20</a:t>
              </a:r>
            </a:p>
          </p:txBody>
        </p:sp>
      </p:gr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60120" y="576072"/>
            <a:ext cx="13716000" cy="411480"/>
            <a:chOff x="0" y="0"/>
            <a:chExt cx="18288000" cy="548640"/>
          </a:xfrm>
        </p:grpSpPr>
        <p:sp>
          <p:nvSpPr>
            <p:cNvPr name="Freeform 3" id="3"/>
            <p:cNvSpPr/>
            <p:nvPr/>
          </p:nvSpPr>
          <p:spPr>
            <a:xfrm flipH="false" flipV="false" rot="0">
              <a:off x="0" y="0"/>
              <a:ext cx="18288000" cy="548640"/>
            </a:xfrm>
            <a:custGeom>
              <a:avLst/>
              <a:gdLst/>
              <a:ahLst/>
              <a:cxnLst/>
              <a:rect r="r" b="b" t="t" l="l"/>
              <a:pathLst>
                <a:path h="548640" w="18288000">
                  <a:moveTo>
                    <a:pt x="0" y="0"/>
                  </a:moveTo>
                  <a:lnTo>
                    <a:pt x="18288000" y="0"/>
                  </a:lnTo>
                  <a:lnTo>
                    <a:pt x="18288000" y="548640"/>
                  </a:lnTo>
                  <a:lnTo>
                    <a:pt x="0" y="548640"/>
                  </a:lnTo>
                  <a:close/>
                </a:path>
              </a:pathLst>
            </a:custGeom>
            <a:blipFill>
              <a:blip r:embed="rId3">
                <a:alphaModFix amt="0"/>
              </a:blip>
              <a:stretch>
                <a:fillRect l="0" t="-599501" r="0" b="-599501"/>
              </a:stretch>
            </a:blipFill>
          </p:spPr>
        </p:sp>
        <p:sp>
          <p:nvSpPr>
            <p:cNvPr name="TextBox 4" id="4"/>
            <p:cNvSpPr txBox="true"/>
            <p:nvPr/>
          </p:nvSpPr>
          <p:spPr>
            <a:xfrm>
              <a:off x="0" y="-38100"/>
              <a:ext cx="18288000" cy="586740"/>
            </a:xfrm>
            <a:prstGeom prst="rect">
              <a:avLst/>
            </a:prstGeom>
          </p:spPr>
          <p:txBody>
            <a:bodyPr anchor="ctr" rtlCol="false" tIns="0" lIns="0" bIns="0" rIns="0"/>
            <a:lstStyle/>
            <a:p>
              <a:pPr algn="l">
                <a:lnSpc>
                  <a:spcPts val="2160"/>
                </a:lnSpc>
              </a:pPr>
              <a:r>
                <a:rPr lang="en-US" b="true" sz="1800" spc="225">
                  <a:solidFill>
                    <a:srgbClr val="00B4D8"/>
                  </a:solidFill>
                  <a:latin typeface="Calibri (MS) Bold"/>
                  <a:ea typeface="Calibri (MS) Bold"/>
                  <a:cs typeface="Calibri (MS) Bold"/>
                  <a:sym typeface="Calibri (MS) Bold"/>
                </a:rPr>
                <a:t>RISK MATRIX SORT · SCENARIO</a:t>
              </a:r>
            </a:p>
          </p:txBody>
        </p:sp>
      </p:grpSp>
      <p:grpSp>
        <p:nvGrpSpPr>
          <p:cNvPr name="Group 5" id="5"/>
          <p:cNvGrpSpPr/>
          <p:nvPr/>
        </p:nvGrpSpPr>
        <p:grpSpPr>
          <a:xfrm rot="0">
            <a:off x="960120" y="960120"/>
            <a:ext cx="10972800" cy="754380"/>
            <a:chOff x="0" y="0"/>
            <a:chExt cx="14630400" cy="1005840"/>
          </a:xfrm>
        </p:grpSpPr>
        <p:sp>
          <p:nvSpPr>
            <p:cNvPr name="Freeform 6" id="6"/>
            <p:cNvSpPr/>
            <p:nvPr/>
          </p:nvSpPr>
          <p:spPr>
            <a:xfrm flipH="false" flipV="false" rot="0">
              <a:off x="0" y="0"/>
              <a:ext cx="14630400" cy="1005840"/>
            </a:xfrm>
            <a:custGeom>
              <a:avLst/>
              <a:gdLst/>
              <a:ahLst/>
              <a:cxnLst/>
              <a:rect r="r" b="b" t="t" l="l"/>
              <a:pathLst>
                <a:path h="1005840" w="14630400">
                  <a:moveTo>
                    <a:pt x="0" y="0"/>
                  </a:moveTo>
                  <a:lnTo>
                    <a:pt x="14630400" y="0"/>
                  </a:lnTo>
                  <a:lnTo>
                    <a:pt x="14630400" y="1005840"/>
                  </a:lnTo>
                  <a:lnTo>
                    <a:pt x="0" y="1005840"/>
                  </a:lnTo>
                  <a:close/>
                </a:path>
              </a:pathLst>
            </a:custGeom>
            <a:blipFill>
              <a:blip r:embed="rId3">
                <a:alphaModFix amt="0"/>
              </a:blip>
              <a:stretch>
                <a:fillRect l="0" t="-233418" r="0" b="-233418"/>
              </a:stretch>
            </a:blipFill>
          </p:spPr>
        </p:sp>
        <p:sp>
          <p:nvSpPr>
            <p:cNvPr name="TextBox 7" id="7"/>
            <p:cNvSpPr txBox="true"/>
            <p:nvPr/>
          </p:nvSpPr>
          <p:spPr>
            <a:xfrm>
              <a:off x="0" y="-19050"/>
              <a:ext cx="14630400" cy="1024890"/>
            </a:xfrm>
            <a:prstGeom prst="rect">
              <a:avLst/>
            </a:prstGeom>
          </p:spPr>
          <p:txBody>
            <a:bodyPr anchor="ctr" rtlCol="false" tIns="0" lIns="0" bIns="0" rIns="0"/>
            <a:lstStyle/>
            <a:p>
              <a:pPr algn="l">
                <a:lnSpc>
                  <a:spcPts val="4320"/>
                </a:lnSpc>
              </a:pPr>
              <a:r>
                <a:rPr lang="en-US" sz="3600" b="true">
                  <a:solidFill>
                    <a:srgbClr val="1E2761"/>
                  </a:solidFill>
                  <a:latin typeface="Cambria Bold"/>
                  <a:ea typeface="Cambria Bold"/>
                  <a:cs typeface="Cambria Bold"/>
                  <a:sym typeface="Cambria Bold"/>
                </a:rPr>
                <a:t>Scenario 4</a:t>
              </a:r>
            </a:p>
          </p:txBody>
        </p:sp>
      </p:grpSp>
      <p:grpSp>
        <p:nvGrpSpPr>
          <p:cNvPr name="Group 8" id="8"/>
          <p:cNvGrpSpPr/>
          <p:nvPr/>
        </p:nvGrpSpPr>
        <p:grpSpPr>
          <a:xfrm rot="0">
            <a:off x="960120" y="1645920"/>
            <a:ext cx="8229600" cy="411480"/>
            <a:chOff x="0" y="0"/>
            <a:chExt cx="10972800" cy="548640"/>
          </a:xfrm>
        </p:grpSpPr>
        <p:sp>
          <p:nvSpPr>
            <p:cNvPr name="Freeform 9" id="9"/>
            <p:cNvSpPr/>
            <p:nvPr/>
          </p:nvSpPr>
          <p:spPr>
            <a:xfrm flipH="false" flipV="false" rot="0">
              <a:off x="0" y="0"/>
              <a:ext cx="10972800" cy="548640"/>
            </a:xfrm>
            <a:custGeom>
              <a:avLst/>
              <a:gdLst/>
              <a:ahLst/>
              <a:cxnLst/>
              <a:rect r="r" b="b" t="t" l="l"/>
              <a:pathLst>
                <a:path h="548640" w="10972800">
                  <a:moveTo>
                    <a:pt x="0" y="0"/>
                  </a:moveTo>
                  <a:lnTo>
                    <a:pt x="10972800" y="0"/>
                  </a:lnTo>
                  <a:lnTo>
                    <a:pt x="10972800" y="548640"/>
                  </a:lnTo>
                  <a:lnTo>
                    <a:pt x="0" y="548640"/>
                  </a:lnTo>
                  <a:close/>
                </a:path>
              </a:pathLst>
            </a:custGeom>
            <a:blipFill>
              <a:blip r:embed="rId3">
                <a:alphaModFix amt="0"/>
              </a:blip>
              <a:stretch>
                <a:fillRect l="0" t="-339700" r="0" b="-339700"/>
              </a:stretch>
            </a:blipFill>
          </p:spPr>
        </p:sp>
        <p:sp>
          <p:nvSpPr>
            <p:cNvPr name="TextBox 10" id="10"/>
            <p:cNvSpPr txBox="true"/>
            <p:nvPr/>
          </p:nvSpPr>
          <p:spPr>
            <a:xfrm>
              <a:off x="0" y="-28575"/>
              <a:ext cx="10972800" cy="577215"/>
            </a:xfrm>
            <a:prstGeom prst="rect">
              <a:avLst/>
            </a:prstGeom>
          </p:spPr>
          <p:txBody>
            <a:bodyPr anchor="ctr" rtlCol="false" tIns="0" lIns="0" bIns="0" rIns="0"/>
            <a:lstStyle/>
            <a:p>
              <a:pPr algn="l">
                <a:lnSpc>
                  <a:spcPts val="1980"/>
                </a:lnSpc>
              </a:pPr>
              <a:r>
                <a:rPr lang="en-US" sz="1650">
                  <a:solidFill>
                    <a:srgbClr val="6B7280"/>
                  </a:solidFill>
                  <a:latin typeface="Calibri (MS)"/>
                  <a:ea typeface="Calibri (MS)"/>
                  <a:cs typeface="Calibri (MS)"/>
                  <a:sym typeface="Calibri (MS)"/>
                </a:rPr>
                <a:t>4 of 8</a:t>
              </a:r>
            </a:p>
          </p:txBody>
        </p:sp>
      </p:grpSp>
      <p:grpSp>
        <p:nvGrpSpPr>
          <p:cNvPr name="Group 11" id="11"/>
          <p:cNvGrpSpPr/>
          <p:nvPr/>
        </p:nvGrpSpPr>
        <p:grpSpPr>
          <a:xfrm rot="0">
            <a:off x="960120" y="2194560"/>
            <a:ext cx="16322040" cy="2125980"/>
            <a:chOff x="0" y="0"/>
            <a:chExt cx="21762720" cy="2834640"/>
          </a:xfrm>
        </p:grpSpPr>
        <p:sp>
          <p:nvSpPr>
            <p:cNvPr name="Freeform 12" id="12"/>
            <p:cNvSpPr/>
            <p:nvPr/>
          </p:nvSpPr>
          <p:spPr>
            <a:xfrm flipH="false" flipV="false" rot="0">
              <a:off x="0" y="0"/>
              <a:ext cx="21762720" cy="2834640"/>
            </a:xfrm>
            <a:custGeom>
              <a:avLst/>
              <a:gdLst/>
              <a:ahLst/>
              <a:cxnLst/>
              <a:rect r="r" b="b" t="t" l="l"/>
              <a:pathLst>
                <a:path h="2834640" w="21762720">
                  <a:moveTo>
                    <a:pt x="0" y="182880"/>
                  </a:moveTo>
                  <a:cubicBezTo>
                    <a:pt x="0" y="81915"/>
                    <a:pt x="81915" y="0"/>
                    <a:pt x="182880" y="0"/>
                  </a:cubicBezTo>
                  <a:lnTo>
                    <a:pt x="21579839" y="0"/>
                  </a:lnTo>
                  <a:cubicBezTo>
                    <a:pt x="21680804" y="0"/>
                    <a:pt x="21762720" y="81915"/>
                    <a:pt x="21762720" y="182880"/>
                  </a:cubicBezTo>
                  <a:lnTo>
                    <a:pt x="21762720" y="2651760"/>
                  </a:lnTo>
                  <a:cubicBezTo>
                    <a:pt x="21762720" y="2752725"/>
                    <a:pt x="21680804" y="2834640"/>
                    <a:pt x="21579839" y="2834640"/>
                  </a:cubicBezTo>
                  <a:lnTo>
                    <a:pt x="182880" y="2834640"/>
                  </a:lnTo>
                  <a:cubicBezTo>
                    <a:pt x="81915" y="2834640"/>
                    <a:pt x="0" y="2752725"/>
                    <a:pt x="0" y="2651760"/>
                  </a:cubicBezTo>
                  <a:close/>
                </a:path>
              </a:pathLst>
            </a:custGeom>
            <a:solidFill>
              <a:srgbClr val="F4F7FC"/>
            </a:solidFill>
          </p:spPr>
        </p:sp>
      </p:grpSp>
      <p:grpSp>
        <p:nvGrpSpPr>
          <p:cNvPr name="Group 13" id="13"/>
          <p:cNvGrpSpPr/>
          <p:nvPr/>
        </p:nvGrpSpPr>
        <p:grpSpPr>
          <a:xfrm rot="0">
            <a:off x="1371600" y="2441448"/>
            <a:ext cx="15499080" cy="1645920"/>
            <a:chOff x="0" y="0"/>
            <a:chExt cx="20665440" cy="2194560"/>
          </a:xfrm>
        </p:grpSpPr>
        <p:sp>
          <p:nvSpPr>
            <p:cNvPr name="Freeform 14" id="14"/>
            <p:cNvSpPr/>
            <p:nvPr/>
          </p:nvSpPr>
          <p:spPr>
            <a:xfrm flipH="false" flipV="false" rot="0">
              <a:off x="0" y="0"/>
              <a:ext cx="20665439" cy="2194560"/>
            </a:xfrm>
            <a:custGeom>
              <a:avLst/>
              <a:gdLst/>
              <a:ahLst/>
              <a:cxnLst/>
              <a:rect r="r" b="b" t="t" l="l"/>
              <a:pathLst>
                <a:path h="2194560" w="20665439">
                  <a:moveTo>
                    <a:pt x="0" y="0"/>
                  </a:moveTo>
                  <a:lnTo>
                    <a:pt x="20665439" y="0"/>
                  </a:lnTo>
                  <a:lnTo>
                    <a:pt x="20665439" y="2194560"/>
                  </a:lnTo>
                  <a:lnTo>
                    <a:pt x="0" y="2194560"/>
                  </a:lnTo>
                  <a:close/>
                </a:path>
              </a:pathLst>
            </a:custGeom>
            <a:blipFill>
              <a:blip r:embed="rId3">
                <a:alphaModFix amt="0"/>
              </a:blip>
              <a:stretch>
                <a:fillRect l="0" t="-133484" r="0" b="-133484"/>
              </a:stretch>
            </a:blipFill>
          </p:spPr>
        </p:sp>
        <p:sp>
          <p:nvSpPr>
            <p:cNvPr name="TextBox 15" id="15"/>
            <p:cNvSpPr txBox="true"/>
            <p:nvPr/>
          </p:nvSpPr>
          <p:spPr>
            <a:xfrm>
              <a:off x="0" y="-85725"/>
              <a:ext cx="20665440" cy="2280285"/>
            </a:xfrm>
            <a:prstGeom prst="rect">
              <a:avLst/>
            </a:prstGeom>
          </p:spPr>
          <p:txBody>
            <a:bodyPr anchor="ctr" rtlCol="false" tIns="0" lIns="0" bIns="0" rIns="0"/>
            <a:lstStyle/>
            <a:p>
              <a:pPr algn="l">
                <a:lnSpc>
                  <a:spcPts val="3600"/>
                </a:lnSpc>
              </a:pPr>
              <a:r>
                <a:rPr lang="en-US" sz="2400" i="true">
                  <a:solidFill>
                    <a:srgbClr val="23262F"/>
                  </a:solidFill>
                  <a:latin typeface="Cambria Italics"/>
                  <a:ea typeface="Cambria Italics"/>
                  <a:cs typeface="Cambria Italics"/>
                  <a:sym typeface="Cambria Italics"/>
                </a:rPr>
                <a:t>“Only one employee knows how to operate the online business-permit renewal system, and she retires next month with no documented handover.”</a:t>
              </a:r>
            </a:p>
          </p:txBody>
        </p:sp>
      </p:grpSp>
      <p:grpSp>
        <p:nvGrpSpPr>
          <p:cNvPr name="Group 16" id="16"/>
          <p:cNvGrpSpPr/>
          <p:nvPr/>
        </p:nvGrpSpPr>
        <p:grpSpPr>
          <a:xfrm rot="0">
            <a:off x="960120" y="4594860"/>
            <a:ext cx="16322040" cy="685800"/>
            <a:chOff x="0" y="0"/>
            <a:chExt cx="21762720" cy="914400"/>
          </a:xfrm>
        </p:grpSpPr>
        <p:sp>
          <p:nvSpPr>
            <p:cNvPr name="Freeform 17" id="17"/>
            <p:cNvSpPr/>
            <p:nvPr/>
          </p:nvSpPr>
          <p:spPr>
            <a:xfrm flipH="false" flipV="false" rot="0">
              <a:off x="0" y="0"/>
              <a:ext cx="21762720" cy="914400"/>
            </a:xfrm>
            <a:custGeom>
              <a:avLst/>
              <a:gdLst/>
              <a:ahLst/>
              <a:cxnLst/>
              <a:rect r="r" b="b" t="t" l="l"/>
              <a:pathLst>
                <a:path h="914400" w="21762720">
                  <a:moveTo>
                    <a:pt x="0" y="0"/>
                  </a:moveTo>
                  <a:lnTo>
                    <a:pt x="21762720" y="0"/>
                  </a:lnTo>
                  <a:lnTo>
                    <a:pt x="21762720" y="914400"/>
                  </a:lnTo>
                  <a:lnTo>
                    <a:pt x="0" y="914400"/>
                  </a:lnTo>
                  <a:close/>
                </a:path>
              </a:pathLst>
            </a:custGeom>
            <a:blipFill>
              <a:blip r:embed="rId3">
                <a:alphaModFix amt="0"/>
              </a:blip>
              <a:stretch>
                <a:fillRect l="0" t="-413743" r="0" b="-413743"/>
              </a:stretch>
            </a:blipFill>
          </p:spPr>
        </p:sp>
        <p:sp>
          <p:nvSpPr>
            <p:cNvPr name="TextBox 18" id="18"/>
            <p:cNvSpPr txBox="true"/>
            <p:nvPr/>
          </p:nvSpPr>
          <p:spPr>
            <a:xfrm>
              <a:off x="0" y="-47625"/>
              <a:ext cx="21762720" cy="962025"/>
            </a:xfrm>
            <a:prstGeom prst="rect">
              <a:avLst/>
            </a:prstGeom>
          </p:spPr>
          <p:txBody>
            <a:bodyPr anchor="ctr" rtlCol="false" tIns="0" lIns="0" bIns="0" rIns="0"/>
            <a:lstStyle/>
            <a:p>
              <a:pPr algn="ctr">
                <a:lnSpc>
                  <a:spcPts val="2520"/>
                </a:lnSpc>
              </a:pPr>
              <a:r>
                <a:rPr lang="en-US" sz="2100" i="true">
                  <a:solidFill>
                    <a:srgbClr val="6B7280"/>
                  </a:solidFill>
                  <a:latin typeface="Calibri (MS) Italics"/>
                  <a:ea typeface="Calibri (MS) Italics"/>
                  <a:cs typeface="Calibri (MS) Italics"/>
                  <a:sym typeface="Calibri (MS) Italics"/>
                </a:rPr>
                <a:t>Rate the likelihood, rate the impact, then pick a response. Discuss, then we'll reveal the answer.</a:t>
              </a:r>
            </a:p>
          </p:txBody>
        </p:sp>
      </p:grpSp>
      <p:grpSp>
        <p:nvGrpSpPr>
          <p:cNvPr name="Group 19" id="19"/>
          <p:cNvGrpSpPr/>
          <p:nvPr/>
        </p:nvGrpSpPr>
        <p:grpSpPr>
          <a:xfrm rot="0">
            <a:off x="960120" y="5486400"/>
            <a:ext cx="16322040" cy="384048"/>
            <a:chOff x="0" y="0"/>
            <a:chExt cx="21762720" cy="512064"/>
          </a:xfrm>
        </p:grpSpPr>
        <p:sp>
          <p:nvSpPr>
            <p:cNvPr name="Freeform 20" id="20"/>
            <p:cNvSpPr/>
            <p:nvPr/>
          </p:nvSpPr>
          <p:spPr>
            <a:xfrm flipH="false" flipV="false" rot="0">
              <a:off x="0" y="0"/>
              <a:ext cx="21762720" cy="512064"/>
            </a:xfrm>
            <a:custGeom>
              <a:avLst/>
              <a:gdLst/>
              <a:ahLst/>
              <a:cxnLst/>
              <a:rect r="r" b="b" t="t" l="l"/>
              <a:pathLst>
                <a:path h="512064" w="21762720">
                  <a:moveTo>
                    <a:pt x="0" y="0"/>
                  </a:moveTo>
                  <a:lnTo>
                    <a:pt x="21762720" y="0"/>
                  </a:lnTo>
                  <a:lnTo>
                    <a:pt x="21762720" y="512064"/>
                  </a:lnTo>
                  <a:lnTo>
                    <a:pt x="0" y="512064"/>
                  </a:lnTo>
                  <a:close/>
                </a:path>
              </a:pathLst>
            </a:custGeom>
            <a:blipFill>
              <a:blip r:embed="rId3">
                <a:alphaModFix amt="0"/>
              </a:blip>
              <a:stretch>
                <a:fillRect l="0" t="-778114" r="0" b="-778114"/>
              </a:stretch>
            </a:blipFill>
          </p:spPr>
        </p:sp>
        <p:sp>
          <p:nvSpPr>
            <p:cNvPr name="TextBox 21" id="21"/>
            <p:cNvSpPr txBox="true"/>
            <p:nvPr/>
          </p:nvSpPr>
          <p:spPr>
            <a:xfrm>
              <a:off x="0" y="-19050"/>
              <a:ext cx="21762720" cy="531114"/>
            </a:xfrm>
            <a:prstGeom prst="rect">
              <a:avLst/>
            </a:prstGeom>
          </p:spPr>
          <p:txBody>
            <a:bodyPr anchor="ctr" rtlCol="false" tIns="0" lIns="0" bIns="0" rIns="0"/>
            <a:lstStyle/>
            <a:p>
              <a:pPr algn="ctr">
                <a:lnSpc>
                  <a:spcPts val="1889"/>
                </a:lnSpc>
              </a:pPr>
              <a:r>
                <a:rPr lang="en-US" b="true" sz="1575" spc="74">
                  <a:solidFill>
                    <a:srgbClr val="6B7280"/>
                  </a:solidFill>
                  <a:latin typeface="Calibri (MS) Bold"/>
                  <a:ea typeface="Calibri (MS) Bold"/>
                  <a:cs typeface="Calibri (MS) Bold"/>
                  <a:sym typeface="Calibri (MS) Bold"/>
                </a:rPr>
                <a:t>SCALE FOR LIKELIHOOD &amp; IMPACT</a:t>
              </a:r>
            </a:p>
          </p:txBody>
        </p:sp>
      </p:grpSp>
      <p:grpSp>
        <p:nvGrpSpPr>
          <p:cNvPr name="Group 22" id="22"/>
          <p:cNvGrpSpPr/>
          <p:nvPr/>
        </p:nvGrpSpPr>
        <p:grpSpPr>
          <a:xfrm rot="0">
            <a:off x="3371469" y="5915787"/>
            <a:ext cx="3585210" cy="773430"/>
            <a:chOff x="0" y="0"/>
            <a:chExt cx="4780280" cy="1031240"/>
          </a:xfrm>
        </p:grpSpPr>
        <p:sp>
          <p:nvSpPr>
            <p:cNvPr name="Freeform 23" id="23"/>
            <p:cNvSpPr/>
            <p:nvPr/>
          </p:nvSpPr>
          <p:spPr>
            <a:xfrm flipH="false" flipV="false" rot="0">
              <a:off x="0" y="0"/>
              <a:ext cx="4780280" cy="1031240"/>
            </a:xfrm>
            <a:custGeom>
              <a:avLst/>
              <a:gdLst/>
              <a:ahLst/>
              <a:cxnLst/>
              <a:rect r="r" b="b" t="t" l="l"/>
              <a:pathLst>
                <a:path h="1031240" w="4780280">
                  <a:moveTo>
                    <a:pt x="0" y="168783"/>
                  </a:moveTo>
                  <a:cubicBezTo>
                    <a:pt x="0" y="75565"/>
                    <a:pt x="75565" y="0"/>
                    <a:pt x="168783" y="0"/>
                  </a:cubicBezTo>
                  <a:lnTo>
                    <a:pt x="4611497" y="0"/>
                  </a:lnTo>
                  <a:cubicBezTo>
                    <a:pt x="4704715" y="0"/>
                    <a:pt x="4780280" y="75565"/>
                    <a:pt x="4780280" y="168783"/>
                  </a:cubicBezTo>
                  <a:lnTo>
                    <a:pt x="4780280" y="862457"/>
                  </a:lnTo>
                  <a:cubicBezTo>
                    <a:pt x="4780280" y="955675"/>
                    <a:pt x="4704715" y="1031240"/>
                    <a:pt x="4611497" y="1031240"/>
                  </a:cubicBezTo>
                  <a:lnTo>
                    <a:pt x="168783" y="1031240"/>
                  </a:lnTo>
                  <a:cubicBezTo>
                    <a:pt x="75565" y="1031240"/>
                    <a:pt x="0" y="955675"/>
                    <a:pt x="0" y="862457"/>
                  </a:cubicBezTo>
                  <a:close/>
                </a:path>
              </a:pathLst>
            </a:custGeom>
            <a:solidFill>
              <a:srgbClr val="F4F7FC"/>
            </a:solidFill>
            <a:ln w="19050" cap="sq">
              <a:solidFill>
                <a:srgbClr val="D7DCEC"/>
              </a:solidFill>
              <a:prstDash val="solid"/>
              <a:miter/>
            </a:ln>
          </p:spPr>
        </p:sp>
      </p:grpSp>
      <p:grpSp>
        <p:nvGrpSpPr>
          <p:cNvPr name="Group 24" id="24"/>
          <p:cNvGrpSpPr/>
          <p:nvPr/>
        </p:nvGrpSpPr>
        <p:grpSpPr>
          <a:xfrm rot="0">
            <a:off x="3380994" y="5925312"/>
            <a:ext cx="3566160" cy="754380"/>
            <a:chOff x="0" y="0"/>
            <a:chExt cx="4754880" cy="1005840"/>
          </a:xfrm>
        </p:grpSpPr>
        <p:sp>
          <p:nvSpPr>
            <p:cNvPr name="Freeform 25" id="25"/>
            <p:cNvSpPr/>
            <p:nvPr/>
          </p:nvSpPr>
          <p:spPr>
            <a:xfrm flipH="false" flipV="false" rot="0">
              <a:off x="0" y="0"/>
              <a:ext cx="4754880" cy="1005840"/>
            </a:xfrm>
            <a:custGeom>
              <a:avLst/>
              <a:gdLst/>
              <a:ahLst/>
              <a:cxnLst/>
              <a:rect r="r" b="b" t="t" l="l"/>
              <a:pathLst>
                <a:path h="1005840" w="4754880">
                  <a:moveTo>
                    <a:pt x="0" y="0"/>
                  </a:moveTo>
                  <a:lnTo>
                    <a:pt x="4754880" y="0"/>
                  </a:lnTo>
                  <a:lnTo>
                    <a:pt x="4754880" y="1005840"/>
                  </a:lnTo>
                  <a:lnTo>
                    <a:pt x="0" y="1005840"/>
                  </a:lnTo>
                  <a:close/>
                </a:path>
              </a:pathLst>
            </a:custGeom>
            <a:blipFill>
              <a:blip r:embed="rId3">
                <a:alphaModFix amt="0"/>
              </a:blip>
              <a:stretch>
                <a:fillRect l="0" t="-42111" r="0" b="-42111"/>
              </a:stretch>
            </a:blipFill>
          </p:spPr>
        </p:sp>
        <p:sp>
          <p:nvSpPr>
            <p:cNvPr name="TextBox 26" id="26"/>
            <p:cNvSpPr txBox="true"/>
            <p:nvPr/>
          </p:nvSpPr>
          <p:spPr>
            <a:xfrm>
              <a:off x="0" y="-47625"/>
              <a:ext cx="4754880" cy="1053465"/>
            </a:xfrm>
            <a:prstGeom prst="rect">
              <a:avLst/>
            </a:prstGeom>
          </p:spPr>
          <p:txBody>
            <a:bodyPr anchor="ctr" rtlCol="false" tIns="0" lIns="0" bIns="0" rIns="0"/>
            <a:lstStyle/>
            <a:p>
              <a:pPr algn="ctr">
                <a:lnSpc>
                  <a:spcPts val="2340"/>
                </a:lnSpc>
              </a:pPr>
              <a:r>
                <a:rPr lang="en-US" sz="1950">
                  <a:solidFill>
                    <a:srgbClr val="6B7280"/>
                  </a:solidFill>
                  <a:latin typeface="Calibri (MS)"/>
                  <a:ea typeface="Calibri (MS)"/>
                  <a:cs typeface="Calibri (MS)"/>
                  <a:sym typeface="Calibri (MS)"/>
                </a:rPr>
                <a:t>Low</a:t>
              </a:r>
            </a:p>
          </p:txBody>
        </p:sp>
      </p:grpSp>
      <p:grpSp>
        <p:nvGrpSpPr>
          <p:cNvPr name="Group 27" id="27"/>
          <p:cNvGrpSpPr/>
          <p:nvPr/>
        </p:nvGrpSpPr>
        <p:grpSpPr>
          <a:xfrm rot="0">
            <a:off x="7349109" y="5915787"/>
            <a:ext cx="3585210" cy="773430"/>
            <a:chOff x="0" y="0"/>
            <a:chExt cx="4780280" cy="1031240"/>
          </a:xfrm>
        </p:grpSpPr>
        <p:sp>
          <p:nvSpPr>
            <p:cNvPr name="Freeform 28" id="28"/>
            <p:cNvSpPr/>
            <p:nvPr/>
          </p:nvSpPr>
          <p:spPr>
            <a:xfrm flipH="false" flipV="false" rot="0">
              <a:off x="0" y="0"/>
              <a:ext cx="4780280" cy="1031240"/>
            </a:xfrm>
            <a:custGeom>
              <a:avLst/>
              <a:gdLst/>
              <a:ahLst/>
              <a:cxnLst/>
              <a:rect r="r" b="b" t="t" l="l"/>
              <a:pathLst>
                <a:path h="1031240" w="4780280">
                  <a:moveTo>
                    <a:pt x="0" y="168783"/>
                  </a:moveTo>
                  <a:cubicBezTo>
                    <a:pt x="0" y="75565"/>
                    <a:pt x="75565" y="0"/>
                    <a:pt x="168783" y="0"/>
                  </a:cubicBezTo>
                  <a:lnTo>
                    <a:pt x="4611497" y="0"/>
                  </a:lnTo>
                  <a:cubicBezTo>
                    <a:pt x="4704715" y="0"/>
                    <a:pt x="4780280" y="75565"/>
                    <a:pt x="4780280" y="168783"/>
                  </a:cubicBezTo>
                  <a:lnTo>
                    <a:pt x="4780280" y="862457"/>
                  </a:lnTo>
                  <a:cubicBezTo>
                    <a:pt x="4780280" y="955675"/>
                    <a:pt x="4704715" y="1031240"/>
                    <a:pt x="4611497" y="1031240"/>
                  </a:cubicBezTo>
                  <a:lnTo>
                    <a:pt x="168783" y="1031240"/>
                  </a:lnTo>
                  <a:cubicBezTo>
                    <a:pt x="75565" y="1031240"/>
                    <a:pt x="0" y="955675"/>
                    <a:pt x="0" y="862457"/>
                  </a:cubicBezTo>
                  <a:close/>
                </a:path>
              </a:pathLst>
            </a:custGeom>
            <a:solidFill>
              <a:srgbClr val="F4F7FC"/>
            </a:solidFill>
            <a:ln w="19050" cap="sq">
              <a:solidFill>
                <a:srgbClr val="D7DCEC"/>
              </a:solidFill>
              <a:prstDash val="solid"/>
              <a:miter/>
            </a:ln>
          </p:spPr>
        </p:sp>
      </p:grpSp>
      <p:grpSp>
        <p:nvGrpSpPr>
          <p:cNvPr name="Group 29" id="29"/>
          <p:cNvGrpSpPr/>
          <p:nvPr/>
        </p:nvGrpSpPr>
        <p:grpSpPr>
          <a:xfrm rot="0">
            <a:off x="7358634" y="5925312"/>
            <a:ext cx="3566160" cy="754380"/>
            <a:chOff x="0" y="0"/>
            <a:chExt cx="4754880" cy="1005840"/>
          </a:xfrm>
        </p:grpSpPr>
        <p:sp>
          <p:nvSpPr>
            <p:cNvPr name="Freeform 30" id="30"/>
            <p:cNvSpPr/>
            <p:nvPr/>
          </p:nvSpPr>
          <p:spPr>
            <a:xfrm flipH="false" flipV="false" rot="0">
              <a:off x="0" y="0"/>
              <a:ext cx="4754880" cy="1005840"/>
            </a:xfrm>
            <a:custGeom>
              <a:avLst/>
              <a:gdLst/>
              <a:ahLst/>
              <a:cxnLst/>
              <a:rect r="r" b="b" t="t" l="l"/>
              <a:pathLst>
                <a:path h="1005840" w="4754880">
                  <a:moveTo>
                    <a:pt x="0" y="0"/>
                  </a:moveTo>
                  <a:lnTo>
                    <a:pt x="4754880" y="0"/>
                  </a:lnTo>
                  <a:lnTo>
                    <a:pt x="4754880" y="1005840"/>
                  </a:lnTo>
                  <a:lnTo>
                    <a:pt x="0" y="1005840"/>
                  </a:lnTo>
                  <a:close/>
                </a:path>
              </a:pathLst>
            </a:custGeom>
            <a:blipFill>
              <a:blip r:embed="rId3">
                <a:alphaModFix amt="0"/>
              </a:blip>
              <a:stretch>
                <a:fillRect l="0" t="-42111" r="0" b="-42111"/>
              </a:stretch>
            </a:blipFill>
          </p:spPr>
        </p:sp>
        <p:sp>
          <p:nvSpPr>
            <p:cNvPr name="TextBox 31" id="31"/>
            <p:cNvSpPr txBox="true"/>
            <p:nvPr/>
          </p:nvSpPr>
          <p:spPr>
            <a:xfrm>
              <a:off x="0" y="-47625"/>
              <a:ext cx="4754880" cy="1053465"/>
            </a:xfrm>
            <a:prstGeom prst="rect">
              <a:avLst/>
            </a:prstGeom>
          </p:spPr>
          <p:txBody>
            <a:bodyPr anchor="ctr" rtlCol="false" tIns="0" lIns="0" bIns="0" rIns="0"/>
            <a:lstStyle/>
            <a:p>
              <a:pPr algn="ctr">
                <a:lnSpc>
                  <a:spcPts val="2340"/>
                </a:lnSpc>
              </a:pPr>
              <a:r>
                <a:rPr lang="en-US" sz="1950">
                  <a:solidFill>
                    <a:srgbClr val="6B7280"/>
                  </a:solidFill>
                  <a:latin typeface="Calibri (MS)"/>
                  <a:ea typeface="Calibri (MS)"/>
                  <a:cs typeface="Calibri (MS)"/>
                  <a:sym typeface="Calibri (MS)"/>
                </a:rPr>
                <a:t>Medium</a:t>
              </a:r>
            </a:p>
          </p:txBody>
        </p:sp>
      </p:grpSp>
      <p:grpSp>
        <p:nvGrpSpPr>
          <p:cNvPr name="Group 32" id="32"/>
          <p:cNvGrpSpPr/>
          <p:nvPr/>
        </p:nvGrpSpPr>
        <p:grpSpPr>
          <a:xfrm rot="0">
            <a:off x="11326749" y="5915787"/>
            <a:ext cx="3585210" cy="773430"/>
            <a:chOff x="0" y="0"/>
            <a:chExt cx="4780280" cy="1031240"/>
          </a:xfrm>
        </p:grpSpPr>
        <p:sp>
          <p:nvSpPr>
            <p:cNvPr name="Freeform 33" id="33"/>
            <p:cNvSpPr/>
            <p:nvPr/>
          </p:nvSpPr>
          <p:spPr>
            <a:xfrm flipH="false" flipV="false" rot="0">
              <a:off x="0" y="0"/>
              <a:ext cx="4780280" cy="1031240"/>
            </a:xfrm>
            <a:custGeom>
              <a:avLst/>
              <a:gdLst/>
              <a:ahLst/>
              <a:cxnLst/>
              <a:rect r="r" b="b" t="t" l="l"/>
              <a:pathLst>
                <a:path h="1031240" w="4780280">
                  <a:moveTo>
                    <a:pt x="0" y="168783"/>
                  </a:moveTo>
                  <a:cubicBezTo>
                    <a:pt x="0" y="75565"/>
                    <a:pt x="75565" y="0"/>
                    <a:pt x="168783" y="0"/>
                  </a:cubicBezTo>
                  <a:lnTo>
                    <a:pt x="4611497" y="0"/>
                  </a:lnTo>
                  <a:cubicBezTo>
                    <a:pt x="4704715" y="0"/>
                    <a:pt x="4780280" y="75565"/>
                    <a:pt x="4780280" y="168783"/>
                  </a:cubicBezTo>
                  <a:lnTo>
                    <a:pt x="4780280" y="862457"/>
                  </a:lnTo>
                  <a:cubicBezTo>
                    <a:pt x="4780280" y="955675"/>
                    <a:pt x="4704715" y="1031240"/>
                    <a:pt x="4611497" y="1031240"/>
                  </a:cubicBezTo>
                  <a:lnTo>
                    <a:pt x="168783" y="1031240"/>
                  </a:lnTo>
                  <a:cubicBezTo>
                    <a:pt x="75565" y="1031240"/>
                    <a:pt x="0" y="955675"/>
                    <a:pt x="0" y="862457"/>
                  </a:cubicBezTo>
                  <a:close/>
                </a:path>
              </a:pathLst>
            </a:custGeom>
            <a:solidFill>
              <a:srgbClr val="F4F7FC"/>
            </a:solidFill>
            <a:ln w="19050" cap="sq">
              <a:solidFill>
                <a:srgbClr val="D7DCEC"/>
              </a:solidFill>
              <a:prstDash val="solid"/>
              <a:miter/>
            </a:ln>
          </p:spPr>
        </p:sp>
      </p:grpSp>
      <p:grpSp>
        <p:nvGrpSpPr>
          <p:cNvPr name="Group 34" id="34"/>
          <p:cNvGrpSpPr/>
          <p:nvPr/>
        </p:nvGrpSpPr>
        <p:grpSpPr>
          <a:xfrm rot="0">
            <a:off x="11336274" y="5925312"/>
            <a:ext cx="3566160" cy="754380"/>
            <a:chOff x="0" y="0"/>
            <a:chExt cx="4754880" cy="1005840"/>
          </a:xfrm>
        </p:grpSpPr>
        <p:sp>
          <p:nvSpPr>
            <p:cNvPr name="Freeform 35" id="35"/>
            <p:cNvSpPr/>
            <p:nvPr/>
          </p:nvSpPr>
          <p:spPr>
            <a:xfrm flipH="false" flipV="false" rot="0">
              <a:off x="0" y="0"/>
              <a:ext cx="4754880" cy="1005840"/>
            </a:xfrm>
            <a:custGeom>
              <a:avLst/>
              <a:gdLst/>
              <a:ahLst/>
              <a:cxnLst/>
              <a:rect r="r" b="b" t="t" l="l"/>
              <a:pathLst>
                <a:path h="1005840" w="4754880">
                  <a:moveTo>
                    <a:pt x="0" y="0"/>
                  </a:moveTo>
                  <a:lnTo>
                    <a:pt x="4754880" y="0"/>
                  </a:lnTo>
                  <a:lnTo>
                    <a:pt x="4754880" y="1005840"/>
                  </a:lnTo>
                  <a:lnTo>
                    <a:pt x="0" y="1005840"/>
                  </a:lnTo>
                  <a:close/>
                </a:path>
              </a:pathLst>
            </a:custGeom>
            <a:blipFill>
              <a:blip r:embed="rId3">
                <a:alphaModFix amt="0"/>
              </a:blip>
              <a:stretch>
                <a:fillRect l="0" t="-42111" r="0" b="-42111"/>
              </a:stretch>
            </a:blipFill>
          </p:spPr>
        </p:sp>
        <p:sp>
          <p:nvSpPr>
            <p:cNvPr name="TextBox 36" id="36"/>
            <p:cNvSpPr txBox="true"/>
            <p:nvPr/>
          </p:nvSpPr>
          <p:spPr>
            <a:xfrm>
              <a:off x="0" y="-47625"/>
              <a:ext cx="4754880" cy="1053465"/>
            </a:xfrm>
            <a:prstGeom prst="rect">
              <a:avLst/>
            </a:prstGeom>
          </p:spPr>
          <p:txBody>
            <a:bodyPr anchor="ctr" rtlCol="false" tIns="0" lIns="0" bIns="0" rIns="0"/>
            <a:lstStyle/>
            <a:p>
              <a:pPr algn="ctr">
                <a:lnSpc>
                  <a:spcPts val="2340"/>
                </a:lnSpc>
              </a:pPr>
              <a:r>
                <a:rPr lang="en-US" sz="1950">
                  <a:solidFill>
                    <a:srgbClr val="6B7280"/>
                  </a:solidFill>
                  <a:latin typeface="Calibri (MS)"/>
                  <a:ea typeface="Calibri (MS)"/>
                  <a:cs typeface="Calibri (MS)"/>
                  <a:sym typeface="Calibri (MS)"/>
                </a:rPr>
                <a:t>High</a:t>
              </a:r>
            </a:p>
          </p:txBody>
        </p:sp>
      </p:grpSp>
      <p:grpSp>
        <p:nvGrpSpPr>
          <p:cNvPr name="Group 37" id="37"/>
          <p:cNvGrpSpPr/>
          <p:nvPr/>
        </p:nvGrpSpPr>
        <p:grpSpPr>
          <a:xfrm rot="0">
            <a:off x="960120" y="7063740"/>
            <a:ext cx="16322040" cy="384048"/>
            <a:chOff x="0" y="0"/>
            <a:chExt cx="21762720" cy="512064"/>
          </a:xfrm>
        </p:grpSpPr>
        <p:sp>
          <p:nvSpPr>
            <p:cNvPr name="Freeform 38" id="38"/>
            <p:cNvSpPr/>
            <p:nvPr/>
          </p:nvSpPr>
          <p:spPr>
            <a:xfrm flipH="false" flipV="false" rot="0">
              <a:off x="0" y="0"/>
              <a:ext cx="21762720" cy="512064"/>
            </a:xfrm>
            <a:custGeom>
              <a:avLst/>
              <a:gdLst/>
              <a:ahLst/>
              <a:cxnLst/>
              <a:rect r="r" b="b" t="t" l="l"/>
              <a:pathLst>
                <a:path h="512064" w="21762720">
                  <a:moveTo>
                    <a:pt x="0" y="0"/>
                  </a:moveTo>
                  <a:lnTo>
                    <a:pt x="21762720" y="0"/>
                  </a:lnTo>
                  <a:lnTo>
                    <a:pt x="21762720" y="512064"/>
                  </a:lnTo>
                  <a:lnTo>
                    <a:pt x="0" y="512064"/>
                  </a:lnTo>
                  <a:close/>
                </a:path>
              </a:pathLst>
            </a:custGeom>
            <a:blipFill>
              <a:blip r:embed="rId3">
                <a:alphaModFix amt="0"/>
              </a:blip>
              <a:stretch>
                <a:fillRect l="0" t="-778114" r="0" b="-778114"/>
              </a:stretch>
            </a:blipFill>
          </p:spPr>
        </p:sp>
        <p:sp>
          <p:nvSpPr>
            <p:cNvPr name="TextBox 39" id="39"/>
            <p:cNvSpPr txBox="true"/>
            <p:nvPr/>
          </p:nvSpPr>
          <p:spPr>
            <a:xfrm>
              <a:off x="0" y="-19050"/>
              <a:ext cx="21762720" cy="531114"/>
            </a:xfrm>
            <a:prstGeom prst="rect">
              <a:avLst/>
            </a:prstGeom>
          </p:spPr>
          <p:txBody>
            <a:bodyPr anchor="ctr" rtlCol="false" tIns="0" lIns="0" bIns="0" rIns="0"/>
            <a:lstStyle/>
            <a:p>
              <a:pPr algn="ctr">
                <a:lnSpc>
                  <a:spcPts val="1889"/>
                </a:lnSpc>
              </a:pPr>
              <a:r>
                <a:rPr lang="en-US" b="true" sz="1575" spc="74">
                  <a:solidFill>
                    <a:srgbClr val="6B7280"/>
                  </a:solidFill>
                  <a:latin typeface="Calibri (MS) Bold"/>
                  <a:ea typeface="Calibri (MS) Bold"/>
                  <a:cs typeface="Calibri (MS) Bold"/>
                  <a:sym typeface="Calibri (MS) Bold"/>
                </a:rPr>
                <a:t>RESPONSE OPTIONS</a:t>
              </a:r>
            </a:p>
          </p:txBody>
        </p:sp>
      </p:grpSp>
      <p:grpSp>
        <p:nvGrpSpPr>
          <p:cNvPr name="Group 40" id="40"/>
          <p:cNvGrpSpPr/>
          <p:nvPr/>
        </p:nvGrpSpPr>
        <p:grpSpPr>
          <a:xfrm rot="0">
            <a:off x="1012317" y="7493127"/>
            <a:ext cx="3790950" cy="773430"/>
            <a:chOff x="0" y="0"/>
            <a:chExt cx="5054600" cy="1031240"/>
          </a:xfrm>
        </p:grpSpPr>
        <p:sp>
          <p:nvSpPr>
            <p:cNvPr name="Freeform 41" id="41"/>
            <p:cNvSpPr/>
            <p:nvPr/>
          </p:nvSpPr>
          <p:spPr>
            <a:xfrm flipH="false" flipV="false" rot="0">
              <a:off x="0" y="0"/>
              <a:ext cx="5054600" cy="1031240"/>
            </a:xfrm>
            <a:custGeom>
              <a:avLst/>
              <a:gdLst/>
              <a:ahLst/>
              <a:cxnLst/>
              <a:rect r="r" b="b" t="t" l="l"/>
              <a:pathLst>
                <a:path h="1031240" w="5054600">
                  <a:moveTo>
                    <a:pt x="0" y="168783"/>
                  </a:moveTo>
                  <a:cubicBezTo>
                    <a:pt x="0" y="75565"/>
                    <a:pt x="75565" y="0"/>
                    <a:pt x="168783" y="0"/>
                  </a:cubicBezTo>
                  <a:lnTo>
                    <a:pt x="4885817" y="0"/>
                  </a:lnTo>
                  <a:cubicBezTo>
                    <a:pt x="4979035" y="0"/>
                    <a:pt x="5054600" y="75565"/>
                    <a:pt x="5054600" y="168783"/>
                  </a:cubicBezTo>
                  <a:lnTo>
                    <a:pt x="5054600" y="862457"/>
                  </a:lnTo>
                  <a:cubicBezTo>
                    <a:pt x="5054600" y="955675"/>
                    <a:pt x="4979035" y="1031240"/>
                    <a:pt x="4885817" y="1031240"/>
                  </a:cubicBezTo>
                  <a:lnTo>
                    <a:pt x="168783" y="1031240"/>
                  </a:lnTo>
                  <a:cubicBezTo>
                    <a:pt x="75565" y="1031240"/>
                    <a:pt x="0" y="955675"/>
                    <a:pt x="0" y="862457"/>
                  </a:cubicBezTo>
                  <a:close/>
                </a:path>
              </a:pathLst>
            </a:custGeom>
            <a:solidFill>
              <a:srgbClr val="F4F7FC"/>
            </a:solidFill>
            <a:ln w="19050" cap="sq">
              <a:solidFill>
                <a:srgbClr val="D7DCEC"/>
              </a:solidFill>
              <a:prstDash val="solid"/>
              <a:miter/>
            </a:ln>
          </p:spPr>
        </p:sp>
      </p:grpSp>
      <p:grpSp>
        <p:nvGrpSpPr>
          <p:cNvPr name="Group 42" id="42"/>
          <p:cNvGrpSpPr/>
          <p:nvPr/>
        </p:nvGrpSpPr>
        <p:grpSpPr>
          <a:xfrm rot="0">
            <a:off x="1021842" y="7502652"/>
            <a:ext cx="3771900" cy="754380"/>
            <a:chOff x="0" y="0"/>
            <a:chExt cx="5029200" cy="1005840"/>
          </a:xfrm>
        </p:grpSpPr>
        <p:sp>
          <p:nvSpPr>
            <p:cNvPr name="Freeform 43" id="43"/>
            <p:cNvSpPr/>
            <p:nvPr/>
          </p:nvSpPr>
          <p:spPr>
            <a:xfrm flipH="false" flipV="false" rot="0">
              <a:off x="0" y="0"/>
              <a:ext cx="5029200" cy="1005840"/>
            </a:xfrm>
            <a:custGeom>
              <a:avLst/>
              <a:gdLst/>
              <a:ahLst/>
              <a:cxnLst/>
              <a:rect r="r" b="b" t="t" l="l"/>
              <a:pathLst>
                <a:path h="1005840" w="5029200">
                  <a:moveTo>
                    <a:pt x="0" y="0"/>
                  </a:moveTo>
                  <a:lnTo>
                    <a:pt x="5029200" y="0"/>
                  </a:lnTo>
                  <a:lnTo>
                    <a:pt x="5029200" y="1005840"/>
                  </a:lnTo>
                  <a:lnTo>
                    <a:pt x="0" y="1005840"/>
                  </a:lnTo>
                  <a:close/>
                </a:path>
              </a:pathLst>
            </a:custGeom>
            <a:blipFill>
              <a:blip r:embed="rId3">
                <a:alphaModFix amt="0"/>
              </a:blip>
              <a:stretch>
                <a:fillRect l="0" t="-47425" r="0" b="-47425"/>
              </a:stretch>
            </a:blipFill>
          </p:spPr>
        </p:sp>
        <p:sp>
          <p:nvSpPr>
            <p:cNvPr name="TextBox 44" id="44"/>
            <p:cNvSpPr txBox="true"/>
            <p:nvPr/>
          </p:nvSpPr>
          <p:spPr>
            <a:xfrm>
              <a:off x="0" y="-47625"/>
              <a:ext cx="5029200" cy="1053465"/>
            </a:xfrm>
            <a:prstGeom prst="rect">
              <a:avLst/>
            </a:prstGeom>
          </p:spPr>
          <p:txBody>
            <a:bodyPr anchor="ctr" rtlCol="false" tIns="0" lIns="0" bIns="0" rIns="0"/>
            <a:lstStyle/>
            <a:p>
              <a:pPr algn="ctr">
                <a:lnSpc>
                  <a:spcPts val="2340"/>
                </a:lnSpc>
              </a:pPr>
              <a:r>
                <a:rPr lang="en-US" sz="1950">
                  <a:solidFill>
                    <a:srgbClr val="6B7280"/>
                  </a:solidFill>
                  <a:latin typeface="Calibri (MS)"/>
                  <a:ea typeface="Calibri (MS)"/>
                  <a:cs typeface="Calibri (MS)"/>
                  <a:sym typeface="Calibri (MS)"/>
                </a:rPr>
                <a:t>Treat</a:t>
              </a:r>
            </a:p>
          </p:txBody>
        </p:sp>
      </p:grpSp>
      <p:grpSp>
        <p:nvGrpSpPr>
          <p:cNvPr name="Group 45" id="45"/>
          <p:cNvGrpSpPr/>
          <p:nvPr/>
        </p:nvGrpSpPr>
        <p:grpSpPr>
          <a:xfrm rot="0">
            <a:off x="5168265" y="7493127"/>
            <a:ext cx="3790950" cy="773430"/>
            <a:chOff x="0" y="0"/>
            <a:chExt cx="5054600" cy="1031240"/>
          </a:xfrm>
        </p:grpSpPr>
        <p:sp>
          <p:nvSpPr>
            <p:cNvPr name="Freeform 46" id="46"/>
            <p:cNvSpPr/>
            <p:nvPr/>
          </p:nvSpPr>
          <p:spPr>
            <a:xfrm flipH="false" flipV="false" rot="0">
              <a:off x="0" y="0"/>
              <a:ext cx="5054600" cy="1031240"/>
            </a:xfrm>
            <a:custGeom>
              <a:avLst/>
              <a:gdLst/>
              <a:ahLst/>
              <a:cxnLst/>
              <a:rect r="r" b="b" t="t" l="l"/>
              <a:pathLst>
                <a:path h="1031240" w="5054600">
                  <a:moveTo>
                    <a:pt x="0" y="168783"/>
                  </a:moveTo>
                  <a:cubicBezTo>
                    <a:pt x="0" y="75565"/>
                    <a:pt x="75565" y="0"/>
                    <a:pt x="168783" y="0"/>
                  </a:cubicBezTo>
                  <a:lnTo>
                    <a:pt x="4885817" y="0"/>
                  </a:lnTo>
                  <a:cubicBezTo>
                    <a:pt x="4979035" y="0"/>
                    <a:pt x="5054600" y="75565"/>
                    <a:pt x="5054600" y="168783"/>
                  </a:cubicBezTo>
                  <a:lnTo>
                    <a:pt x="5054600" y="862457"/>
                  </a:lnTo>
                  <a:cubicBezTo>
                    <a:pt x="5054600" y="955675"/>
                    <a:pt x="4979035" y="1031240"/>
                    <a:pt x="4885817" y="1031240"/>
                  </a:cubicBezTo>
                  <a:lnTo>
                    <a:pt x="168783" y="1031240"/>
                  </a:lnTo>
                  <a:cubicBezTo>
                    <a:pt x="75565" y="1031240"/>
                    <a:pt x="0" y="955675"/>
                    <a:pt x="0" y="862457"/>
                  </a:cubicBezTo>
                  <a:close/>
                </a:path>
              </a:pathLst>
            </a:custGeom>
            <a:solidFill>
              <a:srgbClr val="F4F7FC"/>
            </a:solidFill>
            <a:ln w="19050" cap="sq">
              <a:solidFill>
                <a:srgbClr val="D7DCEC"/>
              </a:solidFill>
              <a:prstDash val="solid"/>
              <a:miter/>
            </a:ln>
          </p:spPr>
        </p:sp>
      </p:grpSp>
      <p:grpSp>
        <p:nvGrpSpPr>
          <p:cNvPr name="Group 47" id="47"/>
          <p:cNvGrpSpPr/>
          <p:nvPr/>
        </p:nvGrpSpPr>
        <p:grpSpPr>
          <a:xfrm rot="0">
            <a:off x="5177790" y="7502652"/>
            <a:ext cx="3771900" cy="754380"/>
            <a:chOff x="0" y="0"/>
            <a:chExt cx="5029200" cy="1005840"/>
          </a:xfrm>
        </p:grpSpPr>
        <p:sp>
          <p:nvSpPr>
            <p:cNvPr name="Freeform 48" id="48"/>
            <p:cNvSpPr/>
            <p:nvPr/>
          </p:nvSpPr>
          <p:spPr>
            <a:xfrm flipH="false" flipV="false" rot="0">
              <a:off x="0" y="0"/>
              <a:ext cx="5029200" cy="1005840"/>
            </a:xfrm>
            <a:custGeom>
              <a:avLst/>
              <a:gdLst/>
              <a:ahLst/>
              <a:cxnLst/>
              <a:rect r="r" b="b" t="t" l="l"/>
              <a:pathLst>
                <a:path h="1005840" w="5029200">
                  <a:moveTo>
                    <a:pt x="0" y="0"/>
                  </a:moveTo>
                  <a:lnTo>
                    <a:pt x="5029200" y="0"/>
                  </a:lnTo>
                  <a:lnTo>
                    <a:pt x="5029200" y="1005840"/>
                  </a:lnTo>
                  <a:lnTo>
                    <a:pt x="0" y="1005840"/>
                  </a:lnTo>
                  <a:close/>
                </a:path>
              </a:pathLst>
            </a:custGeom>
            <a:blipFill>
              <a:blip r:embed="rId3">
                <a:alphaModFix amt="0"/>
              </a:blip>
              <a:stretch>
                <a:fillRect l="0" t="-47425" r="0" b="-47425"/>
              </a:stretch>
            </a:blipFill>
          </p:spPr>
        </p:sp>
        <p:sp>
          <p:nvSpPr>
            <p:cNvPr name="TextBox 49" id="49"/>
            <p:cNvSpPr txBox="true"/>
            <p:nvPr/>
          </p:nvSpPr>
          <p:spPr>
            <a:xfrm>
              <a:off x="0" y="-47625"/>
              <a:ext cx="5029200" cy="1053465"/>
            </a:xfrm>
            <a:prstGeom prst="rect">
              <a:avLst/>
            </a:prstGeom>
          </p:spPr>
          <p:txBody>
            <a:bodyPr anchor="ctr" rtlCol="false" tIns="0" lIns="0" bIns="0" rIns="0"/>
            <a:lstStyle/>
            <a:p>
              <a:pPr algn="ctr">
                <a:lnSpc>
                  <a:spcPts val="2340"/>
                </a:lnSpc>
              </a:pPr>
              <a:r>
                <a:rPr lang="en-US" sz="1950">
                  <a:solidFill>
                    <a:srgbClr val="6B7280"/>
                  </a:solidFill>
                  <a:latin typeface="Calibri (MS)"/>
                  <a:ea typeface="Calibri (MS)"/>
                  <a:cs typeface="Calibri (MS)"/>
                  <a:sym typeface="Calibri (MS)"/>
                </a:rPr>
                <a:t>Transfer</a:t>
              </a:r>
            </a:p>
          </p:txBody>
        </p:sp>
      </p:grpSp>
      <p:grpSp>
        <p:nvGrpSpPr>
          <p:cNvPr name="Group 50" id="50"/>
          <p:cNvGrpSpPr/>
          <p:nvPr/>
        </p:nvGrpSpPr>
        <p:grpSpPr>
          <a:xfrm rot="0">
            <a:off x="9324213" y="7493127"/>
            <a:ext cx="3790950" cy="773430"/>
            <a:chOff x="0" y="0"/>
            <a:chExt cx="5054600" cy="1031240"/>
          </a:xfrm>
        </p:grpSpPr>
        <p:sp>
          <p:nvSpPr>
            <p:cNvPr name="Freeform 51" id="51"/>
            <p:cNvSpPr/>
            <p:nvPr/>
          </p:nvSpPr>
          <p:spPr>
            <a:xfrm flipH="false" flipV="false" rot="0">
              <a:off x="0" y="0"/>
              <a:ext cx="5054600" cy="1031240"/>
            </a:xfrm>
            <a:custGeom>
              <a:avLst/>
              <a:gdLst/>
              <a:ahLst/>
              <a:cxnLst/>
              <a:rect r="r" b="b" t="t" l="l"/>
              <a:pathLst>
                <a:path h="1031240" w="5054600">
                  <a:moveTo>
                    <a:pt x="0" y="168783"/>
                  </a:moveTo>
                  <a:cubicBezTo>
                    <a:pt x="0" y="75565"/>
                    <a:pt x="75565" y="0"/>
                    <a:pt x="168783" y="0"/>
                  </a:cubicBezTo>
                  <a:lnTo>
                    <a:pt x="4885817" y="0"/>
                  </a:lnTo>
                  <a:cubicBezTo>
                    <a:pt x="4979035" y="0"/>
                    <a:pt x="5054600" y="75565"/>
                    <a:pt x="5054600" y="168783"/>
                  </a:cubicBezTo>
                  <a:lnTo>
                    <a:pt x="5054600" y="862457"/>
                  </a:lnTo>
                  <a:cubicBezTo>
                    <a:pt x="5054600" y="955675"/>
                    <a:pt x="4979035" y="1031240"/>
                    <a:pt x="4885817" y="1031240"/>
                  </a:cubicBezTo>
                  <a:lnTo>
                    <a:pt x="168783" y="1031240"/>
                  </a:lnTo>
                  <a:cubicBezTo>
                    <a:pt x="75565" y="1031240"/>
                    <a:pt x="0" y="955675"/>
                    <a:pt x="0" y="862457"/>
                  </a:cubicBezTo>
                  <a:close/>
                </a:path>
              </a:pathLst>
            </a:custGeom>
            <a:solidFill>
              <a:srgbClr val="F4F7FC"/>
            </a:solidFill>
            <a:ln w="19050" cap="sq">
              <a:solidFill>
                <a:srgbClr val="D7DCEC"/>
              </a:solidFill>
              <a:prstDash val="solid"/>
              <a:miter/>
            </a:ln>
          </p:spPr>
        </p:sp>
      </p:grpSp>
      <p:grpSp>
        <p:nvGrpSpPr>
          <p:cNvPr name="Group 52" id="52"/>
          <p:cNvGrpSpPr/>
          <p:nvPr/>
        </p:nvGrpSpPr>
        <p:grpSpPr>
          <a:xfrm rot="0">
            <a:off x="9333738" y="7502652"/>
            <a:ext cx="3771900" cy="754380"/>
            <a:chOff x="0" y="0"/>
            <a:chExt cx="5029200" cy="1005840"/>
          </a:xfrm>
        </p:grpSpPr>
        <p:sp>
          <p:nvSpPr>
            <p:cNvPr name="Freeform 53" id="53"/>
            <p:cNvSpPr/>
            <p:nvPr/>
          </p:nvSpPr>
          <p:spPr>
            <a:xfrm flipH="false" flipV="false" rot="0">
              <a:off x="0" y="0"/>
              <a:ext cx="5029200" cy="1005840"/>
            </a:xfrm>
            <a:custGeom>
              <a:avLst/>
              <a:gdLst/>
              <a:ahLst/>
              <a:cxnLst/>
              <a:rect r="r" b="b" t="t" l="l"/>
              <a:pathLst>
                <a:path h="1005840" w="5029200">
                  <a:moveTo>
                    <a:pt x="0" y="0"/>
                  </a:moveTo>
                  <a:lnTo>
                    <a:pt x="5029200" y="0"/>
                  </a:lnTo>
                  <a:lnTo>
                    <a:pt x="5029200" y="1005840"/>
                  </a:lnTo>
                  <a:lnTo>
                    <a:pt x="0" y="1005840"/>
                  </a:lnTo>
                  <a:close/>
                </a:path>
              </a:pathLst>
            </a:custGeom>
            <a:blipFill>
              <a:blip r:embed="rId3">
                <a:alphaModFix amt="0"/>
              </a:blip>
              <a:stretch>
                <a:fillRect l="0" t="-47425" r="0" b="-47425"/>
              </a:stretch>
            </a:blipFill>
          </p:spPr>
        </p:sp>
        <p:sp>
          <p:nvSpPr>
            <p:cNvPr name="TextBox 54" id="54"/>
            <p:cNvSpPr txBox="true"/>
            <p:nvPr/>
          </p:nvSpPr>
          <p:spPr>
            <a:xfrm>
              <a:off x="0" y="-47625"/>
              <a:ext cx="5029200" cy="1053465"/>
            </a:xfrm>
            <a:prstGeom prst="rect">
              <a:avLst/>
            </a:prstGeom>
          </p:spPr>
          <p:txBody>
            <a:bodyPr anchor="ctr" rtlCol="false" tIns="0" lIns="0" bIns="0" rIns="0"/>
            <a:lstStyle/>
            <a:p>
              <a:pPr algn="ctr">
                <a:lnSpc>
                  <a:spcPts val="2340"/>
                </a:lnSpc>
              </a:pPr>
              <a:r>
                <a:rPr lang="en-US" sz="1950">
                  <a:solidFill>
                    <a:srgbClr val="6B7280"/>
                  </a:solidFill>
                  <a:latin typeface="Calibri (MS)"/>
                  <a:ea typeface="Calibri (MS)"/>
                  <a:cs typeface="Calibri (MS)"/>
                  <a:sym typeface="Calibri (MS)"/>
                </a:rPr>
                <a:t>Tolerate</a:t>
              </a:r>
            </a:p>
          </p:txBody>
        </p:sp>
      </p:grpSp>
      <p:grpSp>
        <p:nvGrpSpPr>
          <p:cNvPr name="Group 55" id="55"/>
          <p:cNvGrpSpPr/>
          <p:nvPr/>
        </p:nvGrpSpPr>
        <p:grpSpPr>
          <a:xfrm rot="0">
            <a:off x="13480161" y="7493127"/>
            <a:ext cx="3790950" cy="773430"/>
            <a:chOff x="0" y="0"/>
            <a:chExt cx="5054600" cy="1031240"/>
          </a:xfrm>
        </p:grpSpPr>
        <p:sp>
          <p:nvSpPr>
            <p:cNvPr name="Freeform 56" id="56"/>
            <p:cNvSpPr/>
            <p:nvPr/>
          </p:nvSpPr>
          <p:spPr>
            <a:xfrm flipH="false" flipV="false" rot="0">
              <a:off x="0" y="0"/>
              <a:ext cx="5054600" cy="1031240"/>
            </a:xfrm>
            <a:custGeom>
              <a:avLst/>
              <a:gdLst/>
              <a:ahLst/>
              <a:cxnLst/>
              <a:rect r="r" b="b" t="t" l="l"/>
              <a:pathLst>
                <a:path h="1031240" w="5054600">
                  <a:moveTo>
                    <a:pt x="0" y="168783"/>
                  </a:moveTo>
                  <a:cubicBezTo>
                    <a:pt x="0" y="75565"/>
                    <a:pt x="75565" y="0"/>
                    <a:pt x="168783" y="0"/>
                  </a:cubicBezTo>
                  <a:lnTo>
                    <a:pt x="4885817" y="0"/>
                  </a:lnTo>
                  <a:cubicBezTo>
                    <a:pt x="4979035" y="0"/>
                    <a:pt x="5054600" y="75565"/>
                    <a:pt x="5054600" y="168783"/>
                  </a:cubicBezTo>
                  <a:lnTo>
                    <a:pt x="5054600" y="862457"/>
                  </a:lnTo>
                  <a:cubicBezTo>
                    <a:pt x="5054600" y="955675"/>
                    <a:pt x="4979035" y="1031240"/>
                    <a:pt x="4885817" y="1031240"/>
                  </a:cubicBezTo>
                  <a:lnTo>
                    <a:pt x="168783" y="1031240"/>
                  </a:lnTo>
                  <a:cubicBezTo>
                    <a:pt x="75565" y="1031240"/>
                    <a:pt x="0" y="955675"/>
                    <a:pt x="0" y="862457"/>
                  </a:cubicBezTo>
                  <a:close/>
                </a:path>
              </a:pathLst>
            </a:custGeom>
            <a:solidFill>
              <a:srgbClr val="F4F7FC"/>
            </a:solidFill>
            <a:ln w="19050" cap="sq">
              <a:solidFill>
                <a:srgbClr val="D7DCEC"/>
              </a:solidFill>
              <a:prstDash val="solid"/>
              <a:miter/>
            </a:ln>
          </p:spPr>
        </p:sp>
      </p:grpSp>
      <p:grpSp>
        <p:nvGrpSpPr>
          <p:cNvPr name="Group 57" id="57"/>
          <p:cNvGrpSpPr/>
          <p:nvPr/>
        </p:nvGrpSpPr>
        <p:grpSpPr>
          <a:xfrm rot="0">
            <a:off x="13489686" y="7502652"/>
            <a:ext cx="3771900" cy="754380"/>
            <a:chOff x="0" y="0"/>
            <a:chExt cx="5029200" cy="1005840"/>
          </a:xfrm>
        </p:grpSpPr>
        <p:sp>
          <p:nvSpPr>
            <p:cNvPr name="Freeform 58" id="58"/>
            <p:cNvSpPr/>
            <p:nvPr/>
          </p:nvSpPr>
          <p:spPr>
            <a:xfrm flipH="false" flipV="false" rot="0">
              <a:off x="0" y="0"/>
              <a:ext cx="5029200" cy="1005840"/>
            </a:xfrm>
            <a:custGeom>
              <a:avLst/>
              <a:gdLst/>
              <a:ahLst/>
              <a:cxnLst/>
              <a:rect r="r" b="b" t="t" l="l"/>
              <a:pathLst>
                <a:path h="1005840" w="5029200">
                  <a:moveTo>
                    <a:pt x="0" y="0"/>
                  </a:moveTo>
                  <a:lnTo>
                    <a:pt x="5029200" y="0"/>
                  </a:lnTo>
                  <a:lnTo>
                    <a:pt x="5029200" y="1005840"/>
                  </a:lnTo>
                  <a:lnTo>
                    <a:pt x="0" y="1005840"/>
                  </a:lnTo>
                  <a:close/>
                </a:path>
              </a:pathLst>
            </a:custGeom>
            <a:blipFill>
              <a:blip r:embed="rId3">
                <a:alphaModFix amt="0"/>
              </a:blip>
              <a:stretch>
                <a:fillRect l="0" t="-47425" r="0" b="-47425"/>
              </a:stretch>
            </a:blipFill>
          </p:spPr>
        </p:sp>
        <p:sp>
          <p:nvSpPr>
            <p:cNvPr name="TextBox 59" id="59"/>
            <p:cNvSpPr txBox="true"/>
            <p:nvPr/>
          </p:nvSpPr>
          <p:spPr>
            <a:xfrm>
              <a:off x="0" y="-47625"/>
              <a:ext cx="5029200" cy="1053465"/>
            </a:xfrm>
            <a:prstGeom prst="rect">
              <a:avLst/>
            </a:prstGeom>
          </p:spPr>
          <p:txBody>
            <a:bodyPr anchor="ctr" rtlCol="false" tIns="0" lIns="0" bIns="0" rIns="0"/>
            <a:lstStyle/>
            <a:p>
              <a:pPr algn="ctr">
                <a:lnSpc>
                  <a:spcPts val="2340"/>
                </a:lnSpc>
              </a:pPr>
              <a:r>
                <a:rPr lang="en-US" sz="1950">
                  <a:solidFill>
                    <a:srgbClr val="6B7280"/>
                  </a:solidFill>
                  <a:latin typeface="Calibri (MS)"/>
                  <a:ea typeface="Calibri (MS)"/>
                  <a:cs typeface="Calibri (MS)"/>
                  <a:sym typeface="Calibri (MS)"/>
                </a:rPr>
                <a:t>Terminate</a:t>
              </a:r>
            </a:p>
          </p:txBody>
        </p:sp>
      </p:grpSp>
      <p:grpSp>
        <p:nvGrpSpPr>
          <p:cNvPr name="Group 60" id="60"/>
          <p:cNvGrpSpPr/>
          <p:nvPr/>
        </p:nvGrpSpPr>
        <p:grpSpPr>
          <a:xfrm rot="0">
            <a:off x="685800" y="9710928"/>
            <a:ext cx="10972800" cy="411480"/>
            <a:chOff x="0" y="0"/>
            <a:chExt cx="14630400" cy="548640"/>
          </a:xfrm>
        </p:grpSpPr>
        <p:sp>
          <p:nvSpPr>
            <p:cNvPr name="Freeform 61" id="61"/>
            <p:cNvSpPr/>
            <p:nvPr/>
          </p:nvSpPr>
          <p:spPr>
            <a:xfrm flipH="false" flipV="false" rot="0">
              <a:off x="0" y="0"/>
              <a:ext cx="14630400" cy="548640"/>
            </a:xfrm>
            <a:custGeom>
              <a:avLst/>
              <a:gdLst/>
              <a:ahLst/>
              <a:cxnLst/>
              <a:rect r="r" b="b" t="t" l="l"/>
              <a:pathLst>
                <a:path h="548640" w="14630400">
                  <a:moveTo>
                    <a:pt x="0" y="0"/>
                  </a:moveTo>
                  <a:lnTo>
                    <a:pt x="14630400" y="0"/>
                  </a:lnTo>
                  <a:lnTo>
                    <a:pt x="14630400" y="548640"/>
                  </a:lnTo>
                  <a:lnTo>
                    <a:pt x="0" y="548640"/>
                  </a:lnTo>
                  <a:close/>
                </a:path>
              </a:pathLst>
            </a:custGeom>
            <a:blipFill>
              <a:blip r:embed="rId3">
                <a:alphaModFix amt="0"/>
              </a:blip>
              <a:stretch>
                <a:fillRect l="0" t="-469601" r="0" b="-469601"/>
              </a:stretch>
            </a:blipFill>
          </p:spPr>
        </p:sp>
        <p:sp>
          <p:nvSpPr>
            <p:cNvPr name="TextBox 62" id="62"/>
            <p:cNvSpPr txBox="true"/>
            <p:nvPr/>
          </p:nvSpPr>
          <p:spPr>
            <a:xfrm>
              <a:off x="0" y="-38100"/>
              <a:ext cx="14630400" cy="586740"/>
            </a:xfrm>
            <a:prstGeom prst="rect">
              <a:avLst/>
            </a:prstGeom>
          </p:spPr>
          <p:txBody>
            <a:bodyPr anchor="ctr" rtlCol="false" tIns="0" lIns="0" bIns="0" rIns="0"/>
            <a:lstStyle/>
            <a:p>
              <a:pPr algn="l">
                <a:lnSpc>
                  <a:spcPts val="1800"/>
                </a:lnSpc>
              </a:pPr>
              <a:r>
                <a:rPr lang="en-US" sz="1500">
                  <a:solidFill>
                    <a:srgbClr val="6B7280"/>
                  </a:solidFill>
                  <a:latin typeface="Calibri (MS)"/>
                  <a:ea typeface="Calibri (MS)"/>
                  <a:cs typeface="Calibri (MS)"/>
                  <a:sym typeface="Calibri (MS)"/>
                </a:rPr>
                <a:t>Davao del Norte Provincial Government — Cybersecurity Seminar</a:t>
              </a:r>
            </a:p>
          </p:txBody>
        </p:sp>
      </p:grpSp>
      <p:grpSp>
        <p:nvGrpSpPr>
          <p:cNvPr name="Group 63" id="63"/>
          <p:cNvGrpSpPr/>
          <p:nvPr/>
        </p:nvGrpSpPr>
        <p:grpSpPr>
          <a:xfrm rot="0">
            <a:off x="16911828" y="9710928"/>
            <a:ext cx="685800" cy="411480"/>
            <a:chOff x="0" y="0"/>
            <a:chExt cx="914400" cy="548640"/>
          </a:xfrm>
        </p:grpSpPr>
        <p:sp>
          <p:nvSpPr>
            <p:cNvPr name="Freeform 64" id="64"/>
            <p:cNvSpPr/>
            <p:nvPr/>
          </p:nvSpPr>
          <p:spPr>
            <a:xfrm flipH="false" flipV="false" rot="0">
              <a:off x="0" y="0"/>
              <a:ext cx="914400" cy="548640"/>
            </a:xfrm>
            <a:custGeom>
              <a:avLst/>
              <a:gdLst/>
              <a:ahLst/>
              <a:cxnLst/>
              <a:rect r="r" b="b" t="t" l="l"/>
              <a:pathLst>
                <a:path h="548640" w="914400">
                  <a:moveTo>
                    <a:pt x="0" y="0"/>
                  </a:moveTo>
                  <a:lnTo>
                    <a:pt x="914400" y="0"/>
                  </a:lnTo>
                  <a:lnTo>
                    <a:pt x="914400" y="548640"/>
                  </a:lnTo>
                  <a:lnTo>
                    <a:pt x="0" y="548640"/>
                  </a:lnTo>
                  <a:close/>
                </a:path>
              </a:pathLst>
            </a:custGeom>
            <a:blipFill>
              <a:blip r:embed="rId3">
                <a:alphaModFix amt="0"/>
              </a:blip>
              <a:stretch>
                <a:fillRect l="-26982" t="0" r="-26982" b="0"/>
              </a:stretch>
            </a:blipFill>
          </p:spPr>
        </p:sp>
        <p:sp>
          <p:nvSpPr>
            <p:cNvPr name="TextBox 65" id="65"/>
            <p:cNvSpPr txBox="true"/>
            <p:nvPr/>
          </p:nvSpPr>
          <p:spPr>
            <a:xfrm>
              <a:off x="0" y="-38100"/>
              <a:ext cx="914400" cy="586740"/>
            </a:xfrm>
            <a:prstGeom prst="rect">
              <a:avLst/>
            </a:prstGeom>
          </p:spPr>
          <p:txBody>
            <a:bodyPr anchor="ctr" rtlCol="false" tIns="0" lIns="0" bIns="0" rIns="0"/>
            <a:lstStyle/>
            <a:p>
              <a:pPr algn="r">
                <a:lnSpc>
                  <a:spcPts val="1800"/>
                </a:lnSpc>
              </a:pPr>
              <a:r>
                <a:rPr lang="en-US" sz="1500">
                  <a:solidFill>
                    <a:srgbClr val="6B7280"/>
                  </a:solidFill>
                  <a:latin typeface="Calibri (MS)"/>
                  <a:ea typeface="Calibri (MS)"/>
                  <a:cs typeface="Calibri (MS)"/>
                  <a:sym typeface="Calibri (MS)"/>
                </a:rPr>
                <a:t>21</a:t>
              </a:r>
            </a:p>
          </p:txBody>
        </p:sp>
      </p:grpSp>
    </p:spTree>
  </p:cSld>
  <p:clrMapOvr>
    <a:masterClrMapping/>
  </p:clrMapOvr>
</p:sld>
</file>

<file path=ppt/slides/slide2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60120" y="576072"/>
            <a:ext cx="13716000" cy="411480"/>
            <a:chOff x="0" y="0"/>
            <a:chExt cx="18288000" cy="548640"/>
          </a:xfrm>
        </p:grpSpPr>
        <p:sp>
          <p:nvSpPr>
            <p:cNvPr name="Freeform 3" id="3"/>
            <p:cNvSpPr/>
            <p:nvPr/>
          </p:nvSpPr>
          <p:spPr>
            <a:xfrm flipH="false" flipV="false" rot="0">
              <a:off x="0" y="0"/>
              <a:ext cx="18288000" cy="548640"/>
            </a:xfrm>
            <a:custGeom>
              <a:avLst/>
              <a:gdLst/>
              <a:ahLst/>
              <a:cxnLst/>
              <a:rect r="r" b="b" t="t" l="l"/>
              <a:pathLst>
                <a:path h="548640" w="18288000">
                  <a:moveTo>
                    <a:pt x="0" y="0"/>
                  </a:moveTo>
                  <a:lnTo>
                    <a:pt x="18288000" y="0"/>
                  </a:lnTo>
                  <a:lnTo>
                    <a:pt x="18288000" y="548640"/>
                  </a:lnTo>
                  <a:lnTo>
                    <a:pt x="0" y="548640"/>
                  </a:lnTo>
                  <a:close/>
                </a:path>
              </a:pathLst>
            </a:custGeom>
            <a:blipFill>
              <a:blip r:embed="rId3">
                <a:alphaModFix amt="0"/>
              </a:blip>
              <a:stretch>
                <a:fillRect l="0" t="-599501" r="0" b="-599501"/>
              </a:stretch>
            </a:blipFill>
          </p:spPr>
        </p:sp>
        <p:sp>
          <p:nvSpPr>
            <p:cNvPr name="TextBox 4" id="4"/>
            <p:cNvSpPr txBox="true"/>
            <p:nvPr/>
          </p:nvSpPr>
          <p:spPr>
            <a:xfrm>
              <a:off x="0" y="-38100"/>
              <a:ext cx="18288000" cy="586740"/>
            </a:xfrm>
            <a:prstGeom prst="rect">
              <a:avLst/>
            </a:prstGeom>
          </p:spPr>
          <p:txBody>
            <a:bodyPr anchor="ctr" rtlCol="false" tIns="0" lIns="0" bIns="0" rIns="0"/>
            <a:lstStyle/>
            <a:p>
              <a:pPr algn="l">
                <a:lnSpc>
                  <a:spcPts val="2160"/>
                </a:lnSpc>
              </a:pPr>
              <a:r>
                <a:rPr lang="en-US" b="true" sz="1800" spc="225">
                  <a:solidFill>
                    <a:srgbClr val="00B4D8"/>
                  </a:solidFill>
                  <a:latin typeface="Calibri (MS) Bold"/>
                  <a:ea typeface="Calibri (MS) Bold"/>
                  <a:cs typeface="Calibri (MS) Bold"/>
                  <a:sym typeface="Calibri (MS) Bold"/>
                </a:rPr>
                <a:t>RISK MATRIX SORT · ANSWER</a:t>
              </a:r>
            </a:p>
          </p:txBody>
        </p:sp>
      </p:grpSp>
      <p:grpSp>
        <p:nvGrpSpPr>
          <p:cNvPr name="Group 5" id="5"/>
          <p:cNvGrpSpPr/>
          <p:nvPr/>
        </p:nvGrpSpPr>
        <p:grpSpPr>
          <a:xfrm rot="0">
            <a:off x="960120" y="960120"/>
            <a:ext cx="10972800" cy="754380"/>
            <a:chOff x="0" y="0"/>
            <a:chExt cx="14630400" cy="1005840"/>
          </a:xfrm>
        </p:grpSpPr>
        <p:sp>
          <p:nvSpPr>
            <p:cNvPr name="Freeform 6" id="6"/>
            <p:cNvSpPr/>
            <p:nvPr/>
          </p:nvSpPr>
          <p:spPr>
            <a:xfrm flipH="false" flipV="false" rot="0">
              <a:off x="0" y="0"/>
              <a:ext cx="14630400" cy="1005840"/>
            </a:xfrm>
            <a:custGeom>
              <a:avLst/>
              <a:gdLst/>
              <a:ahLst/>
              <a:cxnLst/>
              <a:rect r="r" b="b" t="t" l="l"/>
              <a:pathLst>
                <a:path h="1005840" w="14630400">
                  <a:moveTo>
                    <a:pt x="0" y="0"/>
                  </a:moveTo>
                  <a:lnTo>
                    <a:pt x="14630400" y="0"/>
                  </a:lnTo>
                  <a:lnTo>
                    <a:pt x="14630400" y="1005840"/>
                  </a:lnTo>
                  <a:lnTo>
                    <a:pt x="0" y="1005840"/>
                  </a:lnTo>
                  <a:close/>
                </a:path>
              </a:pathLst>
            </a:custGeom>
            <a:blipFill>
              <a:blip r:embed="rId3">
                <a:alphaModFix amt="0"/>
              </a:blip>
              <a:stretch>
                <a:fillRect l="0" t="-233418" r="0" b="-233418"/>
              </a:stretch>
            </a:blipFill>
          </p:spPr>
        </p:sp>
        <p:sp>
          <p:nvSpPr>
            <p:cNvPr name="TextBox 7" id="7"/>
            <p:cNvSpPr txBox="true"/>
            <p:nvPr/>
          </p:nvSpPr>
          <p:spPr>
            <a:xfrm>
              <a:off x="0" y="-19050"/>
              <a:ext cx="14630400" cy="1024890"/>
            </a:xfrm>
            <a:prstGeom prst="rect">
              <a:avLst/>
            </a:prstGeom>
          </p:spPr>
          <p:txBody>
            <a:bodyPr anchor="ctr" rtlCol="false" tIns="0" lIns="0" bIns="0" rIns="0"/>
            <a:lstStyle/>
            <a:p>
              <a:pPr algn="l">
                <a:lnSpc>
                  <a:spcPts val="4320"/>
                </a:lnSpc>
              </a:pPr>
              <a:r>
                <a:rPr lang="en-US" sz="3600" b="true">
                  <a:solidFill>
                    <a:srgbClr val="1E2761"/>
                  </a:solidFill>
                  <a:latin typeface="Cambria Bold"/>
                  <a:ea typeface="Cambria Bold"/>
                  <a:cs typeface="Cambria Bold"/>
                  <a:sym typeface="Cambria Bold"/>
                </a:rPr>
                <a:t>Scenario 4 — Answer</a:t>
              </a:r>
            </a:p>
          </p:txBody>
        </p:sp>
      </p:grpSp>
      <p:grpSp>
        <p:nvGrpSpPr>
          <p:cNvPr name="Group 8" id="8"/>
          <p:cNvGrpSpPr/>
          <p:nvPr/>
        </p:nvGrpSpPr>
        <p:grpSpPr>
          <a:xfrm rot="0">
            <a:off x="960120" y="1645920"/>
            <a:ext cx="8229600" cy="411480"/>
            <a:chOff x="0" y="0"/>
            <a:chExt cx="10972800" cy="548640"/>
          </a:xfrm>
        </p:grpSpPr>
        <p:sp>
          <p:nvSpPr>
            <p:cNvPr name="Freeform 9" id="9"/>
            <p:cNvSpPr/>
            <p:nvPr/>
          </p:nvSpPr>
          <p:spPr>
            <a:xfrm flipH="false" flipV="false" rot="0">
              <a:off x="0" y="0"/>
              <a:ext cx="10972800" cy="548640"/>
            </a:xfrm>
            <a:custGeom>
              <a:avLst/>
              <a:gdLst/>
              <a:ahLst/>
              <a:cxnLst/>
              <a:rect r="r" b="b" t="t" l="l"/>
              <a:pathLst>
                <a:path h="548640" w="10972800">
                  <a:moveTo>
                    <a:pt x="0" y="0"/>
                  </a:moveTo>
                  <a:lnTo>
                    <a:pt x="10972800" y="0"/>
                  </a:lnTo>
                  <a:lnTo>
                    <a:pt x="10972800" y="548640"/>
                  </a:lnTo>
                  <a:lnTo>
                    <a:pt x="0" y="548640"/>
                  </a:lnTo>
                  <a:close/>
                </a:path>
              </a:pathLst>
            </a:custGeom>
            <a:blipFill>
              <a:blip r:embed="rId3">
                <a:alphaModFix amt="0"/>
              </a:blip>
              <a:stretch>
                <a:fillRect l="0" t="-339700" r="0" b="-339700"/>
              </a:stretch>
            </a:blipFill>
          </p:spPr>
        </p:sp>
        <p:sp>
          <p:nvSpPr>
            <p:cNvPr name="TextBox 10" id="10"/>
            <p:cNvSpPr txBox="true"/>
            <p:nvPr/>
          </p:nvSpPr>
          <p:spPr>
            <a:xfrm>
              <a:off x="0" y="-28575"/>
              <a:ext cx="10972800" cy="577215"/>
            </a:xfrm>
            <a:prstGeom prst="rect">
              <a:avLst/>
            </a:prstGeom>
          </p:spPr>
          <p:txBody>
            <a:bodyPr anchor="ctr" rtlCol="false" tIns="0" lIns="0" bIns="0" rIns="0"/>
            <a:lstStyle/>
            <a:p>
              <a:pPr algn="l">
                <a:lnSpc>
                  <a:spcPts val="1980"/>
                </a:lnSpc>
              </a:pPr>
              <a:r>
                <a:rPr lang="en-US" sz="1650">
                  <a:solidFill>
                    <a:srgbClr val="6B7280"/>
                  </a:solidFill>
                  <a:latin typeface="Calibri (MS)"/>
                  <a:ea typeface="Calibri (MS)"/>
                  <a:cs typeface="Calibri (MS)"/>
                  <a:sym typeface="Calibri (MS)"/>
                </a:rPr>
                <a:t>4 of 8</a:t>
              </a:r>
            </a:p>
          </p:txBody>
        </p:sp>
      </p:grpSp>
      <p:grpSp>
        <p:nvGrpSpPr>
          <p:cNvPr name="Group 11" id="11"/>
          <p:cNvGrpSpPr/>
          <p:nvPr/>
        </p:nvGrpSpPr>
        <p:grpSpPr>
          <a:xfrm rot="0">
            <a:off x="960120" y="2194560"/>
            <a:ext cx="16322040" cy="1851660"/>
            <a:chOff x="0" y="0"/>
            <a:chExt cx="21762720" cy="2468880"/>
          </a:xfrm>
        </p:grpSpPr>
        <p:sp>
          <p:nvSpPr>
            <p:cNvPr name="Freeform 12" id="12"/>
            <p:cNvSpPr/>
            <p:nvPr/>
          </p:nvSpPr>
          <p:spPr>
            <a:xfrm flipH="false" flipV="false" rot="0">
              <a:off x="0" y="0"/>
              <a:ext cx="21762720" cy="2468880"/>
            </a:xfrm>
            <a:custGeom>
              <a:avLst/>
              <a:gdLst/>
              <a:ahLst/>
              <a:cxnLst/>
              <a:rect r="r" b="b" t="t" l="l"/>
              <a:pathLst>
                <a:path h="2468880" w="21762720">
                  <a:moveTo>
                    <a:pt x="0" y="182880"/>
                  </a:moveTo>
                  <a:cubicBezTo>
                    <a:pt x="0" y="81915"/>
                    <a:pt x="81915" y="0"/>
                    <a:pt x="182880" y="0"/>
                  </a:cubicBezTo>
                  <a:lnTo>
                    <a:pt x="21579839" y="0"/>
                  </a:lnTo>
                  <a:cubicBezTo>
                    <a:pt x="21680804" y="0"/>
                    <a:pt x="21762720" y="81915"/>
                    <a:pt x="21762720" y="182880"/>
                  </a:cubicBezTo>
                  <a:lnTo>
                    <a:pt x="21762720" y="2286000"/>
                  </a:lnTo>
                  <a:cubicBezTo>
                    <a:pt x="21762720" y="2386965"/>
                    <a:pt x="21680804" y="2468880"/>
                    <a:pt x="21579839" y="2468880"/>
                  </a:cubicBezTo>
                  <a:lnTo>
                    <a:pt x="182880" y="2468880"/>
                  </a:lnTo>
                  <a:cubicBezTo>
                    <a:pt x="81915" y="2468880"/>
                    <a:pt x="0" y="2386965"/>
                    <a:pt x="0" y="2286000"/>
                  </a:cubicBezTo>
                  <a:close/>
                </a:path>
              </a:pathLst>
            </a:custGeom>
            <a:solidFill>
              <a:srgbClr val="F4F7FC"/>
            </a:solidFill>
          </p:spPr>
        </p:sp>
      </p:grpSp>
      <p:grpSp>
        <p:nvGrpSpPr>
          <p:cNvPr name="Group 13" id="13"/>
          <p:cNvGrpSpPr/>
          <p:nvPr/>
        </p:nvGrpSpPr>
        <p:grpSpPr>
          <a:xfrm rot="0">
            <a:off x="1371600" y="2400300"/>
            <a:ext cx="15499080" cy="1440180"/>
            <a:chOff x="0" y="0"/>
            <a:chExt cx="20665440" cy="1920240"/>
          </a:xfrm>
        </p:grpSpPr>
        <p:sp>
          <p:nvSpPr>
            <p:cNvPr name="Freeform 14" id="14"/>
            <p:cNvSpPr/>
            <p:nvPr/>
          </p:nvSpPr>
          <p:spPr>
            <a:xfrm flipH="false" flipV="false" rot="0">
              <a:off x="0" y="0"/>
              <a:ext cx="20665439" cy="1920240"/>
            </a:xfrm>
            <a:custGeom>
              <a:avLst/>
              <a:gdLst/>
              <a:ahLst/>
              <a:cxnLst/>
              <a:rect r="r" b="b" t="t" l="l"/>
              <a:pathLst>
                <a:path h="1920240" w="20665439">
                  <a:moveTo>
                    <a:pt x="0" y="0"/>
                  </a:moveTo>
                  <a:lnTo>
                    <a:pt x="20665439" y="0"/>
                  </a:lnTo>
                  <a:lnTo>
                    <a:pt x="20665439" y="1920240"/>
                  </a:lnTo>
                  <a:lnTo>
                    <a:pt x="0" y="1920240"/>
                  </a:lnTo>
                  <a:close/>
                </a:path>
              </a:pathLst>
            </a:custGeom>
            <a:blipFill>
              <a:blip r:embed="rId3">
                <a:alphaModFix amt="0"/>
              </a:blip>
              <a:stretch>
                <a:fillRect l="0" t="-159696" r="0" b="-159696"/>
              </a:stretch>
            </a:blipFill>
          </p:spPr>
        </p:sp>
        <p:sp>
          <p:nvSpPr>
            <p:cNvPr name="TextBox 15" id="15"/>
            <p:cNvSpPr txBox="true"/>
            <p:nvPr/>
          </p:nvSpPr>
          <p:spPr>
            <a:xfrm>
              <a:off x="0" y="-66675"/>
              <a:ext cx="20665440" cy="1986915"/>
            </a:xfrm>
            <a:prstGeom prst="rect">
              <a:avLst/>
            </a:prstGeom>
          </p:spPr>
          <p:txBody>
            <a:bodyPr anchor="ctr" rtlCol="false" tIns="0" lIns="0" bIns="0" rIns="0"/>
            <a:lstStyle/>
            <a:p>
              <a:pPr algn="l">
                <a:lnSpc>
                  <a:spcPts val="3184"/>
                </a:lnSpc>
              </a:pPr>
              <a:r>
                <a:rPr lang="en-US" sz="2175" i="true">
                  <a:solidFill>
                    <a:srgbClr val="23262F"/>
                  </a:solidFill>
                  <a:latin typeface="Cambria Italics"/>
                  <a:ea typeface="Cambria Italics"/>
                  <a:cs typeface="Cambria Italics"/>
                  <a:sym typeface="Cambria Italics"/>
                </a:rPr>
                <a:t>“Only one employee knows how to operate the online business-permit renewal system, and she retires next month with no documented handover.”</a:t>
              </a:r>
            </a:p>
          </p:txBody>
        </p:sp>
      </p:grpSp>
      <p:grpSp>
        <p:nvGrpSpPr>
          <p:cNvPr name="Group 16" id="16"/>
          <p:cNvGrpSpPr/>
          <p:nvPr/>
        </p:nvGrpSpPr>
        <p:grpSpPr>
          <a:xfrm rot="0">
            <a:off x="960120" y="4320540"/>
            <a:ext cx="3909060" cy="1165860"/>
            <a:chOff x="0" y="0"/>
            <a:chExt cx="5212080" cy="1554480"/>
          </a:xfrm>
        </p:grpSpPr>
        <p:sp>
          <p:nvSpPr>
            <p:cNvPr name="Freeform 17" id="17"/>
            <p:cNvSpPr/>
            <p:nvPr/>
          </p:nvSpPr>
          <p:spPr>
            <a:xfrm flipH="false" flipV="false" rot="0">
              <a:off x="0" y="0"/>
              <a:ext cx="5212080" cy="1554480"/>
            </a:xfrm>
            <a:custGeom>
              <a:avLst/>
              <a:gdLst/>
              <a:ahLst/>
              <a:cxnLst/>
              <a:rect r="r" b="b" t="t" l="l"/>
              <a:pathLst>
                <a:path h="1554480" w="5212080">
                  <a:moveTo>
                    <a:pt x="0" y="146304"/>
                  </a:moveTo>
                  <a:cubicBezTo>
                    <a:pt x="0" y="65532"/>
                    <a:pt x="65532" y="0"/>
                    <a:pt x="146304" y="0"/>
                  </a:cubicBezTo>
                  <a:lnTo>
                    <a:pt x="5065776" y="0"/>
                  </a:lnTo>
                  <a:cubicBezTo>
                    <a:pt x="5146548" y="0"/>
                    <a:pt x="5212080" y="65532"/>
                    <a:pt x="5212080" y="146304"/>
                  </a:cubicBezTo>
                  <a:lnTo>
                    <a:pt x="5212080" y="1408176"/>
                  </a:lnTo>
                  <a:cubicBezTo>
                    <a:pt x="5212080" y="1488948"/>
                    <a:pt x="5146548" y="1554480"/>
                    <a:pt x="5065776" y="1554480"/>
                  </a:cubicBezTo>
                  <a:lnTo>
                    <a:pt x="146304" y="1554480"/>
                  </a:lnTo>
                  <a:cubicBezTo>
                    <a:pt x="65532" y="1554480"/>
                    <a:pt x="0" y="1488948"/>
                    <a:pt x="0" y="1408176"/>
                  </a:cubicBezTo>
                  <a:close/>
                </a:path>
              </a:pathLst>
            </a:custGeom>
            <a:solidFill>
              <a:srgbClr val="F4F7FC"/>
            </a:solidFill>
          </p:spPr>
        </p:sp>
      </p:grpSp>
      <p:grpSp>
        <p:nvGrpSpPr>
          <p:cNvPr name="Group 18" id="18"/>
          <p:cNvGrpSpPr/>
          <p:nvPr/>
        </p:nvGrpSpPr>
        <p:grpSpPr>
          <a:xfrm rot="0">
            <a:off x="1207008" y="4457700"/>
            <a:ext cx="3415284" cy="384048"/>
            <a:chOff x="0" y="0"/>
            <a:chExt cx="4553712" cy="512064"/>
          </a:xfrm>
        </p:grpSpPr>
        <p:sp>
          <p:nvSpPr>
            <p:cNvPr name="Freeform 19" id="19"/>
            <p:cNvSpPr/>
            <p:nvPr/>
          </p:nvSpPr>
          <p:spPr>
            <a:xfrm flipH="false" flipV="false" rot="0">
              <a:off x="0" y="0"/>
              <a:ext cx="4553712" cy="512064"/>
            </a:xfrm>
            <a:custGeom>
              <a:avLst/>
              <a:gdLst/>
              <a:ahLst/>
              <a:cxnLst/>
              <a:rect r="r" b="b" t="t" l="l"/>
              <a:pathLst>
                <a:path h="512064" w="4553712">
                  <a:moveTo>
                    <a:pt x="0" y="0"/>
                  </a:moveTo>
                  <a:lnTo>
                    <a:pt x="4553712" y="0"/>
                  </a:lnTo>
                  <a:lnTo>
                    <a:pt x="4553712" y="512064"/>
                  </a:lnTo>
                  <a:lnTo>
                    <a:pt x="0" y="512064"/>
                  </a:lnTo>
                  <a:close/>
                </a:path>
              </a:pathLst>
            </a:custGeom>
            <a:blipFill>
              <a:blip r:embed="rId3">
                <a:alphaModFix amt="0"/>
              </a:blip>
              <a:stretch>
                <a:fillRect l="0" t="-123277" r="0" b="-123277"/>
              </a:stretch>
            </a:blipFill>
          </p:spPr>
        </p:sp>
        <p:sp>
          <p:nvSpPr>
            <p:cNvPr name="TextBox 20" id="20"/>
            <p:cNvSpPr txBox="true"/>
            <p:nvPr/>
          </p:nvSpPr>
          <p:spPr>
            <a:xfrm>
              <a:off x="0" y="-38100"/>
              <a:ext cx="4553712" cy="550164"/>
            </a:xfrm>
            <a:prstGeom prst="rect">
              <a:avLst/>
            </a:prstGeom>
          </p:spPr>
          <p:txBody>
            <a:bodyPr anchor="ctr" rtlCol="false" tIns="0" lIns="0" bIns="0" rIns="0"/>
            <a:lstStyle/>
            <a:p>
              <a:pPr algn="l">
                <a:lnSpc>
                  <a:spcPts val="1800"/>
                </a:lnSpc>
              </a:pPr>
              <a:r>
                <a:rPr lang="en-US" b="true" sz="1500" spc="75">
                  <a:solidFill>
                    <a:srgbClr val="6B7280"/>
                  </a:solidFill>
                  <a:latin typeface="Calibri (MS) Bold"/>
                  <a:ea typeface="Calibri (MS) Bold"/>
                  <a:cs typeface="Calibri (MS) Bold"/>
                  <a:sym typeface="Calibri (MS) Bold"/>
                </a:rPr>
                <a:t>LIKELIHOOD</a:t>
              </a:r>
            </a:p>
          </p:txBody>
        </p:sp>
      </p:grpSp>
      <p:sp>
        <p:nvSpPr>
          <p:cNvPr name="TextBox 21" id="21"/>
          <p:cNvSpPr txBox="true"/>
          <p:nvPr/>
        </p:nvSpPr>
        <p:spPr>
          <a:xfrm rot="0">
            <a:off x="1298448" y="4840986"/>
            <a:ext cx="3232404" cy="462534"/>
          </a:xfrm>
          <a:prstGeom prst="rect">
            <a:avLst/>
          </a:prstGeom>
        </p:spPr>
        <p:txBody>
          <a:bodyPr anchor="t" rtlCol="false" tIns="0" lIns="0" bIns="0" rIns="0">
            <a:spAutoFit/>
          </a:bodyPr>
          <a:lstStyle/>
          <a:p>
            <a:pPr algn="l">
              <a:lnSpc>
                <a:spcPts val="3240"/>
              </a:lnSpc>
            </a:pPr>
            <a:r>
              <a:rPr lang="en-US" sz="2700" b="true">
                <a:solidFill>
                  <a:srgbClr val="1E2761"/>
                </a:solidFill>
                <a:latin typeface="Cambria Bold"/>
                <a:ea typeface="Cambria Bold"/>
                <a:cs typeface="Cambria Bold"/>
                <a:sym typeface="Cambria Bold"/>
              </a:rPr>
              <a:t>High</a:t>
            </a:r>
          </a:p>
        </p:txBody>
      </p:sp>
      <p:grpSp>
        <p:nvGrpSpPr>
          <p:cNvPr name="Group 22" id="22"/>
          <p:cNvGrpSpPr/>
          <p:nvPr/>
        </p:nvGrpSpPr>
        <p:grpSpPr>
          <a:xfrm rot="0">
            <a:off x="5074920" y="4320540"/>
            <a:ext cx="3909060" cy="1165860"/>
            <a:chOff x="0" y="0"/>
            <a:chExt cx="5212080" cy="1554480"/>
          </a:xfrm>
        </p:grpSpPr>
        <p:sp>
          <p:nvSpPr>
            <p:cNvPr name="Freeform 23" id="23"/>
            <p:cNvSpPr/>
            <p:nvPr/>
          </p:nvSpPr>
          <p:spPr>
            <a:xfrm flipH="false" flipV="false" rot="0">
              <a:off x="0" y="0"/>
              <a:ext cx="5212080" cy="1554480"/>
            </a:xfrm>
            <a:custGeom>
              <a:avLst/>
              <a:gdLst/>
              <a:ahLst/>
              <a:cxnLst/>
              <a:rect r="r" b="b" t="t" l="l"/>
              <a:pathLst>
                <a:path h="1554480" w="5212080">
                  <a:moveTo>
                    <a:pt x="0" y="146304"/>
                  </a:moveTo>
                  <a:cubicBezTo>
                    <a:pt x="0" y="65532"/>
                    <a:pt x="65532" y="0"/>
                    <a:pt x="146304" y="0"/>
                  </a:cubicBezTo>
                  <a:lnTo>
                    <a:pt x="5065776" y="0"/>
                  </a:lnTo>
                  <a:cubicBezTo>
                    <a:pt x="5146548" y="0"/>
                    <a:pt x="5212080" y="65532"/>
                    <a:pt x="5212080" y="146304"/>
                  </a:cubicBezTo>
                  <a:lnTo>
                    <a:pt x="5212080" y="1408176"/>
                  </a:lnTo>
                  <a:cubicBezTo>
                    <a:pt x="5212080" y="1488948"/>
                    <a:pt x="5146548" y="1554480"/>
                    <a:pt x="5065776" y="1554480"/>
                  </a:cubicBezTo>
                  <a:lnTo>
                    <a:pt x="146304" y="1554480"/>
                  </a:lnTo>
                  <a:cubicBezTo>
                    <a:pt x="65532" y="1554480"/>
                    <a:pt x="0" y="1488948"/>
                    <a:pt x="0" y="1408176"/>
                  </a:cubicBezTo>
                  <a:close/>
                </a:path>
              </a:pathLst>
            </a:custGeom>
            <a:solidFill>
              <a:srgbClr val="F4F7FC"/>
            </a:solidFill>
          </p:spPr>
        </p:sp>
      </p:grpSp>
      <p:grpSp>
        <p:nvGrpSpPr>
          <p:cNvPr name="Group 24" id="24"/>
          <p:cNvGrpSpPr/>
          <p:nvPr/>
        </p:nvGrpSpPr>
        <p:grpSpPr>
          <a:xfrm rot="0">
            <a:off x="5321808" y="4457700"/>
            <a:ext cx="3415284" cy="384048"/>
            <a:chOff x="0" y="0"/>
            <a:chExt cx="4553712" cy="512064"/>
          </a:xfrm>
        </p:grpSpPr>
        <p:sp>
          <p:nvSpPr>
            <p:cNvPr name="Freeform 25" id="25"/>
            <p:cNvSpPr/>
            <p:nvPr/>
          </p:nvSpPr>
          <p:spPr>
            <a:xfrm flipH="false" flipV="false" rot="0">
              <a:off x="0" y="0"/>
              <a:ext cx="4553712" cy="512064"/>
            </a:xfrm>
            <a:custGeom>
              <a:avLst/>
              <a:gdLst/>
              <a:ahLst/>
              <a:cxnLst/>
              <a:rect r="r" b="b" t="t" l="l"/>
              <a:pathLst>
                <a:path h="512064" w="4553712">
                  <a:moveTo>
                    <a:pt x="0" y="0"/>
                  </a:moveTo>
                  <a:lnTo>
                    <a:pt x="4553712" y="0"/>
                  </a:lnTo>
                  <a:lnTo>
                    <a:pt x="4553712" y="512064"/>
                  </a:lnTo>
                  <a:lnTo>
                    <a:pt x="0" y="512064"/>
                  </a:lnTo>
                  <a:close/>
                </a:path>
              </a:pathLst>
            </a:custGeom>
            <a:blipFill>
              <a:blip r:embed="rId3">
                <a:alphaModFix amt="0"/>
              </a:blip>
              <a:stretch>
                <a:fillRect l="0" t="-123277" r="0" b="-123277"/>
              </a:stretch>
            </a:blipFill>
          </p:spPr>
        </p:sp>
        <p:sp>
          <p:nvSpPr>
            <p:cNvPr name="TextBox 26" id="26"/>
            <p:cNvSpPr txBox="true"/>
            <p:nvPr/>
          </p:nvSpPr>
          <p:spPr>
            <a:xfrm>
              <a:off x="0" y="-38100"/>
              <a:ext cx="4553712" cy="550164"/>
            </a:xfrm>
            <a:prstGeom prst="rect">
              <a:avLst/>
            </a:prstGeom>
          </p:spPr>
          <p:txBody>
            <a:bodyPr anchor="ctr" rtlCol="false" tIns="0" lIns="0" bIns="0" rIns="0"/>
            <a:lstStyle/>
            <a:p>
              <a:pPr algn="l">
                <a:lnSpc>
                  <a:spcPts val="1800"/>
                </a:lnSpc>
              </a:pPr>
              <a:r>
                <a:rPr lang="en-US" b="true" sz="1500" spc="75">
                  <a:solidFill>
                    <a:srgbClr val="6B7280"/>
                  </a:solidFill>
                  <a:latin typeface="Calibri (MS) Bold"/>
                  <a:ea typeface="Calibri (MS) Bold"/>
                  <a:cs typeface="Calibri (MS) Bold"/>
                  <a:sym typeface="Calibri (MS) Bold"/>
                </a:rPr>
                <a:t>IMPACT</a:t>
              </a:r>
            </a:p>
          </p:txBody>
        </p:sp>
      </p:grpSp>
      <p:sp>
        <p:nvSpPr>
          <p:cNvPr name="TextBox 27" id="27"/>
          <p:cNvSpPr txBox="true"/>
          <p:nvPr/>
        </p:nvSpPr>
        <p:spPr>
          <a:xfrm rot="0">
            <a:off x="5413248" y="4840986"/>
            <a:ext cx="3232404" cy="462534"/>
          </a:xfrm>
          <a:prstGeom prst="rect">
            <a:avLst/>
          </a:prstGeom>
        </p:spPr>
        <p:txBody>
          <a:bodyPr anchor="t" rtlCol="false" tIns="0" lIns="0" bIns="0" rIns="0">
            <a:spAutoFit/>
          </a:bodyPr>
          <a:lstStyle/>
          <a:p>
            <a:pPr algn="l">
              <a:lnSpc>
                <a:spcPts val="3240"/>
              </a:lnSpc>
            </a:pPr>
            <a:r>
              <a:rPr lang="en-US" sz="2700" b="true">
                <a:solidFill>
                  <a:srgbClr val="1E2761"/>
                </a:solidFill>
                <a:latin typeface="Cambria Bold"/>
                <a:ea typeface="Cambria Bold"/>
                <a:cs typeface="Cambria Bold"/>
                <a:sym typeface="Cambria Bold"/>
              </a:rPr>
              <a:t>Medium</a:t>
            </a:r>
          </a:p>
        </p:txBody>
      </p:sp>
      <p:grpSp>
        <p:nvGrpSpPr>
          <p:cNvPr name="Group 28" id="28"/>
          <p:cNvGrpSpPr/>
          <p:nvPr/>
        </p:nvGrpSpPr>
        <p:grpSpPr>
          <a:xfrm rot="0">
            <a:off x="9189720" y="4320540"/>
            <a:ext cx="3909060" cy="1165860"/>
            <a:chOff x="0" y="0"/>
            <a:chExt cx="5212080" cy="1554480"/>
          </a:xfrm>
        </p:grpSpPr>
        <p:sp>
          <p:nvSpPr>
            <p:cNvPr name="Freeform 29" id="29"/>
            <p:cNvSpPr/>
            <p:nvPr/>
          </p:nvSpPr>
          <p:spPr>
            <a:xfrm flipH="false" flipV="false" rot="0">
              <a:off x="0" y="0"/>
              <a:ext cx="5212080" cy="1554480"/>
            </a:xfrm>
            <a:custGeom>
              <a:avLst/>
              <a:gdLst/>
              <a:ahLst/>
              <a:cxnLst/>
              <a:rect r="r" b="b" t="t" l="l"/>
              <a:pathLst>
                <a:path h="1554480" w="5212080">
                  <a:moveTo>
                    <a:pt x="0" y="146304"/>
                  </a:moveTo>
                  <a:cubicBezTo>
                    <a:pt x="0" y="65532"/>
                    <a:pt x="65532" y="0"/>
                    <a:pt x="146304" y="0"/>
                  </a:cubicBezTo>
                  <a:lnTo>
                    <a:pt x="5065776" y="0"/>
                  </a:lnTo>
                  <a:cubicBezTo>
                    <a:pt x="5146548" y="0"/>
                    <a:pt x="5212080" y="65532"/>
                    <a:pt x="5212080" y="146304"/>
                  </a:cubicBezTo>
                  <a:lnTo>
                    <a:pt x="5212080" y="1408176"/>
                  </a:lnTo>
                  <a:cubicBezTo>
                    <a:pt x="5212080" y="1488948"/>
                    <a:pt x="5146548" y="1554480"/>
                    <a:pt x="5065776" y="1554480"/>
                  </a:cubicBezTo>
                  <a:lnTo>
                    <a:pt x="146304" y="1554480"/>
                  </a:lnTo>
                  <a:cubicBezTo>
                    <a:pt x="65532" y="1554480"/>
                    <a:pt x="0" y="1488948"/>
                    <a:pt x="0" y="1408176"/>
                  </a:cubicBezTo>
                  <a:close/>
                </a:path>
              </a:pathLst>
            </a:custGeom>
            <a:solidFill>
              <a:srgbClr val="F4F7FC"/>
            </a:solidFill>
          </p:spPr>
        </p:sp>
      </p:grpSp>
      <p:grpSp>
        <p:nvGrpSpPr>
          <p:cNvPr name="Group 30" id="30"/>
          <p:cNvGrpSpPr/>
          <p:nvPr/>
        </p:nvGrpSpPr>
        <p:grpSpPr>
          <a:xfrm rot="0">
            <a:off x="9436608" y="4457700"/>
            <a:ext cx="3415284" cy="384048"/>
            <a:chOff x="0" y="0"/>
            <a:chExt cx="4553712" cy="512064"/>
          </a:xfrm>
        </p:grpSpPr>
        <p:sp>
          <p:nvSpPr>
            <p:cNvPr name="Freeform 31" id="31"/>
            <p:cNvSpPr/>
            <p:nvPr/>
          </p:nvSpPr>
          <p:spPr>
            <a:xfrm flipH="false" flipV="false" rot="0">
              <a:off x="0" y="0"/>
              <a:ext cx="4553712" cy="512064"/>
            </a:xfrm>
            <a:custGeom>
              <a:avLst/>
              <a:gdLst/>
              <a:ahLst/>
              <a:cxnLst/>
              <a:rect r="r" b="b" t="t" l="l"/>
              <a:pathLst>
                <a:path h="512064" w="4553712">
                  <a:moveTo>
                    <a:pt x="0" y="0"/>
                  </a:moveTo>
                  <a:lnTo>
                    <a:pt x="4553712" y="0"/>
                  </a:lnTo>
                  <a:lnTo>
                    <a:pt x="4553712" y="512064"/>
                  </a:lnTo>
                  <a:lnTo>
                    <a:pt x="0" y="512064"/>
                  </a:lnTo>
                  <a:close/>
                </a:path>
              </a:pathLst>
            </a:custGeom>
            <a:blipFill>
              <a:blip r:embed="rId3">
                <a:alphaModFix amt="0"/>
              </a:blip>
              <a:stretch>
                <a:fillRect l="0" t="-123277" r="0" b="-123277"/>
              </a:stretch>
            </a:blipFill>
          </p:spPr>
        </p:sp>
        <p:sp>
          <p:nvSpPr>
            <p:cNvPr name="TextBox 32" id="32"/>
            <p:cNvSpPr txBox="true"/>
            <p:nvPr/>
          </p:nvSpPr>
          <p:spPr>
            <a:xfrm>
              <a:off x="0" y="-38100"/>
              <a:ext cx="4553712" cy="550164"/>
            </a:xfrm>
            <a:prstGeom prst="rect">
              <a:avLst/>
            </a:prstGeom>
          </p:spPr>
          <p:txBody>
            <a:bodyPr anchor="ctr" rtlCol="false" tIns="0" lIns="0" bIns="0" rIns="0"/>
            <a:lstStyle/>
            <a:p>
              <a:pPr algn="l">
                <a:lnSpc>
                  <a:spcPts val="1800"/>
                </a:lnSpc>
              </a:pPr>
              <a:r>
                <a:rPr lang="en-US" b="true" sz="1500" spc="75">
                  <a:solidFill>
                    <a:srgbClr val="6B7280"/>
                  </a:solidFill>
                  <a:latin typeface="Calibri (MS) Bold"/>
                  <a:ea typeface="Calibri (MS) Bold"/>
                  <a:cs typeface="Calibri (MS) Bold"/>
                  <a:sym typeface="Calibri (MS) Bold"/>
                </a:rPr>
                <a:t>RISK RATING</a:t>
              </a:r>
            </a:p>
          </p:txBody>
        </p:sp>
      </p:grpSp>
      <p:sp>
        <p:nvSpPr>
          <p:cNvPr name="TextBox 33" id="33"/>
          <p:cNvSpPr txBox="true"/>
          <p:nvPr/>
        </p:nvSpPr>
        <p:spPr>
          <a:xfrm rot="0">
            <a:off x="9528048" y="4840986"/>
            <a:ext cx="3232404" cy="462534"/>
          </a:xfrm>
          <a:prstGeom prst="rect">
            <a:avLst/>
          </a:prstGeom>
        </p:spPr>
        <p:txBody>
          <a:bodyPr anchor="t" rtlCol="false" tIns="0" lIns="0" bIns="0" rIns="0">
            <a:spAutoFit/>
          </a:bodyPr>
          <a:lstStyle/>
          <a:p>
            <a:pPr algn="l">
              <a:lnSpc>
                <a:spcPts val="3240"/>
              </a:lnSpc>
            </a:pPr>
            <a:r>
              <a:rPr lang="en-US" sz="2700" b="true">
                <a:solidFill>
                  <a:srgbClr val="D9631E"/>
                </a:solidFill>
                <a:latin typeface="Cambria Bold"/>
                <a:ea typeface="Cambria Bold"/>
                <a:cs typeface="Cambria Bold"/>
                <a:sym typeface="Cambria Bold"/>
              </a:rPr>
              <a:t>High</a:t>
            </a:r>
          </a:p>
        </p:txBody>
      </p:sp>
      <p:grpSp>
        <p:nvGrpSpPr>
          <p:cNvPr name="Group 34" id="34"/>
          <p:cNvGrpSpPr/>
          <p:nvPr/>
        </p:nvGrpSpPr>
        <p:grpSpPr>
          <a:xfrm rot="0">
            <a:off x="13304520" y="4320540"/>
            <a:ext cx="3977640" cy="1165860"/>
            <a:chOff x="0" y="0"/>
            <a:chExt cx="5303520" cy="1554480"/>
          </a:xfrm>
        </p:grpSpPr>
        <p:sp>
          <p:nvSpPr>
            <p:cNvPr name="Freeform 35" id="35"/>
            <p:cNvSpPr/>
            <p:nvPr/>
          </p:nvSpPr>
          <p:spPr>
            <a:xfrm flipH="false" flipV="false" rot="0">
              <a:off x="0" y="0"/>
              <a:ext cx="5303520" cy="1554480"/>
            </a:xfrm>
            <a:custGeom>
              <a:avLst/>
              <a:gdLst/>
              <a:ahLst/>
              <a:cxnLst/>
              <a:rect r="r" b="b" t="t" l="l"/>
              <a:pathLst>
                <a:path h="1554480" w="5303520">
                  <a:moveTo>
                    <a:pt x="0" y="146304"/>
                  </a:moveTo>
                  <a:cubicBezTo>
                    <a:pt x="0" y="65532"/>
                    <a:pt x="65532" y="0"/>
                    <a:pt x="146304" y="0"/>
                  </a:cubicBezTo>
                  <a:lnTo>
                    <a:pt x="5157216" y="0"/>
                  </a:lnTo>
                  <a:cubicBezTo>
                    <a:pt x="5237988" y="0"/>
                    <a:pt x="5303520" y="65532"/>
                    <a:pt x="5303520" y="146304"/>
                  </a:cubicBezTo>
                  <a:lnTo>
                    <a:pt x="5303520" y="1408176"/>
                  </a:lnTo>
                  <a:cubicBezTo>
                    <a:pt x="5303520" y="1488948"/>
                    <a:pt x="5237988" y="1554480"/>
                    <a:pt x="5157216" y="1554480"/>
                  </a:cubicBezTo>
                  <a:lnTo>
                    <a:pt x="146304" y="1554480"/>
                  </a:lnTo>
                  <a:cubicBezTo>
                    <a:pt x="65532" y="1554480"/>
                    <a:pt x="0" y="1488948"/>
                    <a:pt x="0" y="1408176"/>
                  </a:cubicBezTo>
                  <a:close/>
                </a:path>
              </a:pathLst>
            </a:custGeom>
            <a:solidFill>
              <a:srgbClr val="1E2761"/>
            </a:solidFill>
          </p:spPr>
        </p:sp>
      </p:grpSp>
      <p:grpSp>
        <p:nvGrpSpPr>
          <p:cNvPr name="Group 36" id="36"/>
          <p:cNvGrpSpPr/>
          <p:nvPr/>
        </p:nvGrpSpPr>
        <p:grpSpPr>
          <a:xfrm rot="0">
            <a:off x="13551408" y="4457700"/>
            <a:ext cx="3429000" cy="384048"/>
            <a:chOff x="0" y="0"/>
            <a:chExt cx="4572000" cy="512064"/>
          </a:xfrm>
        </p:grpSpPr>
        <p:sp>
          <p:nvSpPr>
            <p:cNvPr name="Freeform 37" id="37"/>
            <p:cNvSpPr/>
            <p:nvPr/>
          </p:nvSpPr>
          <p:spPr>
            <a:xfrm flipH="false" flipV="false" rot="0">
              <a:off x="0" y="0"/>
              <a:ext cx="4572000" cy="512064"/>
            </a:xfrm>
            <a:custGeom>
              <a:avLst/>
              <a:gdLst/>
              <a:ahLst/>
              <a:cxnLst/>
              <a:rect r="r" b="b" t="t" l="l"/>
              <a:pathLst>
                <a:path h="512064" w="4572000">
                  <a:moveTo>
                    <a:pt x="0" y="0"/>
                  </a:moveTo>
                  <a:lnTo>
                    <a:pt x="4572000" y="0"/>
                  </a:lnTo>
                  <a:lnTo>
                    <a:pt x="4572000" y="512064"/>
                  </a:lnTo>
                  <a:lnTo>
                    <a:pt x="0" y="512064"/>
                  </a:lnTo>
                  <a:close/>
                </a:path>
              </a:pathLst>
            </a:custGeom>
            <a:blipFill>
              <a:blip r:embed="rId3">
                <a:alphaModFix amt="0"/>
              </a:blip>
              <a:stretch>
                <a:fillRect l="0" t="-123973" r="0" b="-123973"/>
              </a:stretch>
            </a:blipFill>
          </p:spPr>
        </p:sp>
        <p:sp>
          <p:nvSpPr>
            <p:cNvPr name="TextBox 38" id="38"/>
            <p:cNvSpPr txBox="true"/>
            <p:nvPr/>
          </p:nvSpPr>
          <p:spPr>
            <a:xfrm>
              <a:off x="0" y="-38100"/>
              <a:ext cx="4572000" cy="550164"/>
            </a:xfrm>
            <a:prstGeom prst="rect">
              <a:avLst/>
            </a:prstGeom>
          </p:spPr>
          <p:txBody>
            <a:bodyPr anchor="ctr" rtlCol="false" tIns="0" lIns="0" bIns="0" rIns="0"/>
            <a:lstStyle/>
            <a:p>
              <a:pPr algn="l">
                <a:lnSpc>
                  <a:spcPts val="1800"/>
                </a:lnSpc>
              </a:pPr>
              <a:r>
                <a:rPr lang="en-US" b="true" sz="1500" spc="75">
                  <a:solidFill>
                    <a:srgbClr val="CADCFC"/>
                  </a:solidFill>
                  <a:latin typeface="Calibri (MS) Bold"/>
                  <a:ea typeface="Calibri (MS) Bold"/>
                  <a:cs typeface="Calibri (MS) Bold"/>
                  <a:sym typeface="Calibri (MS) Bold"/>
                </a:rPr>
                <a:t>RESPONSE</a:t>
              </a:r>
            </a:p>
          </p:txBody>
        </p:sp>
      </p:grpSp>
      <p:sp>
        <p:nvSpPr>
          <p:cNvPr name="TextBox 39" id="39"/>
          <p:cNvSpPr txBox="true"/>
          <p:nvPr/>
        </p:nvSpPr>
        <p:spPr>
          <a:xfrm rot="0">
            <a:off x="13642848" y="4840986"/>
            <a:ext cx="3246120" cy="476250"/>
          </a:xfrm>
          <a:prstGeom prst="rect">
            <a:avLst/>
          </a:prstGeom>
        </p:spPr>
        <p:txBody>
          <a:bodyPr anchor="t" rtlCol="false" tIns="0" lIns="0" bIns="0" rIns="0">
            <a:spAutoFit/>
          </a:bodyPr>
          <a:lstStyle/>
          <a:p>
            <a:pPr algn="l">
              <a:lnSpc>
                <a:spcPts val="3240"/>
              </a:lnSpc>
            </a:pPr>
            <a:r>
              <a:rPr lang="en-US" sz="2700" b="true">
                <a:solidFill>
                  <a:srgbClr val="FFFFFF"/>
                </a:solidFill>
                <a:latin typeface="Cambria Bold"/>
                <a:ea typeface="Cambria Bold"/>
                <a:cs typeface="Cambria Bold"/>
                <a:sym typeface="Cambria Bold"/>
              </a:rPr>
              <a:t>Treat</a:t>
            </a:r>
          </a:p>
        </p:txBody>
      </p:sp>
      <p:grpSp>
        <p:nvGrpSpPr>
          <p:cNvPr name="Group 40" id="40"/>
          <p:cNvGrpSpPr/>
          <p:nvPr/>
        </p:nvGrpSpPr>
        <p:grpSpPr>
          <a:xfrm rot="0">
            <a:off x="950595" y="5888355"/>
            <a:ext cx="16341090" cy="2967990"/>
            <a:chOff x="0" y="0"/>
            <a:chExt cx="21788120" cy="3957320"/>
          </a:xfrm>
        </p:grpSpPr>
        <p:sp>
          <p:nvSpPr>
            <p:cNvPr name="Freeform 41" id="41"/>
            <p:cNvSpPr/>
            <p:nvPr/>
          </p:nvSpPr>
          <p:spPr>
            <a:xfrm flipH="false" flipV="false" rot="0">
              <a:off x="0" y="0"/>
              <a:ext cx="21788120" cy="3957320"/>
            </a:xfrm>
            <a:custGeom>
              <a:avLst/>
              <a:gdLst/>
              <a:ahLst/>
              <a:cxnLst/>
              <a:rect r="r" b="b" t="t" l="l"/>
              <a:pathLst>
                <a:path h="3957320" w="21788120">
                  <a:moveTo>
                    <a:pt x="0" y="184023"/>
                  </a:moveTo>
                  <a:cubicBezTo>
                    <a:pt x="0" y="82423"/>
                    <a:pt x="82423" y="0"/>
                    <a:pt x="184023" y="0"/>
                  </a:cubicBezTo>
                  <a:lnTo>
                    <a:pt x="21604097" y="0"/>
                  </a:lnTo>
                  <a:cubicBezTo>
                    <a:pt x="21705697" y="0"/>
                    <a:pt x="21788120" y="82423"/>
                    <a:pt x="21788120" y="184023"/>
                  </a:cubicBezTo>
                  <a:lnTo>
                    <a:pt x="21788120" y="3773297"/>
                  </a:lnTo>
                  <a:cubicBezTo>
                    <a:pt x="21788120" y="3874897"/>
                    <a:pt x="21705697" y="3957320"/>
                    <a:pt x="21604097" y="3957320"/>
                  </a:cubicBezTo>
                  <a:lnTo>
                    <a:pt x="184023" y="3957320"/>
                  </a:lnTo>
                  <a:cubicBezTo>
                    <a:pt x="82423" y="3957320"/>
                    <a:pt x="0" y="3874897"/>
                    <a:pt x="0" y="3773297"/>
                  </a:cubicBezTo>
                  <a:close/>
                </a:path>
              </a:pathLst>
            </a:custGeom>
            <a:solidFill>
              <a:srgbClr val="FBF9F4"/>
            </a:solidFill>
            <a:ln w="19050" cap="sq">
              <a:solidFill>
                <a:srgbClr val="EFE6D2"/>
              </a:solidFill>
              <a:prstDash val="solid"/>
              <a:miter/>
            </a:ln>
          </p:spPr>
        </p:sp>
      </p:grpSp>
      <p:sp>
        <p:nvSpPr>
          <p:cNvPr name="TextBox 42" id="42"/>
          <p:cNvSpPr txBox="true"/>
          <p:nvPr/>
        </p:nvSpPr>
        <p:spPr>
          <a:xfrm rot="0">
            <a:off x="1463040" y="6084570"/>
            <a:ext cx="15316200" cy="2510790"/>
          </a:xfrm>
          <a:prstGeom prst="rect">
            <a:avLst/>
          </a:prstGeom>
        </p:spPr>
        <p:txBody>
          <a:bodyPr anchor="t" rtlCol="false" tIns="0" lIns="0" bIns="0" rIns="0">
            <a:spAutoFit/>
          </a:bodyPr>
          <a:lstStyle/>
          <a:p>
            <a:pPr algn="l">
              <a:lnSpc>
                <a:spcPts val="3402"/>
              </a:lnSpc>
            </a:pPr>
            <a:r>
              <a:rPr lang="en-US" sz="2100">
                <a:solidFill>
                  <a:srgbClr val="23262F"/>
                </a:solidFill>
                <a:latin typeface="Calibri (MS)"/>
                <a:ea typeface="Calibri (MS)"/>
                <a:cs typeface="Calibri (MS)"/>
                <a:sym typeface="Calibri (MS)"/>
              </a:rPr>
              <a:t>This is a knowledge-continuity gap, not a vendor problem or something to shrug off — document the process and cross-train a backup person before she leaves. Treat.</a:t>
            </a:r>
          </a:p>
        </p:txBody>
      </p:sp>
      <p:grpSp>
        <p:nvGrpSpPr>
          <p:cNvPr name="Group 43" id="43"/>
          <p:cNvGrpSpPr/>
          <p:nvPr/>
        </p:nvGrpSpPr>
        <p:grpSpPr>
          <a:xfrm rot="0">
            <a:off x="685800" y="9710928"/>
            <a:ext cx="10972800" cy="411480"/>
            <a:chOff x="0" y="0"/>
            <a:chExt cx="14630400" cy="548640"/>
          </a:xfrm>
        </p:grpSpPr>
        <p:sp>
          <p:nvSpPr>
            <p:cNvPr name="Freeform 44" id="44"/>
            <p:cNvSpPr/>
            <p:nvPr/>
          </p:nvSpPr>
          <p:spPr>
            <a:xfrm flipH="false" flipV="false" rot="0">
              <a:off x="0" y="0"/>
              <a:ext cx="14630400" cy="548640"/>
            </a:xfrm>
            <a:custGeom>
              <a:avLst/>
              <a:gdLst/>
              <a:ahLst/>
              <a:cxnLst/>
              <a:rect r="r" b="b" t="t" l="l"/>
              <a:pathLst>
                <a:path h="548640" w="14630400">
                  <a:moveTo>
                    <a:pt x="0" y="0"/>
                  </a:moveTo>
                  <a:lnTo>
                    <a:pt x="14630400" y="0"/>
                  </a:lnTo>
                  <a:lnTo>
                    <a:pt x="14630400" y="548640"/>
                  </a:lnTo>
                  <a:lnTo>
                    <a:pt x="0" y="548640"/>
                  </a:lnTo>
                  <a:close/>
                </a:path>
              </a:pathLst>
            </a:custGeom>
            <a:blipFill>
              <a:blip r:embed="rId3">
                <a:alphaModFix amt="0"/>
              </a:blip>
              <a:stretch>
                <a:fillRect l="0" t="-469601" r="0" b="-469601"/>
              </a:stretch>
            </a:blipFill>
          </p:spPr>
        </p:sp>
        <p:sp>
          <p:nvSpPr>
            <p:cNvPr name="TextBox 45" id="45"/>
            <p:cNvSpPr txBox="true"/>
            <p:nvPr/>
          </p:nvSpPr>
          <p:spPr>
            <a:xfrm>
              <a:off x="0" y="-38100"/>
              <a:ext cx="14630400" cy="586740"/>
            </a:xfrm>
            <a:prstGeom prst="rect">
              <a:avLst/>
            </a:prstGeom>
          </p:spPr>
          <p:txBody>
            <a:bodyPr anchor="ctr" rtlCol="false" tIns="0" lIns="0" bIns="0" rIns="0"/>
            <a:lstStyle/>
            <a:p>
              <a:pPr algn="l">
                <a:lnSpc>
                  <a:spcPts val="1800"/>
                </a:lnSpc>
              </a:pPr>
              <a:r>
                <a:rPr lang="en-US" sz="1500">
                  <a:solidFill>
                    <a:srgbClr val="6B7280"/>
                  </a:solidFill>
                  <a:latin typeface="Calibri (MS)"/>
                  <a:ea typeface="Calibri (MS)"/>
                  <a:cs typeface="Calibri (MS)"/>
                  <a:sym typeface="Calibri (MS)"/>
                </a:rPr>
                <a:t>Davao del Norte Provincial Government — Cybersecurity Seminar</a:t>
              </a:r>
            </a:p>
          </p:txBody>
        </p:sp>
      </p:grpSp>
      <p:grpSp>
        <p:nvGrpSpPr>
          <p:cNvPr name="Group 46" id="46"/>
          <p:cNvGrpSpPr/>
          <p:nvPr/>
        </p:nvGrpSpPr>
        <p:grpSpPr>
          <a:xfrm rot="0">
            <a:off x="16911828" y="9710928"/>
            <a:ext cx="685800" cy="411480"/>
            <a:chOff x="0" y="0"/>
            <a:chExt cx="914400" cy="548640"/>
          </a:xfrm>
        </p:grpSpPr>
        <p:sp>
          <p:nvSpPr>
            <p:cNvPr name="Freeform 47" id="47"/>
            <p:cNvSpPr/>
            <p:nvPr/>
          </p:nvSpPr>
          <p:spPr>
            <a:xfrm flipH="false" flipV="false" rot="0">
              <a:off x="0" y="0"/>
              <a:ext cx="914400" cy="548640"/>
            </a:xfrm>
            <a:custGeom>
              <a:avLst/>
              <a:gdLst/>
              <a:ahLst/>
              <a:cxnLst/>
              <a:rect r="r" b="b" t="t" l="l"/>
              <a:pathLst>
                <a:path h="548640" w="914400">
                  <a:moveTo>
                    <a:pt x="0" y="0"/>
                  </a:moveTo>
                  <a:lnTo>
                    <a:pt x="914400" y="0"/>
                  </a:lnTo>
                  <a:lnTo>
                    <a:pt x="914400" y="548640"/>
                  </a:lnTo>
                  <a:lnTo>
                    <a:pt x="0" y="548640"/>
                  </a:lnTo>
                  <a:close/>
                </a:path>
              </a:pathLst>
            </a:custGeom>
            <a:blipFill>
              <a:blip r:embed="rId3">
                <a:alphaModFix amt="0"/>
              </a:blip>
              <a:stretch>
                <a:fillRect l="-26982" t="0" r="-26982" b="0"/>
              </a:stretch>
            </a:blipFill>
          </p:spPr>
        </p:sp>
        <p:sp>
          <p:nvSpPr>
            <p:cNvPr name="TextBox 48" id="48"/>
            <p:cNvSpPr txBox="true"/>
            <p:nvPr/>
          </p:nvSpPr>
          <p:spPr>
            <a:xfrm>
              <a:off x="0" y="-38100"/>
              <a:ext cx="914400" cy="586740"/>
            </a:xfrm>
            <a:prstGeom prst="rect">
              <a:avLst/>
            </a:prstGeom>
          </p:spPr>
          <p:txBody>
            <a:bodyPr anchor="ctr" rtlCol="false" tIns="0" lIns="0" bIns="0" rIns="0"/>
            <a:lstStyle/>
            <a:p>
              <a:pPr algn="r">
                <a:lnSpc>
                  <a:spcPts val="1800"/>
                </a:lnSpc>
              </a:pPr>
              <a:r>
                <a:rPr lang="en-US" sz="1500">
                  <a:solidFill>
                    <a:srgbClr val="6B7280"/>
                  </a:solidFill>
                  <a:latin typeface="Calibri (MS)"/>
                  <a:ea typeface="Calibri (MS)"/>
                  <a:cs typeface="Calibri (MS)"/>
                  <a:sym typeface="Calibri (MS)"/>
                </a:rPr>
                <a:t>22</a:t>
              </a:r>
            </a:p>
          </p:txBody>
        </p:sp>
      </p:grpSp>
    </p:spTree>
  </p:cSld>
  <p:clrMapOvr>
    <a:masterClrMapping/>
  </p:clrMapOvr>
</p:sld>
</file>

<file path=ppt/slides/slide2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60120" y="576072"/>
            <a:ext cx="13716000" cy="411480"/>
            <a:chOff x="0" y="0"/>
            <a:chExt cx="18288000" cy="548640"/>
          </a:xfrm>
        </p:grpSpPr>
        <p:sp>
          <p:nvSpPr>
            <p:cNvPr name="Freeform 3" id="3"/>
            <p:cNvSpPr/>
            <p:nvPr/>
          </p:nvSpPr>
          <p:spPr>
            <a:xfrm flipH="false" flipV="false" rot="0">
              <a:off x="0" y="0"/>
              <a:ext cx="18288000" cy="548640"/>
            </a:xfrm>
            <a:custGeom>
              <a:avLst/>
              <a:gdLst/>
              <a:ahLst/>
              <a:cxnLst/>
              <a:rect r="r" b="b" t="t" l="l"/>
              <a:pathLst>
                <a:path h="548640" w="18288000">
                  <a:moveTo>
                    <a:pt x="0" y="0"/>
                  </a:moveTo>
                  <a:lnTo>
                    <a:pt x="18288000" y="0"/>
                  </a:lnTo>
                  <a:lnTo>
                    <a:pt x="18288000" y="548640"/>
                  </a:lnTo>
                  <a:lnTo>
                    <a:pt x="0" y="548640"/>
                  </a:lnTo>
                  <a:close/>
                </a:path>
              </a:pathLst>
            </a:custGeom>
            <a:blipFill>
              <a:blip r:embed="rId3">
                <a:alphaModFix amt="0"/>
              </a:blip>
              <a:stretch>
                <a:fillRect l="0" t="-599501" r="0" b="-599501"/>
              </a:stretch>
            </a:blipFill>
          </p:spPr>
        </p:sp>
        <p:sp>
          <p:nvSpPr>
            <p:cNvPr name="TextBox 4" id="4"/>
            <p:cNvSpPr txBox="true"/>
            <p:nvPr/>
          </p:nvSpPr>
          <p:spPr>
            <a:xfrm>
              <a:off x="0" y="-38100"/>
              <a:ext cx="18288000" cy="586740"/>
            </a:xfrm>
            <a:prstGeom prst="rect">
              <a:avLst/>
            </a:prstGeom>
          </p:spPr>
          <p:txBody>
            <a:bodyPr anchor="ctr" rtlCol="false" tIns="0" lIns="0" bIns="0" rIns="0"/>
            <a:lstStyle/>
            <a:p>
              <a:pPr algn="l">
                <a:lnSpc>
                  <a:spcPts val="2160"/>
                </a:lnSpc>
              </a:pPr>
              <a:r>
                <a:rPr lang="en-US" b="true" sz="1800" spc="225">
                  <a:solidFill>
                    <a:srgbClr val="00B4D8"/>
                  </a:solidFill>
                  <a:latin typeface="Calibri (MS) Bold"/>
                  <a:ea typeface="Calibri (MS) Bold"/>
                  <a:cs typeface="Calibri (MS) Bold"/>
                  <a:sym typeface="Calibri (MS) Bold"/>
                </a:rPr>
                <a:t>RISK MATRIX SORT · SCENARIO</a:t>
              </a:r>
            </a:p>
          </p:txBody>
        </p:sp>
      </p:grpSp>
      <p:grpSp>
        <p:nvGrpSpPr>
          <p:cNvPr name="Group 5" id="5"/>
          <p:cNvGrpSpPr/>
          <p:nvPr/>
        </p:nvGrpSpPr>
        <p:grpSpPr>
          <a:xfrm rot="0">
            <a:off x="960120" y="960120"/>
            <a:ext cx="10972800" cy="754380"/>
            <a:chOff x="0" y="0"/>
            <a:chExt cx="14630400" cy="1005840"/>
          </a:xfrm>
        </p:grpSpPr>
        <p:sp>
          <p:nvSpPr>
            <p:cNvPr name="Freeform 6" id="6"/>
            <p:cNvSpPr/>
            <p:nvPr/>
          </p:nvSpPr>
          <p:spPr>
            <a:xfrm flipH="false" flipV="false" rot="0">
              <a:off x="0" y="0"/>
              <a:ext cx="14630400" cy="1005840"/>
            </a:xfrm>
            <a:custGeom>
              <a:avLst/>
              <a:gdLst/>
              <a:ahLst/>
              <a:cxnLst/>
              <a:rect r="r" b="b" t="t" l="l"/>
              <a:pathLst>
                <a:path h="1005840" w="14630400">
                  <a:moveTo>
                    <a:pt x="0" y="0"/>
                  </a:moveTo>
                  <a:lnTo>
                    <a:pt x="14630400" y="0"/>
                  </a:lnTo>
                  <a:lnTo>
                    <a:pt x="14630400" y="1005840"/>
                  </a:lnTo>
                  <a:lnTo>
                    <a:pt x="0" y="1005840"/>
                  </a:lnTo>
                  <a:close/>
                </a:path>
              </a:pathLst>
            </a:custGeom>
            <a:blipFill>
              <a:blip r:embed="rId3">
                <a:alphaModFix amt="0"/>
              </a:blip>
              <a:stretch>
                <a:fillRect l="0" t="-233418" r="0" b="-233418"/>
              </a:stretch>
            </a:blipFill>
          </p:spPr>
        </p:sp>
        <p:sp>
          <p:nvSpPr>
            <p:cNvPr name="TextBox 7" id="7"/>
            <p:cNvSpPr txBox="true"/>
            <p:nvPr/>
          </p:nvSpPr>
          <p:spPr>
            <a:xfrm>
              <a:off x="0" y="-19050"/>
              <a:ext cx="14630400" cy="1024890"/>
            </a:xfrm>
            <a:prstGeom prst="rect">
              <a:avLst/>
            </a:prstGeom>
          </p:spPr>
          <p:txBody>
            <a:bodyPr anchor="ctr" rtlCol="false" tIns="0" lIns="0" bIns="0" rIns="0"/>
            <a:lstStyle/>
            <a:p>
              <a:pPr algn="l">
                <a:lnSpc>
                  <a:spcPts val="4320"/>
                </a:lnSpc>
              </a:pPr>
              <a:r>
                <a:rPr lang="en-US" sz="3600" b="true">
                  <a:solidFill>
                    <a:srgbClr val="1E2761"/>
                  </a:solidFill>
                  <a:latin typeface="Cambria Bold"/>
                  <a:ea typeface="Cambria Bold"/>
                  <a:cs typeface="Cambria Bold"/>
                  <a:sym typeface="Cambria Bold"/>
                </a:rPr>
                <a:t>Scenario 5</a:t>
              </a:r>
            </a:p>
          </p:txBody>
        </p:sp>
      </p:grpSp>
      <p:grpSp>
        <p:nvGrpSpPr>
          <p:cNvPr name="Group 8" id="8"/>
          <p:cNvGrpSpPr/>
          <p:nvPr/>
        </p:nvGrpSpPr>
        <p:grpSpPr>
          <a:xfrm rot="0">
            <a:off x="960120" y="1645920"/>
            <a:ext cx="8229600" cy="411480"/>
            <a:chOff x="0" y="0"/>
            <a:chExt cx="10972800" cy="548640"/>
          </a:xfrm>
        </p:grpSpPr>
        <p:sp>
          <p:nvSpPr>
            <p:cNvPr name="Freeform 9" id="9"/>
            <p:cNvSpPr/>
            <p:nvPr/>
          </p:nvSpPr>
          <p:spPr>
            <a:xfrm flipH="false" flipV="false" rot="0">
              <a:off x="0" y="0"/>
              <a:ext cx="10972800" cy="548640"/>
            </a:xfrm>
            <a:custGeom>
              <a:avLst/>
              <a:gdLst/>
              <a:ahLst/>
              <a:cxnLst/>
              <a:rect r="r" b="b" t="t" l="l"/>
              <a:pathLst>
                <a:path h="548640" w="10972800">
                  <a:moveTo>
                    <a:pt x="0" y="0"/>
                  </a:moveTo>
                  <a:lnTo>
                    <a:pt x="10972800" y="0"/>
                  </a:lnTo>
                  <a:lnTo>
                    <a:pt x="10972800" y="548640"/>
                  </a:lnTo>
                  <a:lnTo>
                    <a:pt x="0" y="548640"/>
                  </a:lnTo>
                  <a:close/>
                </a:path>
              </a:pathLst>
            </a:custGeom>
            <a:blipFill>
              <a:blip r:embed="rId3">
                <a:alphaModFix amt="0"/>
              </a:blip>
              <a:stretch>
                <a:fillRect l="0" t="-339700" r="0" b="-339700"/>
              </a:stretch>
            </a:blipFill>
          </p:spPr>
        </p:sp>
        <p:sp>
          <p:nvSpPr>
            <p:cNvPr name="TextBox 10" id="10"/>
            <p:cNvSpPr txBox="true"/>
            <p:nvPr/>
          </p:nvSpPr>
          <p:spPr>
            <a:xfrm>
              <a:off x="0" y="-28575"/>
              <a:ext cx="10972800" cy="577215"/>
            </a:xfrm>
            <a:prstGeom prst="rect">
              <a:avLst/>
            </a:prstGeom>
          </p:spPr>
          <p:txBody>
            <a:bodyPr anchor="ctr" rtlCol="false" tIns="0" lIns="0" bIns="0" rIns="0"/>
            <a:lstStyle/>
            <a:p>
              <a:pPr algn="l">
                <a:lnSpc>
                  <a:spcPts val="1980"/>
                </a:lnSpc>
              </a:pPr>
              <a:r>
                <a:rPr lang="en-US" sz="1650">
                  <a:solidFill>
                    <a:srgbClr val="6B7280"/>
                  </a:solidFill>
                  <a:latin typeface="Calibri (MS)"/>
                  <a:ea typeface="Calibri (MS)"/>
                  <a:cs typeface="Calibri (MS)"/>
                  <a:sym typeface="Calibri (MS)"/>
                </a:rPr>
                <a:t>5 of 8</a:t>
              </a:r>
            </a:p>
          </p:txBody>
        </p:sp>
      </p:grpSp>
      <p:grpSp>
        <p:nvGrpSpPr>
          <p:cNvPr name="Group 11" id="11"/>
          <p:cNvGrpSpPr/>
          <p:nvPr/>
        </p:nvGrpSpPr>
        <p:grpSpPr>
          <a:xfrm rot="0">
            <a:off x="960120" y="2194560"/>
            <a:ext cx="16322040" cy="2125980"/>
            <a:chOff x="0" y="0"/>
            <a:chExt cx="21762720" cy="2834640"/>
          </a:xfrm>
        </p:grpSpPr>
        <p:sp>
          <p:nvSpPr>
            <p:cNvPr name="Freeform 12" id="12"/>
            <p:cNvSpPr/>
            <p:nvPr/>
          </p:nvSpPr>
          <p:spPr>
            <a:xfrm flipH="false" flipV="false" rot="0">
              <a:off x="0" y="0"/>
              <a:ext cx="21762720" cy="2834640"/>
            </a:xfrm>
            <a:custGeom>
              <a:avLst/>
              <a:gdLst/>
              <a:ahLst/>
              <a:cxnLst/>
              <a:rect r="r" b="b" t="t" l="l"/>
              <a:pathLst>
                <a:path h="2834640" w="21762720">
                  <a:moveTo>
                    <a:pt x="0" y="182880"/>
                  </a:moveTo>
                  <a:cubicBezTo>
                    <a:pt x="0" y="81915"/>
                    <a:pt x="81915" y="0"/>
                    <a:pt x="182880" y="0"/>
                  </a:cubicBezTo>
                  <a:lnTo>
                    <a:pt x="21579839" y="0"/>
                  </a:lnTo>
                  <a:cubicBezTo>
                    <a:pt x="21680804" y="0"/>
                    <a:pt x="21762720" y="81915"/>
                    <a:pt x="21762720" y="182880"/>
                  </a:cubicBezTo>
                  <a:lnTo>
                    <a:pt x="21762720" y="2651760"/>
                  </a:lnTo>
                  <a:cubicBezTo>
                    <a:pt x="21762720" y="2752725"/>
                    <a:pt x="21680804" y="2834640"/>
                    <a:pt x="21579839" y="2834640"/>
                  </a:cubicBezTo>
                  <a:lnTo>
                    <a:pt x="182880" y="2834640"/>
                  </a:lnTo>
                  <a:cubicBezTo>
                    <a:pt x="81915" y="2834640"/>
                    <a:pt x="0" y="2752725"/>
                    <a:pt x="0" y="2651760"/>
                  </a:cubicBezTo>
                  <a:close/>
                </a:path>
              </a:pathLst>
            </a:custGeom>
            <a:solidFill>
              <a:srgbClr val="F4F7FC"/>
            </a:solidFill>
          </p:spPr>
        </p:sp>
      </p:grpSp>
      <p:grpSp>
        <p:nvGrpSpPr>
          <p:cNvPr name="Group 13" id="13"/>
          <p:cNvGrpSpPr/>
          <p:nvPr/>
        </p:nvGrpSpPr>
        <p:grpSpPr>
          <a:xfrm rot="0">
            <a:off x="1371600" y="2441448"/>
            <a:ext cx="15499080" cy="1645920"/>
            <a:chOff x="0" y="0"/>
            <a:chExt cx="20665440" cy="2194560"/>
          </a:xfrm>
        </p:grpSpPr>
        <p:sp>
          <p:nvSpPr>
            <p:cNvPr name="Freeform 14" id="14"/>
            <p:cNvSpPr/>
            <p:nvPr/>
          </p:nvSpPr>
          <p:spPr>
            <a:xfrm flipH="false" flipV="false" rot="0">
              <a:off x="0" y="0"/>
              <a:ext cx="20665439" cy="2194560"/>
            </a:xfrm>
            <a:custGeom>
              <a:avLst/>
              <a:gdLst/>
              <a:ahLst/>
              <a:cxnLst/>
              <a:rect r="r" b="b" t="t" l="l"/>
              <a:pathLst>
                <a:path h="2194560" w="20665439">
                  <a:moveTo>
                    <a:pt x="0" y="0"/>
                  </a:moveTo>
                  <a:lnTo>
                    <a:pt x="20665439" y="0"/>
                  </a:lnTo>
                  <a:lnTo>
                    <a:pt x="20665439" y="2194560"/>
                  </a:lnTo>
                  <a:lnTo>
                    <a:pt x="0" y="2194560"/>
                  </a:lnTo>
                  <a:close/>
                </a:path>
              </a:pathLst>
            </a:custGeom>
            <a:blipFill>
              <a:blip r:embed="rId3">
                <a:alphaModFix amt="0"/>
              </a:blip>
              <a:stretch>
                <a:fillRect l="0" t="-133484" r="0" b="-133484"/>
              </a:stretch>
            </a:blipFill>
          </p:spPr>
        </p:sp>
        <p:sp>
          <p:nvSpPr>
            <p:cNvPr name="TextBox 15" id="15"/>
            <p:cNvSpPr txBox="true"/>
            <p:nvPr/>
          </p:nvSpPr>
          <p:spPr>
            <a:xfrm>
              <a:off x="0" y="-85725"/>
              <a:ext cx="20665440" cy="2280285"/>
            </a:xfrm>
            <a:prstGeom prst="rect">
              <a:avLst/>
            </a:prstGeom>
          </p:spPr>
          <p:txBody>
            <a:bodyPr anchor="ctr" rtlCol="false" tIns="0" lIns="0" bIns="0" rIns="0"/>
            <a:lstStyle/>
            <a:p>
              <a:pPr algn="l">
                <a:lnSpc>
                  <a:spcPts val="3600"/>
                </a:lnSpc>
              </a:pPr>
              <a:r>
                <a:rPr lang="en-US" sz="2400" i="true">
                  <a:solidFill>
                    <a:srgbClr val="23262F"/>
                  </a:solidFill>
                  <a:latin typeface="Cambria Italics"/>
                  <a:ea typeface="Cambria Italics"/>
                  <a:cs typeface="Cambria Italics"/>
                  <a:sym typeface="Cambria Italics"/>
                </a:rPr>
                <a:t>“The capitol's server room sits in the basement, in a municipality that floods almost every rainy season.”</a:t>
              </a:r>
            </a:p>
          </p:txBody>
        </p:sp>
      </p:grpSp>
      <p:grpSp>
        <p:nvGrpSpPr>
          <p:cNvPr name="Group 16" id="16"/>
          <p:cNvGrpSpPr/>
          <p:nvPr/>
        </p:nvGrpSpPr>
        <p:grpSpPr>
          <a:xfrm rot="0">
            <a:off x="960120" y="4594860"/>
            <a:ext cx="16322040" cy="685800"/>
            <a:chOff x="0" y="0"/>
            <a:chExt cx="21762720" cy="914400"/>
          </a:xfrm>
        </p:grpSpPr>
        <p:sp>
          <p:nvSpPr>
            <p:cNvPr name="Freeform 17" id="17"/>
            <p:cNvSpPr/>
            <p:nvPr/>
          </p:nvSpPr>
          <p:spPr>
            <a:xfrm flipH="false" flipV="false" rot="0">
              <a:off x="0" y="0"/>
              <a:ext cx="21762720" cy="914400"/>
            </a:xfrm>
            <a:custGeom>
              <a:avLst/>
              <a:gdLst/>
              <a:ahLst/>
              <a:cxnLst/>
              <a:rect r="r" b="b" t="t" l="l"/>
              <a:pathLst>
                <a:path h="914400" w="21762720">
                  <a:moveTo>
                    <a:pt x="0" y="0"/>
                  </a:moveTo>
                  <a:lnTo>
                    <a:pt x="21762720" y="0"/>
                  </a:lnTo>
                  <a:lnTo>
                    <a:pt x="21762720" y="914400"/>
                  </a:lnTo>
                  <a:lnTo>
                    <a:pt x="0" y="914400"/>
                  </a:lnTo>
                  <a:close/>
                </a:path>
              </a:pathLst>
            </a:custGeom>
            <a:blipFill>
              <a:blip r:embed="rId3">
                <a:alphaModFix amt="0"/>
              </a:blip>
              <a:stretch>
                <a:fillRect l="0" t="-413743" r="0" b="-413743"/>
              </a:stretch>
            </a:blipFill>
          </p:spPr>
        </p:sp>
        <p:sp>
          <p:nvSpPr>
            <p:cNvPr name="TextBox 18" id="18"/>
            <p:cNvSpPr txBox="true"/>
            <p:nvPr/>
          </p:nvSpPr>
          <p:spPr>
            <a:xfrm>
              <a:off x="0" y="-47625"/>
              <a:ext cx="21762720" cy="962025"/>
            </a:xfrm>
            <a:prstGeom prst="rect">
              <a:avLst/>
            </a:prstGeom>
          </p:spPr>
          <p:txBody>
            <a:bodyPr anchor="ctr" rtlCol="false" tIns="0" lIns="0" bIns="0" rIns="0"/>
            <a:lstStyle/>
            <a:p>
              <a:pPr algn="ctr">
                <a:lnSpc>
                  <a:spcPts val="2520"/>
                </a:lnSpc>
              </a:pPr>
              <a:r>
                <a:rPr lang="en-US" sz="2100" i="true">
                  <a:solidFill>
                    <a:srgbClr val="6B7280"/>
                  </a:solidFill>
                  <a:latin typeface="Calibri (MS) Italics"/>
                  <a:ea typeface="Calibri (MS) Italics"/>
                  <a:cs typeface="Calibri (MS) Italics"/>
                  <a:sym typeface="Calibri (MS) Italics"/>
                </a:rPr>
                <a:t>Rate the likelihood, rate the impact, then pick a response. Discuss, then we'll reveal the answer.</a:t>
              </a:r>
            </a:p>
          </p:txBody>
        </p:sp>
      </p:grpSp>
      <p:grpSp>
        <p:nvGrpSpPr>
          <p:cNvPr name="Group 19" id="19"/>
          <p:cNvGrpSpPr/>
          <p:nvPr/>
        </p:nvGrpSpPr>
        <p:grpSpPr>
          <a:xfrm rot="0">
            <a:off x="960120" y="5486400"/>
            <a:ext cx="16322040" cy="384048"/>
            <a:chOff x="0" y="0"/>
            <a:chExt cx="21762720" cy="512064"/>
          </a:xfrm>
        </p:grpSpPr>
        <p:sp>
          <p:nvSpPr>
            <p:cNvPr name="Freeform 20" id="20"/>
            <p:cNvSpPr/>
            <p:nvPr/>
          </p:nvSpPr>
          <p:spPr>
            <a:xfrm flipH="false" flipV="false" rot="0">
              <a:off x="0" y="0"/>
              <a:ext cx="21762720" cy="512064"/>
            </a:xfrm>
            <a:custGeom>
              <a:avLst/>
              <a:gdLst/>
              <a:ahLst/>
              <a:cxnLst/>
              <a:rect r="r" b="b" t="t" l="l"/>
              <a:pathLst>
                <a:path h="512064" w="21762720">
                  <a:moveTo>
                    <a:pt x="0" y="0"/>
                  </a:moveTo>
                  <a:lnTo>
                    <a:pt x="21762720" y="0"/>
                  </a:lnTo>
                  <a:lnTo>
                    <a:pt x="21762720" y="512064"/>
                  </a:lnTo>
                  <a:lnTo>
                    <a:pt x="0" y="512064"/>
                  </a:lnTo>
                  <a:close/>
                </a:path>
              </a:pathLst>
            </a:custGeom>
            <a:blipFill>
              <a:blip r:embed="rId3">
                <a:alphaModFix amt="0"/>
              </a:blip>
              <a:stretch>
                <a:fillRect l="0" t="-778114" r="0" b="-778114"/>
              </a:stretch>
            </a:blipFill>
          </p:spPr>
        </p:sp>
        <p:sp>
          <p:nvSpPr>
            <p:cNvPr name="TextBox 21" id="21"/>
            <p:cNvSpPr txBox="true"/>
            <p:nvPr/>
          </p:nvSpPr>
          <p:spPr>
            <a:xfrm>
              <a:off x="0" y="-19050"/>
              <a:ext cx="21762720" cy="531114"/>
            </a:xfrm>
            <a:prstGeom prst="rect">
              <a:avLst/>
            </a:prstGeom>
          </p:spPr>
          <p:txBody>
            <a:bodyPr anchor="ctr" rtlCol="false" tIns="0" lIns="0" bIns="0" rIns="0"/>
            <a:lstStyle/>
            <a:p>
              <a:pPr algn="ctr">
                <a:lnSpc>
                  <a:spcPts val="1889"/>
                </a:lnSpc>
              </a:pPr>
              <a:r>
                <a:rPr lang="en-US" b="true" sz="1575" spc="74">
                  <a:solidFill>
                    <a:srgbClr val="6B7280"/>
                  </a:solidFill>
                  <a:latin typeface="Calibri (MS) Bold"/>
                  <a:ea typeface="Calibri (MS) Bold"/>
                  <a:cs typeface="Calibri (MS) Bold"/>
                  <a:sym typeface="Calibri (MS) Bold"/>
                </a:rPr>
                <a:t>SCALE FOR LIKELIHOOD &amp; IMPACT</a:t>
              </a:r>
            </a:p>
          </p:txBody>
        </p:sp>
      </p:grpSp>
      <p:grpSp>
        <p:nvGrpSpPr>
          <p:cNvPr name="Group 22" id="22"/>
          <p:cNvGrpSpPr/>
          <p:nvPr/>
        </p:nvGrpSpPr>
        <p:grpSpPr>
          <a:xfrm rot="0">
            <a:off x="3371469" y="5915787"/>
            <a:ext cx="3585210" cy="773430"/>
            <a:chOff x="0" y="0"/>
            <a:chExt cx="4780280" cy="1031240"/>
          </a:xfrm>
        </p:grpSpPr>
        <p:sp>
          <p:nvSpPr>
            <p:cNvPr name="Freeform 23" id="23"/>
            <p:cNvSpPr/>
            <p:nvPr/>
          </p:nvSpPr>
          <p:spPr>
            <a:xfrm flipH="false" flipV="false" rot="0">
              <a:off x="0" y="0"/>
              <a:ext cx="4780280" cy="1031240"/>
            </a:xfrm>
            <a:custGeom>
              <a:avLst/>
              <a:gdLst/>
              <a:ahLst/>
              <a:cxnLst/>
              <a:rect r="r" b="b" t="t" l="l"/>
              <a:pathLst>
                <a:path h="1031240" w="4780280">
                  <a:moveTo>
                    <a:pt x="0" y="168783"/>
                  </a:moveTo>
                  <a:cubicBezTo>
                    <a:pt x="0" y="75565"/>
                    <a:pt x="75565" y="0"/>
                    <a:pt x="168783" y="0"/>
                  </a:cubicBezTo>
                  <a:lnTo>
                    <a:pt x="4611497" y="0"/>
                  </a:lnTo>
                  <a:cubicBezTo>
                    <a:pt x="4704715" y="0"/>
                    <a:pt x="4780280" y="75565"/>
                    <a:pt x="4780280" y="168783"/>
                  </a:cubicBezTo>
                  <a:lnTo>
                    <a:pt x="4780280" y="862457"/>
                  </a:lnTo>
                  <a:cubicBezTo>
                    <a:pt x="4780280" y="955675"/>
                    <a:pt x="4704715" y="1031240"/>
                    <a:pt x="4611497" y="1031240"/>
                  </a:cubicBezTo>
                  <a:lnTo>
                    <a:pt x="168783" y="1031240"/>
                  </a:lnTo>
                  <a:cubicBezTo>
                    <a:pt x="75565" y="1031240"/>
                    <a:pt x="0" y="955675"/>
                    <a:pt x="0" y="862457"/>
                  </a:cubicBezTo>
                  <a:close/>
                </a:path>
              </a:pathLst>
            </a:custGeom>
            <a:solidFill>
              <a:srgbClr val="F4F7FC"/>
            </a:solidFill>
            <a:ln w="19050" cap="sq">
              <a:solidFill>
                <a:srgbClr val="D7DCEC"/>
              </a:solidFill>
              <a:prstDash val="solid"/>
              <a:miter/>
            </a:ln>
          </p:spPr>
        </p:sp>
      </p:grpSp>
      <p:grpSp>
        <p:nvGrpSpPr>
          <p:cNvPr name="Group 24" id="24"/>
          <p:cNvGrpSpPr/>
          <p:nvPr/>
        </p:nvGrpSpPr>
        <p:grpSpPr>
          <a:xfrm rot="0">
            <a:off x="3380994" y="5925312"/>
            <a:ext cx="3566160" cy="754380"/>
            <a:chOff x="0" y="0"/>
            <a:chExt cx="4754880" cy="1005840"/>
          </a:xfrm>
        </p:grpSpPr>
        <p:sp>
          <p:nvSpPr>
            <p:cNvPr name="Freeform 25" id="25"/>
            <p:cNvSpPr/>
            <p:nvPr/>
          </p:nvSpPr>
          <p:spPr>
            <a:xfrm flipH="false" flipV="false" rot="0">
              <a:off x="0" y="0"/>
              <a:ext cx="4754880" cy="1005840"/>
            </a:xfrm>
            <a:custGeom>
              <a:avLst/>
              <a:gdLst/>
              <a:ahLst/>
              <a:cxnLst/>
              <a:rect r="r" b="b" t="t" l="l"/>
              <a:pathLst>
                <a:path h="1005840" w="4754880">
                  <a:moveTo>
                    <a:pt x="0" y="0"/>
                  </a:moveTo>
                  <a:lnTo>
                    <a:pt x="4754880" y="0"/>
                  </a:lnTo>
                  <a:lnTo>
                    <a:pt x="4754880" y="1005840"/>
                  </a:lnTo>
                  <a:lnTo>
                    <a:pt x="0" y="1005840"/>
                  </a:lnTo>
                  <a:close/>
                </a:path>
              </a:pathLst>
            </a:custGeom>
            <a:blipFill>
              <a:blip r:embed="rId3">
                <a:alphaModFix amt="0"/>
              </a:blip>
              <a:stretch>
                <a:fillRect l="0" t="-42111" r="0" b="-42111"/>
              </a:stretch>
            </a:blipFill>
          </p:spPr>
        </p:sp>
        <p:sp>
          <p:nvSpPr>
            <p:cNvPr name="TextBox 26" id="26"/>
            <p:cNvSpPr txBox="true"/>
            <p:nvPr/>
          </p:nvSpPr>
          <p:spPr>
            <a:xfrm>
              <a:off x="0" y="-47625"/>
              <a:ext cx="4754880" cy="1053465"/>
            </a:xfrm>
            <a:prstGeom prst="rect">
              <a:avLst/>
            </a:prstGeom>
          </p:spPr>
          <p:txBody>
            <a:bodyPr anchor="ctr" rtlCol="false" tIns="0" lIns="0" bIns="0" rIns="0"/>
            <a:lstStyle/>
            <a:p>
              <a:pPr algn="ctr">
                <a:lnSpc>
                  <a:spcPts val="2340"/>
                </a:lnSpc>
              </a:pPr>
              <a:r>
                <a:rPr lang="en-US" sz="1950">
                  <a:solidFill>
                    <a:srgbClr val="6B7280"/>
                  </a:solidFill>
                  <a:latin typeface="Calibri (MS)"/>
                  <a:ea typeface="Calibri (MS)"/>
                  <a:cs typeface="Calibri (MS)"/>
                  <a:sym typeface="Calibri (MS)"/>
                </a:rPr>
                <a:t>Low</a:t>
              </a:r>
            </a:p>
          </p:txBody>
        </p:sp>
      </p:grpSp>
      <p:grpSp>
        <p:nvGrpSpPr>
          <p:cNvPr name="Group 27" id="27"/>
          <p:cNvGrpSpPr/>
          <p:nvPr/>
        </p:nvGrpSpPr>
        <p:grpSpPr>
          <a:xfrm rot="0">
            <a:off x="7349109" y="5915787"/>
            <a:ext cx="3585210" cy="773430"/>
            <a:chOff x="0" y="0"/>
            <a:chExt cx="4780280" cy="1031240"/>
          </a:xfrm>
        </p:grpSpPr>
        <p:sp>
          <p:nvSpPr>
            <p:cNvPr name="Freeform 28" id="28"/>
            <p:cNvSpPr/>
            <p:nvPr/>
          </p:nvSpPr>
          <p:spPr>
            <a:xfrm flipH="false" flipV="false" rot="0">
              <a:off x="0" y="0"/>
              <a:ext cx="4780280" cy="1031240"/>
            </a:xfrm>
            <a:custGeom>
              <a:avLst/>
              <a:gdLst/>
              <a:ahLst/>
              <a:cxnLst/>
              <a:rect r="r" b="b" t="t" l="l"/>
              <a:pathLst>
                <a:path h="1031240" w="4780280">
                  <a:moveTo>
                    <a:pt x="0" y="168783"/>
                  </a:moveTo>
                  <a:cubicBezTo>
                    <a:pt x="0" y="75565"/>
                    <a:pt x="75565" y="0"/>
                    <a:pt x="168783" y="0"/>
                  </a:cubicBezTo>
                  <a:lnTo>
                    <a:pt x="4611497" y="0"/>
                  </a:lnTo>
                  <a:cubicBezTo>
                    <a:pt x="4704715" y="0"/>
                    <a:pt x="4780280" y="75565"/>
                    <a:pt x="4780280" y="168783"/>
                  </a:cubicBezTo>
                  <a:lnTo>
                    <a:pt x="4780280" y="862457"/>
                  </a:lnTo>
                  <a:cubicBezTo>
                    <a:pt x="4780280" y="955675"/>
                    <a:pt x="4704715" y="1031240"/>
                    <a:pt x="4611497" y="1031240"/>
                  </a:cubicBezTo>
                  <a:lnTo>
                    <a:pt x="168783" y="1031240"/>
                  </a:lnTo>
                  <a:cubicBezTo>
                    <a:pt x="75565" y="1031240"/>
                    <a:pt x="0" y="955675"/>
                    <a:pt x="0" y="862457"/>
                  </a:cubicBezTo>
                  <a:close/>
                </a:path>
              </a:pathLst>
            </a:custGeom>
            <a:solidFill>
              <a:srgbClr val="F4F7FC"/>
            </a:solidFill>
            <a:ln w="19050" cap="sq">
              <a:solidFill>
                <a:srgbClr val="D7DCEC"/>
              </a:solidFill>
              <a:prstDash val="solid"/>
              <a:miter/>
            </a:ln>
          </p:spPr>
        </p:sp>
      </p:grpSp>
      <p:grpSp>
        <p:nvGrpSpPr>
          <p:cNvPr name="Group 29" id="29"/>
          <p:cNvGrpSpPr/>
          <p:nvPr/>
        </p:nvGrpSpPr>
        <p:grpSpPr>
          <a:xfrm rot="0">
            <a:off x="7358634" y="5925312"/>
            <a:ext cx="3566160" cy="754380"/>
            <a:chOff x="0" y="0"/>
            <a:chExt cx="4754880" cy="1005840"/>
          </a:xfrm>
        </p:grpSpPr>
        <p:sp>
          <p:nvSpPr>
            <p:cNvPr name="Freeform 30" id="30"/>
            <p:cNvSpPr/>
            <p:nvPr/>
          </p:nvSpPr>
          <p:spPr>
            <a:xfrm flipH="false" flipV="false" rot="0">
              <a:off x="0" y="0"/>
              <a:ext cx="4754880" cy="1005840"/>
            </a:xfrm>
            <a:custGeom>
              <a:avLst/>
              <a:gdLst/>
              <a:ahLst/>
              <a:cxnLst/>
              <a:rect r="r" b="b" t="t" l="l"/>
              <a:pathLst>
                <a:path h="1005840" w="4754880">
                  <a:moveTo>
                    <a:pt x="0" y="0"/>
                  </a:moveTo>
                  <a:lnTo>
                    <a:pt x="4754880" y="0"/>
                  </a:lnTo>
                  <a:lnTo>
                    <a:pt x="4754880" y="1005840"/>
                  </a:lnTo>
                  <a:lnTo>
                    <a:pt x="0" y="1005840"/>
                  </a:lnTo>
                  <a:close/>
                </a:path>
              </a:pathLst>
            </a:custGeom>
            <a:blipFill>
              <a:blip r:embed="rId3">
                <a:alphaModFix amt="0"/>
              </a:blip>
              <a:stretch>
                <a:fillRect l="0" t="-42111" r="0" b="-42111"/>
              </a:stretch>
            </a:blipFill>
          </p:spPr>
        </p:sp>
        <p:sp>
          <p:nvSpPr>
            <p:cNvPr name="TextBox 31" id="31"/>
            <p:cNvSpPr txBox="true"/>
            <p:nvPr/>
          </p:nvSpPr>
          <p:spPr>
            <a:xfrm>
              <a:off x="0" y="-47625"/>
              <a:ext cx="4754880" cy="1053465"/>
            </a:xfrm>
            <a:prstGeom prst="rect">
              <a:avLst/>
            </a:prstGeom>
          </p:spPr>
          <p:txBody>
            <a:bodyPr anchor="ctr" rtlCol="false" tIns="0" lIns="0" bIns="0" rIns="0"/>
            <a:lstStyle/>
            <a:p>
              <a:pPr algn="ctr">
                <a:lnSpc>
                  <a:spcPts val="2340"/>
                </a:lnSpc>
              </a:pPr>
              <a:r>
                <a:rPr lang="en-US" sz="1950">
                  <a:solidFill>
                    <a:srgbClr val="6B7280"/>
                  </a:solidFill>
                  <a:latin typeface="Calibri (MS)"/>
                  <a:ea typeface="Calibri (MS)"/>
                  <a:cs typeface="Calibri (MS)"/>
                  <a:sym typeface="Calibri (MS)"/>
                </a:rPr>
                <a:t>Medium</a:t>
              </a:r>
            </a:p>
          </p:txBody>
        </p:sp>
      </p:grpSp>
      <p:grpSp>
        <p:nvGrpSpPr>
          <p:cNvPr name="Group 32" id="32"/>
          <p:cNvGrpSpPr/>
          <p:nvPr/>
        </p:nvGrpSpPr>
        <p:grpSpPr>
          <a:xfrm rot="0">
            <a:off x="11326749" y="5915787"/>
            <a:ext cx="3585210" cy="773430"/>
            <a:chOff x="0" y="0"/>
            <a:chExt cx="4780280" cy="1031240"/>
          </a:xfrm>
        </p:grpSpPr>
        <p:sp>
          <p:nvSpPr>
            <p:cNvPr name="Freeform 33" id="33"/>
            <p:cNvSpPr/>
            <p:nvPr/>
          </p:nvSpPr>
          <p:spPr>
            <a:xfrm flipH="false" flipV="false" rot="0">
              <a:off x="0" y="0"/>
              <a:ext cx="4780280" cy="1031240"/>
            </a:xfrm>
            <a:custGeom>
              <a:avLst/>
              <a:gdLst/>
              <a:ahLst/>
              <a:cxnLst/>
              <a:rect r="r" b="b" t="t" l="l"/>
              <a:pathLst>
                <a:path h="1031240" w="4780280">
                  <a:moveTo>
                    <a:pt x="0" y="168783"/>
                  </a:moveTo>
                  <a:cubicBezTo>
                    <a:pt x="0" y="75565"/>
                    <a:pt x="75565" y="0"/>
                    <a:pt x="168783" y="0"/>
                  </a:cubicBezTo>
                  <a:lnTo>
                    <a:pt x="4611497" y="0"/>
                  </a:lnTo>
                  <a:cubicBezTo>
                    <a:pt x="4704715" y="0"/>
                    <a:pt x="4780280" y="75565"/>
                    <a:pt x="4780280" y="168783"/>
                  </a:cubicBezTo>
                  <a:lnTo>
                    <a:pt x="4780280" y="862457"/>
                  </a:lnTo>
                  <a:cubicBezTo>
                    <a:pt x="4780280" y="955675"/>
                    <a:pt x="4704715" y="1031240"/>
                    <a:pt x="4611497" y="1031240"/>
                  </a:cubicBezTo>
                  <a:lnTo>
                    <a:pt x="168783" y="1031240"/>
                  </a:lnTo>
                  <a:cubicBezTo>
                    <a:pt x="75565" y="1031240"/>
                    <a:pt x="0" y="955675"/>
                    <a:pt x="0" y="862457"/>
                  </a:cubicBezTo>
                  <a:close/>
                </a:path>
              </a:pathLst>
            </a:custGeom>
            <a:solidFill>
              <a:srgbClr val="F4F7FC"/>
            </a:solidFill>
            <a:ln w="19050" cap="sq">
              <a:solidFill>
                <a:srgbClr val="D7DCEC"/>
              </a:solidFill>
              <a:prstDash val="solid"/>
              <a:miter/>
            </a:ln>
          </p:spPr>
        </p:sp>
      </p:grpSp>
      <p:grpSp>
        <p:nvGrpSpPr>
          <p:cNvPr name="Group 34" id="34"/>
          <p:cNvGrpSpPr/>
          <p:nvPr/>
        </p:nvGrpSpPr>
        <p:grpSpPr>
          <a:xfrm rot="0">
            <a:off x="11336274" y="5925312"/>
            <a:ext cx="3566160" cy="754380"/>
            <a:chOff x="0" y="0"/>
            <a:chExt cx="4754880" cy="1005840"/>
          </a:xfrm>
        </p:grpSpPr>
        <p:sp>
          <p:nvSpPr>
            <p:cNvPr name="Freeform 35" id="35"/>
            <p:cNvSpPr/>
            <p:nvPr/>
          </p:nvSpPr>
          <p:spPr>
            <a:xfrm flipH="false" flipV="false" rot="0">
              <a:off x="0" y="0"/>
              <a:ext cx="4754880" cy="1005840"/>
            </a:xfrm>
            <a:custGeom>
              <a:avLst/>
              <a:gdLst/>
              <a:ahLst/>
              <a:cxnLst/>
              <a:rect r="r" b="b" t="t" l="l"/>
              <a:pathLst>
                <a:path h="1005840" w="4754880">
                  <a:moveTo>
                    <a:pt x="0" y="0"/>
                  </a:moveTo>
                  <a:lnTo>
                    <a:pt x="4754880" y="0"/>
                  </a:lnTo>
                  <a:lnTo>
                    <a:pt x="4754880" y="1005840"/>
                  </a:lnTo>
                  <a:lnTo>
                    <a:pt x="0" y="1005840"/>
                  </a:lnTo>
                  <a:close/>
                </a:path>
              </a:pathLst>
            </a:custGeom>
            <a:blipFill>
              <a:blip r:embed="rId3">
                <a:alphaModFix amt="0"/>
              </a:blip>
              <a:stretch>
                <a:fillRect l="0" t="-42111" r="0" b="-42111"/>
              </a:stretch>
            </a:blipFill>
          </p:spPr>
        </p:sp>
        <p:sp>
          <p:nvSpPr>
            <p:cNvPr name="TextBox 36" id="36"/>
            <p:cNvSpPr txBox="true"/>
            <p:nvPr/>
          </p:nvSpPr>
          <p:spPr>
            <a:xfrm>
              <a:off x="0" y="-47625"/>
              <a:ext cx="4754880" cy="1053465"/>
            </a:xfrm>
            <a:prstGeom prst="rect">
              <a:avLst/>
            </a:prstGeom>
          </p:spPr>
          <p:txBody>
            <a:bodyPr anchor="ctr" rtlCol="false" tIns="0" lIns="0" bIns="0" rIns="0"/>
            <a:lstStyle/>
            <a:p>
              <a:pPr algn="ctr">
                <a:lnSpc>
                  <a:spcPts val="2340"/>
                </a:lnSpc>
              </a:pPr>
              <a:r>
                <a:rPr lang="en-US" sz="1950">
                  <a:solidFill>
                    <a:srgbClr val="6B7280"/>
                  </a:solidFill>
                  <a:latin typeface="Calibri (MS)"/>
                  <a:ea typeface="Calibri (MS)"/>
                  <a:cs typeface="Calibri (MS)"/>
                  <a:sym typeface="Calibri (MS)"/>
                </a:rPr>
                <a:t>High</a:t>
              </a:r>
            </a:p>
          </p:txBody>
        </p:sp>
      </p:grpSp>
      <p:grpSp>
        <p:nvGrpSpPr>
          <p:cNvPr name="Group 37" id="37"/>
          <p:cNvGrpSpPr/>
          <p:nvPr/>
        </p:nvGrpSpPr>
        <p:grpSpPr>
          <a:xfrm rot="0">
            <a:off x="960120" y="7063740"/>
            <a:ext cx="16322040" cy="384048"/>
            <a:chOff x="0" y="0"/>
            <a:chExt cx="21762720" cy="512064"/>
          </a:xfrm>
        </p:grpSpPr>
        <p:sp>
          <p:nvSpPr>
            <p:cNvPr name="Freeform 38" id="38"/>
            <p:cNvSpPr/>
            <p:nvPr/>
          </p:nvSpPr>
          <p:spPr>
            <a:xfrm flipH="false" flipV="false" rot="0">
              <a:off x="0" y="0"/>
              <a:ext cx="21762720" cy="512064"/>
            </a:xfrm>
            <a:custGeom>
              <a:avLst/>
              <a:gdLst/>
              <a:ahLst/>
              <a:cxnLst/>
              <a:rect r="r" b="b" t="t" l="l"/>
              <a:pathLst>
                <a:path h="512064" w="21762720">
                  <a:moveTo>
                    <a:pt x="0" y="0"/>
                  </a:moveTo>
                  <a:lnTo>
                    <a:pt x="21762720" y="0"/>
                  </a:lnTo>
                  <a:lnTo>
                    <a:pt x="21762720" y="512064"/>
                  </a:lnTo>
                  <a:lnTo>
                    <a:pt x="0" y="512064"/>
                  </a:lnTo>
                  <a:close/>
                </a:path>
              </a:pathLst>
            </a:custGeom>
            <a:blipFill>
              <a:blip r:embed="rId3">
                <a:alphaModFix amt="0"/>
              </a:blip>
              <a:stretch>
                <a:fillRect l="0" t="-778114" r="0" b="-778114"/>
              </a:stretch>
            </a:blipFill>
          </p:spPr>
        </p:sp>
        <p:sp>
          <p:nvSpPr>
            <p:cNvPr name="TextBox 39" id="39"/>
            <p:cNvSpPr txBox="true"/>
            <p:nvPr/>
          </p:nvSpPr>
          <p:spPr>
            <a:xfrm>
              <a:off x="0" y="-19050"/>
              <a:ext cx="21762720" cy="531114"/>
            </a:xfrm>
            <a:prstGeom prst="rect">
              <a:avLst/>
            </a:prstGeom>
          </p:spPr>
          <p:txBody>
            <a:bodyPr anchor="ctr" rtlCol="false" tIns="0" lIns="0" bIns="0" rIns="0"/>
            <a:lstStyle/>
            <a:p>
              <a:pPr algn="ctr">
                <a:lnSpc>
                  <a:spcPts val="1889"/>
                </a:lnSpc>
              </a:pPr>
              <a:r>
                <a:rPr lang="en-US" b="true" sz="1575" spc="74">
                  <a:solidFill>
                    <a:srgbClr val="6B7280"/>
                  </a:solidFill>
                  <a:latin typeface="Calibri (MS) Bold"/>
                  <a:ea typeface="Calibri (MS) Bold"/>
                  <a:cs typeface="Calibri (MS) Bold"/>
                  <a:sym typeface="Calibri (MS) Bold"/>
                </a:rPr>
                <a:t>RESPONSE OPTIONS</a:t>
              </a:r>
            </a:p>
          </p:txBody>
        </p:sp>
      </p:grpSp>
      <p:grpSp>
        <p:nvGrpSpPr>
          <p:cNvPr name="Group 40" id="40"/>
          <p:cNvGrpSpPr/>
          <p:nvPr/>
        </p:nvGrpSpPr>
        <p:grpSpPr>
          <a:xfrm rot="0">
            <a:off x="1012317" y="7493127"/>
            <a:ext cx="3790950" cy="773430"/>
            <a:chOff x="0" y="0"/>
            <a:chExt cx="5054600" cy="1031240"/>
          </a:xfrm>
        </p:grpSpPr>
        <p:sp>
          <p:nvSpPr>
            <p:cNvPr name="Freeform 41" id="41"/>
            <p:cNvSpPr/>
            <p:nvPr/>
          </p:nvSpPr>
          <p:spPr>
            <a:xfrm flipH="false" flipV="false" rot="0">
              <a:off x="0" y="0"/>
              <a:ext cx="5054600" cy="1031240"/>
            </a:xfrm>
            <a:custGeom>
              <a:avLst/>
              <a:gdLst/>
              <a:ahLst/>
              <a:cxnLst/>
              <a:rect r="r" b="b" t="t" l="l"/>
              <a:pathLst>
                <a:path h="1031240" w="5054600">
                  <a:moveTo>
                    <a:pt x="0" y="168783"/>
                  </a:moveTo>
                  <a:cubicBezTo>
                    <a:pt x="0" y="75565"/>
                    <a:pt x="75565" y="0"/>
                    <a:pt x="168783" y="0"/>
                  </a:cubicBezTo>
                  <a:lnTo>
                    <a:pt x="4885817" y="0"/>
                  </a:lnTo>
                  <a:cubicBezTo>
                    <a:pt x="4979035" y="0"/>
                    <a:pt x="5054600" y="75565"/>
                    <a:pt x="5054600" y="168783"/>
                  </a:cubicBezTo>
                  <a:lnTo>
                    <a:pt x="5054600" y="862457"/>
                  </a:lnTo>
                  <a:cubicBezTo>
                    <a:pt x="5054600" y="955675"/>
                    <a:pt x="4979035" y="1031240"/>
                    <a:pt x="4885817" y="1031240"/>
                  </a:cubicBezTo>
                  <a:lnTo>
                    <a:pt x="168783" y="1031240"/>
                  </a:lnTo>
                  <a:cubicBezTo>
                    <a:pt x="75565" y="1031240"/>
                    <a:pt x="0" y="955675"/>
                    <a:pt x="0" y="862457"/>
                  </a:cubicBezTo>
                  <a:close/>
                </a:path>
              </a:pathLst>
            </a:custGeom>
            <a:solidFill>
              <a:srgbClr val="F4F7FC"/>
            </a:solidFill>
            <a:ln w="19050" cap="sq">
              <a:solidFill>
                <a:srgbClr val="D7DCEC"/>
              </a:solidFill>
              <a:prstDash val="solid"/>
              <a:miter/>
            </a:ln>
          </p:spPr>
        </p:sp>
      </p:grpSp>
      <p:grpSp>
        <p:nvGrpSpPr>
          <p:cNvPr name="Group 42" id="42"/>
          <p:cNvGrpSpPr/>
          <p:nvPr/>
        </p:nvGrpSpPr>
        <p:grpSpPr>
          <a:xfrm rot="0">
            <a:off x="1021842" y="7502652"/>
            <a:ext cx="3771900" cy="754380"/>
            <a:chOff x="0" y="0"/>
            <a:chExt cx="5029200" cy="1005840"/>
          </a:xfrm>
        </p:grpSpPr>
        <p:sp>
          <p:nvSpPr>
            <p:cNvPr name="Freeform 43" id="43"/>
            <p:cNvSpPr/>
            <p:nvPr/>
          </p:nvSpPr>
          <p:spPr>
            <a:xfrm flipH="false" flipV="false" rot="0">
              <a:off x="0" y="0"/>
              <a:ext cx="5029200" cy="1005840"/>
            </a:xfrm>
            <a:custGeom>
              <a:avLst/>
              <a:gdLst/>
              <a:ahLst/>
              <a:cxnLst/>
              <a:rect r="r" b="b" t="t" l="l"/>
              <a:pathLst>
                <a:path h="1005840" w="5029200">
                  <a:moveTo>
                    <a:pt x="0" y="0"/>
                  </a:moveTo>
                  <a:lnTo>
                    <a:pt x="5029200" y="0"/>
                  </a:lnTo>
                  <a:lnTo>
                    <a:pt x="5029200" y="1005840"/>
                  </a:lnTo>
                  <a:lnTo>
                    <a:pt x="0" y="1005840"/>
                  </a:lnTo>
                  <a:close/>
                </a:path>
              </a:pathLst>
            </a:custGeom>
            <a:blipFill>
              <a:blip r:embed="rId3">
                <a:alphaModFix amt="0"/>
              </a:blip>
              <a:stretch>
                <a:fillRect l="0" t="-47425" r="0" b="-47425"/>
              </a:stretch>
            </a:blipFill>
          </p:spPr>
        </p:sp>
        <p:sp>
          <p:nvSpPr>
            <p:cNvPr name="TextBox 44" id="44"/>
            <p:cNvSpPr txBox="true"/>
            <p:nvPr/>
          </p:nvSpPr>
          <p:spPr>
            <a:xfrm>
              <a:off x="0" y="-47625"/>
              <a:ext cx="5029200" cy="1053465"/>
            </a:xfrm>
            <a:prstGeom prst="rect">
              <a:avLst/>
            </a:prstGeom>
          </p:spPr>
          <p:txBody>
            <a:bodyPr anchor="ctr" rtlCol="false" tIns="0" lIns="0" bIns="0" rIns="0"/>
            <a:lstStyle/>
            <a:p>
              <a:pPr algn="ctr">
                <a:lnSpc>
                  <a:spcPts val="2340"/>
                </a:lnSpc>
              </a:pPr>
              <a:r>
                <a:rPr lang="en-US" sz="1950">
                  <a:solidFill>
                    <a:srgbClr val="6B7280"/>
                  </a:solidFill>
                  <a:latin typeface="Calibri (MS)"/>
                  <a:ea typeface="Calibri (MS)"/>
                  <a:cs typeface="Calibri (MS)"/>
                  <a:sym typeface="Calibri (MS)"/>
                </a:rPr>
                <a:t>Treat</a:t>
              </a:r>
            </a:p>
          </p:txBody>
        </p:sp>
      </p:grpSp>
      <p:grpSp>
        <p:nvGrpSpPr>
          <p:cNvPr name="Group 45" id="45"/>
          <p:cNvGrpSpPr/>
          <p:nvPr/>
        </p:nvGrpSpPr>
        <p:grpSpPr>
          <a:xfrm rot="0">
            <a:off x="5168265" y="7493127"/>
            <a:ext cx="3790950" cy="773430"/>
            <a:chOff x="0" y="0"/>
            <a:chExt cx="5054600" cy="1031240"/>
          </a:xfrm>
        </p:grpSpPr>
        <p:sp>
          <p:nvSpPr>
            <p:cNvPr name="Freeform 46" id="46"/>
            <p:cNvSpPr/>
            <p:nvPr/>
          </p:nvSpPr>
          <p:spPr>
            <a:xfrm flipH="false" flipV="false" rot="0">
              <a:off x="0" y="0"/>
              <a:ext cx="5054600" cy="1031240"/>
            </a:xfrm>
            <a:custGeom>
              <a:avLst/>
              <a:gdLst/>
              <a:ahLst/>
              <a:cxnLst/>
              <a:rect r="r" b="b" t="t" l="l"/>
              <a:pathLst>
                <a:path h="1031240" w="5054600">
                  <a:moveTo>
                    <a:pt x="0" y="168783"/>
                  </a:moveTo>
                  <a:cubicBezTo>
                    <a:pt x="0" y="75565"/>
                    <a:pt x="75565" y="0"/>
                    <a:pt x="168783" y="0"/>
                  </a:cubicBezTo>
                  <a:lnTo>
                    <a:pt x="4885817" y="0"/>
                  </a:lnTo>
                  <a:cubicBezTo>
                    <a:pt x="4979035" y="0"/>
                    <a:pt x="5054600" y="75565"/>
                    <a:pt x="5054600" y="168783"/>
                  </a:cubicBezTo>
                  <a:lnTo>
                    <a:pt x="5054600" y="862457"/>
                  </a:lnTo>
                  <a:cubicBezTo>
                    <a:pt x="5054600" y="955675"/>
                    <a:pt x="4979035" y="1031240"/>
                    <a:pt x="4885817" y="1031240"/>
                  </a:cubicBezTo>
                  <a:lnTo>
                    <a:pt x="168783" y="1031240"/>
                  </a:lnTo>
                  <a:cubicBezTo>
                    <a:pt x="75565" y="1031240"/>
                    <a:pt x="0" y="955675"/>
                    <a:pt x="0" y="862457"/>
                  </a:cubicBezTo>
                  <a:close/>
                </a:path>
              </a:pathLst>
            </a:custGeom>
            <a:solidFill>
              <a:srgbClr val="F4F7FC"/>
            </a:solidFill>
            <a:ln w="19050" cap="sq">
              <a:solidFill>
                <a:srgbClr val="D7DCEC"/>
              </a:solidFill>
              <a:prstDash val="solid"/>
              <a:miter/>
            </a:ln>
          </p:spPr>
        </p:sp>
      </p:grpSp>
      <p:grpSp>
        <p:nvGrpSpPr>
          <p:cNvPr name="Group 47" id="47"/>
          <p:cNvGrpSpPr/>
          <p:nvPr/>
        </p:nvGrpSpPr>
        <p:grpSpPr>
          <a:xfrm rot="0">
            <a:off x="5177790" y="7502652"/>
            <a:ext cx="3771900" cy="754380"/>
            <a:chOff x="0" y="0"/>
            <a:chExt cx="5029200" cy="1005840"/>
          </a:xfrm>
        </p:grpSpPr>
        <p:sp>
          <p:nvSpPr>
            <p:cNvPr name="Freeform 48" id="48"/>
            <p:cNvSpPr/>
            <p:nvPr/>
          </p:nvSpPr>
          <p:spPr>
            <a:xfrm flipH="false" flipV="false" rot="0">
              <a:off x="0" y="0"/>
              <a:ext cx="5029200" cy="1005840"/>
            </a:xfrm>
            <a:custGeom>
              <a:avLst/>
              <a:gdLst/>
              <a:ahLst/>
              <a:cxnLst/>
              <a:rect r="r" b="b" t="t" l="l"/>
              <a:pathLst>
                <a:path h="1005840" w="5029200">
                  <a:moveTo>
                    <a:pt x="0" y="0"/>
                  </a:moveTo>
                  <a:lnTo>
                    <a:pt x="5029200" y="0"/>
                  </a:lnTo>
                  <a:lnTo>
                    <a:pt x="5029200" y="1005840"/>
                  </a:lnTo>
                  <a:lnTo>
                    <a:pt x="0" y="1005840"/>
                  </a:lnTo>
                  <a:close/>
                </a:path>
              </a:pathLst>
            </a:custGeom>
            <a:blipFill>
              <a:blip r:embed="rId3">
                <a:alphaModFix amt="0"/>
              </a:blip>
              <a:stretch>
                <a:fillRect l="0" t="-47425" r="0" b="-47425"/>
              </a:stretch>
            </a:blipFill>
          </p:spPr>
        </p:sp>
        <p:sp>
          <p:nvSpPr>
            <p:cNvPr name="TextBox 49" id="49"/>
            <p:cNvSpPr txBox="true"/>
            <p:nvPr/>
          </p:nvSpPr>
          <p:spPr>
            <a:xfrm>
              <a:off x="0" y="-47625"/>
              <a:ext cx="5029200" cy="1053465"/>
            </a:xfrm>
            <a:prstGeom prst="rect">
              <a:avLst/>
            </a:prstGeom>
          </p:spPr>
          <p:txBody>
            <a:bodyPr anchor="ctr" rtlCol="false" tIns="0" lIns="0" bIns="0" rIns="0"/>
            <a:lstStyle/>
            <a:p>
              <a:pPr algn="ctr">
                <a:lnSpc>
                  <a:spcPts val="2340"/>
                </a:lnSpc>
              </a:pPr>
              <a:r>
                <a:rPr lang="en-US" sz="1950">
                  <a:solidFill>
                    <a:srgbClr val="6B7280"/>
                  </a:solidFill>
                  <a:latin typeface="Calibri (MS)"/>
                  <a:ea typeface="Calibri (MS)"/>
                  <a:cs typeface="Calibri (MS)"/>
                  <a:sym typeface="Calibri (MS)"/>
                </a:rPr>
                <a:t>Transfer</a:t>
              </a:r>
            </a:p>
          </p:txBody>
        </p:sp>
      </p:grpSp>
      <p:grpSp>
        <p:nvGrpSpPr>
          <p:cNvPr name="Group 50" id="50"/>
          <p:cNvGrpSpPr/>
          <p:nvPr/>
        </p:nvGrpSpPr>
        <p:grpSpPr>
          <a:xfrm rot="0">
            <a:off x="9324213" y="7493127"/>
            <a:ext cx="3790950" cy="773430"/>
            <a:chOff x="0" y="0"/>
            <a:chExt cx="5054600" cy="1031240"/>
          </a:xfrm>
        </p:grpSpPr>
        <p:sp>
          <p:nvSpPr>
            <p:cNvPr name="Freeform 51" id="51"/>
            <p:cNvSpPr/>
            <p:nvPr/>
          </p:nvSpPr>
          <p:spPr>
            <a:xfrm flipH="false" flipV="false" rot="0">
              <a:off x="0" y="0"/>
              <a:ext cx="5054600" cy="1031240"/>
            </a:xfrm>
            <a:custGeom>
              <a:avLst/>
              <a:gdLst/>
              <a:ahLst/>
              <a:cxnLst/>
              <a:rect r="r" b="b" t="t" l="l"/>
              <a:pathLst>
                <a:path h="1031240" w="5054600">
                  <a:moveTo>
                    <a:pt x="0" y="168783"/>
                  </a:moveTo>
                  <a:cubicBezTo>
                    <a:pt x="0" y="75565"/>
                    <a:pt x="75565" y="0"/>
                    <a:pt x="168783" y="0"/>
                  </a:cubicBezTo>
                  <a:lnTo>
                    <a:pt x="4885817" y="0"/>
                  </a:lnTo>
                  <a:cubicBezTo>
                    <a:pt x="4979035" y="0"/>
                    <a:pt x="5054600" y="75565"/>
                    <a:pt x="5054600" y="168783"/>
                  </a:cubicBezTo>
                  <a:lnTo>
                    <a:pt x="5054600" y="862457"/>
                  </a:lnTo>
                  <a:cubicBezTo>
                    <a:pt x="5054600" y="955675"/>
                    <a:pt x="4979035" y="1031240"/>
                    <a:pt x="4885817" y="1031240"/>
                  </a:cubicBezTo>
                  <a:lnTo>
                    <a:pt x="168783" y="1031240"/>
                  </a:lnTo>
                  <a:cubicBezTo>
                    <a:pt x="75565" y="1031240"/>
                    <a:pt x="0" y="955675"/>
                    <a:pt x="0" y="862457"/>
                  </a:cubicBezTo>
                  <a:close/>
                </a:path>
              </a:pathLst>
            </a:custGeom>
            <a:solidFill>
              <a:srgbClr val="F4F7FC"/>
            </a:solidFill>
            <a:ln w="19050" cap="sq">
              <a:solidFill>
                <a:srgbClr val="D7DCEC"/>
              </a:solidFill>
              <a:prstDash val="solid"/>
              <a:miter/>
            </a:ln>
          </p:spPr>
        </p:sp>
      </p:grpSp>
      <p:grpSp>
        <p:nvGrpSpPr>
          <p:cNvPr name="Group 52" id="52"/>
          <p:cNvGrpSpPr/>
          <p:nvPr/>
        </p:nvGrpSpPr>
        <p:grpSpPr>
          <a:xfrm rot="0">
            <a:off x="9333738" y="7502652"/>
            <a:ext cx="3771900" cy="754380"/>
            <a:chOff x="0" y="0"/>
            <a:chExt cx="5029200" cy="1005840"/>
          </a:xfrm>
        </p:grpSpPr>
        <p:sp>
          <p:nvSpPr>
            <p:cNvPr name="Freeform 53" id="53"/>
            <p:cNvSpPr/>
            <p:nvPr/>
          </p:nvSpPr>
          <p:spPr>
            <a:xfrm flipH="false" flipV="false" rot="0">
              <a:off x="0" y="0"/>
              <a:ext cx="5029200" cy="1005840"/>
            </a:xfrm>
            <a:custGeom>
              <a:avLst/>
              <a:gdLst/>
              <a:ahLst/>
              <a:cxnLst/>
              <a:rect r="r" b="b" t="t" l="l"/>
              <a:pathLst>
                <a:path h="1005840" w="5029200">
                  <a:moveTo>
                    <a:pt x="0" y="0"/>
                  </a:moveTo>
                  <a:lnTo>
                    <a:pt x="5029200" y="0"/>
                  </a:lnTo>
                  <a:lnTo>
                    <a:pt x="5029200" y="1005840"/>
                  </a:lnTo>
                  <a:lnTo>
                    <a:pt x="0" y="1005840"/>
                  </a:lnTo>
                  <a:close/>
                </a:path>
              </a:pathLst>
            </a:custGeom>
            <a:blipFill>
              <a:blip r:embed="rId3">
                <a:alphaModFix amt="0"/>
              </a:blip>
              <a:stretch>
                <a:fillRect l="0" t="-47425" r="0" b="-47425"/>
              </a:stretch>
            </a:blipFill>
          </p:spPr>
        </p:sp>
        <p:sp>
          <p:nvSpPr>
            <p:cNvPr name="TextBox 54" id="54"/>
            <p:cNvSpPr txBox="true"/>
            <p:nvPr/>
          </p:nvSpPr>
          <p:spPr>
            <a:xfrm>
              <a:off x="0" y="-47625"/>
              <a:ext cx="5029200" cy="1053465"/>
            </a:xfrm>
            <a:prstGeom prst="rect">
              <a:avLst/>
            </a:prstGeom>
          </p:spPr>
          <p:txBody>
            <a:bodyPr anchor="ctr" rtlCol="false" tIns="0" lIns="0" bIns="0" rIns="0"/>
            <a:lstStyle/>
            <a:p>
              <a:pPr algn="ctr">
                <a:lnSpc>
                  <a:spcPts val="2340"/>
                </a:lnSpc>
              </a:pPr>
              <a:r>
                <a:rPr lang="en-US" sz="1950">
                  <a:solidFill>
                    <a:srgbClr val="6B7280"/>
                  </a:solidFill>
                  <a:latin typeface="Calibri (MS)"/>
                  <a:ea typeface="Calibri (MS)"/>
                  <a:cs typeface="Calibri (MS)"/>
                  <a:sym typeface="Calibri (MS)"/>
                </a:rPr>
                <a:t>Tolerate</a:t>
              </a:r>
            </a:p>
          </p:txBody>
        </p:sp>
      </p:grpSp>
      <p:grpSp>
        <p:nvGrpSpPr>
          <p:cNvPr name="Group 55" id="55"/>
          <p:cNvGrpSpPr/>
          <p:nvPr/>
        </p:nvGrpSpPr>
        <p:grpSpPr>
          <a:xfrm rot="0">
            <a:off x="13480161" y="7493127"/>
            <a:ext cx="3790950" cy="773430"/>
            <a:chOff x="0" y="0"/>
            <a:chExt cx="5054600" cy="1031240"/>
          </a:xfrm>
        </p:grpSpPr>
        <p:sp>
          <p:nvSpPr>
            <p:cNvPr name="Freeform 56" id="56"/>
            <p:cNvSpPr/>
            <p:nvPr/>
          </p:nvSpPr>
          <p:spPr>
            <a:xfrm flipH="false" flipV="false" rot="0">
              <a:off x="0" y="0"/>
              <a:ext cx="5054600" cy="1031240"/>
            </a:xfrm>
            <a:custGeom>
              <a:avLst/>
              <a:gdLst/>
              <a:ahLst/>
              <a:cxnLst/>
              <a:rect r="r" b="b" t="t" l="l"/>
              <a:pathLst>
                <a:path h="1031240" w="5054600">
                  <a:moveTo>
                    <a:pt x="0" y="168783"/>
                  </a:moveTo>
                  <a:cubicBezTo>
                    <a:pt x="0" y="75565"/>
                    <a:pt x="75565" y="0"/>
                    <a:pt x="168783" y="0"/>
                  </a:cubicBezTo>
                  <a:lnTo>
                    <a:pt x="4885817" y="0"/>
                  </a:lnTo>
                  <a:cubicBezTo>
                    <a:pt x="4979035" y="0"/>
                    <a:pt x="5054600" y="75565"/>
                    <a:pt x="5054600" y="168783"/>
                  </a:cubicBezTo>
                  <a:lnTo>
                    <a:pt x="5054600" y="862457"/>
                  </a:lnTo>
                  <a:cubicBezTo>
                    <a:pt x="5054600" y="955675"/>
                    <a:pt x="4979035" y="1031240"/>
                    <a:pt x="4885817" y="1031240"/>
                  </a:cubicBezTo>
                  <a:lnTo>
                    <a:pt x="168783" y="1031240"/>
                  </a:lnTo>
                  <a:cubicBezTo>
                    <a:pt x="75565" y="1031240"/>
                    <a:pt x="0" y="955675"/>
                    <a:pt x="0" y="862457"/>
                  </a:cubicBezTo>
                  <a:close/>
                </a:path>
              </a:pathLst>
            </a:custGeom>
            <a:solidFill>
              <a:srgbClr val="F4F7FC"/>
            </a:solidFill>
            <a:ln w="19050" cap="sq">
              <a:solidFill>
                <a:srgbClr val="D7DCEC"/>
              </a:solidFill>
              <a:prstDash val="solid"/>
              <a:miter/>
            </a:ln>
          </p:spPr>
        </p:sp>
      </p:grpSp>
      <p:grpSp>
        <p:nvGrpSpPr>
          <p:cNvPr name="Group 57" id="57"/>
          <p:cNvGrpSpPr/>
          <p:nvPr/>
        </p:nvGrpSpPr>
        <p:grpSpPr>
          <a:xfrm rot="0">
            <a:off x="13489686" y="7502652"/>
            <a:ext cx="3771900" cy="754380"/>
            <a:chOff x="0" y="0"/>
            <a:chExt cx="5029200" cy="1005840"/>
          </a:xfrm>
        </p:grpSpPr>
        <p:sp>
          <p:nvSpPr>
            <p:cNvPr name="Freeform 58" id="58"/>
            <p:cNvSpPr/>
            <p:nvPr/>
          </p:nvSpPr>
          <p:spPr>
            <a:xfrm flipH="false" flipV="false" rot="0">
              <a:off x="0" y="0"/>
              <a:ext cx="5029200" cy="1005840"/>
            </a:xfrm>
            <a:custGeom>
              <a:avLst/>
              <a:gdLst/>
              <a:ahLst/>
              <a:cxnLst/>
              <a:rect r="r" b="b" t="t" l="l"/>
              <a:pathLst>
                <a:path h="1005840" w="5029200">
                  <a:moveTo>
                    <a:pt x="0" y="0"/>
                  </a:moveTo>
                  <a:lnTo>
                    <a:pt x="5029200" y="0"/>
                  </a:lnTo>
                  <a:lnTo>
                    <a:pt x="5029200" y="1005840"/>
                  </a:lnTo>
                  <a:lnTo>
                    <a:pt x="0" y="1005840"/>
                  </a:lnTo>
                  <a:close/>
                </a:path>
              </a:pathLst>
            </a:custGeom>
            <a:blipFill>
              <a:blip r:embed="rId3">
                <a:alphaModFix amt="0"/>
              </a:blip>
              <a:stretch>
                <a:fillRect l="0" t="-47425" r="0" b="-47425"/>
              </a:stretch>
            </a:blipFill>
          </p:spPr>
        </p:sp>
        <p:sp>
          <p:nvSpPr>
            <p:cNvPr name="TextBox 59" id="59"/>
            <p:cNvSpPr txBox="true"/>
            <p:nvPr/>
          </p:nvSpPr>
          <p:spPr>
            <a:xfrm>
              <a:off x="0" y="-47625"/>
              <a:ext cx="5029200" cy="1053465"/>
            </a:xfrm>
            <a:prstGeom prst="rect">
              <a:avLst/>
            </a:prstGeom>
          </p:spPr>
          <p:txBody>
            <a:bodyPr anchor="ctr" rtlCol="false" tIns="0" lIns="0" bIns="0" rIns="0"/>
            <a:lstStyle/>
            <a:p>
              <a:pPr algn="ctr">
                <a:lnSpc>
                  <a:spcPts val="2340"/>
                </a:lnSpc>
              </a:pPr>
              <a:r>
                <a:rPr lang="en-US" sz="1950">
                  <a:solidFill>
                    <a:srgbClr val="6B7280"/>
                  </a:solidFill>
                  <a:latin typeface="Calibri (MS)"/>
                  <a:ea typeface="Calibri (MS)"/>
                  <a:cs typeface="Calibri (MS)"/>
                  <a:sym typeface="Calibri (MS)"/>
                </a:rPr>
                <a:t>Terminate</a:t>
              </a:r>
            </a:p>
          </p:txBody>
        </p:sp>
      </p:grpSp>
      <p:grpSp>
        <p:nvGrpSpPr>
          <p:cNvPr name="Group 60" id="60"/>
          <p:cNvGrpSpPr/>
          <p:nvPr/>
        </p:nvGrpSpPr>
        <p:grpSpPr>
          <a:xfrm rot="0">
            <a:off x="685800" y="9710928"/>
            <a:ext cx="10972800" cy="411480"/>
            <a:chOff x="0" y="0"/>
            <a:chExt cx="14630400" cy="548640"/>
          </a:xfrm>
        </p:grpSpPr>
        <p:sp>
          <p:nvSpPr>
            <p:cNvPr name="Freeform 61" id="61"/>
            <p:cNvSpPr/>
            <p:nvPr/>
          </p:nvSpPr>
          <p:spPr>
            <a:xfrm flipH="false" flipV="false" rot="0">
              <a:off x="0" y="0"/>
              <a:ext cx="14630400" cy="548640"/>
            </a:xfrm>
            <a:custGeom>
              <a:avLst/>
              <a:gdLst/>
              <a:ahLst/>
              <a:cxnLst/>
              <a:rect r="r" b="b" t="t" l="l"/>
              <a:pathLst>
                <a:path h="548640" w="14630400">
                  <a:moveTo>
                    <a:pt x="0" y="0"/>
                  </a:moveTo>
                  <a:lnTo>
                    <a:pt x="14630400" y="0"/>
                  </a:lnTo>
                  <a:lnTo>
                    <a:pt x="14630400" y="548640"/>
                  </a:lnTo>
                  <a:lnTo>
                    <a:pt x="0" y="548640"/>
                  </a:lnTo>
                  <a:close/>
                </a:path>
              </a:pathLst>
            </a:custGeom>
            <a:blipFill>
              <a:blip r:embed="rId3">
                <a:alphaModFix amt="0"/>
              </a:blip>
              <a:stretch>
                <a:fillRect l="0" t="-469601" r="0" b="-469601"/>
              </a:stretch>
            </a:blipFill>
          </p:spPr>
        </p:sp>
        <p:sp>
          <p:nvSpPr>
            <p:cNvPr name="TextBox 62" id="62"/>
            <p:cNvSpPr txBox="true"/>
            <p:nvPr/>
          </p:nvSpPr>
          <p:spPr>
            <a:xfrm>
              <a:off x="0" y="-38100"/>
              <a:ext cx="14630400" cy="586740"/>
            </a:xfrm>
            <a:prstGeom prst="rect">
              <a:avLst/>
            </a:prstGeom>
          </p:spPr>
          <p:txBody>
            <a:bodyPr anchor="ctr" rtlCol="false" tIns="0" lIns="0" bIns="0" rIns="0"/>
            <a:lstStyle/>
            <a:p>
              <a:pPr algn="l">
                <a:lnSpc>
                  <a:spcPts val="1800"/>
                </a:lnSpc>
              </a:pPr>
              <a:r>
                <a:rPr lang="en-US" sz="1500">
                  <a:solidFill>
                    <a:srgbClr val="6B7280"/>
                  </a:solidFill>
                  <a:latin typeface="Calibri (MS)"/>
                  <a:ea typeface="Calibri (MS)"/>
                  <a:cs typeface="Calibri (MS)"/>
                  <a:sym typeface="Calibri (MS)"/>
                </a:rPr>
                <a:t>Davao del Norte Provincial Government — Cybersecurity Seminar</a:t>
              </a:r>
            </a:p>
          </p:txBody>
        </p:sp>
      </p:grpSp>
      <p:grpSp>
        <p:nvGrpSpPr>
          <p:cNvPr name="Group 63" id="63"/>
          <p:cNvGrpSpPr/>
          <p:nvPr/>
        </p:nvGrpSpPr>
        <p:grpSpPr>
          <a:xfrm rot="0">
            <a:off x="16911828" y="9710928"/>
            <a:ext cx="685800" cy="411480"/>
            <a:chOff x="0" y="0"/>
            <a:chExt cx="914400" cy="548640"/>
          </a:xfrm>
        </p:grpSpPr>
        <p:sp>
          <p:nvSpPr>
            <p:cNvPr name="Freeform 64" id="64"/>
            <p:cNvSpPr/>
            <p:nvPr/>
          </p:nvSpPr>
          <p:spPr>
            <a:xfrm flipH="false" flipV="false" rot="0">
              <a:off x="0" y="0"/>
              <a:ext cx="914400" cy="548640"/>
            </a:xfrm>
            <a:custGeom>
              <a:avLst/>
              <a:gdLst/>
              <a:ahLst/>
              <a:cxnLst/>
              <a:rect r="r" b="b" t="t" l="l"/>
              <a:pathLst>
                <a:path h="548640" w="914400">
                  <a:moveTo>
                    <a:pt x="0" y="0"/>
                  </a:moveTo>
                  <a:lnTo>
                    <a:pt x="914400" y="0"/>
                  </a:lnTo>
                  <a:lnTo>
                    <a:pt x="914400" y="548640"/>
                  </a:lnTo>
                  <a:lnTo>
                    <a:pt x="0" y="548640"/>
                  </a:lnTo>
                  <a:close/>
                </a:path>
              </a:pathLst>
            </a:custGeom>
            <a:blipFill>
              <a:blip r:embed="rId3">
                <a:alphaModFix amt="0"/>
              </a:blip>
              <a:stretch>
                <a:fillRect l="-26982" t="0" r="-26982" b="0"/>
              </a:stretch>
            </a:blipFill>
          </p:spPr>
        </p:sp>
        <p:sp>
          <p:nvSpPr>
            <p:cNvPr name="TextBox 65" id="65"/>
            <p:cNvSpPr txBox="true"/>
            <p:nvPr/>
          </p:nvSpPr>
          <p:spPr>
            <a:xfrm>
              <a:off x="0" y="-38100"/>
              <a:ext cx="914400" cy="586740"/>
            </a:xfrm>
            <a:prstGeom prst="rect">
              <a:avLst/>
            </a:prstGeom>
          </p:spPr>
          <p:txBody>
            <a:bodyPr anchor="ctr" rtlCol="false" tIns="0" lIns="0" bIns="0" rIns="0"/>
            <a:lstStyle/>
            <a:p>
              <a:pPr algn="r">
                <a:lnSpc>
                  <a:spcPts val="1800"/>
                </a:lnSpc>
              </a:pPr>
              <a:r>
                <a:rPr lang="en-US" sz="1500">
                  <a:solidFill>
                    <a:srgbClr val="6B7280"/>
                  </a:solidFill>
                  <a:latin typeface="Calibri (MS)"/>
                  <a:ea typeface="Calibri (MS)"/>
                  <a:cs typeface="Calibri (MS)"/>
                  <a:sym typeface="Calibri (MS)"/>
                </a:rPr>
                <a:t>23</a:t>
              </a:r>
            </a:p>
          </p:txBody>
        </p:sp>
      </p:grpSp>
    </p:spTree>
  </p:cSld>
  <p:clrMapOvr>
    <a:masterClrMapping/>
  </p:clrMapOvr>
</p:sld>
</file>

<file path=ppt/slides/slide2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60120" y="576072"/>
            <a:ext cx="13716000" cy="411480"/>
            <a:chOff x="0" y="0"/>
            <a:chExt cx="18288000" cy="548640"/>
          </a:xfrm>
        </p:grpSpPr>
        <p:sp>
          <p:nvSpPr>
            <p:cNvPr name="Freeform 3" id="3"/>
            <p:cNvSpPr/>
            <p:nvPr/>
          </p:nvSpPr>
          <p:spPr>
            <a:xfrm flipH="false" flipV="false" rot="0">
              <a:off x="0" y="0"/>
              <a:ext cx="18288000" cy="548640"/>
            </a:xfrm>
            <a:custGeom>
              <a:avLst/>
              <a:gdLst/>
              <a:ahLst/>
              <a:cxnLst/>
              <a:rect r="r" b="b" t="t" l="l"/>
              <a:pathLst>
                <a:path h="548640" w="18288000">
                  <a:moveTo>
                    <a:pt x="0" y="0"/>
                  </a:moveTo>
                  <a:lnTo>
                    <a:pt x="18288000" y="0"/>
                  </a:lnTo>
                  <a:lnTo>
                    <a:pt x="18288000" y="548640"/>
                  </a:lnTo>
                  <a:lnTo>
                    <a:pt x="0" y="548640"/>
                  </a:lnTo>
                  <a:close/>
                </a:path>
              </a:pathLst>
            </a:custGeom>
            <a:blipFill>
              <a:blip r:embed="rId3">
                <a:alphaModFix amt="0"/>
              </a:blip>
              <a:stretch>
                <a:fillRect l="0" t="-599501" r="0" b="-599501"/>
              </a:stretch>
            </a:blipFill>
          </p:spPr>
        </p:sp>
        <p:sp>
          <p:nvSpPr>
            <p:cNvPr name="TextBox 4" id="4"/>
            <p:cNvSpPr txBox="true"/>
            <p:nvPr/>
          </p:nvSpPr>
          <p:spPr>
            <a:xfrm>
              <a:off x="0" y="-38100"/>
              <a:ext cx="18288000" cy="586740"/>
            </a:xfrm>
            <a:prstGeom prst="rect">
              <a:avLst/>
            </a:prstGeom>
          </p:spPr>
          <p:txBody>
            <a:bodyPr anchor="ctr" rtlCol="false" tIns="0" lIns="0" bIns="0" rIns="0"/>
            <a:lstStyle/>
            <a:p>
              <a:pPr algn="l">
                <a:lnSpc>
                  <a:spcPts val="2160"/>
                </a:lnSpc>
              </a:pPr>
              <a:r>
                <a:rPr lang="en-US" b="true" sz="1800" spc="225">
                  <a:solidFill>
                    <a:srgbClr val="00B4D8"/>
                  </a:solidFill>
                  <a:latin typeface="Calibri (MS) Bold"/>
                  <a:ea typeface="Calibri (MS) Bold"/>
                  <a:cs typeface="Calibri (MS) Bold"/>
                  <a:sym typeface="Calibri (MS) Bold"/>
                </a:rPr>
                <a:t>RISK MATRIX SORT · ANSWER</a:t>
              </a:r>
            </a:p>
          </p:txBody>
        </p:sp>
      </p:grpSp>
      <p:grpSp>
        <p:nvGrpSpPr>
          <p:cNvPr name="Group 5" id="5"/>
          <p:cNvGrpSpPr/>
          <p:nvPr/>
        </p:nvGrpSpPr>
        <p:grpSpPr>
          <a:xfrm rot="0">
            <a:off x="960120" y="960120"/>
            <a:ext cx="10972800" cy="754380"/>
            <a:chOff x="0" y="0"/>
            <a:chExt cx="14630400" cy="1005840"/>
          </a:xfrm>
        </p:grpSpPr>
        <p:sp>
          <p:nvSpPr>
            <p:cNvPr name="Freeform 6" id="6"/>
            <p:cNvSpPr/>
            <p:nvPr/>
          </p:nvSpPr>
          <p:spPr>
            <a:xfrm flipH="false" flipV="false" rot="0">
              <a:off x="0" y="0"/>
              <a:ext cx="14630400" cy="1005840"/>
            </a:xfrm>
            <a:custGeom>
              <a:avLst/>
              <a:gdLst/>
              <a:ahLst/>
              <a:cxnLst/>
              <a:rect r="r" b="b" t="t" l="l"/>
              <a:pathLst>
                <a:path h="1005840" w="14630400">
                  <a:moveTo>
                    <a:pt x="0" y="0"/>
                  </a:moveTo>
                  <a:lnTo>
                    <a:pt x="14630400" y="0"/>
                  </a:lnTo>
                  <a:lnTo>
                    <a:pt x="14630400" y="1005840"/>
                  </a:lnTo>
                  <a:lnTo>
                    <a:pt x="0" y="1005840"/>
                  </a:lnTo>
                  <a:close/>
                </a:path>
              </a:pathLst>
            </a:custGeom>
            <a:blipFill>
              <a:blip r:embed="rId3">
                <a:alphaModFix amt="0"/>
              </a:blip>
              <a:stretch>
                <a:fillRect l="0" t="-233418" r="0" b="-233418"/>
              </a:stretch>
            </a:blipFill>
          </p:spPr>
        </p:sp>
        <p:sp>
          <p:nvSpPr>
            <p:cNvPr name="TextBox 7" id="7"/>
            <p:cNvSpPr txBox="true"/>
            <p:nvPr/>
          </p:nvSpPr>
          <p:spPr>
            <a:xfrm>
              <a:off x="0" y="-19050"/>
              <a:ext cx="14630400" cy="1024890"/>
            </a:xfrm>
            <a:prstGeom prst="rect">
              <a:avLst/>
            </a:prstGeom>
          </p:spPr>
          <p:txBody>
            <a:bodyPr anchor="ctr" rtlCol="false" tIns="0" lIns="0" bIns="0" rIns="0"/>
            <a:lstStyle/>
            <a:p>
              <a:pPr algn="l">
                <a:lnSpc>
                  <a:spcPts val="4320"/>
                </a:lnSpc>
              </a:pPr>
              <a:r>
                <a:rPr lang="en-US" sz="3600" b="true">
                  <a:solidFill>
                    <a:srgbClr val="1E2761"/>
                  </a:solidFill>
                  <a:latin typeface="Cambria Bold"/>
                  <a:ea typeface="Cambria Bold"/>
                  <a:cs typeface="Cambria Bold"/>
                  <a:sym typeface="Cambria Bold"/>
                </a:rPr>
                <a:t>Scenario 5 — Answer</a:t>
              </a:r>
            </a:p>
          </p:txBody>
        </p:sp>
      </p:grpSp>
      <p:grpSp>
        <p:nvGrpSpPr>
          <p:cNvPr name="Group 8" id="8"/>
          <p:cNvGrpSpPr/>
          <p:nvPr/>
        </p:nvGrpSpPr>
        <p:grpSpPr>
          <a:xfrm rot="0">
            <a:off x="960120" y="1645920"/>
            <a:ext cx="8229600" cy="411480"/>
            <a:chOff x="0" y="0"/>
            <a:chExt cx="10972800" cy="548640"/>
          </a:xfrm>
        </p:grpSpPr>
        <p:sp>
          <p:nvSpPr>
            <p:cNvPr name="Freeform 9" id="9"/>
            <p:cNvSpPr/>
            <p:nvPr/>
          </p:nvSpPr>
          <p:spPr>
            <a:xfrm flipH="false" flipV="false" rot="0">
              <a:off x="0" y="0"/>
              <a:ext cx="10972800" cy="548640"/>
            </a:xfrm>
            <a:custGeom>
              <a:avLst/>
              <a:gdLst/>
              <a:ahLst/>
              <a:cxnLst/>
              <a:rect r="r" b="b" t="t" l="l"/>
              <a:pathLst>
                <a:path h="548640" w="10972800">
                  <a:moveTo>
                    <a:pt x="0" y="0"/>
                  </a:moveTo>
                  <a:lnTo>
                    <a:pt x="10972800" y="0"/>
                  </a:lnTo>
                  <a:lnTo>
                    <a:pt x="10972800" y="548640"/>
                  </a:lnTo>
                  <a:lnTo>
                    <a:pt x="0" y="548640"/>
                  </a:lnTo>
                  <a:close/>
                </a:path>
              </a:pathLst>
            </a:custGeom>
            <a:blipFill>
              <a:blip r:embed="rId3">
                <a:alphaModFix amt="0"/>
              </a:blip>
              <a:stretch>
                <a:fillRect l="0" t="-339700" r="0" b="-339700"/>
              </a:stretch>
            </a:blipFill>
          </p:spPr>
        </p:sp>
        <p:sp>
          <p:nvSpPr>
            <p:cNvPr name="TextBox 10" id="10"/>
            <p:cNvSpPr txBox="true"/>
            <p:nvPr/>
          </p:nvSpPr>
          <p:spPr>
            <a:xfrm>
              <a:off x="0" y="-28575"/>
              <a:ext cx="10972800" cy="577215"/>
            </a:xfrm>
            <a:prstGeom prst="rect">
              <a:avLst/>
            </a:prstGeom>
          </p:spPr>
          <p:txBody>
            <a:bodyPr anchor="ctr" rtlCol="false" tIns="0" lIns="0" bIns="0" rIns="0"/>
            <a:lstStyle/>
            <a:p>
              <a:pPr algn="l">
                <a:lnSpc>
                  <a:spcPts val="1980"/>
                </a:lnSpc>
              </a:pPr>
              <a:r>
                <a:rPr lang="en-US" sz="1650">
                  <a:solidFill>
                    <a:srgbClr val="6B7280"/>
                  </a:solidFill>
                  <a:latin typeface="Calibri (MS)"/>
                  <a:ea typeface="Calibri (MS)"/>
                  <a:cs typeface="Calibri (MS)"/>
                  <a:sym typeface="Calibri (MS)"/>
                </a:rPr>
                <a:t>5 of 8</a:t>
              </a:r>
            </a:p>
          </p:txBody>
        </p:sp>
      </p:grpSp>
      <p:grpSp>
        <p:nvGrpSpPr>
          <p:cNvPr name="Group 11" id="11"/>
          <p:cNvGrpSpPr/>
          <p:nvPr/>
        </p:nvGrpSpPr>
        <p:grpSpPr>
          <a:xfrm rot="0">
            <a:off x="960120" y="2194560"/>
            <a:ext cx="16322040" cy="1851660"/>
            <a:chOff x="0" y="0"/>
            <a:chExt cx="21762720" cy="2468880"/>
          </a:xfrm>
        </p:grpSpPr>
        <p:sp>
          <p:nvSpPr>
            <p:cNvPr name="Freeform 12" id="12"/>
            <p:cNvSpPr/>
            <p:nvPr/>
          </p:nvSpPr>
          <p:spPr>
            <a:xfrm flipH="false" flipV="false" rot="0">
              <a:off x="0" y="0"/>
              <a:ext cx="21762720" cy="2468880"/>
            </a:xfrm>
            <a:custGeom>
              <a:avLst/>
              <a:gdLst/>
              <a:ahLst/>
              <a:cxnLst/>
              <a:rect r="r" b="b" t="t" l="l"/>
              <a:pathLst>
                <a:path h="2468880" w="21762720">
                  <a:moveTo>
                    <a:pt x="0" y="182880"/>
                  </a:moveTo>
                  <a:cubicBezTo>
                    <a:pt x="0" y="81915"/>
                    <a:pt x="81915" y="0"/>
                    <a:pt x="182880" y="0"/>
                  </a:cubicBezTo>
                  <a:lnTo>
                    <a:pt x="21579839" y="0"/>
                  </a:lnTo>
                  <a:cubicBezTo>
                    <a:pt x="21680804" y="0"/>
                    <a:pt x="21762720" y="81915"/>
                    <a:pt x="21762720" y="182880"/>
                  </a:cubicBezTo>
                  <a:lnTo>
                    <a:pt x="21762720" y="2286000"/>
                  </a:lnTo>
                  <a:cubicBezTo>
                    <a:pt x="21762720" y="2386965"/>
                    <a:pt x="21680804" y="2468880"/>
                    <a:pt x="21579839" y="2468880"/>
                  </a:cubicBezTo>
                  <a:lnTo>
                    <a:pt x="182880" y="2468880"/>
                  </a:lnTo>
                  <a:cubicBezTo>
                    <a:pt x="81915" y="2468880"/>
                    <a:pt x="0" y="2386965"/>
                    <a:pt x="0" y="2286000"/>
                  </a:cubicBezTo>
                  <a:close/>
                </a:path>
              </a:pathLst>
            </a:custGeom>
            <a:solidFill>
              <a:srgbClr val="F4F7FC"/>
            </a:solidFill>
          </p:spPr>
        </p:sp>
      </p:grpSp>
      <p:grpSp>
        <p:nvGrpSpPr>
          <p:cNvPr name="Group 13" id="13"/>
          <p:cNvGrpSpPr/>
          <p:nvPr/>
        </p:nvGrpSpPr>
        <p:grpSpPr>
          <a:xfrm rot="0">
            <a:off x="1371600" y="2400300"/>
            <a:ext cx="15499080" cy="1440180"/>
            <a:chOff x="0" y="0"/>
            <a:chExt cx="20665440" cy="1920240"/>
          </a:xfrm>
        </p:grpSpPr>
        <p:sp>
          <p:nvSpPr>
            <p:cNvPr name="Freeform 14" id="14"/>
            <p:cNvSpPr/>
            <p:nvPr/>
          </p:nvSpPr>
          <p:spPr>
            <a:xfrm flipH="false" flipV="false" rot="0">
              <a:off x="0" y="0"/>
              <a:ext cx="20665439" cy="1920240"/>
            </a:xfrm>
            <a:custGeom>
              <a:avLst/>
              <a:gdLst/>
              <a:ahLst/>
              <a:cxnLst/>
              <a:rect r="r" b="b" t="t" l="l"/>
              <a:pathLst>
                <a:path h="1920240" w="20665439">
                  <a:moveTo>
                    <a:pt x="0" y="0"/>
                  </a:moveTo>
                  <a:lnTo>
                    <a:pt x="20665439" y="0"/>
                  </a:lnTo>
                  <a:lnTo>
                    <a:pt x="20665439" y="1920240"/>
                  </a:lnTo>
                  <a:lnTo>
                    <a:pt x="0" y="1920240"/>
                  </a:lnTo>
                  <a:close/>
                </a:path>
              </a:pathLst>
            </a:custGeom>
            <a:blipFill>
              <a:blip r:embed="rId3">
                <a:alphaModFix amt="0"/>
              </a:blip>
              <a:stretch>
                <a:fillRect l="0" t="-159696" r="0" b="-159696"/>
              </a:stretch>
            </a:blipFill>
          </p:spPr>
        </p:sp>
        <p:sp>
          <p:nvSpPr>
            <p:cNvPr name="TextBox 15" id="15"/>
            <p:cNvSpPr txBox="true"/>
            <p:nvPr/>
          </p:nvSpPr>
          <p:spPr>
            <a:xfrm>
              <a:off x="0" y="-66675"/>
              <a:ext cx="20665440" cy="1986915"/>
            </a:xfrm>
            <a:prstGeom prst="rect">
              <a:avLst/>
            </a:prstGeom>
          </p:spPr>
          <p:txBody>
            <a:bodyPr anchor="ctr" rtlCol="false" tIns="0" lIns="0" bIns="0" rIns="0"/>
            <a:lstStyle/>
            <a:p>
              <a:pPr algn="l">
                <a:lnSpc>
                  <a:spcPts val="3184"/>
                </a:lnSpc>
              </a:pPr>
              <a:r>
                <a:rPr lang="en-US" sz="2175" i="true">
                  <a:solidFill>
                    <a:srgbClr val="23262F"/>
                  </a:solidFill>
                  <a:latin typeface="Cambria Italics"/>
                  <a:ea typeface="Cambria Italics"/>
                  <a:cs typeface="Cambria Italics"/>
                  <a:sym typeface="Cambria Italics"/>
                </a:rPr>
                <a:t>“The capitol's server room sits in the basement, in a municipality that floods almost every rainy season.”</a:t>
              </a:r>
            </a:p>
          </p:txBody>
        </p:sp>
      </p:grpSp>
      <p:grpSp>
        <p:nvGrpSpPr>
          <p:cNvPr name="Group 16" id="16"/>
          <p:cNvGrpSpPr/>
          <p:nvPr/>
        </p:nvGrpSpPr>
        <p:grpSpPr>
          <a:xfrm rot="0">
            <a:off x="960120" y="4320540"/>
            <a:ext cx="3909060" cy="1165860"/>
            <a:chOff x="0" y="0"/>
            <a:chExt cx="5212080" cy="1554480"/>
          </a:xfrm>
        </p:grpSpPr>
        <p:sp>
          <p:nvSpPr>
            <p:cNvPr name="Freeform 17" id="17"/>
            <p:cNvSpPr/>
            <p:nvPr/>
          </p:nvSpPr>
          <p:spPr>
            <a:xfrm flipH="false" flipV="false" rot="0">
              <a:off x="0" y="0"/>
              <a:ext cx="5212080" cy="1554480"/>
            </a:xfrm>
            <a:custGeom>
              <a:avLst/>
              <a:gdLst/>
              <a:ahLst/>
              <a:cxnLst/>
              <a:rect r="r" b="b" t="t" l="l"/>
              <a:pathLst>
                <a:path h="1554480" w="5212080">
                  <a:moveTo>
                    <a:pt x="0" y="146304"/>
                  </a:moveTo>
                  <a:cubicBezTo>
                    <a:pt x="0" y="65532"/>
                    <a:pt x="65532" y="0"/>
                    <a:pt x="146304" y="0"/>
                  </a:cubicBezTo>
                  <a:lnTo>
                    <a:pt x="5065776" y="0"/>
                  </a:lnTo>
                  <a:cubicBezTo>
                    <a:pt x="5146548" y="0"/>
                    <a:pt x="5212080" y="65532"/>
                    <a:pt x="5212080" y="146304"/>
                  </a:cubicBezTo>
                  <a:lnTo>
                    <a:pt x="5212080" y="1408176"/>
                  </a:lnTo>
                  <a:cubicBezTo>
                    <a:pt x="5212080" y="1488948"/>
                    <a:pt x="5146548" y="1554480"/>
                    <a:pt x="5065776" y="1554480"/>
                  </a:cubicBezTo>
                  <a:lnTo>
                    <a:pt x="146304" y="1554480"/>
                  </a:lnTo>
                  <a:cubicBezTo>
                    <a:pt x="65532" y="1554480"/>
                    <a:pt x="0" y="1488948"/>
                    <a:pt x="0" y="1408176"/>
                  </a:cubicBezTo>
                  <a:close/>
                </a:path>
              </a:pathLst>
            </a:custGeom>
            <a:solidFill>
              <a:srgbClr val="F4F7FC"/>
            </a:solidFill>
          </p:spPr>
        </p:sp>
      </p:grpSp>
      <p:grpSp>
        <p:nvGrpSpPr>
          <p:cNvPr name="Group 18" id="18"/>
          <p:cNvGrpSpPr/>
          <p:nvPr/>
        </p:nvGrpSpPr>
        <p:grpSpPr>
          <a:xfrm rot="0">
            <a:off x="1207008" y="4457700"/>
            <a:ext cx="3415284" cy="384048"/>
            <a:chOff x="0" y="0"/>
            <a:chExt cx="4553712" cy="512064"/>
          </a:xfrm>
        </p:grpSpPr>
        <p:sp>
          <p:nvSpPr>
            <p:cNvPr name="Freeform 19" id="19"/>
            <p:cNvSpPr/>
            <p:nvPr/>
          </p:nvSpPr>
          <p:spPr>
            <a:xfrm flipH="false" flipV="false" rot="0">
              <a:off x="0" y="0"/>
              <a:ext cx="4553712" cy="512064"/>
            </a:xfrm>
            <a:custGeom>
              <a:avLst/>
              <a:gdLst/>
              <a:ahLst/>
              <a:cxnLst/>
              <a:rect r="r" b="b" t="t" l="l"/>
              <a:pathLst>
                <a:path h="512064" w="4553712">
                  <a:moveTo>
                    <a:pt x="0" y="0"/>
                  </a:moveTo>
                  <a:lnTo>
                    <a:pt x="4553712" y="0"/>
                  </a:lnTo>
                  <a:lnTo>
                    <a:pt x="4553712" y="512064"/>
                  </a:lnTo>
                  <a:lnTo>
                    <a:pt x="0" y="512064"/>
                  </a:lnTo>
                  <a:close/>
                </a:path>
              </a:pathLst>
            </a:custGeom>
            <a:blipFill>
              <a:blip r:embed="rId3">
                <a:alphaModFix amt="0"/>
              </a:blip>
              <a:stretch>
                <a:fillRect l="0" t="-123277" r="0" b="-123277"/>
              </a:stretch>
            </a:blipFill>
          </p:spPr>
        </p:sp>
        <p:sp>
          <p:nvSpPr>
            <p:cNvPr name="TextBox 20" id="20"/>
            <p:cNvSpPr txBox="true"/>
            <p:nvPr/>
          </p:nvSpPr>
          <p:spPr>
            <a:xfrm>
              <a:off x="0" y="-38100"/>
              <a:ext cx="4553712" cy="550164"/>
            </a:xfrm>
            <a:prstGeom prst="rect">
              <a:avLst/>
            </a:prstGeom>
          </p:spPr>
          <p:txBody>
            <a:bodyPr anchor="ctr" rtlCol="false" tIns="0" lIns="0" bIns="0" rIns="0"/>
            <a:lstStyle/>
            <a:p>
              <a:pPr algn="l">
                <a:lnSpc>
                  <a:spcPts val="1800"/>
                </a:lnSpc>
              </a:pPr>
              <a:r>
                <a:rPr lang="en-US" b="true" sz="1500" spc="75">
                  <a:solidFill>
                    <a:srgbClr val="6B7280"/>
                  </a:solidFill>
                  <a:latin typeface="Calibri (MS) Bold"/>
                  <a:ea typeface="Calibri (MS) Bold"/>
                  <a:cs typeface="Calibri (MS) Bold"/>
                  <a:sym typeface="Calibri (MS) Bold"/>
                </a:rPr>
                <a:t>LIKELIHOOD</a:t>
              </a:r>
            </a:p>
          </p:txBody>
        </p:sp>
      </p:grpSp>
      <p:sp>
        <p:nvSpPr>
          <p:cNvPr name="TextBox 21" id="21"/>
          <p:cNvSpPr txBox="true"/>
          <p:nvPr/>
        </p:nvSpPr>
        <p:spPr>
          <a:xfrm rot="0">
            <a:off x="1298448" y="4840986"/>
            <a:ext cx="3232404" cy="462534"/>
          </a:xfrm>
          <a:prstGeom prst="rect">
            <a:avLst/>
          </a:prstGeom>
        </p:spPr>
        <p:txBody>
          <a:bodyPr anchor="t" rtlCol="false" tIns="0" lIns="0" bIns="0" rIns="0">
            <a:spAutoFit/>
          </a:bodyPr>
          <a:lstStyle/>
          <a:p>
            <a:pPr algn="l">
              <a:lnSpc>
                <a:spcPts val="3240"/>
              </a:lnSpc>
            </a:pPr>
            <a:r>
              <a:rPr lang="en-US" sz="2700" b="true">
                <a:solidFill>
                  <a:srgbClr val="1E2761"/>
                </a:solidFill>
                <a:latin typeface="Cambria Bold"/>
                <a:ea typeface="Cambria Bold"/>
                <a:cs typeface="Cambria Bold"/>
                <a:sym typeface="Cambria Bold"/>
              </a:rPr>
              <a:t>High</a:t>
            </a:r>
          </a:p>
        </p:txBody>
      </p:sp>
      <p:grpSp>
        <p:nvGrpSpPr>
          <p:cNvPr name="Group 22" id="22"/>
          <p:cNvGrpSpPr/>
          <p:nvPr/>
        </p:nvGrpSpPr>
        <p:grpSpPr>
          <a:xfrm rot="0">
            <a:off x="5074920" y="4320540"/>
            <a:ext cx="3909060" cy="1165860"/>
            <a:chOff x="0" y="0"/>
            <a:chExt cx="5212080" cy="1554480"/>
          </a:xfrm>
        </p:grpSpPr>
        <p:sp>
          <p:nvSpPr>
            <p:cNvPr name="Freeform 23" id="23"/>
            <p:cNvSpPr/>
            <p:nvPr/>
          </p:nvSpPr>
          <p:spPr>
            <a:xfrm flipH="false" flipV="false" rot="0">
              <a:off x="0" y="0"/>
              <a:ext cx="5212080" cy="1554480"/>
            </a:xfrm>
            <a:custGeom>
              <a:avLst/>
              <a:gdLst/>
              <a:ahLst/>
              <a:cxnLst/>
              <a:rect r="r" b="b" t="t" l="l"/>
              <a:pathLst>
                <a:path h="1554480" w="5212080">
                  <a:moveTo>
                    <a:pt x="0" y="146304"/>
                  </a:moveTo>
                  <a:cubicBezTo>
                    <a:pt x="0" y="65532"/>
                    <a:pt x="65532" y="0"/>
                    <a:pt x="146304" y="0"/>
                  </a:cubicBezTo>
                  <a:lnTo>
                    <a:pt x="5065776" y="0"/>
                  </a:lnTo>
                  <a:cubicBezTo>
                    <a:pt x="5146548" y="0"/>
                    <a:pt x="5212080" y="65532"/>
                    <a:pt x="5212080" y="146304"/>
                  </a:cubicBezTo>
                  <a:lnTo>
                    <a:pt x="5212080" y="1408176"/>
                  </a:lnTo>
                  <a:cubicBezTo>
                    <a:pt x="5212080" y="1488948"/>
                    <a:pt x="5146548" y="1554480"/>
                    <a:pt x="5065776" y="1554480"/>
                  </a:cubicBezTo>
                  <a:lnTo>
                    <a:pt x="146304" y="1554480"/>
                  </a:lnTo>
                  <a:cubicBezTo>
                    <a:pt x="65532" y="1554480"/>
                    <a:pt x="0" y="1488948"/>
                    <a:pt x="0" y="1408176"/>
                  </a:cubicBezTo>
                  <a:close/>
                </a:path>
              </a:pathLst>
            </a:custGeom>
            <a:solidFill>
              <a:srgbClr val="F4F7FC"/>
            </a:solidFill>
          </p:spPr>
        </p:sp>
      </p:grpSp>
      <p:grpSp>
        <p:nvGrpSpPr>
          <p:cNvPr name="Group 24" id="24"/>
          <p:cNvGrpSpPr/>
          <p:nvPr/>
        </p:nvGrpSpPr>
        <p:grpSpPr>
          <a:xfrm rot="0">
            <a:off x="5321808" y="4457700"/>
            <a:ext cx="3415284" cy="384048"/>
            <a:chOff x="0" y="0"/>
            <a:chExt cx="4553712" cy="512064"/>
          </a:xfrm>
        </p:grpSpPr>
        <p:sp>
          <p:nvSpPr>
            <p:cNvPr name="Freeform 25" id="25"/>
            <p:cNvSpPr/>
            <p:nvPr/>
          </p:nvSpPr>
          <p:spPr>
            <a:xfrm flipH="false" flipV="false" rot="0">
              <a:off x="0" y="0"/>
              <a:ext cx="4553712" cy="512064"/>
            </a:xfrm>
            <a:custGeom>
              <a:avLst/>
              <a:gdLst/>
              <a:ahLst/>
              <a:cxnLst/>
              <a:rect r="r" b="b" t="t" l="l"/>
              <a:pathLst>
                <a:path h="512064" w="4553712">
                  <a:moveTo>
                    <a:pt x="0" y="0"/>
                  </a:moveTo>
                  <a:lnTo>
                    <a:pt x="4553712" y="0"/>
                  </a:lnTo>
                  <a:lnTo>
                    <a:pt x="4553712" y="512064"/>
                  </a:lnTo>
                  <a:lnTo>
                    <a:pt x="0" y="512064"/>
                  </a:lnTo>
                  <a:close/>
                </a:path>
              </a:pathLst>
            </a:custGeom>
            <a:blipFill>
              <a:blip r:embed="rId3">
                <a:alphaModFix amt="0"/>
              </a:blip>
              <a:stretch>
                <a:fillRect l="0" t="-123277" r="0" b="-123277"/>
              </a:stretch>
            </a:blipFill>
          </p:spPr>
        </p:sp>
        <p:sp>
          <p:nvSpPr>
            <p:cNvPr name="TextBox 26" id="26"/>
            <p:cNvSpPr txBox="true"/>
            <p:nvPr/>
          </p:nvSpPr>
          <p:spPr>
            <a:xfrm>
              <a:off x="0" y="-38100"/>
              <a:ext cx="4553712" cy="550164"/>
            </a:xfrm>
            <a:prstGeom prst="rect">
              <a:avLst/>
            </a:prstGeom>
          </p:spPr>
          <p:txBody>
            <a:bodyPr anchor="ctr" rtlCol="false" tIns="0" lIns="0" bIns="0" rIns="0"/>
            <a:lstStyle/>
            <a:p>
              <a:pPr algn="l">
                <a:lnSpc>
                  <a:spcPts val="1800"/>
                </a:lnSpc>
              </a:pPr>
              <a:r>
                <a:rPr lang="en-US" b="true" sz="1500" spc="75">
                  <a:solidFill>
                    <a:srgbClr val="6B7280"/>
                  </a:solidFill>
                  <a:latin typeface="Calibri (MS) Bold"/>
                  <a:ea typeface="Calibri (MS) Bold"/>
                  <a:cs typeface="Calibri (MS) Bold"/>
                  <a:sym typeface="Calibri (MS) Bold"/>
                </a:rPr>
                <a:t>IMPACT</a:t>
              </a:r>
            </a:p>
          </p:txBody>
        </p:sp>
      </p:grpSp>
      <p:sp>
        <p:nvSpPr>
          <p:cNvPr name="TextBox 27" id="27"/>
          <p:cNvSpPr txBox="true"/>
          <p:nvPr/>
        </p:nvSpPr>
        <p:spPr>
          <a:xfrm rot="0">
            <a:off x="5413248" y="4840986"/>
            <a:ext cx="3232404" cy="462534"/>
          </a:xfrm>
          <a:prstGeom prst="rect">
            <a:avLst/>
          </a:prstGeom>
        </p:spPr>
        <p:txBody>
          <a:bodyPr anchor="t" rtlCol="false" tIns="0" lIns="0" bIns="0" rIns="0">
            <a:spAutoFit/>
          </a:bodyPr>
          <a:lstStyle/>
          <a:p>
            <a:pPr algn="l">
              <a:lnSpc>
                <a:spcPts val="3240"/>
              </a:lnSpc>
            </a:pPr>
            <a:r>
              <a:rPr lang="en-US" sz="2700" b="true">
                <a:solidFill>
                  <a:srgbClr val="1E2761"/>
                </a:solidFill>
                <a:latin typeface="Cambria Bold"/>
                <a:ea typeface="Cambria Bold"/>
                <a:cs typeface="Cambria Bold"/>
                <a:sym typeface="Cambria Bold"/>
              </a:rPr>
              <a:t>High</a:t>
            </a:r>
          </a:p>
        </p:txBody>
      </p:sp>
      <p:grpSp>
        <p:nvGrpSpPr>
          <p:cNvPr name="Group 28" id="28"/>
          <p:cNvGrpSpPr/>
          <p:nvPr/>
        </p:nvGrpSpPr>
        <p:grpSpPr>
          <a:xfrm rot="0">
            <a:off x="9189720" y="4320540"/>
            <a:ext cx="3909060" cy="1165860"/>
            <a:chOff x="0" y="0"/>
            <a:chExt cx="5212080" cy="1554480"/>
          </a:xfrm>
        </p:grpSpPr>
        <p:sp>
          <p:nvSpPr>
            <p:cNvPr name="Freeform 29" id="29"/>
            <p:cNvSpPr/>
            <p:nvPr/>
          </p:nvSpPr>
          <p:spPr>
            <a:xfrm flipH="false" flipV="false" rot="0">
              <a:off x="0" y="0"/>
              <a:ext cx="5212080" cy="1554480"/>
            </a:xfrm>
            <a:custGeom>
              <a:avLst/>
              <a:gdLst/>
              <a:ahLst/>
              <a:cxnLst/>
              <a:rect r="r" b="b" t="t" l="l"/>
              <a:pathLst>
                <a:path h="1554480" w="5212080">
                  <a:moveTo>
                    <a:pt x="0" y="146304"/>
                  </a:moveTo>
                  <a:cubicBezTo>
                    <a:pt x="0" y="65532"/>
                    <a:pt x="65532" y="0"/>
                    <a:pt x="146304" y="0"/>
                  </a:cubicBezTo>
                  <a:lnTo>
                    <a:pt x="5065776" y="0"/>
                  </a:lnTo>
                  <a:cubicBezTo>
                    <a:pt x="5146548" y="0"/>
                    <a:pt x="5212080" y="65532"/>
                    <a:pt x="5212080" y="146304"/>
                  </a:cubicBezTo>
                  <a:lnTo>
                    <a:pt x="5212080" y="1408176"/>
                  </a:lnTo>
                  <a:cubicBezTo>
                    <a:pt x="5212080" y="1488948"/>
                    <a:pt x="5146548" y="1554480"/>
                    <a:pt x="5065776" y="1554480"/>
                  </a:cubicBezTo>
                  <a:lnTo>
                    <a:pt x="146304" y="1554480"/>
                  </a:lnTo>
                  <a:cubicBezTo>
                    <a:pt x="65532" y="1554480"/>
                    <a:pt x="0" y="1488948"/>
                    <a:pt x="0" y="1408176"/>
                  </a:cubicBezTo>
                  <a:close/>
                </a:path>
              </a:pathLst>
            </a:custGeom>
            <a:solidFill>
              <a:srgbClr val="F4F7FC"/>
            </a:solidFill>
          </p:spPr>
        </p:sp>
      </p:grpSp>
      <p:grpSp>
        <p:nvGrpSpPr>
          <p:cNvPr name="Group 30" id="30"/>
          <p:cNvGrpSpPr/>
          <p:nvPr/>
        </p:nvGrpSpPr>
        <p:grpSpPr>
          <a:xfrm rot="0">
            <a:off x="9436608" y="4457700"/>
            <a:ext cx="3415284" cy="384048"/>
            <a:chOff x="0" y="0"/>
            <a:chExt cx="4553712" cy="512064"/>
          </a:xfrm>
        </p:grpSpPr>
        <p:sp>
          <p:nvSpPr>
            <p:cNvPr name="Freeform 31" id="31"/>
            <p:cNvSpPr/>
            <p:nvPr/>
          </p:nvSpPr>
          <p:spPr>
            <a:xfrm flipH="false" flipV="false" rot="0">
              <a:off x="0" y="0"/>
              <a:ext cx="4553712" cy="512064"/>
            </a:xfrm>
            <a:custGeom>
              <a:avLst/>
              <a:gdLst/>
              <a:ahLst/>
              <a:cxnLst/>
              <a:rect r="r" b="b" t="t" l="l"/>
              <a:pathLst>
                <a:path h="512064" w="4553712">
                  <a:moveTo>
                    <a:pt x="0" y="0"/>
                  </a:moveTo>
                  <a:lnTo>
                    <a:pt x="4553712" y="0"/>
                  </a:lnTo>
                  <a:lnTo>
                    <a:pt x="4553712" y="512064"/>
                  </a:lnTo>
                  <a:lnTo>
                    <a:pt x="0" y="512064"/>
                  </a:lnTo>
                  <a:close/>
                </a:path>
              </a:pathLst>
            </a:custGeom>
            <a:blipFill>
              <a:blip r:embed="rId3">
                <a:alphaModFix amt="0"/>
              </a:blip>
              <a:stretch>
                <a:fillRect l="0" t="-123277" r="0" b="-123277"/>
              </a:stretch>
            </a:blipFill>
          </p:spPr>
        </p:sp>
        <p:sp>
          <p:nvSpPr>
            <p:cNvPr name="TextBox 32" id="32"/>
            <p:cNvSpPr txBox="true"/>
            <p:nvPr/>
          </p:nvSpPr>
          <p:spPr>
            <a:xfrm>
              <a:off x="0" y="-38100"/>
              <a:ext cx="4553712" cy="550164"/>
            </a:xfrm>
            <a:prstGeom prst="rect">
              <a:avLst/>
            </a:prstGeom>
          </p:spPr>
          <p:txBody>
            <a:bodyPr anchor="ctr" rtlCol="false" tIns="0" lIns="0" bIns="0" rIns="0"/>
            <a:lstStyle/>
            <a:p>
              <a:pPr algn="l">
                <a:lnSpc>
                  <a:spcPts val="1800"/>
                </a:lnSpc>
              </a:pPr>
              <a:r>
                <a:rPr lang="en-US" b="true" sz="1500" spc="75">
                  <a:solidFill>
                    <a:srgbClr val="6B7280"/>
                  </a:solidFill>
                  <a:latin typeface="Calibri (MS) Bold"/>
                  <a:ea typeface="Calibri (MS) Bold"/>
                  <a:cs typeface="Calibri (MS) Bold"/>
                  <a:sym typeface="Calibri (MS) Bold"/>
                </a:rPr>
                <a:t>RISK RATING</a:t>
              </a:r>
            </a:p>
          </p:txBody>
        </p:sp>
      </p:grpSp>
      <p:sp>
        <p:nvSpPr>
          <p:cNvPr name="TextBox 33" id="33"/>
          <p:cNvSpPr txBox="true"/>
          <p:nvPr/>
        </p:nvSpPr>
        <p:spPr>
          <a:xfrm rot="0">
            <a:off x="9528048" y="4840986"/>
            <a:ext cx="3232404" cy="462534"/>
          </a:xfrm>
          <a:prstGeom prst="rect">
            <a:avLst/>
          </a:prstGeom>
        </p:spPr>
        <p:txBody>
          <a:bodyPr anchor="t" rtlCol="false" tIns="0" lIns="0" bIns="0" rIns="0">
            <a:spAutoFit/>
          </a:bodyPr>
          <a:lstStyle/>
          <a:p>
            <a:pPr algn="l">
              <a:lnSpc>
                <a:spcPts val="3240"/>
              </a:lnSpc>
            </a:pPr>
            <a:r>
              <a:rPr lang="en-US" sz="2700" b="true">
                <a:solidFill>
                  <a:srgbClr val="C62839"/>
                </a:solidFill>
                <a:latin typeface="Cambria Bold"/>
                <a:ea typeface="Cambria Bold"/>
                <a:cs typeface="Cambria Bold"/>
                <a:sym typeface="Cambria Bold"/>
              </a:rPr>
              <a:t>Critical</a:t>
            </a:r>
          </a:p>
        </p:txBody>
      </p:sp>
      <p:grpSp>
        <p:nvGrpSpPr>
          <p:cNvPr name="Group 34" id="34"/>
          <p:cNvGrpSpPr/>
          <p:nvPr/>
        </p:nvGrpSpPr>
        <p:grpSpPr>
          <a:xfrm rot="0">
            <a:off x="13304520" y="4320540"/>
            <a:ext cx="3977640" cy="1165860"/>
            <a:chOff x="0" y="0"/>
            <a:chExt cx="5303520" cy="1554480"/>
          </a:xfrm>
        </p:grpSpPr>
        <p:sp>
          <p:nvSpPr>
            <p:cNvPr name="Freeform 35" id="35"/>
            <p:cNvSpPr/>
            <p:nvPr/>
          </p:nvSpPr>
          <p:spPr>
            <a:xfrm flipH="false" flipV="false" rot="0">
              <a:off x="0" y="0"/>
              <a:ext cx="5303520" cy="1554480"/>
            </a:xfrm>
            <a:custGeom>
              <a:avLst/>
              <a:gdLst/>
              <a:ahLst/>
              <a:cxnLst/>
              <a:rect r="r" b="b" t="t" l="l"/>
              <a:pathLst>
                <a:path h="1554480" w="5303520">
                  <a:moveTo>
                    <a:pt x="0" y="146304"/>
                  </a:moveTo>
                  <a:cubicBezTo>
                    <a:pt x="0" y="65532"/>
                    <a:pt x="65532" y="0"/>
                    <a:pt x="146304" y="0"/>
                  </a:cubicBezTo>
                  <a:lnTo>
                    <a:pt x="5157216" y="0"/>
                  </a:lnTo>
                  <a:cubicBezTo>
                    <a:pt x="5237988" y="0"/>
                    <a:pt x="5303520" y="65532"/>
                    <a:pt x="5303520" y="146304"/>
                  </a:cubicBezTo>
                  <a:lnTo>
                    <a:pt x="5303520" y="1408176"/>
                  </a:lnTo>
                  <a:cubicBezTo>
                    <a:pt x="5303520" y="1488948"/>
                    <a:pt x="5237988" y="1554480"/>
                    <a:pt x="5157216" y="1554480"/>
                  </a:cubicBezTo>
                  <a:lnTo>
                    <a:pt x="146304" y="1554480"/>
                  </a:lnTo>
                  <a:cubicBezTo>
                    <a:pt x="65532" y="1554480"/>
                    <a:pt x="0" y="1488948"/>
                    <a:pt x="0" y="1408176"/>
                  </a:cubicBezTo>
                  <a:close/>
                </a:path>
              </a:pathLst>
            </a:custGeom>
            <a:solidFill>
              <a:srgbClr val="1E2761"/>
            </a:solidFill>
          </p:spPr>
        </p:sp>
      </p:grpSp>
      <p:grpSp>
        <p:nvGrpSpPr>
          <p:cNvPr name="Group 36" id="36"/>
          <p:cNvGrpSpPr/>
          <p:nvPr/>
        </p:nvGrpSpPr>
        <p:grpSpPr>
          <a:xfrm rot="0">
            <a:off x="13551408" y="4457700"/>
            <a:ext cx="3429000" cy="384048"/>
            <a:chOff x="0" y="0"/>
            <a:chExt cx="4572000" cy="512064"/>
          </a:xfrm>
        </p:grpSpPr>
        <p:sp>
          <p:nvSpPr>
            <p:cNvPr name="Freeform 37" id="37"/>
            <p:cNvSpPr/>
            <p:nvPr/>
          </p:nvSpPr>
          <p:spPr>
            <a:xfrm flipH="false" flipV="false" rot="0">
              <a:off x="0" y="0"/>
              <a:ext cx="4572000" cy="512064"/>
            </a:xfrm>
            <a:custGeom>
              <a:avLst/>
              <a:gdLst/>
              <a:ahLst/>
              <a:cxnLst/>
              <a:rect r="r" b="b" t="t" l="l"/>
              <a:pathLst>
                <a:path h="512064" w="4572000">
                  <a:moveTo>
                    <a:pt x="0" y="0"/>
                  </a:moveTo>
                  <a:lnTo>
                    <a:pt x="4572000" y="0"/>
                  </a:lnTo>
                  <a:lnTo>
                    <a:pt x="4572000" y="512064"/>
                  </a:lnTo>
                  <a:lnTo>
                    <a:pt x="0" y="512064"/>
                  </a:lnTo>
                  <a:close/>
                </a:path>
              </a:pathLst>
            </a:custGeom>
            <a:blipFill>
              <a:blip r:embed="rId3">
                <a:alphaModFix amt="0"/>
              </a:blip>
              <a:stretch>
                <a:fillRect l="0" t="-123973" r="0" b="-123973"/>
              </a:stretch>
            </a:blipFill>
          </p:spPr>
        </p:sp>
        <p:sp>
          <p:nvSpPr>
            <p:cNvPr name="TextBox 38" id="38"/>
            <p:cNvSpPr txBox="true"/>
            <p:nvPr/>
          </p:nvSpPr>
          <p:spPr>
            <a:xfrm>
              <a:off x="0" y="-38100"/>
              <a:ext cx="4572000" cy="550164"/>
            </a:xfrm>
            <a:prstGeom prst="rect">
              <a:avLst/>
            </a:prstGeom>
          </p:spPr>
          <p:txBody>
            <a:bodyPr anchor="ctr" rtlCol="false" tIns="0" lIns="0" bIns="0" rIns="0"/>
            <a:lstStyle/>
            <a:p>
              <a:pPr algn="l">
                <a:lnSpc>
                  <a:spcPts val="1800"/>
                </a:lnSpc>
              </a:pPr>
              <a:r>
                <a:rPr lang="en-US" b="true" sz="1500" spc="75">
                  <a:solidFill>
                    <a:srgbClr val="CADCFC"/>
                  </a:solidFill>
                  <a:latin typeface="Calibri (MS) Bold"/>
                  <a:ea typeface="Calibri (MS) Bold"/>
                  <a:cs typeface="Calibri (MS) Bold"/>
                  <a:sym typeface="Calibri (MS) Bold"/>
                </a:rPr>
                <a:t>RESPONSE</a:t>
              </a:r>
            </a:p>
          </p:txBody>
        </p:sp>
      </p:grpSp>
      <p:sp>
        <p:nvSpPr>
          <p:cNvPr name="TextBox 39" id="39"/>
          <p:cNvSpPr txBox="true"/>
          <p:nvPr/>
        </p:nvSpPr>
        <p:spPr>
          <a:xfrm rot="0">
            <a:off x="13642848" y="4840986"/>
            <a:ext cx="3246120" cy="476250"/>
          </a:xfrm>
          <a:prstGeom prst="rect">
            <a:avLst/>
          </a:prstGeom>
        </p:spPr>
        <p:txBody>
          <a:bodyPr anchor="t" rtlCol="false" tIns="0" lIns="0" bIns="0" rIns="0">
            <a:spAutoFit/>
          </a:bodyPr>
          <a:lstStyle/>
          <a:p>
            <a:pPr algn="l">
              <a:lnSpc>
                <a:spcPts val="3240"/>
              </a:lnSpc>
            </a:pPr>
            <a:r>
              <a:rPr lang="en-US" sz="2700" b="true">
                <a:solidFill>
                  <a:srgbClr val="FFFFFF"/>
                </a:solidFill>
                <a:latin typeface="Cambria Bold"/>
                <a:ea typeface="Cambria Bold"/>
                <a:cs typeface="Cambria Bold"/>
                <a:sym typeface="Cambria Bold"/>
              </a:rPr>
              <a:t>Treat</a:t>
            </a:r>
          </a:p>
        </p:txBody>
      </p:sp>
      <p:grpSp>
        <p:nvGrpSpPr>
          <p:cNvPr name="Group 40" id="40"/>
          <p:cNvGrpSpPr/>
          <p:nvPr/>
        </p:nvGrpSpPr>
        <p:grpSpPr>
          <a:xfrm rot="0">
            <a:off x="950595" y="5888355"/>
            <a:ext cx="16341090" cy="2967990"/>
            <a:chOff x="0" y="0"/>
            <a:chExt cx="21788120" cy="3957320"/>
          </a:xfrm>
        </p:grpSpPr>
        <p:sp>
          <p:nvSpPr>
            <p:cNvPr name="Freeform 41" id="41"/>
            <p:cNvSpPr/>
            <p:nvPr/>
          </p:nvSpPr>
          <p:spPr>
            <a:xfrm flipH="false" flipV="false" rot="0">
              <a:off x="0" y="0"/>
              <a:ext cx="21788120" cy="3957320"/>
            </a:xfrm>
            <a:custGeom>
              <a:avLst/>
              <a:gdLst/>
              <a:ahLst/>
              <a:cxnLst/>
              <a:rect r="r" b="b" t="t" l="l"/>
              <a:pathLst>
                <a:path h="3957320" w="21788120">
                  <a:moveTo>
                    <a:pt x="0" y="184023"/>
                  </a:moveTo>
                  <a:cubicBezTo>
                    <a:pt x="0" y="82423"/>
                    <a:pt x="82423" y="0"/>
                    <a:pt x="184023" y="0"/>
                  </a:cubicBezTo>
                  <a:lnTo>
                    <a:pt x="21604097" y="0"/>
                  </a:lnTo>
                  <a:cubicBezTo>
                    <a:pt x="21705697" y="0"/>
                    <a:pt x="21788120" y="82423"/>
                    <a:pt x="21788120" y="184023"/>
                  </a:cubicBezTo>
                  <a:lnTo>
                    <a:pt x="21788120" y="3773297"/>
                  </a:lnTo>
                  <a:cubicBezTo>
                    <a:pt x="21788120" y="3874897"/>
                    <a:pt x="21705697" y="3957320"/>
                    <a:pt x="21604097" y="3957320"/>
                  </a:cubicBezTo>
                  <a:lnTo>
                    <a:pt x="184023" y="3957320"/>
                  </a:lnTo>
                  <a:cubicBezTo>
                    <a:pt x="82423" y="3957320"/>
                    <a:pt x="0" y="3874897"/>
                    <a:pt x="0" y="3773297"/>
                  </a:cubicBezTo>
                  <a:close/>
                </a:path>
              </a:pathLst>
            </a:custGeom>
            <a:solidFill>
              <a:srgbClr val="FBF9F4"/>
            </a:solidFill>
            <a:ln w="19050" cap="sq">
              <a:solidFill>
                <a:srgbClr val="EFE6D2"/>
              </a:solidFill>
              <a:prstDash val="solid"/>
              <a:miter/>
            </a:ln>
          </p:spPr>
        </p:sp>
      </p:grpSp>
      <p:sp>
        <p:nvSpPr>
          <p:cNvPr name="TextBox 42" id="42"/>
          <p:cNvSpPr txBox="true"/>
          <p:nvPr/>
        </p:nvSpPr>
        <p:spPr>
          <a:xfrm rot="0">
            <a:off x="1463040" y="6084570"/>
            <a:ext cx="15316200" cy="2510790"/>
          </a:xfrm>
          <a:prstGeom prst="rect">
            <a:avLst/>
          </a:prstGeom>
        </p:spPr>
        <p:txBody>
          <a:bodyPr anchor="t" rtlCol="false" tIns="0" lIns="0" bIns="0" rIns="0">
            <a:spAutoFit/>
          </a:bodyPr>
          <a:lstStyle/>
          <a:p>
            <a:pPr algn="l">
              <a:lnSpc>
                <a:spcPts val="3402"/>
              </a:lnSpc>
            </a:pPr>
            <a:r>
              <a:rPr lang="en-US" sz="2100">
                <a:solidFill>
                  <a:srgbClr val="23262F"/>
                </a:solidFill>
                <a:latin typeface="Calibri (MS)"/>
                <a:ea typeface="Calibri (MS)"/>
                <a:cs typeface="Calibri (MS)"/>
                <a:sym typeface="Calibri (MS)"/>
              </a:rPr>
              <a:t>This is a physical risk you can directly reduce — relocate the equipment or add real flood protection. Insurance won't stop the flood; Treat is the right call.</a:t>
            </a:r>
          </a:p>
        </p:txBody>
      </p:sp>
      <p:grpSp>
        <p:nvGrpSpPr>
          <p:cNvPr name="Group 43" id="43"/>
          <p:cNvGrpSpPr/>
          <p:nvPr/>
        </p:nvGrpSpPr>
        <p:grpSpPr>
          <a:xfrm rot="0">
            <a:off x="685800" y="9710928"/>
            <a:ext cx="10972800" cy="411480"/>
            <a:chOff x="0" y="0"/>
            <a:chExt cx="14630400" cy="548640"/>
          </a:xfrm>
        </p:grpSpPr>
        <p:sp>
          <p:nvSpPr>
            <p:cNvPr name="Freeform 44" id="44"/>
            <p:cNvSpPr/>
            <p:nvPr/>
          </p:nvSpPr>
          <p:spPr>
            <a:xfrm flipH="false" flipV="false" rot="0">
              <a:off x="0" y="0"/>
              <a:ext cx="14630400" cy="548640"/>
            </a:xfrm>
            <a:custGeom>
              <a:avLst/>
              <a:gdLst/>
              <a:ahLst/>
              <a:cxnLst/>
              <a:rect r="r" b="b" t="t" l="l"/>
              <a:pathLst>
                <a:path h="548640" w="14630400">
                  <a:moveTo>
                    <a:pt x="0" y="0"/>
                  </a:moveTo>
                  <a:lnTo>
                    <a:pt x="14630400" y="0"/>
                  </a:lnTo>
                  <a:lnTo>
                    <a:pt x="14630400" y="548640"/>
                  </a:lnTo>
                  <a:lnTo>
                    <a:pt x="0" y="548640"/>
                  </a:lnTo>
                  <a:close/>
                </a:path>
              </a:pathLst>
            </a:custGeom>
            <a:blipFill>
              <a:blip r:embed="rId3">
                <a:alphaModFix amt="0"/>
              </a:blip>
              <a:stretch>
                <a:fillRect l="0" t="-469601" r="0" b="-469601"/>
              </a:stretch>
            </a:blipFill>
          </p:spPr>
        </p:sp>
        <p:sp>
          <p:nvSpPr>
            <p:cNvPr name="TextBox 45" id="45"/>
            <p:cNvSpPr txBox="true"/>
            <p:nvPr/>
          </p:nvSpPr>
          <p:spPr>
            <a:xfrm>
              <a:off x="0" y="-38100"/>
              <a:ext cx="14630400" cy="586740"/>
            </a:xfrm>
            <a:prstGeom prst="rect">
              <a:avLst/>
            </a:prstGeom>
          </p:spPr>
          <p:txBody>
            <a:bodyPr anchor="ctr" rtlCol="false" tIns="0" lIns="0" bIns="0" rIns="0"/>
            <a:lstStyle/>
            <a:p>
              <a:pPr algn="l">
                <a:lnSpc>
                  <a:spcPts val="1800"/>
                </a:lnSpc>
              </a:pPr>
              <a:r>
                <a:rPr lang="en-US" sz="1500">
                  <a:solidFill>
                    <a:srgbClr val="6B7280"/>
                  </a:solidFill>
                  <a:latin typeface="Calibri (MS)"/>
                  <a:ea typeface="Calibri (MS)"/>
                  <a:cs typeface="Calibri (MS)"/>
                  <a:sym typeface="Calibri (MS)"/>
                </a:rPr>
                <a:t>Davao del Norte Provincial Government — Cybersecurity Seminar</a:t>
              </a:r>
            </a:p>
          </p:txBody>
        </p:sp>
      </p:grpSp>
      <p:grpSp>
        <p:nvGrpSpPr>
          <p:cNvPr name="Group 46" id="46"/>
          <p:cNvGrpSpPr/>
          <p:nvPr/>
        </p:nvGrpSpPr>
        <p:grpSpPr>
          <a:xfrm rot="0">
            <a:off x="16911828" y="9710928"/>
            <a:ext cx="685800" cy="411480"/>
            <a:chOff x="0" y="0"/>
            <a:chExt cx="914400" cy="548640"/>
          </a:xfrm>
        </p:grpSpPr>
        <p:sp>
          <p:nvSpPr>
            <p:cNvPr name="Freeform 47" id="47"/>
            <p:cNvSpPr/>
            <p:nvPr/>
          </p:nvSpPr>
          <p:spPr>
            <a:xfrm flipH="false" flipV="false" rot="0">
              <a:off x="0" y="0"/>
              <a:ext cx="914400" cy="548640"/>
            </a:xfrm>
            <a:custGeom>
              <a:avLst/>
              <a:gdLst/>
              <a:ahLst/>
              <a:cxnLst/>
              <a:rect r="r" b="b" t="t" l="l"/>
              <a:pathLst>
                <a:path h="548640" w="914400">
                  <a:moveTo>
                    <a:pt x="0" y="0"/>
                  </a:moveTo>
                  <a:lnTo>
                    <a:pt x="914400" y="0"/>
                  </a:lnTo>
                  <a:lnTo>
                    <a:pt x="914400" y="548640"/>
                  </a:lnTo>
                  <a:lnTo>
                    <a:pt x="0" y="548640"/>
                  </a:lnTo>
                  <a:close/>
                </a:path>
              </a:pathLst>
            </a:custGeom>
            <a:blipFill>
              <a:blip r:embed="rId3">
                <a:alphaModFix amt="0"/>
              </a:blip>
              <a:stretch>
                <a:fillRect l="-26982" t="0" r="-26982" b="0"/>
              </a:stretch>
            </a:blipFill>
          </p:spPr>
        </p:sp>
        <p:sp>
          <p:nvSpPr>
            <p:cNvPr name="TextBox 48" id="48"/>
            <p:cNvSpPr txBox="true"/>
            <p:nvPr/>
          </p:nvSpPr>
          <p:spPr>
            <a:xfrm>
              <a:off x="0" y="-38100"/>
              <a:ext cx="914400" cy="586740"/>
            </a:xfrm>
            <a:prstGeom prst="rect">
              <a:avLst/>
            </a:prstGeom>
          </p:spPr>
          <p:txBody>
            <a:bodyPr anchor="ctr" rtlCol="false" tIns="0" lIns="0" bIns="0" rIns="0"/>
            <a:lstStyle/>
            <a:p>
              <a:pPr algn="r">
                <a:lnSpc>
                  <a:spcPts val="1800"/>
                </a:lnSpc>
              </a:pPr>
              <a:r>
                <a:rPr lang="en-US" sz="1500">
                  <a:solidFill>
                    <a:srgbClr val="6B7280"/>
                  </a:solidFill>
                  <a:latin typeface="Calibri (MS)"/>
                  <a:ea typeface="Calibri (MS)"/>
                  <a:cs typeface="Calibri (MS)"/>
                  <a:sym typeface="Calibri (MS)"/>
                </a:rPr>
                <a:t>24</a:t>
              </a:r>
            </a:p>
          </p:txBody>
        </p:sp>
      </p:grpSp>
    </p:spTree>
  </p:cSld>
  <p:clrMapOvr>
    <a:masterClrMapping/>
  </p:clrMapOvr>
</p:sld>
</file>

<file path=ppt/slides/slide2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60120" y="576072"/>
            <a:ext cx="13716000" cy="411480"/>
            <a:chOff x="0" y="0"/>
            <a:chExt cx="18288000" cy="548640"/>
          </a:xfrm>
        </p:grpSpPr>
        <p:sp>
          <p:nvSpPr>
            <p:cNvPr name="Freeform 3" id="3"/>
            <p:cNvSpPr/>
            <p:nvPr/>
          </p:nvSpPr>
          <p:spPr>
            <a:xfrm flipH="false" flipV="false" rot="0">
              <a:off x="0" y="0"/>
              <a:ext cx="18288000" cy="548640"/>
            </a:xfrm>
            <a:custGeom>
              <a:avLst/>
              <a:gdLst/>
              <a:ahLst/>
              <a:cxnLst/>
              <a:rect r="r" b="b" t="t" l="l"/>
              <a:pathLst>
                <a:path h="548640" w="18288000">
                  <a:moveTo>
                    <a:pt x="0" y="0"/>
                  </a:moveTo>
                  <a:lnTo>
                    <a:pt x="18288000" y="0"/>
                  </a:lnTo>
                  <a:lnTo>
                    <a:pt x="18288000" y="548640"/>
                  </a:lnTo>
                  <a:lnTo>
                    <a:pt x="0" y="548640"/>
                  </a:lnTo>
                  <a:close/>
                </a:path>
              </a:pathLst>
            </a:custGeom>
            <a:blipFill>
              <a:blip r:embed="rId3">
                <a:alphaModFix amt="0"/>
              </a:blip>
              <a:stretch>
                <a:fillRect l="0" t="-599501" r="0" b="-599501"/>
              </a:stretch>
            </a:blipFill>
          </p:spPr>
        </p:sp>
        <p:sp>
          <p:nvSpPr>
            <p:cNvPr name="TextBox 4" id="4"/>
            <p:cNvSpPr txBox="true"/>
            <p:nvPr/>
          </p:nvSpPr>
          <p:spPr>
            <a:xfrm>
              <a:off x="0" y="-38100"/>
              <a:ext cx="18288000" cy="586740"/>
            </a:xfrm>
            <a:prstGeom prst="rect">
              <a:avLst/>
            </a:prstGeom>
          </p:spPr>
          <p:txBody>
            <a:bodyPr anchor="ctr" rtlCol="false" tIns="0" lIns="0" bIns="0" rIns="0"/>
            <a:lstStyle/>
            <a:p>
              <a:pPr algn="l">
                <a:lnSpc>
                  <a:spcPts val="2160"/>
                </a:lnSpc>
              </a:pPr>
              <a:r>
                <a:rPr lang="en-US" b="true" sz="1800" spc="225">
                  <a:solidFill>
                    <a:srgbClr val="00B4D8"/>
                  </a:solidFill>
                  <a:latin typeface="Calibri (MS) Bold"/>
                  <a:ea typeface="Calibri (MS) Bold"/>
                  <a:cs typeface="Calibri (MS) Bold"/>
                  <a:sym typeface="Calibri (MS) Bold"/>
                </a:rPr>
                <a:t>RISK MATRIX SORT · SCENARIO</a:t>
              </a:r>
            </a:p>
          </p:txBody>
        </p:sp>
      </p:grpSp>
      <p:grpSp>
        <p:nvGrpSpPr>
          <p:cNvPr name="Group 5" id="5"/>
          <p:cNvGrpSpPr/>
          <p:nvPr/>
        </p:nvGrpSpPr>
        <p:grpSpPr>
          <a:xfrm rot="0">
            <a:off x="960120" y="960120"/>
            <a:ext cx="10972800" cy="754380"/>
            <a:chOff x="0" y="0"/>
            <a:chExt cx="14630400" cy="1005840"/>
          </a:xfrm>
        </p:grpSpPr>
        <p:sp>
          <p:nvSpPr>
            <p:cNvPr name="Freeform 6" id="6"/>
            <p:cNvSpPr/>
            <p:nvPr/>
          </p:nvSpPr>
          <p:spPr>
            <a:xfrm flipH="false" flipV="false" rot="0">
              <a:off x="0" y="0"/>
              <a:ext cx="14630400" cy="1005840"/>
            </a:xfrm>
            <a:custGeom>
              <a:avLst/>
              <a:gdLst/>
              <a:ahLst/>
              <a:cxnLst/>
              <a:rect r="r" b="b" t="t" l="l"/>
              <a:pathLst>
                <a:path h="1005840" w="14630400">
                  <a:moveTo>
                    <a:pt x="0" y="0"/>
                  </a:moveTo>
                  <a:lnTo>
                    <a:pt x="14630400" y="0"/>
                  </a:lnTo>
                  <a:lnTo>
                    <a:pt x="14630400" y="1005840"/>
                  </a:lnTo>
                  <a:lnTo>
                    <a:pt x="0" y="1005840"/>
                  </a:lnTo>
                  <a:close/>
                </a:path>
              </a:pathLst>
            </a:custGeom>
            <a:blipFill>
              <a:blip r:embed="rId3">
                <a:alphaModFix amt="0"/>
              </a:blip>
              <a:stretch>
                <a:fillRect l="0" t="-233418" r="0" b="-233418"/>
              </a:stretch>
            </a:blipFill>
          </p:spPr>
        </p:sp>
        <p:sp>
          <p:nvSpPr>
            <p:cNvPr name="TextBox 7" id="7"/>
            <p:cNvSpPr txBox="true"/>
            <p:nvPr/>
          </p:nvSpPr>
          <p:spPr>
            <a:xfrm>
              <a:off x="0" y="-19050"/>
              <a:ext cx="14630400" cy="1024890"/>
            </a:xfrm>
            <a:prstGeom prst="rect">
              <a:avLst/>
            </a:prstGeom>
          </p:spPr>
          <p:txBody>
            <a:bodyPr anchor="ctr" rtlCol="false" tIns="0" lIns="0" bIns="0" rIns="0"/>
            <a:lstStyle/>
            <a:p>
              <a:pPr algn="l">
                <a:lnSpc>
                  <a:spcPts val="4320"/>
                </a:lnSpc>
              </a:pPr>
              <a:r>
                <a:rPr lang="en-US" sz="3600" b="true">
                  <a:solidFill>
                    <a:srgbClr val="1E2761"/>
                  </a:solidFill>
                  <a:latin typeface="Cambria Bold"/>
                  <a:ea typeface="Cambria Bold"/>
                  <a:cs typeface="Cambria Bold"/>
                  <a:sym typeface="Cambria Bold"/>
                </a:rPr>
                <a:t>Scenario 6</a:t>
              </a:r>
            </a:p>
          </p:txBody>
        </p:sp>
      </p:grpSp>
      <p:grpSp>
        <p:nvGrpSpPr>
          <p:cNvPr name="Group 8" id="8"/>
          <p:cNvGrpSpPr/>
          <p:nvPr/>
        </p:nvGrpSpPr>
        <p:grpSpPr>
          <a:xfrm rot="0">
            <a:off x="960120" y="1645920"/>
            <a:ext cx="8229600" cy="411480"/>
            <a:chOff x="0" y="0"/>
            <a:chExt cx="10972800" cy="548640"/>
          </a:xfrm>
        </p:grpSpPr>
        <p:sp>
          <p:nvSpPr>
            <p:cNvPr name="Freeform 9" id="9"/>
            <p:cNvSpPr/>
            <p:nvPr/>
          </p:nvSpPr>
          <p:spPr>
            <a:xfrm flipH="false" flipV="false" rot="0">
              <a:off x="0" y="0"/>
              <a:ext cx="10972800" cy="548640"/>
            </a:xfrm>
            <a:custGeom>
              <a:avLst/>
              <a:gdLst/>
              <a:ahLst/>
              <a:cxnLst/>
              <a:rect r="r" b="b" t="t" l="l"/>
              <a:pathLst>
                <a:path h="548640" w="10972800">
                  <a:moveTo>
                    <a:pt x="0" y="0"/>
                  </a:moveTo>
                  <a:lnTo>
                    <a:pt x="10972800" y="0"/>
                  </a:lnTo>
                  <a:lnTo>
                    <a:pt x="10972800" y="548640"/>
                  </a:lnTo>
                  <a:lnTo>
                    <a:pt x="0" y="548640"/>
                  </a:lnTo>
                  <a:close/>
                </a:path>
              </a:pathLst>
            </a:custGeom>
            <a:blipFill>
              <a:blip r:embed="rId3">
                <a:alphaModFix amt="0"/>
              </a:blip>
              <a:stretch>
                <a:fillRect l="0" t="-339700" r="0" b="-339700"/>
              </a:stretch>
            </a:blipFill>
          </p:spPr>
        </p:sp>
        <p:sp>
          <p:nvSpPr>
            <p:cNvPr name="TextBox 10" id="10"/>
            <p:cNvSpPr txBox="true"/>
            <p:nvPr/>
          </p:nvSpPr>
          <p:spPr>
            <a:xfrm>
              <a:off x="0" y="-28575"/>
              <a:ext cx="10972800" cy="577215"/>
            </a:xfrm>
            <a:prstGeom prst="rect">
              <a:avLst/>
            </a:prstGeom>
          </p:spPr>
          <p:txBody>
            <a:bodyPr anchor="ctr" rtlCol="false" tIns="0" lIns="0" bIns="0" rIns="0"/>
            <a:lstStyle/>
            <a:p>
              <a:pPr algn="l">
                <a:lnSpc>
                  <a:spcPts val="1980"/>
                </a:lnSpc>
              </a:pPr>
              <a:r>
                <a:rPr lang="en-US" sz="1650">
                  <a:solidFill>
                    <a:srgbClr val="6B7280"/>
                  </a:solidFill>
                  <a:latin typeface="Calibri (MS)"/>
                  <a:ea typeface="Calibri (MS)"/>
                  <a:cs typeface="Calibri (MS)"/>
                  <a:sym typeface="Calibri (MS)"/>
                </a:rPr>
                <a:t>6 of 8</a:t>
              </a:r>
            </a:p>
          </p:txBody>
        </p:sp>
      </p:grpSp>
      <p:grpSp>
        <p:nvGrpSpPr>
          <p:cNvPr name="Group 11" id="11"/>
          <p:cNvGrpSpPr/>
          <p:nvPr/>
        </p:nvGrpSpPr>
        <p:grpSpPr>
          <a:xfrm rot="0">
            <a:off x="960120" y="2194560"/>
            <a:ext cx="16322040" cy="2125980"/>
            <a:chOff x="0" y="0"/>
            <a:chExt cx="21762720" cy="2834640"/>
          </a:xfrm>
        </p:grpSpPr>
        <p:sp>
          <p:nvSpPr>
            <p:cNvPr name="Freeform 12" id="12"/>
            <p:cNvSpPr/>
            <p:nvPr/>
          </p:nvSpPr>
          <p:spPr>
            <a:xfrm flipH="false" flipV="false" rot="0">
              <a:off x="0" y="0"/>
              <a:ext cx="21762720" cy="2834640"/>
            </a:xfrm>
            <a:custGeom>
              <a:avLst/>
              <a:gdLst/>
              <a:ahLst/>
              <a:cxnLst/>
              <a:rect r="r" b="b" t="t" l="l"/>
              <a:pathLst>
                <a:path h="2834640" w="21762720">
                  <a:moveTo>
                    <a:pt x="0" y="182880"/>
                  </a:moveTo>
                  <a:cubicBezTo>
                    <a:pt x="0" y="81915"/>
                    <a:pt x="81915" y="0"/>
                    <a:pt x="182880" y="0"/>
                  </a:cubicBezTo>
                  <a:lnTo>
                    <a:pt x="21579839" y="0"/>
                  </a:lnTo>
                  <a:cubicBezTo>
                    <a:pt x="21680804" y="0"/>
                    <a:pt x="21762720" y="81915"/>
                    <a:pt x="21762720" y="182880"/>
                  </a:cubicBezTo>
                  <a:lnTo>
                    <a:pt x="21762720" y="2651760"/>
                  </a:lnTo>
                  <a:cubicBezTo>
                    <a:pt x="21762720" y="2752725"/>
                    <a:pt x="21680804" y="2834640"/>
                    <a:pt x="21579839" y="2834640"/>
                  </a:cubicBezTo>
                  <a:lnTo>
                    <a:pt x="182880" y="2834640"/>
                  </a:lnTo>
                  <a:cubicBezTo>
                    <a:pt x="81915" y="2834640"/>
                    <a:pt x="0" y="2752725"/>
                    <a:pt x="0" y="2651760"/>
                  </a:cubicBezTo>
                  <a:close/>
                </a:path>
              </a:pathLst>
            </a:custGeom>
            <a:solidFill>
              <a:srgbClr val="F4F7FC"/>
            </a:solidFill>
          </p:spPr>
        </p:sp>
      </p:grpSp>
      <p:grpSp>
        <p:nvGrpSpPr>
          <p:cNvPr name="Group 13" id="13"/>
          <p:cNvGrpSpPr/>
          <p:nvPr/>
        </p:nvGrpSpPr>
        <p:grpSpPr>
          <a:xfrm rot="0">
            <a:off x="1371600" y="2441448"/>
            <a:ext cx="15499080" cy="1645920"/>
            <a:chOff x="0" y="0"/>
            <a:chExt cx="20665440" cy="2194560"/>
          </a:xfrm>
        </p:grpSpPr>
        <p:sp>
          <p:nvSpPr>
            <p:cNvPr name="Freeform 14" id="14"/>
            <p:cNvSpPr/>
            <p:nvPr/>
          </p:nvSpPr>
          <p:spPr>
            <a:xfrm flipH="false" flipV="false" rot="0">
              <a:off x="0" y="0"/>
              <a:ext cx="20665439" cy="2194560"/>
            </a:xfrm>
            <a:custGeom>
              <a:avLst/>
              <a:gdLst/>
              <a:ahLst/>
              <a:cxnLst/>
              <a:rect r="r" b="b" t="t" l="l"/>
              <a:pathLst>
                <a:path h="2194560" w="20665439">
                  <a:moveTo>
                    <a:pt x="0" y="0"/>
                  </a:moveTo>
                  <a:lnTo>
                    <a:pt x="20665439" y="0"/>
                  </a:lnTo>
                  <a:lnTo>
                    <a:pt x="20665439" y="2194560"/>
                  </a:lnTo>
                  <a:lnTo>
                    <a:pt x="0" y="2194560"/>
                  </a:lnTo>
                  <a:close/>
                </a:path>
              </a:pathLst>
            </a:custGeom>
            <a:blipFill>
              <a:blip r:embed="rId3">
                <a:alphaModFix amt="0"/>
              </a:blip>
              <a:stretch>
                <a:fillRect l="0" t="-133484" r="0" b="-133484"/>
              </a:stretch>
            </a:blipFill>
          </p:spPr>
        </p:sp>
        <p:sp>
          <p:nvSpPr>
            <p:cNvPr name="TextBox 15" id="15"/>
            <p:cNvSpPr txBox="true"/>
            <p:nvPr/>
          </p:nvSpPr>
          <p:spPr>
            <a:xfrm>
              <a:off x="0" y="-85725"/>
              <a:ext cx="20665440" cy="2280285"/>
            </a:xfrm>
            <a:prstGeom prst="rect">
              <a:avLst/>
            </a:prstGeom>
          </p:spPr>
          <p:txBody>
            <a:bodyPr anchor="ctr" rtlCol="false" tIns="0" lIns="0" bIns="0" rIns="0"/>
            <a:lstStyle/>
            <a:p>
              <a:pPr algn="l">
                <a:lnSpc>
                  <a:spcPts val="3600"/>
                </a:lnSpc>
              </a:pPr>
              <a:r>
                <a:rPr lang="en-US" sz="2400" i="true">
                  <a:solidFill>
                    <a:srgbClr val="23262F"/>
                  </a:solidFill>
                  <a:latin typeface="Cambria Italics"/>
                  <a:ea typeface="Cambria Italics"/>
                  <a:cs typeface="Cambria Italics"/>
                  <a:sym typeface="Cambria Italics"/>
                </a:rPr>
                <a:t>“A new admin aide occasionally emails draft, non-confidential meeting notes to a co-worker through her personal Gmail to save time.”</a:t>
              </a:r>
            </a:p>
          </p:txBody>
        </p:sp>
      </p:grpSp>
      <p:grpSp>
        <p:nvGrpSpPr>
          <p:cNvPr name="Group 16" id="16"/>
          <p:cNvGrpSpPr/>
          <p:nvPr/>
        </p:nvGrpSpPr>
        <p:grpSpPr>
          <a:xfrm rot="0">
            <a:off x="960120" y="4594860"/>
            <a:ext cx="16322040" cy="685800"/>
            <a:chOff x="0" y="0"/>
            <a:chExt cx="21762720" cy="914400"/>
          </a:xfrm>
        </p:grpSpPr>
        <p:sp>
          <p:nvSpPr>
            <p:cNvPr name="Freeform 17" id="17"/>
            <p:cNvSpPr/>
            <p:nvPr/>
          </p:nvSpPr>
          <p:spPr>
            <a:xfrm flipH="false" flipV="false" rot="0">
              <a:off x="0" y="0"/>
              <a:ext cx="21762720" cy="914400"/>
            </a:xfrm>
            <a:custGeom>
              <a:avLst/>
              <a:gdLst/>
              <a:ahLst/>
              <a:cxnLst/>
              <a:rect r="r" b="b" t="t" l="l"/>
              <a:pathLst>
                <a:path h="914400" w="21762720">
                  <a:moveTo>
                    <a:pt x="0" y="0"/>
                  </a:moveTo>
                  <a:lnTo>
                    <a:pt x="21762720" y="0"/>
                  </a:lnTo>
                  <a:lnTo>
                    <a:pt x="21762720" y="914400"/>
                  </a:lnTo>
                  <a:lnTo>
                    <a:pt x="0" y="914400"/>
                  </a:lnTo>
                  <a:close/>
                </a:path>
              </a:pathLst>
            </a:custGeom>
            <a:blipFill>
              <a:blip r:embed="rId3">
                <a:alphaModFix amt="0"/>
              </a:blip>
              <a:stretch>
                <a:fillRect l="0" t="-413743" r="0" b="-413743"/>
              </a:stretch>
            </a:blipFill>
          </p:spPr>
        </p:sp>
        <p:sp>
          <p:nvSpPr>
            <p:cNvPr name="TextBox 18" id="18"/>
            <p:cNvSpPr txBox="true"/>
            <p:nvPr/>
          </p:nvSpPr>
          <p:spPr>
            <a:xfrm>
              <a:off x="0" y="-47625"/>
              <a:ext cx="21762720" cy="962025"/>
            </a:xfrm>
            <a:prstGeom prst="rect">
              <a:avLst/>
            </a:prstGeom>
          </p:spPr>
          <p:txBody>
            <a:bodyPr anchor="ctr" rtlCol="false" tIns="0" lIns="0" bIns="0" rIns="0"/>
            <a:lstStyle/>
            <a:p>
              <a:pPr algn="ctr">
                <a:lnSpc>
                  <a:spcPts val="2520"/>
                </a:lnSpc>
              </a:pPr>
              <a:r>
                <a:rPr lang="en-US" sz="2100" i="true">
                  <a:solidFill>
                    <a:srgbClr val="6B7280"/>
                  </a:solidFill>
                  <a:latin typeface="Calibri (MS) Italics"/>
                  <a:ea typeface="Calibri (MS) Italics"/>
                  <a:cs typeface="Calibri (MS) Italics"/>
                  <a:sym typeface="Calibri (MS) Italics"/>
                </a:rPr>
                <a:t>Rate the likelihood, rate the impact, then pick a response. Discuss, then we'll reveal the answer.</a:t>
              </a:r>
            </a:p>
          </p:txBody>
        </p:sp>
      </p:grpSp>
      <p:grpSp>
        <p:nvGrpSpPr>
          <p:cNvPr name="Group 19" id="19"/>
          <p:cNvGrpSpPr/>
          <p:nvPr/>
        </p:nvGrpSpPr>
        <p:grpSpPr>
          <a:xfrm rot="0">
            <a:off x="960120" y="5486400"/>
            <a:ext cx="16322040" cy="384048"/>
            <a:chOff x="0" y="0"/>
            <a:chExt cx="21762720" cy="512064"/>
          </a:xfrm>
        </p:grpSpPr>
        <p:sp>
          <p:nvSpPr>
            <p:cNvPr name="Freeform 20" id="20"/>
            <p:cNvSpPr/>
            <p:nvPr/>
          </p:nvSpPr>
          <p:spPr>
            <a:xfrm flipH="false" flipV="false" rot="0">
              <a:off x="0" y="0"/>
              <a:ext cx="21762720" cy="512064"/>
            </a:xfrm>
            <a:custGeom>
              <a:avLst/>
              <a:gdLst/>
              <a:ahLst/>
              <a:cxnLst/>
              <a:rect r="r" b="b" t="t" l="l"/>
              <a:pathLst>
                <a:path h="512064" w="21762720">
                  <a:moveTo>
                    <a:pt x="0" y="0"/>
                  </a:moveTo>
                  <a:lnTo>
                    <a:pt x="21762720" y="0"/>
                  </a:lnTo>
                  <a:lnTo>
                    <a:pt x="21762720" y="512064"/>
                  </a:lnTo>
                  <a:lnTo>
                    <a:pt x="0" y="512064"/>
                  </a:lnTo>
                  <a:close/>
                </a:path>
              </a:pathLst>
            </a:custGeom>
            <a:blipFill>
              <a:blip r:embed="rId3">
                <a:alphaModFix amt="0"/>
              </a:blip>
              <a:stretch>
                <a:fillRect l="0" t="-778114" r="0" b="-778114"/>
              </a:stretch>
            </a:blipFill>
          </p:spPr>
        </p:sp>
        <p:sp>
          <p:nvSpPr>
            <p:cNvPr name="TextBox 21" id="21"/>
            <p:cNvSpPr txBox="true"/>
            <p:nvPr/>
          </p:nvSpPr>
          <p:spPr>
            <a:xfrm>
              <a:off x="0" y="-19050"/>
              <a:ext cx="21762720" cy="531114"/>
            </a:xfrm>
            <a:prstGeom prst="rect">
              <a:avLst/>
            </a:prstGeom>
          </p:spPr>
          <p:txBody>
            <a:bodyPr anchor="ctr" rtlCol="false" tIns="0" lIns="0" bIns="0" rIns="0"/>
            <a:lstStyle/>
            <a:p>
              <a:pPr algn="ctr">
                <a:lnSpc>
                  <a:spcPts val="1889"/>
                </a:lnSpc>
              </a:pPr>
              <a:r>
                <a:rPr lang="en-US" b="true" sz="1575" spc="74">
                  <a:solidFill>
                    <a:srgbClr val="6B7280"/>
                  </a:solidFill>
                  <a:latin typeface="Calibri (MS) Bold"/>
                  <a:ea typeface="Calibri (MS) Bold"/>
                  <a:cs typeface="Calibri (MS) Bold"/>
                  <a:sym typeface="Calibri (MS) Bold"/>
                </a:rPr>
                <a:t>SCALE FOR LIKELIHOOD &amp; IMPACT</a:t>
              </a:r>
            </a:p>
          </p:txBody>
        </p:sp>
      </p:grpSp>
      <p:grpSp>
        <p:nvGrpSpPr>
          <p:cNvPr name="Group 22" id="22"/>
          <p:cNvGrpSpPr/>
          <p:nvPr/>
        </p:nvGrpSpPr>
        <p:grpSpPr>
          <a:xfrm rot="0">
            <a:off x="3371469" y="5915787"/>
            <a:ext cx="3585210" cy="773430"/>
            <a:chOff x="0" y="0"/>
            <a:chExt cx="4780280" cy="1031240"/>
          </a:xfrm>
        </p:grpSpPr>
        <p:sp>
          <p:nvSpPr>
            <p:cNvPr name="Freeform 23" id="23"/>
            <p:cNvSpPr/>
            <p:nvPr/>
          </p:nvSpPr>
          <p:spPr>
            <a:xfrm flipH="false" flipV="false" rot="0">
              <a:off x="0" y="0"/>
              <a:ext cx="4780280" cy="1031240"/>
            </a:xfrm>
            <a:custGeom>
              <a:avLst/>
              <a:gdLst/>
              <a:ahLst/>
              <a:cxnLst/>
              <a:rect r="r" b="b" t="t" l="l"/>
              <a:pathLst>
                <a:path h="1031240" w="4780280">
                  <a:moveTo>
                    <a:pt x="0" y="168783"/>
                  </a:moveTo>
                  <a:cubicBezTo>
                    <a:pt x="0" y="75565"/>
                    <a:pt x="75565" y="0"/>
                    <a:pt x="168783" y="0"/>
                  </a:cubicBezTo>
                  <a:lnTo>
                    <a:pt x="4611497" y="0"/>
                  </a:lnTo>
                  <a:cubicBezTo>
                    <a:pt x="4704715" y="0"/>
                    <a:pt x="4780280" y="75565"/>
                    <a:pt x="4780280" y="168783"/>
                  </a:cubicBezTo>
                  <a:lnTo>
                    <a:pt x="4780280" y="862457"/>
                  </a:lnTo>
                  <a:cubicBezTo>
                    <a:pt x="4780280" y="955675"/>
                    <a:pt x="4704715" y="1031240"/>
                    <a:pt x="4611497" y="1031240"/>
                  </a:cubicBezTo>
                  <a:lnTo>
                    <a:pt x="168783" y="1031240"/>
                  </a:lnTo>
                  <a:cubicBezTo>
                    <a:pt x="75565" y="1031240"/>
                    <a:pt x="0" y="955675"/>
                    <a:pt x="0" y="862457"/>
                  </a:cubicBezTo>
                  <a:close/>
                </a:path>
              </a:pathLst>
            </a:custGeom>
            <a:solidFill>
              <a:srgbClr val="F4F7FC"/>
            </a:solidFill>
            <a:ln w="19050" cap="sq">
              <a:solidFill>
                <a:srgbClr val="D7DCEC"/>
              </a:solidFill>
              <a:prstDash val="solid"/>
              <a:miter/>
            </a:ln>
          </p:spPr>
        </p:sp>
      </p:grpSp>
      <p:grpSp>
        <p:nvGrpSpPr>
          <p:cNvPr name="Group 24" id="24"/>
          <p:cNvGrpSpPr/>
          <p:nvPr/>
        </p:nvGrpSpPr>
        <p:grpSpPr>
          <a:xfrm rot="0">
            <a:off x="3380994" y="5925312"/>
            <a:ext cx="3566160" cy="754380"/>
            <a:chOff x="0" y="0"/>
            <a:chExt cx="4754880" cy="1005840"/>
          </a:xfrm>
        </p:grpSpPr>
        <p:sp>
          <p:nvSpPr>
            <p:cNvPr name="Freeform 25" id="25"/>
            <p:cNvSpPr/>
            <p:nvPr/>
          </p:nvSpPr>
          <p:spPr>
            <a:xfrm flipH="false" flipV="false" rot="0">
              <a:off x="0" y="0"/>
              <a:ext cx="4754880" cy="1005840"/>
            </a:xfrm>
            <a:custGeom>
              <a:avLst/>
              <a:gdLst/>
              <a:ahLst/>
              <a:cxnLst/>
              <a:rect r="r" b="b" t="t" l="l"/>
              <a:pathLst>
                <a:path h="1005840" w="4754880">
                  <a:moveTo>
                    <a:pt x="0" y="0"/>
                  </a:moveTo>
                  <a:lnTo>
                    <a:pt x="4754880" y="0"/>
                  </a:lnTo>
                  <a:lnTo>
                    <a:pt x="4754880" y="1005840"/>
                  </a:lnTo>
                  <a:lnTo>
                    <a:pt x="0" y="1005840"/>
                  </a:lnTo>
                  <a:close/>
                </a:path>
              </a:pathLst>
            </a:custGeom>
            <a:blipFill>
              <a:blip r:embed="rId3">
                <a:alphaModFix amt="0"/>
              </a:blip>
              <a:stretch>
                <a:fillRect l="0" t="-42111" r="0" b="-42111"/>
              </a:stretch>
            </a:blipFill>
          </p:spPr>
        </p:sp>
        <p:sp>
          <p:nvSpPr>
            <p:cNvPr name="TextBox 26" id="26"/>
            <p:cNvSpPr txBox="true"/>
            <p:nvPr/>
          </p:nvSpPr>
          <p:spPr>
            <a:xfrm>
              <a:off x="0" y="-47625"/>
              <a:ext cx="4754880" cy="1053465"/>
            </a:xfrm>
            <a:prstGeom prst="rect">
              <a:avLst/>
            </a:prstGeom>
          </p:spPr>
          <p:txBody>
            <a:bodyPr anchor="ctr" rtlCol="false" tIns="0" lIns="0" bIns="0" rIns="0"/>
            <a:lstStyle/>
            <a:p>
              <a:pPr algn="ctr">
                <a:lnSpc>
                  <a:spcPts val="2340"/>
                </a:lnSpc>
              </a:pPr>
              <a:r>
                <a:rPr lang="en-US" sz="1950">
                  <a:solidFill>
                    <a:srgbClr val="6B7280"/>
                  </a:solidFill>
                  <a:latin typeface="Calibri (MS)"/>
                  <a:ea typeface="Calibri (MS)"/>
                  <a:cs typeface="Calibri (MS)"/>
                  <a:sym typeface="Calibri (MS)"/>
                </a:rPr>
                <a:t>Low</a:t>
              </a:r>
            </a:p>
          </p:txBody>
        </p:sp>
      </p:grpSp>
      <p:grpSp>
        <p:nvGrpSpPr>
          <p:cNvPr name="Group 27" id="27"/>
          <p:cNvGrpSpPr/>
          <p:nvPr/>
        </p:nvGrpSpPr>
        <p:grpSpPr>
          <a:xfrm rot="0">
            <a:off x="7349109" y="5915787"/>
            <a:ext cx="3585210" cy="773430"/>
            <a:chOff x="0" y="0"/>
            <a:chExt cx="4780280" cy="1031240"/>
          </a:xfrm>
        </p:grpSpPr>
        <p:sp>
          <p:nvSpPr>
            <p:cNvPr name="Freeform 28" id="28"/>
            <p:cNvSpPr/>
            <p:nvPr/>
          </p:nvSpPr>
          <p:spPr>
            <a:xfrm flipH="false" flipV="false" rot="0">
              <a:off x="0" y="0"/>
              <a:ext cx="4780280" cy="1031240"/>
            </a:xfrm>
            <a:custGeom>
              <a:avLst/>
              <a:gdLst/>
              <a:ahLst/>
              <a:cxnLst/>
              <a:rect r="r" b="b" t="t" l="l"/>
              <a:pathLst>
                <a:path h="1031240" w="4780280">
                  <a:moveTo>
                    <a:pt x="0" y="168783"/>
                  </a:moveTo>
                  <a:cubicBezTo>
                    <a:pt x="0" y="75565"/>
                    <a:pt x="75565" y="0"/>
                    <a:pt x="168783" y="0"/>
                  </a:cubicBezTo>
                  <a:lnTo>
                    <a:pt x="4611497" y="0"/>
                  </a:lnTo>
                  <a:cubicBezTo>
                    <a:pt x="4704715" y="0"/>
                    <a:pt x="4780280" y="75565"/>
                    <a:pt x="4780280" y="168783"/>
                  </a:cubicBezTo>
                  <a:lnTo>
                    <a:pt x="4780280" y="862457"/>
                  </a:lnTo>
                  <a:cubicBezTo>
                    <a:pt x="4780280" y="955675"/>
                    <a:pt x="4704715" y="1031240"/>
                    <a:pt x="4611497" y="1031240"/>
                  </a:cubicBezTo>
                  <a:lnTo>
                    <a:pt x="168783" y="1031240"/>
                  </a:lnTo>
                  <a:cubicBezTo>
                    <a:pt x="75565" y="1031240"/>
                    <a:pt x="0" y="955675"/>
                    <a:pt x="0" y="862457"/>
                  </a:cubicBezTo>
                  <a:close/>
                </a:path>
              </a:pathLst>
            </a:custGeom>
            <a:solidFill>
              <a:srgbClr val="F4F7FC"/>
            </a:solidFill>
            <a:ln w="19050" cap="sq">
              <a:solidFill>
                <a:srgbClr val="D7DCEC"/>
              </a:solidFill>
              <a:prstDash val="solid"/>
              <a:miter/>
            </a:ln>
          </p:spPr>
        </p:sp>
      </p:grpSp>
      <p:grpSp>
        <p:nvGrpSpPr>
          <p:cNvPr name="Group 29" id="29"/>
          <p:cNvGrpSpPr/>
          <p:nvPr/>
        </p:nvGrpSpPr>
        <p:grpSpPr>
          <a:xfrm rot="0">
            <a:off x="7358634" y="5925312"/>
            <a:ext cx="3566160" cy="754380"/>
            <a:chOff x="0" y="0"/>
            <a:chExt cx="4754880" cy="1005840"/>
          </a:xfrm>
        </p:grpSpPr>
        <p:sp>
          <p:nvSpPr>
            <p:cNvPr name="Freeform 30" id="30"/>
            <p:cNvSpPr/>
            <p:nvPr/>
          </p:nvSpPr>
          <p:spPr>
            <a:xfrm flipH="false" flipV="false" rot="0">
              <a:off x="0" y="0"/>
              <a:ext cx="4754880" cy="1005840"/>
            </a:xfrm>
            <a:custGeom>
              <a:avLst/>
              <a:gdLst/>
              <a:ahLst/>
              <a:cxnLst/>
              <a:rect r="r" b="b" t="t" l="l"/>
              <a:pathLst>
                <a:path h="1005840" w="4754880">
                  <a:moveTo>
                    <a:pt x="0" y="0"/>
                  </a:moveTo>
                  <a:lnTo>
                    <a:pt x="4754880" y="0"/>
                  </a:lnTo>
                  <a:lnTo>
                    <a:pt x="4754880" y="1005840"/>
                  </a:lnTo>
                  <a:lnTo>
                    <a:pt x="0" y="1005840"/>
                  </a:lnTo>
                  <a:close/>
                </a:path>
              </a:pathLst>
            </a:custGeom>
            <a:blipFill>
              <a:blip r:embed="rId3">
                <a:alphaModFix amt="0"/>
              </a:blip>
              <a:stretch>
                <a:fillRect l="0" t="-42111" r="0" b="-42111"/>
              </a:stretch>
            </a:blipFill>
          </p:spPr>
        </p:sp>
        <p:sp>
          <p:nvSpPr>
            <p:cNvPr name="TextBox 31" id="31"/>
            <p:cNvSpPr txBox="true"/>
            <p:nvPr/>
          </p:nvSpPr>
          <p:spPr>
            <a:xfrm>
              <a:off x="0" y="-47625"/>
              <a:ext cx="4754880" cy="1053465"/>
            </a:xfrm>
            <a:prstGeom prst="rect">
              <a:avLst/>
            </a:prstGeom>
          </p:spPr>
          <p:txBody>
            <a:bodyPr anchor="ctr" rtlCol="false" tIns="0" lIns="0" bIns="0" rIns="0"/>
            <a:lstStyle/>
            <a:p>
              <a:pPr algn="ctr">
                <a:lnSpc>
                  <a:spcPts val="2340"/>
                </a:lnSpc>
              </a:pPr>
              <a:r>
                <a:rPr lang="en-US" sz="1950">
                  <a:solidFill>
                    <a:srgbClr val="6B7280"/>
                  </a:solidFill>
                  <a:latin typeface="Calibri (MS)"/>
                  <a:ea typeface="Calibri (MS)"/>
                  <a:cs typeface="Calibri (MS)"/>
                  <a:sym typeface="Calibri (MS)"/>
                </a:rPr>
                <a:t>Medium</a:t>
              </a:r>
            </a:p>
          </p:txBody>
        </p:sp>
      </p:grpSp>
      <p:grpSp>
        <p:nvGrpSpPr>
          <p:cNvPr name="Group 32" id="32"/>
          <p:cNvGrpSpPr/>
          <p:nvPr/>
        </p:nvGrpSpPr>
        <p:grpSpPr>
          <a:xfrm rot="0">
            <a:off x="11326749" y="5915787"/>
            <a:ext cx="3585210" cy="773430"/>
            <a:chOff x="0" y="0"/>
            <a:chExt cx="4780280" cy="1031240"/>
          </a:xfrm>
        </p:grpSpPr>
        <p:sp>
          <p:nvSpPr>
            <p:cNvPr name="Freeform 33" id="33"/>
            <p:cNvSpPr/>
            <p:nvPr/>
          </p:nvSpPr>
          <p:spPr>
            <a:xfrm flipH="false" flipV="false" rot="0">
              <a:off x="0" y="0"/>
              <a:ext cx="4780280" cy="1031240"/>
            </a:xfrm>
            <a:custGeom>
              <a:avLst/>
              <a:gdLst/>
              <a:ahLst/>
              <a:cxnLst/>
              <a:rect r="r" b="b" t="t" l="l"/>
              <a:pathLst>
                <a:path h="1031240" w="4780280">
                  <a:moveTo>
                    <a:pt x="0" y="168783"/>
                  </a:moveTo>
                  <a:cubicBezTo>
                    <a:pt x="0" y="75565"/>
                    <a:pt x="75565" y="0"/>
                    <a:pt x="168783" y="0"/>
                  </a:cubicBezTo>
                  <a:lnTo>
                    <a:pt x="4611497" y="0"/>
                  </a:lnTo>
                  <a:cubicBezTo>
                    <a:pt x="4704715" y="0"/>
                    <a:pt x="4780280" y="75565"/>
                    <a:pt x="4780280" y="168783"/>
                  </a:cubicBezTo>
                  <a:lnTo>
                    <a:pt x="4780280" y="862457"/>
                  </a:lnTo>
                  <a:cubicBezTo>
                    <a:pt x="4780280" y="955675"/>
                    <a:pt x="4704715" y="1031240"/>
                    <a:pt x="4611497" y="1031240"/>
                  </a:cubicBezTo>
                  <a:lnTo>
                    <a:pt x="168783" y="1031240"/>
                  </a:lnTo>
                  <a:cubicBezTo>
                    <a:pt x="75565" y="1031240"/>
                    <a:pt x="0" y="955675"/>
                    <a:pt x="0" y="862457"/>
                  </a:cubicBezTo>
                  <a:close/>
                </a:path>
              </a:pathLst>
            </a:custGeom>
            <a:solidFill>
              <a:srgbClr val="F4F7FC"/>
            </a:solidFill>
            <a:ln w="19050" cap="sq">
              <a:solidFill>
                <a:srgbClr val="D7DCEC"/>
              </a:solidFill>
              <a:prstDash val="solid"/>
              <a:miter/>
            </a:ln>
          </p:spPr>
        </p:sp>
      </p:grpSp>
      <p:grpSp>
        <p:nvGrpSpPr>
          <p:cNvPr name="Group 34" id="34"/>
          <p:cNvGrpSpPr/>
          <p:nvPr/>
        </p:nvGrpSpPr>
        <p:grpSpPr>
          <a:xfrm rot="0">
            <a:off x="11336274" y="5925312"/>
            <a:ext cx="3566160" cy="754380"/>
            <a:chOff x="0" y="0"/>
            <a:chExt cx="4754880" cy="1005840"/>
          </a:xfrm>
        </p:grpSpPr>
        <p:sp>
          <p:nvSpPr>
            <p:cNvPr name="Freeform 35" id="35"/>
            <p:cNvSpPr/>
            <p:nvPr/>
          </p:nvSpPr>
          <p:spPr>
            <a:xfrm flipH="false" flipV="false" rot="0">
              <a:off x="0" y="0"/>
              <a:ext cx="4754880" cy="1005840"/>
            </a:xfrm>
            <a:custGeom>
              <a:avLst/>
              <a:gdLst/>
              <a:ahLst/>
              <a:cxnLst/>
              <a:rect r="r" b="b" t="t" l="l"/>
              <a:pathLst>
                <a:path h="1005840" w="4754880">
                  <a:moveTo>
                    <a:pt x="0" y="0"/>
                  </a:moveTo>
                  <a:lnTo>
                    <a:pt x="4754880" y="0"/>
                  </a:lnTo>
                  <a:lnTo>
                    <a:pt x="4754880" y="1005840"/>
                  </a:lnTo>
                  <a:lnTo>
                    <a:pt x="0" y="1005840"/>
                  </a:lnTo>
                  <a:close/>
                </a:path>
              </a:pathLst>
            </a:custGeom>
            <a:blipFill>
              <a:blip r:embed="rId3">
                <a:alphaModFix amt="0"/>
              </a:blip>
              <a:stretch>
                <a:fillRect l="0" t="-42111" r="0" b="-42111"/>
              </a:stretch>
            </a:blipFill>
          </p:spPr>
        </p:sp>
        <p:sp>
          <p:nvSpPr>
            <p:cNvPr name="TextBox 36" id="36"/>
            <p:cNvSpPr txBox="true"/>
            <p:nvPr/>
          </p:nvSpPr>
          <p:spPr>
            <a:xfrm>
              <a:off x="0" y="-47625"/>
              <a:ext cx="4754880" cy="1053465"/>
            </a:xfrm>
            <a:prstGeom prst="rect">
              <a:avLst/>
            </a:prstGeom>
          </p:spPr>
          <p:txBody>
            <a:bodyPr anchor="ctr" rtlCol="false" tIns="0" lIns="0" bIns="0" rIns="0"/>
            <a:lstStyle/>
            <a:p>
              <a:pPr algn="ctr">
                <a:lnSpc>
                  <a:spcPts val="2340"/>
                </a:lnSpc>
              </a:pPr>
              <a:r>
                <a:rPr lang="en-US" sz="1950">
                  <a:solidFill>
                    <a:srgbClr val="6B7280"/>
                  </a:solidFill>
                  <a:latin typeface="Calibri (MS)"/>
                  <a:ea typeface="Calibri (MS)"/>
                  <a:cs typeface="Calibri (MS)"/>
                  <a:sym typeface="Calibri (MS)"/>
                </a:rPr>
                <a:t>High</a:t>
              </a:r>
            </a:p>
          </p:txBody>
        </p:sp>
      </p:grpSp>
      <p:grpSp>
        <p:nvGrpSpPr>
          <p:cNvPr name="Group 37" id="37"/>
          <p:cNvGrpSpPr/>
          <p:nvPr/>
        </p:nvGrpSpPr>
        <p:grpSpPr>
          <a:xfrm rot="0">
            <a:off x="960120" y="7063740"/>
            <a:ext cx="16322040" cy="384048"/>
            <a:chOff x="0" y="0"/>
            <a:chExt cx="21762720" cy="512064"/>
          </a:xfrm>
        </p:grpSpPr>
        <p:sp>
          <p:nvSpPr>
            <p:cNvPr name="Freeform 38" id="38"/>
            <p:cNvSpPr/>
            <p:nvPr/>
          </p:nvSpPr>
          <p:spPr>
            <a:xfrm flipH="false" flipV="false" rot="0">
              <a:off x="0" y="0"/>
              <a:ext cx="21762720" cy="512064"/>
            </a:xfrm>
            <a:custGeom>
              <a:avLst/>
              <a:gdLst/>
              <a:ahLst/>
              <a:cxnLst/>
              <a:rect r="r" b="b" t="t" l="l"/>
              <a:pathLst>
                <a:path h="512064" w="21762720">
                  <a:moveTo>
                    <a:pt x="0" y="0"/>
                  </a:moveTo>
                  <a:lnTo>
                    <a:pt x="21762720" y="0"/>
                  </a:lnTo>
                  <a:lnTo>
                    <a:pt x="21762720" y="512064"/>
                  </a:lnTo>
                  <a:lnTo>
                    <a:pt x="0" y="512064"/>
                  </a:lnTo>
                  <a:close/>
                </a:path>
              </a:pathLst>
            </a:custGeom>
            <a:blipFill>
              <a:blip r:embed="rId3">
                <a:alphaModFix amt="0"/>
              </a:blip>
              <a:stretch>
                <a:fillRect l="0" t="-778114" r="0" b="-778114"/>
              </a:stretch>
            </a:blipFill>
          </p:spPr>
        </p:sp>
        <p:sp>
          <p:nvSpPr>
            <p:cNvPr name="TextBox 39" id="39"/>
            <p:cNvSpPr txBox="true"/>
            <p:nvPr/>
          </p:nvSpPr>
          <p:spPr>
            <a:xfrm>
              <a:off x="0" y="-19050"/>
              <a:ext cx="21762720" cy="531114"/>
            </a:xfrm>
            <a:prstGeom prst="rect">
              <a:avLst/>
            </a:prstGeom>
          </p:spPr>
          <p:txBody>
            <a:bodyPr anchor="ctr" rtlCol="false" tIns="0" lIns="0" bIns="0" rIns="0"/>
            <a:lstStyle/>
            <a:p>
              <a:pPr algn="ctr">
                <a:lnSpc>
                  <a:spcPts val="1889"/>
                </a:lnSpc>
              </a:pPr>
              <a:r>
                <a:rPr lang="en-US" b="true" sz="1575" spc="74">
                  <a:solidFill>
                    <a:srgbClr val="6B7280"/>
                  </a:solidFill>
                  <a:latin typeface="Calibri (MS) Bold"/>
                  <a:ea typeface="Calibri (MS) Bold"/>
                  <a:cs typeface="Calibri (MS) Bold"/>
                  <a:sym typeface="Calibri (MS) Bold"/>
                </a:rPr>
                <a:t>RESPONSE OPTIONS</a:t>
              </a:r>
            </a:p>
          </p:txBody>
        </p:sp>
      </p:grpSp>
      <p:grpSp>
        <p:nvGrpSpPr>
          <p:cNvPr name="Group 40" id="40"/>
          <p:cNvGrpSpPr/>
          <p:nvPr/>
        </p:nvGrpSpPr>
        <p:grpSpPr>
          <a:xfrm rot="0">
            <a:off x="1012317" y="7493127"/>
            <a:ext cx="3790950" cy="773430"/>
            <a:chOff x="0" y="0"/>
            <a:chExt cx="5054600" cy="1031240"/>
          </a:xfrm>
        </p:grpSpPr>
        <p:sp>
          <p:nvSpPr>
            <p:cNvPr name="Freeform 41" id="41"/>
            <p:cNvSpPr/>
            <p:nvPr/>
          </p:nvSpPr>
          <p:spPr>
            <a:xfrm flipH="false" flipV="false" rot="0">
              <a:off x="0" y="0"/>
              <a:ext cx="5054600" cy="1031240"/>
            </a:xfrm>
            <a:custGeom>
              <a:avLst/>
              <a:gdLst/>
              <a:ahLst/>
              <a:cxnLst/>
              <a:rect r="r" b="b" t="t" l="l"/>
              <a:pathLst>
                <a:path h="1031240" w="5054600">
                  <a:moveTo>
                    <a:pt x="0" y="168783"/>
                  </a:moveTo>
                  <a:cubicBezTo>
                    <a:pt x="0" y="75565"/>
                    <a:pt x="75565" y="0"/>
                    <a:pt x="168783" y="0"/>
                  </a:cubicBezTo>
                  <a:lnTo>
                    <a:pt x="4885817" y="0"/>
                  </a:lnTo>
                  <a:cubicBezTo>
                    <a:pt x="4979035" y="0"/>
                    <a:pt x="5054600" y="75565"/>
                    <a:pt x="5054600" y="168783"/>
                  </a:cubicBezTo>
                  <a:lnTo>
                    <a:pt x="5054600" y="862457"/>
                  </a:lnTo>
                  <a:cubicBezTo>
                    <a:pt x="5054600" y="955675"/>
                    <a:pt x="4979035" y="1031240"/>
                    <a:pt x="4885817" y="1031240"/>
                  </a:cubicBezTo>
                  <a:lnTo>
                    <a:pt x="168783" y="1031240"/>
                  </a:lnTo>
                  <a:cubicBezTo>
                    <a:pt x="75565" y="1031240"/>
                    <a:pt x="0" y="955675"/>
                    <a:pt x="0" y="862457"/>
                  </a:cubicBezTo>
                  <a:close/>
                </a:path>
              </a:pathLst>
            </a:custGeom>
            <a:solidFill>
              <a:srgbClr val="F4F7FC"/>
            </a:solidFill>
            <a:ln w="19050" cap="sq">
              <a:solidFill>
                <a:srgbClr val="D7DCEC"/>
              </a:solidFill>
              <a:prstDash val="solid"/>
              <a:miter/>
            </a:ln>
          </p:spPr>
        </p:sp>
      </p:grpSp>
      <p:grpSp>
        <p:nvGrpSpPr>
          <p:cNvPr name="Group 42" id="42"/>
          <p:cNvGrpSpPr/>
          <p:nvPr/>
        </p:nvGrpSpPr>
        <p:grpSpPr>
          <a:xfrm rot="0">
            <a:off x="1021842" y="7502652"/>
            <a:ext cx="3771900" cy="754380"/>
            <a:chOff x="0" y="0"/>
            <a:chExt cx="5029200" cy="1005840"/>
          </a:xfrm>
        </p:grpSpPr>
        <p:sp>
          <p:nvSpPr>
            <p:cNvPr name="Freeform 43" id="43"/>
            <p:cNvSpPr/>
            <p:nvPr/>
          </p:nvSpPr>
          <p:spPr>
            <a:xfrm flipH="false" flipV="false" rot="0">
              <a:off x="0" y="0"/>
              <a:ext cx="5029200" cy="1005840"/>
            </a:xfrm>
            <a:custGeom>
              <a:avLst/>
              <a:gdLst/>
              <a:ahLst/>
              <a:cxnLst/>
              <a:rect r="r" b="b" t="t" l="l"/>
              <a:pathLst>
                <a:path h="1005840" w="5029200">
                  <a:moveTo>
                    <a:pt x="0" y="0"/>
                  </a:moveTo>
                  <a:lnTo>
                    <a:pt x="5029200" y="0"/>
                  </a:lnTo>
                  <a:lnTo>
                    <a:pt x="5029200" y="1005840"/>
                  </a:lnTo>
                  <a:lnTo>
                    <a:pt x="0" y="1005840"/>
                  </a:lnTo>
                  <a:close/>
                </a:path>
              </a:pathLst>
            </a:custGeom>
            <a:blipFill>
              <a:blip r:embed="rId3">
                <a:alphaModFix amt="0"/>
              </a:blip>
              <a:stretch>
                <a:fillRect l="0" t="-47425" r="0" b="-47425"/>
              </a:stretch>
            </a:blipFill>
          </p:spPr>
        </p:sp>
        <p:sp>
          <p:nvSpPr>
            <p:cNvPr name="TextBox 44" id="44"/>
            <p:cNvSpPr txBox="true"/>
            <p:nvPr/>
          </p:nvSpPr>
          <p:spPr>
            <a:xfrm>
              <a:off x="0" y="-47625"/>
              <a:ext cx="5029200" cy="1053465"/>
            </a:xfrm>
            <a:prstGeom prst="rect">
              <a:avLst/>
            </a:prstGeom>
          </p:spPr>
          <p:txBody>
            <a:bodyPr anchor="ctr" rtlCol="false" tIns="0" lIns="0" bIns="0" rIns="0"/>
            <a:lstStyle/>
            <a:p>
              <a:pPr algn="ctr">
                <a:lnSpc>
                  <a:spcPts val="2340"/>
                </a:lnSpc>
              </a:pPr>
              <a:r>
                <a:rPr lang="en-US" sz="1950">
                  <a:solidFill>
                    <a:srgbClr val="6B7280"/>
                  </a:solidFill>
                  <a:latin typeface="Calibri (MS)"/>
                  <a:ea typeface="Calibri (MS)"/>
                  <a:cs typeface="Calibri (MS)"/>
                  <a:sym typeface="Calibri (MS)"/>
                </a:rPr>
                <a:t>Treat</a:t>
              </a:r>
            </a:p>
          </p:txBody>
        </p:sp>
      </p:grpSp>
      <p:grpSp>
        <p:nvGrpSpPr>
          <p:cNvPr name="Group 45" id="45"/>
          <p:cNvGrpSpPr/>
          <p:nvPr/>
        </p:nvGrpSpPr>
        <p:grpSpPr>
          <a:xfrm rot="0">
            <a:off x="5168265" y="7493127"/>
            <a:ext cx="3790950" cy="773430"/>
            <a:chOff x="0" y="0"/>
            <a:chExt cx="5054600" cy="1031240"/>
          </a:xfrm>
        </p:grpSpPr>
        <p:sp>
          <p:nvSpPr>
            <p:cNvPr name="Freeform 46" id="46"/>
            <p:cNvSpPr/>
            <p:nvPr/>
          </p:nvSpPr>
          <p:spPr>
            <a:xfrm flipH="false" flipV="false" rot="0">
              <a:off x="0" y="0"/>
              <a:ext cx="5054600" cy="1031240"/>
            </a:xfrm>
            <a:custGeom>
              <a:avLst/>
              <a:gdLst/>
              <a:ahLst/>
              <a:cxnLst/>
              <a:rect r="r" b="b" t="t" l="l"/>
              <a:pathLst>
                <a:path h="1031240" w="5054600">
                  <a:moveTo>
                    <a:pt x="0" y="168783"/>
                  </a:moveTo>
                  <a:cubicBezTo>
                    <a:pt x="0" y="75565"/>
                    <a:pt x="75565" y="0"/>
                    <a:pt x="168783" y="0"/>
                  </a:cubicBezTo>
                  <a:lnTo>
                    <a:pt x="4885817" y="0"/>
                  </a:lnTo>
                  <a:cubicBezTo>
                    <a:pt x="4979035" y="0"/>
                    <a:pt x="5054600" y="75565"/>
                    <a:pt x="5054600" y="168783"/>
                  </a:cubicBezTo>
                  <a:lnTo>
                    <a:pt x="5054600" y="862457"/>
                  </a:lnTo>
                  <a:cubicBezTo>
                    <a:pt x="5054600" y="955675"/>
                    <a:pt x="4979035" y="1031240"/>
                    <a:pt x="4885817" y="1031240"/>
                  </a:cubicBezTo>
                  <a:lnTo>
                    <a:pt x="168783" y="1031240"/>
                  </a:lnTo>
                  <a:cubicBezTo>
                    <a:pt x="75565" y="1031240"/>
                    <a:pt x="0" y="955675"/>
                    <a:pt x="0" y="862457"/>
                  </a:cubicBezTo>
                  <a:close/>
                </a:path>
              </a:pathLst>
            </a:custGeom>
            <a:solidFill>
              <a:srgbClr val="F4F7FC"/>
            </a:solidFill>
            <a:ln w="19050" cap="sq">
              <a:solidFill>
                <a:srgbClr val="D7DCEC"/>
              </a:solidFill>
              <a:prstDash val="solid"/>
              <a:miter/>
            </a:ln>
          </p:spPr>
        </p:sp>
      </p:grpSp>
      <p:grpSp>
        <p:nvGrpSpPr>
          <p:cNvPr name="Group 47" id="47"/>
          <p:cNvGrpSpPr/>
          <p:nvPr/>
        </p:nvGrpSpPr>
        <p:grpSpPr>
          <a:xfrm rot="0">
            <a:off x="5177790" y="7502652"/>
            <a:ext cx="3771900" cy="754380"/>
            <a:chOff x="0" y="0"/>
            <a:chExt cx="5029200" cy="1005840"/>
          </a:xfrm>
        </p:grpSpPr>
        <p:sp>
          <p:nvSpPr>
            <p:cNvPr name="Freeform 48" id="48"/>
            <p:cNvSpPr/>
            <p:nvPr/>
          </p:nvSpPr>
          <p:spPr>
            <a:xfrm flipH="false" flipV="false" rot="0">
              <a:off x="0" y="0"/>
              <a:ext cx="5029200" cy="1005840"/>
            </a:xfrm>
            <a:custGeom>
              <a:avLst/>
              <a:gdLst/>
              <a:ahLst/>
              <a:cxnLst/>
              <a:rect r="r" b="b" t="t" l="l"/>
              <a:pathLst>
                <a:path h="1005840" w="5029200">
                  <a:moveTo>
                    <a:pt x="0" y="0"/>
                  </a:moveTo>
                  <a:lnTo>
                    <a:pt x="5029200" y="0"/>
                  </a:lnTo>
                  <a:lnTo>
                    <a:pt x="5029200" y="1005840"/>
                  </a:lnTo>
                  <a:lnTo>
                    <a:pt x="0" y="1005840"/>
                  </a:lnTo>
                  <a:close/>
                </a:path>
              </a:pathLst>
            </a:custGeom>
            <a:blipFill>
              <a:blip r:embed="rId3">
                <a:alphaModFix amt="0"/>
              </a:blip>
              <a:stretch>
                <a:fillRect l="0" t="-47425" r="0" b="-47425"/>
              </a:stretch>
            </a:blipFill>
          </p:spPr>
        </p:sp>
        <p:sp>
          <p:nvSpPr>
            <p:cNvPr name="TextBox 49" id="49"/>
            <p:cNvSpPr txBox="true"/>
            <p:nvPr/>
          </p:nvSpPr>
          <p:spPr>
            <a:xfrm>
              <a:off x="0" y="-47625"/>
              <a:ext cx="5029200" cy="1053465"/>
            </a:xfrm>
            <a:prstGeom prst="rect">
              <a:avLst/>
            </a:prstGeom>
          </p:spPr>
          <p:txBody>
            <a:bodyPr anchor="ctr" rtlCol="false" tIns="0" lIns="0" bIns="0" rIns="0"/>
            <a:lstStyle/>
            <a:p>
              <a:pPr algn="ctr">
                <a:lnSpc>
                  <a:spcPts val="2340"/>
                </a:lnSpc>
              </a:pPr>
              <a:r>
                <a:rPr lang="en-US" sz="1950">
                  <a:solidFill>
                    <a:srgbClr val="6B7280"/>
                  </a:solidFill>
                  <a:latin typeface="Calibri (MS)"/>
                  <a:ea typeface="Calibri (MS)"/>
                  <a:cs typeface="Calibri (MS)"/>
                  <a:sym typeface="Calibri (MS)"/>
                </a:rPr>
                <a:t>Transfer</a:t>
              </a:r>
            </a:p>
          </p:txBody>
        </p:sp>
      </p:grpSp>
      <p:grpSp>
        <p:nvGrpSpPr>
          <p:cNvPr name="Group 50" id="50"/>
          <p:cNvGrpSpPr/>
          <p:nvPr/>
        </p:nvGrpSpPr>
        <p:grpSpPr>
          <a:xfrm rot="0">
            <a:off x="9324213" y="7493127"/>
            <a:ext cx="3790950" cy="773430"/>
            <a:chOff x="0" y="0"/>
            <a:chExt cx="5054600" cy="1031240"/>
          </a:xfrm>
        </p:grpSpPr>
        <p:sp>
          <p:nvSpPr>
            <p:cNvPr name="Freeform 51" id="51"/>
            <p:cNvSpPr/>
            <p:nvPr/>
          </p:nvSpPr>
          <p:spPr>
            <a:xfrm flipH="false" flipV="false" rot="0">
              <a:off x="0" y="0"/>
              <a:ext cx="5054600" cy="1031240"/>
            </a:xfrm>
            <a:custGeom>
              <a:avLst/>
              <a:gdLst/>
              <a:ahLst/>
              <a:cxnLst/>
              <a:rect r="r" b="b" t="t" l="l"/>
              <a:pathLst>
                <a:path h="1031240" w="5054600">
                  <a:moveTo>
                    <a:pt x="0" y="168783"/>
                  </a:moveTo>
                  <a:cubicBezTo>
                    <a:pt x="0" y="75565"/>
                    <a:pt x="75565" y="0"/>
                    <a:pt x="168783" y="0"/>
                  </a:cubicBezTo>
                  <a:lnTo>
                    <a:pt x="4885817" y="0"/>
                  </a:lnTo>
                  <a:cubicBezTo>
                    <a:pt x="4979035" y="0"/>
                    <a:pt x="5054600" y="75565"/>
                    <a:pt x="5054600" y="168783"/>
                  </a:cubicBezTo>
                  <a:lnTo>
                    <a:pt x="5054600" y="862457"/>
                  </a:lnTo>
                  <a:cubicBezTo>
                    <a:pt x="5054600" y="955675"/>
                    <a:pt x="4979035" y="1031240"/>
                    <a:pt x="4885817" y="1031240"/>
                  </a:cubicBezTo>
                  <a:lnTo>
                    <a:pt x="168783" y="1031240"/>
                  </a:lnTo>
                  <a:cubicBezTo>
                    <a:pt x="75565" y="1031240"/>
                    <a:pt x="0" y="955675"/>
                    <a:pt x="0" y="862457"/>
                  </a:cubicBezTo>
                  <a:close/>
                </a:path>
              </a:pathLst>
            </a:custGeom>
            <a:solidFill>
              <a:srgbClr val="F4F7FC"/>
            </a:solidFill>
            <a:ln w="19050" cap="sq">
              <a:solidFill>
                <a:srgbClr val="D7DCEC"/>
              </a:solidFill>
              <a:prstDash val="solid"/>
              <a:miter/>
            </a:ln>
          </p:spPr>
        </p:sp>
      </p:grpSp>
      <p:grpSp>
        <p:nvGrpSpPr>
          <p:cNvPr name="Group 52" id="52"/>
          <p:cNvGrpSpPr/>
          <p:nvPr/>
        </p:nvGrpSpPr>
        <p:grpSpPr>
          <a:xfrm rot="0">
            <a:off x="9333738" y="7502652"/>
            <a:ext cx="3771900" cy="754380"/>
            <a:chOff x="0" y="0"/>
            <a:chExt cx="5029200" cy="1005840"/>
          </a:xfrm>
        </p:grpSpPr>
        <p:sp>
          <p:nvSpPr>
            <p:cNvPr name="Freeform 53" id="53"/>
            <p:cNvSpPr/>
            <p:nvPr/>
          </p:nvSpPr>
          <p:spPr>
            <a:xfrm flipH="false" flipV="false" rot="0">
              <a:off x="0" y="0"/>
              <a:ext cx="5029200" cy="1005840"/>
            </a:xfrm>
            <a:custGeom>
              <a:avLst/>
              <a:gdLst/>
              <a:ahLst/>
              <a:cxnLst/>
              <a:rect r="r" b="b" t="t" l="l"/>
              <a:pathLst>
                <a:path h="1005840" w="5029200">
                  <a:moveTo>
                    <a:pt x="0" y="0"/>
                  </a:moveTo>
                  <a:lnTo>
                    <a:pt x="5029200" y="0"/>
                  </a:lnTo>
                  <a:lnTo>
                    <a:pt x="5029200" y="1005840"/>
                  </a:lnTo>
                  <a:lnTo>
                    <a:pt x="0" y="1005840"/>
                  </a:lnTo>
                  <a:close/>
                </a:path>
              </a:pathLst>
            </a:custGeom>
            <a:blipFill>
              <a:blip r:embed="rId3">
                <a:alphaModFix amt="0"/>
              </a:blip>
              <a:stretch>
                <a:fillRect l="0" t="-47425" r="0" b="-47425"/>
              </a:stretch>
            </a:blipFill>
          </p:spPr>
        </p:sp>
        <p:sp>
          <p:nvSpPr>
            <p:cNvPr name="TextBox 54" id="54"/>
            <p:cNvSpPr txBox="true"/>
            <p:nvPr/>
          </p:nvSpPr>
          <p:spPr>
            <a:xfrm>
              <a:off x="0" y="-47625"/>
              <a:ext cx="5029200" cy="1053465"/>
            </a:xfrm>
            <a:prstGeom prst="rect">
              <a:avLst/>
            </a:prstGeom>
          </p:spPr>
          <p:txBody>
            <a:bodyPr anchor="ctr" rtlCol="false" tIns="0" lIns="0" bIns="0" rIns="0"/>
            <a:lstStyle/>
            <a:p>
              <a:pPr algn="ctr">
                <a:lnSpc>
                  <a:spcPts val="2340"/>
                </a:lnSpc>
              </a:pPr>
              <a:r>
                <a:rPr lang="en-US" sz="1950">
                  <a:solidFill>
                    <a:srgbClr val="6B7280"/>
                  </a:solidFill>
                  <a:latin typeface="Calibri (MS)"/>
                  <a:ea typeface="Calibri (MS)"/>
                  <a:cs typeface="Calibri (MS)"/>
                  <a:sym typeface="Calibri (MS)"/>
                </a:rPr>
                <a:t>Tolerate</a:t>
              </a:r>
            </a:p>
          </p:txBody>
        </p:sp>
      </p:grpSp>
      <p:grpSp>
        <p:nvGrpSpPr>
          <p:cNvPr name="Group 55" id="55"/>
          <p:cNvGrpSpPr/>
          <p:nvPr/>
        </p:nvGrpSpPr>
        <p:grpSpPr>
          <a:xfrm rot="0">
            <a:off x="13480161" y="7493127"/>
            <a:ext cx="3790950" cy="773430"/>
            <a:chOff x="0" y="0"/>
            <a:chExt cx="5054600" cy="1031240"/>
          </a:xfrm>
        </p:grpSpPr>
        <p:sp>
          <p:nvSpPr>
            <p:cNvPr name="Freeform 56" id="56"/>
            <p:cNvSpPr/>
            <p:nvPr/>
          </p:nvSpPr>
          <p:spPr>
            <a:xfrm flipH="false" flipV="false" rot="0">
              <a:off x="0" y="0"/>
              <a:ext cx="5054600" cy="1031240"/>
            </a:xfrm>
            <a:custGeom>
              <a:avLst/>
              <a:gdLst/>
              <a:ahLst/>
              <a:cxnLst/>
              <a:rect r="r" b="b" t="t" l="l"/>
              <a:pathLst>
                <a:path h="1031240" w="5054600">
                  <a:moveTo>
                    <a:pt x="0" y="168783"/>
                  </a:moveTo>
                  <a:cubicBezTo>
                    <a:pt x="0" y="75565"/>
                    <a:pt x="75565" y="0"/>
                    <a:pt x="168783" y="0"/>
                  </a:cubicBezTo>
                  <a:lnTo>
                    <a:pt x="4885817" y="0"/>
                  </a:lnTo>
                  <a:cubicBezTo>
                    <a:pt x="4979035" y="0"/>
                    <a:pt x="5054600" y="75565"/>
                    <a:pt x="5054600" y="168783"/>
                  </a:cubicBezTo>
                  <a:lnTo>
                    <a:pt x="5054600" y="862457"/>
                  </a:lnTo>
                  <a:cubicBezTo>
                    <a:pt x="5054600" y="955675"/>
                    <a:pt x="4979035" y="1031240"/>
                    <a:pt x="4885817" y="1031240"/>
                  </a:cubicBezTo>
                  <a:lnTo>
                    <a:pt x="168783" y="1031240"/>
                  </a:lnTo>
                  <a:cubicBezTo>
                    <a:pt x="75565" y="1031240"/>
                    <a:pt x="0" y="955675"/>
                    <a:pt x="0" y="862457"/>
                  </a:cubicBezTo>
                  <a:close/>
                </a:path>
              </a:pathLst>
            </a:custGeom>
            <a:solidFill>
              <a:srgbClr val="F4F7FC"/>
            </a:solidFill>
            <a:ln w="19050" cap="sq">
              <a:solidFill>
                <a:srgbClr val="D7DCEC"/>
              </a:solidFill>
              <a:prstDash val="solid"/>
              <a:miter/>
            </a:ln>
          </p:spPr>
        </p:sp>
      </p:grpSp>
      <p:grpSp>
        <p:nvGrpSpPr>
          <p:cNvPr name="Group 57" id="57"/>
          <p:cNvGrpSpPr/>
          <p:nvPr/>
        </p:nvGrpSpPr>
        <p:grpSpPr>
          <a:xfrm rot="0">
            <a:off x="13489686" y="7502652"/>
            <a:ext cx="3771900" cy="754380"/>
            <a:chOff x="0" y="0"/>
            <a:chExt cx="5029200" cy="1005840"/>
          </a:xfrm>
        </p:grpSpPr>
        <p:sp>
          <p:nvSpPr>
            <p:cNvPr name="Freeform 58" id="58"/>
            <p:cNvSpPr/>
            <p:nvPr/>
          </p:nvSpPr>
          <p:spPr>
            <a:xfrm flipH="false" flipV="false" rot="0">
              <a:off x="0" y="0"/>
              <a:ext cx="5029200" cy="1005840"/>
            </a:xfrm>
            <a:custGeom>
              <a:avLst/>
              <a:gdLst/>
              <a:ahLst/>
              <a:cxnLst/>
              <a:rect r="r" b="b" t="t" l="l"/>
              <a:pathLst>
                <a:path h="1005840" w="5029200">
                  <a:moveTo>
                    <a:pt x="0" y="0"/>
                  </a:moveTo>
                  <a:lnTo>
                    <a:pt x="5029200" y="0"/>
                  </a:lnTo>
                  <a:lnTo>
                    <a:pt x="5029200" y="1005840"/>
                  </a:lnTo>
                  <a:lnTo>
                    <a:pt x="0" y="1005840"/>
                  </a:lnTo>
                  <a:close/>
                </a:path>
              </a:pathLst>
            </a:custGeom>
            <a:blipFill>
              <a:blip r:embed="rId3">
                <a:alphaModFix amt="0"/>
              </a:blip>
              <a:stretch>
                <a:fillRect l="0" t="-47425" r="0" b="-47425"/>
              </a:stretch>
            </a:blipFill>
          </p:spPr>
        </p:sp>
        <p:sp>
          <p:nvSpPr>
            <p:cNvPr name="TextBox 59" id="59"/>
            <p:cNvSpPr txBox="true"/>
            <p:nvPr/>
          </p:nvSpPr>
          <p:spPr>
            <a:xfrm>
              <a:off x="0" y="-47625"/>
              <a:ext cx="5029200" cy="1053465"/>
            </a:xfrm>
            <a:prstGeom prst="rect">
              <a:avLst/>
            </a:prstGeom>
          </p:spPr>
          <p:txBody>
            <a:bodyPr anchor="ctr" rtlCol="false" tIns="0" lIns="0" bIns="0" rIns="0"/>
            <a:lstStyle/>
            <a:p>
              <a:pPr algn="ctr">
                <a:lnSpc>
                  <a:spcPts val="2340"/>
                </a:lnSpc>
              </a:pPr>
              <a:r>
                <a:rPr lang="en-US" sz="1950">
                  <a:solidFill>
                    <a:srgbClr val="6B7280"/>
                  </a:solidFill>
                  <a:latin typeface="Calibri (MS)"/>
                  <a:ea typeface="Calibri (MS)"/>
                  <a:cs typeface="Calibri (MS)"/>
                  <a:sym typeface="Calibri (MS)"/>
                </a:rPr>
                <a:t>Terminate</a:t>
              </a:r>
            </a:p>
          </p:txBody>
        </p:sp>
      </p:grpSp>
      <p:grpSp>
        <p:nvGrpSpPr>
          <p:cNvPr name="Group 60" id="60"/>
          <p:cNvGrpSpPr/>
          <p:nvPr/>
        </p:nvGrpSpPr>
        <p:grpSpPr>
          <a:xfrm rot="0">
            <a:off x="685800" y="9710928"/>
            <a:ext cx="10972800" cy="411480"/>
            <a:chOff x="0" y="0"/>
            <a:chExt cx="14630400" cy="548640"/>
          </a:xfrm>
        </p:grpSpPr>
        <p:sp>
          <p:nvSpPr>
            <p:cNvPr name="Freeform 61" id="61"/>
            <p:cNvSpPr/>
            <p:nvPr/>
          </p:nvSpPr>
          <p:spPr>
            <a:xfrm flipH="false" flipV="false" rot="0">
              <a:off x="0" y="0"/>
              <a:ext cx="14630400" cy="548640"/>
            </a:xfrm>
            <a:custGeom>
              <a:avLst/>
              <a:gdLst/>
              <a:ahLst/>
              <a:cxnLst/>
              <a:rect r="r" b="b" t="t" l="l"/>
              <a:pathLst>
                <a:path h="548640" w="14630400">
                  <a:moveTo>
                    <a:pt x="0" y="0"/>
                  </a:moveTo>
                  <a:lnTo>
                    <a:pt x="14630400" y="0"/>
                  </a:lnTo>
                  <a:lnTo>
                    <a:pt x="14630400" y="548640"/>
                  </a:lnTo>
                  <a:lnTo>
                    <a:pt x="0" y="548640"/>
                  </a:lnTo>
                  <a:close/>
                </a:path>
              </a:pathLst>
            </a:custGeom>
            <a:blipFill>
              <a:blip r:embed="rId3">
                <a:alphaModFix amt="0"/>
              </a:blip>
              <a:stretch>
                <a:fillRect l="0" t="-469601" r="0" b="-469601"/>
              </a:stretch>
            </a:blipFill>
          </p:spPr>
        </p:sp>
        <p:sp>
          <p:nvSpPr>
            <p:cNvPr name="TextBox 62" id="62"/>
            <p:cNvSpPr txBox="true"/>
            <p:nvPr/>
          </p:nvSpPr>
          <p:spPr>
            <a:xfrm>
              <a:off x="0" y="-38100"/>
              <a:ext cx="14630400" cy="586740"/>
            </a:xfrm>
            <a:prstGeom prst="rect">
              <a:avLst/>
            </a:prstGeom>
          </p:spPr>
          <p:txBody>
            <a:bodyPr anchor="ctr" rtlCol="false" tIns="0" lIns="0" bIns="0" rIns="0"/>
            <a:lstStyle/>
            <a:p>
              <a:pPr algn="l">
                <a:lnSpc>
                  <a:spcPts val="1800"/>
                </a:lnSpc>
              </a:pPr>
              <a:r>
                <a:rPr lang="en-US" sz="1500">
                  <a:solidFill>
                    <a:srgbClr val="6B7280"/>
                  </a:solidFill>
                  <a:latin typeface="Calibri (MS)"/>
                  <a:ea typeface="Calibri (MS)"/>
                  <a:cs typeface="Calibri (MS)"/>
                  <a:sym typeface="Calibri (MS)"/>
                </a:rPr>
                <a:t>Davao del Norte Provincial Government — Cybersecurity Seminar</a:t>
              </a:r>
            </a:p>
          </p:txBody>
        </p:sp>
      </p:grpSp>
      <p:grpSp>
        <p:nvGrpSpPr>
          <p:cNvPr name="Group 63" id="63"/>
          <p:cNvGrpSpPr/>
          <p:nvPr/>
        </p:nvGrpSpPr>
        <p:grpSpPr>
          <a:xfrm rot="0">
            <a:off x="16911828" y="9710928"/>
            <a:ext cx="685800" cy="411480"/>
            <a:chOff x="0" y="0"/>
            <a:chExt cx="914400" cy="548640"/>
          </a:xfrm>
        </p:grpSpPr>
        <p:sp>
          <p:nvSpPr>
            <p:cNvPr name="Freeform 64" id="64"/>
            <p:cNvSpPr/>
            <p:nvPr/>
          </p:nvSpPr>
          <p:spPr>
            <a:xfrm flipH="false" flipV="false" rot="0">
              <a:off x="0" y="0"/>
              <a:ext cx="914400" cy="548640"/>
            </a:xfrm>
            <a:custGeom>
              <a:avLst/>
              <a:gdLst/>
              <a:ahLst/>
              <a:cxnLst/>
              <a:rect r="r" b="b" t="t" l="l"/>
              <a:pathLst>
                <a:path h="548640" w="914400">
                  <a:moveTo>
                    <a:pt x="0" y="0"/>
                  </a:moveTo>
                  <a:lnTo>
                    <a:pt x="914400" y="0"/>
                  </a:lnTo>
                  <a:lnTo>
                    <a:pt x="914400" y="548640"/>
                  </a:lnTo>
                  <a:lnTo>
                    <a:pt x="0" y="548640"/>
                  </a:lnTo>
                  <a:close/>
                </a:path>
              </a:pathLst>
            </a:custGeom>
            <a:blipFill>
              <a:blip r:embed="rId3">
                <a:alphaModFix amt="0"/>
              </a:blip>
              <a:stretch>
                <a:fillRect l="-26982" t="0" r="-26982" b="0"/>
              </a:stretch>
            </a:blipFill>
          </p:spPr>
        </p:sp>
        <p:sp>
          <p:nvSpPr>
            <p:cNvPr name="TextBox 65" id="65"/>
            <p:cNvSpPr txBox="true"/>
            <p:nvPr/>
          </p:nvSpPr>
          <p:spPr>
            <a:xfrm>
              <a:off x="0" y="-38100"/>
              <a:ext cx="914400" cy="586740"/>
            </a:xfrm>
            <a:prstGeom prst="rect">
              <a:avLst/>
            </a:prstGeom>
          </p:spPr>
          <p:txBody>
            <a:bodyPr anchor="ctr" rtlCol="false" tIns="0" lIns="0" bIns="0" rIns="0"/>
            <a:lstStyle/>
            <a:p>
              <a:pPr algn="r">
                <a:lnSpc>
                  <a:spcPts val="1800"/>
                </a:lnSpc>
              </a:pPr>
              <a:r>
                <a:rPr lang="en-US" sz="1500">
                  <a:solidFill>
                    <a:srgbClr val="6B7280"/>
                  </a:solidFill>
                  <a:latin typeface="Calibri (MS)"/>
                  <a:ea typeface="Calibri (MS)"/>
                  <a:cs typeface="Calibri (MS)"/>
                  <a:sym typeface="Calibri (MS)"/>
                </a:rPr>
                <a:t>25</a:t>
              </a:r>
            </a:p>
          </p:txBody>
        </p:sp>
      </p:grpSp>
    </p:spTree>
  </p:cSld>
  <p:clrMapOvr>
    <a:masterClrMapping/>
  </p:clrMapOvr>
</p:sld>
</file>

<file path=ppt/slides/slide3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60120" y="576072"/>
            <a:ext cx="13716000" cy="411480"/>
            <a:chOff x="0" y="0"/>
            <a:chExt cx="18288000" cy="548640"/>
          </a:xfrm>
        </p:grpSpPr>
        <p:sp>
          <p:nvSpPr>
            <p:cNvPr name="Freeform 3" id="3"/>
            <p:cNvSpPr/>
            <p:nvPr/>
          </p:nvSpPr>
          <p:spPr>
            <a:xfrm flipH="false" flipV="false" rot="0">
              <a:off x="0" y="0"/>
              <a:ext cx="18288000" cy="548640"/>
            </a:xfrm>
            <a:custGeom>
              <a:avLst/>
              <a:gdLst/>
              <a:ahLst/>
              <a:cxnLst/>
              <a:rect r="r" b="b" t="t" l="l"/>
              <a:pathLst>
                <a:path h="548640" w="18288000">
                  <a:moveTo>
                    <a:pt x="0" y="0"/>
                  </a:moveTo>
                  <a:lnTo>
                    <a:pt x="18288000" y="0"/>
                  </a:lnTo>
                  <a:lnTo>
                    <a:pt x="18288000" y="548640"/>
                  </a:lnTo>
                  <a:lnTo>
                    <a:pt x="0" y="548640"/>
                  </a:lnTo>
                  <a:close/>
                </a:path>
              </a:pathLst>
            </a:custGeom>
            <a:blipFill>
              <a:blip r:embed="rId3">
                <a:alphaModFix amt="0"/>
              </a:blip>
              <a:stretch>
                <a:fillRect l="0" t="-599501" r="0" b="-599501"/>
              </a:stretch>
            </a:blipFill>
          </p:spPr>
        </p:sp>
        <p:sp>
          <p:nvSpPr>
            <p:cNvPr name="TextBox 4" id="4"/>
            <p:cNvSpPr txBox="true"/>
            <p:nvPr/>
          </p:nvSpPr>
          <p:spPr>
            <a:xfrm>
              <a:off x="0" y="-38100"/>
              <a:ext cx="18288000" cy="586740"/>
            </a:xfrm>
            <a:prstGeom prst="rect">
              <a:avLst/>
            </a:prstGeom>
          </p:spPr>
          <p:txBody>
            <a:bodyPr anchor="ctr" rtlCol="false" tIns="0" lIns="0" bIns="0" rIns="0"/>
            <a:lstStyle/>
            <a:p>
              <a:pPr algn="l">
                <a:lnSpc>
                  <a:spcPts val="2160"/>
                </a:lnSpc>
              </a:pPr>
              <a:r>
                <a:rPr lang="en-US" b="true" sz="1800" spc="225">
                  <a:solidFill>
                    <a:srgbClr val="00B4D8"/>
                  </a:solidFill>
                  <a:latin typeface="Calibri (MS) Bold"/>
                  <a:ea typeface="Calibri (MS) Bold"/>
                  <a:cs typeface="Calibri (MS) Bold"/>
                  <a:sym typeface="Calibri (MS) Bold"/>
                </a:rPr>
                <a:t>RISK MATRIX SORT · ANSWER</a:t>
              </a:r>
            </a:p>
          </p:txBody>
        </p:sp>
      </p:grpSp>
      <p:grpSp>
        <p:nvGrpSpPr>
          <p:cNvPr name="Group 5" id="5"/>
          <p:cNvGrpSpPr/>
          <p:nvPr/>
        </p:nvGrpSpPr>
        <p:grpSpPr>
          <a:xfrm rot="0">
            <a:off x="960120" y="960120"/>
            <a:ext cx="10972800" cy="754380"/>
            <a:chOff x="0" y="0"/>
            <a:chExt cx="14630400" cy="1005840"/>
          </a:xfrm>
        </p:grpSpPr>
        <p:sp>
          <p:nvSpPr>
            <p:cNvPr name="Freeform 6" id="6"/>
            <p:cNvSpPr/>
            <p:nvPr/>
          </p:nvSpPr>
          <p:spPr>
            <a:xfrm flipH="false" flipV="false" rot="0">
              <a:off x="0" y="0"/>
              <a:ext cx="14630400" cy="1005840"/>
            </a:xfrm>
            <a:custGeom>
              <a:avLst/>
              <a:gdLst/>
              <a:ahLst/>
              <a:cxnLst/>
              <a:rect r="r" b="b" t="t" l="l"/>
              <a:pathLst>
                <a:path h="1005840" w="14630400">
                  <a:moveTo>
                    <a:pt x="0" y="0"/>
                  </a:moveTo>
                  <a:lnTo>
                    <a:pt x="14630400" y="0"/>
                  </a:lnTo>
                  <a:lnTo>
                    <a:pt x="14630400" y="1005840"/>
                  </a:lnTo>
                  <a:lnTo>
                    <a:pt x="0" y="1005840"/>
                  </a:lnTo>
                  <a:close/>
                </a:path>
              </a:pathLst>
            </a:custGeom>
            <a:blipFill>
              <a:blip r:embed="rId3">
                <a:alphaModFix amt="0"/>
              </a:blip>
              <a:stretch>
                <a:fillRect l="0" t="-233418" r="0" b="-233418"/>
              </a:stretch>
            </a:blipFill>
          </p:spPr>
        </p:sp>
        <p:sp>
          <p:nvSpPr>
            <p:cNvPr name="TextBox 7" id="7"/>
            <p:cNvSpPr txBox="true"/>
            <p:nvPr/>
          </p:nvSpPr>
          <p:spPr>
            <a:xfrm>
              <a:off x="0" y="-19050"/>
              <a:ext cx="14630400" cy="1024890"/>
            </a:xfrm>
            <a:prstGeom prst="rect">
              <a:avLst/>
            </a:prstGeom>
          </p:spPr>
          <p:txBody>
            <a:bodyPr anchor="ctr" rtlCol="false" tIns="0" lIns="0" bIns="0" rIns="0"/>
            <a:lstStyle/>
            <a:p>
              <a:pPr algn="l">
                <a:lnSpc>
                  <a:spcPts val="4320"/>
                </a:lnSpc>
              </a:pPr>
              <a:r>
                <a:rPr lang="en-US" sz="3600" b="true">
                  <a:solidFill>
                    <a:srgbClr val="1E2761"/>
                  </a:solidFill>
                  <a:latin typeface="Cambria Bold"/>
                  <a:ea typeface="Cambria Bold"/>
                  <a:cs typeface="Cambria Bold"/>
                  <a:sym typeface="Cambria Bold"/>
                </a:rPr>
                <a:t>Scenario 6 — Answer</a:t>
              </a:r>
            </a:p>
          </p:txBody>
        </p:sp>
      </p:grpSp>
      <p:grpSp>
        <p:nvGrpSpPr>
          <p:cNvPr name="Group 8" id="8"/>
          <p:cNvGrpSpPr/>
          <p:nvPr/>
        </p:nvGrpSpPr>
        <p:grpSpPr>
          <a:xfrm rot="0">
            <a:off x="960120" y="1645920"/>
            <a:ext cx="8229600" cy="411480"/>
            <a:chOff x="0" y="0"/>
            <a:chExt cx="10972800" cy="548640"/>
          </a:xfrm>
        </p:grpSpPr>
        <p:sp>
          <p:nvSpPr>
            <p:cNvPr name="Freeform 9" id="9"/>
            <p:cNvSpPr/>
            <p:nvPr/>
          </p:nvSpPr>
          <p:spPr>
            <a:xfrm flipH="false" flipV="false" rot="0">
              <a:off x="0" y="0"/>
              <a:ext cx="10972800" cy="548640"/>
            </a:xfrm>
            <a:custGeom>
              <a:avLst/>
              <a:gdLst/>
              <a:ahLst/>
              <a:cxnLst/>
              <a:rect r="r" b="b" t="t" l="l"/>
              <a:pathLst>
                <a:path h="548640" w="10972800">
                  <a:moveTo>
                    <a:pt x="0" y="0"/>
                  </a:moveTo>
                  <a:lnTo>
                    <a:pt x="10972800" y="0"/>
                  </a:lnTo>
                  <a:lnTo>
                    <a:pt x="10972800" y="548640"/>
                  </a:lnTo>
                  <a:lnTo>
                    <a:pt x="0" y="548640"/>
                  </a:lnTo>
                  <a:close/>
                </a:path>
              </a:pathLst>
            </a:custGeom>
            <a:blipFill>
              <a:blip r:embed="rId3">
                <a:alphaModFix amt="0"/>
              </a:blip>
              <a:stretch>
                <a:fillRect l="0" t="-339700" r="0" b="-339700"/>
              </a:stretch>
            </a:blipFill>
          </p:spPr>
        </p:sp>
        <p:sp>
          <p:nvSpPr>
            <p:cNvPr name="TextBox 10" id="10"/>
            <p:cNvSpPr txBox="true"/>
            <p:nvPr/>
          </p:nvSpPr>
          <p:spPr>
            <a:xfrm>
              <a:off x="0" y="-28575"/>
              <a:ext cx="10972800" cy="577215"/>
            </a:xfrm>
            <a:prstGeom prst="rect">
              <a:avLst/>
            </a:prstGeom>
          </p:spPr>
          <p:txBody>
            <a:bodyPr anchor="ctr" rtlCol="false" tIns="0" lIns="0" bIns="0" rIns="0"/>
            <a:lstStyle/>
            <a:p>
              <a:pPr algn="l">
                <a:lnSpc>
                  <a:spcPts val="1980"/>
                </a:lnSpc>
              </a:pPr>
              <a:r>
                <a:rPr lang="en-US" sz="1650">
                  <a:solidFill>
                    <a:srgbClr val="6B7280"/>
                  </a:solidFill>
                  <a:latin typeface="Calibri (MS)"/>
                  <a:ea typeface="Calibri (MS)"/>
                  <a:cs typeface="Calibri (MS)"/>
                  <a:sym typeface="Calibri (MS)"/>
                </a:rPr>
                <a:t>6 of 8</a:t>
              </a:r>
            </a:p>
          </p:txBody>
        </p:sp>
      </p:grpSp>
      <p:grpSp>
        <p:nvGrpSpPr>
          <p:cNvPr name="Group 11" id="11"/>
          <p:cNvGrpSpPr/>
          <p:nvPr/>
        </p:nvGrpSpPr>
        <p:grpSpPr>
          <a:xfrm rot="0">
            <a:off x="960120" y="2194560"/>
            <a:ext cx="16322040" cy="1851660"/>
            <a:chOff x="0" y="0"/>
            <a:chExt cx="21762720" cy="2468880"/>
          </a:xfrm>
        </p:grpSpPr>
        <p:sp>
          <p:nvSpPr>
            <p:cNvPr name="Freeform 12" id="12"/>
            <p:cNvSpPr/>
            <p:nvPr/>
          </p:nvSpPr>
          <p:spPr>
            <a:xfrm flipH="false" flipV="false" rot="0">
              <a:off x="0" y="0"/>
              <a:ext cx="21762720" cy="2468880"/>
            </a:xfrm>
            <a:custGeom>
              <a:avLst/>
              <a:gdLst/>
              <a:ahLst/>
              <a:cxnLst/>
              <a:rect r="r" b="b" t="t" l="l"/>
              <a:pathLst>
                <a:path h="2468880" w="21762720">
                  <a:moveTo>
                    <a:pt x="0" y="182880"/>
                  </a:moveTo>
                  <a:cubicBezTo>
                    <a:pt x="0" y="81915"/>
                    <a:pt x="81915" y="0"/>
                    <a:pt x="182880" y="0"/>
                  </a:cubicBezTo>
                  <a:lnTo>
                    <a:pt x="21579839" y="0"/>
                  </a:lnTo>
                  <a:cubicBezTo>
                    <a:pt x="21680804" y="0"/>
                    <a:pt x="21762720" y="81915"/>
                    <a:pt x="21762720" y="182880"/>
                  </a:cubicBezTo>
                  <a:lnTo>
                    <a:pt x="21762720" y="2286000"/>
                  </a:lnTo>
                  <a:cubicBezTo>
                    <a:pt x="21762720" y="2386965"/>
                    <a:pt x="21680804" y="2468880"/>
                    <a:pt x="21579839" y="2468880"/>
                  </a:cubicBezTo>
                  <a:lnTo>
                    <a:pt x="182880" y="2468880"/>
                  </a:lnTo>
                  <a:cubicBezTo>
                    <a:pt x="81915" y="2468880"/>
                    <a:pt x="0" y="2386965"/>
                    <a:pt x="0" y="2286000"/>
                  </a:cubicBezTo>
                  <a:close/>
                </a:path>
              </a:pathLst>
            </a:custGeom>
            <a:solidFill>
              <a:srgbClr val="F4F7FC"/>
            </a:solidFill>
          </p:spPr>
        </p:sp>
      </p:grpSp>
      <p:grpSp>
        <p:nvGrpSpPr>
          <p:cNvPr name="Group 13" id="13"/>
          <p:cNvGrpSpPr/>
          <p:nvPr/>
        </p:nvGrpSpPr>
        <p:grpSpPr>
          <a:xfrm rot="0">
            <a:off x="1371600" y="2400300"/>
            <a:ext cx="15499080" cy="1440180"/>
            <a:chOff x="0" y="0"/>
            <a:chExt cx="20665440" cy="1920240"/>
          </a:xfrm>
        </p:grpSpPr>
        <p:sp>
          <p:nvSpPr>
            <p:cNvPr name="Freeform 14" id="14"/>
            <p:cNvSpPr/>
            <p:nvPr/>
          </p:nvSpPr>
          <p:spPr>
            <a:xfrm flipH="false" flipV="false" rot="0">
              <a:off x="0" y="0"/>
              <a:ext cx="20665439" cy="1920240"/>
            </a:xfrm>
            <a:custGeom>
              <a:avLst/>
              <a:gdLst/>
              <a:ahLst/>
              <a:cxnLst/>
              <a:rect r="r" b="b" t="t" l="l"/>
              <a:pathLst>
                <a:path h="1920240" w="20665439">
                  <a:moveTo>
                    <a:pt x="0" y="0"/>
                  </a:moveTo>
                  <a:lnTo>
                    <a:pt x="20665439" y="0"/>
                  </a:lnTo>
                  <a:lnTo>
                    <a:pt x="20665439" y="1920240"/>
                  </a:lnTo>
                  <a:lnTo>
                    <a:pt x="0" y="1920240"/>
                  </a:lnTo>
                  <a:close/>
                </a:path>
              </a:pathLst>
            </a:custGeom>
            <a:blipFill>
              <a:blip r:embed="rId3">
                <a:alphaModFix amt="0"/>
              </a:blip>
              <a:stretch>
                <a:fillRect l="0" t="-159696" r="0" b="-159696"/>
              </a:stretch>
            </a:blipFill>
          </p:spPr>
        </p:sp>
        <p:sp>
          <p:nvSpPr>
            <p:cNvPr name="TextBox 15" id="15"/>
            <p:cNvSpPr txBox="true"/>
            <p:nvPr/>
          </p:nvSpPr>
          <p:spPr>
            <a:xfrm>
              <a:off x="0" y="-66675"/>
              <a:ext cx="20665440" cy="1986915"/>
            </a:xfrm>
            <a:prstGeom prst="rect">
              <a:avLst/>
            </a:prstGeom>
          </p:spPr>
          <p:txBody>
            <a:bodyPr anchor="ctr" rtlCol="false" tIns="0" lIns="0" bIns="0" rIns="0"/>
            <a:lstStyle/>
            <a:p>
              <a:pPr algn="l">
                <a:lnSpc>
                  <a:spcPts val="3184"/>
                </a:lnSpc>
              </a:pPr>
              <a:r>
                <a:rPr lang="en-US" sz="2175" i="true">
                  <a:solidFill>
                    <a:srgbClr val="23262F"/>
                  </a:solidFill>
                  <a:latin typeface="Cambria Italics"/>
                  <a:ea typeface="Cambria Italics"/>
                  <a:cs typeface="Cambria Italics"/>
                  <a:sym typeface="Cambria Italics"/>
                </a:rPr>
                <a:t>“A new admin aide occasionally emails draft, non-confidential meeting notes to a co-worker through her personal Gmail to save time.”</a:t>
              </a:r>
            </a:p>
          </p:txBody>
        </p:sp>
      </p:grpSp>
      <p:grpSp>
        <p:nvGrpSpPr>
          <p:cNvPr name="Group 16" id="16"/>
          <p:cNvGrpSpPr/>
          <p:nvPr/>
        </p:nvGrpSpPr>
        <p:grpSpPr>
          <a:xfrm rot="0">
            <a:off x="960120" y="4320540"/>
            <a:ext cx="3909060" cy="1165860"/>
            <a:chOff x="0" y="0"/>
            <a:chExt cx="5212080" cy="1554480"/>
          </a:xfrm>
        </p:grpSpPr>
        <p:sp>
          <p:nvSpPr>
            <p:cNvPr name="Freeform 17" id="17"/>
            <p:cNvSpPr/>
            <p:nvPr/>
          </p:nvSpPr>
          <p:spPr>
            <a:xfrm flipH="false" flipV="false" rot="0">
              <a:off x="0" y="0"/>
              <a:ext cx="5212080" cy="1554480"/>
            </a:xfrm>
            <a:custGeom>
              <a:avLst/>
              <a:gdLst/>
              <a:ahLst/>
              <a:cxnLst/>
              <a:rect r="r" b="b" t="t" l="l"/>
              <a:pathLst>
                <a:path h="1554480" w="5212080">
                  <a:moveTo>
                    <a:pt x="0" y="146304"/>
                  </a:moveTo>
                  <a:cubicBezTo>
                    <a:pt x="0" y="65532"/>
                    <a:pt x="65532" y="0"/>
                    <a:pt x="146304" y="0"/>
                  </a:cubicBezTo>
                  <a:lnTo>
                    <a:pt x="5065776" y="0"/>
                  </a:lnTo>
                  <a:cubicBezTo>
                    <a:pt x="5146548" y="0"/>
                    <a:pt x="5212080" y="65532"/>
                    <a:pt x="5212080" y="146304"/>
                  </a:cubicBezTo>
                  <a:lnTo>
                    <a:pt x="5212080" y="1408176"/>
                  </a:lnTo>
                  <a:cubicBezTo>
                    <a:pt x="5212080" y="1488948"/>
                    <a:pt x="5146548" y="1554480"/>
                    <a:pt x="5065776" y="1554480"/>
                  </a:cubicBezTo>
                  <a:lnTo>
                    <a:pt x="146304" y="1554480"/>
                  </a:lnTo>
                  <a:cubicBezTo>
                    <a:pt x="65532" y="1554480"/>
                    <a:pt x="0" y="1488948"/>
                    <a:pt x="0" y="1408176"/>
                  </a:cubicBezTo>
                  <a:close/>
                </a:path>
              </a:pathLst>
            </a:custGeom>
            <a:solidFill>
              <a:srgbClr val="F4F7FC"/>
            </a:solidFill>
          </p:spPr>
        </p:sp>
      </p:grpSp>
      <p:grpSp>
        <p:nvGrpSpPr>
          <p:cNvPr name="Group 18" id="18"/>
          <p:cNvGrpSpPr/>
          <p:nvPr/>
        </p:nvGrpSpPr>
        <p:grpSpPr>
          <a:xfrm rot="0">
            <a:off x="1207008" y="4457700"/>
            <a:ext cx="3415284" cy="384048"/>
            <a:chOff x="0" y="0"/>
            <a:chExt cx="4553712" cy="512064"/>
          </a:xfrm>
        </p:grpSpPr>
        <p:sp>
          <p:nvSpPr>
            <p:cNvPr name="Freeform 19" id="19"/>
            <p:cNvSpPr/>
            <p:nvPr/>
          </p:nvSpPr>
          <p:spPr>
            <a:xfrm flipH="false" flipV="false" rot="0">
              <a:off x="0" y="0"/>
              <a:ext cx="4553712" cy="512064"/>
            </a:xfrm>
            <a:custGeom>
              <a:avLst/>
              <a:gdLst/>
              <a:ahLst/>
              <a:cxnLst/>
              <a:rect r="r" b="b" t="t" l="l"/>
              <a:pathLst>
                <a:path h="512064" w="4553712">
                  <a:moveTo>
                    <a:pt x="0" y="0"/>
                  </a:moveTo>
                  <a:lnTo>
                    <a:pt x="4553712" y="0"/>
                  </a:lnTo>
                  <a:lnTo>
                    <a:pt x="4553712" y="512064"/>
                  </a:lnTo>
                  <a:lnTo>
                    <a:pt x="0" y="512064"/>
                  </a:lnTo>
                  <a:close/>
                </a:path>
              </a:pathLst>
            </a:custGeom>
            <a:blipFill>
              <a:blip r:embed="rId3">
                <a:alphaModFix amt="0"/>
              </a:blip>
              <a:stretch>
                <a:fillRect l="0" t="-123277" r="0" b="-123277"/>
              </a:stretch>
            </a:blipFill>
          </p:spPr>
        </p:sp>
        <p:sp>
          <p:nvSpPr>
            <p:cNvPr name="TextBox 20" id="20"/>
            <p:cNvSpPr txBox="true"/>
            <p:nvPr/>
          </p:nvSpPr>
          <p:spPr>
            <a:xfrm>
              <a:off x="0" y="-38100"/>
              <a:ext cx="4553712" cy="550164"/>
            </a:xfrm>
            <a:prstGeom prst="rect">
              <a:avLst/>
            </a:prstGeom>
          </p:spPr>
          <p:txBody>
            <a:bodyPr anchor="ctr" rtlCol="false" tIns="0" lIns="0" bIns="0" rIns="0"/>
            <a:lstStyle/>
            <a:p>
              <a:pPr algn="l">
                <a:lnSpc>
                  <a:spcPts val="1800"/>
                </a:lnSpc>
              </a:pPr>
              <a:r>
                <a:rPr lang="en-US" b="true" sz="1500" spc="75">
                  <a:solidFill>
                    <a:srgbClr val="6B7280"/>
                  </a:solidFill>
                  <a:latin typeface="Calibri (MS) Bold"/>
                  <a:ea typeface="Calibri (MS) Bold"/>
                  <a:cs typeface="Calibri (MS) Bold"/>
                  <a:sym typeface="Calibri (MS) Bold"/>
                </a:rPr>
                <a:t>LIKELIHOOD</a:t>
              </a:r>
            </a:p>
          </p:txBody>
        </p:sp>
      </p:grpSp>
      <p:sp>
        <p:nvSpPr>
          <p:cNvPr name="TextBox 21" id="21"/>
          <p:cNvSpPr txBox="true"/>
          <p:nvPr/>
        </p:nvSpPr>
        <p:spPr>
          <a:xfrm rot="0">
            <a:off x="1298448" y="4840986"/>
            <a:ext cx="3232404" cy="462534"/>
          </a:xfrm>
          <a:prstGeom prst="rect">
            <a:avLst/>
          </a:prstGeom>
        </p:spPr>
        <p:txBody>
          <a:bodyPr anchor="t" rtlCol="false" tIns="0" lIns="0" bIns="0" rIns="0">
            <a:spAutoFit/>
          </a:bodyPr>
          <a:lstStyle/>
          <a:p>
            <a:pPr algn="l">
              <a:lnSpc>
                <a:spcPts val="3240"/>
              </a:lnSpc>
            </a:pPr>
            <a:r>
              <a:rPr lang="en-US" sz="2700" b="true">
                <a:solidFill>
                  <a:srgbClr val="1E2761"/>
                </a:solidFill>
                <a:latin typeface="Cambria Bold"/>
                <a:ea typeface="Cambria Bold"/>
                <a:cs typeface="Cambria Bold"/>
                <a:sym typeface="Cambria Bold"/>
              </a:rPr>
              <a:t>Medium</a:t>
            </a:r>
          </a:p>
        </p:txBody>
      </p:sp>
      <p:grpSp>
        <p:nvGrpSpPr>
          <p:cNvPr name="Group 22" id="22"/>
          <p:cNvGrpSpPr/>
          <p:nvPr/>
        </p:nvGrpSpPr>
        <p:grpSpPr>
          <a:xfrm rot="0">
            <a:off x="5074920" y="4320540"/>
            <a:ext cx="3909060" cy="1165860"/>
            <a:chOff x="0" y="0"/>
            <a:chExt cx="5212080" cy="1554480"/>
          </a:xfrm>
        </p:grpSpPr>
        <p:sp>
          <p:nvSpPr>
            <p:cNvPr name="Freeform 23" id="23"/>
            <p:cNvSpPr/>
            <p:nvPr/>
          </p:nvSpPr>
          <p:spPr>
            <a:xfrm flipH="false" flipV="false" rot="0">
              <a:off x="0" y="0"/>
              <a:ext cx="5212080" cy="1554480"/>
            </a:xfrm>
            <a:custGeom>
              <a:avLst/>
              <a:gdLst/>
              <a:ahLst/>
              <a:cxnLst/>
              <a:rect r="r" b="b" t="t" l="l"/>
              <a:pathLst>
                <a:path h="1554480" w="5212080">
                  <a:moveTo>
                    <a:pt x="0" y="146304"/>
                  </a:moveTo>
                  <a:cubicBezTo>
                    <a:pt x="0" y="65532"/>
                    <a:pt x="65532" y="0"/>
                    <a:pt x="146304" y="0"/>
                  </a:cubicBezTo>
                  <a:lnTo>
                    <a:pt x="5065776" y="0"/>
                  </a:lnTo>
                  <a:cubicBezTo>
                    <a:pt x="5146548" y="0"/>
                    <a:pt x="5212080" y="65532"/>
                    <a:pt x="5212080" y="146304"/>
                  </a:cubicBezTo>
                  <a:lnTo>
                    <a:pt x="5212080" y="1408176"/>
                  </a:lnTo>
                  <a:cubicBezTo>
                    <a:pt x="5212080" y="1488948"/>
                    <a:pt x="5146548" y="1554480"/>
                    <a:pt x="5065776" y="1554480"/>
                  </a:cubicBezTo>
                  <a:lnTo>
                    <a:pt x="146304" y="1554480"/>
                  </a:lnTo>
                  <a:cubicBezTo>
                    <a:pt x="65532" y="1554480"/>
                    <a:pt x="0" y="1488948"/>
                    <a:pt x="0" y="1408176"/>
                  </a:cubicBezTo>
                  <a:close/>
                </a:path>
              </a:pathLst>
            </a:custGeom>
            <a:solidFill>
              <a:srgbClr val="F4F7FC"/>
            </a:solidFill>
          </p:spPr>
        </p:sp>
      </p:grpSp>
      <p:grpSp>
        <p:nvGrpSpPr>
          <p:cNvPr name="Group 24" id="24"/>
          <p:cNvGrpSpPr/>
          <p:nvPr/>
        </p:nvGrpSpPr>
        <p:grpSpPr>
          <a:xfrm rot="0">
            <a:off x="5321808" y="4457700"/>
            <a:ext cx="3415284" cy="384048"/>
            <a:chOff x="0" y="0"/>
            <a:chExt cx="4553712" cy="512064"/>
          </a:xfrm>
        </p:grpSpPr>
        <p:sp>
          <p:nvSpPr>
            <p:cNvPr name="Freeform 25" id="25"/>
            <p:cNvSpPr/>
            <p:nvPr/>
          </p:nvSpPr>
          <p:spPr>
            <a:xfrm flipH="false" flipV="false" rot="0">
              <a:off x="0" y="0"/>
              <a:ext cx="4553712" cy="512064"/>
            </a:xfrm>
            <a:custGeom>
              <a:avLst/>
              <a:gdLst/>
              <a:ahLst/>
              <a:cxnLst/>
              <a:rect r="r" b="b" t="t" l="l"/>
              <a:pathLst>
                <a:path h="512064" w="4553712">
                  <a:moveTo>
                    <a:pt x="0" y="0"/>
                  </a:moveTo>
                  <a:lnTo>
                    <a:pt x="4553712" y="0"/>
                  </a:lnTo>
                  <a:lnTo>
                    <a:pt x="4553712" y="512064"/>
                  </a:lnTo>
                  <a:lnTo>
                    <a:pt x="0" y="512064"/>
                  </a:lnTo>
                  <a:close/>
                </a:path>
              </a:pathLst>
            </a:custGeom>
            <a:blipFill>
              <a:blip r:embed="rId3">
                <a:alphaModFix amt="0"/>
              </a:blip>
              <a:stretch>
                <a:fillRect l="0" t="-123277" r="0" b="-123277"/>
              </a:stretch>
            </a:blipFill>
          </p:spPr>
        </p:sp>
        <p:sp>
          <p:nvSpPr>
            <p:cNvPr name="TextBox 26" id="26"/>
            <p:cNvSpPr txBox="true"/>
            <p:nvPr/>
          </p:nvSpPr>
          <p:spPr>
            <a:xfrm>
              <a:off x="0" y="-38100"/>
              <a:ext cx="4553712" cy="550164"/>
            </a:xfrm>
            <a:prstGeom prst="rect">
              <a:avLst/>
            </a:prstGeom>
          </p:spPr>
          <p:txBody>
            <a:bodyPr anchor="ctr" rtlCol="false" tIns="0" lIns="0" bIns="0" rIns="0"/>
            <a:lstStyle/>
            <a:p>
              <a:pPr algn="l">
                <a:lnSpc>
                  <a:spcPts val="1800"/>
                </a:lnSpc>
              </a:pPr>
              <a:r>
                <a:rPr lang="en-US" b="true" sz="1500" spc="75">
                  <a:solidFill>
                    <a:srgbClr val="6B7280"/>
                  </a:solidFill>
                  <a:latin typeface="Calibri (MS) Bold"/>
                  <a:ea typeface="Calibri (MS) Bold"/>
                  <a:cs typeface="Calibri (MS) Bold"/>
                  <a:sym typeface="Calibri (MS) Bold"/>
                </a:rPr>
                <a:t>IMPACT</a:t>
              </a:r>
            </a:p>
          </p:txBody>
        </p:sp>
      </p:grpSp>
      <p:sp>
        <p:nvSpPr>
          <p:cNvPr name="TextBox 27" id="27"/>
          <p:cNvSpPr txBox="true"/>
          <p:nvPr/>
        </p:nvSpPr>
        <p:spPr>
          <a:xfrm rot="0">
            <a:off x="5413248" y="4840986"/>
            <a:ext cx="3232404" cy="462534"/>
          </a:xfrm>
          <a:prstGeom prst="rect">
            <a:avLst/>
          </a:prstGeom>
        </p:spPr>
        <p:txBody>
          <a:bodyPr anchor="t" rtlCol="false" tIns="0" lIns="0" bIns="0" rIns="0">
            <a:spAutoFit/>
          </a:bodyPr>
          <a:lstStyle/>
          <a:p>
            <a:pPr algn="l">
              <a:lnSpc>
                <a:spcPts val="3240"/>
              </a:lnSpc>
            </a:pPr>
            <a:r>
              <a:rPr lang="en-US" sz="2700" b="true">
                <a:solidFill>
                  <a:srgbClr val="1E2761"/>
                </a:solidFill>
                <a:latin typeface="Cambria Bold"/>
                <a:ea typeface="Cambria Bold"/>
                <a:cs typeface="Cambria Bold"/>
                <a:sym typeface="Cambria Bold"/>
              </a:rPr>
              <a:t>Low</a:t>
            </a:r>
          </a:p>
        </p:txBody>
      </p:sp>
      <p:grpSp>
        <p:nvGrpSpPr>
          <p:cNvPr name="Group 28" id="28"/>
          <p:cNvGrpSpPr/>
          <p:nvPr/>
        </p:nvGrpSpPr>
        <p:grpSpPr>
          <a:xfrm rot="0">
            <a:off x="9189720" y="4320540"/>
            <a:ext cx="3909060" cy="1165860"/>
            <a:chOff x="0" y="0"/>
            <a:chExt cx="5212080" cy="1554480"/>
          </a:xfrm>
        </p:grpSpPr>
        <p:sp>
          <p:nvSpPr>
            <p:cNvPr name="Freeform 29" id="29"/>
            <p:cNvSpPr/>
            <p:nvPr/>
          </p:nvSpPr>
          <p:spPr>
            <a:xfrm flipH="false" flipV="false" rot="0">
              <a:off x="0" y="0"/>
              <a:ext cx="5212080" cy="1554480"/>
            </a:xfrm>
            <a:custGeom>
              <a:avLst/>
              <a:gdLst/>
              <a:ahLst/>
              <a:cxnLst/>
              <a:rect r="r" b="b" t="t" l="l"/>
              <a:pathLst>
                <a:path h="1554480" w="5212080">
                  <a:moveTo>
                    <a:pt x="0" y="146304"/>
                  </a:moveTo>
                  <a:cubicBezTo>
                    <a:pt x="0" y="65532"/>
                    <a:pt x="65532" y="0"/>
                    <a:pt x="146304" y="0"/>
                  </a:cubicBezTo>
                  <a:lnTo>
                    <a:pt x="5065776" y="0"/>
                  </a:lnTo>
                  <a:cubicBezTo>
                    <a:pt x="5146548" y="0"/>
                    <a:pt x="5212080" y="65532"/>
                    <a:pt x="5212080" y="146304"/>
                  </a:cubicBezTo>
                  <a:lnTo>
                    <a:pt x="5212080" y="1408176"/>
                  </a:lnTo>
                  <a:cubicBezTo>
                    <a:pt x="5212080" y="1488948"/>
                    <a:pt x="5146548" y="1554480"/>
                    <a:pt x="5065776" y="1554480"/>
                  </a:cubicBezTo>
                  <a:lnTo>
                    <a:pt x="146304" y="1554480"/>
                  </a:lnTo>
                  <a:cubicBezTo>
                    <a:pt x="65532" y="1554480"/>
                    <a:pt x="0" y="1488948"/>
                    <a:pt x="0" y="1408176"/>
                  </a:cubicBezTo>
                  <a:close/>
                </a:path>
              </a:pathLst>
            </a:custGeom>
            <a:solidFill>
              <a:srgbClr val="F4F7FC"/>
            </a:solidFill>
          </p:spPr>
        </p:sp>
      </p:grpSp>
      <p:grpSp>
        <p:nvGrpSpPr>
          <p:cNvPr name="Group 30" id="30"/>
          <p:cNvGrpSpPr/>
          <p:nvPr/>
        </p:nvGrpSpPr>
        <p:grpSpPr>
          <a:xfrm rot="0">
            <a:off x="9436608" y="4457700"/>
            <a:ext cx="3415284" cy="384048"/>
            <a:chOff x="0" y="0"/>
            <a:chExt cx="4553712" cy="512064"/>
          </a:xfrm>
        </p:grpSpPr>
        <p:sp>
          <p:nvSpPr>
            <p:cNvPr name="Freeform 31" id="31"/>
            <p:cNvSpPr/>
            <p:nvPr/>
          </p:nvSpPr>
          <p:spPr>
            <a:xfrm flipH="false" flipV="false" rot="0">
              <a:off x="0" y="0"/>
              <a:ext cx="4553712" cy="512064"/>
            </a:xfrm>
            <a:custGeom>
              <a:avLst/>
              <a:gdLst/>
              <a:ahLst/>
              <a:cxnLst/>
              <a:rect r="r" b="b" t="t" l="l"/>
              <a:pathLst>
                <a:path h="512064" w="4553712">
                  <a:moveTo>
                    <a:pt x="0" y="0"/>
                  </a:moveTo>
                  <a:lnTo>
                    <a:pt x="4553712" y="0"/>
                  </a:lnTo>
                  <a:lnTo>
                    <a:pt x="4553712" y="512064"/>
                  </a:lnTo>
                  <a:lnTo>
                    <a:pt x="0" y="512064"/>
                  </a:lnTo>
                  <a:close/>
                </a:path>
              </a:pathLst>
            </a:custGeom>
            <a:blipFill>
              <a:blip r:embed="rId3">
                <a:alphaModFix amt="0"/>
              </a:blip>
              <a:stretch>
                <a:fillRect l="0" t="-123277" r="0" b="-123277"/>
              </a:stretch>
            </a:blipFill>
          </p:spPr>
        </p:sp>
        <p:sp>
          <p:nvSpPr>
            <p:cNvPr name="TextBox 32" id="32"/>
            <p:cNvSpPr txBox="true"/>
            <p:nvPr/>
          </p:nvSpPr>
          <p:spPr>
            <a:xfrm>
              <a:off x="0" y="-38100"/>
              <a:ext cx="4553712" cy="550164"/>
            </a:xfrm>
            <a:prstGeom prst="rect">
              <a:avLst/>
            </a:prstGeom>
          </p:spPr>
          <p:txBody>
            <a:bodyPr anchor="ctr" rtlCol="false" tIns="0" lIns="0" bIns="0" rIns="0"/>
            <a:lstStyle/>
            <a:p>
              <a:pPr algn="l">
                <a:lnSpc>
                  <a:spcPts val="1800"/>
                </a:lnSpc>
              </a:pPr>
              <a:r>
                <a:rPr lang="en-US" b="true" sz="1500" spc="75">
                  <a:solidFill>
                    <a:srgbClr val="6B7280"/>
                  </a:solidFill>
                  <a:latin typeface="Calibri (MS) Bold"/>
                  <a:ea typeface="Calibri (MS) Bold"/>
                  <a:cs typeface="Calibri (MS) Bold"/>
                  <a:sym typeface="Calibri (MS) Bold"/>
                </a:rPr>
                <a:t>RISK RATING</a:t>
              </a:r>
            </a:p>
          </p:txBody>
        </p:sp>
      </p:grpSp>
      <p:sp>
        <p:nvSpPr>
          <p:cNvPr name="TextBox 33" id="33"/>
          <p:cNvSpPr txBox="true"/>
          <p:nvPr/>
        </p:nvSpPr>
        <p:spPr>
          <a:xfrm rot="0">
            <a:off x="9528048" y="4840986"/>
            <a:ext cx="3232404" cy="462534"/>
          </a:xfrm>
          <a:prstGeom prst="rect">
            <a:avLst/>
          </a:prstGeom>
        </p:spPr>
        <p:txBody>
          <a:bodyPr anchor="t" rtlCol="false" tIns="0" lIns="0" bIns="0" rIns="0">
            <a:spAutoFit/>
          </a:bodyPr>
          <a:lstStyle/>
          <a:p>
            <a:pPr algn="l">
              <a:lnSpc>
                <a:spcPts val="3240"/>
              </a:lnSpc>
            </a:pPr>
            <a:r>
              <a:rPr lang="en-US" sz="2700" b="true">
                <a:solidFill>
                  <a:srgbClr val="2E9E6B"/>
                </a:solidFill>
                <a:latin typeface="Cambria Bold"/>
                <a:ea typeface="Cambria Bold"/>
                <a:cs typeface="Cambria Bold"/>
                <a:sym typeface="Cambria Bold"/>
              </a:rPr>
              <a:t>Low</a:t>
            </a:r>
          </a:p>
        </p:txBody>
      </p:sp>
      <p:grpSp>
        <p:nvGrpSpPr>
          <p:cNvPr name="Group 34" id="34"/>
          <p:cNvGrpSpPr/>
          <p:nvPr/>
        </p:nvGrpSpPr>
        <p:grpSpPr>
          <a:xfrm rot="0">
            <a:off x="13304520" y="4320540"/>
            <a:ext cx="3977640" cy="1165860"/>
            <a:chOff x="0" y="0"/>
            <a:chExt cx="5303520" cy="1554480"/>
          </a:xfrm>
        </p:grpSpPr>
        <p:sp>
          <p:nvSpPr>
            <p:cNvPr name="Freeform 35" id="35"/>
            <p:cNvSpPr/>
            <p:nvPr/>
          </p:nvSpPr>
          <p:spPr>
            <a:xfrm flipH="false" flipV="false" rot="0">
              <a:off x="0" y="0"/>
              <a:ext cx="5303520" cy="1554480"/>
            </a:xfrm>
            <a:custGeom>
              <a:avLst/>
              <a:gdLst/>
              <a:ahLst/>
              <a:cxnLst/>
              <a:rect r="r" b="b" t="t" l="l"/>
              <a:pathLst>
                <a:path h="1554480" w="5303520">
                  <a:moveTo>
                    <a:pt x="0" y="146304"/>
                  </a:moveTo>
                  <a:cubicBezTo>
                    <a:pt x="0" y="65532"/>
                    <a:pt x="65532" y="0"/>
                    <a:pt x="146304" y="0"/>
                  </a:cubicBezTo>
                  <a:lnTo>
                    <a:pt x="5157216" y="0"/>
                  </a:lnTo>
                  <a:cubicBezTo>
                    <a:pt x="5237988" y="0"/>
                    <a:pt x="5303520" y="65532"/>
                    <a:pt x="5303520" y="146304"/>
                  </a:cubicBezTo>
                  <a:lnTo>
                    <a:pt x="5303520" y="1408176"/>
                  </a:lnTo>
                  <a:cubicBezTo>
                    <a:pt x="5303520" y="1488948"/>
                    <a:pt x="5237988" y="1554480"/>
                    <a:pt x="5157216" y="1554480"/>
                  </a:cubicBezTo>
                  <a:lnTo>
                    <a:pt x="146304" y="1554480"/>
                  </a:lnTo>
                  <a:cubicBezTo>
                    <a:pt x="65532" y="1554480"/>
                    <a:pt x="0" y="1488948"/>
                    <a:pt x="0" y="1408176"/>
                  </a:cubicBezTo>
                  <a:close/>
                </a:path>
              </a:pathLst>
            </a:custGeom>
            <a:solidFill>
              <a:srgbClr val="0F8A6E"/>
            </a:solidFill>
          </p:spPr>
        </p:sp>
      </p:grpSp>
      <p:grpSp>
        <p:nvGrpSpPr>
          <p:cNvPr name="Group 36" id="36"/>
          <p:cNvGrpSpPr/>
          <p:nvPr/>
        </p:nvGrpSpPr>
        <p:grpSpPr>
          <a:xfrm rot="0">
            <a:off x="13551408" y="4457700"/>
            <a:ext cx="3429000" cy="384048"/>
            <a:chOff x="0" y="0"/>
            <a:chExt cx="4572000" cy="512064"/>
          </a:xfrm>
        </p:grpSpPr>
        <p:sp>
          <p:nvSpPr>
            <p:cNvPr name="Freeform 37" id="37"/>
            <p:cNvSpPr/>
            <p:nvPr/>
          </p:nvSpPr>
          <p:spPr>
            <a:xfrm flipH="false" flipV="false" rot="0">
              <a:off x="0" y="0"/>
              <a:ext cx="4572000" cy="512064"/>
            </a:xfrm>
            <a:custGeom>
              <a:avLst/>
              <a:gdLst/>
              <a:ahLst/>
              <a:cxnLst/>
              <a:rect r="r" b="b" t="t" l="l"/>
              <a:pathLst>
                <a:path h="512064" w="4572000">
                  <a:moveTo>
                    <a:pt x="0" y="0"/>
                  </a:moveTo>
                  <a:lnTo>
                    <a:pt x="4572000" y="0"/>
                  </a:lnTo>
                  <a:lnTo>
                    <a:pt x="4572000" y="512064"/>
                  </a:lnTo>
                  <a:lnTo>
                    <a:pt x="0" y="512064"/>
                  </a:lnTo>
                  <a:close/>
                </a:path>
              </a:pathLst>
            </a:custGeom>
            <a:blipFill>
              <a:blip r:embed="rId3">
                <a:alphaModFix amt="0"/>
              </a:blip>
              <a:stretch>
                <a:fillRect l="0" t="-123973" r="0" b="-123973"/>
              </a:stretch>
            </a:blipFill>
          </p:spPr>
        </p:sp>
        <p:sp>
          <p:nvSpPr>
            <p:cNvPr name="TextBox 38" id="38"/>
            <p:cNvSpPr txBox="true"/>
            <p:nvPr/>
          </p:nvSpPr>
          <p:spPr>
            <a:xfrm>
              <a:off x="0" y="-38100"/>
              <a:ext cx="4572000" cy="550164"/>
            </a:xfrm>
            <a:prstGeom prst="rect">
              <a:avLst/>
            </a:prstGeom>
          </p:spPr>
          <p:txBody>
            <a:bodyPr anchor="ctr" rtlCol="false" tIns="0" lIns="0" bIns="0" rIns="0"/>
            <a:lstStyle/>
            <a:p>
              <a:pPr algn="l">
                <a:lnSpc>
                  <a:spcPts val="1800"/>
                </a:lnSpc>
              </a:pPr>
              <a:r>
                <a:rPr lang="en-US" b="true" sz="1500" spc="75">
                  <a:solidFill>
                    <a:srgbClr val="CADCFC"/>
                  </a:solidFill>
                  <a:latin typeface="Calibri (MS) Bold"/>
                  <a:ea typeface="Calibri (MS) Bold"/>
                  <a:cs typeface="Calibri (MS) Bold"/>
                  <a:sym typeface="Calibri (MS) Bold"/>
                </a:rPr>
                <a:t>RESPONSE</a:t>
              </a:r>
            </a:p>
          </p:txBody>
        </p:sp>
      </p:grpSp>
      <p:sp>
        <p:nvSpPr>
          <p:cNvPr name="TextBox 39" id="39"/>
          <p:cNvSpPr txBox="true"/>
          <p:nvPr/>
        </p:nvSpPr>
        <p:spPr>
          <a:xfrm rot="0">
            <a:off x="13642848" y="4840986"/>
            <a:ext cx="3246120" cy="476250"/>
          </a:xfrm>
          <a:prstGeom prst="rect">
            <a:avLst/>
          </a:prstGeom>
        </p:spPr>
        <p:txBody>
          <a:bodyPr anchor="t" rtlCol="false" tIns="0" lIns="0" bIns="0" rIns="0">
            <a:spAutoFit/>
          </a:bodyPr>
          <a:lstStyle/>
          <a:p>
            <a:pPr algn="l">
              <a:lnSpc>
                <a:spcPts val="3240"/>
              </a:lnSpc>
            </a:pPr>
            <a:r>
              <a:rPr lang="en-US" sz="2700" b="true">
                <a:solidFill>
                  <a:srgbClr val="FFFFFF"/>
                </a:solidFill>
                <a:latin typeface="Cambria Bold"/>
                <a:ea typeface="Cambria Bold"/>
                <a:cs typeface="Cambria Bold"/>
                <a:sym typeface="Cambria Bold"/>
              </a:rPr>
              <a:t>Tolerate</a:t>
            </a:r>
          </a:p>
        </p:txBody>
      </p:sp>
      <p:grpSp>
        <p:nvGrpSpPr>
          <p:cNvPr name="Group 40" id="40"/>
          <p:cNvGrpSpPr/>
          <p:nvPr/>
        </p:nvGrpSpPr>
        <p:grpSpPr>
          <a:xfrm rot="0">
            <a:off x="950595" y="5888355"/>
            <a:ext cx="16341090" cy="2967990"/>
            <a:chOff x="0" y="0"/>
            <a:chExt cx="21788120" cy="3957320"/>
          </a:xfrm>
        </p:grpSpPr>
        <p:sp>
          <p:nvSpPr>
            <p:cNvPr name="Freeform 41" id="41"/>
            <p:cNvSpPr/>
            <p:nvPr/>
          </p:nvSpPr>
          <p:spPr>
            <a:xfrm flipH="false" flipV="false" rot="0">
              <a:off x="0" y="0"/>
              <a:ext cx="21788120" cy="3957320"/>
            </a:xfrm>
            <a:custGeom>
              <a:avLst/>
              <a:gdLst/>
              <a:ahLst/>
              <a:cxnLst/>
              <a:rect r="r" b="b" t="t" l="l"/>
              <a:pathLst>
                <a:path h="3957320" w="21788120">
                  <a:moveTo>
                    <a:pt x="0" y="184023"/>
                  </a:moveTo>
                  <a:cubicBezTo>
                    <a:pt x="0" y="82423"/>
                    <a:pt x="82423" y="0"/>
                    <a:pt x="184023" y="0"/>
                  </a:cubicBezTo>
                  <a:lnTo>
                    <a:pt x="21604097" y="0"/>
                  </a:lnTo>
                  <a:cubicBezTo>
                    <a:pt x="21705697" y="0"/>
                    <a:pt x="21788120" y="82423"/>
                    <a:pt x="21788120" y="184023"/>
                  </a:cubicBezTo>
                  <a:lnTo>
                    <a:pt x="21788120" y="3773297"/>
                  </a:lnTo>
                  <a:cubicBezTo>
                    <a:pt x="21788120" y="3874897"/>
                    <a:pt x="21705697" y="3957320"/>
                    <a:pt x="21604097" y="3957320"/>
                  </a:cubicBezTo>
                  <a:lnTo>
                    <a:pt x="184023" y="3957320"/>
                  </a:lnTo>
                  <a:cubicBezTo>
                    <a:pt x="82423" y="3957320"/>
                    <a:pt x="0" y="3874897"/>
                    <a:pt x="0" y="3773297"/>
                  </a:cubicBezTo>
                  <a:close/>
                </a:path>
              </a:pathLst>
            </a:custGeom>
            <a:solidFill>
              <a:srgbClr val="FBF9F4"/>
            </a:solidFill>
            <a:ln w="19050" cap="sq">
              <a:solidFill>
                <a:srgbClr val="EFE6D2"/>
              </a:solidFill>
              <a:prstDash val="solid"/>
              <a:miter/>
            </a:ln>
          </p:spPr>
        </p:sp>
      </p:grpSp>
      <p:sp>
        <p:nvSpPr>
          <p:cNvPr name="TextBox 42" id="42"/>
          <p:cNvSpPr txBox="true"/>
          <p:nvPr/>
        </p:nvSpPr>
        <p:spPr>
          <a:xfrm rot="0">
            <a:off x="1463040" y="6084570"/>
            <a:ext cx="15316200" cy="2510790"/>
          </a:xfrm>
          <a:prstGeom prst="rect">
            <a:avLst/>
          </a:prstGeom>
        </p:spPr>
        <p:txBody>
          <a:bodyPr anchor="t" rtlCol="false" tIns="0" lIns="0" bIns="0" rIns="0">
            <a:spAutoFit/>
          </a:bodyPr>
          <a:lstStyle/>
          <a:p>
            <a:pPr algn="l">
              <a:lnSpc>
                <a:spcPts val="3402"/>
              </a:lnSpc>
            </a:pPr>
            <a:r>
              <a:rPr lang="en-US" sz="2100">
                <a:solidFill>
                  <a:srgbClr val="23262F"/>
                </a:solidFill>
                <a:latin typeface="Calibri (MS)"/>
                <a:ea typeface="Calibri (MS)"/>
                <a:cs typeface="Calibri (MS)"/>
                <a:sym typeface="Calibri (MS)"/>
              </a:rPr>
              <a:t>Low likelihood of real harm and low impact if it happened — this is worth a quiet policy reminder, not a project. Spending real effort here isn't worth it: Tolerate.</a:t>
            </a:r>
          </a:p>
        </p:txBody>
      </p:sp>
      <p:grpSp>
        <p:nvGrpSpPr>
          <p:cNvPr name="Group 43" id="43"/>
          <p:cNvGrpSpPr/>
          <p:nvPr/>
        </p:nvGrpSpPr>
        <p:grpSpPr>
          <a:xfrm rot="0">
            <a:off x="685800" y="9710928"/>
            <a:ext cx="10972800" cy="411480"/>
            <a:chOff x="0" y="0"/>
            <a:chExt cx="14630400" cy="548640"/>
          </a:xfrm>
        </p:grpSpPr>
        <p:sp>
          <p:nvSpPr>
            <p:cNvPr name="Freeform 44" id="44"/>
            <p:cNvSpPr/>
            <p:nvPr/>
          </p:nvSpPr>
          <p:spPr>
            <a:xfrm flipH="false" flipV="false" rot="0">
              <a:off x="0" y="0"/>
              <a:ext cx="14630400" cy="548640"/>
            </a:xfrm>
            <a:custGeom>
              <a:avLst/>
              <a:gdLst/>
              <a:ahLst/>
              <a:cxnLst/>
              <a:rect r="r" b="b" t="t" l="l"/>
              <a:pathLst>
                <a:path h="548640" w="14630400">
                  <a:moveTo>
                    <a:pt x="0" y="0"/>
                  </a:moveTo>
                  <a:lnTo>
                    <a:pt x="14630400" y="0"/>
                  </a:lnTo>
                  <a:lnTo>
                    <a:pt x="14630400" y="548640"/>
                  </a:lnTo>
                  <a:lnTo>
                    <a:pt x="0" y="548640"/>
                  </a:lnTo>
                  <a:close/>
                </a:path>
              </a:pathLst>
            </a:custGeom>
            <a:blipFill>
              <a:blip r:embed="rId3">
                <a:alphaModFix amt="0"/>
              </a:blip>
              <a:stretch>
                <a:fillRect l="0" t="-469601" r="0" b="-469601"/>
              </a:stretch>
            </a:blipFill>
          </p:spPr>
        </p:sp>
        <p:sp>
          <p:nvSpPr>
            <p:cNvPr name="TextBox 45" id="45"/>
            <p:cNvSpPr txBox="true"/>
            <p:nvPr/>
          </p:nvSpPr>
          <p:spPr>
            <a:xfrm>
              <a:off x="0" y="-38100"/>
              <a:ext cx="14630400" cy="586740"/>
            </a:xfrm>
            <a:prstGeom prst="rect">
              <a:avLst/>
            </a:prstGeom>
          </p:spPr>
          <p:txBody>
            <a:bodyPr anchor="ctr" rtlCol="false" tIns="0" lIns="0" bIns="0" rIns="0"/>
            <a:lstStyle/>
            <a:p>
              <a:pPr algn="l">
                <a:lnSpc>
                  <a:spcPts val="1800"/>
                </a:lnSpc>
              </a:pPr>
              <a:r>
                <a:rPr lang="en-US" sz="1500">
                  <a:solidFill>
                    <a:srgbClr val="6B7280"/>
                  </a:solidFill>
                  <a:latin typeface="Calibri (MS)"/>
                  <a:ea typeface="Calibri (MS)"/>
                  <a:cs typeface="Calibri (MS)"/>
                  <a:sym typeface="Calibri (MS)"/>
                </a:rPr>
                <a:t>Davao del Norte Provincial Government — Cybersecurity Seminar</a:t>
              </a:r>
            </a:p>
          </p:txBody>
        </p:sp>
      </p:grpSp>
      <p:grpSp>
        <p:nvGrpSpPr>
          <p:cNvPr name="Group 46" id="46"/>
          <p:cNvGrpSpPr/>
          <p:nvPr/>
        </p:nvGrpSpPr>
        <p:grpSpPr>
          <a:xfrm rot="0">
            <a:off x="16911828" y="9710928"/>
            <a:ext cx="685800" cy="411480"/>
            <a:chOff x="0" y="0"/>
            <a:chExt cx="914400" cy="548640"/>
          </a:xfrm>
        </p:grpSpPr>
        <p:sp>
          <p:nvSpPr>
            <p:cNvPr name="Freeform 47" id="47"/>
            <p:cNvSpPr/>
            <p:nvPr/>
          </p:nvSpPr>
          <p:spPr>
            <a:xfrm flipH="false" flipV="false" rot="0">
              <a:off x="0" y="0"/>
              <a:ext cx="914400" cy="548640"/>
            </a:xfrm>
            <a:custGeom>
              <a:avLst/>
              <a:gdLst/>
              <a:ahLst/>
              <a:cxnLst/>
              <a:rect r="r" b="b" t="t" l="l"/>
              <a:pathLst>
                <a:path h="548640" w="914400">
                  <a:moveTo>
                    <a:pt x="0" y="0"/>
                  </a:moveTo>
                  <a:lnTo>
                    <a:pt x="914400" y="0"/>
                  </a:lnTo>
                  <a:lnTo>
                    <a:pt x="914400" y="548640"/>
                  </a:lnTo>
                  <a:lnTo>
                    <a:pt x="0" y="548640"/>
                  </a:lnTo>
                  <a:close/>
                </a:path>
              </a:pathLst>
            </a:custGeom>
            <a:blipFill>
              <a:blip r:embed="rId3">
                <a:alphaModFix amt="0"/>
              </a:blip>
              <a:stretch>
                <a:fillRect l="-26982" t="0" r="-26982" b="0"/>
              </a:stretch>
            </a:blipFill>
          </p:spPr>
        </p:sp>
        <p:sp>
          <p:nvSpPr>
            <p:cNvPr name="TextBox 48" id="48"/>
            <p:cNvSpPr txBox="true"/>
            <p:nvPr/>
          </p:nvSpPr>
          <p:spPr>
            <a:xfrm>
              <a:off x="0" y="-38100"/>
              <a:ext cx="914400" cy="586740"/>
            </a:xfrm>
            <a:prstGeom prst="rect">
              <a:avLst/>
            </a:prstGeom>
          </p:spPr>
          <p:txBody>
            <a:bodyPr anchor="ctr" rtlCol="false" tIns="0" lIns="0" bIns="0" rIns="0"/>
            <a:lstStyle/>
            <a:p>
              <a:pPr algn="r">
                <a:lnSpc>
                  <a:spcPts val="1800"/>
                </a:lnSpc>
              </a:pPr>
              <a:r>
                <a:rPr lang="en-US" sz="1500">
                  <a:solidFill>
                    <a:srgbClr val="6B7280"/>
                  </a:solidFill>
                  <a:latin typeface="Calibri (MS)"/>
                  <a:ea typeface="Calibri (MS)"/>
                  <a:cs typeface="Calibri (MS)"/>
                  <a:sym typeface="Calibri (MS)"/>
                </a:rPr>
                <a:t>26</a:t>
              </a:r>
            </a:p>
          </p:txBody>
        </p:sp>
      </p:grpSp>
    </p:spTree>
  </p:cSld>
  <p:clrMapOvr>
    <a:masterClrMapping/>
  </p:clrMapOvr>
</p:sld>
</file>

<file path=ppt/slides/slide3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60120" y="576072"/>
            <a:ext cx="13716000" cy="411480"/>
            <a:chOff x="0" y="0"/>
            <a:chExt cx="18288000" cy="548640"/>
          </a:xfrm>
        </p:grpSpPr>
        <p:sp>
          <p:nvSpPr>
            <p:cNvPr name="Freeform 3" id="3"/>
            <p:cNvSpPr/>
            <p:nvPr/>
          </p:nvSpPr>
          <p:spPr>
            <a:xfrm flipH="false" flipV="false" rot="0">
              <a:off x="0" y="0"/>
              <a:ext cx="18288000" cy="548640"/>
            </a:xfrm>
            <a:custGeom>
              <a:avLst/>
              <a:gdLst/>
              <a:ahLst/>
              <a:cxnLst/>
              <a:rect r="r" b="b" t="t" l="l"/>
              <a:pathLst>
                <a:path h="548640" w="18288000">
                  <a:moveTo>
                    <a:pt x="0" y="0"/>
                  </a:moveTo>
                  <a:lnTo>
                    <a:pt x="18288000" y="0"/>
                  </a:lnTo>
                  <a:lnTo>
                    <a:pt x="18288000" y="548640"/>
                  </a:lnTo>
                  <a:lnTo>
                    <a:pt x="0" y="548640"/>
                  </a:lnTo>
                  <a:close/>
                </a:path>
              </a:pathLst>
            </a:custGeom>
            <a:blipFill>
              <a:blip r:embed="rId3">
                <a:alphaModFix amt="0"/>
              </a:blip>
              <a:stretch>
                <a:fillRect l="0" t="-599501" r="0" b="-599501"/>
              </a:stretch>
            </a:blipFill>
          </p:spPr>
        </p:sp>
        <p:sp>
          <p:nvSpPr>
            <p:cNvPr name="TextBox 4" id="4"/>
            <p:cNvSpPr txBox="true"/>
            <p:nvPr/>
          </p:nvSpPr>
          <p:spPr>
            <a:xfrm>
              <a:off x="0" y="-38100"/>
              <a:ext cx="18288000" cy="586740"/>
            </a:xfrm>
            <a:prstGeom prst="rect">
              <a:avLst/>
            </a:prstGeom>
          </p:spPr>
          <p:txBody>
            <a:bodyPr anchor="ctr" rtlCol="false" tIns="0" lIns="0" bIns="0" rIns="0"/>
            <a:lstStyle/>
            <a:p>
              <a:pPr algn="l">
                <a:lnSpc>
                  <a:spcPts val="2160"/>
                </a:lnSpc>
              </a:pPr>
              <a:r>
                <a:rPr lang="en-US" b="true" sz="1800" spc="225">
                  <a:solidFill>
                    <a:srgbClr val="00B4D8"/>
                  </a:solidFill>
                  <a:latin typeface="Calibri (MS) Bold"/>
                  <a:ea typeface="Calibri (MS) Bold"/>
                  <a:cs typeface="Calibri (MS) Bold"/>
                  <a:sym typeface="Calibri (MS) Bold"/>
                </a:rPr>
                <a:t>RISK MATRIX SORT · SCENARIO</a:t>
              </a:r>
            </a:p>
          </p:txBody>
        </p:sp>
      </p:grpSp>
      <p:grpSp>
        <p:nvGrpSpPr>
          <p:cNvPr name="Group 5" id="5"/>
          <p:cNvGrpSpPr/>
          <p:nvPr/>
        </p:nvGrpSpPr>
        <p:grpSpPr>
          <a:xfrm rot="0">
            <a:off x="960120" y="960120"/>
            <a:ext cx="10972800" cy="754380"/>
            <a:chOff x="0" y="0"/>
            <a:chExt cx="14630400" cy="1005840"/>
          </a:xfrm>
        </p:grpSpPr>
        <p:sp>
          <p:nvSpPr>
            <p:cNvPr name="Freeform 6" id="6"/>
            <p:cNvSpPr/>
            <p:nvPr/>
          </p:nvSpPr>
          <p:spPr>
            <a:xfrm flipH="false" flipV="false" rot="0">
              <a:off x="0" y="0"/>
              <a:ext cx="14630400" cy="1005840"/>
            </a:xfrm>
            <a:custGeom>
              <a:avLst/>
              <a:gdLst/>
              <a:ahLst/>
              <a:cxnLst/>
              <a:rect r="r" b="b" t="t" l="l"/>
              <a:pathLst>
                <a:path h="1005840" w="14630400">
                  <a:moveTo>
                    <a:pt x="0" y="0"/>
                  </a:moveTo>
                  <a:lnTo>
                    <a:pt x="14630400" y="0"/>
                  </a:lnTo>
                  <a:lnTo>
                    <a:pt x="14630400" y="1005840"/>
                  </a:lnTo>
                  <a:lnTo>
                    <a:pt x="0" y="1005840"/>
                  </a:lnTo>
                  <a:close/>
                </a:path>
              </a:pathLst>
            </a:custGeom>
            <a:blipFill>
              <a:blip r:embed="rId3">
                <a:alphaModFix amt="0"/>
              </a:blip>
              <a:stretch>
                <a:fillRect l="0" t="-233418" r="0" b="-233418"/>
              </a:stretch>
            </a:blipFill>
          </p:spPr>
        </p:sp>
        <p:sp>
          <p:nvSpPr>
            <p:cNvPr name="TextBox 7" id="7"/>
            <p:cNvSpPr txBox="true"/>
            <p:nvPr/>
          </p:nvSpPr>
          <p:spPr>
            <a:xfrm>
              <a:off x="0" y="-19050"/>
              <a:ext cx="14630400" cy="1024890"/>
            </a:xfrm>
            <a:prstGeom prst="rect">
              <a:avLst/>
            </a:prstGeom>
          </p:spPr>
          <p:txBody>
            <a:bodyPr anchor="ctr" rtlCol="false" tIns="0" lIns="0" bIns="0" rIns="0"/>
            <a:lstStyle/>
            <a:p>
              <a:pPr algn="l">
                <a:lnSpc>
                  <a:spcPts val="4320"/>
                </a:lnSpc>
              </a:pPr>
              <a:r>
                <a:rPr lang="en-US" sz="3600" b="true">
                  <a:solidFill>
                    <a:srgbClr val="1E2761"/>
                  </a:solidFill>
                  <a:latin typeface="Cambria Bold"/>
                  <a:ea typeface="Cambria Bold"/>
                  <a:cs typeface="Cambria Bold"/>
                  <a:sym typeface="Cambria Bold"/>
                </a:rPr>
                <a:t>Scenario 7</a:t>
              </a:r>
            </a:p>
          </p:txBody>
        </p:sp>
      </p:grpSp>
      <p:grpSp>
        <p:nvGrpSpPr>
          <p:cNvPr name="Group 8" id="8"/>
          <p:cNvGrpSpPr/>
          <p:nvPr/>
        </p:nvGrpSpPr>
        <p:grpSpPr>
          <a:xfrm rot="0">
            <a:off x="960120" y="1645920"/>
            <a:ext cx="8229600" cy="411480"/>
            <a:chOff x="0" y="0"/>
            <a:chExt cx="10972800" cy="548640"/>
          </a:xfrm>
        </p:grpSpPr>
        <p:sp>
          <p:nvSpPr>
            <p:cNvPr name="Freeform 9" id="9"/>
            <p:cNvSpPr/>
            <p:nvPr/>
          </p:nvSpPr>
          <p:spPr>
            <a:xfrm flipH="false" flipV="false" rot="0">
              <a:off x="0" y="0"/>
              <a:ext cx="10972800" cy="548640"/>
            </a:xfrm>
            <a:custGeom>
              <a:avLst/>
              <a:gdLst/>
              <a:ahLst/>
              <a:cxnLst/>
              <a:rect r="r" b="b" t="t" l="l"/>
              <a:pathLst>
                <a:path h="548640" w="10972800">
                  <a:moveTo>
                    <a:pt x="0" y="0"/>
                  </a:moveTo>
                  <a:lnTo>
                    <a:pt x="10972800" y="0"/>
                  </a:lnTo>
                  <a:lnTo>
                    <a:pt x="10972800" y="548640"/>
                  </a:lnTo>
                  <a:lnTo>
                    <a:pt x="0" y="548640"/>
                  </a:lnTo>
                  <a:close/>
                </a:path>
              </a:pathLst>
            </a:custGeom>
            <a:blipFill>
              <a:blip r:embed="rId3">
                <a:alphaModFix amt="0"/>
              </a:blip>
              <a:stretch>
                <a:fillRect l="0" t="-339700" r="0" b="-339700"/>
              </a:stretch>
            </a:blipFill>
          </p:spPr>
        </p:sp>
        <p:sp>
          <p:nvSpPr>
            <p:cNvPr name="TextBox 10" id="10"/>
            <p:cNvSpPr txBox="true"/>
            <p:nvPr/>
          </p:nvSpPr>
          <p:spPr>
            <a:xfrm>
              <a:off x="0" y="-28575"/>
              <a:ext cx="10972800" cy="577215"/>
            </a:xfrm>
            <a:prstGeom prst="rect">
              <a:avLst/>
            </a:prstGeom>
          </p:spPr>
          <p:txBody>
            <a:bodyPr anchor="ctr" rtlCol="false" tIns="0" lIns="0" bIns="0" rIns="0"/>
            <a:lstStyle/>
            <a:p>
              <a:pPr algn="l">
                <a:lnSpc>
                  <a:spcPts val="1980"/>
                </a:lnSpc>
              </a:pPr>
              <a:r>
                <a:rPr lang="en-US" sz="1650">
                  <a:solidFill>
                    <a:srgbClr val="6B7280"/>
                  </a:solidFill>
                  <a:latin typeface="Calibri (MS)"/>
                  <a:ea typeface="Calibri (MS)"/>
                  <a:cs typeface="Calibri (MS)"/>
                  <a:sym typeface="Calibri (MS)"/>
                </a:rPr>
                <a:t>7 of 8</a:t>
              </a:r>
            </a:p>
          </p:txBody>
        </p:sp>
      </p:grpSp>
      <p:grpSp>
        <p:nvGrpSpPr>
          <p:cNvPr name="Group 11" id="11"/>
          <p:cNvGrpSpPr/>
          <p:nvPr/>
        </p:nvGrpSpPr>
        <p:grpSpPr>
          <a:xfrm rot="0">
            <a:off x="960120" y="2194560"/>
            <a:ext cx="16322040" cy="2125980"/>
            <a:chOff x="0" y="0"/>
            <a:chExt cx="21762720" cy="2834640"/>
          </a:xfrm>
        </p:grpSpPr>
        <p:sp>
          <p:nvSpPr>
            <p:cNvPr name="Freeform 12" id="12"/>
            <p:cNvSpPr/>
            <p:nvPr/>
          </p:nvSpPr>
          <p:spPr>
            <a:xfrm flipH="false" flipV="false" rot="0">
              <a:off x="0" y="0"/>
              <a:ext cx="21762720" cy="2834640"/>
            </a:xfrm>
            <a:custGeom>
              <a:avLst/>
              <a:gdLst/>
              <a:ahLst/>
              <a:cxnLst/>
              <a:rect r="r" b="b" t="t" l="l"/>
              <a:pathLst>
                <a:path h="2834640" w="21762720">
                  <a:moveTo>
                    <a:pt x="0" y="182880"/>
                  </a:moveTo>
                  <a:cubicBezTo>
                    <a:pt x="0" y="81915"/>
                    <a:pt x="81915" y="0"/>
                    <a:pt x="182880" y="0"/>
                  </a:cubicBezTo>
                  <a:lnTo>
                    <a:pt x="21579839" y="0"/>
                  </a:lnTo>
                  <a:cubicBezTo>
                    <a:pt x="21680804" y="0"/>
                    <a:pt x="21762720" y="81915"/>
                    <a:pt x="21762720" y="182880"/>
                  </a:cubicBezTo>
                  <a:lnTo>
                    <a:pt x="21762720" y="2651760"/>
                  </a:lnTo>
                  <a:cubicBezTo>
                    <a:pt x="21762720" y="2752725"/>
                    <a:pt x="21680804" y="2834640"/>
                    <a:pt x="21579839" y="2834640"/>
                  </a:cubicBezTo>
                  <a:lnTo>
                    <a:pt x="182880" y="2834640"/>
                  </a:lnTo>
                  <a:cubicBezTo>
                    <a:pt x="81915" y="2834640"/>
                    <a:pt x="0" y="2752725"/>
                    <a:pt x="0" y="2651760"/>
                  </a:cubicBezTo>
                  <a:close/>
                </a:path>
              </a:pathLst>
            </a:custGeom>
            <a:solidFill>
              <a:srgbClr val="F4F7FC"/>
            </a:solidFill>
          </p:spPr>
        </p:sp>
      </p:grpSp>
      <p:grpSp>
        <p:nvGrpSpPr>
          <p:cNvPr name="Group 13" id="13"/>
          <p:cNvGrpSpPr/>
          <p:nvPr/>
        </p:nvGrpSpPr>
        <p:grpSpPr>
          <a:xfrm rot="0">
            <a:off x="1371600" y="2441448"/>
            <a:ext cx="15499080" cy="1645920"/>
            <a:chOff x="0" y="0"/>
            <a:chExt cx="20665440" cy="2194560"/>
          </a:xfrm>
        </p:grpSpPr>
        <p:sp>
          <p:nvSpPr>
            <p:cNvPr name="Freeform 14" id="14"/>
            <p:cNvSpPr/>
            <p:nvPr/>
          </p:nvSpPr>
          <p:spPr>
            <a:xfrm flipH="false" flipV="false" rot="0">
              <a:off x="0" y="0"/>
              <a:ext cx="20665439" cy="2194560"/>
            </a:xfrm>
            <a:custGeom>
              <a:avLst/>
              <a:gdLst/>
              <a:ahLst/>
              <a:cxnLst/>
              <a:rect r="r" b="b" t="t" l="l"/>
              <a:pathLst>
                <a:path h="2194560" w="20665439">
                  <a:moveTo>
                    <a:pt x="0" y="0"/>
                  </a:moveTo>
                  <a:lnTo>
                    <a:pt x="20665439" y="0"/>
                  </a:lnTo>
                  <a:lnTo>
                    <a:pt x="20665439" y="2194560"/>
                  </a:lnTo>
                  <a:lnTo>
                    <a:pt x="0" y="2194560"/>
                  </a:lnTo>
                  <a:close/>
                </a:path>
              </a:pathLst>
            </a:custGeom>
            <a:blipFill>
              <a:blip r:embed="rId3">
                <a:alphaModFix amt="0"/>
              </a:blip>
              <a:stretch>
                <a:fillRect l="0" t="-133484" r="0" b="-133484"/>
              </a:stretch>
            </a:blipFill>
          </p:spPr>
        </p:sp>
        <p:sp>
          <p:nvSpPr>
            <p:cNvPr name="TextBox 15" id="15"/>
            <p:cNvSpPr txBox="true"/>
            <p:nvPr/>
          </p:nvSpPr>
          <p:spPr>
            <a:xfrm>
              <a:off x="0" y="-85725"/>
              <a:ext cx="20665440" cy="2280285"/>
            </a:xfrm>
            <a:prstGeom prst="rect">
              <a:avLst/>
            </a:prstGeom>
          </p:spPr>
          <p:txBody>
            <a:bodyPr anchor="ctr" rtlCol="false" tIns="0" lIns="0" bIns="0" rIns="0"/>
            <a:lstStyle/>
            <a:p>
              <a:pPr algn="l">
                <a:lnSpc>
                  <a:spcPts val="3600"/>
                </a:lnSpc>
              </a:pPr>
              <a:r>
                <a:rPr lang="en-US" sz="2400" i="true">
                  <a:solidFill>
                    <a:srgbClr val="23262F"/>
                  </a:solidFill>
                  <a:latin typeface="Cambria Italics"/>
                  <a:ea typeface="Cambria Italics"/>
                  <a:cs typeface="Cambria Italics"/>
                  <a:sym typeface="Cambria Italics"/>
                </a:rPr>
                <a:t>“An outsourced IT contractor requires remote access to your network to maintain your servers, under a signed service agreement.”</a:t>
              </a:r>
            </a:p>
          </p:txBody>
        </p:sp>
      </p:grpSp>
      <p:grpSp>
        <p:nvGrpSpPr>
          <p:cNvPr name="Group 16" id="16"/>
          <p:cNvGrpSpPr/>
          <p:nvPr/>
        </p:nvGrpSpPr>
        <p:grpSpPr>
          <a:xfrm rot="0">
            <a:off x="960120" y="4594860"/>
            <a:ext cx="16322040" cy="685800"/>
            <a:chOff x="0" y="0"/>
            <a:chExt cx="21762720" cy="914400"/>
          </a:xfrm>
        </p:grpSpPr>
        <p:sp>
          <p:nvSpPr>
            <p:cNvPr name="Freeform 17" id="17"/>
            <p:cNvSpPr/>
            <p:nvPr/>
          </p:nvSpPr>
          <p:spPr>
            <a:xfrm flipH="false" flipV="false" rot="0">
              <a:off x="0" y="0"/>
              <a:ext cx="21762720" cy="914400"/>
            </a:xfrm>
            <a:custGeom>
              <a:avLst/>
              <a:gdLst/>
              <a:ahLst/>
              <a:cxnLst/>
              <a:rect r="r" b="b" t="t" l="l"/>
              <a:pathLst>
                <a:path h="914400" w="21762720">
                  <a:moveTo>
                    <a:pt x="0" y="0"/>
                  </a:moveTo>
                  <a:lnTo>
                    <a:pt x="21762720" y="0"/>
                  </a:lnTo>
                  <a:lnTo>
                    <a:pt x="21762720" y="914400"/>
                  </a:lnTo>
                  <a:lnTo>
                    <a:pt x="0" y="914400"/>
                  </a:lnTo>
                  <a:close/>
                </a:path>
              </a:pathLst>
            </a:custGeom>
            <a:blipFill>
              <a:blip r:embed="rId3">
                <a:alphaModFix amt="0"/>
              </a:blip>
              <a:stretch>
                <a:fillRect l="0" t="-413743" r="0" b="-413743"/>
              </a:stretch>
            </a:blipFill>
          </p:spPr>
        </p:sp>
        <p:sp>
          <p:nvSpPr>
            <p:cNvPr name="TextBox 18" id="18"/>
            <p:cNvSpPr txBox="true"/>
            <p:nvPr/>
          </p:nvSpPr>
          <p:spPr>
            <a:xfrm>
              <a:off x="0" y="-47625"/>
              <a:ext cx="21762720" cy="962025"/>
            </a:xfrm>
            <a:prstGeom prst="rect">
              <a:avLst/>
            </a:prstGeom>
          </p:spPr>
          <p:txBody>
            <a:bodyPr anchor="ctr" rtlCol="false" tIns="0" lIns="0" bIns="0" rIns="0"/>
            <a:lstStyle/>
            <a:p>
              <a:pPr algn="ctr">
                <a:lnSpc>
                  <a:spcPts val="2520"/>
                </a:lnSpc>
              </a:pPr>
              <a:r>
                <a:rPr lang="en-US" sz="2100" i="true">
                  <a:solidFill>
                    <a:srgbClr val="6B7280"/>
                  </a:solidFill>
                  <a:latin typeface="Calibri (MS) Italics"/>
                  <a:ea typeface="Calibri (MS) Italics"/>
                  <a:cs typeface="Calibri (MS) Italics"/>
                  <a:sym typeface="Calibri (MS) Italics"/>
                </a:rPr>
                <a:t>Rate the likelihood, rate the impact, then pick a response. Discuss, then we'll reveal the answer.</a:t>
              </a:r>
            </a:p>
          </p:txBody>
        </p:sp>
      </p:grpSp>
      <p:grpSp>
        <p:nvGrpSpPr>
          <p:cNvPr name="Group 19" id="19"/>
          <p:cNvGrpSpPr/>
          <p:nvPr/>
        </p:nvGrpSpPr>
        <p:grpSpPr>
          <a:xfrm rot="0">
            <a:off x="960120" y="5486400"/>
            <a:ext cx="16322040" cy="384048"/>
            <a:chOff x="0" y="0"/>
            <a:chExt cx="21762720" cy="512064"/>
          </a:xfrm>
        </p:grpSpPr>
        <p:sp>
          <p:nvSpPr>
            <p:cNvPr name="Freeform 20" id="20"/>
            <p:cNvSpPr/>
            <p:nvPr/>
          </p:nvSpPr>
          <p:spPr>
            <a:xfrm flipH="false" flipV="false" rot="0">
              <a:off x="0" y="0"/>
              <a:ext cx="21762720" cy="512064"/>
            </a:xfrm>
            <a:custGeom>
              <a:avLst/>
              <a:gdLst/>
              <a:ahLst/>
              <a:cxnLst/>
              <a:rect r="r" b="b" t="t" l="l"/>
              <a:pathLst>
                <a:path h="512064" w="21762720">
                  <a:moveTo>
                    <a:pt x="0" y="0"/>
                  </a:moveTo>
                  <a:lnTo>
                    <a:pt x="21762720" y="0"/>
                  </a:lnTo>
                  <a:lnTo>
                    <a:pt x="21762720" y="512064"/>
                  </a:lnTo>
                  <a:lnTo>
                    <a:pt x="0" y="512064"/>
                  </a:lnTo>
                  <a:close/>
                </a:path>
              </a:pathLst>
            </a:custGeom>
            <a:blipFill>
              <a:blip r:embed="rId3">
                <a:alphaModFix amt="0"/>
              </a:blip>
              <a:stretch>
                <a:fillRect l="0" t="-778114" r="0" b="-778114"/>
              </a:stretch>
            </a:blipFill>
          </p:spPr>
        </p:sp>
        <p:sp>
          <p:nvSpPr>
            <p:cNvPr name="TextBox 21" id="21"/>
            <p:cNvSpPr txBox="true"/>
            <p:nvPr/>
          </p:nvSpPr>
          <p:spPr>
            <a:xfrm>
              <a:off x="0" y="-19050"/>
              <a:ext cx="21762720" cy="531114"/>
            </a:xfrm>
            <a:prstGeom prst="rect">
              <a:avLst/>
            </a:prstGeom>
          </p:spPr>
          <p:txBody>
            <a:bodyPr anchor="ctr" rtlCol="false" tIns="0" lIns="0" bIns="0" rIns="0"/>
            <a:lstStyle/>
            <a:p>
              <a:pPr algn="ctr">
                <a:lnSpc>
                  <a:spcPts val="1889"/>
                </a:lnSpc>
              </a:pPr>
              <a:r>
                <a:rPr lang="en-US" b="true" sz="1575" spc="74">
                  <a:solidFill>
                    <a:srgbClr val="6B7280"/>
                  </a:solidFill>
                  <a:latin typeface="Calibri (MS) Bold"/>
                  <a:ea typeface="Calibri (MS) Bold"/>
                  <a:cs typeface="Calibri (MS) Bold"/>
                  <a:sym typeface="Calibri (MS) Bold"/>
                </a:rPr>
                <a:t>SCALE FOR LIKELIHOOD &amp; IMPACT</a:t>
              </a:r>
            </a:p>
          </p:txBody>
        </p:sp>
      </p:grpSp>
      <p:grpSp>
        <p:nvGrpSpPr>
          <p:cNvPr name="Group 22" id="22"/>
          <p:cNvGrpSpPr/>
          <p:nvPr/>
        </p:nvGrpSpPr>
        <p:grpSpPr>
          <a:xfrm rot="0">
            <a:off x="3371469" y="5915787"/>
            <a:ext cx="3585210" cy="773430"/>
            <a:chOff x="0" y="0"/>
            <a:chExt cx="4780280" cy="1031240"/>
          </a:xfrm>
        </p:grpSpPr>
        <p:sp>
          <p:nvSpPr>
            <p:cNvPr name="Freeform 23" id="23"/>
            <p:cNvSpPr/>
            <p:nvPr/>
          </p:nvSpPr>
          <p:spPr>
            <a:xfrm flipH="false" flipV="false" rot="0">
              <a:off x="0" y="0"/>
              <a:ext cx="4780280" cy="1031240"/>
            </a:xfrm>
            <a:custGeom>
              <a:avLst/>
              <a:gdLst/>
              <a:ahLst/>
              <a:cxnLst/>
              <a:rect r="r" b="b" t="t" l="l"/>
              <a:pathLst>
                <a:path h="1031240" w="4780280">
                  <a:moveTo>
                    <a:pt x="0" y="168783"/>
                  </a:moveTo>
                  <a:cubicBezTo>
                    <a:pt x="0" y="75565"/>
                    <a:pt x="75565" y="0"/>
                    <a:pt x="168783" y="0"/>
                  </a:cubicBezTo>
                  <a:lnTo>
                    <a:pt x="4611497" y="0"/>
                  </a:lnTo>
                  <a:cubicBezTo>
                    <a:pt x="4704715" y="0"/>
                    <a:pt x="4780280" y="75565"/>
                    <a:pt x="4780280" y="168783"/>
                  </a:cubicBezTo>
                  <a:lnTo>
                    <a:pt x="4780280" y="862457"/>
                  </a:lnTo>
                  <a:cubicBezTo>
                    <a:pt x="4780280" y="955675"/>
                    <a:pt x="4704715" y="1031240"/>
                    <a:pt x="4611497" y="1031240"/>
                  </a:cubicBezTo>
                  <a:lnTo>
                    <a:pt x="168783" y="1031240"/>
                  </a:lnTo>
                  <a:cubicBezTo>
                    <a:pt x="75565" y="1031240"/>
                    <a:pt x="0" y="955675"/>
                    <a:pt x="0" y="862457"/>
                  </a:cubicBezTo>
                  <a:close/>
                </a:path>
              </a:pathLst>
            </a:custGeom>
            <a:solidFill>
              <a:srgbClr val="F4F7FC"/>
            </a:solidFill>
            <a:ln w="19050" cap="sq">
              <a:solidFill>
                <a:srgbClr val="D7DCEC"/>
              </a:solidFill>
              <a:prstDash val="solid"/>
              <a:miter/>
            </a:ln>
          </p:spPr>
        </p:sp>
      </p:grpSp>
      <p:grpSp>
        <p:nvGrpSpPr>
          <p:cNvPr name="Group 24" id="24"/>
          <p:cNvGrpSpPr/>
          <p:nvPr/>
        </p:nvGrpSpPr>
        <p:grpSpPr>
          <a:xfrm rot="0">
            <a:off x="3380994" y="5925312"/>
            <a:ext cx="3566160" cy="754380"/>
            <a:chOff x="0" y="0"/>
            <a:chExt cx="4754880" cy="1005840"/>
          </a:xfrm>
        </p:grpSpPr>
        <p:sp>
          <p:nvSpPr>
            <p:cNvPr name="Freeform 25" id="25"/>
            <p:cNvSpPr/>
            <p:nvPr/>
          </p:nvSpPr>
          <p:spPr>
            <a:xfrm flipH="false" flipV="false" rot="0">
              <a:off x="0" y="0"/>
              <a:ext cx="4754880" cy="1005840"/>
            </a:xfrm>
            <a:custGeom>
              <a:avLst/>
              <a:gdLst/>
              <a:ahLst/>
              <a:cxnLst/>
              <a:rect r="r" b="b" t="t" l="l"/>
              <a:pathLst>
                <a:path h="1005840" w="4754880">
                  <a:moveTo>
                    <a:pt x="0" y="0"/>
                  </a:moveTo>
                  <a:lnTo>
                    <a:pt x="4754880" y="0"/>
                  </a:lnTo>
                  <a:lnTo>
                    <a:pt x="4754880" y="1005840"/>
                  </a:lnTo>
                  <a:lnTo>
                    <a:pt x="0" y="1005840"/>
                  </a:lnTo>
                  <a:close/>
                </a:path>
              </a:pathLst>
            </a:custGeom>
            <a:blipFill>
              <a:blip r:embed="rId3">
                <a:alphaModFix amt="0"/>
              </a:blip>
              <a:stretch>
                <a:fillRect l="0" t="-42111" r="0" b="-42111"/>
              </a:stretch>
            </a:blipFill>
          </p:spPr>
        </p:sp>
        <p:sp>
          <p:nvSpPr>
            <p:cNvPr name="TextBox 26" id="26"/>
            <p:cNvSpPr txBox="true"/>
            <p:nvPr/>
          </p:nvSpPr>
          <p:spPr>
            <a:xfrm>
              <a:off x="0" y="-47625"/>
              <a:ext cx="4754880" cy="1053465"/>
            </a:xfrm>
            <a:prstGeom prst="rect">
              <a:avLst/>
            </a:prstGeom>
          </p:spPr>
          <p:txBody>
            <a:bodyPr anchor="ctr" rtlCol="false" tIns="0" lIns="0" bIns="0" rIns="0"/>
            <a:lstStyle/>
            <a:p>
              <a:pPr algn="ctr">
                <a:lnSpc>
                  <a:spcPts val="2340"/>
                </a:lnSpc>
              </a:pPr>
              <a:r>
                <a:rPr lang="en-US" sz="1950">
                  <a:solidFill>
                    <a:srgbClr val="6B7280"/>
                  </a:solidFill>
                  <a:latin typeface="Calibri (MS)"/>
                  <a:ea typeface="Calibri (MS)"/>
                  <a:cs typeface="Calibri (MS)"/>
                  <a:sym typeface="Calibri (MS)"/>
                </a:rPr>
                <a:t>Low</a:t>
              </a:r>
            </a:p>
          </p:txBody>
        </p:sp>
      </p:grpSp>
      <p:grpSp>
        <p:nvGrpSpPr>
          <p:cNvPr name="Group 27" id="27"/>
          <p:cNvGrpSpPr/>
          <p:nvPr/>
        </p:nvGrpSpPr>
        <p:grpSpPr>
          <a:xfrm rot="0">
            <a:off x="7349109" y="5915787"/>
            <a:ext cx="3585210" cy="773430"/>
            <a:chOff x="0" y="0"/>
            <a:chExt cx="4780280" cy="1031240"/>
          </a:xfrm>
        </p:grpSpPr>
        <p:sp>
          <p:nvSpPr>
            <p:cNvPr name="Freeform 28" id="28"/>
            <p:cNvSpPr/>
            <p:nvPr/>
          </p:nvSpPr>
          <p:spPr>
            <a:xfrm flipH="false" flipV="false" rot="0">
              <a:off x="0" y="0"/>
              <a:ext cx="4780280" cy="1031240"/>
            </a:xfrm>
            <a:custGeom>
              <a:avLst/>
              <a:gdLst/>
              <a:ahLst/>
              <a:cxnLst/>
              <a:rect r="r" b="b" t="t" l="l"/>
              <a:pathLst>
                <a:path h="1031240" w="4780280">
                  <a:moveTo>
                    <a:pt x="0" y="168783"/>
                  </a:moveTo>
                  <a:cubicBezTo>
                    <a:pt x="0" y="75565"/>
                    <a:pt x="75565" y="0"/>
                    <a:pt x="168783" y="0"/>
                  </a:cubicBezTo>
                  <a:lnTo>
                    <a:pt x="4611497" y="0"/>
                  </a:lnTo>
                  <a:cubicBezTo>
                    <a:pt x="4704715" y="0"/>
                    <a:pt x="4780280" y="75565"/>
                    <a:pt x="4780280" y="168783"/>
                  </a:cubicBezTo>
                  <a:lnTo>
                    <a:pt x="4780280" y="862457"/>
                  </a:lnTo>
                  <a:cubicBezTo>
                    <a:pt x="4780280" y="955675"/>
                    <a:pt x="4704715" y="1031240"/>
                    <a:pt x="4611497" y="1031240"/>
                  </a:cubicBezTo>
                  <a:lnTo>
                    <a:pt x="168783" y="1031240"/>
                  </a:lnTo>
                  <a:cubicBezTo>
                    <a:pt x="75565" y="1031240"/>
                    <a:pt x="0" y="955675"/>
                    <a:pt x="0" y="862457"/>
                  </a:cubicBezTo>
                  <a:close/>
                </a:path>
              </a:pathLst>
            </a:custGeom>
            <a:solidFill>
              <a:srgbClr val="F4F7FC"/>
            </a:solidFill>
            <a:ln w="19050" cap="sq">
              <a:solidFill>
                <a:srgbClr val="D7DCEC"/>
              </a:solidFill>
              <a:prstDash val="solid"/>
              <a:miter/>
            </a:ln>
          </p:spPr>
        </p:sp>
      </p:grpSp>
      <p:grpSp>
        <p:nvGrpSpPr>
          <p:cNvPr name="Group 29" id="29"/>
          <p:cNvGrpSpPr/>
          <p:nvPr/>
        </p:nvGrpSpPr>
        <p:grpSpPr>
          <a:xfrm rot="0">
            <a:off x="7358634" y="5925312"/>
            <a:ext cx="3566160" cy="754380"/>
            <a:chOff x="0" y="0"/>
            <a:chExt cx="4754880" cy="1005840"/>
          </a:xfrm>
        </p:grpSpPr>
        <p:sp>
          <p:nvSpPr>
            <p:cNvPr name="Freeform 30" id="30"/>
            <p:cNvSpPr/>
            <p:nvPr/>
          </p:nvSpPr>
          <p:spPr>
            <a:xfrm flipH="false" flipV="false" rot="0">
              <a:off x="0" y="0"/>
              <a:ext cx="4754880" cy="1005840"/>
            </a:xfrm>
            <a:custGeom>
              <a:avLst/>
              <a:gdLst/>
              <a:ahLst/>
              <a:cxnLst/>
              <a:rect r="r" b="b" t="t" l="l"/>
              <a:pathLst>
                <a:path h="1005840" w="4754880">
                  <a:moveTo>
                    <a:pt x="0" y="0"/>
                  </a:moveTo>
                  <a:lnTo>
                    <a:pt x="4754880" y="0"/>
                  </a:lnTo>
                  <a:lnTo>
                    <a:pt x="4754880" y="1005840"/>
                  </a:lnTo>
                  <a:lnTo>
                    <a:pt x="0" y="1005840"/>
                  </a:lnTo>
                  <a:close/>
                </a:path>
              </a:pathLst>
            </a:custGeom>
            <a:blipFill>
              <a:blip r:embed="rId3">
                <a:alphaModFix amt="0"/>
              </a:blip>
              <a:stretch>
                <a:fillRect l="0" t="-42111" r="0" b="-42111"/>
              </a:stretch>
            </a:blipFill>
          </p:spPr>
        </p:sp>
        <p:sp>
          <p:nvSpPr>
            <p:cNvPr name="TextBox 31" id="31"/>
            <p:cNvSpPr txBox="true"/>
            <p:nvPr/>
          </p:nvSpPr>
          <p:spPr>
            <a:xfrm>
              <a:off x="0" y="-47625"/>
              <a:ext cx="4754880" cy="1053465"/>
            </a:xfrm>
            <a:prstGeom prst="rect">
              <a:avLst/>
            </a:prstGeom>
          </p:spPr>
          <p:txBody>
            <a:bodyPr anchor="ctr" rtlCol="false" tIns="0" lIns="0" bIns="0" rIns="0"/>
            <a:lstStyle/>
            <a:p>
              <a:pPr algn="ctr">
                <a:lnSpc>
                  <a:spcPts val="2340"/>
                </a:lnSpc>
              </a:pPr>
              <a:r>
                <a:rPr lang="en-US" sz="1950">
                  <a:solidFill>
                    <a:srgbClr val="6B7280"/>
                  </a:solidFill>
                  <a:latin typeface="Calibri (MS)"/>
                  <a:ea typeface="Calibri (MS)"/>
                  <a:cs typeface="Calibri (MS)"/>
                  <a:sym typeface="Calibri (MS)"/>
                </a:rPr>
                <a:t>Medium</a:t>
              </a:r>
            </a:p>
          </p:txBody>
        </p:sp>
      </p:grpSp>
      <p:grpSp>
        <p:nvGrpSpPr>
          <p:cNvPr name="Group 32" id="32"/>
          <p:cNvGrpSpPr/>
          <p:nvPr/>
        </p:nvGrpSpPr>
        <p:grpSpPr>
          <a:xfrm rot="0">
            <a:off x="11326749" y="5915787"/>
            <a:ext cx="3585210" cy="773430"/>
            <a:chOff x="0" y="0"/>
            <a:chExt cx="4780280" cy="1031240"/>
          </a:xfrm>
        </p:grpSpPr>
        <p:sp>
          <p:nvSpPr>
            <p:cNvPr name="Freeform 33" id="33"/>
            <p:cNvSpPr/>
            <p:nvPr/>
          </p:nvSpPr>
          <p:spPr>
            <a:xfrm flipH="false" flipV="false" rot="0">
              <a:off x="0" y="0"/>
              <a:ext cx="4780280" cy="1031240"/>
            </a:xfrm>
            <a:custGeom>
              <a:avLst/>
              <a:gdLst/>
              <a:ahLst/>
              <a:cxnLst/>
              <a:rect r="r" b="b" t="t" l="l"/>
              <a:pathLst>
                <a:path h="1031240" w="4780280">
                  <a:moveTo>
                    <a:pt x="0" y="168783"/>
                  </a:moveTo>
                  <a:cubicBezTo>
                    <a:pt x="0" y="75565"/>
                    <a:pt x="75565" y="0"/>
                    <a:pt x="168783" y="0"/>
                  </a:cubicBezTo>
                  <a:lnTo>
                    <a:pt x="4611497" y="0"/>
                  </a:lnTo>
                  <a:cubicBezTo>
                    <a:pt x="4704715" y="0"/>
                    <a:pt x="4780280" y="75565"/>
                    <a:pt x="4780280" y="168783"/>
                  </a:cubicBezTo>
                  <a:lnTo>
                    <a:pt x="4780280" y="862457"/>
                  </a:lnTo>
                  <a:cubicBezTo>
                    <a:pt x="4780280" y="955675"/>
                    <a:pt x="4704715" y="1031240"/>
                    <a:pt x="4611497" y="1031240"/>
                  </a:cubicBezTo>
                  <a:lnTo>
                    <a:pt x="168783" y="1031240"/>
                  </a:lnTo>
                  <a:cubicBezTo>
                    <a:pt x="75565" y="1031240"/>
                    <a:pt x="0" y="955675"/>
                    <a:pt x="0" y="862457"/>
                  </a:cubicBezTo>
                  <a:close/>
                </a:path>
              </a:pathLst>
            </a:custGeom>
            <a:solidFill>
              <a:srgbClr val="F4F7FC"/>
            </a:solidFill>
            <a:ln w="19050" cap="sq">
              <a:solidFill>
                <a:srgbClr val="D7DCEC"/>
              </a:solidFill>
              <a:prstDash val="solid"/>
              <a:miter/>
            </a:ln>
          </p:spPr>
        </p:sp>
      </p:grpSp>
      <p:grpSp>
        <p:nvGrpSpPr>
          <p:cNvPr name="Group 34" id="34"/>
          <p:cNvGrpSpPr/>
          <p:nvPr/>
        </p:nvGrpSpPr>
        <p:grpSpPr>
          <a:xfrm rot="0">
            <a:off x="11336274" y="5925312"/>
            <a:ext cx="3566160" cy="754380"/>
            <a:chOff x="0" y="0"/>
            <a:chExt cx="4754880" cy="1005840"/>
          </a:xfrm>
        </p:grpSpPr>
        <p:sp>
          <p:nvSpPr>
            <p:cNvPr name="Freeform 35" id="35"/>
            <p:cNvSpPr/>
            <p:nvPr/>
          </p:nvSpPr>
          <p:spPr>
            <a:xfrm flipH="false" flipV="false" rot="0">
              <a:off x="0" y="0"/>
              <a:ext cx="4754880" cy="1005840"/>
            </a:xfrm>
            <a:custGeom>
              <a:avLst/>
              <a:gdLst/>
              <a:ahLst/>
              <a:cxnLst/>
              <a:rect r="r" b="b" t="t" l="l"/>
              <a:pathLst>
                <a:path h="1005840" w="4754880">
                  <a:moveTo>
                    <a:pt x="0" y="0"/>
                  </a:moveTo>
                  <a:lnTo>
                    <a:pt x="4754880" y="0"/>
                  </a:lnTo>
                  <a:lnTo>
                    <a:pt x="4754880" y="1005840"/>
                  </a:lnTo>
                  <a:lnTo>
                    <a:pt x="0" y="1005840"/>
                  </a:lnTo>
                  <a:close/>
                </a:path>
              </a:pathLst>
            </a:custGeom>
            <a:blipFill>
              <a:blip r:embed="rId3">
                <a:alphaModFix amt="0"/>
              </a:blip>
              <a:stretch>
                <a:fillRect l="0" t="-42111" r="0" b="-42111"/>
              </a:stretch>
            </a:blipFill>
          </p:spPr>
        </p:sp>
        <p:sp>
          <p:nvSpPr>
            <p:cNvPr name="TextBox 36" id="36"/>
            <p:cNvSpPr txBox="true"/>
            <p:nvPr/>
          </p:nvSpPr>
          <p:spPr>
            <a:xfrm>
              <a:off x="0" y="-47625"/>
              <a:ext cx="4754880" cy="1053465"/>
            </a:xfrm>
            <a:prstGeom prst="rect">
              <a:avLst/>
            </a:prstGeom>
          </p:spPr>
          <p:txBody>
            <a:bodyPr anchor="ctr" rtlCol="false" tIns="0" lIns="0" bIns="0" rIns="0"/>
            <a:lstStyle/>
            <a:p>
              <a:pPr algn="ctr">
                <a:lnSpc>
                  <a:spcPts val="2340"/>
                </a:lnSpc>
              </a:pPr>
              <a:r>
                <a:rPr lang="en-US" sz="1950">
                  <a:solidFill>
                    <a:srgbClr val="6B7280"/>
                  </a:solidFill>
                  <a:latin typeface="Calibri (MS)"/>
                  <a:ea typeface="Calibri (MS)"/>
                  <a:cs typeface="Calibri (MS)"/>
                  <a:sym typeface="Calibri (MS)"/>
                </a:rPr>
                <a:t>High</a:t>
              </a:r>
            </a:p>
          </p:txBody>
        </p:sp>
      </p:grpSp>
      <p:grpSp>
        <p:nvGrpSpPr>
          <p:cNvPr name="Group 37" id="37"/>
          <p:cNvGrpSpPr/>
          <p:nvPr/>
        </p:nvGrpSpPr>
        <p:grpSpPr>
          <a:xfrm rot="0">
            <a:off x="960120" y="7063740"/>
            <a:ext cx="16322040" cy="384048"/>
            <a:chOff x="0" y="0"/>
            <a:chExt cx="21762720" cy="512064"/>
          </a:xfrm>
        </p:grpSpPr>
        <p:sp>
          <p:nvSpPr>
            <p:cNvPr name="Freeform 38" id="38"/>
            <p:cNvSpPr/>
            <p:nvPr/>
          </p:nvSpPr>
          <p:spPr>
            <a:xfrm flipH="false" flipV="false" rot="0">
              <a:off x="0" y="0"/>
              <a:ext cx="21762720" cy="512064"/>
            </a:xfrm>
            <a:custGeom>
              <a:avLst/>
              <a:gdLst/>
              <a:ahLst/>
              <a:cxnLst/>
              <a:rect r="r" b="b" t="t" l="l"/>
              <a:pathLst>
                <a:path h="512064" w="21762720">
                  <a:moveTo>
                    <a:pt x="0" y="0"/>
                  </a:moveTo>
                  <a:lnTo>
                    <a:pt x="21762720" y="0"/>
                  </a:lnTo>
                  <a:lnTo>
                    <a:pt x="21762720" y="512064"/>
                  </a:lnTo>
                  <a:lnTo>
                    <a:pt x="0" y="512064"/>
                  </a:lnTo>
                  <a:close/>
                </a:path>
              </a:pathLst>
            </a:custGeom>
            <a:blipFill>
              <a:blip r:embed="rId3">
                <a:alphaModFix amt="0"/>
              </a:blip>
              <a:stretch>
                <a:fillRect l="0" t="-778114" r="0" b="-778114"/>
              </a:stretch>
            </a:blipFill>
          </p:spPr>
        </p:sp>
        <p:sp>
          <p:nvSpPr>
            <p:cNvPr name="TextBox 39" id="39"/>
            <p:cNvSpPr txBox="true"/>
            <p:nvPr/>
          </p:nvSpPr>
          <p:spPr>
            <a:xfrm>
              <a:off x="0" y="-19050"/>
              <a:ext cx="21762720" cy="531114"/>
            </a:xfrm>
            <a:prstGeom prst="rect">
              <a:avLst/>
            </a:prstGeom>
          </p:spPr>
          <p:txBody>
            <a:bodyPr anchor="ctr" rtlCol="false" tIns="0" lIns="0" bIns="0" rIns="0"/>
            <a:lstStyle/>
            <a:p>
              <a:pPr algn="ctr">
                <a:lnSpc>
                  <a:spcPts val="1889"/>
                </a:lnSpc>
              </a:pPr>
              <a:r>
                <a:rPr lang="en-US" b="true" sz="1575" spc="74">
                  <a:solidFill>
                    <a:srgbClr val="6B7280"/>
                  </a:solidFill>
                  <a:latin typeface="Calibri (MS) Bold"/>
                  <a:ea typeface="Calibri (MS) Bold"/>
                  <a:cs typeface="Calibri (MS) Bold"/>
                  <a:sym typeface="Calibri (MS) Bold"/>
                </a:rPr>
                <a:t>RESPONSE OPTIONS</a:t>
              </a:r>
            </a:p>
          </p:txBody>
        </p:sp>
      </p:grpSp>
      <p:grpSp>
        <p:nvGrpSpPr>
          <p:cNvPr name="Group 40" id="40"/>
          <p:cNvGrpSpPr/>
          <p:nvPr/>
        </p:nvGrpSpPr>
        <p:grpSpPr>
          <a:xfrm rot="0">
            <a:off x="1012317" y="7493127"/>
            <a:ext cx="3790950" cy="773430"/>
            <a:chOff x="0" y="0"/>
            <a:chExt cx="5054600" cy="1031240"/>
          </a:xfrm>
        </p:grpSpPr>
        <p:sp>
          <p:nvSpPr>
            <p:cNvPr name="Freeform 41" id="41"/>
            <p:cNvSpPr/>
            <p:nvPr/>
          </p:nvSpPr>
          <p:spPr>
            <a:xfrm flipH="false" flipV="false" rot="0">
              <a:off x="0" y="0"/>
              <a:ext cx="5054600" cy="1031240"/>
            </a:xfrm>
            <a:custGeom>
              <a:avLst/>
              <a:gdLst/>
              <a:ahLst/>
              <a:cxnLst/>
              <a:rect r="r" b="b" t="t" l="l"/>
              <a:pathLst>
                <a:path h="1031240" w="5054600">
                  <a:moveTo>
                    <a:pt x="0" y="168783"/>
                  </a:moveTo>
                  <a:cubicBezTo>
                    <a:pt x="0" y="75565"/>
                    <a:pt x="75565" y="0"/>
                    <a:pt x="168783" y="0"/>
                  </a:cubicBezTo>
                  <a:lnTo>
                    <a:pt x="4885817" y="0"/>
                  </a:lnTo>
                  <a:cubicBezTo>
                    <a:pt x="4979035" y="0"/>
                    <a:pt x="5054600" y="75565"/>
                    <a:pt x="5054600" y="168783"/>
                  </a:cubicBezTo>
                  <a:lnTo>
                    <a:pt x="5054600" y="862457"/>
                  </a:lnTo>
                  <a:cubicBezTo>
                    <a:pt x="5054600" y="955675"/>
                    <a:pt x="4979035" y="1031240"/>
                    <a:pt x="4885817" y="1031240"/>
                  </a:cubicBezTo>
                  <a:lnTo>
                    <a:pt x="168783" y="1031240"/>
                  </a:lnTo>
                  <a:cubicBezTo>
                    <a:pt x="75565" y="1031240"/>
                    <a:pt x="0" y="955675"/>
                    <a:pt x="0" y="862457"/>
                  </a:cubicBezTo>
                  <a:close/>
                </a:path>
              </a:pathLst>
            </a:custGeom>
            <a:solidFill>
              <a:srgbClr val="F4F7FC"/>
            </a:solidFill>
            <a:ln w="19050" cap="sq">
              <a:solidFill>
                <a:srgbClr val="D7DCEC"/>
              </a:solidFill>
              <a:prstDash val="solid"/>
              <a:miter/>
            </a:ln>
          </p:spPr>
        </p:sp>
      </p:grpSp>
      <p:grpSp>
        <p:nvGrpSpPr>
          <p:cNvPr name="Group 42" id="42"/>
          <p:cNvGrpSpPr/>
          <p:nvPr/>
        </p:nvGrpSpPr>
        <p:grpSpPr>
          <a:xfrm rot="0">
            <a:off x="1021842" y="7502652"/>
            <a:ext cx="3771900" cy="754380"/>
            <a:chOff x="0" y="0"/>
            <a:chExt cx="5029200" cy="1005840"/>
          </a:xfrm>
        </p:grpSpPr>
        <p:sp>
          <p:nvSpPr>
            <p:cNvPr name="Freeform 43" id="43"/>
            <p:cNvSpPr/>
            <p:nvPr/>
          </p:nvSpPr>
          <p:spPr>
            <a:xfrm flipH="false" flipV="false" rot="0">
              <a:off x="0" y="0"/>
              <a:ext cx="5029200" cy="1005840"/>
            </a:xfrm>
            <a:custGeom>
              <a:avLst/>
              <a:gdLst/>
              <a:ahLst/>
              <a:cxnLst/>
              <a:rect r="r" b="b" t="t" l="l"/>
              <a:pathLst>
                <a:path h="1005840" w="5029200">
                  <a:moveTo>
                    <a:pt x="0" y="0"/>
                  </a:moveTo>
                  <a:lnTo>
                    <a:pt x="5029200" y="0"/>
                  </a:lnTo>
                  <a:lnTo>
                    <a:pt x="5029200" y="1005840"/>
                  </a:lnTo>
                  <a:lnTo>
                    <a:pt x="0" y="1005840"/>
                  </a:lnTo>
                  <a:close/>
                </a:path>
              </a:pathLst>
            </a:custGeom>
            <a:blipFill>
              <a:blip r:embed="rId3">
                <a:alphaModFix amt="0"/>
              </a:blip>
              <a:stretch>
                <a:fillRect l="0" t="-47425" r="0" b="-47425"/>
              </a:stretch>
            </a:blipFill>
          </p:spPr>
        </p:sp>
        <p:sp>
          <p:nvSpPr>
            <p:cNvPr name="TextBox 44" id="44"/>
            <p:cNvSpPr txBox="true"/>
            <p:nvPr/>
          </p:nvSpPr>
          <p:spPr>
            <a:xfrm>
              <a:off x="0" y="-47625"/>
              <a:ext cx="5029200" cy="1053465"/>
            </a:xfrm>
            <a:prstGeom prst="rect">
              <a:avLst/>
            </a:prstGeom>
          </p:spPr>
          <p:txBody>
            <a:bodyPr anchor="ctr" rtlCol="false" tIns="0" lIns="0" bIns="0" rIns="0"/>
            <a:lstStyle/>
            <a:p>
              <a:pPr algn="ctr">
                <a:lnSpc>
                  <a:spcPts val="2340"/>
                </a:lnSpc>
              </a:pPr>
              <a:r>
                <a:rPr lang="en-US" sz="1950">
                  <a:solidFill>
                    <a:srgbClr val="6B7280"/>
                  </a:solidFill>
                  <a:latin typeface="Calibri (MS)"/>
                  <a:ea typeface="Calibri (MS)"/>
                  <a:cs typeface="Calibri (MS)"/>
                  <a:sym typeface="Calibri (MS)"/>
                </a:rPr>
                <a:t>Treat</a:t>
              </a:r>
            </a:p>
          </p:txBody>
        </p:sp>
      </p:grpSp>
      <p:grpSp>
        <p:nvGrpSpPr>
          <p:cNvPr name="Group 45" id="45"/>
          <p:cNvGrpSpPr/>
          <p:nvPr/>
        </p:nvGrpSpPr>
        <p:grpSpPr>
          <a:xfrm rot="0">
            <a:off x="5168265" y="7493127"/>
            <a:ext cx="3790950" cy="773430"/>
            <a:chOff x="0" y="0"/>
            <a:chExt cx="5054600" cy="1031240"/>
          </a:xfrm>
        </p:grpSpPr>
        <p:sp>
          <p:nvSpPr>
            <p:cNvPr name="Freeform 46" id="46"/>
            <p:cNvSpPr/>
            <p:nvPr/>
          </p:nvSpPr>
          <p:spPr>
            <a:xfrm flipH="false" flipV="false" rot="0">
              <a:off x="0" y="0"/>
              <a:ext cx="5054600" cy="1031240"/>
            </a:xfrm>
            <a:custGeom>
              <a:avLst/>
              <a:gdLst/>
              <a:ahLst/>
              <a:cxnLst/>
              <a:rect r="r" b="b" t="t" l="l"/>
              <a:pathLst>
                <a:path h="1031240" w="5054600">
                  <a:moveTo>
                    <a:pt x="0" y="168783"/>
                  </a:moveTo>
                  <a:cubicBezTo>
                    <a:pt x="0" y="75565"/>
                    <a:pt x="75565" y="0"/>
                    <a:pt x="168783" y="0"/>
                  </a:cubicBezTo>
                  <a:lnTo>
                    <a:pt x="4885817" y="0"/>
                  </a:lnTo>
                  <a:cubicBezTo>
                    <a:pt x="4979035" y="0"/>
                    <a:pt x="5054600" y="75565"/>
                    <a:pt x="5054600" y="168783"/>
                  </a:cubicBezTo>
                  <a:lnTo>
                    <a:pt x="5054600" y="862457"/>
                  </a:lnTo>
                  <a:cubicBezTo>
                    <a:pt x="5054600" y="955675"/>
                    <a:pt x="4979035" y="1031240"/>
                    <a:pt x="4885817" y="1031240"/>
                  </a:cubicBezTo>
                  <a:lnTo>
                    <a:pt x="168783" y="1031240"/>
                  </a:lnTo>
                  <a:cubicBezTo>
                    <a:pt x="75565" y="1031240"/>
                    <a:pt x="0" y="955675"/>
                    <a:pt x="0" y="862457"/>
                  </a:cubicBezTo>
                  <a:close/>
                </a:path>
              </a:pathLst>
            </a:custGeom>
            <a:solidFill>
              <a:srgbClr val="F4F7FC"/>
            </a:solidFill>
            <a:ln w="19050" cap="sq">
              <a:solidFill>
                <a:srgbClr val="D7DCEC"/>
              </a:solidFill>
              <a:prstDash val="solid"/>
              <a:miter/>
            </a:ln>
          </p:spPr>
        </p:sp>
      </p:grpSp>
      <p:grpSp>
        <p:nvGrpSpPr>
          <p:cNvPr name="Group 47" id="47"/>
          <p:cNvGrpSpPr/>
          <p:nvPr/>
        </p:nvGrpSpPr>
        <p:grpSpPr>
          <a:xfrm rot="0">
            <a:off x="5177790" y="7502652"/>
            <a:ext cx="3771900" cy="754380"/>
            <a:chOff x="0" y="0"/>
            <a:chExt cx="5029200" cy="1005840"/>
          </a:xfrm>
        </p:grpSpPr>
        <p:sp>
          <p:nvSpPr>
            <p:cNvPr name="Freeform 48" id="48"/>
            <p:cNvSpPr/>
            <p:nvPr/>
          </p:nvSpPr>
          <p:spPr>
            <a:xfrm flipH="false" flipV="false" rot="0">
              <a:off x="0" y="0"/>
              <a:ext cx="5029200" cy="1005840"/>
            </a:xfrm>
            <a:custGeom>
              <a:avLst/>
              <a:gdLst/>
              <a:ahLst/>
              <a:cxnLst/>
              <a:rect r="r" b="b" t="t" l="l"/>
              <a:pathLst>
                <a:path h="1005840" w="5029200">
                  <a:moveTo>
                    <a:pt x="0" y="0"/>
                  </a:moveTo>
                  <a:lnTo>
                    <a:pt x="5029200" y="0"/>
                  </a:lnTo>
                  <a:lnTo>
                    <a:pt x="5029200" y="1005840"/>
                  </a:lnTo>
                  <a:lnTo>
                    <a:pt x="0" y="1005840"/>
                  </a:lnTo>
                  <a:close/>
                </a:path>
              </a:pathLst>
            </a:custGeom>
            <a:blipFill>
              <a:blip r:embed="rId3">
                <a:alphaModFix amt="0"/>
              </a:blip>
              <a:stretch>
                <a:fillRect l="0" t="-47425" r="0" b="-47425"/>
              </a:stretch>
            </a:blipFill>
          </p:spPr>
        </p:sp>
        <p:sp>
          <p:nvSpPr>
            <p:cNvPr name="TextBox 49" id="49"/>
            <p:cNvSpPr txBox="true"/>
            <p:nvPr/>
          </p:nvSpPr>
          <p:spPr>
            <a:xfrm>
              <a:off x="0" y="-47625"/>
              <a:ext cx="5029200" cy="1053465"/>
            </a:xfrm>
            <a:prstGeom prst="rect">
              <a:avLst/>
            </a:prstGeom>
          </p:spPr>
          <p:txBody>
            <a:bodyPr anchor="ctr" rtlCol="false" tIns="0" lIns="0" bIns="0" rIns="0"/>
            <a:lstStyle/>
            <a:p>
              <a:pPr algn="ctr">
                <a:lnSpc>
                  <a:spcPts val="2340"/>
                </a:lnSpc>
              </a:pPr>
              <a:r>
                <a:rPr lang="en-US" sz="1950">
                  <a:solidFill>
                    <a:srgbClr val="6B7280"/>
                  </a:solidFill>
                  <a:latin typeface="Calibri (MS)"/>
                  <a:ea typeface="Calibri (MS)"/>
                  <a:cs typeface="Calibri (MS)"/>
                  <a:sym typeface="Calibri (MS)"/>
                </a:rPr>
                <a:t>Transfer</a:t>
              </a:r>
            </a:p>
          </p:txBody>
        </p:sp>
      </p:grpSp>
      <p:grpSp>
        <p:nvGrpSpPr>
          <p:cNvPr name="Group 50" id="50"/>
          <p:cNvGrpSpPr/>
          <p:nvPr/>
        </p:nvGrpSpPr>
        <p:grpSpPr>
          <a:xfrm rot="0">
            <a:off x="9324213" y="7493127"/>
            <a:ext cx="3790950" cy="773430"/>
            <a:chOff x="0" y="0"/>
            <a:chExt cx="5054600" cy="1031240"/>
          </a:xfrm>
        </p:grpSpPr>
        <p:sp>
          <p:nvSpPr>
            <p:cNvPr name="Freeform 51" id="51"/>
            <p:cNvSpPr/>
            <p:nvPr/>
          </p:nvSpPr>
          <p:spPr>
            <a:xfrm flipH="false" flipV="false" rot="0">
              <a:off x="0" y="0"/>
              <a:ext cx="5054600" cy="1031240"/>
            </a:xfrm>
            <a:custGeom>
              <a:avLst/>
              <a:gdLst/>
              <a:ahLst/>
              <a:cxnLst/>
              <a:rect r="r" b="b" t="t" l="l"/>
              <a:pathLst>
                <a:path h="1031240" w="5054600">
                  <a:moveTo>
                    <a:pt x="0" y="168783"/>
                  </a:moveTo>
                  <a:cubicBezTo>
                    <a:pt x="0" y="75565"/>
                    <a:pt x="75565" y="0"/>
                    <a:pt x="168783" y="0"/>
                  </a:cubicBezTo>
                  <a:lnTo>
                    <a:pt x="4885817" y="0"/>
                  </a:lnTo>
                  <a:cubicBezTo>
                    <a:pt x="4979035" y="0"/>
                    <a:pt x="5054600" y="75565"/>
                    <a:pt x="5054600" y="168783"/>
                  </a:cubicBezTo>
                  <a:lnTo>
                    <a:pt x="5054600" y="862457"/>
                  </a:lnTo>
                  <a:cubicBezTo>
                    <a:pt x="5054600" y="955675"/>
                    <a:pt x="4979035" y="1031240"/>
                    <a:pt x="4885817" y="1031240"/>
                  </a:cubicBezTo>
                  <a:lnTo>
                    <a:pt x="168783" y="1031240"/>
                  </a:lnTo>
                  <a:cubicBezTo>
                    <a:pt x="75565" y="1031240"/>
                    <a:pt x="0" y="955675"/>
                    <a:pt x="0" y="862457"/>
                  </a:cubicBezTo>
                  <a:close/>
                </a:path>
              </a:pathLst>
            </a:custGeom>
            <a:solidFill>
              <a:srgbClr val="F4F7FC"/>
            </a:solidFill>
            <a:ln w="19050" cap="sq">
              <a:solidFill>
                <a:srgbClr val="D7DCEC"/>
              </a:solidFill>
              <a:prstDash val="solid"/>
              <a:miter/>
            </a:ln>
          </p:spPr>
        </p:sp>
      </p:grpSp>
      <p:grpSp>
        <p:nvGrpSpPr>
          <p:cNvPr name="Group 52" id="52"/>
          <p:cNvGrpSpPr/>
          <p:nvPr/>
        </p:nvGrpSpPr>
        <p:grpSpPr>
          <a:xfrm rot="0">
            <a:off x="9333738" y="7502652"/>
            <a:ext cx="3771900" cy="754380"/>
            <a:chOff x="0" y="0"/>
            <a:chExt cx="5029200" cy="1005840"/>
          </a:xfrm>
        </p:grpSpPr>
        <p:sp>
          <p:nvSpPr>
            <p:cNvPr name="Freeform 53" id="53"/>
            <p:cNvSpPr/>
            <p:nvPr/>
          </p:nvSpPr>
          <p:spPr>
            <a:xfrm flipH="false" flipV="false" rot="0">
              <a:off x="0" y="0"/>
              <a:ext cx="5029200" cy="1005840"/>
            </a:xfrm>
            <a:custGeom>
              <a:avLst/>
              <a:gdLst/>
              <a:ahLst/>
              <a:cxnLst/>
              <a:rect r="r" b="b" t="t" l="l"/>
              <a:pathLst>
                <a:path h="1005840" w="5029200">
                  <a:moveTo>
                    <a:pt x="0" y="0"/>
                  </a:moveTo>
                  <a:lnTo>
                    <a:pt x="5029200" y="0"/>
                  </a:lnTo>
                  <a:lnTo>
                    <a:pt x="5029200" y="1005840"/>
                  </a:lnTo>
                  <a:lnTo>
                    <a:pt x="0" y="1005840"/>
                  </a:lnTo>
                  <a:close/>
                </a:path>
              </a:pathLst>
            </a:custGeom>
            <a:blipFill>
              <a:blip r:embed="rId3">
                <a:alphaModFix amt="0"/>
              </a:blip>
              <a:stretch>
                <a:fillRect l="0" t="-47425" r="0" b="-47425"/>
              </a:stretch>
            </a:blipFill>
          </p:spPr>
        </p:sp>
        <p:sp>
          <p:nvSpPr>
            <p:cNvPr name="TextBox 54" id="54"/>
            <p:cNvSpPr txBox="true"/>
            <p:nvPr/>
          </p:nvSpPr>
          <p:spPr>
            <a:xfrm>
              <a:off x="0" y="-47625"/>
              <a:ext cx="5029200" cy="1053465"/>
            </a:xfrm>
            <a:prstGeom prst="rect">
              <a:avLst/>
            </a:prstGeom>
          </p:spPr>
          <p:txBody>
            <a:bodyPr anchor="ctr" rtlCol="false" tIns="0" lIns="0" bIns="0" rIns="0"/>
            <a:lstStyle/>
            <a:p>
              <a:pPr algn="ctr">
                <a:lnSpc>
                  <a:spcPts val="2340"/>
                </a:lnSpc>
              </a:pPr>
              <a:r>
                <a:rPr lang="en-US" sz="1950">
                  <a:solidFill>
                    <a:srgbClr val="6B7280"/>
                  </a:solidFill>
                  <a:latin typeface="Calibri (MS)"/>
                  <a:ea typeface="Calibri (MS)"/>
                  <a:cs typeface="Calibri (MS)"/>
                  <a:sym typeface="Calibri (MS)"/>
                </a:rPr>
                <a:t>Tolerate</a:t>
              </a:r>
            </a:p>
          </p:txBody>
        </p:sp>
      </p:grpSp>
      <p:grpSp>
        <p:nvGrpSpPr>
          <p:cNvPr name="Group 55" id="55"/>
          <p:cNvGrpSpPr/>
          <p:nvPr/>
        </p:nvGrpSpPr>
        <p:grpSpPr>
          <a:xfrm rot="0">
            <a:off x="13480161" y="7493127"/>
            <a:ext cx="3790950" cy="773430"/>
            <a:chOff x="0" y="0"/>
            <a:chExt cx="5054600" cy="1031240"/>
          </a:xfrm>
        </p:grpSpPr>
        <p:sp>
          <p:nvSpPr>
            <p:cNvPr name="Freeform 56" id="56"/>
            <p:cNvSpPr/>
            <p:nvPr/>
          </p:nvSpPr>
          <p:spPr>
            <a:xfrm flipH="false" flipV="false" rot="0">
              <a:off x="0" y="0"/>
              <a:ext cx="5054600" cy="1031240"/>
            </a:xfrm>
            <a:custGeom>
              <a:avLst/>
              <a:gdLst/>
              <a:ahLst/>
              <a:cxnLst/>
              <a:rect r="r" b="b" t="t" l="l"/>
              <a:pathLst>
                <a:path h="1031240" w="5054600">
                  <a:moveTo>
                    <a:pt x="0" y="168783"/>
                  </a:moveTo>
                  <a:cubicBezTo>
                    <a:pt x="0" y="75565"/>
                    <a:pt x="75565" y="0"/>
                    <a:pt x="168783" y="0"/>
                  </a:cubicBezTo>
                  <a:lnTo>
                    <a:pt x="4885817" y="0"/>
                  </a:lnTo>
                  <a:cubicBezTo>
                    <a:pt x="4979035" y="0"/>
                    <a:pt x="5054600" y="75565"/>
                    <a:pt x="5054600" y="168783"/>
                  </a:cubicBezTo>
                  <a:lnTo>
                    <a:pt x="5054600" y="862457"/>
                  </a:lnTo>
                  <a:cubicBezTo>
                    <a:pt x="5054600" y="955675"/>
                    <a:pt x="4979035" y="1031240"/>
                    <a:pt x="4885817" y="1031240"/>
                  </a:cubicBezTo>
                  <a:lnTo>
                    <a:pt x="168783" y="1031240"/>
                  </a:lnTo>
                  <a:cubicBezTo>
                    <a:pt x="75565" y="1031240"/>
                    <a:pt x="0" y="955675"/>
                    <a:pt x="0" y="862457"/>
                  </a:cubicBezTo>
                  <a:close/>
                </a:path>
              </a:pathLst>
            </a:custGeom>
            <a:solidFill>
              <a:srgbClr val="F4F7FC"/>
            </a:solidFill>
            <a:ln w="19050" cap="sq">
              <a:solidFill>
                <a:srgbClr val="D7DCEC"/>
              </a:solidFill>
              <a:prstDash val="solid"/>
              <a:miter/>
            </a:ln>
          </p:spPr>
        </p:sp>
      </p:grpSp>
      <p:grpSp>
        <p:nvGrpSpPr>
          <p:cNvPr name="Group 57" id="57"/>
          <p:cNvGrpSpPr/>
          <p:nvPr/>
        </p:nvGrpSpPr>
        <p:grpSpPr>
          <a:xfrm rot="0">
            <a:off x="13489686" y="7502652"/>
            <a:ext cx="3771900" cy="754380"/>
            <a:chOff x="0" y="0"/>
            <a:chExt cx="5029200" cy="1005840"/>
          </a:xfrm>
        </p:grpSpPr>
        <p:sp>
          <p:nvSpPr>
            <p:cNvPr name="Freeform 58" id="58"/>
            <p:cNvSpPr/>
            <p:nvPr/>
          </p:nvSpPr>
          <p:spPr>
            <a:xfrm flipH="false" flipV="false" rot="0">
              <a:off x="0" y="0"/>
              <a:ext cx="5029200" cy="1005840"/>
            </a:xfrm>
            <a:custGeom>
              <a:avLst/>
              <a:gdLst/>
              <a:ahLst/>
              <a:cxnLst/>
              <a:rect r="r" b="b" t="t" l="l"/>
              <a:pathLst>
                <a:path h="1005840" w="5029200">
                  <a:moveTo>
                    <a:pt x="0" y="0"/>
                  </a:moveTo>
                  <a:lnTo>
                    <a:pt x="5029200" y="0"/>
                  </a:lnTo>
                  <a:lnTo>
                    <a:pt x="5029200" y="1005840"/>
                  </a:lnTo>
                  <a:lnTo>
                    <a:pt x="0" y="1005840"/>
                  </a:lnTo>
                  <a:close/>
                </a:path>
              </a:pathLst>
            </a:custGeom>
            <a:blipFill>
              <a:blip r:embed="rId3">
                <a:alphaModFix amt="0"/>
              </a:blip>
              <a:stretch>
                <a:fillRect l="0" t="-47425" r="0" b="-47425"/>
              </a:stretch>
            </a:blipFill>
          </p:spPr>
        </p:sp>
        <p:sp>
          <p:nvSpPr>
            <p:cNvPr name="TextBox 59" id="59"/>
            <p:cNvSpPr txBox="true"/>
            <p:nvPr/>
          </p:nvSpPr>
          <p:spPr>
            <a:xfrm>
              <a:off x="0" y="-47625"/>
              <a:ext cx="5029200" cy="1053465"/>
            </a:xfrm>
            <a:prstGeom prst="rect">
              <a:avLst/>
            </a:prstGeom>
          </p:spPr>
          <p:txBody>
            <a:bodyPr anchor="ctr" rtlCol="false" tIns="0" lIns="0" bIns="0" rIns="0"/>
            <a:lstStyle/>
            <a:p>
              <a:pPr algn="ctr">
                <a:lnSpc>
                  <a:spcPts val="2340"/>
                </a:lnSpc>
              </a:pPr>
              <a:r>
                <a:rPr lang="en-US" sz="1950">
                  <a:solidFill>
                    <a:srgbClr val="6B7280"/>
                  </a:solidFill>
                  <a:latin typeface="Calibri (MS)"/>
                  <a:ea typeface="Calibri (MS)"/>
                  <a:cs typeface="Calibri (MS)"/>
                  <a:sym typeface="Calibri (MS)"/>
                </a:rPr>
                <a:t>Terminate</a:t>
              </a:r>
            </a:p>
          </p:txBody>
        </p:sp>
      </p:grpSp>
      <p:grpSp>
        <p:nvGrpSpPr>
          <p:cNvPr name="Group 60" id="60"/>
          <p:cNvGrpSpPr/>
          <p:nvPr/>
        </p:nvGrpSpPr>
        <p:grpSpPr>
          <a:xfrm rot="0">
            <a:off x="685800" y="9710928"/>
            <a:ext cx="10972800" cy="411480"/>
            <a:chOff x="0" y="0"/>
            <a:chExt cx="14630400" cy="548640"/>
          </a:xfrm>
        </p:grpSpPr>
        <p:sp>
          <p:nvSpPr>
            <p:cNvPr name="Freeform 61" id="61"/>
            <p:cNvSpPr/>
            <p:nvPr/>
          </p:nvSpPr>
          <p:spPr>
            <a:xfrm flipH="false" flipV="false" rot="0">
              <a:off x="0" y="0"/>
              <a:ext cx="14630400" cy="548640"/>
            </a:xfrm>
            <a:custGeom>
              <a:avLst/>
              <a:gdLst/>
              <a:ahLst/>
              <a:cxnLst/>
              <a:rect r="r" b="b" t="t" l="l"/>
              <a:pathLst>
                <a:path h="548640" w="14630400">
                  <a:moveTo>
                    <a:pt x="0" y="0"/>
                  </a:moveTo>
                  <a:lnTo>
                    <a:pt x="14630400" y="0"/>
                  </a:lnTo>
                  <a:lnTo>
                    <a:pt x="14630400" y="548640"/>
                  </a:lnTo>
                  <a:lnTo>
                    <a:pt x="0" y="548640"/>
                  </a:lnTo>
                  <a:close/>
                </a:path>
              </a:pathLst>
            </a:custGeom>
            <a:blipFill>
              <a:blip r:embed="rId3">
                <a:alphaModFix amt="0"/>
              </a:blip>
              <a:stretch>
                <a:fillRect l="0" t="-469601" r="0" b="-469601"/>
              </a:stretch>
            </a:blipFill>
          </p:spPr>
        </p:sp>
        <p:sp>
          <p:nvSpPr>
            <p:cNvPr name="TextBox 62" id="62"/>
            <p:cNvSpPr txBox="true"/>
            <p:nvPr/>
          </p:nvSpPr>
          <p:spPr>
            <a:xfrm>
              <a:off x="0" y="-38100"/>
              <a:ext cx="14630400" cy="586740"/>
            </a:xfrm>
            <a:prstGeom prst="rect">
              <a:avLst/>
            </a:prstGeom>
          </p:spPr>
          <p:txBody>
            <a:bodyPr anchor="ctr" rtlCol="false" tIns="0" lIns="0" bIns="0" rIns="0"/>
            <a:lstStyle/>
            <a:p>
              <a:pPr algn="l">
                <a:lnSpc>
                  <a:spcPts val="1800"/>
                </a:lnSpc>
              </a:pPr>
              <a:r>
                <a:rPr lang="en-US" sz="1500">
                  <a:solidFill>
                    <a:srgbClr val="6B7280"/>
                  </a:solidFill>
                  <a:latin typeface="Calibri (MS)"/>
                  <a:ea typeface="Calibri (MS)"/>
                  <a:cs typeface="Calibri (MS)"/>
                  <a:sym typeface="Calibri (MS)"/>
                </a:rPr>
                <a:t>Davao del Norte Provincial Government — Cybersecurity Seminar</a:t>
              </a:r>
            </a:p>
          </p:txBody>
        </p:sp>
      </p:grpSp>
      <p:grpSp>
        <p:nvGrpSpPr>
          <p:cNvPr name="Group 63" id="63"/>
          <p:cNvGrpSpPr/>
          <p:nvPr/>
        </p:nvGrpSpPr>
        <p:grpSpPr>
          <a:xfrm rot="0">
            <a:off x="16911828" y="9710928"/>
            <a:ext cx="685800" cy="411480"/>
            <a:chOff x="0" y="0"/>
            <a:chExt cx="914400" cy="548640"/>
          </a:xfrm>
        </p:grpSpPr>
        <p:sp>
          <p:nvSpPr>
            <p:cNvPr name="Freeform 64" id="64"/>
            <p:cNvSpPr/>
            <p:nvPr/>
          </p:nvSpPr>
          <p:spPr>
            <a:xfrm flipH="false" flipV="false" rot="0">
              <a:off x="0" y="0"/>
              <a:ext cx="914400" cy="548640"/>
            </a:xfrm>
            <a:custGeom>
              <a:avLst/>
              <a:gdLst/>
              <a:ahLst/>
              <a:cxnLst/>
              <a:rect r="r" b="b" t="t" l="l"/>
              <a:pathLst>
                <a:path h="548640" w="914400">
                  <a:moveTo>
                    <a:pt x="0" y="0"/>
                  </a:moveTo>
                  <a:lnTo>
                    <a:pt x="914400" y="0"/>
                  </a:lnTo>
                  <a:lnTo>
                    <a:pt x="914400" y="548640"/>
                  </a:lnTo>
                  <a:lnTo>
                    <a:pt x="0" y="548640"/>
                  </a:lnTo>
                  <a:close/>
                </a:path>
              </a:pathLst>
            </a:custGeom>
            <a:blipFill>
              <a:blip r:embed="rId3">
                <a:alphaModFix amt="0"/>
              </a:blip>
              <a:stretch>
                <a:fillRect l="-26982" t="0" r="-26982" b="0"/>
              </a:stretch>
            </a:blipFill>
          </p:spPr>
        </p:sp>
        <p:sp>
          <p:nvSpPr>
            <p:cNvPr name="TextBox 65" id="65"/>
            <p:cNvSpPr txBox="true"/>
            <p:nvPr/>
          </p:nvSpPr>
          <p:spPr>
            <a:xfrm>
              <a:off x="0" y="-38100"/>
              <a:ext cx="914400" cy="586740"/>
            </a:xfrm>
            <a:prstGeom prst="rect">
              <a:avLst/>
            </a:prstGeom>
          </p:spPr>
          <p:txBody>
            <a:bodyPr anchor="ctr" rtlCol="false" tIns="0" lIns="0" bIns="0" rIns="0"/>
            <a:lstStyle/>
            <a:p>
              <a:pPr algn="r">
                <a:lnSpc>
                  <a:spcPts val="1800"/>
                </a:lnSpc>
              </a:pPr>
              <a:r>
                <a:rPr lang="en-US" sz="1500">
                  <a:solidFill>
                    <a:srgbClr val="6B7280"/>
                  </a:solidFill>
                  <a:latin typeface="Calibri (MS)"/>
                  <a:ea typeface="Calibri (MS)"/>
                  <a:cs typeface="Calibri (MS)"/>
                  <a:sym typeface="Calibri (MS)"/>
                </a:rPr>
                <a:t>27</a:t>
              </a:r>
            </a:p>
          </p:txBody>
        </p:sp>
      </p:grpSp>
    </p:spTree>
  </p:cSld>
  <p:clrMapOvr>
    <a:masterClrMapping/>
  </p:clrMapOvr>
</p:sld>
</file>

<file path=ppt/slides/slide3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60120" y="576072"/>
            <a:ext cx="13716000" cy="411480"/>
            <a:chOff x="0" y="0"/>
            <a:chExt cx="18288000" cy="548640"/>
          </a:xfrm>
        </p:grpSpPr>
        <p:sp>
          <p:nvSpPr>
            <p:cNvPr name="Freeform 3" id="3"/>
            <p:cNvSpPr/>
            <p:nvPr/>
          </p:nvSpPr>
          <p:spPr>
            <a:xfrm flipH="false" flipV="false" rot="0">
              <a:off x="0" y="0"/>
              <a:ext cx="18288000" cy="548640"/>
            </a:xfrm>
            <a:custGeom>
              <a:avLst/>
              <a:gdLst/>
              <a:ahLst/>
              <a:cxnLst/>
              <a:rect r="r" b="b" t="t" l="l"/>
              <a:pathLst>
                <a:path h="548640" w="18288000">
                  <a:moveTo>
                    <a:pt x="0" y="0"/>
                  </a:moveTo>
                  <a:lnTo>
                    <a:pt x="18288000" y="0"/>
                  </a:lnTo>
                  <a:lnTo>
                    <a:pt x="18288000" y="548640"/>
                  </a:lnTo>
                  <a:lnTo>
                    <a:pt x="0" y="548640"/>
                  </a:lnTo>
                  <a:close/>
                </a:path>
              </a:pathLst>
            </a:custGeom>
            <a:blipFill>
              <a:blip r:embed="rId3">
                <a:alphaModFix amt="0"/>
              </a:blip>
              <a:stretch>
                <a:fillRect l="0" t="-599501" r="0" b="-599501"/>
              </a:stretch>
            </a:blipFill>
          </p:spPr>
        </p:sp>
        <p:sp>
          <p:nvSpPr>
            <p:cNvPr name="TextBox 4" id="4"/>
            <p:cNvSpPr txBox="true"/>
            <p:nvPr/>
          </p:nvSpPr>
          <p:spPr>
            <a:xfrm>
              <a:off x="0" y="-38100"/>
              <a:ext cx="18288000" cy="586740"/>
            </a:xfrm>
            <a:prstGeom prst="rect">
              <a:avLst/>
            </a:prstGeom>
          </p:spPr>
          <p:txBody>
            <a:bodyPr anchor="ctr" rtlCol="false" tIns="0" lIns="0" bIns="0" rIns="0"/>
            <a:lstStyle/>
            <a:p>
              <a:pPr algn="l">
                <a:lnSpc>
                  <a:spcPts val="2160"/>
                </a:lnSpc>
              </a:pPr>
              <a:r>
                <a:rPr lang="en-US" b="true" sz="1800" spc="225">
                  <a:solidFill>
                    <a:srgbClr val="00B4D8"/>
                  </a:solidFill>
                  <a:latin typeface="Calibri (MS) Bold"/>
                  <a:ea typeface="Calibri (MS) Bold"/>
                  <a:cs typeface="Calibri (MS) Bold"/>
                  <a:sym typeface="Calibri (MS) Bold"/>
                </a:rPr>
                <a:t>RISK MATRIX SORT · ANSWER</a:t>
              </a:r>
            </a:p>
          </p:txBody>
        </p:sp>
      </p:grpSp>
      <p:grpSp>
        <p:nvGrpSpPr>
          <p:cNvPr name="Group 5" id="5"/>
          <p:cNvGrpSpPr/>
          <p:nvPr/>
        </p:nvGrpSpPr>
        <p:grpSpPr>
          <a:xfrm rot="0">
            <a:off x="960120" y="960120"/>
            <a:ext cx="10972800" cy="754380"/>
            <a:chOff x="0" y="0"/>
            <a:chExt cx="14630400" cy="1005840"/>
          </a:xfrm>
        </p:grpSpPr>
        <p:sp>
          <p:nvSpPr>
            <p:cNvPr name="Freeform 6" id="6"/>
            <p:cNvSpPr/>
            <p:nvPr/>
          </p:nvSpPr>
          <p:spPr>
            <a:xfrm flipH="false" flipV="false" rot="0">
              <a:off x="0" y="0"/>
              <a:ext cx="14630400" cy="1005840"/>
            </a:xfrm>
            <a:custGeom>
              <a:avLst/>
              <a:gdLst/>
              <a:ahLst/>
              <a:cxnLst/>
              <a:rect r="r" b="b" t="t" l="l"/>
              <a:pathLst>
                <a:path h="1005840" w="14630400">
                  <a:moveTo>
                    <a:pt x="0" y="0"/>
                  </a:moveTo>
                  <a:lnTo>
                    <a:pt x="14630400" y="0"/>
                  </a:lnTo>
                  <a:lnTo>
                    <a:pt x="14630400" y="1005840"/>
                  </a:lnTo>
                  <a:lnTo>
                    <a:pt x="0" y="1005840"/>
                  </a:lnTo>
                  <a:close/>
                </a:path>
              </a:pathLst>
            </a:custGeom>
            <a:blipFill>
              <a:blip r:embed="rId3">
                <a:alphaModFix amt="0"/>
              </a:blip>
              <a:stretch>
                <a:fillRect l="0" t="-233418" r="0" b="-233418"/>
              </a:stretch>
            </a:blipFill>
          </p:spPr>
        </p:sp>
        <p:sp>
          <p:nvSpPr>
            <p:cNvPr name="TextBox 7" id="7"/>
            <p:cNvSpPr txBox="true"/>
            <p:nvPr/>
          </p:nvSpPr>
          <p:spPr>
            <a:xfrm>
              <a:off x="0" y="-19050"/>
              <a:ext cx="14630400" cy="1024890"/>
            </a:xfrm>
            <a:prstGeom prst="rect">
              <a:avLst/>
            </a:prstGeom>
          </p:spPr>
          <p:txBody>
            <a:bodyPr anchor="ctr" rtlCol="false" tIns="0" lIns="0" bIns="0" rIns="0"/>
            <a:lstStyle/>
            <a:p>
              <a:pPr algn="l">
                <a:lnSpc>
                  <a:spcPts val="4320"/>
                </a:lnSpc>
              </a:pPr>
              <a:r>
                <a:rPr lang="en-US" sz="3600" b="true">
                  <a:solidFill>
                    <a:srgbClr val="1E2761"/>
                  </a:solidFill>
                  <a:latin typeface="Cambria Bold"/>
                  <a:ea typeface="Cambria Bold"/>
                  <a:cs typeface="Cambria Bold"/>
                  <a:sym typeface="Cambria Bold"/>
                </a:rPr>
                <a:t>Scenario 7 — Answer</a:t>
              </a:r>
            </a:p>
          </p:txBody>
        </p:sp>
      </p:grpSp>
      <p:grpSp>
        <p:nvGrpSpPr>
          <p:cNvPr name="Group 8" id="8"/>
          <p:cNvGrpSpPr/>
          <p:nvPr/>
        </p:nvGrpSpPr>
        <p:grpSpPr>
          <a:xfrm rot="0">
            <a:off x="960120" y="1645920"/>
            <a:ext cx="8229600" cy="411480"/>
            <a:chOff x="0" y="0"/>
            <a:chExt cx="10972800" cy="548640"/>
          </a:xfrm>
        </p:grpSpPr>
        <p:sp>
          <p:nvSpPr>
            <p:cNvPr name="Freeform 9" id="9"/>
            <p:cNvSpPr/>
            <p:nvPr/>
          </p:nvSpPr>
          <p:spPr>
            <a:xfrm flipH="false" flipV="false" rot="0">
              <a:off x="0" y="0"/>
              <a:ext cx="10972800" cy="548640"/>
            </a:xfrm>
            <a:custGeom>
              <a:avLst/>
              <a:gdLst/>
              <a:ahLst/>
              <a:cxnLst/>
              <a:rect r="r" b="b" t="t" l="l"/>
              <a:pathLst>
                <a:path h="548640" w="10972800">
                  <a:moveTo>
                    <a:pt x="0" y="0"/>
                  </a:moveTo>
                  <a:lnTo>
                    <a:pt x="10972800" y="0"/>
                  </a:lnTo>
                  <a:lnTo>
                    <a:pt x="10972800" y="548640"/>
                  </a:lnTo>
                  <a:lnTo>
                    <a:pt x="0" y="548640"/>
                  </a:lnTo>
                  <a:close/>
                </a:path>
              </a:pathLst>
            </a:custGeom>
            <a:blipFill>
              <a:blip r:embed="rId3">
                <a:alphaModFix amt="0"/>
              </a:blip>
              <a:stretch>
                <a:fillRect l="0" t="-339700" r="0" b="-339700"/>
              </a:stretch>
            </a:blipFill>
          </p:spPr>
        </p:sp>
        <p:sp>
          <p:nvSpPr>
            <p:cNvPr name="TextBox 10" id="10"/>
            <p:cNvSpPr txBox="true"/>
            <p:nvPr/>
          </p:nvSpPr>
          <p:spPr>
            <a:xfrm>
              <a:off x="0" y="-28575"/>
              <a:ext cx="10972800" cy="577215"/>
            </a:xfrm>
            <a:prstGeom prst="rect">
              <a:avLst/>
            </a:prstGeom>
          </p:spPr>
          <p:txBody>
            <a:bodyPr anchor="ctr" rtlCol="false" tIns="0" lIns="0" bIns="0" rIns="0"/>
            <a:lstStyle/>
            <a:p>
              <a:pPr algn="l">
                <a:lnSpc>
                  <a:spcPts val="1980"/>
                </a:lnSpc>
              </a:pPr>
              <a:r>
                <a:rPr lang="en-US" sz="1650">
                  <a:solidFill>
                    <a:srgbClr val="6B7280"/>
                  </a:solidFill>
                  <a:latin typeface="Calibri (MS)"/>
                  <a:ea typeface="Calibri (MS)"/>
                  <a:cs typeface="Calibri (MS)"/>
                  <a:sym typeface="Calibri (MS)"/>
                </a:rPr>
                <a:t>7 of 8</a:t>
              </a:r>
            </a:p>
          </p:txBody>
        </p:sp>
      </p:grpSp>
      <p:grpSp>
        <p:nvGrpSpPr>
          <p:cNvPr name="Group 11" id="11"/>
          <p:cNvGrpSpPr/>
          <p:nvPr/>
        </p:nvGrpSpPr>
        <p:grpSpPr>
          <a:xfrm rot="0">
            <a:off x="960120" y="2194560"/>
            <a:ext cx="16322040" cy="1851660"/>
            <a:chOff x="0" y="0"/>
            <a:chExt cx="21762720" cy="2468880"/>
          </a:xfrm>
        </p:grpSpPr>
        <p:sp>
          <p:nvSpPr>
            <p:cNvPr name="Freeform 12" id="12"/>
            <p:cNvSpPr/>
            <p:nvPr/>
          </p:nvSpPr>
          <p:spPr>
            <a:xfrm flipH="false" flipV="false" rot="0">
              <a:off x="0" y="0"/>
              <a:ext cx="21762720" cy="2468880"/>
            </a:xfrm>
            <a:custGeom>
              <a:avLst/>
              <a:gdLst/>
              <a:ahLst/>
              <a:cxnLst/>
              <a:rect r="r" b="b" t="t" l="l"/>
              <a:pathLst>
                <a:path h="2468880" w="21762720">
                  <a:moveTo>
                    <a:pt x="0" y="182880"/>
                  </a:moveTo>
                  <a:cubicBezTo>
                    <a:pt x="0" y="81915"/>
                    <a:pt x="81915" y="0"/>
                    <a:pt x="182880" y="0"/>
                  </a:cubicBezTo>
                  <a:lnTo>
                    <a:pt x="21579839" y="0"/>
                  </a:lnTo>
                  <a:cubicBezTo>
                    <a:pt x="21680804" y="0"/>
                    <a:pt x="21762720" y="81915"/>
                    <a:pt x="21762720" y="182880"/>
                  </a:cubicBezTo>
                  <a:lnTo>
                    <a:pt x="21762720" y="2286000"/>
                  </a:lnTo>
                  <a:cubicBezTo>
                    <a:pt x="21762720" y="2386965"/>
                    <a:pt x="21680804" y="2468880"/>
                    <a:pt x="21579839" y="2468880"/>
                  </a:cubicBezTo>
                  <a:lnTo>
                    <a:pt x="182880" y="2468880"/>
                  </a:lnTo>
                  <a:cubicBezTo>
                    <a:pt x="81915" y="2468880"/>
                    <a:pt x="0" y="2386965"/>
                    <a:pt x="0" y="2286000"/>
                  </a:cubicBezTo>
                  <a:close/>
                </a:path>
              </a:pathLst>
            </a:custGeom>
            <a:solidFill>
              <a:srgbClr val="F4F7FC"/>
            </a:solidFill>
          </p:spPr>
        </p:sp>
      </p:grpSp>
      <p:grpSp>
        <p:nvGrpSpPr>
          <p:cNvPr name="Group 13" id="13"/>
          <p:cNvGrpSpPr/>
          <p:nvPr/>
        </p:nvGrpSpPr>
        <p:grpSpPr>
          <a:xfrm rot="0">
            <a:off x="1371600" y="2400300"/>
            <a:ext cx="15499080" cy="1440180"/>
            <a:chOff x="0" y="0"/>
            <a:chExt cx="20665440" cy="1920240"/>
          </a:xfrm>
        </p:grpSpPr>
        <p:sp>
          <p:nvSpPr>
            <p:cNvPr name="Freeform 14" id="14"/>
            <p:cNvSpPr/>
            <p:nvPr/>
          </p:nvSpPr>
          <p:spPr>
            <a:xfrm flipH="false" flipV="false" rot="0">
              <a:off x="0" y="0"/>
              <a:ext cx="20665439" cy="1920240"/>
            </a:xfrm>
            <a:custGeom>
              <a:avLst/>
              <a:gdLst/>
              <a:ahLst/>
              <a:cxnLst/>
              <a:rect r="r" b="b" t="t" l="l"/>
              <a:pathLst>
                <a:path h="1920240" w="20665439">
                  <a:moveTo>
                    <a:pt x="0" y="0"/>
                  </a:moveTo>
                  <a:lnTo>
                    <a:pt x="20665439" y="0"/>
                  </a:lnTo>
                  <a:lnTo>
                    <a:pt x="20665439" y="1920240"/>
                  </a:lnTo>
                  <a:lnTo>
                    <a:pt x="0" y="1920240"/>
                  </a:lnTo>
                  <a:close/>
                </a:path>
              </a:pathLst>
            </a:custGeom>
            <a:blipFill>
              <a:blip r:embed="rId3">
                <a:alphaModFix amt="0"/>
              </a:blip>
              <a:stretch>
                <a:fillRect l="0" t="-159696" r="0" b="-159696"/>
              </a:stretch>
            </a:blipFill>
          </p:spPr>
        </p:sp>
        <p:sp>
          <p:nvSpPr>
            <p:cNvPr name="TextBox 15" id="15"/>
            <p:cNvSpPr txBox="true"/>
            <p:nvPr/>
          </p:nvSpPr>
          <p:spPr>
            <a:xfrm>
              <a:off x="0" y="-66675"/>
              <a:ext cx="20665440" cy="1986915"/>
            </a:xfrm>
            <a:prstGeom prst="rect">
              <a:avLst/>
            </a:prstGeom>
          </p:spPr>
          <p:txBody>
            <a:bodyPr anchor="ctr" rtlCol="false" tIns="0" lIns="0" bIns="0" rIns="0"/>
            <a:lstStyle/>
            <a:p>
              <a:pPr algn="l">
                <a:lnSpc>
                  <a:spcPts val="3184"/>
                </a:lnSpc>
              </a:pPr>
              <a:r>
                <a:rPr lang="en-US" sz="2175" i="true">
                  <a:solidFill>
                    <a:srgbClr val="23262F"/>
                  </a:solidFill>
                  <a:latin typeface="Cambria Italics"/>
                  <a:ea typeface="Cambria Italics"/>
                  <a:cs typeface="Cambria Italics"/>
                  <a:sym typeface="Cambria Italics"/>
                </a:rPr>
                <a:t>“An outsourced IT contractor requires remote access to your network to maintain your servers, under a signed service agreement.”</a:t>
              </a:r>
            </a:p>
          </p:txBody>
        </p:sp>
      </p:grpSp>
      <p:grpSp>
        <p:nvGrpSpPr>
          <p:cNvPr name="Group 16" id="16"/>
          <p:cNvGrpSpPr/>
          <p:nvPr/>
        </p:nvGrpSpPr>
        <p:grpSpPr>
          <a:xfrm rot="0">
            <a:off x="960120" y="4320540"/>
            <a:ext cx="3909060" cy="1165860"/>
            <a:chOff x="0" y="0"/>
            <a:chExt cx="5212080" cy="1554480"/>
          </a:xfrm>
        </p:grpSpPr>
        <p:sp>
          <p:nvSpPr>
            <p:cNvPr name="Freeform 17" id="17"/>
            <p:cNvSpPr/>
            <p:nvPr/>
          </p:nvSpPr>
          <p:spPr>
            <a:xfrm flipH="false" flipV="false" rot="0">
              <a:off x="0" y="0"/>
              <a:ext cx="5212080" cy="1554480"/>
            </a:xfrm>
            <a:custGeom>
              <a:avLst/>
              <a:gdLst/>
              <a:ahLst/>
              <a:cxnLst/>
              <a:rect r="r" b="b" t="t" l="l"/>
              <a:pathLst>
                <a:path h="1554480" w="5212080">
                  <a:moveTo>
                    <a:pt x="0" y="146304"/>
                  </a:moveTo>
                  <a:cubicBezTo>
                    <a:pt x="0" y="65532"/>
                    <a:pt x="65532" y="0"/>
                    <a:pt x="146304" y="0"/>
                  </a:cubicBezTo>
                  <a:lnTo>
                    <a:pt x="5065776" y="0"/>
                  </a:lnTo>
                  <a:cubicBezTo>
                    <a:pt x="5146548" y="0"/>
                    <a:pt x="5212080" y="65532"/>
                    <a:pt x="5212080" y="146304"/>
                  </a:cubicBezTo>
                  <a:lnTo>
                    <a:pt x="5212080" y="1408176"/>
                  </a:lnTo>
                  <a:cubicBezTo>
                    <a:pt x="5212080" y="1488948"/>
                    <a:pt x="5146548" y="1554480"/>
                    <a:pt x="5065776" y="1554480"/>
                  </a:cubicBezTo>
                  <a:lnTo>
                    <a:pt x="146304" y="1554480"/>
                  </a:lnTo>
                  <a:cubicBezTo>
                    <a:pt x="65532" y="1554480"/>
                    <a:pt x="0" y="1488948"/>
                    <a:pt x="0" y="1408176"/>
                  </a:cubicBezTo>
                  <a:close/>
                </a:path>
              </a:pathLst>
            </a:custGeom>
            <a:solidFill>
              <a:srgbClr val="F4F7FC"/>
            </a:solidFill>
          </p:spPr>
        </p:sp>
      </p:grpSp>
      <p:grpSp>
        <p:nvGrpSpPr>
          <p:cNvPr name="Group 18" id="18"/>
          <p:cNvGrpSpPr/>
          <p:nvPr/>
        </p:nvGrpSpPr>
        <p:grpSpPr>
          <a:xfrm rot="0">
            <a:off x="1207008" y="4457700"/>
            <a:ext cx="3415284" cy="384048"/>
            <a:chOff x="0" y="0"/>
            <a:chExt cx="4553712" cy="512064"/>
          </a:xfrm>
        </p:grpSpPr>
        <p:sp>
          <p:nvSpPr>
            <p:cNvPr name="Freeform 19" id="19"/>
            <p:cNvSpPr/>
            <p:nvPr/>
          </p:nvSpPr>
          <p:spPr>
            <a:xfrm flipH="false" flipV="false" rot="0">
              <a:off x="0" y="0"/>
              <a:ext cx="4553712" cy="512064"/>
            </a:xfrm>
            <a:custGeom>
              <a:avLst/>
              <a:gdLst/>
              <a:ahLst/>
              <a:cxnLst/>
              <a:rect r="r" b="b" t="t" l="l"/>
              <a:pathLst>
                <a:path h="512064" w="4553712">
                  <a:moveTo>
                    <a:pt x="0" y="0"/>
                  </a:moveTo>
                  <a:lnTo>
                    <a:pt x="4553712" y="0"/>
                  </a:lnTo>
                  <a:lnTo>
                    <a:pt x="4553712" y="512064"/>
                  </a:lnTo>
                  <a:lnTo>
                    <a:pt x="0" y="512064"/>
                  </a:lnTo>
                  <a:close/>
                </a:path>
              </a:pathLst>
            </a:custGeom>
            <a:blipFill>
              <a:blip r:embed="rId3">
                <a:alphaModFix amt="0"/>
              </a:blip>
              <a:stretch>
                <a:fillRect l="0" t="-123277" r="0" b="-123277"/>
              </a:stretch>
            </a:blipFill>
          </p:spPr>
        </p:sp>
        <p:sp>
          <p:nvSpPr>
            <p:cNvPr name="TextBox 20" id="20"/>
            <p:cNvSpPr txBox="true"/>
            <p:nvPr/>
          </p:nvSpPr>
          <p:spPr>
            <a:xfrm>
              <a:off x="0" y="-38100"/>
              <a:ext cx="4553712" cy="550164"/>
            </a:xfrm>
            <a:prstGeom prst="rect">
              <a:avLst/>
            </a:prstGeom>
          </p:spPr>
          <p:txBody>
            <a:bodyPr anchor="ctr" rtlCol="false" tIns="0" lIns="0" bIns="0" rIns="0"/>
            <a:lstStyle/>
            <a:p>
              <a:pPr algn="l">
                <a:lnSpc>
                  <a:spcPts val="1800"/>
                </a:lnSpc>
              </a:pPr>
              <a:r>
                <a:rPr lang="en-US" b="true" sz="1500" spc="75">
                  <a:solidFill>
                    <a:srgbClr val="6B7280"/>
                  </a:solidFill>
                  <a:latin typeface="Calibri (MS) Bold"/>
                  <a:ea typeface="Calibri (MS) Bold"/>
                  <a:cs typeface="Calibri (MS) Bold"/>
                  <a:sym typeface="Calibri (MS) Bold"/>
                </a:rPr>
                <a:t>LIKELIHOOD</a:t>
              </a:r>
            </a:p>
          </p:txBody>
        </p:sp>
      </p:grpSp>
      <p:sp>
        <p:nvSpPr>
          <p:cNvPr name="TextBox 21" id="21"/>
          <p:cNvSpPr txBox="true"/>
          <p:nvPr/>
        </p:nvSpPr>
        <p:spPr>
          <a:xfrm rot="0">
            <a:off x="1298448" y="4840986"/>
            <a:ext cx="3232404" cy="462534"/>
          </a:xfrm>
          <a:prstGeom prst="rect">
            <a:avLst/>
          </a:prstGeom>
        </p:spPr>
        <p:txBody>
          <a:bodyPr anchor="t" rtlCol="false" tIns="0" lIns="0" bIns="0" rIns="0">
            <a:spAutoFit/>
          </a:bodyPr>
          <a:lstStyle/>
          <a:p>
            <a:pPr algn="l">
              <a:lnSpc>
                <a:spcPts val="3240"/>
              </a:lnSpc>
            </a:pPr>
            <a:r>
              <a:rPr lang="en-US" sz="2700" b="true">
                <a:solidFill>
                  <a:srgbClr val="1E2761"/>
                </a:solidFill>
                <a:latin typeface="Cambria Bold"/>
                <a:ea typeface="Cambria Bold"/>
                <a:cs typeface="Cambria Bold"/>
                <a:sym typeface="Cambria Bold"/>
              </a:rPr>
              <a:t>Medium</a:t>
            </a:r>
          </a:p>
        </p:txBody>
      </p:sp>
      <p:grpSp>
        <p:nvGrpSpPr>
          <p:cNvPr name="Group 22" id="22"/>
          <p:cNvGrpSpPr/>
          <p:nvPr/>
        </p:nvGrpSpPr>
        <p:grpSpPr>
          <a:xfrm rot="0">
            <a:off x="5074920" y="4320540"/>
            <a:ext cx="3909060" cy="1165860"/>
            <a:chOff x="0" y="0"/>
            <a:chExt cx="5212080" cy="1554480"/>
          </a:xfrm>
        </p:grpSpPr>
        <p:sp>
          <p:nvSpPr>
            <p:cNvPr name="Freeform 23" id="23"/>
            <p:cNvSpPr/>
            <p:nvPr/>
          </p:nvSpPr>
          <p:spPr>
            <a:xfrm flipH="false" flipV="false" rot="0">
              <a:off x="0" y="0"/>
              <a:ext cx="5212080" cy="1554480"/>
            </a:xfrm>
            <a:custGeom>
              <a:avLst/>
              <a:gdLst/>
              <a:ahLst/>
              <a:cxnLst/>
              <a:rect r="r" b="b" t="t" l="l"/>
              <a:pathLst>
                <a:path h="1554480" w="5212080">
                  <a:moveTo>
                    <a:pt x="0" y="146304"/>
                  </a:moveTo>
                  <a:cubicBezTo>
                    <a:pt x="0" y="65532"/>
                    <a:pt x="65532" y="0"/>
                    <a:pt x="146304" y="0"/>
                  </a:cubicBezTo>
                  <a:lnTo>
                    <a:pt x="5065776" y="0"/>
                  </a:lnTo>
                  <a:cubicBezTo>
                    <a:pt x="5146548" y="0"/>
                    <a:pt x="5212080" y="65532"/>
                    <a:pt x="5212080" y="146304"/>
                  </a:cubicBezTo>
                  <a:lnTo>
                    <a:pt x="5212080" y="1408176"/>
                  </a:lnTo>
                  <a:cubicBezTo>
                    <a:pt x="5212080" y="1488948"/>
                    <a:pt x="5146548" y="1554480"/>
                    <a:pt x="5065776" y="1554480"/>
                  </a:cubicBezTo>
                  <a:lnTo>
                    <a:pt x="146304" y="1554480"/>
                  </a:lnTo>
                  <a:cubicBezTo>
                    <a:pt x="65532" y="1554480"/>
                    <a:pt x="0" y="1488948"/>
                    <a:pt x="0" y="1408176"/>
                  </a:cubicBezTo>
                  <a:close/>
                </a:path>
              </a:pathLst>
            </a:custGeom>
            <a:solidFill>
              <a:srgbClr val="F4F7FC"/>
            </a:solidFill>
          </p:spPr>
        </p:sp>
      </p:grpSp>
      <p:grpSp>
        <p:nvGrpSpPr>
          <p:cNvPr name="Group 24" id="24"/>
          <p:cNvGrpSpPr/>
          <p:nvPr/>
        </p:nvGrpSpPr>
        <p:grpSpPr>
          <a:xfrm rot="0">
            <a:off x="5321808" y="4457700"/>
            <a:ext cx="3415284" cy="384048"/>
            <a:chOff x="0" y="0"/>
            <a:chExt cx="4553712" cy="512064"/>
          </a:xfrm>
        </p:grpSpPr>
        <p:sp>
          <p:nvSpPr>
            <p:cNvPr name="Freeform 25" id="25"/>
            <p:cNvSpPr/>
            <p:nvPr/>
          </p:nvSpPr>
          <p:spPr>
            <a:xfrm flipH="false" flipV="false" rot="0">
              <a:off x="0" y="0"/>
              <a:ext cx="4553712" cy="512064"/>
            </a:xfrm>
            <a:custGeom>
              <a:avLst/>
              <a:gdLst/>
              <a:ahLst/>
              <a:cxnLst/>
              <a:rect r="r" b="b" t="t" l="l"/>
              <a:pathLst>
                <a:path h="512064" w="4553712">
                  <a:moveTo>
                    <a:pt x="0" y="0"/>
                  </a:moveTo>
                  <a:lnTo>
                    <a:pt x="4553712" y="0"/>
                  </a:lnTo>
                  <a:lnTo>
                    <a:pt x="4553712" y="512064"/>
                  </a:lnTo>
                  <a:lnTo>
                    <a:pt x="0" y="512064"/>
                  </a:lnTo>
                  <a:close/>
                </a:path>
              </a:pathLst>
            </a:custGeom>
            <a:blipFill>
              <a:blip r:embed="rId3">
                <a:alphaModFix amt="0"/>
              </a:blip>
              <a:stretch>
                <a:fillRect l="0" t="-123277" r="0" b="-123277"/>
              </a:stretch>
            </a:blipFill>
          </p:spPr>
        </p:sp>
        <p:sp>
          <p:nvSpPr>
            <p:cNvPr name="TextBox 26" id="26"/>
            <p:cNvSpPr txBox="true"/>
            <p:nvPr/>
          </p:nvSpPr>
          <p:spPr>
            <a:xfrm>
              <a:off x="0" y="-38100"/>
              <a:ext cx="4553712" cy="550164"/>
            </a:xfrm>
            <a:prstGeom prst="rect">
              <a:avLst/>
            </a:prstGeom>
          </p:spPr>
          <p:txBody>
            <a:bodyPr anchor="ctr" rtlCol="false" tIns="0" lIns="0" bIns="0" rIns="0"/>
            <a:lstStyle/>
            <a:p>
              <a:pPr algn="l">
                <a:lnSpc>
                  <a:spcPts val="1800"/>
                </a:lnSpc>
              </a:pPr>
              <a:r>
                <a:rPr lang="en-US" b="true" sz="1500" spc="75">
                  <a:solidFill>
                    <a:srgbClr val="6B7280"/>
                  </a:solidFill>
                  <a:latin typeface="Calibri (MS) Bold"/>
                  <a:ea typeface="Calibri (MS) Bold"/>
                  <a:cs typeface="Calibri (MS) Bold"/>
                  <a:sym typeface="Calibri (MS) Bold"/>
                </a:rPr>
                <a:t>IMPACT</a:t>
              </a:r>
            </a:p>
          </p:txBody>
        </p:sp>
      </p:grpSp>
      <p:sp>
        <p:nvSpPr>
          <p:cNvPr name="TextBox 27" id="27"/>
          <p:cNvSpPr txBox="true"/>
          <p:nvPr/>
        </p:nvSpPr>
        <p:spPr>
          <a:xfrm rot="0">
            <a:off x="5413248" y="4840986"/>
            <a:ext cx="3232404" cy="462534"/>
          </a:xfrm>
          <a:prstGeom prst="rect">
            <a:avLst/>
          </a:prstGeom>
        </p:spPr>
        <p:txBody>
          <a:bodyPr anchor="t" rtlCol="false" tIns="0" lIns="0" bIns="0" rIns="0">
            <a:spAutoFit/>
          </a:bodyPr>
          <a:lstStyle/>
          <a:p>
            <a:pPr algn="l">
              <a:lnSpc>
                <a:spcPts val="3240"/>
              </a:lnSpc>
            </a:pPr>
            <a:r>
              <a:rPr lang="en-US" sz="2700" b="true">
                <a:solidFill>
                  <a:srgbClr val="1E2761"/>
                </a:solidFill>
                <a:latin typeface="Cambria Bold"/>
                <a:ea typeface="Cambria Bold"/>
                <a:cs typeface="Cambria Bold"/>
                <a:sym typeface="Cambria Bold"/>
              </a:rPr>
              <a:t>Medium</a:t>
            </a:r>
          </a:p>
        </p:txBody>
      </p:sp>
      <p:grpSp>
        <p:nvGrpSpPr>
          <p:cNvPr name="Group 28" id="28"/>
          <p:cNvGrpSpPr/>
          <p:nvPr/>
        </p:nvGrpSpPr>
        <p:grpSpPr>
          <a:xfrm rot="0">
            <a:off x="9189720" y="4320540"/>
            <a:ext cx="3909060" cy="1165860"/>
            <a:chOff x="0" y="0"/>
            <a:chExt cx="5212080" cy="1554480"/>
          </a:xfrm>
        </p:grpSpPr>
        <p:sp>
          <p:nvSpPr>
            <p:cNvPr name="Freeform 29" id="29"/>
            <p:cNvSpPr/>
            <p:nvPr/>
          </p:nvSpPr>
          <p:spPr>
            <a:xfrm flipH="false" flipV="false" rot="0">
              <a:off x="0" y="0"/>
              <a:ext cx="5212080" cy="1554480"/>
            </a:xfrm>
            <a:custGeom>
              <a:avLst/>
              <a:gdLst/>
              <a:ahLst/>
              <a:cxnLst/>
              <a:rect r="r" b="b" t="t" l="l"/>
              <a:pathLst>
                <a:path h="1554480" w="5212080">
                  <a:moveTo>
                    <a:pt x="0" y="146304"/>
                  </a:moveTo>
                  <a:cubicBezTo>
                    <a:pt x="0" y="65532"/>
                    <a:pt x="65532" y="0"/>
                    <a:pt x="146304" y="0"/>
                  </a:cubicBezTo>
                  <a:lnTo>
                    <a:pt x="5065776" y="0"/>
                  </a:lnTo>
                  <a:cubicBezTo>
                    <a:pt x="5146548" y="0"/>
                    <a:pt x="5212080" y="65532"/>
                    <a:pt x="5212080" y="146304"/>
                  </a:cubicBezTo>
                  <a:lnTo>
                    <a:pt x="5212080" y="1408176"/>
                  </a:lnTo>
                  <a:cubicBezTo>
                    <a:pt x="5212080" y="1488948"/>
                    <a:pt x="5146548" y="1554480"/>
                    <a:pt x="5065776" y="1554480"/>
                  </a:cubicBezTo>
                  <a:lnTo>
                    <a:pt x="146304" y="1554480"/>
                  </a:lnTo>
                  <a:cubicBezTo>
                    <a:pt x="65532" y="1554480"/>
                    <a:pt x="0" y="1488948"/>
                    <a:pt x="0" y="1408176"/>
                  </a:cubicBezTo>
                  <a:close/>
                </a:path>
              </a:pathLst>
            </a:custGeom>
            <a:solidFill>
              <a:srgbClr val="F4F7FC"/>
            </a:solidFill>
          </p:spPr>
        </p:sp>
      </p:grpSp>
      <p:grpSp>
        <p:nvGrpSpPr>
          <p:cNvPr name="Group 30" id="30"/>
          <p:cNvGrpSpPr/>
          <p:nvPr/>
        </p:nvGrpSpPr>
        <p:grpSpPr>
          <a:xfrm rot="0">
            <a:off x="9436608" y="4457700"/>
            <a:ext cx="3415284" cy="384048"/>
            <a:chOff x="0" y="0"/>
            <a:chExt cx="4553712" cy="512064"/>
          </a:xfrm>
        </p:grpSpPr>
        <p:sp>
          <p:nvSpPr>
            <p:cNvPr name="Freeform 31" id="31"/>
            <p:cNvSpPr/>
            <p:nvPr/>
          </p:nvSpPr>
          <p:spPr>
            <a:xfrm flipH="false" flipV="false" rot="0">
              <a:off x="0" y="0"/>
              <a:ext cx="4553712" cy="512064"/>
            </a:xfrm>
            <a:custGeom>
              <a:avLst/>
              <a:gdLst/>
              <a:ahLst/>
              <a:cxnLst/>
              <a:rect r="r" b="b" t="t" l="l"/>
              <a:pathLst>
                <a:path h="512064" w="4553712">
                  <a:moveTo>
                    <a:pt x="0" y="0"/>
                  </a:moveTo>
                  <a:lnTo>
                    <a:pt x="4553712" y="0"/>
                  </a:lnTo>
                  <a:lnTo>
                    <a:pt x="4553712" y="512064"/>
                  </a:lnTo>
                  <a:lnTo>
                    <a:pt x="0" y="512064"/>
                  </a:lnTo>
                  <a:close/>
                </a:path>
              </a:pathLst>
            </a:custGeom>
            <a:blipFill>
              <a:blip r:embed="rId3">
                <a:alphaModFix amt="0"/>
              </a:blip>
              <a:stretch>
                <a:fillRect l="0" t="-123277" r="0" b="-123277"/>
              </a:stretch>
            </a:blipFill>
          </p:spPr>
        </p:sp>
        <p:sp>
          <p:nvSpPr>
            <p:cNvPr name="TextBox 32" id="32"/>
            <p:cNvSpPr txBox="true"/>
            <p:nvPr/>
          </p:nvSpPr>
          <p:spPr>
            <a:xfrm>
              <a:off x="0" y="-38100"/>
              <a:ext cx="4553712" cy="550164"/>
            </a:xfrm>
            <a:prstGeom prst="rect">
              <a:avLst/>
            </a:prstGeom>
          </p:spPr>
          <p:txBody>
            <a:bodyPr anchor="ctr" rtlCol="false" tIns="0" lIns="0" bIns="0" rIns="0"/>
            <a:lstStyle/>
            <a:p>
              <a:pPr algn="l">
                <a:lnSpc>
                  <a:spcPts val="1800"/>
                </a:lnSpc>
              </a:pPr>
              <a:r>
                <a:rPr lang="en-US" b="true" sz="1500" spc="75">
                  <a:solidFill>
                    <a:srgbClr val="6B7280"/>
                  </a:solidFill>
                  <a:latin typeface="Calibri (MS) Bold"/>
                  <a:ea typeface="Calibri (MS) Bold"/>
                  <a:cs typeface="Calibri (MS) Bold"/>
                  <a:sym typeface="Calibri (MS) Bold"/>
                </a:rPr>
                <a:t>RISK RATING</a:t>
              </a:r>
            </a:p>
          </p:txBody>
        </p:sp>
      </p:grpSp>
      <p:sp>
        <p:nvSpPr>
          <p:cNvPr name="TextBox 33" id="33"/>
          <p:cNvSpPr txBox="true"/>
          <p:nvPr/>
        </p:nvSpPr>
        <p:spPr>
          <a:xfrm rot="0">
            <a:off x="9528048" y="4840986"/>
            <a:ext cx="3232404" cy="462534"/>
          </a:xfrm>
          <a:prstGeom prst="rect">
            <a:avLst/>
          </a:prstGeom>
        </p:spPr>
        <p:txBody>
          <a:bodyPr anchor="t" rtlCol="false" tIns="0" lIns="0" bIns="0" rIns="0">
            <a:spAutoFit/>
          </a:bodyPr>
          <a:lstStyle/>
          <a:p>
            <a:pPr algn="l">
              <a:lnSpc>
                <a:spcPts val="3240"/>
              </a:lnSpc>
            </a:pPr>
            <a:r>
              <a:rPr lang="en-US" sz="2700" b="true">
                <a:solidFill>
                  <a:srgbClr val="C98A12"/>
                </a:solidFill>
                <a:latin typeface="Cambria Bold"/>
                <a:ea typeface="Cambria Bold"/>
                <a:cs typeface="Cambria Bold"/>
                <a:sym typeface="Cambria Bold"/>
              </a:rPr>
              <a:t>Medium</a:t>
            </a:r>
          </a:p>
        </p:txBody>
      </p:sp>
      <p:grpSp>
        <p:nvGrpSpPr>
          <p:cNvPr name="Group 34" id="34"/>
          <p:cNvGrpSpPr/>
          <p:nvPr/>
        </p:nvGrpSpPr>
        <p:grpSpPr>
          <a:xfrm rot="0">
            <a:off x="13304520" y="4320540"/>
            <a:ext cx="3977640" cy="1165860"/>
            <a:chOff x="0" y="0"/>
            <a:chExt cx="5303520" cy="1554480"/>
          </a:xfrm>
        </p:grpSpPr>
        <p:sp>
          <p:nvSpPr>
            <p:cNvPr name="Freeform 35" id="35"/>
            <p:cNvSpPr/>
            <p:nvPr/>
          </p:nvSpPr>
          <p:spPr>
            <a:xfrm flipH="false" flipV="false" rot="0">
              <a:off x="0" y="0"/>
              <a:ext cx="5303520" cy="1554480"/>
            </a:xfrm>
            <a:custGeom>
              <a:avLst/>
              <a:gdLst/>
              <a:ahLst/>
              <a:cxnLst/>
              <a:rect r="r" b="b" t="t" l="l"/>
              <a:pathLst>
                <a:path h="1554480" w="5303520">
                  <a:moveTo>
                    <a:pt x="0" y="146304"/>
                  </a:moveTo>
                  <a:cubicBezTo>
                    <a:pt x="0" y="65532"/>
                    <a:pt x="65532" y="0"/>
                    <a:pt x="146304" y="0"/>
                  </a:cubicBezTo>
                  <a:lnTo>
                    <a:pt x="5157216" y="0"/>
                  </a:lnTo>
                  <a:cubicBezTo>
                    <a:pt x="5237988" y="0"/>
                    <a:pt x="5303520" y="65532"/>
                    <a:pt x="5303520" y="146304"/>
                  </a:cubicBezTo>
                  <a:lnTo>
                    <a:pt x="5303520" y="1408176"/>
                  </a:lnTo>
                  <a:cubicBezTo>
                    <a:pt x="5303520" y="1488948"/>
                    <a:pt x="5237988" y="1554480"/>
                    <a:pt x="5157216" y="1554480"/>
                  </a:cubicBezTo>
                  <a:lnTo>
                    <a:pt x="146304" y="1554480"/>
                  </a:lnTo>
                  <a:cubicBezTo>
                    <a:pt x="65532" y="1554480"/>
                    <a:pt x="0" y="1488948"/>
                    <a:pt x="0" y="1408176"/>
                  </a:cubicBezTo>
                  <a:close/>
                </a:path>
              </a:pathLst>
            </a:custGeom>
            <a:solidFill>
              <a:srgbClr val="6C4FD1"/>
            </a:solidFill>
          </p:spPr>
        </p:sp>
      </p:grpSp>
      <p:grpSp>
        <p:nvGrpSpPr>
          <p:cNvPr name="Group 36" id="36"/>
          <p:cNvGrpSpPr/>
          <p:nvPr/>
        </p:nvGrpSpPr>
        <p:grpSpPr>
          <a:xfrm rot="0">
            <a:off x="13551408" y="4457700"/>
            <a:ext cx="3429000" cy="384048"/>
            <a:chOff x="0" y="0"/>
            <a:chExt cx="4572000" cy="512064"/>
          </a:xfrm>
        </p:grpSpPr>
        <p:sp>
          <p:nvSpPr>
            <p:cNvPr name="Freeform 37" id="37"/>
            <p:cNvSpPr/>
            <p:nvPr/>
          </p:nvSpPr>
          <p:spPr>
            <a:xfrm flipH="false" flipV="false" rot="0">
              <a:off x="0" y="0"/>
              <a:ext cx="4572000" cy="512064"/>
            </a:xfrm>
            <a:custGeom>
              <a:avLst/>
              <a:gdLst/>
              <a:ahLst/>
              <a:cxnLst/>
              <a:rect r="r" b="b" t="t" l="l"/>
              <a:pathLst>
                <a:path h="512064" w="4572000">
                  <a:moveTo>
                    <a:pt x="0" y="0"/>
                  </a:moveTo>
                  <a:lnTo>
                    <a:pt x="4572000" y="0"/>
                  </a:lnTo>
                  <a:lnTo>
                    <a:pt x="4572000" y="512064"/>
                  </a:lnTo>
                  <a:lnTo>
                    <a:pt x="0" y="512064"/>
                  </a:lnTo>
                  <a:close/>
                </a:path>
              </a:pathLst>
            </a:custGeom>
            <a:blipFill>
              <a:blip r:embed="rId3">
                <a:alphaModFix amt="0"/>
              </a:blip>
              <a:stretch>
                <a:fillRect l="0" t="-123973" r="0" b="-123973"/>
              </a:stretch>
            </a:blipFill>
          </p:spPr>
        </p:sp>
        <p:sp>
          <p:nvSpPr>
            <p:cNvPr name="TextBox 38" id="38"/>
            <p:cNvSpPr txBox="true"/>
            <p:nvPr/>
          </p:nvSpPr>
          <p:spPr>
            <a:xfrm>
              <a:off x="0" y="-38100"/>
              <a:ext cx="4572000" cy="550164"/>
            </a:xfrm>
            <a:prstGeom prst="rect">
              <a:avLst/>
            </a:prstGeom>
          </p:spPr>
          <p:txBody>
            <a:bodyPr anchor="ctr" rtlCol="false" tIns="0" lIns="0" bIns="0" rIns="0"/>
            <a:lstStyle/>
            <a:p>
              <a:pPr algn="l">
                <a:lnSpc>
                  <a:spcPts val="1800"/>
                </a:lnSpc>
              </a:pPr>
              <a:r>
                <a:rPr lang="en-US" b="true" sz="1500" spc="75">
                  <a:solidFill>
                    <a:srgbClr val="CADCFC"/>
                  </a:solidFill>
                  <a:latin typeface="Calibri (MS) Bold"/>
                  <a:ea typeface="Calibri (MS) Bold"/>
                  <a:cs typeface="Calibri (MS) Bold"/>
                  <a:sym typeface="Calibri (MS) Bold"/>
                </a:rPr>
                <a:t>RESPONSE</a:t>
              </a:r>
            </a:p>
          </p:txBody>
        </p:sp>
      </p:grpSp>
      <p:sp>
        <p:nvSpPr>
          <p:cNvPr name="TextBox 39" id="39"/>
          <p:cNvSpPr txBox="true"/>
          <p:nvPr/>
        </p:nvSpPr>
        <p:spPr>
          <a:xfrm rot="0">
            <a:off x="13642848" y="4840986"/>
            <a:ext cx="3246120" cy="476250"/>
          </a:xfrm>
          <a:prstGeom prst="rect">
            <a:avLst/>
          </a:prstGeom>
        </p:spPr>
        <p:txBody>
          <a:bodyPr anchor="t" rtlCol="false" tIns="0" lIns="0" bIns="0" rIns="0">
            <a:spAutoFit/>
          </a:bodyPr>
          <a:lstStyle/>
          <a:p>
            <a:pPr algn="l">
              <a:lnSpc>
                <a:spcPts val="3240"/>
              </a:lnSpc>
            </a:pPr>
            <a:r>
              <a:rPr lang="en-US" sz="2700" b="true">
                <a:solidFill>
                  <a:srgbClr val="FFFFFF"/>
                </a:solidFill>
                <a:latin typeface="Cambria Bold"/>
                <a:ea typeface="Cambria Bold"/>
                <a:cs typeface="Cambria Bold"/>
                <a:sym typeface="Cambria Bold"/>
              </a:rPr>
              <a:t>Transfer</a:t>
            </a:r>
          </a:p>
        </p:txBody>
      </p:sp>
      <p:grpSp>
        <p:nvGrpSpPr>
          <p:cNvPr name="Group 40" id="40"/>
          <p:cNvGrpSpPr/>
          <p:nvPr/>
        </p:nvGrpSpPr>
        <p:grpSpPr>
          <a:xfrm rot="0">
            <a:off x="950595" y="5888355"/>
            <a:ext cx="16341090" cy="2967990"/>
            <a:chOff x="0" y="0"/>
            <a:chExt cx="21788120" cy="3957320"/>
          </a:xfrm>
        </p:grpSpPr>
        <p:sp>
          <p:nvSpPr>
            <p:cNvPr name="Freeform 41" id="41"/>
            <p:cNvSpPr/>
            <p:nvPr/>
          </p:nvSpPr>
          <p:spPr>
            <a:xfrm flipH="false" flipV="false" rot="0">
              <a:off x="0" y="0"/>
              <a:ext cx="21788120" cy="3957320"/>
            </a:xfrm>
            <a:custGeom>
              <a:avLst/>
              <a:gdLst/>
              <a:ahLst/>
              <a:cxnLst/>
              <a:rect r="r" b="b" t="t" l="l"/>
              <a:pathLst>
                <a:path h="3957320" w="21788120">
                  <a:moveTo>
                    <a:pt x="0" y="184023"/>
                  </a:moveTo>
                  <a:cubicBezTo>
                    <a:pt x="0" y="82423"/>
                    <a:pt x="82423" y="0"/>
                    <a:pt x="184023" y="0"/>
                  </a:cubicBezTo>
                  <a:lnTo>
                    <a:pt x="21604097" y="0"/>
                  </a:lnTo>
                  <a:cubicBezTo>
                    <a:pt x="21705697" y="0"/>
                    <a:pt x="21788120" y="82423"/>
                    <a:pt x="21788120" y="184023"/>
                  </a:cubicBezTo>
                  <a:lnTo>
                    <a:pt x="21788120" y="3773297"/>
                  </a:lnTo>
                  <a:cubicBezTo>
                    <a:pt x="21788120" y="3874897"/>
                    <a:pt x="21705697" y="3957320"/>
                    <a:pt x="21604097" y="3957320"/>
                  </a:cubicBezTo>
                  <a:lnTo>
                    <a:pt x="184023" y="3957320"/>
                  </a:lnTo>
                  <a:cubicBezTo>
                    <a:pt x="82423" y="3957320"/>
                    <a:pt x="0" y="3874897"/>
                    <a:pt x="0" y="3773297"/>
                  </a:cubicBezTo>
                  <a:close/>
                </a:path>
              </a:pathLst>
            </a:custGeom>
            <a:solidFill>
              <a:srgbClr val="FBF9F4"/>
            </a:solidFill>
            <a:ln w="19050" cap="sq">
              <a:solidFill>
                <a:srgbClr val="EFE6D2"/>
              </a:solidFill>
              <a:prstDash val="solid"/>
              <a:miter/>
            </a:ln>
          </p:spPr>
        </p:sp>
      </p:grpSp>
      <p:sp>
        <p:nvSpPr>
          <p:cNvPr name="TextBox 42" id="42"/>
          <p:cNvSpPr txBox="true"/>
          <p:nvPr/>
        </p:nvSpPr>
        <p:spPr>
          <a:xfrm rot="0">
            <a:off x="1463040" y="6084570"/>
            <a:ext cx="15316200" cy="2510790"/>
          </a:xfrm>
          <a:prstGeom prst="rect">
            <a:avLst/>
          </a:prstGeom>
        </p:spPr>
        <p:txBody>
          <a:bodyPr anchor="t" rtlCol="false" tIns="0" lIns="0" bIns="0" rIns="0">
            <a:spAutoFit/>
          </a:bodyPr>
          <a:lstStyle/>
          <a:p>
            <a:pPr algn="l">
              <a:lnSpc>
                <a:spcPts val="3402"/>
              </a:lnSpc>
            </a:pPr>
            <a:r>
              <a:rPr lang="en-US" sz="2100">
                <a:solidFill>
                  <a:srgbClr val="23262F"/>
                </a:solidFill>
                <a:latin typeface="Calibri (MS)"/>
                <a:ea typeface="Calibri (MS)"/>
                <a:cs typeface="Calibri (MS)"/>
                <a:sym typeface="Calibri (MS)"/>
              </a:rPr>
              <a:t>You're relying on a third party's own security controls and contractual accountability — the SLA and data-handling clauses do the work here. That's a textbook Transfer.</a:t>
            </a:r>
          </a:p>
        </p:txBody>
      </p:sp>
      <p:grpSp>
        <p:nvGrpSpPr>
          <p:cNvPr name="Group 43" id="43"/>
          <p:cNvGrpSpPr/>
          <p:nvPr/>
        </p:nvGrpSpPr>
        <p:grpSpPr>
          <a:xfrm rot="0">
            <a:off x="685800" y="9710928"/>
            <a:ext cx="10972800" cy="411480"/>
            <a:chOff x="0" y="0"/>
            <a:chExt cx="14630400" cy="548640"/>
          </a:xfrm>
        </p:grpSpPr>
        <p:sp>
          <p:nvSpPr>
            <p:cNvPr name="Freeform 44" id="44"/>
            <p:cNvSpPr/>
            <p:nvPr/>
          </p:nvSpPr>
          <p:spPr>
            <a:xfrm flipH="false" flipV="false" rot="0">
              <a:off x="0" y="0"/>
              <a:ext cx="14630400" cy="548640"/>
            </a:xfrm>
            <a:custGeom>
              <a:avLst/>
              <a:gdLst/>
              <a:ahLst/>
              <a:cxnLst/>
              <a:rect r="r" b="b" t="t" l="l"/>
              <a:pathLst>
                <a:path h="548640" w="14630400">
                  <a:moveTo>
                    <a:pt x="0" y="0"/>
                  </a:moveTo>
                  <a:lnTo>
                    <a:pt x="14630400" y="0"/>
                  </a:lnTo>
                  <a:lnTo>
                    <a:pt x="14630400" y="548640"/>
                  </a:lnTo>
                  <a:lnTo>
                    <a:pt x="0" y="548640"/>
                  </a:lnTo>
                  <a:close/>
                </a:path>
              </a:pathLst>
            </a:custGeom>
            <a:blipFill>
              <a:blip r:embed="rId3">
                <a:alphaModFix amt="0"/>
              </a:blip>
              <a:stretch>
                <a:fillRect l="0" t="-469601" r="0" b="-469601"/>
              </a:stretch>
            </a:blipFill>
          </p:spPr>
        </p:sp>
        <p:sp>
          <p:nvSpPr>
            <p:cNvPr name="TextBox 45" id="45"/>
            <p:cNvSpPr txBox="true"/>
            <p:nvPr/>
          </p:nvSpPr>
          <p:spPr>
            <a:xfrm>
              <a:off x="0" y="-38100"/>
              <a:ext cx="14630400" cy="586740"/>
            </a:xfrm>
            <a:prstGeom prst="rect">
              <a:avLst/>
            </a:prstGeom>
          </p:spPr>
          <p:txBody>
            <a:bodyPr anchor="ctr" rtlCol="false" tIns="0" lIns="0" bIns="0" rIns="0"/>
            <a:lstStyle/>
            <a:p>
              <a:pPr algn="l">
                <a:lnSpc>
                  <a:spcPts val="1800"/>
                </a:lnSpc>
              </a:pPr>
              <a:r>
                <a:rPr lang="en-US" sz="1500">
                  <a:solidFill>
                    <a:srgbClr val="6B7280"/>
                  </a:solidFill>
                  <a:latin typeface="Calibri (MS)"/>
                  <a:ea typeface="Calibri (MS)"/>
                  <a:cs typeface="Calibri (MS)"/>
                  <a:sym typeface="Calibri (MS)"/>
                </a:rPr>
                <a:t>Davao del Norte Provincial Government — Cybersecurity Seminar</a:t>
              </a:r>
            </a:p>
          </p:txBody>
        </p:sp>
      </p:grpSp>
      <p:grpSp>
        <p:nvGrpSpPr>
          <p:cNvPr name="Group 46" id="46"/>
          <p:cNvGrpSpPr/>
          <p:nvPr/>
        </p:nvGrpSpPr>
        <p:grpSpPr>
          <a:xfrm rot="0">
            <a:off x="16911828" y="9710928"/>
            <a:ext cx="685800" cy="411480"/>
            <a:chOff x="0" y="0"/>
            <a:chExt cx="914400" cy="548640"/>
          </a:xfrm>
        </p:grpSpPr>
        <p:sp>
          <p:nvSpPr>
            <p:cNvPr name="Freeform 47" id="47"/>
            <p:cNvSpPr/>
            <p:nvPr/>
          </p:nvSpPr>
          <p:spPr>
            <a:xfrm flipH="false" flipV="false" rot="0">
              <a:off x="0" y="0"/>
              <a:ext cx="914400" cy="548640"/>
            </a:xfrm>
            <a:custGeom>
              <a:avLst/>
              <a:gdLst/>
              <a:ahLst/>
              <a:cxnLst/>
              <a:rect r="r" b="b" t="t" l="l"/>
              <a:pathLst>
                <a:path h="548640" w="914400">
                  <a:moveTo>
                    <a:pt x="0" y="0"/>
                  </a:moveTo>
                  <a:lnTo>
                    <a:pt x="914400" y="0"/>
                  </a:lnTo>
                  <a:lnTo>
                    <a:pt x="914400" y="548640"/>
                  </a:lnTo>
                  <a:lnTo>
                    <a:pt x="0" y="548640"/>
                  </a:lnTo>
                  <a:close/>
                </a:path>
              </a:pathLst>
            </a:custGeom>
            <a:blipFill>
              <a:blip r:embed="rId3">
                <a:alphaModFix amt="0"/>
              </a:blip>
              <a:stretch>
                <a:fillRect l="-26982" t="0" r="-26982" b="0"/>
              </a:stretch>
            </a:blipFill>
          </p:spPr>
        </p:sp>
        <p:sp>
          <p:nvSpPr>
            <p:cNvPr name="TextBox 48" id="48"/>
            <p:cNvSpPr txBox="true"/>
            <p:nvPr/>
          </p:nvSpPr>
          <p:spPr>
            <a:xfrm>
              <a:off x="0" y="-38100"/>
              <a:ext cx="914400" cy="586740"/>
            </a:xfrm>
            <a:prstGeom prst="rect">
              <a:avLst/>
            </a:prstGeom>
          </p:spPr>
          <p:txBody>
            <a:bodyPr anchor="ctr" rtlCol="false" tIns="0" lIns="0" bIns="0" rIns="0"/>
            <a:lstStyle/>
            <a:p>
              <a:pPr algn="r">
                <a:lnSpc>
                  <a:spcPts val="1800"/>
                </a:lnSpc>
              </a:pPr>
              <a:r>
                <a:rPr lang="en-US" sz="1500">
                  <a:solidFill>
                    <a:srgbClr val="6B7280"/>
                  </a:solidFill>
                  <a:latin typeface="Calibri (MS)"/>
                  <a:ea typeface="Calibri (MS)"/>
                  <a:cs typeface="Calibri (MS)"/>
                  <a:sym typeface="Calibri (MS)"/>
                </a:rPr>
                <a:t>28</a:t>
              </a:r>
            </a:p>
          </p:txBody>
        </p:sp>
      </p:grpSp>
    </p:spTree>
  </p:cSld>
  <p:clrMapOvr>
    <a:masterClrMapping/>
  </p:clrMapOvr>
</p:sld>
</file>

<file path=ppt/slides/slide3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60120" y="576072"/>
            <a:ext cx="13716000" cy="411480"/>
            <a:chOff x="0" y="0"/>
            <a:chExt cx="18288000" cy="548640"/>
          </a:xfrm>
        </p:grpSpPr>
        <p:sp>
          <p:nvSpPr>
            <p:cNvPr name="Freeform 3" id="3"/>
            <p:cNvSpPr/>
            <p:nvPr/>
          </p:nvSpPr>
          <p:spPr>
            <a:xfrm flipH="false" flipV="false" rot="0">
              <a:off x="0" y="0"/>
              <a:ext cx="18288000" cy="548640"/>
            </a:xfrm>
            <a:custGeom>
              <a:avLst/>
              <a:gdLst/>
              <a:ahLst/>
              <a:cxnLst/>
              <a:rect r="r" b="b" t="t" l="l"/>
              <a:pathLst>
                <a:path h="548640" w="18288000">
                  <a:moveTo>
                    <a:pt x="0" y="0"/>
                  </a:moveTo>
                  <a:lnTo>
                    <a:pt x="18288000" y="0"/>
                  </a:lnTo>
                  <a:lnTo>
                    <a:pt x="18288000" y="548640"/>
                  </a:lnTo>
                  <a:lnTo>
                    <a:pt x="0" y="548640"/>
                  </a:lnTo>
                  <a:close/>
                </a:path>
              </a:pathLst>
            </a:custGeom>
            <a:blipFill>
              <a:blip r:embed="rId3">
                <a:alphaModFix amt="0"/>
              </a:blip>
              <a:stretch>
                <a:fillRect l="0" t="-599501" r="0" b="-599501"/>
              </a:stretch>
            </a:blipFill>
          </p:spPr>
        </p:sp>
        <p:sp>
          <p:nvSpPr>
            <p:cNvPr name="TextBox 4" id="4"/>
            <p:cNvSpPr txBox="true"/>
            <p:nvPr/>
          </p:nvSpPr>
          <p:spPr>
            <a:xfrm>
              <a:off x="0" y="-38100"/>
              <a:ext cx="18288000" cy="586740"/>
            </a:xfrm>
            <a:prstGeom prst="rect">
              <a:avLst/>
            </a:prstGeom>
          </p:spPr>
          <p:txBody>
            <a:bodyPr anchor="ctr" rtlCol="false" tIns="0" lIns="0" bIns="0" rIns="0"/>
            <a:lstStyle/>
            <a:p>
              <a:pPr algn="l">
                <a:lnSpc>
                  <a:spcPts val="2160"/>
                </a:lnSpc>
              </a:pPr>
              <a:r>
                <a:rPr lang="en-US" b="true" sz="1800" spc="225">
                  <a:solidFill>
                    <a:srgbClr val="00B4D8"/>
                  </a:solidFill>
                  <a:latin typeface="Calibri (MS) Bold"/>
                  <a:ea typeface="Calibri (MS) Bold"/>
                  <a:cs typeface="Calibri (MS) Bold"/>
                  <a:sym typeface="Calibri (MS) Bold"/>
                </a:rPr>
                <a:t>RISK MATRIX SORT · SCENARIO</a:t>
              </a:r>
            </a:p>
          </p:txBody>
        </p:sp>
      </p:grpSp>
      <p:grpSp>
        <p:nvGrpSpPr>
          <p:cNvPr name="Group 5" id="5"/>
          <p:cNvGrpSpPr/>
          <p:nvPr/>
        </p:nvGrpSpPr>
        <p:grpSpPr>
          <a:xfrm rot="0">
            <a:off x="960120" y="960120"/>
            <a:ext cx="10972800" cy="754380"/>
            <a:chOff x="0" y="0"/>
            <a:chExt cx="14630400" cy="1005840"/>
          </a:xfrm>
        </p:grpSpPr>
        <p:sp>
          <p:nvSpPr>
            <p:cNvPr name="Freeform 6" id="6"/>
            <p:cNvSpPr/>
            <p:nvPr/>
          </p:nvSpPr>
          <p:spPr>
            <a:xfrm flipH="false" flipV="false" rot="0">
              <a:off x="0" y="0"/>
              <a:ext cx="14630400" cy="1005840"/>
            </a:xfrm>
            <a:custGeom>
              <a:avLst/>
              <a:gdLst/>
              <a:ahLst/>
              <a:cxnLst/>
              <a:rect r="r" b="b" t="t" l="l"/>
              <a:pathLst>
                <a:path h="1005840" w="14630400">
                  <a:moveTo>
                    <a:pt x="0" y="0"/>
                  </a:moveTo>
                  <a:lnTo>
                    <a:pt x="14630400" y="0"/>
                  </a:lnTo>
                  <a:lnTo>
                    <a:pt x="14630400" y="1005840"/>
                  </a:lnTo>
                  <a:lnTo>
                    <a:pt x="0" y="1005840"/>
                  </a:lnTo>
                  <a:close/>
                </a:path>
              </a:pathLst>
            </a:custGeom>
            <a:blipFill>
              <a:blip r:embed="rId3">
                <a:alphaModFix amt="0"/>
              </a:blip>
              <a:stretch>
                <a:fillRect l="0" t="-233418" r="0" b="-233418"/>
              </a:stretch>
            </a:blipFill>
          </p:spPr>
        </p:sp>
        <p:sp>
          <p:nvSpPr>
            <p:cNvPr name="TextBox 7" id="7"/>
            <p:cNvSpPr txBox="true"/>
            <p:nvPr/>
          </p:nvSpPr>
          <p:spPr>
            <a:xfrm>
              <a:off x="0" y="-19050"/>
              <a:ext cx="14630400" cy="1024890"/>
            </a:xfrm>
            <a:prstGeom prst="rect">
              <a:avLst/>
            </a:prstGeom>
          </p:spPr>
          <p:txBody>
            <a:bodyPr anchor="ctr" rtlCol="false" tIns="0" lIns="0" bIns="0" rIns="0"/>
            <a:lstStyle/>
            <a:p>
              <a:pPr algn="l">
                <a:lnSpc>
                  <a:spcPts val="4320"/>
                </a:lnSpc>
              </a:pPr>
              <a:r>
                <a:rPr lang="en-US" sz="3600" b="true">
                  <a:solidFill>
                    <a:srgbClr val="1E2761"/>
                  </a:solidFill>
                  <a:latin typeface="Cambria Bold"/>
                  <a:ea typeface="Cambria Bold"/>
                  <a:cs typeface="Cambria Bold"/>
                  <a:sym typeface="Cambria Bold"/>
                </a:rPr>
                <a:t>Scenario 8</a:t>
              </a:r>
            </a:p>
          </p:txBody>
        </p:sp>
      </p:grpSp>
      <p:grpSp>
        <p:nvGrpSpPr>
          <p:cNvPr name="Group 8" id="8"/>
          <p:cNvGrpSpPr/>
          <p:nvPr/>
        </p:nvGrpSpPr>
        <p:grpSpPr>
          <a:xfrm rot="0">
            <a:off x="960120" y="1645920"/>
            <a:ext cx="8229600" cy="411480"/>
            <a:chOff x="0" y="0"/>
            <a:chExt cx="10972800" cy="548640"/>
          </a:xfrm>
        </p:grpSpPr>
        <p:sp>
          <p:nvSpPr>
            <p:cNvPr name="Freeform 9" id="9"/>
            <p:cNvSpPr/>
            <p:nvPr/>
          </p:nvSpPr>
          <p:spPr>
            <a:xfrm flipH="false" flipV="false" rot="0">
              <a:off x="0" y="0"/>
              <a:ext cx="10972800" cy="548640"/>
            </a:xfrm>
            <a:custGeom>
              <a:avLst/>
              <a:gdLst/>
              <a:ahLst/>
              <a:cxnLst/>
              <a:rect r="r" b="b" t="t" l="l"/>
              <a:pathLst>
                <a:path h="548640" w="10972800">
                  <a:moveTo>
                    <a:pt x="0" y="0"/>
                  </a:moveTo>
                  <a:lnTo>
                    <a:pt x="10972800" y="0"/>
                  </a:lnTo>
                  <a:lnTo>
                    <a:pt x="10972800" y="548640"/>
                  </a:lnTo>
                  <a:lnTo>
                    <a:pt x="0" y="548640"/>
                  </a:lnTo>
                  <a:close/>
                </a:path>
              </a:pathLst>
            </a:custGeom>
            <a:blipFill>
              <a:blip r:embed="rId3">
                <a:alphaModFix amt="0"/>
              </a:blip>
              <a:stretch>
                <a:fillRect l="0" t="-339700" r="0" b="-339700"/>
              </a:stretch>
            </a:blipFill>
          </p:spPr>
        </p:sp>
        <p:sp>
          <p:nvSpPr>
            <p:cNvPr name="TextBox 10" id="10"/>
            <p:cNvSpPr txBox="true"/>
            <p:nvPr/>
          </p:nvSpPr>
          <p:spPr>
            <a:xfrm>
              <a:off x="0" y="-28575"/>
              <a:ext cx="10972800" cy="577215"/>
            </a:xfrm>
            <a:prstGeom prst="rect">
              <a:avLst/>
            </a:prstGeom>
          </p:spPr>
          <p:txBody>
            <a:bodyPr anchor="ctr" rtlCol="false" tIns="0" lIns="0" bIns="0" rIns="0"/>
            <a:lstStyle/>
            <a:p>
              <a:pPr algn="l">
                <a:lnSpc>
                  <a:spcPts val="1980"/>
                </a:lnSpc>
              </a:pPr>
              <a:r>
                <a:rPr lang="en-US" sz="1650">
                  <a:solidFill>
                    <a:srgbClr val="6B7280"/>
                  </a:solidFill>
                  <a:latin typeface="Calibri (MS)"/>
                  <a:ea typeface="Calibri (MS)"/>
                  <a:cs typeface="Calibri (MS)"/>
                  <a:sym typeface="Calibri (MS)"/>
                </a:rPr>
                <a:t>8 of 8</a:t>
              </a:r>
            </a:p>
          </p:txBody>
        </p:sp>
      </p:grpSp>
      <p:grpSp>
        <p:nvGrpSpPr>
          <p:cNvPr name="Group 11" id="11"/>
          <p:cNvGrpSpPr/>
          <p:nvPr/>
        </p:nvGrpSpPr>
        <p:grpSpPr>
          <a:xfrm rot="0">
            <a:off x="960120" y="2194560"/>
            <a:ext cx="16322040" cy="2125980"/>
            <a:chOff x="0" y="0"/>
            <a:chExt cx="21762720" cy="2834640"/>
          </a:xfrm>
        </p:grpSpPr>
        <p:sp>
          <p:nvSpPr>
            <p:cNvPr name="Freeform 12" id="12"/>
            <p:cNvSpPr/>
            <p:nvPr/>
          </p:nvSpPr>
          <p:spPr>
            <a:xfrm flipH="false" flipV="false" rot="0">
              <a:off x="0" y="0"/>
              <a:ext cx="21762720" cy="2834640"/>
            </a:xfrm>
            <a:custGeom>
              <a:avLst/>
              <a:gdLst/>
              <a:ahLst/>
              <a:cxnLst/>
              <a:rect r="r" b="b" t="t" l="l"/>
              <a:pathLst>
                <a:path h="2834640" w="21762720">
                  <a:moveTo>
                    <a:pt x="0" y="182880"/>
                  </a:moveTo>
                  <a:cubicBezTo>
                    <a:pt x="0" y="81915"/>
                    <a:pt x="81915" y="0"/>
                    <a:pt x="182880" y="0"/>
                  </a:cubicBezTo>
                  <a:lnTo>
                    <a:pt x="21579839" y="0"/>
                  </a:lnTo>
                  <a:cubicBezTo>
                    <a:pt x="21680804" y="0"/>
                    <a:pt x="21762720" y="81915"/>
                    <a:pt x="21762720" y="182880"/>
                  </a:cubicBezTo>
                  <a:lnTo>
                    <a:pt x="21762720" y="2651760"/>
                  </a:lnTo>
                  <a:cubicBezTo>
                    <a:pt x="21762720" y="2752725"/>
                    <a:pt x="21680804" y="2834640"/>
                    <a:pt x="21579839" y="2834640"/>
                  </a:cubicBezTo>
                  <a:lnTo>
                    <a:pt x="182880" y="2834640"/>
                  </a:lnTo>
                  <a:cubicBezTo>
                    <a:pt x="81915" y="2834640"/>
                    <a:pt x="0" y="2752725"/>
                    <a:pt x="0" y="2651760"/>
                  </a:cubicBezTo>
                  <a:close/>
                </a:path>
              </a:pathLst>
            </a:custGeom>
            <a:solidFill>
              <a:srgbClr val="F4F7FC"/>
            </a:solidFill>
          </p:spPr>
        </p:sp>
      </p:grpSp>
      <p:grpSp>
        <p:nvGrpSpPr>
          <p:cNvPr name="Group 13" id="13"/>
          <p:cNvGrpSpPr/>
          <p:nvPr/>
        </p:nvGrpSpPr>
        <p:grpSpPr>
          <a:xfrm rot="0">
            <a:off x="1371600" y="2441448"/>
            <a:ext cx="15499080" cy="1645920"/>
            <a:chOff x="0" y="0"/>
            <a:chExt cx="20665440" cy="2194560"/>
          </a:xfrm>
        </p:grpSpPr>
        <p:sp>
          <p:nvSpPr>
            <p:cNvPr name="Freeform 14" id="14"/>
            <p:cNvSpPr/>
            <p:nvPr/>
          </p:nvSpPr>
          <p:spPr>
            <a:xfrm flipH="false" flipV="false" rot="0">
              <a:off x="0" y="0"/>
              <a:ext cx="20665439" cy="2194560"/>
            </a:xfrm>
            <a:custGeom>
              <a:avLst/>
              <a:gdLst/>
              <a:ahLst/>
              <a:cxnLst/>
              <a:rect r="r" b="b" t="t" l="l"/>
              <a:pathLst>
                <a:path h="2194560" w="20665439">
                  <a:moveTo>
                    <a:pt x="0" y="0"/>
                  </a:moveTo>
                  <a:lnTo>
                    <a:pt x="20665439" y="0"/>
                  </a:lnTo>
                  <a:lnTo>
                    <a:pt x="20665439" y="2194560"/>
                  </a:lnTo>
                  <a:lnTo>
                    <a:pt x="0" y="2194560"/>
                  </a:lnTo>
                  <a:close/>
                </a:path>
              </a:pathLst>
            </a:custGeom>
            <a:blipFill>
              <a:blip r:embed="rId3">
                <a:alphaModFix amt="0"/>
              </a:blip>
              <a:stretch>
                <a:fillRect l="0" t="-133484" r="0" b="-133484"/>
              </a:stretch>
            </a:blipFill>
          </p:spPr>
        </p:sp>
        <p:sp>
          <p:nvSpPr>
            <p:cNvPr name="TextBox 15" id="15"/>
            <p:cNvSpPr txBox="true"/>
            <p:nvPr/>
          </p:nvSpPr>
          <p:spPr>
            <a:xfrm>
              <a:off x="0" y="-85725"/>
              <a:ext cx="20665440" cy="2280285"/>
            </a:xfrm>
            <a:prstGeom prst="rect">
              <a:avLst/>
            </a:prstGeom>
          </p:spPr>
          <p:txBody>
            <a:bodyPr anchor="ctr" rtlCol="false" tIns="0" lIns="0" bIns="0" rIns="0"/>
            <a:lstStyle/>
            <a:p>
              <a:pPr algn="l">
                <a:lnSpc>
                  <a:spcPts val="3600"/>
                </a:lnSpc>
              </a:pPr>
              <a:r>
                <a:rPr lang="en-US" sz="2400" i="true">
                  <a:solidFill>
                    <a:srgbClr val="23262F"/>
                  </a:solidFill>
                  <a:latin typeface="Cambria Italics"/>
                  <a:ea typeface="Cambria Italics"/>
                  <a:cs typeface="Cambria Italics"/>
                  <a:sym typeface="Cambria Italics"/>
                </a:rPr>
                <a:t>“An old permit-tracking system that nobody uses anymore is still plugged into the network and hasn't been patched in years.”</a:t>
              </a:r>
            </a:p>
          </p:txBody>
        </p:sp>
      </p:grpSp>
      <p:grpSp>
        <p:nvGrpSpPr>
          <p:cNvPr name="Group 16" id="16"/>
          <p:cNvGrpSpPr/>
          <p:nvPr/>
        </p:nvGrpSpPr>
        <p:grpSpPr>
          <a:xfrm rot="0">
            <a:off x="960120" y="4594860"/>
            <a:ext cx="16322040" cy="685800"/>
            <a:chOff x="0" y="0"/>
            <a:chExt cx="21762720" cy="914400"/>
          </a:xfrm>
        </p:grpSpPr>
        <p:sp>
          <p:nvSpPr>
            <p:cNvPr name="Freeform 17" id="17"/>
            <p:cNvSpPr/>
            <p:nvPr/>
          </p:nvSpPr>
          <p:spPr>
            <a:xfrm flipH="false" flipV="false" rot="0">
              <a:off x="0" y="0"/>
              <a:ext cx="21762720" cy="914400"/>
            </a:xfrm>
            <a:custGeom>
              <a:avLst/>
              <a:gdLst/>
              <a:ahLst/>
              <a:cxnLst/>
              <a:rect r="r" b="b" t="t" l="l"/>
              <a:pathLst>
                <a:path h="914400" w="21762720">
                  <a:moveTo>
                    <a:pt x="0" y="0"/>
                  </a:moveTo>
                  <a:lnTo>
                    <a:pt x="21762720" y="0"/>
                  </a:lnTo>
                  <a:lnTo>
                    <a:pt x="21762720" y="914400"/>
                  </a:lnTo>
                  <a:lnTo>
                    <a:pt x="0" y="914400"/>
                  </a:lnTo>
                  <a:close/>
                </a:path>
              </a:pathLst>
            </a:custGeom>
            <a:blipFill>
              <a:blip r:embed="rId3">
                <a:alphaModFix amt="0"/>
              </a:blip>
              <a:stretch>
                <a:fillRect l="0" t="-413743" r="0" b="-413743"/>
              </a:stretch>
            </a:blipFill>
          </p:spPr>
        </p:sp>
        <p:sp>
          <p:nvSpPr>
            <p:cNvPr name="TextBox 18" id="18"/>
            <p:cNvSpPr txBox="true"/>
            <p:nvPr/>
          </p:nvSpPr>
          <p:spPr>
            <a:xfrm>
              <a:off x="0" y="-47625"/>
              <a:ext cx="21762720" cy="962025"/>
            </a:xfrm>
            <a:prstGeom prst="rect">
              <a:avLst/>
            </a:prstGeom>
          </p:spPr>
          <p:txBody>
            <a:bodyPr anchor="ctr" rtlCol="false" tIns="0" lIns="0" bIns="0" rIns="0"/>
            <a:lstStyle/>
            <a:p>
              <a:pPr algn="ctr">
                <a:lnSpc>
                  <a:spcPts val="2520"/>
                </a:lnSpc>
              </a:pPr>
              <a:r>
                <a:rPr lang="en-US" sz="2100" i="true">
                  <a:solidFill>
                    <a:srgbClr val="6B7280"/>
                  </a:solidFill>
                  <a:latin typeface="Calibri (MS) Italics"/>
                  <a:ea typeface="Calibri (MS) Italics"/>
                  <a:cs typeface="Calibri (MS) Italics"/>
                  <a:sym typeface="Calibri (MS) Italics"/>
                </a:rPr>
                <a:t>Rate the likelihood, rate the impact, then pick a response. Discuss, then we'll reveal the answer.</a:t>
              </a:r>
            </a:p>
          </p:txBody>
        </p:sp>
      </p:grpSp>
      <p:grpSp>
        <p:nvGrpSpPr>
          <p:cNvPr name="Group 19" id="19"/>
          <p:cNvGrpSpPr/>
          <p:nvPr/>
        </p:nvGrpSpPr>
        <p:grpSpPr>
          <a:xfrm rot="0">
            <a:off x="960120" y="5486400"/>
            <a:ext cx="16322040" cy="384048"/>
            <a:chOff x="0" y="0"/>
            <a:chExt cx="21762720" cy="512064"/>
          </a:xfrm>
        </p:grpSpPr>
        <p:sp>
          <p:nvSpPr>
            <p:cNvPr name="Freeform 20" id="20"/>
            <p:cNvSpPr/>
            <p:nvPr/>
          </p:nvSpPr>
          <p:spPr>
            <a:xfrm flipH="false" flipV="false" rot="0">
              <a:off x="0" y="0"/>
              <a:ext cx="21762720" cy="512064"/>
            </a:xfrm>
            <a:custGeom>
              <a:avLst/>
              <a:gdLst/>
              <a:ahLst/>
              <a:cxnLst/>
              <a:rect r="r" b="b" t="t" l="l"/>
              <a:pathLst>
                <a:path h="512064" w="21762720">
                  <a:moveTo>
                    <a:pt x="0" y="0"/>
                  </a:moveTo>
                  <a:lnTo>
                    <a:pt x="21762720" y="0"/>
                  </a:lnTo>
                  <a:lnTo>
                    <a:pt x="21762720" y="512064"/>
                  </a:lnTo>
                  <a:lnTo>
                    <a:pt x="0" y="512064"/>
                  </a:lnTo>
                  <a:close/>
                </a:path>
              </a:pathLst>
            </a:custGeom>
            <a:blipFill>
              <a:blip r:embed="rId3">
                <a:alphaModFix amt="0"/>
              </a:blip>
              <a:stretch>
                <a:fillRect l="0" t="-778114" r="0" b="-778114"/>
              </a:stretch>
            </a:blipFill>
          </p:spPr>
        </p:sp>
        <p:sp>
          <p:nvSpPr>
            <p:cNvPr name="TextBox 21" id="21"/>
            <p:cNvSpPr txBox="true"/>
            <p:nvPr/>
          </p:nvSpPr>
          <p:spPr>
            <a:xfrm>
              <a:off x="0" y="-19050"/>
              <a:ext cx="21762720" cy="531114"/>
            </a:xfrm>
            <a:prstGeom prst="rect">
              <a:avLst/>
            </a:prstGeom>
          </p:spPr>
          <p:txBody>
            <a:bodyPr anchor="ctr" rtlCol="false" tIns="0" lIns="0" bIns="0" rIns="0"/>
            <a:lstStyle/>
            <a:p>
              <a:pPr algn="ctr">
                <a:lnSpc>
                  <a:spcPts val="1889"/>
                </a:lnSpc>
              </a:pPr>
              <a:r>
                <a:rPr lang="en-US" b="true" sz="1575" spc="74">
                  <a:solidFill>
                    <a:srgbClr val="6B7280"/>
                  </a:solidFill>
                  <a:latin typeface="Calibri (MS) Bold"/>
                  <a:ea typeface="Calibri (MS) Bold"/>
                  <a:cs typeface="Calibri (MS) Bold"/>
                  <a:sym typeface="Calibri (MS) Bold"/>
                </a:rPr>
                <a:t>SCALE FOR LIKELIHOOD &amp; IMPACT</a:t>
              </a:r>
            </a:p>
          </p:txBody>
        </p:sp>
      </p:grpSp>
      <p:grpSp>
        <p:nvGrpSpPr>
          <p:cNvPr name="Group 22" id="22"/>
          <p:cNvGrpSpPr/>
          <p:nvPr/>
        </p:nvGrpSpPr>
        <p:grpSpPr>
          <a:xfrm rot="0">
            <a:off x="3371469" y="5915787"/>
            <a:ext cx="3585210" cy="773430"/>
            <a:chOff x="0" y="0"/>
            <a:chExt cx="4780280" cy="1031240"/>
          </a:xfrm>
        </p:grpSpPr>
        <p:sp>
          <p:nvSpPr>
            <p:cNvPr name="Freeform 23" id="23"/>
            <p:cNvSpPr/>
            <p:nvPr/>
          </p:nvSpPr>
          <p:spPr>
            <a:xfrm flipH="false" flipV="false" rot="0">
              <a:off x="0" y="0"/>
              <a:ext cx="4780280" cy="1031240"/>
            </a:xfrm>
            <a:custGeom>
              <a:avLst/>
              <a:gdLst/>
              <a:ahLst/>
              <a:cxnLst/>
              <a:rect r="r" b="b" t="t" l="l"/>
              <a:pathLst>
                <a:path h="1031240" w="4780280">
                  <a:moveTo>
                    <a:pt x="0" y="168783"/>
                  </a:moveTo>
                  <a:cubicBezTo>
                    <a:pt x="0" y="75565"/>
                    <a:pt x="75565" y="0"/>
                    <a:pt x="168783" y="0"/>
                  </a:cubicBezTo>
                  <a:lnTo>
                    <a:pt x="4611497" y="0"/>
                  </a:lnTo>
                  <a:cubicBezTo>
                    <a:pt x="4704715" y="0"/>
                    <a:pt x="4780280" y="75565"/>
                    <a:pt x="4780280" y="168783"/>
                  </a:cubicBezTo>
                  <a:lnTo>
                    <a:pt x="4780280" y="862457"/>
                  </a:lnTo>
                  <a:cubicBezTo>
                    <a:pt x="4780280" y="955675"/>
                    <a:pt x="4704715" y="1031240"/>
                    <a:pt x="4611497" y="1031240"/>
                  </a:cubicBezTo>
                  <a:lnTo>
                    <a:pt x="168783" y="1031240"/>
                  </a:lnTo>
                  <a:cubicBezTo>
                    <a:pt x="75565" y="1031240"/>
                    <a:pt x="0" y="955675"/>
                    <a:pt x="0" y="862457"/>
                  </a:cubicBezTo>
                  <a:close/>
                </a:path>
              </a:pathLst>
            </a:custGeom>
            <a:solidFill>
              <a:srgbClr val="F4F7FC"/>
            </a:solidFill>
            <a:ln w="19050" cap="sq">
              <a:solidFill>
                <a:srgbClr val="D7DCEC"/>
              </a:solidFill>
              <a:prstDash val="solid"/>
              <a:miter/>
            </a:ln>
          </p:spPr>
        </p:sp>
      </p:grpSp>
      <p:grpSp>
        <p:nvGrpSpPr>
          <p:cNvPr name="Group 24" id="24"/>
          <p:cNvGrpSpPr/>
          <p:nvPr/>
        </p:nvGrpSpPr>
        <p:grpSpPr>
          <a:xfrm rot="0">
            <a:off x="3380994" y="5925312"/>
            <a:ext cx="3566160" cy="754380"/>
            <a:chOff x="0" y="0"/>
            <a:chExt cx="4754880" cy="1005840"/>
          </a:xfrm>
        </p:grpSpPr>
        <p:sp>
          <p:nvSpPr>
            <p:cNvPr name="Freeform 25" id="25"/>
            <p:cNvSpPr/>
            <p:nvPr/>
          </p:nvSpPr>
          <p:spPr>
            <a:xfrm flipH="false" flipV="false" rot="0">
              <a:off x="0" y="0"/>
              <a:ext cx="4754880" cy="1005840"/>
            </a:xfrm>
            <a:custGeom>
              <a:avLst/>
              <a:gdLst/>
              <a:ahLst/>
              <a:cxnLst/>
              <a:rect r="r" b="b" t="t" l="l"/>
              <a:pathLst>
                <a:path h="1005840" w="4754880">
                  <a:moveTo>
                    <a:pt x="0" y="0"/>
                  </a:moveTo>
                  <a:lnTo>
                    <a:pt x="4754880" y="0"/>
                  </a:lnTo>
                  <a:lnTo>
                    <a:pt x="4754880" y="1005840"/>
                  </a:lnTo>
                  <a:lnTo>
                    <a:pt x="0" y="1005840"/>
                  </a:lnTo>
                  <a:close/>
                </a:path>
              </a:pathLst>
            </a:custGeom>
            <a:blipFill>
              <a:blip r:embed="rId3">
                <a:alphaModFix amt="0"/>
              </a:blip>
              <a:stretch>
                <a:fillRect l="0" t="-42111" r="0" b="-42111"/>
              </a:stretch>
            </a:blipFill>
          </p:spPr>
        </p:sp>
        <p:sp>
          <p:nvSpPr>
            <p:cNvPr name="TextBox 26" id="26"/>
            <p:cNvSpPr txBox="true"/>
            <p:nvPr/>
          </p:nvSpPr>
          <p:spPr>
            <a:xfrm>
              <a:off x="0" y="-47625"/>
              <a:ext cx="4754880" cy="1053465"/>
            </a:xfrm>
            <a:prstGeom prst="rect">
              <a:avLst/>
            </a:prstGeom>
          </p:spPr>
          <p:txBody>
            <a:bodyPr anchor="ctr" rtlCol="false" tIns="0" lIns="0" bIns="0" rIns="0"/>
            <a:lstStyle/>
            <a:p>
              <a:pPr algn="ctr">
                <a:lnSpc>
                  <a:spcPts val="2340"/>
                </a:lnSpc>
              </a:pPr>
              <a:r>
                <a:rPr lang="en-US" sz="1950">
                  <a:solidFill>
                    <a:srgbClr val="6B7280"/>
                  </a:solidFill>
                  <a:latin typeface="Calibri (MS)"/>
                  <a:ea typeface="Calibri (MS)"/>
                  <a:cs typeface="Calibri (MS)"/>
                  <a:sym typeface="Calibri (MS)"/>
                </a:rPr>
                <a:t>Low</a:t>
              </a:r>
            </a:p>
          </p:txBody>
        </p:sp>
      </p:grpSp>
      <p:grpSp>
        <p:nvGrpSpPr>
          <p:cNvPr name="Group 27" id="27"/>
          <p:cNvGrpSpPr/>
          <p:nvPr/>
        </p:nvGrpSpPr>
        <p:grpSpPr>
          <a:xfrm rot="0">
            <a:off x="7349109" y="5915787"/>
            <a:ext cx="3585210" cy="773430"/>
            <a:chOff x="0" y="0"/>
            <a:chExt cx="4780280" cy="1031240"/>
          </a:xfrm>
        </p:grpSpPr>
        <p:sp>
          <p:nvSpPr>
            <p:cNvPr name="Freeform 28" id="28"/>
            <p:cNvSpPr/>
            <p:nvPr/>
          </p:nvSpPr>
          <p:spPr>
            <a:xfrm flipH="false" flipV="false" rot="0">
              <a:off x="0" y="0"/>
              <a:ext cx="4780280" cy="1031240"/>
            </a:xfrm>
            <a:custGeom>
              <a:avLst/>
              <a:gdLst/>
              <a:ahLst/>
              <a:cxnLst/>
              <a:rect r="r" b="b" t="t" l="l"/>
              <a:pathLst>
                <a:path h="1031240" w="4780280">
                  <a:moveTo>
                    <a:pt x="0" y="168783"/>
                  </a:moveTo>
                  <a:cubicBezTo>
                    <a:pt x="0" y="75565"/>
                    <a:pt x="75565" y="0"/>
                    <a:pt x="168783" y="0"/>
                  </a:cubicBezTo>
                  <a:lnTo>
                    <a:pt x="4611497" y="0"/>
                  </a:lnTo>
                  <a:cubicBezTo>
                    <a:pt x="4704715" y="0"/>
                    <a:pt x="4780280" y="75565"/>
                    <a:pt x="4780280" y="168783"/>
                  </a:cubicBezTo>
                  <a:lnTo>
                    <a:pt x="4780280" y="862457"/>
                  </a:lnTo>
                  <a:cubicBezTo>
                    <a:pt x="4780280" y="955675"/>
                    <a:pt x="4704715" y="1031240"/>
                    <a:pt x="4611497" y="1031240"/>
                  </a:cubicBezTo>
                  <a:lnTo>
                    <a:pt x="168783" y="1031240"/>
                  </a:lnTo>
                  <a:cubicBezTo>
                    <a:pt x="75565" y="1031240"/>
                    <a:pt x="0" y="955675"/>
                    <a:pt x="0" y="862457"/>
                  </a:cubicBezTo>
                  <a:close/>
                </a:path>
              </a:pathLst>
            </a:custGeom>
            <a:solidFill>
              <a:srgbClr val="F4F7FC"/>
            </a:solidFill>
            <a:ln w="19050" cap="sq">
              <a:solidFill>
                <a:srgbClr val="D7DCEC"/>
              </a:solidFill>
              <a:prstDash val="solid"/>
              <a:miter/>
            </a:ln>
          </p:spPr>
        </p:sp>
      </p:grpSp>
      <p:grpSp>
        <p:nvGrpSpPr>
          <p:cNvPr name="Group 29" id="29"/>
          <p:cNvGrpSpPr/>
          <p:nvPr/>
        </p:nvGrpSpPr>
        <p:grpSpPr>
          <a:xfrm rot="0">
            <a:off x="7358634" y="5925312"/>
            <a:ext cx="3566160" cy="754380"/>
            <a:chOff x="0" y="0"/>
            <a:chExt cx="4754880" cy="1005840"/>
          </a:xfrm>
        </p:grpSpPr>
        <p:sp>
          <p:nvSpPr>
            <p:cNvPr name="Freeform 30" id="30"/>
            <p:cNvSpPr/>
            <p:nvPr/>
          </p:nvSpPr>
          <p:spPr>
            <a:xfrm flipH="false" flipV="false" rot="0">
              <a:off x="0" y="0"/>
              <a:ext cx="4754880" cy="1005840"/>
            </a:xfrm>
            <a:custGeom>
              <a:avLst/>
              <a:gdLst/>
              <a:ahLst/>
              <a:cxnLst/>
              <a:rect r="r" b="b" t="t" l="l"/>
              <a:pathLst>
                <a:path h="1005840" w="4754880">
                  <a:moveTo>
                    <a:pt x="0" y="0"/>
                  </a:moveTo>
                  <a:lnTo>
                    <a:pt x="4754880" y="0"/>
                  </a:lnTo>
                  <a:lnTo>
                    <a:pt x="4754880" y="1005840"/>
                  </a:lnTo>
                  <a:lnTo>
                    <a:pt x="0" y="1005840"/>
                  </a:lnTo>
                  <a:close/>
                </a:path>
              </a:pathLst>
            </a:custGeom>
            <a:blipFill>
              <a:blip r:embed="rId3">
                <a:alphaModFix amt="0"/>
              </a:blip>
              <a:stretch>
                <a:fillRect l="0" t="-42111" r="0" b="-42111"/>
              </a:stretch>
            </a:blipFill>
          </p:spPr>
        </p:sp>
        <p:sp>
          <p:nvSpPr>
            <p:cNvPr name="TextBox 31" id="31"/>
            <p:cNvSpPr txBox="true"/>
            <p:nvPr/>
          </p:nvSpPr>
          <p:spPr>
            <a:xfrm>
              <a:off x="0" y="-47625"/>
              <a:ext cx="4754880" cy="1053465"/>
            </a:xfrm>
            <a:prstGeom prst="rect">
              <a:avLst/>
            </a:prstGeom>
          </p:spPr>
          <p:txBody>
            <a:bodyPr anchor="ctr" rtlCol="false" tIns="0" lIns="0" bIns="0" rIns="0"/>
            <a:lstStyle/>
            <a:p>
              <a:pPr algn="ctr">
                <a:lnSpc>
                  <a:spcPts val="2340"/>
                </a:lnSpc>
              </a:pPr>
              <a:r>
                <a:rPr lang="en-US" sz="1950">
                  <a:solidFill>
                    <a:srgbClr val="6B7280"/>
                  </a:solidFill>
                  <a:latin typeface="Calibri (MS)"/>
                  <a:ea typeface="Calibri (MS)"/>
                  <a:cs typeface="Calibri (MS)"/>
                  <a:sym typeface="Calibri (MS)"/>
                </a:rPr>
                <a:t>Medium</a:t>
              </a:r>
            </a:p>
          </p:txBody>
        </p:sp>
      </p:grpSp>
      <p:grpSp>
        <p:nvGrpSpPr>
          <p:cNvPr name="Group 32" id="32"/>
          <p:cNvGrpSpPr/>
          <p:nvPr/>
        </p:nvGrpSpPr>
        <p:grpSpPr>
          <a:xfrm rot="0">
            <a:off x="11326749" y="5915787"/>
            <a:ext cx="3585210" cy="773430"/>
            <a:chOff x="0" y="0"/>
            <a:chExt cx="4780280" cy="1031240"/>
          </a:xfrm>
        </p:grpSpPr>
        <p:sp>
          <p:nvSpPr>
            <p:cNvPr name="Freeform 33" id="33"/>
            <p:cNvSpPr/>
            <p:nvPr/>
          </p:nvSpPr>
          <p:spPr>
            <a:xfrm flipH="false" flipV="false" rot="0">
              <a:off x="0" y="0"/>
              <a:ext cx="4780280" cy="1031240"/>
            </a:xfrm>
            <a:custGeom>
              <a:avLst/>
              <a:gdLst/>
              <a:ahLst/>
              <a:cxnLst/>
              <a:rect r="r" b="b" t="t" l="l"/>
              <a:pathLst>
                <a:path h="1031240" w="4780280">
                  <a:moveTo>
                    <a:pt x="0" y="168783"/>
                  </a:moveTo>
                  <a:cubicBezTo>
                    <a:pt x="0" y="75565"/>
                    <a:pt x="75565" y="0"/>
                    <a:pt x="168783" y="0"/>
                  </a:cubicBezTo>
                  <a:lnTo>
                    <a:pt x="4611497" y="0"/>
                  </a:lnTo>
                  <a:cubicBezTo>
                    <a:pt x="4704715" y="0"/>
                    <a:pt x="4780280" y="75565"/>
                    <a:pt x="4780280" y="168783"/>
                  </a:cubicBezTo>
                  <a:lnTo>
                    <a:pt x="4780280" y="862457"/>
                  </a:lnTo>
                  <a:cubicBezTo>
                    <a:pt x="4780280" y="955675"/>
                    <a:pt x="4704715" y="1031240"/>
                    <a:pt x="4611497" y="1031240"/>
                  </a:cubicBezTo>
                  <a:lnTo>
                    <a:pt x="168783" y="1031240"/>
                  </a:lnTo>
                  <a:cubicBezTo>
                    <a:pt x="75565" y="1031240"/>
                    <a:pt x="0" y="955675"/>
                    <a:pt x="0" y="862457"/>
                  </a:cubicBezTo>
                  <a:close/>
                </a:path>
              </a:pathLst>
            </a:custGeom>
            <a:solidFill>
              <a:srgbClr val="F4F7FC"/>
            </a:solidFill>
            <a:ln w="19050" cap="sq">
              <a:solidFill>
                <a:srgbClr val="D7DCEC"/>
              </a:solidFill>
              <a:prstDash val="solid"/>
              <a:miter/>
            </a:ln>
          </p:spPr>
        </p:sp>
      </p:grpSp>
      <p:grpSp>
        <p:nvGrpSpPr>
          <p:cNvPr name="Group 34" id="34"/>
          <p:cNvGrpSpPr/>
          <p:nvPr/>
        </p:nvGrpSpPr>
        <p:grpSpPr>
          <a:xfrm rot="0">
            <a:off x="11336274" y="5925312"/>
            <a:ext cx="3566160" cy="754380"/>
            <a:chOff x="0" y="0"/>
            <a:chExt cx="4754880" cy="1005840"/>
          </a:xfrm>
        </p:grpSpPr>
        <p:sp>
          <p:nvSpPr>
            <p:cNvPr name="Freeform 35" id="35"/>
            <p:cNvSpPr/>
            <p:nvPr/>
          </p:nvSpPr>
          <p:spPr>
            <a:xfrm flipH="false" flipV="false" rot="0">
              <a:off x="0" y="0"/>
              <a:ext cx="4754880" cy="1005840"/>
            </a:xfrm>
            <a:custGeom>
              <a:avLst/>
              <a:gdLst/>
              <a:ahLst/>
              <a:cxnLst/>
              <a:rect r="r" b="b" t="t" l="l"/>
              <a:pathLst>
                <a:path h="1005840" w="4754880">
                  <a:moveTo>
                    <a:pt x="0" y="0"/>
                  </a:moveTo>
                  <a:lnTo>
                    <a:pt x="4754880" y="0"/>
                  </a:lnTo>
                  <a:lnTo>
                    <a:pt x="4754880" y="1005840"/>
                  </a:lnTo>
                  <a:lnTo>
                    <a:pt x="0" y="1005840"/>
                  </a:lnTo>
                  <a:close/>
                </a:path>
              </a:pathLst>
            </a:custGeom>
            <a:blipFill>
              <a:blip r:embed="rId3">
                <a:alphaModFix amt="0"/>
              </a:blip>
              <a:stretch>
                <a:fillRect l="0" t="-42111" r="0" b="-42111"/>
              </a:stretch>
            </a:blipFill>
          </p:spPr>
        </p:sp>
        <p:sp>
          <p:nvSpPr>
            <p:cNvPr name="TextBox 36" id="36"/>
            <p:cNvSpPr txBox="true"/>
            <p:nvPr/>
          </p:nvSpPr>
          <p:spPr>
            <a:xfrm>
              <a:off x="0" y="-47625"/>
              <a:ext cx="4754880" cy="1053465"/>
            </a:xfrm>
            <a:prstGeom prst="rect">
              <a:avLst/>
            </a:prstGeom>
          </p:spPr>
          <p:txBody>
            <a:bodyPr anchor="ctr" rtlCol="false" tIns="0" lIns="0" bIns="0" rIns="0"/>
            <a:lstStyle/>
            <a:p>
              <a:pPr algn="ctr">
                <a:lnSpc>
                  <a:spcPts val="2340"/>
                </a:lnSpc>
              </a:pPr>
              <a:r>
                <a:rPr lang="en-US" sz="1950">
                  <a:solidFill>
                    <a:srgbClr val="6B7280"/>
                  </a:solidFill>
                  <a:latin typeface="Calibri (MS)"/>
                  <a:ea typeface="Calibri (MS)"/>
                  <a:cs typeface="Calibri (MS)"/>
                  <a:sym typeface="Calibri (MS)"/>
                </a:rPr>
                <a:t>High</a:t>
              </a:r>
            </a:p>
          </p:txBody>
        </p:sp>
      </p:grpSp>
      <p:grpSp>
        <p:nvGrpSpPr>
          <p:cNvPr name="Group 37" id="37"/>
          <p:cNvGrpSpPr/>
          <p:nvPr/>
        </p:nvGrpSpPr>
        <p:grpSpPr>
          <a:xfrm rot="0">
            <a:off x="960120" y="7063740"/>
            <a:ext cx="16322040" cy="384048"/>
            <a:chOff x="0" y="0"/>
            <a:chExt cx="21762720" cy="512064"/>
          </a:xfrm>
        </p:grpSpPr>
        <p:sp>
          <p:nvSpPr>
            <p:cNvPr name="Freeform 38" id="38"/>
            <p:cNvSpPr/>
            <p:nvPr/>
          </p:nvSpPr>
          <p:spPr>
            <a:xfrm flipH="false" flipV="false" rot="0">
              <a:off x="0" y="0"/>
              <a:ext cx="21762720" cy="512064"/>
            </a:xfrm>
            <a:custGeom>
              <a:avLst/>
              <a:gdLst/>
              <a:ahLst/>
              <a:cxnLst/>
              <a:rect r="r" b="b" t="t" l="l"/>
              <a:pathLst>
                <a:path h="512064" w="21762720">
                  <a:moveTo>
                    <a:pt x="0" y="0"/>
                  </a:moveTo>
                  <a:lnTo>
                    <a:pt x="21762720" y="0"/>
                  </a:lnTo>
                  <a:lnTo>
                    <a:pt x="21762720" y="512064"/>
                  </a:lnTo>
                  <a:lnTo>
                    <a:pt x="0" y="512064"/>
                  </a:lnTo>
                  <a:close/>
                </a:path>
              </a:pathLst>
            </a:custGeom>
            <a:blipFill>
              <a:blip r:embed="rId3">
                <a:alphaModFix amt="0"/>
              </a:blip>
              <a:stretch>
                <a:fillRect l="0" t="-778114" r="0" b="-778114"/>
              </a:stretch>
            </a:blipFill>
          </p:spPr>
        </p:sp>
        <p:sp>
          <p:nvSpPr>
            <p:cNvPr name="TextBox 39" id="39"/>
            <p:cNvSpPr txBox="true"/>
            <p:nvPr/>
          </p:nvSpPr>
          <p:spPr>
            <a:xfrm>
              <a:off x="0" y="-19050"/>
              <a:ext cx="21762720" cy="531114"/>
            </a:xfrm>
            <a:prstGeom prst="rect">
              <a:avLst/>
            </a:prstGeom>
          </p:spPr>
          <p:txBody>
            <a:bodyPr anchor="ctr" rtlCol="false" tIns="0" lIns="0" bIns="0" rIns="0"/>
            <a:lstStyle/>
            <a:p>
              <a:pPr algn="ctr">
                <a:lnSpc>
                  <a:spcPts val="1889"/>
                </a:lnSpc>
              </a:pPr>
              <a:r>
                <a:rPr lang="en-US" b="true" sz="1575" spc="74">
                  <a:solidFill>
                    <a:srgbClr val="6B7280"/>
                  </a:solidFill>
                  <a:latin typeface="Calibri (MS) Bold"/>
                  <a:ea typeface="Calibri (MS) Bold"/>
                  <a:cs typeface="Calibri (MS) Bold"/>
                  <a:sym typeface="Calibri (MS) Bold"/>
                </a:rPr>
                <a:t>RESPONSE OPTIONS</a:t>
              </a:r>
            </a:p>
          </p:txBody>
        </p:sp>
      </p:grpSp>
      <p:grpSp>
        <p:nvGrpSpPr>
          <p:cNvPr name="Group 40" id="40"/>
          <p:cNvGrpSpPr/>
          <p:nvPr/>
        </p:nvGrpSpPr>
        <p:grpSpPr>
          <a:xfrm rot="0">
            <a:off x="1012317" y="7493127"/>
            <a:ext cx="3790950" cy="773430"/>
            <a:chOff x="0" y="0"/>
            <a:chExt cx="5054600" cy="1031240"/>
          </a:xfrm>
        </p:grpSpPr>
        <p:sp>
          <p:nvSpPr>
            <p:cNvPr name="Freeform 41" id="41"/>
            <p:cNvSpPr/>
            <p:nvPr/>
          </p:nvSpPr>
          <p:spPr>
            <a:xfrm flipH="false" flipV="false" rot="0">
              <a:off x="0" y="0"/>
              <a:ext cx="5054600" cy="1031240"/>
            </a:xfrm>
            <a:custGeom>
              <a:avLst/>
              <a:gdLst/>
              <a:ahLst/>
              <a:cxnLst/>
              <a:rect r="r" b="b" t="t" l="l"/>
              <a:pathLst>
                <a:path h="1031240" w="5054600">
                  <a:moveTo>
                    <a:pt x="0" y="168783"/>
                  </a:moveTo>
                  <a:cubicBezTo>
                    <a:pt x="0" y="75565"/>
                    <a:pt x="75565" y="0"/>
                    <a:pt x="168783" y="0"/>
                  </a:cubicBezTo>
                  <a:lnTo>
                    <a:pt x="4885817" y="0"/>
                  </a:lnTo>
                  <a:cubicBezTo>
                    <a:pt x="4979035" y="0"/>
                    <a:pt x="5054600" y="75565"/>
                    <a:pt x="5054600" y="168783"/>
                  </a:cubicBezTo>
                  <a:lnTo>
                    <a:pt x="5054600" y="862457"/>
                  </a:lnTo>
                  <a:cubicBezTo>
                    <a:pt x="5054600" y="955675"/>
                    <a:pt x="4979035" y="1031240"/>
                    <a:pt x="4885817" y="1031240"/>
                  </a:cubicBezTo>
                  <a:lnTo>
                    <a:pt x="168783" y="1031240"/>
                  </a:lnTo>
                  <a:cubicBezTo>
                    <a:pt x="75565" y="1031240"/>
                    <a:pt x="0" y="955675"/>
                    <a:pt x="0" y="862457"/>
                  </a:cubicBezTo>
                  <a:close/>
                </a:path>
              </a:pathLst>
            </a:custGeom>
            <a:solidFill>
              <a:srgbClr val="F4F7FC"/>
            </a:solidFill>
            <a:ln w="19050" cap="sq">
              <a:solidFill>
                <a:srgbClr val="D7DCEC"/>
              </a:solidFill>
              <a:prstDash val="solid"/>
              <a:miter/>
            </a:ln>
          </p:spPr>
        </p:sp>
      </p:grpSp>
      <p:grpSp>
        <p:nvGrpSpPr>
          <p:cNvPr name="Group 42" id="42"/>
          <p:cNvGrpSpPr/>
          <p:nvPr/>
        </p:nvGrpSpPr>
        <p:grpSpPr>
          <a:xfrm rot="0">
            <a:off x="1021842" y="7502652"/>
            <a:ext cx="3771900" cy="754380"/>
            <a:chOff x="0" y="0"/>
            <a:chExt cx="5029200" cy="1005840"/>
          </a:xfrm>
        </p:grpSpPr>
        <p:sp>
          <p:nvSpPr>
            <p:cNvPr name="Freeform 43" id="43"/>
            <p:cNvSpPr/>
            <p:nvPr/>
          </p:nvSpPr>
          <p:spPr>
            <a:xfrm flipH="false" flipV="false" rot="0">
              <a:off x="0" y="0"/>
              <a:ext cx="5029200" cy="1005840"/>
            </a:xfrm>
            <a:custGeom>
              <a:avLst/>
              <a:gdLst/>
              <a:ahLst/>
              <a:cxnLst/>
              <a:rect r="r" b="b" t="t" l="l"/>
              <a:pathLst>
                <a:path h="1005840" w="5029200">
                  <a:moveTo>
                    <a:pt x="0" y="0"/>
                  </a:moveTo>
                  <a:lnTo>
                    <a:pt x="5029200" y="0"/>
                  </a:lnTo>
                  <a:lnTo>
                    <a:pt x="5029200" y="1005840"/>
                  </a:lnTo>
                  <a:lnTo>
                    <a:pt x="0" y="1005840"/>
                  </a:lnTo>
                  <a:close/>
                </a:path>
              </a:pathLst>
            </a:custGeom>
            <a:blipFill>
              <a:blip r:embed="rId3">
                <a:alphaModFix amt="0"/>
              </a:blip>
              <a:stretch>
                <a:fillRect l="0" t="-47425" r="0" b="-47425"/>
              </a:stretch>
            </a:blipFill>
          </p:spPr>
        </p:sp>
        <p:sp>
          <p:nvSpPr>
            <p:cNvPr name="TextBox 44" id="44"/>
            <p:cNvSpPr txBox="true"/>
            <p:nvPr/>
          </p:nvSpPr>
          <p:spPr>
            <a:xfrm>
              <a:off x="0" y="-47625"/>
              <a:ext cx="5029200" cy="1053465"/>
            </a:xfrm>
            <a:prstGeom prst="rect">
              <a:avLst/>
            </a:prstGeom>
          </p:spPr>
          <p:txBody>
            <a:bodyPr anchor="ctr" rtlCol="false" tIns="0" lIns="0" bIns="0" rIns="0"/>
            <a:lstStyle/>
            <a:p>
              <a:pPr algn="ctr">
                <a:lnSpc>
                  <a:spcPts val="2340"/>
                </a:lnSpc>
              </a:pPr>
              <a:r>
                <a:rPr lang="en-US" sz="1950">
                  <a:solidFill>
                    <a:srgbClr val="6B7280"/>
                  </a:solidFill>
                  <a:latin typeface="Calibri (MS)"/>
                  <a:ea typeface="Calibri (MS)"/>
                  <a:cs typeface="Calibri (MS)"/>
                  <a:sym typeface="Calibri (MS)"/>
                </a:rPr>
                <a:t>Treat</a:t>
              </a:r>
            </a:p>
          </p:txBody>
        </p:sp>
      </p:grpSp>
      <p:grpSp>
        <p:nvGrpSpPr>
          <p:cNvPr name="Group 45" id="45"/>
          <p:cNvGrpSpPr/>
          <p:nvPr/>
        </p:nvGrpSpPr>
        <p:grpSpPr>
          <a:xfrm rot="0">
            <a:off x="5168265" y="7493127"/>
            <a:ext cx="3790950" cy="773430"/>
            <a:chOff x="0" y="0"/>
            <a:chExt cx="5054600" cy="1031240"/>
          </a:xfrm>
        </p:grpSpPr>
        <p:sp>
          <p:nvSpPr>
            <p:cNvPr name="Freeform 46" id="46"/>
            <p:cNvSpPr/>
            <p:nvPr/>
          </p:nvSpPr>
          <p:spPr>
            <a:xfrm flipH="false" flipV="false" rot="0">
              <a:off x="0" y="0"/>
              <a:ext cx="5054600" cy="1031240"/>
            </a:xfrm>
            <a:custGeom>
              <a:avLst/>
              <a:gdLst/>
              <a:ahLst/>
              <a:cxnLst/>
              <a:rect r="r" b="b" t="t" l="l"/>
              <a:pathLst>
                <a:path h="1031240" w="5054600">
                  <a:moveTo>
                    <a:pt x="0" y="168783"/>
                  </a:moveTo>
                  <a:cubicBezTo>
                    <a:pt x="0" y="75565"/>
                    <a:pt x="75565" y="0"/>
                    <a:pt x="168783" y="0"/>
                  </a:cubicBezTo>
                  <a:lnTo>
                    <a:pt x="4885817" y="0"/>
                  </a:lnTo>
                  <a:cubicBezTo>
                    <a:pt x="4979035" y="0"/>
                    <a:pt x="5054600" y="75565"/>
                    <a:pt x="5054600" y="168783"/>
                  </a:cubicBezTo>
                  <a:lnTo>
                    <a:pt x="5054600" y="862457"/>
                  </a:lnTo>
                  <a:cubicBezTo>
                    <a:pt x="5054600" y="955675"/>
                    <a:pt x="4979035" y="1031240"/>
                    <a:pt x="4885817" y="1031240"/>
                  </a:cubicBezTo>
                  <a:lnTo>
                    <a:pt x="168783" y="1031240"/>
                  </a:lnTo>
                  <a:cubicBezTo>
                    <a:pt x="75565" y="1031240"/>
                    <a:pt x="0" y="955675"/>
                    <a:pt x="0" y="862457"/>
                  </a:cubicBezTo>
                  <a:close/>
                </a:path>
              </a:pathLst>
            </a:custGeom>
            <a:solidFill>
              <a:srgbClr val="F4F7FC"/>
            </a:solidFill>
            <a:ln w="19050" cap="sq">
              <a:solidFill>
                <a:srgbClr val="D7DCEC"/>
              </a:solidFill>
              <a:prstDash val="solid"/>
              <a:miter/>
            </a:ln>
          </p:spPr>
        </p:sp>
      </p:grpSp>
      <p:grpSp>
        <p:nvGrpSpPr>
          <p:cNvPr name="Group 47" id="47"/>
          <p:cNvGrpSpPr/>
          <p:nvPr/>
        </p:nvGrpSpPr>
        <p:grpSpPr>
          <a:xfrm rot="0">
            <a:off x="5177790" y="7502652"/>
            <a:ext cx="3771900" cy="754380"/>
            <a:chOff x="0" y="0"/>
            <a:chExt cx="5029200" cy="1005840"/>
          </a:xfrm>
        </p:grpSpPr>
        <p:sp>
          <p:nvSpPr>
            <p:cNvPr name="Freeform 48" id="48"/>
            <p:cNvSpPr/>
            <p:nvPr/>
          </p:nvSpPr>
          <p:spPr>
            <a:xfrm flipH="false" flipV="false" rot="0">
              <a:off x="0" y="0"/>
              <a:ext cx="5029200" cy="1005840"/>
            </a:xfrm>
            <a:custGeom>
              <a:avLst/>
              <a:gdLst/>
              <a:ahLst/>
              <a:cxnLst/>
              <a:rect r="r" b="b" t="t" l="l"/>
              <a:pathLst>
                <a:path h="1005840" w="5029200">
                  <a:moveTo>
                    <a:pt x="0" y="0"/>
                  </a:moveTo>
                  <a:lnTo>
                    <a:pt x="5029200" y="0"/>
                  </a:lnTo>
                  <a:lnTo>
                    <a:pt x="5029200" y="1005840"/>
                  </a:lnTo>
                  <a:lnTo>
                    <a:pt x="0" y="1005840"/>
                  </a:lnTo>
                  <a:close/>
                </a:path>
              </a:pathLst>
            </a:custGeom>
            <a:blipFill>
              <a:blip r:embed="rId3">
                <a:alphaModFix amt="0"/>
              </a:blip>
              <a:stretch>
                <a:fillRect l="0" t="-47425" r="0" b="-47425"/>
              </a:stretch>
            </a:blipFill>
          </p:spPr>
        </p:sp>
        <p:sp>
          <p:nvSpPr>
            <p:cNvPr name="TextBox 49" id="49"/>
            <p:cNvSpPr txBox="true"/>
            <p:nvPr/>
          </p:nvSpPr>
          <p:spPr>
            <a:xfrm>
              <a:off x="0" y="-47625"/>
              <a:ext cx="5029200" cy="1053465"/>
            </a:xfrm>
            <a:prstGeom prst="rect">
              <a:avLst/>
            </a:prstGeom>
          </p:spPr>
          <p:txBody>
            <a:bodyPr anchor="ctr" rtlCol="false" tIns="0" lIns="0" bIns="0" rIns="0"/>
            <a:lstStyle/>
            <a:p>
              <a:pPr algn="ctr">
                <a:lnSpc>
                  <a:spcPts val="2340"/>
                </a:lnSpc>
              </a:pPr>
              <a:r>
                <a:rPr lang="en-US" sz="1950">
                  <a:solidFill>
                    <a:srgbClr val="6B7280"/>
                  </a:solidFill>
                  <a:latin typeface="Calibri (MS)"/>
                  <a:ea typeface="Calibri (MS)"/>
                  <a:cs typeface="Calibri (MS)"/>
                  <a:sym typeface="Calibri (MS)"/>
                </a:rPr>
                <a:t>Transfer</a:t>
              </a:r>
            </a:p>
          </p:txBody>
        </p:sp>
      </p:grpSp>
      <p:grpSp>
        <p:nvGrpSpPr>
          <p:cNvPr name="Group 50" id="50"/>
          <p:cNvGrpSpPr/>
          <p:nvPr/>
        </p:nvGrpSpPr>
        <p:grpSpPr>
          <a:xfrm rot="0">
            <a:off x="9324213" y="7493127"/>
            <a:ext cx="3790950" cy="773430"/>
            <a:chOff x="0" y="0"/>
            <a:chExt cx="5054600" cy="1031240"/>
          </a:xfrm>
        </p:grpSpPr>
        <p:sp>
          <p:nvSpPr>
            <p:cNvPr name="Freeform 51" id="51"/>
            <p:cNvSpPr/>
            <p:nvPr/>
          </p:nvSpPr>
          <p:spPr>
            <a:xfrm flipH="false" flipV="false" rot="0">
              <a:off x="0" y="0"/>
              <a:ext cx="5054600" cy="1031240"/>
            </a:xfrm>
            <a:custGeom>
              <a:avLst/>
              <a:gdLst/>
              <a:ahLst/>
              <a:cxnLst/>
              <a:rect r="r" b="b" t="t" l="l"/>
              <a:pathLst>
                <a:path h="1031240" w="5054600">
                  <a:moveTo>
                    <a:pt x="0" y="168783"/>
                  </a:moveTo>
                  <a:cubicBezTo>
                    <a:pt x="0" y="75565"/>
                    <a:pt x="75565" y="0"/>
                    <a:pt x="168783" y="0"/>
                  </a:cubicBezTo>
                  <a:lnTo>
                    <a:pt x="4885817" y="0"/>
                  </a:lnTo>
                  <a:cubicBezTo>
                    <a:pt x="4979035" y="0"/>
                    <a:pt x="5054600" y="75565"/>
                    <a:pt x="5054600" y="168783"/>
                  </a:cubicBezTo>
                  <a:lnTo>
                    <a:pt x="5054600" y="862457"/>
                  </a:lnTo>
                  <a:cubicBezTo>
                    <a:pt x="5054600" y="955675"/>
                    <a:pt x="4979035" y="1031240"/>
                    <a:pt x="4885817" y="1031240"/>
                  </a:cubicBezTo>
                  <a:lnTo>
                    <a:pt x="168783" y="1031240"/>
                  </a:lnTo>
                  <a:cubicBezTo>
                    <a:pt x="75565" y="1031240"/>
                    <a:pt x="0" y="955675"/>
                    <a:pt x="0" y="862457"/>
                  </a:cubicBezTo>
                  <a:close/>
                </a:path>
              </a:pathLst>
            </a:custGeom>
            <a:solidFill>
              <a:srgbClr val="F4F7FC"/>
            </a:solidFill>
            <a:ln w="19050" cap="sq">
              <a:solidFill>
                <a:srgbClr val="D7DCEC"/>
              </a:solidFill>
              <a:prstDash val="solid"/>
              <a:miter/>
            </a:ln>
          </p:spPr>
        </p:sp>
      </p:grpSp>
      <p:grpSp>
        <p:nvGrpSpPr>
          <p:cNvPr name="Group 52" id="52"/>
          <p:cNvGrpSpPr/>
          <p:nvPr/>
        </p:nvGrpSpPr>
        <p:grpSpPr>
          <a:xfrm rot="0">
            <a:off x="9333738" y="7502652"/>
            <a:ext cx="3771900" cy="754380"/>
            <a:chOff x="0" y="0"/>
            <a:chExt cx="5029200" cy="1005840"/>
          </a:xfrm>
        </p:grpSpPr>
        <p:sp>
          <p:nvSpPr>
            <p:cNvPr name="Freeform 53" id="53"/>
            <p:cNvSpPr/>
            <p:nvPr/>
          </p:nvSpPr>
          <p:spPr>
            <a:xfrm flipH="false" flipV="false" rot="0">
              <a:off x="0" y="0"/>
              <a:ext cx="5029200" cy="1005840"/>
            </a:xfrm>
            <a:custGeom>
              <a:avLst/>
              <a:gdLst/>
              <a:ahLst/>
              <a:cxnLst/>
              <a:rect r="r" b="b" t="t" l="l"/>
              <a:pathLst>
                <a:path h="1005840" w="5029200">
                  <a:moveTo>
                    <a:pt x="0" y="0"/>
                  </a:moveTo>
                  <a:lnTo>
                    <a:pt x="5029200" y="0"/>
                  </a:lnTo>
                  <a:lnTo>
                    <a:pt x="5029200" y="1005840"/>
                  </a:lnTo>
                  <a:lnTo>
                    <a:pt x="0" y="1005840"/>
                  </a:lnTo>
                  <a:close/>
                </a:path>
              </a:pathLst>
            </a:custGeom>
            <a:blipFill>
              <a:blip r:embed="rId3">
                <a:alphaModFix amt="0"/>
              </a:blip>
              <a:stretch>
                <a:fillRect l="0" t="-47425" r="0" b="-47425"/>
              </a:stretch>
            </a:blipFill>
          </p:spPr>
        </p:sp>
        <p:sp>
          <p:nvSpPr>
            <p:cNvPr name="TextBox 54" id="54"/>
            <p:cNvSpPr txBox="true"/>
            <p:nvPr/>
          </p:nvSpPr>
          <p:spPr>
            <a:xfrm>
              <a:off x="0" y="-47625"/>
              <a:ext cx="5029200" cy="1053465"/>
            </a:xfrm>
            <a:prstGeom prst="rect">
              <a:avLst/>
            </a:prstGeom>
          </p:spPr>
          <p:txBody>
            <a:bodyPr anchor="ctr" rtlCol="false" tIns="0" lIns="0" bIns="0" rIns="0"/>
            <a:lstStyle/>
            <a:p>
              <a:pPr algn="ctr">
                <a:lnSpc>
                  <a:spcPts val="2340"/>
                </a:lnSpc>
              </a:pPr>
              <a:r>
                <a:rPr lang="en-US" sz="1950">
                  <a:solidFill>
                    <a:srgbClr val="6B7280"/>
                  </a:solidFill>
                  <a:latin typeface="Calibri (MS)"/>
                  <a:ea typeface="Calibri (MS)"/>
                  <a:cs typeface="Calibri (MS)"/>
                  <a:sym typeface="Calibri (MS)"/>
                </a:rPr>
                <a:t>Tolerate</a:t>
              </a:r>
            </a:p>
          </p:txBody>
        </p:sp>
      </p:grpSp>
      <p:grpSp>
        <p:nvGrpSpPr>
          <p:cNvPr name="Group 55" id="55"/>
          <p:cNvGrpSpPr/>
          <p:nvPr/>
        </p:nvGrpSpPr>
        <p:grpSpPr>
          <a:xfrm rot="0">
            <a:off x="13480161" y="7493127"/>
            <a:ext cx="3790950" cy="773430"/>
            <a:chOff x="0" y="0"/>
            <a:chExt cx="5054600" cy="1031240"/>
          </a:xfrm>
        </p:grpSpPr>
        <p:sp>
          <p:nvSpPr>
            <p:cNvPr name="Freeform 56" id="56"/>
            <p:cNvSpPr/>
            <p:nvPr/>
          </p:nvSpPr>
          <p:spPr>
            <a:xfrm flipH="false" flipV="false" rot="0">
              <a:off x="0" y="0"/>
              <a:ext cx="5054600" cy="1031240"/>
            </a:xfrm>
            <a:custGeom>
              <a:avLst/>
              <a:gdLst/>
              <a:ahLst/>
              <a:cxnLst/>
              <a:rect r="r" b="b" t="t" l="l"/>
              <a:pathLst>
                <a:path h="1031240" w="5054600">
                  <a:moveTo>
                    <a:pt x="0" y="168783"/>
                  </a:moveTo>
                  <a:cubicBezTo>
                    <a:pt x="0" y="75565"/>
                    <a:pt x="75565" y="0"/>
                    <a:pt x="168783" y="0"/>
                  </a:cubicBezTo>
                  <a:lnTo>
                    <a:pt x="4885817" y="0"/>
                  </a:lnTo>
                  <a:cubicBezTo>
                    <a:pt x="4979035" y="0"/>
                    <a:pt x="5054600" y="75565"/>
                    <a:pt x="5054600" y="168783"/>
                  </a:cubicBezTo>
                  <a:lnTo>
                    <a:pt x="5054600" y="862457"/>
                  </a:lnTo>
                  <a:cubicBezTo>
                    <a:pt x="5054600" y="955675"/>
                    <a:pt x="4979035" y="1031240"/>
                    <a:pt x="4885817" y="1031240"/>
                  </a:cubicBezTo>
                  <a:lnTo>
                    <a:pt x="168783" y="1031240"/>
                  </a:lnTo>
                  <a:cubicBezTo>
                    <a:pt x="75565" y="1031240"/>
                    <a:pt x="0" y="955675"/>
                    <a:pt x="0" y="862457"/>
                  </a:cubicBezTo>
                  <a:close/>
                </a:path>
              </a:pathLst>
            </a:custGeom>
            <a:solidFill>
              <a:srgbClr val="F4F7FC"/>
            </a:solidFill>
            <a:ln w="19050" cap="sq">
              <a:solidFill>
                <a:srgbClr val="D7DCEC"/>
              </a:solidFill>
              <a:prstDash val="solid"/>
              <a:miter/>
            </a:ln>
          </p:spPr>
        </p:sp>
      </p:grpSp>
      <p:grpSp>
        <p:nvGrpSpPr>
          <p:cNvPr name="Group 57" id="57"/>
          <p:cNvGrpSpPr/>
          <p:nvPr/>
        </p:nvGrpSpPr>
        <p:grpSpPr>
          <a:xfrm rot="0">
            <a:off x="13489686" y="7502652"/>
            <a:ext cx="3771900" cy="754380"/>
            <a:chOff x="0" y="0"/>
            <a:chExt cx="5029200" cy="1005840"/>
          </a:xfrm>
        </p:grpSpPr>
        <p:sp>
          <p:nvSpPr>
            <p:cNvPr name="Freeform 58" id="58"/>
            <p:cNvSpPr/>
            <p:nvPr/>
          </p:nvSpPr>
          <p:spPr>
            <a:xfrm flipH="false" flipV="false" rot="0">
              <a:off x="0" y="0"/>
              <a:ext cx="5029200" cy="1005840"/>
            </a:xfrm>
            <a:custGeom>
              <a:avLst/>
              <a:gdLst/>
              <a:ahLst/>
              <a:cxnLst/>
              <a:rect r="r" b="b" t="t" l="l"/>
              <a:pathLst>
                <a:path h="1005840" w="5029200">
                  <a:moveTo>
                    <a:pt x="0" y="0"/>
                  </a:moveTo>
                  <a:lnTo>
                    <a:pt x="5029200" y="0"/>
                  </a:lnTo>
                  <a:lnTo>
                    <a:pt x="5029200" y="1005840"/>
                  </a:lnTo>
                  <a:lnTo>
                    <a:pt x="0" y="1005840"/>
                  </a:lnTo>
                  <a:close/>
                </a:path>
              </a:pathLst>
            </a:custGeom>
            <a:blipFill>
              <a:blip r:embed="rId3">
                <a:alphaModFix amt="0"/>
              </a:blip>
              <a:stretch>
                <a:fillRect l="0" t="-47425" r="0" b="-47425"/>
              </a:stretch>
            </a:blipFill>
          </p:spPr>
        </p:sp>
        <p:sp>
          <p:nvSpPr>
            <p:cNvPr name="TextBox 59" id="59"/>
            <p:cNvSpPr txBox="true"/>
            <p:nvPr/>
          </p:nvSpPr>
          <p:spPr>
            <a:xfrm>
              <a:off x="0" y="-47625"/>
              <a:ext cx="5029200" cy="1053465"/>
            </a:xfrm>
            <a:prstGeom prst="rect">
              <a:avLst/>
            </a:prstGeom>
          </p:spPr>
          <p:txBody>
            <a:bodyPr anchor="ctr" rtlCol="false" tIns="0" lIns="0" bIns="0" rIns="0"/>
            <a:lstStyle/>
            <a:p>
              <a:pPr algn="ctr">
                <a:lnSpc>
                  <a:spcPts val="2340"/>
                </a:lnSpc>
              </a:pPr>
              <a:r>
                <a:rPr lang="en-US" sz="1950">
                  <a:solidFill>
                    <a:srgbClr val="6B7280"/>
                  </a:solidFill>
                  <a:latin typeface="Calibri (MS)"/>
                  <a:ea typeface="Calibri (MS)"/>
                  <a:cs typeface="Calibri (MS)"/>
                  <a:sym typeface="Calibri (MS)"/>
                </a:rPr>
                <a:t>Terminate</a:t>
              </a:r>
            </a:p>
          </p:txBody>
        </p:sp>
      </p:grpSp>
      <p:grpSp>
        <p:nvGrpSpPr>
          <p:cNvPr name="Group 60" id="60"/>
          <p:cNvGrpSpPr/>
          <p:nvPr/>
        </p:nvGrpSpPr>
        <p:grpSpPr>
          <a:xfrm rot="0">
            <a:off x="685800" y="9710928"/>
            <a:ext cx="10972800" cy="411480"/>
            <a:chOff x="0" y="0"/>
            <a:chExt cx="14630400" cy="548640"/>
          </a:xfrm>
        </p:grpSpPr>
        <p:sp>
          <p:nvSpPr>
            <p:cNvPr name="Freeform 61" id="61"/>
            <p:cNvSpPr/>
            <p:nvPr/>
          </p:nvSpPr>
          <p:spPr>
            <a:xfrm flipH="false" flipV="false" rot="0">
              <a:off x="0" y="0"/>
              <a:ext cx="14630400" cy="548640"/>
            </a:xfrm>
            <a:custGeom>
              <a:avLst/>
              <a:gdLst/>
              <a:ahLst/>
              <a:cxnLst/>
              <a:rect r="r" b="b" t="t" l="l"/>
              <a:pathLst>
                <a:path h="548640" w="14630400">
                  <a:moveTo>
                    <a:pt x="0" y="0"/>
                  </a:moveTo>
                  <a:lnTo>
                    <a:pt x="14630400" y="0"/>
                  </a:lnTo>
                  <a:lnTo>
                    <a:pt x="14630400" y="548640"/>
                  </a:lnTo>
                  <a:lnTo>
                    <a:pt x="0" y="548640"/>
                  </a:lnTo>
                  <a:close/>
                </a:path>
              </a:pathLst>
            </a:custGeom>
            <a:blipFill>
              <a:blip r:embed="rId3">
                <a:alphaModFix amt="0"/>
              </a:blip>
              <a:stretch>
                <a:fillRect l="0" t="-469601" r="0" b="-469601"/>
              </a:stretch>
            </a:blipFill>
          </p:spPr>
        </p:sp>
        <p:sp>
          <p:nvSpPr>
            <p:cNvPr name="TextBox 62" id="62"/>
            <p:cNvSpPr txBox="true"/>
            <p:nvPr/>
          </p:nvSpPr>
          <p:spPr>
            <a:xfrm>
              <a:off x="0" y="-38100"/>
              <a:ext cx="14630400" cy="586740"/>
            </a:xfrm>
            <a:prstGeom prst="rect">
              <a:avLst/>
            </a:prstGeom>
          </p:spPr>
          <p:txBody>
            <a:bodyPr anchor="ctr" rtlCol="false" tIns="0" lIns="0" bIns="0" rIns="0"/>
            <a:lstStyle/>
            <a:p>
              <a:pPr algn="l">
                <a:lnSpc>
                  <a:spcPts val="1800"/>
                </a:lnSpc>
              </a:pPr>
              <a:r>
                <a:rPr lang="en-US" sz="1500">
                  <a:solidFill>
                    <a:srgbClr val="6B7280"/>
                  </a:solidFill>
                  <a:latin typeface="Calibri (MS)"/>
                  <a:ea typeface="Calibri (MS)"/>
                  <a:cs typeface="Calibri (MS)"/>
                  <a:sym typeface="Calibri (MS)"/>
                </a:rPr>
                <a:t>Davao del Norte Provincial Government — Cybersecurity Seminar</a:t>
              </a:r>
            </a:p>
          </p:txBody>
        </p:sp>
      </p:grpSp>
      <p:grpSp>
        <p:nvGrpSpPr>
          <p:cNvPr name="Group 63" id="63"/>
          <p:cNvGrpSpPr/>
          <p:nvPr/>
        </p:nvGrpSpPr>
        <p:grpSpPr>
          <a:xfrm rot="0">
            <a:off x="16911828" y="9710928"/>
            <a:ext cx="685800" cy="411480"/>
            <a:chOff x="0" y="0"/>
            <a:chExt cx="914400" cy="548640"/>
          </a:xfrm>
        </p:grpSpPr>
        <p:sp>
          <p:nvSpPr>
            <p:cNvPr name="Freeform 64" id="64"/>
            <p:cNvSpPr/>
            <p:nvPr/>
          </p:nvSpPr>
          <p:spPr>
            <a:xfrm flipH="false" flipV="false" rot="0">
              <a:off x="0" y="0"/>
              <a:ext cx="914400" cy="548640"/>
            </a:xfrm>
            <a:custGeom>
              <a:avLst/>
              <a:gdLst/>
              <a:ahLst/>
              <a:cxnLst/>
              <a:rect r="r" b="b" t="t" l="l"/>
              <a:pathLst>
                <a:path h="548640" w="914400">
                  <a:moveTo>
                    <a:pt x="0" y="0"/>
                  </a:moveTo>
                  <a:lnTo>
                    <a:pt x="914400" y="0"/>
                  </a:lnTo>
                  <a:lnTo>
                    <a:pt x="914400" y="548640"/>
                  </a:lnTo>
                  <a:lnTo>
                    <a:pt x="0" y="548640"/>
                  </a:lnTo>
                  <a:close/>
                </a:path>
              </a:pathLst>
            </a:custGeom>
            <a:blipFill>
              <a:blip r:embed="rId3">
                <a:alphaModFix amt="0"/>
              </a:blip>
              <a:stretch>
                <a:fillRect l="-26982" t="0" r="-26982" b="0"/>
              </a:stretch>
            </a:blipFill>
          </p:spPr>
        </p:sp>
        <p:sp>
          <p:nvSpPr>
            <p:cNvPr name="TextBox 65" id="65"/>
            <p:cNvSpPr txBox="true"/>
            <p:nvPr/>
          </p:nvSpPr>
          <p:spPr>
            <a:xfrm>
              <a:off x="0" y="-38100"/>
              <a:ext cx="914400" cy="586740"/>
            </a:xfrm>
            <a:prstGeom prst="rect">
              <a:avLst/>
            </a:prstGeom>
          </p:spPr>
          <p:txBody>
            <a:bodyPr anchor="ctr" rtlCol="false" tIns="0" lIns="0" bIns="0" rIns="0"/>
            <a:lstStyle/>
            <a:p>
              <a:pPr algn="r">
                <a:lnSpc>
                  <a:spcPts val="1800"/>
                </a:lnSpc>
              </a:pPr>
              <a:r>
                <a:rPr lang="en-US" sz="1500">
                  <a:solidFill>
                    <a:srgbClr val="6B7280"/>
                  </a:solidFill>
                  <a:latin typeface="Calibri (MS)"/>
                  <a:ea typeface="Calibri (MS)"/>
                  <a:cs typeface="Calibri (MS)"/>
                  <a:sym typeface="Calibri (MS)"/>
                </a:rPr>
                <a:t>29</a:t>
              </a:r>
            </a:p>
          </p:txBody>
        </p:sp>
      </p:grpSp>
    </p:spTree>
  </p:cSld>
  <p:clrMapOvr>
    <a:masterClrMapping/>
  </p:clrMapOvr>
</p:sld>
</file>

<file path=ppt/slides/slide3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60120" y="576072"/>
            <a:ext cx="13716000" cy="411480"/>
            <a:chOff x="0" y="0"/>
            <a:chExt cx="18288000" cy="548640"/>
          </a:xfrm>
        </p:grpSpPr>
        <p:sp>
          <p:nvSpPr>
            <p:cNvPr name="Freeform 3" id="3"/>
            <p:cNvSpPr/>
            <p:nvPr/>
          </p:nvSpPr>
          <p:spPr>
            <a:xfrm flipH="false" flipV="false" rot="0">
              <a:off x="0" y="0"/>
              <a:ext cx="18288000" cy="548640"/>
            </a:xfrm>
            <a:custGeom>
              <a:avLst/>
              <a:gdLst/>
              <a:ahLst/>
              <a:cxnLst/>
              <a:rect r="r" b="b" t="t" l="l"/>
              <a:pathLst>
                <a:path h="548640" w="18288000">
                  <a:moveTo>
                    <a:pt x="0" y="0"/>
                  </a:moveTo>
                  <a:lnTo>
                    <a:pt x="18288000" y="0"/>
                  </a:lnTo>
                  <a:lnTo>
                    <a:pt x="18288000" y="548640"/>
                  </a:lnTo>
                  <a:lnTo>
                    <a:pt x="0" y="548640"/>
                  </a:lnTo>
                  <a:close/>
                </a:path>
              </a:pathLst>
            </a:custGeom>
            <a:blipFill>
              <a:blip r:embed="rId3">
                <a:alphaModFix amt="0"/>
              </a:blip>
              <a:stretch>
                <a:fillRect l="0" t="-599501" r="0" b="-599501"/>
              </a:stretch>
            </a:blipFill>
          </p:spPr>
        </p:sp>
        <p:sp>
          <p:nvSpPr>
            <p:cNvPr name="TextBox 4" id="4"/>
            <p:cNvSpPr txBox="true"/>
            <p:nvPr/>
          </p:nvSpPr>
          <p:spPr>
            <a:xfrm>
              <a:off x="0" y="-38100"/>
              <a:ext cx="18288000" cy="586740"/>
            </a:xfrm>
            <a:prstGeom prst="rect">
              <a:avLst/>
            </a:prstGeom>
          </p:spPr>
          <p:txBody>
            <a:bodyPr anchor="ctr" rtlCol="false" tIns="0" lIns="0" bIns="0" rIns="0"/>
            <a:lstStyle/>
            <a:p>
              <a:pPr algn="l">
                <a:lnSpc>
                  <a:spcPts val="2160"/>
                </a:lnSpc>
              </a:pPr>
              <a:r>
                <a:rPr lang="en-US" b="true" sz="1800" spc="225">
                  <a:solidFill>
                    <a:srgbClr val="00B4D8"/>
                  </a:solidFill>
                  <a:latin typeface="Calibri (MS) Bold"/>
                  <a:ea typeface="Calibri (MS) Bold"/>
                  <a:cs typeface="Calibri (MS) Bold"/>
                  <a:sym typeface="Calibri (MS) Bold"/>
                </a:rPr>
                <a:t>RISK MATRIX SORT · ANSWER</a:t>
              </a:r>
            </a:p>
          </p:txBody>
        </p:sp>
      </p:grpSp>
      <p:grpSp>
        <p:nvGrpSpPr>
          <p:cNvPr name="Group 5" id="5"/>
          <p:cNvGrpSpPr/>
          <p:nvPr/>
        </p:nvGrpSpPr>
        <p:grpSpPr>
          <a:xfrm rot="0">
            <a:off x="960120" y="960120"/>
            <a:ext cx="10972800" cy="754380"/>
            <a:chOff x="0" y="0"/>
            <a:chExt cx="14630400" cy="1005840"/>
          </a:xfrm>
        </p:grpSpPr>
        <p:sp>
          <p:nvSpPr>
            <p:cNvPr name="Freeform 6" id="6"/>
            <p:cNvSpPr/>
            <p:nvPr/>
          </p:nvSpPr>
          <p:spPr>
            <a:xfrm flipH="false" flipV="false" rot="0">
              <a:off x="0" y="0"/>
              <a:ext cx="14630400" cy="1005840"/>
            </a:xfrm>
            <a:custGeom>
              <a:avLst/>
              <a:gdLst/>
              <a:ahLst/>
              <a:cxnLst/>
              <a:rect r="r" b="b" t="t" l="l"/>
              <a:pathLst>
                <a:path h="1005840" w="14630400">
                  <a:moveTo>
                    <a:pt x="0" y="0"/>
                  </a:moveTo>
                  <a:lnTo>
                    <a:pt x="14630400" y="0"/>
                  </a:lnTo>
                  <a:lnTo>
                    <a:pt x="14630400" y="1005840"/>
                  </a:lnTo>
                  <a:lnTo>
                    <a:pt x="0" y="1005840"/>
                  </a:lnTo>
                  <a:close/>
                </a:path>
              </a:pathLst>
            </a:custGeom>
            <a:blipFill>
              <a:blip r:embed="rId3">
                <a:alphaModFix amt="0"/>
              </a:blip>
              <a:stretch>
                <a:fillRect l="0" t="-233418" r="0" b="-233418"/>
              </a:stretch>
            </a:blipFill>
          </p:spPr>
        </p:sp>
        <p:sp>
          <p:nvSpPr>
            <p:cNvPr name="TextBox 7" id="7"/>
            <p:cNvSpPr txBox="true"/>
            <p:nvPr/>
          </p:nvSpPr>
          <p:spPr>
            <a:xfrm>
              <a:off x="0" y="-19050"/>
              <a:ext cx="14630400" cy="1024890"/>
            </a:xfrm>
            <a:prstGeom prst="rect">
              <a:avLst/>
            </a:prstGeom>
          </p:spPr>
          <p:txBody>
            <a:bodyPr anchor="ctr" rtlCol="false" tIns="0" lIns="0" bIns="0" rIns="0"/>
            <a:lstStyle/>
            <a:p>
              <a:pPr algn="l">
                <a:lnSpc>
                  <a:spcPts val="4320"/>
                </a:lnSpc>
              </a:pPr>
              <a:r>
                <a:rPr lang="en-US" sz="3600" b="true">
                  <a:solidFill>
                    <a:srgbClr val="1E2761"/>
                  </a:solidFill>
                  <a:latin typeface="Cambria Bold"/>
                  <a:ea typeface="Cambria Bold"/>
                  <a:cs typeface="Cambria Bold"/>
                  <a:sym typeface="Cambria Bold"/>
                </a:rPr>
                <a:t>Scenario 8 — Answer</a:t>
              </a:r>
            </a:p>
          </p:txBody>
        </p:sp>
      </p:grpSp>
      <p:grpSp>
        <p:nvGrpSpPr>
          <p:cNvPr name="Group 8" id="8"/>
          <p:cNvGrpSpPr/>
          <p:nvPr/>
        </p:nvGrpSpPr>
        <p:grpSpPr>
          <a:xfrm rot="0">
            <a:off x="960120" y="1645920"/>
            <a:ext cx="8229600" cy="411480"/>
            <a:chOff x="0" y="0"/>
            <a:chExt cx="10972800" cy="548640"/>
          </a:xfrm>
        </p:grpSpPr>
        <p:sp>
          <p:nvSpPr>
            <p:cNvPr name="Freeform 9" id="9"/>
            <p:cNvSpPr/>
            <p:nvPr/>
          </p:nvSpPr>
          <p:spPr>
            <a:xfrm flipH="false" flipV="false" rot="0">
              <a:off x="0" y="0"/>
              <a:ext cx="10972800" cy="548640"/>
            </a:xfrm>
            <a:custGeom>
              <a:avLst/>
              <a:gdLst/>
              <a:ahLst/>
              <a:cxnLst/>
              <a:rect r="r" b="b" t="t" l="l"/>
              <a:pathLst>
                <a:path h="548640" w="10972800">
                  <a:moveTo>
                    <a:pt x="0" y="0"/>
                  </a:moveTo>
                  <a:lnTo>
                    <a:pt x="10972800" y="0"/>
                  </a:lnTo>
                  <a:lnTo>
                    <a:pt x="10972800" y="548640"/>
                  </a:lnTo>
                  <a:lnTo>
                    <a:pt x="0" y="548640"/>
                  </a:lnTo>
                  <a:close/>
                </a:path>
              </a:pathLst>
            </a:custGeom>
            <a:blipFill>
              <a:blip r:embed="rId3">
                <a:alphaModFix amt="0"/>
              </a:blip>
              <a:stretch>
                <a:fillRect l="0" t="-339700" r="0" b="-339700"/>
              </a:stretch>
            </a:blipFill>
          </p:spPr>
        </p:sp>
        <p:sp>
          <p:nvSpPr>
            <p:cNvPr name="TextBox 10" id="10"/>
            <p:cNvSpPr txBox="true"/>
            <p:nvPr/>
          </p:nvSpPr>
          <p:spPr>
            <a:xfrm>
              <a:off x="0" y="-28575"/>
              <a:ext cx="10972800" cy="577215"/>
            </a:xfrm>
            <a:prstGeom prst="rect">
              <a:avLst/>
            </a:prstGeom>
          </p:spPr>
          <p:txBody>
            <a:bodyPr anchor="ctr" rtlCol="false" tIns="0" lIns="0" bIns="0" rIns="0"/>
            <a:lstStyle/>
            <a:p>
              <a:pPr algn="l">
                <a:lnSpc>
                  <a:spcPts val="1980"/>
                </a:lnSpc>
              </a:pPr>
              <a:r>
                <a:rPr lang="en-US" sz="1650">
                  <a:solidFill>
                    <a:srgbClr val="6B7280"/>
                  </a:solidFill>
                  <a:latin typeface="Calibri (MS)"/>
                  <a:ea typeface="Calibri (MS)"/>
                  <a:cs typeface="Calibri (MS)"/>
                  <a:sym typeface="Calibri (MS)"/>
                </a:rPr>
                <a:t>8 of 8</a:t>
              </a:r>
            </a:p>
          </p:txBody>
        </p:sp>
      </p:grpSp>
      <p:grpSp>
        <p:nvGrpSpPr>
          <p:cNvPr name="Group 11" id="11"/>
          <p:cNvGrpSpPr/>
          <p:nvPr/>
        </p:nvGrpSpPr>
        <p:grpSpPr>
          <a:xfrm rot="0">
            <a:off x="960120" y="2194560"/>
            <a:ext cx="16322040" cy="1851660"/>
            <a:chOff x="0" y="0"/>
            <a:chExt cx="21762720" cy="2468880"/>
          </a:xfrm>
        </p:grpSpPr>
        <p:sp>
          <p:nvSpPr>
            <p:cNvPr name="Freeform 12" id="12"/>
            <p:cNvSpPr/>
            <p:nvPr/>
          </p:nvSpPr>
          <p:spPr>
            <a:xfrm flipH="false" flipV="false" rot="0">
              <a:off x="0" y="0"/>
              <a:ext cx="21762720" cy="2468880"/>
            </a:xfrm>
            <a:custGeom>
              <a:avLst/>
              <a:gdLst/>
              <a:ahLst/>
              <a:cxnLst/>
              <a:rect r="r" b="b" t="t" l="l"/>
              <a:pathLst>
                <a:path h="2468880" w="21762720">
                  <a:moveTo>
                    <a:pt x="0" y="182880"/>
                  </a:moveTo>
                  <a:cubicBezTo>
                    <a:pt x="0" y="81915"/>
                    <a:pt x="81915" y="0"/>
                    <a:pt x="182880" y="0"/>
                  </a:cubicBezTo>
                  <a:lnTo>
                    <a:pt x="21579839" y="0"/>
                  </a:lnTo>
                  <a:cubicBezTo>
                    <a:pt x="21680804" y="0"/>
                    <a:pt x="21762720" y="81915"/>
                    <a:pt x="21762720" y="182880"/>
                  </a:cubicBezTo>
                  <a:lnTo>
                    <a:pt x="21762720" y="2286000"/>
                  </a:lnTo>
                  <a:cubicBezTo>
                    <a:pt x="21762720" y="2386965"/>
                    <a:pt x="21680804" y="2468880"/>
                    <a:pt x="21579839" y="2468880"/>
                  </a:cubicBezTo>
                  <a:lnTo>
                    <a:pt x="182880" y="2468880"/>
                  </a:lnTo>
                  <a:cubicBezTo>
                    <a:pt x="81915" y="2468880"/>
                    <a:pt x="0" y="2386965"/>
                    <a:pt x="0" y="2286000"/>
                  </a:cubicBezTo>
                  <a:close/>
                </a:path>
              </a:pathLst>
            </a:custGeom>
            <a:solidFill>
              <a:srgbClr val="F4F7FC"/>
            </a:solidFill>
          </p:spPr>
        </p:sp>
      </p:grpSp>
      <p:grpSp>
        <p:nvGrpSpPr>
          <p:cNvPr name="Group 13" id="13"/>
          <p:cNvGrpSpPr/>
          <p:nvPr/>
        </p:nvGrpSpPr>
        <p:grpSpPr>
          <a:xfrm rot="0">
            <a:off x="1371600" y="2400300"/>
            <a:ext cx="15499080" cy="1440180"/>
            <a:chOff x="0" y="0"/>
            <a:chExt cx="20665440" cy="1920240"/>
          </a:xfrm>
        </p:grpSpPr>
        <p:sp>
          <p:nvSpPr>
            <p:cNvPr name="Freeform 14" id="14"/>
            <p:cNvSpPr/>
            <p:nvPr/>
          </p:nvSpPr>
          <p:spPr>
            <a:xfrm flipH="false" flipV="false" rot="0">
              <a:off x="0" y="0"/>
              <a:ext cx="20665439" cy="1920240"/>
            </a:xfrm>
            <a:custGeom>
              <a:avLst/>
              <a:gdLst/>
              <a:ahLst/>
              <a:cxnLst/>
              <a:rect r="r" b="b" t="t" l="l"/>
              <a:pathLst>
                <a:path h="1920240" w="20665439">
                  <a:moveTo>
                    <a:pt x="0" y="0"/>
                  </a:moveTo>
                  <a:lnTo>
                    <a:pt x="20665439" y="0"/>
                  </a:lnTo>
                  <a:lnTo>
                    <a:pt x="20665439" y="1920240"/>
                  </a:lnTo>
                  <a:lnTo>
                    <a:pt x="0" y="1920240"/>
                  </a:lnTo>
                  <a:close/>
                </a:path>
              </a:pathLst>
            </a:custGeom>
            <a:blipFill>
              <a:blip r:embed="rId3">
                <a:alphaModFix amt="0"/>
              </a:blip>
              <a:stretch>
                <a:fillRect l="0" t="-159696" r="0" b="-159696"/>
              </a:stretch>
            </a:blipFill>
          </p:spPr>
        </p:sp>
        <p:sp>
          <p:nvSpPr>
            <p:cNvPr name="TextBox 15" id="15"/>
            <p:cNvSpPr txBox="true"/>
            <p:nvPr/>
          </p:nvSpPr>
          <p:spPr>
            <a:xfrm>
              <a:off x="0" y="-66675"/>
              <a:ext cx="20665440" cy="1986915"/>
            </a:xfrm>
            <a:prstGeom prst="rect">
              <a:avLst/>
            </a:prstGeom>
          </p:spPr>
          <p:txBody>
            <a:bodyPr anchor="ctr" rtlCol="false" tIns="0" lIns="0" bIns="0" rIns="0"/>
            <a:lstStyle/>
            <a:p>
              <a:pPr algn="l">
                <a:lnSpc>
                  <a:spcPts val="3184"/>
                </a:lnSpc>
              </a:pPr>
              <a:r>
                <a:rPr lang="en-US" sz="2175" i="true">
                  <a:solidFill>
                    <a:srgbClr val="23262F"/>
                  </a:solidFill>
                  <a:latin typeface="Cambria Italics"/>
                  <a:ea typeface="Cambria Italics"/>
                  <a:cs typeface="Cambria Italics"/>
                  <a:sym typeface="Cambria Italics"/>
                </a:rPr>
                <a:t>“An old permit-tracking system that nobody uses anymore is still plugged into the network and hasn't been patched in years.”</a:t>
              </a:r>
            </a:p>
          </p:txBody>
        </p:sp>
      </p:grpSp>
      <p:grpSp>
        <p:nvGrpSpPr>
          <p:cNvPr name="Group 16" id="16"/>
          <p:cNvGrpSpPr/>
          <p:nvPr/>
        </p:nvGrpSpPr>
        <p:grpSpPr>
          <a:xfrm rot="0">
            <a:off x="960120" y="4320540"/>
            <a:ext cx="3909060" cy="1165860"/>
            <a:chOff x="0" y="0"/>
            <a:chExt cx="5212080" cy="1554480"/>
          </a:xfrm>
        </p:grpSpPr>
        <p:sp>
          <p:nvSpPr>
            <p:cNvPr name="Freeform 17" id="17"/>
            <p:cNvSpPr/>
            <p:nvPr/>
          </p:nvSpPr>
          <p:spPr>
            <a:xfrm flipH="false" flipV="false" rot="0">
              <a:off x="0" y="0"/>
              <a:ext cx="5212080" cy="1554480"/>
            </a:xfrm>
            <a:custGeom>
              <a:avLst/>
              <a:gdLst/>
              <a:ahLst/>
              <a:cxnLst/>
              <a:rect r="r" b="b" t="t" l="l"/>
              <a:pathLst>
                <a:path h="1554480" w="5212080">
                  <a:moveTo>
                    <a:pt x="0" y="146304"/>
                  </a:moveTo>
                  <a:cubicBezTo>
                    <a:pt x="0" y="65532"/>
                    <a:pt x="65532" y="0"/>
                    <a:pt x="146304" y="0"/>
                  </a:cubicBezTo>
                  <a:lnTo>
                    <a:pt x="5065776" y="0"/>
                  </a:lnTo>
                  <a:cubicBezTo>
                    <a:pt x="5146548" y="0"/>
                    <a:pt x="5212080" y="65532"/>
                    <a:pt x="5212080" y="146304"/>
                  </a:cubicBezTo>
                  <a:lnTo>
                    <a:pt x="5212080" y="1408176"/>
                  </a:lnTo>
                  <a:cubicBezTo>
                    <a:pt x="5212080" y="1488948"/>
                    <a:pt x="5146548" y="1554480"/>
                    <a:pt x="5065776" y="1554480"/>
                  </a:cubicBezTo>
                  <a:lnTo>
                    <a:pt x="146304" y="1554480"/>
                  </a:lnTo>
                  <a:cubicBezTo>
                    <a:pt x="65532" y="1554480"/>
                    <a:pt x="0" y="1488948"/>
                    <a:pt x="0" y="1408176"/>
                  </a:cubicBezTo>
                  <a:close/>
                </a:path>
              </a:pathLst>
            </a:custGeom>
            <a:solidFill>
              <a:srgbClr val="F4F7FC"/>
            </a:solidFill>
          </p:spPr>
        </p:sp>
      </p:grpSp>
      <p:grpSp>
        <p:nvGrpSpPr>
          <p:cNvPr name="Group 18" id="18"/>
          <p:cNvGrpSpPr/>
          <p:nvPr/>
        </p:nvGrpSpPr>
        <p:grpSpPr>
          <a:xfrm rot="0">
            <a:off x="1207008" y="4457700"/>
            <a:ext cx="3415284" cy="384048"/>
            <a:chOff x="0" y="0"/>
            <a:chExt cx="4553712" cy="512064"/>
          </a:xfrm>
        </p:grpSpPr>
        <p:sp>
          <p:nvSpPr>
            <p:cNvPr name="Freeform 19" id="19"/>
            <p:cNvSpPr/>
            <p:nvPr/>
          </p:nvSpPr>
          <p:spPr>
            <a:xfrm flipH="false" flipV="false" rot="0">
              <a:off x="0" y="0"/>
              <a:ext cx="4553712" cy="512064"/>
            </a:xfrm>
            <a:custGeom>
              <a:avLst/>
              <a:gdLst/>
              <a:ahLst/>
              <a:cxnLst/>
              <a:rect r="r" b="b" t="t" l="l"/>
              <a:pathLst>
                <a:path h="512064" w="4553712">
                  <a:moveTo>
                    <a:pt x="0" y="0"/>
                  </a:moveTo>
                  <a:lnTo>
                    <a:pt x="4553712" y="0"/>
                  </a:lnTo>
                  <a:lnTo>
                    <a:pt x="4553712" y="512064"/>
                  </a:lnTo>
                  <a:lnTo>
                    <a:pt x="0" y="512064"/>
                  </a:lnTo>
                  <a:close/>
                </a:path>
              </a:pathLst>
            </a:custGeom>
            <a:blipFill>
              <a:blip r:embed="rId3">
                <a:alphaModFix amt="0"/>
              </a:blip>
              <a:stretch>
                <a:fillRect l="0" t="-123277" r="0" b="-123277"/>
              </a:stretch>
            </a:blipFill>
          </p:spPr>
        </p:sp>
        <p:sp>
          <p:nvSpPr>
            <p:cNvPr name="TextBox 20" id="20"/>
            <p:cNvSpPr txBox="true"/>
            <p:nvPr/>
          </p:nvSpPr>
          <p:spPr>
            <a:xfrm>
              <a:off x="0" y="-38100"/>
              <a:ext cx="4553712" cy="550164"/>
            </a:xfrm>
            <a:prstGeom prst="rect">
              <a:avLst/>
            </a:prstGeom>
          </p:spPr>
          <p:txBody>
            <a:bodyPr anchor="ctr" rtlCol="false" tIns="0" lIns="0" bIns="0" rIns="0"/>
            <a:lstStyle/>
            <a:p>
              <a:pPr algn="l">
                <a:lnSpc>
                  <a:spcPts val="1800"/>
                </a:lnSpc>
              </a:pPr>
              <a:r>
                <a:rPr lang="en-US" b="true" sz="1500" spc="75">
                  <a:solidFill>
                    <a:srgbClr val="6B7280"/>
                  </a:solidFill>
                  <a:latin typeface="Calibri (MS) Bold"/>
                  <a:ea typeface="Calibri (MS) Bold"/>
                  <a:cs typeface="Calibri (MS) Bold"/>
                  <a:sym typeface="Calibri (MS) Bold"/>
                </a:rPr>
                <a:t>LIKELIHOOD</a:t>
              </a:r>
            </a:p>
          </p:txBody>
        </p:sp>
      </p:grpSp>
      <p:sp>
        <p:nvSpPr>
          <p:cNvPr name="TextBox 21" id="21"/>
          <p:cNvSpPr txBox="true"/>
          <p:nvPr/>
        </p:nvSpPr>
        <p:spPr>
          <a:xfrm rot="0">
            <a:off x="1298448" y="4840986"/>
            <a:ext cx="3232404" cy="462534"/>
          </a:xfrm>
          <a:prstGeom prst="rect">
            <a:avLst/>
          </a:prstGeom>
        </p:spPr>
        <p:txBody>
          <a:bodyPr anchor="t" rtlCol="false" tIns="0" lIns="0" bIns="0" rIns="0">
            <a:spAutoFit/>
          </a:bodyPr>
          <a:lstStyle/>
          <a:p>
            <a:pPr algn="l">
              <a:lnSpc>
                <a:spcPts val="3240"/>
              </a:lnSpc>
            </a:pPr>
            <a:r>
              <a:rPr lang="en-US" sz="2700" b="true">
                <a:solidFill>
                  <a:srgbClr val="1E2761"/>
                </a:solidFill>
                <a:latin typeface="Cambria Bold"/>
                <a:ea typeface="Cambria Bold"/>
                <a:cs typeface="Cambria Bold"/>
                <a:sym typeface="Cambria Bold"/>
              </a:rPr>
              <a:t>Medium</a:t>
            </a:r>
          </a:p>
        </p:txBody>
      </p:sp>
      <p:grpSp>
        <p:nvGrpSpPr>
          <p:cNvPr name="Group 22" id="22"/>
          <p:cNvGrpSpPr/>
          <p:nvPr/>
        </p:nvGrpSpPr>
        <p:grpSpPr>
          <a:xfrm rot="0">
            <a:off x="5074920" y="4320540"/>
            <a:ext cx="3909060" cy="1165860"/>
            <a:chOff x="0" y="0"/>
            <a:chExt cx="5212080" cy="1554480"/>
          </a:xfrm>
        </p:grpSpPr>
        <p:sp>
          <p:nvSpPr>
            <p:cNvPr name="Freeform 23" id="23"/>
            <p:cNvSpPr/>
            <p:nvPr/>
          </p:nvSpPr>
          <p:spPr>
            <a:xfrm flipH="false" flipV="false" rot="0">
              <a:off x="0" y="0"/>
              <a:ext cx="5212080" cy="1554480"/>
            </a:xfrm>
            <a:custGeom>
              <a:avLst/>
              <a:gdLst/>
              <a:ahLst/>
              <a:cxnLst/>
              <a:rect r="r" b="b" t="t" l="l"/>
              <a:pathLst>
                <a:path h="1554480" w="5212080">
                  <a:moveTo>
                    <a:pt x="0" y="146304"/>
                  </a:moveTo>
                  <a:cubicBezTo>
                    <a:pt x="0" y="65532"/>
                    <a:pt x="65532" y="0"/>
                    <a:pt x="146304" y="0"/>
                  </a:cubicBezTo>
                  <a:lnTo>
                    <a:pt x="5065776" y="0"/>
                  </a:lnTo>
                  <a:cubicBezTo>
                    <a:pt x="5146548" y="0"/>
                    <a:pt x="5212080" y="65532"/>
                    <a:pt x="5212080" y="146304"/>
                  </a:cubicBezTo>
                  <a:lnTo>
                    <a:pt x="5212080" y="1408176"/>
                  </a:lnTo>
                  <a:cubicBezTo>
                    <a:pt x="5212080" y="1488948"/>
                    <a:pt x="5146548" y="1554480"/>
                    <a:pt x="5065776" y="1554480"/>
                  </a:cubicBezTo>
                  <a:lnTo>
                    <a:pt x="146304" y="1554480"/>
                  </a:lnTo>
                  <a:cubicBezTo>
                    <a:pt x="65532" y="1554480"/>
                    <a:pt x="0" y="1488948"/>
                    <a:pt x="0" y="1408176"/>
                  </a:cubicBezTo>
                  <a:close/>
                </a:path>
              </a:pathLst>
            </a:custGeom>
            <a:solidFill>
              <a:srgbClr val="F4F7FC"/>
            </a:solidFill>
          </p:spPr>
        </p:sp>
      </p:grpSp>
      <p:grpSp>
        <p:nvGrpSpPr>
          <p:cNvPr name="Group 24" id="24"/>
          <p:cNvGrpSpPr/>
          <p:nvPr/>
        </p:nvGrpSpPr>
        <p:grpSpPr>
          <a:xfrm rot="0">
            <a:off x="5321808" y="4457700"/>
            <a:ext cx="3415284" cy="384048"/>
            <a:chOff x="0" y="0"/>
            <a:chExt cx="4553712" cy="512064"/>
          </a:xfrm>
        </p:grpSpPr>
        <p:sp>
          <p:nvSpPr>
            <p:cNvPr name="Freeform 25" id="25"/>
            <p:cNvSpPr/>
            <p:nvPr/>
          </p:nvSpPr>
          <p:spPr>
            <a:xfrm flipH="false" flipV="false" rot="0">
              <a:off x="0" y="0"/>
              <a:ext cx="4553712" cy="512064"/>
            </a:xfrm>
            <a:custGeom>
              <a:avLst/>
              <a:gdLst/>
              <a:ahLst/>
              <a:cxnLst/>
              <a:rect r="r" b="b" t="t" l="l"/>
              <a:pathLst>
                <a:path h="512064" w="4553712">
                  <a:moveTo>
                    <a:pt x="0" y="0"/>
                  </a:moveTo>
                  <a:lnTo>
                    <a:pt x="4553712" y="0"/>
                  </a:lnTo>
                  <a:lnTo>
                    <a:pt x="4553712" y="512064"/>
                  </a:lnTo>
                  <a:lnTo>
                    <a:pt x="0" y="512064"/>
                  </a:lnTo>
                  <a:close/>
                </a:path>
              </a:pathLst>
            </a:custGeom>
            <a:blipFill>
              <a:blip r:embed="rId3">
                <a:alphaModFix amt="0"/>
              </a:blip>
              <a:stretch>
                <a:fillRect l="0" t="-123277" r="0" b="-123277"/>
              </a:stretch>
            </a:blipFill>
          </p:spPr>
        </p:sp>
        <p:sp>
          <p:nvSpPr>
            <p:cNvPr name="TextBox 26" id="26"/>
            <p:cNvSpPr txBox="true"/>
            <p:nvPr/>
          </p:nvSpPr>
          <p:spPr>
            <a:xfrm>
              <a:off x="0" y="-38100"/>
              <a:ext cx="4553712" cy="550164"/>
            </a:xfrm>
            <a:prstGeom prst="rect">
              <a:avLst/>
            </a:prstGeom>
          </p:spPr>
          <p:txBody>
            <a:bodyPr anchor="ctr" rtlCol="false" tIns="0" lIns="0" bIns="0" rIns="0"/>
            <a:lstStyle/>
            <a:p>
              <a:pPr algn="l">
                <a:lnSpc>
                  <a:spcPts val="1800"/>
                </a:lnSpc>
              </a:pPr>
              <a:r>
                <a:rPr lang="en-US" b="true" sz="1500" spc="75">
                  <a:solidFill>
                    <a:srgbClr val="6B7280"/>
                  </a:solidFill>
                  <a:latin typeface="Calibri (MS) Bold"/>
                  <a:ea typeface="Calibri (MS) Bold"/>
                  <a:cs typeface="Calibri (MS) Bold"/>
                  <a:sym typeface="Calibri (MS) Bold"/>
                </a:rPr>
                <a:t>IMPACT</a:t>
              </a:r>
            </a:p>
          </p:txBody>
        </p:sp>
      </p:grpSp>
      <p:sp>
        <p:nvSpPr>
          <p:cNvPr name="TextBox 27" id="27"/>
          <p:cNvSpPr txBox="true"/>
          <p:nvPr/>
        </p:nvSpPr>
        <p:spPr>
          <a:xfrm rot="0">
            <a:off x="5413248" y="4840986"/>
            <a:ext cx="3232404" cy="462534"/>
          </a:xfrm>
          <a:prstGeom prst="rect">
            <a:avLst/>
          </a:prstGeom>
        </p:spPr>
        <p:txBody>
          <a:bodyPr anchor="t" rtlCol="false" tIns="0" lIns="0" bIns="0" rIns="0">
            <a:spAutoFit/>
          </a:bodyPr>
          <a:lstStyle/>
          <a:p>
            <a:pPr algn="l">
              <a:lnSpc>
                <a:spcPts val="3240"/>
              </a:lnSpc>
            </a:pPr>
            <a:r>
              <a:rPr lang="en-US" sz="2700" b="true">
                <a:solidFill>
                  <a:srgbClr val="1E2761"/>
                </a:solidFill>
                <a:latin typeface="Cambria Bold"/>
                <a:ea typeface="Cambria Bold"/>
                <a:cs typeface="Cambria Bold"/>
                <a:sym typeface="Cambria Bold"/>
              </a:rPr>
              <a:t>Medium</a:t>
            </a:r>
          </a:p>
        </p:txBody>
      </p:sp>
      <p:grpSp>
        <p:nvGrpSpPr>
          <p:cNvPr name="Group 28" id="28"/>
          <p:cNvGrpSpPr/>
          <p:nvPr/>
        </p:nvGrpSpPr>
        <p:grpSpPr>
          <a:xfrm rot="0">
            <a:off x="9189720" y="4320540"/>
            <a:ext cx="3909060" cy="1165860"/>
            <a:chOff x="0" y="0"/>
            <a:chExt cx="5212080" cy="1554480"/>
          </a:xfrm>
        </p:grpSpPr>
        <p:sp>
          <p:nvSpPr>
            <p:cNvPr name="Freeform 29" id="29"/>
            <p:cNvSpPr/>
            <p:nvPr/>
          </p:nvSpPr>
          <p:spPr>
            <a:xfrm flipH="false" flipV="false" rot="0">
              <a:off x="0" y="0"/>
              <a:ext cx="5212080" cy="1554480"/>
            </a:xfrm>
            <a:custGeom>
              <a:avLst/>
              <a:gdLst/>
              <a:ahLst/>
              <a:cxnLst/>
              <a:rect r="r" b="b" t="t" l="l"/>
              <a:pathLst>
                <a:path h="1554480" w="5212080">
                  <a:moveTo>
                    <a:pt x="0" y="146304"/>
                  </a:moveTo>
                  <a:cubicBezTo>
                    <a:pt x="0" y="65532"/>
                    <a:pt x="65532" y="0"/>
                    <a:pt x="146304" y="0"/>
                  </a:cubicBezTo>
                  <a:lnTo>
                    <a:pt x="5065776" y="0"/>
                  </a:lnTo>
                  <a:cubicBezTo>
                    <a:pt x="5146548" y="0"/>
                    <a:pt x="5212080" y="65532"/>
                    <a:pt x="5212080" y="146304"/>
                  </a:cubicBezTo>
                  <a:lnTo>
                    <a:pt x="5212080" y="1408176"/>
                  </a:lnTo>
                  <a:cubicBezTo>
                    <a:pt x="5212080" y="1488948"/>
                    <a:pt x="5146548" y="1554480"/>
                    <a:pt x="5065776" y="1554480"/>
                  </a:cubicBezTo>
                  <a:lnTo>
                    <a:pt x="146304" y="1554480"/>
                  </a:lnTo>
                  <a:cubicBezTo>
                    <a:pt x="65532" y="1554480"/>
                    <a:pt x="0" y="1488948"/>
                    <a:pt x="0" y="1408176"/>
                  </a:cubicBezTo>
                  <a:close/>
                </a:path>
              </a:pathLst>
            </a:custGeom>
            <a:solidFill>
              <a:srgbClr val="F4F7FC"/>
            </a:solidFill>
          </p:spPr>
        </p:sp>
      </p:grpSp>
      <p:grpSp>
        <p:nvGrpSpPr>
          <p:cNvPr name="Group 30" id="30"/>
          <p:cNvGrpSpPr/>
          <p:nvPr/>
        </p:nvGrpSpPr>
        <p:grpSpPr>
          <a:xfrm rot="0">
            <a:off x="9436608" y="4457700"/>
            <a:ext cx="3415284" cy="384048"/>
            <a:chOff x="0" y="0"/>
            <a:chExt cx="4553712" cy="512064"/>
          </a:xfrm>
        </p:grpSpPr>
        <p:sp>
          <p:nvSpPr>
            <p:cNvPr name="Freeform 31" id="31"/>
            <p:cNvSpPr/>
            <p:nvPr/>
          </p:nvSpPr>
          <p:spPr>
            <a:xfrm flipH="false" flipV="false" rot="0">
              <a:off x="0" y="0"/>
              <a:ext cx="4553712" cy="512064"/>
            </a:xfrm>
            <a:custGeom>
              <a:avLst/>
              <a:gdLst/>
              <a:ahLst/>
              <a:cxnLst/>
              <a:rect r="r" b="b" t="t" l="l"/>
              <a:pathLst>
                <a:path h="512064" w="4553712">
                  <a:moveTo>
                    <a:pt x="0" y="0"/>
                  </a:moveTo>
                  <a:lnTo>
                    <a:pt x="4553712" y="0"/>
                  </a:lnTo>
                  <a:lnTo>
                    <a:pt x="4553712" y="512064"/>
                  </a:lnTo>
                  <a:lnTo>
                    <a:pt x="0" y="512064"/>
                  </a:lnTo>
                  <a:close/>
                </a:path>
              </a:pathLst>
            </a:custGeom>
            <a:blipFill>
              <a:blip r:embed="rId3">
                <a:alphaModFix amt="0"/>
              </a:blip>
              <a:stretch>
                <a:fillRect l="0" t="-123277" r="0" b="-123277"/>
              </a:stretch>
            </a:blipFill>
          </p:spPr>
        </p:sp>
        <p:sp>
          <p:nvSpPr>
            <p:cNvPr name="TextBox 32" id="32"/>
            <p:cNvSpPr txBox="true"/>
            <p:nvPr/>
          </p:nvSpPr>
          <p:spPr>
            <a:xfrm>
              <a:off x="0" y="-38100"/>
              <a:ext cx="4553712" cy="550164"/>
            </a:xfrm>
            <a:prstGeom prst="rect">
              <a:avLst/>
            </a:prstGeom>
          </p:spPr>
          <p:txBody>
            <a:bodyPr anchor="ctr" rtlCol="false" tIns="0" lIns="0" bIns="0" rIns="0"/>
            <a:lstStyle/>
            <a:p>
              <a:pPr algn="l">
                <a:lnSpc>
                  <a:spcPts val="1800"/>
                </a:lnSpc>
              </a:pPr>
              <a:r>
                <a:rPr lang="en-US" b="true" sz="1500" spc="75">
                  <a:solidFill>
                    <a:srgbClr val="6B7280"/>
                  </a:solidFill>
                  <a:latin typeface="Calibri (MS) Bold"/>
                  <a:ea typeface="Calibri (MS) Bold"/>
                  <a:cs typeface="Calibri (MS) Bold"/>
                  <a:sym typeface="Calibri (MS) Bold"/>
                </a:rPr>
                <a:t>RISK RATING</a:t>
              </a:r>
            </a:p>
          </p:txBody>
        </p:sp>
      </p:grpSp>
      <p:sp>
        <p:nvSpPr>
          <p:cNvPr name="TextBox 33" id="33"/>
          <p:cNvSpPr txBox="true"/>
          <p:nvPr/>
        </p:nvSpPr>
        <p:spPr>
          <a:xfrm rot="0">
            <a:off x="9528048" y="4840986"/>
            <a:ext cx="3232404" cy="462534"/>
          </a:xfrm>
          <a:prstGeom prst="rect">
            <a:avLst/>
          </a:prstGeom>
        </p:spPr>
        <p:txBody>
          <a:bodyPr anchor="t" rtlCol="false" tIns="0" lIns="0" bIns="0" rIns="0">
            <a:spAutoFit/>
          </a:bodyPr>
          <a:lstStyle/>
          <a:p>
            <a:pPr algn="l">
              <a:lnSpc>
                <a:spcPts val="3240"/>
              </a:lnSpc>
            </a:pPr>
            <a:r>
              <a:rPr lang="en-US" sz="2700" b="true">
                <a:solidFill>
                  <a:srgbClr val="C98A12"/>
                </a:solidFill>
                <a:latin typeface="Cambria Bold"/>
                <a:ea typeface="Cambria Bold"/>
                <a:cs typeface="Cambria Bold"/>
                <a:sym typeface="Cambria Bold"/>
              </a:rPr>
              <a:t>Medium</a:t>
            </a:r>
          </a:p>
        </p:txBody>
      </p:sp>
      <p:grpSp>
        <p:nvGrpSpPr>
          <p:cNvPr name="Group 34" id="34"/>
          <p:cNvGrpSpPr/>
          <p:nvPr/>
        </p:nvGrpSpPr>
        <p:grpSpPr>
          <a:xfrm rot="0">
            <a:off x="13304520" y="4320540"/>
            <a:ext cx="3977640" cy="1165860"/>
            <a:chOff x="0" y="0"/>
            <a:chExt cx="5303520" cy="1554480"/>
          </a:xfrm>
        </p:grpSpPr>
        <p:sp>
          <p:nvSpPr>
            <p:cNvPr name="Freeform 35" id="35"/>
            <p:cNvSpPr/>
            <p:nvPr/>
          </p:nvSpPr>
          <p:spPr>
            <a:xfrm flipH="false" flipV="false" rot="0">
              <a:off x="0" y="0"/>
              <a:ext cx="5303520" cy="1554480"/>
            </a:xfrm>
            <a:custGeom>
              <a:avLst/>
              <a:gdLst/>
              <a:ahLst/>
              <a:cxnLst/>
              <a:rect r="r" b="b" t="t" l="l"/>
              <a:pathLst>
                <a:path h="1554480" w="5303520">
                  <a:moveTo>
                    <a:pt x="0" y="146304"/>
                  </a:moveTo>
                  <a:cubicBezTo>
                    <a:pt x="0" y="65532"/>
                    <a:pt x="65532" y="0"/>
                    <a:pt x="146304" y="0"/>
                  </a:cubicBezTo>
                  <a:lnTo>
                    <a:pt x="5157216" y="0"/>
                  </a:lnTo>
                  <a:cubicBezTo>
                    <a:pt x="5237988" y="0"/>
                    <a:pt x="5303520" y="65532"/>
                    <a:pt x="5303520" y="146304"/>
                  </a:cubicBezTo>
                  <a:lnTo>
                    <a:pt x="5303520" y="1408176"/>
                  </a:lnTo>
                  <a:cubicBezTo>
                    <a:pt x="5303520" y="1488948"/>
                    <a:pt x="5237988" y="1554480"/>
                    <a:pt x="5157216" y="1554480"/>
                  </a:cubicBezTo>
                  <a:lnTo>
                    <a:pt x="146304" y="1554480"/>
                  </a:lnTo>
                  <a:cubicBezTo>
                    <a:pt x="65532" y="1554480"/>
                    <a:pt x="0" y="1488948"/>
                    <a:pt x="0" y="1408176"/>
                  </a:cubicBezTo>
                  <a:close/>
                </a:path>
              </a:pathLst>
            </a:custGeom>
            <a:solidFill>
              <a:srgbClr val="7A2048"/>
            </a:solidFill>
          </p:spPr>
        </p:sp>
      </p:grpSp>
      <p:grpSp>
        <p:nvGrpSpPr>
          <p:cNvPr name="Group 36" id="36"/>
          <p:cNvGrpSpPr/>
          <p:nvPr/>
        </p:nvGrpSpPr>
        <p:grpSpPr>
          <a:xfrm rot="0">
            <a:off x="13551408" y="4457700"/>
            <a:ext cx="3429000" cy="384048"/>
            <a:chOff x="0" y="0"/>
            <a:chExt cx="4572000" cy="512064"/>
          </a:xfrm>
        </p:grpSpPr>
        <p:sp>
          <p:nvSpPr>
            <p:cNvPr name="Freeform 37" id="37"/>
            <p:cNvSpPr/>
            <p:nvPr/>
          </p:nvSpPr>
          <p:spPr>
            <a:xfrm flipH="false" flipV="false" rot="0">
              <a:off x="0" y="0"/>
              <a:ext cx="4572000" cy="512064"/>
            </a:xfrm>
            <a:custGeom>
              <a:avLst/>
              <a:gdLst/>
              <a:ahLst/>
              <a:cxnLst/>
              <a:rect r="r" b="b" t="t" l="l"/>
              <a:pathLst>
                <a:path h="512064" w="4572000">
                  <a:moveTo>
                    <a:pt x="0" y="0"/>
                  </a:moveTo>
                  <a:lnTo>
                    <a:pt x="4572000" y="0"/>
                  </a:lnTo>
                  <a:lnTo>
                    <a:pt x="4572000" y="512064"/>
                  </a:lnTo>
                  <a:lnTo>
                    <a:pt x="0" y="512064"/>
                  </a:lnTo>
                  <a:close/>
                </a:path>
              </a:pathLst>
            </a:custGeom>
            <a:blipFill>
              <a:blip r:embed="rId3">
                <a:alphaModFix amt="0"/>
              </a:blip>
              <a:stretch>
                <a:fillRect l="0" t="-123973" r="0" b="-123973"/>
              </a:stretch>
            </a:blipFill>
          </p:spPr>
        </p:sp>
        <p:sp>
          <p:nvSpPr>
            <p:cNvPr name="TextBox 38" id="38"/>
            <p:cNvSpPr txBox="true"/>
            <p:nvPr/>
          </p:nvSpPr>
          <p:spPr>
            <a:xfrm>
              <a:off x="0" y="-38100"/>
              <a:ext cx="4572000" cy="550164"/>
            </a:xfrm>
            <a:prstGeom prst="rect">
              <a:avLst/>
            </a:prstGeom>
          </p:spPr>
          <p:txBody>
            <a:bodyPr anchor="ctr" rtlCol="false" tIns="0" lIns="0" bIns="0" rIns="0"/>
            <a:lstStyle/>
            <a:p>
              <a:pPr algn="l">
                <a:lnSpc>
                  <a:spcPts val="1800"/>
                </a:lnSpc>
              </a:pPr>
              <a:r>
                <a:rPr lang="en-US" b="true" sz="1500" spc="75">
                  <a:solidFill>
                    <a:srgbClr val="CADCFC"/>
                  </a:solidFill>
                  <a:latin typeface="Calibri (MS) Bold"/>
                  <a:ea typeface="Calibri (MS) Bold"/>
                  <a:cs typeface="Calibri (MS) Bold"/>
                  <a:sym typeface="Calibri (MS) Bold"/>
                </a:rPr>
                <a:t>RESPONSE</a:t>
              </a:r>
            </a:p>
          </p:txBody>
        </p:sp>
      </p:grpSp>
      <p:sp>
        <p:nvSpPr>
          <p:cNvPr name="TextBox 39" id="39"/>
          <p:cNvSpPr txBox="true"/>
          <p:nvPr/>
        </p:nvSpPr>
        <p:spPr>
          <a:xfrm rot="0">
            <a:off x="13642848" y="4840986"/>
            <a:ext cx="3246120" cy="476250"/>
          </a:xfrm>
          <a:prstGeom prst="rect">
            <a:avLst/>
          </a:prstGeom>
        </p:spPr>
        <p:txBody>
          <a:bodyPr anchor="t" rtlCol="false" tIns="0" lIns="0" bIns="0" rIns="0">
            <a:spAutoFit/>
          </a:bodyPr>
          <a:lstStyle/>
          <a:p>
            <a:pPr algn="l">
              <a:lnSpc>
                <a:spcPts val="3240"/>
              </a:lnSpc>
            </a:pPr>
            <a:r>
              <a:rPr lang="en-US" sz="2700" b="true">
                <a:solidFill>
                  <a:srgbClr val="FFFFFF"/>
                </a:solidFill>
                <a:latin typeface="Cambria Bold"/>
                <a:ea typeface="Cambria Bold"/>
                <a:cs typeface="Cambria Bold"/>
                <a:sym typeface="Cambria Bold"/>
              </a:rPr>
              <a:t>Terminate</a:t>
            </a:r>
          </a:p>
        </p:txBody>
      </p:sp>
      <p:grpSp>
        <p:nvGrpSpPr>
          <p:cNvPr name="Group 40" id="40"/>
          <p:cNvGrpSpPr/>
          <p:nvPr/>
        </p:nvGrpSpPr>
        <p:grpSpPr>
          <a:xfrm rot="0">
            <a:off x="950595" y="5888355"/>
            <a:ext cx="16341090" cy="2967990"/>
            <a:chOff x="0" y="0"/>
            <a:chExt cx="21788120" cy="3957320"/>
          </a:xfrm>
        </p:grpSpPr>
        <p:sp>
          <p:nvSpPr>
            <p:cNvPr name="Freeform 41" id="41"/>
            <p:cNvSpPr/>
            <p:nvPr/>
          </p:nvSpPr>
          <p:spPr>
            <a:xfrm flipH="false" flipV="false" rot="0">
              <a:off x="0" y="0"/>
              <a:ext cx="21788120" cy="3957320"/>
            </a:xfrm>
            <a:custGeom>
              <a:avLst/>
              <a:gdLst/>
              <a:ahLst/>
              <a:cxnLst/>
              <a:rect r="r" b="b" t="t" l="l"/>
              <a:pathLst>
                <a:path h="3957320" w="21788120">
                  <a:moveTo>
                    <a:pt x="0" y="184023"/>
                  </a:moveTo>
                  <a:cubicBezTo>
                    <a:pt x="0" y="82423"/>
                    <a:pt x="82423" y="0"/>
                    <a:pt x="184023" y="0"/>
                  </a:cubicBezTo>
                  <a:lnTo>
                    <a:pt x="21604097" y="0"/>
                  </a:lnTo>
                  <a:cubicBezTo>
                    <a:pt x="21705697" y="0"/>
                    <a:pt x="21788120" y="82423"/>
                    <a:pt x="21788120" y="184023"/>
                  </a:cubicBezTo>
                  <a:lnTo>
                    <a:pt x="21788120" y="3773297"/>
                  </a:lnTo>
                  <a:cubicBezTo>
                    <a:pt x="21788120" y="3874897"/>
                    <a:pt x="21705697" y="3957320"/>
                    <a:pt x="21604097" y="3957320"/>
                  </a:cubicBezTo>
                  <a:lnTo>
                    <a:pt x="184023" y="3957320"/>
                  </a:lnTo>
                  <a:cubicBezTo>
                    <a:pt x="82423" y="3957320"/>
                    <a:pt x="0" y="3874897"/>
                    <a:pt x="0" y="3773297"/>
                  </a:cubicBezTo>
                  <a:close/>
                </a:path>
              </a:pathLst>
            </a:custGeom>
            <a:solidFill>
              <a:srgbClr val="FBF9F4"/>
            </a:solidFill>
            <a:ln w="19050" cap="sq">
              <a:solidFill>
                <a:srgbClr val="EFE6D2"/>
              </a:solidFill>
              <a:prstDash val="solid"/>
              <a:miter/>
            </a:ln>
          </p:spPr>
        </p:sp>
      </p:grpSp>
      <p:sp>
        <p:nvSpPr>
          <p:cNvPr name="TextBox 42" id="42"/>
          <p:cNvSpPr txBox="true"/>
          <p:nvPr/>
        </p:nvSpPr>
        <p:spPr>
          <a:xfrm rot="0">
            <a:off x="1463040" y="6084570"/>
            <a:ext cx="15316200" cy="2510790"/>
          </a:xfrm>
          <a:prstGeom prst="rect">
            <a:avLst/>
          </a:prstGeom>
        </p:spPr>
        <p:txBody>
          <a:bodyPr anchor="t" rtlCol="false" tIns="0" lIns="0" bIns="0" rIns="0">
            <a:spAutoFit/>
          </a:bodyPr>
          <a:lstStyle/>
          <a:p>
            <a:pPr algn="l">
              <a:lnSpc>
                <a:spcPts val="3402"/>
              </a:lnSpc>
            </a:pPr>
            <a:r>
              <a:rPr lang="en-US" sz="2100">
                <a:solidFill>
                  <a:srgbClr val="23262F"/>
                </a:solidFill>
                <a:latin typeface="Calibri (MS)"/>
                <a:ea typeface="Calibri (MS)"/>
                <a:cs typeface="Calibri (MS)"/>
                <a:sym typeface="Calibri (MS)"/>
              </a:rPr>
              <a:t>There's no business reason to keep this running. You can't leak or lose data through a system that no longer exists — decommission it. Terminate.</a:t>
            </a:r>
          </a:p>
        </p:txBody>
      </p:sp>
      <p:grpSp>
        <p:nvGrpSpPr>
          <p:cNvPr name="Group 43" id="43"/>
          <p:cNvGrpSpPr/>
          <p:nvPr/>
        </p:nvGrpSpPr>
        <p:grpSpPr>
          <a:xfrm rot="0">
            <a:off x="685800" y="9710928"/>
            <a:ext cx="10972800" cy="411480"/>
            <a:chOff x="0" y="0"/>
            <a:chExt cx="14630400" cy="548640"/>
          </a:xfrm>
        </p:grpSpPr>
        <p:sp>
          <p:nvSpPr>
            <p:cNvPr name="Freeform 44" id="44"/>
            <p:cNvSpPr/>
            <p:nvPr/>
          </p:nvSpPr>
          <p:spPr>
            <a:xfrm flipH="false" flipV="false" rot="0">
              <a:off x="0" y="0"/>
              <a:ext cx="14630400" cy="548640"/>
            </a:xfrm>
            <a:custGeom>
              <a:avLst/>
              <a:gdLst/>
              <a:ahLst/>
              <a:cxnLst/>
              <a:rect r="r" b="b" t="t" l="l"/>
              <a:pathLst>
                <a:path h="548640" w="14630400">
                  <a:moveTo>
                    <a:pt x="0" y="0"/>
                  </a:moveTo>
                  <a:lnTo>
                    <a:pt x="14630400" y="0"/>
                  </a:lnTo>
                  <a:lnTo>
                    <a:pt x="14630400" y="548640"/>
                  </a:lnTo>
                  <a:lnTo>
                    <a:pt x="0" y="548640"/>
                  </a:lnTo>
                  <a:close/>
                </a:path>
              </a:pathLst>
            </a:custGeom>
            <a:blipFill>
              <a:blip r:embed="rId3">
                <a:alphaModFix amt="0"/>
              </a:blip>
              <a:stretch>
                <a:fillRect l="0" t="-469601" r="0" b="-469601"/>
              </a:stretch>
            </a:blipFill>
          </p:spPr>
        </p:sp>
        <p:sp>
          <p:nvSpPr>
            <p:cNvPr name="TextBox 45" id="45"/>
            <p:cNvSpPr txBox="true"/>
            <p:nvPr/>
          </p:nvSpPr>
          <p:spPr>
            <a:xfrm>
              <a:off x="0" y="-38100"/>
              <a:ext cx="14630400" cy="586740"/>
            </a:xfrm>
            <a:prstGeom prst="rect">
              <a:avLst/>
            </a:prstGeom>
          </p:spPr>
          <p:txBody>
            <a:bodyPr anchor="ctr" rtlCol="false" tIns="0" lIns="0" bIns="0" rIns="0"/>
            <a:lstStyle/>
            <a:p>
              <a:pPr algn="l">
                <a:lnSpc>
                  <a:spcPts val="1800"/>
                </a:lnSpc>
              </a:pPr>
              <a:r>
                <a:rPr lang="en-US" sz="1500">
                  <a:solidFill>
                    <a:srgbClr val="6B7280"/>
                  </a:solidFill>
                  <a:latin typeface="Calibri (MS)"/>
                  <a:ea typeface="Calibri (MS)"/>
                  <a:cs typeface="Calibri (MS)"/>
                  <a:sym typeface="Calibri (MS)"/>
                </a:rPr>
                <a:t>Davao del Norte Provincial Government — Cybersecurity Seminar</a:t>
              </a:r>
            </a:p>
          </p:txBody>
        </p:sp>
      </p:grpSp>
      <p:grpSp>
        <p:nvGrpSpPr>
          <p:cNvPr name="Group 46" id="46"/>
          <p:cNvGrpSpPr/>
          <p:nvPr/>
        </p:nvGrpSpPr>
        <p:grpSpPr>
          <a:xfrm rot="0">
            <a:off x="16911828" y="9710928"/>
            <a:ext cx="685800" cy="411480"/>
            <a:chOff x="0" y="0"/>
            <a:chExt cx="914400" cy="548640"/>
          </a:xfrm>
        </p:grpSpPr>
        <p:sp>
          <p:nvSpPr>
            <p:cNvPr name="Freeform 47" id="47"/>
            <p:cNvSpPr/>
            <p:nvPr/>
          </p:nvSpPr>
          <p:spPr>
            <a:xfrm flipH="false" flipV="false" rot="0">
              <a:off x="0" y="0"/>
              <a:ext cx="914400" cy="548640"/>
            </a:xfrm>
            <a:custGeom>
              <a:avLst/>
              <a:gdLst/>
              <a:ahLst/>
              <a:cxnLst/>
              <a:rect r="r" b="b" t="t" l="l"/>
              <a:pathLst>
                <a:path h="548640" w="914400">
                  <a:moveTo>
                    <a:pt x="0" y="0"/>
                  </a:moveTo>
                  <a:lnTo>
                    <a:pt x="914400" y="0"/>
                  </a:lnTo>
                  <a:lnTo>
                    <a:pt x="914400" y="548640"/>
                  </a:lnTo>
                  <a:lnTo>
                    <a:pt x="0" y="548640"/>
                  </a:lnTo>
                  <a:close/>
                </a:path>
              </a:pathLst>
            </a:custGeom>
            <a:blipFill>
              <a:blip r:embed="rId3">
                <a:alphaModFix amt="0"/>
              </a:blip>
              <a:stretch>
                <a:fillRect l="-26982" t="0" r="-26982" b="0"/>
              </a:stretch>
            </a:blipFill>
          </p:spPr>
        </p:sp>
        <p:sp>
          <p:nvSpPr>
            <p:cNvPr name="TextBox 48" id="48"/>
            <p:cNvSpPr txBox="true"/>
            <p:nvPr/>
          </p:nvSpPr>
          <p:spPr>
            <a:xfrm>
              <a:off x="0" y="-38100"/>
              <a:ext cx="914400" cy="586740"/>
            </a:xfrm>
            <a:prstGeom prst="rect">
              <a:avLst/>
            </a:prstGeom>
          </p:spPr>
          <p:txBody>
            <a:bodyPr anchor="ctr" rtlCol="false" tIns="0" lIns="0" bIns="0" rIns="0"/>
            <a:lstStyle/>
            <a:p>
              <a:pPr algn="r">
                <a:lnSpc>
                  <a:spcPts val="1800"/>
                </a:lnSpc>
              </a:pPr>
              <a:r>
                <a:rPr lang="en-US" sz="1500">
                  <a:solidFill>
                    <a:srgbClr val="6B7280"/>
                  </a:solidFill>
                  <a:latin typeface="Calibri (MS)"/>
                  <a:ea typeface="Calibri (MS)"/>
                  <a:cs typeface="Calibri (MS)"/>
                  <a:sym typeface="Calibri (MS)"/>
                </a:rPr>
                <a:t>30</a:t>
              </a:r>
            </a:p>
          </p:txBody>
        </p:sp>
      </p:grpSp>
    </p:spTree>
  </p:cSld>
  <p:clrMapOvr>
    <a:masterClrMapping/>
  </p:clrMapOvr>
</p:sld>
</file>

<file path=ppt/slides/slide35.xml><?xml version="1.0" encoding="utf-8"?>
<p:sld xmlns:p="http://schemas.openxmlformats.org/presentationml/2006/main" xmlns:a="http://schemas.openxmlformats.org/drawingml/2006/main" xmlns:r="http://schemas.openxmlformats.org/officeDocument/2006/relationships">
  <p:cSld>
    <p:bg>
      <p:bgPr>
        <a:solidFill>
          <a:srgbClr val="1E2761"/>
        </a:solidFill>
      </p:bgPr>
    </p:bg>
    <p:spTree>
      <p:nvGrpSpPr>
        <p:cNvPr id="1" name=""/>
        <p:cNvGrpSpPr/>
        <p:nvPr/>
      </p:nvGrpSpPr>
      <p:grpSpPr>
        <a:xfrm>
          <a:off x="0" y="0"/>
          <a:ext cx="0" cy="0"/>
          <a:chOff x="0" y="0"/>
          <a:chExt cx="0" cy="0"/>
        </a:xfrm>
      </p:grpSpPr>
      <p:grpSp>
        <p:nvGrpSpPr>
          <p:cNvPr name="Group 2" id="2"/>
          <p:cNvGrpSpPr/>
          <p:nvPr/>
        </p:nvGrpSpPr>
        <p:grpSpPr>
          <a:xfrm rot="0">
            <a:off x="13441680" y="-3566160"/>
            <a:ext cx="8915400" cy="8915400"/>
            <a:chOff x="0" y="0"/>
            <a:chExt cx="11887200" cy="11887200"/>
          </a:xfrm>
        </p:grpSpPr>
        <p:sp>
          <p:nvSpPr>
            <p:cNvPr name="Freeform 3" id="3"/>
            <p:cNvSpPr/>
            <p:nvPr/>
          </p:nvSpPr>
          <p:spPr>
            <a:xfrm flipH="false" flipV="false" rot="0">
              <a:off x="0" y="0"/>
              <a:ext cx="11887200" cy="11887200"/>
            </a:xfrm>
            <a:custGeom>
              <a:avLst/>
              <a:gdLst/>
              <a:ahLst/>
              <a:cxnLst/>
              <a:rect r="r" b="b" t="t" l="l"/>
              <a:pathLst>
                <a:path h="11887200" w="11887200">
                  <a:moveTo>
                    <a:pt x="0" y="5943600"/>
                  </a:moveTo>
                  <a:cubicBezTo>
                    <a:pt x="0" y="2661031"/>
                    <a:pt x="2661031" y="0"/>
                    <a:pt x="5943600" y="0"/>
                  </a:cubicBezTo>
                  <a:cubicBezTo>
                    <a:pt x="9226169" y="0"/>
                    <a:pt x="11887200" y="2661031"/>
                    <a:pt x="11887200" y="5943600"/>
                  </a:cubicBezTo>
                  <a:cubicBezTo>
                    <a:pt x="11887200" y="9226169"/>
                    <a:pt x="9226169" y="11887200"/>
                    <a:pt x="5943600" y="11887200"/>
                  </a:cubicBezTo>
                  <a:cubicBezTo>
                    <a:pt x="2661031" y="11887200"/>
                    <a:pt x="0" y="9226169"/>
                    <a:pt x="0" y="5943600"/>
                  </a:cubicBezTo>
                  <a:close/>
                </a:path>
              </a:pathLst>
            </a:custGeom>
            <a:solidFill>
              <a:srgbClr val="263186"/>
            </a:solidFill>
          </p:spPr>
        </p:sp>
      </p:grpSp>
      <p:grpSp>
        <p:nvGrpSpPr>
          <p:cNvPr name="Group 4" id="4"/>
          <p:cNvGrpSpPr/>
          <p:nvPr/>
        </p:nvGrpSpPr>
        <p:grpSpPr>
          <a:xfrm rot="0">
            <a:off x="0" y="1920240"/>
            <a:ext cx="18283428" cy="548640"/>
            <a:chOff x="0" y="0"/>
            <a:chExt cx="24377904" cy="731520"/>
          </a:xfrm>
        </p:grpSpPr>
        <p:sp>
          <p:nvSpPr>
            <p:cNvPr name="Freeform 5" id="5"/>
            <p:cNvSpPr/>
            <p:nvPr/>
          </p:nvSpPr>
          <p:spPr>
            <a:xfrm flipH="false" flipV="false" rot="0">
              <a:off x="0" y="0"/>
              <a:ext cx="24377904" cy="731520"/>
            </a:xfrm>
            <a:custGeom>
              <a:avLst/>
              <a:gdLst/>
              <a:ahLst/>
              <a:cxnLst/>
              <a:rect r="r" b="b" t="t" l="l"/>
              <a:pathLst>
                <a:path h="731520" w="24377904">
                  <a:moveTo>
                    <a:pt x="0" y="0"/>
                  </a:moveTo>
                  <a:lnTo>
                    <a:pt x="24377904" y="0"/>
                  </a:lnTo>
                  <a:lnTo>
                    <a:pt x="24377904" y="731520"/>
                  </a:lnTo>
                  <a:lnTo>
                    <a:pt x="0" y="731520"/>
                  </a:lnTo>
                  <a:close/>
                </a:path>
              </a:pathLst>
            </a:custGeom>
            <a:blipFill>
              <a:blip r:embed="rId3">
                <a:alphaModFix amt="0"/>
              </a:blip>
              <a:stretch>
                <a:fillRect l="0" t="-599338" r="0" b="-599338"/>
              </a:stretch>
            </a:blipFill>
          </p:spPr>
        </p:sp>
        <p:sp>
          <p:nvSpPr>
            <p:cNvPr name="TextBox 6" id="6"/>
            <p:cNvSpPr txBox="true"/>
            <p:nvPr/>
          </p:nvSpPr>
          <p:spPr>
            <a:xfrm>
              <a:off x="0" y="-47625"/>
              <a:ext cx="24377904" cy="779145"/>
            </a:xfrm>
            <a:prstGeom prst="rect">
              <a:avLst/>
            </a:prstGeom>
          </p:spPr>
          <p:txBody>
            <a:bodyPr anchor="ctr" rtlCol="false" tIns="0" lIns="0" bIns="0" rIns="0"/>
            <a:lstStyle/>
            <a:p>
              <a:pPr algn="ctr">
                <a:lnSpc>
                  <a:spcPts val="2520"/>
                </a:lnSpc>
              </a:pPr>
              <a:r>
                <a:rPr lang="en-US" b="true" sz="2100" spc="299">
                  <a:solidFill>
                    <a:srgbClr val="00B4D8"/>
                  </a:solidFill>
                  <a:latin typeface="Calibri (MS) Bold"/>
                  <a:ea typeface="Calibri (MS) Bold"/>
                  <a:cs typeface="Calibri (MS) Bold"/>
                  <a:sym typeface="Calibri (MS) Bold"/>
                </a:rPr>
                <a:t>TALK IT OVER — 5 MINUTES</a:t>
              </a:r>
            </a:p>
          </p:txBody>
        </p:sp>
      </p:grpSp>
      <p:grpSp>
        <p:nvGrpSpPr>
          <p:cNvPr name="Group 7" id="7"/>
          <p:cNvGrpSpPr/>
          <p:nvPr/>
        </p:nvGrpSpPr>
        <p:grpSpPr>
          <a:xfrm rot="0">
            <a:off x="1508760" y="2811780"/>
            <a:ext cx="15224760" cy="4389120"/>
            <a:chOff x="0" y="0"/>
            <a:chExt cx="20299680" cy="5852160"/>
          </a:xfrm>
        </p:grpSpPr>
        <p:sp>
          <p:nvSpPr>
            <p:cNvPr name="Freeform 8" id="8"/>
            <p:cNvSpPr/>
            <p:nvPr/>
          </p:nvSpPr>
          <p:spPr>
            <a:xfrm flipH="false" flipV="false" rot="0">
              <a:off x="0" y="0"/>
              <a:ext cx="20299680" cy="5852160"/>
            </a:xfrm>
            <a:custGeom>
              <a:avLst/>
              <a:gdLst/>
              <a:ahLst/>
              <a:cxnLst/>
              <a:rect r="r" b="b" t="t" l="l"/>
              <a:pathLst>
                <a:path h="5852160" w="20299680">
                  <a:moveTo>
                    <a:pt x="0" y="0"/>
                  </a:moveTo>
                  <a:lnTo>
                    <a:pt x="20299680" y="0"/>
                  </a:lnTo>
                  <a:lnTo>
                    <a:pt x="20299680" y="5852160"/>
                  </a:lnTo>
                  <a:lnTo>
                    <a:pt x="0" y="5852160"/>
                  </a:lnTo>
                  <a:close/>
                </a:path>
              </a:pathLst>
            </a:custGeom>
            <a:blipFill>
              <a:blip r:embed="rId3">
                <a:alphaModFix amt="0"/>
              </a:blip>
              <a:stretch>
                <a:fillRect l="0" t="-17588" r="0" b="-17588"/>
              </a:stretch>
            </a:blipFill>
          </p:spPr>
        </p:sp>
        <p:sp>
          <p:nvSpPr>
            <p:cNvPr name="TextBox 9" id="9"/>
            <p:cNvSpPr txBox="true"/>
            <p:nvPr/>
          </p:nvSpPr>
          <p:spPr>
            <a:xfrm>
              <a:off x="0" y="-133350"/>
              <a:ext cx="20299680" cy="5985510"/>
            </a:xfrm>
            <a:prstGeom prst="rect">
              <a:avLst/>
            </a:prstGeom>
          </p:spPr>
          <p:txBody>
            <a:bodyPr anchor="ctr" rtlCol="false" tIns="0" lIns="0" bIns="0" rIns="0"/>
            <a:lstStyle/>
            <a:p>
              <a:pPr algn="ctr">
                <a:lnSpc>
                  <a:spcPts val="5850"/>
                </a:lnSpc>
              </a:pPr>
              <a:r>
                <a:rPr lang="en-US" sz="3750" b="true">
                  <a:solidFill>
                    <a:srgbClr val="FFFFFF"/>
                  </a:solidFill>
                  <a:latin typeface="Cambria Bold"/>
                  <a:ea typeface="Cambria Bold"/>
                  <a:cs typeface="Cambria Bold"/>
                  <a:sym typeface="Cambria Bold"/>
                </a:rPr>
                <a:t>Pick one risk from your own office that you've never actually written down.</a:t>
              </a:r>
            </a:p>
            <a:p>
              <a:pPr algn="ctr">
                <a:lnSpc>
                  <a:spcPts val="5850"/>
                </a:lnSpc>
              </a:pPr>
            </a:p>
            <a:p>
              <a:pPr algn="ctr">
                <a:lnSpc>
                  <a:spcPts val="5850"/>
                </a:lnSpc>
              </a:pPr>
              <a:r>
                <a:rPr lang="en-US" sz="3750" b="true">
                  <a:solidFill>
                    <a:srgbClr val="FFFFFF"/>
                  </a:solidFill>
                  <a:latin typeface="Cambria Bold"/>
                  <a:ea typeface="Cambria Bold"/>
                  <a:cs typeface="Cambria Bold"/>
                  <a:sym typeface="Cambria Bold"/>
                </a:rPr>
                <a:t>Using today's Likelihood × Impact test, is it something you should Treat, Transfer, Tolerate, or Terminate?</a:t>
              </a:r>
            </a:p>
          </p:txBody>
        </p:sp>
      </p:grpSp>
      <p:grpSp>
        <p:nvGrpSpPr>
          <p:cNvPr name="Group 10" id="10"/>
          <p:cNvGrpSpPr/>
          <p:nvPr/>
        </p:nvGrpSpPr>
        <p:grpSpPr>
          <a:xfrm rot="0">
            <a:off x="0" y="7612380"/>
            <a:ext cx="18283428" cy="685800"/>
            <a:chOff x="0" y="0"/>
            <a:chExt cx="24377904" cy="914400"/>
          </a:xfrm>
        </p:grpSpPr>
        <p:sp>
          <p:nvSpPr>
            <p:cNvPr name="Freeform 11" id="11"/>
            <p:cNvSpPr/>
            <p:nvPr/>
          </p:nvSpPr>
          <p:spPr>
            <a:xfrm flipH="false" flipV="false" rot="0">
              <a:off x="0" y="0"/>
              <a:ext cx="24377904" cy="914400"/>
            </a:xfrm>
            <a:custGeom>
              <a:avLst/>
              <a:gdLst/>
              <a:ahLst/>
              <a:cxnLst/>
              <a:rect r="r" b="b" t="t" l="l"/>
              <a:pathLst>
                <a:path h="914400" w="24377904">
                  <a:moveTo>
                    <a:pt x="0" y="0"/>
                  </a:moveTo>
                  <a:lnTo>
                    <a:pt x="24377904" y="0"/>
                  </a:lnTo>
                  <a:lnTo>
                    <a:pt x="24377904" y="914400"/>
                  </a:lnTo>
                  <a:lnTo>
                    <a:pt x="0" y="914400"/>
                  </a:lnTo>
                  <a:close/>
                </a:path>
              </a:pathLst>
            </a:custGeom>
            <a:blipFill>
              <a:blip r:embed="rId3">
                <a:alphaModFix amt="0"/>
              </a:blip>
              <a:stretch>
                <a:fillRect l="0" t="-469471" r="0" b="-469471"/>
              </a:stretch>
            </a:blipFill>
          </p:spPr>
        </p:sp>
        <p:sp>
          <p:nvSpPr>
            <p:cNvPr name="TextBox 12" id="12"/>
            <p:cNvSpPr txBox="true"/>
            <p:nvPr/>
          </p:nvSpPr>
          <p:spPr>
            <a:xfrm>
              <a:off x="0" y="-57150"/>
              <a:ext cx="24377904" cy="971550"/>
            </a:xfrm>
            <a:prstGeom prst="rect">
              <a:avLst/>
            </a:prstGeom>
          </p:spPr>
          <p:txBody>
            <a:bodyPr anchor="ctr" rtlCol="false" tIns="0" lIns="0" bIns="0" rIns="0"/>
            <a:lstStyle/>
            <a:p>
              <a:pPr algn="ctr">
                <a:lnSpc>
                  <a:spcPts val="2700"/>
                </a:lnSpc>
              </a:pPr>
              <a:r>
                <a:rPr lang="en-US" sz="2250" i="true">
                  <a:solidFill>
                    <a:srgbClr val="CADCFC"/>
                  </a:solidFill>
                  <a:latin typeface="Calibri (MS) Italics"/>
                  <a:ea typeface="Calibri (MS) Italics"/>
                  <a:cs typeface="Calibri (MS) Italics"/>
                  <a:sym typeface="Calibri (MS) Italics"/>
                </a:rPr>
                <a:t>Is your office actually doing that right now, or just hoping nothing happens?</a:t>
              </a:r>
            </a:p>
          </p:txBody>
        </p:sp>
      </p:grpSp>
      <p:grpSp>
        <p:nvGrpSpPr>
          <p:cNvPr name="Group 13" id="13"/>
          <p:cNvGrpSpPr/>
          <p:nvPr/>
        </p:nvGrpSpPr>
        <p:grpSpPr>
          <a:xfrm rot="0">
            <a:off x="685800" y="9710928"/>
            <a:ext cx="10972800" cy="411480"/>
            <a:chOff x="0" y="0"/>
            <a:chExt cx="14630400" cy="548640"/>
          </a:xfrm>
        </p:grpSpPr>
        <p:sp>
          <p:nvSpPr>
            <p:cNvPr name="Freeform 14" id="14"/>
            <p:cNvSpPr/>
            <p:nvPr/>
          </p:nvSpPr>
          <p:spPr>
            <a:xfrm flipH="false" flipV="false" rot="0">
              <a:off x="0" y="0"/>
              <a:ext cx="14630400" cy="548640"/>
            </a:xfrm>
            <a:custGeom>
              <a:avLst/>
              <a:gdLst/>
              <a:ahLst/>
              <a:cxnLst/>
              <a:rect r="r" b="b" t="t" l="l"/>
              <a:pathLst>
                <a:path h="548640" w="14630400">
                  <a:moveTo>
                    <a:pt x="0" y="0"/>
                  </a:moveTo>
                  <a:lnTo>
                    <a:pt x="14630400" y="0"/>
                  </a:lnTo>
                  <a:lnTo>
                    <a:pt x="14630400" y="548640"/>
                  </a:lnTo>
                  <a:lnTo>
                    <a:pt x="0" y="548640"/>
                  </a:lnTo>
                  <a:close/>
                </a:path>
              </a:pathLst>
            </a:custGeom>
            <a:blipFill>
              <a:blip r:embed="rId3">
                <a:alphaModFix amt="0"/>
              </a:blip>
              <a:stretch>
                <a:fillRect l="0" t="-469601" r="0" b="-469601"/>
              </a:stretch>
            </a:blipFill>
          </p:spPr>
        </p:sp>
        <p:sp>
          <p:nvSpPr>
            <p:cNvPr name="TextBox 15" id="15"/>
            <p:cNvSpPr txBox="true"/>
            <p:nvPr/>
          </p:nvSpPr>
          <p:spPr>
            <a:xfrm>
              <a:off x="0" y="-38100"/>
              <a:ext cx="14630400" cy="586740"/>
            </a:xfrm>
            <a:prstGeom prst="rect">
              <a:avLst/>
            </a:prstGeom>
          </p:spPr>
          <p:txBody>
            <a:bodyPr anchor="ctr" rtlCol="false" tIns="0" lIns="0" bIns="0" rIns="0"/>
            <a:lstStyle/>
            <a:p>
              <a:pPr algn="l">
                <a:lnSpc>
                  <a:spcPts val="1800"/>
                </a:lnSpc>
              </a:pPr>
              <a:r>
                <a:rPr lang="en-US" sz="1500">
                  <a:solidFill>
                    <a:srgbClr val="CADCFC"/>
                  </a:solidFill>
                  <a:latin typeface="Calibri (MS)"/>
                  <a:ea typeface="Calibri (MS)"/>
                  <a:cs typeface="Calibri (MS)"/>
                  <a:sym typeface="Calibri (MS)"/>
                </a:rPr>
                <a:t>Davao del Norte Provincial Government — Cybersecurity Seminar</a:t>
              </a:r>
            </a:p>
          </p:txBody>
        </p:sp>
      </p:grpSp>
      <p:grpSp>
        <p:nvGrpSpPr>
          <p:cNvPr name="Group 16" id="16"/>
          <p:cNvGrpSpPr/>
          <p:nvPr/>
        </p:nvGrpSpPr>
        <p:grpSpPr>
          <a:xfrm rot="0">
            <a:off x="16911828" y="9710928"/>
            <a:ext cx="685800" cy="411480"/>
            <a:chOff x="0" y="0"/>
            <a:chExt cx="914400" cy="548640"/>
          </a:xfrm>
        </p:grpSpPr>
        <p:sp>
          <p:nvSpPr>
            <p:cNvPr name="Freeform 17" id="17"/>
            <p:cNvSpPr/>
            <p:nvPr/>
          </p:nvSpPr>
          <p:spPr>
            <a:xfrm flipH="false" flipV="false" rot="0">
              <a:off x="0" y="0"/>
              <a:ext cx="914400" cy="548640"/>
            </a:xfrm>
            <a:custGeom>
              <a:avLst/>
              <a:gdLst/>
              <a:ahLst/>
              <a:cxnLst/>
              <a:rect r="r" b="b" t="t" l="l"/>
              <a:pathLst>
                <a:path h="548640" w="914400">
                  <a:moveTo>
                    <a:pt x="0" y="0"/>
                  </a:moveTo>
                  <a:lnTo>
                    <a:pt x="914400" y="0"/>
                  </a:lnTo>
                  <a:lnTo>
                    <a:pt x="914400" y="548640"/>
                  </a:lnTo>
                  <a:lnTo>
                    <a:pt x="0" y="548640"/>
                  </a:lnTo>
                  <a:close/>
                </a:path>
              </a:pathLst>
            </a:custGeom>
            <a:blipFill>
              <a:blip r:embed="rId3">
                <a:alphaModFix amt="0"/>
              </a:blip>
              <a:stretch>
                <a:fillRect l="-26982" t="0" r="-26982" b="0"/>
              </a:stretch>
            </a:blipFill>
          </p:spPr>
        </p:sp>
        <p:sp>
          <p:nvSpPr>
            <p:cNvPr name="TextBox 18" id="18"/>
            <p:cNvSpPr txBox="true"/>
            <p:nvPr/>
          </p:nvSpPr>
          <p:spPr>
            <a:xfrm>
              <a:off x="0" y="-38100"/>
              <a:ext cx="914400" cy="586740"/>
            </a:xfrm>
            <a:prstGeom prst="rect">
              <a:avLst/>
            </a:prstGeom>
          </p:spPr>
          <p:txBody>
            <a:bodyPr anchor="ctr" rtlCol="false" tIns="0" lIns="0" bIns="0" rIns="0"/>
            <a:lstStyle/>
            <a:p>
              <a:pPr algn="r">
                <a:lnSpc>
                  <a:spcPts val="1800"/>
                </a:lnSpc>
              </a:pPr>
              <a:r>
                <a:rPr lang="en-US" sz="1500">
                  <a:solidFill>
                    <a:srgbClr val="CADCFC"/>
                  </a:solidFill>
                  <a:latin typeface="Calibri (MS)"/>
                  <a:ea typeface="Calibri (MS)"/>
                  <a:cs typeface="Calibri (MS)"/>
                  <a:sym typeface="Calibri (MS)"/>
                </a:rPr>
                <a:t>31</a:t>
              </a:r>
            </a:p>
          </p:txBody>
        </p:sp>
      </p:grpSp>
    </p:spTree>
  </p:cSld>
  <p:clrMapOvr>
    <a:masterClrMapping/>
  </p:clrMapOvr>
</p:sld>
</file>

<file path=ppt/slides/slide36.xml><?xml version="1.0" encoding="utf-8"?>
<p:sld xmlns:p="http://schemas.openxmlformats.org/presentationml/2006/main" xmlns:a="http://schemas.openxmlformats.org/drawingml/2006/main" xmlns:r="http://schemas.openxmlformats.org/officeDocument/2006/relationships">
  <p:cSld>
    <p:bg>
      <p:bgPr>
        <a:solidFill>
          <a:srgbClr val="1E2761"/>
        </a:solidFill>
      </p:bgPr>
    </p:bg>
    <p:spTree>
      <p:nvGrpSpPr>
        <p:cNvPr id="1" name=""/>
        <p:cNvGrpSpPr/>
        <p:nvPr/>
      </p:nvGrpSpPr>
      <p:grpSpPr>
        <a:xfrm>
          <a:off x="0" y="0"/>
          <a:ext cx="0" cy="0"/>
          <a:chOff x="0" y="0"/>
          <a:chExt cx="0" cy="0"/>
        </a:xfrm>
      </p:grpSpPr>
      <p:grpSp>
        <p:nvGrpSpPr>
          <p:cNvPr name="Group 2" id="2"/>
          <p:cNvGrpSpPr/>
          <p:nvPr/>
        </p:nvGrpSpPr>
        <p:grpSpPr>
          <a:xfrm rot="0">
            <a:off x="13441680" y="-3566160"/>
            <a:ext cx="8915400" cy="8915400"/>
            <a:chOff x="0" y="0"/>
            <a:chExt cx="11887200" cy="11887200"/>
          </a:xfrm>
        </p:grpSpPr>
        <p:sp>
          <p:nvSpPr>
            <p:cNvPr name="Freeform 3" id="3"/>
            <p:cNvSpPr/>
            <p:nvPr/>
          </p:nvSpPr>
          <p:spPr>
            <a:xfrm flipH="false" flipV="false" rot="0">
              <a:off x="0" y="0"/>
              <a:ext cx="11887200" cy="11887200"/>
            </a:xfrm>
            <a:custGeom>
              <a:avLst/>
              <a:gdLst/>
              <a:ahLst/>
              <a:cxnLst/>
              <a:rect r="r" b="b" t="t" l="l"/>
              <a:pathLst>
                <a:path h="11887200" w="11887200">
                  <a:moveTo>
                    <a:pt x="0" y="5943600"/>
                  </a:moveTo>
                  <a:cubicBezTo>
                    <a:pt x="0" y="2661031"/>
                    <a:pt x="2661031" y="0"/>
                    <a:pt x="5943600" y="0"/>
                  </a:cubicBezTo>
                  <a:cubicBezTo>
                    <a:pt x="9226169" y="0"/>
                    <a:pt x="11887200" y="2661031"/>
                    <a:pt x="11887200" y="5943600"/>
                  </a:cubicBezTo>
                  <a:cubicBezTo>
                    <a:pt x="11887200" y="9226169"/>
                    <a:pt x="9226169" y="11887200"/>
                    <a:pt x="5943600" y="11887200"/>
                  </a:cubicBezTo>
                  <a:cubicBezTo>
                    <a:pt x="2661031" y="11887200"/>
                    <a:pt x="0" y="9226169"/>
                    <a:pt x="0" y="5943600"/>
                  </a:cubicBezTo>
                  <a:close/>
                </a:path>
              </a:pathLst>
            </a:custGeom>
            <a:solidFill>
              <a:srgbClr val="263186"/>
            </a:solidFill>
          </p:spPr>
        </p:sp>
      </p:grpSp>
      <p:grpSp>
        <p:nvGrpSpPr>
          <p:cNvPr name="Group 4" id="4"/>
          <p:cNvGrpSpPr/>
          <p:nvPr/>
        </p:nvGrpSpPr>
        <p:grpSpPr>
          <a:xfrm rot="0">
            <a:off x="7417403" y="2109311"/>
            <a:ext cx="3462338" cy="2982278"/>
            <a:chOff x="0" y="0"/>
            <a:chExt cx="4616450" cy="3976370"/>
          </a:xfrm>
        </p:grpSpPr>
        <p:sp>
          <p:nvSpPr>
            <p:cNvPr name="Freeform 5" id="5"/>
            <p:cNvSpPr/>
            <p:nvPr/>
          </p:nvSpPr>
          <p:spPr>
            <a:xfrm flipH="false" flipV="false" rot="0">
              <a:off x="0" y="0"/>
              <a:ext cx="4616450" cy="3976370"/>
            </a:xfrm>
            <a:custGeom>
              <a:avLst/>
              <a:gdLst/>
              <a:ahLst/>
              <a:cxnLst/>
              <a:rect r="r" b="b" t="t" l="l"/>
              <a:pathLst>
                <a:path h="3976370" w="4616450">
                  <a:moveTo>
                    <a:pt x="0" y="3976370"/>
                  </a:moveTo>
                  <a:lnTo>
                    <a:pt x="2308225" y="0"/>
                  </a:lnTo>
                  <a:lnTo>
                    <a:pt x="4616450" y="3976370"/>
                  </a:lnTo>
                  <a:close/>
                </a:path>
              </a:pathLst>
            </a:custGeom>
            <a:blipFill>
              <a:blip r:embed="rId3">
                <a:alphaModFix amt="0"/>
              </a:blip>
              <a:stretch>
                <a:fillRect l="-60514" t="0" r="-60514" b="0"/>
              </a:stretch>
            </a:blipFill>
            <a:ln w="33338" cap="sq">
              <a:solidFill>
                <a:srgbClr val="CADCFC"/>
              </a:solidFill>
              <a:prstDash val="solid"/>
              <a:miter/>
            </a:ln>
          </p:spPr>
        </p:sp>
      </p:grpSp>
      <p:grpSp>
        <p:nvGrpSpPr>
          <p:cNvPr name="Group 6" id="6"/>
          <p:cNvGrpSpPr/>
          <p:nvPr/>
        </p:nvGrpSpPr>
        <p:grpSpPr>
          <a:xfrm rot="0">
            <a:off x="8997696" y="1975104"/>
            <a:ext cx="301752" cy="301752"/>
            <a:chOff x="0" y="0"/>
            <a:chExt cx="402336" cy="402336"/>
          </a:xfrm>
        </p:grpSpPr>
        <p:sp>
          <p:nvSpPr>
            <p:cNvPr name="Freeform 7" id="7"/>
            <p:cNvSpPr/>
            <p:nvPr/>
          </p:nvSpPr>
          <p:spPr>
            <a:xfrm flipH="false" flipV="false" rot="0">
              <a:off x="0" y="0"/>
              <a:ext cx="402336" cy="402336"/>
            </a:xfrm>
            <a:custGeom>
              <a:avLst/>
              <a:gdLst/>
              <a:ahLst/>
              <a:cxnLst/>
              <a:rect r="r" b="b" t="t" l="l"/>
              <a:pathLst>
                <a:path h="402336" w="402336">
                  <a:moveTo>
                    <a:pt x="0" y="201168"/>
                  </a:moveTo>
                  <a:cubicBezTo>
                    <a:pt x="0" y="90043"/>
                    <a:pt x="90043" y="0"/>
                    <a:pt x="201168" y="0"/>
                  </a:cubicBezTo>
                  <a:cubicBezTo>
                    <a:pt x="312293" y="0"/>
                    <a:pt x="402336" y="90043"/>
                    <a:pt x="402336" y="201168"/>
                  </a:cubicBezTo>
                  <a:cubicBezTo>
                    <a:pt x="402336" y="312293"/>
                    <a:pt x="312293" y="402336"/>
                    <a:pt x="201168" y="402336"/>
                  </a:cubicBezTo>
                  <a:cubicBezTo>
                    <a:pt x="90043" y="402336"/>
                    <a:pt x="0" y="312293"/>
                    <a:pt x="0" y="201168"/>
                  </a:cubicBezTo>
                  <a:close/>
                </a:path>
              </a:pathLst>
            </a:custGeom>
            <a:solidFill>
              <a:srgbClr val="6C4FD1"/>
            </a:solidFill>
          </p:spPr>
        </p:sp>
      </p:grpSp>
      <p:grpSp>
        <p:nvGrpSpPr>
          <p:cNvPr name="Group 8" id="8"/>
          <p:cNvGrpSpPr/>
          <p:nvPr/>
        </p:nvGrpSpPr>
        <p:grpSpPr>
          <a:xfrm rot="0">
            <a:off x="7283196" y="4924044"/>
            <a:ext cx="301752" cy="301752"/>
            <a:chOff x="0" y="0"/>
            <a:chExt cx="402336" cy="402336"/>
          </a:xfrm>
        </p:grpSpPr>
        <p:sp>
          <p:nvSpPr>
            <p:cNvPr name="Freeform 9" id="9"/>
            <p:cNvSpPr/>
            <p:nvPr/>
          </p:nvSpPr>
          <p:spPr>
            <a:xfrm flipH="false" flipV="false" rot="0">
              <a:off x="0" y="0"/>
              <a:ext cx="402336" cy="402336"/>
            </a:xfrm>
            <a:custGeom>
              <a:avLst/>
              <a:gdLst/>
              <a:ahLst/>
              <a:cxnLst/>
              <a:rect r="r" b="b" t="t" l="l"/>
              <a:pathLst>
                <a:path h="402336" w="402336">
                  <a:moveTo>
                    <a:pt x="0" y="201168"/>
                  </a:moveTo>
                  <a:cubicBezTo>
                    <a:pt x="0" y="90043"/>
                    <a:pt x="90043" y="0"/>
                    <a:pt x="201168" y="0"/>
                  </a:cubicBezTo>
                  <a:cubicBezTo>
                    <a:pt x="312293" y="0"/>
                    <a:pt x="402336" y="90043"/>
                    <a:pt x="402336" y="201168"/>
                  </a:cubicBezTo>
                  <a:cubicBezTo>
                    <a:pt x="402336" y="312293"/>
                    <a:pt x="312293" y="402336"/>
                    <a:pt x="201168" y="402336"/>
                  </a:cubicBezTo>
                  <a:cubicBezTo>
                    <a:pt x="90043" y="402336"/>
                    <a:pt x="0" y="312293"/>
                    <a:pt x="0" y="201168"/>
                  </a:cubicBezTo>
                  <a:close/>
                </a:path>
              </a:pathLst>
            </a:custGeom>
            <a:solidFill>
              <a:srgbClr val="B8690F"/>
            </a:solidFill>
          </p:spPr>
        </p:sp>
      </p:grpSp>
      <p:grpSp>
        <p:nvGrpSpPr>
          <p:cNvPr name="Group 10" id="10"/>
          <p:cNvGrpSpPr/>
          <p:nvPr/>
        </p:nvGrpSpPr>
        <p:grpSpPr>
          <a:xfrm rot="0">
            <a:off x="10712196" y="4924044"/>
            <a:ext cx="301752" cy="301752"/>
            <a:chOff x="0" y="0"/>
            <a:chExt cx="402336" cy="402336"/>
          </a:xfrm>
        </p:grpSpPr>
        <p:sp>
          <p:nvSpPr>
            <p:cNvPr name="Freeform 11" id="11"/>
            <p:cNvSpPr/>
            <p:nvPr/>
          </p:nvSpPr>
          <p:spPr>
            <a:xfrm flipH="false" flipV="false" rot="0">
              <a:off x="0" y="0"/>
              <a:ext cx="402336" cy="402336"/>
            </a:xfrm>
            <a:custGeom>
              <a:avLst/>
              <a:gdLst/>
              <a:ahLst/>
              <a:cxnLst/>
              <a:rect r="r" b="b" t="t" l="l"/>
              <a:pathLst>
                <a:path h="402336" w="402336">
                  <a:moveTo>
                    <a:pt x="0" y="201168"/>
                  </a:moveTo>
                  <a:cubicBezTo>
                    <a:pt x="0" y="90043"/>
                    <a:pt x="90043" y="0"/>
                    <a:pt x="201168" y="0"/>
                  </a:cubicBezTo>
                  <a:cubicBezTo>
                    <a:pt x="312293" y="0"/>
                    <a:pt x="402336" y="90043"/>
                    <a:pt x="402336" y="201168"/>
                  </a:cubicBezTo>
                  <a:cubicBezTo>
                    <a:pt x="402336" y="312293"/>
                    <a:pt x="312293" y="402336"/>
                    <a:pt x="201168" y="402336"/>
                  </a:cubicBezTo>
                  <a:cubicBezTo>
                    <a:pt x="90043" y="402336"/>
                    <a:pt x="0" y="312293"/>
                    <a:pt x="0" y="201168"/>
                  </a:cubicBezTo>
                  <a:close/>
                </a:path>
              </a:pathLst>
            </a:custGeom>
            <a:solidFill>
              <a:srgbClr val="0F8A6E"/>
            </a:solidFill>
          </p:spPr>
        </p:sp>
      </p:grpSp>
      <p:grpSp>
        <p:nvGrpSpPr>
          <p:cNvPr name="Group 12" id="12"/>
          <p:cNvGrpSpPr/>
          <p:nvPr/>
        </p:nvGrpSpPr>
        <p:grpSpPr>
          <a:xfrm rot="0">
            <a:off x="0" y="5966460"/>
            <a:ext cx="18283428" cy="480060"/>
            <a:chOff x="0" y="0"/>
            <a:chExt cx="24377904" cy="640080"/>
          </a:xfrm>
        </p:grpSpPr>
        <p:sp>
          <p:nvSpPr>
            <p:cNvPr name="Freeform 13" id="13"/>
            <p:cNvSpPr/>
            <p:nvPr/>
          </p:nvSpPr>
          <p:spPr>
            <a:xfrm flipH="false" flipV="false" rot="0">
              <a:off x="0" y="0"/>
              <a:ext cx="24377904" cy="640080"/>
            </a:xfrm>
            <a:custGeom>
              <a:avLst/>
              <a:gdLst/>
              <a:ahLst/>
              <a:cxnLst/>
              <a:rect r="r" b="b" t="t" l="l"/>
              <a:pathLst>
                <a:path h="640080" w="24377904">
                  <a:moveTo>
                    <a:pt x="0" y="0"/>
                  </a:moveTo>
                  <a:lnTo>
                    <a:pt x="24377904" y="0"/>
                  </a:lnTo>
                  <a:lnTo>
                    <a:pt x="24377904" y="640080"/>
                  </a:lnTo>
                  <a:lnTo>
                    <a:pt x="0" y="640080"/>
                  </a:lnTo>
                  <a:close/>
                </a:path>
              </a:pathLst>
            </a:custGeom>
            <a:blipFill>
              <a:blip r:embed="rId3">
                <a:alphaModFix amt="0"/>
              </a:blip>
              <a:stretch>
                <a:fillRect l="0" t="-692101" r="0" b="-692101"/>
              </a:stretch>
            </a:blipFill>
          </p:spPr>
        </p:sp>
        <p:sp>
          <p:nvSpPr>
            <p:cNvPr name="TextBox 14" id="14"/>
            <p:cNvSpPr txBox="true"/>
            <p:nvPr/>
          </p:nvSpPr>
          <p:spPr>
            <a:xfrm>
              <a:off x="0" y="-47625"/>
              <a:ext cx="24377904" cy="687705"/>
            </a:xfrm>
            <a:prstGeom prst="rect">
              <a:avLst/>
            </a:prstGeom>
          </p:spPr>
          <p:txBody>
            <a:bodyPr anchor="ctr" rtlCol="false" tIns="0" lIns="0" bIns="0" rIns="0"/>
            <a:lstStyle/>
            <a:p>
              <a:pPr algn="ctr">
                <a:lnSpc>
                  <a:spcPts val="2340"/>
                </a:lnSpc>
              </a:pPr>
              <a:r>
                <a:rPr lang="en-US" b="true" sz="1950" spc="299">
                  <a:solidFill>
                    <a:srgbClr val="00B4D8"/>
                  </a:solidFill>
                  <a:latin typeface="Calibri (MS) Bold"/>
                  <a:ea typeface="Calibri (MS) Bold"/>
                  <a:cs typeface="Calibri (MS) Bold"/>
                  <a:sym typeface="Calibri (MS) Bold"/>
                </a:rPr>
                <a:t>BEFORE WE GO FURTHER</a:t>
              </a:r>
            </a:p>
          </p:txBody>
        </p:sp>
      </p:grpSp>
      <p:grpSp>
        <p:nvGrpSpPr>
          <p:cNvPr name="Group 15" id="15"/>
          <p:cNvGrpSpPr/>
          <p:nvPr/>
        </p:nvGrpSpPr>
        <p:grpSpPr>
          <a:xfrm rot="0">
            <a:off x="0" y="6419088"/>
            <a:ext cx="18283428" cy="1303020"/>
            <a:chOff x="0" y="0"/>
            <a:chExt cx="24377904" cy="1737360"/>
          </a:xfrm>
        </p:grpSpPr>
        <p:sp>
          <p:nvSpPr>
            <p:cNvPr name="Freeform 16" id="16"/>
            <p:cNvSpPr/>
            <p:nvPr/>
          </p:nvSpPr>
          <p:spPr>
            <a:xfrm flipH="false" flipV="false" rot="0">
              <a:off x="0" y="0"/>
              <a:ext cx="24377904" cy="1737360"/>
            </a:xfrm>
            <a:custGeom>
              <a:avLst/>
              <a:gdLst/>
              <a:ahLst/>
              <a:cxnLst/>
              <a:rect r="r" b="b" t="t" l="l"/>
              <a:pathLst>
                <a:path h="1737360" w="24377904">
                  <a:moveTo>
                    <a:pt x="0" y="0"/>
                  </a:moveTo>
                  <a:lnTo>
                    <a:pt x="24377904" y="0"/>
                  </a:lnTo>
                  <a:lnTo>
                    <a:pt x="24377904" y="1737360"/>
                  </a:lnTo>
                  <a:lnTo>
                    <a:pt x="0" y="1737360"/>
                  </a:lnTo>
                  <a:close/>
                </a:path>
              </a:pathLst>
            </a:custGeom>
            <a:blipFill>
              <a:blip r:embed="rId3">
                <a:alphaModFix amt="0"/>
              </a:blip>
              <a:stretch>
                <a:fillRect l="0" t="-223405" r="0" b="-223405"/>
              </a:stretch>
            </a:blipFill>
          </p:spPr>
        </p:sp>
        <p:sp>
          <p:nvSpPr>
            <p:cNvPr name="TextBox 17" id="17"/>
            <p:cNvSpPr txBox="true"/>
            <p:nvPr/>
          </p:nvSpPr>
          <p:spPr>
            <a:xfrm>
              <a:off x="0" y="-19050"/>
              <a:ext cx="24377904" cy="1756410"/>
            </a:xfrm>
            <a:prstGeom prst="rect">
              <a:avLst/>
            </a:prstGeom>
          </p:spPr>
          <p:txBody>
            <a:bodyPr anchor="ctr" rtlCol="false" tIns="0" lIns="0" bIns="0" rIns="0"/>
            <a:lstStyle/>
            <a:p>
              <a:pPr algn="ctr">
                <a:lnSpc>
                  <a:spcPts val="7920"/>
                </a:lnSpc>
              </a:pPr>
              <a:r>
                <a:rPr lang="en-US" sz="6600" b="true">
                  <a:solidFill>
                    <a:srgbClr val="FFFFFF"/>
                  </a:solidFill>
                  <a:latin typeface="Cambria Bold"/>
                  <a:ea typeface="Cambria Bold"/>
                  <a:cs typeface="Cambria Bold"/>
                  <a:sym typeface="Cambria Bold"/>
                </a:rPr>
                <a:t>The CIA Triad</a:t>
              </a:r>
            </a:p>
          </p:txBody>
        </p:sp>
      </p:grpSp>
      <p:grpSp>
        <p:nvGrpSpPr>
          <p:cNvPr name="Group 18" id="18"/>
          <p:cNvGrpSpPr/>
          <p:nvPr/>
        </p:nvGrpSpPr>
        <p:grpSpPr>
          <a:xfrm rot="0">
            <a:off x="0" y="7708392"/>
            <a:ext cx="18283428" cy="685800"/>
            <a:chOff x="0" y="0"/>
            <a:chExt cx="24377904" cy="914400"/>
          </a:xfrm>
        </p:grpSpPr>
        <p:sp>
          <p:nvSpPr>
            <p:cNvPr name="Freeform 19" id="19"/>
            <p:cNvSpPr/>
            <p:nvPr/>
          </p:nvSpPr>
          <p:spPr>
            <a:xfrm flipH="false" flipV="false" rot="0">
              <a:off x="0" y="0"/>
              <a:ext cx="24377904" cy="914400"/>
            </a:xfrm>
            <a:custGeom>
              <a:avLst/>
              <a:gdLst/>
              <a:ahLst/>
              <a:cxnLst/>
              <a:rect r="r" b="b" t="t" l="l"/>
              <a:pathLst>
                <a:path h="914400" w="24377904">
                  <a:moveTo>
                    <a:pt x="0" y="0"/>
                  </a:moveTo>
                  <a:lnTo>
                    <a:pt x="24377904" y="0"/>
                  </a:lnTo>
                  <a:lnTo>
                    <a:pt x="24377904" y="914400"/>
                  </a:lnTo>
                  <a:lnTo>
                    <a:pt x="0" y="914400"/>
                  </a:lnTo>
                  <a:close/>
                </a:path>
              </a:pathLst>
            </a:custGeom>
            <a:blipFill>
              <a:blip r:embed="rId3">
                <a:alphaModFix amt="0"/>
              </a:blip>
              <a:stretch>
                <a:fillRect l="0" t="-469471" r="0" b="-469471"/>
              </a:stretch>
            </a:blipFill>
          </p:spPr>
        </p:sp>
        <p:sp>
          <p:nvSpPr>
            <p:cNvPr name="TextBox 20" id="20"/>
            <p:cNvSpPr txBox="true"/>
            <p:nvPr/>
          </p:nvSpPr>
          <p:spPr>
            <a:xfrm>
              <a:off x="0" y="-38100"/>
              <a:ext cx="24377904" cy="952500"/>
            </a:xfrm>
            <a:prstGeom prst="rect">
              <a:avLst/>
            </a:prstGeom>
          </p:spPr>
          <p:txBody>
            <a:bodyPr anchor="ctr" rtlCol="false" tIns="0" lIns="0" bIns="0" rIns="0"/>
            <a:lstStyle/>
            <a:p>
              <a:pPr algn="ctr">
                <a:lnSpc>
                  <a:spcPts val="2879"/>
                </a:lnSpc>
              </a:pPr>
              <a:r>
                <a:rPr lang="en-US" sz="2400">
                  <a:solidFill>
                    <a:srgbClr val="CADCFC"/>
                  </a:solidFill>
                  <a:latin typeface="Calibri (MS)"/>
                  <a:ea typeface="Calibri (MS)"/>
                  <a:cs typeface="Calibri (MS)"/>
                  <a:sym typeface="Calibri (MS)"/>
                </a:rPr>
                <a:t>Three things every secure system has to protect</a:t>
              </a:r>
            </a:p>
          </p:txBody>
        </p:sp>
      </p:grpSp>
      <p:grpSp>
        <p:nvGrpSpPr>
          <p:cNvPr name="Group 21" id="21"/>
          <p:cNvGrpSpPr/>
          <p:nvPr/>
        </p:nvGrpSpPr>
        <p:grpSpPr>
          <a:xfrm rot="0">
            <a:off x="685800" y="9710928"/>
            <a:ext cx="10972800" cy="411480"/>
            <a:chOff x="0" y="0"/>
            <a:chExt cx="14630400" cy="548640"/>
          </a:xfrm>
        </p:grpSpPr>
        <p:sp>
          <p:nvSpPr>
            <p:cNvPr name="Freeform 22" id="22"/>
            <p:cNvSpPr/>
            <p:nvPr/>
          </p:nvSpPr>
          <p:spPr>
            <a:xfrm flipH="false" flipV="false" rot="0">
              <a:off x="0" y="0"/>
              <a:ext cx="14630400" cy="548640"/>
            </a:xfrm>
            <a:custGeom>
              <a:avLst/>
              <a:gdLst/>
              <a:ahLst/>
              <a:cxnLst/>
              <a:rect r="r" b="b" t="t" l="l"/>
              <a:pathLst>
                <a:path h="548640" w="14630400">
                  <a:moveTo>
                    <a:pt x="0" y="0"/>
                  </a:moveTo>
                  <a:lnTo>
                    <a:pt x="14630400" y="0"/>
                  </a:lnTo>
                  <a:lnTo>
                    <a:pt x="14630400" y="548640"/>
                  </a:lnTo>
                  <a:lnTo>
                    <a:pt x="0" y="548640"/>
                  </a:lnTo>
                  <a:close/>
                </a:path>
              </a:pathLst>
            </a:custGeom>
            <a:blipFill>
              <a:blip r:embed="rId3">
                <a:alphaModFix amt="0"/>
              </a:blip>
              <a:stretch>
                <a:fillRect l="0" t="-469601" r="0" b="-469601"/>
              </a:stretch>
            </a:blipFill>
          </p:spPr>
        </p:sp>
        <p:sp>
          <p:nvSpPr>
            <p:cNvPr name="TextBox 23" id="23"/>
            <p:cNvSpPr txBox="true"/>
            <p:nvPr/>
          </p:nvSpPr>
          <p:spPr>
            <a:xfrm>
              <a:off x="0" y="-38100"/>
              <a:ext cx="14630400" cy="586740"/>
            </a:xfrm>
            <a:prstGeom prst="rect">
              <a:avLst/>
            </a:prstGeom>
          </p:spPr>
          <p:txBody>
            <a:bodyPr anchor="ctr" rtlCol="false" tIns="0" lIns="0" bIns="0" rIns="0"/>
            <a:lstStyle/>
            <a:p>
              <a:pPr algn="l">
                <a:lnSpc>
                  <a:spcPts val="1800"/>
                </a:lnSpc>
              </a:pPr>
              <a:r>
                <a:rPr lang="en-US" sz="1500">
                  <a:solidFill>
                    <a:srgbClr val="CADCFC"/>
                  </a:solidFill>
                  <a:latin typeface="Calibri (MS)"/>
                  <a:ea typeface="Calibri (MS)"/>
                  <a:cs typeface="Calibri (MS)"/>
                  <a:sym typeface="Calibri (MS)"/>
                </a:rPr>
                <a:t>Davao del Norte Provincial Government — Cybersecurity Seminar</a:t>
              </a:r>
            </a:p>
          </p:txBody>
        </p:sp>
      </p:grpSp>
      <p:grpSp>
        <p:nvGrpSpPr>
          <p:cNvPr name="Group 24" id="24"/>
          <p:cNvGrpSpPr/>
          <p:nvPr/>
        </p:nvGrpSpPr>
        <p:grpSpPr>
          <a:xfrm rot="0">
            <a:off x="16911828" y="9710928"/>
            <a:ext cx="685800" cy="411480"/>
            <a:chOff x="0" y="0"/>
            <a:chExt cx="914400" cy="548640"/>
          </a:xfrm>
        </p:grpSpPr>
        <p:sp>
          <p:nvSpPr>
            <p:cNvPr name="Freeform 25" id="25"/>
            <p:cNvSpPr/>
            <p:nvPr/>
          </p:nvSpPr>
          <p:spPr>
            <a:xfrm flipH="false" flipV="false" rot="0">
              <a:off x="0" y="0"/>
              <a:ext cx="914400" cy="548640"/>
            </a:xfrm>
            <a:custGeom>
              <a:avLst/>
              <a:gdLst/>
              <a:ahLst/>
              <a:cxnLst/>
              <a:rect r="r" b="b" t="t" l="l"/>
              <a:pathLst>
                <a:path h="548640" w="914400">
                  <a:moveTo>
                    <a:pt x="0" y="0"/>
                  </a:moveTo>
                  <a:lnTo>
                    <a:pt x="914400" y="0"/>
                  </a:lnTo>
                  <a:lnTo>
                    <a:pt x="914400" y="548640"/>
                  </a:lnTo>
                  <a:lnTo>
                    <a:pt x="0" y="548640"/>
                  </a:lnTo>
                  <a:close/>
                </a:path>
              </a:pathLst>
            </a:custGeom>
            <a:blipFill>
              <a:blip r:embed="rId3">
                <a:alphaModFix amt="0"/>
              </a:blip>
              <a:stretch>
                <a:fillRect l="-26982" t="0" r="-26982" b="0"/>
              </a:stretch>
            </a:blipFill>
          </p:spPr>
        </p:sp>
        <p:sp>
          <p:nvSpPr>
            <p:cNvPr name="TextBox 26" id="26"/>
            <p:cNvSpPr txBox="true"/>
            <p:nvPr/>
          </p:nvSpPr>
          <p:spPr>
            <a:xfrm>
              <a:off x="0" y="-38100"/>
              <a:ext cx="914400" cy="586740"/>
            </a:xfrm>
            <a:prstGeom prst="rect">
              <a:avLst/>
            </a:prstGeom>
          </p:spPr>
          <p:txBody>
            <a:bodyPr anchor="ctr" rtlCol="false" tIns="0" lIns="0" bIns="0" rIns="0"/>
            <a:lstStyle/>
            <a:p>
              <a:pPr algn="r">
                <a:lnSpc>
                  <a:spcPts val="1800"/>
                </a:lnSpc>
              </a:pPr>
              <a:r>
                <a:rPr lang="en-US" sz="1500">
                  <a:solidFill>
                    <a:srgbClr val="CADCFC"/>
                  </a:solidFill>
                  <a:latin typeface="Calibri (MS)"/>
                  <a:ea typeface="Calibri (MS)"/>
                  <a:cs typeface="Calibri (MS)"/>
                  <a:sym typeface="Calibri (MS)"/>
                </a:rPr>
                <a:t>32</a:t>
              </a:r>
            </a:p>
          </p:txBody>
        </p:sp>
      </p:grpSp>
    </p:spTree>
  </p:cSld>
  <p:clrMapOvr>
    <a:masterClrMapping/>
  </p:clrMapOvr>
</p:sld>
</file>

<file path=ppt/slides/slide3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754380" y="685800"/>
            <a:ext cx="850392" cy="850392"/>
            <a:chOff x="0" y="0"/>
            <a:chExt cx="1133856" cy="1133856"/>
          </a:xfrm>
        </p:grpSpPr>
        <p:sp>
          <p:nvSpPr>
            <p:cNvPr name="Freeform 3" id="3"/>
            <p:cNvSpPr/>
            <p:nvPr/>
          </p:nvSpPr>
          <p:spPr>
            <a:xfrm flipH="false" flipV="false" rot="0">
              <a:off x="0" y="0"/>
              <a:ext cx="1133856" cy="1133856"/>
            </a:xfrm>
            <a:custGeom>
              <a:avLst/>
              <a:gdLst/>
              <a:ahLst/>
              <a:cxnLst/>
              <a:rect r="r" b="b" t="t" l="l"/>
              <a:pathLst>
                <a:path h="1133856" w="1133856">
                  <a:moveTo>
                    <a:pt x="0" y="566928"/>
                  </a:moveTo>
                  <a:cubicBezTo>
                    <a:pt x="0" y="253873"/>
                    <a:pt x="253873" y="0"/>
                    <a:pt x="566928" y="0"/>
                  </a:cubicBezTo>
                  <a:cubicBezTo>
                    <a:pt x="879983" y="0"/>
                    <a:pt x="1133856" y="253873"/>
                    <a:pt x="1133856" y="566928"/>
                  </a:cubicBezTo>
                  <a:cubicBezTo>
                    <a:pt x="1133856" y="879983"/>
                    <a:pt x="879983" y="1133856"/>
                    <a:pt x="566928" y="1133856"/>
                  </a:cubicBezTo>
                  <a:cubicBezTo>
                    <a:pt x="253873" y="1133856"/>
                    <a:pt x="0" y="879983"/>
                    <a:pt x="0" y="566928"/>
                  </a:cubicBezTo>
                  <a:close/>
                </a:path>
              </a:pathLst>
            </a:custGeom>
            <a:solidFill>
              <a:srgbClr val="1E2761"/>
            </a:solidFill>
          </p:spPr>
        </p:sp>
      </p:grpSp>
      <p:grpSp>
        <p:nvGrpSpPr>
          <p:cNvPr name="Group 4" id="4"/>
          <p:cNvGrpSpPr/>
          <p:nvPr/>
        </p:nvGrpSpPr>
        <p:grpSpPr>
          <a:xfrm rot="0">
            <a:off x="932688" y="864108"/>
            <a:ext cx="493776" cy="493776"/>
            <a:chOff x="0" y="0"/>
            <a:chExt cx="658368" cy="658368"/>
          </a:xfrm>
        </p:grpSpPr>
        <p:sp>
          <p:nvSpPr>
            <p:cNvPr name="Freeform 5" id="5" descr="shield.png"/>
            <p:cNvSpPr/>
            <p:nvPr/>
          </p:nvSpPr>
          <p:spPr>
            <a:xfrm flipH="false" flipV="false" rot="0">
              <a:off x="0" y="0"/>
              <a:ext cx="658368" cy="658368"/>
            </a:xfrm>
            <a:custGeom>
              <a:avLst/>
              <a:gdLst/>
              <a:ahLst/>
              <a:cxnLst/>
              <a:rect r="r" b="b" t="t" l="l"/>
              <a:pathLst>
                <a:path h="658368" w="658368">
                  <a:moveTo>
                    <a:pt x="0" y="0"/>
                  </a:moveTo>
                  <a:lnTo>
                    <a:pt x="658368" y="0"/>
                  </a:lnTo>
                  <a:lnTo>
                    <a:pt x="658368" y="658368"/>
                  </a:lnTo>
                  <a:lnTo>
                    <a:pt x="0" y="658368"/>
                  </a:lnTo>
                  <a:lnTo>
                    <a:pt x="0" y="0"/>
                  </a:lnTo>
                  <a:close/>
                </a:path>
              </a:pathLst>
            </a:custGeom>
            <a:blipFill>
              <a:blip r:embed="rId3"/>
              <a:stretch>
                <a:fillRect l="0" t="0" r="0" b="0"/>
              </a:stretch>
            </a:blipFill>
          </p:spPr>
        </p:sp>
      </p:grpSp>
      <p:grpSp>
        <p:nvGrpSpPr>
          <p:cNvPr name="Group 6" id="6"/>
          <p:cNvGrpSpPr/>
          <p:nvPr/>
        </p:nvGrpSpPr>
        <p:grpSpPr>
          <a:xfrm rot="0">
            <a:off x="1851660" y="603504"/>
            <a:ext cx="13716000" cy="466344"/>
            <a:chOff x="0" y="0"/>
            <a:chExt cx="18288000" cy="621792"/>
          </a:xfrm>
        </p:grpSpPr>
        <p:sp>
          <p:nvSpPr>
            <p:cNvPr name="Freeform 7" id="7"/>
            <p:cNvSpPr/>
            <p:nvPr/>
          </p:nvSpPr>
          <p:spPr>
            <a:xfrm flipH="false" flipV="false" rot="0">
              <a:off x="0" y="0"/>
              <a:ext cx="18288000" cy="621792"/>
            </a:xfrm>
            <a:custGeom>
              <a:avLst/>
              <a:gdLst/>
              <a:ahLst/>
              <a:cxnLst/>
              <a:rect r="r" b="b" t="t" l="l"/>
              <a:pathLst>
                <a:path h="621792" w="18288000">
                  <a:moveTo>
                    <a:pt x="0" y="0"/>
                  </a:moveTo>
                  <a:lnTo>
                    <a:pt x="18288000" y="0"/>
                  </a:lnTo>
                  <a:lnTo>
                    <a:pt x="18288000" y="621792"/>
                  </a:lnTo>
                  <a:lnTo>
                    <a:pt x="0" y="621792"/>
                  </a:lnTo>
                  <a:close/>
                </a:path>
              </a:pathLst>
            </a:custGeom>
            <a:blipFill>
              <a:blip r:embed="rId4">
                <a:alphaModFix amt="0"/>
              </a:blip>
              <a:stretch>
                <a:fillRect l="0" t="-523089" r="0" b="-523089"/>
              </a:stretch>
            </a:blipFill>
          </p:spPr>
        </p:sp>
        <p:sp>
          <p:nvSpPr>
            <p:cNvPr name="TextBox 8" id="8"/>
            <p:cNvSpPr txBox="true"/>
            <p:nvPr/>
          </p:nvSpPr>
          <p:spPr>
            <a:xfrm>
              <a:off x="0" y="-47625"/>
              <a:ext cx="18288000" cy="669417"/>
            </a:xfrm>
            <a:prstGeom prst="rect">
              <a:avLst/>
            </a:prstGeom>
          </p:spPr>
          <p:txBody>
            <a:bodyPr anchor="ctr" rtlCol="false" tIns="0" lIns="0" bIns="0" rIns="0"/>
            <a:lstStyle/>
            <a:p>
              <a:pPr algn="l">
                <a:lnSpc>
                  <a:spcPts val="2340"/>
                </a:lnSpc>
              </a:pPr>
              <a:r>
                <a:rPr lang="en-US" b="true" sz="1950" spc="150">
                  <a:solidFill>
                    <a:srgbClr val="00B4D8"/>
                  </a:solidFill>
                  <a:latin typeface="Calibri (MS) Bold"/>
                  <a:ea typeface="Calibri (MS) Bold"/>
                  <a:cs typeface="Calibri (MS) Bold"/>
                  <a:sym typeface="Calibri (MS) Bold"/>
                </a:rPr>
                <a:t>THE CIA TRIAD</a:t>
              </a:r>
            </a:p>
          </p:txBody>
        </p:sp>
      </p:grpSp>
      <p:grpSp>
        <p:nvGrpSpPr>
          <p:cNvPr name="Group 9" id="9"/>
          <p:cNvGrpSpPr/>
          <p:nvPr/>
        </p:nvGrpSpPr>
        <p:grpSpPr>
          <a:xfrm rot="0">
            <a:off x="1824228" y="987552"/>
            <a:ext cx="15361920" cy="850392"/>
            <a:chOff x="0" y="0"/>
            <a:chExt cx="20482560" cy="1133856"/>
          </a:xfrm>
        </p:grpSpPr>
        <p:sp>
          <p:nvSpPr>
            <p:cNvPr name="Freeform 10" id="10"/>
            <p:cNvSpPr/>
            <p:nvPr/>
          </p:nvSpPr>
          <p:spPr>
            <a:xfrm flipH="false" flipV="false" rot="0">
              <a:off x="0" y="0"/>
              <a:ext cx="20482561" cy="1133856"/>
            </a:xfrm>
            <a:custGeom>
              <a:avLst/>
              <a:gdLst/>
              <a:ahLst/>
              <a:cxnLst/>
              <a:rect r="r" b="b" t="t" l="l"/>
              <a:pathLst>
                <a:path h="1133856" w="20482561">
                  <a:moveTo>
                    <a:pt x="0" y="0"/>
                  </a:moveTo>
                  <a:lnTo>
                    <a:pt x="20482561" y="0"/>
                  </a:lnTo>
                  <a:lnTo>
                    <a:pt x="20482561" y="1133856"/>
                  </a:lnTo>
                  <a:lnTo>
                    <a:pt x="0" y="1133856"/>
                  </a:lnTo>
                  <a:close/>
                </a:path>
              </a:pathLst>
            </a:custGeom>
            <a:blipFill>
              <a:blip r:embed="rId4">
                <a:alphaModFix amt="0"/>
              </a:blip>
              <a:stretch>
                <a:fillRect l="0" t="-301987" r="0" b="-301987"/>
              </a:stretch>
            </a:blipFill>
          </p:spPr>
        </p:sp>
        <p:sp>
          <p:nvSpPr>
            <p:cNvPr name="TextBox 11" id="11"/>
            <p:cNvSpPr txBox="true"/>
            <p:nvPr/>
          </p:nvSpPr>
          <p:spPr>
            <a:xfrm>
              <a:off x="0" y="-9525"/>
              <a:ext cx="20482560" cy="1143381"/>
            </a:xfrm>
            <a:prstGeom prst="rect">
              <a:avLst/>
            </a:prstGeom>
          </p:spPr>
          <p:txBody>
            <a:bodyPr anchor="ctr" rtlCol="false" tIns="0" lIns="0" bIns="0" rIns="0"/>
            <a:lstStyle/>
            <a:p>
              <a:pPr algn="l">
                <a:lnSpc>
                  <a:spcPts val="5040"/>
                </a:lnSpc>
              </a:pPr>
              <a:r>
                <a:rPr lang="en-US" sz="4200" b="true">
                  <a:solidFill>
                    <a:srgbClr val="1E2761"/>
                  </a:solidFill>
                  <a:latin typeface="Cambria Bold"/>
                  <a:ea typeface="Cambria Bold"/>
                  <a:cs typeface="Cambria Bold"/>
                  <a:sym typeface="Cambria Bold"/>
                </a:rPr>
                <a:t>Why We Start Here</a:t>
              </a:r>
            </a:p>
          </p:txBody>
        </p:sp>
      </p:grpSp>
      <p:sp>
        <p:nvSpPr>
          <p:cNvPr name="TextBox 12" id="12"/>
          <p:cNvSpPr txBox="true"/>
          <p:nvPr/>
        </p:nvSpPr>
        <p:spPr>
          <a:xfrm rot="0">
            <a:off x="1426464" y="3555885"/>
            <a:ext cx="14493240" cy="2636901"/>
          </a:xfrm>
          <a:prstGeom prst="rect">
            <a:avLst/>
          </a:prstGeom>
        </p:spPr>
        <p:txBody>
          <a:bodyPr anchor="t" rtlCol="false" tIns="0" lIns="0" bIns="0" rIns="0">
            <a:spAutoFit/>
          </a:bodyPr>
          <a:lstStyle/>
          <a:p>
            <a:pPr algn="l">
              <a:lnSpc>
                <a:spcPts val="5291"/>
              </a:lnSpc>
            </a:pPr>
            <a:r>
              <a:rPr lang="en-US" sz="3150" i="true">
                <a:solidFill>
                  <a:srgbClr val="23262F"/>
                </a:solidFill>
                <a:latin typeface="Cambria Italics"/>
                <a:ea typeface="Cambria Italics"/>
                <a:cs typeface="Cambria Italics"/>
                <a:sym typeface="Cambria Italics"/>
              </a:rPr>
              <a:t>Every framework, policy, and incident-response step exists to protect one of three things. The CIA Triad is the shared vocabulary that makes the rest of today possible — once you can name what's actually at risk, every later topic becomes a question of how we protect Confidentiality, Integrity, or Availability.</a:t>
            </a:r>
          </a:p>
        </p:txBody>
      </p:sp>
      <p:grpSp>
        <p:nvGrpSpPr>
          <p:cNvPr name="Group 13" id="13"/>
          <p:cNvGrpSpPr/>
          <p:nvPr/>
        </p:nvGrpSpPr>
        <p:grpSpPr>
          <a:xfrm rot="0">
            <a:off x="685800" y="9710928"/>
            <a:ext cx="10972800" cy="411480"/>
            <a:chOff x="0" y="0"/>
            <a:chExt cx="14630400" cy="548640"/>
          </a:xfrm>
        </p:grpSpPr>
        <p:sp>
          <p:nvSpPr>
            <p:cNvPr name="Freeform 14" id="14"/>
            <p:cNvSpPr/>
            <p:nvPr/>
          </p:nvSpPr>
          <p:spPr>
            <a:xfrm flipH="false" flipV="false" rot="0">
              <a:off x="0" y="0"/>
              <a:ext cx="14630400" cy="548640"/>
            </a:xfrm>
            <a:custGeom>
              <a:avLst/>
              <a:gdLst/>
              <a:ahLst/>
              <a:cxnLst/>
              <a:rect r="r" b="b" t="t" l="l"/>
              <a:pathLst>
                <a:path h="548640" w="14630400">
                  <a:moveTo>
                    <a:pt x="0" y="0"/>
                  </a:moveTo>
                  <a:lnTo>
                    <a:pt x="14630400" y="0"/>
                  </a:lnTo>
                  <a:lnTo>
                    <a:pt x="14630400" y="548640"/>
                  </a:lnTo>
                  <a:lnTo>
                    <a:pt x="0" y="548640"/>
                  </a:lnTo>
                  <a:close/>
                </a:path>
              </a:pathLst>
            </a:custGeom>
            <a:blipFill>
              <a:blip r:embed="rId4">
                <a:alphaModFix amt="0"/>
              </a:blip>
              <a:stretch>
                <a:fillRect l="0" t="-469601" r="0" b="-469601"/>
              </a:stretch>
            </a:blipFill>
          </p:spPr>
        </p:sp>
        <p:sp>
          <p:nvSpPr>
            <p:cNvPr name="TextBox 15" id="15"/>
            <p:cNvSpPr txBox="true"/>
            <p:nvPr/>
          </p:nvSpPr>
          <p:spPr>
            <a:xfrm>
              <a:off x="0" y="-38100"/>
              <a:ext cx="14630400" cy="586740"/>
            </a:xfrm>
            <a:prstGeom prst="rect">
              <a:avLst/>
            </a:prstGeom>
          </p:spPr>
          <p:txBody>
            <a:bodyPr anchor="ctr" rtlCol="false" tIns="0" lIns="0" bIns="0" rIns="0"/>
            <a:lstStyle/>
            <a:p>
              <a:pPr algn="l">
                <a:lnSpc>
                  <a:spcPts val="1800"/>
                </a:lnSpc>
              </a:pPr>
              <a:r>
                <a:rPr lang="en-US" sz="1500">
                  <a:solidFill>
                    <a:srgbClr val="6B7280"/>
                  </a:solidFill>
                  <a:latin typeface="Calibri (MS)"/>
                  <a:ea typeface="Calibri (MS)"/>
                  <a:cs typeface="Calibri (MS)"/>
                  <a:sym typeface="Calibri (MS)"/>
                </a:rPr>
                <a:t>Davao del Norte Provincial Government — Cybersecurity Seminar</a:t>
              </a:r>
            </a:p>
          </p:txBody>
        </p:sp>
      </p:grpSp>
      <p:grpSp>
        <p:nvGrpSpPr>
          <p:cNvPr name="Group 16" id="16"/>
          <p:cNvGrpSpPr/>
          <p:nvPr/>
        </p:nvGrpSpPr>
        <p:grpSpPr>
          <a:xfrm rot="0">
            <a:off x="16911828" y="9710928"/>
            <a:ext cx="685800" cy="411480"/>
            <a:chOff x="0" y="0"/>
            <a:chExt cx="914400" cy="548640"/>
          </a:xfrm>
        </p:grpSpPr>
        <p:sp>
          <p:nvSpPr>
            <p:cNvPr name="Freeform 17" id="17"/>
            <p:cNvSpPr/>
            <p:nvPr/>
          </p:nvSpPr>
          <p:spPr>
            <a:xfrm flipH="false" flipV="false" rot="0">
              <a:off x="0" y="0"/>
              <a:ext cx="914400" cy="548640"/>
            </a:xfrm>
            <a:custGeom>
              <a:avLst/>
              <a:gdLst/>
              <a:ahLst/>
              <a:cxnLst/>
              <a:rect r="r" b="b" t="t" l="l"/>
              <a:pathLst>
                <a:path h="548640" w="914400">
                  <a:moveTo>
                    <a:pt x="0" y="0"/>
                  </a:moveTo>
                  <a:lnTo>
                    <a:pt x="914400" y="0"/>
                  </a:lnTo>
                  <a:lnTo>
                    <a:pt x="914400" y="548640"/>
                  </a:lnTo>
                  <a:lnTo>
                    <a:pt x="0" y="548640"/>
                  </a:lnTo>
                  <a:close/>
                </a:path>
              </a:pathLst>
            </a:custGeom>
            <a:blipFill>
              <a:blip r:embed="rId4">
                <a:alphaModFix amt="0"/>
              </a:blip>
              <a:stretch>
                <a:fillRect l="-26982" t="0" r="-26982" b="0"/>
              </a:stretch>
            </a:blipFill>
          </p:spPr>
        </p:sp>
        <p:sp>
          <p:nvSpPr>
            <p:cNvPr name="TextBox 18" id="18"/>
            <p:cNvSpPr txBox="true"/>
            <p:nvPr/>
          </p:nvSpPr>
          <p:spPr>
            <a:xfrm>
              <a:off x="0" y="-38100"/>
              <a:ext cx="914400" cy="586740"/>
            </a:xfrm>
            <a:prstGeom prst="rect">
              <a:avLst/>
            </a:prstGeom>
          </p:spPr>
          <p:txBody>
            <a:bodyPr anchor="ctr" rtlCol="false" tIns="0" lIns="0" bIns="0" rIns="0"/>
            <a:lstStyle/>
            <a:p>
              <a:pPr algn="r">
                <a:lnSpc>
                  <a:spcPts val="1800"/>
                </a:lnSpc>
              </a:pPr>
              <a:r>
                <a:rPr lang="en-US" sz="1500">
                  <a:solidFill>
                    <a:srgbClr val="6B7280"/>
                  </a:solidFill>
                  <a:latin typeface="Calibri (MS)"/>
                  <a:ea typeface="Calibri (MS)"/>
                  <a:cs typeface="Calibri (MS)"/>
                  <a:sym typeface="Calibri (MS)"/>
                </a:rPr>
                <a:t>33</a:t>
              </a:r>
            </a:p>
          </p:txBody>
        </p:sp>
      </p:grpSp>
    </p:spTree>
  </p:cSld>
  <p:clrMapOvr>
    <a:masterClrMapping/>
  </p:clrMapOvr>
</p:sld>
</file>

<file path=ppt/slides/slide3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6172200" cy="10287000"/>
            <a:chOff x="0" y="0"/>
            <a:chExt cx="8229600" cy="13716000"/>
          </a:xfrm>
        </p:grpSpPr>
        <p:sp>
          <p:nvSpPr>
            <p:cNvPr name="Freeform 3" id="3"/>
            <p:cNvSpPr/>
            <p:nvPr/>
          </p:nvSpPr>
          <p:spPr>
            <a:xfrm flipH="false" flipV="false" rot="0">
              <a:off x="0" y="0"/>
              <a:ext cx="8229600" cy="13716000"/>
            </a:xfrm>
            <a:custGeom>
              <a:avLst/>
              <a:gdLst/>
              <a:ahLst/>
              <a:cxnLst/>
              <a:rect r="r" b="b" t="t" l="l"/>
              <a:pathLst>
                <a:path h="13716000" w="8229600">
                  <a:moveTo>
                    <a:pt x="0" y="0"/>
                  </a:moveTo>
                  <a:lnTo>
                    <a:pt x="8229600" y="0"/>
                  </a:lnTo>
                  <a:lnTo>
                    <a:pt x="8229600" y="13716000"/>
                  </a:lnTo>
                  <a:lnTo>
                    <a:pt x="0" y="13716000"/>
                  </a:lnTo>
                  <a:close/>
                </a:path>
              </a:pathLst>
            </a:custGeom>
            <a:solidFill>
              <a:srgbClr val="6C4FD1"/>
            </a:solidFill>
          </p:spPr>
        </p:sp>
      </p:grpSp>
      <p:grpSp>
        <p:nvGrpSpPr>
          <p:cNvPr name="Group 4" id="4"/>
          <p:cNvGrpSpPr/>
          <p:nvPr/>
        </p:nvGrpSpPr>
        <p:grpSpPr>
          <a:xfrm rot="0">
            <a:off x="0" y="2125980"/>
            <a:ext cx="6172200" cy="3154680"/>
            <a:chOff x="0" y="0"/>
            <a:chExt cx="8229600" cy="4206240"/>
          </a:xfrm>
        </p:grpSpPr>
        <p:sp>
          <p:nvSpPr>
            <p:cNvPr name="Freeform 5" id="5"/>
            <p:cNvSpPr/>
            <p:nvPr/>
          </p:nvSpPr>
          <p:spPr>
            <a:xfrm flipH="false" flipV="false" rot="0">
              <a:off x="0" y="0"/>
              <a:ext cx="8229600" cy="4206240"/>
            </a:xfrm>
            <a:custGeom>
              <a:avLst/>
              <a:gdLst/>
              <a:ahLst/>
              <a:cxnLst/>
              <a:rect r="r" b="b" t="t" l="l"/>
              <a:pathLst>
                <a:path h="4206240" w="8229600">
                  <a:moveTo>
                    <a:pt x="0" y="0"/>
                  </a:moveTo>
                  <a:lnTo>
                    <a:pt x="8229600" y="0"/>
                  </a:lnTo>
                  <a:lnTo>
                    <a:pt x="8229600" y="4206240"/>
                  </a:lnTo>
                  <a:lnTo>
                    <a:pt x="0" y="4206240"/>
                  </a:lnTo>
                  <a:close/>
                </a:path>
              </a:pathLst>
            </a:custGeom>
            <a:blipFill>
              <a:blip r:embed="rId3">
                <a:alphaModFix amt="0"/>
              </a:blip>
              <a:stretch>
                <a:fillRect l="-15577" t="0" r="-15577" b="0"/>
              </a:stretch>
            </a:blipFill>
          </p:spPr>
        </p:sp>
        <p:sp>
          <p:nvSpPr>
            <p:cNvPr name="TextBox 6" id="6"/>
            <p:cNvSpPr txBox="true"/>
            <p:nvPr/>
          </p:nvSpPr>
          <p:spPr>
            <a:xfrm>
              <a:off x="0" y="-9525"/>
              <a:ext cx="8229600" cy="4215765"/>
            </a:xfrm>
            <a:prstGeom prst="rect">
              <a:avLst/>
            </a:prstGeom>
          </p:spPr>
          <p:txBody>
            <a:bodyPr anchor="ctr" rtlCol="false" tIns="0" lIns="0" bIns="0" rIns="0"/>
            <a:lstStyle/>
            <a:p>
              <a:pPr algn="ctr">
                <a:lnSpc>
                  <a:spcPts val="23400"/>
                </a:lnSpc>
              </a:pPr>
              <a:r>
                <a:rPr lang="en-US" sz="19500" b="true">
                  <a:solidFill>
                    <a:srgbClr val="FFFFFF"/>
                  </a:solidFill>
                  <a:latin typeface="Cambria Bold"/>
                  <a:ea typeface="Cambria Bold"/>
                  <a:cs typeface="Cambria Bold"/>
                  <a:sym typeface="Cambria Bold"/>
                </a:rPr>
                <a:t>C</a:t>
              </a:r>
            </a:p>
          </p:txBody>
        </p:sp>
      </p:grpSp>
      <p:grpSp>
        <p:nvGrpSpPr>
          <p:cNvPr name="Group 7" id="7"/>
          <p:cNvGrpSpPr/>
          <p:nvPr/>
        </p:nvGrpSpPr>
        <p:grpSpPr>
          <a:xfrm rot="0">
            <a:off x="548640" y="5486400"/>
            <a:ext cx="5074920" cy="1097280"/>
            <a:chOff x="0" y="0"/>
            <a:chExt cx="6766560" cy="1463040"/>
          </a:xfrm>
        </p:grpSpPr>
        <p:sp>
          <p:nvSpPr>
            <p:cNvPr name="Freeform 8" id="8"/>
            <p:cNvSpPr/>
            <p:nvPr/>
          </p:nvSpPr>
          <p:spPr>
            <a:xfrm flipH="false" flipV="false" rot="0">
              <a:off x="0" y="0"/>
              <a:ext cx="6766560" cy="1463040"/>
            </a:xfrm>
            <a:custGeom>
              <a:avLst/>
              <a:gdLst/>
              <a:ahLst/>
              <a:cxnLst/>
              <a:rect r="r" b="b" t="t" l="l"/>
              <a:pathLst>
                <a:path h="1463040" w="6766560">
                  <a:moveTo>
                    <a:pt x="0" y="0"/>
                  </a:moveTo>
                  <a:lnTo>
                    <a:pt x="6766560" y="0"/>
                  </a:lnTo>
                  <a:lnTo>
                    <a:pt x="6766560" y="1463040"/>
                  </a:lnTo>
                  <a:lnTo>
                    <a:pt x="0" y="1463040"/>
                  </a:lnTo>
                  <a:close/>
                </a:path>
              </a:pathLst>
            </a:custGeom>
            <a:blipFill>
              <a:blip r:embed="rId3">
                <a:alphaModFix amt="0"/>
              </a:blip>
              <a:stretch>
                <a:fillRect l="0" t="-40118" r="0" b="-40118"/>
              </a:stretch>
            </a:blipFill>
          </p:spPr>
        </p:sp>
        <p:sp>
          <p:nvSpPr>
            <p:cNvPr name="TextBox 9" id="9"/>
            <p:cNvSpPr txBox="true"/>
            <p:nvPr/>
          </p:nvSpPr>
          <p:spPr>
            <a:xfrm>
              <a:off x="0" y="-9525"/>
              <a:ext cx="6766560" cy="1472565"/>
            </a:xfrm>
            <a:prstGeom prst="rect">
              <a:avLst/>
            </a:prstGeom>
          </p:spPr>
          <p:txBody>
            <a:bodyPr anchor="ctr" rtlCol="false" tIns="0" lIns="0" bIns="0" rIns="0"/>
            <a:lstStyle/>
            <a:p>
              <a:pPr algn="ctr">
                <a:lnSpc>
                  <a:spcPts val="4500"/>
                </a:lnSpc>
              </a:pPr>
              <a:r>
                <a:rPr lang="en-US" sz="3750" b="true">
                  <a:solidFill>
                    <a:srgbClr val="FFFFFF"/>
                  </a:solidFill>
                  <a:latin typeface="Cambria Bold"/>
                  <a:ea typeface="Cambria Bold"/>
                  <a:cs typeface="Cambria Bold"/>
                  <a:sym typeface="Cambria Bold"/>
                </a:rPr>
                <a:t>Confidentiality</a:t>
              </a:r>
            </a:p>
          </p:txBody>
        </p:sp>
      </p:grpSp>
      <p:grpSp>
        <p:nvGrpSpPr>
          <p:cNvPr name="Group 10" id="10"/>
          <p:cNvGrpSpPr/>
          <p:nvPr/>
        </p:nvGrpSpPr>
        <p:grpSpPr>
          <a:xfrm rot="0">
            <a:off x="7132320" y="822960"/>
            <a:ext cx="9601200" cy="411480"/>
            <a:chOff x="0" y="0"/>
            <a:chExt cx="12801600" cy="548640"/>
          </a:xfrm>
        </p:grpSpPr>
        <p:sp>
          <p:nvSpPr>
            <p:cNvPr name="Freeform 11" id="11"/>
            <p:cNvSpPr/>
            <p:nvPr/>
          </p:nvSpPr>
          <p:spPr>
            <a:xfrm flipH="false" flipV="false" rot="0">
              <a:off x="0" y="0"/>
              <a:ext cx="12801600" cy="548640"/>
            </a:xfrm>
            <a:custGeom>
              <a:avLst/>
              <a:gdLst/>
              <a:ahLst/>
              <a:cxnLst/>
              <a:rect r="r" b="b" t="t" l="l"/>
              <a:pathLst>
                <a:path h="548640" w="12801600">
                  <a:moveTo>
                    <a:pt x="0" y="0"/>
                  </a:moveTo>
                  <a:lnTo>
                    <a:pt x="12801600" y="0"/>
                  </a:lnTo>
                  <a:lnTo>
                    <a:pt x="12801600" y="548640"/>
                  </a:lnTo>
                  <a:lnTo>
                    <a:pt x="0" y="548640"/>
                  </a:lnTo>
                  <a:close/>
                </a:path>
              </a:pathLst>
            </a:custGeom>
            <a:blipFill>
              <a:blip r:embed="rId3">
                <a:alphaModFix amt="0"/>
              </a:blip>
              <a:stretch>
                <a:fillRect l="0" t="-404650" r="0" b="-404650"/>
              </a:stretch>
            </a:blipFill>
          </p:spPr>
        </p:sp>
        <p:sp>
          <p:nvSpPr>
            <p:cNvPr name="TextBox 12" id="12"/>
            <p:cNvSpPr txBox="true"/>
            <p:nvPr/>
          </p:nvSpPr>
          <p:spPr>
            <a:xfrm>
              <a:off x="0" y="-38100"/>
              <a:ext cx="12801600" cy="586740"/>
            </a:xfrm>
            <a:prstGeom prst="rect">
              <a:avLst/>
            </a:prstGeom>
          </p:spPr>
          <p:txBody>
            <a:bodyPr anchor="ctr" rtlCol="false" tIns="0" lIns="0" bIns="0" rIns="0"/>
            <a:lstStyle/>
            <a:p>
              <a:pPr algn="l">
                <a:lnSpc>
                  <a:spcPts val="2160"/>
                </a:lnSpc>
              </a:pPr>
              <a:r>
                <a:rPr lang="en-US" b="true" sz="1800" spc="225">
                  <a:solidFill>
                    <a:srgbClr val="00B4D8"/>
                  </a:solidFill>
                  <a:latin typeface="Calibri (MS) Bold"/>
                  <a:ea typeface="Calibri (MS) Bold"/>
                  <a:cs typeface="Calibri (MS) Bold"/>
                  <a:sym typeface="Calibri (MS) Bold"/>
                </a:rPr>
                <a:t>THE CIA TRIAD</a:t>
              </a:r>
            </a:p>
          </p:txBody>
        </p:sp>
      </p:grpSp>
      <p:sp>
        <p:nvSpPr>
          <p:cNvPr name="TextBox 13" id="13"/>
          <p:cNvSpPr txBox="true"/>
          <p:nvPr/>
        </p:nvSpPr>
        <p:spPr>
          <a:xfrm rot="0">
            <a:off x="7223760" y="1263015"/>
            <a:ext cx="10241280" cy="1571625"/>
          </a:xfrm>
          <a:prstGeom prst="rect">
            <a:avLst/>
          </a:prstGeom>
        </p:spPr>
        <p:txBody>
          <a:bodyPr anchor="t" rtlCol="false" tIns="0" lIns="0" bIns="0" rIns="0">
            <a:spAutoFit/>
          </a:bodyPr>
          <a:lstStyle/>
          <a:p>
            <a:pPr algn="l">
              <a:lnSpc>
                <a:spcPts val="4752"/>
              </a:lnSpc>
            </a:pPr>
            <a:r>
              <a:rPr lang="en-US" sz="3300" b="true">
                <a:solidFill>
                  <a:srgbClr val="1E2761"/>
                </a:solidFill>
                <a:latin typeface="Cambria Bold"/>
                <a:ea typeface="Cambria Bold"/>
                <a:cs typeface="Cambria Bold"/>
                <a:sym typeface="Cambria Bold"/>
              </a:rPr>
              <a:t>Keeping information visible only to the people who are supposed to see it.</a:t>
            </a:r>
          </a:p>
        </p:txBody>
      </p:sp>
      <p:sp>
        <p:nvSpPr>
          <p:cNvPr name="TextBox 14" id="14"/>
          <p:cNvSpPr txBox="true"/>
          <p:nvPr/>
        </p:nvSpPr>
        <p:spPr>
          <a:xfrm rot="0">
            <a:off x="7223760" y="3126105"/>
            <a:ext cx="10241280" cy="2931795"/>
          </a:xfrm>
          <a:prstGeom prst="rect">
            <a:avLst/>
          </a:prstGeom>
        </p:spPr>
        <p:txBody>
          <a:bodyPr anchor="t" rtlCol="false" tIns="0" lIns="0" bIns="0" rIns="0">
            <a:spAutoFit/>
          </a:bodyPr>
          <a:lstStyle/>
          <a:p>
            <a:pPr algn="l">
              <a:lnSpc>
                <a:spcPts val="3654"/>
              </a:lnSpc>
            </a:pPr>
            <a:r>
              <a:rPr lang="en-US" sz="2175">
                <a:solidFill>
                  <a:srgbClr val="23262F"/>
                </a:solidFill>
                <a:latin typeface="Calibri (MS)"/>
                <a:ea typeface="Calibri (MS)"/>
                <a:cs typeface="Calibri (MS)"/>
                <a:sym typeface="Calibri (MS)"/>
              </a:rPr>
              <a:t>Every office holds information the public trusts it to keep private — tax records, health data, HR files, login credentials. Confidentiality breaks the moment that information reaches someone who has no business seeing it, whether through a hacker, a lost laptop, or a misdirected email.</a:t>
            </a:r>
          </a:p>
        </p:txBody>
      </p:sp>
      <p:grpSp>
        <p:nvGrpSpPr>
          <p:cNvPr name="Group 15" id="15"/>
          <p:cNvGrpSpPr/>
          <p:nvPr/>
        </p:nvGrpSpPr>
        <p:grpSpPr>
          <a:xfrm rot="0">
            <a:off x="7132320" y="6446520"/>
            <a:ext cx="10424160" cy="1783080"/>
            <a:chOff x="0" y="0"/>
            <a:chExt cx="13898880" cy="2377440"/>
          </a:xfrm>
        </p:grpSpPr>
        <p:sp>
          <p:nvSpPr>
            <p:cNvPr name="Freeform 16" id="16"/>
            <p:cNvSpPr/>
            <p:nvPr/>
          </p:nvSpPr>
          <p:spPr>
            <a:xfrm flipH="false" flipV="false" rot="0">
              <a:off x="0" y="0"/>
              <a:ext cx="13898880" cy="2377440"/>
            </a:xfrm>
            <a:custGeom>
              <a:avLst/>
              <a:gdLst/>
              <a:ahLst/>
              <a:cxnLst/>
              <a:rect r="r" b="b" t="t" l="l"/>
              <a:pathLst>
                <a:path h="2377440" w="13898880">
                  <a:moveTo>
                    <a:pt x="0" y="182880"/>
                  </a:moveTo>
                  <a:cubicBezTo>
                    <a:pt x="0" y="81915"/>
                    <a:pt x="81915" y="0"/>
                    <a:pt x="182880" y="0"/>
                  </a:cubicBezTo>
                  <a:lnTo>
                    <a:pt x="13716000" y="0"/>
                  </a:lnTo>
                  <a:cubicBezTo>
                    <a:pt x="13816964" y="0"/>
                    <a:pt x="13898880" y="81915"/>
                    <a:pt x="13898880" y="182880"/>
                  </a:cubicBezTo>
                  <a:lnTo>
                    <a:pt x="13898880" y="2194560"/>
                  </a:lnTo>
                  <a:cubicBezTo>
                    <a:pt x="13898880" y="2295525"/>
                    <a:pt x="13816964" y="2377440"/>
                    <a:pt x="13716000" y="2377440"/>
                  </a:cubicBezTo>
                  <a:lnTo>
                    <a:pt x="182880" y="2377440"/>
                  </a:lnTo>
                  <a:cubicBezTo>
                    <a:pt x="81915" y="2377440"/>
                    <a:pt x="0" y="2295525"/>
                    <a:pt x="0" y="2194560"/>
                  </a:cubicBezTo>
                  <a:close/>
                </a:path>
              </a:pathLst>
            </a:custGeom>
            <a:solidFill>
              <a:srgbClr val="F4F7FC"/>
            </a:solidFill>
          </p:spPr>
        </p:sp>
      </p:grpSp>
      <p:grpSp>
        <p:nvGrpSpPr>
          <p:cNvPr name="Group 17" id="17"/>
          <p:cNvGrpSpPr/>
          <p:nvPr/>
        </p:nvGrpSpPr>
        <p:grpSpPr>
          <a:xfrm rot="0">
            <a:off x="7543800" y="6693408"/>
            <a:ext cx="9601200" cy="384048"/>
            <a:chOff x="0" y="0"/>
            <a:chExt cx="12801600" cy="512064"/>
          </a:xfrm>
        </p:grpSpPr>
        <p:sp>
          <p:nvSpPr>
            <p:cNvPr name="Freeform 18" id="18"/>
            <p:cNvSpPr/>
            <p:nvPr/>
          </p:nvSpPr>
          <p:spPr>
            <a:xfrm flipH="false" flipV="false" rot="0">
              <a:off x="0" y="0"/>
              <a:ext cx="12801600" cy="512064"/>
            </a:xfrm>
            <a:custGeom>
              <a:avLst/>
              <a:gdLst/>
              <a:ahLst/>
              <a:cxnLst/>
              <a:rect r="r" b="b" t="t" l="l"/>
              <a:pathLst>
                <a:path h="512064" w="12801600">
                  <a:moveTo>
                    <a:pt x="0" y="0"/>
                  </a:moveTo>
                  <a:lnTo>
                    <a:pt x="12801600" y="0"/>
                  </a:lnTo>
                  <a:lnTo>
                    <a:pt x="12801600" y="512064"/>
                  </a:lnTo>
                  <a:lnTo>
                    <a:pt x="0" y="512064"/>
                  </a:lnTo>
                  <a:close/>
                </a:path>
              </a:pathLst>
            </a:custGeom>
            <a:blipFill>
              <a:blip r:embed="rId3">
                <a:alphaModFix amt="0"/>
              </a:blip>
              <a:stretch>
                <a:fillRect l="0" t="-437125" r="0" b="-437125"/>
              </a:stretch>
            </a:blipFill>
          </p:spPr>
        </p:sp>
        <p:sp>
          <p:nvSpPr>
            <p:cNvPr name="TextBox 19" id="19"/>
            <p:cNvSpPr txBox="true"/>
            <p:nvPr/>
          </p:nvSpPr>
          <p:spPr>
            <a:xfrm>
              <a:off x="0" y="-19050"/>
              <a:ext cx="12801600" cy="531114"/>
            </a:xfrm>
            <a:prstGeom prst="rect">
              <a:avLst/>
            </a:prstGeom>
          </p:spPr>
          <p:txBody>
            <a:bodyPr anchor="ctr" rtlCol="false" tIns="0" lIns="0" bIns="0" rIns="0"/>
            <a:lstStyle/>
            <a:p>
              <a:pPr algn="l">
                <a:lnSpc>
                  <a:spcPts val="1889"/>
                </a:lnSpc>
              </a:pPr>
              <a:r>
                <a:rPr lang="en-US" b="true" sz="1575" spc="150">
                  <a:solidFill>
                    <a:srgbClr val="6B7280"/>
                  </a:solidFill>
                  <a:latin typeface="Calibri (MS) Bold"/>
                  <a:ea typeface="Calibri (MS) Bold"/>
                  <a:cs typeface="Calibri (MS) Bold"/>
                  <a:sym typeface="Calibri (MS) Bold"/>
                </a:rPr>
                <a:t>IF IT HAPPENED HERE</a:t>
              </a:r>
            </a:p>
          </p:txBody>
        </p:sp>
      </p:grpSp>
      <p:sp>
        <p:nvSpPr>
          <p:cNvPr name="TextBox 20" id="20"/>
          <p:cNvSpPr txBox="true"/>
          <p:nvPr/>
        </p:nvSpPr>
        <p:spPr>
          <a:xfrm rot="0">
            <a:off x="7635240" y="7018401"/>
            <a:ext cx="9418320" cy="1042035"/>
          </a:xfrm>
          <a:prstGeom prst="rect">
            <a:avLst/>
          </a:prstGeom>
        </p:spPr>
        <p:txBody>
          <a:bodyPr anchor="t" rtlCol="false" tIns="0" lIns="0" bIns="0" rIns="0">
            <a:spAutoFit/>
          </a:bodyPr>
          <a:lstStyle/>
          <a:p>
            <a:pPr algn="l">
              <a:lnSpc>
                <a:spcPts val="2925"/>
              </a:lnSpc>
            </a:pPr>
            <a:r>
              <a:rPr lang="en-US" sz="1950" i="true">
                <a:solidFill>
                  <a:srgbClr val="23262F"/>
                </a:solidFill>
                <a:latin typeface="Calibri (MS) Italics"/>
                <a:ea typeface="Calibri (MS) Italics"/>
                <a:cs typeface="Calibri (MS) Italics"/>
                <a:sym typeface="Calibri (MS) Italics"/>
              </a:rPr>
              <a:t>A spreadsheet of resident PhilHealth numbers gets emailed to the wrong department.</a:t>
            </a:r>
          </a:p>
        </p:txBody>
      </p:sp>
      <p:grpSp>
        <p:nvGrpSpPr>
          <p:cNvPr name="Group 21" id="21"/>
          <p:cNvGrpSpPr/>
          <p:nvPr/>
        </p:nvGrpSpPr>
        <p:grpSpPr>
          <a:xfrm rot="0">
            <a:off x="7132320" y="9710928"/>
            <a:ext cx="8229600" cy="411480"/>
            <a:chOff x="0" y="0"/>
            <a:chExt cx="10972800" cy="548640"/>
          </a:xfrm>
        </p:grpSpPr>
        <p:sp>
          <p:nvSpPr>
            <p:cNvPr name="Freeform 22" id="22"/>
            <p:cNvSpPr/>
            <p:nvPr/>
          </p:nvSpPr>
          <p:spPr>
            <a:xfrm flipH="false" flipV="false" rot="0">
              <a:off x="0" y="0"/>
              <a:ext cx="10972800" cy="548640"/>
            </a:xfrm>
            <a:custGeom>
              <a:avLst/>
              <a:gdLst/>
              <a:ahLst/>
              <a:cxnLst/>
              <a:rect r="r" b="b" t="t" l="l"/>
              <a:pathLst>
                <a:path h="548640" w="10972800">
                  <a:moveTo>
                    <a:pt x="0" y="0"/>
                  </a:moveTo>
                  <a:lnTo>
                    <a:pt x="10972800" y="0"/>
                  </a:lnTo>
                  <a:lnTo>
                    <a:pt x="10972800" y="548640"/>
                  </a:lnTo>
                  <a:lnTo>
                    <a:pt x="0" y="548640"/>
                  </a:lnTo>
                  <a:close/>
                </a:path>
              </a:pathLst>
            </a:custGeom>
            <a:blipFill>
              <a:blip r:embed="rId3">
                <a:alphaModFix amt="0"/>
              </a:blip>
              <a:stretch>
                <a:fillRect l="0" t="-339700" r="0" b="-339700"/>
              </a:stretch>
            </a:blipFill>
          </p:spPr>
        </p:sp>
        <p:sp>
          <p:nvSpPr>
            <p:cNvPr name="TextBox 23" id="23"/>
            <p:cNvSpPr txBox="true"/>
            <p:nvPr/>
          </p:nvSpPr>
          <p:spPr>
            <a:xfrm>
              <a:off x="0" y="-38100"/>
              <a:ext cx="10972800" cy="586740"/>
            </a:xfrm>
            <a:prstGeom prst="rect">
              <a:avLst/>
            </a:prstGeom>
          </p:spPr>
          <p:txBody>
            <a:bodyPr anchor="ctr" rtlCol="false" tIns="0" lIns="0" bIns="0" rIns="0"/>
            <a:lstStyle/>
            <a:p>
              <a:pPr algn="l">
                <a:lnSpc>
                  <a:spcPts val="1800"/>
                </a:lnSpc>
              </a:pPr>
              <a:r>
                <a:rPr lang="en-US" sz="1500">
                  <a:solidFill>
                    <a:srgbClr val="6B7280"/>
                  </a:solidFill>
                  <a:latin typeface="Calibri (MS)"/>
                  <a:ea typeface="Calibri (MS)"/>
                  <a:cs typeface="Calibri (MS)"/>
                  <a:sym typeface="Calibri (MS)"/>
                </a:rPr>
                <a:t>Davao del Norte Provincial Government — Cybersecurity Seminar</a:t>
              </a:r>
            </a:p>
          </p:txBody>
        </p:sp>
      </p:grpSp>
      <p:grpSp>
        <p:nvGrpSpPr>
          <p:cNvPr name="Group 24" id="24"/>
          <p:cNvGrpSpPr/>
          <p:nvPr/>
        </p:nvGrpSpPr>
        <p:grpSpPr>
          <a:xfrm rot="0">
            <a:off x="16911828" y="9710928"/>
            <a:ext cx="685800" cy="411480"/>
            <a:chOff x="0" y="0"/>
            <a:chExt cx="914400" cy="548640"/>
          </a:xfrm>
        </p:grpSpPr>
        <p:sp>
          <p:nvSpPr>
            <p:cNvPr name="Freeform 25" id="25"/>
            <p:cNvSpPr/>
            <p:nvPr/>
          </p:nvSpPr>
          <p:spPr>
            <a:xfrm flipH="false" flipV="false" rot="0">
              <a:off x="0" y="0"/>
              <a:ext cx="914400" cy="548640"/>
            </a:xfrm>
            <a:custGeom>
              <a:avLst/>
              <a:gdLst/>
              <a:ahLst/>
              <a:cxnLst/>
              <a:rect r="r" b="b" t="t" l="l"/>
              <a:pathLst>
                <a:path h="548640" w="914400">
                  <a:moveTo>
                    <a:pt x="0" y="0"/>
                  </a:moveTo>
                  <a:lnTo>
                    <a:pt x="914400" y="0"/>
                  </a:lnTo>
                  <a:lnTo>
                    <a:pt x="914400" y="548640"/>
                  </a:lnTo>
                  <a:lnTo>
                    <a:pt x="0" y="548640"/>
                  </a:lnTo>
                  <a:close/>
                </a:path>
              </a:pathLst>
            </a:custGeom>
            <a:blipFill>
              <a:blip r:embed="rId3">
                <a:alphaModFix amt="0"/>
              </a:blip>
              <a:stretch>
                <a:fillRect l="-26982" t="0" r="-26982" b="0"/>
              </a:stretch>
            </a:blipFill>
          </p:spPr>
        </p:sp>
        <p:sp>
          <p:nvSpPr>
            <p:cNvPr name="TextBox 26" id="26"/>
            <p:cNvSpPr txBox="true"/>
            <p:nvPr/>
          </p:nvSpPr>
          <p:spPr>
            <a:xfrm>
              <a:off x="0" y="-38100"/>
              <a:ext cx="914400" cy="586740"/>
            </a:xfrm>
            <a:prstGeom prst="rect">
              <a:avLst/>
            </a:prstGeom>
          </p:spPr>
          <p:txBody>
            <a:bodyPr anchor="ctr" rtlCol="false" tIns="0" lIns="0" bIns="0" rIns="0"/>
            <a:lstStyle/>
            <a:p>
              <a:pPr algn="r">
                <a:lnSpc>
                  <a:spcPts val="1800"/>
                </a:lnSpc>
              </a:pPr>
              <a:r>
                <a:rPr lang="en-US" sz="1500">
                  <a:solidFill>
                    <a:srgbClr val="6B7280"/>
                  </a:solidFill>
                  <a:latin typeface="Calibri (MS)"/>
                  <a:ea typeface="Calibri (MS)"/>
                  <a:cs typeface="Calibri (MS)"/>
                  <a:sym typeface="Calibri (MS)"/>
                </a:rPr>
                <a:t>35</a:t>
              </a:r>
            </a:p>
          </p:txBody>
        </p:sp>
      </p:grpSp>
    </p:spTree>
  </p:cSld>
  <p:clrMapOvr>
    <a:masterClrMapping/>
  </p:clrMapOvr>
</p:sld>
</file>

<file path=ppt/slides/slide3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6172200" cy="10287000"/>
            <a:chOff x="0" y="0"/>
            <a:chExt cx="8229600" cy="13716000"/>
          </a:xfrm>
        </p:grpSpPr>
        <p:sp>
          <p:nvSpPr>
            <p:cNvPr name="Freeform 3" id="3"/>
            <p:cNvSpPr/>
            <p:nvPr/>
          </p:nvSpPr>
          <p:spPr>
            <a:xfrm flipH="false" flipV="false" rot="0">
              <a:off x="0" y="0"/>
              <a:ext cx="8229600" cy="13716000"/>
            </a:xfrm>
            <a:custGeom>
              <a:avLst/>
              <a:gdLst/>
              <a:ahLst/>
              <a:cxnLst/>
              <a:rect r="r" b="b" t="t" l="l"/>
              <a:pathLst>
                <a:path h="13716000" w="8229600">
                  <a:moveTo>
                    <a:pt x="0" y="0"/>
                  </a:moveTo>
                  <a:lnTo>
                    <a:pt x="8229600" y="0"/>
                  </a:lnTo>
                  <a:lnTo>
                    <a:pt x="8229600" y="13716000"/>
                  </a:lnTo>
                  <a:lnTo>
                    <a:pt x="0" y="13716000"/>
                  </a:lnTo>
                  <a:close/>
                </a:path>
              </a:pathLst>
            </a:custGeom>
            <a:solidFill>
              <a:srgbClr val="0F8A6E"/>
            </a:solidFill>
          </p:spPr>
        </p:sp>
      </p:grpSp>
      <p:grpSp>
        <p:nvGrpSpPr>
          <p:cNvPr name="Group 4" id="4"/>
          <p:cNvGrpSpPr/>
          <p:nvPr/>
        </p:nvGrpSpPr>
        <p:grpSpPr>
          <a:xfrm rot="0">
            <a:off x="0" y="2125980"/>
            <a:ext cx="6172200" cy="3154680"/>
            <a:chOff x="0" y="0"/>
            <a:chExt cx="8229600" cy="4206240"/>
          </a:xfrm>
        </p:grpSpPr>
        <p:sp>
          <p:nvSpPr>
            <p:cNvPr name="Freeform 5" id="5"/>
            <p:cNvSpPr/>
            <p:nvPr/>
          </p:nvSpPr>
          <p:spPr>
            <a:xfrm flipH="false" flipV="false" rot="0">
              <a:off x="0" y="0"/>
              <a:ext cx="8229600" cy="4206240"/>
            </a:xfrm>
            <a:custGeom>
              <a:avLst/>
              <a:gdLst/>
              <a:ahLst/>
              <a:cxnLst/>
              <a:rect r="r" b="b" t="t" l="l"/>
              <a:pathLst>
                <a:path h="4206240" w="8229600">
                  <a:moveTo>
                    <a:pt x="0" y="0"/>
                  </a:moveTo>
                  <a:lnTo>
                    <a:pt x="8229600" y="0"/>
                  </a:lnTo>
                  <a:lnTo>
                    <a:pt x="8229600" y="4206240"/>
                  </a:lnTo>
                  <a:lnTo>
                    <a:pt x="0" y="4206240"/>
                  </a:lnTo>
                  <a:close/>
                </a:path>
              </a:pathLst>
            </a:custGeom>
            <a:blipFill>
              <a:blip r:embed="rId3">
                <a:alphaModFix amt="0"/>
              </a:blip>
              <a:stretch>
                <a:fillRect l="-15577" t="0" r="-15577" b="0"/>
              </a:stretch>
            </a:blipFill>
          </p:spPr>
        </p:sp>
        <p:sp>
          <p:nvSpPr>
            <p:cNvPr name="TextBox 6" id="6"/>
            <p:cNvSpPr txBox="true"/>
            <p:nvPr/>
          </p:nvSpPr>
          <p:spPr>
            <a:xfrm>
              <a:off x="0" y="-9525"/>
              <a:ext cx="8229600" cy="4215765"/>
            </a:xfrm>
            <a:prstGeom prst="rect">
              <a:avLst/>
            </a:prstGeom>
          </p:spPr>
          <p:txBody>
            <a:bodyPr anchor="ctr" rtlCol="false" tIns="0" lIns="0" bIns="0" rIns="0"/>
            <a:lstStyle/>
            <a:p>
              <a:pPr algn="ctr">
                <a:lnSpc>
                  <a:spcPts val="23400"/>
                </a:lnSpc>
              </a:pPr>
              <a:r>
                <a:rPr lang="en-US" sz="19500" b="true">
                  <a:solidFill>
                    <a:srgbClr val="FFFFFF"/>
                  </a:solidFill>
                  <a:latin typeface="Cambria Bold"/>
                  <a:ea typeface="Cambria Bold"/>
                  <a:cs typeface="Cambria Bold"/>
                  <a:sym typeface="Cambria Bold"/>
                </a:rPr>
                <a:t>I</a:t>
              </a:r>
            </a:p>
          </p:txBody>
        </p:sp>
      </p:grpSp>
      <p:grpSp>
        <p:nvGrpSpPr>
          <p:cNvPr name="Group 7" id="7"/>
          <p:cNvGrpSpPr/>
          <p:nvPr/>
        </p:nvGrpSpPr>
        <p:grpSpPr>
          <a:xfrm rot="0">
            <a:off x="548640" y="5486400"/>
            <a:ext cx="5074920" cy="1097280"/>
            <a:chOff x="0" y="0"/>
            <a:chExt cx="6766560" cy="1463040"/>
          </a:xfrm>
        </p:grpSpPr>
        <p:sp>
          <p:nvSpPr>
            <p:cNvPr name="Freeform 8" id="8"/>
            <p:cNvSpPr/>
            <p:nvPr/>
          </p:nvSpPr>
          <p:spPr>
            <a:xfrm flipH="false" flipV="false" rot="0">
              <a:off x="0" y="0"/>
              <a:ext cx="6766560" cy="1463040"/>
            </a:xfrm>
            <a:custGeom>
              <a:avLst/>
              <a:gdLst/>
              <a:ahLst/>
              <a:cxnLst/>
              <a:rect r="r" b="b" t="t" l="l"/>
              <a:pathLst>
                <a:path h="1463040" w="6766560">
                  <a:moveTo>
                    <a:pt x="0" y="0"/>
                  </a:moveTo>
                  <a:lnTo>
                    <a:pt x="6766560" y="0"/>
                  </a:lnTo>
                  <a:lnTo>
                    <a:pt x="6766560" y="1463040"/>
                  </a:lnTo>
                  <a:lnTo>
                    <a:pt x="0" y="1463040"/>
                  </a:lnTo>
                  <a:close/>
                </a:path>
              </a:pathLst>
            </a:custGeom>
            <a:blipFill>
              <a:blip r:embed="rId3">
                <a:alphaModFix amt="0"/>
              </a:blip>
              <a:stretch>
                <a:fillRect l="0" t="-40118" r="0" b="-40118"/>
              </a:stretch>
            </a:blipFill>
          </p:spPr>
        </p:sp>
        <p:sp>
          <p:nvSpPr>
            <p:cNvPr name="TextBox 9" id="9"/>
            <p:cNvSpPr txBox="true"/>
            <p:nvPr/>
          </p:nvSpPr>
          <p:spPr>
            <a:xfrm>
              <a:off x="0" y="-9525"/>
              <a:ext cx="6766560" cy="1472565"/>
            </a:xfrm>
            <a:prstGeom prst="rect">
              <a:avLst/>
            </a:prstGeom>
          </p:spPr>
          <p:txBody>
            <a:bodyPr anchor="ctr" rtlCol="false" tIns="0" lIns="0" bIns="0" rIns="0"/>
            <a:lstStyle/>
            <a:p>
              <a:pPr algn="ctr">
                <a:lnSpc>
                  <a:spcPts val="4500"/>
                </a:lnSpc>
              </a:pPr>
              <a:r>
                <a:rPr lang="en-US" sz="3750" b="true">
                  <a:solidFill>
                    <a:srgbClr val="FFFFFF"/>
                  </a:solidFill>
                  <a:latin typeface="Cambria Bold"/>
                  <a:ea typeface="Cambria Bold"/>
                  <a:cs typeface="Cambria Bold"/>
                  <a:sym typeface="Cambria Bold"/>
                </a:rPr>
                <a:t>Integrity</a:t>
              </a:r>
            </a:p>
          </p:txBody>
        </p:sp>
      </p:grpSp>
      <p:grpSp>
        <p:nvGrpSpPr>
          <p:cNvPr name="Group 10" id="10"/>
          <p:cNvGrpSpPr/>
          <p:nvPr/>
        </p:nvGrpSpPr>
        <p:grpSpPr>
          <a:xfrm rot="0">
            <a:off x="7132320" y="822960"/>
            <a:ext cx="9601200" cy="411480"/>
            <a:chOff x="0" y="0"/>
            <a:chExt cx="12801600" cy="548640"/>
          </a:xfrm>
        </p:grpSpPr>
        <p:sp>
          <p:nvSpPr>
            <p:cNvPr name="Freeform 11" id="11"/>
            <p:cNvSpPr/>
            <p:nvPr/>
          </p:nvSpPr>
          <p:spPr>
            <a:xfrm flipH="false" flipV="false" rot="0">
              <a:off x="0" y="0"/>
              <a:ext cx="12801600" cy="548640"/>
            </a:xfrm>
            <a:custGeom>
              <a:avLst/>
              <a:gdLst/>
              <a:ahLst/>
              <a:cxnLst/>
              <a:rect r="r" b="b" t="t" l="l"/>
              <a:pathLst>
                <a:path h="548640" w="12801600">
                  <a:moveTo>
                    <a:pt x="0" y="0"/>
                  </a:moveTo>
                  <a:lnTo>
                    <a:pt x="12801600" y="0"/>
                  </a:lnTo>
                  <a:lnTo>
                    <a:pt x="12801600" y="548640"/>
                  </a:lnTo>
                  <a:lnTo>
                    <a:pt x="0" y="548640"/>
                  </a:lnTo>
                  <a:close/>
                </a:path>
              </a:pathLst>
            </a:custGeom>
            <a:blipFill>
              <a:blip r:embed="rId3">
                <a:alphaModFix amt="0"/>
              </a:blip>
              <a:stretch>
                <a:fillRect l="0" t="-404650" r="0" b="-404650"/>
              </a:stretch>
            </a:blipFill>
          </p:spPr>
        </p:sp>
        <p:sp>
          <p:nvSpPr>
            <p:cNvPr name="TextBox 12" id="12"/>
            <p:cNvSpPr txBox="true"/>
            <p:nvPr/>
          </p:nvSpPr>
          <p:spPr>
            <a:xfrm>
              <a:off x="0" y="-38100"/>
              <a:ext cx="12801600" cy="586740"/>
            </a:xfrm>
            <a:prstGeom prst="rect">
              <a:avLst/>
            </a:prstGeom>
          </p:spPr>
          <p:txBody>
            <a:bodyPr anchor="ctr" rtlCol="false" tIns="0" lIns="0" bIns="0" rIns="0"/>
            <a:lstStyle/>
            <a:p>
              <a:pPr algn="l">
                <a:lnSpc>
                  <a:spcPts val="2160"/>
                </a:lnSpc>
              </a:pPr>
              <a:r>
                <a:rPr lang="en-US" b="true" sz="1800" spc="225">
                  <a:solidFill>
                    <a:srgbClr val="00B4D8"/>
                  </a:solidFill>
                  <a:latin typeface="Calibri (MS) Bold"/>
                  <a:ea typeface="Calibri (MS) Bold"/>
                  <a:cs typeface="Calibri (MS) Bold"/>
                  <a:sym typeface="Calibri (MS) Bold"/>
                </a:rPr>
                <a:t>THE CIA TRIAD</a:t>
              </a:r>
            </a:p>
          </p:txBody>
        </p:sp>
      </p:grpSp>
      <p:sp>
        <p:nvSpPr>
          <p:cNvPr name="TextBox 13" id="13"/>
          <p:cNvSpPr txBox="true"/>
          <p:nvPr/>
        </p:nvSpPr>
        <p:spPr>
          <a:xfrm rot="0">
            <a:off x="7223760" y="1263015"/>
            <a:ext cx="10241280" cy="1571625"/>
          </a:xfrm>
          <a:prstGeom prst="rect">
            <a:avLst/>
          </a:prstGeom>
        </p:spPr>
        <p:txBody>
          <a:bodyPr anchor="t" rtlCol="false" tIns="0" lIns="0" bIns="0" rIns="0">
            <a:spAutoFit/>
          </a:bodyPr>
          <a:lstStyle/>
          <a:p>
            <a:pPr algn="l">
              <a:lnSpc>
                <a:spcPts val="4752"/>
              </a:lnSpc>
            </a:pPr>
            <a:r>
              <a:rPr lang="en-US" sz="3300" b="true">
                <a:solidFill>
                  <a:srgbClr val="1E2761"/>
                </a:solidFill>
                <a:latin typeface="Cambria Bold"/>
                <a:ea typeface="Cambria Bold"/>
                <a:cs typeface="Cambria Bold"/>
                <a:sym typeface="Cambria Bold"/>
              </a:rPr>
              <a:t>Making sure information stays accurate and hasn't been tampered with.</a:t>
            </a:r>
          </a:p>
        </p:txBody>
      </p:sp>
      <p:sp>
        <p:nvSpPr>
          <p:cNvPr name="TextBox 14" id="14"/>
          <p:cNvSpPr txBox="true"/>
          <p:nvPr/>
        </p:nvSpPr>
        <p:spPr>
          <a:xfrm rot="0">
            <a:off x="7223760" y="3126105"/>
            <a:ext cx="10241280" cy="2931795"/>
          </a:xfrm>
          <a:prstGeom prst="rect">
            <a:avLst/>
          </a:prstGeom>
        </p:spPr>
        <p:txBody>
          <a:bodyPr anchor="t" rtlCol="false" tIns="0" lIns="0" bIns="0" rIns="0">
            <a:spAutoFit/>
          </a:bodyPr>
          <a:lstStyle/>
          <a:p>
            <a:pPr algn="l">
              <a:lnSpc>
                <a:spcPts val="3654"/>
              </a:lnSpc>
            </a:pPr>
            <a:r>
              <a:rPr lang="en-US" sz="2175">
                <a:solidFill>
                  <a:srgbClr val="23262F"/>
                </a:solidFill>
                <a:latin typeface="Calibri (MS)"/>
                <a:ea typeface="Calibri (MS)"/>
                <a:cs typeface="Calibri (MS)"/>
                <a:sym typeface="Calibri (MS)"/>
              </a:rPr>
              <a:t>A record is only useful if you can trust it. Integrity breaks when data is changed — by a hacker, a bug, or an insider — without anyone noticing, whether that's a budget figure, a permit status, or an audit log edited to cover someone's tracks.</a:t>
            </a:r>
          </a:p>
        </p:txBody>
      </p:sp>
      <p:grpSp>
        <p:nvGrpSpPr>
          <p:cNvPr name="Group 15" id="15"/>
          <p:cNvGrpSpPr/>
          <p:nvPr/>
        </p:nvGrpSpPr>
        <p:grpSpPr>
          <a:xfrm rot="0">
            <a:off x="7132320" y="6446520"/>
            <a:ext cx="10424160" cy="1783080"/>
            <a:chOff x="0" y="0"/>
            <a:chExt cx="13898880" cy="2377440"/>
          </a:xfrm>
        </p:grpSpPr>
        <p:sp>
          <p:nvSpPr>
            <p:cNvPr name="Freeform 16" id="16"/>
            <p:cNvSpPr/>
            <p:nvPr/>
          </p:nvSpPr>
          <p:spPr>
            <a:xfrm flipH="false" flipV="false" rot="0">
              <a:off x="0" y="0"/>
              <a:ext cx="13898880" cy="2377440"/>
            </a:xfrm>
            <a:custGeom>
              <a:avLst/>
              <a:gdLst/>
              <a:ahLst/>
              <a:cxnLst/>
              <a:rect r="r" b="b" t="t" l="l"/>
              <a:pathLst>
                <a:path h="2377440" w="13898880">
                  <a:moveTo>
                    <a:pt x="0" y="182880"/>
                  </a:moveTo>
                  <a:cubicBezTo>
                    <a:pt x="0" y="81915"/>
                    <a:pt x="81915" y="0"/>
                    <a:pt x="182880" y="0"/>
                  </a:cubicBezTo>
                  <a:lnTo>
                    <a:pt x="13716000" y="0"/>
                  </a:lnTo>
                  <a:cubicBezTo>
                    <a:pt x="13816964" y="0"/>
                    <a:pt x="13898880" y="81915"/>
                    <a:pt x="13898880" y="182880"/>
                  </a:cubicBezTo>
                  <a:lnTo>
                    <a:pt x="13898880" y="2194560"/>
                  </a:lnTo>
                  <a:cubicBezTo>
                    <a:pt x="13898880" y="2295525"/>
                    <a:pt x="13816964" y="2377440"/>
                    <a:pt x="13716000" y="2377440"/>
                  </a:cubicBezTo>
                  <a:lnTo>
                    <a:pt x="182880" y="2377440"/>
                  </a:lnTo>
                  <a:cubicBezTo>
                    <a:pt x="81915" y="2377440"/>
                    <a:pt x="0" y="2295525"/>
                    <a:pt x="0" y="2194560"/>
                  </a:cubicBezTo>
                  <a:close/>
                </a:path>
              </a:pathLst>
            </a:custGeom>
            <a:solidFill>
              <a:srgbClr val="F4F7FC"/>
            </a:solidFill>
          </p:spPr>
        </p:sp>
      </p:grpSp>
      <p:grpSp>
        <p:nvGrpSpPr>
          <p:cNvPr name="Group 17" id="17"/>
          <p:cNvGrpSpPr/>
          <p:nvPr/>
        </p:nvGrpSpPr>
        <p:grpSpPr>
          <a:xfrm rot="0">
            <a:off x="7543800" y="6693408"/>
            <a:ext cx="9601200" cy="384048"/>
            <a:chOff x="0" y="0"/>
            <a:chExt cx="12801600" cy="512064"/>
          </a:xfrm>
        </p:grpSpPr>
        <p:sp>
          <p:nvSpPr>
            <p:cNvPr name="Freeform 18" id="18"/>
            <p:cNvSpPr/>
            <p:nvPr/>
          </p:nvSpPr>
          <p:spPr>
            <a:xfrm flipH="false" flipV="false" rot="0">
              <a:off x="0" y="0"/>
              <a:ext cx="12801600" cy="512064"/>
            </a:xfrm>
            <a:custGeom>
              <a:avLst/>
              <a:gdLst/>
              <a:ahLst/>
              <a:cxnLst/>
              <a:rect r="r" b="b" t="t" l="l"/>
              <a:pathLst>
                <a:path h="512064" w="12801600">
                  <a:moveTo>
                    <a:pt x="0" y="0"/>
                  </a:moveTo>
                  <a:lnTo>
                    <a:pt x="12801600" y="0"/>
                  </a:lnTo>
                  <a:lnTo>
                    <a:pt x="12801600" y="512064"/>
                  </a:lnTo>
                  <a:lnTo>
                    <a:pt x="0" y="512064"/>
                  </a:lnTo>
                  <a:close/>
                </a:path>
              </a:pathLst>
            </a:custGeom>
            <a:blipFill>
              <a:blip r:embed="rId3">
                <a:alphaModFix amt="0"/>
              </a:blip>
              <a:stretch>
                <a:fillRect l="0" t="-437125" r="0" b="-437125"/>
              </a:stretch>
            </a:blipFill>
          </p:spPr>
        </p:sp>
        <p:sp>
          <p:nvSpPr>
            <p:cNvPr name="TextBox 19" id="19"/>
            <p:cNvSpPr txBox="true"/>
            <p:nvPr/>
          </p:nvSpPr>
          <p:spPr>
            <a:xfrm>
              <a:off x="0" y="-19050"/>
              <a:ext cx="12801600" cy="531114"/>
            </a:xfrm>
            <a:prstGeom prst="rect">
              <a:avLst/>
            </a:prstGeom>
          </p:spPr>
          <p:txBody>
            <a:bodyPr anchor="ctr" rtlCol="false" tIns="0" lIns="0" bIns="0" rIns="0"/>
            <a:lstStyle/>
            <a:p>
              <a:pPr algn="l">
                <a:lnSpc>
                  <a:spcPts val="1889"/>
                </a:lnSpc>
              </a:pPr>
              <a:r>
                <a:rPr lang="en-US" b="true" sz="1575" spc="150">
                  <a:solidFill>
                    <a:srgbClr val="6B7280"/>
                  </a:solidFill>
                  <a:latin typeface="Calibri (MS) Bold"/>
                  <a:ea typeface="Calibri (MS) Bold"/>
                  <a:cs typeface="Calibri (MS) Bold"/>
                  <a:sym typeface="Calibri (MS) Bold"/>
                </a:rPr>
                <a:t>IF IT HAPPENED HERE</a:t>
              </a:r>
            </a:p>
          </p:txBody>
        </p:sp>
      </p:grpSp>
      <p:sp>
        <p:nvSpPr>
          <p:cNvPr name="TextBox 20" id="20"/>
          <p:cNvSpPr txBox="true"/>
          <p:nvPr/>
        </p:nvSpPr>
        <p:spPr>
          <a:xfrm rot="0">
            <a:off x="7635240" y="7018401"/>
            <a:ext cx="9418320" cy="1042035"/>
          </a:xfrm>
          <a:prstGeom prst="rect">
            <a:avLst/>
          </a:prstGeom>
        </p:spPr>
        <p:txBody>
          <a:bodyPr anchor="t" rtlCol="false" tIns="0" lIns="0" bIns="0" rIns="0">
            <a:spAutoFit/>
          </a:bodyPr>
          <a:lstStyle/>
          <a:p>
            <a:pPr algn="l">
              <a:lnSpc>
                <a:spcPts val="2925"/>
              </a:lnSpc>
            </a:pPr>
            <a:r>
              <a:rPr lang="en-US" sz="1950" i="true">
                <a:solidFill>
                  <a:srgbClr val="23262F"/>
                </a:solidFill>
                <a:latin typeface="Calibri (MS) Italics"/>
                <a:ea typeface="Calibri (MS) Italics"/>
                <a:cs typeface="Calibri (MS) Italics"/>
                <a:sym typeface="Calibri (MS) Italics"/>
              </a:rPr>
              <a:t>Someone quietly changes the peso amount on a procurement form before it's approved.</a:t>
            </a:r>
          </a:p>
        </p:txBody>
      </p:sp>
      <p:grpSp>
        <p:nvGrpSpPr>
          <p:cNvPr name="Group 21" id="21"/>
          <p:cNvGrpSpPr/>
          <p:nvPr/>
        </p:nvGrpSpPr>
        <p:grpSpPr>
          <a:xfrm rot="0">
            <a:off x="7132320" y="9710928"/>
            <a:ext cx="8229600" cy="411480"/>
            <a:chOff x="0" y="0"/>
            <a:chExt cx="10972800" cy="548640"/>
          </a:xfrm>
        </p:grpSpPr>
        <p:sp>
          <p:nvSpPr>
            <p:cNvPr name="Freeform 22" id="22"/>
            <p:cNvSpPr/>
            <p:nvPr/>
          </p:nvSpPr>
          <p:spPr>
            <a:xfrm flipH="false" flipV="false" rot="0">
              <a:off x="0" y="0"/>
              <a:ext cx="10972800" cy="548640"/>
            </a:xfrm>
            <a:custGeom>
              <a:avLst/>
              <a:gdLst/>
              <a:ahLst/>
              <a:cxnLst/>
              <a:rect r="r" b="b" t="t" l="l"/>
              <a:pathLst>
                <a:path h="548640" w="10972800">
                  <a:moveTo>
                    <a:pt x="0" y="0"/>
                  </a:moveTo>
                  <a:lnTo>
                    <a:pt x="10972800" y="0"/>
                  </a:lnTo>
                  <a:lnTo>
                    <a:pt x="10972800" y="548640"/>
                  </a:lnTo>
                  <a:lnTo>
                    <a:pt x="0" y="548640"/>
                  </a:lnTo>
                  <a:close/>
                </a:path>
              </a:pathLst>
            </a:custGeom>
            <a:blipFill>
              <a:blip r:embed="rId3">
                <a:alphaModFix amt="0"/>
              </a:blip>
              <a:stretch>
                <a:fillRect l="0" t="-339700" r="0" b="-339700"/>
              </a:stretch>
            </a:blipFill>
          </p:spPr>
        </p:sp>
        <p:sp>
          <p:nvSpPr>
            <p:cNvPr name="TextBox 23" id="23"/>
            <p:cNvSpPr txBox="true"/>
            <p:nvPr/>
          </p:nvSpPr>
          <p:spPr>
            <a:xfrm>
              <a:off x="0" y="-38100"/>
              <a:ext cx="10972800" cy="586740"/>
            </a:xfrm>
            <a:prstGeom prst="rect">
              <a:avLst/>
            </a:prstGeom>
          </p:spPr>
          <p:txBody>
            <a:bodyPr anchor="ctr" rtlCol="false" tIns="0" lIns="0" bIns="0" rIns="0"/>
            <a:lstStyle/>
            <a:p>
              <a:pPr algn="l">
                <a:lnSpc>
                  <a:spcPts val="1800"/>
                </a:lnSpc>
              </a:pPr>
              <a:r>
                <a:rPr lang="en-US" sz="1500">
                  <a:solidFill>
                    <a:srgbClr val="6B7280"/>
                  </a:solidFill>
                  <a:latin typeface="Calibri (MS)"/>
                  <a:ea typeface="Calibri (MS)"/>
                  <a:cs typeface="Calibri (MS)"/>
                  <a:sym typeface="Calibri (MS)"/>
                </a:rPr>
                <a:t>Davao del Norte Provincial Government — Cybersecurity Seminar</a:t>
              </a:r>
            </a:p>
          </p:txBody>
        </p:sp>
      </p:grpSp>
      <p:grpSp>
        <p:nvGrpSpPr>
          <p:cNvPr name="Group 24" id="24"/>
          <p:cNvGrpSpPr/>
          <p:nvPr/>
        </p:nvGrpSpPr>
        <p:grpSpPr>
          <a:xfrm rot="0">
            <a:off x="16911828" y="9710928"/>
            <a:ext cx="685800" cy="411480"/>
            <a:chOff x="0" y="0"/>
            <a:chExt cx="914400" cy="548640"/>
          </a:xfrm>
        </p:grpSpPr>
        <p:sp>
          <p:nvSpPr>
            <p:cNvPr name="Freeform 25" id="25"/>
            <p:cNvSpPr/>
            <p:nvPr/>
          </p:nvSpPr>
          <p:spPr>
            <a:xfrm flipH="false" flipV="false" rot="0">
              <a:off x="0" y="0"/>
              <a:ext cx="914400" cy="548640"/>
            </a:xfrm>
            <a:custGeom>
              <a:avLst/>
              <a:gdLst/>
              <a:ahLst/>
              <a:cxnLst/>
              <a:rect r="r" b="b" t="t" l="l"/>
              <a:pathLst>
                <a:path h="548640" w="914400">
                  <a:moveTo>
                    <a:pt x="0" y="0"/>
                  </a:moveTo>
                  <a:lnTo>
                    <a:pt x="914400" y="0"/>
                  </a:lnTo>
                  <a:lnTo>
                    <a:pt x="914400" y="548640"/>
                  </a:lnTo>
                  <a:lnTo>
                    <a:pt x="0" y="548640"/>
                  </a:lnTo>
                  <a:close/>
                </a:path>
              </a:pathLst>
            </a:custGeom>
            <a:blipFill>
              <a:blip r:embed="rId3">
                <a:alphaModFix amt="0"/>
              </a:blip>
              <a:stretch>
                <a:fillRect l="-26982" t="0" r="-26982" b="0"/>
              </a:stretch>
            </a:blipFill>
          </p:spPr>
        </p:sp>
        <p:sp>
          <p:nvSpPr>
            <p:cNvPr name="TextBox 26" id="26"/>
            <p:cNvSpPr txBox="true"/>
            <p:nvPr/>
          </p:nvSpPr>
          <p:spPr>
            <a:xfrm>
              <a:off x="0" y="-38100"/>
              <a:ext cx="914400" cy="586740"/>
            </a:xfrm>
            <a:prstGeom prst="rect">
              <a:avLst/>
            </a:prstGeom>
          </p:spPr>
          <p:txBody>
            <a:bodyPr anchor="ctr" rtlCol="false" tIns="0" lIns="0" bIns="0" rIns="0"/>
            <a:lstStyle/>
            <a:p>
              <a:pPr algn="r">
                <a:lnSpc>
                  <a:spcPts val="1800"/>
                </a:lnSpc>
              </a:pPr>
              <a:r>
                <a:rPr lang="en-US" sz="1500">
                  <a:solidFill>
                    <a:srgbClr val="6B7280"/>
                  </a:solidFill>
                  <a:latin typeface="Calibri (MS)"/>
                  <a:ea typeface="Calibri (MS)"/>
                  <a:cs typeface="Calibri (MS)"/>
                  <a:sym typeface="Calibri (MS)"/>
                </a:rPr>
                <a:t>36</a:t>
              </a:r>
            </a:p>
          </p:txBody>
        </p:sp>
      </p:grpSp>
    </p:spTree>
  </p:cSld>
  <p:clrMapOvr>
    <a:masterClrMapping/>
  </p:clrMapOvr>
</p:sld>
</file>

<file path=ppt/slides/slide4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6172200" cy="10287000"/>
            <a:chOff x="0" y="0"/>
            <a:chExt cx="8229600" cy="13716000"/>
          </a:xfrm>
        </p:grpSpPr>
        <p:sp>
          <p:nvSpPr>
            <p:cNvPr name="Freeform 3" id="3"/>
            <p:cNvSpPr/>
            <p:nvPr/>
          </p:nvSpPr>
          <p:spPr>
            <a:xfrm flipH="false" flipV="false" rot="0">
              <a:off x="0" y="0"/>
              <a:ext cx="8229600" cy="13716000"/>
            </a:xfrm>
            <a:custGeom>
              <a:avLst/>
              <a:gdLst/>
              <a:ahLst/>
              <a:cxnLst/>
              <a:rect r="r" b="b" t="t" l="l"/>
              <a:pathLst>
                <a:path h="13716000" w="8229600">
                  <a:moveTo>
                    <a:pt x="0" y="0"/>
                  </a:moveTo>
                  <a:lnTo>
                    <a:pt x="8229600" y="0"/>
                  </a:lnTo>
                  <a:lnTo>
                    <a:pt x="8229600" y="13716000"/>
                  </a:lnTo>
                  <a:lnTo>
                    <a:pt x="0" y="13716000"/>
                  </a:lnTo>
                  <a:close/>
                </a:path>
              </a:pathLst>
            </a:custGeom>
            <a:solidFill>
              <a:srgbClr val="B8690F"/>
            </a:solidFill>
          </p:spPr>
        </p:sp>
      </p:grpSp>
      <p:grpSp>
        <p:nvGrpSpPr>
          <p:cNvPr name="Group 4" id="4"/>
          <p:cNvGrpSpPr/>
          <p:nvPr/>
        </p:nvGrpSpPr>
        <p:grpSpPr>
          <a:xfrm rot="0">
            <a:off x="0" y="2125980"/>
            <a:ext cx="6172200" cy="3154680"/>
            <a:chOff x="0" y="0"/>
            <a:chExt cx="8229600" cy="4206240"/>
          </a:xfrm>
        </p:grpSpPr>
        <p:sp>
          <p:nvSpPr>
            <p:cNvPr name="Freeform 5" id="5"/>
            <p:cNvSpPr/>
            <p:nvPr/>
          </p:nvSpPr>
          <p:spPr>
            <a:xfrm flipH="false" flipV="false" rot="0">
              <a:off x="0" y="0"/>
              <a:ext cx="8229600" cy="4206240"/>
            </a:xfrm>
            <a:custGeom>
              <a:avLst/>
              <a:gdLst/>
              <a:ahLst/>
              <a:cxnLst/>
              <a:rect r="r" b="b" t="t" l="l"/>
              <a:pathLst>
                <a:path h="4206240" w="8229600">
                  <a:moveTo>
                    <a:pt x="0" y="0"/>
                  </a:moveTo>
                  <a:lnTo>
                    <a:pt x="8229600" y="0"/>
                  </a:lnTo>
                  <a:lnTo>
                    <a:pt x="8229600" y="4206240"/>
                  </a:lnTo>
                  <a:lnTo>
                    <a:pt x="0" y="4206240"/>
                  </a:lnTo>
                  <a:close/>
                </a:path>
              </a:pathLst>
            </a:custGeom>
            <a:blipFill>
              <a:blip r:embed="rId3">
                <a:alphaModFix amt="0"/>
              </a:blip>
              <a:stretch>
                <a:fillRect l="-15577" t="0" r="-15577" b="0"/>
              </a:stretch>
            </a:blipFill>
          </p:spPr>
        </p:sp>
        <p:sp>
          <p:nvSpPr>
            <p:cNvPr name="TextBox 6" id="6"/>
            <p:cNvSpPr txBox="true"/>
            <p:nvPr/>
          </p:nvSpPr>
          <p:spPr>
            <a:xfrm>
              <a:off x="0" y="-9525"/>
              <a:ext cx="8229600" cy="4215765"/>
            </a:xfrm>
            <a:prstGeom prst="rect">
              <a:avLst/>
            </a:prstGeom>
          </p:spPr>
          <p:txBody>
            <a:bodyPr anchor="ctr" rtlCol="false" tIns="0" lIns="0" bIns="0" rIns="0"/>
            <a:lstStyle/>
            <a:p>
              <a:pPr algn="ctr">
                <a:lnSpc>
                  <a:spcPts val="23400"/>
                </a:lnSpc>
              </a:pPr>
              <a:r>
                <a:rPr lang="en-US" sz="19500" b="true">
                  <a:solidFill>
                    <a:srgbClr val="FFFFFF"/>
                  </a:solidFill>
                  <a:latin typeface="Cambria Bold"/>
                  <a:ea typeface="Cambria Bold"/>
                  <a:cs typeface="Cambria Bold"/>
                  <a:sym typeface="Cambria Bold"/>
                </a:rPr>
                <a:t>A</a:t>
              </a:r>
            </a:p>
          </p:txBody>
        </p:sp>
      </p:grpSp>
      <p:grpSp>
        <p:nvGrpSpPr>
          <p:cNvPr name="Group 7" id="7"/>
          <p:cNvGrpSpPr/>
          <p:nvPr/>
        </p:nvGrpSpPr>
        <p:grpSpPr>
          <a:xfrm rot="0">
            <a:off x="548640" y="5486400"/>
            <a:ext cx="5074920" cy="1097280"/>
            <a:chOff x="0" y="0"/>
            <a:chExt cx="6766560" cy="1463040"/>
          </a:xfrm>
        </p:grpSpPr>
        <p:sp>
          <p:nvSpPr>
            <p:cNvPr name="Freeform 8" id="8"/>
            <p:cNvSpPr/>
            <p:nvPr/>
          </p:nvSpPr>
          <p:spPr>
            <a:xfrm flipH="false" flipV="false" rot="0">
              <a:off x="0" y="0"/>
              <a:ext cx="6766560" cy="1463040"/>
            </a:xfrm>
            <a:custGeom>
              <a:avLst/>
              <a:gdLst/>
              <a:ahLst/>
              <a:cxnLst/>
              <a:rect r="r" b="b" t="t" l="l"/>
              <a:pathLst>
                <a:path h="1463040" w="6766560">
                  <a:moveTo>
                    <a:pt x="0" y="0"/>
                  </a:moveTo>
                  <a:lnTo>
                    <a:pt x="6766560" y="0"/>
                  </a:lnTo>
                  <a:lnTo>
                    <a:pt x="6766560" y="1463040"/>
                  </a:lnTo>
                  <a:lnTo>
                    <a:pt x="0" y="1463040"/>
                  </a:lnTo>
                  <a:close/>
                </a:path>
              </a:pathLst>
            </a:custGeom>
            <a:blipFill>
              <a:blip r:embed="rId3">
                <a:alphaModFix amt="0"/>
              </a:blip>
              <a:stretch>
                <a:fillRect l="0" t="-40118" r="0" b="-40118"/>
              </a:stretch>
            </a:blipFill>
          </p:spPr>
        </p:sp>
        <p:sp>
          <p:nvSpPr>
            <p:cNvPr name="TextBox 9" id="9"/>
            <p:cNvSpPr txBox="true"/>
            <p:nvPr/>
          </p:nvSpPr>
          <p:spPr>
            <a:xfrm>
              <a:off x="0" y="-9525"/>
              <a:ext cx="6766560" cy="1472565"/>
            </a:xfrm>
            <a:prstGeom prst="rect">
              <a:avLst/>
            </a:prstGeom>
          </p:spPr>
          <p:txBody>
            <a:bodyPr anchor="ctr" rtlCol="false" tIns="0" lIns="0" bIns="0" rIns="0"/>
            <a:lstStyle/>
            <a:p>
              <a:pPr algn="ctr">
                <a:lnSpc>
                  <a:spcPts val="4500"/>
                </a:lnSpc>
              </a:pPr>
              <a:r>
                <a:rPr lang="en-US" sz="3750" b="true">
                  <a:solidFill>
                    <a:srgbClr val="FFFFFF"/>
                  </a:solidFill>
                  <a:latin typeface="Cambria Bold"/>
                  <a:ea typeface="Cambria Bold"/>
                  <a:cs typeface="Cambria Bold"/>
                  <a:sym typeface="Cambria Bold"/>
                </a:rPr>
                <a:t>Availability</a:t>
              </a:r>
            </a:p>
          </p:txBody>
        </p:sp>
      </p:grpSp>
      <p:grpSp>
        <p:nvGrpSpPr>
          <p:cNvPr name="Group 10" id="10"/>
          <p:cNvGrpSpPr/>
          <p:nvPr/>
        </p:nvGrpSpPr>
        <p:grpSpPr>
          <a:xfrm rot="0">
            <a:off x="7132320" y="822960"/>
            <a:ext cx="9601200" cy="411480"/>
            <a:chOff x="0" y="0"/>
            <a:chExt cx="12801600" cy="548640"/>
          </a:xfrm>
        </p:grpSpPr>
        <p:sp>
          <p:nvSpPr>
            <p:cNvPr name="Freeform 11" id="11"/>
            <p:cNvSpPr/>
            <p:nvPr/>
          </p:nvSpPr>
          <p:spPr>
            <a:xfrm flipH="false" flipV="false" rot="0">
              <a:off x="0" y="0"/>
              <a:ext cx="12801600" cy="548640"/>
            </a:xfrm>
            <a:custGeom>
              <a:avLst/>
              <a:gdLst/>
              <a:ahLst/>
              <a:cxnLst/>
              <a:rect r="r" b="b" t="t" l="l"/>
              <a:pathLst>
                <a:path h="548640" w="12801600">
                  <a:moveTo>
                    <a:pt x="0" y="0"/>
                  </a:moveTo>
                  <a:lnTo>
                    <a:pt x="12801600" y="0"/>
                  </a:lnTo>
                  <a:lnTo>
                    <a:pt x="12801600" y="548640"/>
                  </a:lnTo>
                  <a:lnTo>
                    <a:pt x="0" y="548640"/>
                  </a:lnTo>
                  <a:close/>
                </a:path>
              </a:pathLst>
            </a:custGeom>
            <a:blipFill>
              <a:blip r:embed="rId3">
                <a:alphaModFix amt="0"/>
              </a:blip>
              <a:stretch>
                <a:fillRect l="0" t="-404650" r="0" b="-404650"/>
              </a:stretch>
            </a:blipFill>
          </p:spPr>
        </p:sp>
        <p:sp>
          <p:nvSpPr>
            <p:cNvPr name="TextBox 12" id="12"/>
            <p:cNvSpPr txBox="true"/>
            <p:nvPr/>
          </p:nvSpPr>
          <p:spPr>
            <a:xfrm>
              <a:off x="0" y="-38100"/>
              <a:ext cx="12801600" cy="586740"/>
            </a:xfrm>
            <a:prstGeom prst="rect">
              <a:avLst/>
            </a:prstGeom>
          </p:spPr>
          <p:txBody>
            <a:bodyPr anchor="ctr" rtlCol="false" tIns="0" lIns="0" bIns="0" rIns="0"/>
            <a:lstStyle/>
            <a:p>
              <a:pPr algn="l">
                <a:lnSpc>
                  <a:spcPts val="2160"/>
                </a:lnSpc>
              </a:pPr>
              <a:r>
                <a:rPr lang="en-US" b="true" sz="1800" spc="225">
                  <a:solidFill>
                    <a:srgbClr val="00B4D8"/>
                  </a:solidFill>
                  <a:latin typeface="Calibri (MS) Bold"/>
                  <a:ea typeface="Calibri (MS) Bold"/>
                  <a:cs typeface="Calibri (MS) Bold"/>
                  <a:sym typeface="Calibri (MS) Bold"/>
                </a:rPr>
                <a:t>THE CIA TRIAD</a:t>
              </a:r>
            </a:p>
          </p:txBody>
        </p:sp>
      </p:grpSp>
      <p:sp>
        <p:nvSpPr>
          <p:cNvPr name="TextBox 13" id="13"/>
          <p:cNvSpPr txBox="true"/>
          <p:nvPr/>
        </p:nvSpPr>
        <p:spPr>
          <a:xfrm rot="0">
            <a:off x="7223760" y="1263015"/>
            <a:ext cx="10241280" cy="1571625"/>
          </a:xfrm>
          <a:prstGeom prst="rect">
            <a:avLst/>
          </a:prstGeom>
        </p:spPr>
        <p:txBody>
          <a:bodyPr anchor="t" rtlCol="false" tIns="0" lIns="0" bIns="0" rIns="0">
            <a:spAutoFit/>
          </a:bodyPr>
          <a:lstStyle/>
          <a:p>
            <a:pPr algn="l">
              <a:lnSpc>
                <a:spcPts val="4752"/>
              </a:lnSpc>
            </a:pPr>
            <a:r>
              <a:rPr lang="en-US" sz="3300" b="true">
                <a:solidFill>
                  <a:srgbClr val="1E2761"/>
                </a:solidFill>
                <a:latin typeface="Cambria Bold"/>
                <a:ea typeface="Cambria Bold"/>
                <a:cs typeface="Cambria Bold"/>
                <a:sym typeface="Cambria Bold"/>
              </a:rPr>
              <a:t>Making sure the system or service is there when people need it.</a:t>
            </a:r>
          </a:p>
        </p:txBody>
      </p:sp>
      <p:sp>
        <p:nvSpPr>
          <p:cNvPr name="TextBox 14" id="14"/>
          <p:cNvSpPr txBox="true"/>
          <p:nvPr/>
        </p:nvSpPr>
        <p:spPr>
          <a:xfrm rot="0">
            <a:off x="7223760" y="3126105"/>
            <a:ext cx="10241280" cy="2931795"/>
          </a:xfrm>
          <a:prstGeom prst="rect">
            <a:avLst/>
          </a:prstGeom>
        </p:spPr>
        <p:txBody>
          <a:bodyPr anchor="t" rtlCol="false" tIns="0" lIns="0" bIns="0" rIns="0">
            <a:spAutoFit/>
          </a:bodyPr>
          <a:lstStyle/>
          <a:p>
            <a:pPr algn="l">
              <a:lnSpc>
                <a:spcPts val="3654"/>
              </a:lnSpc>
            </a:pPr>
            <a:r>
              <a:rPr lang="en-US" sz="2175">
                <a:solidFill>
                  <a:srgbClr val="23262F"/>
                </a:solidFill>
                <a:latin typeface="Calibri (MS)"/>
                <a:ea typeface="Calibri (MS)"/>
                <a:cs typeface="Calibri (MS)"/>
                <a:sym typeface="Calibri (MS)"/>
              </a:rPr>
              <a:t>Even perfectly private, perfectly accurate information is useless if no one can reach it. Availability fails when a system goes down — from an attack, a power outage, or simple overload — right when residents or staff need it most.</a:t>
            </a:r>
          </a:p>
        </p:txBody>
      </p:sp>
      <p:grpSp>
        <p:nvGrpSpPr>
          <p:cNvPr name="Group 15" id="15"/>
          <p:cNvGrpSpPr/>
          <p:nvPr/>
        </p:nvGrpSpPr>
        <p:grpSpPr>
          <a:xfrm rot="0">
            <a:off x="7132320" y="6446520"/>
            <a:ext cx="10424160" cy="1783080"/>
            <a:chOff x="0" y="0"/>
            <a:chExt cx="13898880" cy="2377440"/>
          </a:xfrm>
        </p:grpSpPr>
        <p:sp>
          <p:nvSpPr>
            <p:cNvPr name="Freeform 16" id="16"/>
            <p:cNvSpPr/>
            <p:nvPr/>
          </p:nvSpPr>
          <p:spPr>
            <a:xfrm flipH="false" flipV="false" rot="0">
              <a:off x="0" y="0"/>
              <a:ext cx="13898880" cy="2377440"/>
            </a:xfrm>
            <a:custGeom>
              <a:avLst/>
              <a:gdLst/>
              <a:ahLst/>
              <a:cxnLst/>
              <a:rect r="r" b="b" t="t" l="l"/>
              <a:pathLst>
                <a:path h="2377440" w="13898880">
                  <a:moveTo>
                    <a:pt x="0" y="182880"/>
                  </a:moveTo>
                  <a:cubicBezTo>
                    <a:pt x="0" y="81915"/>
                    <a:pt x="81915" y="0"/>
                    <a:pt x="182880" y="0"/>
                  </a:cubicBezTo>
                  <a:lnTo>
                    <a:pt x="13716000" y="0"/>
                  </a:lnTo>
                  <a:cubicBezTo>
                    <a:pt x="13816964" y="0"/>
                    <a:pt x="13898880" y="81915"/>
                    <a:pt x="13898880" y="182880"/>
                  </a:cubicBezTo>
                  <a:lnTo>
                    <a:pt x="13898880" y="2194560"/>
                  </a:lnTo>
                  <a:cubicBezTo>
                    <a:pt x="13898880" y="2295525"/>
                    <a:pt x="13816964" y="2377440"/>
                    <a:pt x="13716000" y="2377440"/>
                  </a:cubicBezTo>
                  <a:lnTo>
                    <a:pt x="182880" y="2377440"/>
                  </a:lnTo>
                  <a:cubicBezTo>
                    <a:pt x="81915" y="2377440"/>
                    <a:pt x="0" y="2295525"/>
                    <a:pt x="0" y="2194560"/>
                  </a:cubicBezTo>
                  <a:close/>
                </a:path>
              </a:pathLst>
            </a:custGeom>
            <a:solidFill>
              <a:srgbClr val="F4F7FC"/>
            </a:solidFill>
          </p:spPr>
        </p:sp>
      </p:grpSp>
      <p:grpSp>
        <p:nvGrpSpPr>
          <p:cNvPr name="Group 17" id="17"/>
          <p:cNvGrpSpPr/>
          <p:nvPr/>
        </p:nvGrpSpPr>
        <p:grpSpPr>
          <a:xfrm rot="0">
            <a:off x="7543800" y="6693408"/>
            <a:ext cx="9601200" cy="384048"/>
            <a:chOff x="0" y="0"/>
            <a:chExt cx="12801600" cy="512064"/>
          </a:xfrm>
        </p:grpSpPr>
        <p:sp>
          <p:nvSpPr>
            <p:cNvPr name="Freeform 18" id="18"/>
            <p:cNvSpPr/>
            <p:nvPr/>
          </p:nvSpPr>
          <p:spPr>
            <a:xfrm flipH="false" flipV="false" rot="0">
              <a:off x="0" y="0"/>
              <a:ext cx="12801600" cy="512064"/>
            </a:xfrm>
            <a:custGeom>
              <a:avLst/>
              <a:gdLst/>
              <a:ahLst/>
              <a:cxnLst/>
              <a:rect r="r" b="b" t="t" l="l"/>
              <a:pathLst>
                <a:path h="512064" w="12801600">
                  <a:moveTo>
                    <a:pt x="0" y="0"/>
                  </a:moveTo>
                  <a:lnTo>
                    <a:pt x="12801600" y="0"/>
                  </a:lnTo>
                  <a:lnTo>
                    <a:pt x="12801600" y="512064"/>
                  </a:lnTo>
                  <a:lnTo>
                    <a:pt x="0" y="512064"/>
                  </a:lnTo>
                  <a:close/>
                </a:path>
              </a:pathLst>
            </a:custGeom>
            <a:blipFill>
              <a:blip r:embed="rId3">
                <a:alphaModFix amt="0"/>
              </a:blip>
              <a:stretch>
                <a:fillRect l="0" t="-437125" r="0" b="-437125"/>
              </a:stretch>
            </a:blipFill>
          </p:spPr>
        </p:sp>
        <p:sp>
          <p:nvSpPr>
            <p:cNvPr name="TextBox 19" id="19"/>
            <p:cNvSpPr txBox="true"/>
            <p:nvPr/>
          </p:nvSpPr>
          <p:spPr>
            <a:xfrm>
              <a:off x="0" y="-19050"/>
              <a:ext cx="12801600" cy="531114"/>
            </a:xfrm>
            <a:prstGeom prst="rect">
              <a:avLst/>
            </a:prstGeom>
          </p:spPr>
          <p:txBody>
            <a:bodyPr anchor="ctr" rtlCol="false" tIns="0" lIns="0" bIns="0" rIns="0"/>
            <a:lstStyle/>
            <a:p>
              <a:pPr algn="l">
                <a:lnSpc>
                  <a:spcPts val="1889"/>
                </a:lnSpc>
              </a:pPr>
              <a:r>
                <a:rPr lang="en-US" b="true" sz="1575" spc="150">
                  <a:solidFill>
                    <a:srgbClr val="6B7280"/>
                  </a:solidFill>
                  <a:latin typeface="Calibri (MS) Bold"/>
                  <a:ea typeface="Calibri (MS) Bold"/>
                  <a:cs typeface="Calibri (MS) Bold"/>
                  <a:sym typeface="Calibri (MS) Bold"/>
                </a:rPr>
                <a:t>IF IT HAPPENED HERE</a:t>
              </a:r>
            </a:p>
          </p:txBody>
        </p:sp>
      </p:grpSp>
      <p:sp>
        <p:nvSpPr>
          <p:cNvPr name="TextBox 20" id="20"/>
          <p:cNvSpPr txBox="true"/>
          <p:nvPr/>
        </p:nvSpPr>
        <p:spPr>
          <a:xfrm rot="0">
            <a:off x="7635240" y="7018401"/>
            <a:ext cx="9418320" cy="1042035"/>
          </a:xfrm>
          <a:prstGeom prst="rect">
            <a:avLst/>
          </a:prstGeom>
        </p:spPr>
        <p:txBody>
          <a:bodyPr anchor="t" rtlCol="false" tIns="0" lIns="0" bIns="0" rIns="0">
            <a:spAutoFit/>
          </a:bodyPr>
          <a:lstStyle/>
          <a:p>
            <a:pPr algn="l">
              <a:lnSpc>
                <a:spcPts val="2925"/>
              </a:lnSpc>
            </a:pPr>
            <a:r>
              <a:rPr lang="en-US" sz="1950" i="true">
                <a:solidFill>
                  <a:srgbClr val="23262F"/>
                </a:solidFill>
                <a:latin typeface="Calibri (MS) Italics"/>
                <a:ea typeface="Calibri (MS) Italics"/>
                <a:cs typeface="Calibri (MS) Italics"/>
                <a:sym typeface="Calibri (MS) Italics"/>
              </a:rPr>
              <a:t>The online payment portal crashes during real property tax deadline week.</a:t>
            </a:r>
          </a:p>
        </p:txBody>
      </p:sp>
      <p:grpSp>
        <p:nvGrpSpPr>
          <p:cNvPr name="Group 21" id="21"/>
          <p:cNvGrpSpPr/>
          <p:nvPr/>
        </p:nvGrpSpPr>
        <p:grpSpPr>
          <a:xfrm rot="0">
            <a:off x="7132320" y="9710928"/>
            <a:ext cx="8229600" cy="411480"/>
            <a:chOff x="0" y="0"/>
            <a:chExt cx="10972800" cy="548640"/>
          </a:xfrm>
        </p:grpSpPr>
        <p:sp>
          <p:nvSpPr>
            <p:cNvPr name="Freeform 22" id="22"/>
            <p:cNvSpPr/>
            <p:nvPr/>
          </p:nvSpPr>
          <p:spPr>
            <a:xfrm flipH="false" flipV="false" rot="0">
              <a:off x="0" y="0"/>
              <a:ext cx="10972800" cy="548640"/>
            </a:xfrm>
            <a:custGeom>
              <a:avLst/>
              <a:gdLst/>
              <a:ahLst/>
              <a:cxnLst/>
              <a:rect r="r" b="b" t="t" l="l"/>
              <a:pathLst>
                <a:path h="548640" w="10972800">
                  <a:moveTo>
                    <a:pt x="0" y="0"/>
                  </a:moveTo>
                  <a:lnTo>
                    <a:pt x="10972800" y="0"/>
                  </a:lnTo>
                  <a:lnTo>
                    <a:pt x="10972800" y="548640"/>
                  </a:lnTo>
                  <a:lnTo>
                    <a:pt x="0" y="548640"/>
                  </a:lnTo>
                  <a:close/>
                </a:path>
              </a:pathLst>
            </a:custGeom>
            <a:blipFill>
              <a:blip r:embed="rId3">
                <a:alphaModFix amt="0"/>
              </a:blip>
              <a:stretch>
                <a:fillRect l="0" t="-339700" r="0" b="-339700"/>
              </a:stretch>
            </a:blipFill>
          </p:spPr>
        </p:sp>
        <p:sp>
          <p:nvSpPr>
            <p:cNvPr name="TextBox 23" id="23"/>
            <p:cNvSpPr txBox="true"/>
            <p:nvPr/>
          </p:nvSpPr>
          <p:spPr>
            <a:xfrm>
              <a:off x="0" y="-38100"/>
              <a:ext cx="10972800" cy="586740"/>
            </a:xfrm>
            <a:prstGeom prst="rect">
              <a:avLst/>
            </a:prstGeom>
          </p:spPr>
          <p:txBody>
            <a:bodyPr anchor="ctr" rtlCol="false" tIns="0" lIns="0" bIns="0" rIns="0"/>
            <a:lstStyle/>
            <a:p>
              <a:pPr algn="l">
                <a:lnSpc>
                  <a:spcPts val="1800"/>
                </a:lnSpc>
              </a:pPr>
              <a:r>
                <a:rPr lang="en-US" sz="1500">
                  <a:solidFill>
                    <a:srgbClr val="6B7280"/>
                  </a:solidFill>
                  <a:latin typeface="Calibri (MS)"/>
                  <a:ea typeface="Calibri (MS)"/>
                  <a:cs typeface="Calibri (MS)"/>
                  <a:sym typeface="Calibri (MS)"/>
                </a:rPr>
                <a:t>Davao del Norte Provincial Government — Cybersecurity Seminar</a:t>
              </a:r>
            </a:p>
          </p:txBody>
        </p:sp>
      </p:grpSp>
      <p:grpSp>
        <p:nvGrpSpPr>
          <p:cNvPr name="Group 24" id="24"/>
          <p:cNvGrpSpPr/>
          <p:nvPr/>
        </p:nvGrpSpPr>
        <p:grpSpPr>
          <a:xfrm rot="0">
            <a:off x="16911828" y="9710928"/>
            <a:ext cx="685800" cy="411480"/>
            <a:chOff x="0" y="0"/>
            <a:chExt cx="914400" cy="548640"/>
          </a:xfrm>
        </p:grpSpPr>
        <p:sp>
          <p:nvSpPr>
            <p:cNvPr name="Freeform 25" id="25"/>
            <p:cNvSpPr/>
            <p:nvPr/>
          </p:nvSpPr>
          <p:spPr>
            <a:xfrm flipH="false" flipV="false" rot="0">
              <a:off x="0" y="0"/>
              <a:ext cx="914400" cy="548640"/>
            </a:xfrm>
            <a:custGeom>
              <a:avLst/>
              <a:gdLst/>
              <a:ahLst/>
              <a:cxnLst/>
              <a:rect r="r" b="b" t="t" l="l"/>
              <a:pathLst>
                <a:path h="548640" w="914400">
                  <a:moveTo>
                    <a:pt x="0" y="0"/>
                  </a:moveTo>
                  <a:lnTo>
                    <a:pt x="914400" y="0"/>
                  </a:lnTo>
                  <a:lnTo>
                    <a:pt x="914400" y="548640"/>
                  </a:lnTo>
                  <a:lnTo>
                    <a:pt x="0" y="548640"/>
                  </a:lnTo>
                  <a:close/>
                </a:path>
              </a:pathLst>
            </a:custGeom>
            <a:blipFill>
              <a:blip r:embed="rId3">
                <a:alphaModFix amt="0"/>
              </a:blip>
              <a:stretch>
                <a:fillRect l="-26982" t="0" r="-26982" b="0"/>
              </a:stretch>
            </a:blipFill>
          </p:spPr>
        </p:sp>
        <p:sp>
          <p:nvSpPr>
            <p:cNvPr name="TextBox 26" id="26"/>
            <p:cNvSpPr txBox="true"/>
            <p:nvPr/>
          </p:nvSpPr>
          <p:spPr>
            <a:xfrm>
              <a:off x="0" y="-38100"/>
              <a:ext cx="914400" cy="586740"/>
            </a:xfrm>
            <a:prstGeom prst="rect">
              <a:avLst/>
            </a:prstGeom>
          </p:spPr>
          <p:txBody>
            <a:bodyPr anchor="ctr" rtlCol="false" tIns="0" lIns="0" bIns="0" rIns="0"/>
            <a:lstStyle/>
            <a:p>
              <a:pPr algn="r">
                <a:lnSpc>
                  <a:spcPts val="1800"/>
                </a:lnSpc>
              </a:pPr>
              <a:r>
                <a:rPr lang="en-US" sz="1500">
                  <a:solidFill>
                    <a:srgbClr val="6B7280"/>
                  </a:solidFill>
                  <a:latin typeface="Calibri (MS)"/>
                  <a:ea typeface="Calibri (MS)"/>
                  <a:cs typeface="Calibri (MS)"/>
                  <a:sym typeface="Calibri (MS)"/>
                </a:rPr>
                <a:t>37</a:t>
              </a:r>
            </a:p>
          </p:txBody>
        </p:sp>
      </p:grpSp>
    </p:spTree>
  </p:cSld>
  <p:clrMapOvr>
    <a:masterClrMapping/>
  </p:clrMapOvr>
</p:sld>
</file>

<file path=ppt/slides/slide41.xml><?xml version="1.0" encoding="utf-8"?>
<p:sld xmlns:p="http://schemas.openxmlformats.org/presentationml/2006/main" xmlns:a="http://schemas.openxmlformats.org/drawingml/2006/main" xmlns:r="http://schemas.openxmlformats.org/officeDocument/2006/relationships">
  <p:cSld>
    <p:bg>
      <p:bgPr>
        <a:solidFill>
          <a:srgbClr val="1E2761"/>
        </a:solidFill>
      </p:bgPr>
    </p:bg>
    <p:spTree>
      <p:nvGrpSpPr>
        <p:cNvPr id="1" name=""/>
        <p:cNvGrpSpPr/>
        <p:nvPr/>
      </p:nvGrpSpPr>
      <p:grpSpPr>
        <a:xfrm>
          <a:off x="0" y="0"/>
          <a:ext cx="0" cy="0"/>
          <a:chOff x="0" y="0"/>
          <a:chExt cx="0" cy="0"/>
        </a:xfrm>
      </p:grpSpPr>
      <p:grpSp>
        <p:nvGrpSpPr>
          <p:cNvPr name="Group 2" id="2"/>
          <p:cNvGrpSpPr/>
          <p:nvPr/>
        </p:nvGrpSpPr>
        <p:grpSpPr>
          <a:xfrm rot="0">
            <a:off x="-3017520" y="6309360"/>
            <a:ext cx="8229600" cy="8229600"/>
            <a:chOff x="0" y="0"/>
            <a:chExt cx="10972800" cy="10972800"/>
          </a:xfrm>
        </p:grpSpPr>
        <p:sp>
          <p:nvSpPr>
            <p:cNvPr name="Freeform 3" id="3"/>
            <p:cNvSpPr/>
            <p:nvPr/>
          </p:nvSpPr>
          <p:spPr>
            <a:xfrm flipH="false" flipV="false" rot="0">
              <a:off x="0" y="0"/>
              <a:ext cx="10972800" cy="10972800"/>
            </a:xfrm>
            <a:custGeom>
              <a:avLst/>
              <a:gdLst/>
              <a:ahLst/>
              <a:cxnLst/>
              <a:rect r="r" b="b" t="t" l="l"/>
              <a:pathLst>
                <a:path h="10972800" w="10972800">
                  <a:moveTo>
                    <a:pt x="0" y="5486400"/>
                  </a:moveTo>
                  <a:cubicBezTo>
                    <a:pt x="0" y="2456307"/>
                    <a:pt x="2456307" y="0"/>
                    <a:pt x="5486400" y="0"/>
                  </a:cubicBezTo>
                  <a:cubicBezTo>
                    <a:pt x="8516493" y="0"/>
                    <a:pt x="10972800" y="2456307"/>
                    <a:pt x="10972800" y="5486400"/>
                  </a:cubicBezTo>
                  <a:cubicBezTo>
                    <a:pt x="10972800" y="8516493"/>
                    <a:pt x="8516493" y="10972800"/>
                    <a:pt x="5486400" y="10972800"/>
                  </a:cubicBezTo>
                  <a:cubicBezTo>
                    <a:pt x="2456307" y="10972800"/>
                    <a:pt x="0" y="8516493"/>
                    <a:pt x="0" y="5486400"/>
                  </a:cubicBezTo>
                  <a:close/>
                </a:path>
              </a:pathLst>
            </a:custGeom>
            <a:solidFill>
              <a:srgbClr val="263186"/>
            </a:solidFill>
          </p:spPr>
        </p:sp>
      </p:grpSp>
      <p:grpSp>
        <p:nvGrpSpPr>
          <p:cNvPr name="Group 4" id="4"/>
          <p:cNvGrpSpPr/>
          <p:nvPr/>
        </p:nvGrpSpPr>
        <p:grpSpPr>
          <a:xfrm rot="0">
            <a:off x="1234440" y="1303020"/>
            <a:ext cx="10972800" cy="548640"/>
            <a:chOff x="0" y="0"/>
            <a:chExt cx="14630400" cy="731520"/>
          </a:xfrm>
        </p:grpSpPr>
        <p:sp>
          <p:nvSpPr>
            <p:cNvPr name="Freeform 5" id="5"/>
            <p:cNvSpPr/>
            <p:nvPr/>
          </p:nvSpPr>
          <p:spPr>
            <a:xfrm flipH="false" flipV="false" rot="0">
              <a:off x="0" y="0"/>
              <a:ext cx="14630400" cy="731520"/>
            </a:xfrm>
            <a:custGeom>
              <a:avLst/>
              <a:gdLst/>
              <a:ahLst/>
              <a:cxnLst/>
              <a:rect r="r" b="b" t="t" l="l"/>
              <a:pathLst>
                <a:path h="731520" w="14630400">
                  <a:moveTo>
                    <a:pt x="0" y="0"/>
                  </a:moveTo>
                  <a:lnTo>
                    <a:pt x="14630400" y="0"/>
                  </a:lnTo>
                  <a:lnTo>
                    <a:pt x="14630400" y="731520"/>
                  </a:lnTo>
                  <a:lnTo>
                    <a:pt x="0" y="731520"/>
                  </a:lnTo>
                  <a:close/>
                </a:path>
              </a:pathLst>
            </a:custGeom>
            <a:blipFill>
              <a:blip r:embed="rId3">
                <a:alphaModFix amt="0"/>
              </a:blip>
              <a:stretch>
                <a:fillRect l="0" t="-339700" r="0" b="-339700"/>
              </a:stretch>
            </a:blipFill>
          </p:spPr>
        </p:sp>
        <p:sp>
          <p:nvSpPr>
            <p:cNvPr name="TextBox 6" id="6"/>
            <p:cNvSpPr txBox="true"/>
            <p:nvPr/>
          </p:nvSpPr>
          <p:spPr>
            <a:xfrm>
              <a:off x="0" y="-47625"/>
              <a:ext cx="14630400" cy="779145"/>
            </a:xfrm>
            <a:prstGeom prst="rect">
              <a:avLst/>
            </a:prstGeom>
          </p:spPr>
          <p:txBody>
            <a:bodyPr anchor="ctr" rtlCol="false" tIns="0" lIns="0" bIns="0" rIns="0"/>
            <a:lstStyle/>
            <a:p>
              <a:pPr algn="l">
                <a:lnSpc>
                  <a:spcPts val="2520"/>
                </a:lnSpc>
              </a:pPr>
              <a:r>
                <a:rPr lang="en-US" b="true" sz="2100" spc="299">
                  <a:solidFill>
                    <a:srgbClr val="00B4D8"/>
                  </a:solidFill>
                  <a:latin typeface="Calibri (MS) Bold"/>
                  <a:ea typeface="Calibri (MS) Bold"/>
                  <a:cs typeface="Calibri (MS) Bold"/>
                  <a:sym typeface="Calibri (MS) Bold"/>
                </a:rPr>
                <a:t>YOUR TURN</a:t>
              </a:r>
            </a:p>
          </p:txBody>
        </p:sp>
      </p:grpSp>
      <p:grpSp>
        <p:nvGrpSpPr>
          <p:cNvPr name="Group 7" id="7"/>
          <p:cNvGrpSpPr/>
          <p:nvPr/>
        </p:nvGrpSpPr>
        <p:grpSpPr>
          <a:xfrm rot="0">
            <a:off x="1234440" y="1851660"/>
            <a:ext cx="10149840" cy="1783080"/>
            <a:chOff x="0" y="0"/>
            <a:chExt cx="13533120" cy="2377440"/>
          </a:xfrm>
        </p:grpSpPr>
        <p:sp>
          <p:nvSpPr>
            <p:cNvPr name="Freeform 8" id="8"/>
            <p:cNvSpPr/>
            <p:nvPr/>
          </p:nvSpPr>
          <p:spPr>
            <a:xfrm flipH="false" flipV="false" rot="0">
              <a:off x="0" y="0"/>
              <a:ext cx="13533120" cy="2377440"/>
            </a:xfrm>
            <a:custGeom>
              <a:avLst/>
              <a:gdLst/>
              <a:ahLst/>
              <a:cxnLst/>
              <a:rect r="r" b="b" t="t" l="l"/>
              <a:pathLst>
                <a:path h="2377440" w="13533120">
                  <a:moveTo>
                    <a:pt x="0" y="0"/>
                  </a:moveTo>
                  <a:lnTo>
                    <a:pt x="13533120" y="0"/>
                  </a:lnTo>
                  <a:lnTo>
                    <a:pt x="13533120" y="2377440"/>
                  </a:lnTo>
                  <a:lnTo>
                    <a:pt x="0" y="2377440"/>
                  </a:lnTo>
                  <a:close/>
                </a:path>
              </a:pathLst>
            </a:custGeom>
            <a:blipFill>
              <a:blip r:embed="rId3">
                <a:alphaModFix amt="0"/>
              </a:blip>
              <a:stretch>
                <a:fillRect l="0" t="-60914" r="0" b="-60914"/>
              </a:stretch>
            </a:blipFill>
          </p:spPr>
        </p:sp>
        <p:sp>
          <p:nvSpPr>
            <p:cNvPr name="TextBox 9" id="9"/>
            <p:cNvSpPr txBox="true"/>
            <p:nvPr/>
          </p:nvSpPr>
          <p:spPr>
            <a:xfrm>
              <a:off x="0" y="-9525"/>
              <a:ext cx="13533120" cy="2386965"/>
            </a:xfrm>
            <a:prstGeom prst="rect">
              <a:avLst/>
            </a:prstGeom>
          </p:spPr>
          <p:txBody>
            <a:bodyPr anchor="ctr" rtlCol="false" tIns="0" lIns="0" bIns="0" rIns="0"/>
            <a:lstStyle/>
            <a:p>
              <a:pPr algn="l">
                <a:lnSpc>
                  <a:spcPts val="6839"/>
                </a:lnSpc>
              </a:pPr>
              <a:r>
                <a:rPr lang="en-US" sz="5700" b="true">
                  <a:solidFill>
                    <a:srgbClr val="FFFFFF"/>
                  </a:solidFill>
                  <a:latin typeface="Cambria Bold"/>
                  <a:ea typeface="Cambria Bold"/>
                  <a:cs typeface="Cambria Bold"/>
                  <a:sym typeface="Cambria Bold"/>
                </a:rPr>
                <a:t>Sort 12 Real Scenarios</a:t>
              </a:r>
            </a:p>
          </p:txBody>
        </p:sp>
      </p:grpSp>
      <p:sp>
        <p:nvSpPr>
          <p:cNvPr name="TextBox 10" id="10"/>
          <p:cNvSpPr txBox="true"/>
          <p:nvPr/>
        </p:nvSpPr>
        <p:spPr>
          <a:xfrm rot="0">
            <a:off x="1325880" y="3429000"/>
            <a:ext cx="8869680" cy="1943100"/>
          </a:xfrm>
          <a:prstGeom prst="rect">
            <a:avLst/>
          </a:prstGeom>
        </p:spPr>
        <p:txBody>
          <a:bodyPr anchor="t" rtlCol="false" tIns="0" lIns="0" bIns="0" rIns="0">
            <a:spAutoFit/>
          </a:bodyPr>
          <a:lstStyle/>
          <a:p>
            <a:pPr algn="l">
              <a:lnSpc>
                <a:spcPts val="3375"/>
              </a:lnSpc>
            </a:pPr>
            <a:r>
              <a:rPr lang="en-US" sz="2250">
                <a:solidFill>
                  <a:srgbClr val="CADCFC"/>
                </a:solidFill>
                <a:latin typeface="Calibri (MS)"/>
                <a:ea typeface="Calibri (MS)"/>
                <a:cs typeface="Calibri (MS)"/>
                <a:sym typeface="Calibri (MS)"/>
              </a:rPr>
              <a:t>Scan the code or visit the link below. For each scenario, decide whether it's a Confidentiality, Integrity, or Availability issue. Some are more than one.</a:t>
            </a:r>
          </a:p>
        </p:txBody>
      </p:sp>
      <p:grpSp>
        <p:nvGrpSpPr>
          <p:cNvPr name="Group 11" id="11"/>
          <p:cNvGrpSpPr/>
          <p:nvPr/>
        </p:nvGrpSpPr>
        <p:grpSpPr>
          <a:xfrm rot="0">
            <a:off x="1234440" y="5692140"/>
            <a:ext cx="754380" cy="754380"/>
            <a:chOff x="0" y="0"/>
            <a:chExt cx="1005840" cy="1005840"/>
          </a:xfrm>
        </p:grpSpPr>
        <p:sp>
          <p:nvSpPr>
            <p:cNvPr name="Freeform 12" id="12"/>
            <p:cNvSpPr/>
            <p:nvPr/>
          </p:nvSpPr>
          <p:spPr>
            <a:xfrm flipH="false" flipV="false" rot="0">
              <a:off x="0" y="0"/>
              <a:ext cx="1005840" cy="1005840"/>
            </a:xfrm>
            <a:custGeom>
              <a:avLst/>
              <a:gdLst/>
              <a:ahLst/>
              <a:cxnLst/>
              <a:rect r="r" b="b" t="t" l="l"/>
              <a:pathLst>
                <a:path h="1005840" w="1005840">
                  <a:moveTo>
                    <a:pt x="0" y="502920"/>
                  </a:moveTo>
                  <a:cubicBezTo>
                    <a:pt x="0" y="225171"/>
                    <a:pt x="225171" y="0"/>
                    <a:pt x="502920" y="0"/>
                  </a:cubicBezTo>
                  <a:cubicBezTo>
                    <a:pt x="780669" y="0"/>
                    <a:pt x="1005840" y="225171"/>
                    <a:pt x="1005840" y="502920"/>
                  </a:cubicBezTo>
                  <a:cubicBezTo>
                    <a:pt x="1005840" y="780669"/>
                    <a:pt x="780669" y="1005840"/>
                    <a:pt x="502920" y="1005840"/>
                  </a:cubicBezTo>
                  <a:cubicBezTo>
                    <a:pt x="225171" y="1005840"/>
                    <a:pt x="0" y="780669"/>
                    <a:pt x="0" y="502920"/>
                  </a:cubicBezTo>
                  <a:close/>
                </a:path>
              </a:pathLst>
            </a:custGeom>
            <a:solidFill>
              <a:srgbClr val="00B4D8"/>
            </a:solidFill>
          </p:spPr>
        </p:sp>
      </p:grpSp>
      <p:grpSp>
        <p:nvGrpSpPr>
          <p:cNvPr name="Group 13" id="13"/>
          <p:cNvGrpSpPr/>
          <p:nvPr/>
        </p:nvGrpSpPr>
        <p:grpSpPr>
          <a:xfrm rot="0">
            <a:off x="1412748" y="5870448"/>
            <a:ext cx="397764" cy="397764"/>
            <a:chOff x="0" y="0"/>
            <a:chExt cx="530352" cy="530352"/>
          </a:xfrm>
        </p:grpSpPr>
        <p:sp>
          <p:nvSpPr>
            <p:cNvPr name="Freeform 14" id="14" descr="link.png"/>
            <p:cNvSpPr/>
            <p:nvPr/>
          </p:nvSpPr>
          <p:spPr>
            <a:xfrm flipH="false" flipV="false" rot="0">
              <a:off x="0" y="0"/>
              <a:ext cx="530352" cy="530352"/>
            </a:xfrm>
            <a:custGeom>
              <a:avLst/>
              <a:gdLst/>
              <a:ahLst/>
              <a:cxnLst/>
              <a:rect r="r" b="b" t="t" l="l"/>
              <a:pathLst>
                <a:path h="530352" w="530352">
                  <a:moveTo>
                    <a:pt x="0" y="0"/>
                  </a:moveTo>
                  <a:lnTo>
                    <a:pt x="530352" y="0"/>
                  </a:lnTo>
                  <a:lnTo>
                    <a:pt x="530352" y="530352"/>
                  </a:lnTo>
                  <a:lnTo>
                    <a:pt x="0" y="530352"/>
                  </a:lnTo>
                  <a:lnTo>
                    <a:pt x="0" y="0"/>
                  </a:lnTo>
                  <a:close/>
                </a:path>
              </a:pathLst>
            </a:custGeom>
            <a:blipFill>
              <a:blip r:embed="rId4"/>
              <a:stretch>
                <a:fillRect l="0" t="0" r="0" b="0"/>
              </a:stretch>
            </a:blipFill>
          </p:spPr>
        </p:sp>
      </p:grpSp>
      <p:grpSp>
        <p:nvGrpSpPr>
          <p:cNvPr name="Group 15" id="15"/>
          <p:cNvGrpSpPr/>
          <p:nvPr/>
        </p:nvGrpSpPr>
        <p:grpSpPr>
          <a:xfrm rot="0">
            <a:off x="2263140" y="5650992"/>
            <a:ext cx="7543800" cy="411480"/>
            <a:chOff x="0" y="0"/>
            <a:chExt cx="10058400" cy="548640"/>
          </a:xfrm>
        </p:grpSpPr>
        <p:sp>
          <p:nvSpPr>
            <p:cNvPr name="Freeform 16" id="16"/>
            <p:cNvSpPr/>
            <p:nvPr/>
          </p:nvSpPr>
          <p:spPr>
            <a:xfrm flipH="false" flipV="false" rot="0">
              <a:off x="0" y="0"/>
              <a:ext cx="10058400" cy="548640"/>
            </a:xfrm>
            <a:custGeom>
              <a:avLst/>
              <a:gdLst/>
              <a:ahLst/>
              <a:cxnLst/>
              <a:rect r="r" b="b" t="t" l="l"/>
              <a:pathLst>
                <a:path h="548640" w="10058400">
                  <a:moveTo>
                    <a:pt x="0" y="0"/>
                  </a:moveTo>
                  <a:lnTo>
                    <a:pt x="10058400" y="0"/>
                  </a:lnTo>
                  <a:lnTo>
                    <a:pt x="10058400" y="548640"/>
                  </a:lnTo>
                  <a:lnTo>
                    <a:pt x="0" y="548640"/>
                  </a:lnTo>
                  <a:close/>
                </a:path>
              </a:pathLst>
            </a:custGeom>
            <a:blipFill>
              <a:blip r:embed="rId3">
                <a:alphaModFix amt="0"/>
              </a:blip>
              <a:stretch>
                <a:fillRect l="0" t="-307225" r="0" b="-307225"/>
              </a:stretch>
            </a:blipFill>
          </p:spPr>
        </p:sp>
        <p:sp>
          <p:nvSpPr>
            <p:cNvPr name="TextBox 17" id="17"/>
            <p:cNvSpPr txBox="true"/>
            <p:nvPr/>
          </p:nvSpPr>
          <p:spPr>
            <a:xfrm>
              <a:off x="0" y="-47625"/>
              <a:ext cx="10058400" cy="596265"/>
            </a:xfrm>
            <a:prstGeom prst="rect">
              <a:avLst/>
            </a:prstGeom>
          </p:spPr>
          <p:txBody>
            <a:bodyPr anchor="ctr" rtlCol="false" tIns="0" lIns="0" bIns="0" rIns="0"/>
            <a:lstStyle/>
            <a:p>
              <a:pPr algn="l">
                <a:lnSpc>
                  <a:spcPts val="2340"/>
                </a:lnSpc>
              </a:pPr>
              <a:r>
                <a:rPr lang="en-US" sz="1950">
                  <a:solidFill>
                    <a:srgbClr val="CADCFC"/>
                  </a:solidFill>
                  <a:latin typeface="Calibri (MS)"/>
                  <a:ea typeface="Calibri (MS)"/>
                  <a:cs typeface="Calibri (MS)"/>
                  <a:sym typeface="Calibri (MS)"/>
                </a:rPr>
                <a:t>Go to:</a:t>
              </a:r>
            </a:p>
          </p:txBody>
        </p:sp>
      </p:grpSp>
      <p:grpSp>
        <p:nvGrpSpPr>
          <p:cNvPr name="Group 18" id="18"/>
          <p:cNvGrpSpPr/>
          <p:nvPr/>
        </p:nvGrpSpPr>
        <p:grpSpPr>
          <a:xfrm rot="0">
            <a:off x="2235708" y="6062472"/>
            <a:ext cx="9326880" cy="754380"/>
            <a:chOff x="0" y="0"/>
            <a:chExt cx="12435840" cy="1005840"/>
          </a:xfrm>
        </p:grpSpPr>
        <p:sp>
          <p:nvSpPr>
            <p:cNvPr name="Freeform 19" id="19"/>
            <p:cNvSpPr/>
            <p:nvPr/>
          </p:nvSpPr>
          <p:spPr>
            <a:xfrm flipH="false" flipV="false" rot="0">
              <a:off x="0" y="0"/>
              <a:ext cx="12435840" cy="1005840"/>
            </a:xfrm>
            <a:custGeom>
              <a:avLst/>
              <a:gdLst/>
              <a:ahLst/>
              <a:cxnLst/>
              <a:rect r="r" b="b" t="t" l="l"/>
              <a:pathLst>
                <a:path h="1005840" w="12435840">
                  <a:moveTo>
                    <a:pt x="0" y="0"/>
                  </a:moveTo>
                  <a:lnTo>
                    <a:pt x="12435840" y="0"/>
                  </a:lnTo>
                  <a:lnTo>
                    <a:pt x="12435840" y="1005840"/>
                  </a:lnTo>
                  <a:lnTo>
                    <a:pt x="0" y="1005840"/>
                  </a:lnTo>
                  <a:close/>
                </a:path>
              </a:pathLst>
            </a:custGeom>
            <a:blipFill>
              <a:blip r:embed="rId3">
                <a:alphaModFix amt="0"/>
              </a:blip>
              <a:stretch>
                <a:fillRect l="0" t="-190905" r="0" b="-190905"/>
              </a:stretch>
            </a:blipFill>
          </p:spPr>
        </p:sp>
        <p:sp>
          <p:nvSpPr>
            <p:cNvPr name="TextBox 20" id="20"/>
            <p:cNvSpPr txBox="true"/>
            <p:nvPr/>
          </p:nvSpPr>
          <p:spPr>
            <a:xfrm>
              <a:off x="0" y="-19050"/>
              <a:ext cx="12435840" cy="1024890"/>
            </a:xfrm>
            <a:prstGeom prst="rect">
              <a:avLst/>
            </a:prstGeom>
          </p:spPr>
          <p:txBody>
            <a:bodyPr anchor="ctr" rtlCol="false" tIns="0" lIns="0" bIns="0" rIns="0"/>
            <a:lstStyle/>
            <a:p>
              <a:pPr algn="l">
                <a:lnSpc>
                  <a:spcPts val="4320"/>
                </a:lnSpc>
              </a:pPr>
              <a:r>
                <a:rPr lang="en-US" sz="3600" b="true">
                  <a:solidFill>
                    <a:srgbClr val="FFFFFF"/>
                  </a:solidFill>
                  <a:latin typeface="Cambria Bold"/>
                  <a:ea typeface="Cambria Bold"/>
                  <a:cs typeface="Cambria Bold"/>
                  <a:sym typeface="Cambria Bold"/>
                </a:rPr>
                <a:t>ferdienervida.com/ciatriad</a:t>
              </a:r>
            </a:p>
          </p:txBody>
        </p:sp>
      </p:grpSp>
      <p:grpSp>
        <p:nvGrpSpPr>
          <p:cNvPr name="Group 21" id="21"/>
          <p:cNvGrpSpPr/>
          <p:nvPr/>
        </p:nvGrpSpPr>
        <p:grpSpPr>
          <a:xfrm rot="0">
            <a:off x="1234440" y="7063740"/>
            <a:ext cx="9601200" cy="548640"/>
            <a:chOff x="0" y="0"/>
            <a:chExt cx="12801600" cy="731520"/>
          </a:xfrm>
        </p:grpSpPr>
        <p:sp>
          <p:nvSpPr>
            <p:cNvPr name="Freeform 22" id="22"/>
            <p:cNvSpPr/>
            <p:nvPr/>
          </p:nvSpPr>
          <p:spPr>
            <a:xfrm flipH="false" flipV="false" rot="0">
              <a:off x="0" y="0"/>
              <a:ext cx="12801600" cy="731520"/>
            </a:xfrm>
            <a:custGeom>
              <a:avLst/>
              <a:gdLst/>
              <a:ahLst/>
              <a:cxnLst/>
              <a:rect r="r" b="b" t="t" l="l"/>
              <a:pathLst>
                <a:path h="731520" w="12801600">
                  <a:moveTo>
                    <a:pt x="0" y="0"/>
                  </a:moveTo>
                  <a:lnTo>
                    <a:pt x="12801600" y="0"/>
                  </a:lnTo>
                  <a:lnTo>
                    <a:pt x="12801600" y="731520"/>
                  </a:lnTo>
                  <a:lnTo>
                    <a:pt x="0" y="731520"/>
                  </a:lnTo>
                  <a:close/>
                </a:path>
              </a:pathLst>
            </a:custGeom>
            <a:blipFill>
              <a:blip r:embed="rId3">
                <a:alphaModFix amt="0"/>
              </a:blip>
              <a:stretch>
                <a:fillRect l="0" t="-290988" r="0" b="-290988"/>
              </a:stretch>
            </a:blipFill>
          </p:spPr>
        </p:sp>
        <p:sp>
          <p:nvSpPr>
            <p:cNvPr name="TextBox 23" id="23"/>
            <p:cNvSpPr txBox="true"/>
            <p:nvPr/>
          </p:nvSpPr>
          <p:spPr>
            <a:xfrm>
              <a:off x="0" y="-47625"/>
              <a:ext cx="12801600" cy="779145"/>
            </a:xfrm>
            <a:prstGeom prst="rect">
              <a:avLst/>
            </a:prstGeom>
          </p:spPr>
          <p:txBody>
            <a:bodyPr anchor="ctr" rtlCol="false" tIns="0" lIns="0" bIns="0" rIns="0"/>
            <a:lstStyle/>
            <a:p>
              <a:pPr algn="l">
                <a:lnSpc>
                  <a:spcPts val="2340"/>
                </a:lnSpc>
              </a:pPr>
              <a:r>
                <a:rPr lang="en-US" sz="1950" i="true">
                  <a:solidFill>
                    <a:srgbClr val="CADCFC"/>
                  </a:solidFill>
                  <a:latin typeface="Calibri (MS) Italics"/>
                  <a:ea typeface="Calibri (MS) Italics"/>
                  <a:cs typeface="Calibri (MS) Italics"/>
                  <a:sym typeface="Calibri (MS) Italics"/>
                </a:rPr>
                <a:t>⏱  About 15–20 minutes, then we review together</a:t>
              </a:r>
            </a:p>
          </p:txBody>
        </p:sp>
      </p:grpSp>
      <p:grpSp>
        <p:nvGrpSpPr>
          <p:cNvPr name="Group 24" id="24"/>
          <p:cNvGrpSpPr/>
          <p:nvPr/>
        </p:nvGrpSpPr>
        <p:grpSpPr>
          <a:xfrm rot="0">
            <a:off x="13098780" y="2125980"/>
            <a:ext cx="3977640" cy="3977640"/>
            <a:chOff x="0" y="0"/>
            <a:chExt cx="5303520" cy="5303520"/>
          </a:xfrm>
        </p:grpSpPr>
        <p:sp>
          <p:nvSpPr>
            <p:cNvPr name="Freeform 25" id="25"/>
            <p:cNvSpPr/>
            <p:nvPr/>
          </p:nvSpPr>
          <p:spPr>
            <a:xfrm flipH="false" flipV="false" rot="0">
              <a:off x="0" y="0"/>
              <a:ext cx="5303520" cy="5303520"/>
            </a:xfrm>
            <a:custGeom>
              <a:avLst/>
              <a:gdLst/>
              <a:ahLst/>
              <a:cxnLst/>
              <a:rect r="r" b="b" t="t" l="l"/>
              <a:pathLst>
                <a:path h="5303520" w="5303520">
                  <a:moveTo>
                    <a:pt x="0" y="219456"/>
                  </a:moveTo>
                  <a:cubicBezTo>
                    <a:pt x="0" y="98298"/>
                    <a:pt x="98298" y="0"/>
                    <a:pt x="219456" y="0"/>
                  </a:cubicBezTo>
                  <a:lnTo>
                    <a:pt x="5084064" y="0"/>
                  </a:lnTo>
                  <a:cubicBezTo>
                    <a:pt x="5205222" y="0"/>
                    <a:pt x="5303520" y="98298"/>
                    <a:pt x="5303520" y="219456"/>
                  </a:cubicBezTo>
                  <a:lnTo>
                    <a:pt x="5303520" y="5084064"/>
                  </a:lnTo>
                  <a:cubicBezTo>
                    <a:pt x="5303520" y="5205222"/>
                    <a:pt x="5205222" y="5303520"/>
                    <a:pt x="5084064" y="5303520"/>
                  </a:cubicBezTo>
                  <a:lnTo>
                    <a:pt x="219456" y="5303520"/>
                  </a:lnTo>
                  <a:cubicBezTo>
                    <a:pt x="98298" y="5303520"/>
                    <a:pt x="0" y="5205222"/>
                    <a:pt x="0" y="5084064"/>
                  </a:cubicBezTo>
                  <a:close/>
                </a:path>
              </a:pathLst>
            </a:custGeom>
            <a:solidFill>
              <a:srgbClr val="FFFFFF"/>
            </a:solidFill>
          </p:spPr>
        </p:sp>
      </p:grpSp>
      <p:grpSp>
        <p:nvGrpSpPr>
          <p:cNvPr name="Group 26" id="26"/>
          <p:cNvGrpSpPr/>
          <p:nvPr/>
        </p:nvGrpSpPr>
        <p:grpSpPr>
          <a:xfrm rot="0">
            <a:off x="13441680" y="2468880"/>
            <a:ext cx="3291840" cy="3291840"/>
            <a:chOff x="0" y="0"/>
            <a:chExt cx="4389120" cy="4389120"/>
          </a:xfrm>
        </p:grpSpPr>
        <p:sp>
          <p:nvSpPr>
            <p:cNvPr name="Freeform 27" id="27" descr="qr_ciatriad.png"/>
            <p:cNvSpPr/>
            <p:nvPr/>
          </p:nvSpPr>
          <p:spPr>
            <a:xfrm flipH="false" flipV="false" rot="0">
              <a:off x="0" y="0"/>
              <a:ext cx="4389120" cy="4389120"/>
            </a:xfrm>
            <a:custGeom>
              <a:avLst/>
              <a:gdLst/>
              <a:ahLst/>
              <a:cxnLst/>
              <a:rect r="r" b="b" t="t" l="l"/>
              <a:pathLst>
                <a:path h="4389120" w="4389120">
                  <a:moveTo>
                    <a:pt x="0" y="0"/>
                  </a:moveTo>
                  <a:lnTo>
                    <a:pt x="4389120" y="0"/>
                  </a:lnTo>
                  <a:lnTo>
                    <a:pt x="4389120" y="4389120"/>
                  </a:lnTo>
                  <a:lnTo>
                    <a:pt x="0" y="4389120"/>
                  </a:lnTo>
                  <a:lnTo>
                    <a:pt x="0" y="0"/>
                  </a:lnTo>
                  <a:close/>
                </a:path>
              </a:pathLst>
            </a:custGeom>
            <a:blipFill>
              <a:blip r:embed="rId5"/>
              <a:stretch>
                <a:fillRect l="0" t="0" r="0" b="0"/>
              </a:stretch>
            </a:blipFill>
          </p:spPr>
        </p:sp>
      </p:grpSp>
      <p:grpSp>
        <p:nvGrpSpPr>
          <p:cNvPr name="Group 28" id="28"/>
          <p:cNvGrpSpPr/>
          <p:nvPr/>
        </p:nvGrpSpPr>
        <p:grpSpPr>
          <a:xfrm rot="0">
            <a:off x="13098780" y="6281928"/>
            <a:ext cx="3977640" cy="480060"/>
            <a:chOff x="0" y="0"/>
            <a:chExt cx="5303520" cy="640080"/>
          </a:xfrm>
        </p:grpSpPr>
        <p:sp>
          <p:nvSpPr>
            <p:cNvPr name="Freeform 29" id="29"/>
            <p:cNvSpPr/>
            <p:nvPr/>
          </p:nvSpPr>
          <p:spPr>
            <a:xfrm flipH="false" flipV="false" rot="0">
              <a:off x="0" y="0"/>
              <a:ext cx="5303520" cy="640080"/>
            </a:xfrm>
            <a:custGeom>
              <a:avLst/>
              <a:gdLst/>
              <a:ahLst/>
              <a:cxnLst/>
              <a:rect r="r" b="b" t="t" l="l"/>
              <a:pathLst>
                <a:path h="640080" w="5303520">
                  <a:moveTo>
                    <a:pt x="0" y="0"/>
                  </a:moveTo>
                  <a:lnTo>
                    <a:pt x="5303520" y="0"/>
                  </a:lnTo>
                  <a:lnTo>
                    <a:pt x="5303520" y="640080"/>
                  </a:lnTo>
                  <a:lnTo>
                    <a:pt x="0" y="640080"/>
                  </a:lnTo>
                  <a:close/>
                </a:path>
              </a:pathLst>
            </a:custGeom>
            <a:blipFill>
              <a:blip r:embed="rId3">
                <a:alphaModFix amt="0"/>
              </a:blip>
              <a:stretch>
                <a:fillRect l="0" t="-111447" r="0" b="-111447"/>
              </a:stretch>
            </a:blipFill>
          </p:spPr>
        </p:sp>
        <p:sp>
          <p:nvSpPr>
            <p:cNvPr name="TextBox 30" id="30"/>
            <p:cNvSpPr txBox="true"/>
            <p:nvPr/>
          </p:nvSpPr>
          <p:spPr>
            <a:xfrm>
              <a:off x="0" y="-38100"/>
              <a:ext cx="5303520" cy="678180"/>
            </a:xfrm>
            <a:prstGeom prst="rect">
              <a:avLst/>
            </a:prstGeom>
          </p:spPr>
          <p:txBody>
            <a:bodyPr anchor="ctr" rtlCol="false" tIns="0" lIns="0" bIns="0" rIns="0"/>
            <a:lstStyle/>
            <a:p>
              <a:pPr algn="ctr">
                <a:lnSpc>
                  <a:spcPts val="2160"/>
                </a:lnSpc>
              </a:pPr>
              <a:r>
                <a:rPr lang="en-US" sz="1800" b="true">
                  <a:solidFill>
                    <a:srgbClr val="CADCFC"/>
                  </a:solidFill>
                  <a:latin typeface="Calibri (MS) Bold"/>
                  <a:ea typeface="Calibri (MS) Bold"/>
                  <a:cs typeface="Calibri (MS) Bold"/>
                  <a:sym typeface="Calibri (MS) Bold"/>
                </a:rPr>
                <a:t>CIA Triad Sort</a:t>
              </a:r>
            </a:p>
          </p:txBody>
        </p:sp>
      </p:grpSp>
      <p:grpSp>
        <p:nvGrpSpPr>
          <p:cNvPr name="Group 31" id="31"/>
          <p:cNvGrpSpPr/>
          <p:nvPr/>
        </p:nvGrpSpPr>
        <p:grpSpPr>
          <a:xfrm rot="0">
            <a:off x="685800" y="9710928"/>
            <a:ext cx="10972800" cy="411480"/>
            <a:chOff x="0" y="0"/>
            <a:chExt cx="14630400" cy="548640"/>
          </a:xfrm>
        </p:grpSpPr>
        <p:sp>
          <p:nvSpPr>
            <p:cNvPr name="Freeform 32" id="32"/>
            <p:cNvSpPr/>
            <p:nvPr/>
          </p:nvSpPr>
          <p:spPr>
            <a:xfrm flipH="false" flipV="false" rot="0">
              <a:off x="0" y="0"/>
              <a:ext cx="14630400" cy="548640"/>
            </a:xfrm>
            <a:custGeom>
              <a:avLst/>
              <a:gdLst/>
              <a:ahLst/>
              <a:cxnLst/>
              <a:rect r="r" b="b" t="t" l="l"/>
              <a:pathLst>
                <a:path h="548640" w="14630400">
                  <a:moveTo>
                    <a:pt x="0" y="0"/>
                  </a:moveTo>
                  <a:lnTo>
                    <a:pt x="14630400" y="0"/>
                  </a:lnTo>
                  <a:lnTo>
                    <a:pt x="14630400" y="548640"/>
                  </a:lnTo>
                  <a:lnTo>
                    <a:pt x="0" y="548640"/>
                  </a:lnTo>
                  <a:close/>
                </a:path>
              </a:pathLst>
            </a:custGeom>
            <a:blipFill>
              <a:blip r:embed="rId3">
                <a:alphaModFix amt="0"/>
              </a:blip>
              <a:stretch>
                <a:fillRect l="0" t="-469601" r="0" b="-469601"/>
              </a:stretch>
            </a:blipFill>
          </p:spPr>
        </p:sp>
        <p:sp>
          <p:nvSpPr>
            <p:cNvPr name="TextBox 33" id="33"/>
            <p:cNvSpPr txBox="true"/>
            <p:nvPr/>
          </p:nvSpPr>
          <p:spPr>
            <a:xfrm>
              <a:off x="0" y="-38100"/>
              <a:ext cx="14630400" cy="586740"/>
            </a:xfrm>
            <a:prstGeom prst="rect">
              <a:avLst/>
            </a:prstGeom>
          </p:spPr>
          <p:txBody>
            <a:bodyPr anchor="ctr" rtlCol="false" tIns="0" lIns="0" bIns="0" rIns="0"/>
            <a:lstStyle/>
            <a:p>
              <a:pPr algn="l">
                <a:lnSpc>
                  <a:spcPts val="1800"/>
                </a:lnSpc>
              </a:pPr>
              <a:r>
                <a:rPr lang="en-US" sz="1500">
                  <a:solidFill>
                    <a:srgbClr val="CADCFC"/>
                  </a:solidFill>
                  <a:latin typeface="Calibri (MS)"/>
                  <a:ea typeface="Calibri (MS)"/>
                  <a:cs typeface="Calibri (MS)"/>
                  <a:sym typeface="Calibri (MS)"/>
                </a:rPr>
                <a:t>Davao del Norte Provincial Government — Cybersecurity Seminar</a:t>
              </a:r>
            </a:p>
          </p:txBody>
        </p:sp>
      </p:grpSp>
      <p:grpSp>
        <p:nvGrpSpPr>
          <p:cNvPr name="Group 34" id="34"/>
          <p:cNvGrpSpPr/>
          <p:nvPr/>
        </p:nvGrpSpPr>
        <p:grpSpPr>
          <a:xfrm rot="0">
            <a:off x="16911828" y="9710928"/>
            <a:ext cx="685800" cy="411480"/>
            <a:chOff x="0" y="0"/>
            <a:chExt cx="914400" cy="548640"/>
          </a:xfrm>
        </p:grpSpPr>
        <p:sp>
          <p:nvSpPr>
            <p:cNvPr name="Freeform 35" id="35"/>
            <p:cNvSpPr/>
            <p:nvPr/>
          </p:nvSpPr>
          <p:spPr>
            <a:xfrm flipH="false" flipV="false" rot="0">
              <a:off x="0" y="0"/>
              <a:ext cx="914400" cy="548640"/>
            </a:xfrm>
            <a:custGeom>
              <a:avLst/>
              <a:gdLst/>
              <a:ahLst/>
              <a:cxnLst/>
              <a:rect r="r" b="b" t="t" l="l"/>
              <a:pathLst>
                <a:path h="548640" w="914400">
                  <a:moveTo>
                    <a:pt x="0" y="0"/>
                  </a:moveTo>
                  <a:lnTo>
                    <a:pt x="914400" y="0"/>
                  </a:lnTo>
                  <a:lnTo>
                    <a:pt x="914400" y="548640"/>
                  </a:lnTo>
                  <a:lnTo>
                    <a:pt x="0" y="548640"/>
                  </a:lnTo>
                  <a:close/>
                </a:path>
              </a:pathLst>
            </a:custGeom>
            <a:blipFill>
              <a:blip r:embed="rId3">
                <a:alphaModFix amt="0"/>
              </a:blip>
              <a:stretch>
                <a:fillRect l="-26982" t="0" r="-26982" b="0"/>
              </a:stretch>
            </a:blipFill>
          </p:spPr>
        </p:sp>
        <p:sp>
          <p:nvSpPr>
            <p:cNvPr name="TextBox 36" id="36"/>
            <p:cNvSpPr txBox="true"/>
            <p:nvPr/>
          </p:nvSpPr>
          <p:spPr>
            <a:xfrm>
              <a:off x="0" y="-38100"/>
              <a:ext cx="914400" cy="586740"/>
            </a:xfrm>
            <a:prstGeom prst="rect">
              <a:avLst/>
            </a:prstGeom>
          </p:spPr>
          <p:txBody>
            <a:bodyPr anchor="ctr" rtlCol="false" tIns="0" lIns="0" bIns="0" rIns="0"/>
            <a:lstStyle/>
            <a:p>
              <a:pPr algn="r">
                <a:lnSpc>
                  <a:spcPts val="1800"/>
                </a:lnSpc>
              </a:pPr>
              <a:r>
                <a:rPr lang="en-US" sz="1500">
                  <a:solidFill>
                    <a:srgbClr val="CADCFC"/>
                  </a:solidFill>
                  <a:latin typeface="Calibri (MS)"/>
                  <a:ea typeface="Calibri (MS)"/>
                  <a:cs typeface="Calibri (MS)"/>
                  <a:sym typeface="Calibri (MS)"/>
                </a:rPr>
                <a:t>38</a:t>
              </a:r>
            </a:p>
          </p:txBody>
        </p:sp>
      </p:grpSp>
    </p:spTree>
  </p:cSld>
  <p:clrMapOvr>
    <a:masterClrMapping/>
  </p:clrMapOvr>
</p:sld>
</file>

<file path=ppt/slides/slide4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60120" y="685800"/>
            <a:ext cx="13716000" cy="411480"/>
            <a:chOff x="0" y="0"/>
            <a:chExt cx="18288000" cy="548640"/>
          </a:xfrm>
        </p:grpSpPr>
        <p:sp>
          <p:nvSpPr>
            <p:cNvPr name="Freeform 3" id="3"/>
            <p:cNvSpPr/>
            <p:nvPr/>
          </p:nvSpPr>
          <p:spPr>
            <a:xfrm flipH="false" flipV="false" rot="0">
              <a:off x="0" y="0"/>
              <a:ext cx="18288000" cy="548640"/>
            </a:xfrm>
            <a:custGeom>
              <a:avLst/>
              <a:gdLst/>
              <a:ahLst/>
              <a:cxnLst/>
              <a:rect r="r" b="b" t="t" l="l"/>
              <a:pathLst>
                <a:path h="548640" w="18288000">
                  <a:moveTo>
                    <a:pt x="0" y="0"/>
                  </a:moveTo>
                  <a:lnTo>
                    <a:pt x="18288000" y="0"/>
                  </a:lnTo>
                  <a:lnTo>
                    <a:pt x="18288000" y="548640"/>
                  </a:lnTo>
                  <a:lnTo>
                    <a:pt x="0" y="548640"/>
                  </a:lnTo>
                  <a:close/>
                </a:path>
              </a:pathLst>
            </a:custGeom>
            <a:blipFill>
              <a:blip r:embed="rId3">
                <a:alphaModFix amt="0"/>
              </a:blip>
              <a:stretch>
                <a:fillRect l="0" t="-599501" r="0" b="-599501"/>
              </a:stretch>
            </a:blipFill>
          </p:spPr>
        </p:sp>
        <p:sp>
          <p:nvSpPr>
            <p:cNvPr name="TextBox 4" id="4"/>
            <p:cNvSpPr txBox="true"/>
            <p:nvPr/>
          </p:nvSpPr>
          <p:spPr>
            <a:xfrm>
              <a:off x="0" y="-38100"/>
              <a:ext cx="18288000" cy="586740"/>
            </a:xfrm>
            <a:prstGeom prst="rect">
              <a:avLst/>
            </a:prstGeom>
          </p:spPr>
          <p:txBody>
            <a:bodyPr anchor="ctr" rtlCol="false" tIns="0" lIns="0" bIns="0" rIns="0"/>
            <a:lstStyle/>
            <a:p>
              <a:pPr algn="l">
                <a:lnSpc>
                  <a:spcPts val="2160"/>
                </a:lnSpc>
              </a:pPr>
              <a:r>
                <a:rPr lang="en-US" b="true" sz="1800" spc="225">
                  <a:solidFill>
                    <a:srgbClr val="00B4D8"/>
                  </a:solidFill>
                  <a:latin typeface="Calibri (MS) Bold"/>
                  <a:ea typeface="Calibri (MS) Bold"/>
                  <a:cs typeface="Calibri (MS) Bold"/>
                  <a:sym typeface="Calibri (MS) Bold"/>
                </a:rPr>
                <a:t>CIA TRIAD SORT · SCENARIO</a:t>
              </a:r>
            </a:p>
          </p:txBody>
        </p:sp>
      </p:grpSp>
      <p:grpSp>
        <p:nvGrpSpPr>
          <p:cNvPr name="Group 5" id="5"/>
          <p:cNvGrpSpPr/>
          <p:nvPr/>
        </p:nvGrpSpPr>
        <p:grpSpPr>
          <a:xfrm rot="0">
            <a:off x="960120" y="1069848"/>
            <a:ext cx="10972800" cy="822960"/>
            <a:chOff x="0" y="0"/>
            <a:chExt cx="14630400" cy="1097280"/>
          </a:xfrm>
        </p:grpSpPr>
        <p:sp>
          <p:nvSpPr>
            <p:cNvPr name="Freeform 6" id="6"/>
            <p:cNvSpPr/>
            <p:nvPr/>
          </p:nvSpPr>
          <p:spPr>
            <a:xfrm flipH="false" flipV="false" rot="0">
              <a:off x="0" y="0"/>
              <a:ext cx="14630400" cy="1097280"/>
            </a:xfrm>
            <a:custGeom>
              <a:avLst/>
              <a:gdLst/>
              <a:ahLst/>
              <a:cxnLst/>
              <a:rect r="r" b="b" t="t" l="l"/>
              <a:pathLst>
                <a:path h="1097280" w="14630400">
                  <a:moveTo>
                    <a:pt x="0" y="0"/>
                  </a:moveTo>
                  <a:lnTo>
                    <a:pt x="14630400" y="0"/>
                  </a:lnTo>
                  <a:lnTo>
                    <a:pt x="14630400" y="1097280"/>
                  </a:lnTo>
                  <a:lnTo>
                    <a:pt x="0" y="1097280"/>
                  </a:lnTo>
                  <a:close/>
                </a:path>
              </a:pathLst>
            </a:custGeom>
            <a:blipFill>
              <a:blip r:embed="rId3">
                <a:alphaModFix amt="0"/>
              </a:blip>
              <a:stretch>
                <a:fillRect l="0" t="-209800" r="0" b="-209800"/>
              </a:stretch>
            </a:blipFill>
          </p:spPr>
        </p:sp>
        <p:sp>
          <p:nvSpPr>
            <p:cNvPr name="TextBox 7" id="7"/>
            <p:cNvSpPr txBox="true"/>
            <p:nvPr/>
          </p:nvSpPr>
          <p:spPr>
            <a:xfrm>
              <a:off x="0" y="0"/>
              <a:ext cx="14630400" cy="1097280"/>
            </a:xfrm>
            <a:prstGeom prst="rect">
              <a:avLst/>
            </a:prstGeom>
          </p:spPr>
          <p:txBody>
            <a:bodyPr anchor="ctr" rtlCol="false" tIns="0" lIns="0" bIns="0" rIns="0"/>
            <a:lstStyle/>
            <a:p>
              <a:pPr algn="l">
                <a:lnSpc>
                  <a:spcPts val="4680"/>
                </a:lnSpc>
              </a:pPr>
              <a:r>
                <a:rPr lang="en-US" sz="3900" b="true">
                  <a:solidFill>
                    <a:srgbClr val="1E2761"/>
                  </a:solidFill>
                  <a:latin typeface="Cambria Bold"/>
                  <a:ea typeface="Cambria Bold"/>
                  <a:cs typeface="Cambria Bold"/>
                  <a:sym typeface="Cambria Bold"/>
                </a:rPr>
                <a:t>Scenario 1</a:t>
              </a:r>
            </a:p>
          </p:txBody>
        </p:sp>
      </p:grpSp>
      <p:grpSp>
        <p:nvGrpSpPr>
          <p:cNvPr name="Group 8" id="8"/>
          <p:cNvGrpSpPr/>
          <p:nvPr/>
        </p:nvGrpSpPr>
        <p:grpSpPr>
          <a:xfrm rot="0">
            <a:off x="960120" y="1810512"/>
            <a:ext cx="8229600" cy="411480"/>
            <a:chOff x="0" y="0"/>
            <a:chExt cx="10972800" cy="548640"/>
          </a:xfrm>
        </p:grpSpPr>
        <p:sp>
          <p:nvSpPr>
            <p:cNvPr name="Freeform 9" id="9"/>
            <p:cNvSpPr/>
            <p:nvPr/>
          </p:nvSpPr>
          <p:spPr>
            <a:xfrm flipH="false" flipV="false" rot="0">
              <a:off x="0" y="0"/>
              <a:ext cx="10972800" cy="548640"/>
            </a:xfrm>
            <a:custGeom>
              <a:avLst/>
              <a:gdLst/>
              <a:ahLst/>
              <a:cxnLst/>
              <a:rect r="r" b="b" t="t" l="l"/>
              <a:pathLst>
                <a:path h="548640" w="10972800">
                  <a:moveTo>
                    <a:pt x="0" y="0"/>
                  </a:moveTo>
                  <a:lnTo>
                    <a:pt x="10972800" y="0"/>
                  </a:lnTo>
                  <a:lnTo>
                    <a:pt x="10972800" y="548640"/>
                  </a:lnTo>
                  <a:lnTo>
                    <a:pt x="0" y="548640"/>
                  </a:lnTo>
                  <a:close/>
                </a:path>
              </a:pathLst>
            </a:custGeom>
            <a:blipFill>
              <a:blip r:embed="rId3">
                <a:alphaModFix amt="0"/>
              </a:blip>
              <a:stretch>
                <a:fillRect l="0" t="-339700" r="0" b="-339700"/>
              </a:stretch>
            </a:blipFill>
          </p:spPr>
        </p:sp>
        <p:sp>
          <p:nvSpPr>
            <p:cNvPr name="TextBox 10" id="10"/>
            <p:cNvSpPr txBox="true"/>
            <p:nvPr/>
          </p:nvSpPr>
          <p:spPr>
            <a:xfrm>
              <a:off x="0" y="-28575"/>
              <a:ext cx="10972800" cy="577215"/>
            </a:xfrm>
            <a:prstGeom prst="rect">
              <a:avLst/>
            </a:prstGeom>
          </p:spPr>
          <p:txBody>
            <a:bodyPr anchor="ctr" rtlCol="false" tIns="0" lIns="0" bIns="0" rIns="0"/>
            <a:lstStyle/>
            <a:p>
              <a:pPr algn="l">
                <a:lnSpc>
                  <a:spcPts val="1980"/>
                </a:lnSpc>
              </a:pPr>
              <a:r>
                <a:rPr lang="en-US" sz="1650">
                  <a:solidFill>
                    <a:srgbClr val="6B7280"/>
                  </a:solidFill>
                  <a:latin typeface="Calibri (MS)"/>
                  <a:ea typeface="Calibri (MS)"/>
                  <a:cs typeface="Calibri (MS)"/>
                  <a:sym typeface="Calibri (MS)"/>
                </a:rPr>
                <a:t>1 of 12</a:t>
              </a:r>
            </a:p>
          </p:txBody>
        </p:sp>
      </p:grpSp>
      <p:grpSp>
        <p:nvGrpSpPr>
          <p:cNvPr name="Group 11" id="11"/>
          <p:cNvGrpSpPr/>
          <p:nvPr/>
        </p:nvGrpSpPr>
        <p:grpSpPr>
          <a:xfrm rot="0">
            <a:off x="960120" y="2537460"/>
            <a:ext cx="16322040" cy="2811780"/>
            <a:chOff x="0" y="0"/>
            <a:chExt cx="21762720" cy="3749040"/>
          </a:xfrm>
        </p:grpSpPr>
        <p:sp>
          <p:nvSpPr>
            <p:cNvPr name="Freeform 12" id="12"/>
            <p:cNvSpPr/>
            <p:nvPr/>
          </p:nvSpPr>
          <p:spPr>
            <a:xfrm flipH="false" flipV="false" rot="0">
              <a:off x="0" y="0"/>
              <a:ext cx="21762720" cy="3749040"/>
            </a:xfrm>
            <a:custGeom>
              <a:avLst/>
              <a:gdLst/>
              <a:ahLst/>
              <a:cxnLst/>
              <a:rect r="r" b="b" t="t" l="l"/>
              <a:pathLst>
                <a:path h="3749040" w="21762720">
                  <a:moveTo>
                    <a:pt x="0" y="182880"/>
                  </a:moveTo>
                  <a:cubicBezTo>
                    <a:pt x="0" y="81915"/>
                    <a:pt x="81915" y="0"/>
                    <a:pt x="182880" y="0"/>
                  </a:cubicBezTo>
                  <a:lnTo>
                    <a:pt x="21579839" y="0"/>
                  </a:lnTo>
                  <a:cubicBezTo>
                    <a:pt x="21680804" y="0"/>
                    <a:pt x="21762720" y="81915"/>
                    <a:pt x="21762720" y="182880"/>
                  </a:cubicBezTo>
                  <a:lnTo>
                    <a:pt x="21762720" y="3566160"/>
                  </a:lnTo>
                  <a:cubicBezTo>
                    <a:pt x="21762720" y="3667125"/>
                    <a:pt x="21680804" y="3749040"/>
                    <a:pt x="21579839" y="3749040"/>
                  </a:cubicBezTo>
                  <a:lnTo>
                    <a:pt x="182880" y="3749040"/>
                  </a:lnTo>
                  <a:cubicBezTo>
                    <a:pt x="81915" y="3749040"/>
                    <a:pt x="0" y="3667125"/>
                    <a:pt x="0" y="3566160"/>
                  </a:cubicBezTo>
                  <a:close/>
                </a:path>
              </a:pathLst>
            </a:custGeom>
            <a:solidFill>
              <a:srgbClr val="F4F7FC"/>
            </a:solidFill>
          </p:spPr>
        </p:sp>
      </p:grpSp>
      <p:grpSp>
        <p:nvGrpSpPr>
          <p:cNvPr name="Group 13" id="13"/>
          <p:cNvGrpSpPr/>
          <p:nvPr/>
        </p:nvGrpSpPr>
        <p:grpSpPr>
          <a:xfrm rot="0">
            <a:off x="1440180" y="2811780"/>
            <a:ext cx="15361920" cy="2263140"/>
            <a:chOff x="0" y="0"/>
            <a:chExt cx="20482560" cy="3017520"/>
          </a:xfrm>
        </p:grpSpPr>
        <p:sp>
          <p:nvSpPr>
            <p:cNvPr name="Freeform 14" id="14"/>
            <p:cNvSpPr/>
            <p:nvPr/>
          </p:nvSpPr>
          <p:spPr>
            <a:xfrm flipH="false" flipV="false" rot="0">
              <a:off x="0" y="0"/>
              <a:ext cx="20482561" cy="3017520"/>
            </a:xfrm>
            <a:custGeom>
              <a:avLst/>
              <a:gdLst/>
              <a:ahLst/>
              <a:cxnLst/>
              <a:rect r="r" b="b" t="t" l="l"/>
              <a:pathLst>
                <a:path h="3017520" w="20482561">
                  <a:moveTo>
                    <a:pt x="0" y="0"/>
                  </a:moveTo>
                  <a:lnTo>
                    <a:pt x="20482561" y="0"/>
                  </a:lnTo>
                  <a:lnTo>
                    <a:pt x="20482561" y="3017520"/>
                  </a:lnTo>
                  <a:lnTo>
                    <a:pt x="0" y="3017520"/>
                  </a:lnTo>
                  <a:close/>
                </a:path>
              </a:pathLst>
            </a:custGeom>
            <a:blipFill>
              <a:blip r:embed="rId3">
                <a:alphaModFix amt="0"/>
              </a:blip>
              <a:stretch>
                <a:fillRect l="0" t="-82262" r="0" b="-82262"/>
              </a:stretch>
            </a:blipFill>
          </p:spPr>
        </p:sp>
        <p:sp>
          <p:nvSpPr>
            <p:cNvPr name="TextBox 15" id="15"/>
            <p:cNvSpPr txBox="true"/>
            <p:nvPr/>
          </p:nvSpPr>
          <p:spPr>
            <a:xfrm>
              <a:off x="0" y="-104775"/>
              <a:ext cx="20482560" cy="3122295"/>
            </a:xfrm>
            <a:prstGeom prst="rect">
              <a:avLst/>
            </a:prstGeom>
          </p:spPr>
          <p:txBody>
            <a:bodyPr anchor="ctr" rtlCol="false" tIns="0" lIns="0" bIns="0" rIns="0"/>
            <a:lstStyle/>
            <a:p>
              <a:pPr algn="l">
                <a:lnSpc>
                  <a:spcPts val="4147"/>
                </a:lnSpc>
              </a:pPr>
              <a:r>
                <a:rPr lang="en-US" sz="2700" i="true">
                  <a:solidFill>
                    <a:srgbClr val="23262F"/>
                  </a:solidFill>
                  <a:latin typeface="Cambria Italics"/>
                  <a:ea typeface="Cambria Italics"/>
                  <a:cs typeface="Cambria Italics"/>
                  <a:sym typeface="Cambria Italics"/>
                </a:rPr>
                <a:t>“A staff member accidentally emails a spreadsheet of residents' PhilHealth numbers and home addresses to the wrong department's mailing list.”</a:t>
              </a:r>
            </a:p>
          </p:txBody>
        </p:sp>
      </p:grpSp>
      <p:sp>
        <p:nvSpPr>
          <p:cNvPr name="TextBox 16" id="16"/>
          <p:cNvSpPr txBox="true"/>
          <p:nvPr/>
        </p:nvSpPr>
        <p:spPr>
          <a:xfrm rot="0">
            <a:off x="1051560" y="5604510"/>
            <a:ext cx="16139160" cy="1276350"/>
          </a:xfrm>
          <a:prstGeom prst="rect">
            <a:avLst/>
          </a:prstGeom>
        </p:spPr>
        <p:txBody>
          <a:bodyPr anchor="t" rtlCol="false" tIns="0" lIns="0" bIns="0" rIns="0">
            <a:spAutoFit/>
          </a:bodyPr>
          <a:lstStyle/>
          <a:p>
            <a:pPr algn="ctr">
              <a:lnSpc>
                <a:spcPts val="3402"/>
              </a:lnSpc>
            </a:pPr>
            <a:r>
              <a:rPr lang="en-US" sz="2100" i="true">
                <a:solidFill>
                  <a:srgbClr val="6B7280"/>
                </a:solidFill>
                <a:latin typeface="Calibri (MS) Italics"/>
                <a:ea typeface="Calibri (MS) Italics"/>
                <a:cs typeface="Calibri (MS) Italics"/>
                <a:sym typeface="Calibri (MS) Italics"/>
              </a:rPr>
              <a:t>Which does this break — Confidentiality, Integrity, or Availability?</a:t>
            </a:r>
          </a:p>
          <a:p>
            <a:pPr algn="ctr">
              <a:lnSpc>
                <a:spcPts val="3402"/>
              </a:lnSpc>
            </a:pPr>
            <a:r>
              <a:rPr lang="en-US" sz="2100" i="true">
                <a:solidFill>
                  <a:srgbClr val="6B7280"/>
                </a:solidFill>
                <a:latin typeface="Calibri (MS) Italics"/>
                <a:ea typeface="Calibri (MS) Italics"/>
                <a:cs typeface="Calibri (MS) Italics"/>
                <a:sym typeface="Calibri (MS) Italics"/>
              </a:rPr>
              <a:t>Some break more than one. Discuss, then we'll reveal the answer.</a:t>
            </a:r>
          </a:p>
        </p:txBody>
      </p:sp>
      <p:grpSp>
        <p:nvGrpSpPr>
          <p:cNvPr name="Group 17" id="17"/>
          <p:cNvGrpSpPr/>
          <p:nvPr/>
        </p:nvGrpSpPr>
        <p:grpSpPr>
          <a:xfrm rot="0">
            <a:off x="950595" y="7191375"/>
            <a:ext cx="5162550" cy="910590"/>
            <a:chOff x="0" y="0"/>
            <a:chExt cx="6883400" cy="1214120"/>
          </a:xfrm>
        </p:grpSpPr>
        <p:sp>
          <p:nvSpPr>
            <p:cNvPr name="Freeform 18" id="18"/>
            <p:cNvSpPr/>
            <p:nvPr/>
          </p:nvSpPr>
          <p:spPr>
            <a:xfrm flipH="false" flipV="false" rot="0">
              <a:off x="0" y="0"/>
              <a:ext cx="6883400" cy="1214120"/>
            </a:xfrm>
            <a:custGeom>
              <a:avLst/>
              <a:gdLst/>
              <a:ahLst/>
              <a:cxnLst/>
              <a:rect r="r" b="b" t="t" l="l"/>
              <a:pathLst>
                <a:path h="1214120" w="6883400">
                  <a:moveTo>
                    <a:pt x="0" y="168148"/>
                  </a:moveTo>
                  <a:cubicBezTo>
                    <a:pt x="0" y="75311"/>
                    <a:pt x="75311" y="0"/>
                    <a:pt x="168148" y="0"/>
                  </a:cubicBezTo>
                  <a:lnTo>
                    <a:pt x="6715252" y="0"/>
                  </a:lnTo>
                  <a:cubicBezTo>
                    <a:pt x="6808089" y="0"/>
                    <a:pt x="6883400" y="75311"/>
                    <a:pt x="6883400" y="168148"/>
                  </a:cubicBezTo>
                  <a:lnTo>
                    <a:pt x="6883400" y="1045972"/>
                  </a:lnTo>
                  <a:cubicBezTo>
                    <a:pt x="6883400" y="1138809"/>
                    <a:pt x="6808089" y="1214120"/>
                    <a:pt x="6715252" y="1214120"/>
                  </a:cubicBezTo>
                  <a:lnTo>
                    <a:pt x="168148" y="1214120"/>
                  </a:lnTo>
                  <a:cubicBezTo>
                    <a:pt x="75311" y="1214120"/>
                    <a:pt x="0" y="1138809"/>
                    <a:pt x="0" y="1045972"/>
                  </a:cubicBezTo>
                  <a:close/>
                </a:path>
              </a:pathLst>
            </a:custGeom>
            <a:solidFill>
              <a:srgbClr val="F4F7FC"/>
            </a:solidFill>
            <a:ln w="19050" cap="sq">
              <a:solidFill>
                <a:srgbClr val="D7DCEC"/>
              </a:solidFill>
              <a:prstDash val="solid"/>
              <a:miter/>
            </a:ln>
          </p:spPr>
        </p:sp>
      </p:grpSp>
      <p:grpSp>
        <p:nvGrpSpPr>
          <p:cNvPr name="Group 19" id="19"/>
          <p:cNvGrpSpPr/>
          <p:nvPr/>
        </p:nvGrpSpPr>
        <p:grpSpPr>
          <a:xfrm rot="0">
            <a:off x="960120" y="7200900"/>
            <a:ext cx="5143500" cy="891540"/>
            <a:chOff x="0" y="0"/>
            <a:chExt cx="6858000" cy="1188720"/>
          </a:xfrm>
        </p:grpSpPr>
        <p:sp>
          <p:nvSpPr>
            <p:cNvPr name="Freeform 20" id="20"/>
            <p:cNvSpPr/>
            <p:nvPr/>
          </p:nvSpPr>
          <p:spPr>
            <a:xfrm flipH="false" flipV="false" rot="0">
              <a:off x="0" y="0"/>
              <a:ext cx="6858000" cy="1188720"/>
            </a:xfrm>
            <a:custGeom>
              <a:avLst/>
              <a:gdLst/>
              <a:ahLst/>
              <a:cxnLst/>
              <a:rect r="r" b="b" t="t" l="l"/>
              <a:pathLst>
                <a:path h="1188720" w="6858000">
                  <a:moveTo>
                    <a:pt x="0" y="0"/>
                  </a:moveTo>
                  <a:lnTo>
                    <a:pt x="6858000" y="0"/>
                  </a:lnTo>
                  <a:lnTo>
                    <a:pt x="6858000" y="1188720"/>
                  </a:lnTo>
                  <a:lnTo>
                    <a:pt x="0" y="1188720"/>
                  </a:lnTo>
                  <a:close/>
                </a:path>
              </a:pathLst>
            </a:custGeom>
            <a:blipFill>
              <a:blip r:embed="rId3">
                <a:alphaModFix amt="0"/>
              </a:blip>
              <a:stretch>
                <a:fillRect l="0" t="-62413" r="0" b="-62413"/>
              </a:stretch>
            </a:blipFill>
          </p:spPr>
        </p:sp>
        <p:sp>
          <p:nvSpPr>
            <p:cNvPr name="TextBox 21" id="21"/>
            <p:cNvSpPr txBox="true"/>
            <p:nvPr/>
          </p:nvSpPr>
          <p:spPr>
            <a:xfrm>
              <a:off x="0" y="-47625"/>
              <a:ext cx="6858000" cy="1236345"/>
            </a:xfrm>
            <a:prstGeom prst="rect">
              <a:avLst/>
            </a:prstGeom>
          </p:spPr>
          <p:txBody>
            <a:bodyPr anchor="ctr" rtlCol="false" tIns="0" lIns="0" bIns="0" rIns="0"/>
            <a:lstStyle/>
            <a:p>
              <a:pPr algn="ctr">
                <a:lnSpc>
                  <a:spcPts val="2520"/>
                </a:lnSpc>
              </a:pPr>
              <a:r>
                <a:rPr lang="en-US" sz="2100">
                  <a:solidFill>
                    <a:srgbClr val="6B7280"/>
                  </a:solidFill>
                  <a:latin typeface="Calibri (MS)"/>
                  <a:ea typeface="Calibri (MS)"/>
                  <a:cs typeface="Calibri (MS)"/>
                  <a:sym typeface="Calibri (MS)"/>
                </a:rPr>
                <a:t>Confidentiality</a:t>
              </a:r>
            </a:p>
          </p:txBody>
        </p:sp>
      </p:grpSp>
      <p:grpSp>
        <p:nvGrpSpPr>
          <p:cNvPr name="Group 22" id="22"/>
          <p:cNvGrpSpPr/>
          <p:nvPr/>
        </p:nvGrpSpPr>
        <p:grpSpPr>
          <a:xfrm rot="0">
            <a:off x="6533007" y="7191375"/>
            <a:ext cx="5162550" cy="910590"/>
            <a:chOff x="0" y="0"/>
            <a:chExt cx="6883400" cy="1214120"/>
          </a:xfrm>
        </p:grpSpPr>
        <p:sp>
          <p:nvSpPr>
            <p:cNvPr name="Freeform 23" id="23"/>
            <p:cNvSpPr/>
            <p:nvPr/>
          </p:nvSpPr>
          <p:spPr>
            <a:xfrm flipH="false" flipV="false" rot="0">
              <a:off x="0" y="0"/>
              <a:ext cx="6883400" cy="1214120"/>
            </a:xfrm>
            <a:custGeom>
              <a:avLst/>
              <a:gdLst/>
              <a:ahLst/>
              <a:cxnLst/>
              <a:rect r="r" b="b" t="t" l="l"/>
              <a:pathLst>
                <a:path h="1214120" w="6883400">
                  <a:moveTo>
                    <a:pt x="0" y="168148"/>
                  </a:moveTo>
                  <a:cubicBezTo>
                    <a:pt x="0" y="75311"/>
                    <a:pt x="75311" y="0"/>
                    <a:pt x="168148" y="0"/>
                  </a:cubicBezTo>
                  <a:lnTo>
                    <a:pt x="6715252" y="0"/>
                  </a:lnTo>
                  <a:cubicBezTo>
                    <a:pt x="6808089" y="0"/>
                    <a:pt x="6883400" y="75311"/>
                    <a:pt x="6883400" y="168148"/>
                  </a:cubicBezTo>
                  <a:lnTo>
                    <a:pt x="6883400" y="1045972"/>
                  </a:lnTo>
                  <a:cubicBezTo>
                    <a:pt x="6883400" y="1138809"/>
                    <a:pt x="6808089" y="1214120"/>
                    <a:pt x="6715252" y="1214120"/>
                  </a:cubicBezTo>
                  <a:lnTo>
                    <a:pt x="168148" y="1214120"/>
                  </a:lnTo>
                  <a:cubicBezTo>
                    <a:pt x="75311" y="1214120"/>
                    <a:pt x="0" y="1138809"/>
                    <a:pt x="0" y="1045972"/>
                  </a:cubicBezTo>
                  <a:close/>
                </a:path>
              </a:pathLst>
            </a:custGeom>
            <a:solidFill>
              <a:srgbClr val="F4F7FC"/>
            </a:solidFill>
            <a:ln w="19050" cap="sq">
              <a:solidFill>
                <a:srgbClr val="D7DCEC"/>
              </a:solidFill>
              <a:prstDash val="solid"/>
              <a:miter/>
            </a:ln>
          </p:spPr>
        </p:sp>
      </p:grpSp>
      <p:grpSp>
        <p:nvGrpSpPr>
          <p:cNvPr name="Group 24" id="24"/>
          <p:cNvGrpSpPr/>
          <p:nvPr/>
        </p:nvGrpSpPr>
        <p:grpSpPr>
          <a:xfrm rot="0">
            <a:off x="6542532" y="7200900"/>
            <a:ext cx="5143500" cy="891540"/>
            <a:chOff x="0" y="0"/>
            <a:chExt cx="6858000" cy="1188720"/>
          </a:xfrm>
        </p:grpSpPr>
        <p:sp>
          <p:nvSpPr>
            <p:cNvPr name="Freeform 25" id="25"/>
            <p:cNvSpPr/>
            <p:nvPr/>
          </p:nvSpPr>
          <p:spPr>
            <a:xfrm flipH="false" flipV="false" rot="0">
              <a:off x="0" y="0"/>
              <a:ext cx="6858000" cy="1188720"/>
            </a:xfrm>
            <a:custGeom>
              <a:avLst/>
              <a:gdLst/>
              <a:ahLst/>
              <a:cxnLst/>
              <a:rect r="r" b="b" t="t" l="l"/>
              <a:pathLst>
                <a:path h="1188720" w="6858000">
                  <a:moveTo>
                    <a:pt x="0" y="0"/>
                  </a:moveTo>
                  <a:lnTo>
                    <a:pt x="6858000" y="0"/>
                  </a:lnTo>
                  <a:lnTo>
                    <a:pt x="6858000" y="1188720"/>
                  </a:lnTo>
                  <a:lnTo>
                    <a:pt x="0" y="1188720"/>
                  </a:lnTo>
                  <a:close/>
                </a:path>
              </a:pathLst>
            </a:custGeom>
            <a:blipFill>
              <a:blip r:embed="rId3">
                <a:alphaModFix amt="0"/>
              </a:blip>
              <a:stretch>
                <a:fillRect l="0" t="-62413" r="0" b="-62413"/>
              </a:stretch>
            </a:blipFill>
          </p:spPr>
        </p:sp>
        <p:sp>
          <p:nvSpPr>
            <p:cNvPr name="TextBox 26" id="26"/>
            <p:cNvSpPr txBox="true"/>
            <p:nvPr/>
          </p:nvSpPr>
          <p:spPr>
            <a:xfrm>
              <a:off x="0" y="-47625"/>
              <a:ext cx="6858000" cy="1236345"/>
            </a:xfrm>
            <a:prstGeom prst="rect">
              <a:avLst/>
            </a:prstGeom>
          </p:spPr>
          <p:txBody>
            <a:bodyPr anchor="ctr" rtlCol="false" tIns="0" lIns="0" bIns="0" rIns="0"/>
            <a:lstStyle/>
            <a:p>
              <a:pPr algn="ctr">
                <a:lnSpc>
                  <a:spcPts val="2520"/>
                </a:lnSpc>
              </a:pPr>
              <a:r>
                <a:rPr lang="en-US" sz="2100">
                  <a:solidFill>
                    <a:srgbClr val="6B7280"/>
                  </a:solidFill>
                  <a:latin typeface="Calibri (MS)"/>
                  <a:ea typeface="Calibri (MS)"/>
                  <a:cs typeface="Calibri (MS)"/>
                  <a:sym typeface="Calibri (MS)"/>
                </a:rPr>
                <a:t>Integrity</a:t>
              </a:r>
            </a:p>
          </p:txBody>
        </p:sp>
      </p:grpSp>
      <p:grpSp>
        <p:nvGrpSpPr>
          <p:cNvPr name="Group 27" id="27"/>
          <p:cNvGrpSpPr/>
          <p:nvPr/>
        </p:nvGrpSpPr>
        <p:grpSpPr>
          <a:xfrm rot="0">
            <a:off x="12115419" y="7191375"/>
            <a:ext cx="5162550" cy="910590"/>
            <a:chOff x="0" y="0"/>
            <a:chExt cx="6883400" cy="1214120"/>
          </a:xfrm>
        </p:grpSpPr>
        <p:sp>
          <p:nvSpPr>
            <p:cNvPr name="Freeform 28" id="28"/>
            <p:cNvSpPr/>
            <p:nvPr/>
          </p:nvSpPr>
          <p:spPr>
            <a:xfrm flipH="false" flipV="false" rot="0">
              <a:off x="0" y="0"/>
              <a:ext cx="6883400" cy="1214120"/>
            </a:xfrm>
            <a:custGeom>
              <a:avLst/>
              <a:gdLst/>
              <a:ahLst/>
              <a:cxnLst/>
              <a:rect r="r" b="b" t="t" l="l"/>
              <a:pathLst>
                <a:path h="1214120" w="6883400">
                  <a:moveTo>
                    <a:pt x="0" y="168148"/>
                  </a:moveTo>
                  <a:cubicBezTo>
                    <a:pt x="0" y="75311"/>
                    <a:pt x="75311" y="0"/>
                    <a:pt x="168148" y="0"/>
                  </a:cubicBezTo>
                  <a:lnTo>
                    <a:pt x="6715252" y="0"/>
                  </a:lnTo>
                  <a:cubicBezTo>
                    <a:pt x="6808089" y="0"/>
                    <a:pt x="6883400" y="75311"/>
                    <a:pt x="6883400" y="168148"/>
                  </a:cubicBezTo>
                  <a:lnTo>
                    <a:pt x="6883400" y="1045972"/>
                  </a:lnTo>
                  <a:cubicBezTo>
                    <a:pt x="6883400" y="1138809"/>
                    <a:pt x="6808089" y="1214120"/>
                    <a:pt x="6715252" y="1214120"/>
                  </a:cubicBezTo>
                  <a:lnTo>
                    <a:pt x="168148" y="1214120"/>
                  </a:lnTo>
                  <a:cubicBezTo>
                    <a:pt x="75311" y="1214120"/>
                    <a:pt x="0" y="1138809"/>
                    <a:pt x="0" y="1045972"/>
                  </a:cubicBezTo>
                  <a:close/>
                </a:path>
              </a:pathLst>
            </a:custGeom>
            <a:solidFill>
              <a:srgbClr val="F4F7FC"/>
            </a:solidFill>
            <a:ln w="19050" cap="sq">
              <a:solidFill>
                <a:srgbClr val="D7DCEC"/>
              </a:solidFill>
              <a:prstDash val="solid"/>
              <a:miter/>
            </a:ln>
          </p:spPr>
        </p:sp>
      </p:grpSp>
      <p:grpSp>
        <p:nvGrpSpPr>
          <p:cNvPr name="Group 29" id="29"/>
          <p:cNvGrpSpPr/>
          <p:nvPr/>
        </p:nvGrpSpPr>
        <p:grpSpPr>
          <a:xfrm rot="0">
            <a:off x="12124944" y="7200900"/>
            <a:ext cx="5143500" cy="891540"/>
            <a:chOff x="0" y="0"/>
            <a:chExt cx="6858000" cy="1188720"/>
          </a:xfrm>
        </p:grpSpPr>
        <p:sp>
          <p:nvSpPr>
            <p:cNvPr name="Freeform 30" id="30"/>
            <p:cNvSpPr/>
            <p:nvPr/>
          </p:nvSpPr>
          <p:spPr>
            <a:xfrm flipH="false" flipV="false" rot="0">
              <a:off x="0" y="0"/>
              <a:ext cx="6858000" cy="1188720"/>
            </a:xfrm>
            <a:custGeom>
              <a:avLst/>
              <a:gdLst/>
              <a:ahLst/>
              <a:cxnLst/>
              <a:rect r="r" b="b" t="t" l="l"/>
              <a:pathLst>
                <a:path h="1188720" w="6858000">
                  <a:moveTo>
                    <a:pt x="0" y="0"/>
                  </a:moveTo>
                  <a:lnTo>
                    <a:pt x="6858000" y="0"/>
                  </a:lnTo>
                  <a:lnTo>
                    <a:pt x="6858000" y="1188720"/>
                  </a:lnTo>
                  <a:lnTo>
                    <a:pt x="0" y="1188720"/>
                  </a:lnTo>
                  <a:close/>
                </a:path>
              </a:pathLst>
            </a:custGeom>
            <a:blipFill>
              <a:blip r:embed="rId3">
                <a:alphaModFix amt="0"/>
              </a:blip>
              <a:stretch>
                <a:fillRect l="0" t="-62413" r="0" b="-62413"/>
              </a:stretch>
            </a:blipFill>
          </p:spPr>
        </p:sp>
        <p:sp>
          <p:nvSpPr>
            <p:cNvPr name="TextBox 31" id="31"/>
            <p:cNvSpPr txBox="true"/>
            <p:nvPr/>
          </p:nvSpPr>
          <p:spPr>
            <a:xfrm>
              <a:off x="0" y="-47625"/>
              <a:ext cx="6858000" cy="1236345"/>
            </a:xfrm>
            <a:prstGeom prst="rect">
              <a:avLst/>
            </a:prstGeom>
          </p:spPr>
          <p:txBody>
            <a:bodyPr anchor="ctr" rtlCol="false" tIns="0" lIns="0" bIns="0" rIns="0"/>
            <a:lstStyle/>
            <a:p>
              <a:pPr algn="ctr">
                <a:lnSpc>
                  <a:spcPts val="2520"/>
                </a:lnSpc>
              </a:pPr>
              <a:r>
                <a:rPr lang="en-US" sz="2100">
                  <a:solidFill>
                    <a:srgbClr val="6B7280"/>
                  </a:solidFill>
                  <a:latin typeface="Calibri (MS)"/>
                  <a:ea typeface="Calibri (MS)"/>
                  <a:cs typeface="Calibri (MS)"/>
                  <a:sym typeface="Calibri (MS)"/>
                </a:rPr>
                <a:t>Availability</a:t>
              </a:r>
            </a:p>
          </p:txBody>
        </p:sp>
      </p:grpSp>
      <p:grpSp>
        <p:nvGrpSpPr>
          <p:cNvPr name="Group 32" id="32"/>
          <p:cNvGrpSpPr/>
          <p:nvPr/>
        </p:nvGrpSpPr>
        <p:grpSpPr>
          <a:xfrm rot="0">
            <a:off x="685800" y="9710928"/>
            <a:ext cx="10972800" cy="411480"/>
            <a:chOff x="0" y="0"/>
            <a:chExt cx="14630400" cy="548640"/>
          </a:xfrm>
        </p:grpSpPr>
        <p:sp>
          <p:nvSpPr>
            <p:cNvPr name="Freeform 33" id="33"/>
            <p:cNvSpPr/>
            <p:nvPr/>
          </p:nvSpPr>
          <p:spPr>
            <a:xfrm flipH="false" flipV="false" rot="0">
              <a:off x="0" y="0"/>
              <a:ext cx="14630400" cy="548640"/>
            </a:xfrm>
            <a:custGeom>
              <a:avLst/>
              <a:gdLst/>
              <a:ahLst/>
              <a:cxnLst/>
              <a:rect r="r" b="b" t="t" l="l"/>
              <a:pathLst>
                <a:path h="548640" w="14630400">
                  <a:moveTo>
                    <a:pt x="0" y="0"/>
                  </a:moveTo>
                  <a:lnTo>
                    <a:pt x="14630400" y="0"/>
                  </a:lnTo>
                  <a:lnTo>
                    <a:pt x="14630400" y="548640"/>
                  </a:lnTo>
                  <a:lnTo>
                    <a:pt x="0" y="548640"/>
                  </a:lnTo>
                  <a:close/>
                </a:path>
              </a:pathLst>
            </a:custGeom>
            <a:blipFill>
              <a:blip r:embed="rId3">
                <a:alphaModFix amt="0"/>
              </a:blip>
              <a:stretch>
                <a:fillRect l="0" t="-469601" r="0" b="-469601"/>
              </a:stretch>
            </a:blipFill>
          </p:spPr>
        </p:sp>
        <p:sp>
          <p:nvSpPr>
            <p:cNvPr name="TextBox 34" id="34"/>
            <p:cNvSpPr txBox="true"/>
            <p:nvPr/>
          </p:nvSpPr>
          <p:spPr>
            <a:xfrm>
              <a:off x="0" y="-38100"/>
              <a:ext cx="14630400" cy="586740"/>
            </a:xfrm>
            <a:prstGeom prst="rect">
              <a:avLst/>
            </a:prstGeom>
          </p:spPr>
          <p:txBody>
            <a:bodyPr anchor="ctr" rtlCol="false" tIns="0" lIns="0" bIns="0" rIns="0"/>
            <a:lstStyle/>
            <a:p>
              <a:pPr algn="l">
                <a:lnSpc>
                  <a:spcPts val="1800"/>
                </a:lnSpc>
              </a:pPr>
              <a:r>
                <a:rPr lang="en-US" sz="1500">
                  <a:solidFill>
                    <a:srgbClr val="6B7280"/>
                  </a:solidFill>
                  <a:latin typeface="Calibri (MS)"/>
                  <a:ea typeface="Calibri (MS)"/>
                  <a:cs typeface="Calibri (MS)"/>
                  <a:sym typeface="Calibri (MS)"/>
                </a:rPr>
                <a:t>Davao del Norte Provincial Government — Cybersecurity Seminar</a:t>
              </a:r>
            </a:p>
          </p:txBody>
        </p:sp>
      </p:grpSp>
      <p:grpSp>
        <p:nvGrpSpPr>
          <p:cNvPr name="Group 35" id="35"/>
          <p:cNvGrpSpPr/>
          <p:nvPr/>
        </p:nvGrpSpPr>
        <p:grpSpPr>
          <a:xfrm rot="0">
            <a:off x="16911828" y="9710928"/>
            <a:ext cx="685800" cy="411480"/>
            <a:chOff x="0" y="0"/>
            <a:chExt cx="914400" cy="548640"/>
          </a:xfrm>
        </p:grpSpPr>
        <p:sp>
          <p:nvSpPr>
            <p:cNvPr name="Freeform 36" id="36"/>
            <p:cNvSpPr/>
            <p:nvPr/>
          </p:nvSpPr>
          <p:spPr>
            <a:xfrm flipH="false" flipV="false" rot="0">
              <a:off x="0" y="0"/>
              <a:ext cx="914400" cy="548640"/>
            </a:xfrm>
            <a:custGeom>
              <a:avLst/>
              <a:gdLst/>
              <a:ahLst/>
              <a:cxnLst/>
              <a:rect r="r" b="b" t="t" l="l"/>
              <a:pathLst>
                <a:path h="548640" w="914400">
                  <a:moveTo>
                    <a:pt x="0" y="0"/>
                  </a:moveTo>
                  <a:lnTo>
                    <a:pt x="914400" y="0"/>
                  </a:lnTo>
                  <a:lnTo>
                    <a:pt x="914400" y="548640"/>
                  </a:lnTo>
                  <a:lnTo>
                    <a:pt x="0" y="548640"/>
                  </a:lnTo>
                  <a:close/>
                </a:path>
              </a:pathLst>
            </a:custGeom>
            <a:blipFill>
              <a:blip r:embed="rId3">
                <a:alphaModFix amt="0"/>
              </a:blip>
              <a:stretch>
                <a:fillRect l="-26982" t="0" r="-26982" b="0"/>
              </a:stretch>
            </a:blipFill>
          </p:spPr>
        </p:sp>
        <p:sp>
          <p:nvSpPr>
            <p:cNvPr name="TextBox 37" id="37"/>
            <p:cNvSpPr txBox="true"/>
            <p:nvPr/>
          </p:nvSpPr>
          <p:spPr>
            <a:xfrm>
              <a:off x="0" y="-38100"/>
              <a:ext cx="914400" cy="586740"/>
            </a:xfrm>
            <a:prstGeom prst="rect">
              <a:avLst/>
            </a:prstGeom>
          </p:spPr>
          <p:txBody>
            <a:bodyPr anchor="ctr" rtlCol="false" tIns="0" lIns="0" bIns="0" rIns="0"/>
            <a:lstStyle/>
            <a:p>
              <a:pPr algn="r">
                <a:lnSpc>
                  <a:spcPts val="1800"/>
                </a:lnSpc>
              </a:pPr>
              <a:r>
                <a:rPr lang="en-US" sz="1500">
                  <a:solidFill>
                    <a:srgbClr val="6B7280"/>
                  </a:solidFill>
                  <a:latin typeface="Calibri (MS)"/>
                  <a:ea typeface="Calibri (MS)"/>
                  <a:cs typeface="Calibri (MS)"/>
                  <a:sym typeface="Calibri (MS)"/>
                </a:rPr>
                <a:t>39</a:t>
              </a:r>
            </a:p>
          </p:txBody>
        </p:sp>
      </p:grpSp>
    </p:spTree>
  </p:cSld>
  <p:clrMapOvr>
    <a:masterClrMapping/>
  </p:clrMapOvr>
</p:sld>
</file>

<file path=ppt/slides/slide4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60120" y="685800"/>
            <a:ext cx="13716000" cy="411480"/>
            <a:chOff x="0" y="0"/>
            <a:chExt cx="18288000" cy="548640"/>
          </a:xfrm>
        </p:grpSpPr>
        <p:sp>
          <p:nvSpPr>
            <p:cNvPr name="Freeform 3" id="3"/>
            <p:cNvSpPr/>
            <p:nvPr/>
          </p:nvSpPr>
          <p:spPr>
            <a:xfrm flipH="false" flipV="false" rot="0">
              <a:off x="0" y="0"/>
              <a:ext cx="18288000" cy="548640"/>
            </a:xfrm>
            <a:custGeom>
              <a:avLst/>
              <a:gdLst/>
              <a:ahLst/>
              <a:cxnLst/>
              <a:rect r="r" b="b" t="t" l="l"/>
              <a:pathLst>
                <a:path h="548640" w="18288000">
                  <a:moveTo>
                    <a:pt x="0" y="0"/>
                  </a:moveTo>
                  <a:lnTo>
                    <a:pt x="18288000" y="0"/>
                  </a:lnTo>
                  <a:lnTo>
                    <a:pt x="18288000" y="548640"/>
                  </a:lnTo>
                  <a:lnTo>
                    <a:pt x="0" y="548640"/>
                  </a:lnTo>
                  <a:close/>
                </a:path>
              </a:pathLst>
            </a:custGeom>
            <a:blipFill>
              <a:blip r:embed="rId3">
                <a:alphaModFix amt="0"/>
              </a:blip>
              <a:stretch>
                <a:fillRect l="0" t="-599501" r="0" b="-599501"/>
              </a:stretch>
            </a:blipFill>
          </p:spPr>
        </p:sp>
        <p:sp>
          <p:nvSpPr>
            <p:cNvPr name="TextBox 4" id="4"/>
            <p:cNvSpPr txBox="true"/>
            <p:nvPr/>
          </p:nvSpPr>
          <p:spPr>
            <a:xfrm>
              <a:off x="0" y="-38100"/>
              <a:ext cx="18288000" cy="586740"/>
            </a:xfrm>
            <a:prstGeom prst="rect">
              <a:avLst/>
            </a:prstGeom>
          </p:spPr>
          <p:txBody>
            <a:bodyPr anchor="ctr" rtlCol="false" tIns="0" lIns="0" bIns="0" rIns="0"/>
            <a:lstStyle/>
            <a:p>
              <a:pPr algn="l">
                <a:lnSpc>
                  <a:spcPts val="2160"/>
                </a:lnSpc>
              </a:pPr>
              <a:r>
                <a:rPr lang="en-US" b="true" sz="1800" spc="225">
                  <a:solidFill>
                    <a:srgbClr val="00B4D8"/>
                  </a:solidFill>
                  <a:latin typeface="Calibri (MS) Bold"/>
                  <a:ea typeface="Calibri (MS) Bold"/>
                  <a:cs typeface="Calibri (MS) Bold"/>
                  <a:sym typeface="Calibri (MS) Bold"/>
                </a:rPr>
                <a:t>CIA TRIAD SORT · ANSWER</a:t>
              </a:r>
            </a:p>
          </p:txBody>
        </p:sp>
      </p:grpSp>
      <p:grpSp>
        <p:nvGrpSpPr>
          <p:cNvPr name="Group 5" id="5"/>
          <p:cNvGrpSpPr/>
          <p:nvPr/>
        </p:nvGrpSpPr>
        <p:grpSpPr>
          <a:xfrm rot="0">
            <a:off x="960120" y="1069848"/>
            <a:ext cx="10972800" cy="822960"/>
            <a:chOff x="0" y="0"/>
            <a:chExt cx="14630400" cy="1097280"/>
          </a:xfrm>
        </p:grpSpPr>
        <p:sp>
          <p:nvSpPr>
            <p:cNvPr name="Freeform 6" id="6"/>
            <p:cNvSpPr/>
            <p:nvPr/>
          </p:nvSpPr>
          <p:spPr>
            <a:xfrm flipH="false" flipV="false" rot="0">
              <a:off x="0" y="0"/>
              <a:ext cx="14630400" cy="1097280"/>
            </a:xfrm>
            <a:custGeom>
              <a:avLst/>
              <a:gdLst/>
              <a:ahLst/>
              <a:cxnLst/>
              <a:rect r="r" b="b" t="t" l="l"/>
              <a:pathLst>
                <a:path h="1097280" w="14630400">
                  <a:moveTo>
                    <a:pt x="0" y="0"/>
                  </a:moveTo>
                  <a:lnTo>
                    <a:pt x="14630400" y="0"/>
                  </a:lnTo>
                  <a:lnTo>
                    <a:pt x="14630400" y="1097280"/>
                  </a:lnTo>
                  <a:lnTo>
                    <a:pt x="0" y="1097280"/>
                  </a:lnTo>
                  <a:close/>
                </a:path>
              </a:pathLst>
            </a:custGeom>
            <a:blipFill>
              <a:blip r:embed="rId3">
                <a:alphaModFix amt="0"/>
              </a:blip>
              <a:stretch>
                <a:fillRect l="0" t="-209800" r="0" b="-209800"/>
              </a:stretch>
            </a:blipFill>
          </p:spPr>
        </p:sp>
        <p:sp>
          <p:nvSpPr>
            <p:cNvPr name="TextBox 7" id="7"/>
            <p:cNvSpPr txBox="true"/>
            <p:nvPr/>
          </p:nvSpPr>
          <p:spPr>
            <a:xfrm>
              <a:off x="0" y="0"/>
              <a:ext cx="14630400" cy="1097280"/>
            </a:xfrm>
            <a:prstGeom prst="rect">
              <a:avLst/>
            </a:prstGeom>
          </p:spPr>
          <p:txBody>
            <a:bodyPr anchor="ctr" rtlCol="false" tIns="0" lIns="0" bIns="0" rIns="0"/>
            <a:lstStyle/>
            <a:p>
              <a:pPr algn="l">
                <a:lnSpc>
                  <a:spcPts val="4680"/>
                </a:lnSpc>
              </a:pPr>
              <a:r>
                <a:rPr lang="en-US" sz="3900" b="true">
                  <a:solidFill>
                    <a:srgbClr val="1E2761"/>
                  </a:solidFill>
                  <a:latin typeface="Cambria Bold"/>
                  <a:ea typeface="Cambria Bold"/>
                  <a:cs typeface="Cambria Bold"/>
                  <a:sym typeface="Cambria Bold"/>
                </a:rPr>
                <a:t>Scenario 1 — Answer</a:t>
              </a:r>
            </a:p>
          </p:txBody>
        </p:sp>
      </p:grpSp>
      <p:grpSp>
        <p:nvGrpSpPr>
          <p:cNvPr name="Group 8" id="8"/>
          <p:cNvGrpSpPr/>
          <p:nvPr/>
        </p:nvGrpSpPr>
        <p:grpSpPr>
          <a:xfrm rot="0">
            <a:off x="960120" y="1810512"/>
            <a:ext cx="8229600" cy="411480"/>
            <a:chOff x="0" y="0"/>
            <a:chExt cx="10972800" cy="548640"/>
          </a:xfrm>
        </p:grpSpPr>
        <p:sp>
          <p:nvSpPr>
            <p:cNvPr name="Freeform 9" id="9"/>
            <p:cNvSpPr/>
            <p:nvPr/>
          </p:nvSpPr>
          <p:spPr>
            <a:xfrm flipH="false" flipV="false" rot="0">
              <a:off x="0" y="0"/>
              <a:ext cx="10972800" cy="548640"/>
            </a:xfrm>
            <a:custGeom>
              <a:avLst/>
              <a:gdLst/>
              <a:ahLst/>
              <a:cxnLst/>
              <a:rect r="r" b="b" t="t" l="l"/>
              <a:pathLst>
                <a:path h="548640" w="10972800">
                  <a:moveTo>
                    <a:pt x="0" y="0"/>
                  </a:moveTo>
                  <a:lnTo>
                    <a:pt x="10972800" y="0"/>
                  </a:lnTo>
                  <a:lnTo>
                    <a:pt x="10972800" y="548640"/>
                  </a:lnTo>
                  <a:lnTo>
                    <a:pt x="0" y="548640"/>
                  </a:lnTo>
                  <a:close/>
                </a:path>
              </a:pathLst>
            </a:custGeom>
            <a:blipFill>
              <a:blip r:embed="rId3">
                <a:alphaModFix amt="0"/>
              </a:blip>
              <a:stretch>
                <a:fillRect l="0" t="-339700" r="0" b="-339700"/>
              </a:stretch>
            </a:blipFill>
          </p:spPr>
        </p:sp>
        <p:sp>
          <p:nvSpPr>
            <p:cNvPr name="TextBox 10" id="10"/>
            <p:cNvSpPr txBox="true"/>
            <p:nvPr/>
          </p:nvSpPr>
          <p:spPr>
            <a:xfrm>
              <a:off x="0" y="-28575"/>
              <a:ext cx="10972800" cy="577215"/>
            </a:xfrm>
            <a:prstGeom prst="rect">
              <a:avLst/>
            </a:prstGeom>
          </p:spPr>
          <p:txBody>
            <a:bodyPr anchor="ctr" rtlCol="false" tIns="0" lIns="0" bIns="0" rIns="0"/>
            <a:lstStyle/>
            <a:p>
              <a:pPr algn="l">
                <a:lnSpc>
                  <a:spcPts val="1980"/>
                </a:lnSpc>
              </a:pPr>
              <a:r>
                <a:rPr lang="en-US" sz="1650">
                  <a:solidFill>
                    <a:srgbClr val="6B7280"/>
                  </a:solidFill>
                  <a:latin typeface="Calibri (MS)"/>
                  <a:ea typeface="Calibri (MS)"/>
                  <a:cs typeface="Calibri (MS)"/>
                  <a:sym typeface="Calibri (MS)"/>
                </a:rPr>
                <a:t>1 of 12</a:t>
              </a:r>
            </a:p>
          </p:txBody>
        </p:sp>
      </p:grpSp>
      <p:grpSp>
        <p:nvGrpSpPr>
          <p:cNvPr name="Group 11" id="11"/>
          <p:cNvGrpSpPr/>
          <p:nvPr/>
        </p:nvGrpSpPr>
        <p:grpSpPr>
          <a:xfrm rot="0">
            <a:off x="960120" y="2537460"/>
            <a:ext cx="16322040" cy="2400300"/>
            <a:chOff x="0" y="0"/>
            <a:chExt cx="21762720" cy="3200400"/>
          </a:xfrm>
        </p:grpSpPr>
        <p:sp>
          <p:nvSpPr>
            <p:cNvPr name="Freeform 12" id="12"/>
            <p:cNvSpPr/>
            <p:nvPr/>
          </p:nvSpPr>
          <p:spPr>
            <a:xfrm flipH="false" flipV="false" rot="0">
              <a:off x="0" y="0"/>
              <a:ext cx="21762720" cy="3200400"/>
            </a:xfrm>
            <a:custGeom>
              <a:avLst/>
              <a:gdLst/>
              <a:ahLst/>
              <a:cxnLst/>
              <a:rect r="r" b="b" t="t" l="l"/>
              <a:pathLst>
                <a:path h="3200400" w="21762720">
                  <a:moveTo>
                    <a:pt x="0" y="182880"/>
                  </a:moveTo>
                  <a:cubicBezTo>
                    <a:pt x="0" y="81915"/>
                    <a:pt x="81915" y="0"/>
                    <a:pt x="182880" y="0"/>
                  </a:cubicBezTo>
                  <a:lnTo>
                    <a:pt x="21579839" y="0"/>
                  </a:lnTo>
                  <a:cubicBezTo>
                    <a:pt x="21680804" y="0"/>
                    <a:pt x="21762720" y="81915"/>
                    <a:pt x="21762720" y="182880"/>
                  </a:cubicBezTo>
                  <a:lnTo>
                    <a:pt x="21762720" y="3017520"/>
                  </a:lnTo>
                  <a:cubicBezTo>
                    <a:pt x="21762720" y="3118485"/>
                    <a:pt x="21680804" y="3200400"/>
                    <a:pt x="21579839" y="3200400"/>
                  </a:cubicBezTo>
                  <a:lnTo>
                    <a:pt x="182880" y="3200400"/>
                  </a:lnTo>
                  <a:cubicBezTo>
                    <a:pt x="81915" y="3200400"/>
                    <a:pt x="0" y="3118485"/>
                    <a:pt x="0" y="3017520"/>
                  </a:cubicBezTo>
                  <a:close/>
                </a:path>
              </a:pathLst>
            </a:custGeom>
            <a:solidFill>
              <a:srgbClr val="F4F7FC"/>
            </a:solidFill>
          </p:spPr>
        </p:sp>
      </p:grpSp>
      <p:grpSp>
        <p:nvGrpSpPr>
          <p:cNvPr name="Group 13" id="13"/>
          <p:cNvGrpSpPr/>
          <p:nvPr/>
        </p:nvGrpSpPr>
        <p:grpSpPr>
          <a:xfrm rot="0">
            <a:off x="1440180" y="2811780"/>
            <a:ext cx="15361920" cy="1851660"/>
            <a:chOff x="0" y="0"/>
            <a:chExt cx="20482560" cy="2468880"/>
          </a:xfrm>
        </p:grpSpPr>
        <p:sp>
          <p:nvSpPr>
            <p:cNvPr name="Freeform 14" id="14"/>
            <p:cNvSpPr/>
            <p:nvPr/>
          </p:nvSpPr>
          <p:spPr>
            <a:xfrm flipH="false" flipV="false" rot="0">
              <a:off x="0" y="0"/>
              <a:ext cx="20482561" cy="2468880"/>
            </a:xfrm>
            <a:custGeom>
              <a:avLst/>
              <a:gdLst/>
              <a:ahLst/>
              <a:cxnLst/>
              <a:rect r="r" b="b" t="t" l="l"/>
              <a:pathLst>
                <a:path h="2468880" w="20482561">
                  <a:moveTo>
                    <a:pt x="0" y="0"/>
                  </a:moveTo>
                  <a:lnTo>
                    <a:pt x="20482561" y="0"/>
                  </a:lnTo>
                  <a:lnTo>
                    <a:pt x="20482561" y="2468880"/>
                  </a:lnTo>
                  <a:lnTo>
                    <a:pt x="0" y="2468880"/>
                  </a:lnTo>
                  <a:close/>
                </a:path>
              </a:pathLst>
            </a:custGeom>
            <a:blipFill>
              <a:blip r:embed="rId3">
                <a:alphaModFix amt="0"/>
              </a:blip>
              <a:stretch>
                <a:fillRect l="0" t="-111653" r="0" b="-111653"/>
              </a:stretch>
            </a:blipFill>
          </p:spPr>
        </p:sp>
        <p:sp>
          <p:nvSpPr>
            <p:cNvPr name="TextBox 15" id="15"/>
            <p:cNvSpPr txBox="true"/>
            <p:nvPr/>
          </p:nvSpPr>
          <p:spPr>
            <a:xfrm>
              <a:off x="0" y="-95250"/>
              <a:ext cx="20482560" cy="2564130"/>
            </a:xfrm>
            <a:prstGeom prst="rect">
              <a:avLst/>
            </a:prstGeom>
          </p:spPr>
          <p:txBody>
            <a:bodyPr anchor="ctr" rtlCol="false" tIns="0" lIns="0" bIns="0" rIns="0"/>
            <a:lstStyle/>
            <a:p>
              <a:pPr algn="l">
                <a:lnSpc>
                  <a:spcPts val="3916"/>
                </a:lnSpc>
              </a:pPr>
              <a:r>
                <a:rPr lang="en-US" sz="2550" i="true">
                  <a:solidFill>
                    <a:srgbClr val="23262F"/>
                  </a:solidFill>
                  <a:latin typeface="Cambria Italics"/>
                  <a:ea typeface="Cambria Italics"/>
                  <a:cs typeface="Cambria Italics"/>
                  <a:sym typeface="Cambria Italics"/>
                </a:rPr>
                <a:t>“A staff member accidentally emails a spreadsheet of residents' PhilHealth numbers and home addresses to the wrong department's mailing list.”</a:t>
              </a:r>
            </a:p>
          </p:txBody>
        </p:sp>
      </p:grpSp>
      <p:grpSp>
        <p:nvGrpSpPr>
          <p:cNvPr name="Group 16" id="16"/>
          <p:cNvGrpSpPr/>
          <p:nvPr/>
        </p:nvGrpSpPr>
        <p:grpSpPr>
          <a:xfrm rot="0">
            <a:off x="950595" y="5408295"/>
            <a:ext cx="5162550" cy="910590"/>
            <a:chOff x="0" y="0"/>
            <a:chExt cx="6883400" cy="1214120"/>
          </a:xfrm>
        </p:grpSpPr>
        <p:sp>
          <p:nvSpPr>
            <p:cNvPr name="Freeform 17" id="17"/>
            <p:cNvSpPr/>
            <p:nvPr/>
          </p:nvSpPr>
          <p:spPr>
            <a:xfrm flipH="false" flipV="false" rot="0">
              <a:off x="0" y="0"/>
              <a:ext cx="6883400" cy="1214120"/>
            </a:xfrm>
            <a:custGeom>
              <a:avLst/>
              <a:gdLst/>
              <a:ahLst/>
              <a:cxnLst/>
              <a:rect r="r" b="b" t="t" l="l"/>
              <a:pathLst>
                <a:path h="1214120" w="6883400">
                  <a:moveTo>
                    <a:pt x="0" y="168148"/>
                  </a:moveTo>
                  <a:cubicBezTo>
                    <a:pt x="0" y="75311"/>
                    <a:pt x="75311" y="0"/>
                    <a:pt x="168148" y="0"/>
                  </a:cubicBezTo>
                  <a:lnTo>
                    <a:pt x="6715252" y="0"/>
                  </a:lnTo>
                  <a:cubicBezTo>
                    <a:pt x="6808089" y="0"/>
                    <a:pt x="6883400" y="75311"/>
                    <a:pt x="6883400" y="168148"/>
                  </a:cubicBezTo>
                  <a:lnTo>
                    <a:pt x="6883400" y="1045972"/>
                  </a:lnTo>
                  <a:cubicBezTo>
                    <a:pt x="6883400" y="1138809"/>
                    <a:pt x="6808089" y="1214120"/>
                    <a:pt x="6715252" y="1214120"/>
                  </a:cubicBezTo>
                  <a:lnTo>
                    <a:pt x="168148" y="1214120"/>
                  </a:lnTo>
                  <a:cubicBezTo>
                    <a:pt x="75311" y="1214120"/>
                    <a:pt x="0" y="1138809"/>
                    <a:pt x="0" y="1045972"/>
                  </a:cubicBezTo>
                  <a:close/>
                </a:path>
              </a:pathLst>
            </a:custGeom>
            <a:solidFill>
              <a:srgbClr val="6C4FD1"/>
            </a:solidFill>
            <a:ln w="19050" cap="sq">
              <a:solidFill>
                <a:srgbClr val="6C4FD1"/>
              </a:solidFill>
              <a:prstDash val="solid"/>
              <a:miter/>
            </a:ln>
          </p:spPr>
        </p:sp>
      </p:grpSp>
      <p:grpSp>
        <p:nvGrpSpPr>
          <p:cNvPr name="Group 18" id="18"/>
          <p:cNvGrpSpPr/>
          <p:nvPr/>
        </p:nvGrpSpPr>
        <p:grpSpPr>
          <a:xfrm rot="0">
            <a:off x="960120" y="5417820"/>
            <a:ext cx="5143500" cy="891540"/>
            <a:chOff x="0" y="0"/>
            <a:chExt cx="6858000" cy="1188720"/>
          </a:xfrm>
        </p:grpSpPr>
        <p:sp>
          <p:nvSpPr>
            <p:cNvPr name="Freeform 19" id="19"/>
            <p:cNvSpPr/>
            <p:nvPr/>
          </p:nvSpPr>
          <p:spPr>
            <a:xfrm flipH="false" flipV="false" rot="0">
              <a:off x="0" y="0"/>
              <a:ext cx="6858000" cy="1188720"/>
            </a:xfrm>
            <a:custGeom>
              <a:avLst/>
              <a:gdLst/>
              <a:ahLst/>
              <a:cxnLst/>
              <a:rect r="r" b="b" t="t" l="l"/>
              <a:pathLst>
                <a:path h="1188720" w="6858000">
                  <a:moveTo>
                    <a:pt x="0" y="0"/>
                  </a:moveTo>
                  <a:lnTo>
                    <a:pt x="6858000" y="0"/>
                  </a:lnTo>
                  <a:lnTo>
                    <a:pt x="6858000" y="1188720"/>
                  </a:lnTo>
                  <a:lnTo>
                    <a:pt x="0" y="1188720"/>
                  </a:lnTo>
                  <a:close/>
                </a:path>
              </a:pathLst>
            </a:custGeom>
            <a:blipFill>
              <a:blip r:embed="rId3">
                <a:alphaModFix amt="0"/>
              </a:blip>
              <a:stretch>
                <a:fillRect l="0" t="-62413" r="0" b="-62413"/>
              </a:stretch>
            </a:blipFill>
          </p:spPr>
        </p:sp>
        <p:sp>
          <p:nvSpPr>
            <p:cNvPr name="TextBox 20" id="20"/>
            <p:cNvSpPr txBox="true"/>
            <p:nvPr/>
          </p:nvSpPr>
          <p:spPr>
            <a:xfrm>
              <a:off x="0" y="-47625"/>
              <a:ext cx="6858000" cy="1236345"/>
            </a:xfrm>
            <a:prstGeom prst="rect">
              <a:avLst/>
            </a:prstGeom>
          </p:spPr>
          <p:txBody>
            <a:bodyPr anchor="ctr" rtlCol="false" tIns="0" lIns="0" bIns="0" rIns="0"/>
            <a:lstStyle/>
            <a:p>
              <a:pPr algn="ctr">
                <a:lnSpc>
                  <a:spcPts val="2520"/>
                </a:lnSpc>
              </a:pPr>
              <a:r>
                <a:rPr lang="en-US" sz="2100" b="true">
                  <a:solidFill>
                    <a:srgbClr val="FFFFFF"/>
                  </a:solidFill>
                  <a:latin typeface="Calibri (MS) Bold"/>
                  <a:ea typeface="Calibri (MS) Bold"/>
                  <a:cs typeface="Calibri (MS) Bold"/>
                  <a:sym typeface="Calibri (MS) Bold"/>
                </a:rPr>
                <a:t>✓  Confidentiality</a:t>
              </a:r>
            </a:p>
          </p:txBody>
        </p:sp>
      </p:grpSp>
      <p:grpSp>
        <p:nvGrpSpPr>
          <p:cNvPr name="Group 21" id="21"/>
          <p:cNvGrpSpPr/>
          <p:nvPr/>
        </p:nvGrpSpPr>
        <p:grpSpPr>
          <a:xfrm rot="0">
            <a:off x="6533007" y="5408295"/>
            <a:ext cx="5162550" cy="910590"/>
            <a:chOff x="0" y="0"/>
            <a:chExt cx="6883400" cy="1214120"/>
          </a:xfrm>
        </p:grpSpPr>
        <p:sp>
          <p:nvSpPr>
            <p:cNvPr name="Freeform 22" id="22"/>
            <p:cNvSpPr/>
            <p:nvPr/>
          </p:nvSpPr>
          <p:spPr>
            <a:xfrm flipH="false" flipV="false" rot="0">
              <a:off x="0" y="0"/>
              <a:ext cx="6883400" cy="1214120"/>
            </a:xfrm>
            <a:custGeom>
              <a:avLst/>
              <a:gdLst/>
              <a:ahLst/>
              <a:cxnLst/>
              <a:rect r="r" b="b" t="t" l="l"/>
              <a:pathLst>
                <a:path h="1214120" w="6883400">
                  <a:moveTo>
                    <a:pt x="0" y="168148"/>
                  </a:moveTo>
                  <a:cubicBezTo>
                    <a:pt x="0" y="75311"/>
                    <a:pt x="75311" y="0"/>
                    <a:pt x="168148" y="0"/>
                  </a:cubicBezTo>
                  <a:lnTo>
                    <a:pt x="6715252" y="0"/>
                  </a:lnTo>
                  <a:cubicBezTo>
                    <a:pt x="6808089" y="0"/>
                    <a:pt x="6883400" y="75311"/>
                    <a:pt x="6883400" y="168148"/>
                  </a:cubicBezTo>
                  <a:lnTo>
                    <a:pt x="6883400" y="1045972"/>
                  </a:lnTo>
                  <a:cubicBezTo>
                    <a:pt x="6883400" y="1138809"/>
                    <a:pt x="6808089" y="1214120"/>
                    <a:pt x="6715252" y="1214120"/>
                  </a:cubicBezTo>
                  <a:lnTo>
                    <a:pt x="168148" y="1214120"/>
                  </a:lnTo>
                  <a:cubicBezTo>
                    <a:pt x="75311" y="1214120"/>
                    <a:pt x="0" y="1138809"/>
                    <a:pt x="0" y="1045972"/>
                  </a:cubicBezTo>
                  <a:close/>
                </a:path>
              </a:pathLst>
            </a:custGeom>
            <a:solidFill>
              <a:srgbClr val="F4F7FC"/>
            </a:solidFill>
            <a:ln w="19050" cap="sq">
              <a:solidFill>
                <a:srgbClr val="D7DCEC"/>
              </a:solidFill>
              <a:prstDash val="solid"/>
              <a:miter/>
            </a:ln>
          </p:spPr>
        </p:sp>
      </p:grpSp>
      <p:grpSp>
        <p:nvGrpSpPr>
          <p:cNvPr name="Group 23" id="23"/>
          <p:cNvGrpSpPr/>
          <p:nvPr/>
        </p:nvGrpSpPr>
        <p:grpSpPr>
          <a:xfrm rot="0">
            <a:off x="6542532" y="5417820"/>
            <a:ext cx="5143500" cy="891540"/>
            <a:chOff x="0" y="0"/>
            <a:chExt cx="6858000" cy="1188720"/>
          </a:xfrm>
        </p:grpSpPr>
        <p:sp>
          <p:nvSpPr>
            <p:cNvPr name="Freeform 24" id="24"/>
            <p:cNvSpPr/>
            <p:nvPr/>
          </p:nvSpPr>
          <p:spPr>
            <a:xfrm flipH="false" flipV="false" rot="0">
              <a:off x="0" y="0"/>
              <a:ext cx="6858000" cy="1188720"/>
            </a:xfrm>
            <a:custGeom>
              <a:avLst/>
              <a:gdLst/>
              <a:ahLst/>
              <a:cxnLst/>
              <a:rect r="r" b="b" t="t" l="l"/>
              <a:pathLst>
                <a:path h="1188720" w="6858000">
                  <a:moveTo>
                    <a:pt x="0" y="0"/>
                  </a:moveTo>
                  <a:lnTo>
                    <a:pt x="6858000" y="0"/>
                  </a:lnTo>
                  <a:lnTo>
                    <a:pt x="6858000" y="1188720"/>
                  </a:lnTo>
                  <a:lnTo>
                    <a:pt x="0" y="1188720"/>
                  </a:lnTo>
                  <a:close/>
                </a:path>
              </a:pathLst>
            </a:custGeom>
            <a:blipFill>
              <a:blip r:embed="rId3">
                <a:alphaModFix amt="0"/>
              </a:blip>
              <a:stretch>
                <a:fillRect l="0" t="-62413" r="0" b="-62413"/>
              </a:stretch>
            </a:blipFill>
          </p:spPr>
        </p:sp>
        <p:sp>
          <p:nvSpPr>
            <p:cNvPr name="TextBox 25" id="25"/>
            <p:cNvSpPr txBox="true"/>
            <p:nvPr/>
          </p:nvSpPr>
          <p:spPr>
            <a:xfrm>
              <a:off x="0" y="-47625"/>
              <a:ext cx="6858000" cy="1236345"/>
            </a:xfrm>
            <a:prstGeom prst="rect">
              <a:avLst/>
            </a:prstGeom>
          </p:spPr>
          <p:txBody>
            <a:bodyPr anchor="ctr" rtlCol="false" tIns="0" lIns="0" bIns="0" rIns="0"/>
            <a:lstStyle/>
            <a:p>
              <a:pPr algn="ctr">
                <a:lnSpc>
                  <a:spcPts val="2520"/>
                </a:lnSpc>
              </a:pPr>
              <a:r>
                <a:rPr lang="en-US" sz="2100">
                  <a:solidFill>
                    <a:srgbClr val="6B7280"/>
                  </a:solidFill>
                  <a:latin typeface="Calibri (MS)"/>
                  <a:ea typeface="Calibri (MS)"/>
                  <a:cs typeface="Calibri (MS)"/>
                  <a:sym typeface="Calibri (MS)"/>
                </a:rPr>
                <a:t>Integrity</a:t>
              </a:r>
            </a:p>
          </p:txBody>
        </p:sp>
      </p:grpSp>
      <p:grpSp>
        <p:nvGrpSpPr>
          <p:cNvPr name="Group 26" id="26"/>
          <p:cNvGrpSpPr/>
          <p:nvPr/>
        </p:nvGrpSpPr>
        <p:grpSpPr>
          <a:xfrm rot="0">
            <a:off x="12115419" y="5408295"/>
            <a:ext cx="5162550" cy="910590"/>
            <a:chOff x="0" y="0"/>
            <a:chExt cx="6883400" cy="1214120"/>
          </a:xfrm>
        </p:grpSpPr>
        <p:sp>
          <p:nvSpPr>
            <p:cNvPr name="Freeform 27" id="27"/>
            <p:cNvSpPr/>
            <p:nvPr/>
          </p:nvSpPr>
          <p:spPr>
            <a:xfrm flipH="false" flipV="false" rot="0">
              <a:off x="0" y="0"/>
              <a:ext cx="6883400" cy="1214120"/>
            </a:xfrm>
            <a:custGeom>
              <a:avLst/>
              <a:gdLst/>
              <a:ahLst/>
              <a:cxnLst/>
              <a:rect r="r" b="b" t="t" l="l"/>
              <a:pathLst>
                <a:path h="1214120" w="6883400">
                  <a:moveTo>
                    <a:pt x="0" y="168148"/>
                  </a:moveTo>
                  <a:cubicBezTo>
                    <a:pt x="0" y="75311"/>
                    <a:pt x="75311" y="0"/>
                    <a:pt x="168148" y="0"/>
                  </a:cubicBezTo>
                  <a:lnTo>
                    <a:pt x="6715252" y="0"/>
                  </a:lnTo>
                  <a:cubicBezTo>
                    <a:pt x="6808089" y="0"/>
                    <a:pt x="6883400" y="75311"/>
                    <a:pt x="6883400" y="168148"/>
                  </a:cubicBezTo>
                  <a:lnTo>
                    <a:pt x="6883400" y="1045972"/>
                  </a:lnTo>
                  <a:cubicBezTo>
                    <a:pt x="6883400" y="1138809"/>
                    <a:pt x="6808089" y="1214120"/>
                    <a:pt x="6715252" y="1214120"/>
                  </a:cubicBezTo>
                  <a:lnTo>
                    <a:pt x="168148" y="1214120"/>
                  </a:lnTo>
                  <a:cubicBezTo>
                    <a:pt x="75311" y="1214120"/>
                    <a:pt x="0" y="1138809"/>
                    <a:pt x="0" y="1045972"/>
                  </a:cubicBezTo>
                  <a:close/>
                </a:path>
              </a:pathLst>
            </a:custGeom>
            <a:solidFill>
              <a:srgbClr val="F4F7FC"/>
            </a:solidFill>
            <a:ln w="19050" cap="sq">
              <a:solidFill>
                <a:srgbClr val="D7DCEC"/>
              </a:solidFill>
              <a:prstDash val="solid"/>
              <a:miter/>
            </a:ln>
          </p:spPr>
        </p:sp>
      </p:grpSp>
      <p:grpSp>
        <p:nvGrpSpPr>
          <p:cNvPr name="Group 28" id="28"/>
          <p:cNvGrpSpPr/>
          <p:nvPr/>
        </p:nvGrpSpPr>
        <p:grpSpPr>
          <a:xfrm rot="0">
            <a:off x="12124944" y="5417820"/>
            <a:ext cx="5143500" cy="891540"/>
            <a:chOff x="0" y="0"/>
            <a:chExt cx="6858000" cy="1188720"/>
          </a:xfrm>
        </p:grpSpPr>
        <p:sp>
          <p:nvSpPr>
            <p:cNvPr name="Freeform 29" id="29"/>
            <p:cNvSpPr/>
            <p:nvPr/>
          </p:nvSpPr>
          <p:spPr>
            <a:xfrm flipH="false" flipV="false" rot="0">
              <a:off x="0" y="0"/>
              <a:ext cx="6858000" cy="1188720"/>
            </a:xfrm>
            <a:custGeom>
              <a:avLst/>
              <a:gdLst/>
              <a:ahLst/>
              <a:cxnLst/>
              <a:rect r="r" b="b" t="t" l="l"/>
              <a:pathLst>
                <a:path h="1188720" w="6858000">
                  <a:moveTo>
                    <a:pt x="0" y="0"/>
                  </a:moveTo>
                  <a:lnTo>
                    <a:pt x="6858000" y="0"/>
                  </a:lnTo>
                  <a:lnTo>
                    <a:pt x="6858000" y="1188720"/>
                  </a:lnTo>
                  <a:lnTo>
                    <a:pt x="0" y="1188720"/>
                  </a:lnTo>
                  <a:close/>
                </a:path>
              </a:pathLst>
            </a:custGeom>
            <a:blipFill>
              <a:blip r:embed="rId3">
                <a:alphaModFix amt="0"/>
              </a:blip>
              <a:stretch>
                <a:fillRect l="0" t="-62413" r="0" b="-62413"/>
              </a:stretch>
            </a:blipFill>
          </p:spPr>
        </p:sp>
        <p:sp>
          <p:nvSpPr>
            <p:cNvPr name="TextBox 30" id="30"/>
            <p:cNvSpPr txBox="true"/>
            <p:nvPr/>
          </p:nvSpPr>
          <p:spPr>
            <a:xfrm>
              <a:off x="0" y="-47625"/>
              <a:ext cx="6858000" cy="1236345"/>
            </a:xfrm>
            <a:prstGeom prst="rect">
              <a:avLst/>
            </a:prstGeom>
          </p:spPr>
          <p:txBody>
            <a:bodyPr anchor="ctr" rtlCol="false" tIns="0" lIns="0" bIns="0" rIns="0"/>
            <a:lstStyle/>
            <a:p>
              <a:pPr algn="ctr">
                <a:lnSpc>
                  <a:spcPts val="2520"/>
                </a:lnSpc>
              </a:pPr>
              <a:r>
                <a:rPr lang="en-US" sz="2100">
                  <a:solidFill>
                    <a:srgbClr val="6B7280"/>
                  </a:solidFill>
                  <a:latin typeface="Calibri (MS)"/>
                  <a:ea typeface="Calibri (MS)"/>
                  <a:cs typeface="Calibri (MS)"/>
                  <a:sym typeface="Calibri (MS)"/>
                </a:rPr>
                <a:t>Availability</a:t>
              </a:r>
            </a:p>
          </p:txBody>
        </p:sp>
      </p:grpSp>
      <p:grpSp>
        <p:nvGrpSpPr>
          <p:cNvPr name="Group 31" id="31"/>
          <p:cNvGrpSpPr/>
          <p:nvPr/>
        </p:nvGrpSpPr>
        <p:grpSpPr>
          <a:xfrm rot="0">
            <a:off x="950595" y="6779895"/>
            <a:ext cx="16341090" cy="2145030"/>
            <a:chOff x="0" y="0"/>
            <a:chExt cx="21788120" cy="2860040"/>
          </a:xfrm>
        </p:grpSpPr>
        <p:sp>
          <p:nvSpPr>
            <p:cNvPr name="Freeform 32" id="32"/>
            <p:cNvSpPr/>
            <p:nvPr/>
          </p:nvSpPr>
          <p:spPr>
            <a:xfrm flipH="false" flipV="false" rot="0">
              <a:off x="0" y="0"/>
              <a:ext cx="21788120" cy="2860040"/>
            </a:xfrm>
            <a:custGeom>
              <a:avLst/>
              <a:gdLst/>
              <a:ahLst/>
              <a:cxnLst/>
              <a:rect r="r" b="b" t="t" l="l"/>
              <a:pathLst>
                <a:path h="2860040" w="21788120">
                  <a:moveTo>
                    <a:pt x="0" y="184531"/>
                  </a:moveTo>
                  <a:cubicBezTo>
                    <a:pt x="0" y="82677"/>
                    <a:pt x="82677" y="0"/>
                    <a:pt x="184531" y="0"/>
                  </a:cubicBezTo>
                  <a:lnTo>
                    <a:pt x="21603588" y="0"/>
                  </a:lnTo>
                  <a:cubicBezTo>
                    <a:pt x="21705443" y="0"/>
                    <a:pt x="21788120" y="82677"/>
                    <a:pt x="21788120" y="184531"/>
                  </a:cubicBezTo>
                  <a:lnTo>
                    <a:pt x="21788120" y="2675509"/>
                  </a:lnTo>
                  <a:cubicBezTo>
                    <a:pt x="21788120" y="2777363"/>
                    <a:pt x="21705443" y="2860040"/>
                    <a:pt x="21603588" y="2860040"/>
                  </a:cubicBezTo>
                  <a:lnTo>
                    <a:pt x="184531" y="2860040"/>
                  </a:lnTo>
                  <a:cubicBezTo>
                    <a:pt x="82677" y="2860040"/>
                    <a:pt x="0" y="2777363"/>
                    <a:pt x="0" y="2675509"/>
                  </a:cubicBezTo>
                  <a:close/>
                </a:path>
              </a:pathLst>
            </a:custGeom>
            <a:solidFill>
              <a:srgbClr val="FBF9F4"/>
            </a:solidFill>
            <a:ln w="19050" cap="sq">
              <a:solidFill>
                <a:srgbClr val="EFE6D2"/>
              </a:solidFill>
              <a:prstDash val="solid"/>
              <a:miter/>
            </a:ln>
          </p:spPr>
        </p:sp>
      </p:grpSp>
      <p:sp>
        <p:nvSpPr>
          <p:cNvPr name="TextBox 33" id="33"/>
          <p:cNvSpPr txBox="true"/>
          <p:nvPr/>
        </p:nvSpPr>
        <p:spPr>
          <a:xfrm rot="0">
            <a:off x="1463040" y="6977253"/>
            <a:ext cx="15316200" cy="1659255"/>
          </a:xfrm>
          <a:prstGeom prst="rect">
            <a:avLst/>
          </a:prstGeom>
        </p:spPr>
        <p:txBody>
          <a:bodyPr anchor="t" rtlCol="false" tIns="0" lIns="0" bIns="0" rIns="0">
            <a:spAutoFit/>
          </a:bodyPr>
          <a:lstStyle/>
          <a:p>
            <a:pPr algn="l">
              <a:lnSpc>
                <a:spcPts val="3159"/>
              </a:lnSpc>
            </a:pPr>
            <a:r>
              <a:rPr lang="en-US" sz="2025">
                <a:solidFill>
                  <a:srgbClr val="23262F"/>
                </a:solidFill>
                <a:latin typeface="Calibri (MS)"/>
                <a:ea typeface="Calibri (MS)"/>
                <a:cs typeface="Calibri (MS)"/>
                <a:sym typeface="Calibri (MS)"/>
              </a:rPr>
              <a:t>The data itself wasn't changed or knocked offline — it just reached people who shouldn't have seen it. That's a Confidentiality failure.</a:t>
            </a:r>
          </a:p>
        </p:txBody>
      </p:sp>
      <p:grpSp>
        <p:nvGrpSpPr>
          <p:cNvPr name="Group 34" id="34"/>
          <p:cNvGrpSpPr/>
          <p:nvPr/>
        </p:nvGrpSpPr>
        <p:grpSpPr>
          <a:xfrm rot="0">
            <a:off x="685800" y="9710928"/>
            <a:ext cx="10972800" cy="411480"/>
            <a:chOff x="0" y="0"/>
            <a:chExt cx="14630400" cy="548640"/>
          </a:xfrm>
        </p:grpSpPr>
        <p:sp>
          <p:nvSpPr>
            <p:cNvPr name="Freeform 35" id="35"/>
            <p:cNvSpPr/>
            <p:nvPr/>
          </p:nvSpPr>
          <p:spPr>
            <a:xfrm flipH="false" flipV="false" rot="0">
              <a:off x="0" y="0"/>
              <a:ext cx="14630400" cy="548640"/>
            </a:xfrm>
            <a:custGeom>
              <a:avLst/>
              <a:gdLst/>
              <a:ahLst/>
              <a:cxnLst/>
              <a:rect r="r" b="b" t="t" l="l"/>
              <a:pathLst>
                <a:path h="548640" w="14630400">
                  <a:moveTo>
                    <a:pt x="0" y="0"/>
                  </a:moveTo>
                  <a:lnTo>
                    <a:pt x="14630400" y="0"/>
                  </a:lnTo>
                  <a:lnTo>
                    <a:pt x="14630400" y="548640"/>
                  </a:lnTo>
                  <a:lnTo>
                    <a:pt x="0" y="548640"/>
                  </a:lnTo>
                  <a:close/>
                </a:path>
              </a:pathLst>
            </a:custGeom>
            <a:blipFill>
              <a:blip r:embed="rId3">
                <a:alphaModFix amt="0"/>
              </a:blip>
              <a:stretch>
                <a:fillRect l="0" t="-469601" r="0" b="-469601"/>
              </a:stretch>
            </a:blipFill>
          </p:spPr>
        </p:sp>
        <p:sp>
          <p:nvSpPr>
            <p:cNvPr name="TextBox 36" id="36"/>
            <p:cNvSpPr txBox="true"/>
            <p:nvPr/>
          </p:nvSpPr>
          <p:spPr>
            <a:xfrm>
              <a:off x="0" y="-38100"/>
              <a:ext cx="14630400" cy="586740"/>
            </a:xfrm>
            <a:prstGeom prst="rect">
              <a:avLst/>
            </a:prstGeom>
          </p:spPr>
          <p:txBody>
            <a:bodyPr anchor="ctr" rtlCol="false" tIns="0" lIns="0" bIns="0" rIns="0"/>
            <a:lstStyle/>
            <a:p>
              <a:pPr algn="l">
                <a:lnSpc>
                  <a:spcPts val="1800"/>
                </a:lnSpc>
              </a:pPr>
              <a:r>
                <a:rPr lang="en-US" sz="1500">
                  <a:solidFill>
                    <a:srgbClr val="6B7280"/>
                  </a:solidFill>
                  <a:latin typeface="Calibri (MS)"/>
                  <a:ea typeface="Calibri (MS)"/>
                  <a:cs typeface="Calibri (MS)"/>
                  <a:sym typeface="Calibri (MS)"/>
                </a:rPr>
                <a:t>Davao del Norte Provincial Government — Cybersecurity Seminar</a:t>
              </a:r>
            </a:p>
          </p:txBody>
        </p:sp>
      </p:grpSp>
      <p:grpSp>
        <p:nvGrpSpPr>
          <p:cNvPr name="Group 37" id="37"/>
          <p:cNvGrpSpPr/>
          <p:nvPr/>
        </p:nvGrpSpPr>
        <p:grpSpPr>
          <a:xfrm rot="0">
            <a:off x="16911828" y="9710928"/>
            <a:ext cx="685800" cy="411480"/>
            <a:chOff x="0" y="0"/>
            <a:chExt cx="914400" cy="548640"/>
          </a:xfrm>
        </p:grpSpPr>
        <p:sp>
          <p:nvSpPr>
            <p:cNvPr name="Freeform 38" id="38"/>
            <p:cNvSpPr/>
            <p:nvPr/>
          </p:nvSpPr>
          <p:spPr>
            <a:xfrm flipH="false" flipV="false" rot="0">
              <a:off x="0" y="0"/>
              <a:ext cx="914400" cy="548640"/>
            </a:xfrm>
            <a:custGeom>
              <a:avLst/>
              <a:gdLst/>
              <a:ahLst/>
              <a:cxnLst/>
              <a:rect r="r" b="b" t="t" l="l"/>
              <a:pathLst>
                <a:path h="548640" w="914400">
                  <a:moveTo>
                    <a:pt x="0" y="0"/>
                  </a:moveTo>
                  <a:lnTo>
                    <a:pt x="914400" y="0"/>
                  </a:lnTo>
                  <a:lnTo>
                    <a:pt x="914400" y="548640"/>
                  </a:lnTo>
                  <a:lnTo>
                    <a:pt x="0" y="548640"/>
                  </a:lnTo>
                  <a:close/>
                </a:path>
              </a:pathLst>
            </a:custGeom>
            <a:blipFill>
              <a:blip r:embed="rId3">
                <a:alphaModFix amt="0"/>
              </a:blip>
              <a:stretch>
                <a:fillRect l="-26982" t="0" r="-26982" b="0"/>
              </a:stretch>
            </a:blipFill>
          </p:spPr>
        </p:sp>
        <p:sp>
          <p:nvSpPr>
            <p:cNvPr name="TextBox 39" id="39"/>
            <p:cNvSpPr txBox="true"/>
            <p:nvPr/>
          </p:nvSpPr>
          <p:spPr>
            <a:xfrm>
              <a:off x="0" y="-38100"/>
              <a:ext cx="914400" cy="586740"/>
            </a:xfrm>
            <a:prstGeom prst="rect">
              <a:avLst/>
            </a:prstGeom>
          </p:spPr>
          <p:txBody>
            <a:bodyPr anchor="ctr" rtlCol="false" tIns="0" lIns="0" bIns="0" rIns="0"/>
            <a:lstStyle/>
            <a:p>
              <a:pPr algn="r">
                <a:lnSpc>
                  <a:spcPts val="1800"/>
                </a:lnSpc>
              </a:pPr>
              <a:r>
                <a:rPr lang="en-US" sz="1500">
                  <a:solidFill>
                    <a:srgbClr val="6B7280"/>
                  </a:solidFill>
                  <a:latin typeface="Calibri (MS)"/>
                  <a:ea typeface="Calibri (MS)"/>
                  <a:cs typeface="Calibri (MS)"/>
                  <a:sym typeface="Calibri (MS)"/>
                </a:rPr>
                <a:t>40</a:t>
              </a:r>
            </a:p>
          </p:txBody>
        </p:sp>
      </p:grpSp>
    </p:spTree>
  </p:cSld>
  <p:clrMapOvr>
    <a:masterClrMapping/>
  </p:clrMapOvr>
</p:sld>
</file>

<file path=ppt/slides/slide4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60120" y="685800"/>
            <a:ext cx="13716000" cy="411480"/>
            <a:chOff x="0" y="0"/>
            <a:chExt cx="18288000" cy="548640"/>
          </a:xfrm>
        </p:grpSpPr>
        <p:sp>
          <p:nvSpPr>
            <p:cNvPr name="Freeform 3" id="3"/>
            <p:cNvSpPr/>
            <p:nvPr/>
          </p:nvSpPr>
          <p:spPr>
            <a:xfrm flipH="false" flipV="false" rot="0">
              <a:off x="0" y="0"/>
              <a:ext cx="18288000" cy="548640"/>
            </a:xfrm>
            <a:custGeom>
              <a:avLst/>
              <a:gdLst/>
              <a:ahLst/>
              <a:cxnLst/>
              <a:rect r="r" b="b" t="t" l="l"/>
              <a:pathLst>
                <a:path h="548640" w="18288000">
                  <a:moveTo>
                    <a:pt x="0" y="0"/>
                  </a:moveTo>
                  <a:lnTo>
                    <a:pt x="18288000" y="0"/>
                  </a:lnTo>
                  <a:lnTo>
                    <a:pt x="18288000" y="548640"/>
                  </a:lnTo>
                  <a:lnTo>
                    <a:pt x="0" y="548640"/>
                  </a:lnTo>
                  <a:close/>
                </a:path>
              </a:pathLst>
            </a:custGeom>
            <a:blipFill>
              <a:blip r:embed="rId3">
                <a:alphaModFix amt="0"/>
              </a:blip>
              <a:stretch>
                <a:fillRect l="0" t="-599501" r="0" b="-599501"/>
              </a:stretch>
            </a:blipFill>
          </p:spPr>
        </p:sp>
        <p:sp>
          <p:nvSpPr>
            <p:cNvPr name="TextBox 4" id="4"/>
            <p:cNvSpPr txBox="true"/>
            <p:nvPr/>
          </p:nvSpPr>
          <p:spPr>
            <a:xfrm>
              <a:off x="0" y="-38100"/>
              <a:ext cx="18288000" cy="586740"/>
            </a:xfrm>
            <a:prstGeom prst="rect">
              <a:avLst/>
            </a:prstGeom>
          </p:spPr>
          <p:txBody>
            <a:bodyPr anchor="ctr" rtlCol="false" tIns="0" lIns="0" bIns="0" rIns="0"/>
            <a:lstStyle/>
            <a:p>
              <a:pPr algn="l">
                <a:lnSpc>
                  <a:spcPts val="2160"/>
                </a:lnSpc>
              </a:pPr>
              <a:r>
                <a:rPr lang="en-US" b="true" sz="1800" spc="225">
                  <a:solidFill>
                    <a:srgbClr val="00B4D8"/>
                  </a:solidFill>
                  <a:latin typeface="Calibri (MS) Bold"/>
                  <a:ea typeface="Calibri (MS) Bold"/>
                  <a:cs typeface="Calibri (MS) Bold"/>
                  <a:sym typeface="Calibri (MS) Bold"/>
                </a:rPr>
                <a:t>CIA TRIAD SORT · SCENARIO</a:t>
              </a:r>
            </a:p>
          </p:txBody>
        </p:sp>
      </p:grpSp>
      <p:grpSp>
        <p:nvGrpSpPr>
          <p:cNvPr name="Group 5" id="5"/>
          <p:cNvGrpSpPr/>
          <p:nvPr/>
        </p:nvGrpSpPr>
        <p:grpSpPr>
          <a:xfrm rot="0">
            <a:off x="960120" y="1069848"/>
            <a:ext cx="10972800" cy="822960"/>
            <a:chOff x="0" y="0"/>
            <a:chExt cx="14630400" cy="1097280"/>
          </a:xfrm>
        </p:grpSpPr>
        <p:sp>
          <p:nvSpPr>
            <p:cNvPr name="Freeform 6" id="6"/>
            <p:cNvSpPr/>
            <p:nvPr/>
          </p:nvSpPr>
          <p:spPr>
            <a:xfrm flipH="false" flipV="false" rot="0">
              <a:off x="0" y="0"/>
              <a:ext cx="14630400" cy="1097280"/>
            </a:xfrm>
            <a:custGeom>
              <a:avLst/>
              <a:gdLst/>
              <a:ahLst/>
              <a:cxnLst/>
              <a:rect r="r" b="b" t="t" l="l"/>
              <a:pathLst>
                <a:path h="1097280" w="14630400">
                  <a:moveTo>
                    <a:pt x="0" y="0"/>
                  </a:moveTo>
                  <a:lnTo>
                    <a:pt x="14630400" y="0"/>
                  </a:lnTo>
                  <a:lnTo>
                    <a:pt x="14630400" y="1097280"/>
                  </a:lnTo>
                  <a:lnTo>
                    <a:pt x="0" y="1097280"/>
                  </a:lnTo>
                  <a:close/>
                </a:path>
              </a:pathLst>
            </a:custGeom>
            <a:blipFill>
              <a:blip r:embed="rId3">
                <a:alphaModFix amt="0"/>
              </a:blip>
              <a:stretch>
                <a:fillRect l="0" t="-209800" r="0" b="-209800"/>
              </a:stretch>
            </a:blipFill>
          </p:spPr>
        </p:sp>
        <p:sp>
          <p:nvSpPr>
            <p:cNvPr name="TextBox 7" id="7"/>
            <p:cNvSpPr txBox="true"/>
            <p:nvPr/>
          </p:nvSpPr>
          <p:spPr>
            <a:xfrm>
              <a:off x="0" y="0"/>
              <a:ext cx="14630400" cy="1097280"/>
            </a:xfrm>
            <a:prstGeom prst="rect">
              <a:avLst/>
            </a:prstGeom>
          </p:spPr>
          <p:txBody>
            <a:bodyPr anchor="ctr" rtlCol="false" tIns="0" lIns="0" bIns="0" rIns="0"/>
            <a:lstStyle/>
            <a:p>
              <a:pPr algn="l">
                <a:lnSpc>
                  <a:spcPts val="4680"/>
                </a:lnSpc>
              </a:pPr>
              <a:r>
                <a:rPr lang="en-US" sz="3900" b="true">
                  <a:solidFill>
                    <a:srgbClr val="1E2761"/>
                  </a:solidFill>
                  <a:latin typeface="Cambria Bold"/>
                  <a:ea typeface="Cambria Bold"/>
                  <a:cs typeface="Cambria Bold"/>
                  <a:sym typeface="Cambria Bold"/>
                </a:rPr>
                <a:t>Scenario 2</a:t>
              </a:r>
            </a:p>
          </p:txBody>
        </p:sp>
      </p:grpSp>
      <p:grpSp>
        <p:nvGrpSpPr>
          <p:cNvPr name="Group 8" id="8"/>
          <p:cNvGrpSpPr/>
          <p:nvPr/>
        </p:nvGrpSpPr>
        <p:grpSpPr>
          <a:xfrm rot="0">
            <a:off x="960120" y="1810512"/>
            <a:ext cx="8229600" cy="411480"/>
            <a:chOff x="0" y="0"/>
            <a:chExt cx="10972800" cy="548640"/>
          </a:xfrm>
        </p:grpSpPr>
        <p:sp>
          <p:nvSpPr>
            <p:cNvPr name="Freeform 9" id="9"/>
            <p:cNvSpPr/>
            <p:nvPr/>
          </p:nvSpPr>
          <p:spPr>
            <a:xfrm flipH="false" flipV="false" rot="0">
              <a:off x="0" y="0"/>
              <a:ext cx="10972800" cy="548640"/>
            </a:xfrm>
            <a:custGeom>
              <a:avLst/>
              <a:gdLst/>
              <a:ahLst/>
              <a:cxnLst/>
              <a:rect r="r" b="b" t="t" l="l"/>
              <a:pathLst>
                <a:path h="548640" w="10972800">
                  <a:moveTo>
                    <a:pt x="0" y="0"/>
                  </a:moveTo>
                  <a:lnTo>
                    <a:pt x="10972800" y="0"/>
                  </a:lnTo>
                  <a:lnTo>
                    <a:pt x="10972800" y="548640"/>
                  </a:lnTo>
                  <a:lnTo>
                    <a:pt x="0" y="548640"/>
                  </a:lnTo>
                  <a:close/>
                </a:path>
              </a:pathLst>
            </a:custGeom>
            <a:blipFill>
              <a:blip r:embed="rId3">
                <a:alphaModFix amt="0"/>
              </a:blip>
              <a:stretch>
                <a:fillRect l="0" t="-339700" r="0" b="-339700"/>
              </a:stretch>
            </a:blipFill>
          </p:spPr>
        </p:sp>
        <p:sp>
          <p:nvSpPr>
            <p:cNvPr name="TextBox 10" id="10"/>
            <p:cNvSpPr txBox="true"/>
            <p:nvPr/>
          </p:nvSpPr>
          <p:spPr>
            <a:xfrm>
              <a:off x="0" y="-28575"/>
              <a:ext cx="10972800" cy="577215"/>
            </a:xfrm>
            <a:prstGeom prst="rect">
              <a:avLst/>
            </a:prstGeom>
          </p:spPr>
          <p:txBody>
            <a:bodyPr anchor="ctr" rtlCol="false" tIns="0" lIns="0" bIns="0" rIns="0"/>
            <a:lstStyle/>
            <a:p>
              <a:pPr algn="l">
                <a:lnSpc>
                  <a:spcPts val="1980"/>
                </a:lnSpc>
              </a:pPr>
              <a:r>
                <a:rPr lang="en-US" sz="1650">
                  <a:solidFill>
                    <a:srgbClr val="6B7280"/>
                  </a:solidFill>
                  <a:latin typeface="Calibri (MS)"/>
                  <a:ea typeface="Calibri (MS)"/>
                  <a:cs typeface="Calibri (MS)"/>
                  <a:sym typeface="Calibri (MS)"/>
                </a:rPr>
                <a:t>2 of 12</a:t>
              </a:r>
            </a:p>
          </p:txBody>
        </p:sp>
      </p:grpSp>
      <p:grpSp>
        <p:nvGrpSpPr>
          <p:cNvPr name="Group 11" id="11"/>
          <p:cNvGrpSpPr/>
          <p:nvPr/>
        </p:nvGrpSpPr>
        <p:grpSpPr>
          <a:xfrm rot="0">
            <a:off x="960120" y="2537460"/>
            <a:ext cx="16322040" cy="2811780"/>
            <a:chOff x="0" y="0"/>
            <a:chExt cx="21762720" cy="3749040"/>
          </a:xfrm>
        </p:grpSpPr>
        <p:sp>
          <p:nvSpPr>
            <p:cNvPr name="Freeform 12" id="12"/>
            <p:cNvSpPr/>
            <p:nvPr/>
          </p:nvSpPr>
          <p:spPr>
            <a:xfrm flipH="false" flipV="false" rot="0">
              <a:off x="0" y="0"/>
              <a:ext cx="21762720" cy="3749040"/>
            </a:xfrm>
            <a:custGeom>
              <a:avLst/>
              <a:gdLst/>
              <a:ahLst/>
              <a:cxnLst/>
              <a:rect r="r" b="b" t="t" l="l"/>
              <a:pathLst>
                <a:path h="3749040" w="21762720">
                  <a:moveTo>
                    <a:pt x="0" y="182880"/>
                  </a:moveTo>
                  <a:cubicBezTo>
                    <a:pt x="0" y="81915"/>
                    <a:pt x="81915" y="0"/>
                    <a:pt x="182880" y="0"/>
                  </a:cubicBezTo>
                  <a:lnTo>
                    <a:pt x="21579839" y="0"/>
                  </a:lnTo>
                  <a:cubicBezTo>
                    <a:pt x="21680804" y="0"/>
                    <a:pt x="21762720" y="81915"/>
                    <a:pt x="21762720" y="182880"/>
                  </a:cubicBezTo>
                  <a:lnTo>
                    <a:pt x="21762720" y="3566160"/>
                  </a:lnTo>
                  <a:cubicBezTo>
                    <a:pt x="21762720" y="3667125"/>
                    <a:pt x="21680804" y="3749040"/>
                    <a:pt x="21579839" y="3749040"/>
                  </a:cubicBezTo>
                  <a:lnTo>
                    <a:pt x="182880" y="3749040"/>
                  </a:lnTo>
                  <a:cubicBezTo>
                    <a:pt x="81915" y="3749040"/>
                    <a:pt x="0" y="3667125"/>
                    <a:pt x="0" y="3566160"/>
                  </a:cubicBezTo>
                  <a:close/>
                </a:path>
              </a:pathLst>
            </a:custGeom>
            <a:solidFill>
              <a:srgbClr val="F4F7FC"/>
            </a:solidFill>
          </p:spPr>
        </p:sp>
      </p:grpSp>
      <p:grpSp>
        <p:nvGrpSpPr>
          <p:cNvPr name="Group 13" id="13"/>
          <p:cNvGrpSpPr/>
          <p:nvPr/>
        </p:nvGrpSpPr>
        <p:grpSpPr>
          <a:xfrm rot="0">
            <a:off x="1440180" y="2811780"/>
            <a:ext cx="15361920" cy="2263140"/>
            <a:chOff x="0" y="0"/>
            <a:chExt cx="20482560" cy="3017520"/>
          </a:xfrm>
        </p:grpSpPr>
        <p:sp>
          <p:nvSpPr>
            <p:cNvPr name="Freeform 14" id="14"/>
            <p:cNvSpPr/>
            <p:nvPr/>
          </p:nvSpPr>
          <p:spPr>
            <a:xfrm flipH="false" flipV="false" rot="0">
              <a:off x="0" y="0"/>
              <a:ext cx="20482561" cy="3017520"/>
            </a:xfrm>
            <a:custGeom>
              <a:avLst/>
              <a:gdLst/>
              <a:ahLst/>
              <a:cxnLst/>
              <a:rect r="r" b="b" t="t" l="l"/>
              <a:pathLst>
                <a:path h="3017520" w="20482561">
                  <a:moveTo>
                    <a:pt x="0" y="0"/>
                  </a:moveTo>
                  <a:lnTo>
                    <a:pt x="20482561" y="0"/>
                  </a:lnTo>
                  <a:lnTo>
                    <a:pt x="20482561" y="3017520"/>
                  </a:lnTo>
                  <a:lnTo>
                    <a:pt x="0" y="3017520"/>
                  </a:lnTo>
                  <a:close/>
                </a:path>
              </a:pathLst>
            </a:custGeom>
            <a:blipFill>
              <a:blip r:embed="rId3">
                <a:alphaModFix amt="0"/>
              </a:blip>
              <a:stretch>
                <a:fillRect l="0" t="-82262" r="0" b="-82262"/>
              </a:stretch>
            </a:blipFill>
          </p:spPr>
        </p:sp>
        <p:sp>
          <p:nvSpPr>
            <p:cNvPr name="TextBox 15" id="15"/>
            <p:cNvSpPr txBox="true"/>
            <p:nvPr/>
          </p:nvSpPr>
          <p:spPr>
            <a:xfrm>
              <a:off x="0" y="-104775"/>
              <a:ext cx="20482560" cy="3122295"/>
            </a:xfrm>
            <a:prstGeom prst="rect">
              <a:avLst/>
            </a:prstGeom>
          </p:spPr>
          <p:txBody>
            <a:bodyPr anchor="ctr" rtlCol="false" tIns="0" lIns="0" bIns="0" rIns="0"/>
            <a:lstStyle/>
            <a:p>
              <a:pPr algn="l">
                <a:lnSpc>
                  <a:spcPts val="4147"/>
                </a:lnSpc>
              </a:pPr>
              <a:r>
                <a:rPr lang="en-US" sz="2700" i="true">
                  <a:solidFill>
                    <a:srgbClr val="23262F"/>
                  </a:solidFill>
                  <a:latin typeface="Cambria Italics"/>
                  <a:ea typeface="Cambria Italics"/>
                  <a:cs typeface="Cambria Italics"/>
                  <a:sym typeface="Cambria Italics"/>
                </a:rPr>
                <a:t>“Before a procurement request goes up for approval, someone quietly edits the peso amount on the form.”</a:t>
              </a:r>
            </a:p>
          </p:txBody>
        </p:sp>
      </p:grpSp>
      <p:sp>
        <p:nvSpPr>
          <p:cNvPr name="TextBox 16" id="16"/>
          <p:cNvSpPr txBox="true"/>
          <p:nvPr/>
        </p:nvSpPr>
        <p:spPr>
          <a:xfrm rot="0">
            <a:off x="1051560" y="5604510"/>
            <a:ext cx="16139160" cy="1276350"/>
          </a:xfrm>
          <a:prstGeom prst="rect">
            <a:avLst/>
          </a:prstGeom>
        </p:spPr>
        <p:txBody>
          <a:bodyPr anchor="t" rtlCol="false" tIns="0" lIns="0" bIns="0" rIns="0">
            <a:spAutoFit/>
          </a:bodyPr>
          <a:lstStyle/>
          <a:p>
            <a:pPr algn="ctr">
              <a:lnSpc>
                <a:spcPts val="3402"/>
              </a:lnSpc>
            </a:pPr>
            <a:r>
              <a:rPr lang="en-US" sz="2100" i="true">
                <a:solidFill>
                  <a:srgbClr val="6B7280"/>
                </a:solidFill>
                <a:latin typeface="Calibri (MS) Italics"/>
                <a:ea typeface="Calibri (MS) Italics"/>
                <a:cs typeface="Calibri (MS) Italics"/>
                <a:sym typeface="Calibri (MS) Italics"/>
              </a:rPr>
              <a:t>Which does this break — Confidentiality, Integrity, or Availability?</a:t>
            </a:r>
          </a:p>
          <a:p>
            <a:pPr algn="ctr">
              <a:lnSpc>
                <a:spcPts val="3402"/>
              </a:lnSpc>
            </a:pPr>
            <a:r>
              <a:rPr lang="en-US" sz="2100" i="true">
                <a:solidFill>
                  <a:srgbClr val="6B7280"/>
                </a:solidFill>
                <a:latin typeface="Calibri (MS) Italics"/>
                <a:ea typeface="Calibri (MS) Italics"/>
                <a:cs typeface="Calibri (MS) Italics"/>
                <a:sym typeface="Calibri (MS) Italics"/>
              </a:rPr>
              <a:t>Some break more than one. Discuss, then we'll reveal the answer.</a:t>
            </a:r>
          </a:p>
        </p:txBody>
      </p:sp>
      <p:grpSp>
        <p:nvGrpSpPr>
          <p:cNvPr name="Group 17" id="17"/>
          <p:cNvGrpSpPr/>
          <p:nvPr/>
        </p:nvGrpSpPr>
        <p:grpSpPr>
          <a:xfrm rot="0">
            <a:off x="950595" y="7191375"/>
            <a:ext cx="5162550" cy="910590"/>
            <a:chOff x="0" y="0"/>
            <a:chExt cx="6883400" cy="1214120"/>
          </a:xfrm>
        </p:grpSpPr>
        <p:sp>
          <p:nvSpPr>
            <p:cNvPr name="Freeform 18" id="18"/>
            <p:cNvSpPr/>
            <p:nvPr/>
          </p:nvSpPr>
          <p:spPr>
            <a:xfrm flipH="false" flipV="false" rot="0">
              <a:off x="0" y="0"/>
              <a:ext cx="6883400" cy="1214120"/>
            </a:xfrm>
            <a:custGeom>
              <a:avLst/>
              <a:gdLst/>
              <a:ahLst/>
              <a:cxnLst/>
              <a:rect r="r" b="b" t="t" l="l"/>
              <a:pathLst>
                <a:path h="1214120" w="6883400">
                  <a:moveTo>
                    <a:pt x="0" y="168148"/>
                  </a:moveTo>
                  <a:cubicBezTo>
                    <a:pt x="0" y="75311"/>
                    <a:pt x="75311" y="0"/>
                    <a:pt x="168148" y="0"/>
                  </a:cubicBezTo>
                  <a:lnTo>
                    <a:pt x="6715252" y="0"/>
                  </a:lnTo>
                  <a:cubicBezTo>
                    <a:pt x="6808089" y="0"/>
                    <a:pt x="6883400" y="75311"/>
                    <a:pt x="6883400" y="168148"/>
                  </a:cubicBezTo>
                  <a:lnTo>
                    <a:pt x="6883400" y="1045972"/>
                  </a:lnTo>
                  <a:cubicBezTo>
                    <a:pt x="6883400" y="1138809"/>
                    <a:pt x="6808089" y="1214120"/>
                    <a:pt x="6715252" y="1214120"/>
                  </a:cubicBezTo>
                  <a:lnTo>
                    <a:pt x="168148" y="1214120"/>
                  </a:lnTo>
                  <a:cubicBezTo>
                    <a:pt x="75311" y="1214120"/>
                    <a:pt x="0" y="1138809"/>
                    <a:pt x="0" y="1045972"/>
                  </a:cubicBezTo>
                  <a:close/>
                </a:path>
              </a:pathLst>
            </a:custGeom>
            <a:solidFill>
              <a:srgbClr val="F4F7FC"/>
            </a:solidFill>
            <a:ln w="19050" cap="sq">
              <a:solidFill>
                <a:srgbClr val="D7DCEC"/>
              </a:solidFill>
              <a:prstDash val="solid"/>
              <a:miter/>
            </a:ln>
          </p:spPr>
        </p:sp>
      </p:grpSp>
      <p:grpSp>
        <p:nvGrpSpPr>
          <p:cNvPr name="Group 19" id="19"/>
          <p:cNvGrpSpPr/>
          <p:nvPr/>
        </p:nvGrpSpPr>
        <p:grpSpPr>
          <a:xfrm rot="0">
            <a:off x="960120" y="7200900"/>
            <a:ext cx="5143500" cy="891540"/>
            <a:chOff x="0" y="0"/>
            <a:chExt cx="6858000" cy="1188720"/>
          </a:xfrm>
        </p:grpSpPr>
        <p:sp>
          <p:nvSpPr>
            <p:cNvPr name="Freeform 20" id="20"/>
            <p:cNvSpPr/>
            <p:nvPr/>
          </p:nvSpPr>
          <p:spPr>
            <a:xfrm flipH="false" flipV="false" rot="0">
              <a:off x="0" y="0"/>
              <a:ext cx="6858000" cy="1188720"/>
            </a:xfrm>
            <a:custGeom>
              <a:avLst/>
              <a:gdLst/>
              <a:ahLst/>
              <a:cxnLst/>
              <a:rect r="r" b="b" t="t" l="l"/>
              <a:pathLst>
                <a:path h="1188720" w="6858000">
                  <a:moveTo>
                    <a:pt x="0" y="0"/>
                  </a:moveTo>
                  <a:lnTo>
                    <a:pt x="6858000" y="0"/>
                  </a:lnTo>
                  <a:lnTo>
                    <a:pt x="6858000" y="1188720"/>
                  </a:lnTo>
                  <a:lnTo>
                    <a:pt x="0" y="1188720"/>
                  </a:lnTo>
                  <a:close/>
                </a:path>
              </a:pathLst>
            </a:custGeom>
            <a:blipFill>
              <a:blip r:embed="rId3">
                <a:alphaModFix amt="0"/>
              </a:blip>
              <a:stretch>
                <a:fillRect l="0" t="-62413" r="0" b="-62413"/>
              </a:stretch>
            </a:blipFill>
          </p:spPr>
        </p:sp>
        <p:sp>
          <p:nvSpPr>
            <p:cNvPr name="TextBox 21" id="21"/>
            <p:cNvSpPr txBox="true"/>
            <p:nvPr/>
          </p:nvSpPr>
          <p:spPr>
            <a:xfrm>
              <a:off x="0" y="-47625"/>
              <a:ext cx="6858000" cy="1236345"/>
            </a:xfrm>
            <a:prstGeom prst="rect">
              <a:avLst/>
            </a:prstGeom>
          </p:spPr>
          <p:txBody>
            <a:bodyPr anchor="ctr" rtlCol="false" tIns="0" lIns="0" bIns="0" rIns="0"/>
            <a:lstStyle/>
            <a:p>
              <a:pPr algn="ctr">
                <a:lnSpc>
                  <a:spcPts val="2520"/>
                </a:lnSpc>
              </a:pPr>
              <a:r>
                <a:rPr lang="en-US" sz="2100">
                  <a:solidFill>
                    <a:srgbClr val="6B7280"/>
                  </a:solidFill>
                  <a:latin typeface="Calibri (MS)"/>
                  <a:ea typeface="Calibri (MS)"/>
                  <a:cs typeface="Calibri (MS)"/>
                  <a:sym typeface="Calibri (MS)"/>
                </a:rPr>
                <a:t>Confidentiality</a:t>
              </a:r>
            </a:p>
          </p:txBody>
        </p:sp>
      </p:grpSp>
      <p:grpSp>
        <p:nvGrpSpPr>
          <p:cNvPr name="Group 22" id="22"/>
          <p:cNvGrpSpPr/>
          <p:nvPr/>
        </p:nvGrpSpPr>
        <p:grpSpPr>
          <a:xfrm rot="0">
            <a:off x="6533007" y="7191375"/>
            <a:ext cx="5162550" cy="910590"/>
            <a:chOff x="0" y="0"/>
            <a:chExt cx="6883400" cy="1214120"/>
          </a:xfrm>
        </p:grpSpPr>
        <p:sp>
          <p:nvSpPr>
            <p:cNvPr name="Freeform 23" id="23"/>
            <p:cNvSpPr/>
            <p:nvPr/>
          </p:nvSpPr>
          <p:spPr>
            <a:xfrm flipH="false" flipV="false" rot="0">
              <a:off x="0" y="0"/>
              <a:ext cx="6883400" cy="1214120"/>
            </a:xfrm>
            <a:custGeom>
              <a:avLst/>
              <a:gdLst/>
              <a:ahLst/>
              <a:cxnLst/>
              <a:rect r="r" b="b" t="t" l="l"/>
              <a:pathLst>
                <a:path h="1214120" w="6883400">
                  <a:moveTo>
                    <a:pt x="0" y="168148"/>
                  </a:moveTo>
                  <a:cubicBezTo>
                    <a:pt x="0" y="75311"/>
                    <a:pt x="75311" y="0"/>
                    <a:pt x="168148" y="0"/>
                  </a:cubicBezTo>
                  <a:lnTo>
                    <a:pt x="6715252" y="0"/>
                  </a:lnTo>
                  <a:cubicBezTo>
                    <a:pt x="6808089" y="0"/>
                    <a:pt x="6883400" y="75311"/>
                    <a:pt x="6883400" y="168148"/>
                  </a:cubicBezTo>
                  <a:lnTo>
                    <a:pt x="6883400" y="1045972"/>
                  </a:lnTo>
                  <a:cubicBezTo>
                    <a:pt x="6883400" y="1138809"/>
                    <a:pt x="6808089" y="1214120"/>
                    <a:pt x="6715252" y="1214120"/>
                  </a:cubicBezTo>
                  <a:lnTo>
                    <a:pt x="168148" y="1214120"/>
                  </a:lnTo>
                  <a:cubicBezTo>
                    <a:pt x="75311" y="1214120"/>
                    <a:pt x="0" y="1138809"/>
                    <a:pt x="0" y="1045972"/>
                  </a:cubicBezTo>
                  <a:close/>
                </a:path>
              </a:pathLst>
            </a:custGeom>
            <a:solidFill>
              <a:srgbClr val="F4F7FC"/>
            </a:solidFill>
            <a:ln w="19050" cap="sq">
              <a:solidFill>
                <a:srgbClr val="D7DCEC"/>
              </a:solidFill>
              <a:prstDash val="solid"/>
              <a:miter/>
            </a:ln>
          </p:spPr>
        </p:sp>
      </p:grpSp>
      <p:grpSp>
        <p:nvGrpSpPr>
          <p:cNvPr name="Group 24" id="24"/>
          <p:cNvGrpSpPr/>
          <p:nvPr/>
        </p:nvGrpSpPr>
        <p:grpSpPr>
          <a:xfrm rot="0">
            <a:off x="6542532" y="7200900"/>
            <a:ext cx="5143500" cy="891540"/>
            <a:chOff x="0" y="0"/>
            <a:chExt cx="6858000" cy="1188720"/>
          </a:xfrm>
        </p:grpSpPr>
        <p:sp>
          <p:nvSpPr>
            <p:cNvPr name="Freeform 25" id="25"/>
            <p:cNvSpPr/>
            <p:nvPr/>
          </p:nvSpPr>
          <p:spPr>
            <a:xfrm flipH="false" flipV="false" rot="0">
              <a:off x="0" y="0"/>
              <a:ext cx="6858000" cy="1188720"/>
            </a:xfrm>
            <a:custGeom>
              <a:avLst/>
              <a:gdLst/>
              <a:ahLst/>
              <a:cxnLst/>
              <a:rect r="r" b="b" t="t" l="l"/>
              <a:pathLst>
                <a:path h="1188720" w="6858000">
                  <a:moveTo>
                    <a:pt x="0" y="0"/>
                  </a:moveTo>
                  <a:lnTo>
                    <a:pt x="6858000" y="0"/>
                  </a:lnTo>
                  <a:lnTo>
                    <a:pt x="6858000" y="1188720"/>
                  </a:lnTo>
                  <a:lnTo>
                    <a:pt x="0" y="1188720"/>
                  </a:lnTo>
                  <a:close/>
                </a:path>
              </a:pathLst>
            </a:custGeom>
            <a:blipFill>
              <a:blip r:embed="rId3">
                <a:alphaModFix amt="0"/>
              </a:blip>
              <a:stretch>
                <a:fillRect l="0" t="-62413" r="0" b="-62413"/>
              </a:stretch>
            </a:blipFill>
          </p:spPr>
        </p:sp>
        <p:sp>
          <p:nvSpPr>
            <p:cNvPr name="TextBox 26" id="26"/>
            <p:cNvSpPr txBox="true"/>
            <p:nvPr/>
          </p:nvSpPr>
          <p:spPr>
            <a:xfrm>
              <a:off x="0" y="-47625"/>
              <a:ext cx="6858000" cy="1236345"/>
            </a:xfrm>
            <a:prstGeom prst="rect">
              <a:avLst/>
            </a:prstGeom>
          </p:spPr>
          <p:txBody>
            <a:bodyPr anchor="ctr" rtlCol="false" tIns="0" lIns="0" bIns="0" rIns="0"/>
            <a:lstStyle/>
            <a:p>
              <a:pPr algn="ctr">
                <a:lnSpc>
                  <a:spcPts val="2520"/>
                </a:lnSpc>
              </a:pPr>
              <a:r>
                <a:rPr lang="en-US" sz="2100">
                  <a:solidFill>
                    <a:srgbClr val="6B7280"/>
                  </a:solidFill>
                  <a:latin typeface="Calibri (MS)"/>
                  <a:ea typeface="Calibri (MS)"/>
                  <a:cs typeface="Calibri (MS)"/>
                  <a:sym typeface="Calibri (MS)"/>
                </a:rPr>
                <a:t>Integrity</a:t>
              </a:r>
            </a:p>
          </p:txBody>
        </p:sp>
      </p:grpSp>
      <p:grpSp>
        <p:nvGrpSpPr>
          <p:cNvPr name="Group 27" id="27"/>
          <p:cNvGrpSpPr/>
          <p:nvPr/>
        </p:nvGrpSpPr>
        <p:grpSpPr>
          <a:xfrm rot="0">
            <a:off x="12115419" y="7191375"/>
            <a:ext cx="5162550" cy="910590"/>
            <a:chOff x="0" y="0"/>
            <a:chExt cx="6883400" cy="1214120"/>
          </a:xfrm>
        </p:grpSpPr>
        <p:sp>
          <p:nvSpPr>
            <p:cNvPr name="Freeform 28" id="28"/>
            <p:cNvSpPr/>
            <p:nvPr/>
          </p:nvSpPr>
          <p:spPr>
            <a:xfrm flipH="false" flipV="false" rot="0">
              <a:off x="0" y="0"/>
              <a:ext cx="6883400" cy="1214120"/>
            </a:xfrm>
            <a:custGeom>
              <a:avLst/>
              <a:gdLst/>
              <a:ahLst/>
              <a:cxnLst/>
              <a:rect r="r" b="b" t="t" l="l"/>
              <a:pathLst>
                <a:path h="1214120" w="6883400">
                  <a:moveTo>
                    <a:pt x="0" y="168148"/>
                  </a:moveTo>
                  <a:cubicBezTo>
                    <a:pt x="0" y="75311"/>
                    <a:pt x="75311" y="0"/>
                    <a:pt x="168148" y="0"/>
                  </a:cubicBezTo>
                  <a:lnTo>
                    <a:pt x="6715252" y="0"/>
                  </a:lnTo>
                  <a:cubicBezTo>
                    <a:pt x="6808089" y="0"/>
                    <a:pt x="6883400" y="75311"/>
                    <a:pt x="6883400" y="168148"/>
                  </a:cubicBezTo>
                  <a:lnTo>
                    <a:pt x="6883400" y="1045972"/>
                  </a:lnTo>
                  <a:cubicBezTo>
                    <a:pt x="6883400" y="1138809"/>
                    <a:pt x="6808089" y="1214120"/>
                    <a:pt x="6715252" y="1214120"/>
                  </a:cubicBezTo>
                  <a:lnTo>
                    <a:pt x="168148" y="1214120"/>
                  </a:lnTo>
                  <a:cubicBezTo>
                    <a:pt x="75311" y="1214120"/>
                    <a:pt x="0" y="1138809"/>
                    <a:pt x="0" y="1045972"/>
                  </a:cubicBezTo>
                  <a:close/>
                </a:path>
              </a:pathLst>
            </a:custGeom>
            <a:solidFill>
              <a:srgbClr val="F4F7FC"/>
            </a:solidFill>
            <a:ln w="19050" cap="sq">
              <a:solidFill>
                <a:srgbClr val="D7DCEC"/>
              </a:solidFill>
              <a:prstDash val="solid"/>
              <a:miter/>
            </a:ln>
          </p:spPr>
        </p:sp>
      </p:grpSp>
      <p:grpSp>
        <p:nvGrpSpPr>
          <p:cNvPr name="Group 29" id="29"/>
          <p:cNvGrpSpPr/>
          <p:nvPr/>
        </p:nvGrpSpPr>
        <p:grpSpPr>
          <a:xfrm rot="0">
            <a:off x="12124944" y="7200900"/>
            <a:ext cx="5143500" cy="891540"/>
            <a:chOff x="0" y="0"/>
            <a:chExt cx="6858000" cy="1188720"/>
          </a:xfrm>
        </p:grpSpPr>
        <p:sp>
          <p:nvSpPr>
            <p:cNvPr name="Freeform 30" id="30"/>
            <p:cNvSpPr/>
            <p:nvPr/>
          </p:nvSpPr>
          <p:spPr>
            <a:xfrm flipH="false" flipV="false" rot="0">
              <a:off x="0" y="0"/>
              <a:ext cx="6858000" cy="1188720"/>
            </a:xfrm>
            <a:custGeom>
              <a:avLst/>
              <a:gdLst/>
              <a:ahLst/>
              <a:cxnLst/>
              <a:rect r="r" b="b" t="t" l="l"/>
              <a:pathLst>
                <a:path h="1188720" w="6858000">
                  <a:moveTo>
                    <a:pt x="0" y="0"/>
                  </a:moveTo>
                  <a:lnTo>
                    <a:pt x="6858000" y="0"/>
                  </a:lnTo>
                  <a:lnTo>
                    <a:pt x="6858000" y="1188720"/>
                  </a:lnTo>
                  <a:lnTo>
                    <a:pt x="0" y="1188720"/>
                  </a:lnTo>
                  <a:close/>
                </a:path>
              </a:pathLst>
            </a:custGeom>
            <a:blipFill>
              <a:blip r:embed="rId3">
                <a:alphaModFix amt="0"/>
              </a:blip>
              <a:stretch>
                <a:fillRect l="0" t="-62413" r="0" b="-62413"/>
              </a:stretch>
            </a:blipFill>
          </p:spPr>
        </p:sp>
        <p:sp>
          <p:nvSpPr>
            <p:cNvPr name="TextBox 31" id="31"/>
            <p:cNvSpPr txBox="true"/>
            <p:nvPr/>
          </p:nvSpPr>
          <p:spPr>
            <a:xfrm>
              <a:off x="0" y="-47625"/>
              <a:ext cx="6858000" cy="1236345"/>
            </a:xfrm>
            <a:prstGeom prst="rect">
              <a:avLst/>
            </a:prstGeom>
          </p:spPr>
          <p:txBody>
            <a:bodyPr anchor="ctr" rtlCol="false" tIns="0" lIns="0" bIns="0" rIns="0"/>
            <a:lstStyle/>
            <a:p>
              <a:pPr algn="ctr">
                <a:lnSpc>
                  <a:spcPts val="2520"/>
                </a:lnSpc>
              </a:pPr>
              <a:r>
                <a:rPr lang="en-US" sz="2100">
                  <a:solidFill>
                    <a:srgbClr val="6B7280"/>
                  </a:solidFill>
                  <a:latin typeface="Calibri (MS)"/>
                  <a:ea typeface="Calibri (MS)"/>
                  <a:cs typeface="Calibri (MS)"/>
                  <a:sym typeface="Calibri (MS)"/>
                </a:rPr>
                <a:t>Availability</a:t>
              </a:r>
            </a:p>
          </p:txBody>
        </p:sp>
      </p:grpSp>
      <p:grpSp>
        <p:nvGrpSpPr>
          <p:cNvPr name="Group 32" id="32"/>
          <p:cNvGrpSpPr/>
          <p:nvPr/>
        </p:nvGrpSpPr>
        <p:grpSpPr>
          <a:xfrm rot="0">
            <a:off x="685800" y="9710928"/>
            <a:ext cx="10972800" cy="411480"/>
            <a:chOff x="0" y="0"/>
            <a:chExt cx="14630400" cy="548640"/>
          </a:xfrm>
        </p:grpSpPr>
        <p:sp>
          <p:nvSpPr>
            <p:cNvPr name="Freeform 33" id="33"/>
            <p:cNvSpPr/>
            <p:nvPr/>
          </p:nvSpPr>
          <p:spPr>
            <a:xfrm flipH="false" flipV="false" rot="0">
              <a:off x="0" y="0"/>
              <a:ext cx="14630400" cy="548640"/>
            </a:xfrm>
            <a:custGeom>
              <a:avLst/>
              <a:gdLst/>
              <a:ahLst/>
              <a:cxnLst/>
              <a:rect r="r" b="b" t="t" l="l"/>
              <a:pathLst>
                <a:path h="548640" w="14630400">
                  <a:moveTo>
                    <a:pt x="0" y="0"/>
                  </a:moveTo>
                  <a:lnTo>
                    <a:pt x="14630400" y="0"/>
                  </a:lnTo>
                  <a:lnTo>
                    <a:pt x="14630400" y="548640"/>
                  </a:lnTo>
                  <a:lnTo>
                    <a:pt x="0" y="548640"/>
                  </a:lnTo>
                  <a:close/>
                </a:path>
              </a:pathLst>
            </a:custGeom>
            <a:blipFill>
              <a:blip r:embed="rId3">
                <a:alphaModFix amt="0"/>
              </a:blip>
              <a:stretch>
                <a:fillRect l="0" t="-469601" r="0" b="-469601"/>
              </a:stretch>
            </a:blipFill>
          </p:spPr>
        </p:sp>
        <p:sp>
          <p:nvSpPr>
            <p:cNvPr name="TextBox 34" id="34"/>
            <p:cNvSpPr txBox="true"/>
            <p:nvPr/>
          </p:nvSpPr>
          <p:spPr>
            <a:xfrm>
              <a:off x="0" y="-38100"/>
              <a:ext cx="14630400" cy="586740"/>
            </a:xfrm>
            <a:prstGeom prst="rect">
              <a:avLst/>
            </a:prstGeom>
          </p:spPr>
          <p:txBody>
            <a:bodyPr anchor="ctr" rtlCol="false" tIns="0" lIns="0" bIns="0" rIns="0"/>
            <a:lstStyle/>
            <a:p>
              <a:pPr algn="l">
                <a:lnSpc>
                  <a:spcPts val="1800"/>
                </a:lnSpc>
              </a:pPr>
              <a:r>
                <a:rPr lang="en-US" sz="1500">
                  <a:solidFill>
                    <a:srgbClr val="6B7280"/>
                  </a:solidFill>
                  <a:latin typeface="Calibri (MS)"/>
                  <a:ea typeface="Calibri (MS)"/>
                  <a:cs typeface="Calibri (MS)"/>
                  <a:sym typeface="Calibri (MS)"/>
                </a:rPr>
                <a:t>Davao del Norte Provincial Government — Cybersecurity Seminar</a:t>
              </a:r>
            </a:p>
          </p:txBody>
        </p:sp>
      </p:grpSp>
      <p:grpSp>
        <p:nvGrpSpPr>
          <p:cNvPr name="Group 35" id="35"/>
          <p:cNvGrpSpPr/>
          <p:nvPr/>
        </p:nvGrpSpPr>
        <p:grpSpPr>
          <a:xfrm rot="0">
            <a:off x="16911828" y="9710928"/>
            <a:ext cx="685800" cy="411480"/>
            <a:chOff x="0" y="0"/>
            <a:chExt cx="914400" cy="548640"/>
          </a:xfrm>
        </p:grpSpPr>
        <p:sp>
          <p:nvSpPr>
            <p:cNvPr name="Freeform 36" id="36"/>
            <p:cNvSpPr/>
            <p:nvPr/>
          </p:nvSpPr>
          <p:spPr>
            <a:xfrm flipH="false" flipV="false" rot="0">
              <a:off x="0" y="0"/>
              <a:ext cx="914400" cy="548640"/>
            </a:xfrm>
            <a:custGeom>
              <a:avLst/>
              <a:gdLst/>
              <a:ahLst/>
              <a:cxnLst/>
              <a:rect r="r" b="b" t="t" l="l"/>
              <a:pathLst>
                <a:path h="548640" w="914400">
                  <a:moveTo>
                    <a:pt x="0" y="0"/>
                  </a:moveTo>
                  <a:lnTo>
                    <a:pt x="914400" y="0"/>
                  </a:lnTo>
                  <a:lnTo>
                    <a:pt x="914400" y="548640"/>
                  </a:lnTo>
                  <a:lnTo>
                    <a:pt x="0" y="548640"/>
                  </a:lnTo>
                  <a:close/>
                </a:path>
              </a:pathLst>
            </a:custGeom>
            <a:blipFill>
              <a:blip r:embed="rId3">
                <a:alphaModFix amt="0"/>
              </a:blip>
              <a:stretch>
                <a:fillRect l="-26982" t="0" r="-26982" b="0"/>
              </a:stretch>
            </a:blipFill>
          </p:spPr>
        </p:sp>
        <p:sp>
          <p:nvSpPr>
            <p:cNvPr name="TextBox 37" id="37"/>
            <p:cNvSpPr txBox="true"/>
            <p:nvPr/>
          </p:nvSpPr>
          <p:spPr>
            <a:xfrm>
              <a:off x="0" y="-38100"/>
              <a:ext cx="914400" cy="586740"/>
            </a:xfrm>
            <a:prstGeom prst="rect">
              <a:avLst/>
            </a:prstGeom>
          </p:spPr>
          <p:txBody>
            <a:bodyPr anchor="ctr" rtlCol="false" tIns="0" lIns="0" bIns="0" rIns="0"/>
            <a:lstStyle/>
            <a:p>
              <a:pPr algn="r">
                <a:lnSpc>
                  <a:spcPts val="1800"/>
                </a:lnSpc>
              </a:pPr>
              <a:r>
                <a:rPr lang="en-US" sz="1500">
                  <a:solidFill>
                    <a:srgbClr val="6B7280"/>
                  </a:solidFill>
                  <a:latin typeface="Calibri (MS)"/>
                  <a:ea typeface="Calibri (MS)"/>
                  <a:cs typeface="Calibri (MS)"/>
                  <a:sym typeface="Calibri (MS)"/>
                </a:rPr>
                <a:t>41</a:t>
              </a:r>
            </a:p>
          </p:txBody>
        </p:sp>
      </p:grpSp>
    </p:spTree>
  </p:cSld>
  <p:clrMapOvr>
    <a:masterClrMapping/>
  </p:clrMapOvr>
</p:sld>
</file>

<file path=ppt/slides/slide4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60120" y="685800"/>
            <a:ext cx="13716000" cy="411480"/>
            <a:chOff x="0" y="0"/>
            <a:chExt cx="18288000" cy="548640"/>
          </a:xfrm>
        </p:grpSpPr>
        <p:sp>
          <p:nvSpPr>
            <p:cNvPr name="Freeform 3" id="3"/>
            <p:cNvSpPr/>
            <p:nvPr/>
          </p:nvSpPr>
          <p:spPr>
            <a:xfrm flipH="false" flipV="false" rot="0">
              <a:off x="0" y="0"/>
              <a:ext cx="18288000" cy="548640"/>
            </a:xfrm>
            <a:custGeom>
              <a:avLst/>
              <a:gdLst/>
              <a:ahLst/>
              <a:cxnLst/>
              <a:rect r="r" b="b" t="t" l="l"/>
              <a:pathLst>
                <a:path h="548640" w="18288000">
                  <a:moveTo>
                    <a:pt x="0" y="0"/>
                  </a:moveTo>
                  <a:lnTo>
                    <a:pt x="18288000" y="0"/>
                  </a:lnTo>
                  <a:lnTo>
                    <a:pt x="18288000" y="548640"/>
                  </a:lnTo>
                  <a:lnTo>
                    <a:pt x="0" y="548640"/>
                  </a:lnTo>
                  <a:close/>
                </a:path>
              </a:pathLst>
            </a:custGeom>
            <a:blipFill>
              <a:blip r:embed="rId3">
                <a:alphaModFix amt="0"/>
              </a:blip>
              <a:stretch>
                <a:fillRect l="0" t="-599501" r="0" b="-599501"/>
              </a:stretch>
            </a:blipFill>
          </p:spPr>
        </p:sp>
        <p:sp>
          <p:nvSpPr>
            <p:cNvPr name="TextBox 4" id="4"/>
            <p:cNvSpPr txBox="true"/>
            <p:nvPr/>
          </p:nvSpPr>
          <p:spPr>
            <a:xfrm>
              <a:off x="0" y="-38100"/>
              <a:ext cx="18288000" cy="586740"/>
            </a:xfrm>
            <a:prstGeom prst="rect">
              <a:avLst/>
            </a:prstGeom>
          </p:spPr>
          <p:txBody>
            <a:bodyPr anchor="ctr" rtlCol="false" tIns="0" lIns="0" bIns="0" rIns="0"/>
            <a:lstStyle/>
            <a:p>
              <a:pPr algn="l">
                <a:lnSpc>
                  <a:spcPts val="2160"/>
                </a:lnSpc>
              </a:pPr>
              <a:r>
                <a:rPr lang="en-US" b="true" sz="1800" spc="225">
                  <a:solidFill>
                    <a:srgbClr val="00B4D8"/>
                  </a:solidFill>
                  <a:latin typeface="Calibri (MS) Bold"/>
                  <a:ea typeface="Calibri (MS) Bold"/>
                  <a:cs typeface="Calibri (MS) Bold"/>
                  <a:sym typeface="Calibri (MS) Bold"/>
                </a:rPr>
                <a:t>CIA TRIAD SORT · ANSWER</a:t>
              </a:r>
            </a:p>
          </p:txBody>
        </p:sp>
      </p:grpSp>
      <p:grpSp>
        <p:nvGrpSpPr>
          <p:cNvPr name="Group 5" id="5"/>
          <p:cNvGrpSpPr/>
          <p:nvPr/>
        </p:nvGrpSpPr>
        <p:grpSpPr>
          <a:xfrm rot="0">
            <a:off x="960120" y="1069848"/>
            <a:ext cx="10972800" cy="822960"/>
            <a:chOff x="0" y="0"/>
            <a:chExt cx="14630400" cy="1097280"/>
          </a:xfrm>
        </p:grpSpPr>
        <p:sp>
          <p:nvSpPr>
            <p:cNvPr name="Freeform 6" id="6"/>
            <p:cNvSpPr/>
            <p:nvPr/>
          </p:nvSpPr>
          <p:spPr>
            <a:xfrm flipH="false" flipV="false" rot="0">
              <a:off x="0" y="0"/>
              <a:ext cx="14630400" cy="1097280"/>
            </a:xfrm>
            <a:custGeom>
              <a:avLst/>
              <a:gdLst/>
              <a:ahLst/>
              <a:cxnLst/>
              <a:rect r="r" b="b" t="t" l="l"/>
              <a:pathLst>
                <a:path h="1097280" w="14630400">
                  <a:moveTo>
                    <a:pt x="0" y="0"/>
                  </a:moveTo>
                  <a:lnTo>
                    <a:pt x="14630400" y="0"/>
                  </a:lnTo>
                  <a:lnTo>
                    <a:pt x="14630400" y="1097280"/>
                  </a:lnTo>
                  <a:lnTo>
                    <a:pt x="0" y="1097280"/>
                  </a:lnTo>
                  <a:close/>
                </a:path>
              </a:pathLst>
            </a:custGeom>
            <a:blipFill>
              <a:blip r:embed="rId3">
                <a:alphaModFix amt="0"/>
              </a:blip>
              <a:stretch>
                <a:fillRect l="0" t="-209800" r="0" b="-209800"/>
              </a:stretch>
            </a:blipFill>
          </p:spPr>
        </p:sp>
        <p:sp>
          <p:nvSpPr>
            <p:cNvPr name="TextBox 7" id="7"/>
            <p:cNvSpPr txBox="true"/>
            <p:nvPr/>
          </p:nvSpPr>
          <p:spPr>
            <a:xfrm>
              <a:off x="0" y="0"/>
              <a:ext cx="14630400" cy="1097280"/>
            </a:xfrm>
            <a:prstGeom prst="rect">
              <a:avLst/>
            </a:prstGeom>
          </p:spPr>
          <p:txBody>
            <a:bodyPr anchor="ctr" rtlCol="false" tIns="0" lIns="0" bIns="0" rIns="0"/>
            <a:lstStyle/>
            <a:p>
              <a:pPr algn="l">
                <a:lnSpc>
                  <a:spcPts val="4680"/>
                </a:lnSpc>
              </a:pPr>
              <a:r>
                <a:rPr lang="en-US" sz="3900" b="true">
                  <a:solidFill>
                    <a:srgbClr val="1E2761"/>
                  </a:solidFill>
                  <a:latin typeface="Cambria Bold"/>
                  <a:ea typeface="Cambria Bold"/>
                  <a:cs typeface="Cambria Bold"/>
                  <a:sym typeface="Cambria Bold"/>
                </a:rPr>
                <a:t>Scenario 2 — Answer</a:t>
              </a:r>
            </a:p>
          </p:txBody>
        </p:sp>
      </p:grpSp>
      <p:grpSp>
        <p:nvGrpSpPr>
          <p:cNvPr name="Group 8" id="8"/>
          <p:cNvGrpSpPr/>
          <p:nvPr/>
        </p:nvGrpSpPr>
        <p:grpSpPr>
          <a:xfrm rot="0">
            <a:off x="960120" y="1810512"/>
            <a:ext cx="8229600" cy="411480"/>
            <a:chOff x="0" y="0"/>
            <a:chExt cx="10972800" cy="548640"/>
          </a:xfrm>
        </p:grpSpPr>
        <p:sp>
          <p:nvSpPr>
            <p:cNvPr name="Freeform 9" id="9"/>
            <p:cNvSpPr/>
            <p:nvPr/>
          </p:nvSpPr>
          <p:spPr>
            <a:xfrm flipH="false" flipV="false" rot="0">
              <a:off x="0" y="0"/>
              <a:ext cx="10972800" cy="548640"/>
            </a:xfrm>
            <a:custGeom>
              <a:avLst/>
              <a:gdLst/>
              <a:ahLst/>
              <a:cxnLst/>
              <a:rect r="r" b="b" t="t" l="l"/>
              <a:pathLst>
                <a:path h="548640" w="10972800">
                  <a:moveTo>
                    <a:pt x="0" y="0"/>
                  </a:moveTo>
                  <a:lnTo>
                    <a:pt x="10972800" y="0"/>
                  </a:lnTo>
                  <a:lnTo>
                    <a:pt x="10972800" y="548640"/>
                  </a:lnTo>
                  <a:lnTo>
                    <a:pt x="0" y="548640"/>
                  </a:lnTo>
                  <a:close/>
                </a:path>
              </a:pathLst>
            </a:custGeom>
            <a:blipFill>
              <a:blip r:embed="rId3">
                <a:alphaModFix amt="0"/>
              </a:blip>
              <a:stretch>
                <a:fillRect l="0" t="-339700" r="0" b="-339700"/>
              </a:stretch>
            </a:blipFill>
          </p:spPr>
        </p:sp>
        <p:sp>
          <p:nvSpPr>
            <p:cNvPr name="TextBox 10" id="10"/>
            <p:cNvSpPr txBox="true"/>
            <p:nvPr/>
          </p:nvSpPr>
          <p:spPr>
            <a:xfrm>
              <a:off x="0" y="-28575"/>
              <a:ext cx="10972800" cy="577215"/>
            </a:xfrm>
            <a:prstGeom prst="rect">
              <a:avLst/>
            </a:prstGeom>
          </p:spPr>
          <p:txBody>
            <a:bodyPr anchor="ctr" rtlCol="false" tIns="0" lIns="0" bIns="0" rIns="0"/>
            <a:lstStyle/>
            <a:p>
              <a:pPr algn="l">
                <a:lnSpc>
                  <a:spcPts val="1980"/>
                </a:lnSpc>
              </a:pPr>
              <a:r>
                <a:rPr lang="en-US" sz="1650">
                  <a:solidFill>
                    <a:srgbClr val="6B7280"/>
                  </a:solidFill>
                  <a:latin typeface="Calibri (MS)"/>
                  <a:ea typeface="Calibri (MS)"/>
                  <a:cs typeface="Calibri (MS)"/>
                  <a:sym typeface="Calibri (MS)"/>
                </a:rPr>
                <a:t>2 of 12</a:t>
              </a:r>
            </a:p>
          </p:txBody>
        </p:sp>
      </p:grpSp>
      <p:grpSp>
        <p:nvGrpSpPr>
          <p:cNvPr name="Group 11" id="11"/>
          <p:cNvGrpSpPr/>
          <p:nvPr/>
        </p:nvGrpSpPr>
        <p:grpSpPr>
          <a:xfrm rot="0">
            <a:off x="960120" y="2537460"/>
            <a:ext cx="16322040" cy="2400300"/>
            <a:chOff x="0" y="0"/>
            <a:chExt cx="21762720" cy="3200400"/>
          </a:xfrm>
        </p:grpSpPr>
        <p:sp>
          <p:nvSpPr>
            <p:cNvPr name="Freeform 12" id="12"/>
            <p:cNvSpPr/>
            <p:nvPr/>
          </p:nvSpPr>
          <p:spPr>
            <a:xfrm flipH="false" flipV="false" rot="0">
              <a:off x="0" y="0"/>
              <a:ext cx="21762720" cy="3200400"/>
            </a:xfrm>
            <a:custGeom>
              <a:avLst/>
              <a:gdLst/>
              <a:ahLst/>
              <a:cxnLst/>
              <a:rect r="r" b="b" t="t" l="l"/>
              <a:pathLst>
                <a:path h="3200400" w="21762720">
                  <a:moveTo>
                    <a:pt x="0" y="182880"/>
                  </a:moveTo>
                  <a:cubicBezTo>
                    <a:pt x="0" y="81915"/>
                    <a:pt x="81915" y="0"/>
                    <a:pt x="182880" y="0"/>
                  </a:cubicBezTo>
                  <a:lnTo>
                    <a:pt x="21579839" y="0"/>
                  </a:lnTo>
                  <a:cubicBezTo>
                    <a:pt x="21680804" y="0"/>
                    <a:pt x="21762720" y="81915"/>
                    <a:pt x="21762720" y="182880"/>
                  </a:cubicBezTo>
                  <a:lnTo>
                    <a:pt x="21762720" y="3017520"/>
                  </a:lnTo>
                  <a:cubicBezTo>
                    <a:pt x="21762720" y="3118485"/>
                    <a:pt x="21680804" y="3200400"/>
                    <a:pt x="21579839" y="3200400"/>
                  </a:cubicBezTo>
                  <a:lnTo>
                    <a:pt x="182880" y="3200400"/>
                  </a:lnTo>
                  <a:cubicBezTo>
                    <a:pt x="81915" y="3200400"/>
                    <a:pt x="0" y="3118485"/>
                    <a:pt x="0" y="3017520"/>
                  </a:cubicBezTo>
                  <a:close/>
                </a:path>
              </a:pathLst>
            </a:custGeom>
            <a:solidFill>
              <a:srgbClr val="F4F7FC"/>
            </a:solidFill>
          </p:spPr>
        </p:sp>
      </p:grpSp>
      <p:grpSp>
        <p:nvGrpSpPr>
          <p:cNvPr name="Group 13" id="13"/>
          <p:cNvGrpSpPr/>
          <p:nvPr/>
        </p:nvGrpSpPr>
        <p:grpSpPr>
          <a:xfrm rot="0">
            <a:off x="1440180" y="2811780"/>
            <a:ext cx="15361920" cy="1851660"/>
            <a:chOff x="0" y="0"/>
            <a:chExt cx="20482560" cy="2468880"/>
          </a:xfrm>
        </p:grpSpPr>
        <p:sp>
          <p:nvSpPr>
            <p:cNvPr name="Freeform 14" id="14"/>
            <p:cNvSpPr/>
            <p:nvPr/>
          </p:nvSpPr>
          <p:spPr>
            <a:xfrm flipH="false" flipV="false" rot="0">
              <a:off x="0" y="0"/>
              <a:ext cx="20482561" cy="2468880"/>
            </a:xfrm>
            <a:custGeom>
              <a:avLst/>
              <a:gdLst/>
              <a:ahLst/>
              <a:cxnLst/>
              <a:rect r="r" b="b" t="t" l="l"/>
              <a:pathLst>
                <a:path h="2468880" w="20482561">
                  <a:moveTo>
                    <a:pt x="0" y="0"/>
                  </a:moveTo>
                  <a:lnTo>
                    <a:pt x="20482561" y="0"/>
                  </a:lnTo>
                  <a:lnTo>
                    <a:pt x="20482561" y="2468880"/>
                  </a:lnTo>
                  <a:lnTo>
                    <a:pt x="0" y="2468880"/>
                  </a:lnTo>
                  <a:close/>
                </a:path>
              </a:pathLst>
            </a:custGeom>
            <a:blipFill>
              <a:blip r:embed="rId3">
                <a:alphaModFix amt="0"/>
              </a:blip>
              <a:stretch>
                <a:fillRect l="0" t="-111653" r="0" b="-111653"/>
              </a:stretch>
            </a:blipFill>
          </p:spPr>
        </p:sp>
        <p:sp>
          <p:nvSpPr>
            <p:cNvPr name="TextBox 15" id="15"/>
            <p:cNvSpPr txBox="true"/>
            <p:nvPr/>
          </p:nvSpPr>
          <p:spPr>
            <a:xfrm>
              <a:off x="0" y="-95250"/>
              <a:ext cx="20482560" cy="2564130"/>
            </a:xfrm>
            <a:prstGeom prst="rect">
              <a:avLst/>
            </a:prstGeom>
          </p:spPr>
          <p:txBody>
            <a:bodyPr anchor="ctr" rtlCol="false" tIns="0" lIns="0" bIns="0" rIns="0"/>
            <a:lstStyle/>
            <a:p>
              <a:pPr algn="l">
                <a:lnSpc>
                  <a:spcPts val="3916"/>
                </a:lnSpc>
              </a:pPr>
              <a:r>
                <a:rPr lang="en-US" sz="2550" i="true">
                  <a:solidFill>
                    <a:srgbClr val="23262F"/>
                  </a:solidFill>
                  <a:latin typeface="Cambria Italics"/>
                  <a:ea typeface="Cambria Italics"/>
                  <a:cs typeface="Cambria Italics"/>
                  <a:sym typeface="Cambria Italics"/>
                </a:rPr>
                <a:t>“Before a procurement request goes up for approval, someone quietly edits the peso amount on the form.”</a:t>
              </a:r>
            </a:p>
          </p:txBody>
        </p:sp>
      </p:grpSp>
      <p:grpSp>
        <p:nvGrpSpPr>
          <p:cNvPr name="Group 16" id="16"/>
          <p:cNvGrpSpPr/>
          <p:nvPr/>
        </p:nvGrpSpPr>
        <p:grpSpPr>
          <a:xfrm rot="0">
            <a:off x="950595" y="5408295"/>
            <a:ext cx="5162550" cy="910590"/>
            <a:chOff x="0" y="0"/>
            <a:chExt cx="6883400" cy="1214120"/>
          </a:xfrm>
        </p:grpSpPr>
        <p:sp>
          <p:nvSpPr>
            <p:cNvPr name="Freeform 17" id="17"/>
            <p:cNvSpPr/>
            <p:nvPr/>
          </p:nvSpPr>
          <p:spPr>
            <a:xfrm flipH="false" flipV="false" rot="0">
              <a:off x="0" y="0"/>
              <a:ext cx="6883400" cy="1214120"/>
            </a:xfrm>
            <a:custGeom>
              <a:avLst/>
              <a:gdLst/>
              <a:ahLst/>
              <a:cxnLst/>
              <a:rect r="r" b="b" t="t" l="l"/>
              <a:pathLst>
                <a:path h="1214120" w="6883400">
                  <a:moveTo>
                    <a:pt x="0" y="168148"/>
                  </a:moveTo>
                  <a:cubicBezTo>
                    <a:pt x="0" y="75311"/>
                    <a:pt x="75311" y="0"/>
                    <a:pt x="168148" y="0"/>
                  </a:cubicBezTo>
                  <a:lnTo>
                    <a:pt x="6715252" y="0"/>
                  </a:lnTo>
                  <a:cubicBezTo>
                    <a:pt x="6808089" y="0"/>
                    <a:pt x="6883400" y="75311"/>
                    <a:pt x="6883400" y="168148"/>
                  </a:cubicBezTo>
                  <a:lnTo>
                    <a:pt x="6883400" y="1045972"/>
                  </a:lnTo>
                  <a:cubicBezTo>
                    <a:pt x="6883400" y="1138809"/>
                    <a:pt x="6808089" y="1214120"/>
                    <a:pt x="6715252" y="1214120"/>
                  </a:cubicBezTo>
                  <a:lnTo>
                    <a:pt x="168148" y="1214120"/>
                  </a:lnTo>
                  <a:cubicBezTo>
                    <a:pt x="75311" y="1214120"/>
                    <a:pt x="0" y="1138809"/>
                    <a:pt x="0" y="1045972"/>
                  </a:cubicBezTo>
                  <a:close/>
                </a:path>
              </a:pathLst>
            </a:custGeom>
            <a:solidFill>
              <a:srgbClr val="F4F7FC"/>
            </a:solidFill>
            <a:ln w="19050" cap="sq">
              <a:solidFill>
                <a:srgbClr val="D7DCEC"/>
              </a:solidFill>
              <a:prstDash val="solid"/>
              <a:miter/>
            </a:ln>
          </p:spPr>
        </p:sp>
      </p:grpSp>
      <p:grpSp>
        <p:nvGrpSpPr>
          <p:cNvPr name="Group 18" id="18"/>
          <p:cNvGrpSpPr/>
          <p:nvPr/>
        </p:nvGrpSpPr>
        <p:grpSpPr>
          <a:xfrm rot="0">
            <a:off x="960120" y="5417820"/>
            <a:ext cx="5143500" cy="891540"/>
            <a:chOff x="0" y="0"/>
            <a:chExt cx="6858000" cy="1188720"/>
          </a:xfrm>
        </p:grpSpPr>
        <p:sp>
          <p:nvSpPr>
            <p:cNvPr name="Freeform 19" id="19"/>
            <p:cNvSpPr/>
            <p:nvPr/>
          </p:nvSpPr>
          <p:spPr>
            <a:xfrm flipH="false" flipV="false" rot="0">
              <a:off x="0" y="0"/>
              <a:ext cx="6858000" cy="1188720"/>
            </a:xfrm>
            <a:custGeom>
              <a:avLst/>
              <a:gdLst/>
              <a:ahLst/>
              <a:cxnLst/>
              <a:rect r="r" b="b" t="t" l="l"/>
              <a:pathLst>
                <a:path h="1188720" w="6858000">
                  <a:moveTo>
                    <a:pt x="0" y="0"/>
                  </a:moveTo>
                  <a:lnTo>
                    <a:pt x="6858000" y="0"/>
                  </a:lnTo>
                  <a:lnTo>
                    <a:pt x="6858000" y="1188720"/>
                  </a:lnTo>
                  <a:lnTo>
                    <a:pt x="0" y="1188720"/>
                  </a:lnTo>
                  <a:close/>
                </a:path>
              </a:pathLst>
            </a:custGeom>
            <a:blipFill>
              <a:blip r:embed="rId3">
                <a:alphaModFix amt="0"/>
              </a:blip>
              <a:stretch>
                <a:fillRect l="0" t="-62413" r="0" b="-62413"/>
              </a:stretch>
            </a:blipFill>
          </p:spPr>
        </p:sp>
        <p:sp>
          <p:nvSpPr>
            <p:cNvPr name="TextBox 20" id="20"/>
            <p:cNvSpPr txBox="true"/>
            <p:nvPr/>
          </p:nvSpPr>
          <p:spPr>
            <a:xfrm>
              <a:off x="0" y="-47625"/>
              <a:ext cx="6858000" cy="1236345"/>
            </a:xfrm>
            <a:prstGeom prst="rect">
              <a:avLst/>
            </a:prstGeom>
          </p:spPr>
          <p:txBody>
            <a:bodyPr anchor="ctr" rtlCol="false" tIns="0" lIns="0" bIns="0" rIns="0"/>
            <a:lstStyle/>
            <a:p>
              <a:pPr algn="ctr">
                <a:lnSpc>
                  <a:spcPts val="2520"/>
                </a:lnSpc>
              </a:pPr>
              <a:r>
                <a:rPr lang="en-US" sz="2100">
                  <a:solidFill>
                    <a:srgbClr val="6B7280"/>
                  </a:solidFill>
                  <a:latin typeface="Calibri (MS)"/>
                  <a:ea typeface="Calibri (MS)"/>
                  <a:cs typeface="Calibri (MS)"/>
                  <a:sym typeface="Calibri (MS)"/>
                </a:rPr>
                <a:t>Confidentiality</a:t>
              </a:r>
            </a:p>
          </p:txBody>
        </p:sp>
      </p:grpSp>
      <p:grpSp>
        <p:nvGrpSpPr>
          <p:cNvPr name="Group 21" id="21"/>
          <p:cNvGrpSpPr/>
          <p:nvPr/>
        </p:nvGrpSpPr>
        <p:grpSpPr>
          <a:xfrm rot="0">
            <a:off x="6533007" y="5408295"/>
            <a:ext cx="5162550" cy="910590"/>
            <a:chOff x="0" y="0"/>
            <a:chExt cx="6883400" cy="1214120"/>
          </a:xfrm>
        </p:grpSpPr>
        <p:sp>
          <p:nvSpPr>
            <p:cNvPr name="Freeform 22" id="22"/>
            <p:cNvSpPr/>
            <p:nvPr/>
          </p:nvSpPr>
          <p:spPr>
            <a:xfrm flipH="false" flipV="false" rot="0">
              <a:off x="0" y="0"/>
              <a:ext cx="6883400" cy="1214120"/>
            </a:xfrm>
            <a:custGeom>
              <a:avLst/>
              <a:gdLst/>
              <a:ahLst/>
              <a:cxnLst/>
              <a:rect r="r" b="b" t="t" l="l"/>
              <a:pathLst>
                <a:path h="1214120" w="6883400">
                  <a:moveTo>
                    <a:pt x="0" y="168148"/>
                  </a:moveTo>
                  <a:cubicBezTo>
                    <a:pt x="0" y="75311"/>
                    <a:pt x="75311" y="0"/>
                    <a:pt x="168148" y="0"/>
                  </a:cubicBezTo>
                  <a:lnTo>
                    <a:pt x="6715252" y="0"/>
                  </a:lnTo>
                  <a:cubicBezTo>
                    <a:pt x="6808089" y="0"/>
                    <a:pt x="6883400" y="75311"/>
                    <a:pt x="6883400" y="168148"/>
                  </a:cubicBezTo>
                  <a:lnTo>
                    <a:pt x="6883400" y="1045972"/>
                  </a:lnTo>
                  <a:cubicBezTo>
                    <a:pt x="6883400" y="1138809"/>
                    <a:pt x="6808089" y="1214120"/>
                    <a:pt x="6715252" y="1214120"/>
                  </a:cubicBezTo>
                  <a:lnTo>
                    <a:pt x="168148" y="1214120"/>
                  </a:lnTo>
                  <a:cubicBezTo>
                    <a:pt x="75311" y="1214120"/>
                    <a:pt x="0" y="1138809"/>
                    <a:pt x="0" y="1045972"/>
                  </a:cubicBezTo>
                  <a:close/>
                </a:path>
              </a:pathLst>
            </a:custGeom>
            <a:solidFill>
              <a:srgbClr val="0F8A6E"/>
            </a:solidFill>
            <a:ln w="19050" cap="sq">
              <a:solidFill>
                <a:srgbClr val="0F8A6E"/>
              </a:solidFill>
              <a:prstDash val="solid"/>
              <a:miter/>
            </a:ln>
          </p:spPr>
        </p:sp>
      </p:grpSp>
      <p:grpSp>
        <p:nvGrpSpPr>
          <p:cNvPr name="Group 23" id="23"/>
          <p:cNvGrpSpPr/>
          <p:nvPr/>
        </p:nvGrpSpPr>
        <p:grpSpPr>
          <a:xfrm rot="0">
            <a:off x="6542532" y="5417820"/>
            <a:ext cx="5143500" cy="891540"/>
            <a:chOff x="0" y="0"/>
            <a:chExt cx="6858000" cy="1188720"/>
          </a:xfrm>
        </p:grpSpPr>
        <p:sp>
          <p:nvSpPr>
            <p:cNvPr name="Freeform 24" id="24"/>
            <p:cNvSpPr/>
            <p:nvPr/>
          </p:nvSpPr>
          <p:spPr>
            <a:xfrm flipH="false" flipV="false" rot="0">
              <a:off x="0" y="0"/>
              <a:ext cx="6858000" cy="1188720"/>
            </a:xfrm>
            <a:custGeom>
              <a:avLst/>
              <a:gdLst/>
              <a:ahLst/>
              <a:cxnLst/>
              <a:rect r="r" b="b" t="t" l="l"/>
              <a:pathLst>
                <a:path h="1188720" w="6858000">
                  <a:moveTo>
                    <a:pt x="0" y="0"/>
                  </a:moveTo>
                  <a:lnTo>
                    <a:pt x="6858000" y="0"/>
                  </a:lnTo>
                  <a:lnTo>
                    <a:pt x="6858000" y="1188720"/>
                  </a:lnTo>
                  <a:lnTo>
                    <a:pt x="0" y="1188720"/>
                  </a:lnTo>
                  <a:close/>
                </a:path>
              </a:pathLst>
            </a:custGeom>
            <a:blipFill>
              <a:blip r:embed="rId3">
                <a:alphaModFix amt="0"/>
              </a:blip>
              <a:stretch>
                <a:fillRect l="0" t="-62413" r="0" b="-62413"/>
              </a:stretch>
            </a:blipFill>
          </p:spPr>
        </p:sp>
        <p:sp>
          <p:nvSpPr>
            <p:cNvPr name="TextBox 25" id="25"/>
            <p:cNvSpPr txBox="true"/>
            <p:nvPr/>
          </p:nvSpPr>
          <p:spPr>
            <a:xfrm>
              <a:off x="0" y="-47625"/>
              <a:ext cx="6858000" cy="1236345"/>
            </a:xfrm>
            <a:prstGeom prst="rect">
              <a:avLst/>
            </a:prstGeom>
          </p:spPr>
          <p:txBody>
            <a:bodyPr anchor="ctr" rtlCol="false" tIns="0" lIns="0" bIns="0" rIns="0"/>
            <a:lstStyle/>
            <a:p>
              <a:pPr algn="ctr">
                <a:lnSpc>
                  <a:spcPts val="2520"/>
                </a:lnSpc>
              </a:pPr>
              <a:r>
                <a:rPr lang="en-US" sz="2100" b="true">
                  <a:solidFill>
                    <a:srgbClr val="FFFFFF"/>
                  </a:solidFill>
                  <a:latin typeface="Calibri (MS) Bold"/>
                  <a:ea typeface="Calibri (MS) Bold"/>
                  <a:cs typeface="Calibri (MS) Bold"/>
                  <a:sym typeface="Calibri (MS) Bold"/>
                </a:rPr>
                <a:t>✓  Integrity</a:t>
              </a:r>
            </a:p>
          </p:txBody>
        </p:sp>
      </p:grpSp>
      <p:grpSp>
        <p:nvGrpSpPr>
          <p:cNvPr name="Group 26" id="26"/>
          <p:cNvGrpSpPr/>
          <p:nvPr/>
        </p:nvGrpSpPr>
        <p:grpSpPr>
          <a:xfrm rot="0">
            <a:off x="12115419" y="5408295"/>
            <a:ext cx="5162550" cy="910590"/>
            <a:chOff x="0" y="0"/>
            <a:chExt cx="6883400" cy="1214120"/>
          </a:xfrm>
        </p:grpSpPr>
        <p:sp>
          <p:nvSpPr>
            <p:cNvPr name="Freeform 27" id="27"/>
            <p:cNvSpPr/>
            <p:nvPr/>
          </p:nvSpPr>
          <p:spPr>
            <a:xfrm flipH="false" flipV="false" rot="0">
              <a:off x="0" y="0"/>
              <a:ext cx="6883400" cy="1214120"/>
            </a:xfrm>
            <a:custGeom>
              <a:avLst/>
              <a:gdLst/>
              <a:ahLst/>
              <a:cxnLst/>
              <a:rect r="r" b="b" t="t" l="l"/>
              <a:pathLst>
                <a:path h="1214120" w="6883400">
                  <a:moveTo>
                    <a:pt x="0" y="168148"/>
                  </a:moveTo>
                  <a:cubicBezTo>
                    <a:pt x="0" y="75311"/>
                    <a:pt x="75311" y="0"/>
                    <a:pt x="168148" y="0"/>
                  </a:cubicBezTo>
                  <a:lnTo>
                    <a:pt x="6715252" y="0"/>
                  </a:lnTo>
                  <a:cubicBezTo>
                    <a:pt x="6808089" y="0"/>
                    <a:pt x="6883400" y="75311"/>
                    <a:pt x="6883400" y="168148"/>
                  </a:cubicBezTo>
                  <a:lnTo>
                    <a:pt x="6883400" y="1045972"/>
                  </a:lnTo>
                  <a:cubicBezTo>
                    <a:pt x="6883400" y="1138809"/>
                    <a:pt x="6808089" y="1214120"/>
                    <a:pt x="6715252" y="1214120"/>
                  </a:cubicBezTo>
                  <a:lnTo>
                    <a:pt x="168148" y="1214120"/>
                  </a:lnTo>
                  <a:cubicBezTo>
                    <a:pt x="75311" y="1214120"/>
                    <a:pt x="0" y="1138809"/>
                    <a:pt x="0" y="1045972"/>
                  </a:cubicBezTo>
                  <a:close/>
                </a:path>
              </a:pathLst>
            </a:custGeom>
            <a:solidFill>
              <a:srgbClr val="F4F7FC"/>
            </a:solidFill>
            <a:ln w="19050" cap="sq">
              <a:solidFill>
                <a:srgbClr val="D7DCEC"/>
              </a:solidFill>
              <a:prstDash val="solid"/>
              <a:miter/>
            </a:ln>
          </p:spPr>
        </p:sp>
      </p:grpSp>
      <p:grpSp>
        <p:nvGrpSpPr>
          <p:cNvPr name="Group 28" id="28"/>
          <p:cNvGrpSpPr/>
          <p:nvPr/>
        </p:nvGrpSpPr>
        <p:grpSpPr>
          <a:xfrm rot="0">
            <a:off x="12124944" y="5417820"/>
            <a:ext cx="5143500" cy="891540"/>
            <a:chOff x="0" y="0"/>
            <a:chExt cx="6858000" cy="1188720"/>
          </a:xfrm>
        </p:grpSpPr>
        <p:sp>
          <p:nvSpPr>
            <p:cNvPr name="Freeform 29" id="29"/>
            <p:cNvSpPr/>
            <p:nvPr/>
          </p:nvSpPr>
          <p:spPr>
            <a:xfrm flipH="false" flipV="false" rot="0">
              <a:off x="0" y="0"/>
              <a:ext cx="6858000" cy="1188720"/>
            </a:xfrm>
            <a:custGeom>
              <a:avLst/>
              <a:gdLst/>
              <a:ahLst/>
              <a:cxnLst/>
              <a:rect r="r" b="b" t="t" l="l"/>
              <a:pathLst>
                <a:path h="1188720" w="6858000">
                  <a:moveTo>
                    <a:pt x="0" y="0"/>
                  </a:moveTo>
                  <a:lnTo>
                    <a:pt x="6858000" y="0"/>
                  </a:lnTo>
                  <a:lnTo>
                    <a:pt x="6858000" y="1188720"/>
                  </a:lnTo>
                  <a:lnTo>
                    <a:pt x="0" y="1188720"/>
                  </a:lnTo>
                  <a:close/>
                </a:path>
              </a:pathLst>
            </a:custGeom>
            <a:blipFill>
              <a:blip r:embed="rId3">
                <a:alphaModFix amt="0"/>
              </a:blip>
              <a:stretch>
                <a:fillRect l="0" t="-62413" r="0" b="-62413"/>
              </a:stretch>
            </a:blipFill>
          </p:spPr>
        </p:sp>
        <p:sp>
          <p:nvSpPr>
            <p:cNvPr name="TextBox 30" id="30"/>
            <p:cNvSpPr txBox="true"/>
            <p:nvPr/>
          </p:nvSpPr>
          <p:spPr>
            <a:xfrm>
              <a:off x="0" y="-47625"/>
              <a:ext cx="6858000" cy="1236345"/>
            </a:xfrm>
            <a:prstGeom prst="rect">
              <a:avLst/>
            </a:prstGeom>
          </p:spPr>
          <p:txBody>
            <a:bodyPr anchor="ctr" rtlCol="false" tIns="0" lIns="0" bIns="0" rIns="0"/>
            <a:lstStyle/>
            <a:p>
              <a:pPr algn="ctr">
                <a:lnSpc>
                  <a:spcPts val="2520"/>
                </a:lnSpc>
              </a:pPr>
              <a:r>
                <a:rPr lang="en-US" sz="2100">
                  <a:solidFill>
                    <a:srgbClr val="6B7280"/>
                  </a:solidFill>
                  <a:latin typeface="Calibri (MS)"/>
                  <a:ea typeface="Calibri (MS)"/>
                  <a:cs typeface="Calibri (MS)"/>
                  <a:sym typeface="Calibri (MS)"/>
                </a:rPr>
                <a:t>Availability</a:t>
              </a:r>
            </a:p>
          </p:txBody>
        </p:sp>
      </p:grpSp>
      <p:grpSp>
        <p:nvGrpSpPr>
          <p:cNvPr name="Group 31" id="31"/>
          <p:cNvGrpSpPr/>
          <p:nvPr/>
        </p:nvGrpSpPr>
        <p:grpSpPr>
          <a:xfrm rot="0">
            <a:off x="950595" y="6779895"/>
            <a:ext cx="16341090" cy="2145030"/>
            <a:chOff x="0" y="0"/>
            <a:chExt cx="21788120" cy="2860040"/>
          </a:xfrm>
        </p:grpSpPr>
        <p:sp>
          <p:nvSpPr>
            <p:cNvPr name="Freeform 32" id="32"/>
            <p:cNvSpPr/>
            <p:nvPr/>
          </p:nvSpPr>
          <p:spPr>
            <a:xfrm flipH="false" flipV="false" rot="0">
              <a:off x="0" y="0"/>
              <a:ext cx="21788120" cy="2860040"/>
            </a:xfrm>
            <a:custGeom>
              <a:avLst/>
              <a:gdLst/>
              <a:ahLst/>
              <a:cxnLst/>
              <a:rect r="r" b="b" t="t" l="l"/>
              <a:pathLst>
                <a:path h="2860040" w="21788120">
                  <a:moveTo>
                    <a:pt x="0" y="184531"/>
                  </a:moveTo>
                  <a:cubicBezTo>
                    <a:pt x="0" y="82677"/>
                    <a:pt x="82677" y="0"/>
                    <a:pt x="184531" y="0"/>
                  </a:cubicBezTo>
                  <a:lnTo>
                    <a:pt x="21603588" y="0"/>
                  </a:lnTo>
                  <a:cubicBezTo>
                    <a:pt x="21705443" y="0"/>
                    <a:pt x="21788120" y="82677"/>
                    <a:pt x="21788120" y="184531"/>
                  </a:cubicBezTo>
                  <a:lnTo>
                    <a:pt x="21788120" y="2675509"/>
                  </a:lnTo>
                  <a:cubicBezTo>
                    <a:pt x="21788120" y="2777363"/>
                    <a:pt x="21705443" y="2860040"/>
                    <a:pt x="21603588" y="2860040"/>
                  </a:cubicBezTo>
                  <a:lnTo>
                    <a:pt x="184531" y="2860040"/>
                  </a:lnTo>
                  <a:cubicBezTo>
                    <a:pt x="82677" y="2860040"/>
                    <a:pt x="0" y="2777363"/>
                    <a:pt x="0" y="2675509"/>
                  </a:cubicBezTo>
                  <a:close/>
                </a:path>
              </a:pathLst>
            </a:custGeom>
            <a:solidFill>
              <a:srgbClr val="FBF9F4"/>
            </a:solidFill>
            <a:ln w="19050" cap="sq">
              <a:solidFill>
                <a:srgbClr val="EFE6D2"/>
              </a:solidFill>
              <a:prstDash val="solid"/>
              <a:miter/>
            </a:ln>
          </p:spPr>
        </p:sp>
      </p:grpSp>
      <p:sp>
        <p:nvSpPr>
          <p:cNvPr name="TextBox 33" id="33"/>
          <p:cNvSpPr txBox="true"/>
          <p:nvPr/>
        </p:nvSpPr>
        <p:spPr>
          <a:xfrm rot="0">
            <a:off x="1463040" y="6977253"/>
            <a:ext cx="15316200" cy="1659255"/>
          </a:xfrm>
          <a:prstGeom prst="rect">
            <a:avLst/>
          </a:prstGeom>
        </p:spPr>
        <p:txBody>
          <a:bodyPr anchor="t" rtlCol="false" tIns="0" lIns="0" bIns="0" rIns="0">
            <a:spAutoFit/>
          </a:bodyPr>
          <a:lstStyle/>
          <a:p>
            <a:pPr algn="l">
              <a:lnSpc>
                <a:spcPts val="3159"/>
              </a:lnSpc>
            </a:pPr>
            <a:r>
              <a:rPr lang="en-US" sz="2025">
                <a:solidFill>
                  <a:srgbClr val="23262F"/>
                </a:solidFill>
                <a:latin typeface="Calibri (MS)"/>
                <a:ea typeface="Calibri (MS)"/>
                <a:cs typeface="Calibri (MS)"/>
                <a:sym typeface="Calibri (MS)"/>
              </a:rPr>
              <a:t>The document was tampered with, so the numbers on it can no longer be trusted as accurate. That's an Integrity failure.</a:t>
            </a:r>
          </a:p>
        </p:txBody>
      </p:sp>
      <p:grpSp>
        <p:nvGrpSpPr>
          <p:cNvPr name="Group 34" id="34"/>
          <p:cNvGrpSpPr/>
          <p:nvPr/>
        </p:nvGrpSpPr>
        <p:grpSpPr>
          <a:xfrm rot="0">
            <a:off x="685800" y="9710928"/>
            <a:ext cx="10972800" cy="411480"/>
            <a:chOff x="0" y="0"/>
            <a:chExt cx="14630400" cy="548640"/>
          </a:xfrm>
        </p:grpSpPr>
        <p:sp>
          <p:nvSpPr>
            <p:cNvPr name="Freeform 35" id="35"/>
            <p:cNvSpPr/>
            <p:nvPr/>
          </p:nvSpPr>
          <p:spPr>
            <a:xfrm flipH="false" flipV="false" rot="0">
              <a:off x="0" y="0"/>
              <a:ext cx="14630400" cy="548640"/>
            </a:xfrm>
            <a:custGeom>
              <a:avLst/>
              <a:gdLst/>
              <a:ahLst/>
              <a:cxnLst/>
              <a:rect r="r" b="b" t="t" l="l"/>
              <a:pathLst>
                <a:path h="548640" w="14630400">
                  <a:moveTo>
                    <a:pt x="0" y="0"/>
                  </a:moveTo>
                  <a:lnTo>
                    <a:pt x="14630400" y="0"/>
                  </a:lnTo>
                  <a:lnTo>
                    <a:pt x="14630400" y="548640"/>
                  </a:lnTo>
                  <a:lnTo>
                    <a:pt x="0" y="548640"/>
                  </a:lnTo>
                  <a:close/>
                </a:path>
              </a:pathLst>
            </a:custGeom>
            <a:blipFill>
              <a:blip r:embed="rId3">
                <a:alphaModFix amt="0"/>
              </a:blip>
              <a:stretch>
                <a:fillRect l="0" t="-469601" r="0" b="-469601"/>
              </a:stretch>
            </a:blipFill>
          </p:spPr>
        </p:sp>
        <p:sp>
          <p:nvSpPr>
            <p:cNvPr name="TextBox 36" id="36"/>
            <p:cNvSpPr txBox="true"/>
            <p:nvPr/>
          </p:nvSpPr>
          <p:spPr>
            <a:xfrm>
              <a:off x="0" y="-38100"/>
              <a:ext cx="14630400" cy="586740"/>
            </a:xfrm>
            <a:prstGeom prst="rect">
              <a:avLst/>
            </a:prstGeom>
          </p:spPr>
          <p:txBody>
            <a:bodyPr anchor="ctr" rtlCol="false" tIns="0" lIns="0" bIns="0" rIns="0"/>
            <a:lstStyle/>
            <a:p>
              <a:pPr algn="l">
                <a:lnSpc>
                  <a:spcPts val="1800"/>
                </a:lnSpc>
              </a:pPr>
              <a:r>
                <a:rPr lang="en-US" sz="1500">
                  <a:solidFill>
                    <a:srgbClr val="6B7280"/>
                  </a:solidFill>
                  <a:latin typeface="Calibri (MS)"/>
                  <a:ea typeface="Calibri (MS)"/>
                  <a:cs typeface="Calibri (MS)"/>
                  <a:sym typeface="Calibri (MS)"/>
                </a:rPr>
                <a:t>Davao del Norte Provincial Government — Cybersecurity Seminar</a:t>
              </a:r>
            </a:p>
          </p:txBody>
        </p:sp>
      </p:grpSp>
      <p:grpSp>
        <p:nvGrpSpPr>
          <p:cNvPr name="Group 37" id="37"/>
          <p:cNvGrpSpPr/>
          <p:nvPr/>
        </p:nvGrpSpPr>
        <p:grpSpPr>
          <a:xfrm rot="0">
            <a:off x="16911828" y="9710928"/>
            <a:ext cx="685800" cy="411480"/>
            <a:chOff x="0" y="0"/>
            <a:chExt cx="914400" cy="548640"/>
          </a:xfrm>
        </p:grpSpPr>
        <p:sp>
          <p:nvSpPr>
            <p:cNvPr name="Freeform 38" id="38"/>
            <p:cNvSpPr/>
            <p:nvPr/>
          </p:nvSpPr>
          <p:spPr>
            <a:xfrm flipH="false" flipV="false" rot="0">
              <a:off x="0" y="0"/>
              <a:ext cx="914400" cy="548640"/>
            </a:xfrm>
            <a:custGeom>
              <a:avLst/>
              <a:gdLst/>
              <a:ahLst/>
              <a:cxnLst/>
              <a:rect r="r" b="b" t="t" l="l"/>
              <a:pathLst>
                <a:path h="548640" w="914400">
                  <a:moveTo>
                    <a:pt x="0" y="0"/>
                  </a:moveTo>
                  <a:lnTo>
                    <a:pt x="914400" y="0"/>
                  </a:lnTo>
                  <a:lnTo>
                    <a:pt x="914400" y="548640"/>
                  </a:lnTo>
                  <a:lnTo>
                    <a:pt x="0" y="548640"/>
                  </a:lnTo>
                  <a:close/>
                </a:path>
              </a:pathLst>
            </a:custGeom>
            <a:blipFill>
              <a:blip r:embed="rId3">
                <a:alphaModFix amt="0"/>
              </a:blip>
              <a:stretch>
                <a:fillRect l="-26982" t="0" r="-26982" b="0"/>
              </a:stretch>
            </a:blipFill>
          </p:spPr>
        </p:sp>
        <p:sp>
          <p:nvSpPr>
            <p:cNvPr name="TextBox 39" id="39"/>
            <p:cNvSpPr txBox="true"/>
            <p:nvPr/>
          </p:nvSpPr>
          <p:spPr>
            <a:xfrm>
              <a:off x="0" y="-38100"/>
              <a:ext cx="914400" cy="586740"/>
            </a:xfrm>
            <a:prstGeom prst="rect">
              <a:avLst/>
            </a:prstGeom>
          </p:spPr>
          <p:txBody>
            <a:bodyPr anchor="ctr" rtlCol="false" tIns="0" lIns="0" bIns="0" rIns="0"/>
            <a:lstStyle/>
            <a:p>
              <a:pPr algn="r">
                <a:lnSpc>
                  <a:spcPts val="1800"/>
                </a:lnSpc>
              </a:pPr>
              <a:r>
                <a:rPr lang="en-US" sz="1500">
                  <a:solidFill>
                    <a:srgbClr val="6B7280"/>
                  </a:solidFill>
                  <a:latin typeface="Calibri (MS)"/>
                  <a:ea typeface="Calibri (MS)"/>
                  <a:cs typeface="Calibri (MS)"/>
                  <a:sym typeface="Calibri (MS)"/>
                </a:rPr>
                <a:t>42</a:t>
              </a:r>
            </a:p>
          </p:txBody>
        </p:sp>
      </p:grpSp>
    </p:spTree>
  </p:cSld>
  <p:clrMapOvr>
    <a:masterClrMapping/>
  </p:clrMapOvr>
</p:sld>
</file>

<file path=ppt/slides/slide4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60120" y="685800"/>
            <a:ext cx="13716000" cy="411480"/>
            <a:chOff x="0" y="0"/>
            <a:chExt cx="18288000" cy="548640"/>
          </a:xfrm>
        </p:grpSpPr>
        <p:sp>
          <p:nvSpPr>
            <p:cNvPr name="Freeform 3" id="3"/>
            <p:cNvSpPr/>
            <p:nvPr/>
          </p:nvSpPr>
          <p:spPr>
            <a:xfrm flipH="false" flipV="false" rot="0">
              <a:off x="0" y="0"/>
              <a:ext cx="18288000" cy="548640"/>
            </a:xfrm>
            <a:custGeom>
              <a:avLst/>
              <a:gdLst/>
              <a:ahLst/>
              <a:cxnLst/>
              <a:rect r="r" b="b" t="t" l="l"/>
              <a:pathLst>
                <a:path h="548640" w="18288000">
                  <a:moveTo>
                    <a:pt x="0" y="0"/>
                  </a:moveTo>
                  <a:lnTo>
                    <a:pt x="18288000" y="0"/>
                  </a:lnTo>
                  <a:lnTo>
                    <a:pt x="18288000" y="548640"/>
                  </a:lnTo>
                  <a:lnTo>
                    <a:pt x="0" y="548640"/>
                  </a:lnTo>
                  <a:close/>
                </a:path>
              </a:pathLst>
            </a:custGeom>
            <a:blipFill>
              <a:blip r:embed="rId3">
                <a:alphaModFix amt="0"/>
              </a:blip>
              <a:stretch>
                <a:fillRect l="0" t="-599501" r="0" b="-599501"/>
              </a:stretch>
            </a:blipFill>
          </p:spPr>
        </p:sp>
        <p:sp>
          <p:nvSpPr>
            <p:cNvPr name="TextBox 4" id="4"/>
            <p:cNvSpPr txBox="true"/>
            <p:nvPr/>
          </p:nvSpPr>
          <p:spPr>
            <a:xfrm>
              <a:off x="0" y="-38100"/>
              <a:ext cx="18288000" cy="586740"/>
            </a:xfrm>
            <a:prstGeom prst="rect">
              <a:avLst/>
            </a:prstGeom>
          </p:spPr>
          <p:txBody>
            <a:bodyPr anchor="ctr" rtlCol="false" tIns="0" lIns="0" bIns="0" rIns="0"/>
            <a:lstStyle/>
            <a:p>
              <a:pPr algn="l">
                <a:lnSpc>
                  <a:spcPts val="2160"/>
                </a:lnSpc>
              </a:pPr>
              <a:r>
                <a:rPr lang="en-US" b="true" sz="1800" spc="225">
                  <a:solidFill>
                    <a:srgbClr val="00B4D8"/>
                  </a:solidFill>
                  <a:latin typeface="Calibri (MS) Bold"/>
                  <a:ea typeface="Calibri (MS) Bold"/>
                  <a:cs typeface="Calibri (MS) Bold"/>
                  <a:sym typeface="Calibri (MS) Bold"/>
                </a:rPr>
                <a:t>CIA TRIAD SORT · SCENARIO</a:t>
              </a:r>
            </a:p>
          </p:txBody>
        </p:sp>
      </p:grpSp>
      <p:grpSp>
        <p:nvGrpSpPr>
          <p:cNvPr name="Group 5" id="5"/>
          <p:cNvGrpSpPr/>
          <p:nvPr/>
        </p:nvGrpSpPr>
        <p:grpSpPr>
          <a:xfrm rot="0">
            <a:off x="960120" y="1069848"/>
            <a:ext cx="10972800" cy="822960"/>
            <a:chOff x="0" y="0"/>
            <a:chExt cx="14630400" cy="1097280"/>
          </a:xfrm>
        </p:grpSpPr>
        <p:sp>
          <p:nvSpPr>
            <p:cNvPr name="Freeform 6" id="6"/>
            <p:cNvSpPr/>
            <p:nvPr/>
          </p:nvSpPr>
          <p:spPr>
            <a:xfrm flipH="false" flipV="false" rot="0">
              <a:off x="0" y="0"/>
              <a:ext cx="14630400" cy="1097280"/>
            </a:xfrm>
            <a:custGeom>
              <a:avLst/>
              <a:gdLst/>
              <a:ahLst/>
              <a:cxnLst/>
              <a:rect r="r" b="b" t="t" l="l"/>
              <a:pathLst>
                <a:path h="1097280" w="14630400">
                  <a:moveTo>
                    <a:pt x="0" y="0"/>
                  </a:moveTo>
                  <a:lnTo>
                    <a:pt x="14630400" y="0"/>
                  </a:lnTo>
                  <a:lnTo>
                    <a:pt x="14630400" y="1097280"/>
                  </a:lnTo>
                  <a:lnTo>
                    <a:pt x="0" y="1097280"/>
                  </a:lnTo>
                  <a:close/>
                </a:path>
              </a:pathLst>
            </a:custGeom>
            <a:blipFill>
              <a:blip r:embed="rId3">
                <a:alphaModFix amt="0"/>
              </a:blip>
              <a:stretch>
                <a:fillRect l="0" t="-209800" r="0" b="-209800"/>
              </a:stretch>
            </a:blipFill>
          </p:spPr>
        </p:sp>
        <p:sp>
          <p:nvSpPr>
            <p:cNvPr name="TextBox 7" id="7"/>
            <p:cNvSpPr txBox="true"/>
            <p:nvPr/>
          </p:nvSpPr>
          <p:spPr>
            <a:xfrm>
              <a:off x="0" y="0"/>
              <a:ext cx="14630400" cy="1097280"/>
            </a:xfrm>
            <a:prstGeom prst="rect">
              <a:avLst/>
            </a:prstGeom>
          </p:spPr>
          <p:txBody>
            <a:bodyPr anchor="ctr" rtlCol="false" tIns="0" lIns="0" bIns="0" rIns="0"/>
            <a:lstStyle/>
            <a:p>
              <a:pPr algn="l">
                <a:lnSpc>
                  <a:spcPts val="4680"/>
                </a:lnSpc>
              </a:pPr>
              <a:r>
                <a:rPr lang="en-US" sz="3900" b="true">
                  <a:solidFill>
                    <a:srgbClr val="1E2761"/>
                  </a:solidFill>
                  <a:latin typeface="Cambria Bold"/>
                  <a:ea typeface="Cambria Bold"/>
                  <a:cs typeface="Cambria Bold"/>
                  <a:sym typeface="Cambria Bold"/>
                </a:rPr>
                <a:t>Scenario 3</a:t>
              </a:r>
            </a:p>
          </p:txBody>
        </p:sp>
      </p:grpSp>
      <p:grpSp>
        <p:nvGrpSpPr>
          <p:cNvPr name="Group 8" id="8"/>
          <p:cNvGrpSpPr/>
          <p:nvPr/>
        </p:nvGrpSpPr>
        <p:grpSpPr>
          <a:xfrm rot="0">
            <a:off x="960120" y="1810512"/>
            <a:ext cx="8229600" cy="411480"/>
            <a:chOff x="0" y="0"/>
            <a:chExt cx="10972800" cy="548640"/>
          </a:xfrm>
        </p:grpSpPr>
        <p:sp>
          <p:nvSpPr>
            <p:cNvPr name="Freeform 9" id="9"/>
            <p:cNvSpPr/>
            <p:nvPr/>
          </p:nvSpPr>
          <p:spPr>
            <a:xfrm flipH="false" flipV="false" rot="0">
              <a:off x="0" y="0"/>
              <a:ext cx="10972800" cy="548640"/>
            </a:xfrm>
            <a:custGeom>
              <a:avLst/>
              <a:gdLst/>
              <a:ahLst/>
              <a:cxnLst/>
              <a:rect r="r" b="b" t="t" l="l"/>
              <a:pathLst>
                <a:path h="548640" w="10972800">
                  <a:moveTo>
                    <a:pt x="0" y="0"/>
                  </a:moveTo>
                  <a:lnTo>
                    <a:pt x="10972800" y="0"/>
                  </a:lnTo>
                  <a:lnTo>
                    <a:pt x="10972800" y="548640"/>
                  </a:lnTo>
                  <a:lnTo>
                    <a:pt x="0" y="548640"/>
                  </a:lnTo>
                  <a:close/>
                </a:path>
              </a:pathLst>
            </a:custGeom>
            <a:blipFill>
              <a:blip r:embed="rId3">
                <a:alphaModFix amt="0"/>
              </a:blip>
              <a:stretch>
                <a:fillRect l="0" t="-339700" r="0" b="-339700"/>
              </a:stretch>
            </a:blipFill>
          </p:spPr>
        </p:sp>
        <p:sp>
          <p:nvSpPr>
            <p:cNvPr name="TextBox 10" id="10"/>
            <p:cNvSpPr txBox="true"/>
            <p:nvPr/>
          </p:nvSpPr>
          <p:spPr>
            <a:xfrm>
              <a:off x="0" y="-28575"/>
              <a:ext cx="10972800" cy="577215"/>
            </a:xfrm>
            <a:prstGeom prst="rect">
              <a:avLst/>
            </a:prstGeom>
          </p:spPr>
          <p:txBody>
            <a:bodyPr anchor="ctr" rtlCol="false" tIns="0" lIns="0" bIns="0" rIns="0"/>
            <a:lstStyle/>
            <a:p>
              <a:pPr algn="l">
                <a:lnSpc>
                  <a:spcPts val="1980"/>
                </a:lnSpc>
              </a:pPr>
              <a:r>
                <a:rPr lang="en-US" sz="1650">
                  <a:solidFill>
                    <a:srgbClr val="6B7280"/>
                  </a:solidFill>
                  <a:latin typeface="Calibri (MS)"/>
                  <a:ea typeface="Calibri (MS)"/>
                  <a:cs typeface="Calibri (MS)"/>
                  <a:sym typeface="Calibri (MS)"/>
                </a:rPr>
                <a:t>3 of 12</a:t>
              </a:r>
            </a:p>
          </p:txBody>
        </p:sp>
      </p:grpSp>
      <p:grpSp>
        <p:nvGrpSpPr>
          <p:cNvPr name="Group 11" id="11"/>
          <p:cNvGrpSpPr/>
          <p:nvPr/>
        </p:nvGrpSpPr>
        <p:grpSpPr>
          <a:xfrm rot="0">
            <a:off x="960120" y="2537460"/>
            <a:ext cx="16322040" cy="2811780"/>
            <a:chOff x="0" y="0"/>
            <a:chExt cx="21762720" cy="3749040"/>
          </a:xfrm>
        </p:grpSpPr>
        <p:sp>
          <p:nvSpPr>
            <p:cNvPr name="Freeform 12" id="12"/>
            <p:cNvSpPr/>
            <p:nvPr/>
          </p:nvSpPr>
          <p:spPr>
            <a:xfrm flipH="false" flipV="false" rot="0">
              <a:off x="0" y="0"/>
              <a:ext cx="21762720" cy="3749040"/>
            </a:xfrm>
            <a:custGeom>
              <a:avLst/>
              <a:gdLst/>
              <a:ahLst/>
              <a:cxnLst/>
              <a:rect r="r" b="b" t="t" l="l"/>
              <a:pathLst>
                <a:path h="3749040" w="21762720">
                  <a:moveTo>
                    <a:pt x="0" y="182880"/>
                  </a:moveTo>
                  <a:cubicBezTo>
                    <a:pt x="0" y="81915"/>
                    <a:pt x="81915" y="0"/>
                    <a:pt x="182880" y="0"/>
                  </a:cubicBezTo>
                  <a:lnTo>
                    <a:pt x="21579839" y="0"/>
                  </a:lnTo>
                  <a:cubicBezTo>
                    <a:pt x="21680804" y="0"/>
                    <a:pt x="21762720" y="81915"/>
                    <a:pt x="21762720" y="182880"/>
                  </a:cubicBezTo>
                  <a:lnTo>
                    <a:pt x="21762720" y="3566160"/>
                  </a:lnTo>
                  <a:cubicBezTo>
                    <a:pt x="21762720" y="3667125"/>
                    <a:pt x="21680804" y="3749040"/>
                    <a:pt x="21579839" y="3749040"/>
                  </a:cubicBezTo>
                  <a:lnTo>
                    <a:pt x="182880" y="3749040"/>
                  </a:lnTo>
                  <a:cubicBezTo>
                    <a:pt x="81915" y="3749040"/>
                    <a:pt x="0" y="3667125"/>
                    <a:pt x="0" y="3566160"/>
                  </a:cubicBezTo>
                  <a:close/>
                </a:path>
              </a:pathLst>
            </a:custGeom>
            <a:solidFill>
              <a:srgbClr val="F4F7FC"/>
            </a:solidFill>
          </p:spPr>
        </p:sp>
      </p:grpSp>
      <p:grpSp>
        <p:nvGrpSpPr>
          <p:cNvPr name="Group 13" id="13"/>
          <p:cNvGrpSpPr/>
          <p:nvPr/>
        </p:nvGrpSpPr>
        <p:grpSpPr>
          <a:xfrm rot="0">
            <a:off x="1440180" y="2811780"/>
            <a:ext cx="15361920" cy="2263140"/>
            <a:chOff x="0" y="0"/>
            <a:chExt cx="20482560" cy="3017520"/>
          </a:xfrm>
        </p:grpSpPr>
        <p:sp>
          <p:nvSpPr>
            <p:cNvPr name="Freeform 14" id="14"/>
            <p:cNvSpPr/>
            <p:nvPr/>
          </p:nvSpPr>
          <p:spPr>
            <a:xfrm flipH="false" flipV="false" rot="0">
              <a:off x="0" y="0"/>
              <a:ext cx="20482561" cy="3017520"/>
            </a:xfrm>
            <a:custGeom>
              <a:avLst/>
              <a:gdLst/>
              <a:ahLst/>
              <a:cxnLst/>
              <a:rect r="r" b="b" t="t" l="l"/>
              <a:pathLst>
                <a:path h="3017520" w="20482561">
                  <a:moveTo>
                    <a:pt x="0" y="0"/>
                  </a:moveTo>
                  <a:lnTo>
                    <a:pt x="20482561" y="0"/>
                  </a:lnTo>
                  <a:lnTo>
                    <a:pt x="20482561" y="3017520"/>
                  </a:lnTo>
                  <a:lnTo>
                    <a:pt x="0" y="3017520"/>
                  </a:lnTo>
                  <a:close/>
                </a:path>
              </a:pathLst>
            </a:custGeom>
            <a:blipFill>
              <a:blip r:embed="rId3">
                <a:alphaModFix amt="0"/>
              </a:blip>
              <a:stretch>
                <a:fillRect l="0" t="-82262" r="0" b="-82262"/>
              </a:stretch>
            </a:blipFill>
          </p:spPr>
        </p:sp>
        <p:sp>
          <p:nvSpPr>
            <p:cNvPr name="TextBox 15" id="15"/>
            <p:cNvSpPr txBox="true"/>
            <p:nvPr/>
          </p:nvSpPr>
          <p:spPr>
            <a:xfrm>
              <a:off x="0" y="-104775"/>
              <a:ext cx="20482560" cy="3122295"/>
            </a:xfrm>
            <a:prstGeom prst="rect">
              <a:avLst/>
            </a:prstGeom>
          </p:spPr>
          <p:txBody>
            <a:bodyPr anchor="ctr" rtlCol="false" tIns="0" lIns="0" bIns="0" rIns="0"/>
            <a:lstStyle/>
            <a:p>
              <a:pPr algn="l">
                <a:lnSpc>
                  <a:spcPts val="4147"/>
                </a:lnSpc>
              </a:pPr>
              <a:r>
                <a:rPr lang="en-US" sz="2700" i="true">
                  <a:solidFill>
                    <a:srgbClr val="23262F"/>
                  </a:solidFill>
                  <a:latin typeface="Cambria Italics"/>
                  <a:ea typeface="Cambria Italics"/>
                  <a:cs typeface="Cambria Italics"/>
                  <a:sym typeface="Cambria Italics"/>
                </a:rPr>
                <a:t>“The Provincial Treasurer's Office online payment portal crashes during real property tax deadline week, and no one can process payments.”</a:t>
              </a:r>
            </a:p>
          </p:txBody>
        </p:sp>
      </p:grpSp>
      <p:sp>
        <p:nvSpPr>
          <p:cNvPr name="TextBox 16" id="16"/>
          <p:cNvSpPr txBox="true"/>
          <p:nvPr/>
        </p:nvSpPr>
        <p:spPr>
          <a:xfrm rot="0">
            <a:off x="1051560" y="5604510"/>
            <a:ext cx="16139160" cy="1276350"/>
          </a:xfrm>
          <a:prstGeom prst="rect">
            <a:avLst/>
          </a:prstGeom>
        </p:spPr>
        <p:txBody>
          <a:bodyPr anchor="t" rtlCol="false" tIns="0" lIns="0" bIns="0" rIns="0">
            <a:spAutoFit/>
          </a:bodyPr>
          <a:lstStyle/>
          <a:p>
            <a:pPr algn="ctr">
              <a:lnSpc>
                <a:spcPts val="3402"/>
              </a:lnSpc>
            </a:pPr>
            <a:r>
              <a:rPr lang="en-US" sz="2100" i="true">
                <a:solidFill>
                  <a:srgbClr val="6B7280"/>
                </a:solidFill>
                <a:latin typeface="Calibri (MS) Italics"/>
                <a:ea typeface="Calibri (MS) Italics"/>
                <a:cs typeface="Calibri (MS) Italics"/>
                <a:sym typeface="Calibri (MS) Italics"/>
              </a:rPr>
              <a:t>Which does this break — Confidentiality, Integrity, or Availability?</a:t>
            </a:r>
          </a:p>
          <a:p>
            <a:pPr algn="ctr">
              <a:lnSpc>
                <a:spcPts val="3402"/>
              </a:lnSpc>
            </a:pPr>
            <a:r>
              <a:rPr lang="en-US" sz="2100" i="true">
                <a:solidFill>
                  <a:srgbClr val="6B7280"/>
                </a:solidFill>
                <a:latin typeface="Calibri (MS) Italics"/>
                <a:ea typeface="Calibri (MS) Italics"/>
                <a:cs typeface="Calibri (MS) Italics"/>
                <a:sym typeface="Calibri (MS) Italics"/>
              </a:rPr>
              <a:t>Some break more than one. Discuss, then we'll reveal the answer.</a:t>
            </a:r>
          </a:p>
        </p:txBody>
      </p:sp>
      <p:grpSp>
        <p:nvGrpSpPr>
          <p:cNvPr name="Group 17" id="17"/>
          <p:cNvGrpSpPr/>
          <p:nvPr/>
        </p:nvGrpSpPr>
        <p:grpSpPr>
          <a:xfrm rot="0">
            <a:off x="950595" y="7191375"/>
            <a:ext cx="5162550" cy="910590"/>
            <a:chOff x="0" y="0"/>
            <a:chExt cx="6883400" cy="1214120"/>
          </a:xfrm>
        </p:grpSpPr>
        <p:sp>
          <p:nvSpPr>
            <p:cNvPr name="Freeform 18" id="18"/>
            <p:cNvSpPr/>
            <p:nvPr/>
          </p:nvSpPr>
          <p:spPr>
            <a:xfrm flipH="false" flipV="false" rot="0">
              <a:off x="0" y="0"/>
              <a:ext cx="6883400" cy="1214120"/>
            </a:xfrm>
            <a:custGeom>
              <a:avLst/>
              <a:gdLst/>
              <a:ahLst/>
              <a:cxnLst/>
              <a:rect r="r" b="b" t="t" l="l"/>
              <a:pathLst>
                <a:path h="1214120" w="6883400">
                  <a:moveTo>
                    <a:pt x="0" y="168148"/>
                  </a:moveTo>
                  <a:cubicBezTo>
                    <a:pt x="0" y="75311"/>
                    <a:pt x="75311" y="0"/>
                    <a:pt x="168148" y="0"/>
                  </a:cubicBezTo>
                  <a:lnTo>
                    <a:pt x="6715252" y="0"/>
                  </a:lnTo>
                  <a:cubicBezTo>
                    <a:pt x="6808089" y="0"/>
                    <a:pt x="6883400" y="75311"/>
                    <a:pt x="6883400" y="168148"/>
                  </a:cubicBezTo>
                  <a:lnTo>
                    <a:pt x="6883400" y="1045972"/>
                  </a:lnTo>
                  <a:cubicBezTo>
                    <a:pt x="6883400" y="1138809"/>
                    <a:pt x="6808089" y="1214120"/>
                    <a:pt x="6715252" y="1214120"/>
                  </a:cubicBezTo>
                  <a:lnTo>
                    <a:pt x="168148" y="1214120"/>
                  </a:lnTo>
                  <a:cubicBezTo>
                    <a:pt x="75311" y="1214120"/>
                    <a:pt x="0" y="1138809"/>
                    <a:pt x="0" y="1045972"/>
                  </a:cubicBezTo>
                  <a:close/>
                </a:path>
              </a:pathLst>
            </a:custGeom>
            <a:solidFill>
              <a:srgbClr val="F4F7FC"/>
            </a:solidFill>
            <a:ln w="19050" cap="sq">
              <a:solidFill>
                <a:srgbClr val="D7DCEC"/>
              </a:solidFill>
              <a:prstDash val="solid"/>
              <a:miter/>
            </a:ln>
          </p:spPr>
        </p:sp>
      </p:grpSp>
      <p:grpSp>
        <p:nvGrpSpPr>
          <p:cNvPr name="Group 19" id="19"/>
          <p:cNvGrpSpPr/>
          <p:nvPr/>
        </p:nvGrpSpPr>
        <p:grpSpPr>
          <a:xfrm rot="0">
            <a:off x="960120" y="7200900"/>
            <a:ext cx="5143500" cy="891540"/>
            <a:chOff x="0" y="0"/>
            <a:chExt cx="6858000" cy="1188720"/>
          </a:xfrm>
        </p:grpSpPr>
        <p:sp>
          <p:nvSpPr>
            <p:cNvPr name="Freeform 20" id="20"/>
            <p:cNvSpPr/>
            <p:nvPr/>
          </p:nvSpPr>
          <p:spPr>
            <a:xfrm flipH="false" flipV="false" rot="0">
              <a:off x="0" y="0"/>
              <a:ext cx="6858000" cy="1188720"/>
            </a:xfrm>
            <a:custGeom>
              <a:avLst/>
              <a:gdLst/>
              <a:ahLst/>
              <a:cxnLst/>
              <a:rect r="r" b="b" t="t" l="l"/>
              <a:pathLst>
                <a:path h="1188720" w="6858000">
                  <a:moveTo>
                    <a:pt x="0" y="0"/>
                  </a:moveTo>
                  <a:lnTo>
                    <a:pt x="6858000" y="0"/>
                  </a:lnTo>
                  <a:lnTo>
                    <a:pt x="6858000" y="1188720"/>
                  </a:lnTo>
                  <a:lnTo>
                    <a:pt x="0" y="1188720"/>
                  </a:lnTo>
                  <a:close/>
                </a:path>
              </a:pathLst>
            </a:custGeom>
            <a:blipFill>
              <a:blip r:embed="rId3">
                <a:alphaModFix amt="0"/>
              </a:blip>
              <a:stretch>
                <a:fillRect l="0" t="-62413" r="0" b="-62413"/>
              </a:stretch>
            </a:blipFill>
          </p:spPr>
        </p:sp>
        <p:sp>
          <p:nvSpPr>
            <p:cNvPr name="TextBox 21" id="21"/>
            <p:cNvSpPr txBox="true"/>
            <p:nvPr/>
          </p:nvSpPr>
          <p:spPr>
            <a:xfrm>
              <a:off x="0" y="-47625"/>
              <a:ext cx="6858000" cy="1236345"/>
            </a:xfrm>
            <a:prstGeom prst="rect">
              <a:avLst/>
            </a:prstGeom>
          </p:spPr>
          <p:txBody>
            <a:bodyPr anchor="ctr" rtlCol="false" tIns="0" lIns="0" bIns="0" rIns="0"/>
            <a:lstStyle/>
            <a:p>
              <a:pPr algn="ctr">
                <a:lnSpc>
                  <a:spcPts val="2520"/>
                </a:lnSpc>
              </a:pPr>
              <a:r>
                <a:rPr lang="en-US" sz="2100">
                  <a:solidFill>
                    <a:srgbClr val="6B7280"/>
                  </a:solidFill>
                  <a:latin typeface="Calibri (MS)"/>
                  <a:ea typeface="Calibri (MS)"/>
                  <a:cs typeface="Calibri (MS)"/>
                  <a:sym typeface="Calibri (MS)"/>
                </a:rPr>
                <a:t>Confidentiality</a:t>
              </a:r>
            </a:p>
          </p:txBody>
        </p:sp>
      </p:grpSp>
      <p:grpSp>
        <p:nvGrpSpPr>
          <p:cNvPr name="Group 22" id="22"/>
          <p:cNvGrpSpPr/>
          <p:nvPr/>
        </p:nvGrpSpPr>
        <p:grpSpPr>
          <a:xfrm rot="0">
            <a:off x="6533007" y="7191375"/>
            <a:ext cx="5162550" cy="910590"/>
            <a:chOff x="0" y="0"/>
            <a:chExt cx="6883400" cy="1214120"/>
          </a:xfrm>
        </p:grpSpPr>
        <p:sp>
          <p:nvSpPr>
            <p:cNvPr name="Freeform 23" id="23"/>
            <p:cNvSpPr/>
            <p:nvPr/>
          </p:nvSpPr>
          <p:spPr>
            <a:xfrm flipH="false" flipV="false" rot="0">
              <a:off x="0" y="0"/>
              <a:ext cx="6883400" cy="1214120"/>
            </a:xfrm>
            <a:custGeom>
              <a:avLst/>
              <a:gdLst/>
              <a:ahLst/>
              <a:cxnLst/>
              <a:rect r="r" b="b" t="t" l="l"/>
              <a:pathLst>
                <a:path h="1214120" w="6883400">
                  <a:moveTo>
                    <a:pt x="0" y="168148"/>
                  </a:moveTo>
                  <a:cubicBezTo>
                    <a:pt x="0" y="75311"/>
                    <a:pt x="75311" y="0"/>
                    <a:pt x="168148" y="0"/>
                  </a:cubicBezTo>
                  <a:lnTo>
                    <a:pt x="6715252" y="0"/>
                  </a:lnTo>
                  <a:cubicBezTo>
                    <a:pt x="6808089" y="0"/>
                    <a:pt x="6883400" y="75311"/>
                    <a:pt x="6883400" y="168148"/>
                  </a:cubicBezTo>
                  <a:lnTo>
                    <a:pt x="6883400" y="1045972"/>
                  </a:lnTo>
                  <a:cubicBezTo>
                    <a:pt x="6883400" y="1138809"/>
                    <a:pt x="6808089" y="1214120"/>
                    <a:pt x="6715252" y="1214120"/>
                  </a:cubicBezTo>
                  <a:lnTo>
                    <a:pt x="168148" y="1214120"/>
                  </a:lnTo>
                  <a:cubicBezTo>
                    <a:pt x="75311" y="1214120"/>
                    <a:pt x="0" y="1138809"/>
                    <a:pt x="0" y="1045972"/>
                  </a:cubicBezTo>
                  <a:close/>
                </a:path>
              </a:pathLst>
            </a:custGeom>
            <a:solidFill>
              <a:srgbClr val="F4F7FC"/>
            </a:solidFill>
            <a:ln w="19050" cap="sq">
              <a:solidFill>
                <a:srgbClr val="D7DCEC"/>
              </a:solidFill>
              <a:prstDash val="solid"/>
              <a:miter/>
            </a:ln>
          </p:spPr>
        </p:sp>
      </p:grpSp>
      <p:grpSp>
        <p:nvGrpSpPr>
          <p:cNvPr name="Group 24" id="24"/>
          <p:cNvGrpSpPr/>
          <p:nvPr/>
        </p:nvGrpSpPr>
        <p:grpSpPr>
          <a:xfrm rot="0">
            <a:off x="6542532" y="7200900"/>
            <a:ext cx="5143500" cy="891540"/>
            <a:chOff x="0" y="0"/>
            <a:chExt cx="6858000" cy="1188720"/>
          </a:xfrm>
        </p:grpSpPr>
        <p:sp>
          <p:nvSpPr>
            <p:cNvPr name="Freeform 25" id="25"/>
            <p:cNvSpPr/>
            <p:nvPr/>
          </p:nvSpPr>
          <p:spPr>
            <a:xfrm flipH="false" flipV="false" rot="0">
              <a:off x="0" y="0"/>
              <a:ext cx="6858000" cy="1188720"/>
            </a:xfrm>
            <a:custGeom>
              <a:avLst/>
              <a:gdLst/>
              <a:ahLst/>
              <a:cxnLst/>
              <a:rect r="r" b="b" t="t" l="l"/>
              <a:pathLst>
                <a:path h="1188720" w="6858000">
                  <a:moveTo>
                    <a:pt x="0" y="0"/>
                  </a:moveTo>
                  <a:lnTo>
                    <a:pt x="6858000" y="0"/>
                  </a:lnTo>
                  <a:lnTo>
                    <a:pt x="6858000" y="1188720"/>
                  </a:lnTo>
                  <a:lnTo>
                    <a:pt x="0" y="1188720"/>
                  </a:lnTo>
                  <a:close/>
                </a:path>
              </a:pathLst>
            </a:custGeom>
            <a:blipFill>
              <a:blip r:embed="rId3">
                <a:alphaModFix amt="0"/>
              </a:blip>
              <a:stretch>
                <a:fillRect l="0" t="-62413" r="0" b="-62413"/>
              </a:stretch>
            </a:blipFill>
          </p:spPr>
        </p:sp>
        <p:sp>
          <p:nvSpPr>
            <p:cNvPr name="TextBox 26" id="26"/>
            <p:cNvSpPr txBox="true"/>
            <p:nvPr/>
          </p:nvSpPr>
          <p:spPr>
            <a:xfrm>
              <a:off x="0" y="-47625"/>
              <a:ext cx="6858000" cy="1236345"/>
            </a:xfrm>
            <a:prstGeom prst="rect">
              <a:avLst/>
            </a:prstGeom>
          </p:spPr>
          <p:txBody>
            <a:bodyPr anchor="ctr" rtlCol="false" tIns="0" lIns="0" bIns="0" rIns="0"/>
            <a:lstStyle/>
            <a:p>
              <a:pPr algn="ctr">
                <a:lnSpc>
                  <a:spcPts val="2520"/>
                </a:lnSpc>
              </a:pPr>
              <a:r>
                <a:rPr lang="en-US" sz="2100">
                  <a:solidFill>
                    <a:srgbClr val="6B7280"/>
                  </a:solidFill>
                  <a:latin typeface="Calibri (MS)"/>
                  <a:ea typeface="Calibri (MS)"/>
                  <a:cs typeface="Calibri (MS)"/>
                  <a:sym typeface="Calibri (MS)"/>
                </a:rPr>
                <a:t>Integrity</a:t>
              </a:r>
            </a:p>
          </p:txBody>
        </p:sp>
      </p:grpSp>
      <p:grpSp>
        <p:nvGrpSpPr>
          <p:cNvPr name="Group 27" id="27"/>
          <p:cNvGrpSpPr/>
          <p:nvPr/>
        </p:nvGrpSpPr>
        <p:grpSpPr>
          <a:xfrm rot="0">
            <a:off x="12115419" y="7191375"/>
            <a:ext cx="5162550" cy="910590"/>
            <a:chOff x="0" y="0"/>
            <a:chExt cx="6883400" cy="1214120"/>
          </a:xfrm>
        </p:grpSpPr>
        <p:sp>
          <p:nvSpPr>
            <p:cNvPr name="Freeform 28" id="28"/>
            <p:cNvSpPr/>
            <p:nvPr/>
          </p:nvSpPr>
          <p:spPr>
            <a:xfrm flipH="false" flipV="false" rot="0">
              <a:off x="0" y="0"/>
              <a:ext cx="6883400" cy="1214120"/>
            </a:xfrm>
            <a:custGeom>
              <a:avLst/>
              <a:gdLst/>
              <a:ahLst/>
              <a:cxnLst/>
              <a:rect r="r" b="b" t="t" l="l"/>
              <a:pathLst>
                <a:path h="1214120" w="6883400">
                  <a:moveTo>
                    <a:pt x="0" y="168148"/>
                  </a:moveTo>
                  <a:cubicBezTo>
                    <a:pt x="0" y="75311"/>
                    <a:pt x="75311" y="0"/>
                    <a:pt x="168148" y="0"/>
                  </a:cubicBezTo>
                  <a:lnTo>
                    <a:pt x="6715252" y="0"/>
                  </a:lnTo>
                  <a:cubicBezTo>
                    <a:pt x="6808089" y="0"/>
                    <a:pt x="6883400" y="75311"/>
                    <a:pt x="6883400" y="168148"/>
                  </a:cubicBezTo>
                  <a:lnTo>
                    <a:pt x="6883400" y="1045972"/>
                  </a:lnTo>
                  <a:cubicBezTo>
                    <a:pt x="6883400" y="1138809"/>
                    <a:pt x="6808089" y="1214120"/>
                    <a:pt x="6715252" y="1214120"/>
                  </a:cubicBezTo>
                  <a:lnTo>
                    <a:pt x="168148" y="1214120"/>
                  </a:lnTo>
                  <a:cubicBezTo>
                    <a:pt x="75311" y="1214120"/>
                    <a:pt x="0" y="1138809"/>
                    <a:pt x="0" y="1045972"/>
                  </a:cubicBezTo>
                  <a:close/>
                </a:path>
              </a:pathLst>
            </a:custGeom>
            <a:solidFill>
              <a:srgbClr val="F4F7FC"/>
            </a:solidFill>
            <a:ln w="19050" cap="sq">
              <a:solidFill>
                <a:srgbClr val="D7DCEC"/>
              </a:solidFill>
              <a:prstDash val="solid"/>
              <a:miter/>
            </a:ln>
          </p:spPr>
        </p:sp>
      </p:grpSp>
      <p:grpSp>
        <p:nvGrpSpPr>
          <p:cNvPr name="Group 29" id="29"/>
          <p:cNvGrpSpPr/>
          <p:nvPr/>
        </p:nvGrpSpPr>
        <p:grpSpPr>
          <a:xfrm rot="0">
            <a:off x="12124944" y="7200900"/>
            <a:ext cx="5143500" cy="891540"/>
            <a:chOff x="0" y="0"/>
            <a:chExt cx="6858000" cy="1188720"/>
          </a:xfrm>
        </p:grpSpPr>
        <p:sp>
          <p:nvSpPr>
            <p:cNvPr name="Freeform 30" id="30"/>
            <p:cNvSpPr/>
            <p:nvPr/>
          </p:nvSpPr>
          <p:spPr>
            <a:xfrm flipH="false" flipV="false" rot="0">
              <a:off x="0" y="0"/>
              <a:ext cx="6858000" cy="1188720"/>
            </a:xfrm>
            <a:custGeom>
              <a:avLst/>
              <a:gdLst/>
              <a:ahLst/>
              <a:cxnLst/>
              <a:rect r="r" b="b" t="t" l="l"/>
              <a:pathLst>
                <a:path h="1188720" w="6858000">
                  <a:moveTo>
                    <a:pt x="0" y="0"/>
                  </a:moveTo>
                  <a:lnTo>
                    <a:pt x="6858000" y="0"/>
                  </a:lnTo>
                  <a:lnTo>
                    <a:pt x="6858000" y="1188720"/>
                  </a:lnTo>
                  <a:lnTo>
                    <a:pt x="0" y="1188720"/>
                  </a:lnTo>
                  <a:close/>
                </a:path>
              </a:pathLst>
            </a:custGeom>
            <a:blipFill>
              <a:blip r:embed="rId3">
                <a:alphaModFix amt="0"/>
              </a:blip>
              <a:stretch>
                <a:fillRect l="0" t="-62413" r="0" b="-62413"/>
              </a:stretch>
            </a:blipFill>
          </p:spPr>
        </p:sp>
        <p:sp>
          <p:nvSpPr>
            <p:cNvPr name="TextBox 31" id="31"/>
            <p:cNvSpPr txBox="true"/>
            <p:nvPr/>
          </p:nvSpPr>
          <p:spPr>
            <a:xfrm>
              <a:off x="0" y="-47625"/>
              <a:ext cx="6858000" cy="1236345"/>
            </a:xfrm>
            <a:prstGeom prst="rect">
              <a:avLst/>
            </a:prstGeom>
          </p:spPr>
          <p:txBody>
            <a:bodyPr anchor="ctr" rtlCol="false" tIns="0" lIns="0" bIns="0" rIns="0"/>
            <a:lstStyle/>
            <a:p>
              <a:pPr algn="ctr">
                <a:lnSpc>
                  <a:spcPts val="2520"/>
                </a:lnSpc>
              </a:pPr>
              <a:r>
                <a:rPr lang="en-US" sz="2100">
                  <a:solidFill>
                    <a:srgbClr val="6B7280"/>
                  </a:solidFill>
                  <a:latin typeface="Calibri (MS)"/>
                  <a:ea typeface="Calibri (MS)"/>
                  <a:cs typeface="Calibri (MS)"/>
                  <a:sym typeface="Calibri (MS)"/>
                </a:rPr>
                <a:t>Availability</a:t>
              </a:r>
            </a:p>
          </p:txBody>
        </p:sp>
      </p:grpSp>
      <p:grpSp>
        <p:nvGrpSpPr>
          <p:cNvPr name="Group 32" id="32"/>
          <p:cNvGrpSpPr/>
          <p:nvPr/>
        </p:nvGrpSpPr>
        <p:grpSpPr>
          <a:xfrm rot="0">
            <a:off x="685800" y="9710928"/>
            <a:ext cx="10972800" cy="411480"/>
            <a:chOff x="0" y="0"/>
            <a:chExt cx="14630400" cy="548640"/>
          </a:xfrm>
        </p:grpSpPr>
        <p:sp>
          <p:nvSpPr>
            <p:cNvPr name="Freeform 33" id="33"/>
            <p:cNvSpPr/>
            <p:nvPr/>
          </p:nvSpPr>
          <p:spPr>
            <a:xfrm flipH="false" flipV="false" rot="0">
              <a:off x="0" y="0"/>
              <a:ext cx="14630400" cy="548640"/>
            </a:xfrm>
            <a:custGeom>
              <a:avLst/>
              <a:gdLst/>
              <a:ahLst/>
              <a:cxnLst/>
              <a:rect r="r" b="b" t="t" l="l"/>
              <a:pathLst>
                <a:path h="548640" w="14630400">
                  <a:moveTo>
                    <a:pt x="0" y="0"/>
                  </a:moveTo>
                  <a:lnTo>
                    <a:pt x="14630400" y="0"/>
                  </a:lnTo>
                  <a:lnTo>
                    <a:pt x="14630400" y="548640"/>
                  </a:lnTo>
                  <a:lnTo>
                    <a:pt x="0" y="548640"/>
                  </a:lnTo>
                  <a:close/>
                </a:path>
              </a:pathLst>
            </a:custGeom>
            <a:blipFill>
              <a:blip r:embed="rId3">
                <a:alphaModFix amt="0"/>
              </a:blip>
              <a:stretch>
                <a:fillRect l="0" t="-469601" r="0" b="-469601"/>
              </a:stretch>
            </a:blipFill>
          </p:spPr>
        </p:sp>
        <p:sp>
          <p:nvSpPr>
            <p:cNvPr name="TextBox 34" id="34"/>
            <p:cNvSpPr txBox="true"/>
            <p:nvPr/>
          </p:nvSpPr>
          <p:spPr>
            <a:xfrm>
              <a:off x="0" y="-38100"/>
              <a:ext cx="14630400" cy="586740"/>
            </a:xfrm>
            <a:prstGeom prst="rect">
              <a:avLst/>
            </a:prstGeom>
          </p:spPr>
          <p:txBody>
            <a:bodyPr anchor="ctr" rtlCol="false" tIns="0" lIns="0" bIns="0" rIns="0"/>
            <a:lstStyle/>
            <a:p>
              <a:pPr algn="l">
                <a:lnSpc>
                  <a:spcPts val="1800"/>
                </a:lnSpc>
              </a:pPr>
              <a:r>
                <a:rPr lang="en-US" sz="1500">
                  <a:solidFill>
                    <a:srgbClr val="6B7280"/>
                  </a:solidFill>
                  <a:latin typeface="Calibri (MS)"/>
                  <a:ea typeface="Calibri (MS)"/>
                  <a:cs typeface="Calibri (MS)"/>
                  <a:sym typeface="Calibri (MS)"/>
                </a:rPr>
                <a:t>Davao del Norte Provincial Government — Cybersecurity Seminar</a:t>
              </a:r>
            </a:p>
          </p:txBody>
        </p:sp>
      </p:grpSp>
      <p:grpSp>
        <p:nvGrpSpPr>
          <p:cNvPr name="Group 35" id="35"/>
          <p:cNvGrpSpPr/>
          <p:nvPr/>
        </p:nvGrpSpPr>
        <p:grpSpPr>
          <a:xfrm rot="0">
            <a:off x="16911828" y="9710928"/>
            <a:ext cx="685800" cy="411480"/>
            <a:chOff x="0" y="0"/>
            <a:chExt cx="914400" cy="548640"/>
          </a:xfrm>
        </p:grpSpPr>
        <p:sp>
          <p:nvSpPr>
            <p:cNvPr name="Freeform 36" id="36"/>
            <p:cNvSpPr/>
            <p:nvPr/>
          </p:nvSpPr>
          <p:spPr>
            <a:xfrm flipH="false" flipV="false" rot="0">
              <a:off x="0" y="0"/>
              <a:ext cx="914400" cy="548640"/>
            </a:xfrm>
            <a:custGeom>
              <a:avLst/>
              <a:gdLst/>
              <a:ahLst/>
              <a:cxnLst/>
              <a:rect r="r" b="b" t="t" l="l"/>
              <a:pathLst>
                <a:path h="548640" w="914400">
                  <a:moveTo>
                    <a:pt x="0" y="0"/>
                  </a:moveTo>
                  <a:lnTo>
                    <a:pt x="914400" y="0"/>
                  </a:lnTo>
                  <a:lnTo>
                    <a:pt x="914400" y="548640"/>
                  </a:lnTo>
                  <a:lnTo>
                    <a:pt x="0" y="548640"/>
                  </a:lnTo>
                  <a:close/>
                </a:path>
              </a:pathLst>
            </a:custGeom>
            <a:blipFill>
              <a:blip r:embed="rId3">
                <a:alphaModFix amt="0"/>
              </a:blip>
              <a:stretch>
                <a:fillRect l="-26982" t="0" r="-26982" b="0"/>
              </a:stretch>
            </a:blipFill>
          </p:spPr>
        </p:sp>
        <p:sp>
          <p:nvSpPr>
            <p:cNvPr name="TextBox 37" id="37"/>
            <p:cNvSpPr txBox="true"/>
            <p:nvPr/>
          </p:nvSpPr>
          <p:spPr>
            <a:xfrm>
              <a:off x="0" y="-38100"/>
              <a:ext cx="914400" cy="586740"/>
            </a:xfrm>
            <a:prstGeom prst="rect">
              <a:avLst/>
            </a:prstGeom>
          </p:spPr>
          <p:txBody>
            <a:bodyPr anchor="ctr" rtlCol="false" tIns="0" lIns="0" bIns="0" rIns="0"/>
            <a:lstStyle/>
            <a:p>
              <a:pPr algn="r">
                <a:lnSpc>
                  <a:spcPts val="1800"/>
                </a:lnSpc>
              </a:pPr>
              <a:r>
                <a:rPr lang="en-US" sz="1500">
                  <a:solidFill>
                    <a:srgbClr val="6B7280"/>
                  </a:solidFill>
                  <a:latin typeface="Calibri (MS)"/>
                  <a:ea typeface="Calibri (MS)"/>
                  <a:cs typeface="Calibri (MS)"/>
                  <a:sym typeface="Calibri (MS)"/>
                </a:rPr>
                <a:t>43</a:t>
              </a:r>
            </a:p>
          </p:txBody>
        </p:sp>
      </p:grpSp>
    </p:spTree>
  </p:cSld>
  <p:clrMapOvr>
    <a:masterClrMapping/>
  </p:clrMapOvr>
</p:sld>
</file>

<file path=ppt/slides/slide4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60120" y="685800"/>
            <a:ext cx="13716000" cy="411480"/>
            <a:chOff x="0" y="0"/>
            <a:chExt cx="18288000" cy="548640"/>
          </a:xfrm>
        </p:grpSpPr>
        <p:sp>
          <p:nvSpPr>
            <p:cNvPr name="Freeform 3" id="3"/>
            <p:cNvSpPr/>
            <p:nvPr/>
          </p:nvSpPr>
          <p:spPr>
            <a:xfrm flipH="false" flipV="false" rot="0">
              <a:off x="0" y="0"/>
              <a:ext cx="18288000" cy="548640"/>
            </a:xfrm>
            <a:custGeom>
              <a:avLst/>
              <a:gdLst/>
              <a:ahLst/>
              <a:cxnLst/>
              <a:rect r="r" b="b" t="t" l="l"/>
              <a:pathLst>
                <a:path h="548640" w="18288000">
                  <a:moveTo>
                    <a:pt x="0" y="0"/>
                  </a:moveTo>
                  <a:lnTo>
                    <a:pt x="18288000" y="0"/>
                  </a:lnTo>
                  <a:lnTo>
                    <a:pt x="18288000" y="548640"/>
                  </a:lnTo>
                  <a:lnTo>
                    <a:pt x="0" y="548640"/>
                  </a:lnTo>
                  <a:close/>
                </a:path>
              </a:pathLst>
            </a:custGeom>
            <a:blipFill>
              <a:blip r:embed="rId3">
                <a:alphaModFix amt="0"/>
              </a:blip>
              <a:stretch>
                <a:fillRect l="0" t="-599501" r="0" b="-599501"/>
              </a:stretch>
            </a:blipFill>
          </p:spPr>
        </p:sp>
        <p:sp>
          <p:nvSpPr>
            <p:cNvPr name="TextBox 4" id="4"/>
            <p:cNvSpPr txBox="true"/>
            <p:nvPr/>
          </p:nvSpPr>
          <p:spPr>
            <a:xfrm>
              <a:off x="0" y="-38100"/>
              <a:ext cx="18288000" cy="586740"/>
            </a:xfrm>
            <a:prstGeom prst="rect">
              <a:avLst/>
            </a:prstGeom>
          </p:spPr>
          <p:txBody>
            <a:bodyPr anchor="ctr" rtlCol="false" tIns="0" lIns="0" bIns="0" rIns="0"/>
            <a:lstStyle/>
            <a:p>
              <a:pPr algn="l">
                <a:lnSpc>
                  <a:spcPts val="2160"/>
                </a:lnSpc>
              </a:pPr>
              <a:r>
                <a:rPr lang="en-US" b="true" sz="1800" spc="225">
                  <a:solidFill>
                    <a:srgbClr val="00B4D8"/>
                  </a:solidFill>
                  <a:latin typeface="Calibri (MS) Bold"/>
                  <a:ea typeface="Calibri (MS) Bold"/>
                  <a:cs typeface="Calibri (MS) Bold"/>
                  <a:sym typeface="Calibri (MS) Bold"/>
                </a:rPr>
                <a:t>CIA TRIAD SORT · ANSWER</a:t>
              </a:r>
            </a:p>
          </p:txBody>
        </p:sp>
      </p:grpSp>
      <p:grpSp>
        <p:nvGrpSpPr>
          <p:cNvPr name="Group 5" id="5"/>
          <p:cNvGrpSpPr/>
          <p:nvPr/>
        </p:nvGrpSpPr>
        <p:grpSpPr>
          <a:xfrm rot="0">
            <a:off x="960120" y="1069848"/>
            <a:ext cx="10972800" cy="822960"/>
            <a:chOff x="0" y="0"/>
            <a:chExt cx="14630400" cy="1097280"/>
          </a:xfrm>
        </p:grpSpPr>
        <p:sp>
          <p:nvSpPr>
            <p:cNvPr name="Freeform 6" id="6"/>
            <p:cNvSpPr/>
            <p:nvPr/>
          </p:nvSpPr>
          <p:spPr>
            <a:xfrm flipH="false" flipV="false" rot="0">
              <a:off x="0" y="0"/>
              <a:ext cx="14630400" cy="1097280"/>
            </a:xfrm>
            <a:custGeom>
              <a:avLst/>
              <a:gdLst/>
              <a:ahLst/>
              <a:cxnLst/>
              <a:rect r="r" b="b" t="t" l="l"/>
              <a:pathLst>
                <a:path h="1097280" w="14630400">
                  <a:moveTo>
                    <a:pt x="0" y="0"/>
                  </a:moveTo>
                  <a:lnTo>
                    <a:pt x="14630400" y="0"/>
                  </a:lnTo>
                  <a:lnTo>
                    <a:pt x="14630400" y="1097280"/>
                  </a:lnTo>
                  <a:lnTo>
                    <a:pt x="0" y="1097280"/>
                  </a:lnTo>
                  <a:close/>
                </a:path>
              </a:pathLst>
            </a:custGeom>
            <a:blipFill>
              <a:blip r:embed="rId3">
                <a:alphaModFix amt="0"/>
              </a:blip>
              <a:stretch>
                <a:fillRect l="0" t="-209800" r="0" b="-209800"/>
              </a:stretch>
            </a:blipFill>
          </p:spPr>
        </p:sp>
        <p:sp>
          <p:nvSpPr>
            <p:cNvPr name="TextBox 7" id="7"/>
            <p:cNvSpPr txBox="true"/>
            <p:nvPr/>
          </p:nvSpPr>
          <p:spPr>
            <a:xfrm>
              <a:off x="0" y="0"/>
              <a:ext cx="14630400" cy="1097280"/>
            </a:xfrm>
            <a:prstGeom prst="rect">
              <a:avLst/>
            </a:prstGeom>
          </p:spPr>
          <p:txBody>
            <a:bodyPr anchor="ctr" rtlCol="false" tIns="0" lIns="0" bIns="0" rIns="0"/>
            <a:lstStyle/>
            <a:p>
              <a:pPr algn="l">
                <a:lnSpc>
                  <a:spcPts val="4680"/>
                </a:lnSpc>
              </a:pPr>
              <a:r>
                <a:rPr lang="en-US" sz="3900" b="true">
                  <a:solidFill>
                    <a:srgbClr val="1E2761"/>
                  </a:solidFill>
                  <a:latin typeface="Cambria Bold"/>
                  <a:ea typeface="Cambria Bold"/>
                  <a:cs typeface="Cambria Bold"/>
                  <a:sym typeface="Cambria Bold"/>
                </a:rPr>
                <a:t>Scenario 3 — Answer</a:t>
              </a:r>
            </a:p>
          </p:txBody>
        </p:sp>
      </p:grpSp>
      <p:grpSp>
        <p:nvGrpSpPr>
          <p:cNvPr name="Group 8" id="8"/>
          <p:cNvGrpSpPr/>
          <p:nvPr/>
        </p:nvGrpSpPr>
        <p:grpSpPr>
          <a:xfrm rot="0">
            <a:off x="960120" y="1810512"/>
            <a:ext cx="8229600" cy="411480"/>
            <a:chOff x="0" y="0"/>
            <a:chExt cx="10972800" cy="548640"/>
          </a:xfrm>
        </p:grpSpPr>
        <p:sp>
          <p:nvSpPr>
            <p:cNvPr name="Freeform 9" id="9"/>
            <p:cNvSpPr/>
            <p:nvPr/>
          </p:nvSpPr>
          <p:spPr>
            <a:xfrm flipH="false" flipV="false" rot="0">
              <a:off x="0" y="0"/>
              <a:ext cx="10972800" cy="548640"/>
            </a:xfrm>
            <a:custGeom>
              <a:avLst/>
              <a:gdLst/>
              <a:ahLst/>
              <a:cxnLst/>
              <a:rect r="r" b="b" t="t" l="l"/>
              <a:pathLst>
                <a:path h="548640" w="10972800">
                  <a:moveTo>
                    <a:pt x="0" y="0"/>
                  </a:moveTo>
                  <a:lnTo>
                    <a:pt x="10972800" y="0"/>
                  </a:lnTo>
                  <a:lnTo>
                    <a:pt x="10972800" y="548640"/>
                  </a:lnTo>
                  <a:lnTo>
                    <a:pt x="0" y="548640"/>
                  </a:lnTo>
                  <a:close/>
                </a:path>
              </a:pathLst>
            </a:custGeom>
            <a:blipFill>
              <a:blip r:embed="rId3">
                <a:alphaModFix amt="0"/>
              </a:blip>
              <a:stretch>
                <a:fillRect l="0" t="-339700" r="0" b="-339700"/>
              </a:stretch>
            </a:blipFill>
          </p:spPr>
        </p:sp>
        <p:sp>
          <p:nvSpPr>
            <p:cNvPr name="TextBox 10" id="10"/>
            <p:cNvSpPr txBox="true"/>
            <p:nvPr/>
          </p:nvSpPr>
          <p:spPr>
            <a:xfrm>
              <a:off x="0" y="-28575"/>
              <a:ext cx="10972800" cy="577215"/>
            </a:xfrm>
            <a:prstGeom prst="rect">
              <a:avLst/>
            </a:prstGeom>
          </p:spPr>
          <p:txBody>
            <a:bodyPr anchor="ctr" rtlCol="false" tIns="0" lIns="0" bIns="0" rIns="0"/>
            <a:lstStyle/>
            <a:p>
              <a:pPr algn="l">
                <a:lnSpc>
                  <a:spcPts val="1980"/>
                </a:lnSpc>
              </a:pPr>
              <a:r>
                <a:rPr lang="en-US" sz="1650">
                  <a:solidFill>
                    <a:srgbClr val="6B7280"/>
                  </a:solidFill>
                  <a:latin typeface="Calibri (MS)"/>
                  <a:ea typeface="Calibri (MS)"/>
                  <a:cs typeface="Calibri (MS)"/>
                  <a:sym typeface="Calibri (MS)"/>
                </a:rPr>
                <a:t>3 of 12</a:t>
              </a:r>
            </a:p>
          </p:txBody>
        </p:sp>
      </p:grpSp>
      <p:grpSp>
        <p:nvGrpSpPr>
          <p:cNvPr name="Group 11" id="11"/>
          <p:cNvGrpSpPr/>
          <p:nvPr/>
        </p:nvGrpSpPr>
        <p:grpSpPr>
          <a:xfrm rot="0">
            <a:off x="960120" y="2537460"/>
            <a:ext cx="16322040" cy="2400300"/>
            <a:chOff x="0" y="0"/>
            <a:chExt cx="21762720" cy="3200400"/>
          </a:xfrm>
        </p:grpSpPr>
        <p:sp>
          <p:nvSpPr>
            <p:cNvPr name="Freeform 12" id="12"/>
            <p:cNvSpPr/>
            <p:nvPr/>
          </p:nvSpPr>
          <p:spPr>
            <a:xfrm flipH="false" flipV="false" rot="0">
              <a:off x="0" y="0"/>
              <a:ext cx="21762720" cy="3200400"/>
            </a:xfrm>
            <a:custGeom>
              <a:avLst/>
              <a:gdLst/>
              <a:ahLst/>
              <a:cxnLst/>
              <a:rect r="r" b="b" t="t" l="l"/>
              <a:pathLst>
                <a:path h="3200400" w="21762720">
                  <a:moveTo>
                    <a:pt x="0" y="182880"/>
                  </a:moveTo>
                  <a:cubicBezTo>
                    <a:pt x="0" y="81915"/>
                    <a:pt x="81915" y="0"/>
                    <a:pt x="182880" y="0"/>
                  </a:cubicBezTo>
                  <a:lnTo>
                    <a:pt x="21579839" y="0"/>
                  </a:lnTo>
                  <a:cubicBezTo>
                    <a:pt x="21680804" y="0"/>
                    <a:pt x="21762720" y="81915"/>
                    <a:pt x="21762720" y="182880"/>
                  </a:cubicBezTo>
                  <a:lnTo>
                    <a:pt x="21762720" y="3017520"/>
                  </a:lnTo>
                  <a:cubicBezTo>
                    <a:pt x="21762720" y="3118485"/>
                    <a:pt x="21680804" y="3200400"/>
                    <a:pt x="21579839" y="3200400"/>
                  </a:cubicBezTo>
                  <a:lnTo>
                    <a:pt x="182880" y="3200400"/>
                  </a:lnTo>
                  <a:cubicBezTo>
                    <a:pt x="81915" y="3200400"/>
                    <a:pt x="0" y="3118485"/>
                    <a:pt x="0" y="3017520"/>
                  </a:cubicBezTo>
                  <a:close/>
                </a:path>
              </a:pathLst>
            </a:custGeom>
            <a:solidFill>
              <a:srgbClr val="F4F7FC"/>
            </a:solidFill>
          </p:spPr>
        </p:sp>
      </p:grpSp>
      <p:grpSp>
        <p:nvGrpSpPr>
          <p:cNvPr name="Group 13" id="13"/>
          <p:cNvGrpSpPr/>
          <p:nvPr/>
        </p:nvGrpSpPr>
        <p:grpSpPr>
          <a:xfrm rot="0">
            <a:off x="1440180" y="2811780"/>
            <a:ext cx="15361920" cy="1851660"/>
            <a:chOff x="0" y="0"/>
            <a:chExt cx="20482560" cy="2468880"/>
          </a:xfrm>
        </p:grpSpPr>
        <p:sp>
          <p:nvSpPr>
            <p:cNvPr name="Freeform 14" id="14"/>
            <p:cNvSpPr/>
            <p:nvPr/>
          </p:nvSpPr>
          <p:spPr>
            <a:xfrm flipH="false" flipV="false" rot="0">
              <a:off x="0" y="0"/>
              <a:ext cx="20482561" cy="2468880"/>
            </a:xfrm>
            <a:custGeom>
              <a:avLst/>
              <a:gdLst/>
              <a:ahLst/>
              <a:cxnLst/>
              <a:rect r="r" b="b" t="t" l="l"/>
              <a:pathLst>
                <a:path h="2468880" w="20482561">
                  <a:moveTo>
                    <a:pt x="0" y="0"/>
                  </a:moveTo>
                  <a:lnTo>
                    <a:pt x="20482561" y="0"/>
                  </a:lnTo>
                  <a:lnTo>
                    <a:pt x="20482561" y="2468880"/>
                  </a:lnTo>
                  <a:lnTo>
                    <a:pt x="0" y="2468880"/>
                  </a:lnTo>
                  <a:close/>
                </a:path>
              </a:pathLst>
            </a:custGeom>
            <a:blipFill>
              <a:blip r:embed="rId3">
                <a:alphaModFix amt="0"/>
              </a:blip>
              <a:stretch>
                <a:fillRect l="0" t="-111653" r="0" b="-111653"/>
              </a:stretch>
            </a:blipFill>
          </p:spPr>
        </p:sp>
        <p:sp>
          <p:nvSpPr>
            <p:cNvPr name="TextBox 15" id="15"/>
            <p:cNvSpPr txBox="true"/>
            <p:nvPr/>
          </p:nvSpPr>
          <p:spPr>
            <a:xfrm>
              <a:off x="0" y="-95250"/>
              <a:ext cx="20482560" cy="2564130"/>
            </a:xfrm>
            <a:prstGeom prst="rect">
              <a:avLst/>
            </a:prstGeom>
          </p:spPr>
          <p:txBody>
            <a:bodyPr anchor="ctr" rtlCol="false" tIns="0" lIns="0" bIns="0" rIns="0"/>
            <a:lstStyle/>
            <a:p>
              <a:pPr algn="l">
                <a:lnSpc>
                  <a:spcPts val="3916"/>
                </a:lnSpc>
              </a:pPr>
              <a:r>
                <a:rPr lang="en-US" sz="2550" i="true">
                  <a:solidFill>
                    <a:srgbClr val="23262F"/>
                  </a:solidFill>
                  <a:latin typeface="Cambria Italics"/>
                  <a:ea typeface="Cambria Italics"/>
                  <a:cs typeface="Cambria Italics"/>
                  <a:sym typeface="Cambria Italics"/>
                </a:rPr>
                <a:t>“The Provincial Treasurer's Office online payment portal crashes during real property tax deadline week, and no one can process payments.”</a:t>
              </a:r>
            </a:p>
          </p:txBody>
        </p:sp>
      </p:grpSp>
      <p:grpSp>
        <p:nvGrpSpPr>
          <p:cNvPr name="Group 16" id="16"/>
          <p:cNvGrpSpPr/>
          <p:nvPr/>
        </p:nvGrpSpPr>
        <p:grpSpPr>
          <a:xfrm rot="0">
            <a:off x="950595" y="5408295"/>
            <a:ext cx="5162550" cy="910590"/>
            <a:chOff x="0" y="0"/>
            <a:chExt cx="6883400" cy="1214120"/>
          </a:xfrm>
        </p:grpSpPr>
        <p:sp>
          <p:nvSpPr>
            <p:cNvPr name="Freeform 17" id="17"/>
            <p:cNvSpPr/>
            <p:nvPr/>
          </p:nvSpPr>
          <p:spPr>
            <a:xfrm flipH="false" flipV="false" rot="0">
              <a:off x="0" y="0"/>
              <a:ext cx="6883400" cy="1214120"/>
            </a:xfrm>
            <a:custGeom>
              <a:avLst/>
              <a:gdLst/>
              <a:ahLst/>
              <a:cxnLst/>
              <a:rect r="r" b="b" t="t" l="l"/>
              <a:pathLst>
                <a:path h="1214120" w="6883400">
                  <a:moveTo>
                    <a:pt x="0" y="168148"/>
                  </a:moveTo>
                  <a:cubicBezTo>
                    <a:pt x="0" y="75311"/>
                    <a:pt x="75311" y="0"/>
                    <a:pt x="168148" y="0"/>
                  </a:cubicBezTo>
                  <a:lnTo>
                    <a:pt x="6715252" y="0"/>
                  </a:lnTo>
                  <a:cubicBezTo>
                    <a:pt x="6808089" y="0"/>
                    <a:pt x="6883400" y="75311"/>
                    <a:pt x="6883400" y="168148"/>
                  </a:cubicBezTo>
                  <a:lnTo>
                    <a:pt x="6883400" y="1045972"/>
                  </a:lnTo>
                  <a:cubicBezTo>
                    <a:pt x="6883400" y="1138809"/>
                    <a:pt x="6808089" y="1214120"/>
                    <a:pt x="6715252" y="1214120"/>
                  </a:cubicBezTo>
                  <a:lnTo>
                    <a:pt x="168148" y="1214120"/>
                  </a:lnTo>
                  <a:cubicBezTo>
                    <a:pt x="75311" y="1214120"/>
                    <a:pt x="0" y="1138809"/>
                    <a:pt x="0" y="1045972"/>
                  </a:cubicBezTo>
                  <a:close/>
                </a:path>
              </a:pathLst>
            </a:custGeom>
            <a:solidFill>
              <a:srgbClr val="F4F7FC"/>
            </a:solidFill>
            <a:ln w="19050" cap="sq">
              <a:solidFill>
                <a:srgbClr val="D7DCEC"/>
              </a:solidFill>
              <a:prstDash val="solid"/>
              <a:miter/>
            </a:ln>
          </p:spPr>
        </p:sp>
      </p:grpSp>
      <p:grpSp>
        <p:nvGrpSpPr>
          <p:cNvPr name="Group 18" id="18"/>
          <p:cNvGrpSpPr/>
          <p:nvPr/>
        </p:nvGrpSpPr>
        <p:grpSpPr>
          <a:xfrm rot="0">
            <a:off x="960120" y="5417820"/>
            <a:ext cx="5143500" cy="891540"/>
            <a:chOff x="0" y="0"/>
            <a:chExt cx="6858000" cy="1188720"/>
          </a:xfrm>
        </p:grpSpPr>
        <p:sp>
          <p:nvSpPr>
            <p:cNvPr name="Freeform 19" id="19"/>
            <p:cNvSpPr/>
            <p:nvPr/>
          </p:nvSpPr>
          <p:spPr>
            <a:xfrm flipH="false" flipV="false" rot="0">
              <a:off x="0" y="0"/>
              <a:ext cx="6858000" cy="1188720"/>
            </a:xfrm>
            <a:custGeom>
              <a:avLst/>
              <a:gdLst/>
              <a:ahLst/>
              <a:cxnLst/>
              <a:rect r="r" b="b" t="t" l="l"/>
              <a:pathLst>
                <a:path h="1188720" w="6858000">
                  <a:moveTo>
                    <a:pt x="0" y="0"/>
                  </a:moveTo>
                  <a:lnTo>
                    <a:pt x="6858000" y="0"/>
                  </a:lnTo>
                  <a:lnTo>
                    <a:pt x="6858000" y="1188720"/>
                  </a:lnTo>
                  <a:lnTo>
                    <a:pt x="0" y="1188720"/>
                  </a:lnTo>
                  <a:close/>
                </a:path>
              </a:pathLst>
            </a:custGeom>
            <a:blipFill>
              <a:blip r:embed="rId3">
                <a:alphaModFix amt="0"/>
              </a:blip>
              <a:stretch>
                <a:fillRect l="0" t="-62413" r="0" b="-62413"/>
              </a:stretch>
            </a:blipFill>
          </p:spPr>
        </p:sp>
        <p:sp>
          <p:nvSpPr>
            <p:cNvPr name="TextBox 20" id="20"/>
            <p:cNvSpPr txBox="true"/>
            <p:nvPr/>
          </p:nvSpPr>
          <p:spPr>
            <a:xfrm>
              <a:off x="0" y="-47625"/>
              <a:ext cx="6858000" cy="1236345"/>
            </a:xfrm>
            <a:prstGeom prst="rect">
              <a:avLst/>
            </a:prstGeom>
          </p:spPr>
          <p:txBody>
            <a:bodyPr anchor="ctr" rtlCol="false" tIns="0" lIns="0" bIns="0" rIns="0"/>
            <a:lstStyle/>
            <a:p>
              <a:pPr algn="ctr">
                <a:lnSpc>
                  <a:spcPts val="2520"/>
                </a:lnSpc>
              </a:pPr>
              <a:r>
                <a:rPr lang="en-US" sz="2100">
                  <a:solidFill>
                    <a:srgbClr val="6B7280"/>
                  </a:solidFill>
                  <a:latin typeface="Calibri (MS)"/>
                  <a:ea typeface="Calibri (MS)"/>
                  <a:cs typeface="Calibri (MS)"/>
                  <a:sym typeface="Calibri (MS)"/>
                </a:rPr>
                <a:t>Confidentiality</a:t>
              </a:r>
            </a:p>
          </p:txBody>
        </p:sp>
      </p:grpSp>
      <p:grpSp>
        <p:nvGrpSpPr>
          <p:cNvPr name="Group 21" id="21"/>
          <p:cNvGrpSpPr/>
          <p:nvPr/>
        </p:nvGrpSpPr>
        <p:grpSpPr>
          <a:xfrm rot="0">
            <a:off x="6533007" y="5408295"/>
            <a:ext cx="5162550" cy="910590"/>
            <a:chOff x="0" y="0"/>
            <a:chExt cx="6883400" cy="1214120"/>
          </a:xfrm>
        </p:grpSpPr>
        <p:sp>
          <p:nvSpPr>
            <p:cNvPr name="Freeform 22" id="22"/>
            <p:cNvSpPr/>
            <p:nvPr/>
          </p:nvSpPr>
          <p:spPr>
            <a:xfrm flipH="false" flipV="false" rot="0">
              <a:off x="0" y="0"/>
              <a:ext cx="6883400" cy="1214120"/>
            </a:xfrm>
            <a:custGeom>
              <a:avLst/>
              <a:gdLst/>
              <a:ahLst/>
              <a:cxnLst/>
              <a:rect r="r" b="b" t="t" l="l"/>
              <a:pathLst>
                <a:path h="1214120" w="6883400">
                  <a:moveTo>
                    <a:pt x="0" y="168148"/>
                  </a:moveTo>
                  <a:cubicBezTo>
                    <a:pt x="0" y="75311"/>
                    <a:pt x="75311" y="0"/>
                    <a:pt x="168148" y="0"/>
                  </a:cubicBezTo>
                  <a:lnTo>
                    <a:pt x="6715252" y="0"/>
                  </a:lnTo>
                  <a:cubicBezTo>
                    <a:pt x="6808089" y="0"/>
                    <a:pt x="6883400" y="75311"/>
                    <a:pt x="6883400" y="168148"/>
                  </a:cubicBezTo>
                  <a:lnTo>
                    <a:pt x="6883400" y="1045972"/>
                  </a:lnTo>
                  <a:cubicBezTo>
                    <a:pt x="6883400" y="1138809"/>
                    <a:pt x="6808089" y="1214120"/>
                    <a:pt x="6715252" y="1214120"/>
                  </a:cubicBezTo>
                  <a:lnTo>
                    <a:pt x="168148" y="1214120"/>
                  </a:lnTo>
                  <a:cubicBezTo>
                    <a:pt x="75311" y="1214120"/>
                    <a:pt x="0" y="1138809"/>
                    <a:pt x="0" y="1045972"/>
                  </a:cubicBezTo>
                  <a:close/>
                </a:path>
              </a:pathLst>
            </a:custGeom>
            <a:solidFill>
              <a:srgbClr val="F4F7FC"/>
            </a:solidFill>
            <a:ln w="19050" cap="sq">
              <a:solidFill>
                <a:srgbClr val="D7DCEC"/>
              </a:solidFill>
              <a:prstDash val="solid"/>
              <a:miter/>
            </a:ln>
          </p:spPr>
        </p:sp>
      </p:grpSp>
      <p:grpSp>
        <p:nvGrpSpPr>
          <p:cNvPr name="Group 23" id="23"/>
          <p:cNvGrpSpPr/>
          <p:nvPr/>
        </p:nvGrpSpPr>
        <p:grpSpPr>
          <a:xfrm rot="0">
            <a:off x="6542532" y="5417820"/>
            <a:ext cx="5143500" cy="891540"/>
            <a:chOff x="0" y="0"/>
            <a:chExt cx="6858000" cy="1188720"/>
          </a:xfrm>
        </p:grpSpPr>
        <p:sp>
          <p:nvSpPr>
            <p:cNvPr name="Freeform 24" id="24"/>
            <p:cNvSpPr/>
            <p:nvPr/>
          </p:nvSpPr>
          <p:spPr>
            <a:xfrm flipH="false" flipV="false" rot="0">
              <a:off x="0" y="0"/>
              <a:ext cx="6858000" cy="1188720"/>
            </a:xfrm>
            <a:custGeom>
              <a:avLst/>
              <a:gdLst/>
              <a:ahLst/>
              <a:cxnLst/>
              <a:rect r="r" b="b" t="t" l="l"/>
              <a:pathLst>
                <a:path h="1188720" w="6858000">
                  <a:moveTo>
                    <a:pt x="0" y="0"/>
                  </a:moveTo>
                  <a:lnTo>
                    <a:pt x="6858000" y="0"/>
                  </a:lnTo>
                  <a:lnTo>
                    <a:pt x="6858000" y="1188720"/>
                  </a:lnTo>
                  <a:lnTo>
                    <a:pt x="0" y="1188720"/>
                  </a:lnTo>
                  <a:close/>
                </a:path>
              </a:pathLst>
            </a:custGeom>
            <a:blipFill>
              <a:blip r:embed="rId3">
                <a:alphaModFix amt="0"/>
              </a:blip>
              <a:stretch>
                <a:fillRect l="0" t="-62413" r="0" b="-62413"/>
              </a:stretch>
            </a:blipFill>
          </p:spPr>
        </p:sp>
        <p:sp>
          <p:nvSpPr>
            <p:cNvPr name="TextBox 25" id="25"/>
            <p:cNvSpPr txBox="true"/>
            <p:nvPr/>
          </p:nvSpPr>
          <p:spPr>
            <a:xfrm>
              <a:off x="0" y="-47625"/>
              <a:ext cx="6858000" cy="1236345"/>
            </a:xfrm>
            <a:prstGeom prst="rect">
              <a:avLst/>
            </a:prstGeom>
          </p:spPr>
          <p:txBody>
            <a:bodyPr anchor="ctr" rtlCol="false" tIns="0" lIns="0" bIns="0" rIns="0"/>
            <a:lstStyle/>
            <a:p>
              <a:pPr algn="ctr">
                <a:lnSpc>
                  <a:spcPts val="2520"/>
                </a:lnSpc>
              </a:pPr>
              <a:r>
                <a:rPr lang="en-US" sz="2100">
                  <a:solidFill>
                    <a:srgbClr val="6B7280"/>
                  </a:solidFill>
                  <a:latin typeface="Calibri (MS)"/>
                  <a:ea typeface="Calibri (MS)"/>
                  <a:cs typeface="Calibri (MS)"/>
                  <a:sym typeface="Calibri (MS)"/>
                </a:rPr>
                <a:t>Integrity</a:t>
              </a:r>
            </a:p>
          </p:txBody>
        </p:sp>
      </p:grpSp>
      <p:grpSp>
        <p:nvGrpSpPr>
          <p:cNvPr name="Group 26" id="26"/>
          <p:cNvGrpSpPr/>
          <p:nvPr/>
        </p:nvGrpSpPr>
        <p:grpSpPr>
          <a:xfrm rot="0">
            <a:off x="12115419" y="5408295"/>
            <a:ext cx="5162550" cy="910590"/>
            <a:chOff x="0" y="0"/>
            <a:chExt cx="6883400" cy="1214120"/>
          </a:xfrm>
        </p:grpSpPr>
        <p:sp>
          <p:nvSpPr>
            <p:cNvPr name="Freeform 27" id="27"/>
            <p:cNvSpPr/>
            <p:nvPr/>
          </p:nvSpPr>
          <p:spPr>
            <a:xfrm flipH="false" flipV="false" rot="0">
              <a:off x="0" y="0"/>
              <a:ext cx="6883400" cy="1214120"/>
            </a:xfrm>
            <a:custGeom>
              <a:avLst/>
              <a:gdLst/>
              <a:ahLst/>
              <a:cxnLst/>
              <a:rect r="r" b="b" t="t" l="l"/>
              <a:pathLst>
                <a:path h="1214120" w="6883400">
                  <a:moveTo>
                    <a:pt x="0" y="168148"/>
                  </a:moveTo>
                  <a:cubicBezTo>
                    <a:pt x="0" y="75311"/>
                    <a:pt x="75311" y="0"/>
                    <a:pt x="168148" y="0"/>
                  </a:cubicBezTo>
                  <a:lnTo>
                    <a:pt x="6715252" y="0"/>
                  </a:lnTo>
                  <a:cubicBezTo>
                    <a:pt x="6808089" y="0"/>
                    <a:pt x="6883400" y="75311"/>
                    <a:pt x="6883400" y="168148"/>
                  </a:cubicBezTo>
                  <a:lnTo>
                    <a:pt x="6883400" y="1045972"/>
                  </a:lnTo>
                  <a:cubicBezTo>
                    <a:pt x="6883400" y="1138809"/>
                    <a:pt x="6808089" y="1214120"/>
                    <a:pt x="6715252" y="1214120"/>
                  </a:cubicBezTo>
                  <a:lnTo>
                    <a:pt x="168148" y="1214120"/>
                  </a:lnTo>
                  <a:cubicBezTo>
                    <a:pt x="75311" y="1214120"/>
                    <a:pt x="0" y="1138809"/>
                    <a:pt x="0" y="1045972"/>
                  </a:cubicBezTo>
                  <a:close/>
                </a:path>
              </a:pathLst>
            </a:custGeom>
            <a:solidFill>
              <a:srgbClr val="B8690F"/>
            </a:solidFill>
            <a:ln w="19050" cap="sq">
              <a:solidFill>
                <a:srgbClr val="B8690F"/>
              </a:solidFill>
              <a:prstDash val="solid"/>
              <a:miter/>
            </a:ln>
          </p:spPr>
        </p:sp>
      </p:grpSp>
      <p:grpSp>
        <p:nvGrpSpPr>
          <p:cNvPr name="Group 28" id="28"/>
          <p:cNvGrpSpPr/>
          <p:nvPr/>
        </p:nvGrpSpPr>
        <p:grpSpPr>
          <a:xfrm rot="0">
            <a:off x="12124944" y="5417820"/>
            <a:ext cx="5143500" cy="891540"/>
            <a:chOff x="0" y="0"/>
            <a:chExt cx="6858000" cy="1188720"/>
          </a:xfrm>
        </p:grpSpPr>
        <p:sp>
          <p:nvSpPr>
            <p:cNvPr name="Freeform 29" id="29"/>
            <p:cNvSpPr/>
            <p:nvPr/>
          </p:nvSpPr>
          <p:spPr>
            <a:xfrm flipH="false" flipV="false" rot="0">
              <a:off x="0" y="0"/>
              <a:ext cx="6858000" cy="1188720"/>
            </a:xfrm>
            <a:custGeom>
              <a:avLst/>
              <a:gdLst/>
              <a:ahLst/>
              <a:cxnLst/>
              <a:rect r="r" b="b" t="t" l="l"/>
              <a:pathLst>
                <a:path h="1188720" w="6858000">
                  <a:moveTo>
                    <a:pt x="0" y="0"/>
                  </a:moveTo>
                  <a:lnTo>
                    <a:pt x="6858000" y="0"/>
                  </a:lnTo>
                  <a:lnTo>
                    <a:pt x="6858000" y="1188720"/>
                  </a:lnTo>
                  <a:lnTo>
                    <a:pt x="0" y="1188720"/>
                  </a:lnTo>
                  <a:close/>
                </a:path>
              </a:pathLst>
            </a:custGeom>
            <a:blipFill>
              <a:blip r:embed="rId3">
                <a:alphaModFix amt="0"/>
              </a:blip>
              <a:stretch>
                <a:fillRect l="0" t="-62413" r="0" b="-62413"/>
              </a:stretch>
            </a:blipFill>
          </p:spPr>
        </p:sp>
        <p:sp>
          <p:nvSpPr>
            <p:cNvPr name="TextBox 30" id="30"/>
            <p:cNvSpPr txBox="true"/>
            <p:nvPr/>
          </p:nvSpPr>
          <p:spPr>
            <a:xfrm>
              <a:off x="0" y="-47625"/>
              <a:ext cx="6858000" cy="1236345"/>
            </a:xfrm>
            <a:prstGeom prst="rect">
              <a:avLst/>
            </a:prstGeom>
          </p:spPr>
          <p:txBody>
            <a:bodyPr anchor="ctr" rtlCol="false" tIns="0" lIns="0" bIns="0" rIns="0"/>
            <a:lstStyle/>
            <a:p>
              <a:pPr algn="ctr">
                <a:lnSpc>
                  <a:spcPts val="2520"/>
                </a:lnSpc>
              </a:pPr>
              <a:r>
                <a:rPr lang="en-US" sz="2100" b="true">
                  <a:solidFill>
                    <a:srgbClr val="FFFFFF"/>
                  </a:solidFill>
                  <a:latin typeface="Calibri (MS) Bold"/>
                  <a:ea typeface="Calibri (MS) Bold"/>
                  <a:cs typeface="Calibri (MS) Bold"/>
                  <a:sym typeface="Calibri (MS) Bold"/>
                </a:rPr>
                <a:t>✓  Availability</a:t>
              </a:r>
            </a:p>
          </p:txBody>
        </p:sp>
      </p:grpSp>
      <p:grpSp>
        <p:nvGrpSpPr>
          <p:cNvPr name="Group 31" id="31"/>
          <p:cNvGrpSpPr/>
          <p:nvPr/>
        </p:nvGrpSpPr>
        <p:grpSpPr>
          <a:xfrm rot="0">
            <a:off x="950595" y="6779895"/>
            <a:ext cx="16341090" cy="2145030"/>
            <a:chOff x="0" y="0"/>
            <a:chExt cx="21788120" cy="2860040"/>
          </a:xfrm>
        </p:grpSpPr>
        <p:sp>
          <p:nvSpPr>
            <p:cNvPr name="Freeform 32" id="32"/>
            <p:cNvSpPr/>
            <p:nvPr/>
          </p:nvSpPr>
          <p:spPr>
            <a:xfrm flipH="false" flipV="false" rot="0">
              <a:off x="0" y="0"/>
              <a:ext cx="21788120" cy="2860040"/>
            </a:xfrm>
            <a:custGeom>
              <a:avLst/>
              <a:gdLst/>
              <a:ahLst/>
              <a:cxnLst/>
              <a:rect r="r" b="b" t="t" l="l"/>
              <a:pathLst>
                <a:path h="2860040" w="21788120">
                  <a:moveTo>
                    <a:pt x="0" y="184531"/>
                  </a:moveTo>
                  <a:cubicBezTo>
                    <a:pt x="0" y="82677"/>
                    <a:pt x="82677" y="0"/>
                    <a:pt x="184531" y="0"/>
                  </a:cubicBezTo>
                  <a:lnTo>
                    <a:pt x="21603588" y="0"/>
                  </a:lnTo>
                  <a:cubicBezTo>
                    <a:pt x="21705443" y="0"/>
                    <a:pt x="21788120" y="82677"/>
                    <a:pt x="21788120" y="184531"/>
                  </a:cubicBezTo>
                  <a:lnTo>
                    <a:pt x="21788120" y="2675509"/>
                  </a:lnTo>
                  <a:cubicBezTo>
                    <a:pt x="21788120" y="2777363"/>
                    <a:pt x="21705443" y="2860040"/>
                    <a:pt x="21603588" y="2860040"/>
                  </a:cubicBezTo>
                  <a:lnTo>
                    <a:pt x="184531" y="2860040"/>
                  </a:lnTo>
                  <a:cubicBezTo>
                    <a:pt x="82677" y="2860040"/>
                    <a:pt x="0" y="2777363"/>
                    <a:pt x="0" y="2675509"/>
                  </a:cubicBezTo>
                  <a:close/>
                </a:path>
              </a:pathLst>
            </a:custGeom>
            <a:solidFill>
              <a:srgbClr val="FBF9F4"/>
            </a:solidFill>
            <a:ln w="19050" cap="sq">
              <a:solidFill>
                <a:srgbClr val="EFE6D2"/>
              </a:solidFill>
              <a:prstDash val="solid"/>
              <a:miter/>
            </a:ln>
          </p:spPr>
        </p:sp>
      </p:grpSp>
      <p:sp>
        <p:nvSpPr>
          <p:cNvPr name="TextBox 33" id="33"/>
          <p:cNvSpPr txBox="true"/>
          <p:nvPr/>
        </p:nvSpPr>
        <p:spPr>
          <a:xfrm rot="0">
            <a:off x="1463040" y="6977253"/>
            <a:ext cx="15316200" cy="1659255"/>
          </a:xfrm>
          <a:prstGeom prst="rect">
            <a:avLst/>
          </a:prstGeom>
        </p:spPr>
        <p:txBody>
          <a:bodyPr anchor="t" rtlCol="false" tIns="0" lIns="0" bIns="0" rIns="0">
            <a:spAutoFit/>
          </a:bodyPr>
          <a:lstStyle/>
          <a:p>
            <a:pPr algn="l">
              <a:lnSpc>
                <a:spcPts val="3159"/>
              </a:lnSpc>
            </a:pPr>
            <a:r>
              <a:rPr lang="en-US" sz="2025">
                <a:solidFill>
                  <a:srgbClr val="23262F"/>
                </a:solidFill>
                <a:latin typeface="Calibri (MS)"/>
                <a:ea typeface="Calibri (MS)"/>
                <a:cs typeface="Calibri (MS)"/>
                <a:sym typeface="Calibri (MS)"/>
              </a:rPr>
              <a:t>Nothing was stolen or altered — the service just isn't there when residents need it. That's an Availability failure.</a:t>
            </a:r>
          </a:p>
        </p:txBody>
      </p:sp>
      <p:grpSp>
        <p:nvGrpSpPr>
          <p:cNvPr name="Group 34" id="34"/>
          <p:cNvGrpSpPr/>
          <p:nvPr/>
        </p:nvGrpSpPr>
        <p:grpSpPr>
          <a:xfrm rot="0">
            <a:off x="685800" y="9710928"/>
            <a:ext cx="10972800" cy="411480"/>
            <a:chOff x="0" y="0"/>
            <a:chExt cx="14630400" cy="548640"/>
          </a:xfrm>
        </p:grpSpPr>
        <p:sp>
          <p:nvSpPr>
            <p:cNvPr name="Freeform 35" id="35"/>
            <p:cNvSpPr/>
            <p:nvPr/>
          </p:nvSpPr>
          <p:spPr>
            <a:xfrm flipH="false" flipV="false" rot="0">
              <a:off x="0" y="0"/>
              <a:ext cx="14630400" cy="548640"/>
            </a:xfrm>
            <a:custGeom>
              <a:avLst/>
              <a:gdLst/>
              <a:ahLst/>
              <a:cxnLst/>
              <a:rect r="r" b="b" t="t" l="l"/>
              <a:pathLst>
                <a:path h="548640" w="14630400">
                  <a:moveTo>
                    <a:pt x="0" y="0"/>
                  </a:moveTo>
                  <a:lnTo>
                    <a:pt x="14630400" y="0"/>
                  </a:lnTo>
                  <a:lnTo>
                    <a:pt x="14630400" y="548640"/>
                  </a:lnTo>
                  <a:lnTo>
                    <a:pt x="0" y="548640"/>
                  </a:lnTo>
                  <a:close/>
                </a:path>
              </a:pathLst>
            </a:custGeom>
            <a:blipFill>
              <a:blip r:embed="rId3">
                <a:alphaModFix amt="0"/>
              </a:blip>
              <a:stretch>
                <a:fillRect l="0" t="-469601" r="0" b="-469601"/>
              </a:stretch>
            </a:blipFill>
          </p:spPr>
        </p:sp>
        <p:sp>
          <p:nvSpPr>
            <p:cNvPr name="TextBox 36" id="36"/>
            <p:cNvSpPr txBox="true"/>
            <p:nvPr/>
          </p:nvSpPr>
          <p:spPr>
            <a:xfrm>
              <a:off x="0" y="-38100"/>
              <a:ext cx="14630400" cy="586740"/>
            </a:xfrm>
            <a:prstGeom prst="rect">
              <a:avLst/>
            </a:prstGeom>
          </p:spPr>
          <p:txBody>
            <a:bodyPr anchor="ctr" rtlCol="false" tIns="0" lIns="0" bIns="0" rIns="0"/>
            <a:lstStyle/>
            <a:p>
              <a:pPr algn="l">
                <a:lnSpc>
                  <a:spcPts val="1800"/>
                </a:lnSpc>
              </a:pPr>
              <a:r>
                <a:rPr lang="en-US" sz="1500">
                  <a:solidFill>
                    <a:srgbClr val="6B7280"/>
                  </a:solidFill>
                  <a:latin typeface="Calibri (MS)"/>
                  <a:ea typeface="Calibri (MS)"/>
                  <a:cs typeface="Calibri (MS)"/>
                  <a:sym typeface="Calibri (MS)"/>
                </a:rPr>
                <a:t>Davao del Norte Provincial Government — Cybersecurity Seminar</a:t>
              </a:r>
            </a:p>
          </p:txBody>
        </p:sp>
      </p:grpSp>
      <p:grpSp>
        <p:nvGrpSpPr>
          <p:cNvPr name="Group 37" id="37"/>
          <p:cNvGrpSpPr/>
          <p:nvPr/>
        </p:nvGrpSpPr>
        <p:grpSpPr>
          <a:xfrm rot="0">
            <a:off x="16911828" y="9710928"/>
            <a:ext cx="685800" cy="411480"/>
            <a:chOff x="0" y="0"/>
            <a:chExt cx="914400" cy="548640"/>
          </a:xfrm>
        </p:grpSpPr>
        <p:sp>
          <p:nvSpPr>
            <p:cNvPr name="Freeform 38" id="38"/>
            <p:cNvSpPr/>
            <p:nvPr/>
          </p:nvSpPr>
          <p:spPr>
            <a:xfrm flipH="false" flipV="false" rot="0">
              <a:off x="0" y="0"/>
              <a:ext cx="914400" cy="548640"/>
            </a:xfrm>
            <a:custGeom>
              <a:avLst/>
              <a:gdLst/>
              <a:ahLst/>
              <a:cxnLst/>
              <a:rect r="r" b="b" t="t" l="l"/>
              <a:pathLst>
                <a:path h="548640" w="914400">
                  <a:moveTo>
                    <a:pt x="0" y="0"/>
                  </a:moveTo>
                  <a:lnTo>
                    <a:pt x="914400" y="0"/>
                  </a:lnTo>
                  <a:lnTo>
                    <a:pt x="914400" y="548640"/>
                  </a:lnTo>
                  <a:lnTo>
                    <a:pt x="0" y="548640"/>
                  </a:lnTo>
                  <a:close/>
                </a:path>
              </a:pathLst>
            </a:custGeom>
            <a:blipFill>
              <a:blip r:embed="rId3">
                <a:alphaModFix amt="0"/>
              </a:blip>
              <a:stretch>
                <a:fillRect l="-26982" t="0" r="-26982" b="0"/>
              </a:stretch>
            </a:blipFill>
          </p:spPr>
        </p:sp>
        <p:sp>
          <p:nvSpPr>
            <p:cNvPr name="TextBox 39" id="39"/>
            <p:cNvSpPr txBox="true"/>
            <p:nvPr/>
          </p:nvSpPr>
          <p:spPr>
            <a:xfrm>
              <a:off x="0" y="-38100"/>
              <a:ext cx="914400" cy="586740"/>
            </a:xfrm>
            <a:prstGeom prst="rect">
              <a:avLst/>
            </a:prstGeom>
          </p:spPr>
          <p:txBody>
            <a:bodyPr anchor="ctr" rtlCol="false" tIns="0" lIns="0" bIns="0" rIns="0"/>
            <a:lstStyle/>
            <a:p>
              <a:pPr algn="r">
                <a:lnSpc>
                  <a:spcPts val="1800"/>
                </a:lnSpc>
              </a:pPr>
              <a:r>
                <a:rPr lang="en-US" sz="1500">
                  <a:solidFill>
                    <a:srgbClr val="6B7280"/>
                  </a:solidFill>
                  <a:latin typeface="Calibri (MS)"/>
                  <a:ea typeface="Calibri (MS)"/>
                  <a:cs typeface="Calibri (MS)"/>
                  <a:sym typeface="Calibri (MS)"/>
                </a:rPr>
                <a:t>44</a:t>
              </a:r>
            </a:p>
          </p:txBody>
        </p:sp>
      </p:grpSp>
    </p:spTree>
  </p:cSld>
  <p:clrMapOvr>
    <a:masterClrMapping/>
  </p:clrMapOvr>
</p:sld>
</file>

<file path=ppt/slides/slide4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60120" y="685800"/>
            <a:ext cx="13716000" cy="411480"/>
            <a:chOff x="0" y="0"/>
            <a:chExt cx="18288000" cy="548640"/>
          </a:xfrm>
        </p:grpSpPr>
        <p:sp>
          <p:nvSpPr>
            <p:cNvPr name="Freeform 3" id="3"/>
            <p:cNvSpPr/>
            <p:nvPr/>
          </p:nvSpPr>
          <p:spPr>
            <a:xfrm flipH="false" flipV="false" rot="0">
              <a:off x="0" y="0"/>
              <a:ext cx="18288000" cy="548640"/>
            </a:xfrm>
            <a:custGeom>
              <a:avLst/>
              <a:gdLst/>
              <a:ahLst/>
              <a:cxnLst/>
              <a:rect r="r" b="b" t="t" l="l"/>
              <a:pathLst>
                <a:path h="548640" w="18288000">
                  <a:moveTo>
                    <a:pt x="0" y="0"/>
                  </a:moveTo>
                  <a:lnTo>
                    <a:pt x="18288000" y="0"/>
                  </a:lnTo>
                  <a:lnTo>
                    <a:pt x="18288000" y="548640"/>
                  </a:lnTo>
                  <a:lnTo>
                    <a:pt x="0" y="548640"/>
                  </a:lnTo>
                  <a:close/>
                </a:path>
              </a:pathLst>
            </a:custGeom>
            <a:blipFill>
              <a:blip r:embed="rId3">
                <a:alphaModFix amt="0"/>
              </a:blip>
              <a:stretch>
                <a:fillRect l="0" t="-599501" r="0" b="-599501"/>
              </a:stretch>
            </a:blipFill>
          </p:spPr>
        </p:sp>
        <p:sp>
          <p:nvSpPr>
            <p:cNvPr name="TextBox 4" id="4"/>
            <p:cNvSpPr txBox="true"/>
            <p:nvPr/>
          </p:nvSpPr>
          <p:spPr>
            <a:xfrm>
              <a:off x="0" y="-38100"/>
              <a:ext cx="18288000" cy="586740"/>
            </a:xfrm>
            <a:prstGeom prst="rect">
              <a:avLst/>
            </a:prstGeom>
          </p:spPr>
          <p:txBody>
            <a:bodyPr anchor="ctr" rtlCol="false" tIns="0" lIns="0" bIns="0" rIns="0"/>
            <a:lstStyle/>
            <a:p>
              <a:pPr algn="l">
                <a:lnSpc>
                  <a:spcPts val="2160"/>
                </a:lnSpc>
              </a:pPr>
              <a:r>
                <a:rPr lang="en-US" b="true" sz="1800" spc="225">
                  <a:solidFill>
                    <a:srgbClr val="00B4D8"/>
                  </a:solidFill>
                  <a:latin typeface="Calibri (MS) Bold"/>
                  <a:ea typeface="Calibri (MS) Bold"/>
                  <a:cs typeface="Calibri (MS) Bold"/>
                  <a:sym typeface="Calibri (MS) Bold"/>
                </a:rPr>
                <a:t>CIA TRIAD SORT · SCENARIO</a:t>
              </a:r>
            </a:p>
          </p:txBody>
        </p:sp>
      </p:grpSp>
      <p:grpSp>
        <p:nvGrpSpPr>
          <p:cNvPr name="Group 5" id="5"/>
          <p:cNvGrpSpPr/>
          <p:nvPr/>
        </p:nvGrpSpPr>
        <p:grpSpPr>
          <a:xfrm rot="0">
            <a:off x="960120" y="1069848"/>
            <a:ext cx="10972800" cy="822960"/>
            <a:chOff x="0" y="0"/>
            <a:chExt cx="14630400" cy="1097280"/>
          </a:xfrm>
        </p:grpSpPr>
        <p:sp>
          <p:nvSpPr>
            <p:cNvPr name="Freeform 6" id="6"/>
            <p:cNvSpPr/>
            <p:nvPr/>
          </p:nvSpPr>
          <p:spPr>
            <a:xfrm flipH="false" flipV="false" rot="0">
              <a:off x="0" y="0"/>
              <a:ext cx="14630400" cy="1097280"/>
            </a:xfrm>
            <a:custGeom>
              <a:avLst/>
              <a:gdLst/>
              <a:ahLst/>
              <a:cxnLst/>
              <a:rect r="r" b="b" t="t" l="l"/>
              <a:pathLst>
                <a:path h="1097280" w="14630400">
                  <a:moveTo>
                    <a:pt x="0" y="0"/>
                  </a:moveTo>
                  <a:lnTo>
                    <a:pt x="14630400" y="0"/>
                  </a:lnTo>
                  <a:lnTo>
                    <a:pt x="14630400" y="1097280"/>
                  </a:lnTo>
                  <a:lnTo>
                    <a:pt x="0" y="1097280"/>
                  </a:lnTo>
                  <a:close/>
                </a:path>
              </a:pathLst>
            </a:custGeom>
            <a:blipFill>
              <a:blip r:embed="rId3">
                <a:alphaModFix amt="0"/>
              </a:blip>
              <a:stretch>
                <a:fillRect l="0" t="-209800" r="0" b="-209800"/>
              </a:stretch>
            </a:blipFill>
          </p:spPr>
        </p:sp>
        <p:sp>
          <p:nvSpPr>
            <p:cNvPr name="TextBox 7" id="7"/>
            <p:cNvSpPr txBox="true"/>
            <p:nvPr/>
          </p:nvSpPr>
          <p:spPr>
            <a:xfrm>
              <a:off x="0" y="0"/>
              <a:ext cx="14630400" cy="1097280"/>
            </a:xfrm>
            <a:prstGeom prst="rect">
              <a:avLst/>
            </a:prstGeom>
          </p:spPr>
          <p:txBody>
            <a:bodyPr anchor="ctr" rtlCol="false" tIns="0" lIns="0" bIns="0" rIns="0"/>
            <a:lstStyle/>
            <a:p>
              <a:pPr algn="l">
                <a:lnSpc>
                  <a:spcPts val="4680"/>
                </a:lnSpc>
              </a:pPr>
              <a:r>
                <a:rPr lang="en-US" sz="3900" b="true">
                  <a:solidFill>
                    <a:srgbClr val="1E2761"/>
                  </a:solidFill>
                  <a:latin typeface="Cambria Bold"/>
                  <a:ea typeface="Cambria Bold"/>
                  <a:cs typeface="Cambria Bold"/>
                  <a:sym typeface="Cambria Bold"/>
                </a:rPr>
                <a:t>Scenario 4</a:t>
              </a:r>
            </a:p>
          </p:txBody>
        </p:sp>
      </p:grpSp>
      <p:grpSp>
        <p:nvGrpSpPr>
          <p:cNvPr name="Group 8" id="8"/>
          <p:cNvGrpSpPr/>
          <p:nvPr/>
        </p:nvGrpSpPr>
        <p:grpSpPr>
          <a:xfrm rot="0">
            <a:off x="960120" y="1810512"/>
            <a:ext cx="8229600" cy="411480"/>
            <a:chOff x="0" y="0"/>
            <a:chExt cx="10972800" cy="548640"/>
          </a:xfrm>
        </p:grpSpPr>
        <p:sp>
          <p:nvSpPr>
            <p:cNvPr name="Freeform 9" id="9"/>
            <p:cNvSpPr/>
            <p:nvPr/>
          </p:nvSpPr>
          <p:spPr>
            <a:xfrm flipH="false" flipV="false" rot="0">
              <a:off x="0" y="0"/>
              <a:ext cx="10972800" cy="548640"/>
            </a:xfrm>
            <a:custGeom>
              <a:avLst/>
              <a:gdLst/>
              <a:ahLst/>
              <a:cxnLst/>
              <a:rect r="r" b="b" t="t" l="l"/>
              <a:pathLst>
                <a:path h="548640" w="10972800">
                  <a:moveTo>
                    <a:pt x="0" y="0"/>
                  </a:moveTo>
                  <a:lnTo>
                    <a:pt x="10972800" y="0"/>
                  </a:lnTo>
                  <a:lnTo>
                    <a:pt x="10972800" y="548640"/>
                  </a:lnTo>
                  <a:lnTo>
                    <a:pt x="0" y="548640"/>
                  </a:lnTo>
                  <a:close/>
                </a:path>
              </a:pathLst>
            </a:custGeom>
            <a:blipFill>
              <a:blip r:embed="rId3">
                <a:alphaModFix amt="0"/>
              </a:blip>
              <a:stretch>
                <a:fillRect l="0" t="-339700" r="0" b="-339700"/>
              </a:stretch>
            </a:blipFill>
          </p:spPr>
        </p:sp>
        <p:sp>
          <p:nvSpPr>
            <p:cNvPr name="TextBox 10" id="10"/>
            <p:cNvSpPr txBox="true"/>
            <p:nvPr/>
          </p:nvSpPr>
          <p:spPr>
            <a:xfrm>
              <a:off x="0" y="-28575"/>
              <a:ext cx="10972800" cy="577215"/>
            </a:xfrm>
            <a:prstGeom prst="rect">
              <a:avLst/>
            </a:prstGeom>
          </p:spPr>
          <p:txBody>
            <a:bodyPr anchor="ctr" rtlCol="false" tIns="0" lIns="0" bIns="0" rIns="0"/>
            <a:lstStyle/>
            <a:p>
              <a:pPr algn="l">
                <a:lnSpc>
                  <a:spcPts val="1980"/>
                </a:lnSpc>
              </a:pPr>
              <a:r>
                <a:rPr lang="en-US" sz="1650">
                  <a:solidFill>
                    <a:srgbClr val="6B7280"/>
                  </a:solidFill>
                  <a:latin typeface="Calibri (MS)"/>
                  <a:ea typeface="Calibri (MS)"/>
                  <a:cs typeface="Calibri (MS)"/>
                  <a:sym typeface="Calibri (MS)"/>
                </a:rPr>
                <a:t>4 of 12</a:t>
              </a:r>
            </a:p>
          </p:txBody>
        </p:sp>
      </p:grpSp>
      <p:grpSp>
        <p:nvGrpSpPr>
          <p:cNvPr name="Group 11" id="11"/>
          <p:cNvGrpSpPr/>
          <p:nvPr/>
        </p:nvGrpSpPr>
        <p:grpSpPr>
          <a:xfrm rot="0">
            <a:off x="960120" y="2537460"/>
            <a:ext cx="16322040" cy="2811780"/>
            <a:chOff x="0" y="0"/>
            <a:chExt cx="21762720" cy="3749040"/>
          </a:xfrm>
        </p:grpSpPr>
        <p:sp>
          <p:nvSpPr>
            <p:cNvPr name="Freeform 12" id="12"/>
            <p:cNvSpPr/>
            <p:nvPr/>
          </p:nvSpPr>
          <p:spPr>
            <a:xfrm flipH="false" flipV="false" rot="0">
              <a:off x="0" y="0"/>
              <a:ext cx="21762720" cy="3749040"/>
            </a:xfrm>
            <a:custGeom>
              <a:avLst/>
              <a:gdLst/>
              <a:ahLst/>
              <a:cxnLst/>
              <a:rect r="r" b="b" t="t" l="l"/>
              <a:pathLst>
                <a:path h="3749040" w="21762720">
                  <a:moveTo>
                    <a:pt x="0" y="182880"/>
                  </a:moveTo>
                  <a:cubicBezTo>
                    <a:pt x="0" y="81915"/>
                    <a:pt x="81915" y="0"/>
                    <a:pt x="182880" y="0"/>
                  </a:cubicBezTo>
                  <a:lnTo>
                    <a:pt x="21579839" y="0"/>
                  </a:lnTo>
                  <a:cubicBezTo>
                    <a:pt x="21680804" y="0"/>
                    <a:pt x="21762720" y="81915"/>
                    <a:pt x="21762720" y="182880"/>
                  </a:cubicBezTo>
                  <a:lnTo>
                    <a:pt x="21762720" y="3566160"/>
                  </a:lnTo>
                  <a:cubicBezTo>
                    <a:pt x="21762720" y="3667125"/>
                    <a:pt x="21680804" y="3749040"/>
                    <a:pt x="21579839" y="3749040"/>
                  </a:cubicBezTo>
                  <a:lnTo>
                    <a:pt x="182880" y="3749040"/>
                  </a:lnTo>
                  <a:cubicBezTo>
                    <a:pt x="81915" y="3749040"/>
                    <a:pt x="0" y="3667125"/>
                    <a:pt x="0" y="3566160"/>
                  </a:cubicBezTo>
                  <a:close/>
                </a:path>
              </a:pathLst>
            </a:custGeom>
            <a:solidFill>
              <a:srgbClr val="F4F7FC"/>
            </a:solidFill>
          </p:spPr>
        </p:sp>
      </p:grpSp>
      <p:grpSp>
        <p:nvGrpSpPr>
          <p:cNvPr name="Group 13" id="13"/>
          <p:cNvGrpSpPr/>
          <p:nvPr/>
        </p:nvGrpSpPr>
        <p:grpSpPr>
          <a:xfrm rot="0">
            <a:off x="1440180" y="2811780"/>
            <a:ext cx="15361920" cy="2263140"/>
            <a:chOff x="0" y="0"/>
            <a:chExt cx="20482560" cy="3017520"/>
          </a:xfrm>
        </p:grpSpPr>
        <p:sp>
          <p:nvSpPr>
            <p:cNvPr name="Freeform 14" id="14"/>
            <p:cNvSpPr/>
            <p:nvPr/>
          </p:nvSpPr>
          <p:spPr>
            <a:xfrm flipH="false" flipV="false" rot="0">
              <a:off x="0" y="0"/>
              <a:ext cx="20482561" cy="3017520"/>
            </a:xfrm>
            <a:custGeom>
              <a:avLst/>
              <a:gdLst/>
              <a:ahLst/>
              <a:cxnLst/>
              <a:rect r="r" b="b" t="t" l="l"/>
              <a:pathLst>
                <a:path h="3017520" w="20482561">
                  <a:moveTo>
                    <a:pt x="0" y="0"/>
                  </a:moveTo>
                  <a:lnTo>
                    <a:pt x="20482561" y="0"/>
                  </a:lnTo>
                  <a:lnTo>
                    <a:pt x="20482561" y="3017520"/>
                  </a:lnTo>
                  <a:lnTo>
                    <a:pt x="0" y="3017520"/>
                  </a:lnTo>
                  <a:close/>
                </a:path>
              </a:pathLst>
            </a:custGeom>
            <a:blipFill>
              <a:blip r:embed="rId3">
                <a:alphaModFix amt="0"/>
              </a:blip>
              <a:stretch>
                <a:fillRect l="0" t="-82262" r="0" b="-82262"/>
              </a:stretch>
            </a:blipFill>
          </p:spPr>
        </p:sp>
        <p:sp>
          <p:nvSpPr>
            <p:cNvPr name="TextBox 15" id="15"/>
            <p:cNvSpPr txBox="true"/>
            <p:nvPr/>
          </p:nvSpPr>
          <p:spPr>
            <a:xfrm>
              <a:off x="0" y="-104775"/>
              <a:ext cx="20482560" cy="3122295"/>
            </a:xfrm>
            <a:prstGeom prst="rect">
              <a:avLst/>
            </a:prstGeom>
          </p:spPr>
          <p:txBody>
            <a:bodyPr anchor="ctr" rtlCol="false" tIns="0" lIns="0" bIns="0" rIns="0"/>
            <a:lstStyle/>
            <a:p>
              <a:pPr algn="l">
                <a:lnSpc>
                  <a:spcPts val="4147"/>
                </a:lnSpc>
              </a:pPr>
              <a:r>
                <a:rPr lang="en-US" sz="2700" i="true">
                  <a:solidFill>
                    <a:srgbClr val="23262F"/>
                  </a:solidFill>
                  <a:latin typeface="Cambria Italics"/>
                  <a:ea typeface="Cambria Italics"/>
                  <a:cs typeface="Cambria Italics"/>
                  <a:sym typeface="Cambria Italics"/>
                </a:rPr>
                <a:t>“A contractor doing unrelated IT work is caught browsing HR personnel files that have nothing to do with their assignment.”</a:t>
              </a:r>
            </a:p>
          </p:txBody>
        </p:sp>
      </p:grpSp>
      <p:sp>
        <p:nvSpPr>
          <p:cNvPr name="TextBox 16" id="16"/>
          <p:cNvSpPr txBox="true"/>
          <p:nvPr/>
        </p:nvSpPr>
        <p:spPr>
          <a:xfrm rot="0">
            <a:off x="1051560" y="5604510"/>
            <a:ext cx="16139160" cy="1276350"/>
          </a:xfrm>
          <a:prstGeom prst="rect">
            <a:avLst/>
          </a:prstGeom>
        </p:spPr>
        <p:txBody>
          <a:bodyPr anchor="t" rtlCol="false" tIns="0" lIns="0" bIns="0" rIns="0">
            <a:spAutoFit/>
          </a:bodyPr>
          <a:lstStyle/>
          <a:p>
            <a:pPr algn="ctr">
              <a:lnSpc>
                <a:spcPts val="3402"/>
              </a:lnSpc>
            </a:pPr>
            <a:r>
              <a:rPr lang="en-US" sz="2100" i="true">
                <a:solidFill>
                  <a:srgbClr val="6B7280"/>
                </a:solidFill>
                <a:latin typeface="Calibri (MS) Italics"/>
                <a:ea typeface="Calibri (MS) Italics"/>
                <a:cs typeface="Calibri (MS) Italics"/>
                <a:sym typeface="Calibri (MS) Italics"/>
              </a:rPr>
              <a:t>Which does this break — Confidentiality, Integrity, or Availability?</a:t>
            </a:r>
          </a:p>
          <a:p>
            <a:pPr algn="ctr">
              <a:lnSpc>
                <a:spcPts val="3402"/>
              </a:lnSpc>
            </a:pPr>
            <a:r>
              <a:rPr lang="en-US" sz="2100" i="true">
                <a:solidFill>
                  <a:srgbClr val="6B7280"/>
                </a:solidFill>
                <a:latin typeface="Calibri (MS) Italics"/>
                <a:ea typeface="Calibri (MS) Italics"/>
                <a:cs typeface="Calibri (MS) Italics"/>
                <a:sym typeface="Calibri (MS) Italics"/>
              </a:rPr>
              <a:t>Some break more than one. Discuss, then we'll reveal the answer.</a:t>
            </a:r>
          </a:p>
        </p:txBody>
      </p:sp>
      <p:grpSp>
        <p:nvGrpSpPr>
          <p:cNvPr name="Group 17" id="17"/>
          <p:cNvGrpSpPr/>
          <p:nvPr/>
        </p:nvGrpSpPr>
        <p:grpSpPr>
          <a:xfrm rot="0">
            <a:off x="950595" y="7191375"/>
            <a:ext cx="5162550" cy="910590"/>
            <a:chOff x="0" y="0"/>
            <a:chExt cx="6883400" cy="1214120"/>
          </a:xfrm>
        </p:grpSpPr>
        <p:sp>
          <p:nvSpPr>
            <p:cNvPr name="Freeform 18" id="18"/>
            <p:cNvSpPr/>
            <p:nvPr/>
          </p:nvSpPr>
          <p:spPr>
            <a:xfrm flipH="false" flipV="false" rot="0">
              <a:off x="0" y="0"/>
              <a:ext cx="6883400" cy="1214120"/>
            </a:xfrm>
            <a:custGeom>
              <a:avLst/>
              <a:gdLst/>
              <a:ahLst/>
              <a:cxnLst/>
              <a:rect r="r" b="b" t="t" l="l"/>
              <a:pathLst>
                <a:path h="1214120" w="6883400">
                  <a:moveTo>
                    <a:pt x="0" y="168148"/>
                  </a:moveTo>
                  <a:cubicBezTo>
                    <a:pt x="0" y="75311"/>
                    <a:pt x="75311" y="0"/>
                    <a:pt x="168148" y="0"/>
                  </a:cubicBezTo>
                  <a:lnTo>
                    <a:pt x="6715252" y="0"/>
                  </a:lnTo>
                  <a:cubicBezTo>
                    <a:pt x="6808089" y="0"/>
                    <a:pt x="6883400" y="75311"/>
                    <a:pt x="6883400" y="168148"/>
                  </a:cubicBezTo>
                  <a:lnTo>
                    <a:pt x="6883400" y="1045972"/>
                  </a:lnTo>
                  <a:cubicBezTo>
                    <a:pt x="6883400" y="1138809"/>
                    <a:pt x="6808089" y="1214120"/>
                    <a:pt x="6715252" y="1214120"/>
                  </a:cubicBezTo>
                  <a:lnTo>
                    <a:pt x="168148" y="1214120"/>
                  </a:lnTo>
                  <a:cubicBezTo>
                    <a:pt x="75311" y="1214120"/>
                    <a:pt x="0" y="1138809"/>
                    <a:pt x="0" y="1045972"/>
                  </a:cubicBezTo>
                  <a:close/>
                </a:path>
              </a:pathLst>
            </a:custGeom>
            <a:solidFill>
              <a:srgbClr val="F4F7FC"/>
            </a:solidFill>
            <a:ln w="19050" cap="sq">
              <a:solidFill>
                <a:srgbClr val="D7DCEC"/>
              </a:solidFill>
              <a:prstDash val="solid"/>
              <a:miter/>
            </a:ln>
          </p:spPr>
        </p:sp>
      </p:grpSp>
      <p:grpSp>
        <p:nvGrpSpPr>
          <p:cNvPr name="Group 19" id="19"/>
          <p:cNvGrpSpPr/>
          <p:nvPr/>
        </p:nvGrpSpPr>
        <p:grpSpPr>
          <a:xfrm rot="0">
            <a:off x="960120" y="7200900"/>
            <a:ext cx="5143500" cy="891540"/>
            <a:chOff x="0" y="0"/>
            <a:chExt cx="6858000" cy="1188720"/>
          </a:xfrm>
        </p:grpSpPr>
        <p:sp>
          <p:nvSpPr>
            <p:cNvPr name="Freeform 20" id="20"/>
            <p:cNvSpPr/>
            <p:nvPr/>
          </p:nvSpPr>
          <p:spPr>
            <a:xfrm flipH="false" flipV="false" rot="0">
              <a:off x="0" y="0"/>
              <a:ext cx="6858000" cy="1188720"/>
            </a:xfrm>
            <a:custGeom>
              <a:avLst/>
              <a:gdLst/>
              <a:ahLst/>
              <a:cxnLst/>
              <a:rect r="r" b="b" t="t" l="l"/>
              <a:pathLst>
                <a:path h="1188720" w="6858000">
                  <a:moveTo>
                    <a:pt x="0" y="0"/>
                  </a:moveTo>
                  <a:lnTo>
                    <a:pt x="6858000" y="0"/>
                  </a:lnTo>
                  <a:lnTo>
                    <a:pt x="6858000" y="1188720"/>
                  </a:lnTo>
                  <a:lnTo>
                    <a:pt x="0" y="1188720"/>
                  </a:lnTo>
                  <a:close/>
                </a:path>
              </a:pathLst>
            </a:custGeom>
            <a:blipFill>
              <a:blip r:embed="rId3">
                <a:alphaModFix amt="0"/>
              </a:blip>
              <a:stretch>
                <a:fillRect l="0" t="-62413" r="0" b="-62413"/>
              </a:stretch>
            </a:blipFill>
          </p:spPr>
        </p:sp>
        <p:sp>
          <p:nvSpPr>
            <p:cNvPr name="TextBox 21" id="21"/>
            <p:cNvSpPr txBox="true"/>
            <p:nvPr/>
          </p:nvSpPr>
          <p:spPr>
            <a:xfrm>
              <a:off x="0" y="-47625"/>
              <a:ext cx="6858000" cy="1236345"/>
            </a:xfrm>
            <a:prstGeom prst="rect">
              <a:avLst/>
            </a:prstGeom>
          </p:spPr>
          <p:txBody>
            <a:bodyPr anchor="ctr" rtlCol="false" tIns="0" lIns="0" bIns="0" rIns="0"/>
            <a:lstStyle/>
            <a:p>
              <a:pPr algn="ctr">
                <a:lnSpc>
                  <a:spcPts val="2520"/>
                </a:lnSpc>
              </a:pPr>
              <a:r>
                <a:rPr lang="en-US" sz="2100">
                  <a:solidFill>
                    <a:srgbClr val="6B7280"/>
                  </a:solidFill>
                  <a:latin typeface="Calibri (MS)"/>
                  <a:ea typeface="Calibri (MS)"/>
                  <a:cs typeface="Calibri (MS)"/>
                  <a:sym typeface="Calibri (MS)"/>
                </a:rPr>
                <a:t>Confidentiality</a:t>
              </a:r>
            </a:p>
          </p:txBody>
        </p:sp>
      </p:grpSp>
      <p:grpSp>
        <p:nvGrpSpPr>
          <p:cNvPr name="Group 22" id="22"/>
          <p:cNvGrpSpPr/>
          <p:nvPr/>
        </p:nvGrpSpPr>
        <p:grpSpPr>
          <a:xfrm rot="0">
            <a:off x="6533007" y="7191375"/>
            <a:ext cx="5162550" cy="910590"/>
            <a:chOff x="0" y="0"/>
            <a:chExt cx="6883400" cy="1214120"/>
          </a:xfrm>
        </p:grpSpPr>
        <p:sp>
          <p:nvSpPr>
            <p:cNvPr name="Freeform 23" id="23"/>
            <p:cNvSpPr/>
            <p:nvPr/>
          </p:nvSpPr>
          <p:spPr>
            <a:xfrm flipH="false" flipV="false" rot="0">
              <a:off x="0" y="0"/>
              <a:ext cx="6883400" cy="1214120"/>
            </a:xfrm>
            <a:custGeom>
              <a:avLst/>
              <a:gdLst/>
              <a:ahLst/>
              <a:cxnLst/>
              <a:rect r="r" b="b" t="t" l="l"/>
              <a:pathLst>
                <a:path h="1214120" w="6883400">
                  <a:moveTo>
                    <a:pt x="0" y="168148"/>
                  </a:moveTo>
                  <a:cubicBezTo>
                    <a:pt x="0" y="75311"/>
                    <a:pt x="75311" y="0"/>
                    <a:pt x="168148" y="0"/>
                  </a:cubicBezTo>
                  <a:lnTo>
                    <a:pt x="6715252" y="0"/>
                  </a:lnTo>
                  <a:cubicBezTo>
                    <a:pt x="6808089" y="0"/>
                    <a:pt x="6883400" y="75311"/>
                    <a:pt x="6883400" y="168148"/>
                  </a:cubicBezTo>
                  <a:lnTo>
                    <a:pt x="6883400" y="1045972"/>
                  </a:lnTo>
                  <a:cubicBezTo>
                    <a:pt x="6883400" y="1138809"/>
                    <a:pt x="6808089" y="1214120"/>
                    <a:pt x="6715252" y="1214120"/>
                  </a:cubicBezTo>
                  <a:lnTo>
                    <a:pt x="168148" y="1214120"/>
                  </a:lnTo>
                  <a:cubicBezTo>
                    <a:pt x="75311" y="1214120"/>
                    <a:pt x="0" y="1138809"/>
                    <a:pt x="0" y="1045972"/>
                  </a:cubicBezTo>
                  <a:close/>
                </a:path>
              </a:pathLst>
            </a:custGeom>
            <a:solidFill>
              <a:srgbClr val="F4F7FC"/>
            </a:solidFill>
            <a:ln w="19050" cap="sq">
              <a:solidFill>
                <a:srgbClr val="D7DCEC"/>
              </a:solidFill>
              <a:prstDash val="solid"/>
              <a:miter/>
            </a:ln>
          </p:spPr>
        </p:sp>
      </p:grpSp>
      <p:grpSp>
        <p:nvGrpSpPr>
          <p:cNvPr name="Group 24" id="24"/>
          <p:cNvGrpSpPr/>
          <p:nvPr/>
        </p:nvGrpSpPr>
        <p:grpSpPr>
          <a:xfrm rot="0">
            <a:off x="6542532" y="7200900"/>
            <a:ext cx="5143500" cy="891540"/>
            <a:chOff x="0" y="0"/>
            <a:chExt cx="6858000" cy="1188720"/>
          </a:xfrm>
        </p:grpSpPr>
        <p:sp>
          <p:nvSpPr>
            <p:cNvPr name="Freeform 25" id="25"/>
            <p:cNvSpPr/>
            <p:nvPr/>
          </p:nvSpPr>
          <p:spPr>
            <a:xfrm flipH="false" flipV="false" rot="0">
              <a:off x="0" y="0"/>
              <a:ext cx="6858000" cy="1188720"/>
            </a:xfrm>
            <a:custGeom>
              <a:avLst/>
              <a:gdLst/>
              <a:ahLst/>
              <a:cxnLst/>
              <a:rect r="r" b="b" t="t" l="l"/>
              <a:pathLst>
                <a:path h="1188720" w="6858000">
                  <a:moveTo>
                    <a:pt x="0" y="0"/>
                  </a:moveTo>
                  <a:lnTo>
                    <a:pt x="6858000" y="0"/>
                  </a:lnTo>
                  <a:lnTo>
                    <a:pt x="6858000" y="1188720"/>
                  </a:lnTo>
                  <a:lnTo>
                    <a:pt x="0" y="1188720"/>
                  </a:lnTo>
                  <a:close/>
                </a:path>
              </a:pathLst>
            </a:custGeom>
            <a:blipFill>
              <a:blip r:embed="rId3">
                <a:alphaModFix amt="0"/>
              </a:blip>
              <a:stretch>
                <a:fillRect l="0" t="-62413" r="0" b="-62413"/>
              </a:stretch>
            </a:blipFill>
          </p:spPr>
        </p:sp>
        <p:sp>
          <p:nvSpPr>
            <p:cNvPr name="TextBox 26" id="26"/>
            <p:cNvSpPr txBox="true"/>
            <p:nvPr/>
          </p:nvSpPr>
          <p:spPr>
            <a:xfrm>
              <a:off x="0" y="-47625"/>
              <a:ext cx="6858000" cy="1236345"/>
            </a:xfrm>
            <a:prstGeom prst="rect">
              <a:avLst/>
            </a:prstGeom>
          </p:spPr>
          <p:txBody>
            <a:bodyPr anchor="ctr" rtlCol="false" tIns="0" lIns="0" bIns="0" rIns="0"/>
            <a:lstStyle/>
            <a:p>
              <a:pPr algn="ctr">
                <a:lnSpc>
                  <a:spcPts val="2520"/>
                </a:lnSpc>
              </a:pPr>
              <a:r>
                <a:rPr lang="en-US" sz="2100">
                  <a:solidFill>
                    <a:srgbClr val="6B7280"/>
                  </a:solidFill>
                  <a:latin typeface="Calibri (MS)"/>
                  <a:ea typeface="Calibri (MS)"/>
                  <a:cs typeface="Calibri (MS)"/>
                  <a:sym typeface="Calibri (MS)"/>
                </a:rPr>
                <a:t>Integrity</a:t>
              </a:r>
            </a:p>
          </p:txBody>
        </p:sp>
      </p:grpSp>
      <p:grpSp>
        <p:nvGrpSpPr>
          <p:cNvPr name="Group 27" id="27"/>
          <p:cNvGrpSpPr/>
          <p:nvPr/>
        </p:nvGrpSpPr>
        <p:grpSpPr>
          <a:xfrm rot="0">
            <a:off x="12115419" y="7191375"/>
            <a:ext cx="5162550" cy="910590"/>
            <a:chOff x="0" y="0"/>
            <a:chExt cx="6883400" cy="1214120"/>
          </a:xfrm>
        </p:grpSpPr>
        <p:sp>
          <p:nvSpPr>
            <p:cNvPr name="Freeform 28" id="28"/>
            <p:cNvSpPr/>
            <p:nvPr/>
          </p:nvSpPr>
          <p:spPr>
            <a:xfrm flipH="false" flipV="false" rot="0">
              <a:off x="0" y="0"/>
              <a:ext cx="6883400" cy="1214120"/>
            </a:xfrm>
            <a:custGeom>
              <a:avLst/>
              <a:gdLst/>
              <a:ahLst/>
              <a:cxnLst/>
              <a:rect r="r" b="b" t="t" l="l"/>
              <a:pathLst>
                <a:path h="1214120" w="6883400">
                  <a:moveTo>
                    <a:pt x="0" y="168148"/>
                  </a:moveTo>
                  <a:cubicBezTo>
                    <a:pt x="0" y="75311"/>
                    <a:pt x="75311" y="0"/>
                    <a:pt x="168148" y="0"/>
                  </a:cubicBezTo>
                  <a:lnTo>
                    <a:pt x="6715252" y="0"/>
                  </a:lnTo>
                  <a:cubicBezTo>
                    <a:pt x="6808089" y="0"/>
                    <a:pt x="6883400" y="75311"/>
                    <a:pt x="6883400" y="168148"/>
                  </a:cubicBezTo>
                  <a:lnTo>
                    <a:pt x="6883400" y="1045972"/>
                  </a:lnTo>
                  <a:cubicBezTo>
                    <a:pt x="6883400" y="1138809"/>
                    <a:pt x="6808089" y="1214120"/>
                    <a:pt x="6715252" y="1214120"/>
                  </a:cubicBezTo>
                  <a:lnTo>
                    <a:pt x="168148" y="1214120"/>
                  </a:lnTo>
                  <a:cubicBezTo>
                    <a:pt x="75311" y="1214120"/>
                    <a:pt x="0" y="1138809"/>
                    <a:pt x="0" y="1045972"/>
                  </a:cubicBezTo>
                  <a:close/>
                </a:path>
              </a:pathLst>
            </a:custGeom>
            <a:solidFill>
              <a:srgbClr val="F4F7FC"/>
            </a:solidFill>
            <a:ln w="19050" cap="sq">
              <a:solidFill>
                <a:srgbClr val="D7DCEC"/>
              </a:solidFill>
              <a:prstDash val="solid"/>
              <a:miter/>
            </a:ln>
          </p:spPr>
        </p:sp>
      </p:grpSp>
      <p:grpSp>
        <p:nvGrpSpPr>
          <p:cNvPr name="Group 29" id="29"/>
          <p:cNvGrpSpPr/>
          <p:nvPr/>
        </p:nvGrpSpPr>
        <p:grpSpPr>
          <a:xfrm rot="0">
            <a:off x="12124944" y="7200900"/>
            <a:ext cx="5143500" cy="891540"/>
            <a:chOff x="0" y="0"/>
            <a:chExt cx="6858000" cy="1188720"/>
          </a:xfrm>
        </p:grpSpPr>
        <p:sp>
          <p:nvSpPr>
            <p:cNvPr name="Freeform 30" id="30"/>
            <p:cNvSpPr/>
            <p:nvPr/>
          </p:nvSpPr>
          <p:spPr>
            <a:xfrm flipH="false" flipV="false" rot="0">
              <a:off x="0" y="0"/>
              <a:ext cx="6858000" cy="1188720"/>
            </a:xfrm>
            <a:custGeom>
              <a:avLst/>
              <a:gdLst/>
              <a:ahLst/>
              <a:cxnLst/>
              <a:rect r="r" b="b" t="t" l="l"/>
              <a:pathLst>
                <a:path h="1188720" w="6858000">
                  <a:moveTo>
                    <a:pt x="0" y="0"/>
                  </a:moveTo>
                  <a:lnTo>
                    <a:pt x="6858000" y="0"/>
                  </a:lnTo>
                  <a:lnTo>
                    <a:pt x="6858000" y="1188720"/>
                  </a:lnTo>
                  <a:lnTo>
                    <a:pt x="0" y="1188720"/>
                  </a:lnTo>
                  <a:close/>
                </a:path>
              </a:pathLst>
            </a:custGeom>
            <a:blipFill>
              <a:blip r:embed="rId3">
                <a:alphaModFix amt="0"/>
              </a:blip>
              <a:stretch>
                <a:fillRect l="0" t="-62413" r="0" b="-62413"/>
              </a:stretch>
            </a:blipFill>
          </p:spPr>
        </p:sp>
        <p:sp>
          <p:nvSpPr>
            <p:cNvPr name="TextBox 31" id="31"/>
            <p:cNvSpPr txBox="true"/>
            <p:nvPr/>
          </p:nvSpPr>
          <p:spPr>
            <a:xfrm>
              <a:off x="0" y="-47625"/>
              <a:ext cx="6858000" cy="1236345"/>
            </a:xfrm>
            <a:prstGeom prst="rect">
              <a:avLst/>
            </a:prstGeom>
          </p:spPr>
          <p:txBody>
            <a:bodyPr anchor="ctr" rtlCol="false" tIns="0" lIns="0" bIns="0" rIns="0"/>
            <a:lstStyle/>
            <a:p>
              <a:pPr algn="ctr">
                <a:lnSpc>
                  <a:spcPts val="2520"/>
                </a:lnSpc>
              </a:pPr>
              <a:r>
                <a:rPr lang="en-US" sz="2100">
                  <a:solidFill>
                    <a:srgbClr val="6B7280"/>
                  </a:solidFill>
                  <a:latin typeface="Calibri (MS)"/>
                  <a:ea typeface="Calibri (MS)"/>
                  <a:cs typeface="Calibri (MS)"/>
                  <a:sym typeface="Calibri (MS)"/>
                </a:rPr>
                <a:t>Availability</a:t>
              </a:r>
            </a:p>
          </p:txBody>
        </p:sp>
      </p:grpSp>
      <p:grpSp>
        <p:nvGrpSpPr>
          <p:cNvPr name="Group 32" id="32"/>
          <p:cNvGrpSpPr/>
          <p:nvPr/>
        </p:nvGrpSpPr>
        <p:grpSpPr>
          <a:xfrm rot="0">
            <a:off x="685800" y="9710928"/>
            <a:ext cx="10972800" cy="411480"/>
            <a:chOff x="0" y="0"/>
            <a:chExt cx="14630400" cy="548640"/>
          </a:xfrm>
        </p:grpSpPr>
        <p:sp>
          <p:nvSpPr>
            <p:cNvPr name="Freeform 33" id="33"/>
            <p:cNvSpPr/>
            <p:nvPr/>
          </p:nvSpPr>
          <p:spPr>
            <a:xfrm flipH="false" flipV="false" rot="0">
              <a:off x="0" y="0"/>
              <a:ext cx="14630400" cy="548640"/>
            </a:xfrm>
            <a:custGeom>
              <a:avLst/>
              <a:gdLst/>
              <a:ahLst/>
              <a:cxnLst/>
              <a:rect r="r" b="b" t="t" l="l"/>
              <a:pathLst>
                <a:path h="548640" w="14630400">
                  <a:moveTo>
                    <a:pt x="0" y="0"/>
                  </a:moveTo>
                  <a:lnTo>
                    <a:pt x="14630400" y="0"/>
                  </a:lnTo>
                  <a:lnTo>
                    <a:pt x="14630400" y="548640"/>
                  </a:lnTo>
                  <a:lnTo>
                    <a:pt x="0" y="548640"/>
                  </a:lnTo>
                  <a:close/>
                </a:path>
              </a:pathLst>
            </a:custGeom>
            <a:blipFill>
              <a:blip r:embed="rId3">
                <a:alphaModFix amt="0"/>
              </a:blip>
              <a:stretch>
                <a:fillRect l="0" t="-469601" r="0" b="-469601"/>
              </a:stretch>
            </a:blipFill>
          </p:spPr>
        </p:sp>
        <p:sp>
          <p:nvSpPr>
            <p:cNvPr name="TextBox 34" id="34"/>
            <p:cNvSpPr txBox="true"/>
            <p:nvPr/>
          </p:nvSpPr>
          <p:spPr>
            <a:xfrm>
              <a:off x="0" y="-38100"/>
              <a:ext cx="14630400" cy="586740"/>
            </a:xfrm>
            <a:prstGeom prst="rect">
              <a:avLst/>
            </a:prstGeom>
          </p:spPr>
          <p:txBody>
            <a:bodyPr anchor="ctr" rtlCol="false" tIns="0" lIns="0" bIns="0" rIns="0"/>
            <a:lstStyle/>
            <a:p>
              <a:pPr algn="l">
                <a:lnSpc>
                  <a:spcPts val="1800"/>
                </a:lnSpc>
              </a:pPr>
              <a:r>
                <a:rPr lang="en-US" sz="1500">
                  <a:solidFill>
                    <a:srgbClr val="6B7280"/>
                  </a:solidFill>
                  <a:latin typeface="Calibri (MS)"/>
                  <a:ea typeface="Calibri (MS)"/>
                  <a:cs typeface="Calibri (MS)"/>
                  <a:sym typeface="Calibri (MS)"/>
                </a:rPr>
                <a:t>Davao del Norte Provincial Government — Cybersecurity Seminar</a:t>
              </a:r>
            </a:p>
          </p:txBody>
        </p:sp>
      </p:grpSp>
      <p:grpSp>
        <p:nvGrpSpPr>
          <p:cNvPr name="Group 35" id="35"/>
          <p:cNvGrpSpPr/>
          <p:nvPr/>
        </p:nvGrpSpPr>
        <p:grpSpPr>
          <a:xfrm rot="0">
            <a:off x="16911828" y="9710928"/>
            <a:ext cx="685800" cy="411480"/>
            <a:chOff x="0" y="0"/>
            <a:chExt cx="914400" cy="548640"/>
          </a:xfrm>
        </p:grpSpPr>
        <p:sp>
          <p:nvSpPr>
            <p:cNvPr name="Freeform 36" id="36"/>
            <p:cNvSpPr/>
            <p:nvPr/>
          </p:nvSpPr>
          <p:spPr>
            <a:xfrm flipH="false" flipV="false" rot="0">
              <a:off x="0" y="0"/>
              <a:ext cx="914400" cy="548640"/>
            </a:xfrm>
            <a:custGeom>
              <a:avLst/>
              <a:gdLst/>
              <a:ahLst/>
              <a:cxnLst/>
              <a:rect r="r" b="b" t="t" l="l"/>
              <a:pathLst>
                <a:path h="548640" w="914400">
                  <a:moveTo>
                    <a:pt x="0" y="0"/>
                  </a:moveTo>
                  <a:lnTo>
                    <a:pt x="914400" y="0"/>
                  </a:lnTo>
                  <a:lnTo>
                    <a:pt x="914400" y="548640"/>
                  </a:lnTo>
                  <a:lnTo>
                    <a:pt x="0" y="548640"/>
                  </a:lnTo>
                  <a:close/>
                </a:path>
              </a:pathLst>
            </a:custGeom>
            <a:blipFill>
              <a:blip r:embed="rId3">
                <a:alphaModFix amt="0"/>
              </a:blip>
              <a:stretch>
                <a:fillRect l="-26982" t="0" r="-26982" b="0"/>
              </a:stretch>
            </a:blipFill>
          </p:spPr>
        </p:sp>
        <p:sp>
          <p:nvSpPr>
            <p:cNvPr name="TextBox 37" id="37"/>
            <p:cNvSpPr txBox="true"/>
            <p:nvPr/>
          </p:nvSpPr>
          <p:spPr>
            <a:xfrm>
              <a:off x="0" y="-38100"/>
              <a:ext cx="914400" cy="586740"/>
            </a:xfrm>
            <a:prstGeom prst="rect">
              <a:avLst/>
            </a:prstGeom>
          </p:spPr>
          <p:txBody>
            <a:bodyPr anchor="ctr" rtlCol="false" tIns="0" lIns="0" bIns="0" rIns="0"/>
            <a:lstStyle/>
            <a:p>
              <a:pPr algn="r">
                <a:lnSpc>
                  <a:spcPts val="1800"/>
                </a:lnSpc>
              </a:pPr>
              <a:r>
                <a:rPr lang="en-US" sz="1500">
                  <a:solidFill>
                    <a:srgbClr val="6B7280"/>
                  </a:solidFill>
                  <a:latin typeface="Calibri (MS)"/>
                  <a:ea typeface="Calibri (MS)"/>
                  <a:cs typeface="Calibri (MS)"/>
                  <a:sym typeface="Calibri (MS)"/>
                </a:rPr>
                <a:t>45</a:t>
              </a:r>
            </a:p>
          </p:txBody>
        </p:sp>
      </p:grpSp>
    </p:spTree>
  </p:cSld>
  <p:clrMapOvr>
    <a:masterClrMapping/>
  </p:clrMapOvr>
</p:sld>
</file>

<file path=ppt/slides/slide4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60120" y="685800"/>
            <a:ext cx="13716000" cy="411480"/>
            <a:chOff x="0" y="0"/>
            <a:chExt cx="18288000" cy="548640"/>
          </a:xfrm>
        </p:grpSpPr>
        <p:sp>
          <p:nvSpPr>
            <p:cNvPr name="Freeform 3" id="3"/>
            <p:cNvSpPr/>
            <p:nvPr/>
          </p:nvSpPr>
          <p:spPr>
            <a:xfrm flipH="false" flipV="false" rot="0">
              <a:off x="0" y="0"/>
              <a:ext cx="18288000" cy="548640"/>
            </a:xfrm>
            <a:custGeom>
              <a:avLst/>
              <a:gdLst/>
              <a:ahLst/>
              <a:cxnLst/>
              <a:rect r="r" b="b" t="t" l="l"/>
              <a:pathLst>
                <a:path h="548640" w="18288000">
                  <a:moveTo>
                    <a:pt x="0" y="0"/>
                  </a:moveTo>
                  <a:lnTo>
                    <a:pt x="18288000" y="0"/>
                  </a:lnTo>
                  <a:lnTo>
                    <a:pt x="18288000" y="548640"/>
                  </a:lnTo>
                  <a:lnTo>
                    <a:pt x="0" y="548640"/>
                  </a:lnTo>
                  <a:close/>
                </a:path>
              </a:pathLst>
            </a:custGeom>
            <a:blipFill>
              <a:blip r:embed="rId3">
                <a:alphaModFix amt="0"/>
              </a:blip>
              <a:stretch>
                <a:fillRect l="0" t="-599501" r="0" b="-599501"/>
              </a:stretch>
            </a:blipFill>
          </p:spPr>
        </p:sp>
        <p:sp>
          <p:nvSpPr>
            <p:cNvPr name="TextBox 4" id="4"/>
            <p:cNvSpPr txBox="true"/>
            <p:nvPr/>
          </p:nvSpPr>
          <p:spPr>
            <a:xfrm>
              <a:off x="0" y="-38100"/>
              <a:ext cx="18288000" cy="586740"/>
            </a:xfrm>
            <a:prstGeom prst="rect">
              <a:avLst/>
            </a:prstGeom>
          </p:spPr>
          <p:txBody>
            <a:bodyPr anchor="ctr" rtlCol="false" tIns="0" lIns="0" bIns="0" rIns="0"/>
            <a:lstStyle/>
            <a:p>
              <a:pPr algn="l">
                <a:lnSpc>
                  <a:spcPts val="2160"/>
                </a:lnSpc>
              </a:pPr>
              <a:r>
                <a:rPr lang="en-US" b="true" sz="1800" spc="225">
                  <a:solidFill>
                    <a:srgbClr val="00B4D8"/>
                  </a:solidFill>
                  <a:latin typeface="Calibri (MS) Bold"/>
                  <a:ea typeface="Calibri (MS) Bold"/>
                  <a:cs typeface="Calibri (MS) Bold"/>
                  <a:sym typeface="Calibri (MS) Bold"/>
                </a:rPr>
                <a:t>CIA TRIAD SORT · ANSWER</a:t>
              </a:r>
            </a:p>
          </p:txBody>
        </p:sp>
      </p:grpSp>
      <p:grpSp>
        <p:nvGrpSpPr>
          <p:cNvPr name="Group 5" id="5"/>
          <p:cNvGrpSpPr/>
          <p:nvPr/>
        </p:nvGrpSpPr>
        <p:grpSpPr>
          <a:xfrm rot="0">
            <a:off x="960120" y="1069848"/>
            <a:ext cx="10972800" cy="822960"/>
            <a:chOff x="0" y="0"/>
            <a:chExt cx="14630400" cy="1097280"/>
          </a:xfrm>
        </p:grpSpPr>
        <p:sp>
          <p:nvSpPr>
            <p:cNvPr name="Freeform 6" id="6"/>
            <p:cNvSpPr/>
            <p:nvPr/>
          </p:nvSpPr>
          <p:spPr>
            <a:xfrm flipH="false" flipV="false" rot="0">
              <a:off x="0" y="0"/>
              <a:ext cx="14630400" cy="1097280"/>
            </a:xfrm>
            <a:custGeom>
              <a:avLst/>
              <a:gdLst/>
              <a:ahLst/>
              <a:cxnLst/>
              <a:rect r="r" b="b" t="t" l="l"/>
              <a:pathLst>
                <a:path h="1097280" w="14630400">
                  <a:moveTo>
                    <a:pt x="0" y="0"/>
                  </a:moveTo>
                  <a:lnTo>
                    <a:pt x="14630400" y="0"/>
                  </a:lnTo>
                  <a:lnTo>
                    <a:pt x="14630400" y="1097280"/>
                  </a:lnTo>
                  <a:lnTo>
                    <a:pt x="0" y="1097280"/>
                  </a:lnTo>
                  <a:close/>
                </a:path>
              </a:pathLst>
            </a:custGeom>
            <a:blipFill>
              <a:blip r:embed="rId3">
                <a:alphaModFix amt="0"/>
              </a:blip>
              <a:stretch>
                <a:fillRect l="0" t="-209800" r="0" b="-209800"/>
              </a:stretch>
            </a:blipFill>
          </p:spPr>
        </p:sp>
        <p:sp>
          <p:nvSpPr>
            <p:cNvPr name="TextBox 7" id="7"/>
            <p:cNvSpPr txBox="true"/>
            <p:nvPr/>
          </p:nvSpPr>
          <p:spPr>
            <a:xfrm>
              <a:off x="0" y="0"/>
              <a:ext cx="14630400" cy="1097280"/>
            </a:xfrm>
            <a:prstGeom prst="rect">
              <a:avLst/>
            </a:prstGeom>
          </p:spPr>
          <p:txBody>
            <a:bodyPr anchor="ctr" rtlCol="false" tIns="0" lIns="0" bIns="0" rIns="0"/>
            <a:lstStyle/>
            <a:p>
              <a:pPr algn="l">
                <a:lnSpc>
                  <a:spcPts val="4680"/>
                </a:lnSpc>
              </a:pPr>
              <a:r>
                <a:rPr lang="en-US" sz="3900" b="true">
                  <a:solidFill>
                    <a:srgbClr val="1E2761"/>
                  </a:solidFill>
                  <a:latin typeface="Cambria Bold"/>
                  <a:ea typeface="Cambria Bold"/>
                  <a:cs typeface="Cambria Bold"/>
                  <a:sym typeface="Cambria Bold"/>
                </a:rPr>
                <a:t>Scenario 4 — Answer</a:t>
              </a:r>
            </a:p>
          </p:txBody>
        </p:sp>
      </p:grpSp>
      <p:grpSp>
        <p:nvGrpSpPr>
          <p:cNvPr name="Group 8" id="8"/>
          <p:cNvGrpSpPr/>
          <p:nvPr/>
        </p:nvGrpSpPr>
        <p:grpSpPr>
          <a:xfrm rot="0">
            <a:off x="960120" y="1810512"/>
            <a:ext cx="8229600" cy="411480"/>
            <a:chOff x="0" y="0"/>
            <a:chExt cx="10972800" cy="548640"/>
          </a:xfrm>
        </p:grpSpPr>
        <p:sp>
          <p:nvSpPr>
            <p:cNvPr name="Freeform 9" id="9"/>
            <p:cNvSpPr/>
            <p:nvPr/>
          </p:nvSpPr>
          <p:spPr>
            <a:xfrm flipH="false" flipV="false" rot="0">
              <a:off x="0" y="0"/>
              <a:ext cx="10972800" cy="548640"/>
            </a:xfrm>
            <a:custGeom>
              <a:avLst/>
              <a:gdLst/>
              <a:ahLst/>
              <a:cxnLst/>
              <a:rect r="r" b="b" t="t" l="l"/>
              <a:pathLst>
                <a:path h="548640" w="10972800">
                  <a:moveTo>
                    <a:pt x="0" y="0"/>
                  </a:moveTo>
                  <a:lnTo>
                    <a:pt x="10972800" y="0"/>
                  </a:lnTo>
                  <a:lnTo>
                    <a:pt x="10972800" y="548640"/>
                  </a:lnTo>
                  <a:lnTo>
                    <a:pt x="0" y="548640"/>
                  </a:lnTo>
                  <a:close/>
                </a:path>
              </a:pathLst>
            </a:custGeom>
            <a:blipFill>
              <a:blip r:embed="rId3">
                <a:alphaModFix amt="0"/>
              </a:blip>
              <a:stretch>
                <a:fillRect l="0" t="-339700" r="0" b="-339700"/>
              </a:stretch>
            </a:blipFill>
          </p:spPr>
        </p:sp>
        <p:sp>
          <p:nvSpPr>
            <p:cNvPr name="TextBox 10" id="10"/>
            <p:cNvSpPr txBox="true"/>
            <p:nvPr/>
          </p:nvSpPr>
          <p:spPr>
            <a:xfrm>
              <a:off x="0" y="-28575"/>
              <a:ext cx="10972800" cy="577215"/>
            </a:xfrm>
            <a:prstGeom prst="rect">
              <a:avLst/>
            </a:prstGeom>
          </p:spPr>
          <p:txBody>
            <a:bodyPr anchor="ctr" rtlCol="false" tIns="0" lIns="0" bIns="0" rIns="0"/>
            <a:lstStyle/>
            <a:p>
              <a:pPr algn="l">
                <a:lnSpc>
                  <a:spcPts val="1980"/>
                </a:lnSpc>
              </a:pPr>
              <a:r>
                <a:rPr lang="en-US" sz="1650">
                  <a:solidFill>
                    <a:srgbClr val="6B7280"/>
                  </a:solidFill>
                  <a:latin typeface="Calibri (MS)"/>
                  <a:ea typeface="Calibri (MS)"/>
                  <a:cs typeface="Calibri (MS)"/>
                  <a:sym typeface="Calibri (MS)"/>
                </a:rPr>
                <a:t>4 of 12</a:t>
              </a:r>
            </a:p>
          </p:txBody>
        </p:sp>
      </p:grpSp>
      <p:grpSp>
        <p:nvGrpSpPr>
          <p:cNvPr name="Group 11" id="11"/>
          <p:cNvGrpSpPr/>
          <p:nvPr/>
        </p:nvGrpSpPr>
        <p:grpSpPr>
          <a:xfrm rot="0">
            <a:off x="960120" y="2537460"/>
            <a:ext cx="16322040" cy="2400300"/>
            <a:chOff x="0" y="0"/>
            <a:chExt cx="21762720" cy="3200400"/>
          </a:xfrm>
        </p:grpSpPr>
        <p:sp>
          <p:nvSpPr>
            <p:cNvPr name="Freeform 12" id="12"/>
            <p:cNvSpPr/>
            <p:nvPr/>
          </p:nvSpPr>
          <p:spPr>
            <a:xfrm flipH="false" flipV="false" rot="0">
              <a:off x="0" y="0"/>
              <a:ext cx="21762720" cy="3200400"/>
            </a:xfrm>
            <a:custGeom>
              <a:avLst/>
              <a:gdLst/>
              <a:ahLst/>
              <a:cxnLst/>
              <a:rect r="r" b="b" t="t" l="l"/>
              <a:pathLst>
                <a:path h="3200400" w="21762720">
                  <a:moveTo>
                    <a:pt x="0" y="182880"/>
                  </a:moveTo>
                  <a:cubicBezTo>
                    <a:pt x="0" y="81915"/>
                    <a:pt x="81915" y="0"/>
                    <a:pt x="182880" y="0"/>
                  </a:cubicBezTo>
                  <a:lnTo>
                    <a:pt x="21579839" y="0"/>
                  </a:lnTo>
                  <a:cubicBezTo>
                    <a:pt x="21680804" y="0"/>
                    <a:pt x="21762720" y="81915"/>
                    <a:pt x="21762720" y="182880"/>
                  </a:cubicBezTo>
                  <a:lnTo>
                    <a:pt x="21762720" y="3017520"/>
                  </a:lnTo>
                  <a:cubicBezTo>
                    <a:pt x="21762720" y="3118485"/>
                    <a:pt x="21680804" y="3200400"/>
                    <a:pt x="21579839" y="3200400"/>
                  </a:cubicBezTo>
                  <a:lnTo>
                    <a:pt x="182880" y="3200400"/>
                  </a:lnTo>
                  <a:cubicBezTo>
                    <a:pt x="81915" y="3200400"/>
                    <a:pt x="0" y="3118485"/>
                    <a:pt x="0" y="3017520"/>
                  </a:cubicBezTo>
                  <a:close/>
                </a:path>
              </a:pathLst>
            </a:custGeom>
            <a:solidFill>
              <a:srgbClr val="F4F7FC"/>
            </a:solidFill>
          </p:spPr>
        </p:sp>
      </p:grpSp>
      <p:grpSp>
        <p:nvGrpSpPr>
          <p:cNvPr name="Group 13" id="13"/>
          <p:cNvGrpSpPr/>
          <p:nvPr/>
        </p:nvGrpSpPr>
        <p:grpSpPr>
          <a:xfrm rot="0">
            <a:off x="1440180" y="2811780"/>
            <a:ext cx="15361920" cy="1851660"/>
            <a:chOff x="0" y="0"/>
            <a:chExt cx="20482560" cy="2468880"/>
          </a:xfrm>
        </p:grpSpPr>
        <p:sp>
          <p:nvSpPr>
            <p:cNvPr name="Freeform 14" id="14"/>
            <p:cNvSpPr/>
            <p:nvPr/>
          </p:nvSpPr>
          <p:spPr>
            <a:xfrm flipH="false" flipV="false" rot="0">
              <a:off x="0" y="0"/>
              <a:ext cx="20482561" cy="2468880"/>
            </a:xfrm>
            <a:custGeom>
              <a:avLst/>
              <a:gdLst/>
              <a:ahLst/>
              <a:cxnLst/>
              <a:rect r="r" b="b" t="t" l="l"/>
              <a:pathLst>
                <a:path h="2468880" w="20482561">
                  <a:moveTo>
                    <a:pt x="0" y="0"/>
                  </a:moveTo>
                  <a:lnTo>
                    <a:pt x="20482561" y="0"/>
                  </a:lnTo>
                  <a:lnTo>
                    <a:pt x="20482561" y="2468880"/>
                  </a:lnTo>
                  <a:lnTo>
                    <a:pt x="0" y="2468880"/>
                  </a:lnTo>
                  <a:close/>
                </a:path>
              </a:pathLst>
            </a:custGeom>
            <a:blipFill>
              <a:blip r:embed="rId3">
                <a:alphaModFix amt="0"/>
              </a:blip>
              <a:stretch>
                <a:fillRect l="0" t="-111653" r="0" b="-111653"/>
              </a:stretch>
            </a:blipFill>
          </p:spPr>
        </p:sp>
        <p:sp>
          <p:nvSpPr>
            <p:cNvPr name="TextBox 15" id="15"/>
            <p:cNvSpPr txBox="true"/>
            <p:nvPr/>
          </p:nvSpPr>
          <p:spPr>
            <a:xfrm>
              <a:off x="0" y="-95250"/>
              <a:ext cx="20482560" cy="2564130"/>
            </a:xfrm>
            <a:prstGeom prst="rect">
              <a:avLst/>
            </a:prstGeom>
          </p:spPr>
          <p:txBody>
            <a:bodyPr anchor="ctr" rtlCol="false" tIns="0" lIns="0" bIns="0" rIns="0"/>
            <a:lstStyle/>
            <a:p>
              <a:pPr algn="l">
                <a:lnSpc>
                  <a:spcPts val="3916"/>
                </a:lnSpc>
              </a:pPr>
              <a:r>
                <a:rPr lang="en-US" sz="2550" i="true">
                  <a:solidFill>
                    <a:srgbClr val="23262F"/>
                  </a:solidFill>
                  <a:latin typeface="Cambria Italics"/>
                  <a:ea typeface="Cambria Italics"/>
                  <a:cs typeface="Cambria Italics"/>
                  <a:sym typeface="Cambria Italics"/>
                </a:rPr>
                <a:t>“A contractor doing unrelated IT work is caught browsing HR personnel files that have nothing to do with their assignment.”</a:t>
              </a:r>
            </a:p>
          </p:txBody>
        </p:sp>
      </p:grpSp>
      <p:grpSp>
        <p:nvGrpSpPr>
          <p:cNvPr name="Group 16" id="16"/>
          <p:cNvGrpSpPr/>
          <p:nvPr/>
        </p:nvGrpSpPr>
        <p:grpSpPr>
          <a:xfrm rot="0">
            <a:off x="950595" y="5408295"/>
            <a:ext cx="5162550" cy="910590"/>
            <a:chOff x="0" y="0"/>
            <a:chExt cx="6883400" cy="1214120"/>
          </a:xfrm>
        </p:grpSpPr>
        <p:sp>
          <p:nvSpPr>
            <p:cNvPr name="Freeform 17" id="17"/>
            <p:cNvSpPr/>
            <p:nvPr/>
          </p:nvSpPr>
          <p:spPr>
            <a:xfrm flipH="false" flipV="false" rot="0">
              <a:off x="0" y="0"/>
              <a:ext cx="6883400" cy="1214120"/>
            </a:xfrm>
            <a:custGeom>
              <a:avLst/>
              <a:gdLst/>
              <a:ahLst/>
              <a:cxnLst/>
              <a:rect r="r" b="b" t="t" l="l"/>
              <a:pathLst>
                <a:path h="1214120" w="6883400">
                  <a:moveTo>
                    <a:pt x="0" y="168148"/>
                  </a:moveTo>
                  <a:cubicBezTo>
                    <a:pt x="0" y="75311"/>
                    <a:pt x="75311" y="0"/>
                    <a:pt x="168148" y="0"/>
                  </a:cubicBezTo>
                  <a:lnTo>
                    <a:pt x="6715252" y="0"/>
                  </a:lnTo>
                  <a:cubicBezTo>
                    <a:pt x="6808089" y="0"/>
                    <a:pt x="6883400" y="75311"/>
                    <a:pt x="6883400" y="168148"/>
                  </a:cubicBezTo>
                  <a:lnTo>
                    <a:pt x="6883400" y="1045972"/>
                  </a:lnTo>
                  <a:cubicBezTo>
                    <a:pt x="6883400" y="1138809"/>
                    <a:pt x="6808089" y="1214120"/>
                    <a:pt x="6715252" y="1214120"/>
                  </a:cubicBezTo>
                  <a:lnTo>
                    <a:pt x="168148" y="1214120"/>
                  </a:lnTo>
                  <a:cubicBezTo>
                    <a:pt x="75311" y="1214120"/>
                    <a:pt x="0" y="1138809"/>
                    <a:pt x="0" y="1045972"/>
                  </a:cubicBezTo>
                  <a:close/>
                </a:path>
              </a:pathLst>
            </a:custGeom>
            <a:solidFill>
              <a:srgbClr val="6C4FD1"/>
            </a:solidFill>
            <a:ln w="19050" cap="sq">
              <a:solidFill>
                <a:srgbClr val="6C4FD1"/>
              </a:solidFill>
              <a:prstDash val="solid"/>
              <a:miter/>
            </a:ln>
          </p:spPr>
        </p:sp>
      </p:grpSp>
      <p:grpSp>
        <p:nvGrpSpPr>
          <p:cNvPr name="Group 18" id="18"/>
          <p:cNvGrpSpPr/>
          <p:nvPr/>
        </p:nvGrpSpPr>
        <p:grpSpPr>
          <a:xfrm rot="0">
            <a:off x="960120" y="5417820"/>
            <a:ext cx="5143500" cy="891540"/>
            <a:chOff x="0" y="0"/>
            <a:chExt cx="6858000" cy="1188720"/>
          </a:xfrm>
        </p:grpSpPr>
        <p:sp>
          <p:nvSpPr>
            <p:cNvPr name="Freeform 19" id="19"/>
            <p:cNvSpPr/>
            <p:nvPr/>
          </p:nvSpPr>
          <p:spPr>
            <a:xfrm flipH="false" flipV="false" rot="0">
              <a:off x="0" y="0"/>
              <a:ext cx="6858000" cy="1188720"/>
            </a:xfrm>
            <a:custGeom>
              <a:avLst/>
              <a:gdLst/>
              <a:ahLst/>
              <a:cxnLst/>
              <a:rect r="r" b="b" t="t" l="l"/>
              <a:pathLst>
                <a:path h="1188720" w="6858000">
                  <a:moveTo>
                    <a:pt x="0" y="0"/>
                  </a:moveTo>
                  <a:lnTo>
                    <a:pt x="6858000" y="0"/>
                  </a:lnTo>
                  <a:lnTo>
                    <a:pt x="6858000" y="1188720"/>
                  </a:lnTo>
                  <a:lnTo>
                    <a:pt x="0" y="1188720"/>
                  </a:lnTo>
                  <a:close/>
                </a:path>
              </a:pathLst>
            </a:custGeom>
            <a:blipFill>
              <a:blip r:embed="rId3">
                <a:alphaModFix amt="0"/>
              </a:blip>
              <a:stretch>
                <a:fillRect l="0" t="-62413" r="0" b="-62413"/>
              </a:stretch>
            </a:blipFill>
          </p:spPr>
        </p:sp>
        <p:sp>
          <p:nvSpPr>
            <p:cNvPr name="TextBox 20" id="20"/>
            <p:cNvSpPr txBox="true"/>
            <p:nvPr/>
          </p:nvSpPr>
          <p:spPr>
            <a:xfrm>
              <a:off x="0" y="-47625"/>
              <a:ext cx="6858000" cy="1236345"/>
            </a:xfrm>
            <a:prstGeom prst="rect">
              <a:avLst/>
            </a:prstGeom>
          </p:spPr>
          <p:txBody>
            <a:bodyPr anchor="ctr" rtlCol="false" tIns="0" lIns="0" bIns="0" rIns="0"/>
            <a:lstStyle/>
            <a:p>
              <a:pPr algn="ctr">
                <a:lnSpc>
                  <a:spcPts val="2520"/>
                </a:lnSpc>
              </a:pPr>
              <a:r>
                <a:rPr lang="en-US" sz="2100" b="true">
                  <a:solidFill>
                    <a:srgbClr val="FFFFFF"/>
                  </a:solidFill>
                  <a:latin typeface="Calibri (MS) Bold"/>
                  <a:ea typeface="Calibri (MS) Bold"/>
                  <a:cs typeface="Calibri (MS) Bold"/>
                  <a:sym typeface="Calibri (MS) Bold"/>
                </a:rPr>
                <a:t>✓  Confidentiality</a:t>
              </a:r>
            </a:p>
          </p:txBody>
        </p:sp>
      </p:grpSp>
      <p:grpSp>
        <p:nvGrpSpPr>
          <p:cNvPr name="Group 21" id="21"/>
          <p:cNvGrpSpPr/>
          <p:nvPr/>
        </p:nvGrpSpPr>
        <p:grpSpPr>
          <a:xfrm rot="0">
            <a:off x="6533007" y="5408295"/>
            <a:ext cx="5162550" cy="910590"/>
            <a:chOff x="0" y="0"/>
            <a:chExt cx="6883400" cy="1214120"/>
          </a:xfrm>
        </p:grpSpPr>
        <p:sp>
          <p:nvSpPr>
            <p:cNvPr name="Freeform 22" id="22"/>
            <p:cNvSpPr/>
            <p:nvPr/>
          </p:nvSpPr>
          <p:spPr>
            <a:xfrm flipH="false" flipV="false" rot="0">
              <a:off x="0" y="0"/>
              <a:ext cx="6883400" cy="1214120"/>
            </a:xfrm>
            <a:custGeom>
              <a:avLst/>
              <a:gdLst/>
              <a:ahLst/>
              <a:cxnLst/>
              <a:rect r="r" b="b" t="t" l="l"/>
              <a:pathLst>
                <a:path h="1214120" w="6883400">
                  <a:moveTo>
                    <a:pt x="0" y="168148"/>
                  </a:moveTo>
                  <a:cubicBezTo>
                    <a:pt x="0" y="75311"/>
                    <a:pt x="75311" y="0"/>
                    <a:pt x="168148" y="0"/>
                  </a:cubicBezTo>
                  <a:lnTo>
                    <a:pt x="6715252" y="0"/>
                  </a:lnTo>
                  <a:cubicBezTo>
                    <a:pt x="6808089" y="0"/>
                    <a:pt x="6883400" y="75311"/>
                    <a:pt x="6883400" y="168148"/>
                  </a:cubicBezTo>
                  <a:lnTo>
                    <a:pt x="6883400" y="1045972"/>
                  </a:lnTo>
                  <a:cubicBezTo>
                    <a:pt x="6883400" y="1138809"/>
                    <a:pt x="6808089" y="1214120"/>
                    <a:pt x="6715252" y="1214120"/>
                  </a:cubicBezTo>
                  <a:lnTo>
                    <a:pt x="168148" y="1214120"/>
                  </a:lnTo>
                  <a:cubicBezTo>
                    <a:pt x="75311" y="1214120"/>
                    <a:pt x="0" y="1138809"/>
                    <a:pt x="0" y="1045972"/>
                  </a:cubicBezTo>
                  <a:close/>
                </a:path>
              </a:pathLst>
            </a:custGeom>
            <a:solidFill>
              <a:srgbClr val="F4F7FC"/>
            </a:solidFill>
            <a:ln w="19050" cap="sq">
              <a:solidFill>
                <a:srgbClr val="D7DCEC"/>
              </a:solidFill>
              <a:prstDash val="solid"/>
              <a:miter/>
            </a:ln>
          </p:spPr>
        </p:sp>
      </p:grpSp>
      <p:grpSp>
        <p:nvGrpSpPr>
          <p:cNvPr name="Group 23" id="23"/>
          <p:cNvGrpSpPr/>
          <p:nvPr/>
        </p:nvGrpSpPr>
        <p:grpSpPr>
          <a:xfrm rot="0">
            <a:off x="6542532" y="5417820"/>
            <a:ext cx="5143500" cy="891540"/>
            <a:chOff x="0" y="0"/>
            <a:chExt cx="6858000" cy="1188720"/>
          </a:xfrm>
        </p:grpSpPr>
        <p:sp>
          <p:nvSpPr>
            <p:cNvPr name="Freeform 24" id="24"/>
            <p:cNvSpPr/>
            <p:nvPr/>
          </p:nvSpPr>
          <p:spPr>
            <a:xfrm flipH="false" flipV="false" rot="0">
              <a:off x="0" y="0"/>
              <a:ext cx="6858000" cy="1188720"/>
            </a:xfrm>
            <a:custGeom>
              <a:avLst/>
              <a:gdLst/>
              <a:ahLst/>
              <a:cxnLst/>
              <a:rect r="r" b="b" t="t" l="l"/>
              <a:pathLst>
                <a:path h="1188720" w="6858000">
                  <a:moveTo>
                    <a:pt x="0" y="0"/>
                  </a:moveTo>
                  <a:lnTo>
                    <a:pt x="6858000" y="0"/>
                  </a:lnTo>
                  <a:lnTo>
                    <a:pt x="6858000" y="1188720"/>
                  </a:lnTo>
                  <a:lnTo>
                    <a:pt x="0" y="1188720"/>
                  </a:lnTo>
                  <a:close/>
                </a:path>
              </a:pathLst>
            </a:custGeom>
            <a:blipFill>
              <a:blip r:embed="rId3">
                <a:alphaModFix amt="0"/>
              </a:blip>
              <a:stretch>
                <a:fillRect l="0" t="-62413" r="0" b="-62413"/>
              </a:stretch>
            </a:blipFill>
          </p:spPr>
        </p:sp>
        <p:sp>
          <p:nvSpPr>
            <p:cNvPr name="TextBox 25" id="25"/>
            <p:cNvSpPr txBox="true"/>
            <p:nvPr/>
          </p:nvSpPr>
          <p:spPr>
            <a:xfrm>
              <a:off x="0" y="-47625"/>
              <a:ext cx="6858000" cy="1236345"/>
            </a:xfrm>
            <a:prstGeom prst="rect">
              <a:avLst/>
            </a:prstGeom>
          </p:spPr>
          <p:txBody>
            <a:bodyPr anchor="ctr" rtlCol="false" tIns="0" lIns="0" bIns="0" rIns="0"/>
            <a:lstStyle/>
            <a:p>
              <a:pPr algn="ctr">
                <a:lnSpc>
                  <a:spcPts val="2520"/>
                </a:lnSpc>
              </a:pPr>
              <a:r>
                <a:rPr lang="en-US" sz="2100">
                  <a:solidFill>
                    <a:srgbClr val="6B7280"/>
                  </a:solidFill>
                  <a:latin typeface="Calibri (MS)"/>
                  <a:ea typeface="Calibri (MS)"/>
                  <a:cs typeface="Calibri (MS)"/>
                  <a:sym typeface="Calibri (MS)"/>
                </a:rPr>
                <a:t>Integrity</a:t>
              </a:r>
            </a:p>
          </p:txBody>
        </p:sp>
      </p:grpSp>
      <p:grpSp>
        <p:nvGrpSpPr>
          <p:cNvPr name="Group 26" id="26"/>
          <p:cNvGrpSpPr/>
          <p:nvPr/>
        </p:nvGrpSpPr>
        <p:grpSpPr>
          <a:xfrm rot="0">
            <a:off x="12115419" y="5408295"/>
            <a:ext cx="5162550" cy="910590"/>
            <a:chOff x="0" y="0"/>
            <a:chExt cx="6883400" cy="1214120"/>
          </a:xfrm>
        </p:grpSpPr>
        <p:sp>
          <p:nvSpPr>
            <p:cNvPr name="Freeform 27" id="27"/>
            <p:cNvSpPr/>
            <p:nvPr/>
          </p:nvSpPr>
          <p:spPr>
            <a:xfrm flipH="false" flipV="false" rot="0">
              <a:off x="0" y="0"/>
              <a:ext cx="6883400" cy="1214120"/>
            </a:xfrm>
            <a:custGeom>
              <a:avLst/>
              <a:gdLst/>
              <a:ahLst/>
              <a:cxnLst/>
              <a:rect r="r" b="b" t="t" l="l"/>
              <a:pathLst>
                <a:path h="1214120" w="6883400">
                  <a:moveTo>
                    <a:pt x="0" y="168148"/>
                  </a:moveTo>
                  <a:cubicBezTo>
                    <a:pt x="0" y="75311"/>
                    <a:pt x="75311" y="0"/>
                    <a:pt x="168148" y="0"/>
                  </a:cubicBezTo>
                  <a:lnTo>
                    <a:pt x="6715252" y="0"/>
                  </a:lnTo>
                  <a:cubicBezTo>
                    <a:pt x="6808089" y="0"/>
                    <a:pt x="6883400" y="75311"/>
                    <a:pt x="6883400" y="168148"/>
                  </a:cubicBezTo>
                  <a:lnTo>
                    <a:pt x="6883400" y="1045972"/>
                  </a:lnTo>
                  <a:cubicBezTo>
                    <a:pt x="6883400" y="1138809"/>
                    <a:pt x="6808089" y="1214120"/>
                    <a:pt x="6715252" y="1214120"/>
                  </a:cubicBezTo>
                  <a:lnTo>
                    <a:pt x="168148" y="1214120"/>
                  </a:lnTo>
                  <a:cubicBezTo>
                    <a:pt x="75311" y="1214120"/>
                    <a:pt x="0" y="1138809"/>
                    <a:pt x="0" y="1045972"/>
                  </a:cubicBezTo>
                  <a:close/>
                </a:path>
              </a:pathLst>
            </a:custGeom>
            <a:solidFill>
              <a:srgbClr val="F4F7FC"/>
            </a:solidFill>
            <a:ln w="19050" cap="sq">
              <a:solidFill>
                <a:srgbClr val="D7DCEC"/>
              </a:solidFill>
              <a:prstDash val="solid"/>
              <a:miter/>
            </a:ln>
          </p:spPr>
        </p:sp>
      </p:grpSp>
      <p:grpSp>
        <p:nvGrpSpPr>
          <p:cNvPr name="Group 28" id="28"/>
          <p:cNvGrpSpPr/>
          <p:nvPr/>
        </p:nvGrpSpPr>
        <p:grpSpPr>
          <a:xfrm rot="0">
            <a:off x="12124944" y="5417820"/>
            <a:ext cx="5143500" cy="891540"/>
            <a:chOff x="0" y="0"/>
            <a:chExt cx="6858000" cy="1188720"/>
          </a:xfrm>
        </p:grpSpPr>
        <p:sp>
          <p:nvSpPr>
            <p:cNvPr name="Freeform 29" id="29"/>
            <p:cNvSpPr/>
            <p:nvPr/>
          </p:nvSpPr>
          <p:spPr>
            <a:xfrm flipH="false" flipV="false" rot="0">
              <a:off x="0" y="0"/>
              <a:ext cx="6858000" cy="1188720"/>
            </a:xfrm>
            <a:custGeom>
              <a:avLst/>
              <a:gdLst/>
              <a:ahLst/>
              <a:cxnLst/>
              <a:rect r="r" b="b" t="t" l="l"/>
              <a:pathLst>
                <a:path h="1188720" w="6858000">
                  <a:moveTo>
                    <a:pt x="0" y="0"/>
                  </a:moveTo>
                  <a:lnTo>
                    <a:pt x="6858000" y="0"/>
                  </a:lnTo>
                  <a:lnTo>
                    <a:pt x="6858000" y="1188720"/>
                  </a:lnTo>
                  <a:lnTo>
                    <a:pt x="0" y="1188720"/>
                  </a:lnTo>
                  <a:close/>
                </a:path>
              </a:pathLst>
            </a:custGeom>
            <a:blipFill>
              <a:blip r:embed="rId3">
                <a:alphaModFix amt="0"/>
              </a:blip>
              <a:stretch>
                <a:fillRect l="0" t="-62413" r="0" b="-62413"/>
              </a:stretch>
            </a:blipFill>
          </p:spPr>
        </p:sp>
        <p:sp>
          <p:nvSpPr>
            <p:cNvPr name="TextBox 30" id="30"/>
            <p:cNvSpPr txBox="true"/>
            <p:nvPr/>
          </p:nvSpPr>
          <p:spPr>
            <a:xfrm>
              <a:off x="0" y="-47625"/>
              <a:ext cx="6858000" cy="1236345"/>
            </a:xfrm>
            <a:prstGeom prst="rect">
              <a:avLst/>
            </a:prstGeom>
          </p:spPr>
          <p:txBody>
            <a:bodyPr anchor="ctr" rtlCol="false" tIns="0" lIns="0" bIns="0" rIns="0"/>
            <a:lstStyle/>
            <a:p>
              <a:pPr algn="ctr">
                <a:lnSpc>
                  <a:spcPts val="2520"/>
                </a:lnSpc>
              </a:pPr>
              <a:r>
                <a:rPr lang="en-US" sz="2100">
                  <a:solidFill>
                    <a:srgbClr val="6B7280"/>
                  </a:solidFill>
                  <a:latin typeface="Calibri (MS)"/>
                  <a:ea typeface="Calibri (MS)"/>
                  <a:cs typeface="Calibri (MS)"/>
                  <a:sym typeface="Calibri (MS)"/>
                </a:rPr>
                <a:t>Availability</a:t>
              </a:r>
            </a:p>
          </p:txBody>
        </p:sp>
      </p:grpSp>
      <p:grpSp>
        <p:nvGrpSpPr>
          <p:cNvPr name="Group 31" id="31"/>
          <p:cNvGrpSpPr/>
          <p:nvPr/>
        </p:nvGrpSpPr>
        <p:grpSpPr>
          <a:xfrm rot="0">
            <a:off x="950595" y="6779895"/>
            <a:ext cx="16341090" cy="2145030"/>
            <a:chOff x="0" y="0"/>
            <a:chExt cx="21788120" cy="2860040"/>
          </a:xfrm>
        </p:grpSpPr>
        <p:sp>
          <p:nvSpPr>
            <p:cNvPr name="Freeform 32" id="32"/>
            <p:cNvSpPr/>
            <p:nvPr/>
          </p:nvSpPr>
          <p:spPr>
            <a:xfrm flipH="false" flipV="false" rot="0">
              <a:off x="0" y="0"/>
              <a:ext cx="21788120" cy="2860040"/>
            </a:xfrm>
            <a:custGeom>
              <a:avLst/>
              <a:gdLst/>
              <a:ahLst/>
              <a:cxnLst/>
              <a:rect r="r" b="b" t="t" l="l"/>
              <a:pathLst>
                <a:path h="2860040" w="21788120">
                  <a:moveTo>
                    <a:pt x="0" y="184531"/>
                  </a:moveTo>
                  <a:cubicBezTo>
                    <a:pt x="0" y="82677"/>
                    <a:pt x="82677" y="0"/>
                    <a:pt x="184531" y="0"/>
                  </a:cubicBezTo>
                  <a:lnTo>
                    <a:pt x="21603588" y="0"/>
                  </a:lnTo>
                  <a:cubicBezTo>
                    <a:pt x="21705443" y="0"/>
                    <a:pt x="21788120" y="82677"/>
                    <a:pt x="21788120" y="184531"/>
                  </a:cubicBezTo>
                  <a:lnTo>
                    <a:pt x="21788120" y="2675509"/>
                  </a:lnTo>
                  <a:cubicBezTo>
                    <a:pt x="21788120" y="2777363"/>
                    <a:pt x="21705443" y="2860040"/>
                    <a:pt x="21603588" y="2860040"/>
                  </a:cubicBezTo>
                  <a:lnTo>
                    <a:pt x="184531" y="2860040"/>
                  </a:lnTo>
                  <a:cubicBezTo>
                    <a:pt x="82677" y="2860040"/>
                    <a:pt x="0" y="2777363"/>
                    <a:pt x="0" y="2675509"/>
                  </a:cubicBezTo>
                  <a:close/>
                </a:path>
              </a:pathLst>
            </a:custGeom>
            <a:solidFill>
              <a:srgbClr val="FBF9F4"/>
            </a:solidFill>
            <a:ln w="19050" cap="sq">
              <a:solidFill>
                <a:srgbClr val="EFE6D2"/>
              </a:solidFill>
              <a:prstDash val="solid"/>
              <a:miter/>
            </a:ln>
          </p:spPr>
        </p:sp>
      </p:grpSp>
      <p:sp>
        <p:nvSpPr>
          <p:cNvPr name="TextBox 33" id="33"/>
          <p:cNvSpPr txBox="true"/>
          <p:nvPr/>
        </p:nvSpPr>
        <p:spPr>
          <a:xfrm rot="0">
            <a:off x="1463040" y="6977253"/>
            <a:ext cx="15316200" cy="1659255"/>
          </a:xfrm>
          <a:prstGeom prst="rect">
            <a:avLst/>
          </a:prstGeom>
        </p:spPr>
        <p:txBody>
          <a:bodyPr anchor="t" rtlCol="false" tIns="0" lIns="0" bIns="0" rIns="0">
            <a:spAutoFit/>
          </a:bodyPr>
          <a:lstStyle/>
          <a:p>
            <a:pPr algn="l">
              <a:lnSpc>
                <a:spcPts val="3159"/>
              </a:lnSpc>
            </a:pPr>
            <a:r>
              <a:rPr lang="en-US" sz="2025">
                <a:solidFill>
                  <a:srgbClr val="23262F"/>
                </a:solidFill>
                <a:latin typeface="Calibri (MS)"/>
                <a:ea typeface="Calibri (MS)"/>
                <a:cs typeface="Calibri (MS)"/>
                <a:sym typeface="Calibri (MS)"/>
              </a:rPr>
              <a:t>This is unauthorized access to information that should have stayed restricted — a Confidentiality issue, even though nothing was changed or taken offline.</a:t>
            </a:r>
          </a:p>
        </p:txBody>
      </p:sp>
      <p:grpSp>
        <p:nvGrpSpPr>
          <p:cNvPr name="Group 34" id="34"/>
          <p:cNvGrpSpPr/>
          <p:nvPr/>
        </p:nvGrpSpPr>
        <p:grpSpPr>
          <a:xfrm rot="0">
            <a:off x="685800" y="9710928"/>
            <a:ext cx="10972800" cy="411480"/>
            <a:chOff x="0" y="0"/>
            <a:chExt cx="14630400" cy="548640"/>
          </a:xfrm>
        </p:grpSpPr>
        <p:sp>
          <p:nvSpPr>
            <p:cNvPr name="Freeform 35" id="35"/>
            <p:cNvSpPr/>
            <p:nvPr/>
          </p:nvSpPr>
          <p:spPr>
            <a:xfrm flipH="false" flipV="false" rot="0">
              <a:off x="0" y="0"/>
              <a:ext cx="14630400" cy="548640"/>
            </a:xfrm>
            <a:custGeom>
              <a:avLst/>
              <a:gdLst/>
              <a:ahLst/>
              <a:cxnLst/>
              <a:rect r="r" b="b" t="t" l="l"/>
              <a:pathLst>
                <a:path h="548640" w="14630400">
                  <a:moveTo>
                    <a:pt x="0" y="0"/>
                  </a:moveTo>
                  <a:lnTo>
                    <a:pt x="14630400" y="0"/>
                  </a:lnTo>
                  <a:lnTo>
                    <a:pt x="14630400" y="548640"/>
                  </a:lnTo>
                  <a:lnTo>
                    <a:pt x="0" y="548640"/>
                  </a:lnTo>
                  <a:close/>
                </a:path>
              </a:pathLst>
            </a:custGeom>
            <a:blipFill>
              <a:blip r:embed="rId3">
                <a:alphaModFix amt="0"/>
              </a:blip>
              <a:stretch>
                <a:fillRect l="0" t="-469601" r="0" b="-469601"/>
              </a:stretch>
            </a:blipFill>
          </p:spPr>
        </p:sp>
        <p:sp>
          <p:nvSpPr>
            <p:cNvPr name="TextBox 36" id="36"/>
            <p:cNvSpPr txBox="true"/>
            <p:nvPr/>
          </p:nvSpPr>
          <p:spPr>
            <a:xfrm>
              <a:off x="0" y="-38100"/>
              <a:ext cx="14630400" cy="586740"/>
            </a:xfrm>
            <a:prstGeom prst="rect">
              <a:avLst/>
            </a:prstGeom>
          </p:spPr>
          <p:txBody>
            <a:bodyPr anchor="ctr" rtlCol="false" tIns="0" lIns="0" bIns="0" rIns="0"/>
            <a:lstStyle/>
            <a:p>
              <a:pPr algn="l">
                <a:lnSpc>
                  <a:spcPts val="1800"/>
                </a:lnSpc>
              </a:pPr>
              <a:r>
                <a:rPr lang="en-US" sz="1500">
                  <a:solidFill>
                    <a:srgbClr val="6B7280"/>
                  </a:solidFill>
                  <a:latin typeface="Calibri (MS)"/>
                  <a:ea typeface="Calibri (MS)"/>
                  <a:cs typeface="Calibri (MS)"/>
                  <a:sym typeface="Calibri (MS)"/>
                </a:rPr>
                <a:t>Davao del Norte Provincial Government — Cybersecurity Seminar</a:t>
              </a:r>
            </a:p>
          </p:txBody>
        </p:sp>
      </p:grpSp>
      <p:grpSp>
        <p:nvGrpSpPr>
          <p:cNvPr name="Group 37" id="37"/>
          <p:cNvGrpSpPr/>
          <p:nvPr/>
        </p:nvGrpSpPr>
        <p:grpSpPr>
          <a:xfrm rot="0">
            <a:off x="16911828" y="9710928"/>
            <a:ext cx="685800" cy="411480"/>
            <a:chOff x="0" y="0"/>
            <a:chExt cx="914400" cy="548640"/>
          </a:xfrm>
        </p:grpSpPr>
        <p:sp>
          <p:nvSpPr>
            <p:cNvPr name="Freeform 38" id="38"/>
            <p:cNvSpPr/>
            <p:nvPr/>
          </p:nvSpPr>
          <p:spPr>
            <a:xfrm flipH="false" flipV="false" rot="0">
              <a:off x="0" y="0"/>
              <a:ext cx="914400" cy="548640"/>
            </a:xfrm>
            <a:custGeom>
              <a:avLst/>
              <a:gdLst/>
              <a:ahLst/>
              <a:cxnLst/>
              <a:rect r="r" b="b" t="t" l="l"/>
              <a:pathLst>
                <a:path h="548640" w="914400">
                  <a:moveTo>
                    <a:pt x="0" y="0"/>
                  </a:moveTo>
                  <a:lnTo>
                    <a:pt x="914400" y="0"/>
                  </a:lnTo>
                  <a:lnTo>
                    <a:pt x="914400" y="548640"/>
                  </a:lnTo>
                  <a:lnTo>
                    <a:pt x="0" y="548640"/>
                  </a:lnTo>
                  <a:close/>
                </a:path>
              </a:pathLst>
            </a:custGeom>
            <a:blipFill>
              <a:blip r:embed="rId3">
                <a:alphaModFix amt="0"/>
              </a:blip>
              <a:stretch>
                <a:fillRect l="-26982" t="0" r="-26982" b="0"/>
              </a:stretch>
            </a:blipFill>
          </p:spPr>
        </p:sp>
        <p:sp>
          <p:nvSpPr>
            <p:cNvPr name="TextBox 39" id="39"/>
            <p:cNvSpPr txBox="true"/>
            <p:nvPr/>
          </p:nvSpPr>
          <p:spPr>
            <a:xfrm>
              <a:off x="0" y="-38100"/>
              <a:ext cx="914400" cy="586740"/>
            </a:xfrm>
            <a:prstGeom prst="rect">
              <a:avLst/>
            </a:prstGeom>
          </p:spPr>
          <p:txBody>
            <a:bodyPr anchor="ctr" rtlCol="false" tIns="0" lIns="0" bIns="0" rIns="0"/>
            <a:lstStyle/>
            <a:p>
              <a:pPr algn="r">
                <a:lnSpc>
                  <a:spcPts val="1800"/>
                </a:lnSpc>
              </a:pPr>
              <a:r>
                <a:rPr lang="en-US" sz="1500">
                  <a:solidFill>
                    <a:srgbClr val="6B7280"/>
                  </a:solidFill>
                  <a:latin typeface="Calibri (MS)"/>
                  <a:ea typeface="Calibri (MS)"/>
                  <a:cs typeface="Calibri (MS)"/>
                  <a:sym typeface="Calibri (MS)"/>
                </a:rPr>
                <a:t>46</a:t>
              </a:r>
            </a:p>
          </p:txBody>
        </p:sp>
      </p:grpSp>
    </p:spTree>
  </p:cSld>
  <p:clrMapOvr>
    <a:masterClrMapping/>
  </p:clrMapOvr>
</p:sld>
</file>

<file path=ppt/slides/slide5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60120" y="685800"/>
            <a:ext cx="13716000" cy="411480"/>
            <a:chOff x="0" y="0"/>
            <a:chExt cx="18288000" cy="548640"/>
          </a:xfrm>
        </p:grpSpPr>
        <p:sp>
          <p:nvSpPr>
            <p:cNvPr name="Freeform 3" id="3"/>
            <p:cNvSpPr/>
            <p:nvPr/>
          </p:nvSpPr>
          <p:spPr>
            <a:xfrm flipH="false" flipV="false" rot="0">
              <a:off x="0" y="0"/>
              <a:ext cx="18288000" cy="548640"/>
            </a:xfrm>
            <a:custGeom>
              <a:avLst/>
              <a:gdLst/>
              <a:ahLst/>
              <a:cxnLst/>
              <a:rect r="r" b="b" t="t" l="l"/>
              <a:pathLst>
                <a:path h="548640" w="18288000">
                  <a:moveTo>
                    <a:pt x="0" y="0"/>
                  </a:moveTo>
                  <a:lnTo>
                    <a:pt x="18288000" y="0"/>
                  </a:lnTo>
                  <a:lnTo>
                    <a:pt x="18288000" y="548640"/>
                  </a:lnTo>
                  <a:lnTo>
                    <a:pt x="0" y="548640"/>
                  </a:lnTo>
                  <a:close/>
                </a:path>
              </a:pathLst>
            </a:custGeom>
            <a:blipFill>
              <a:blip r:embed="rId3">
                <a:alphaModFix amt="0"/>
              </a:blip>
              <a:stretch>
                <a:fillRect l="0" t="-599501" r="0" b="-599501"/>
              </a:stretch>
            </a:blipFill>
          </p:spPr>
        </p:sp>
        <p:sp>
          <p:nvSpPr>
            <p:cNvPr name="TextBox 4" id="4"/>
            <p:cNvSpPr txBox="true"/>
            <p:nvPr/>
          </p:nvSpPr>
          <p:spPr>
            <a:xfrm>
              <a:off x="0" y="-38100"/>
              <a:ext cx="18288000" cy="586740"/>
            </a:xfrm>
            <a:prstGeom prst="rect">
              <a:avLst/>
            </a:prstGeom>
          </p:spPr>
          <p:txBody>
            <a:bodyPr anchor="ctr" rtlCol="false" tIns="0" lIns="0" bIns="0" rIns="0"/>
            <a:lstStyle/>
            <a:p>
              <a:pPr algn="l">
                <a:lnSpc>
                  <a:spcPts val="2160"/>
                </a:lnSpc>
              </a:pPr>
              <a:r>
                <a:rPr lang="en-US" b="true" sz="1800" spc="225">
                  <a:solidFill>
                    <a:srgbClr val="00B4D8"/>
                  </a:solidFill>
                  <a:latin typeface="Calibri (MS) Bold"/>
                  <a:ea typeface="Calibri (MS) Bold"/>
                  <a:cs typeface="Calibri (MS) Bold"/>
                  <a:sym typeface="Calibri (MS) Bold"/>
                </a:rPr>
                <a:t>CIA TRIAD SORT · SCENARIO</a:t>
              </a:r>
            </a:p>
          </p:txBody>
        </p:sp>
      </p:grpSp>
      <p:grpSp>
        <p:nvGrpSpPr>
          <p:cNvPr name="Group 5" id="5"/>
          <p:cNvGrpSpPr/>
          <p:nvPr/>
        </p:nvGrpSpPr>
        <p:grpSpPr>
          <a:xfrm rot="0">
            <a:off x="960120" y="1069848"/>
            <a:ext cx="10972800" cy="822960"/>
            <a:chOff x="0" y="0"/>
            <a:chExt cx="14630400" cy="1097280"/>
          </a:xfrm>
        </p:grpSpPr>
        <p:sp>
          <p:nvSpPr>
            <p:cNvPr name="Freeform 6" id="6"/>
            <p:cNvSpPr/>
            <p:nvPr/>
          </p:nvSpPr>
          <p:spPr>
            <a:xfrm flipH="false" flipV="false" rot="0">
              <a:off x="0" y="0"/>
              <a:ext cx="14630400" cy="1097280"/>
            </a:xfrm>
            <a:custGeom>
              <a:avLst/>
              <a:gdLst/>
              <a:ahLst/>
              <a:cxnLst/>
              <a:rect r="r" b="b" t="t" l="l"/>
              <a:pathLst>
                <a:path h="1097280" w="14630400">
                  <a:moveTo>
                    <a:pt x="0" y="0"/>
                  </a:moveTo>
                  <a:lnTo>
                    <a:pt x="14630400" y="0"/>
                  </a:lnTo>
                  <a:lnTo>
                    <a:pt x="14630400" y="1097280"/>
                  </a:lnTo>
                  <a:lnTo>
                    <a:pt x="0" y="1097280"/>
                  </a:lnTo>
                  <a:close/>
                </a:path>
              </a:pathLst>
            </a:custGeom>
            <a:blipFill>
              <a:blip r:embed="rId3">
                <a:alphaModFix amt="0"/>
              </a:blip>
              <a:stretch>
                <a:fillRect l="0" t="-209800" r="0" b="-209800"/>
              </a:stretch>
            </a:blipFill>
          </p:spPr>
        </p:sp>
        <p:sp>
          <p:nvSpPr>
            <p:cNvPr name="TextBox 7" id="7"/>
            <p:cNvSpPr txBox="true"/>
            <p:nvPr/>
          </p:nvSpPr>
          <p:spPr>
            <a:xfrm>
              <a:off x="0" y="0"/>
              <a:ext cx="14630400" cy="1097280"/>
            </a:xfrm>
            <a:prstGeom prst="rect">
              <a:avLst/>
            </a:prstGeom>
          </p:spPr>
          <p:txBody>
            <a:bodyPr anchor="ctr" rtlCol="false" tIns="0" lIns="0" bIns="0" rIns="0"/>
            <a:lstStyle/>
            <a:p>
              <a:pPr algn="l">
                <a:lnSpc>
                  <a:spcPts val="4680"/>
                </a:lnSpc>
              </a:pPr>
              <a:r>
                <a:rPr lang="en-US" sz="3900" b="true">
                  <a:solidFill>
                    <a:srgbClr val="1E2761"/>
                  </a:solidFill>
                  <a:latin typeface="Cambria Bold"/>
                  <a:ea typeface="Cambria Bold"/>
                  <a:cs typeface="Cambria Bold"/>
                  <a:sym typeface="Cambria Bold"/>
                </a:rPr>
                <a:t>Scenario 5</a:t>
              </a:r>
            </a:p>
          </p:txBody>
        </p:sp>
      </p:grpSp>
      <p:grpSp>
        <p:nvGrpSpPr>
          <p:cNvPr name="Group 8" id="8"/>
          <p:cNvGrpSpPr/>
          <p:nvPr/>
        </p:nvGrpSpPr>
        <p:grpSpPr>
          <a:xfrm rot="0">
            <a:off x="960120" y="1810512"/>
            <a:ext cx="8229600" cy="411480"/>
            <a:chOff x="0" y="0"/>
            <a:chExt cx="10972800" cy="548640"/>
          </a:xfrm>
        </p:grpSpPr>
        <p:sp>
          <p:nvSpPr>
            <p:cNvPr name="Freeform 9" id="9"/>
            <p:cNvSpPr/>
            <p:nvPr/>
          </p:nvSpPr>
          <p:spPr>
            <a:xfrm flipH="false" flipV="false" rot="0">
              <a:off x="0" y="0"/>
              <a:ext cx="10972800" cy="548640"/>
            </a:xfrm>
            <a:custGeom>
              <a:avLst/>
              <a:gdLst/>
              <a:ahLst/>
              <a:cxnLst/>
              <a:rect r="r" b="b" t="t" l="l"/>
              <a:pathLst>
                <a:path h="548640" w="10972800">
                  <a:moveTo>
                    <a:pt x="0" y="0"/>
                  </a:moveTo>
                  <a:lnTo>
                    <a:pt x="10972800" y="0"/>
                  </a:lnTo>
                  <a:lnTo>
                    <a:pt x="10972800" y="548640"/>
                  </a:lnTo>
                  <a:lnTo>
                    <a:pt x="0" y="548640"/>
                  </a:lnTo>
                  <a:close/>
                </a:path>
              </a:pathLst>
            </a:custGeom>
            <a:blipFill>
              <a:blip r:embed="rId3">
                <a:alphaModFix amt="0"/>
              </a:blip>
              <a:stretch>
                <a:fillRect l="0" t="-339700" r="0" b="-339700"/>
              </a:stretch>
            </a:blipFill>
          </p:spPr>
        </p:sp>
        <p:sp>
          <p:nvSpPr>
            <p:cNvPr name="TextBox 10" id="10"/>
            <p:cNvSpPr txBox="true"/>
            <p:nvPr/>
          </p:nvSpPr>
          <p:spPr>
            <a:xfrm>
              <a:off x="0" y="-28575"/>
              <a:ext cx="10972800" cy="577215"/>
            </a:xfrm>
            <a:prstGeom prst="rect">
              <a:avLst/>
            </a:prstGeom>
          </p:spPr>
          <p:txBody>
            <a:bodyPr anchor="ctr" rtlCol="false" tIns="0" lIns="0" bIns="0" rIns="0"/>
            <a:lstStyle/>
            <a:p>
              <a:pPr algn="l">
                <a:lnSpc>
                  <a:spcPts val="1980"/>
                </a:lnSpc>
              </a:pPr>
              <a:r>
                <a:rPr lang="en-US" sz="1650">
                  <a:solidFill>
                    <a:srgbClr val="6B7280"/>
                  </a:solidFill>
                  <a:latin typeface="Calibri (MS)"/>
                  <a:ea typeface="Calibri (MS)"/>
                  <a:cs typeface="Calibri (MS)"/>
                  <a:sym typeface="Calibri (MS)"/>
                </a:rPr>
                <a:t>5 of 12</a:t>
              </a:r>
            </a:p>
          </p:txBody>
        </p:sp>
      </p:grpSp>
      <p:grpSp>
        <p:nvGrpSpPr>
          <p:cNvPr name="Group 11" id="11"/>
          <p:cNvGrpSpPr/>
          <p:nvPr/>
        </p:nvGrpSpPr>
        <p:grpSpPr>
          <a:xfrm rot="0">
            <a:off x="960120" y="2537460"/>
            <a:ext cx="16322040" cy="2811780"/>
            <a:chOff x="0" y="0"/>
            <a:chExt cx="21762720" cy="3749040"/>
          </a:xfrm>
        </p:grpSpPr>
        <p:sp>
          <p:nvSpPr>
            <p:cNvPr name="Freeform 12" id="12"/>
            <p:cNvSpPr/>
            <p:nvPr/>
          </p:nvSpPr>
          <p:spPr>
            <a:xfrm flipH="false" flipV="false" rot="0">
              <a:off x="0" y="0"/>
              <a:ext cx="21762720" cy="3749040"/>
            </a:xfrm>
            <a:custGeom>
              <a:avLst/>
              <a:gdLst/>
              <a:ahLst/>
              <a:cxnLst/>
              <a:rect r="r" b="b" t="t" l="l"/>
              <a:pathLst>
                <a:path h="3749040" w="21762720">
                  <a:moveTo>
                    <a:pt x="0" y="182880"/>
                  </a:moveTo>
                  <a:cubicBezTo>
                    <a:pt x="0" y="81915"/>
                    <a:pt x="81915" y="0"/>
                    <a:pt x="182880" y="0"/>
                  </a:cubicBezTo>
                  <a:lnTo>
                    <a:pt x="21579839" y="0"/>
                  </a:lnTo>
                  <a:cubicBezTo>
                    <a:pt x="21680804" y="0"/>
                    <a:pt x="21762720" y="81915"/>
                    <a:pt x="21762720" y="182880"/>
                  </a:cubicBezTo>
                  <a:lnTo>
                    <a:pt x="21762720" y="3566160"/>
                  </a:lnTo>
                  <a:cubicBezTo>
                    <a:pt x="21762720" y="3667125"/>
                    <a:pt x="21680804" y="3749040"/>
                    <a:pt x="21579839" y="3749040"/>
                  </a:cubicBezTo>
                  <a:lnTo>
                    <a:pt x="182880" y="3749040"/>
                  </a:lnTo>
                  <a:cubicBezTo>
                    <a:pt x="81915" y="3749040"/>
                    <a:pt x="0" y="3667125"/>
                    <a:pt x="0" y="3566160"/>
                  </a:cubicBezTo>
                  <a:close/>
                </a:path>
              </a:pathLst>
            </a:custGeom>
            <a:solidFill>
              <a:srgbClr val="F4F7FC"/>
            </a:solidFill>
          </p:spPr>
        </p:sp>
      </p:grpSp>
      <p:grpSp>
        <p:nvGrpSpPr>
          <p:cNvPr name="Group 13" id="13"/>
          <p:cNvGrpSpPr/>
          <p:nvPr/>
        </p:nvGrpSpPr>
        <p:grpSpPr>
          <a:xfrm rot="0">
            <a:off x="1440180" y="2811780"/>
            <a:ext cx="15361920" cy="2263140"/>
            <a:chOff x="0" y="0"/>
            <a:chExt cx="20482560" cy="3017520"/>
          </a:xfrm>
        </p:grpSpPr>
        <p:sp>
          <p:nvSpPr>
            <p:cNvPr name="Freeform 14" id="14"/>
            <p:cNvSpPr/>
            <p:nvPr/>
          </p:nvSpPr>
          <p:spPr>
            <a:xfrm flipH="false" flipV="false" rot="0">
              <a:off x="0" y="0"/>
              <a:ext cx="20482561" cy="3017520"/>
            </a:xfrm>
            <a:custGeom>
              <a:avLst/>
              <a:gdLst/>
              <a:ahLst/>
              <a:cxnLst/>
              <a:rect r="r" b="b" t="t" l="l"/>
              <a:pathLst>
                <a:path h="3017520" w="20482561">
                  <a:moveTo>
                    <a:pt x="0" y="0"/>
                  </a:moveTo>
                  <a:lnTo>
                    <a:pt x="20482561" y="0"/>
                  </a:lnTo>
                  <a:lnTo>
                    <a:pt x="20482561" y="3017520"/>
                  </a:lnTo>
                  <a:lnTo>
                    <a:pt x="0" y="3017520"/>
                  </a:lnTo>
                  <a:close/>
                </a:path>
              </a:pathLst>
            </a:custGeom>
            <a:blipFill>
              <a:blip r:embed="rId3">
                <a:alphaModFix amt="0"/>
              </a:blip>
              <a:stretch>
                <a:fillRect l="0" t="-82262" r="0" b="-82262"/>
              </a:stretch>
            </a:blipFill>
          </p:spPr>
        </p:sp>
        <p:sp>
          <p:nvSpPr>
            <p:cNvPr name="TextBox 15" id="15"/>
            <p:cNvSpPr txBox="true"/>
            <p:nvPr/>
          </p:nvSpPr>
          <p:spPr>
            <a:xfrm>
              <a:off x="0" y="-104775"/>
              <a:ext cx="20482560" cy="3122295"/>
            </a:xfrm>
            <a:prstGeom prst="rect">
              <a:avLst/>
            </a:prstGeom>
          </p:spPr>
          <p:txBody>
            <a:bodyPr anchor="ctr" rtlCol="false" tIns="0" lIns="0" bIns="0" rIns="0"/>
            <a:lstStyle/>
            <a:p>
              <a:pPr algn="l">
                <a:lnSpc>
                  <a:spcPts val="4147"/>
                </a:lnSpc>
              </a:pPr>
              <a:r>
                <a:rPr lang="en-US" sz="2700" i="true">
                  <a:solidFill>
                    <a:srgbClr val="23262F"/>
                  </a:solidFill>
                  <a:latin typeface="Cambria Italics"/>
                  <a:ea typeface="Cambria Italics"/>
                  <a:cs typeface="Cambria Italics"/>
                  <a:sym typeface="Cambria Italics"/>
                </a:rPr>
                <a:t>“Someone deletes and rewrites audit-log entries to hide an unauthorized fund transfer.”</a:t>
              </a:r>
            </a:p>
          </p:txBody>
        </p:sp>
      </p:grpSp>
      <p:sp>
        <p:nvSpPr>
          <p:cNvPr name="TextBox 16" id="16"/>
          <p:cNvSpPr txBox="true"/>
          <p:nvPr/>
        </p:nvSpPr>
        <p:spPr>
          <a:xfrm rot="0">
            <a:off x="1051560" y="5604510"/>
            <a:ext cx="16139160" cy="1276350"/>
          </a:xfrm>
          <a:prstGeom prst="rect">
            <a:avLst/>
          </a:prstGeom>
        </p:spPr>
        <p:txBody>
          <a:bodyPr anchor="t" rtlCol="false" tIns="0" lIns="0" bIns="0" rIns="0">
            <a:spAutoFit/>
          </a:bodyPr>
          <a:lstStyle/>
          <a:p>
            <a:pPr algn="ctr">
              <a:lnSpc>
                <a:spcPts val="3402"/>
              </a:lnSpc>
            </a:pPr>
            <a:r>
              <a:rPr lang="en-US" sz="2100" i="true">
                <a:solidFill>
                  <a:srgbClr val="6B7280"/>
                </a:solidFill>
                <a:latin typeface="Calibri (MS) Italics"/>
                <a:ea typeface="Calibri (MS) Italics"/>
                <a:cs typeface="Calibri (MS) Italics"/>
                <a:sym typeface="Calibri (MS) Italics"/>
              </a:rPr>
              <a:t>Which does this break — Confidentiality, Integrity, or Availability?</a:t>
            </a:r>
          </a:p>
          <a:p>
            <a:pPr algn="ctr">
              <a:lnSpc>
                <a:spcPts val="3402"/>
              </a:lnSpc>
            </a:pPr>
            <a:r>
              <a:rPr lang="en-US" sz="2100" i="true">
                <a:solidFill>
                  <a:srgbClr val="6B7280"/>
                </a:solidFill>
                <a:latin typeface="Calibri (MS) Italics"/>
                <a:ea typeface="Calibri (MS) Italics"/>
                <a:cs typeface="Calibri (MS) Italics"/>
                <a:sym typeface="Calibri (MS) Italics"/>
              </a:rPr>
              <a:t>Some break more than one. Discuss, then we'll reveal the answer.</a:t>
            </a:r>
          </a:p>
        </p:txBody>
      </p:sp>
      <p:grpSp>
        <p:nvGrpSpPr>
          <p:cNvPr name="Group 17" id="17"/>
          <p:cNvGrpSpPr/>
          <p:nvPr/>
        </p:nvGrpSpPr>
        <p:grpSpPr>
          <a:xfrm rot="0">
            <a:off x="950595" y="7191375"/>
            <a:ext cx="5162550" cy="910590"/>
            <a:chOff x="0" y="0"/>
            <a:chExt cx="6883400" cy="1214120"/>
          </a:xfrm>
        </p:grpSpPr>
        <p:sp>
          <p:nvSpPr>
            <p:cNvPr name="Freeform 18" id="18"/>
            <p:cNvSpPr/>
            <p:nvPr/>
          </p:nvSpPr>
          <p:spPr>
            <a:xfrm flipH="false" flipV="false" rot="0">
              <a:off x="0" y="0"/>
              <a:ext cx="6883400" cy="1214120"/>
            </a:xfrm>
            <a:custGeom>
              <a:avLst/>
              <a:gdLst/>
              <a:ahLst/>
              <a:cxnLst/>
              <a:rect r="r" b="b" t="t" l="l"/>
              <a:pathLst>
                <a:path h="1214120" w="6883400">
                  <a:moveTo>
                    <a:pt x="0" y="168148"/>
                  </a:moveTo>
                  <a:cubicBezTo>
                    <a:pt x="0" y="75311"/>
                    <a:pt x="75311" y="0"/>
                    <a:pt x="168148" y="0"/>
                  </a:cubicBezTo>
                  <a:lnTo>
                    <a:pt x="6715252" y="0"/>
                  </a:lnTo>
                  <a:cubicBezTo>
                    <a:pt x="6808089" y="0"/>
                    <a:pt x="6883400" y="75311"/>
                    <a:pt x="6883400" y="168148"/>
                  </a:cubicBezTo>
                  <a:lnTo>
                    <a:pt x="6883400" y="1045972"/>
                  </a:lnTo>
                  <a:cubicBezTo>
                    <a:pt x="6883400" y="1138809"/>
                    <a:pt x="6808089" y="1214120"/>
                    <a:pt x="6715252" y="1214120"/>
                  </a:cubicBezTo>
                  <a:lnTo>
                    <a:pt x="168148" y="1214120"/>
                  </a:lnTo>
                  <a:cubicBezTo>
                    <a:pt x="75311" y="1214120"/>
                    <a:pt x="0" y="1138809"/>
                    <a:pt x="0" y="1045972"/>
                  </a:cubicBezTo>
                  <a:close/>
                </a:path>
              </a:pathLst>
            </a:custGeom>
            <a:solidFill>
              <a:srgbClr val="F4F7FC"/>
            </a:solidFill>
            <a:ln w="19050" cap="sq">
              <a:solidFill>
                <a:srgbClr val="D7DCEC"/>
              </a:solidFill>
              <a:prstDash val="solid"/>
              <a:miter/>
            </a:ln>
          </p:spPr>
        </p:sp>
      </p:grpSp>
      <p:grpSp>
        <p:nvGrpSpPr>
          <p:cNvPr name="Group 19" id="19"/>
          <p:cNvGrpSpPr/>
          <p:nvPr/>
        </p:nvGrpSpPr>
        <p:grpSpPr>
          <a:xfrm rot="0">
            <a:off x="960120" y="7200900"/>
            <a:ext cx="5143500" cy="891540"/>
            <a:chOff x="0" y="0"/>
            <a:chExt cx="6858000" cy="1188720"/>
          </a:xfrm>
        </p:grpSpPr>
        <p:sp>
          <p:nvSpPr>
            <p:cNvPr name="Freeform 20" id="20"/>
            <p:cNvSpPr/>
            <p:nvPr/>
          </p:nvSpPr>
          <p:spPr>
            <a:xfrm flipH="false" flipV="false" rot="0">
              <a:off x="0" y="0"/>
              <a:ext cx="6858000" cy="1188720"/>
            </a:xfrm>
            <a:custGeom>
              <a:avLst/>
              <a:gdLst/>
              <a:ahLst/>
              <a:cxnLst/>
              <a:rect r="r" b="b" t="t" l="l"/>
              <a:pathLst>
                <a:path h="1188720" w="6858000">
                  <a:moveTo>
                    <a:pt x="0" y="0"/>
                  </a:moveTo>
                  <a:lnTo>
                    <a:pt x="6858000" y="0"/>
                  </a:lnTo>
                  <a:lnTo>
                    <a:pt x="6858000" y="1188720"/>
                  </a:lnTo>
                  <a:lnTo>
                    <a:pt x="0" y="1188720"/>
                  </a:lnTo>
                  <a:close/>
                </a:path>
              </a:pathLst>
            </a:custGeom>
            <a:blipFill>
              <a:blip r:embed="rId3">
                <a:alphaModFix amt="0"/>
              </a:blip>
              <a:stretch>
                <a:fillRect l="0" t="-62413" r="0" b="-62413"/>
              </a:stretch>
            </a:blipFill>
          </p:spPr>
        </p:sp>
        <p:sp>
          <p:nvSpPr>
            <p:cNvPr name="TextBox 21" id="21"/>
            <p:cNvSpPr txBox="true"/>
            <p:nvPr/>
          </p:nvSpPr>
          <p:spPr>
            <a:xfrm>
              <a:off x="0" y="-47625"/>
              <a:ext cx="6858000" cy="1236345"/>
            </a:xfrm>
            <a:prstGeom prst="rect">
              <a:avLst/>
            </a:prstGeom>
          </p:spPr>
          <p:txBody>
            <a:bodyPr anchor="ctr" rtlCol="false" tIns="0" lIns="0" bIns="0" rIns="0"/>
            <a:lstStyle/>
            <a:p>
              <a:pPr algn="ctr">
                <a:lnSpc>
                  <a:spcPts val="2520"/>
                </a:lnSpc>
              </a:pPr>
              <a:r>
                <a:rPr lang="en-US" sz="2100">
                  <a:solidFill>
                    <a:srgbClr val="6B7280"/>
                  </a:solidFill>
                  <a:latin typeface="Calibri (MS)"/>
                  <a:ea typeface="Calibri (MS)"/>
                  <a:cs typeface="Calibri (MS)"/>
                  <a:sym typeface="Calibri (MS)"/>
                </a:rPr>
                <a:t>Confidentiality</a:t>
              </a:r>
            </a:p>
          </p:txBody>
        </p:sp>
      </p:grpSp>
      <p:grpSp>
        <p:nvGrpSpPr>
          <p:cNvPr name="Group 22" id="22"/>
          <p:cNvGrpSpPr/>
          <p:nvPr/>
        </p:nvGrpSpPr>
        <p:grpSpPr>
          <a:xfrm rot="0">
            <a:off x="6533007" y="7191375"/>
            <a:ext cx="5162550" cy="910590"/>
            <a:chOff x="0" y="0"/>
            <a:chExt cx="6883400" cy="1214120"/>
          </a:xfrm>
        </p:grpSpPr>
        <p:sp>
          <p:nvSpPr>
            <p:cNvPr name="Freeform 23" id="23"/>
            <p:cNvSpPr/>
            <p:nvPr/>
          </p:nvSpPr>
          <p:spPr>
            <a:xfrm flipH="false" flipV="false" rot="0">
              <a:off x="0" y="0"/>
              <a:ext cx="6883400" cy="1214120"/>
            </a:xfrm>
            <a:custGeom>
              <a:avLst/>
              <a:gdLst/>
              <a:ahLst/>
              <a:cxnLst/>
              <a:rect r="r" b="b" t="t" l="l"/>
              <a:pathLst>
                <a:path h="1214120" w="6883400">
                  <a:moveTo>
                    <a:pt x="0" y="168148"/>
                  </a:moveTo>
                  <a:cubicBezTo>
                    <a:pt x="0" y="75311"/>
                    <a:pt x="75311" y="0"/>
                    <a:pt x="168148" y="0"/>
                  </a:cubicBezTo>
                  <a:lnTo>
                    <a:pt x="6715252" y="0"/>
                  </a:lnTo>
                  <a:cubicBezTo>
                    <a:pt x="6808089" y="0"/>
                    <a:pt x="6883400" y="75311"/>
                    <a:pt x="6883400" y="168148"/>
                  </a:cubicBezTo>
                  <a:lnTo>
                    <a:pt x="6883400" y="1045972"/>
                  </a:lnTo>
                  <a:cubicBezTo>
                    <a:pt x="6883400" y="1138809"/>
                    <a:pt x="6808089" y="1214120"/>
                    <a:pt x="6715252" y="1214120"/>
                  </a:cubicBezTo>
                  <a:lnTo>
                    <a:pt x="168148" y="1214120"/>
                  </a:lnTo>
                  <a:cubicBezTo>
                    <a:pt x="75311" y="1214120"/>
                    <a:pt x="0" y="1138809"/>
                    <a:pt x="0" y="1045972"/>
                  </a:cubicBezTo>
                  <a:close/>
                </a:path>
              </a:pathLst>
            </a:custGeom>
            <a:solidFill>
              <a:srgbClr val="F4F7FC"/>
            </a:solidFill>
            <a:ln w="19050" cap="sq">
              <a:solidFill>
                <a:srgbClr val="D7DCEC"/>
              </a:solidFill>
              <a:prstDash val="solid"/>
              <a:miter/>
            </a:ln>
          </p:spPr>
        </p:sp>
      </p:grpSp>
      <p:grpSp>
        <p:nvGrpSpPr>
          <p:cNvPr name="Group 24" id="24"/>
          <p:cNvGrpSpPr/>
          <p:nvPr/>
        </p:nvGrpSpPr>
        <p:grpSpPr>
          <a:xfrm rot="0">
            <a:off x="6542532" y="7200900"/>
            <a:ext cx="5143500" cy="891540"/>
            <a:chOff x="0" y="0"/>
            <a:chExt cx="6858000" cy="1188720"/>
          </a:xfrm>
        </p:grpSpPr>
        <p:sp>
          <p:nvSpPr>
            <p:cNvPr name="Freeform 25" id="25"/>
            <p:cNvSpPr/>
            <p:nvPr/>
          </p:nvSpPr>
          <p:spPr>
            <a:xfrm flipH="false" flipV="false" rot="0">
              <a:off x="0" y="0"/>
              <a:ext cx="6858000" cy="1188720"/>
            </a:xfrm>
            <a:custGeom>
              <a:avLst/>
              <a:gdLst/>
              <a:ahLst/>
              <a:cxnLst/>
              <a:rect r="r" b="b" t="t" l="l"/>
              <a:pathLst>
                <a:path h="1188720" w="6858000">
                  <a:moveTo>
                    <a:pt x="0" y="0"/>
                  </a:moveTo>
                  <a:lnTo>
                    <a:pt x="6858000" y="0"/>
                  </a:lnTo>
                  <a:lnTo>
                    <a:pt x="6858000" y="1188720"/>
                  </a:lnTo>
                  <a:lnTo>
                    <a:pt x="0" y="1188720"/>
                  </a:lnTo>
                  <a:close/>
                </a:path>
              </a:pathLst>
            </a:custGeom>
            <a:blipFill>
              <a:blip r:embed="rId3">
                <a:alphaModFix amt="0"/>
              </a:blip>
              <a:stretch>
                <a:fillRect l="0" t="-62413" r="0" b="-62413"/>
              </a:stretch>
            </a:blipFill>
          </p:spPr>
        </p:sp>
        <p:sp>
          <p:nvSpPr>
            <p:cNvPr name="TextBox 26" id="26"/>
            <p:cNvSpPr txBox="true"/>
            <p:nvPr/>
          </p:nvSpPr>
          <p:spPr>
            <a:xfrm>
              <a:off x="0" y="-47625"/>
              <a:ext cx="6858000" cy="1236345"/>
            </a:xfrm>
            <a:prstGeom prst="rect">
              <a:avLst/>
            </a:prstGeom>
          </p:spPr>
          <p:txBody>
            <a:bodyPr anchor="ctr" rtlCol="false" tIns="0" lIns="0" bIns="0" rIns="0"/>
            <a:lstStyle/>
            <a:p>
              <a:pPr algn="ctr">
                <a:lnSpc>
                  <a:spcPts val="2520"/>
                </a:lnSpc>
              </a:pPr>
              <a:r>
                <a:rPr lang="en-US" sz="2100">
                  <a:solidFill>
                    <a:srgbClr val="6B7280"/>
                  </a:solidFill>
                  <a:latin typeface="Calibri (MS)"/>
                  <a:ea typeface="Calibri (MS)"/>
                  <a:cs typeface="Calibri (MS)"/>
                  <a:sym typeface="Calibri (MS)"/>
                </a:rPr>
                <a:t>Integrity</a:t>
              </a:r>
            </a:p>
          </p:txBody>
        </p:sp>
      </p:grpSp>
      <p:grpSp>
        <p:nvGrpSpPr>
          <p:cNvPr name="Group 27" id="27"/>
          <p:cNvGrpSpPr/>
          <p:nvPr/>
        </p:nvGrpSpPr>
        <p:grpSpPr>
          <a:xfrm rot="0">
            <a:off x="12115419" y="7191375"/>
            <a:ext cx="5162550" cy="910590"/>
            <a:chOff x="0" y="0"/>
            <a:chExt cx="6883400" cy="1214120"/>
          </a:xfrm>
        </p:grpSpPr>
        <p:sp>
          <p:nvSpPr>
            <p:cNvPr name="Freeform 28" id="28"/>
            <p:cNvSpPr/>
            <p:nvPr/>
          </p:nvSpPr>
          <p:spPr>
            <a:xfrm flipH="false" flipV="false" rot="0">
              <a:off x="0" y="0"/>
              <a:ext cx="6883400" cy="1214120"/>
            </a:xfrm>
            <a:custGeom>
              <a:avLst/>
              <a:gdLst/>
              <a:ahLst/>
              <a:cxnLst/>
              <a:rect r="r" b="b" t="t" l="l"/>
              <a:pathLst>
                <a:path h="1214120" w="6883400">
                  <a:moveTo>
                    <a:pt x="0" y="168148"/>
                  </a:moveTo>
                  <a:cubicBezTo>
                    <a:pt x="0" y="75311"/>
                    <a:pt x="75311" y="0"/>
                    <a:pt x="168148" y="0"/>
                  </a:cubicBezTo>
                  <a:lnTo>
                    <a:pt x="6715252" y="0"/>
                  </a:lnTo>
                  <a:cubicBezTo>
                    <a:pt x="6808089" y="0"/>
                    <a:pt x="6883400" y="75311"/>
                    <a:pt x="6883400" y="168148"/>
                  </a:cubicBezTo>
                  <a:lnTo>
                    <a:pt x="6883400" y="1045972"/>
                  </a:lnTo>
                  <a:cubicBezTo>
                    <a:pt x="6883400" y="1138809"/>
                    <a:pt x="6808089" y="1214120"/>
                    <a:pt x="6715252" y="1214120"/>
                  </a:cubicBezTo>
                  <a:lnTo>
                    <a:pt x="168148" y="1214120"/>
                  </a:lnTo>
                  <a:cubicBezTo>
                    <a:pt x="75311" y="1214120"/>
                    <a:pt x="0" y="1138809"/>
                    <a:pt x="0" y="1045972"/>
                  </a:cubicBezTo>
                  <a:close/>
                </a:path>
              </a:pathLst>
            </a:custGeom>
            <a:solidFill>
              <a:srgbClr val="F4F7FC"/>
            </a:solidFill>
            <a:ln w="19050" cap="sq">
              <a:solidFill>
                <a:srgbClr val="D7DCEC"/>
              </a:solidFill>
              <a:prstDash val="solid"/>
              <a:miter/>
            </a:ln>
          </p:spPr>
        </p:sp>
      </p:grpSp>
      <p:grpSp>
        <p:nvGrpSpPr>
          <p:cNvPr name="Group 29" id="29"/>
          <p:cNvGrpSpPr/>
          <p:nvPr/>
        </p:nvGrpSpPr>
        <p:grpSpPr>
          <a:xfrm rot="0">
            <a:off x="12124944" y="7200900"/>
            <a:ext cx="5143500" cy="891540"/>
            <a:chOff x="0" y="0"/>
            <a:chExt cx="6858000" cy="1188720"/>
          </a:xfrm>
        </p:grpSpPr>
        <p:sp>
          <p:nvSpPr>
            <p:cNvPr name="Freeform 30" id="30"/>
            <p:cNvSpPr/>
            <p:nvPr/>
          </p:nvSpPr>
          <p:spPr>
            <a:xfrm flipH="false" flipV="false" rot="0">
              <a:off x="0" y="0"/>
              <a:ext cx="6858000" cy="1188720"/>
            </a:xfrm>
            <a:custGeom>
              <a:avLst/>
              <a:gdLst/>
              <a:ahLst/>
              <a:cxnLst/>
              <a:rect r="r" b="b" t="t" l="l"/>
              <a:pathLst>
                <a:path h="1188720" w="6858000">
                  <a:moveTo>
                    <a:pt x="0" y="0"/>
                  </a:moveTo>
                  <a:lnTo>
                    <a:pt x="6858000" y="0"/>
                  </a:lnTo>
                  <a:lnTo>
                    <a:pt x="6858000" y="1188720"/>
                  </a:lnTo>
                  <a:lnTo>
                    <a:pt x="0" y="1188720"/>
                  </a:lnTo>
                  <a:close/>
                </a:path>
              </a:pathLst>
            </a:custGeom>
            <a:blipFill>
              <a:blip r:embed="rId3">
                <a:alphaModFix amt="0"/>
              </a:blip>
              <a:stretch>
                <a:fillRect l="0" t="-62413" r="0" b="-62413"/>
              </a:stretch>
            </a:blipFill>
          </p:spPr>
        </p:sp>
        <p:sp>
          <p:nvSpPr>
            <p:cNvPr name="TextBox 31" id="31"/>
            <p:cNvSpPr txBox="true"/>
            <p:nvPr/>
          </p:nvSpPr>
          <p:spPr>
            <a:xfrm>
              <a:off x="0" y="-47625"/>
              <a:ext cx="6858000" cy="1236345"/>
            </a:xfrm>
            <a:prstGeom prst="rect">
              <a:avLst/>
            </a:prstGeom>
          </p:spPr>
          <p:txBody>
            <a:bodyPr anchor="ctr" rtlCol="false" tIns="0" lIns="0" bIns="0" rIns="0"/>
            <a:lstStyle/>
            <a:p>
              <a:pPr algn="ctr">
                <a:lnSpc>
                  <a:spcPts val="2520"/>
                </a:lnSpc>
              </a:pPr>
              <a:r>
                <a:rPr lang="en-US" sz="2100">
                  <a:solidFill>
                    <a:srgbClr val="6B7280"/>
                  </a:solidFill>
                  <a:latin typeface="Calibri (MS)"/>
                  <a:ea typeface="Calibri (MS)"/>
                  <a:cs typeface="Calibri (MS)"/>
                  <a:sym typeface="Calibri (MS)"/>
                </a:rPr>
                <a:t>Availability</a:t>
              </a:r>
            </a:p>
          </p:txBody>
        </p:sp>
      </p:grpSp>
      <p:grpSp>
        <p:nvGrpSpPr>
          <p:cNvPr name="Group 32" id="32"/>
          <p:cNvGrpSpPr/>
          <p:nvPr/>
        </p:nvGrpSpPr>
        <p:grpSpPr>
          <a:xfrm rot="0">
            <a:off x="685800" y="9710928"/>
            <a:ext cx="10972800" cy="411480"/>
            <a:chOff x="0" y="0"/>
            <a:chExt cx="14630400" cy="548640"/>
          </a:xfrm>
        </p:grpSpPr>
        <p:sp>
          <p:nvSpPr>
            <p:cNvPr name="Freeform 33" id="33"/>
            <p:cNvSpPr/>
            <p:nvPr/>
          </p:nvSpPr>
          <p:spPr>
            <a:xfrm flipH="false" flipV="false" rot="0">
              <a:off x="0" y="0"/>
              <a:ext cx="14630400" cy="548640"/>
            </a:xfrm>
            <a:custGeom>
              <a:avLst/>
              <a:gdLst/>
              <a:ahLst/>
              <a:cxnLst/>
              <a:rect r="r" b="b" t="t" l="l"/>
              <a:pathLst>
                <a:path h="548640" w="14630400">
                  <a:moveTo>
                    <a:pt x="0" y="0"/>
                  </a:moveTo>
                  <a:lnTo>
                    <a:pt x="14630400" y="0"/>
                  </a:lnTo>
                  <a:lnTo>
                    <a:pt x="14630400" y="548640"/>
                  </a:lnTo>
                  <a:lnTo>
                    <a:pt x="0" y="548640"/>
                  </a:lnTo>
                  <a:close/>
                </a:path>
              </a:pathLst>
            </a:custGeom>
            <a:blipFill>
              <a:blip r:embed="rId3">
                <a:alphaModFix amt="0"/>
              </a:blip>
              <a:stretch>
                <a:fillRect l="0" t="-469601" r="0" b="-469601"/>
              </a:stretch>
            </a:blipFill>
          </p:spPr>
        </p:sp>
        <p:sp>
          <p:nvSpPr>
            <p:cNvPr name="TextBox 34" id="34"/>
            <p:cNvSpPr txBox="true"/>
            <p:nvPr/>
          </p:nvSpPr>
          <p:spPr>
            <a:xfrm>
              <a:off x="0" y="-38100"/>
              <a:ext cx="14630400" cy="586740"/>
            </a:xfrm>
            <a:prstGeom prst="rect">
              <a:avLst/>
            </a:prstGeom>
          </p:spPr>
          <p:txBody>
            <a:bodyPr anchor="ctr" rtlCol="false" tIns="0" lIns="0" bIns="0" rIns="0"/>
            <a:lstStyle/>
            <a:p>
              <a:pPr algn="l">
                <a:lnSpc>
                  <a:spcPts val="1800"/>
                </a:lnSpc>
              </a:pPr>
              <a:r>
                <a:rPr lang="en-US" sz="1500">
                  <a:solidFill>
                    <a:srgbClr val="6B7280"/>
                  </a:solidFill>
                  <a:latin typeface="Calibri (MS)"/>
                  <a:ea typeface="Calibri (MS)"/>
                  <a:cs typeface="Calibri (MS)"/>
                  <a:sym typeface="Calibri (MS)"/>
                </a:rPr>
                <a:t>Davao del Norte Provincial Government — Cybersecurity Seminar</a:t>
              </a:r>
            </a:p>
          </p:txBody>
        </p:sp>
      </p:grpSp>
      <p:grpSp>
        <p:nvGrpSpPr>
          <p:cNvPr name="Group 35" id="35"/>
          <p:cNvGrpSpPr/>
          <p:nvPr/>
        </p:nvGrpSpPr>
        <p:grpSpPr>
          <a:xfrm rot="0">
            <a:off x="16911828" y="9710928"/>
            <a:ext cx="685800" cy="411480"/>
            <a:chOff x="0" y="0"/>
            <a:chExt cx="914400" cy="548640"/>
          </a:xfrm>
        </p:grpSpPr>
        <p:sp>
          <p:nvSpPr>
            <p:cNvPr name="Freeform 36" id="36"/>
            <p:cNvSpPr/>
            <p:nvPr/>
          </p:nvSpPr>
          <p:spPr>
            <a:xfrm flipH="false" flipV="false" rot="0">
              <a:off x="0" y="0"/>
              <a:ext cx="914400" cy="548640"/>
            </a:xfrm>
            <a:custGeom>
              <a:avLst/>
              <a:gdLst/>
              <a:ahLst/>
              <a:cxnLst/>
              <a:rect r="r" b="b" t="t" l="l"/>
              <a:pathLst>
                <a:path h="548640" w="914400">
                  <a:moveTo>
                    <a:pt x="0" y="0"/>
                  </a:moveTo>
                  <a:lnTo>
                    <a:pt x="914400" y="0"/>
                  </a:lnTo>
                  <a:lnTo>
                    <a:pt x="914400" y="548640"/>
                  </a:lnTo>
                  <a:lnTo>
                    <a:pt x="0" y="548640"/>
                  </a:lnTo>
                  <a:close/>
                </a:path>
              </a:pathLst>
            </a:custGeom>
            <a:blipFill>
              <a:blip r:embed="rId3">
                <a:alphaModFix amt="0"/>
              </a:blip>
              <a:stretch>
                <a:fillRect l="-26982" t="0" r="-26982" b="0"/>
              </a:stretch>
            </a:blipFill>
          </p:spPr>
        </p:sp>
        <p:sp>
          <p:nvSpPr>
            <p:cNvPr name="TextBox 37" id="37"/>
            <p:cNvSpPr txBox="true"/>
            <p:nvPr/>
          </p:nvSpPr>
          <p:spPr>
            <a:xfrm>
              <a:off x="0" y="-38100"/>
              <a:ext cx="914400" cy="586740"/>
            </a:xfrm>
            <a:prstGeom prst="rect">
              <a:avLst/>
            </a:prstGeom>
          </p:spPr>
          <p:txBody>
            <a:bodyPr anchor="ctr" rtlCol="false" tIns="0" lIns="0" bIns="0" rIns="0"/>
            <a:lstStyle/>
            <a:p>
              <a:pPr algn="r">
                <a:lnSpc>
                  <a:spcPts val="1800"/>
                </a:lnSpc>
              </a:pPr>
              <a:r>
                <a:rPr lang="en-US" sz="1500">
                  <a:solidFill>
                    <a:srgbClr val="6B7280"/>
                  </a:solidFill>
                  <a:latin typeface="Calibri (MS)"/>
                  <a:ea typeface="Calibri (MS)"/>
                  <a:cs typeface="Calibri (MS)"/>
                  <a:sym typeface="Calibri (MS)"/>
                </a:rPr>
                <a:t>47</a:t>
              </a:r>
            </a:p>
          </p:txBody>
        </p:sp>
      </p:grpSp>
    </p:spTree>
  </p:cSld>
  <p:clrMapOvr>
    <a:masterClrMapping/>
  </p:clrMapOvr>
</p:sld>
</file>

<file path=ppt/slides/slide5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60120" y="685800"/>
            <a:ext cx="13716000" cy="411480"/>
            <a:chOff x="0" y="0"/>
            <a:chExt cx="18288000" cy="548640"/>
          </a:xfrm>
        </p:grpSpPr>
        <p:sp>
          <p:nvSpPr>
            <p:cNvPr name="Freeform 3" id="3"/>
            <p:cNvSpPr/>
            <p:nvPr/>
          </p:nvSpPr>
          <p:spPr>
            <a:xfrm flipH="false" flipV="false" rot="0">
              <a:off x="0" y="0"/>
              <a:ext cx="18288000" cy="548640"/>
            </a:xfrm>
            <a:custGeom>
              <a:avLst/>
              <a:gdLst/>
              <a:ahLst/>
              <a:cxnLst/>
              <a:rect r="r" b="b" t="t" l="l"/>
              <a:pathLst>
                <a:path h="548640" w="18288000">
                  <a:moveTo>
                    <a:pt x="0" y="0"/>
                  </a:moveTo>
                  <a:lnTo>
                    <a:pt x="18288000" y="0"/>
                  </a:lnTo>
                  <a:lnTo>
                    <a:pt x="18288000" y="548640"/>
                  </a:lnTo>
                  <a:lnTo>
                    <a:pt x="0" y="548640"/>
                  </a:lnTo>
                  <a:close/>
                </a:path>
              </a:pathLst>
            </a:custGeom>
            <a:blipFill>
              <a:blip r:embed="rId3">
                <a:alphaModFix amt="0"/>
              </a:blip>
              <a:stretch>
                <a:fillRect l="0" t="-599501" r="0" b="-599501"/>
              </a:stretch>
            </a:blipFill>
          </p:spPr>
        </p:sp>
        <p:sp>
          <p:nvSpPr>
            <p:cNvPr name="TextBox 4" id="4"/>
            <p:cNvSpPr txBox="true"/>
            <p:nvPr/>
          </p:nvSpPr>
          <p:spPr>
            <a:xfrm>
              <a:off x="0" y="-38100"/>
              <a:ext cx="18288000" cy="586740"/>
            </a:xfrm>
            <a:prstGeom prst="rect">
              <a:avLst/>
            </a:prstGeom>
          </p:spPr>
          <p:txBody>
            <a:bodyPr anchor="ctr" rtlCol="false" tIns="0" lIns="0" bIns="0" rIns="0"/>
            <a:lstStyle/>
            <a:p>
              <a:pPr algn="l">
                <a:lnSpc>
                  <a:spcPts val="2160"/>
                </a:lnSpc>
              </a:pPr>
              <a:r>
                <a:rPr lang="en-US" b="true" sz="1800" spc="225">
                  <a:solidFill>
                    <a:srgbClr val="00B4D8"/>
                  </a:solidFill>
                  <a:latin typeface="Calibri (MS) Bold"/>
                  <a:ea typeface="Calibri (MS) Bold"/>
                  <a:cs typeface="Calibri (MS) Bold"/>
                  <a:sym typeface="Calibri (MS) Bold"/>
                </a:rPr>
                <a:t>CIA TRIAD SORT · ANSWER</a:t>
              </a:r>
            </a:p>
          </p:txBody>
        </p:sp>
      </p:grpSp>
      <p:grpSp>
        <p:nvGrpSpPr>
          <p:cNvPr name="Group 5" id="5"/>
          <p:cNvGrpSpPr/>
          <p:nvPr/>
        </p:nvGrpSpPr>
        <p:grpSpPr>
          <a:xfrm rot="0">
            <a:off x="960120" y="1069848"/>
            <a:ext cx="10972800" cy="822960"/>
            <a:chOff x="0" y="0"/>
            <a:chExt cx="14630400" cy="1097280"/>
          </a:xfrm>
        </p:grpSpPr>
        <p:sp>
          <p:nvSpPr>
            <p:cNvPr name="Freeform 6" id="6"/>
            <p:cNvSpPr/>
            <p:nvPr/>
          </p:nvSpPr>
          <p:spPr>
            <a:xfrm flipH="false" flipV="false" rot="0">
              <a:off x="0" y="0"/>
              <a:ext cx="14630400" cy="1097280"/>
            </a:xfrm>
            <a:custGeom>
              <a:avLst/>
              <a:gdLst/>
              <a:ahLst/>
              <a:cxnLst/>
              <a:rect r="r" b="b" t="t" l="l"/>
              <a:pathLst>
                <a:path h="1097280" w="14630400">
                  <a:moveTo>
                    <a:pt x="0" y="0"/>
                  </a:moveTo>
                  <a:lnTo>
                    <a:pt x="14630400" y="0"/>
                  </a:lnTo>
                  <a:lnTo>
                    <a:pt x="14630400" y="1097280"/>
                  </a:lnTo>
                  <a:lnTo>
                    <a:pt x="0" y="1097280"/>
                  </a:lnTo>
                  <a:close/>
                </a:path>
              </a:pathLst>
            </a:custGeom>
            <a:blipFill>
              <a:blip r:embed="rId3">
                <a:alphaModFix amt="0"/>
              </a:blip>
              <a:stretch>
                <a:fillRect l="0" t="-209800" r="0" b="-209800"/>
              </a:stretch>
            </a:blipFill>
          </p:spPr>
        </p:sp>
        <p:sp>
          <p:nvSpPr>
            <p:cNvPr name="TextBox 7" id="7"/>
            <p:cNvSpPr txBox="true"/>
            <p:nvPr/>
          </p:nvSpPr>
          <p:spPr>
            <a:xfrm>
              <a:off x="0" y="0"/>
              <a:ext cx="14630400" cy="1097280"/>
            </a:xfrm>
            <a:prstGeom prst="rect">
              <a:avLst/>
            </a:prstGeom>
          </p:spPr>
          <p:txBody>
            <a:bodyPr anchor="ctr" rtlCol="false" tIns="0" lIns="0" bIns="0" rIns="0"/>
            <a:lstStyle/>
            <a:p>
              <a:pPr algn="l">
                <a:lnSpc>
                  <a:spcPts val="4680"/>
                </a:lnSpc>
              </a:pPr>
              <a:r>
                <a:rPr lang="en-US" sz="3900" b="true">
                  <a:solidFill>
                    <a:srgbClr val="1E2761"/>
                  </a:solidFill>
                  <a:latin typeface="Cambria Bold"/>
                  <a:ea typeface="Cambria Bold"/>
                  <a:cs typeface="Cambria Bold"/>
                  <a:sym typeface="Cambria Bold"/>
                </a:rPr>
                <a:t>Scenario 5 — Answer</a:t>
              </a:r>
            </a:p>
          </p:txBody>
        </p:sp>
      </p:grpSp>
      <p:grpSp>
        <p:nvGrpSpPr>
          <p:cNvPr name="Group 8" id="8"/>
          <p:cNvGrpSpPr/>
          <p:nvPr/>
        </p:nvGrpSpPr>
        <p:grpSpPr>
          <a:xfrm rot="0">
            <a:off x="960120" y="1810512"/>
            <a:ext cx="8229600" cy="411480"/>
            <a:chOff x="0" y="0"/>
            <a:chExt cx="10972800" cy="548640"/>
          </a:xfrm>
        </p:grpSpPr>
        <p:sp>
          <p:nvSpPr>
            <p:cNvPr name="Freeform 9" id="9"/>
            <p:cNvSpPr/>
            <p:nvPr/>
          </p:nvSpPr>
          <p:spPr>
            <a:xfrm flipH="false" flipV="false" rot="0">
              <a:off x="0" y="0"/>
              <a:ext cx="10972800" cy="548640"/>
            </a:xfrm>
            <a:custGeom>
              <a:avLst/>
              <a:gdLst/>
              <a:ahLst/>
              <a:cxnLst/>
              <a:rect r="r" b="b" t="t" l="l"/>
              <a:pathLst>
                <a:path h="548640" w="10972800">
                  <a:moveTo>
                    <a:pt x="0" y="0"/>
                  </a:moveTo>
                  <a:lnTo>
                    <a:pt x="10972800" y="0"/>
                  </a:lnTo>
                  <a:lnTo>
                    <a:pt x="10972800" y="548640"/>
                  </a:lnTo>
                  <a:lnTo>
                    <a:pt x="0" y="548640"/>
                  </a:lnTo>
                  <a:close/>
                </a:path>
              </a:pathLst>
            </a:custGeom>
            <a:blipFill>
              <a:blip r:embed="rId3">
                <a:alphaModFix amt="0"/>
              </a:blip>
              <a:stretch>
                <a:fillRect l="0" t="-339700" r="0" b="-339700"/>
              </a:stretch>
            </a:blipFill>
          </p:spPr>
        </p:sp>
        <p:sp>
          <p:nvSpPr>
            <p:cNvPr name="TextBox 10" id="10"/>
            <p:cNvSpPr txBox="true"/>
            <p:nvPr/>
          </p:nvSpPr>
          <p:spPr>
            <a:xfrm>
              <a:off x="0" y="-28575"/>
              <a:ext cx="10972800" cy="577215"/>
            </a:xfrm>
            <a:prstGeom prst="rect">
              <a:avLst/>
            </a:prstGeom>
          </p:spPr>
          <p:txBody>
            <a:bodyPr anchor="ctr" rtlCol="false" tIns="0" lIns="0" bIns="0" rIns="0"/>
            <a:lstStyle/>
            <a:p>
              <a:pPr algn="l">
                <a:lnSpc>
                  <a:spcPts val="1980"/>
                </a:lnSpc>
              </a:pPr>
              <a:r>
                <a:rPr lang="en-US" sz="1650">
                  <a:solidFill>
                    <a:srgbClr val="6B7280"/>
                  </a:solidFill>
                  <a:latin typeface="Calibri (MS)"/>
                  <a:ea typeface="Calibri (MS)"/>
                  <a:cs typeface="Calibri (MS)"/>
                  <a:sym typeface="Calibri (MS)"/>
                </a:rPr>
                <a:t>5 of 12</a:t>
              </a:r>
            </a:p>
          </p:txBody>
        </p:sp>
      </p:grpSp>
      <p:grpSp>
        <p:nvGrpSpPr>
          <p:cNvPr name="Group 11" id="11"/>
          <p:cNvGrpSpPr/>
          <p:nvPr/>
        </p:nvGrpSpPr>
        <p:grpSpPr>
          <a:xfrm rot="0">
            <a:off x="960120" y="2537460"/>
            <a:ext cx="16322040" cy="2400300"/>
            <a:chOff x="0" y="0"/>
            <a:chExt cx="21762720" cy="3200400"/>
          </a:xfrm>
        </p:grpSpPr>
        <p:sp>
          <p:nvSpPr>
            <p:cNvPr name="Freeform 12" id="12"/>
            <p:cNvSpPr/>
            <p:nvPr/>
          </p:nvSpPr>
          <p:spPr>
            <a:xfrm flipH="false" flipV="false" rot="0">
              <a:off x="0" y="0"/>
              <a:ext cx="21762720" cy="3200400"/>
            </a:xfrm>
            <a:custGeom>
              <a:avLst/>
              <a:gdLst/>
              <a:ahLst/>
              <a:cxnLst/>
              <a:rect r="r" b="b" t="t" l="l"/>
              <a:pathLst>
                <a:path h="3200400" w="21762720">
                  <a:moveTo>
                    <a:pt x="0" y="182880"/>
                  </a:moveTo>
                  <a:cubicBezTo>
                    <a:pt x="0" y="81915"/>
                    <a:pt x="81915" y="0"/>
                    <a:pt x="182880" y="0"/>
                  </a:cubicBezTo>
                  <a:lnTo>
                    <a:pt x="21579839" y="0"/>
                  </a:lnTo>
                  <a:cubicBezTo>
                    <a:pt x="21680804" y="0"/>
                    <a:pt x="21762720" y="81915"/>
                    <a:pt x="21762720" y="182880"/>
                  </a:cubicBezTo>
                  <a:lnTo>
                    <a:pt x="21762720" y="3017520"/>
                  </a:lnTo>
                  <a:cubicBezTo>
                    <a:pt x="21762720" y="3118485"/>
                    <a:pt x="21680804" y="3200400"/>
                    <a:pt x="21579839" y="3200400"/>
                  </a:cubicBezTo>
                  <a:lnTo>
                    <a:pt x="182880" y="3200400"/>
                  </a:lnTo>
                  <a:cubicBezTo>
                    <a:pt x="81915" y="3200400"/>
                    <a:pt x="0" y="3118485"/>
                    <a:pt x="0" y="3017520"/>
                  </a:cubicBezTo>
                  <a:close/>
                </a:path>
              </a:pathLst>
            </a:custGeom>
            <a:solidFill>
              <a:srgbClr val="F4F7FC"/>
            </a:solidFill>
          </p:spPr>
        </p:sp>
      </p:grpSp>
      <p:grpSp>
        <p:nvGrpSpPr>
          <p:cNvPr name="Group 13" id="13"/>
          <p:cNvGrpSpPr/>
          <p:nvPr/>
        </p:nvGrpSpPr>
        <p:grpSpPr>
          <a:xfrm rot="0">
            <a:off x="1440180" y="2811780"/>
            <a:ext cx="15361920" cy="1851660"/>
            <a:chOff x="0" y="0"/>
            <a:chExt cx="20482560" cy="2468880"/>
          </a:xfrm>
        </p:grpSpPr>
        <p:sp>
          <p:nvSpPr>
            <p:cNvPr name="Freeform 14" id="14"/>
            <p:cNvSpPr/>
            <p:nvPr/>
          </p:nvSpPr>
          <p:spPr>
            <a:xfrm flipH="false" flipV="false" rot="0">
              <a:off x="0" y="0"/>
              <a:ext cx="20482561" cy="2468880"/>
            </a:xfrm>
            <a:custGeom>
              <a:avLst/>
              <a:gdLst/>
              <a:ahLst/>
              <a:cxnLst/>
              <a:rect r="r" b="b" t="t" l="l"/>
              <a:pathLst>
                <a:path h="2468880" w="20482561">
                  <a:moveTo>
                    <a:pt x="0" y="0"/>
                  </a:moveTo>
                  <a:lnTo>
                    <a:pt x="20482561" y="0"/>
                  </a:lnTo>
                  <a:lnTo>
                    <a:pt x="20482561" y="2468880"/>
                  </a:lnTo>
                  <a:lnTo>
                    <a:pt x="0" y="2468880"/>
                  </a:lnTo>
                  <a:close/>
                </a:path>
              </a:pathLst>
            </a:custGeom>
            <a:blipFill>
              <a:blip r:embed="rId3">
                <a:alphaModFix amt="0"/>
              </a:blip>
              <a:stretch>
                <a:fillRect l="0" t="-111653" r="0" b="-111653"/>
              </a:stretch>
            </a:blipFill>
          </p:spPr>
        </p:sp>
        <p:sp>
          <p:nvSpPr>
            <p:cNvPr name="TextBox 15" id="15"/>
            <p:cNvSpPr txBox="true"/>
            <p:nvPr/>
          </p:nvSpPr>
          <p:spPr>
            <a:xfrm>
              <a:off x="0" y="-95250"/>
              <a:ext cx="20482560" cy="2564130"/>
            </a:xfrm>
            <a:prstGeom prst="rect">
              <a:avLst/>
            </a:prstGeom>
          </p:spPr>
          <p:txBody>
            <a:bodyPr anchor="ctr" rtlCol="false" tIns="0" lIns="0" bIns="0" rIns="0"/>
            <a:lstStyle/>
            <a:p>
              <a:pPr algn="l">
                <a:lnSpc>
                  <a:spcPts val="3916"/>
                </a:lnSpc>
              </a:pPr>
              <a:r>
                <a:rPr lang="en-US" sz="2550" i="true">
                  <a:solidFill>
                    <a:srgbClr val="23262F"/>
                  </a:solidFill>
                  <a:latin typeface="Cambria Italics"/>
                  <a:ea typeface="Cambria Italics"/>
                  <a:cs typeface="Cambria Italics"/>
                  <a:sym typeface="Cambria Italics"/>
                </a:rPr>
                <a:t>“Someone deletes and rewrites audit-log entries to hide an unauthorized fund transfer.”</a:t>
              </a:r>
            </a:p>
          </p:txBody>
        </p:sp>
      </p:grpSp>
      <p:grpSp>
        <p:nvGrpSpPr>
          <p:cNvPr name="Group 16" id="16"/>
          <p:cNvGrpSpPr/>
          <p:nvPr/>
        </p:nvGrpSpPr>
        <p:grpSpPr>
          <a:xfrm rot="0">
            <a:off x="950595" y="5408295"/>
            <a:ext cx="5162550" cy="910590"/>
            <a:chOff x="0" y="0"/>
            <a:chExt cx="6883400" cy="1214120"/>
          </a:xfrm>
        </p:grpSpPr>
        <p:sp>
          <p:nvSpPr>
            <p:cNvPr name="Freeform 17" id="17"/>
            <p:cNvSpPr/>
            <p:nvPr/>
          </p:nvSpPr>
          <p:spPr>
            <a:xfrm flipH="false" flipV="false" rot="0">
              <a:off x="0" y="0"/>
              <a:ext cx="6883400" cy="1214120"/>
            </a:xfrm>
            <a:custGeom>
              <a:avLst/>
              <a:gdLst/>
              <a:ahLst/>
              <a:cxnLst/>
              <a:rect r="r" b="b" t="t" l="l"/>
              <a:pathLst>
                <a:path h="1214120" w="6883400">
                  <a:moveTo>
                    <a:pt x="0" y="168148"/>
                  </a:moveTo>
                  <a:cubicBezTo>
                    <a:pt x="0" y="75311"/>
                    <a:pt x="75311" y="0"/>
                    <a:pt x="168148" y="0"/>
                  </a:cubicBezTo>
                  <a:lnTo>
                    <a:pt x="6715252" y="0"/>
                  </a:lnTo>
                  <a:cubicBezTo>
                    <a:pt x="6808089" y="0"/>
                    <a:pt x="6883400" y="75311"/>
                    <a:pt x="6883400" y="168148"/>
                  </a:cubicBezTo>
                  <a:lnTo>
                    <a:pt x="6883400" y="1045972"/>
                  </a:lnTo>
                  <a:cubicBezTo>
                    <a:pt x="6883400" y="1138809"/>
                    <a:pt x="6808089" y="1214120"/>
                    <a:pt x="6715252" y="1214120"/>
                  </a:cubicBezTo>
                  <a:lnTo>
                    <a:pt x="168148" y="1214120"/>
                  </a:lnTo>
                  <a:cubicBezTo>
                    <a:pt x="75311" y="1214120"/>
                    <a:pt x="0" y="1138809"/>
                    <a:pt x="0" y="1045972"/>
                  </a:cubicBezTo>
                  <a:close/>
                </a:path>
              </a:pathLst>
            </a:custGeom>
            <a:solidFill>
              <a:srgbClr val="F4F7FC"/>
            </a:solidFill>
            <a:ln w="19050" cap="sq">
              <a:solidFill>
                <a:srgbClr val="D7DCEC"/>
              </a:solidFill>
              <a:prstDash val="solid"/>
              <a:miter/>
            </a:ln>
          </p:spPr>
        </p:sp>
      </p:grpSp>
      <p:grpSp>
        <p:nvGrpSpPr>
          <p:cNvPr name="Group 18" id="18"/>
          <p:cNvGrpSpPr/>
          <p:nvPr/>
        </p:nvGrpSpPr>
        <p:grpSpPr>
          <a:xfrm rot="0">
            <a:off x="960120" y="5417820"/>
            <a:ext cx="5143500" cy="891540"/>
            <a:chOff x="0" y="0"/>
            <a:chExt cx="6858000" cy="1188720"/>
          </a:xfrm>
        </p:grpSpPr>
        <p:sp>
          <p:nvSpPr>
            <p:cNvPr name="Freeform 19" id="19"/>
            <p:cNvSpPr/>
            <p:nvPr/>
          </p:nvSpPr>
          <p:spPr>
            <a:xfrm flipH="false" flipV="false" rot="0">
              <a:off x="0" y="0"/>
              <a:ext cx="6858000" cy="1188720"/>
            </a:xfrm>
            <a:custGeom>
              <a:avLst/>
              <a:gdLst/>
              <a:ahLst/>
              <a:cxnLst/>
              <a:rect r="r" b="b" t="t" l="l"/>
              <a:pathLst>
                <a:path h="1188720" w="6858000">
                  <a:moveTo>
                    <a:pt x="0" y="0"/>
                  </a:moveTo>
                  <a:lnTo>
                    <a:pt x="6858000" y="0"/>
                  </a:lnTo>
                  <a:lnTo>
                    <a:pt x="6858000" y="1188720"/>
                  </a:lnTo>
                  <a:lnTo>
                    <a:pt x="0" y="1188720"/>
                  </a:lnTo>
                  <a:close/>
                </a:path>
              </a:pathLst>
            </a:custGeom>
            <a:blipFill>
              <a:blip r:embed="rId3">
                <a:alphaModFix amt="0"/>
              </a:blip>
              <a:stretch>
                <a:fillRect l="0" t="-62413" r="0" b="-62413"/>
              </a:stretch>
            </a:blipFill>
          </p:spPr>
        </p:sp>
        <p:sp>
          <p:nvSpPr>
            <p:cNvPr name="TextBox 20" id="20"/>
            <p:cNvSpPr txBox="true"/>
            <p:nvPr/>
          </p:nvSpPr>
          <p:spPr>
            <a:xfrm>
              <a:off x="0" y="-47625"/>
              <a:ext cx="6858000" cy="1236345"/>
            </a:xfrm>
            <a:prstGeom prst="rect">
              <a:avLst/>
            </a:prstGeom>
          </p:spPr>
          <p:txBody>
            <a:bodyPr anchor="ctr" rtlCol="false" tIns="0" lIns="0" bIns="0" rIns="0"/>
            <a:lstStyle/>
            <a:p>
              <a:pPr algn="ctr">
                <a:lnSpc>
                  <a:spcPts val="2520"/>
                </a:lnSpc>
              </a:pPr>
              <a:r>
                <a:rPr lang="en-US" sz="2100">
                  <a:solidFill>
                    <a:srgbClr val="6B7280"/>
                  </a:solidFill>
                  <a:latin typeface="Calibri (MS)"/>
                  <a:ea typeface="Calibri (MS)"/>
                  <a:cs typeface="Calibri (MS)"/>
                  <a:sym typeface="Calibri (MS)"/>
                </a:rPr>
                <a:t>Confidentiality</a:t>
              </a:r>
            </a:p>
          </p:txBody>
        </p:sp>
      </p:grpSp>
      <p:grpSp>
        <p:nvGrpSpPr>
          <p:cNvPr name="Group 21" id="21"/>
          <p:cNvGrpSpPr/>
          <p:nvPr/>
        </p:nvGrpSpPr>
        <p:grpSpPr>
          <a:xfrm rot="0">
            <a:off x="6533007" y="5408295"/>
            <a:ext cx="5162550" cy="910590"/>
            <a:chOff x="0" y="0"/>
            <a:chExt cx="6883400" cy="1214120"/>
          </a:xfrm>
        </p:grpSpPr>
        <p:sp>
          <p:nvSpPr>
            <p:cNvPr name="Freeform 22" id="22"/>
            <p:cNvSpPr/>
            <p:nvPr/>
          </p:nvSpPr>
          <p:spPr>
            <a:xfrm flipH="false" flipV="false" rot="0">
              <a:off x="0" y="0"/>
              <a:ext cx="6883400" cy="1214120"/>
            </a:xfrm>
            <a:custGeom>
              <a:avLst/>
              <a:gdLst/>
              <a:ahLst/>
              <a:cxnLst/>
              <a:rect r="r" b="b" t="t" l="l"/>
              <a:pathLst>
                <a:path h="1214120" w="6883400">
                  <a:moveTo>
                    <a:pt x="0" y="168148"/>
                  </a:moveTo>
                  <a:cubicBezTo>
                    <a:pt x="0" y="75311"/>
                    <a:pt x="75311" y="0"/>
                    <a:pt x="168148" y="0"/>
                  </a:cubicBezTo>
                  <a:lnTo>
                    <a:pt x="6715252" y="0"/>
                  </a:lnTo>
                  <a:cubicBezTo>
                    <a:pt x="6808089" y="0"/>
                    <a:pt x="6883400" y="75311"/>
                    <a:pt x="6883400" y="168148"/>
                  </a:cubicBezTo>
                  <a:lnTo>
                    <a:pt x="6883400" y="1045972"/>
                  </a:lnTo>
                  <a:cubicBezTo>
                    <a:pt x="6883400" y="1138809"/>
                    <a:pt x="6808089" y="1214120"/>
                    <a:pt x="6715252" y="1214120"/>
                  </a:cubicBezTo>
                  <a:lnTo>
                    <a:pt x="168148" y="1214120"/>
                  </a:lnTo>
                  <a:cubicBezTo>
                    <a:pt x="75311" y="1214120"/>
                    <a:pt x="0" y="1138809"/>
                    <a:pt x="0" y="1045972"/>
                  </a:cubicBezTo>
                  <a:close/>
                </a:path>
              </a:pathLst>
            </a:custGeom>
            <a:solidFill>
              <a:srgbClr val="0F8A6E"/>
            </a:solidFill>
            <a:ln w="19050" cap="sq">
              <a:solidFill>
                <a:srgbClr val="0F8A6E"/>
              </a:solidFill>
              <a:prstDash val="solid"/>
              <a:miter/>
            </a:ln>
          </p:spPr>
        </p:sp>
      </p:grpSp>
      <p:grpSp>
        <p:nvGrpSpPr>
          <p:cNvPr name="Group 23" id="23"/>
          <p:cNvGrpSpPr/>
          <p:nvPr/>
        </p:nvGrpSpPr>
        <p:grpSpPr>
          <a:xfrm rot="0">
            <a:off x="6542532" y="5417820"/>
            <a:ext cx="5143500" cy="891540"/>
            <a:chOff x="0" y="0"/>
            <a:chExt cx="6858000" cy="1188720"/>
          </a:xfrm>
        </p:grpSpPr>
        <p:sp>
          <p:nvSpPr>
            <p:cNvPr name="Freeform 24" id="24"/>
            <p:cNvSpPr/>
            <p:nvPr/>
          </p:nvSpPr>
          <p:spPr>
            <a:xfrm flipH="false" flipV="false" rot="0">
              <a:off x="0" y="0"/>
              <a:ext cx="6858000" cy="1188720"/>
            </a:xfrm>
            <a:custGeom>
              <a:avLst/>
              <a:gdLst/>
              <a:ahLst/>
              <a:cxnLst/>
              <a:rect r="r" b="b" t="t" l="l"/>
              <a:pathLst>
                <a:path h="1188720" w="6858000">
                  <a:moveTo>
                    <a:pt x="0" y="0"/>
                  </a:moveTo>
                  <a:lnTo>
                    <a:pt x="6858000" y="0"/>
                  </a:lnTo>
                  <a:lnTo>
                    <a:pt x="6858000" y="1188720"/>
                  </a:lnTo>
                  <a:lnTo>
                    <a:pt x="0" y="1188720"/>
                  </a:lnTo>
                  <a:close/>
                </a:path>
              </a:pathLst>
            </a:custGeom>
            <a:blipFill>
              <a:blip r:embed="rId3">
                <a:alphaModFix amt="0"/>
              </a:blip>
              <a:stretch>
                <a:fillRect l="0" t="-62413" r="0" b="-62413"/>
              </a:stretch>
            </a:blipFill>
          </p:spPr>
        </p:sp>
        <p:sp>
          <p:nvSpPr>
            <p:cNvPr name="TextBox 25" id="25"/>
            <p:cNvSpPr txBox="true"/>
            <p:nvPr/>
          </p:nvSpPr>
          <p:spPr>
            <a:xfrm>
              <a:off x="0" y="-47625"/>
              <a:ext cx="6858000" cy="1236345"/>
            </a:xfrm>
            <a:prstGeom prst="rect">
              <a:avLst/>
            </a:prstGeom>
          </p:spPr>
          <p:txBody>
            <a:bodyPr anchor="ctr" rtlCol="false" tIns="0" lIns="0" bIns="0" rIns="0"/>
            <a:lstStyle/>
            <a:p>
              <a:pPr algn="ctr">
                <a:lnSpc>
                  <a:spcPts val="2520"/>
                </a:lnSpc>
              </a:pPr>
              <a:r>
                <a:rPr lang="en-US" sz="2100" b="true">
                  <a:solidFill>
                    <a:srgbClr val="FFFFFF"/>
                  </a:solidFill>
                  <a:latin typeface="Calibri (MS) Bold"/>
                  <a:ea typeface="Calibri (MS) Bold"/>
                  <a:cs typeface="Calibri (MS) Bold"/>
                  <a:sym typeface="Calibri (MS) Bold"/>
                </a:rPr>
                <a:t>✓  Integrity</a:t>
              </a:r>
            </a:p>
          </p:txBody>
        </p:sp>
      </p:grpSp>
      <p:grpSp>
        <p:nvGrpSpPr>
          <p:cNvPr name="Group 26" id="26"/>
          <p:cNvGrpSpPr/>
          <p:nvPr/>
        </p:nvGrpSpPr>
        <p:grpSpPr>
          <a:xfrm rot="0">
            <a:off x="12115419" y="5408295"/>
            <a:ext cx="5162550" cy="910590"/>
            <a:chOff x="0" y="0"/>
            <a:chExt cx="6883400" cy="1214120"/>
          </a:xfrm>
        </p:grpSpPr>
        <p:sp>
          <p:nvSpPr>
            <p:cNvPr name="Freeform 27" id="27"/>
            <p:cNvSpPr/>
            <p:nvPr/>
          </p:nvSpPr>
          <p:spPr>
            <a:xfrm flipH="false" flipV="false" rot="0">
              <a:off x="0" y="0"/>
              <a:ext cx="6883400" cy="1214120"/>
            </a:xfrm>
            <a:custGeom>
              <a:avLst/>
              <a:gdLst/>
              <a:ahLst/>
              <a:cxnLst/>
              <a:rect r="r" b="b" t="t" l="l"/>
              <a:pathLst>
                <a:path h="1214120" w="6883400">
                  <a:moveTo>
                    <a:pt x="0" y="168148"/>
                  </a:moveTo>
                  <a:cubicBezTo>
                    <a:pt x="0" y="75311"/>
                    <a:pt x="75311" y="0"/>
                    <a:pt x="168148" y="0"/>
                  </a:cubicBezTo>
                  <a:lnTo>
                    <a:pt x="6715252" y="0"/>
                  </a:lnTo>
                  <a:cubicBezTo>
                    <a:pt x="6808089" y="0"/>
                    <a:pt x="6883400" y="75311"/>
                    <a:pt x="6883400" y="168148"/>
                  </a:cubicBezTo>
                  <a:lnTo>
                    <a:pt x="6883400" y="1045972"/>
                  </a:lnTo>
                  <a:cubicBezTo>
                    <a:pt x="6883400" y="1138809"/>
                    <a:pt x="6808089" y="1214120"/>
                    <a:pt x="6715252" y="1214120"/>
                  </a:cubicBezTo>
                  <a:lnTo>
                    <a:pt x="168148" y="1214120"/>
                  </a:lnTo>
                  <a:cubicBezTo>
                    <a:pt x="75311" y="1214120"/>
                    <a:pt x="0" y="1138809"/>
                    <a:pt x="0" y="1045972"/>
                  </a:cubicBezTo>
                  <a:close/>
                </a:path>
              </a:pathLst>
            </a:custGeom>
            <a:solidFill>
              <a:srgbClr val="F4F7FC"/>
            </a:solidFill>
            <a:ln w="19050" cap="sq">
              <a:solidFill>
                <a:srgbClr val="D7DCEC"/>
              </a:solidFill>
              <a:prstDash val="solid"/>
              <a:miter/>
            </a:ln>
          </p:spPr>
        </p:sp>
      </p:grpSp>
      <p:grpSp>
        <p:nvGrpSpPr>
          <p:cNvPr name="Group 28" id="28"/>
          <p:cNvGrpSpPr/>
          <p:nvPr/>
        </p:nvGrpSpPr>
        <p:grpSpPr>
          <a:xfrm rot="0">
            <a:off x="12124944" y="5417820"/>
            <a:ext cx="5143500" cy="891540"/>
            <a:chOff x="0" y="0"/>
            <a:chExt cx="6858000" cy="1188720"/>
          </a:xfrm>
        </p:grpSpPr>
        <p:sp>
          <p:nvSpPr>
            <p:cNvPr name="Freeform 29" id="29"/>
            <p:cNvSpPr/>
            <p:nvPr/>
          </p:nvSpPr>
          <p:spPr>
            <a:xfrm flipH="false" flipV="false" rot="0">
              <a:off x="0" y="0"/>
              <a:ext cx="6858000" cy="1188720"/>
            </a:xfrm>
            <a:custGeom>
              <a:avLst/>
              <a:gdLst/>
              <a:ahLst/>
              <a:cxnLst/>
              <a:rect r="r" b="b" t="t" l="l"/>
              <a:pathLst>
                <a:path h="1188720" w="6858000">
                  <a:moveTo>
                    <a:pt x="0" y="0"/>
                  </a:moveTo>
                  <a:lnTo>
                    <a:pt x="6858000" y="0"/>
                  </a:lnTo>
                  <a:lnTo>
                    <a:pt x="6858000" y="1188720"/>
                  </a:lnTo>
                  <a:lnTo>
                    <a:pt x="0" y="1188720"/>
                  </a:lnTo>
                  <a:close/>
                </a:path>
              </a:pathLst>
            </a:custGeom>
            <a:blipFill>
              <a:blip r:embed="rId3">
                <a:alphaModFix amt="0"/>
              </a:blip>
              <a:stretch>
                <a:fillRect l="0" t="-62413" r="0" b="-62413"/>
              </a:stretch>
            </a:blipFill>
          </p:spPr>
        </p:sp>
        <p:sp>
          <p:nvSpPr>
            <p:cNvPr name="TextBox 30" id="30"/>
            <p:cNvSpPr txBox="true"/>
            <p:nvPr/>
          </p:nvSpPr>
          <p:spPr>
            <a:xfrm>
              <a:off x="0" y="-47625"/>
              <a:ext cx="6858000" cy="1236345"/>
            </a:xfrm>
            <a:prstGeom prst="rect">
              <a:avLst/>
            </a:prstGeom>
          </p:spPr>
          <p:txBody>
            <a:bodyPr anchor="ctr" rtlCol="false" tIns="0" lIns="0" bIns="0" rIns="0"/>
            <a:lstStyle/>
            <a:p>
              <a:pPr algn="ctr">
                <a:lnSpc>
                  <a:spcPts val="2520"/>
                </a:lnSpc>
              </a:pPr>
              <a:r>
                <a:rPr lang="en-US" sz="2100">
                  <a:solidFill>
                    <a:srgbClr val="6B7280"/>
                  </a:solidFill>
                  <a:latin typeface="Calibri (MS)"/>
                  <a:ea typeface="Calibri (MS)"/>
                  <a:cs typeface="Calibri (MS)"/>
                  <a:sym typeface="Calibri (MS)"/>
                </a:rPr>
                <a:t>Availability</a:t>
              </a:r>
            </a:p>
          </p:txBody>
        </p:sp>
      </p:grpSp>
      <p:grpSp>
        <p:nvGrpSpPr>
          <p:cNvPr name="Group 31" id="31"/>
          <p:cNvGrpSpPr/>
          <p:nvPr/>
        </p:nvGrpSpPr>
        <p:grpSpPr>
          <a:xfrm rot="0">
            <a:off x="950595" y="6779895"/>
            <a:ext cx="16341090" cy="2145030"/>
            <a:chOff x="0" y="0"/>
            <a:chExt cx="21788120" cy="2860040"/>
          </a:xfrm>
        </p:grpSpPr>
        <p:sp>
          <p:nvSpPr>
            <p:cNvPr name="Freeform 32" id="32"/>
            <p:cNvSpPr/>
            <p:nvPr/>
          </p:nvSpPr>
          <p:spPr>
            <a:xfrm flipH="false" flipV="false" rot="0">
              <a:off x="0" y="0"/>
              <a:ext cx="21788120" cy="2860040"/>
            </a:xfrm>
            <a:custGeom>
              <a:avLst/>
              <a:gdLst/>
              <a:ahLst/>
              <a:cxnLst/>
              <a:rect r="r" b="b" t="t" l="l"/>
              <a:pathLst>
                <a:path h="2860040" w="21788120">
                  <a:moveTo>
                    <a:pt x="0" y="184531"/>
                  </a:moveTo>
                  <a:cubicBezTo>
                    <a:pt x="0" y="82677"/>
                    <a:pt x="82677" y="0"/>
                    <a:pt x="184531" y="0"/>
                  </a:cubicBezTo>
                  <a:lnTo>
                    <a:pt x="21603588" y="0"/>
                  </a:lnTo>
                  <a:cubicBezTo>
                    <a:pt x="21705443" y="0"/>
                    <a:pt x="21788120" y="82677"/>
                    <a:pt x="21788120" y="184531"/>
                  </a:cubicBezTo>
                  <a:lnTo>
                    <a:pt x="21788120" y="2675509"/>
                  </a:lnTo>
                  <a:cubicBezTo>
                    <a:pt x="21788120" y="2777363"/>
                    <a:pt x="21705443" y="2860040"/>
                    <a:pt x="21603588" y="2860040"/>
                  </a:cubicBezTo>
                  <a:lnTo>
                    <a:pt x="184531" y="2860040"/>
                  </a:lnTo>
                  <a:cubicBezTo>
                    <a:pt x="82677" y="2860040"/>
                    <a:pt x="0" y="2777363"/>
                    <a:pt x="0" y="2675509"/>
                  </a:cubicBezTo>
                  <a:close/>
                </a:path>
              </a:pathLst>
            </a:custGeom>
            <a:solidFill>
              <a:srgbClr val="FBF9F4"/>
            </a:solidFill>
            <a:ln w="19050" cap="sq">
              <a:solidFill>
                <a:srgbClr val="EFE6D2"/>
              </a:solidFill>
              <a:prstDash val="solid"/>
              <a:miter/>
            </a:ln>
          </p:spPr>
        </p:sp>
      </p:grpSp>
      <p:sp>
        <p:nvSpPr>
          <p:cNvPr name="TextBox 33" id="33"/>
          <p:cNvSpPr txBox="true"/>
          <p:nvPr/>
        </p:nvSpPr>
        <p:spPr>
          <a:xfrm rot="0">
            <a:off x="1463040" y="6977253"/>
            <a:ext cx="15316200" cy="1659255"/>
          </a:xfrm>
          <a:prstGeom prst="rect">
            <a:avLst/>
          </a:prstGeom>
        </p:spPr>
        <p:txBody>
          <a:bodyPr anchor="t" rtlCol="false" tIns="0" lIns="0" bIns="0" rIns="0">
            <a:spAutoFit/>
          </a:bodyPr>
          <a:lstStyle/>
          <a:p>
            <a:pPr algn="l">
              <a:lnSpc>
                <a:spcPts val="3159"/>
              </a:lnSpc>
            </a:pPr>
            <a:r>
              <a:rPr lang="en-US" sz="2025">
                <a:solidFill>
                  <a:srgbClr val="23262F"/>
                </a:solidFill>
                <a:latin typeface="Calibri (MS)"/>
                <a:ea typeface="Calibri (MS)"/>
                <a:cs typeface="Calibri (MS)"/>
                <a:sym typeface="Calibri (MS)"/>
              </a:rPr>
              <a:t>The records no longer reflect what actually happened. That's a direct attack on Integrity — specifically to cover something up.</a:t>
            </a:r>
          </a:p>
        </p:txBody>
      </p:sp>
      <p:grpSp>
        <p:nvGrpSpPr>
          <p:cNvPr name="Group 34" id="34"/>
          <p:cNvGrpSpPr/>
          <p:nvPr/>
        </p:nvGrpSpPr>
        <p:grpSpPr>
          <a:xfrm rot="0">
            <a:off x="685800" y="9710928"/>
            <a:ext cx="10972800" cy="411480"/>
            <a:chOff x="0" y="0"/>
            <a:chExt cx="14630400" cy="548640"/>
          </a:xfrm>
        </p:grpSpPr>
        <p:sp>
          <p:nvSpPr>
            <p:cNvPr name="Freeform 35" id="35"/>
            <p:cNvSpPr/>
            <p:nvPr/>
          </p:nvSpPr>
          <p:spPr>
            <a:xfrm flipH="false" flipV="false" rot="0">
              <a:off x="0" y="0"/>
              <a:ext cx="14630400" cy="548640"/>
            </a:xfrm>
            <a:custGeom>
              <a:avLst/>
              <a:gdLst/>
              <a:ahLst/>
              <a:cxnLst/>
              <a:rect r="r" b="b" t="t" l="l"/>
              <a:pathLst>
                <a:path h="548640" w="14630400">
                  <a:moveTo>
                    <a:pt x="0" y="0"/>
                  </a:moveTo>
                  <a:lnTo>
                    <a:pt x="14630400" y="0"/>
                  </a:lnTo>
                  <a:lnTo>
                    <a:pt x="14630400" y="548640"/>
                  </a:lnTo>
                  <a:lnTo>
                    <a:pt x="0" y="548640"/>
                  </a:lnTo>
                  <a:close/>
                </a:path>
              </a:pathLst>
            </a:custGeom>
            <a:blipFill>
              <a:blip r:embed="rId3">
                <a:alphaModFix amt="0"/>
              </a:blip>
              <a:stretch>
                <a:fillRect l="0" t="-469601" r="0" b="-469601"/>
              </a:stretch>
            </a:blipFill>
          </p:spPr>
        </p:sp>
        <p:sp>
          <p:nvSpPr>
            <p:cNvPr name="TextBox 36" id="36"/>
            <p:cNvSpPr txBox="true"/>
            <p:nvPr/>
          </p:nvSpPr>
          <p:spPr>
            <a:xfrm>
              <a:off x="0" y="-38100"/>
              <a:ext cx="14630400" cy="586740"/>
            </a:xfrm>
            <a:prstGeom prst="rect">
              <a:avLst/>
            </a:prstGeom>
          </p:spPr>
          <p:txBody>
            <a:bodyPr anchor="ctr" rtlCol="false" tIns="0" lIns="0" bIns="0" rIns="0"/>
            <a:lstStyle/>
            <a:p>
              <a:pPr algn="l">
                <a:lnSpc>
                  <a:spcPts val="1800"/>
                </a:lnSpc>
              </a:pPr>
              <a:r>
                <a:rPr lang="en-US" sz="1500">
                  <a:solidFill>
                    <a:srgbClr val="6B7280"/>
                  </a:solidFill>
                  <a:latin typeface="Calibri (MS)"/>
                  <a:ea typeface="Calibri (MS)"/>
                  <a:cs typeface="Calibri (MS)"/>
                  <a:sym typeface="Calibri (MS)"/>
                </a:rPr>
                <a:t>Davao del Norte Provincial Government — Cybersecurity Seminar</a:t>
              </a:r>
            </a:p>
          </p:txBody>
        </p:sp>
      </p:grpSp>
      <p:grpSp>
        <p:nvGrpSpPr>
          <p:cNvPr name="Group 37" id="37"/>
          <p:cNvGrpSpPr/>
          <p:nvPr/>
        </p:nvGrpSpPr>
        <p:grpSpPr>
          <a:xfrm rot="0">
            <a:off x="16911828" y="9710928"/>
            <a:ext cx="685800" cy="411480"/>
            <a:chOff x="0" y="0"/>
            <a:chExt cx="914400" cy="548640"/>
          </a:xfrm>
        </p:grpSpPr>
        <p:sp>
          <p:nvSpPr>
            <p:cNvPr name="Freeform 38" id="38"/>
            <p:cNvSpPr/>
            <p:nvPr/>
          </p:nvSpPr>
          <p:spPr>
            <a:xfrm flipH="false" flipV="false" rot="0">
              <a:off x="0" y="0"/>
              <a:ext cx="914400" cy="548640"/>
            </a:xfrm>
            <a:custGeom>
              <a:avLst/>
              <a:gdLst/>
              <a:ahLst/>
              <a:cxnLst/>
              <a:rect r="r" b="b" t="t" l="l"/>
              <a:pathLst>
                <a:path h="548640" w="914400">
                  <a:moveTo>
                    <a:pt x="0" y="0"/>
                  </a:moveTo>
                  <a:lnTo>
                    <a:pt x="914400" y="0"/>
                  </a:lnTo>
                  <a:lnTo>
                    <a:pt x="914400" y="548640"/>
                  </a:lnTo>
                  <a:lnTo>
                    <a:pt x="0" y="548640"/>
                  </a:lnTo>
                  <a:close/>
                </a:path>
              </a:pathLst>
            </a:custGeom>
            <a:blipFill>
              <a:blip r:embed="rId3">
                <a:alphaModFix amt="0"/>
              </a:blip>
              <a:stretch>
                <a:fillRect l="-26982" t="0" r="-26982" b="0"/>
              </a:stretch>
            </a:blipFill>
          </p:spPr>
        </p:sp>
        <p:sp>
          <p:nvSpPr>
            <p:cNvPr name="TextBox 39" id="39"/>
            <p:cNvSpPr txBox="true"/>
            <p:nvPr/>
          </p:nvSpPr>
          <p:spPr>
            <a:xfrm>
              <a:off x="0" y="-38100"/>
              <a:ext cx="914400" cy="586740"/>
            </a:xfrm>
            <a:prstGeom prst="rect">
              <a:avLst/>
            </a:prstGeom>
          </p:spPr>
          <p:txBody>
            <a:bodyPr anchor="ctr" rtlCol="false" tIns="0" lIns="0" bIns="0" rIns="0"/>
            <a:lstStyle/>
            <a:p>
              <a:pPr algn="r">
                <a:lnSpc>
                  <a:spcPts val="1800"/>
                </a:lnSpc>
              </a:pPr>
              <a:r>
                <a:rPr lang="en-US" sz="1500">
                  <a:solidFill>
                    <a:srgbClr val="6B7280"/>
                  </a:solidFill>
                  <a:latin typeface="Calibri (MS)"/>
                  <a:ea typeface="Calibri (MS)"/>
                  <a:cs typeface="Calibri (MS)"/>
                  <a:sym typeface="Calibri (MS)"/>
                </a:rPr>
                <a:t>48</a:t>
              </a:r>
            </a:p>
          </p:txBody>
        </p:sp>
      </p:grpSp>
    </p:spTree>
  </p:cSld>
  <p:clrMapOvr>
    <a:masterClrMapping/>
  </p:clrMapOvr>
</p:sld>
</file>

<file path=ppt/slides/slide5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60120" y="685800"/>
            <a:ext cx="13716000" cy="411480"/>
            <a:chOff x="0" y="0"/>
            <a:chExt cx="18288000" cy="548640"/>
          </a:xfrm>
        </p:grpSpPr>
        <p:sp>
          <p:nvSpPr>
            <p:cNvPr name="Freeform 3" id="3"/>
            <p:cNvSpPr/>
            <p:nvPr/>
          </p:nvSpPr>
          <p:spPr>
            <a:xfrm flipH="false" flipV="false" rot="0">
              <a:off x="0" y="0"/>
              <a:ext cx="18288000" cy="548640"/>
            </a:xfrm>
            <a:custGeom>
              <a:avLst/>
              <a:gdLst/>
              <a:ahLst/>
              <a:cxnLst/>
              <a:rect r="r" b="b" t="t" l="l"/>
              <a:pathLst>
                <a:path h="548640" w="18288000">
                  <a:moveTo>
                    <a:pt x="0" y="0"/>
                  </a:moveTo>
                  <a:lnTo>
                    <a:pt x="18288000" y="0"/>
                  </a:lnTo>
                  <a:lnTo>
                    <a:pt x="18288000" y="548640"/>
                  </a:lnTo>
                  <a:lnTo>
                    <a:pt x="0" y="548640"/>
                  </a:lnTo>
                  <a:close/>
                </a:path>
              </a:pathLst>
            </a:custGeom>
            <a:blipFill>
              <a:blip r:embed="rId3">
                <a:alphaModFix amt="0"/>
              </a:blip>
              <a:stretch>
                <a:fillRect l="0" t="-599501" r="0" b="-599501"/>
              </a:stretch>
            </a:blipFill>
          </p:spPr>
        </p:sp>
        <p:sp>
          <p:nvSpPr>
            <p:cNvPr name="TextBox 4" id="4"/>
            <p:cNvSpPr txBox="true"/>
            <p:nvPr/>
          </p:nvSpPr>
          <p:spPr>
            <a:xfrm>
              <a:off x="0" y="-38100"/>
              <a:ext cx="18288000" cy="586740"/>
            </a:xfrm>
            <a:prstGeom prst="rect">
              <a:avLst/>
            </a:prstGeom>
          </p:spPr>
          <p:txBody>
            <a:bodyPr anchor="ctr" rtlCol="false" tIns="0" lIns="0" bIns="0" rIns="0"/>
            <a:lstStyle/>
            <a:p>
              <a:pPr algn="l">
                <a:lnSpc>
                  <a:spcPts val="2160"/>
                </a:lnSpc>
              </a:pPr>
              <a:r>
                <a:rPr lang="en-US" b="true" sz="1800" spc="225">
                  <a:solidFill>
                    <a:srgbClr val="00B4D8"/>
                  </a:solidFill>
                  <a:latin typeface="Calibri (MS) Bold"/>
                  <a:ea typeface="Calibri (MS) Bold"/>
                  <a:cs typeface="Calibri (MS) Bold"/>
                  <a:sym typeface="Calibri (MS) Bold"/>
                </a:rPr>
                <a:t>CIA TRIAD SORT · SCENARIO</a:t>
              </a:r>
            </a:p>
          </p:txBody>
        </p:sp>
      </p:grpSp>
      <p:grpSp>
        <p:nvGrpSpPr>
          <p:cNvPr name="Group 5" id="5"/>
          <p:cNvGrpSpPr/>
          <p:nvPr/>
        </p:nvGrpSpPr>
        <p:grpSpPr>
          <a:xfrm rot="0">
            <a:off x="960120" y="1069848"/>
            <a:ext cx="10972800" cy="822960"/>
            <a:chOff x="0" y="0"/>
            <a:chExt cx="14630400" cy="1097280"/>
          </a:xfrm>
        </p:grpSpPr>
        <p:sp>
          <p:nvSpPr>
            <p:cNvPr name="Freeform 6" id="6"/>
            <p:cNvSpPr/>
            <p:nvPr/>
          </p:nvSpPr>
          <p:spPr>
            <a:xfrm flipH="false" flipV="false" rot="0">
              <a:off x="0" y="0"/>
              <a:ext cx="14630400" cy="1097280"/>
            </a:xfrm>
            <a:custGeom>
              <a:avLst/>
              <a:gdLst/>
              <a:ahLst/>
              <a:cxnLst/>
              <a:rect r="r" b="b" t="t" l="l"/>
              <a:pathLst>
                <a:path h="1097280" w="14630400">
                  <a:moveTo>
                    <a:pt x="0" y="0"/>
                  </a:moveTo>
                  <a:lnTo>
                    <a:pt x="14630400" y="0"/>
                  </a:lnTo>
                  <a:lnTo>
                    <a:pt x="14630400" y="1097280"/>
                  </a:lnTo>
                  <a:lnTo>
                    <a:pt x="0" y="1097280"/>
                  </a:lnTo>
                  <a:close/>
                </a:path>
              </a:pathLst>
            </a:custGeom>
            <a:blipFill>
              <a:blip r:embed="rId3">
                <a:alphaModFix amt="0"/>
              </a:blip>
              <a:stretch>
                <a:fillRect l="0" t="-209800" r="0" b="-209800"/>
              </a:stretch>
            </a:blipFill>
          </p:spPr>
        </p:sp>
        <p:sp>
          <p:nvSpPr>
            <p:cNvPr name="TextBox 7" id="7"/>
            <p:cNvSpPr txBox="true"/>
            <p:nvPr/>
          </p:nvSpPr>
          <p:spPr>
            <a:xfrm>
              <a:off x="0" y="0"/>
              <a:ext cx="14630400" cy="1097280"/>
            </a:xfrm>
            <a:prstGeom prst="rect">
              <a:avLst/>
            </a:prstGeom>
          </p:spPr>
          <p:txBody>
            <a:bodyPr anchor="ctr" rtlCol="false" tIns="0" lIns="0" bIns="0" rIns="0"/>
            <a:lstStyle/>
            <a:p>
              <a:pPr algn="l">
                <a:lnSpc>
                  <a:spcPts val="4680"/>
                </a:lnSpc>
              </a:pPr>
              <a:r>
                <a:rPr lang="en-US" sz="3900" b="true">
                  <a:solidFill>
                    <a:srgbClr val="1E2761"/>
                  </a:solidFill>
                  <a:latin typeface="Cambria Bold"/>
                  <a:ea typeface="Cambria Bold"/>
                  <a:cs typeface="Cambria Bold"/>
                  <a:sym typeface="Cambria Bold"/>
                </a:rPr>
                <a:t>Scenario 6</a:t>
              </a:r>
            </a:p>
          </p:txBody>
        </p:sp>
      </p:grpSp>
      <p:grpSp>
        <p:nvGrpSpPr>
          <p:cNvPr name="Group 8" id="8"/>
          <p:cNvGrpSpPr/>
          <p:nvPr/>
        </p:nvGrpSpPr>
        <p:grpSpPr>
          <a:xfrm rot="0">
            <a:off x="960120" y="1810512"/>
            <a:ext cx="8229600" cy="411480"/>
            <a:chOff x="0" y="0"/>
            <a:chExt cx="10972800" cy="548640"/>
          </a:xfrm>
        </p:grpSpPr>
        <p:sp>
          <p:nvSpPr>
            <p:cNvPr name="Freeform 9" id="9"/>
            <p:cNvSpPr/>
            <p:nvPr/>
          </p:nvSpPr>
          <p:spPr>
            <a:xfrm flipH="false" flipV="false" rot="0">
              <a:off x="0" y="0"/>
              <a:ext cx="10972800" cy="548640"/>
            </a:xfrm>
            <a:custGeom>
              <a:avLst/>
              <a:gdLst/>
              <a:ahLst/>
              <a:cxnLst/>
              <a:rect r="r" b="b" t="t" l="l"/>
              <a:pathLst>
                <a:path h="548640" w="10972800">
                  <a:moveTo>
                    <a:pt x="0" y="0"/>
                  </a:moveTo>
                  <a:lnTo>
                    <a:pt x="10972800" y="0"/>
                  </a:lnTo>
                  <a:lnTo>
                    <a:pt x="10972800" y="548640"/>
                  </a:lnTo>
                  <a:lnTo>
                    <a:pt x="0" y="548640"/>
                  </a:lnTo>
                  <a:close/>
                </a:path>
              </a:pathLst>
            </a:custGeom>
            <a:blipFill>
              <a:blip r:embed="rId3">
                <a:alphaModFix amt="0"/>
              </a:blip>
              <a:stretch>
                <a:fillRect l="0" t="-339700" r="0" b="-339700"/>
              </a:stretch>
            </a:blipFill>
          </p:spPr>
        </p:sp>
        <p:sp>
          <p:nvSpPr>
            <p:cNvPr name="TextBox 10" id="10"/>
            <p:cNvSpPr txBox="true"/>
            <p:nvPr/>
          </p:nvSpPr>
          <p:spPr>
            <a:xfrm>
              <a:off x="0" y="-28575"/>
              <a:ext cx="10972800" cy="577215"/>
            </a:xfrm>
            <a:prstGeom prst="rect">
              <a:avLst/>
            </a:prstGeom>
          </p:spPr>
          <p:txBody>
            <a:bodyPr anchor="ctr" rtlCol="false" tIns="0" lIns="0" bIns="0" rIns="0"/>
            <a:lstStyle/>
            <a:p>
              <a:pPr algn="l">
                <a:lnSpc>
                  <a:spcPts val="1980"/>
                </a:lnSpc>
              </a:pPr>
              <a:r>
                <a:rPr lang="en-US" sz="1650">
                  <a:solidFill>
                    <a:srgbClr val="6B7280"/>
                  </a:solidFill>
                  <a:latin typeface="Calibri (MS)"/>
                  <a:ea typeface="Calibri (MS)"/>
                  <a:cs typeface="Calibri (MS)"/>
                  <a:sym typeface="Calibri (MS)"/>
                </a:rPr>
                <a:t>6 of 12</a:t>
              </a:r>
            </a:p>
          </p:txBody>
        </p:sp>
      </p:grpSp>
      <p:grpSp>
        <p:nvGrpSpPr>
          <p:cNvPr name="Group 11" id="11"/>
          <p:cNvGrpSpPr/>
          <p:nvPr/>
        </p:nvGrpSpPr>
        <p:grpSpPr>
          <a:xfrm rot="0">
            <a:off x="960120" y="2537460"/>
            <a:ext cx="16322040" cy="2811780"/>
            <a:chOff x="0" y="0"/>
            <a:chExt cx="21762720" cy="3749040"/>
          </a:xfrm>
        </p:grpSpPr>
        <p:sp>
          <p:nvSpPr>
            <p:cNvPr name="Freeform 12" id="12"/>
            <p:cNvSpPr/>
            <p:nvPr/>
          </p:nvSpPr>
          <p:spPr>
            <a:xfrm flipH="false" flipV="false" rot="0">
              <a:off x="0" y="0"/>
              <a:ext cx="21762720" cy="3749040"/>
            </a:xfrm>
            <a:custGeom>
              <a:avLst/>
              <a:gdLst/>
              <a:ahLst/>
              <a:cxnLst/>
              <a:rect r="r" b="b" t="t" l="l"/>
              <a:pathLst>
                <a:path h="3749040" w="21762720">
                  <a:moveTo>
                    <a:pt x="0" y="182880"/>
                  </a:moveTo>
                  <a:cubicBezTo>
                    <a:pt x="0" y="81915"/>
                    <a:pt x="81915" y="0"/>
                    <a:pt x="182880" y="0"/>
                  </a:cubicBezTo>
                  <a:lnTo>
                    <a:pt x="21579839" y="0"/>
                  </a:lnTo>
                  <a:cubicBezTo>
                    <a:pt x="21680804" y="0"/>
                    <a:pt x="21762720" y="81915"/>
                    <a:pt x="21762720" y="182880"/>
                  </a:cubicBezTo>
                  <a:lnTo>
                    <a:pt x="21762720" y="3566160"/>
                  </a:lnTo>
                  <a:cubicBezTo>
                    <a:pt x="21762720" y="3667125"/>
                    <a:pt x="21680804" y="3749040"/>
                    <a:pt x="21579839" y="3749040"/>
                  </a:cubicBezTo>
                  <a:lnTo>
                    <a:pt x="182880" y="3749040"/>
                  </a:lnTo>
                  <a:cubicBezTo>
                    <a:pt x="81915" y="3749040"/>
                    <a:pt x="0" y="3667125"/>
                    <a:pt x="0" y="3566160"/>
                  </a:cubicBezTo>
                  <a:close/>
                </a:path>
              </a:pathLst>
            </a:custGeom>
            <a:solidFill>
              <a:srgbClr val="F4F7FC"/>
            </a:solidFill>
          </p:spPr>
        </p:sp>
      </p:grpSp>
      <p:grpSp>
        <p:nvGrpSpPr>
          <p:cNvPr name="Group 13" id="13"/>
          <p:cNvGrpSpPr/>
          <p:nvPr/>
        </p:nvGrpSpPr>
        <p:grpSpPr>
          <a:xfrm rot="0">
            <a:off x="1440180" y="2811780"/>
            <a:ext cx="15361920" cy="2263140"/>
            <a:chOff x="0" y="0"/>
            <a:chExt cx="20482560" cy="3017520"/>
          </a:xfrm>
        </p:grpSpPr>
        <p:sp>
          <p:nvSpPr>
            <p:cNvPr name="Freeform 14" id="14"/>
            <p:cNvSpPr/>
            <p:nvPr/>
          </p:nvSpPr>
          <p:spPr>
            <a:xfrm flipH="false" flipV="false" rot="0">
              <a:off x="0" y="0"/>
              <a:ext cx="20482561" cy="3017520"/>
            </a:xfrm>
            <a:custGeom>
              <a:avLst/>
              <a:gdLst/>
              <a:ahLst/>
              <a:cxnLst/>
              <a:rect r="r" b="b" t="t" l="l"/>
              <a:pathLst>
                <a:path h="3017520" w="20482561">
                  <a:moveTo>
                    <a:pt x="0" y="0"/>
                  </a:moveTo>
                  <a:lnTo>
                    <a:pt x="20482561" y="0"/>
                  </a:lnTo>
                  <a:lnTo>
                    <a:pt x="20482561" y="3017520"/>
                  </a:lnTo>
                  <a:lnTo>
                    <a:pt x="0" y="3017520"/>
                  </a:lnTo>
                  <a:close/>
                </a:path>
              </a:pathLst>
            </a:custGeom>
            <a:blipFill>
              <a:blip r:embed="rId3">
                <a:alphaModFix amt="0"/>
              </a:blip>
              <a:stretch>
                <a:fillRect l="0" t="-82262" r="0" b="-82262"/>
              </a:stretch>
            </a:blipFill>
          </p:spPr>
        </p:sp>
        <p:sp>
          <p:nvSpPr>
            <p:cNvPr name="TextBox 15" id="15"/>
            <p:cNvSpPr txBox="true"/>
            <p:nvPr/>
          </p:nvSpPr>
          <p:spPr>
            <a:xfrm>
              <a:off x="0" y="-104775"/>
              <a:ext cx="20482560" cy="3122295"/>
            </a:xfrm>
            <a:prstGeom prst="rect">
              <a:avLst/>
            </a:prstGeom>
          </p:spPr>
          <p:txBody>
            <a:bodyPr anchor="ctr" rtlCol="false" tIns="0" lIns="0" bIns="0" rIns="0"/>
            <a:lstStyle/>
            <a:p>
              <a:pPr algn="l">
                <a:lnSpc>
                  <a:spcPts val="4147"/>
                </a:lnSpc>
              </a:pPr>
              <a:r>
                <a:rPr lang="en-US" sz="2700" i="true">
                  <a:solidFill>
                    <a:srgbClr val="23262F"/>
                  </a:solidFill>
                  <a:latin typeface="Cambria Italics"/>
                  <a:ea typeface="Cambria Italics"/>
                  <a:cs typeface="Cambria Italics"/>
                  <a:sym typeface="Cambria Italics"/>
                </a:rPr>
                <a:t>“Ransomware encrypts the permit-issuance database. Staff can't open a single record until it's paid or restored.”</a:t>
              </a:r>
            </a:p>
          </p:txBody>
        </p:sp>
      </p:grpSp>
      <p:sp>
        <p:nvSpPr>
          <p:cNvPr name="TextBox 16" id="16"/>
          <p:cNvSpPr txBox="true"/>
          <p:nvPr/>
        </p:nvSpPr>
        <p:spPr>
          <a:xfrm rot="0">
            <a:off x="1051560" y="5604510"/>
            <a:ext cx="16139160" cy="1276350"/>
          </a:xfrm>
          <a:prstGeom prst="rect">
            <a:avLst/>
          </a:prstGeom>
        </p:spPr>
        <p:txBody>
          <a:bodyPr anchor="t" rtlCol="false" tIns="0" lIns="0" bIns="0" rIns="0">
            <a:spAutoFit/>
          </a:bodyPr>
          <a:lstStyle/>
          <a:p>
            <a:pPr algn="ctr">
              <a:lnSpc>
                <a:spcPts val="3402"/>
              </a:lnSpc>
            </a:pPr>
            <a:r>
              <a:rPr lang="en-US" sz="2100" i="true">
                <a:solidFill>
                  <a:srgbClr val="6B7280"/>
                </a:solidFill>
                <a:latin typeface="Calibri (MS) Italics"/>
                <a:ea typeface="Calibri (MS) Italics"/>
                <a:cs typeface="Calibri (MS) Italics"/>
                <a:sym typeface="Calibri (MS) Italics"/>
              </a:rPr>
              <a:t>Which does this break — Confidentiality, Integrity, or Availability?</a:t>
            </a:r>
          </a:p>
          <a:p>
            <a:pPr algn="ctr">
              <a:lnSpc>
                <a:spcPts val="3402"/>
              </a:lnSpc>
            </a:pPr>
            <a:r>
              <a:rPr lang="en-US" sz="2100" i="true">
                <a:solidFill>
                  <a:srgbClr val="6B7280"/>
                </a:solidFill>
                <a:latin typeface="Calibri (MS) Italics"/>
                <a:ea typeface="Calibri (MS) Italics"/>
                <a:cs typeface="Calibri (MS) Italics"/>
                <a:sym typeface="Calibri (MS) Italics"/>
              </a:rPr>
              <a:t>Some break more than one. Discuss, then we'll reveal the answer.</a:t>
            </a:r>
          </a:p>
        </p:txBody>
      </p:sp>
      <p:grpSp>
        <p:nvGrpSpPr>
          <p:cNvPr name="Group 17" id="17"/>
          <p:cNvGrpSpPr/>
          <p:nvPr/>
        </p:nvGrpSpPr>
        <p:grpSpPr>
          <a:xfrm rot="0">
            <a:off x="950595" y="7191375"/>
            <a:ext cx="5162550" cy="910590"/>
            <a:chOff x="0" y="0"/>
            <a:chExt cx="6883400" cy="1214120"/>
          </a:xfrm>
        </p:grpSpPr>
        <p:sp>
          <p:nvSpPr>
            <p:cNvPr name="Freeform 18" id="18"/>
            <p:cNvSpPr/>
            <p:nvPr/>
          </p:nvSpPr>
          <p:spPr>
            <a:xfrm flipH="false" flipV="false" rot="0">
              <a:off x="0" y="0"/>
              <a:ext cx="6883400" cy="1214120"/>
            </a:xfrm>
            <a:custGeom>
              <a:avLst/>
              <a:gdLst/>
              <a:ahLst/>
              <a:cxnLst/>
              <a:rect r="r" b="b" t="t" l="l"/>
              <a:pathLst>
                <a:path h="1214120" w="6883400">
                  <a:moveTo>
                    <a:pt x="0" y="168148"/>
                  </a:moveTo>
                  <a:cubicBezTo>
                    <a:pt x="0" y="75311"/>
                    <a:pt x="75311" y="0"/>
                    <a:pt x="168148" y="0"/>
                  </a:cubicBezTo>
                  <a:lnTo>
                    <a:pt x="6715252" y="0"/>
                  </a:lnTo>
                  <a:cubicBezTo>
                    <a:pt x="6808089" y="0"/>
                    <a:pt x="6883400" y="75311"/>
                    <a:pt x="6883400" y="168148"/>
                  </a:cubicBezTo>
                  <a:lnTo>
                    <a:pt x="6883400" y="1045972"/>
                  </a:lnTo>
                  <a:cubicBezTo>
                    <a:pt x="6883400" y="1138809"/>
                    <a:pt x="6808089" y="1214120"/>
                    <a:pt x="6715252" y="1214120"/>
                  </a:cubicBezTo>
                  <a:lnTo>
                    <a:pt x="168148" y="1214120"/>
                  </a:lnTo>
                  <a:cubicBezTo>
                    <a:pt x="75311" y="1214120"/>
                    <a:pt x="0" y="1138809"/>
                    <a:pt x="0" y="1045972"/>
                  </a:cubicBezTo>
                  <a:close/>
                </a:path>
              </a:pathLst>
            </a:custGeom>
            <a:solidFill>
              <a:srgbClr val="F4F7FC"/>
            </a:solidFill>
            <a:ln w="19050" cap="sq">
              <a:solidFill>
                <a:srgbClr val="D7DCEC"/>
              </a:solidFill>
              <a:prstDash val="solid"/>
              <a:miter/>
            </a:ln>
          </p:spPr>
        </p:sp>
      </p:grpSp>
      <p:grpSp>
        <p:nvGrpSpPr>
          <p:cNvPr name="Group 19" id="19"/>
          <p:cNvGrpSpPr/>
          <p:nvPr/>
        </p:nvGrpSpPr>
        <p:grpSpPr>
          <a:xfrm rot="0">
            <a:off x="960120" y="7200900"/>
            <a:ext cx="5143500" cy="891540"/>
            <a:chOff x="0" y="0"/>
            <a:chExt cx="6858000" cy="1188720"/>
          </a:xfrm>
        </p:grpSpPr>
        <p:sp>
          <p:nvSpPr>
            <p:cNvPr name="Freeform 20" id="20"/>
            <p:cNvSpPr/>
            <p:nvPr/>
          </p:nvSpPr>
          <p:spPr>
            <a:xfrm flipH="false" flipV="false" rot="0">
              <a:off x="0" y="0"/>
              <a:ext cx="6858000" cy="1188720"/>
            </a:xfrm>
            <a:custGeom>
              <a:avLst/>
              <a:gdLst/>
              <a:ahLst/>
              <a:cxnLst/>
              <a:rect r="r" b="b" t="t" l="l"/>
              <a:pathLst>
                <a:path h="1188720" w="6858000">
                  <a:moveTo>
                    <a:pt x="0" y="0"/>
                  </a:moveTo>
                  <a:lnTo>
                    <a:pt x="6858000" y="0"/>
                  </a:lnTo>
                  <a:lnTo>
                    <a:pt x="6858000" y="1188720"/>
                  </a:lnTo>
                  <a:lnTo>
                    <a:pt x="0" y="1188720"/>
                  </a:lnTo>
                  <a:close/>
                </a:path>
              </a:pathLst>
            </a:custGeom>
            <a:blipFill>
              <a:blip r:embed="rId3">
                <a:alphaModFix amt="0"/>
              </a:blip>
              <a:stretch>
                <a:fillRect l="0" t="-62413" r="0" b="-62413"/>
              </a:stretch>
            </a:blipFill>
          </p:spPr>
        </p:sp>
        <p:sp>
          <p:nvSpPr>
            <p:cNvPr name="TextBox 21" id="21"/>
            <p:cNvSpPr txBox="true"/>
            <p:nvPr/>
          </p:nvSpPr>
          <p:spPr>
            <a:xfrm>
              <a:off x="0" y="-47625"/>
              <a:ext cx="6858000" cy="1236345"/>
            </a:xfrm>
            <a:prstGeom prst="rect">
              <a:avLst/>
            </a:prstGeom>
          </p:spPr>
          <p:txBody>
            <a:bodyPr anchor="ctr" rtlCol="false" tIns="0" lIns="0" bIns="0" rIns="0"/>
            <a:lstStyle/>
            <a:p>
              <a:pPr algn="ctr">
                <a:lnSpc>
                  <a:spcPts val="2520"/>
                </a:lnSpc>
              </a:pPr>
              <a:r>
                <a:rPr lang="en-US" sz="2100">
                  <a:solidFill>
                    <a:srgbClr val="6B7280"/>
                  </a:solidFill>
                  <a:latin typeface="Calibri (MS)"/>
                  <a:ea typeface="Calibri (MS)"/>
                  <a:cs typeface="Calibri (MS)"/>
                  <a:sym typeface="Calibri (MS)"/>
                </a:rPr>
                <a:t>Confidentiality</a:t>
              </a:r>
            </a:p>
          </p:txBody>
        </p:sp>
      </p:grpSp>
      <p:grpSp>
        <p:nvGrpSpPr>
          <p:cNvPr name="Group 22" id="22"/>
          <p:cNvGrpSpPr/>
          <p:nvPr/>
        </p:nvGrpSpPr>
        <p:grpSpPr>
          <a:xfrm rot="0">
            <a:off x="6533007" y="7191375"/>
            <a:ext cx="5162550" cy="910590"/>
            <a:chOff x="0" y="0"/>
            <a:chExt cx="6883400" cy="1214120"/>
          </a:xfrm>
        </p:grpSpPr>
        <p:sp>
          <p:nvSpPr>
            <p:cNvPr name="Freeform 23" id="23"/>
            <p:cNvSpPr/>
            <p:nvPr/>
          </p:nvSpPr>
          <p:spPr>
            <a:xfrm flipH="false" flipV="false" rot="0">
              <a:off x="0" y="0"/>
              <a:ext cx="6883400" cy="1214120"/>
            </a:xfrm>
            <a:custGeom>
              <a:avLst/>
              <a:gdLst/>
              <a:ahLst/>
              <a:cxnLst/>
              <a:rect r="r" b="b" t="t" l="l"/>
              <a:pathLst>
                <a:path h="1214120" w="6883400">
                  <a:moveTo>
                    <a:pt x="0" y="168148"/>
                  </a:moveTo>
                  <a:cubicBezTo>
                    <a:pt x="0" y="75311"/>
                    <a:pt x="75311" y="0"/>
                    <a:pt x="168148" y="0"/>
                  </a:cubicBezTo>
                  <a:lnTo>
                    <a:pt x="6715252" y="0"/>
                  </a:lnTo>
                  <a:cubicBezTo>
                    <a:pt x="6808089" y="0"/>
                    <a:pt x="6883400" y="75311"/>
                    <a:pt x="6883400" y="168148"/>
                  </a:cubicBezTo>
                  <a:lnTo>
                    <a:pt x="6883400" y="1045972"/>
                  </a:lnTo>
                  <a:cubicBezTo>
                    <a:pt x="6883400" y="1138809"/>
                    <a:pt x="6808089" y="1214120"/>
                    <a:pt x="6715252" y="1214120"/>
                  </a:cubicBezTo>
                  <a:lnTo>
                    <a:pt x="168148" y="1214120"/>
                  </a:lnTo>
                  <a:cubicBezTo>
                    <a:pt x="75311" y="1214120"/>
                    <a:pt x="0" y="1138809"/>
                    <a:pt x="0" y="1045972"/>
                  </a:cubicBezTo>
                  <a:close/>
                </a:path>
              </a:pathLst>
            </a:custGeom>
            <a:solidFill>
              <a:srgbClr val="F4F7FC"/>
            </a:solidFill>
            <a:ln w="19050" cap="sq">
              <a:solidFill>
                <a:srgbClr val="D7DCEC"/>
              </a:solidFill>
              <a:prstDash val="solid"/>
              <a:miter/>
            </a:ln>
          </p:spPr>
        </p:sp>
      </p:grpSp>
      <p:grpSp>
        <p:nvGrpSpPr>
          <p:cNvPr name="Group 24" id="24"/>
          <p:cNvGrpSpPr/>
          <p:nvPr/>
        </p:nvGrpSpPr>
        <p:grpSpPr>
          <a:xfrm rot="0">
            <a:off x="6542532" y="7200900"/>
            <a:ext cx="5143500" cy="891540"/>
            <a:chOff x="0" y="0"/>
            <a:chExt cx="6858000" cy="1188720"/>
          </a:xfrm>
        </p:grpSpPr>
        <p:sp>
          <p:nvSpPr>
            <p:cNvPr name="Freeform 25" id="25"/>
            <p:cNvSpPr/>
            <p:nvPr/>
          </p:nvSpPr>
          <p:spPr>
            <a:xfrm flipH="false" flipV="false" rot="0">
              <a:off x="0" y="0"/>
              <a:ext cx="6858000" cy="1188720"/>
            </a:xfrm>
            <a:custGeom>
              <a:avLst/>
              <a:gdLst/>
              <a:ahLst/>
              <a:cxnLst/>
              <a:rect r="r" b="b" t="t" l="l"/>
              <a:pathLst>
                <a:path h="1188720" w="6858000">
                  <a:moveTo>
                    <a:pt x="0" y="0"/>
                  </a:moveTo>
                  <a:lnTo>
                    <a:pt x="6858000" y="0"/>
                  </a:lnTo>
                  <a:lnTo>
                    <a:pt x="6858000" y="1188720"/>
                  </a:lnTo>
                  <a:lnTo>
                    <a:pt x="0" y="1188720"/>
                  </a:lnTo>
                  <a:close/>
                </a:path>
              </a:pathLst>
            </a:custGeom>
            <a:blipFill>
              <a:blip r:embed="rId3">
                <a:alphaModFix amt="0"/>
              </a:blip>
              <a:stretch>
                <a:fillRect l="0" t="-62413" r="0" b="-62413"/>
              </a:stretch>
            </a:blipFill>
          </p:spPr>
        </p:sp>
        <p:sp>
          <p:nvSpPr>
            <p:cNvPr name="TextBox 26" id="26"/>
            <p:cNvSpPr txBox="true"/>
            <p:nvPr/>
          </p:nvSpPr>
          <p:spPr>
            <a:xfrm>
              <a:off x="0" y="-47625"/>
              <a:ext cx="6858000" cy="1236345"/>
            </a:xfrm>
            <a:prstGeom prst="rect">
              <a:avLst/>
            </a:prstGeom>
          </p:spPr>
          <p:txBody>
            <a:bodyPr anchor="ctr" rtlCol="false" tIns="0" lIns="0" bIns="0" rIns="0"/>
            <a:lstStyle/>
            <a:p>
              <a:pPr algn="ctr">
                <a:lnSpc>
                  <a:spcPts val="2520"/>
                </a:lnSpc>
              </a:pPr>
              <a:r>
                <a:rPr lang="en-US" sz="2100">
                  <a:solidFill>
                    <a:srgbClr val="6B7280"/>
                  </a:solidFill>
                  <a:latin typeface="Calibri (MS)"/>
                  <a:ea typeface="Calibri (MS)"/>
                  <a:cs typeface="Calibri (MS)"/>
                  <a:sym typeface="Calibri (MS)"/>
                </a:rPr>
                <a:t>Integrity</a:t>
              </a:r>
            </a:p>
          </p:txBody>
        </p:sp>
      </p:grpSp>
      <p:grpSp>
        <p:nvGrpSpPr>
          <p:cNvPr name="Group 27" id="27"/>
          <p:cNvGrpSpPr/>
          <p:nvPr/>
        </p:nvGrpSpPr>
        <p:grpSpPr>
          <a:xfrm rot="0">
            <a:off x="12115419" y="7191375"/>
            <a:ext cx="5162550" cy="910590"/>
            <a:chOff x="0" y="0"/>
            <a:chExt cx="6883400" cy="1214120"/>
          </a:xfrm>
        </p:grpSpPr>
        <p:sp>
          <p:nvSpPr>
            <p:cNvPr name="Freeform 28" id="28"/>
            <p:cNvSpPr/>
            <p:nvPr/>
          </p:nvSpPr>
          <p:spPr>
            <a:xfrm flipH="false" flipV="false" rot="0">
              <a:off x="0" y="0"/>
              <a:ext cx="6883400" cy="1214120"/>
            </a:xfrm>
            <a:custGeom>
              <a:avLst/>
              <a:gdLst/>
              <a:ahLst/>
              <a:cxnLst/>
              <a:rect r="r" b="b" t="t" l="l"/>
              <a:pathLst>
                <a:path h="1214120" w="6883400">
                  <a:moveTo>
                    <a:pt x="0" y="168148"/>
                  </a:moveTo>
                  <a:cubicBezTo>
                    <a:pt x="0" y="75311"/>
                    <a:pt x="75311" y="0"/>
                    <a:pt x="168148" y="0"/>
                  </a:cubicBezTo>
                  <a:lnTo>
                    <a:pt x="6715252" y="0"/>
                  </a:lnTo>
                  <a:cubicBezTo>
                    <a:pt x="6808089" y="0"/>
                    <a:pt x="6883400" y="75311"/>
                    <a:pt x="6883400" y="168148"/>
                  </a:cubicBezTo>
                  <a:lnTo>
                    <a:pt x="6883400" y="1045972"/>
                  </a:lnTo>
                  <a:cubicBezTo>
                    <a:pt x="6883400" y="1138809"/>
                    <a:pt x="6808089" y="1214120"/>
                    <a:pt x="6715252" y="1214120"/>
                  </a:cubicBezTo>
                  <a:lnTo>
                    <a:pt x="168148" y="1214120"/>
                  </a:lnTo>
                  <a:cubicBezTo>
                    <a:pt x="75311" y="1214120"/>
                    <a:pt x="0" y="1138809"/>
                    <a:pt x="0" y="1045972"/>
                  </a:cubicBezTo>
                  <a:close/>
                </a:path>
              </a:pathLst>
            </a:custGeom>
            <a:solidFill>
              <a:srgbClr val="F4F7FC"/>
            </a:solidFill>
            <a:ln w="19050" cap="sq">
              <a:solidFill>
                <a:srgbClr val="D7DCEC"/>
              </a:solidFill>
              <a:prstDash val="solid"/>
              <a:miter/>
            </a:ln>
          </p:spPr>
        </p:sp>
      </p:grpSp>
      <p:grpSp>
        <p:nvGrpSpPr>
          <p:cNvPr name="Group 29" id="29"/>
          <p:cNvGrpSpPr/>
          <p:nvPr/>
        </p:nvGrpSpPr>
        <p:grpSpPr>
          <a:xfrm rot="0">
            <a:off x="12124944" y="7200900"/>
            <a:ext cx="5143500" cy="891540"/>
            <a:chOff x="0" y="0"/>
            <a:chExt cx="6858000" cy="1188720"/>
          </a:xfrm>
        </p:grpSpPr>
        <p:sp>
          <p:nvSpPr>
            <p:cNvPr name="Freeform 30" id="30"/>
            <p:cNvSpPr/>
            <p:nvPr/>
          </p:nvSpPr>
          <p:spPr>
            <a:xfrm flipH="false" flipV="false" rot="0">
              <a:off x="0" y="0"/>
              <a:ext cx="6858000" cy="1188720"/>
            </a:xfrm>
            <a:custGeom>
              <a:avLst/>
              <a:gdLst/>
              <a:ahLst/>
              <a:cxnLst/>
              <a:rect r="r" b="b" t="t" l="l"/>
              <a:pathLst>
                <a:path h="1188720" w="6858000">
                  <a:moveTo>
                    <a:pt x="0" y="0"/>
                  </a:moveTo>
                  <a:lnTo>
                    <a:pt x="6858000" y="0"/>
                  </a:lnTo>
                  <a:lnTo>
                    <a:pt x="6858000" y="1188720"/>
                  </a:lnTo>
                  <a:lnTo>
                    <a:pt x="0" y="1188720"/>
                  </a:lnTo>
                  <a:close/>
                </a:path>
              </a:pathLst>
            </a:custGeom>
            <a:blipFill>
              <a:blip r:embed="rId3">
                <a:alphaModFix amt="0"/>
              </a:blip>
              <a:stretch>
                <a:fillRect l="0" t="-62413" r="0" b="-62413"/>
              </a:stretch>
            </a:blipFill>
          </p:spPr>
        </p:sp>
        <p:sp>
          <p:nvSpPr>
            <p:cNvPr name="TextBox 31" id="31"/>
            <p:cNvSpPr txBox="true"/>
            <p:nvPr/>
          </p:nvSpPr>
          <p:spPr>
            <a:xfrm>
              <a:off x="0" y="-47625"/>
              <a:ext cx="6858000" cy="1236345"/>
            </a:xfrm>
            <a:prstGeom prst="rect">
              <a:avLst/>
            </a:prstGeom>
          </p:spPr>
          <p:txBody>
            <a:bodyPr anchor="ctr" rtlCol="false" tIns="0" lIns="0" bIns="0" rIns="0"/>
            <a:lstStyle/>
            <a:p>
              <a:pPr algn="ctr">
                <a:lnSpc>
                  <a:spcPts val="2520"/>
                </a:lnSpc>
              </a:pPr>
              <a:r>
                <a:rPr lang="en-US" sz="2100">
                  <a:solidFill>
                    <a:srgbClr val="6B7280"/>
                  </a:solidFill>
                  <a:latin typeface="Calibri (MS)"/>
                  <a:ea typeface="Calibri (MS)"/>
                  <a:cs typeface="Calibri (MS)"/>
                  <a:sym typeface="Calibri (MS)"/>
                </a:rPr>
                <a:t>Availability</a:t>
              </a:r>
            </a:p>
          </p:txBody>
        </p:sp>
      </p:grpSp>
      <p:grpSp>
        <p:nvGrpSpPr>
          <p:cNvPr name="Group 32" id="32"/>
          <p:cNvGrpSpPr/>
          <p:nvPr/>
        </p:nvGrpSpPr>
        <p:grpSpPr>
          <a:xfrm rot="0">
            <a:off x="685800" y="9710928"/>
            <a:ext cx="10972800" cy="411480"/>
            <a:chOff x="0" y="0"/>
            <a:chExt cx="14630400" cy="548640"/>
          </a:xfrm>
        </p:grpSpPr>
        <p:sp>
          <p:nvSpPr>
            <p:cNvPr name="Freeform 33" id="33"/>
            <p:cNvSpPr/>
            <p:nvPr/>
          </p:nvSpPr>
          <p:spPr>
            <a:xfrm flipH="false" flipV="false" rot="0">
              <a:off x="0" y="0"/>
              <a:ext cx="14630400" cy="548640"/>
            </a:xfrm>
            <a:custGeom>
              <a:avLst/>
              <a:gdLst/>
              <a:ahLst/>
              <a:cxnLst/>
              <a:rect r="r" b="b" t="t" l="l"/>
              <a:pathLst>
                <a:path h="548640" w="14630400">
                  <a:moveTo>
                    <a:pt x="0" y="0"/>
                  </a:moveTo>
                  <a:lnTo>
                    <a:pt x="14630400" y="0"/>
                  </a:lnTo>
                  <a:lnTo>
                    <a:pt x="14630400" y="548640"/>
                  </a:lnTo>
                  <a:lnTo>
                    <a:pt x="0" y="548640"/>
                  </a:lnTo>
                  <a:close/>
                </a:path>
              </a:pathLst>
            </a:custGeom>
            <a:blipFill>
              <a:blip r:embed="rId3">
                <a:alphaModFix amt="0"/>
              </a:blip>
              <a:stretch>
                <a:fillRect l="0" t="-469601" r="0" b="-469601"/>
              </a:stretch>
            </a:blipFill>
          </p:spPr>
        </p:sp>
        <p:sp>
          <p:nvSpPr>
            <p:cNvPr name="TextBox 34" id="34"/>
            <p:cNvSpPr txBox="true"/>
            <p:nvPr/>
          </p:nvSpPr>
          <p:spPr>
            <a:xfrm>
              <a:off x="0" y="-38100"/>
              <a:ext cx="14630400" cy="586740"/>
            </a:xfrm>
            <a:prstGeom prst="rect">
              <a:avLst/>
            </a:prstGeom>
          </p:spPr>
          <p:txBody>
            <a:bodyPr anchor="ctr" rtlCol="false" tIns="0" lIns="0" bIns="0" rIns="0"/>
            <a:lstStyle/>
            <a:p>
              <a:pPr algn="l">
                <a:lnSpc>
                  <a:spcPts val="1800"/>
                </a:lnSpc>
              </a:pPr>
              <a:r>
                <a:rPr lang="en-US" sz="1500">
                  <a:solidFill>
                    <a:srgbClr val="6B7280"/>
                  </a:solidFill>
                  <a:latin typeface="Calibri (MS)"/>
                  <a:ea typeface="Calibri (MS)"/>
                  <a:cs typeface="Calibri (MS)"/>
                  <a:sym typeface="Calibri (MS)"/>
                </a:rPr>
                <a:t>Davao del Norte Provincial Government — Cybersecurity Seminar</a:t>
              </a:r>
            </a:p>
          </p:txBody>
        </p:sp>
      </p:grpSp>
      <p:grpSp>
        <p:nvGrpSpPr>
          <p:cNvPr name="Group 35" id="35"/>
          <p:cNvGrpSpPr/>
          <p:nvPr/>
        </p:nvGrpSpPr>
        <p:grpSpPr>
          <a:xfrm rot="0">
            <a:off x="16911828" y="9710928"/>
            <a:ext cx="685800" cy="411480"/>
            <a:chOff x="0" y="0"/>
            <a:chExt cx="914400" cy="548640"/>
          </a:xfrm>
        </p:grpSpPr>
        <p:sp>
          <p:nvSpPr>
            <p:cNvPr name="Freeform 36" id="36"/>
            <p:cNvSpPr/>
            <p:nvPr/>
          </p:nvSpPr>
          <p:spPr>
            <a:xfrm flipH="false" flipV="false" rot="0">
              <a:off x="0" y="0"/>
              <a:ext cx="914400" cy="548640"/>
            </a:xfrm>
            <a:custGeom>
              <a:avLst/>
              <a:gdLst/>
              <a:ahLst/>
              <a:cxnLst/>
              <a:rect r="r" b="b" t="t" l="l"/>
              <a:pathLst>
                <a:path h="548640" w="914400">
                  <a:moveTo>
                    <a:pt x="0" y="0"/>
                  </a:moveTo>
                  <a:lnTo>
                    <a:pt x="914400" y="0"/>
                  </a:lnTo>
                  <a:lnTo>
                    <a:pt x="914400" y="548640"/>
                  </a:lnTo>
                  <a:lnTo>
                    <a:pt x="0" y="548640"/>
                  </a:lnTo>
                  <a:close/>
                </a:path>
              </a:pathLst>
            </a:custGeom>
            <a:blipFill>
              <a:blip r:embed="rId3">
                <a:alphaModFix amt="0"/>
              </a:blip>
              <a:stretch>
                <a:fillRect l="-26982" t="0" r="-26982" b="0"/>
              </a:stretch>
            </a:blipFill>
          </p:spPr>
        </p:sp>
        <p:sp>
          <p:nvSpPr>
            <p:cNvPr name="TextBox 37" id="37"/>
            <p:cNvSpPr txBox="true"/>
            <p:nvPr/>
          </p:nvSpPr>
          <p:spPr>
            <a:xfrm>
              <a:off x="0" y="-38100"/>
              <a:ext cx="914400" cy="586740"/>
            </a:xfrm>
            <a:prstGeom prst="rect">
              <a:avLst/>
            </a:prstGeom>
          </p:spPr>
          <p:txBody>
            <a:bodyPr anchor="ctr" rtlCol="false" tIns="0" lIns="0" bIns="0" rIns="0"/>
            <a:lstStyle/>
            <a:p>
              <a:pPr algn="r">
                <a:lnSpc>
                  <a:spcPts val="1800"/>
                </a:lnSpc>
              </a:pPr>
              <a:r>
                <a:rPr lang="en-US" sz="1500">
                  <a:solidFill>
                    <a:srgbClr val="6B7280"/>
                  </a:solidFill>
                  <a:latin typeface="Calibri (MS)"/>
                  <a:ea typeface="Calibri (MS)"/>
                  <a:cs typeface="Calibri (MS)"/>
                  <a:sym typeface="Calibri (MS)"/>
                </a:rPr>
                <a:t>49</a:t>
              </a:r>
            </a:p>
          </p:txBody>
        </p:sp>
      </p:grpSp>
    </p:spTree>
  </p:cSld>
  <p:clrMapOvr>
    <a:masterClrMapping/>
  </p:clrMapOvr>
</p:sld>
</file>

<file path=ppt/slides/slide5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60120" y="685800"/>
            <a:ext cx="13716000" cy="411480"/>
            <a:chOff x="0" y="0"/>
            <a:chExt cx="18288000" cy="548640"/>
          </a:xfrm>
        </p:grpSpPr>
        <p:sp>
          <p:nvSpPr>
            <p:cNvPr name="Freeform 3" id="3"/>
            <p:cNvSpPr/>
            <p:nvPr/>
          </p:nvSpPr>
          <p:spPr>
            <a:xfrm flipH="false" flipV="false" rot="0">
              <a:off x="0" y="0"/>
              <a:ext cx="18288000" cy="548640"/>
            </a:xfrm>
            <a:custGeom>
              <a:avLst/>
              <a:gdLst/>
              <a:ahLst/>
              <a:cxnLst/>
              <a:rect r="r" b="b" t="t" l="l"/>
              <a:pathLst>
                <a:path h="548640" w="18288000">
                  <a:moveTo>
                    <a:pt x="0" y="0"/>
                  </a:moveTo>
                  <a:lnTo>
                    <a:pt x="18288000" y="0"/>
                  </a:lnTo>
                  <a:lnTo>
                    <a:pt x="18288000" y="548640"/>
                  </a:lnTo>
                  <a:lnTo>
                    <a:pt x="0" y="548640"/>
                  </a:lnTo>
                  <a:close/>
                </a:path>
              </a:pathLst>
            </a:custGeom>
            <a:blipFill>
              <a:blip r:embed="rId3">
                <a:alphaModFix amt="0"/>
              </a:blip>
              <a:stretch>
                <a:fillRect l="0" t="-599501" r="0" b="-599501"/>
              </a:stretch>
            </a:blipFill>
          </p:spPr>
        </p:sp>
        <p:sp>
          <p:nvSpPr>
            <p:cNvPr name="TextBox 4" id="4"/>
            <p:cNvSpPr txBox="true"/>
            <p:nvPr/>
          </p:nvSpPr>
          <p:spPr>
            <a:xfrm>
              <a:off x="0" y="-38100"/>
              <a:ext cx="18288000" cy="586740"/>
            </a:xfrm>
            <a:prstGeom prst="rect">
              <a:avLst/>
            </a:prstGeom>
          </p:spPr>
          <p:txBody>
            <a:bodyPr anchor="ctr" rtlCol="false" tIns="0" lIns="0" bIns="0" rIns="0"/>
            <a:lstStyle/>
            <a:p>
              <a:pPr algn="l">
                <a:lnSpc>
                  <a:spcPts val="2160"/>
                </a:lnSpc>
              </a:pPr>
              <a:r>
                <a:rPr lang="en-US" b="true" sz="1800" spc="225">
                  <a:solidFill>
                    <a:srgbClr val="00B4D8"/>
                  </a:solidFill>
                  <a:latin typeface="Calibri (MS) Bold"/>
                  <a:ea typeface="Calibri (MS) Bold"/>
                  <a:cs typeface="Calibri (MS) Bold"/>
                  <a:sym typeface="Calibri (MS) Bold"/>
                </a:rPr>
                <a:t>CIA TRIAD SORT · ANSWER</a:t>
              </a:r>
            </a:p>
          </p:txBody>
        </p:sp>
      </p:grpSp>
      <p:grpSp>
        <p:nvGrpSpPr>
          <p:cNvPr name="Group 5" id="5"/>
          <p:cNvGrpSpPr/>
          <p:nvPr/>
        </p:nvGrpSpPr>
        <p:grpSpPr>
          <a:xfrm rot="0">
            <a:off x="960120" y="1069848"/>
            <a:ext cx="10972800" cy="822960"/>
            <a:chOff x="0" y="0"/>
            <a:chExt cx="14630400" cy="1097280"/>
          </a:xfrm>
        </p:grpSpPr>
        <p:sp>
          <p:nvSpPr>
            <p:cNvPr name="Freeform 6" id="6"/>
            <p:cNvSpPr/>
            <p:nvPr/>
          </p:nvSpPr>
          <p:spPr>
            <a:xfrm flipH="false" flipV="false" rot="0">
              <a:off x="0" y="0"/>
              <a:ext cx="14630400" cy="1097280"/>
            </a:xfrm>
            <a:custGeom>
              <a:avLst/>
              <a:gdLst/>
              <a:ahLst/>
              <a:cxnLst/>
              <a:rect r="r" b="b" t="t" l="l"/>
              <a:pathLst>
                <a:path h="1097280" w="14630400">
                  <a:moveTo>
                    <a:pt x="0" y="0"/>
                  </a:moveTo>
                  <a:lnTo>
                    <a:pt x="14630400" y="0"/>
                  </a:lnTo>
                  <a:lnTo>
                    <a:pt x="14630400" y="1097280"/>
                  </a:lnTo>
                  <a:lnTo>
                    <a:pt x="0" y="1097280"/>
                  </a:lnTo>
                  <a:close/>
                </a:path>
              </a:pathLst>
            </a:custGeom>
            <a:blipFill>
              <a:blip r:embed="rId3">
                <a:alphaModFix amt="0"/>
              </a:blip>
              <a:stretch>
                <a:fillRect l="0" t="-209800" r="0" b="-209800"/>
              </a:stretch>
            </a:blipFill>
          </p:spPr>
        </p:sp>
        <p:sp>
          <p:nvSpPr>
            <p:cNvPr name="TextBox 7" id="7"/>
            <p:cNvSpPr txBox="true"/>
            <p:nvPr/>
          </p:nvSpPr>
          <p:spPr>
            <a:xfrm>
              <a:off x="0" y="0"/>
              <a:ext cx="14630400" cy="1097280"/>
            </a:xfrm>
            <a:prstGeom prst="rect">
              <a:avLst/>
            </a:prstGeom>
          </p:spPr>
          <p:txBody>
            <a:bodyPr anchor="ctr" rtlCol="false" tIns="0" lIns="0" bIns="0" rIns="0"/>
            <a:lstStyle/>
            <a:p>
              <a:pPr algn="l">
                <a:lnSpc>
                  <a:spcPts val="4680"/>
                </a:lnSpc>
              </a:pPr>
              <a:r>
                <a:rPr lang="en-US" sz="3900" b="true">
                  <a:solidFill>
                    <a:srgbClr val="1E2761"/>
                  </a:solidFill>
                  <a:latin typeface="Cambria Bold"/>
                  <a:ea typeface="Cambria Bold"/>
                  <a:cs typeface="Cambria Bold"/>
                  <a:sym typeface="Cambria Bold"/>
                </a:rPr>
                <a:t>Scenario 6 — Answer</a:t>
              </a:r>
            </a:p>
          </p:txBody>
        </p:sp>
      </p:grpSp>
      <p:grpSp>
        <p:nvGrpSpPr>
          <p:cNvPr name="Group 8" id="8"/>
          <p:cNvGrpSpPr/>
          <p:nvPr/>
        </p:nvGrpSpPr>
        <p:grpSpPr>
          <a:xfrm rot="0">
            <a:off x="960120" y="1810512"/>
            <a:ext cx="8229600" cy="411480"/>
            <a:chOff x="0" y="0"/>
            <a:chExt cx="10972800" cy="548640"/>
          </a:xfrm>
        </p:grpSpPr>
        <p:sp>
          <p:nvSpPr>
            <p:cNvPr name="Freeform 9" id="9"/>
            <p:cNvSpPr/>
            <p:nvPr/>
          </p:nvSpPr>
          <p:spPr>
            <a:xfrm flipH="false" flipV="false" rot="0">
              <a:off x="0" y="0"/>
              <a:ext cx="10972800" cy="548640"/>
            </a:xfrm>
            <a:custGeom>
              <a:avLst/>
              <a:gdLst/>
              <a:ahLst/>
              <a:cxnLst/>
              <a:rect r="r" b="b" t="t" l="l"/>
              <a:pathLst>
                <a:path h="548640" w="10972800">
                  <a:moveTo>
                    <a:pt x="0" y="0"/>
                  </a:moveTo>
                  <a:lnTo>
                    <a:pt x="10972800" y="0"/>
                  </a:lnTo>
                  <a:lnTo>
                    <a:pt x="10972800" y="548640"/>
                  </a:lnTo>
                  <a:lnTo>
                    <a:pt x="0" y="548640"/>
                  </a:lnTo>
                  <a:close/>
                </a:path>
              </a:pathLst>
            </a:custGeom>
            <a:blipFill>
              <a:blip r:embed="rId3">
                <a:alphaModFix amt="0"/>
              </a:blip>
              <a:stretch>
                <a:fillRect l="0" t="-339700" r="0" b="-339700"/>
              </a:stretch>
            </a:blipFill>
          </p:spPr>
        </p:sp>
        <p:sp>
          <p:nvSpPr>
            <p:cNvPr name="TextBox 10" id="10"/>
            <p:cNvSpPr txBox="true"/>
            <p:nvPr/>
          </p:nvSpPr>
          <p:spPr>
            <a:xfrm>
              <a:off x="0" y="-28575"/>
              <a:ext cx="10972800" cy="577215"/>
            </a:xfrm>
            <a:prstGeom prst="rect">
              <a:avLst/>
            </a:prstGeom>
          </p:spPr>
          <p:txBody>
            <a:bodyPr anchor="ctr" rtlCol="false" tIns="0" lIns="0" bIns="0" rIns="0"/>
            <a:lstStyle/>
            <a:p>
              <a:pPr algn="l">
                <a:lnSpc>
                  <a:spcPts val="1980"/>
                </a:lnSpc>
              </a:pPr>
              <a:r>
                <a:rPr lang="en-US" sz="1650">
                  <a:solidFill>
                    <a:srgbClr val="6B7280"/>
                  </a:solidFill>
                  <a:latin typeface="Calibri (MS)"/>
                  <a:ea typeface="Calibri (MS)"/>
                  <a:cs typeface="Calibri (MS)"/>
                  <a:sym typeface="Calibri (MS)"/>
                </a:rPr>
                <a:t>6 of 12</a:t>
              </a:r>
            </a:p>
          </p:txBody>
        </p:sp>
      </p:grpSp>
      <p:grpSp>
        <p:nvGrpSpPr>
          <p:cNvPr name="Group 11" id="11"/>
          <p:cNvGrpSpPr/>
          <p:nvPr/>
        </p:nvGrpSpPr>
        <p:grpSpPr>
          <a:xfrm rot="0">
            <a:off x="960120" y="2537460"/>
            <a:ext cx="16322040" cy="2400300"/>
            <a:chOff x="0" y="0"/>
            <a:chExt cx="21762720" cy="3200400"/>
          </a:xfrm>
        </p:grpSpPr>
        <p:sp>
          <p:nvSpPr>
            <p:cNvPr name="Freeform 12" id="12"/>
            <p:cNvSpPr/>
            <p:nvPr/>
          </p:nvSpPr>
          <p:spPr>
            <a:xfrm flipH="false" flipV="false" rot="0">
              <a:off x="0" y="0"/>
              <a:ext cx="21762720" cy="3200400"/>
            </a:xfrm>
            <a:custGeom>
              <a:avLst/>
              <a:gdLst/>
              <a:ahLst/>
              <a:cxnLst/>
              <a:rect r="r" b="b" t="t" l="l"/>
              <a:pathLst>
                <a:path h="3200400" w="21762720">
                  <a:moveTo>
                    <a:pt x="0" y="182880"/>
                  </a:moveTo>
                  <a:cubicBezTo>
                    <a:pt x="0" y="81915"/>
                    <a:pt x="81915" y="0"/>
                    <a:pt x="182880" y="0"/>
                  </a:cubicBezTo>
                  <a:lnTo>
                    <a:pt x="21579839" y="0"/>
                  </a:lnTo>
                  <a:cubicBezTo>
                    <a:pt x="21680804" y="0"/>
                    <a:pt x="21762720" y="81915"/>
                    <a:pt x="21762720" y="182880"/>
                  </a:cubicBezTo>
                  <a:lnTo>
                    <a:pt x="21762720" y="3017520"/>
                  </a:lnTo>
                  <a:cubicBezTo>
                    <a:pt x="21762720" y="3118485"/>
                    <a:pt x="21680804" y="3200400"/>
                    <a:pt x="21579839" y="3200400"/>
                  </a:cubicBezTo>
                  <a:lnTo>
                    <a:pt x="182880" y="3200400"/>
                  </a:lnTo>
                  <a:cubicBezTo>
                    <a:pt x="81915" y="3200400"/>
                    <a:pt x="0" y="3118485"/>
                    <a:pt x="0" y="3017520"/>
                  </a:cubicBezTo>
                  <a:close/>
                </a:path>
              </a:pathLst>
            </a:custGeom>
            <a:solidFill>
              <a:srgbClr val="F4F7FC"/>
            </a:solidFill>
          </p:spPr>
        </p:sp>
      </p:grpSp>
      <p:grpSp>
        <p:nvGrpSpPr>
          <p:cNvPr name="Group 13" id="13"/>
          <p:cNvGrpSpPr/>
          <p:nvPr/>
        </p:nvGrpSpPr>
        <p:grpSpPr>
          <a:xfrm rot="0">
            <a:off x="1440180" y="2811780"/>
            <a:ext cx="15361920" cy="1851660"/>
            <a:chOff x="0" y="0"/>
            <a:chExt cx="20482560" cy="2468880"/>
          </a:xfrm>
        </p:grpSpPr>
        <p:sp>
          <p:nvSpPr>
            <p:cNvPr name="Freeform 14" id="14"/>
            <p:cNvSpPr/>
            <p:nvPr/>
          </p:nvSpPr>
          <p:spPr>
            <a:xfrm flipH="false" flipV="false" rot="0">
              <a:off x="0" y="0"/>
              <a:ext cx="20482561" cy="2468880"/>
            </a:xfrm>
            <a:custGeom>
              <a:avLst/>
              <a:gdLst/>
              <a:ahLst/>
              <a:cxnLst/>
              <a:rect r="r" b="b" t="t" l="l"/>
              <a:pathLst>
                <a:path h="2468880" w="20482561">
                  <a:moveTo>
                    <a:pt x="0" y="0"/>
                  </a:moveTo>
                  <a:lnTo>
                    <a:pt x="20482561" y="0"/>
                  </a:lnTo>
                  <a:lnTo>
                    <a:pt x="20482561" y="2468880"/>
                  </a:lnTo>
                  <a:lnTo>
                    <a:pt x="0" y="2468880"/>
                  </a:lnTo>
                  <a:close/>
                </a:path>
              </a:pathLst>
            </a:custGeom>
            <a:blipFill>
              <a:blip r:embed="rId3">
                <a:alphaModFix amt="0"/>
              </a:blip>
              <a:stretch>
                <a:fillRect l="0" t="-111653" r="0" b="-111653"/>
              </a:stretch>
            </a:blipFill>
          </p:spPr>
        </p:sp>
        <p:sp>
          <p:nvSpPr>
            <p:cNvPr name="TextBox 15" id="15"/>
            <p:cNvSpPr txBox="true"/>
            <p:nvPr/>
          </p:nvSpPr>
          <p:spPr>
            <a:xfrm>
              <a:off x="0" y="-95250"/>
              <a:ext cx="20482560" cy="2564130"/>
            </a:xfrm>
            <a:prstGeom prst="rect">
              <a:avLst/>
            </a:prstGeom>
          </p:spPr>
          <p:txBody>
            <a:bodyPr anchor="ctr" rtlCol="false" tIns="0" lIns="0" bIns="0" rIns="0"/>
            <a:lstStyle/>
            <a:p>
              <a:pPr algn="l">
                <a:lnSpc>
                  <a:spcPts val="3916"/>
                </a:lnSpc>
              </a:pPr>
              <a:r>
                <a:rPr lang="en-US" sz="2550" i="true">
                  <a:solidFill>
                    <a:srgbClr val="23262F"/>
                  </a:solidFill>
                  <a:latin typeface="Cambria Italics"/>
                  <a:ea typeface="Cambria Italics"/>
                  <a:cs typeface="Cambria Italics"/>
                  <a:sym typeface="Cambria Italics"/>
                </a:rPr>
                <a:t>“Ransomware encrypts the permit-issuance database. Staff can't open a single record until it's paid or restored.”</a:t>
              </a:r>
            </a:p>
          </p:txBody>
        </p:sp>
      </p:grpSp>
      <p:grpSp>
        <p:nvGrpSpPr>
          <p:cNvPr name="Group 16" id="16"/>
          <p:cNvGrpSpPr/>
          <p:nvPr/>
        </p:nvGrpSpPr>
        <p:grpSpPr>
          <a:xfrm rot="0">
            <a:off x="950595" y="5408295"/>
            <a:ext cx="5162550" cy="910590"/>
            <a:chOff x="0" y="0"/>
            <a:chExt cx="6883400" cy="1214120"/>
          </a:xfrm>
        </p:grpSpPr>
        <p:sp>
          <p:nvSpPr>
            <p:cNvPr name="Freeform 17" id="17"/>
            <p:cNvSpPr/>
            <p:nvPr/>
          </p:nvSpPr>
          <p:spPr>
            <a:xfrm flipH="false" flipV="false" rot="0">
              <a:off x="0" y="0"/>
              <a:ext cx="6883400" cy="1214120"/>
            </a:xfrm>
            <a:custGeom>
              <a:avLst/>
              <a:gdLst/>
              <a:ahLst/>
              <a:cxnLst/>
              <a:rect r="r" b="b" t="t" l="l"/>
              <a:pathLst>
                <a:path h="1214120" w="6883400">
                  <a:moveTo>
                    <a:pt x="0" y="168148"/>
                  </a:moveTo>
                  <a:cubicBezTo>
                    <a:pt x="0" y="75311"/>
                    <a:pt x="75311" y="0"/>
                    <a:pt x="168148" y="0"/>
                  </a:cubicBezTo>
                  <a:lnTo>
                    <a:pt x="6715252" y="0"/>
                  </a:lnTo>
                  <a:cubicBezTo>
                    <a:pt x="6808089" y="0"/>
                    <a:pt x="6883400" y="75311"/>
                    <a:pt x="6883400" y="168148"/>
                  </a:cubicBezTo>
                  <a:lnTo>
                    <a:pt x="6883400" y="1045972"/>
                  </a:lnTo>
                  <a:cubicBezTo>
                    <a:pt x="6883400" y="1138809"/>
                    <a:pt x="6808089" y="1214120"/>
                    <a:pt x="6715252" y="1214120"/>
                  </a:cubicBezTo>
                  <a:lnTo>
                    <a:pt x="168148" y="1214120"/>
                  </a:lnTo>
                  <a:cubicBezTo>
                    <a:pt x="75311" y="1214120"/>
                    <a:pt x="0" y="1138809"/>
                    <a:pt x="0" y="1045972"/>
                  </a:cubicBezTo>
                  <a:close/>
                </a:path>
              </a:pathLst>
            </a:custGeom>
            <a:solidFill>
              <a:srgbClr val="6C4FD1"/>
            </a:solidFill>
            <a:ln w="19050" cap="sq">
              <a:solidFill>
                <a:srgbClr val="6C4FD1"/>
              </a:solidFill>
              <a:prstDash val="solid"/>
              <a:miter/>
            </a:ln>
          </p:spPr>
        </p:sp>
      </p:grpSp>
      <p:grpSp>
        <p:nvGrpSpPr>
          <p:cNvPr name="Group 18" id="18"/>
          <p:cNvGrpSpPr/>
          <p:nvPr/>
        </p:nvGrpSpPr>
        <p:grpSpPr>
          <a:xfrm rot="0">
            <a:off x="960120" y="5417820"/>
            <a:ext cx="5143500" cy="891540"/>
            <a:chOff x="0" y="0"/>
            <a:chExt cx="6858000" cy="1188720"/>
          </a:xfrm>
        </p:grpSpPr>
        <p:sp>
          <p:nvSpPr>
            <p:cNvPr name="Freeform 19" id="19"/>
            <p:cNvSpPr/>
            <p:nvPr/>
          </p:nvSpPr>
          <p:spPr>
            <a:xfrm flipH="false" flipV="false" rot="0">
              <a:off x="0" y="0"/>
              <a:ext cx="6858000" cy="1188720"/>
            </a:xfrm>
            <a:custGeom>
              <a:avLst/>
              <a:gdLst/>
              <a:ahLst/>
              <a:cxnLst/>
              <a:rect r="r" b="b" t="t" l="l"/>
              <a:pathLst>
                <a:path h="1188720" w="6858000">
                  <a:moveTo>
                    <a:pt x="0" y="0"/>
                  </a:moveTo>
                  <a:lnTo>
                    <a:pt x="6858000" y="0"/>
                  </a:lnTo>
                  <a:lnTo>
                    <a:pt x="6858000" y="1188720"/>
                  </a:lnTo>
                  <a:lnTo>
                    <a:pt x="0" y="1188720"/>
                  </a:lnTo>
                  <a:close/>
                </a:path>
              </a:pathLst>
            </a:custGeom>
            <a:blipFill>
              <a:blip r:embed="rId3">
                <a:alphaModFix amt="0"/>
              </a:blip>
              <a:stretch>
                <a:fillRect l="0" t="-62413" r="0" b="-62413"/>
              </a:stretch>
            </a:blipFill>
          </p:spPr>
        </p:sp>
        <p:sp>
          <p:nvSpPr>
            <p:cNvPr name="TextBox 20" id="20"/>
            <p:cNvSpPr txBox="true"/>
            <p:nvPr/>
          </p:nvSpPr>
          <p:spPr>
            <a:xfrm>
              <a:off x="0" y="-47625"/>
              <a:ext cx="6858000" cy="1236345"/>
            </a:xfrm>
            <a:prstGeom prst="rect">
              <a:avLst/>
            </a:prstGeom>
          </p:spPr>
          <p:txBody>
            <a:bodyPr anchor="ctr" rtlCol="false" tIns="0" lIns="0" bIns="0" rIns="0"/>
            <a:lstStyle/>
            <a:p>
              <a:pPr algn="ctr">
                <a:lnSpc>
                  <a:spcPts val="2520"/>
                </a:lnSpc>
              </a:pPr>
              <a:r>
                <a:rPr lang="en-US" sz="2100" b="true">
                  <a:solidFill>
                    <a:srgbClr val="FFFFFF"/>
                  </a:solidFill>
                  <a:latin typeface="Calibri (MS) Bold"/>
                  <a:ea typeface="Calibri (MS) Bold"/>
                  <a:cs typeface="Calibri (MS) Bold"/>
                  <a:sym typeface="Calibri (MS) Bold"/>
                </a:rPr>
                <a:t>✓  Confidentiality</a:t>
              </a:r>
            </a:p>
          </p:txBody>
        </p:sp>
      </p:grpSp>
      <p:grpSp>
        <p:nvGrpSpPr>
          <p:cNvPr name="Group 21" id="21"/>
          <p:cNvGrpSpPr/>
          <p:nvPr/>
        </p:nvGrpSpPr>
        <p:grpSpPr>
          <a:xfrm rot="0">
            <a:off x="6533007" y="5408295"/>
            <a:ext cx="5162550" cy="910590"/>
            <a:chOff x="0" y="0"/>
            <a:chExt cx="6883400" cy="1214120"/>
          </a:xfrm>
        </p:grpSpPr>
        <p:sp>
          <p:nvSpPr>
            <p:cNvPr name="Freeform 22" id="22"/>
            <p:cNvSpPr/>
            <p:nvPr/>
          </p:nvSpPr>
          <p:spPr>
            <a:xfrm flipH="false" flipV="false" rot="0">
              <a:off x="0" y="0"/>
              <a:ext cx="6883400" cy="1214120"/>
            </a:xfrm>
            <a:custGeom>
              <a:avLst/>
              <a:gdLst/>
              <a:ahLst/>
              <a:cxnLst/>
              <a:rect r="r" b="b" t="t" l="l"/>
              <a:pathLst>
                <a:path h="1214120" w="6883400">
                  <a:moveTo>
                    <a:pt x="0" y="168148"/>
                  </a:moveTo>
                  <a:cubicBezTo>
                    <a:pt x="0" y="75311"/>
                    <a:pt x="75311" y="0"/>
                    <a:pt x="168148" y="0"/>
                  </a:cubicBezTo>
                  <a:lnTo>
                    <a:pt x="6715252" y="0"/>
                  </a:lnTo>
                  <a:cubicBezTo>
                    <a:pt x="6808089" y="0"/>
                    <a:pt x="6883400" y="75311"/>
                    <a:pt x="6883400" y="168148"/>
                  </a:cubicBezTo>
                  <a:lnTo>
                    <a:pt x="6883400" y="1045972"/>
                  </a:lnTo>
                  <a:cubicBezTo>
                    <a:pt x="6883400" y="1138809"/>
                    <a:pt x="6808089" y="1214120"/>
                    <a:pt x="6715252" y="1214120"/>
                  </a:cubicBezTo>
                  <a:lnTo>
                    <a:pt x="168148" y="1214120"/>
                  </a:lnTo>
                  <a:cubicBezTo>
                    <a:pt x="75311" y="1214120"/>
                    <a:pt x="0" y="1138809"/>
                    <a:pt x="0" y="1045972"/>
                  </a:cubicBezTo>
                  <a:close/>
                </a:path>
              </a:pathLst>
            </a:custGeom>
            <a:solidFill>
              <a:srgbClr val="F4F7FC"/>
            </a:solidFill>
            <a:ln w="19050" cap="sq">
              <a:solidFill>
                <a:srgbClr val="D7DCEC"/>
              </a:solidFill>
              <a:prstDash val="solid"/>
              <a:miter/>
            </a:ln>
          </p:spPr>
        </p:sp>
      </p:grpSp>
      <p:grpSp>
        <p:nvGrpSpPr>
          <p:cNvPr name="Group 23" id="23"/>
          <p:cNvGrpSpPr/>
          <p:nvPr/>
        </p:nvGrpSpPr>
        <p:grpSpPr>
          <a:xfrm rot="0">
            <a:off x="6542532" y="5417820"/>
            <a:ext cx="5143500" cy="891540"/>
            <a:chOff x="0" y="0"/>
            <a:chExt cx="6858000" cy="1188720"/>
          </a:xfrm>
        </p:grpSpPr>
        <p:sp>
          <p:nvSpPr>
            <p:cNvPr name="Freeform 24" id="24"/>
            <p:cNvSpPr/>
            <p:nvPr/>
          </p:nvSpPr>
          <p:spPr>
            <a:xfrm flipH="false" flipV="false" rot="0">
              <a:off x="0" y="0"/>
              <a:ext cx="6858000" cy="1188720"/>
            </a:xfrm>
            <a:custGeom>
              <a:avLst/>
              <a:gdLst/>
              <a:ahLst/>
              <a:cxnLst/>
              <a:rect r="r" b="b" t="t" l="l"/>
              <a:pathLst>
                <a:path h="1188720" w="6858000">
                  <a:moveTo>
                    <a:pt x="0" y="0"/>
                  </a:moveTo>
                  <a:lnTo>
                    <a:pt x="6858000" y="0"/>
                  </a:lnTo>
                  <a:lnTo>
                    <a:pt x="6858000" y="1188720"/>
                  </a:lnTo>
                  <a:lnTo>
                    <a:pt x="0" y="1188720"/>
                  </a:lnTo>
                  <a:close/>
                </a:path>
              </a:pathLst>
            </a:custGeom>
            <a:blipFill>
              <a:blip r:embed="rId3">
                <a:alphaModFix amt="0"/>
              </a:blip>
              <a:stretch>
                <a:fillRect l="0" t="-62413" r="0" b="-62413"/>
              </a:stretch>
            </a:blipFill>
          </p:spPr>
        </p:sp>
        <p:sp>
          <p:nvSpPr>
            <p:cNvPr name="TextBox 25" id="25"/>
            <p:cNvSpPr txBox="true"/>
            <p:nvPr/>
          </p:nvSpPr>
          <p:spPr>
            <a:xfrm>
              <a:off x="0" y="-47625"/>
              <a:ext cx="6858000" cy="1236345"/>
            </a:xfrm>
            <a:prstGeom prst="rect">
              <a:avLst/>
            </a:prstGeom>
          </p:spPr>
          <p:txBody>
            <a:bodyPr anchor="ctr" rtlCol="false" tIns="0" lIns="0" bIns="0" rIns="0"/>
            <a:lstStyle/>
            <a:p>
              <a:pPr algn="ctr">
                <a:lnSpc>
                  <a:spcPts val="2520"/>
                </a:lnSpc>
              </a:pPr>
              <a:r>
                <a:rPr lang="en-US" sz="2100">
                  <a:solidFill>
                    <a:srgbClr val="6B7280"/>
                  </a:solidFill>
                  <a:latin typeface="Calibri (MS)"/>
                  <a:ea typeface="Calibri (MS)"/>
                  <a:cs typeface="Calibri (MS)"/>
                  <a:sym typeface="Calibri (MS)"/>
                </a:rPr>
                <a:t>Integrity</a:t>
              </a:r>
            </a:p>
          </p:txBody>
        </p:sp>
      </p:grpSp>
      <p:grpSp>
        <p:nvGrpSpPr>
          <p:cNvPr name="Group 26" id="26"/>
          <p:cNvGrpSpPr/>
          <p:nvPr/>
        </p:nvGrpSpPr>
        <p:grpSpPr>
          <a:xfrm rot="0">
            <a:off x="12115419" y="5408295"/>
            <a:ext cx="5162550" cy="910590"/>
            <a:chOff x="0" y="0"/>
            <a:chExt cx="6883400" cy="1214120"/>
          </a:xfrm>
        </p:grpSpPr>
        <p:sp>
          <p:nvSpPr>
            <p:cNvPr name="Freeform 27" id="27"/>
            <p:cNvSpPr/>
            <p:nvPr/>
          </p:nvSpPr>
          <p:spPr>
            <a:xfrm flipH="false" flipV="false" rot="0">
              <a:off x="0" y="0"/>
              <a:ext cx="6883400" cy="1214120"/>
            </a:xfrm>
            <a:custGeom>
              <a:avLst/>
              <a:gdLst/>
              <a:ahLst/>
              <a:cxnLst/>
              <a:rect r="r" b="b" t="t" l="l"/>
              <a:pathLst>
                <a:path h="1214120" w="6883400">
                  <a:moveTo>
                    <a:pt x="0" y="168148"/>
                  </a:moveTo>
                  <a:cubicBezTo>
                    <a:pt x="0" y="75311"/>
                    <a:pt x="75311" y="0"/>
                    <a:pt x="168148" y="0"/>
                  </a:cubicBezTo>
                  <a:lnTo>
                    <a:pt x="6715252" y="0"/>
                  </a:lnTo>
                  <a:cubicBezTo>
                    <a:pt x="6808089" y="0"/>
                    <a:pt x="6883400" y="75311"/>
                    <a:pt x="6883400" y="168148"/>
                  </a:cubicBezTo>
                  <a:lnTo>
                    <a:pt x="6883400" y="1045972"/>
                  </a:lnTo>
                  <a:cubicBezTo>
                    <a:pt x="6883400" y="1138809"/>
                    <a:pt x="6808089" y="1214120"/>
                    <a:pt x="6715252" y="1214120"/>
                  </a:cubicBezTo>
                  <a:lnTo>
                    <a:pt x="168148" y="1214120"/>
                  </a:lnTo>
                  <a:cubicBezTo>
                    <a:pt x="75311" y="1214120"/>
                    <a:pt x="0" y="1138809"/>
                    <a:pt x="0" y="1045972"/>
                  </a:cubicBezTo>
                  <a:close/>
                </a:path>
              </a:pathLst>
            </a:custGeom>
            <a:solidFill>
              <a:srgbClr val="B8690F"/>
            </a:solidFill>
            <a:ln w="19050" cap="sq">
              <a:solidFill>
                <a:srgbClr val="B8690F"/>
              </a:solidFill>
              <a:prstDash val="solid"/>
              <a:miter/>
            </a:ln>
          </p:spPr>
        </p:sp>
      </p:grpSp>
      <p:grpSp>
        <p:nvGrpSpPr>
          <p:cNvPr name="Group 28" id="28"/>
          <p:cNvGrpSpPr/>
          <p:nvPr/>
        </p:nvGrpSpPr>
        <p:grpSpPr>
          <a:xfrm rot="0">
            <a:off x="12124944" y="5417820"/>
            <a:ext cx="5143500" cy="891540"/>
            <a:chOff x="0" y="0"/>
            <a:chExt cx="6858000" cy="1188720"/>
          </a:xfrm>
        </p:grpSpPr>
        <p:sp>
          <p:nvSpPr>
            <p:cNvPr name="Freeform 29" id="29"/>
            <p:cNvSpPr/>
            <p:nvPr/>
          </p:nvSpPr>
          <p:spPr>
            <a:xfrm flipH="false" flipV="false" rot="0">
              <a:off x="0" y="0"/>
              <a:ext cx="6858000" cy="1188720"/>
            </a:xfrm>
            <a:custGeom>
              <a:avLst/>
              <a:gdLst/>
              <a:ahLst/>
              <a:cxnLst/>
              <a:rect r="r" b="b" t="t" l="l"/>
              <a:pathLst>
                <a:path h="1188720" w="6858000">
                  <a:moveTo>
                    <a:pt x="0" y="0"/>
                  </a:moveTo>
                  <a:lnTo>
                    <a:pt x="6858000" y="0"/>
                  </a:lnTo>
                  <a:lnTo>
                    <a:pt x="6858000" y="1188720"/>
                  </a:lnTo>
                  <a:lnTo>
                    <a:pt x="0" y="1188720"/>
                  </a:lnTo>
                  <a:close/>
                </a:path>
              </a:pathLst>
            </a:custGeom>
            <a:blipFill>
              <a:blip r:embed="rId3">
                <a:alphaModFix amt="0"/>
              </a:blip>
              <a:stretch>
                <a:fillRect l="0" t="-62413" r="0" b="-62413"/>
              </a:stretch>
            </a:blipFill>
          </p:spPr>
        </p:sp>
        <p:sp>
          <p:nvSpPr>
            <p:cNvPr name="TextBox 30" id="30"/>
            <p:cNvSpPr txBox="true"/>
            <p:nvPr/>
          </p:nvSpPr>
          <p:spPr>
            <a:xfrm>
              <a:off x="0" y="-47625"/>
              <a:ext cx="6858000" cy="1236345"/>
            </a:xfrm>
            <a:prstGeom prst="rect">
              <a:avLst/>
            </a:prstGeom>
          </p:spPr>
          <p:txBody>
            <a:bodyPr anchor="ctr" rtlCol="false" tIns="0" lIns="0" bIns="0" rIns="0"/>
            <a:lstStyle/>
            <a:p>
              <a:pPr algn="ctr">
                <a:lnSpc>
                  <a:spcPts val="2520"/>
                </a:lnSpc>
              </a:pPr>
              <a:r>
                <a:rPr lang="en-US" sz="2100" b="true">
                  <a:solidFill>
                    <a:srgbClr val="FFFFFF"/>
                  </a:solidFill>
                  <a:latin typeface="Calibri (MS) Bold"/>
                  <a:ea typeface="Calibri (MS) Bold"/>
                  <a:cs typeface="Calibri (MS) Bold"/>
                  <a:sym typeface="Calibri (MS) Bold"/>
                </a:rPr>
                <a:t>✓  Availability</a:t>
              </a:r>
            </a:p>
          </p:txBody>
        </p:sp>
      </p:grpSp>
      <p:grpSp>
        <p:nvGrpSpPr>
          <p:cNvPr name="Group 31" id="31"/>
          <p:cNvGrpSpPr/>
          <p:nvPr/>
        </p:nvGrpSpPr>
        <p:grpSpPr>
          <a:xfrm rot="0">
            <a:off x="950595" y="6779895"/>
            <a:ext cx="16341090" cy="2145030"/>
            <a:chOff x="0" y="0"/>
            <a:chExt cx="21788120" cy="2860040"/>
          </a:xfrm>
        </p:grpSpPr>
        <p:sp>
          <p:nvSpPr>
            <p:cNvPr name="Freeform 32" id="32"/>
            <p:cNvSpPr/>
            <p:nvPr/>
          </p:nvSpPr>
          <p:spPr>
            <a:xfrm flipH="false" flipV="false" rot="0">
              <a:off x="0" y="0"/>
              <a:ext cx="21788120" cy="2860040"/>
            </a:xfrm>
            <a:custGeom>
              <a:avLst/>
              <a:gdLst/>
              <a:ahLst/>
              <a:cxnLst/>
              <a:rect r="r" b="b" t="t" l="l"/>
              <a:pathLst>
                <a:path h="2860040" w="21788120">
                  <a:moveTo>
                    <a:pt x="0" y="184531"/>
                  </a:moveTo>
                  <a:cubicBezTo>
                    <a:pt x="0" y="82677"/>
                    <a:pt x="82677" y="0"/>
                    <a:pt x="184531" y="0"/>
                  </a:cubicBezTo>
                  <a:lnTo>
                    <a:pt x="21603588" y="0"/>
                  </a:lnTo>
                  <a:cubicBezTo>
                    <a:pt x="21705443" y="0"/>
                    <a:pt x="21788120" y="82677"/>
                    <a:pt x="21788120" y="184531"/>
                  </a:cubicBezTo>
                  <a:lnTo>
                    <a:pt x="21788120" y="2675509"/>
                  </a:lnTo>
                  <a:cubicBezTo>
                    <a:pt x="21788120" y="2777363"/>
                    <a:pt x="21705443" y="2860040"/>
                    <a:pt x="21603588" y="2860040"/>
                  </a:cubicBezTo>
                  <a:lnTo>
                    <a:pt x="184531" y="2860040"/>
                  </a:lnTo>
                  <a:cubicBezTo>
                    <a:pt x="82677" y="2860040"/>
                    <a:pt x="0" y="2777363"/>
                    <a:pt x="0" y="2675509"/>
                  </a:cubicBezTo>
                  <a:close/>
                </a:path>
              </a:pathLst>
            </a:custGeom>
            <a:solidFill>
              <a:srgbClr val="FBF9F4"/>
            </a:solidFill>
            <a:ln w="19050" cap="sq">
              <a:solidFill>
                <a:srgbClr val="EFE6D2"/>
              </a:solidFill>
              <a:prstDash val="solid"/>
              <a:miter/>
            </a:ln>
          </p:spPr>
        </p:sp>
      </p:grpSp>
      <p:sp>
        <p:nvSpPr>
          <p:cNvPr name="TextBox 33" id="33"/>
          <p:cNvSpPr txBox="true"/>
          <p:nvPr/>
        </p:nvSpPr>
        <p:spPr>
          <a:xfrm rot="0">
            <a:off x="1463040" y="6977253"/>
            <a:ext cx="15316200" cy="1659255"/>
          </a:xfrm>
          <a:prstGeom prst="rect">
            <a:avLst/>
          </a:prstGeom>
        </p:spPr>
        <p:txBody>
          <a:bodyPr anchor="t" rtlCol="false" tIns="0" lIns="0" bIns="0" rIns="0">
            <a:spAutoFit/>
          </a:bodyPr>
          <a:lstStyle/>
          <a:p>
            <a:pPr algn="l">
              <a:lnSpc>
                <a:spcPts val="3159"/>
              </a:lnSpc>
            </a:pPr>
            <a:r>
              <a:rPr lang="en-US" sz="2025">
                <a:solidFill>
                  <a:srgbClr val="23262F"/>
                </a:solidFill>
                <a:latin typeface="Calibri (MS)"/>
                <a:ea typeface="Calibri (MS)"/>
                <a:cs typeface="Calibri (MS)"/>
                <a:sym typeface="Calibri (MS)"/>
              </a:rPr>
              <a:t>Primarily Availability — the system is locked and unusable. Many modern ransomware attacks also quietly copy the data out first, which adds a Confidentiality angle too.</a:t>
            </a:r>
          </a:p>
        </p:txBody>
      </p:sp>
      <p:grpSp>
        <p:nvGrpSpPr>
          <p:cNvPr name="Group 34" id="34"/>
          <p:cNvGrpSpPr/>
          <p:nvPr/>
        </p:nvGrpSpPr>
        <p:grpSpPr>
          <a:xfrm rot="0">
            <a:off x="685800" y="9710928"/>
            <a:ext cx="10972800" cy="411480"/>
            <a:chOff x="0" y="0"/>
            <a:chExt cx="14630400" cy="548640"/>
          </a:xfrm>
        </p:grpSpPr>
        <p:sp>
          <p:nvSpPr>
            <p:cNvPr name="Freeform 35" id="35"/>
            <p:cNvSpPr/>
            <p:nvPr/>
          </p:nvSpPr>
          <p:spPr>
            <a:xfrm flipH="false" flipV="false" rot="0">
              <a:off x="0" y="0"/>
              <a:ext cx="14630400" cy="548640"/>
            </a:xfrm>
            <a:custGeom>
              <a:avLst/>
              <a:gdLst/>
              <a:ahLst/>
              <a:cxnLst/>
              <a:rect r="r" b="b" t="t" l="l"/>
              <a:pathLst>
                <a:path h="548640" w="14630400">
                  <a:moveTo>
                    <a:pt x="0" y="0"/>
                  </a:moveTo>
                  <a:lnTo>
                    <a:pt x="14630400" y="0"/>
                  </a:lnTo>
                  <a:lnTo>
                    <a:pt x="14630400" y="548640"/>
                  </a:lnTo>
                  <a:lnTo>
                    <a:pt x="0" y="548640"/>
                  </a:lnTo>
                  <a:close/>
                </a:path>
              </a:pathLst>
            </a:custGeom>
            <a:blipFill>
              <a:blip r:embed="rId3">
                <a:alphaModFix amt="0"/>
              </a:blip>
              <a:stretch>
                <a:fillRect l="0" t="-469601" r="0" b="-469601"/>
              </a:stretch>
            </a:blipFill>
          </p:spPr>
        </p:sp>
        <p:sp>
          <p:nvSpPr>
            <p:cNvPr name="TextBox 36" id="36"/>
            <p:cNvSpPr txBox="true"/>
            <p:nvPr/>
          </p:nvSpPr>
          <p:spPr>
            <a:xfrm>
              <a:off x="0" y="-38100"/>
              <a:ext cx="14630400" cy="586740"/>
            </a:xfrm>
            <a:prstGeom prst="rect">
              <a:avLst/>
            </a:prstGeom>
          </p:spPr>
          <p:txBody>
            <a:bodyPr anchor="ctr" rtlCol="false" tIns="0" lIns="0" bIns="0" rIns="0"/>
            <a:lstStyle/>
            <a:p>
              <a:pPr algn="l">
                <a:lnSpc>
                  <a:spcPts val="1800"/>
                </a:lnSpc>
              </a:pPr>
              <a:r>
                <a:rPr lang="en-US" sz="1500">
                  <a:solidFill>
                    <a:srgbClr val="6B7280"/>
                  </a:solidFill>
                  <a:latin typeface="Calibri (MS)"/>
                  <a:ea typeface="Calibri (MS)"/>
                  <a:cs typeface="Calibri (MS)"/>
                  <a:sym typeface="Calibri (MS)"/>
                </a:rPr>
                <a:t>Davao del Norte Provincial Government — Cybersecurity Seminar</a:t>
              </a:r>
            </a:p>
          </p:txBody>
        </p:sp>
      </p:grpSp>
      <p:grpSp>
        <p:nvGrpSpPr>
          <p:cNvPr name="Group 37" id="37"/>
          <p:cNvGrpSpPr/>
          <p:nvPr/>
        </p:nvGrpSpPr>
        <p:grpSpPr>
          <a:xfrm rot="0">
            <a:off x="16911828" y="9710928"/>
            <a:ext cx="685800" cy="411480"/>
            <a:chOff x="0" y="0"/>
            <a:chExt cx="914400" cy="548640"/>
          </a:xfrm>
        </p:grpSpPr>
        <p:sp>
          <p:nvSpPr>
            <p:cNvPr name="Freeform 38" id="38"/>
            <p:cNvSpPr/>
            <p:nvPr/>
          </p:nvSpPr>
          <p:spPr>
            <a:xfrm flipH="false" flipV="false" rot="0">
              <a:off x="0" y="0"/>
              <a:ext cx="914400" cy="548640"/>
            </a:xfrm>
            <a:custGeom>
              <a:avLst/>
              <a:gdLst/>
              <a:ahLst/>
              <a:cxnLst/>
              <a:rect r="r" b="b" t="t" l="l"/>
              <a:pathLst>
                <a:path h="548640" w="914400">
                  <a:moveTo>
                    <a:pt x="0" y="0"/>
                  </a:moveTo>
                  <a:lnTo>
                    <a:pt x="914400" y="0"/>
                  </a:lnTo>
                  <a:lnTo>
                    <a:pt x="914400" y="548640"/>
                  </a:lnTo>
                  <a:lnTo>
                    <a:pt x="0" y="548640"/>
                  </a:lnTo>
                  <a:close/>
                </a:path>
              </a:pathLst>
            </a:custGeom>
            <a:blipFill>
              <a:blip r:embed="rId3">
                <a:alphaModFix amt="0"/>
              </a:blip>
              <a:stretch>
                <a:fillRect l="-26982" t="0" r="-26982" b="0"/>
              </a:stretch>
            </a:blipFill>
          </p:spPr>
        </p:sp>
        <p:sp>
          <p:nvSpPr>
            <p:cNvPr name="TextBox 39" id="39"/>
            <p:cNvSpPr txBox="true"/>
            <p:nvPr/>
          </p:nvSpPr>
          <p:spPr>
            <a:xfrm>
              <a:off x="0" y="-38100"/>
              <a:ext cx="914400" cy="586740"/>
            </a:xfrm>
            <a:prstGeom prst="rect">
              <a:avLst/>
            </a:prstGeom>
          </p:spPr>
          <p:txBody>
            <a:bodyPr anchor="ctr" rtlCol="false" tIns="0" lIns="0" bIns="0" rIns="0"/>
            <a:lstStyle/>
            <a:p>
              <a:pPr algn="r">
                <a:lnSpc>
                  <a:spcPts val="1800"/>
                </a:lnSpc>
              </a:pPr>
              <a:r>
                <a:rPr lang="en-US" sz="1500">
                  <a:solidFill>
                    <a:srgbClr val="6B7280"/>
                  </a:solidFill>
                  <a:latin typeface="Calibri (MS)"/>
                  <a:ea typeface="Calibri (MS)"/>
                  <a:cs typeface="Calibri (MS)"/>
                  <a:sym typeface="Calibri (MS)"/>
                </a:rPr>
                <a:t>50</a:t>
              </a:r>
            </a:p>
          </p:txBody>
        </p:sp>
      </p:grpSp>
    </p:spTree>
  </p:cSld>
  <p:clrMapOvr>
    <a:masterClrMapping/>
  </p:clrMapOvr>
</p:sld>
</file>

<file path=ppt/slides/slide5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60120" y="685800"/>
            <a:ext cx="13716000" cy="411480"/>
            <a:chOff x="0" y="0"/>
            <a:chExt cx="18288000" cy="548640"/>
          </a:xfrm>
        </p:grpSpPr>
        <p:sp>
          <p:nvSpPr>
            <p:cNvPr name="Freeform 3" id="3"/>
            <p:cNvSpPr/>
            <p:nvPr/>
          </p:nvSpPr>
          <p:spPr>
            <a:xfrm flipH="false" flipV="false" rot="0">
              <a:off x="0" y="0"/>
              <a:ext cx="18288000" cy="548640"/>
            </a:xfrm>
            <a:custGeom>
              <a:avLst/>
              <a:gdLst/>
              <a:ahLst/>
              <a:cxnLst/>
              <a:rect r="r" b="b" t="t" l="l"/>
              <a:pathLst>
                <a:path h="548640" w="18288000">
                  <a:moveTo>
                    <a:pt x="0" y="0"/>
                  </a:moveTo>
                  <a:lnTo>
                    <a:pt x="18288000" y="0"/>
                  </a:lnTo>
                  <a:lnTo>
                    <a:pt x="18288000" y="548640"/>
                  </a:lnTo>
                  <a:lnTo>
                    <a:pt x="0" y="548640"/>
                  </a:lnTo>
                  <a:close/>
                </a:path>
              </a:pathLst>
            </a:custGeom>
            <a:blipFill>
              <a:blip r:embed="rId3">
                <a:alphaModFix amt="0"/>
              </a:blip>
              <a:stretch>
                <a:fillRect l="0" t="-599501" r="0" b="-599501"/>
              </a:stretch>
            </a:blipFill>
          </p:spPr>
        </p:sp>
        <p:sp>
          <p:nvSpPr>
            <p:cNvPr name="TextBox 4" id="4"/>
            <p:cNvSpPr txBox="true"/>
            <p:nvPr/>
          </p:nvSpPr>
          <p:spPr>
            <a:xfrm>
              <a:off x="0" y="-38100"/>
              <a:ext cx="18288000" cy="586740"/>
            </a:xfrm>
            <a:prstGeom prst="rect">
              <a:avLst/>
            </a:prstGeom>
          </p:spPr>
          <p:txBody>
            <a:bodyPr anchor="ctr" rtlCol="false" tIns="0" lIns="0" bIns="0" rIns="0"/>
            <a:lstStyle/>
            <a:p>
              <a:pPr algn="l">
                <a:lnSpc>
                  <a:spcPts val="2160"/>
                </a:lnSpc>
              </a:pPr>
              <a:r>
                <a:rPr lang="en-US" b="true" sz="1800" spc="225">
                  <a:solidFill>
                    <a:srgbClr val="00B4D8"/>
                  </a:solidFill>
                  <a:latin typeface="Calibri (MS) Bold"/>
                  <a:ea typeface="Calibri (MS) Bold"/>
                  <a:cs typeface="Calibri (MS) Bold"/>
                  <a:sym typeface="Calibri (MS) Bold"/>
                </a:rPr>
                <a:t>CIA TRIAD SORT · SCENARIO</a:t>
              </a:r>
            </a:p>
          </p:txBody>
        </p:sp>
      </p:grpSp>
      <p:grpSp>
        <p:nvGrpSpPr>
          <p:cNvPr name="Group 5" id="5"/>
          <p:cNvGrpSpPr/>
          <p:nvPr/>
        </p:nvGrpSpPr>
        <p:grpSpPr>
          <a:xfrm rot="0">
            <a:off x="960120" y="1069848"/>
            <a:ext cx="10972800" cy="822960"/>
            <a:chOff x="0" y="0"/>
            <a:chExt cx="14630400" cy="1097280"/>
          </a:xfrm>
        </p:grpSpPr>
        <p:sp>
          <p:nvSpPr>
            <p:cNvPr name="Freeform 6" id="6"/>
            <p:cNvSpPr/>
            <p:nvPr/>
          </p:nvSpPr>
          <p:spPr>
            <a:xfrm flipH="false" flipV="false" rot="0">
              <a:off x="0" y="0"/>
              <a:ext cx="14630400" cy="1097280"/>
            </a:xfrm>
            <a:custGeom>
              <a:avLst/>
              <a:gdLst/>
              <a:ahLst/>
              <a:cxnLst/>
              <a:rect r="r" b="b" t="t" l="l"/>
              <a:pathLst>
                <a:path h="1097280" w="14630400">
                  <a:moveTo>
                    <a:pt x="0" y="0"/>
                  </a:moveTo>
                  <a:lnTo>
                    <a:pt x="14630400" y="0"/>
                  </a:lnTo>
                  <a:lnTo>
                    <a:pt x="14630400" y="1097280"/>
                  </a:lnTo>
                  <a:lnTo>
                    <a:pt x="0" y="1097280"/>
                  </a:lnTo>
                  <a:close/>
                </a:path>
              </a:pathLst>
            </a:custGeom>
            <a:blipFill>
              <a:blip r:embed="rId3">
                <a:alphaModFix amt="0"/>
              </a:blip>
              <a:stretch>
                <a:fillRect l="0" t="-209800" r="0" b="-209800"/>
              </a:stretch>
            </a:blipFill>
          </p:spPr>
        </p:sp>
        <p:sp>
          <p:nvSpPr>
            <p:cNvPr name="TextBox 7" id="7"/>
            <p:cNvSpPr txBox="true"/>
            <p:nvPr/>
          </p:nvSpPr>
          <p:spPr>
            <a:xfrm>
              <a:off x="0" y="0"/>
              <a:ext cx="14630400" cy="1097280"/>
            </a:xfrm>
            <a:prstGeom prst="rect">
              <a:avLst/>
            </a:prstGeom>
          </p:spPr>
          <p:txBody>
            <a:bodyPr anchor="ctr" rtlCol="false" tIns="0" lIns="0" bIns="0" rIns="0"/>
            <a:lstStyle/>
            <a:p>
              <a:pPr algn="l">
                <a:lnSpc>
                  <a:spcPts val="4680"/>
                </a:lnSpc>
              </a:pPr>
              <a:r>
                <a:rPr lang="en-US" sz="3900" b="true">
                  <a:solidFill>
                    <a:srgbClr val="1E2761"/>
                  </a:solidFill>
                  <a:latin typeface="Cambria Bold"/>
                  <a:ea typeface="Cambria Bold"/>
                  <a:cs typeface="Cambria Bold"/>
                  <a:sym typeface="Cambria Bold"/>
                </a:rPr>
                <a:t>Scenario 7</a:t>
              </a:r>
            </a:p>
          </p:txBody>
        </p:sp>
      </p:grpSp>
      <p:grpSp>
        <p:nvGrpSpPr>
          <p:cNvPr name="Group 8" id="8"/>
          <p:cNvGrpSpPr/>
          <p:nvPr/>
        </p:nvGrpSpPr>
        <p:grpSpPr>
          <a:xfrm rot="0">
            <a:off x="960120" y="1810512"/>
            <a:ext cx="8229600" cy="411480"/>
            <a:chOff x="0" y="0"/>
            <a:chExt cx="10972800" cy="548640"/>
          </a:xfrm>
        </p:grpSpPr>
        <p:sp>
          <p:nvSpPr>
            <p:cNvPr name="Freeform 9" id="9"/>
            <p:cNvSpPr/>
            <p:nvPr/>
          </p:nvSpPr>
          <p:spPr>
            <a:xfrm flipH="false" flipV="false" rot="0">
              <a:off x="0" y="0"/>
              <a:ext cx="10972800" cy="548640"/>
            </a:xfrm>
            <a:custGeom>
              <a:avLst/>
              <a:gdLst/>
              <a:ahLst/>
              <a:cxnLst/>
              <a:rect r="r" b="b" t="t" l="l"/>
              <a:pathLst>
                <a:path h="548640" w="10972800">
                  <a:moveTo>
                    <a:pt x="0" y="0"/>
                  </a:moveTo>
                  <a:lnTo>
                    <a:pt x="10972800" y="0"/>
                  </a:lnTo>
                  <a:lnTo>
                    <a:pt x="10972800" y="548640"/>
                  </a:lnTo>
                  <a:lnTo>
                    <a:pt x="0" y="548640"/>
                  </a:lnTo>
                  <a:close/>
                </a:path>
              </a:pathLst>
            </a:custGeom>
            <a:blipFill>
              <a:blip r:embed="rId3">
                <a:alphaModFix amt="0"/>
              </a:blip>
              <a:stretch>
                <a:fillRect l="0" t="-339700" r="0" b="-339700"/>
              </a:stretch>
            </a:blipFill>
          </p:spPr>
        </p:sp>
        <p:sp>
          <p:nvSpPr>
            <p:cNvPr name="TextBox 10" id="10"/>
            <p:cNvSpPr txBox="true"/>
            <p:nvPr/>
          </p:nvSpPr>
          <p:spPr>
            <a:xfrm>
              <a:off x="0" y="-28575"/>
              <a:ext cx="10972800" cy="577215"/>
            </a:xfrm>
            <a:prstGeom prst="rect">
              <a:avLst/>
            </a:prstGeom>
          </p:spPr>
          <p:txBody>
            <a:bodyPr anchor="ctr" rtlCol="false" tIns="0" lIns="0" bIns="0" rIns="0"/>
            <a:lstStyle/>
            <a:p>
              <a:pPr algn="l">
                <a:lnSpc>
                  <a:spcPts val="1980"/>
                </a:lnSpc>
              </a:pPr>
              <a:r>
                <a:rPr lang="en-US" sz="1650">
                  <a:solidFill>
                    <a:srgbClr val="6B7280"/>
                  </a:solidFill>
                  <a:latin typeface="Calibri (MS)"/>
                  <a:ea typeface="Calibri (MS)"/>
                  <a:cs typeface="Calibri (MS)"/>
                  <a:sym typeface="Calibri (MS)"/>
                </a:rPr>
                <a:t>7 of 12</a:t>
              </a:r>
            </a:p>
          </p:txBody>
        </p:sp>
      </p:grpSp>
      <p:grpSp>
        <p:nvGrpSpPr>
          <p:cNvPr name="Group 11" id="11"/>
          <p:cNvGrpSpPr/>
          <p:nvPr/>
        </p:nvGrpSpPr>
        <p:grpSpPr>
          <a:xfrm rot="0">
            <a:off x="960120" y="2537460"/>
            <a:ext cx="16322040" cy="2811780"/>
            <a:chOff x="0" y="0"/>
            <a:chExt cx="21762720" cy="3749040"/>
          </a:xfrm>
        </p:grpSpPr>
        <p:sp>
          <p:nvSpPr>
            <p:cNvPr name="Freeform 12" id="12"/>
            <p:cNvSpPr/>
            <p:nvPr/>
          </p:nvSpPr>
          <p:spPr>
            <a:xfrm flipH="false" flipV="false" rot="0">
              <a:off x="0" y="0"/>
              <a:ext cx="21762720" cy="3749040"/>
            </a:xfrm>
            <a:custGeom>
              <a:avLst/>
              <a:gdLst/>
              <a:ahLst/>
              <a:cxnLst/>
              <a:rect r="r" b="b" t="t" l="l"/>
              <a:pathLst>
                <a:path h="3749040" w="21762720">
                  <a:moveTo>
                    <a:pt x="0" y="182880"/>
                  </a:moveTo>
                  <a:cubicBezTo>
                    <a:pt x="0" y="81915"/>
                    <a:pt x="81915" y="0"/>
                    <a:pt x="182880" y="0"/>
                  </a:cubicBezTo>
                  <a:lnTo>
                    <a:pt x="21579839" y="0"/>
                  </a:lnTo>
                  <a:cubicBezTo>
                    <a:pt x="21680804" y="0"/>
                    <a:pt x="21762720" y="81915"/>
                    <a:pt x="21762720" y="182880"/>
                  </a:cubicBezTo>
                  <a:lnTo>
                    <a:pt x="21762720" y="3566160"/>
                  </a:lnTo>
                  <a:cubicBezTo>
                    <a:pt x="21762720" y="3667125"/>
                    <a:pt x="21680804" y="3749040"/>
                    <a:pt x="21579839" y="3749040"/>
                  </a:cubicBezTo>
                  <a:lnTo>
                    <a:pt x="182880" y="3749040"/>
                  </a:lnTo>
                  <a:cubicBezTo>
                    <a:pt x="81915" y="3749040"/>
                    <a:pt x="0" y="3667125"/>
                    <a:pt x="0" y="3566160"/>
                  </a:cubicBezTo>
                  <a:close/>
                </a:path>
              </a:pathLst>
            </a:custGeom>
            <a:solidFill>
              <a:srgbClr val="F4F7FC"/>
            </a:solidFill>
          </p:spPr>
        </p:sp>
      </p:grpSp>
      <p:grpSp>
        <p:nvGrpSpPr>
          <p:cNvPr name="Group 13" id="13"/>
          <p:cNvGrpSpPr/>
          <p:nvPr/>
        </p:nvGrpSpPr>
        <p:grpSpPr>
          <a:xfrm rot="0">
            <a:off x="1440180" y="2811780"/>
            <a:ext cx="15361920" cy="2263140"/>
            <a:chOff x="0" y="0"/>
            <a:chExt cx="20482560" cy="3017520"/>
          </a:xfrm>
        </p:grpSpPr>
        <p:sp>
          <p:nvSpPr>
            <p:cNvPr name="Freeform 14" id="14"/>
            <p:cNvSpPr/>
            <p:nvPr/>
          </p:nvSpPr>
          <p:spPr>
            <a:xfrm flipH="false" flipV="false" rot="0">
              <a:off x="0" y="0"/>
              <a:ext cx="20482561" cy="3017520"/>
            </a:xfrm>
            <a:custGeom>
              <a:avLst/>
              <a:gdLst/>
              <a:ahLst/>
              <a:cxnLst/>
              <a:rect r="r" b="b" t="t" l="l"/>
              <a:pathLst>
                <a:path h="3017520" w="20482561">
                  <a:moveTo>
                    <a:pt x="0" y="0"/>
                  </a:moveTo>
                  <a:lnTo>
                    <a:pt x="20482561" y="0"/>
                  </a:lnTo>
                  <a:lnTo>
                    <a:pt x="20482561" y="3017520"/>
                  </a:lnTo>
                  <a:lnTo>
                    <a:pt x="0" y="3017520"/>
                  </a:lnTo>
                  <a:close/>
                </a:path>
              </a:pathLst>
            </a:custGeom>
            <a:blipFill>
              <a:blip r:embed="rId3">
                <a:alphaModFix amt="0"/>
              </a:blip>
              <a:stretch>
                <a:fillRect l="0" t="-82262" r="0" b="-82262"/>
              </a:stretch>
            </a:blipFill>
          </p:spPr>
        </p:sp>
        <p:sp>
          <p:nvSpPr>
            <p:cNvPr name="TextBox 15" id="15"/>
            <p:cNvSpPr txBox="true"/>
            <p:nvPr/>
          </p:nvSpPr>
          <p:spPr>
            <a:xfrm>
              <a:off x="0" y="-104775"/>
              <a:ext cx="20482560" cy="3122295"/>
            </a:xfrm>
            <a:prstGeom prst="rect">
              <a:avLst/>
            </a:prstGeom>
          </p:spPr>
          <p:txBody>
            <a:bodyPr anchor="ctr" rtlCol="false" tIns="0" lIns="0" bIns="0" rIns="0"/>
            <a:lstStyle/>
            <a:p>
              <a:pPr algn="l">
                <a:lnSpc>
                  <a:spcPts val="4147"/>
                </a:lnSpc>
              </a:pPr>
              <a:r>
                <a:rPr lang="en-US" sz="2700" i="true">
                  <a:solidFill>
                    <a:srgbClr val="23262F"/>
                  </a:solidFill>
                  <a:latin typeface="Cambria Italics"/>
                  <a:ea typeface="Cambria Italics"/>
                  <a:cs typeface="Cambria Italics"/>
                  <a:sym typeface="Cambria Italics"/>
                </a:rPr>
                <a:t>“An employee's unencrypted laptop, containing resident health records, is stolen from their vehicle.”</a:t>
              </a:r>
            </a:p>
          </p:txBody>
        </p:sp>
      </p:grpSp>
      <p:sp>
        <p:nvSpPr>
          <p:cNvPr name="TextBox 16" id="16"/>
          <p:cNvSpPr txBox="true"/>
          <p:nvPr/>
        </p:nvSpPr>
        <p:spPr>
          <a:xfrm rot="0">
            <a:off x="1051560" y="5604510"/>
            <a:ext cx="16139160" cy="1276350"/>
          </a:xfrm>
          <a:prstGeom prst="rect">
            <a:avLst/>
          </a:prstGeom>
        </p:spPr>
        <p:txBody>
          <a:bodyPr anchor="t" rtlCol="false" tIns="0" lIns="0" bIns="0" rIns="0">
            <a:spAutoFit/>
          </a:bodyPr>
          <a:lstStyle/>
          <a:p>
            <a:pPr algn="ctr">
              <a:lnSpc>
                <a:spcPts val="3402"/>
              </a:lnSpc>
            </a:pPr>
            <a:r>
              <a:rPr lang="en-US" sz="2100" i="true">
                <a:solidFill>
                  <a:srgbClr val="6B7280"/>
                </a:solidFill>
                <a:latin typeface="Calibri (MS) Italics"/>
                <a:ea typeface="Calibri (MS) Italics"/>
                <a:cs typeface="Calibri (MS) Italics"/>
                <a:sym typeface="Calibri (MS) Italics"/>
              </a:rPr>
              <a:t>Which does this break — Confidentiality, Integrity, or Availability?</a:t>
            </a:r>
          </a:p>
          <a:p>
            <a:pPr algn="ctr">
              <a:lnSpc>
                <a:spcPts val="3402"/>
              </a:lnSpc>
            </a:pPr>
            <a:r>
              <a:rPr lang="en-US" sz="2100" i="true">
                <a:solidFill>
                  <a:srgbClr val="6B7280"/>
                </a:solidFill>
                <a:latin typeface="Calibri (MS) Italics"/>
                <a:ea typeface="Calibri (MS) Italics"/>
                <a:cs typeface="Calibri (MS) Italics"/>
                <a:sym typeface="Calibri (MS) Italics"/>
              </a:rPr>
              <a:t>Some break more than one. Discuss, then we'll reveal the answer.</a:t>
            </a:r>
          </a:p>
        </p:txBody>
      </p:sp>
      <p:grpSp>
        <p:nvGrpSpPr>
          <p:cNvPr name="Group 17" id="17"/>
          <p:cNvGrpSpPr/>
          <p:nvPr/>
        </p:nvGrpSpPr>
        <p:grpSpPr>
          <a:xfrm rot="0">
            <a:off x="950595" y="7191375"/>
            <a:ext cx="5162550" cy="910590"/>
            <a:chOff x="0" y="0"/>
            <a:chExt cx="6883400" cy="1214120"/>
          </a:xfrm>
        </p:grpSpPr>
        <p:sp>
          <p:nvSpPr>
            <p:cNvPr name="Freeform 18" id="18"/>
            <p:cNvSpPr/>
            <p:nvPr/>
          </p:nvSpPr>
          <p:spPr>
            <a:xfrm flipH="false" flipV="false" rot="0">
              <a:off x="0" y="0"/>
              <a:ext cx="6883400" cy="1214120"/>
            </a:xfrm>
            <a:custGeom>
              <a:avLst/>
              <a:gdLst/>
              <a:ahLst/>
              <a:cxnLst/>
              <a:rect r="r" b="b" t="t" l="l"/>
              <a:pathLst>
                <a:path h="1214120" w="6883400">
                  <a:moveTo>
                    <a:pt x="0" y="168148"/>
                  </a:moveTo>
                  <a:cubicBezTo>
                    <a:pt x="0" y="75311"/>
                    <a:pt x="75311" y="0"/>
                    <a:pt x="168148" y="0"/>
                  </a:cubicBezTo>
                  <a:lnTo>
                    <a:pt x="6715252" y="0"/>
                  </a:lnTo>
                  <a:cubicBezTo>
                    <a:pt x="6808089" y="0"/>
                    <a:pt x="6883400" y="75311"/>
                    <a:pt x="6883400" y="168148"/>
                  </a:cubicBezTo>
                  <a:lnTo>
                    <a:pt x="6883400" y="1045972"/>
                  </a:lnTo>
                  <a:cubicBezTo>
                    <a:pt x="6883400" y="1138809"/>
                    <a:pt x="6808089" y="1214120"/>
                    <a:pt x="6715252" y="1214120"/>
                  </a:cubicBezTo>
                  <a:lnTo>
                    <a:pt x="168148" y="1214120"/>
                  </a:lnTo>
                  <a:cubicBezTo>
                    <a:pt x="75311" y="1214120"/>
                    <a:pt x="0" y="1138809"/>
                    <a:pt x="0" y="1045972"/>
                  </a:cubicBezTo>
                  <a:close/>
                </a:path>
              </a:pathLst>
            </a:custGeom>
            <a:solidFill>
              <a:srgbClr val="F4F7FC"/>
            </a:solidFill>
            <a:ln w="19050" cap="sq">
              <a:solidFill>
                <a:srgbClr val="D7DCEC"/>
              </a:solidFill>
              <a:prstDash val="solid"/>
              <a:miter/>
            </a:ln>
          </p:spPr>
        </p:sp>
      </p:grpSp>
      <p:grpSp>
        <p:nvGrpSpPr>
          <p:cNvPr name="Group 19" id="19"/>
          <p:cNvGrpSpPr/>
          <p:nvPr/>
        </p:nvGrpSpPr>
        <p:grpSpPr>
          <a:xfrm rot="0">
            <a:off x="960120" y="7200900"/>
            <a:ext cx="5143500" cy="891540"/>
            <a:chOff x="0" y="0"/>
            <a:chExt cx="6858000" cy="1188720"/>
          </a:xfrm>
        </p:grpSpPr>
        <p:sp>
          <p:nvSpPr>
            <p:cNvPr name="Freeform 20" id="20"/>
            <p:cNvSpPr/>
            <p:nvPr/>
          </p:nvSpPr>
          <p:spPr>
            <a:xfrm flipH="false" flipV="false" rot="0">
              <a:off x="0" y="0"/>
              <a:ext cx="6858000" cy="1188720"/>
            </a:xfrm>
            <a:custGeom>
              <a:avLst/>
              <a:gdLst/>
              <a:ahLst/>
              <a:cxnLst/>
              <a:rect r="r" b="b" t="t" l="l"/>
              <a:pathLst>
                <a:path h="1188720" w="6858000">
                  <a:moveTo>
                    <a:pt x="0" y="0"/>
                  </a:moveTo>
                  <a:lnTo>
                    <a:pt x="6858000" y="0"/>
                  </a:lnTo>
                  <a:lnTo>
                    <a:pt x="6858000" y="1188720"/>
                  </a:lnTo>
                  <a:lnTo>
                    <a:pt x="0" y="1188720"/>
                  </a:lnTo>
                  <a:close/>
                </a:path>
              </a:pathLst>
            </a:custGeom>
            <a:blipFill>
              <a:blip r:embed="rId3">
                <a:alphaModFix amt="0"/>
              </a:blip>
              <a:stretch>
                <a:fillRect l="0" t="-62413" r="0" b="-62413"/>
              </a:stretch>
            </a:blipFill>
          </p:spPr>
        </p:sp>
        <p:sp>
          <p:nvSpPr>
            <p:cNvPr name="TextBox 21" id="21"/>
            <p:cNvSpPr txBox="true"/>
            <p:nvPr/>
          </p:nvSpPr>
          <p:spPr>
            <a:xfrm>
              <a:off x="0" y="-47625"/>
              <a:ext cx="6858000" cy="1236345"/>
            </a:xfrm>
            <a:prstGeom prst="rect">
              <a:avLst/>
            </a:prstGeom>
          </p:spPr>
          <p:txBody>
            <a:bodyPr anchor="ctr" rtlCol="false" tIns="0" lIns="0" bIns="0" rIns="0"/>
            <a:lstStyle/>
            <a:p>
              <a:pPr algn="ctr">
                <a:lnSpc>
                  <a:spcPts val="2520"/>
                </a:lnSpc>
              </a:pPr>
              <a:r>
                <a:rPr lang="en-US" sz="2100">
                  <a:solidFill>
                    <a:srgbClr val="6B7280"/>
                  </a:solidFill>
                  <a:latin typeface="Calibri (MS)"/>
                  <a:ea typeface="Calibri (MS)"/>
                  <a:cs typeface="Calibri (MS)"/>
                  <a:sym typeface="Calibri (MS)"/>
                </a:rPr>
                <a:t>Confidentiality</a:t>
              </a:r>
            </a:p>
          </p:txBody>
        </p:sp>
      </p:grpSp>
      <p:grpSp>
        <p:nvGrpSpPr>
          <p:cNvPr name="Group 22" id="22"/>
          <p:cNvGrpSpPr/>
          <p:nvPr/>
        </p:nvGrpSpPr>
        <p:grpSpPr>
          <a:xfrm rot="0">
            <a:off x="6533007" y="7191375"/>
            <a:ext cx="5162550" cy="910590"/>
            <a:chOff x="0" y="0"/>
            <a:chExt cx="6883400" cy="1214120"/>
          </a:xfrm>
        </p:grpSpPr>
        <p:sp>
          <p:nvSpPr>
            <p:cNvPr name="Freeform 23" id="23"/>
            <p:cNvSpPr/>
            <p:nvPr/>
          </p:nvSpPr>
          <p:spPr>
            <a:xfrm flipH="false" flipV="false" rot="0">
              <a:off x="0" y="0"/>
              <a:ext cx="6883400" cy="1214120"/>
            </a:xfrm>
            <a:custGeom>
              <a:avLst/>
              <a:gdLst/>
              <a:ahLst/>
              <a:cxnLst/>
              <a:rect r="r" b="b" t="t" l="l"/>
              <a:pathLst>
                <a:path h="1214120" w="6883400">
                  <a:moveTo>
                    <a:pt x="0" y="168148"/>
                  </a:moveTo>
                  <a:cubicBezTo>
                    <a:pt x="0" y="75311"/>
                    <a:pt x="75311" y="0"/>
                    <a:pt x="168148" y="0"/>
                  </a:cubicBezTo>
                  <a:lnTo>
                    <a:pt x="6715252" y="0"/>
                  </a:lnTo>
                  <a:cubicBezTo>
                    <a:pt x="6808089" y="0"/>
                    <a:pt x="6883400" y="75311"/>
                    <a:pt x="6883400" y="168148"/>
                  </a:cubicBezTo>
                  <a:lnTo>
                    <a:pt x="6883400" y="1045972"/>
                  </a:lnTo>
                  <a:cubicBezTo>
                    <a:pt x="6883400" y="1138809"/>
                    <a:pt x="6808089" y="1214120"/>
                    <a:pt x="6715252" y="1214120"/>
                  </a:cubicBezTo>
                  <a:lnTo>
                    <a:pt x="168148" y="1214120"/>
                  </a:lnTo>
                  <a:cubicBezTo>
                    <a:pt x="75311" y="1214120"/>
                    <a:pt x="0" y="1138809"/>
                    <a:pt x="0" y="1045972"/>
                  </a:cubicBezTo>
                  <a:close/>
                </a:path>
              </a:pathLst>
            </a:custGeom>
            <a:solidFill>
              <a:srgbClr val="F4F7FC"/>
            </a:solidFill>
            <a:ln w="19050" cap="sq">
              <a:solidFill>
                <a:srgbClr val="D7DCEC"/>
              </a:solidFill>
              <a:prstDash val="solid"/>
              <a:miter/>
            </a:ln>
          </p:spPr>
        </p:sp>
      </p:grpSp>
      <p:grpSp>
        <p:nvGrpSpPr>
          <p:cNvPr name="Group 24" id="24"/>
          <p:cNvGrpSpPr/>
          <p:nvPr/>
        </p:nvGrpSpPr>
        <p:grpSpPr>
          <a:xfrm rot="0">
            <a:off x="6542532" y="7200900"/>
            <a:ext cx="5143500" cy="891540"/>
            <a:chOff x="0" y="0"/>
            <a:chExt cx="6858000" cy="1188720"/>
          </a:xfrm>
        </p:grpSpPr>
        <p:sp>
          <p:nvSpPr>
            <p:cNvPr name="Freeform 25" id="25"/>
            <p:cNvSpPr/>
            <p:nvPr/>
          </p:nvSpPr>
          <p:spPr>
            <a:xfrm flipH="false" flipV="false" rot="0">
              <a:off x="0" y="0"/>
              <a:ext cx="6858000" cy="1188720"/>
            </a:xfrm>
            <a:custGeom>
              <a:avLst/>
              <a:gdLst/>
              <a:ahLst/>
              <a:cxnLst/>
              <a:rect r="r" b="b" t="t" l="l"/>
              <a:pathLst>
                <a:path h="1188720" w="6858000">
                  <a:moveTo>
                    <a:pt x="0" y="0"/>
                  </a:moveTo>
                  <a:lnTo>
                    <a:pt x="6858000" y="0"/>
                  </a:lnTo>
                  <a:lnTo>
                    <a:pt x="6858000" y="1188720"/>
                  </a:lnTo>
                  <a:lnTo>
                    <a:pt x="0" y="1188720"/>
                  </a:lnTo>
                  <a:close/>
                </a:path>
              </a:pathLst>
            </a:custGeom>
            <a:blipFill>
              <a:blip r:embed="rId3">
                <a:alphaModFix amt="0"/>
              </a:blip>
              <a:stretch>
                <a:fillRect l="0" t="-62413" r="0" b="-62413"/>
              </a:stretch>
            </a:blipFill>
          </p:spPr>
        </p:sp>
        <p:sp>
          <p:nvSpPr>
            <p:cNvPr name="TextBox 26" id="26"/>
            <p:cNvSpPr txBox="true"/>
            <p:nvPr/>
          </p:nvSpPr>
          <p:spPr>
            <a:xfrm>
              <a:off x="0" y="-47625"/>
              <a:ext cx="6858000" cy="1236345"/>
            </a:xfrm>
            <a:prstGeom prst="rect">
              <a:avLst/>
            </a:prstGeom>
          </p:spPr>
          <p:txBody>
            <a:bodyPr anchor="ctr" rtlCol="false" tIns="0" lIns="0" bIns="0" rIns="0"/>
            <a:lstStyle/>
            <a:p>
              <a:pPr algn="ctr">
                <a:lnSpc>
                  <a:spcPts val="2520"/>
                </a:lnSpc>
              </a:pPr>
              <a:r>
                <a:rPr lang="en-US" sz="2100">
                  <a:solidFill>
                    <a:srgbClr val="6B7280"/>
                  </a:solidFill>
                  <a:latin typeface="Calibri (MS)"/>
                  <a:ea typeface="Calibri (MS)"/>
                  <a:cs typeface="Calibri (MS)"/>
                  <a:sym typeface="Calibri (MS)"/>
                </a:rPr>
                <a:t>Integrity</a:t>
              </a:r>
            </a:p>
          </p:txBody>
        </p:sp>
      </p:grpSp>
      <p:grpSp>
        <p:nvGrpSpPr>
          <p:cNvPr name="Group 27" id="27"/>
          <p:cNvGrpSpPr/>
          <p:nvPr/>
        </p:nvGrpSpPr>
        <p:grpSpPr>
          <a:xfrm rot="0">
            <a:off x="12115419" y="7191375"/>
            <a:ext cx="5162550" cy="910590"/>
            <a:chOff x="0" y="0"/>
            <a:chExt cx="6883400" cy="1214120"/>
          </a:xfrm>
        </p:grpSpPr>
        <p:sp>
          <p:nvSpPr>
            <p:cNvPr name="Freeform 28" id="28"/>
            <p:cNvSpPr/>
            <p:nvPr/>
          </p:nvSpPr>
          <p:spPr>
            <a:xfrm flipH="false" flipV="false" rot="0">
              <a:off x="0" y="0"/>
              <a:ext cx="6883400" cy="1214120"/>
            </a:xfrm>
            <a:custGeom>
              <a:avLst/>
              <a:gdLst/>
              <a:ahLst/>
              <a:cxnLst/>
              <a:rect r="r" b="b" t="t" l="l"/>
              <a:pathLst>
                <a:path h="1214120" w="6883400">
                  <a:moveTo>
                    <a:pt x="0" y="168148"/>
                  </a:moveTo>
                  <a:cubicBezTo>
                    <a:pt x="0" y="75311"/>
                    <a:pt x="75311" y="0"/>
                    <a:pt x="168148" y="0"/>
                  </a:cubicBezTo>
                  <a:lnTo>
                    <a:pt x="6715252" y="0"/>
                  </a:lnTo>
                  <a:cubicBezTo>
                    <a:pt x="6808089" y="0"/>
                    <a:pt x="6883400" y="75311"/>
                    <a:pt x="6883400" y="168148"/>
                  </a:cubicBezTo>
                  <a:lnTo>
                    <a:pt x="6883400" y="1045972"/>
                  </a:lnTo>
                  <a:cubicBezTo>
                    <a:pt x="6883400" y="1138809"/>
                    <a:pt x="6808089" y="1214120"/>
                    <a:pt x="6715252" y="1214120"/>
                  </a:cubicBezTo>
                  <a:lnTo>
                    <a:pt x="168148" y="1214120"/>
                  </a:lnTo>
                  <a:cubicBezTo>
                    <a:pt x="75311" y="1214120"/>
                    <a:pt x="0" y="1138809"/>
                    <a:pt x="0" y="1045972"/>
                  </a:cubicBezTo>
                  <a:close/>
                </a:path>
              </a:pathLst>
            </a:custGeom>
            <a:solidFill>
              <a:srgbClr val="F4F7FC"/>
            </a:solidFill>
            <a:ln w="19050" cap="sq">
              <a:solidFill>
                <a:srgbClr val="D7DCEC"/>
              </a:solidFill>
              <a:prstDash val="solid"/>
              <a:miter/>
            </a:ln>
          </p:spPr>
        </p:sp>
      </p:grpSp>
      <p:grpSp>
        <p:nvGrpSpPr>
          <p:cNvPr name="Group 29" id="29"/>
          <p:cNvGrpSpPr/>
          <p:nvPr/>
        </p:nvGrpSpPr>
        <p:grpSpPr>
          <a:xfrm rot="0">
            <a:off x="12124944" y="7200900"/>
            <a:ext cx="5143500" cy="891540"/>
            <a:chOff x="0" y="0"/>
            <a:chExt cx="6858000" cy="1188720"/>
          </a:xfrm>
        </p:grpSpPr>
        <p:sp>
          <p:nvSpPr>
            <p:cNvPr name="Freeform 30" id="30"/>
            <p:cNvSpPr/>
            <p:nvPr/>
          </p:nvSpPr>
          <p:spPr>
            <a:xfrm flipH="false" flipV="false" rot="0">
              <a:off x="0" y="0"/>
              <a:ext cx="6858000" cy="1188720"/>
            </a:xfrm>
            <a:custGeom>
              <a:avLst/>
              <a:gdLst/>
              <a:ahLst/>
              <a:cxnLst/>
              <a:rect r="r" b="b" t="t" l="l"/>
              <a:pathLst>
                <a:path h="1188720" w="6858000">
                  <a:moveTo>
                    <a:pt x="0" y="0"/>
                  </a:moveTo>
                  <a:lnTo>
                    <a:pt x="6858000" y="0"/>
                  </a:lnTo>
                  <a:lnTo>
                    <a:pt x="6858000" y="1188720"/>
                  </a:lnTo>
                  <a:lnTo>
                    <a:pt x="0" y="1188720"/>
                  </a:lnTo>
                  <a:close/>
                </a:path>
              </a:pathLst>
            </a:custGeom>
            <a:blipFill>
              <a:blip r:embed="rId3">
                <a:alphaModFix amt="0"/>
              </a:blip>
              <a:stretch>
                <a:fillRect l="0" t="-62413" r="0" b="-62413"/>
              </a:stretch>
            </a:blipFill>
          </p:spPr>
        </p:sp>
        <p:sp>
          <p:nvSpPr>
            <p:cNvPr name="TextBox 31" id="31"/>
            <p:cNvSpPr txBox="true"/>
            <p:nvPr/>
          </p:nvSpPr>
          <p:spPr>
            <a:xfrm>
              <a:off x="0" y="-47625"/>
              <a:ext cx="6858000" cy="1236345"/>
            </a:xfrm>
            <a:prstGeom prst="rect">
              <a:avLst/>
            </a:prstGeom>
          </p:spPr>
          <p:txBody>
            <a:bodyPr anchor="ctr" rtlCol="false" tIns="0" lIns="0" bIns="0" rIns="0"/>
            <a:lstStyle/>
            <a:p>
              <a:pPr algn="ctr">
                <a:lnSpc>
                  <a:spcPts val="2520"/>
                </a:lnSpc>
              </a:pPr>
              <a:r>
                <a:rPr lang="en-US" sz="2100">
                  <a:solidFill>
                    <a:srgbClr val="6B7280"/>
                  </a:solidFill>
                  <a:latin typeface="Calibri (MS)"/>
                  <a:ea typeface="Calibri (MS)"/>
                  <a:cs typeface="Calibri (MS)"/>
                  <a:sym typeface="Calibri (MS)"/>
                </a:rPr>
                <a:t>Availability</a:t>
              </a:r>
            </a:p>
          </p:txBody>
        </p:sp>
      </p:grpSp>
      <p:grpSp>
        <p:nvGrpSpPr>
          <p:cNvPr name="Group 32" id="32"/>
          <p:cNvGrpSpPr/>
          <p:nvPr/>
        </p:nvGrpSpPr>
        <p:grpSpPr>
          <a:xfrm rot="0">
            <a:off x="685800" y="9710928"/>
            <a:ext cx="10972800" cy="411480"/>
            <a:chOff x="0" y="0"/>
            <a:chExt cx="14630400" cy="548640"/>
          </a:xfrm>
        </p:grpSpPr>
        <p:sp>
          <p:nvSpPr>
            <p:cNvPr name="Freeform 33" id="33"/>
            <p:cNvSpPr/>
            <p:nvPr/>
          </p:nvSpPr>
          <p:spPr>
            <a:xfrm flipH="false" flipV="false" rot="0">
              <a:off x="0" y="0"/>
              <a:ext cx="14630400" cy="548640"/>
            </a:xfrm>
            <a:custGeom>
              <a:avLst/>
              <a:gdLst/>
              <a:ahLst/>
              <a:cxnLst/>
              <a:rect r="r" b="b" t="t" l="l"/>
              <a:pathLst>
                <a:path h="548640" w="14630400">
                  <a:moveTo>
                    <a:pt x="0" y="0"/>
                  </a:moveTo>
                  <a:lnTo>
                    <a:pt x="14630400" y="0"/>
                  </a:lnTo>
                  <a:lnTo>
                    <a:pt x="14630400" y="548640"/>
                  </a:lnTo>
                  <a:lnTo>
                    <a:pt x="0" y="548640"/>
                  </a:lnTo>
                  <a:close/>
                </a:path>
              </a:pathLst>
            </a:custGeom>
            <a:blipFill>
              <a:blip r:embed="rId3">
                <a:alphaModFix amt="0"/>
              </a:blip>
              <a:stretch>
                <a:fillRect l="0" t="-469601" r="0" b="-469601"/>
              </a:stretch>
            </a:blipFill>
          </p:spPr>
        </p:sp>
        <p:sp>
          <p:nvSpPr>
            <p:cNvPr name="TextBox 34" id="34"/>
            <p:cNvSpPr txBox="true"/>
            <p:nvPr/>
          </p:nvSpPr>
          <p:spPr>
            <a:xfrm>
              <a:off x="0" y="-38100"/>
              <a:ext cx="14630400" cy="586740"/>
            </a:xfrm>
            <a:prstGeom prst="rect">
              <a:avLst/>
            </a:prstGeom>
          </p:spPr>
          <p:txBody>
            <a:bodyPr anchor="ctr" rtlCol="false" tIns="0" lIns="0" bIns="0" rIns="0"/>
            <a:lstStyle/>
            <a:p>
              <a:pPr algn="l">
                <a:lnSpc>
                  <a:spcPts val="1800"/>
                </a:lnSpc>
              </a:pPr>
              <a:r>
                <a:rPr lang="en-US" sz="1500">
                  <a:solidFill>
                    <a:srgbClr val="6B7280"/>
                  </a:solidFill>
                  <a:latin typeface="Calibri (MS)"/>
                  <a:ea typeface="Calibri (MS)"/>
                  <a:cs typeface="Calibri (MS)"/>
                  <a:sym typeface="Calibri (MS)"/>
                </a:rPr>
                <a:t>Davao del Norte Provincial Government — Cybersecurity Seminar</a:t>
              </a:r>
            </a:p>
          </p:txBody>
        </p:sp>
      </p:grpSp>
      <p:grpSp>
        <p:nvGrpSpPr>
          <p:cNvPr name="Group 35" id="35"/>
          <p:cNvGrpSpPr/>
          <p:nvPr/>
        </p:nvGrpSpPr>
        <p:grpSpPr>
          <a:xfrm rot="0">
            <a:off x="16911828" y="9710928"/>
            <a:ext cx="685800" cy="411480"/>
            <a:chOff x="0" y="0"/>
            <a:chExt cx="914400" cy="548640"/>
          </a:xfrm>
        </p:grpSpPr>
        <p:sp>
          <p:nvSpPr>
            <p:cNvPr name="Freeform 36" id="36"/>
            <p:cNvSpPr/>
            <p:nvPr/>
          </p:nvSpPr>
          <p:spPr>
            <a:xfrm flipH="false" flipV="false" rot="0">
              <a:off x="0" y="0"/>
              <a:ext cx="914400" cy="548640"/>
            </a:xfrm>
            <a:custGeom>
              <a:avLst/>
              <a:gdLst/>
              <a:ahLst/>
              <a:cxnLst/>
              <a:rect r="r" b="b" t="t" l="l"/>
              <a:pathLst>
                <a:path h="548640" w="914400">
                  <a:moveTo>
                    <a:pt x="0" y="0"/>
                  </a:moveTo>
                  <a:lnTo>
                    <a:pt x="914400" y="0"/>
                  </a:lnTo>
                  <a:lnTo>
                    <a:pt x="914400" y="548640"/>
                  </a:lnTo>
                  <a:lnTo>
                    <a:pt x="0" y="548640"/>
                  </a:lnTo>
                  <a:close/>
                </a:path>
              </a:pathLst>
            </a:custGeom>
            <a:blipFill>
              <a:blip r:embed="rId3">
                <a:alphaModFix amt="0"/>
              </a:blip>
              <a:stretch>
                <a:fillRect l="-26982" t="0" r="-26982" b="0"/>
              </a:stretch>
            </a:blipFill>
          </p:spPr>
        </p:sp>
        <p:sp>
          <p:nvSpPr>
            <p:cNvPr name="TextBox 37" id="37"/>
            <p:cNvSpPr txBox="true"/>
            <p:nvPr/>
          </p:nvSpPr>
          <p:spPr>
            <a:xfrm>
              <a:off x="0" y="-38100"/>
              <a:ext cx="914400" cy="586740"/>
            </a:xfrm>
            <a:prstGeom prst="rect">
              <a:avLst/>
            </a:prstGeom>
          </p:spPr>
          <p:txBody>
            <a:bodyPr anchor="ctr" rtlCol="false" tIns="0" lIns="0" bIns="0" rIns="0"/>
            <a:lstStyle/>
            <a:p>
              <a:pPr algn="r">
                <a:lnSpc>
                  <a:spcPts val="1800"/>
                </a:lnSpc>
              </a:pPr>
              <a:r>
                <a:rPr lang="en-US" sz="1500">
                  <a:solidFill>
                    <a:srgbClr val="6B7280"/>
                  </a:solidFill>
                  <a:latin typeface="Calibri (MS)"/>
                  <a:ea typeface="Calibri (MS)"/>
                  <a:cs typeface="Calibri (MS)"/>
                  <a:sym typeface="Calibri (MS)"/>
                </a:rPr>
                <a:t>51</a:t>
              </a:r>
            </a:p>
          </p:txBody>
        </p:sp>
      </p:grpSp>
    </p:spTree>
  </p:cSld>
  <p:clrMapOvr>
    <a:masterClrMapping/>
  </p:clrMapOvr>
</p:sld>
</file>

<file path=ppt/slides/slide5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60120" y="685800"/>
            <a:ext cx="13716000" cy="411480"/>
            <a:chOff x="0" y="0"/>
            <a:chExt cx="18288000" cy="548640"/>
          </a:xfrm>
        </p:grpSpPr>
        <p:sp>
          <p:nvSpPr>
            <p:cNvPr name="Freeform 3" id="3"/>
            <p:cNvSpPr/>
            <p:nvPr/>
          </p:nvSpPr>
          <p:spPr>
            <a:xfrm flipH="false" flipV="false" rot="0">
              <a:off x="0" y="0"/>
              <a:ext cx="18288000" cy="548640"/>
            </a:xfrm>
            <a:custGeom>
              <a:avLst/>
              <a:gdLst/>
              <a:ahLst/>
              <a:cxnLst/>
              <a:rect r="r" b="b" t="t" l="l"/>
              <a:pathLst>
                <a:path h="548640" w="18288000">
                  <a:moveTo>
                    <a:pt x="0" y="0"/>
                  </a:moveTo>
                  <a:lnTo>
                    <a:pt x="18288000" y="0"/>
                  </a:lnTo>
                  <a:lnTo>
                    <a:pt x="18288000" y="548640"/>
                  </a:lnTo>
                  <a:lnTo>
                    <a:pt x="0" y="548640"/>
                  </a:lnTo>
                  <a:close/>
                </a:path>
              </a:pathLst>
            </a:custGeom>
            <a:blipFill>
              <a:blip r:embed="rId3">
                <a:alphaModFix amt="0"/>
              </a:blip>
              <a:stretch>
                <a:fillRect l="0" t="-599501" r="0" b="-599501"/>
              </a:stretch>
            </a:blipFill>
          </p:spPr>
        </p:sp>
        <p:sp>
          <p:nvSpPr>
            <p:cNvPr name="TextBox 4" id="4"/>
            <p:cNvSpPr txBox="true"/>
            <p:nvPr/>
          </p:nvSpPr>
          <p:spPr>
            <a:xfrm>
              <a:off x="0" y="-38100"/>
              <a:ext cx="18288000" cy="586740"/>
            </a:xfrm>
            <a:prstGeom prst="rect">
              <a:avLst/>
            </a:prstGeom>
          </p:spPr>
          <p:txBody>
            <a:bodyPr anchor="ctr" rtlCol="false" tIns="0" lIns="0" bIns="0" rIns="0"/>
            <a:lstStyle/>
            <a:p>
              <a:pPr algn="l">
                <a:lnSpc>
                  <a:spcPts val="2160"/>
                </a:lnSpc>
              </a:pPr>
              <a:r>
                <a:rPr lang="en-US" b="true" sz="1800" spc="225">
                  <a:solidFill>
                    <a:srgbClr val="00B4D8"/>
                  </a:solidFill>
                  <a:latin typeface="Calibri (MS) Bold"/>
                  <a:ea typeface="Calibri (MS) Bold"/>
                  <a:cs typeface="Calibri (MS) Bold"/>
                  <a:sym typeface="Calibri (MS) Bold"/>
                </a:rPr>
                <a:t>CIA TRIAD SORT · ANSWER</a:t>
              </a:r>
            </a:p>
          </p:txBody>
        </p:sp>
      </p:grpSp>
      <p:grpSp>
        <p:nvGrpSpPr>
          <p:cNvPr name="Group 5" id="5"/>
          <p:cNvGrpSpPr/>
          <p:nvPr/>
        </p:nvGrpSpPr>
        <p:grpSpPr>
          <a:xfrm rot="0">
            <a:off x="960120" y="1069848"/>
            <a:ext cx="10972800" cy="822960"/>
            <a:chOff x="0" y="0"/>
            <a:chExt cx="14630400" cy="1097280"/>
          </a:xfrm>
        </p:grpSpPr>
        <p:sp>
          <p:nvSpPr>
            <p:cNvPr name="Freeform 6" id="6"/>
            <p:cNvSpPr/>
            <p:nvPr/>
          </p:nvSpPr>
          <p:spPr>
            <a:xfrm flipH="false" flipV="false" rot="0">
              <a:off x="0" y="0"/>
              <a:ext cx="14630400" cy="1097280"/>
            </a:xfrm>
            <a:custGeom>
              <a:avLst/>
              <a:gdLst/>
              <a:ahLst/>
              <a:cxnLst/>
              <a:rect r="r" b="b" t="t" l="l"/>
              <a:pathLst>
                <a:path h="1097280" w="14630400">
                  <a:moveTo>
                    <a:pt x="0" y="0"/>
                  </a:moveTo>
                  <a:lnTo>
                    <a:pt x="14630400" y="0"/>
                  </a:lnTo>
                  <a:lnTo>
                    <a:pt x="14630400" y="1097280"/>
                  </a:lnTo>
                  <a:lnTo>
                    <a:pt x="0" y="1097280"/>
                  </a:lnTo>
                  <a:close/>
                </a:path>
              </a:pathLst>
            </a:custGeom>
            <a:blipFill>
              <a:blip r:embed="rId3">
                <a:alphaModFix amt="0"/>
              </a:blip>
              <a:stretch>
                <a:fillRect l="0" t="-209800" r="0" b="-209800"/>
              </a:stretch>
            </a:blipFill>
          </p:spPr>
        </p:sp>
        <p:sp>
          <p:nvSpPr>
            <p:cNvPr name="TextBox 7" id="7"/>
            <p:cNvSpPr txBox="true"/>
            <p:nvPr/>
          </p:nvSpPr>
          <p:spPr>
            <a:xfrm>
              <a:off x="0" y="0"/>
              <a:ext cx="14630400" cy="1097280"/>
            </a:xfrm>
            <a:prstGeom prst="rect">
              <a:avLst/>
            </a:prstGeom>
          </p:spPr>
          <p:txBody>
            <a:bodyPr anchor="ctr" rtlCol="false" tIns="0" lIns="0" bIns="0" rIns="0"/>
            <a:lstStyle/>
            <a:p>
              <a:pPr algn="l">
                <a:lnSpc>
                  <a:spcPts val="4680"/>
                </a:lnSpc>
              </a:pPr>
              <a:r>
                <a:rPr lang="en-US" sz="3900" b="true">
                  <a:solidFill>
                    <a:srgbClr val="1E2761"/>
                  </a:solidFill>
                  <a:latin typeface="Cambria Bold"/>
                  <a:ea typeface="Cambria Bold"/>
                  <a:cs typeface="Cambria Bold"/>
                  <a:sym typeface="Cambria Bold"/>
                </a:rPr>
                <a:t>Scenario 7 — Answer</a:t>
              </a:r>
            </a:p>
          </p:txBody>
        </p:sp>
      </p:grpSp>
      <p:grpSp>
        <p:nvGrpSpPr>
          <p:cNvPr name="Group 8" id="8"/>
          <p:cNvGrpSpPr/>
          <p:nvPr/>
        </p:nvGrpSpPr>
        <p:grpSpPr>
          <a:xfrm rot="0">
            <a:off x="960120" y="1810512"/>
            <a:ext cx="8229600" cy="411480"/>
            <a:chOff x="0" y="0"/>
            <a:chExt cx="10972800" cy="548640"/>
          </a:xfrm>
        </p:grpSpPr>
        <p:sp>
          <p:nvSpPr>
            <p:cNvPr name="Freeform 9" id="9"/>
            <p:cNvSpPr/>
            <p:nvPr/>
          </p:nvSpPr>
          <p:spPr>
            <a:xfrm flipH="false" flipV="false" rot="0">
              <a:off x="0" y="0"/>
              <a:ext cx="10972800" cy="548640"/>
            </a:xfrm>
            <a:custGeom>
              <a:avLst/>
              <a:gdLst/>
              <a:ahLst/>
              <a:cxnLst/>
              <a:rect r="r" b="b" t="t" l="l"/>
              <a:pathLst>
                <a:path h="548640" w="10972800">
                  <a:moveTo>
                    <a:pt x="0" y="0"/>
                  </a:moveTo>
                  <a:lnTo>
                    <a:pt x="10972800" y="0"/>
                  </a:lnTo>
                  <a:lnTo>
                    <a:pt x="10972800" y="548640"/>
                  </a:lnTo>
                  <a:lnTo>
                    <a:pt x="0" y="548640"/>
                  </a:lnTo>
                  <a:close/>
                </a:path>
              </a:pathLst>
            </a:custGeom>
            <a:blipFill>
              <a:blip r:embed="rId3">
                <a:alphaModFix amt="0"/>
              </a:blip>
              <a:stretch>
                <a:fillRect l="0" t="-339700" r="0" b="-339700"/>
              </a:stretch>
            </a:blipFill>
          </p:spPr>
        </p:sp>
        <p:sp>
          <p:nvSpPr>
            <p:cNvPr name="TextBox 10" id="10"/>
            <p:cNvSpPr txBox="true"/>
            <p:nvPr/>
          </p:nvSpPr>
          <p:spPr>
            <a:xfrm>
              <a:off x="0" y="-28575"/>
              <a:ext cx="10972800" cy="577215"/>
            </a:xfrm>
            <a:prstGeom prst="rect">
              <a:avLst/>
            </a:prstGeom>
          </p:spPr>
          <p:txBody>
            <a:bodyPr anchor="ctr" rtlCol="false" tIns="0" lIns="0" bIns="0" rIns="0"/>
            <a:lstStyle/>
            <a:p>
              <a:pPr algn="l">
                <a:lnSpc>
                  <a:spcPts val="1980"/>
                </a:lnSpc>
              </a:pPr>
              <a:r>
                <a:rPr lang="en-US" sz="1650">
                  <a:solidFill>
                    <a:srgbClr val="6B7280"/>
                  </a:solidFill>
                  <a:latin typeface="Calibri (MS)"/>
                  <a:ea typeface="Calibri (MS)"/>
                  <a:cs typeface="Calibri (MS)"/>
                  <a:sym typeface="Calibri (MS)"/>
                </a:rPr>
                <a:t>7 of 12</a:t>
              </a:r>
            </a:p>
          </p:txBody>
        </p:sp>
      </p:grpSp>
      <p:grpSp>
        <p:nvGrpSpPr>
          <p:cNvPr name="Group 11" id="11"/>
          <p:cNvGrpSpPr/>
          <p:nvPr/>
        </p:nvGrpSpPr>
        <p:grpSpPr>
          <a:xfrm rot="0">
            <a:off x="960120" y="2537460"/>
            <a:ext cx="16322040" cy="2400300"/>
            <a:chOff x="0" y="0"/>
            <a:chExt cx="21762720" cy="3200400"/>
          </a:xfrm>
        </p:grpSpPr>
        <p:sp>
          <p:nvSpPr>
            <p:cNvPr name="Freeform 12" id="12"/>
            <p:cNvSpPr/>
            <p:nvPr/>
          </p:nvSpPr>
          <p:spPr>
            <a:xfrm flipH="false" flipV="false" rot="0">
              <a:off x="0" y="0"/>
              <a:ext cx="21762720" cy="3200400"/>
            </a:xfrm>
            <a:custGeom>
              <a:avLst/>
              <a:gdLst/>
              <a:ahLst/>
              <a:cxnLst/>
              <a:rect r="r" b="b" t="t" l="l"/>
              <a:pathLst>
                <a:path h="3200400" w="21762720">
                  <a:moveTo>
                    <a:pt x="0" y="182880"/>
                  </a:moveTo>
                  <a:cubicBezTo>
                    <a:pt x="0" y="81915"/>
                    <a:pt x="81915" y="0"/>
                    <a:pt x="182880" y="0"/>
                  </a:cubicBezTo>
                  <a:lnTo>
                    <a:pt x="21579839" y="0"/>
                  </a:lnTo>
                  <a:cubicBezTo>
                    <a:pt x="21680804" y="0"/>
                    <a:pt x="21762720" y="81915"/>
                    <a:pt x="21762720" y="182880"/>
                  </a:cubicBezTo>
                  <a:lnTo>
                    <a:pt x="21762720" y="3017520"/>
                  </a:lnTo>
                  <a:cubicBezTo>
                    <a:pt x="21762720" y="3118485"/>
                    <a:pt x="21680804" y="3200400"/>
                    <a:pt x="21579839" y="3200400"/>
                  </a:cubicBezTo>
                  <a:lnTo>
                    <a:pt x="182880" y="3200400"/>
                  </a:lnTo>
                  <a:cubicBezTo>
                    <a:pt x="81915" y="3200400"/>
                    <a:pt x="0" y="3118485"/>
                    <a:pt x="0" y="3017520"/>
                  </a:cubicBezTo>
                  <a:close/>
                </a:path>
              </a:pathLst>
            </a:custGeom>
            <a:solidFill>
              <a:srgbClr val="F4F7FC"/>
            </a:solidFill>
          </p:spPr>
        </p:sp>
      </p:grpSp>
      <p:grpSp>
        <p:nvGrpSpPr>
          <p:cNvPr name="Group 13" id="13"/>
          <p:cNvGrpSpPr/>
          <p:nvPr/>
        </p:nvGrpSpPr>
        <p:grpSpPr>
          <a:xfrm rot="0">
            <a:off x="1440180" y="2811780"/>
            <a:ext cx="15361920" cy="1851660"/>
            <a:chOff x="0" y="0"/>
            <a:chExt cx="20482560" cy="2468880"/>
          </a:xfrm>
        </p:grpSpPr>
        <p:sp>
          <p:nvSpPr>
            <p:cNvPr name="Freeform 14" id="14"/>
            <p:cNvSpPr/>
            <p:nvPr/>
          </p:nvSpPr>
          <p:spPr>
            <a:xfrm flipH="false" flipV="false" rot="0">
              <a:off x="0" y="0"/>
              <a:ext cx="20482561" cy="2468880"/>
            </a:xfrm>
            <a:custGeom>
              <a:avLst/>
              <a:gdLst/>
              <a:ahLst/>
              <a:cxnLst/>
              <a:rect r="r" b="b" t="t" l="l"/>
              <a:pathLst>
                <a:path h="2468880" w="20482561">
                  <a:moveTo>
                    <a:pt x="0" y="0"/>
                  </a:moveTo>
                  <a:lnTo>
                    <a:pt x="20482561" y="0"/>
                  </a:lnTo>
                  <a:lnTo>
                    <a:pt x="20482561" y="2468880"/>
                  </a:lnTo>
                  <a:lnTo>
                    <a:pt x="0" y="2468880"/>
                  </a:lnTo>
                  <a:close/>
                </a:path>
              </a:pathLst>
            </a:custGeom>
            <a:blipFill>
              <a:blip r:embed="rId3">
                <a:alphaModFix amt="0"/>
              </a:blip>
              <a:stretch>
                <a:fillRect l="0" t="-111653" r="0" b="-111653"/>
              </a:stretch>
            </a:blipFill>
          </p:spPr>
        </p:sp>
        <p:sp>
          <p:nvSpPr>
            <p:cNvPr name="TextBox 15" id="15"/>
            <p:cNvSpPr txBox="true"/>
            <p:nvPr/>
          </p:nvSpPr>
          <p:spPr>
            <a:xfrm>
              <a:off x="0" y="-95250"/>
              <a:ext cx="20482560" cy="2564130"/>
            </a:xfrm>
            <a:prstGeom prst="rect">
              <a:avLst/>
            </a:prstGeom>
          </p:spPr>
          <p:txBody>
            <a:bodyPr anchor="ctr" rtlCol="false" tIns="0" lIns="0" bIns="0" rIns="0"/>
            <a:lstStyle/>
            <a:p>
              <a:pPr algn="l">
                <a:lnSpc>
                  <a:spcPts val="3916"/>
                </a:lnSpc>
              </a:pPr>
              <a:r>
                <a:rPr lang="en-US" sz="2550" i="true">
                  <a:solidFill>
                    <a:srgbClr val="23262F"/>
                  </a:solidFill>
                  <a:latin typeface="Cambria Italics"/>
                  <a:ea typeface="Cambria Italics"/>
                  <a:cs typeface="Cambria Italics"/>
                  <a:sym typeface="Cambria Italics"/>
                </a:rPr>
                <a:t>“An employee's unencrypted laptop, containing resident health records, is stolen from their vehicle.”</a:t>
              </a:r>
            </a:p>
          </p:txBody>
        </p:sp>
      </p:grpSp>
      <p:grpSp>
        <p:nvGrpSpPr>
          <p:cNvPr name="Group 16" id="16"/>
          <p:cNvGrpSpPr/>
          <p:nvPr/>
        </p:nvGrpSpPr>
        <p:grpSpPr>
          <a:xfrm rot="0">
            <a:off x="950595" y="5408295"/>
            <a:ext cx="5162550" cy="910590"/>
            <a:chOff x="0" y="0"/>
            <a:chExt cx="6883400" cy="1214120"/>
          </a:xfrm>
        </p:grpSpPr>
        <p:sp>
          <p:nvSpPr>
            <p:cNvPr name="Freeform 17" id="17"/>
            <p:cNvSpPr/>
            <p:nvPr/>
          </p:nvSpPr>
          <p:spPr>
            <a:xfrm flipH="false" flipV="false" rot="0">
              <a:off x="0" y="0"/>
              <a:ext cx="6883400" cy="1214120"/>
            </a:xfrm>
            <a:custGeom>
              <a:avLst/>
              <a:gdLst/>
              <a:ahLst/>
              <a:cxnLst/>
              <a:rect r="r" b="b" t="t" l="l"/>
              <a:pathLst>
                <a:path h="1214120" w="6883400">
                  <a:moveTo>
                    <a:pt x="0" y="168148"/>
                  </a:moveTo>
                  <a:cubicBezTo>
                    <a:pt x="0" y="75311"/>
                    <a:pt x="75311" y="0"/>
                    <a:pt x="168148" y="0"/>
                  </a:cubicBezTo>
                  <a:lnTo>
                    <a:pt x="6715252" y="0"/>
                  </a:lnTo>
                  <a:cubicBezTo>
                    <a:pt x="6808089" y="0"/>
                    <a:pt x="6883400" y="75311"/>
                    <a:pt x="6883400" y="168148"/>
                  </a:cubicBezTo>
                  <a:lnTo>
                    <a:pt x="6883400" y="1045972"/>
                  </a:lnTo>
                  <a:cubicBezTo>
                    <a:pt x="6883400" y="1138809"/>
                    <a:pt x="6808089" y="1214120"/>
                    <a:pt x="6715252" y="1214120"/>
                  </a:cubicBezTo>
                  <a:lnTo>
                    <a:pt x="168148" y="1214120"/>
                  </a:lnTo>
                  <a:cubicBezTo>
                    <a:pt x="75311" y="1214120"/>
                    <a:pt x="0" y="1138809"/>
                    <a:pt x="0" y="1045972"/>
                  </a:cubicBezTo>
                  <a:close/>
                </a:path>
              </a:pathLst>
            </a:custGeom>
            <a:solidFill>
              <a:srgbClr val="6C4FD1"/>
            </a:solidFill>
            <a:ln w="19050" cap="sq">
              <a:solidFill>
                <a:srgbClr val="6C4FD1"/>
              </a:solidFill>
              <a:prstDash val="solid"/>
              <a:miter/>
            </a:ln>
          </p:spPr>
        </p:sp>
      </p:grpSp>
      <p:grpSp>
        <p:nvGrpSpPr>
          <p:cNvPr name="Group 18" id="18"/>
          <p:cNvGrpSpPr/>
          <p:nvPr/>
        </p:nvGrpSpPr>
        <p:grpSpPr>
          <a:xfrm rot="0">
            <a:off x="960120" y="5417820"/>
            <a:ext cx="5143500" cy="891540"/>
            <a:chOff x="0" y="0"/>
            <a:chExt cx="6858000" cy="1188720"/>
          </a:xfrm>
        </p:grpSpPr>
        <p:sp>
          <p:nvSpPr>
            <p:cNvPr name="Freeform 19" id="19"/>
            <p:cNvSpPr/>
            <p:nvPr/>
          </p:nvSpPr>
          <p:spPr>
            <a:xfrm flipH="false" flipV="false" rot="0">
              <a:off x="0" y="0"/>
              <a:ext cx="6858000" cy="1188720"/>
            </a:xfrm>
            <a:custGeom>
              <a:avLst/>
              <a:gdLst/>
              <a:ahLst/>
              <a:cxnLst/>
              <a:rect r="r" b="b" t="t" l="l"/>
              <a:pathLst>
                <a:path h="1188720" w="6858000">
                  <a:moveTo>
                    <a:pt x="0" y="0"/>
                  </a:moveTo>
                  <a:lnTo>
                    <a:pt x="6858000" y="0"/>
                  </a:lnTo>
                  <a:lnTo>
                    <a:pt x="6858000" y="1188720"/>
                  </a:lnTo>
                  <a:lnTo>
                    <a:pt x="0" y="1188720"/>
                  </a:lnTo>
                  <a:close/>
                </a:path>
              </a:pathLst>
            </a:custGeom>
            <a:blipFill>
              <a:blip r:embed="rId3">
                <a:alphaModFix amt="0"/>
              </a:blip>
              <a:stretch>
                <a:fillRect l="0" t="-62413" r="0" b="-62413"/>
              </a:stretch>
            </a:blipFill>
          </p:spPr>
        </p:sp>
        <p:sp>
          <p:nvSpPr>
            <p:cNvPr name="TextBox 20" id="20"/>
            <p:cNvSpPr txBox="true"/>
            <p:nvPr/>
          </p:nvSpPr>
          <p:spPr>
            <a:xfrm>
              <a:off x="0" y="-47625"/>
              <a:ext cx="6858000" cy="1236345"/>
            </a:xfrm>
            <a:prstGeom prst="rect">
              <a:avLst/>
            </a:prstGeom>
          </p:spPr>
          <p:txBody>
            <a:bodyPr anchor="ctr" rtlCol="false" tIns="0" lIns="0" bIns="0" rIns="0"/>
            <a:lstStyle/>
            <a:p>
              <a:pPr algn="ctr">
                <a:lnSpc>
                  <a:spcPts val="2520"/>
                </a:lnSpc>
              </a:pPr>
              <a:r>
                <a:rPr lang="en-US" sz="2100" b="true">
                  <a:solidFill>
                    <a:srgbClr val="FFFFFF"/>
                  </a:solidFill>
                  <a:latin typeface="Calibri (MS) Bold"/>
                  <a:ea typeface="Calibri (MS) Bold"/>
                  <a:cs typeface="Calibri (MS) Bold"/>
                  <a:sym typeface="Calibri (MS) Bold"/>
                </a:rPr>
                <a:t>✓  Confidentiality</a:t>
              </a:r>
            </a:p>
          </p:txBody>
        </p:sp>
      </p:grpSp>
      <p:grpSp>
        <p:nvGrpSpPr>
          <p:cNvPr name="Group 21" id="21"/>
          <p:cNvGrpSpPr/>
          <p:nvPr/>
        </p:nvGrpSpPr>
        <p:grpSpPr>
          <a:xfrm rot="0">
            <a:off x="6533007" y="5408295"/>
            <a:ext cx="5162550" cy="910590"/>
            <a:chOff x="0" y="0"/>
            <a:chExt cx="6883400" cy="1214120"/>
          </a:xfrm>
        </p:grpSpPr>
        <p:sp>
          <p:nvSpPr>
            <p:cNvPr name="Freeform 22" id="22"/>
            <p:cNvSpPr/>
            <p:nvPr/>
          </p:nvSpPr>
          <p:spPr>
            <a:xfrm flipH="false" flipV="false" rot="0">
              <a:off x="0" y="0"/>
              <a:ext cx="6883400" cy="1214120"/>
            </a:xfrm>
            <a:custGeom>
              <a:avLst/>
              <a:gdLst/>
              <a:ahLst/>
              <a:cxnLst/>
              <a:rect r="r" b="b" t="t" l="l"/>
              <a:pathLst>
                <a:path h="1214120" w="6883400">
                  <a:moveTo>
                    <a:pt x="0" y="168148"/>
                  </a:moveTo>
                  <a:cubicBezTo>
                    <a:pt x="0" y="75311"/>
                    <a:pt x="75311" y="0"/>
                    <a:pt x="168148" y="0"/>
                  </a:cubicBezTo>
                  <a:lnTo>
                    <a:pt x="6715252" y="0"/>
                  </a:lnTo>
                  <a:cubicBezTo>
                    <a:pt x="6808089" y="0"/>
                    <a:pt x="6883400" y="75311"/>
                    <a:pt x="6883400" y="168148"/>
                  </a:cubicBezTo>
                  <a:lnTo>
                    <a:pt x="6883400" y="1045972"/>
                  </a:lnTo>
                  <a:cubicBezTo>
                    <a:pt x="6883400" y="1138809"/>
                    <a:pt x="6808089" y="1214120"/>
                    <a:pt x="6715252" y="1214120"/>
                  </a:cubicBezTo>
                  <a:lnTo>
                    <a:pt x="168148" y="1214120"/>
                  </a:lnTo>
                  <a:cubicBezTo>
                    <a:pt x="75311" y="1214120"/>
                    <a:pt x="0" y="1138809"/>
                    <a:pt x="0" y="1045972"/>
                  </a:cubicBezTo>
                  <a:close/>
                </a:path>
              </a:pathLst>
            </a:custGeom>
            <a:solidFill>
              <a:srgbClr val="F4F7FC"/>
            </a:solidFill>
            <a:ln w="19050" cap="sq">
              <a:solidFill>
                <a:srgbClr val="D7DCEC"/>
              </a:solidFill>
              <a:prstDash val="solid"/>
              <a:miter/>
            </a:ln>
          </p:spPr>
        </p:sp>
      </p:grpSp>
      <p:grpSp>
        <p:nvGrpSpPr>
          <p:cNvPr name="Group 23" id="23"/>
          <p:cNvGrpSpPr/>
          <p:nvPr/>
        </p:nvGrpSpPr>
        <p:grpSpPr>
          <a:xfrm rot="0">
            <a:off x="6542532" y="5417820"/>
            <a:ext cx="5143500" cy="891540"/>
            <a:chOff x="0" y="0"/>
            <a:chExt cx="6858000" cy="1188720"/>
          </a:xfrm>
        </p:grpSpPr>
        <p:sp>
          <p:nvSpPr>
            <p:cNvPr name="Freeform 24" id="24"/>
            <p:cNvSpPr/>
            <p:nvPr/>
          </p:nvSpPr>
          <p:spPr>
            <a:xfrm flipH="false" flipV="false" rot="0">
              <a:off x="0" y="0"/>
              <a:ext cx="6858000" cy="1188720"/>
            </a:xfrm>
            <a:custGeom>
              <a:avLst/>
              <a:gdLst/>
              <a:ahLst/>
              <a:cxnLst/>
              <a:rect r="r" b="b" t="t" l="l"/>
              <a:pathLst>
                <a:path h="1188720" w="6858000">
                  <a:moveTo>
                    <a:pt x="0" y="0"/>
                  </a:moveTo>
                  <a:lnTo>
                    <a:pt x="6858000" y="0"/>
                  </a:lnTo>
                  <a:lnTo>
                    <a:pt x="6858000" y="1188720"/>
                  </a:lnTo>
                  <a:lnTo>
                    <a:pt x="0" y="1188720"/>
                  </a:lnTo>
                  <a:close/>
                </a:path>
              </a:pathLst>
            </a:custGeom>
            <a:blipFill>
              <a:blip r:embed="rId3">
                <a:alphaModFix amt="0"/>
              </a:blip>
              <a:stretch>
                <a:fillRect l="0" t="-62413" r="0" b="-62413"/>
              </a:stretch>
            </a:blipFill>
          </p:spPr>
        </p:sp>
        <p:sp>
          <p:nvSpPr>
            <p:cNvPr name="TextBox 25" id="25"/>
            <p:cNvSpPr txBox="true"/>
            <p:nvPr/>
          </p:nvSpPr>
          <p:spPr>
            <a:xfrm>
              <a:off x="0" y="-47625"/>
              <a:ext cx="6858000" cy="1236345"/>
            </a:xfrm>
            <a:prstGeom prst="rect">
              <a:avLst/>
            </a:prstGeom>
          </p:spPr>
          <p:txBody>
            <a:bodyPr anchor="ctr" rtlCol="false" tIns="0" lIns="0" bIns="0" rIns="0"/>
            <a:lstStyle/>
            <a:p>
              <a:pPr algn="ctr">
                <a:lnSpc>
                  <a:spcPts val="2520"/>
                </a:lnSpc>
              </a:pPr>
              <a:r>
                <a:rPr lang="en-US" sz="2100">
                  <a:solidFill>
                    <a:srgbClr val="6B7280"/>
                  </a:solidFill>
                  <a:latin typeface="Calibri (MS)"/>
                  <a:ea typeface="Calibri (MS)"/>
                  <a:cs typeface="Calibri (MS)"/>
                  <a:sym typeface="Calibri (MS)"/>
                </a:rPr>
                <a:t>Integrity</a:t>
              </a:r>
            </a:p>
          </p:txBody>
        </p:sp>
      </p:grpSp>
      <p:grpSp>
        <p:nvGrpSpPr>
          <p:cNvPr name="Group 26" id="26"/>
          <p:cNvGrpSpPr/>
          <p:nvPr/>
        </p:nvGrpSpPr>
        <p:grpSpPr>
          <a:xfrm rot="0">
            <a:off x="12115419" y="5408295"/>
            <a:ext cx="5162550" cy="910590"/>
            <a:chOff x="0" y="0"/>
            <a:chExt cx="6883400" cy="1214120"/>
          </a:xfrm>
        </p:grpSpPr>
        <p:sp>
          <p:nvSpPr>
            <p:cNvPr name="Freeform 27" id="27"/>
            <p:cNvSpPr/>
            <p:nvPr/>
          </p:nvSpPr>
          <p:spPr>
            <a:xfrm flipH="false" flipV="false" rot="0">
              <a:off x="0" y="0"/>
              <a:ext cx="6883400" cy="1214120"/>
            </a:xfrm>
            <a:custGeom>
              <a:avLst/>
              <a:gdLst/>
              <a:ahLst/>
              <a:cxnLst/>
              <a:rect r="r" b="b" t="t" l="l"/>
              <a:pathLst>
                <a:path h="1214120" w="6883400">
                  <a:moveTo>
                    <a:pt x="0" y="168148"/>
                  </a:moveTo>
                  <a:cubicBezTo>
                    <a:pt x="0" y="75311"/>
                    <a:pt x="75311" y="0"/>
                    <a:pt x="168148" y="0"/>
                  </a:cubicBezTo>
                  <a:lnTo>
                    <a:pt x="6715252" y="0"/>
                  </a:lnTo>
                  <a:cubicBezTo>
                    <a:pt x="6808089" y="0"/>
                    <a:pt x="6883400" y="75311"/>
                    <a:pt x="6883400" y="168148"/>
                  </a:cubicBezTo>
                  <a:lnTo>
                    <a:pt x="6883400" y="1045972"/>
                  </a:lnTo>
                  <a:cubicBezTo>
                    <a:pt x="6883400" y="1138809"/>
                    <a:pt x="6808089" y="1214120"/>
                    <a:pt x="6715252" y="1214120"/>
                  </a:cubicBezTo>
                  <a:lnTo>
                    <a:pt x="168148" y="1214120"/>
                  </a:lnTo>
                  <a:cubicBezTo>
                    <a:pt x="75311" y="1214120"/>
                    <a:pt x="0" y="1138809"/>
                    <a:pt x="0" y="1045972"/>
                  </a:cubicBezTo>
                  <a:close/>
                </a:path>
              </a:pathLst>
            </a:custGeom>
            <a:solidFill>
              <a:srgbClr val="F4F7FC"/>
            </a:solidFill>
            <a:ln w="19050" cap="sq">
              <a:solidFill>
                <a:srgbClr val="D7DCEC"/>
              </a:solidFill>
              <a:prstDash val="solid"/>
              <a:miter/>
            </a:ln>
          </p:spPr>
        </p:sp>
      </p:grpSp>
      <p:grpSp>
        <p:nvGrpSpPr>
          <p:cNvPr name="Group 28" id="28"/>
          <p:cNvGrpSpPr/>
          <p:nvPr/>
        </p:nvGrpSpPr>
        <p:grpSpPr>
          <a:xfrm rot="0">
            <a:off x="12124944" y="5417820"/>
            <a:ext cx="5143500" cy="891540"/>
            <a:chOff x="0" y="0"/>
            <a:chExt cx="6858000" cy="1188720"/>
          </a:xfrm>
        </p:grpSpPr>
        <p:sp>
          <p:nvSpPr>
            <p:cNvPr name="Freeform 29" id="29"/>
            <p:cNvSpPr/>
            <p:nvPr/>
          </p:nvSpPr>
          <p:spPr>
            <a:xfrm flipH="false" flipV="false" rot="0">
              <a:off x="0" y="0"/>
              <a:ext cx="6858000" cy="1188720"/>
            </a:xfrm>
            <a:custGeom>
              <a:avLst/>
              <a:gdLst/>
              <a:ahLst/>
              <a:cxnLst/>
              <a:rect r="r" b="b" t="t" l="l"/>
              <a:pathLst>
                <a:path h="1188720" w="6858000">
                  <a:moveTo>
                    <a:pt x="0" y="0"/>
                  </a:moveTo>
                  <a:lnTo>
                    <a:pt x="6858000" y="0"/>
                  </a:lnTo>
                  <a:lnTo>
                    <a:pt x="6858000" y="1188720"/>
                  </a:lnTo>
                  <a:lnTo>
                    <a:pt x="0" y="1188720"/>
                  </a:lnTo>
                  <a:close/>
                </a:path>
              </a:pathLst>
            </a:custGeom>
            <a:blipFill>
              <a:blip r:embed="rId3">
                <a:alphaModFix amt="0"/>
              </a:blip>
              <a:stretch>
                <a:fillRect l="0" t="-62413" r="0" b="-62413"/>
              </a:stretch>
            </a:blipFill>
          </p:spPr>
        </p:sp>
        <p:sp>
          <p:nvSpPr>
            <p:cNvPr name="TextBox 30" id="30"/>
            <p:cNvSpPr txBox="true"/>
            <p:nvPr/>
          </p:nvSpPr>
          <p:spPr>
            <a:xfrm>
              <a:off x="0" y="-47625"/>
              <a:ext cx="6858000" cy="1236345"/>
            </a:xfrm>
            <a:prstGeom prst="rect">
              <a:avLst/>
            </a:prstGeom>
          </p:spPr>
          <p:txBody>
            <a:bodyPr anchor="ctr" rtlCol="false" tIns="0" lIns="0" bIns="0" rIns="0"/>
            <a:lstStyle/>
            <a:p>
              <a:pPr algn="ctr">
                <a:lnSpc>
                  <a:spcPts val="2520"/>
                </a:lnSpc>
              </a:pPr>
              <a:r>
                <a:rPr lang="en-US" sz="2100">
                  <a:solidFill>
                    <a:srgbClr val="6B7280"/>
                  </a:solidFill>
                  <a:latin typeface="Calibri (MS)"/>
                  <a:ea typeface="Calibri (MS)"/>
                  <a:cs typeface="Calibri (MS)"/>
                  <a:sym typeface="Calibri (MS)"/>
                </a:rPr>
                <a:t>Availability</a:t>
              </a:r>
            </a:p>
          </p:txBody>
        </p:sp>
      </p:grpSp>
      <p:grpSp>
        <p:nvGrpSpPr>
          <p:cNvPr name="Group 31" id="31"/>
          <p:cNvGrpSpPr/>
          <p:nvPr/>
        </p:nvGrpSpPr>
        <p:grpSpPr>
          <a:xfrm rot="0">
            <a:off x="950595" y="6779895"/>
            <a:ext cx="16341090" cy="2145030"/>
            <a:chOff x="0" y="0"/>
            <a:chExt cx="21788120" cy="2860040"/>
          </a:xfrm>
        </p:grpSpPr>
        <p:sp>
          <p:nvSpPr>
            <p:cNvPr name="Freeform 32" id="32"/>
            <p:cNvSpPr/>
            <p:nvPr/>
          </p:nvSpPr>
          <p:spPr>
            <a:xfrm flipH="false" flipV="false" rot="0">
              <a:off x="0" y="0"/>
              <a:ext cx="21788120" cy="2860040"/>
            </a:xfrm>
            <a:custGeom>
              <a:avLst/>
              <a:gdLst/>
              <a:ahLst/>
              <a:cxnLst/>
              <a:rect r="r" b="b" t="t" l="l"/>
              <a:pathLst>
                <a:path h="2860040" w="21788120">
                  <a:moveTo>
                    <a:pt x="0" y="184531"/>
                  </a:moveTo>
                  <a:cubicBezTo>
                    <a:pt x="0" y="82677"/>
                    <a:pt x="82677" y="0"/>
                    <a:pt x="184531" y="0"/>
                  </a:cubicBezTo>
                  <a:lnTo>
                    <a:pt x="21603588" y="0"/>
                  </a:lnTo>
                  <a:cubicBezTo>
                    <a:pt x="21705443" y="0"/>
                    <a:pt x="21788120" y="82677"/>
                    <a:pt x="21788120" y="184531"/>
                  </a:cubicBezTo>
                  <a:lnTo>
                    <a:pt x="21788120" y="2675509"/>
                  </a:lnTo>
                  <a:cubicBezTo>
                    <a:pt x="21788120" y="2777363"/>
                    <a:pt x="21705443" y="2860040"/>
                    <a:pt x="21603588" y="2860040"/>
                  </a:cubicBezTo>
                  <a:lnTo>
                    <a:pt x="184531" y="2860040"/>
                  </a:lnTo>
                  <a:cubicBezTo>
                    <a:pt x="82677" y="2860040"/>
                    <a:pt x="0" y="2777363"/>
                    <a:pt x="0" y="2675509"/>
                  </a:cubicBezTo>
                  <a:close/>
                </a:path>
              </a:pathLst>
            </a:custGeom>
            <a:solidFill>
              <a:srgbClr val="FBF9F4"/>
            </a:solidFill>
            <a:ln w="19050" cap="sq">
              <a:solidFill>
                <a:srgbClr val="EFE6D2"/>
              </a:solidFill>
              <a:prstDash val="solid"/>
              <a:miter/>
            </a:ln>
          </p:spPr>
        </p:sp>
      </p:grpSp>
      <p:sp>
        <p:nvSpPr>
          <p:cNvPr name="TextBox 33" id="33"/>
          <p:cNvSpPr txBox="true"/>
          <p:nvPr/>
        </p:nvSpPr>
        <p:spPr>
          <a:xfrm rot="0">
            <a:off x="1463040" y="6977253"/>
            <a:ext cx="15316200" cy="1659255"/>
          </a:xfrm>
          <a:prstGeom prst="rect">
            <a:avLst/>
          </a:prstGeom>
        </p:spPr>
        <p:txBody>
          <a:bodyPr anchor="t" rtlCol="false" tIns="0" lIns="0" bIns="0" rIns="0">
            <a:spAutoFit/>
          </a:bodyPr>
          <a:lstStyle/>
          <a:p>
            <a:pPr algn="l">
              <a:lnSpc>
                <a:spcPts val="3159"/>
              </a:lnSpc>
            </a:pPr>
            <a:r>
              <a:rPr lang="en-US" sz="2025">
                <a:solidFill>
                  <a:srgbClr val="23262F"/>
                </a:solidFill>
                <a:latin typeface="Calibri (MS)"/>
                <a:ea typeface="Calibri (MS)"/>
                <a:cs typeface="Calibri (MS)"/>
                <a:sym typeface="Calibri (MS)"/>
              </a:rPr>
              <a:t>The concern here is who might now be able to read that data — a Confidentiality issue, even though the office itself still functions normally.</a:t>
            </a:r>
          </a:p>
        </p:txBody>
      </p:sp>
      <p:grpSp>
        <p:nvGrpSpPr>
          <p:cNvPr name="Group 34" id="34"/>
          <p:cNvGrpSpPr/>
          <p:nvPr/>
        </p:nvGrpSpPr>
        <p:grpSpPr>
          <a:xfrm rot="0">
            <a:off x="685800" y="9710928"/>
            <a:ext cx="10972800" cy="411480"/>
            <a:chOff x="0" y="0"/>
            <a:chExt cx="14630400" cy="548640"/>
          </a:xfrm>
        </p:grpSpPr>
        <p:sp>
          <p:nvSpPr>
            <p:cNvPr name="Freeform 35" id="35"/>
            <p:cNvSpPr/>
            <p:nvPr/>
          </p:nvSpPr>
          <p:spPr>
            <a:xfrm flipH="false" flipV="false" rot="0">
              <a:off x="0" y="0"/>
              <a:ext cx="14630400" cy="548640"/>
            </a:xfrm>
            <a:custGeom>
              <a:avLst/>
              <a:gdLst/>
              <a:ahLst/>
              <a:cxnLst/>
              <a:rect r="r" b="b" t="t" l="l"/>
              <a:pathLst>
                <a:path h="548640" w="14630400">
                  <a:moveTo>
                    <a:pt x="0" y="0"/>
                  </a:moveTo>
                  <a:lnTo>
                    <a:pt x="14630400" y="0"/>
                  </a:lnTo>
                  <a:lnTo>
                    <a:pt x="14630400" y="548640"/>
                  </a:lnTo>
                  <a:lnTo>
                    <a:pt x="0" y="548640"/>
                  </a:lnTo>
                  <a:close/>
                </a:path>
              </a:pathLst>
            </a:custGeom>
            <a:blipFill>
              <a:blip r:embed="rId3">
                <a:alphaModFix amt="0"/>
              </a:blip>
              <a:stretch>
                <a:fillRect l="0" t="-469601" r="0" b="-469601"/>
              </a:stretch>
            </a:blipFill>
          </p:spPr>
        </p:sp>
        <p:sp>
          <p:nvSpPr>
            <p:cNvPr name="TextBox 36" id="36"/>
            <p:cNvSpPr txBox="true"/>
            <p:nvPr/>
          </p:nvSpPr>
          <p:spPr>
            <a:xfrm>
              <a:off x="0" y="-38100"/>
              <a:ext cx="14630400" cy="586740"/>
            </a:xfrm>
            <a:prstGeom prst="rect">
              <a:avLst/>
            </a:prstGeom>
          </p:spPr>
          <p:txBody>
            <a:bodyPr anchor="ctr" rtlCol="false" tIns="0" lIns="0" bIns="0" rIns="0"/>
            <a:lstStyle/>
            <a:p>
              <a:pPr algn="l">
                <a:lnSpc>
                  <a:spcPts val="1800"/>
                </a:lnSpc>
              </a:pPr>
              <a:r>
                <a:rPr lang="en-US" sz="1500">
                  <a:solidFill>
                    <a:srgbClr val="6B7280"/>
                  </a:solidFill>
                  <a:latin typeface="Calibri (MS)"/>
                  <a:ea typeface="Calibri (MS)"/>
                  <a:cs typeface="Calibri (MS)"/>
                  <a:sym typeface="Calibri (MS)"/>
                </a:rPr>
                <a:t>Davao del Norte Provincial Government — Cybersecurity Seminar</a:t>
              </a:r>
            </a:p>
          </p:txBody>
        </p:sp>
      </p:grpSp>
      <p:grpSp>
        <p:nvGrpSpPr>
          <p:cNvPr name="Group 37" id="37"/>
          <p:cNvGrpSpPr/>
          <p:nvPr/>
        </p:nvGrpSpPr>
        <p:grpSpPr>
          <a:xfrm rot="0">
            <a:off x="16911828" y="9710928"/>
            <a:ext cx="685800" cy="411480"/>
            <a:chOff x="0" y="0"/>
            <a:chExt cx="914400" cy="548640"/>
          </a:xfrm>
        </p:grpSpPr>
        <p:sp>
          <p:nvSpPr>
            <p:cNvPr name="Freeform 38" id="38"/>
            <p:cNvSpPr/>
            <p:nvPr/>
          </p:nvSpPr>
          <p:spPr>
            <a:xfrm flipH="false" flipV="false" rot="0">
              <a:off x="0" y="0"/>
              <a:ext cx="914400" cy="548640"/>
            </a:xfrm>
            <a:custGeom>
              <a:avLst/>
              <a:gdLst/>
              <a:ahLst/>
              <a:cxnLst/>
              <a:rect r="r" b="b" t="t" l="l"/>
              <a:pathLst>
                <a:path h="548640" w="914400">
                  <a:moveTo>
                    <a:pt x="0" y="0"/>
                  </a:moveTo>
                  <a:lnTo>
                    <a:pt x="914400" y="0"/>
                  </a:lnTo>
                  <a:lnTo>
                    <a:pt x="914400" y="548640"/>
                  </a:lnTo>
                  <a:lnTo>
                    <a:pt x="0" y="548640"/>
                  </a:lnTo>
                  <a:close/>
                </a:path>
              </a:pathLst>
            </a:custGeom>
            <a:blipFill>
              <a:blip r:embed="rId3">
                <a:alphaModFix amt="0"/>
              </a:blip>
              <a:stretch>
                <a:fillRect l="-26982" t="0" r="-26982" b="0"/>
              </a:stretch>
            </a:blipFill>
          </p:spPr>
        </p:sp>
        <p:sp>
          <p:nvSpPr>
            <p:cNvPr name="TextBox 39" id="39"/>
            <p:cNvSpPr txBox="true"/>
            <p:nvPr/>
          </p:nvSpPr>
          <p:spPr>
            <a:xfrm>
              <a:off x="0" y="-38100"/>
              <a:ext cx="914400" cy="586740"/>
            </a:xfrm>
            <a:prstGeom prst="rect">
              <a:avLst/>
            </a:prstGeom>
          </p:spPr>
          <p:txBody>
            <a:bodyPr anchor="ctr" rtlCol="false" tIns="0" lIns="0" bIns="0" rIns="0"/>
            <a:lstStyle/>
            <a:p>
              <a:pPr algn="r">
                <a:lnSpc>
                  <a:spcPts val="1800"/>
                </a:lnSpc>
              </a:pPr>
              <a:r>
                <a:rPr lang="en-US" sz="1500">
                  <a:solidFill>
                    <a:srgbClr val="6B7280"/>
                  </a:solidFill>
                  <a:latin typeface="Calibri (MS)"/>
                  <a:ea typeface="Calibri (MS)"/>
                  <a:cs typeface="Calibri (MS)"/>
                  <a:sym typeface="Calibri (MS)"/>
                </a:rPr>
                <a:t>52</a:t>
              </a:r>
            </a:p>
          </p:txBody>
        </p:sp>
      </p:grpSp>
    </p:spTree>
  </p:cSld>
  <p:clrMapOvr>
    <a:masterClrMapping/>
  </p:clrMapOvr>
</p:sld>
</file>

<file path=ppt/slides/slide5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60120" y="685800"/>
            <a:ext cx="13716000" cy="411480"/>
            <a:chOff x="0" y="0"/>
            <a:chExt cx="18288000" cy="548640"/>
          </a:xfrm>
        </p:grpSpPr>
        <p:sp>
          <p:nvSpPr>
            <p:cNvPr name="Freeform 3" id="3"/>
            <p:cNvSpPr/>
            <p:nvPr/>
          </p:nvSpPr>
          <p:spPr>
            <a:xfrm flipH="false" flipV="false" rot="0">
              <a:off x="0" y="0"/>
              <a:ext cx="18288000" cy="548640"/>
            </a:xfrm>
            <a:custGeom>
              <a:avLst/>
              <a:gdLst/>
              <a:ahLst/>
              <a:cxnLst/>
              <a:rect r="r" b="b" t="t" l="l"/>
              <a:pathLst>
                <a:path h="548640" w="18288000">
                  <a:moveTo>
                    <a:pt x="0" y="0"/>
                  </a:moveTo>
                  <a:lnTo>
                    <a:pt x="18288000" y="0"/>
                  </a:lnTo>
                  <a:lnTo>
                    <a:pt x="18288000" y="548640"/>
                  </a:lnTo>
                  <a:lnTo>
                    <a:pt x="0" y="548640"/>
                  </a:lnTo>
                  <a:close/>
                </a:path>
              </a:pathLst>
            </a:custGeom>
            <a:blipFill>
              <a:blip r:embed="rId3">
                <a:alphaModFix amt="0"/>
              </a:blip>
              <a:stretch>
                <a:fillRect l="0" t="-599501" r="0" b="-599501"/>
              </a:stretch>
            </a:blipFill>
          </p:spPr>
        </p:sp>
        <p:sp>
          <p:nvSpPr>
            <p:cNvPr name="TextBox 4" id="4"/>
            <p:cNvSpPr txBox="true"/>
            <p:nvPr/>
          </p:nvSpPr>
          <p:spPr>
            <a:xfrm>
              <a:off x="0" y="-38100"/>
              <a:ext cx="18288000" cy="586740"/>
            </a:xfrm>
            <a:prstGeom prst="rect">
              <a:avLst/>
            </a:prstGeom>
          </p:spPr>
          <p:txBody>
            <a:bodyPr anchor="ctr" rtlCol="false" tIns="0" lIns="0" bIns="0" rIns="0"/>
            <a:lstStyle/>
            <a:p>
              <a:pPr algn="l">
                <a:lnSpc>
                  <a:spcPts val="2160"/>
                </a:lnSpc>
              </a:pPr>
              <a:r>
                <a:rPr lang="en-US" b="true" sz="1800" spc="225">
                  <a:solidFill>
                    <a:srgbClr val="00B4D8"/>
                  </a:solidFill>
                  <a:latin typeface="Calibri (MS) Bold"/>
                  <a:ea typeface="Calibri (MS) Bold"/>
                  <a:cs typeface="Calibri (MS) Bold"/>
                  <a:sym typeface="Calibri (MS) Bold"/>
                </a:rPr>
                <a:t>CIA TRIAD SORT · SCENARIO</a:t>
              </a:r>
            </a:p>
          </p:txBody>
        </p:sp>
      </p:grpSp>
      <p:grpSp>
        <p:nvGrpSpPr>
          <p:cNvPr name="Group 5" id="5"/>
          <p:cNvGrpSpPr/>
          <p:nvPr/>
        </p:nvGrpSpPr>
        <p:grpSpPr>
          <a:xfrm rot="0">
            <a:off x="960120" y="1069848"/>
            <a:ext cx="10972800" cy="822960"/>
            <a:chOff x="0" y="0"/>
            <a:chExt cx="14630400" cy="1097280"/>
          </a:xfrm>
        </p:grpSpPr>
        <p:sp>
          <p:nvSpPr>
            <p:cNvPr name="Freeform 6" id="6"/>
            <p:cNvSpPr/>
            <p:nvPr/>
          </p:nvSpPr>
          <p:spPr>
            <a:xfrm flipH="false" flipV="false" rot="0">
              <a:off x="0" y="0"/>
              <a:ext cx="14630400" cy="1097280"/>
            </a:xfrm>
            <a:custGeom>
              <a:avLst/>
              <a:gdLst/>
              <a:ahLst/>
              <a:cxnLst/>
              <a:rect r="r" b="b" t="t" l="l"/>
              <a:pathLst>
                <a:path h="1097280" w="14630400">
                  <a:moveTo>
                    <a:pt x="0" y="0"/>
                  </a:moveTo>
                  <a:lnTo>
                    <a:pt x="14630400" y="0"/>
                  </a:lnTo>
                  <a:lnTo>
                    <a:pt x="14630400" y="1097280"/>
                  </a:lnTo>
                  <a:lnTo>
                    <a:pt x="0" y="1097280"/>
                  </a:lnTo>
                  <a:close/>
                </a:path>
              </a:pathLst>
            </a:custGeom>
            <a:blipFill>
              <a:blip r:embed="rId3">
                <a:alphaModFix amt="0"/>
              </a:blip>
              <a:stretch>
                <a:fillRect l="0" t="-209800" r="0" b="-209800"/>
              </a:stretch>
            </a:blipFill>
          </p:spPr>
        </p:sp>
        <p:sp>
          <p:nvSpPr>
            <p:cNvPr name="TextBox 7" id="7"/>
            <p:cNvSpPr txBox="true"/>
            <p:nvPr/>
          </p:nvSpPr>
          <p:spPr>
            <a:xfrm>
              <a:off x="0" y="0"/>
              <a:ext cx="14630400" cy="1097280"/>
            </a:xfrm>
            <a:prstGeom prst="rect">
              <a:avLst/>
            </a:prstGeom>
          </p:spPr>
          <p:txBody>
            <a:bodyPr anchor="ctr" rtlCol="false" tIns="0" lIns="0" bIns="0" rIns="0"/>
            <a:lstStyle/>
            <a:p>
              <a:pPr algn="l">
                <a:lnSpc>
                  <a:spcPts val="4680"/>
                </a:lnSpc>
              </a:pPr>
              <a:r>
                <a:rPr lang="en-US" sz="3900" b="true">
                  <a:solidFill>
                    <a:srgbClr val="1E2761"/>
                  </a:solidFill>
                  <a:latin typeface="Cambria Bold"/>
                  <a:ea typeface="Cambria Bold"/>
                  <a:cs typeface="Cambria Bold"/>
                  <a:sym typeface="Cambria Bold"/>
                </a:rPr>
                <a:t>Scenario 8</a:t>
              </a:r>
            </a:p>
          </p:txBody>
        </p:sp>
      </p:grpSp>
      <p:grpSp>
        <p:nvGrpSpPr>
          <p:cNvPr name="Group 8" id="8"/>
          <p:cNvGrpSpPr/>
          <p:nvPr/>
        </p:nvGrpSpPr>
        <p:grpSpPr>
          <a:xfrm rot="0">
            <a:off x="960120" y="1810512"/>
            <a:ext cx="8229600" cy="411480"/>
            <a:chOff x="0" y="0"/>
            <a:chExt cx="10972800" cy="548640"/>
          </a:xfrm>
        </p:grpSpPr>
        <p:sp>
          <p:nvSpPr>
            <p:cNvPr name="Freeform 9" id="9"/>
            <p:cNvSpPr/>
            <p:nvPr/>
          </p:nvSpPr>
          <p:spPr>
            <a:xfrm flipH="false" flipV="false" rot="0">
              <a:off x="0" y="0"/>
              <a:ext cx="10972800" cy="548640"/>
            </a:xfrm>
            <a:custGeom>
              <a:avLst/>
              <a:gdLst/>
              <a:ahLst/>
              <a:cxnLst/>
              <a:rect r="r" b="b" t="t" l="l"/>
              <a:pathLst>
                <a:path h="548640" w="10972800">
                  <a:moveTo>
                    <a:pt x="0" y="0"/>
                  </a:moveTo>
                  <a:lnTo>
                    <a:pt x="10972800" y="0"/>
                  </a:lnTo>
                  <a:lnTo>
                    <a:pt x="10972800" y="548640"/>
                  </a:lnTo>
                  <a:lnTo>
                    <a:pt x="0" y="548640"/>
                  </a:lnTo>
                  <a:close/>
                </a:path>
              </a:pathLst>
            </a:custGeom>
            <a:blipFill>
              <a:blip r:embed="rId3">
                <a:alphaModFix amt="0"/>
              </a:blip>
              <a:stretch>
                <a:fillRect l="0" t="-339700" r="0" b="-339700"/>
              </a:stretch>
            </a:blipFill>
          </p:spPr>
        </p:sp>
        <p:sp>
          <p:nvSpPr>
            <p:cNvPr name="TextBox 10" id="10"/>
            <p:cNvSpPr txBox="true"/>
            <p:nvPr/>
          </p:nvSpPr>
          <p:spPr>
            <a:xfrm>
              <a:off x="0" y="-28575"/>
              <a:ext cx="10972800" cy="577215"/>
            </a:xfrm>
            <a:prstGeom prst="rect">
              <a:avLst/>
            </a:prstGeom>
          </p:spPr>
          <p:txBody>
            <a:bodyPr anchor="ctr" rtlCol="false" tIns="0" lIns="0" bIns="0" rIns="0"/>
            <a:lstStyle/>
            <a:p>
              <a:pPr algn="l">
                <a:lnSpc>
                  <a:spcPts val="1980"/>
                </a:lnSpc>
              </a:pPr>
              <a:r>
                <a:rPr lang="en-US" sz="1650">
                  <a:solidFill>
                    <a:srgbClr val="6B7280"/>
                  </a:solidFill>
                  <a:latin typeface="Calibri (MS)"/>
                  <a:ea typeface="Calibri (MS)"/>
                  <a:cs typeface="Calibri (MS)"/>
                  <a:sym typeface="Calibri (MS)"/>
                </a:rPr>
                <a:t>8 of 12</a:t>
              </a:r>
            </a:p>
          </p:txBody>
        </p:sp>
      </p:grpSp>
      <p:grpSp>
        <p:nvGrpSpPr>
          <p:cNvPr name="Group 11" id="11"/>
          <p:cNvGrpSpPr/>
          <p:nvPr/>
        </p:nvGrpSpPr>
        <p:grpSpPr>
          <a:xfrm rot="0">
            <a:off x="960120" y="2537460"/>
            <a:ext cx="16322040" cy="2811780"/>
            <a:chOff x="0" y="0"/>
            <a:chExt cx="21762720" cy="3749040"/>
          </a:xfrm>
        </p:grpSpPr>
        <p:sp>
          <p:nvSpPr>
            <p:cNvPr name="Freeform 12" id="12"/>
            <p:cNvSpPr/>
            <p:nvPr/>
          </p:nvSpPr>
          <p:spPr>
            <a:xfrm flipH="false" flipV="false" rot="0">
              <a:off x="0" y="0"/>
              <a:ext cx="21762720" cy="3749040"/>
            </a:xfrm>
            <a:custGeom>
              <a:avLst/>
              <a:gdLst/>
              <a:ahLst/>
              <a:cxnLst/>
              <a:rect r="r" b="b" t="t" l="l"/>
              <a:pathLst>
                <a:path h="3749040" w="21762720">
                  <a:moveTo>
                    <a:pt x="0" y="182880"/>
                  </a:moveTo>
                  <a:cubicBezTo>
                    <a:pt x="0" y="81915"/>
                    <a:pt x="81915" y="0"/>
                    <a:pt x="182880" y="0"/>
                  </a:cubicBezTo>
                  <a:lnTo>
                    <a:pt x="21579839" y="0"/>
                  </a:lnTo>
                  <a:cubicBezTo>
                    <a:pt x="21680804" y="0"/>
                    <a:pt x="21762720" y="81915"/>
                    <a:pt x="21762720" y="182880"/>
                  </a:cubicBezTo>
                  <a:lnTo>
                    <a:pt x="21762720" y="3566160"/>
                  </a:lnTo>
                  <a:cubicBezTo>
                    <a:pt x="21762720" y="3667125"/>
                    <a:pt x="21680804" y="3749040"/>
                    <a:pt x="21579839" y="3749040"/>
                  </a:cubicBezTo>
                  <a:lnTo>
                    <a:pt x="182880" y="3749040"/>
                  </a:lnTo>
                  <a:cubicBezTo>
                    <a:pt x="81915" y="3749040"/>
                    <a:pt x="0" y="3667125"/>
                    <a:pt x="0" y="3566160"/>
                  </a:cubicBezTo>
                  <a:close/>
                </a:path>
              </a:pathLst>
            </a:custGeom>
            <a:solidFill>
              <a:srgbClr val="F4F7FC"/>
            </a:solidFill>
          </p:spPr>
        </p:sp>
      </p:grpSp>
      <p:grpSp>
        <p:nvGrpSpPr>
          <p:cNvPr name="Group 13" id="13"/>
          <p:cNvGrpSpPr/>
          <p:nvPr/>
        </p:nvGrpSpPr>
        <p:grpSpPr>
          <a:xfrm rot="0">
            <a:off x="1440180" y="2811780"/>
            <a:ext cx="15361920" cy="2263140"/>
            <a:chOff x="0" y="0"/>
            <a:chExt cx="20482560" cy="3017520"/>
          </a:xfrm>
        </p:grpSpPr>
        <p:sp>
          <p:nvSpPr>
            <p:cNvPr name="Freeform 14" id="14"/>
            <p:cNvSpPr/>
            <p:nvPr/>
          </p:nvSpPr>
          <p:spPr>
            <a:xfrm flipH="false" flipV="false" rot="0">
              <a:off x="0" y="0"/>
              <a:ext cx="20482561" cy="3017520"/>
            </a:xfrm>
            <a:custGeom>
              <a:avLst/>
              <a:gdLst/>
              <a:ahLst/>
              <a:cxnLst/>
              <a:rect r="r" b="b" t="t" l="l"/>
              <a:pathLst>
                <a:path h="3017520" w="20482561">
                  <a:moveTo>
                    <a:pt x="0" y="0"/>
                  </a:moveTo>
                  <a:lnTo>
                    <a:pt x="20482561" y="0"/>
                  </a:lnTo>
                  <a:lnTo>
                    <a:pt x="20482561" y="3017520"/>
                  </a:lnTo>
                  <a:lnTo>
                    <a:pt x="0" y="3017520"/>
                  </a:lnTo>
                  <a:close/>
                </a:path>
              </a:pathLst>
            </a:custGeom>
            <a:blipFill>
              <a:blip r:embed="rId3">
                <a:alphaModFix amt="0"/>
              </a:blip>
              <a:stretch>
                <a:fillRect l="0" t="-82262" r="0" b="-82262"/>
              </a:stretch>
            </a:blipFill>
          </p:spPr>
        </p:sp>
        <p:sp>
          <p:nvSpPr>
            <p:cNvPr name="TextBox 15" id="15"/>
            <p:cNvSpPr txBox="true"/>
            <p:nvPr/>
          </p:nvSpPr>
          <p:spPr>
            <a:xfrm>
              <a:off x="0" y="-104775"/>
              <a:ext cx="20482560" cy="3122295"/>
            </a:xfrm>
            <a:prstGeom prst="rect">
              <a:avLst/>
            </a:prstGeom>
          </p:spPr>
          <p:txBody>
            <a:bodyPr anchor="ctr" rtlCol="false" tIns="0" lIns="0" bIns="0" rIns="0"/>
            <a:lstStyle/>
            <a:p>
              <a:pPr algn="l">
                <a:lnSpc>
                  <a:spcPts val="4147"/>
                </a:lnSpc>
              </a:pPr>
              <a:r>
                <a:rPr lang="en-US" sz="2700" i="true">
                  <a:solidFill>
                    <a:srgbClr val="23262F"/>
                  </a:solidFill>
                  <a:latin typeface="Cambria Italics"/>
                  <a:ea typeface="Cambria Italics"/>
                  <a:cs typeface="Cambria Italics"/>
                  <a:sym typeface="Cambria Italics"/>
                </a:rPr>
                <a:t>“A phishing email tricks an employee into giving up their login. The attacker uses it to edit payroll entries and lock other staff out of the system.”</a:t>
              </a:r>
            </a:p>
          </p:txBody>
        </p:sp>
      </p:grpSp>
      <p:sp>
        <p:nvSpPr>
          <p:cNvPr name="TextBox 16" id="16"/>
          <p:cNvSpPr txBox="true"/>
          <p:nvPr/>
        </p:nvSpPr>
        <p:spPr>
          <a:xfrm rot="0">
            <a:off x="1051560" y="5604510"/>
            <a:ext cx="16139160" cy="1276350"/>
          </a:xfrm>
          <a:prstGeom prst="rect">
            <a:avLst/>
          </a:prstGeom>
        </p:spPr>
        <p:txBody>
          <a:bodyPr anchor="t" rtlCol="false" tIns="0" lIns="0" bIns="0" rIns="0">
            <a:spAutoFit/>
          </a:bodyPr>
          <a:lstStyle/>
          <a:p>
            <a:pPr algn="ctr">
              <a:lnSpc>
                <a:spcPts val="3402"/>
              </a:lnSpc>
            </a:pPr>
            <a:r>
              <a:rPr lang="en-US" sz="2100" i="true">
                <a:solidFill>
                  <a:srgbClr val="6B7280"/>
                </a:solidFill>
                <a:latin typeface="Calibri (MS) Italics"/>
                <a:ea typeface="Calibri (MS) Italics"/>
                <a:cs typeface="Calibri (MS) Italics"/>
                <a:sym typeface="Calibri (MS) Italics"/>
              </a:rPr>
              <a:t>Which does this break — Confidentiality, Integrity, or Availability?</a:t>
            </a:r>
          </a:p>
          <a:p>
            <a:pPr algn="ctr">
              <a:lnSpc>
                <a:spcPts val="3402"/>
              </a:lnSpc>
            </a:pPr>
            <a:r>
              <a:rPr lang="en-US" sz="2100" i="true">
                <a:solidFill>
                  <a:srgbClr val="6B7280"/>
                </a:solidFill>
                <a:latin typeface="Calibri (MS) Italics"/>
                <a:ea typeface="Calibri (MS) Italics"/>
                <a:cs typeface="Calibri (MS) Italics"/>
                <a:sym typeface="Calibri (MS) Italics"/>
              </a:rPr>
              <a:t>Some break more than one. Discuss, then we'll reveal the answer.</a:t>
            </a:r>
          </a:p>
        </p:txBody>
      </p:sp>
      <p:grpSp>
        <p:nvGrpSpPr>
          <p:cNvPr name="Group 17" id="17"/>
          <p:cNvGrpSpPr/>
          <p:nvPr/>
        </p:nvGrpSpPr>
        <p:grpSpPr>
          <a:xfrm rot="0">
            <a:off x="950595" y="7191375"/>
            <a:ext cx="5162550" cy="910590"/>
            <a:chOff x="0" y="0"/>
            <a:chExt cx="6883400" cy="1214120"/>
          </a:xfrm>
        </p:grpSpPr>
        <p:sp>
          <p:nvSpPr>
            <p:cNvPr name="Freeform 18" id="18"/>
            <p:cNvSpPr/>
            <p:nvPr/>
          </p:nvSpPr>
          <p:spPr>
            <a:xfrm flipH="false" flipV="false" rot="0">
              <a:off x="0" y="0"/>
              <a:ext cx="6883400" cy="1214120"/>
            </a:xfrm>
            <a:custGeom>
              <a:avLst/>
              <a:gdLst/>
              <a:ahLst/>
              <a:cxnLst/>
              <a:rect r="r" b="b" t="t" l="l"/>
              <a:pathLst>
                <a:path h="1214120" w="6883400">
                  <a:moveTo>
                    <a:pt x="0" y="168148"/>
                  </a:moveTo>
                  <a:cubicBezTo>
                    <a:pt x="0" y="75311"/>
                    <a:pt x="75311" y="0"/>
                    <a:pt x="168148" y="0"/>
                  </a:cubicBezTo>
                  <a:lnTo>
                    <a:pt x="6715252" y="0"/>
                  </a:lnTo>
                  <a:cubicBezTo>
                    <a:pt x="6808089" y="0"/>
                    <a:pt x="6883400" y="75311"/>
                    <a:pt x="6883400" y="168148"/>
                  </a:cubicBezTo>
                  <a:lnTo>
                    <a:pt x="6883400" y="1045972"/>
                  </a:lnTo>
                  <a:cubicBezTo>
                    <a:pt x="6883400" y="1138809"/>
                    <a:pt x="6808089" y="1214120"/>
                    <a:pt x="6715252" y="1214120"/>
                  </a:cubicBezTo>
                  <a:lnTo>
                    <a:pt x="168148" y="1214120"/>
                  </a:lnTo>
                  <a:cubicBezTo>
                    <a:pt x="75311" y="1214120"/>
                    <a:pt x="0" y="1138809"/>
                    <a:pt x="0" y="1045972"/>
                  </a:cubicBezTo>
                  <a:close/>
                </a:path>
              </a:pathLst>
            </a:custGeom>
            <a:solidFill>
              <a:srgbClr val="F4F7FC"/>
            </a:solidFill>
            <a:ln w="19050" cap="sq">
              <a:solidFill>
                <a:srgbClr val="D7DCEC"/>
              </a:solidFill>
              <a:prstDash val="solid"/>
              <a:miter/>
            </a:ln>
          </p:spPr>
        </p:sp>
      </p:grpSp>
      <p:grpSp>
        <p:nvGrpSpPr>
          <p:cNvPr name="Group 19" id="19"/>
          <p:cNvGrpSpPr/>
          <p:nvPr/>
        </p:nvGrpSpPr>
        <p:grpSpPr>
          <a:xfrm rot="0">
            <a:off x="960120" y="7200900"/>
            <a:ext cx="5143500" cy="891540"/>
            <a:chOff x="0" y="0"/>
            <a:chExt cx="6858000" cy="1188720"/>
          </a:xfrm>
        </p:grpSpPr>
        <p:sp>
          <p:nvSpPr>
            <p:cNvPr name="Freeform 20" id="20"/>
            <p:cNvSpPr/>
            <p:nvPr/>
          </p:nvSpPr>
          <p:spPr>
            <a:xfrm flipH="false" flipV="false" rot="0">
              <a:off x="0" y="0"/>
              <a:ext cx="6858000" cy="1188720"/>
            </a:xfrm>
            <a:custGeom>
              <a:avLst/>
              <a:gdLst/>
              <a:ahLst/>
              <a:cxnLst/>
              <a:rect r="r" b="b" t="t" l="l"/>
              <a:pathLst>
                <a:path h="1188720" w="6858000">
                  <a:moveTo>
                    <a:pt x="0" y="0"/>
                  </a:moveTo>
                  <a:lnTo>
                    <a:pt x="6858000" y="0"/>
                  </a:lnTo>
                  <a:lnTo>
                    <a:pt x="6858000" y="1188720"/>
                  </a:lnTo>
                  <a:lnTo>
                    <a:pt x="0" y="1188720"/>
                  </a:lnTo>
                  <a:close/>
                </a:path>
              </a:pathLst>
            </a:custGeom>
            <a:blipFill>
              <a:blip r:embed="rId3">
                <a:alphaModFix amt="0"/>
              </a:blip>
              <a:stretch>
                <a:fillRect l="0" t="-62413" r="0" b="-62413"/>
              </a:stretch>
            </a:blipFill>
          </p:spPr>
        </p:sp>
        <p:sp>
          <p:nvSpPr>
            <p:cNvPr name="TextBox 21" id="21"/>
            <p:cNvSpPr txBox="true"/>
            <p:nvPr/>
          </p:nvSpPr>
          <p:spPr>
            <a:xfrm>
              <a:off x="0" y="-47625"/>
              <a:ext cx="6858000" cy="1236345"/>
            </a:xfrm>
            <a:prstGeom prst="rect">
              <a:avLst/>
            </a:prstGeom>
          </p:spPr>
          <p:txBody>
            <a:bodyPr anchor="ctr" rtlCol="false" tIns="0" lIns="0" bIns="0" rIns="0"/>
            <a:lstStyle/>
            <a:p>
              <a:pPr algn="ctr">
                <a:lnSpc>
                  <a:spcPts val="2520"/>
                </a:lnSpc>
              </a:pPr>
              <a:r>
                <a:rPr lang="en-US" sz="2100">
                  <a:solidFill>
                    <a:srgbClr val="6B7280"/>
                  </a:solidFill>
                  <a:latin typeface="Calibri (MS)"/>
                  <a:ea typeface="Calibri (MS)"/>
                  <a:cs typeface="Calibri (MS)"/>
                  <a:sym typeface="Calibri (MS)"/>
                </a:rPr>
                <a:t>Confidentiality</a:t>
              </a:r>
            </a:p>
          </p:txBody>
        </p:sp>
      </p:grpSp>
      <p:grpSp>
        <p:nvGrpSpPr>
          <p:cNvPr name="Group 22" id="22"/>
          <p:cNvGrpSpPr/>
          <p:nvPr/>
        </p:nvGrpSpPr>
        <p:grpSpPr>
          <a:xfrm rot="0">
            <a:off x="6533007" y="7191375"/>
            <a:ext cx="5162550" cy="910590"/>
            <a:chOff x="0" y="0"/>
            <a:chExt cx="6883400" cy="1214120"/>
          </a:xfrm>
        </p:grpSpPr>
        <p:sp>
          <p:nvSpPr>
            <p:cNvPr name="Freeform 23" id="23"/>
            <p:cNvSpPr/>
            <p:nvPr/>
          </p:nvSpPr>
          <p:spPr>
            <a:xfrm flipH="false" flipV="false" rot="0">
              <a:off x="0" y="0"/>
              <a:ext cx="6883400" cy="1214120"/>
            </a:xfrm>
            <a:custGeom>
              <a:avLst/>
              <a:gdLst/>
              <a:ahLst/>
              <a:cxnLst/>
              <a:rect r="r" b="b" t="t" l="l"/>
              <a:pathLst>
                <a:path h="1214120" w="6883400">
                  <a:moveTo>
                    <a:pt x="0" y="168148"/>
                  </a:moveTo>
                  <a:cubicBezTo>
                    <a:pt x="0" y="75311"/>
                    <a:pt x="75311" y="0"/>
                    <a:pt x="168148" y="0"/>
                  </a:cubicBezTo>
                  <a:lnTo>
                    <a:pt x="6715252" y="0"/>
                  </a:lnTo>
                  <a:cubicBezTo>
                    <a:pt x="6808089" y="0"/>
                    <a:pt x="6883400" y="75311"/>
                    <a:pt x="6883400" y="168148"/>
                  </a:cubicBezTo>
                  <a:lnTo>
                    <a:pt x="6883400" y="1045972"/>
                  </a:lnTo>
                  <a:cubicBezTo>
                    <a:pt x="6883400" y="1138809"/>
                    <a:pt x="6808089" y="1214120"/>
                    <a:pt x="6715252" y="1214120"/>
                  </a:cubicBezTo>
                  <a:lnTo>
                    <a:pt x="168148" y="1214120"/>
                  </a:lnTo>
                  <a:cubicBezTo>
                    <a:pt x="75311" y="1214120"/>
                    <a:pt x="0" y="1138809"/>
                    <a:pt x="0" y="1045972"/>
                  </a:cubicBezTo>
                  <a:close/>
                </a:path>
              </a:pathLst>
            </a:custGeom>
            <a:solidFill>
              <a:srgbClr val="F4F7FC"/>
            </a:solidFill>
            <a:ln w="19050" cap="sq">
              <a:solidFill>
                <a:srgbClr val="D7DCEC"/>
              </a:solidFill>
              <a:prstDash val="solid"/>
              <a:miter/>
            </a:ln>
          </p:spPr>
        </p:sp>
      </p:grpSp>
      <p:grpSp>
        <p:nvGrpSpPr>
          <p:cNvPr name="Group 24" id="24"/>
          <p:cNvGrpSpPr/>
          <p:nvPr/>
        </p:nvGrpSpPr>
        <p:grpSpPr>
          <a:xfrm rot="0">
            <a:off x="6542532" y="7200900"/>
            <a:ext cx="5143500" cy="891540"/>
            <a:chOff x="0" y="0"/>
            <a:chExt cx="6858000" cy="1188720"/>
          </a:xfrm>
        </p:grpSpPr>
        <p:sp>
          <p:nvSpPr>
            <p:cNvPr name="Freeform 25" id="25"/>
            <p:cNvSpPr/>
            <p:nvPr/>
          </p:nvSpPr>
          <p:spPr>
            <a:xfrm flipH="false" flipV="false" rot="0">
              <a:off x="0" y="0"/>
              <a:ext cx="6858000" cy="1188720"/>
            </a:xfrm>
            <a:custGeom>
              <a:avLst/>
              <a:gdLst/>
              <a:ahLst/>
              <a:cxnLst/>
              <a:rect r="r" b="b" t="t" l="l"/>
              <a:pathLst>
                <a:path h="1188720" w="6858000">
                  <a:moveTo>
                    <a:pt x="0" y="0"/>
                  </a:moveTo>
                  <a:lnTo>
                    <a:pt x="6858000" y="0"/>
                  </a:lnTo>
                  <a:lnTo>
                    <a:pt x="6858000" y="1188720"/>
                  </a:lnTo>
                  <a:lnTo>
                    <a:pt x="0" y="1188720"/>
                  </a:lnTo>
                  <a:close/>
                </a:path>
              </a:pathLst>
            </a:custGeom>
            <a:blipFill>
              <a:blip r:embed="rId3">
                <a:alphaModFix amt="0"/>
              </a:blip>
              <a:stretch>
                <a:fillRect l="0" t="-62413" r="0" b="-62413"/>
              </a:stretch>
            </a:blipFill>
          </p:spPr>
        </p:sp>
        <p:sp>
          <p:nvSpPr>
            <p:cNvPr name="TextBox 26" id="26"/>
            <p:cNvSpPr txBox="true"/>
            <p:nvPr/>
          </p:nvSpPr>
          <p:spPr>
            <a:xfrm>
              <a:off x="0" y="-47625"/>
              <a:ext cx="6858000" cy="1236345"/>
            </a:xfrm>
            <a:prstGeom prst="rect">
              <a:avLst/>
            </a:prstGeom>
          </p:spPr>
          <p:txBody>
            <a:bodyPr anchor="ctr" rtlCol="false" tIns="0" lIns="0" bIns="0" rIns="0"/>
            <a:lstStyle/>
            <a:p>
              <a:pPr algn="ctr">
                <a:lnSpc>
                  <a:spcPts val="2520"/>
                </a:lnSpc>
              </a:pPr>
              <a:r>
                <a:rPr lang="en-US" sz="2100">
                  <a:solidFill>
                    <a:srgbClr val="6B7280"/>
                  </a:solidFill>
                  <a:latin typeface="Calibri (MS)"/>
                  <a:ea typeface="Calibri (MS)"/>
                  <a:cs typeface="Calibri (MS)"/>
                  <a:sym typeface="Calibri (MS)"/>
                </a:rPr>
                <a:t>Integrity</a:t>
              </a:r>
            </a:p>
          </p:txBody>
        </p:sp>
      </p:grpSp>
      <p:grpSp>
        <p:nvGrpSpPr>
          <p:cNvPr name="Group 27" id="27"/>
          <p:cNvGrpSpPr/>
          <p:nvPr/>
        </p:nvGrpSpPr>
        <p:grpSpPr>
          <a:xfrm rot="0">
            <a:off x="12115419" y="7191375"/>
            <a:ext cx="5162550" cy="910590"/>
            <a:chOff x="0" y="0"/>
            <a:chExt cx="6883400" cy="1214120"/>
          </a:xfrm>
        </p:grpSpPr>
        <p:sp>
          <p:nvSpPr>
            <p:cNvPr name="Freeform 28" id="28"/>
            <p:cNvSpPr/>
            <p:nvPr/>
          </p:nvSpPr>
          <p:spPr>
            <a:xfrm flipH="false" flipV="false" rot="0">
              <a:off x="0" y="0"/>
              <a:ext cx="6883400" cy="1214120"/>
            </a:xfrm>
            <a:custGeom>
              <a:avLst/>
              <a:gdLst/>
              <a:ahLst/>
              <a:cxnLst/>
              <a:rect r="r" b="b" t="t" l="l"/>
              <a:pathLst>
                <a:path h="1214120" w="6883400">
                  <a:moveTo>
                    <a:pt x="0" y="168148"/>
                  </a:moveTo>
                  <a:cubicBezTo>
                    <a:pt x="0" y="75311"/>
                    <a:pt x="75311" y="0"/>
                    <a:pt x="168148" y="0"/>
                  </a:cubicBezTo>
                  <a:lnTo>
                    <a:pt x="6715252" y="0"/>
                  </a:lnTo>
                  <a:cubicBezTo>
                    <a:pt x="6808089" y="0"/>
                    <a:pt x="6883400" y="75311"/>
                    <a:pt x="6883400" y="168148"/>
                  </a:cubicBezTo>
                  <a:lnTo>
                    <a:pt x="6883400" y="1045972"/>
                  </a:lnTo>
                  <a:cubicBezTo>
                    <a:pt x="6883400" y="1138809"/>
                    <a:pt x="6808089" y="1214120"/>
                    <a:pt x="6715252" y="1214120"/>
                  </a:cubicBezTo>
                  <a:lnTo>
                    <a:pt x="168148" y="1214120"/>
                  </a:lnTo>
                  <a:cubicBezTo>
                    <a:pt x="75311" y="1214120"/>
                    <a:pt x="0" y="1138809"/>
                    <a:pt x="0" y="1045972"/>
                  </a:cubicBezTo>
                  <a:close/>
                </a:path>
              </a:pathLst>
            </a:custGeom>
            <a:solidFill>
              <a:srgbClr val="F4F7FC"/>
            </a:solidFill>
            <a:ln w="19050" cap="sq">
              <a:solidFill>
                <a:srgbClr val="D7DCEC"/>
              </a:solidFill>
              <a:prstDash val="solid"/>
              <a:miter/>
            </a:ln>
          </p:spPr>
        </p:sp>
      </p:grpSp>
      <p:grpSp>
        <p:nvGrpSpPr>
          <p:cNvPr name="Group 29" id="29"/>
          <p:cNvGrpSpPr/>
          <p:nvPr/>
        </p:nvGrpSpPr>
        <p:grpSpPr>
          <a:xfrm rot="0">
            <a:off x="12124944" y="7200900"/>
            <a:ext cx="5143500" cy="891540"/>
            <a:chOff x="0" y="0"/>
            <a:chExt cx="6858000" cy="1188720"/>
          </a:xfrm>
        </p:grpSpPr>
        <p:sp>
          <p:nvSpPr>
            <p:cNvPr name="Freeform 30" id="30"/>
            <p:cNvSpPr/>
            <p:nvPr/>
          </p:nvSpPr>
          <p:spPr>
            <a:xfrm flipH="false" flipV="false" rot="0">
              <a:off x="0" y="0"/>
              <a:ext cx="6858000" cy="1188720"/>
            </a:xfrm>
            <a:custGeom>
              <a:avLst/>
              <a:gdLst/>
              <a:ahLst/>
              <a:cxnLst/>
              <a:rect r="r" b="b" t="t" l="l"/>
              <a:pathLst>
                <a:path h="1188720" w="6858000">
                  <a:moveTo>
                    <a:pt x="0" y="0"/>
                  </a:moveTo>
                  <a:lnTo>
                    <a:pt x="6858000" y="0"/>
                  </a:lnTo>
                  <a:lnTo>
                    <a:pt x="6858000" y="1188720"/>
                  </a:lnTo>
                  <a:lnTo>
                    <a:pt x="0" y="1188720"/>
                  </a:lnTo>
                  <a:close/>
                </a:path>
              </a:pathLst>
            </a:custGeom>
            <a:blipFill>
              <a:blip r:embed="rId3">
                <a:alphaModFix amt="0"/>
              </a:blip>
              <a:stretch>
                <a:fillRect l="0" t="-62413" r="0" b="-62413"/>
              </a:stretch>
            </a:blipFill>
          </p:spPr>
        </p:sp>
        <p:sp>
          <p:nvSpPr>
            <p:cNvPr name="TextBox 31" id="31"/>
            <p:cNvSpPr txBox="true"/>
            <p:nvPr/>
          </p:nvSpPr>
          <p:spPr>
            <a:xfrm>
              <a:off x="0" y="-47625"/>
              <a:ext cx="6858000" cy="1236345"/>
            </a:xfrm>
            <a:prstGeom prst="rect">
              <a:avLst/>
            </a:prstGeom>
          </p:spPr>
          <p:txBody>
            <a:bodyPr anchor="ctr" rtlCol="false" tIns="0" lIns="0" bIns="0" rIns="0"/>
            <a:lstStyle/>
            <a:p>
              <a:pPr algn="ctr">
                <a:lnSpc>
                  <a:spcPts val="2520"/>
                </a:lnSpc>
              </a:pPr>
              <a:r>
                <a:rPr lang="en-US" sz="2100">
                  <a:solidFill>
                    <a:srgbClr val="6B7280"/>
                  </a:solidFill>
                  <a:latin typeface="Calibri (MS)"/>
                  <a:ea typeface="Calibri (MS)"/>
                  <a:cs typeface="Calibri (MS)"/>
                  <a:sym typeface="Calibri (MS)"/>
                </a:rPr>
                <a:t>Availability</a:t>
              </a:r>
            </a:p>
          </p:txBody>
        </p:sp>
      </p:grpSp>
      <p:grpSp>
        <p:nvGrpSpPr>
          <p:cNvPr name="Group 32" id="32"/>
          <p:cNvGrpSpPr/>
          <p:nvPr/>
        </p:nvGrpSpPr>
        <p:grpSpPr>
          <a:xfrm rot="0">
            <a:off x="685800" y="9710928"/>
            <a:ext cx="10972800" cy="411480"/>
            <a:chOff x="0" y="0"/>
            <a:chExt cx="14630400" cy="548640"/>
          </a:xfrm>
        </p:grpSpPr>
        <p:sp>
          <p:nvSpPr>
            <p:cNvPr name="Freeform 33" id="33"/>
            <p:cNvSpPr/>
            <p:nvPr/>
          </p:nvSpPr>
          <p:spPr>
            <a:xfrm flipH="false" flipV="false" rot="0">
              <a:off x="0" y="0"/>
              <a:ext cx="14630400" cy="548640"/>
            </a:xfrm>
            <a:custGeom>
              <a:avLst/>
              <a:gdLst/>
              <a:ahLst/>
              <a:cxnLst/>
              <a:rect r="r" b="b" t="t" l="l"/>
              <a:pathLst>
                <a:path h="548640" w="14630400">
                  <a:moveTo>
                    <a:pt x="0" y="0"/>
                  </a:moveTo>
                  <a:lnTo>
                    <a:pt x="14630400" y="0"/>
                  </a:lnTo>
                  <a:lnTo>
                    <a:pt x="14630400" y="548640"/>
                  </a:lnTo>
                  <a:lnTo>
                    <a:pt x="0" y="548640"/>
                  </a:lnTo>
                  <a:close/>
                </a:path>
              </a:pathLst>
            </a:custGeom>
            <a:blipFill>
              <a:blip r:embed="rId3">
                <a:alphaModFix amt="0"/>
              </a:blip>
              <a:stretch>
                <a:fillRect l="0" t="-469601" r="0" b="-469601"/>
              </a:stretch>
            </a:blipFill>
          </p:spPr>
        </p:sp>
        <p:sp>
          <p:nvSpPr>
            <p:cNvPr name="TextBox 34" id="34"/>
            <p:cNvSpPr txBox="true"/>
            <p:nvPr/>
          </p:nvSpPr>
          <p:spPr>
            <a:xfrm>
              <a:off x="0" y="-38100"/>
              <a:ext cx="14630400" cy="586740"/>
            </a:xfrm>
            <a:prstGeom prst="rect">
              <a:avLst/>
            </a:prstGeom>
          </p:spPr>
          <p:txBody>
            <a:bodyPr anchor="ctr" rtlCol="false" tIns="0" lIns="0" bIns="0" rIns="0"/>
            <a:lstStyle/>
            <a:p>
              <a:pPr algn="l">
                <a:lnSpc>
                  <a:spcPts val="1800"/>
                </a:lnSpc>
              </a:pPr>
              <a:r>
                <a:rPr lang="en-US" sz="1500">
                  <a:solidFill>
                    <a:srgbClr val="6B7280"/>
                  </a:solidFill>
                  <a:latin typeface="Calibri (MS)"/>
                  <a:ea typeface="Calibri (MS)"/>
                  <a:cs typeface="Calibri (MS)"/>
                  <a:sym typeface="Calibri (MS)"/>
                </a:rPr>
                <a:t>Davao del Norte Provincial Government — Cybersecurity Seminar</a:t>
              </a:r>
            </a:p>
          </p:txBody>
        </p:sp>
      </p:grpSp>
      <p:grpSp>
        <p:nvGrpSpPr>
          <p:cNvPr name="Group 35" id="35"/>
          <p:cNvGrpSpPr/>
          <p:nvPr/>
        </p:nvGrpSpPr>
        <p:grpSpPr>
          <a:xfrm rot="0">
            <a:off x="16911828" y="9710928"/>
            <a:ext cx="685800" cy="411480"/>
            <a:chOff x="0" y="0"/>
            <a:chExt cx="914400" cy="548640"/>
          </a:xfrm>
        </p:grpSpPr>
        <p:sp>
          <p:nvSpPr>
            <p:cNvPr name="Freeform 36" id="36"/>
            <p:cNvSpPr/>
            <p:nvPr/>
          </p:nvSpPr>
          <p:spPr>
            <a:xfrm flipH="false" flipV="false" rot="0">
              <a:off x="0" y="0"/>
              <a:ext cx="914400" cy="548640"/>
            </a:xfrm>
            <a:custGeom>
              <a:avLst/>
              <a:gdLst/>
              <a:ahLst/>
              <a:cxnLst/>
              <a:rect r="r" b="b" t="t" l="l"/>
              <a:pathLst>
                <a:path h="548640" w="914400">
                  <a:moveTo>
                    <a:pt x="0" y="0"/>
                  </a:moveTo>
                  <a:lnTo>
                    <a:pt x="914400" y="0"/>
                  </a:lnTo>
                  <a:lnTo>
                    <a:pt x="914400" y="548640"/>
                  </a:lnTo>
                  <a:lnTo>
                    <a:pt x="0" y="548640"/>
                  </a:lnTo>
                  <a:close/>
                </a:path>
              </a:pathLst>
            </a:custGeom>
            <a:blipFill>
              <a:blip r:embed="rId3">
                <a:alphaModFix amt="0"/>
              </a:blip>
              <a:stretch>
                <a:fillRect l="-26982" t="0" r="-26982" b="0"/>
              </a:stretch>
            </a:blipFill>
          </p:spPr>
        </p:sp>
        <p:sp>
          <p:nvSpPr>
            <p:cNvPr name="TextBox 37" id="37"/>
            <p:cNvSpPr txBox="true"/>
            <p:nvPr/>
          </p:nvSpPr>
          <p:spPr>
            <a:xfrm>
              <a:off x="0" y="-38100"/>
              <a:ext cx="914400" cy="586740"/>
            </a:xfrm>
            <a:prstGeom prst="rect">
              <a:avLst/>
            </a:prstGeom>
          </p:spPr>
          <p:txBody>
            <a:bodyPr anchor="ctr" rtlCol="false" tIns="0" lIns="0" bIns="0" rIns="0"/>
            <a:lstStyle/>
            <a:p>
              <a:pPr algn="r">
                <a:lnSpc>
                  <a:spcPts val="1800"/>
                </a:lnSpc>
              </a:pPr>
              <a:r>
                <a:rPr lang="en-US" sz="1500">
                  <a:solidFill>
                    <a:srgbClr val="6B7280"/>
                  </a:solidFill>
                  <a:latin typeface="Calibri (MS)"/>
                  <a:ea typeface="Calibri (MS)"/>
                  <a:cs typeface="Calibri (MS)"/>
                  <a:sym typeface="Calibri (MS)"/>
                </a:rPr>
                <a:t>53</a:t>
              </a:r>
            </a:p>
          </p:txBody>
        </p:sp>
      </p:grpSp>
    </p:spTree>
  </p:cSld>
  <p:clrMapOvr>
    <a:masterClrMapping/>
  </p:clrMapOvr>
</p:sld>
</file>

<file path=ppt/slides/slide5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60120" y="685800"/>
            <a:ext cx="13716000" cy="411480"/>
            <a:chOff x="0" y="0"/>
            <a:chExt cx="18288000" cy="548640"/>
          </a:xfrm>
        </p:grpSpPr>
        <p:sp>
          <p:nvSpPr>
            <p:cNvPr name="Freeform 3" id="3"/>
            <p:cNvSpPr/>
            <p:nvPr/>
          </p:nvSpPr>
          <p:spPr>
            <a:xfrm flipH="false" flipV="false" rot="0">
              <a:off x="0" y="0"/>
              <a:ext cx="18288000" cy="548640"/>
            </a:xfrm>
            <a:custGeom>
              <a:avLst/>
              <a:gdLst/>
              <a:ahLst/>
              <a:cxnLst/>
              <a:rect r="r" b="b" t="t" l="l"/>
              <a:pathLst>
                <a:path h="548640" w="18288000">
                  <a:moveTo>
                    <a:pt x="0" y="0"/>
                  </a:moveTo>
                  <a:lnTo>
                    <a:pt x="18288000" y="0"/>
                  </a:lnTo>
                  <a:lnTo>
                    <a:pt x="18288000" y="548640"/>
                  </a:lnTo>
                  <a:lnTo>
                    <a:pt x="0" y="548640"/>
                  </a:lnTo>
                  <a:close/>
                </a:path>
              </a:pathLst>
            </a:custGeom>
            <a:blipFill>
              <a:blip r:embed="rId3">
                <a:alphaModFix amt="0"/>
              </a:blip>
              <a:stretch>
                <a:fillRect l="0" t="-599501" r="0" b="-599501"/>
              </a:stretch>
            </a:blipFill>
          </p:spPr>
        </p:sp>
        <p:sp>
          <p:nvSpPr>
            <p:cNvPr name="TextBox 4" id="4"/>
            <p:cNvSpPr txBox="true"/>
            <p:nvPr/>
          </p:nvSpPr>
          <p:spPr>
            <a:xfrm>
              <a:off x="0" y="-38100"/>
              <a:ext cx="18288000" cy="586740"/>
            </a:xfrm>
            <a:prstGeom prst="rect">
              <a:avLst/>
            </a:prstGeom>
          </p:spPr>
          <p:txBody>
            <a:bodyPr anchor="ctr" rtlCol="false" tIns="0" lIns="0" bIns="0" rIns="0"/>
            <a:lstStyle/>
            <a:p>
              <a:pPr algn="l">
                <a:lnSpc>
                  <a:spcPts val="2160"/>
                </a:lnSpc>
              </a:pPr>
              <a:r>
                <a:rPr lang="en-US" b="true" sz="1800" spc="225">
                  <a:solidFill>
                    <a:srgbClr val="00B4D8"/>
                  </a:solidFill>
                  <a:latin typeface="Calibri (MS) Bold"/>
                  <a:ea typeface="Calibri (MS) Bold"/>
                  <a:cs typeface="Calibri (MS) Bold"/>
                  <a:sym typeface="Calibri (MS) Bold"/>
                </a:rPr>
                <a:t>CIA TRIAD SORT · ANSWER</a:t>
              </a:r>
            </a:p>
          </p:txBody>
        </p:sp>
      </p:grpSp>
      <p:grpSp>
        <p:nvGrpSpPr>
          <p:cNvPr name="Group 5" id="5"/>
          <p:cNvGrpSpPr/>
          <p:nvPr/>
        </p:nvGrpSpPr>
        <p:grpSpPr>
          <a:xfrm rot="0">
            <a:off x="960120" y="1069848"/>
            <a:ext cx="10972800" cy="822960"/>
            <a:chOff x="0" y="0"/>
            <a:chExt cx="14630400" cy="1097280"/>
          </a:xfrm>
        </p:grpSpPr>
        <p:sp>
          <p:nvSpPr>
            <p:cNvPr name="Freeform 6" id="6"/>
            <p:cNvSpPr/>
            <p:nvPr/>
          </p:nvSpPr>
          <p:spPr>
            <a:xfrm flipH="false" flipV="false" rot="0">
              <a:off x="0" y="0"/>
              <a:ext cx="14630400" cy="1097280"/>
            </a:xfrm>
            <a:custGeom>
              <a:avLst/>
              <a:gdLst/>
              <a:ahLst/>
              <a:cxnLst/>
              <a:rect r="r" b="b" t="t" l="l"/>
              <a:pathLst>
                <a:path h="1097280" w="14630400">
                  <a:moveTo>
                    <a:pt x="0" y="0"/>
                  </a:moveTo>
                  <a:lnTo>
                    <a:pt x="14630400" y="0"/>
                  </a:lnTo>
                  <a:lnTo>
                    <a:pt x="14630400" y="1097280"/>
                  </a:lnTo>
                  <a:lnTo>
                    <a:pt x="0" y="1097280"/>
                  </a:lnTo>
                  <a:close/>
                </a:path>
              </a:pathLst>
            </a:custGeom>
            <a:blipFill>
              <a:blip r:embed="rId3">
                <a:alphaModFix amt="0"/>
              </a:blip>
              <a:stretch>
                <a:fillRect l="0" t="-209800" r="0" b="-209800"/>
              </a:stretch>
            </a:blipFill>
          </p:spPr>
        </p:sp>
        <p:sp>
          <p:nvSpPr>
            <p:cNvPr name="TextBox 7" id="7"/>
            <p:cNvSpPr txBox="true"/>
            <p:nvPr/>
          </p:nvSpPr>
          <p:spPr>
            <a:xfrm>
              <a:off x="0" y="0"/>
              <a:ext cx="14630400" cy="1097280"/>
            </a:xfrm>
            <a:prstGeom prst="rect">
              <a:avLst/>
            </a:prstGeom>
          </p:spPr>
          <p:txBody>
            <a:bodyPr anchor="ctr" rtlCol="false" tIns="0" lIns="0" bIns="0" rIns="0"/>
            <a:lstStyle/>
            <a:p>
              <a:pPr algn="l">
                <a:lnSpc>
                  <a:spcPts val="4680"/>
                </a:lnSpc>
              </a:pPr>
              <a:r>
                <a:rPr lang="en-US" sz="3900" b="true">
                  <a:solidFill>
                    <a:srgbClr val="1E2761"/>
                  </a:solidFill>
                  <a:latin typeface="Cambria Bold"/>
                  <a:ea typeface="Cambria Bold"/>
                  <a:cs typeface="Cambria Bold"/>
                  <a:sym typeface="Cambria Bold"/>
                </a:rPr>
                <a:t>Scenario 8 — Answer</a:t>
              </a:r>
            </a:p>
          </p:txBody>
        </p:sp>
      </p:grpSp>
      <p:grpSp>
        <p:nvGrpSpPr>
          <p:cNvPr name="Group 8" id="8"/>
          <p:cNvGrpSpPr/>
          <p:nvPr/>
        </p:nvGrpSpPr>
        <p:grpSpPr>
          <a:xfrm rot="0">
            <a:off x="960120" y="1810512"/>
            <a:ext cx="8229600" cy="411480"/>
            <a:chOff x="0" y="0"/>
            <a:chExt cx="10972800" cy="548640"/>
          </a:xfrm>
        </p:grpSpPr>
        <p:sp>
          <p:nvSpPr>
            <p:cNvPr name="Freeform 9" id="9"/>
            <p:cNvSpPr/>
            <p:nvPr/>
          </p:nvSpPr>
          <p:spPr>
            <a:xfrm flipH="false" flipV="false" rot="0">
              <a:off x="0" y="0"/>
              <a:ext cx="10972800" cy="548640"/>
            </a:xfrm>
            <a:custGeom>
              <a:avLst/>
              <a:gdLst/>
              <a:ahLst/>
              <a:cxnLst/>
              <a:rect r="r" b="b" t="t" l="l"/>
              <a:pathLst>
                <a:path h="548640" w="10972800">
                  <a:moveTo>
                    <a:pt x="0" y="0"/>
                  </a:moveTo>
                  <a:lnTo>
                    <a:pt x="10972800" y="0"/>
                  </a:lnTo>
                  <a:lnTo>
                    <a:pt x="10972800" y="548640"/>
                  </a:lnTo>
                  <a:lnTo>
                    <a:pt x="0" y="548640"/>
                  </a:lnTo>
                  <a:close/>
                </a:path>
              </a:pathLst>
            </a:custGeom>
            <a:blipFill>
              <a:blip r:embed="rId3">
                <a:alphaModFix amt="0"/>
              </a:blip>
              <a:stretch>
                <a:fillRect l="0" t="-339700" r="0" b="-339700"/>
              </a:stretch>
            </a:blipFill>
          </p:spPr>
        </p:sp>
        <p:sp>
          <p:nvSpPr>
            <p:cNvPr name="TextBox 10" id="10"/>
            <p:cNvSpPr txBox="true"/>
            <p:nvPr/>
          </p:nvSpPr>
          <p:spPr>
            <a:xfrm>
              <a:off x="0" y="-28575"/>
              <a:ext cx="10972800" cy="577215"/>
            </a:xfrm>
            <a:prstGeom prst="rect">
              <a:avLst/>
            </a:prstGeom>
          </p:spPr>
          <p:txBody>
            <a:bodyPr anchor="ctr" rtlCol="false" tIns="0" lIns="0" bIns="0" rIns="0"/>
            <a:lstStyle/>
            <a:p>
              <a:pPr algn="l">
                <a:lnSpc>
                  <a:spcPts val="1980"/>
                </a:lnSpc>
              </a:pPr>
              <a:r>
                <a:rPr lang="en-US" sz="1650">
                  <a:solidFill>
                    <a:srgbClr val="6B7280"/>
                  </a:solidFill>
                  <a:latin typeface="Calibri (MS)"/>
                  <a:ea typeface="Calibri (MS)"/>
                  <a:cs typeface="Calibri (MS)"/>
                  <a:sym typeface="Calibri (MS)"/>
                </a:rPr>
                <a:t>8 of 12</a:t>
              </a:r>
            </a:p>
          </p:txBody>
        </p:sp>
      </p:grpSp>
      <p:grpSp>
        <p:nvGrpSpPr>
          <p:cNvPr name="Group 11" id="11"/>
          <p:cNvGrpSpPr/>
          <p:nvPr/>
        </p:nvGrpSpPr>
        <p:grpSpPr>
          <a:xfrm rot="0">
            <a:off x="960120" y="2537460"/>
            <a:ext cx="16322040" cy="2400300"/>
            <a:chOff x="0" y="0"/>
            <a:chExt cx="21762720" cy="3200400"/>
          </a:xfrm>
        </p:grpSpPr>
        <p:sp>
          <p:nvSpPr>
            <p:cNvPr name="Freeform 12" id="12"/>
            <p:cNvSpPr/>
            <p:nvPr/>
          </p:nvSpPr>
          <p:spPr>
            <a:xfrm flipH="false" flipV="false" rot="0">
              <a:off x="0" y="0"/>
              <a:ext cx="21762720" cy="3200400"/>
            </a:xfrm>
            <a:custGeom>
              <a:avLst/>
              <a:gdLst/>
              <a:ahLst/>
              <a:cxnLst/>
              <a:rect r="r" b="b" t="t" l="l"/>
              <a:pathLst>
                <a:path h="3200400" w="21762720">
                  <a:moveTo>
                    <a:pt x="0" y="182880"/>
                  </a:moveTo>
                  <a:cubicBezTo>
                    <a:pt x="0" y="81915"/>
                    <a:pt x="81915" y="0"/>
                    <a:pt x="182880" y="0"/>
                  </a:cubicBezTo>
                  <a:lnTo>
                    <a:pt x="21579839" y="0"/>
                  </a:lnTo>
                  <a:cubicBezTo>
                    <a:pt x="21680804" y="0"/>
                    <a:pt x="21762720" y="81915"/>
                    <a:pt x="21762720" y="182880"/>
                  </a:cubicBezTo>
                  <a:lnTo>
                    <a:pt x="21762720" y="3017520"/>
                  </a:lnTo>
                  <a:cubicBezTo>
                    <a:pt x="21762720" y="3118485"/>
                    <a:pt x="21680804" y="3200400"/>
                    <a:pt x="21579839" y="3200400"/>
                  </a:cubicBezTo>
                  <a:lnTo>
                    <a:pt x="182880" y="3200400"/>
                  </a:lnTo>
                  <a:cubicBezTo>
                    <a:pt x="81915" y="3200400"/>
                    <a:pt x="0" y="3118485"/>
                    <a:pt x="0" y="3017520"/>
                  </a:cubicBezTo>
                  <a:close/>
                </a:path>
              </a:pathLst>
            </a:custGeom>
            <a:solidFill>
              <a:srgbClr val="F4F7FC"/>
            </a:solidFill>
          </p:spPr>
        </p:sp>
      </p:grpSp>
      <p:grpSp>
        <p:nvGrpSpPr>
          <p:cNvPr name="Group 13" id="13"/>
          <p:cNvGrpSpPr/>
          <p:nvPr/>
        </p:nvGrpSpPr>
        <p:grpSpPr>
          <a:xfrm rot="0">
            <a:off x="1440180" y="2811780"/>
            <a:ext cx="15361920" cy="1851660"/>
            <a:chOff x="0" y="0"/>
            <a:chExt cx="20482560" cy="2468880"/>
          </a:xfrm>
        </p:grpSpPr>
        <p:sp>
          <p:nvSpPr>
            <p:cNvPr name="Freeform 14" id="14"/>
            <p:cNvSpPr/>
            <p:nvPr/>
          </p:nvSpPr>
          <p:spPr>
            <a:xfrm flipH="false" flipV="false" rot="0">
              <a:off x="0" y="0"/>
              <a:ext cx="20482561" cy="2468880"/>
            </a:xfrm>
            <a:custGeom>
              <a:avLst/>
              <a:gdLst/>
              <a:ahLst/>
              <a:cxnLst/>
              <a:rect r="r" b="b" t="t" l="l"/>
              <a:pathLst>
                <a:path h="2468880" w="20482561">
                  <a:moveTo>
                    <a:pt x="0" y="0"/>
                  </a:moveTo>
                  <a:lnTo>
                    <a:pt x="20482561" y="0"/>
                  </a:lnTo>
                  <a:lnTo>
                    <a:pt x="20482561" y="2468880"/>
                  </a:lnTo>
                  <a:lnTo>
                    <a:pt x="0" y="2468880"/>
                  </a:lnTo>
                  <a:close/>
                </a:path>
              </a:pathLst>
            </a:custGeom>
            <a:blipFill>
              <a:blip r:embed="rId3">
                <a:alphaModFix amt="0"/>
              </a:blip>
              <a:stretch>
                <a:fillRect l="0" t="-111653" r="0" b="-111653"/>
              </a:stretch>
            </a:blipFill>
          </p:spPr>
        </p:sp>
        <p:sp>
          <p:nvSpPr>
            <p:cNvPr name="TextBox 15" id="15"/>
            <p:cNvSpPr txBox="true"/>
            <p:nvPr/>
          </p:nvSpPr>
          <p:spPr>
            <a:xfrm>
              <a:off x="0" y="-95250"/>
              <a:ext cx="20482560" cy="2564130"/>
            </a:xfrm>
            <a:prstGeom prst="rect">
              <a:avLst/>
            </a:prstGeom>
          </p:spPr>
          <p:txBody>
            <a:bodyPr anchor="ctr" rtlCol="false" tIns="0" lIns="0" bIns="0" rIns="0"/>
            <a:lstStyle/>
            <a:p>
              <a:pPr algn="l">
                <a:lnSpc>
                  <a:spcPts val="3916"/>
                </a:lnSpc>
              </a:pPr>
              <a:r>
                <a:rPr lang="en-US" sz="2550" i="true">
                  <a:solidFill>
                    <a:srgbClr val="23262F"/>
                  </a:solidFill>
                  <a:latin typeface="Cambria Italics"/>
                  <a:ea typeface="Cambria Italics"/>
                  <a:cs typeface="Cambria Italics"/>
                  <a:sym typeface="Cambria Italics"/>
                </a:rPr>
                <a:t>“A phishing email tricks an employee into giving up their login. The attacker uses it to edit payroll entries and lock other staff out of the system.”</a:t>
              </a:r>
            </a:p>
          </p:txBody>
        </p:sp>
      </p:grpSp>
      <p:grpSp>
        <p:nvGrpSpPr>
          <p:cNvPr name="Group 16" id="16"/>
          <p:cNvGrpSpPr/>
          <p:nvPr/>
        </p:nvGrpSpPr>
        <p:grpSpPr>
          <a:xfrm rot="0">
            <a:off x="950595" y="5408295"/>
            <a:ext cx="5162550" cy="910590"/>
            <a:chOff x="0" y="0"/>
            <a:chExt cx="6883400" cy="1214120"/>
          </a:xfrm>
        </p:grpSpPr>
        <p:sp>
          <p:nvSpPr>
            <p:cNvPr name="Freeform 17" id="17"/>
            <p:cNvSpPr/>
            <p:nvPr/>
          </p:nvSpPr>
          <p:spPr>
            <a:xfrm flipH="false" flipV="false" rot="0">
              <a:off x="0" y="0"/>
              <a:ext cx="6883400" cy="1214120"/>
            </a:xfrm>
            <a:custGeom>
              <a:avLst/>
              <a:gdLst/>
              <a:ahLst/>
              <a:cxnLst/>
              <a:rect r="r" b="b" t="t" l="l"/>
              <a:pathLst>
                <a:path h="1214120" w="6883400">
                  <a:moveTo>
                    <a:pt x="0" y="168148"/>
                  </a:moveTo>
                  <a:cubicBezTo>
                    <a:pt x="0" y="75311"/>
                    <a:pt x="75311" y="0"/>
                    <a:pt x="168148" y="0"/>
                  </a:cubicBezTo>
                  <a:lnTo>
                    <a:pt x="6715252" y="0"/>
                  </a:lnTo>
                  <a:cubicBezTo>
                    <a:pt x="6808089" y="0"/>
                    <a:pt x="6883400" y="75311"/>
                    <a:pt x="6883400" y="168148"/>
                  </a:cubicBezTo>
                  <a:lnTo>
                    <a:pt x="6883400" y="1045972"/>
                  </a:lnTo>
                  <a:cubicBezTo>
                    <a:pt x="6883400" y="1138809"/>
                    <a:pt x="6808089" y="1214120"/>
                    <a:pt x="6715252" y="1214120"/>
                  </a:cubicBezTo>
                  <a:lnTo>
                    <a:pt x="168148" y="1214120"/>
                  </a:lnTo>
                  <a:cubicBezTo>
                    <a:pt x="75311" y="1214120"/>
                    <a:pt x="0" y="1138809"/>
                    <a:pt x="0" y="1045972"/>
                  </a:cubicBezTo>
                  <a:close/>
                </a:path>
              </a:pathLst>
            </a:custGeom>
            <a:solidFill>
              <a:srgbClr val="6C4FD1"/>
            </a:solidFill>
            <a:ln w="19050" cap="sq">
              <a:solidFill>
                <a:srgbClr val="6C4FD1"/>
              </a:solidFill>
              <a:prstDash val="solid"/>
              <a:miter/>
            </a:ln>
          </p:spPr>
        </p:sp>
      </p:grpSp>
      <p:grpSp>
        <p:nvGrpSpPr>
          <p:cNvPr name="Group 18" id="18"/>
          <p:cNvGrpSpPr/>
          <p:nvPr/>
        </p:nvGrpSpPr>
        <p:grpSpPr>
          <a:xfrm rot="0">
            <a:off x="960120" y="5417820"/>
            <a:ext cx="5143500" cy="891540"/>
            <a:chOff x="0" y="0"/>
            <a:chExt cx="6858000" cy="1188720"/>
          </a:xfrm>
        </p:grpSpPr>
        <p:sp>
          <p:nvSpPr>
            <p:cNvPr name="Freeform 19" id="19"/>
            <p:cNvSpPr/>
            <p:nvPr/>
          </p:nvSpPr>
          <p:spPr>
            <a:xfrm flipH="false" flipV="false" rot="0">
              <a:off x="0" y="0"/>
              <a:ext cx="6858000" cy="1188720"/>
            </a:xfrm>
            <a:custGeom>
              <a:avLst/>
              <a:gdLst/>
              <a:ahLst/>
              <a:cxnLst/>
              <a:rect r="r" b="b" t="t" l="l"/>
              <a:pathLst>
                <a:path h="1188720" w="6858000">
                  <a:moveTo>
                    <a:pt x="0" y="0"/>
                  </a:moveTo>
                  <a:lnTo>
                    <a:pt x="6858000" y="0"/>
                  </a:lnTo>
                  <a:lnTo>
                    <a:pt x="6858000" y="1188720"/>
                  </a:lnTo>
                  <a:lnTo>
                    <a:pt x="0" y="1188720"/>
                  </a:lnTo>
                  <a:close/>
                </a:path>
              </a:pathLst>
            </a:custGeom>
            <a:blipFill>
              <a:blip r:embed="rId3">
                <a:alphaModFix amt="0"/>
              </a:blip>
              <a:stretch>
                <a:fillRect l="0" t="-62413" r="0" b="-62413"/>
              </a:stretch>
            </a:blipFill>
          </p:spPr>
        </p:sp>
        <p:sp>
          <p:nvSpPr>
            <p:cNvPr name="TextBox 20" id="20"/>
            <p:cNvSpPr txBox="true"/>
            <p:nvPr/>
          </p:nvSpPr>
          <p:spPr>
            <a:xfrm>
              <a:off x="0" y="-47625"/>
              <a:ext cx="6858000" cy="1236345"/>
            </a:xfrm>
            <a:prstGeom prst="rect">
              <a:avLst/>
            </a:prstGeom>
          </p:spPr>
          <p:txBody>
            <a:bodyPr anchor="ctr" rtlCol="false" tIns="0" lIns="0" bIns="0" rIns="0"/>
            <a:lstStyle/>
            <a:p>
              <a:pPr algn="ctr">
                <a:lnSpc>
                  <a:spcPts val="2520"/>
                </a:lnSpc>
              </a:pPr>
              <a:r>
                <a:rPr lang="en-US" sz="2100" b="true">
                  <a:solidFill>
                    <a:srgbClr val="FFFFFF"/>
                  </a:solidFill>
                  <a:latin typeface="Calibri (MS) Bold"/>
                  <a:ea typeface="Calibri (MS) Bold"/>
                  <a:cs typeface="Calibri (MS) Bold"/>
                  <a:sym typeface="Calibri (MS) Bold"/>
                </a:rPr>
                <a:t>✓  Confidentiality</a:t>
              </a:r>
            </a:p>
          </p:txBody>
        </p:sp>
      </p:grpSp>
      <p:grpSp>
        <p:nvGrpSpPr>
          <p:cNvPr name="Group 21" id="21"/>
          <p:cNvGrpSpPr/>
          <p:nvPr/>
        </p:nvGrpSpPr>
        <p:grpSpPr>
          <a:xfrm rot="0">
            <a:off x="6533007" y="5408295"/>
            <a:ext cx="5162550" cy="910590"/>
            <a:chOff x="0" y="0"/>
            <a:chExt cx="6883400" cy="1214120"/>
          </a:xfrm>
        </p:grpSpPr>
        <p:sp>
          <p:nvSpPr>
            <p:cNvPr name="Freeform 22" id="22"/>
            <p:cNvSpPr/>
            <p:nvPr/>
          </p:nvSpPr>
          <p:spPr>
            <a:xfrm flipH="false" flipV="false" rot="0">
              <a:off x="0" y="0"/>
              <a:ext cx="6883400" cy="1214120"/>
            </a:xfrm>
            <a:custGeom>
              <a:avLst/>
              <a:gdLst/>
              <a:ahLst/>
              <a:cxnLst/>
              <a:rect r="r" b="b" t="t" l="l"/>
              <a:pathLst>
                <a:path h="1214120" w="6883400">
                  <a:moveTo>
                    <a:pt x="0" y="168148"/>
                  </a:moveTo>
                  <a:cubicBezTo>
                    <a:pt x="0" y="75311"/>
                    <a:pt x="75311" y="0"/>
                    <a:pt x="168148" y="0"/>
                  </a:cubicBezTo>
                  <a:lnTo>
                    <a:pt x="6715252" y="0"/>
                  </a:lnTo>
                  <a:cubicBezTo>
                    <a:pt x="6808089" y="0"/>
                    <a:pt x="6883400" y="75311"/>
                    <a:pt x="6883400" y="168148"/>
                  </a:cubicBezTo>
                  <a:lnTo>
                    <a:pt x="6883400" y="1045972"/>
                  </a:lnTo>
                  <a:cubicBezTo>
                    <a:pt x="6883400" y="1138809"/>
                    <a:pt x="6808089" y="1214120"/>
                    <a:pt x="6715252" y="1214120"/>
                  </a:cubicBezTo>
                  <a:lnTo>
                    <a:pt x="168148" y="1214120"/>
                  </a:lnTo>
                  <a:cubicBezTo>
                    <a:pt x="75311" y="1214120"/>
                    <a:pt x="0" y="1138809"/>
                    <a:pt x="0" y="1045972"/>
                  </a:cubicBezTo>
                  <a:close/>
                </a:path>
              </a:pathLst>
            </a:custGeom>
            <a:solidFill>
              <a:srgbClr val="0F8A6E"/>
            </a:solidFill>
            <a:ln w="19050" cap="sq">
              <a:solidFill>
                <a:srgbClr val="0F8A6E"/>
              </a:solidFill>
              <a:prstDash val="solid"/>
              <a:miter/>
            </a:ln>
          </p:spPr>
        </p:sp>
      </p:grpSp>
      <p:grpSp>
        <p:nvGrpSpPr>
          <p:cNvPr name="Group 23" id="23"/>
          <p:cNvGrpSpPr/>
          <p:nvPr/>
        </p:nvGrpSpPr>
        <p:grpSpPr>
          <a:xfrm rot="0">
            <a:off x="6542532" y="5417820"/>
            <a:ext cx="5143500" cy="891540"/>
            <a:chOff x="0" y="0"/>
            <a:chExt cx="6858000" cy="1188720"/>
          </a:xfrm>
        </p:grpSpPr>
        <p:sp>
          <p:nvSpPr>
            <p:cNvPr name="Freeform 24" id="24"/>
            <p:cNvSpPr/>
            <p:nvPr/>
          </p:nvSpPr>
          <p:spPr>
            <a:xfrm flipH="false" flipV="false" rot="0">
              <a:off x="0" y="0"/>
              <a:ext cx="6858000" cy="1188720"/>
            </a:xfrm>
            <a:custGeom>
              <a:avLst/>
              <a:gdLst/>
              <a:ahLst/>
              <a:cxnLst/>
              <a:rect r="r" b="b" t="t" l="l"/>
              <a:pathLst>
                <a:path h="1188720" w="6858000">
                  <a:moveTo>
                    <a:pt x="0" y="0"/>
                  </a:moveTo>
                  <a:lnTo>
                    <a:pt x="6858000" y="0"/>
                  </a:lnTo>
                  <a:lnTo>
                    <a:pt x="6858000" y="1188720"/>
                  </a:lnTo>
                  <a:lnTo>
                    <a:pt x="0" y="1188720"/>
                  </a:lnTo>
                  <a:close/>
                </a:path>
              </a:pathLst>
            </a:custGeom>
            <a:blipFill>
              <a:blip r:embed="rId3">
                <a:alphaModFix amt="0"/>
              </a:blip>
              <a:stretch>
                <a:fillRect l="0" t="-62413" r="0" b="-62413"/>
              </a:stretch>
            </a:blipFill>
          </p:spPr>
        </p:sp>
        <p:sp>
          <p:nvSpPr>
            <p:cNvPr name="TextBox 25" id="25"/>
            <p:cNvSpPr txBox="true"/>
            <p:nvPr/>
          </p:nvSpPr>
          <p:spPr>
            <a:xfrm>
              <a:off x="0" y="-47625"/>
              <a:ext cx="6858000" cy="1236345"/>
            </a:xfrm>
            <a:prstGeom prst="rect">
              <a:avLst/>
            </a:prstGeom>
          </p:spPr>
          <p:txBody>
            <a:bodyPr anchor="ctr" rtlCol="false" tIns="0" lIns="0" bIns="0" rIns="0"/>
            <a:lstStyle/>
            <a:p>
              <a:pPr algn="ctr">
                <a:lnSpc>
                  <a:spcPts val="2520"/>
                </a:lnSpc>
              </a:pPr>
              <a:r>
                <a:rPr lang="en-US" sz="2100" b="true">
                  <a:solidFill>
                    <a:srgbClr val="FFFFFF"/>
                  </a:solidFill>
                  <a:latin typeface="Calibri (MS) Bold"/>
                  <a:ea typeface="Calibri (MS) Bold"/>
                  <a:cs typeface="Calibri (MS) Bold"/>
                  <a:sym typeface="Calibri (MS) Bold"/>
                </a:rPr>
                <a:t>✓  Integrity</a:t>
              </a:r>
            </a:p>
          </p:txBody>
        </p:sp>
      </p:grpSp>
      <p:grpSp>
        <p:nvGrpSpPr>
          <p:cNvPr name="Group 26" id="26"/>
          <p:cNvGrpSpPr/>
          <p:nvPr/>
        </p:nvGrpSpPr>
        <p:grpSpPr>
          <a:xfrm rot="0">
            <a:off x="12115419" y="5408295"/>
            <a:ext cx="5162550" cy="910590"/>
            <a:chOff x="0" y="0"/>
            <a:chExt cx="6883400" cy="1214120"/>
          </a:xfrm>
        </p:grpSpPr>
        <p:sp>
          <p:nvSpPr>
            <p:cNvPr name="Freeform 27" id="27"/>
            <p:cNvSpPr/>
            <p:nvPr/>
          </p:nvSpPr>
          <p:spPr>
            <a:xfrm flipH="false" flipV="false" rot="0">
              <a:off x="0" y="0"/>
              <a:ext cx="6883400" cy="1214120"/>
            </a:xfrm>
            <a:custGeom>
              <a:avLst/>
              <a:gdLst/>
              <a:ahLst/>
              <a:cxnLst/>
              <a:rect r="r" b="b" t="t" l="l"/>
              <a:pathLst>
                <a:path h="1214120" w="6883400">
                  <a:moveTo>
                    <a:pt x="0" y="168148"/>
                  </a:moveTo>
                  <a:cubicBezTo>
                    <a:pt x="0" y="75311"/>
                    <a:pt x="75311" y="0"/>
                    <a:pt x="168148" y="0"/>
                  </a:cubicBezTo>
                  <a:lnTo>
                    <a:pt x="6715252" y="0"/>
                  </a:lnTo>
                  <a:cubicBezTo>
                    <a:pt x="6808089" y="0"/>
                    <a:pt x="6883400" y="75311"/>
                    <a:pt x="6883400" y="168148"/>
                  </a:cubicBezTo>
                  <a:lnTo>
                    <a:pt x="6883400" y="1045972"/>
                  </a:lnTo>
                  <a:cubicBezTo>
                    <a:pt x="6883400" y="1138809"/>
                    <a:pt x="6808089" y="1214120"/>
                    <a:pt x="6715252" y="1214120"/>
                  </a:cubicBezTo>
                  <a:lnTo>
                    <a:pt x="168148" y="1214120"/>
                  </a:lnTo>
                  <a:cubicBezTo>
                    <a:pt x="75311" y="1214120"/>
                    <a:pt x="0" y="1138809"/>
                    <a:pt x="0" y="1045972"/>
                  </a:cubicBezTo>
                  <a:close/>
                </a:path>
              </a:pathLst>
            </a:custGeom>
            <a:solidFill>
              <a:srgbClr val="B8690F"/>
            </a:solidFill>
            <a:ln w="19050" cap="sq">
              <a:solidFill>
                <a:srgbClr val="B8690F"/>
              </a:solidFill>
              <a:prstDash val="solid"/>
              <a:miter/>
            </a:ln>
          </p:spPr>
        </p:sp>
      </p:grpSp>
      <p:grpSp>
        <p:nvGrpSpPr>
          <p:cNvPr name="Group 28" id="28"/>
          <p:cNvGrpSpPr/>
          <p:nvPr/>
        </p:nvGrpSpPr>
        <p:grpSpPr>
          <a:xfrm rot="0">
            <a:off x="12124944" y="5417820"/>
            <a:ext cx="5143500" cy="891540"/>
            <a:chOff x="0" y="0"/>
            <a:chExt cx="6858000" cy="1188720"/>
          </a:xfrm>
        </p:grpSpPr>
        <p:sp>
          <p:nvSpPr>
            <p:cNvPr name="Freeform 29" id="29"/>
            <p:cNvSpPr/>
            <p:nvPr/>
          </p:nvSpPr>
          <p:spPr>
            <a:xfrm flipH="false" flipV="false" rot="0">
              <a:off x="0" y="0"/>
              <a:ext cx="6858000" cy="1188720"/>
            </a:xfrm>
            <a:custGeom>
              <a:avLst/>
              <a:gdLst/>
              <a:ahLst/>
              <a:cxnLst/>
              <a:rect r="r" b="b" t="t" l="l"/>
              <a:pathLst>
                <a:path h="1188720" w="6858000">
                  <a:moveTo>
                    <a:pt x="0" y="0"/>
                  </a:moveTo>
                  <a:lnTo>
                    <a:pt x="6858000" y="0"/>
                  </a:lnTo>
                  <a:lnTo>
                    <a:pt x="6858000" y="1188720"/>
                  </a:lnTo>
                  <a:lnTo>
                    <a:pt x="0" y="1188720"/>
                  </a:lnTo>
                  <a:close/>
                </a:path>
              </a:pathLst>
            </a:custGeom>
            <a:blipFill>
              <a:blip r:embed="rId3">
                <a:alphaModFix amt="0"/>
              </a:blip>
              <a:stretch>
                <a:fillRect l="0" t="-62413" r="0" b="-62413"/>
              </a:stretch>
            </a:blipFill>
          </p:spPr>
        </p:sp>
        <p:sp>
          <p:nvSpPr>
            <p:cNvPr name="TextBox 30" id="30"/>
            <p:cNvSpPr txBox="true"/>
            <p:nvPr/>
          </p:nvSpPr>
          <p:spPr>
            <a:xfrm>
              <a:off x="0" y="-47625"/>
              <a:ext cx="6858000" cy="1236345"/>
            </a:xfrm>
            <a:prstGeom prst="rect">
              <a:avLst/>
            </a:prstGeom>
          </p:spPr>
          <p:txBody>
            <a:bodyPr anchor="ctr" rtlCol="false" tIns="0" lIns="0" bIns="0" rIns="0"/>
            <a:lstStyle/>
            <a:p>
              <a:pPr algn="ctr">
                <a:lnSpc>
                  <a:spcPts val="2520"/>
                </a:lnSpc>
              </a:pPr>
              <a:r>
                <a:rPr lang="en-US" sz="2100" b="true">
                  <a:solidFill>
                    <a:srgbClr val="FFFFFF"/>
                  </a:solidFill>
                  <a:latin typeface="Calibri (MS) Bold"/>
                  <a:ea typeface="Calibri (MS) Bold"/>
                  <a:cs typeface="Calibri (MS) Bold"/>
                  <a:sym typeface="Calibri (MS) Bold"/>
                </a:rPr>
                <a:t>✓  Availability</a:t>
              </a:r>
            </a:p>
          </p:txBody>
        </p:sp>
      </p:grpSp>
      <p:grpSp>
        <p:nvGrpSpPr>
          <p:cNvPr name="Group 31" id="31"/>
          <p:cNvGrpSpPr/>
          <p:nvPr/>
        </p:nvGrpSpPr>
        <p:grpSpPr>
          <a:xfrm rot="0">
            <a:off x="950595" y="6779895"/>
            <a:ext cx="16341090" cy="2145030"/>
            <a:chOff x="0" y="0"/>
            <a:chExt cx="21788120" cy="2860040"/>
          </a:xfrm>
        </p:grpSpPr>
        <p:sp>
          <p:nvSpPr>
            <p:cNvPr name="Freeform 32" id="32"/>
            <p:cNvSpPr/>
            <p:nvPr/>
          </p:nvSpPr>
          <p:spPr>
            <a:xfrm flipH="false" flipV="false" rot="0">
              <a:off x="0" y="0"/>
              <a:ext cx="21788120" cy="2860040"/>
            </a:xfrm>
            <a:custGeom>
              <a:avLst/>
              <a:gdLst/>
              <a:ahLst/>
              <a:cxnLst/>
              <a:rect r="r" b="b" t="t" l="l"/>
              <a:pathLst>
                <a:path h="2860040" w="21788120">
                  <a:moveTo>
                    <a:pt x="0" y="184531"/>
                  </a:moveTo>
                  <a:cubicBezTo>
                    <a:pt x="0" y="82677"/>
                    <a:pt x="82677" y="0"/>
                    <a:pt x="184531" y="0"/>
                  </a:cubicBezTo>
                  <a:lnTo>
                    <a:pt x="21603588" y="0"/>
                  </a:lnTo>
                  <a:cubicBezTo>
                    <a:pt x="21705443" y="0"/>
                    <a:pt x="21788120" y="82677"/>
                    <a:pt x="21788120" y="184531"/>
                  </a:cubicBezTo>
                  <a:lnTo>
                    <a:pt x="21788120" y="2675509"/>
                  </a:lnTo>
                  <a:cubicBezTo>
                    <a:pt x="21788120" y="2777363"/>
                    <a:pt x="21705443" y="2860040"/>
                    <a:pt x="21603588" y="2860040"/>
                  </a:cubicBezTo>
                  <a:lnTo>
                    <a:pt x="184531" y="2860040"/>
                  </a:lnTo>
                  <a:cubicBezTo>
                    <a:pt x="82677" y="2860040"/>
                    <a:pt x="0" y="2777363"/>
                    <a:pt x="0" y="2675509"/>
                  </a:cubicBezTo>
                  <a:close/>
                </a:path>
              </a:pathLst>
            </a:custGeom>
            <a:solidFill>
              <a:srgbClr val="FBF9F4"/>
            </a:solidFill>
            <a:ln w="19050" cap="sq">
              <a:solidFill>
                <a:srgbClr val="EFE6D2"/>
              </a:solidFill>
              <a:prstDash val="solid"/>
              <a:miter/>
            </a:ln>
          </p:spPr>
        </p:sp>
      </p:grpSp>
      <p:sp>
        <p:nvSpPr>
          <p:cNvPr name="TextBox 33" id="33"/>
          <p:cNvSpPr txBox="true"/>
          <p:nvPr/>
        </p:nvSpPr>
        <p:spPr>
          <a:xfrm rot="0">
            <a:off x="1463040" y="6977253"/>
            <a:ext cx="15316200" cy="1659255"/>
          </a:xfrm>
          <a:prstGeom prst="rect">
            <a:avLst/>
          </a:prstGeom>
        </p:spPr>
        <p:txBody>
          <a:bodyPr anchor="t" rtlCol="false" tIns="0" lIns="0" bIns="0" rIns="0">
            <a:spAutoFit/>
          </a:bodyPr>
          <a:lstStyle/>
          <a:p>
            <a:pPr algn="l">
              <a:lnSpc>
                <a:spcPts val="3159"/>
              </a:lnSpc>
            </a:pPr>
            <a:r>
              <a:rPr lang="en-US" sz="2025">
                <a:solidFill>
                  <a:srgbClr val="23262F"/>
                </a:solidFill>
                <a:latin typeface="Calibri (MS)"/>
                <a:ea typeface="Calibri (MS)"/>
                <a:cs typeface="Calibri (MS)"/>
                <a:sym typeface="Calibri (MS)"/>
              </a:rPr>
              <a:t>This one hits all three: the attacker obtained credentials they shouldn't have (C), changed payroll data (I), and locked other staff out (A) — one incident cascading across the whole triad.</a:t>
            </a:r>
          </a:p>
        </p:txBody>
      </p:sp>
      <p:grpSp>
        <p:nvGrpSpPr>
          <p:cNvPr name="Group 34" id="34"/>
          <p:cNvGrpSpPr/>
          <p:nvPr/>
        </p:nvGrpSpPr>
        <p:grpSpPr>
          <a:xfrm rot="0">
            <a:off x="685800" y="9710928"/>
            <a:ext cx="10972800" cy="411480"/>
            <a:chOff x="0" y="0"/>
            <a:chExt cx="14630400" cy="548640"/>
          </a:xfrm>
        </p:grpSpPr>
        <p:sp>
          <p:nvSpPr>
            <p:cNvPr name="Freeform 35" id="35"/>
            <p:cNvSpPr/>
            <p:nvPr/>
          </p:nvSpPr>
          <p:spPr>
            <a:xfrm flipH="false" flipV="false" rot="0">
              <a:off x="0" y="0"/>
              <a:ext cx="14630400" cy="548640"/>
            </a:xfrm>
            <a:custGeom>
              <a:avLst/>
              <a:gdLst/>
              <a:ahLst/>
              <a:cxnLst/>
              <a:rect r="r" b="b" t="t" l="l"/>
              <a:pathLst>
                <a:path h="548640" w="14630400">
                  <a:moveTo>
                    <a:pt x="0" y="0"/>
                  </a:moveTo>
                  <a:lnTo>
                    <a:pt x="14630400" y="0"/>
                  </a:lnTo>
                  <a:lnTo>
                    <a:pt x="14630400" y="548640"/>
                  </a:lnTo>
                  <a:lnTo>
                    <a:pt x="0" y="548640"/>
                  </a:lnTo>
                  <a:close/>
                </a:path>
              </a:pathLst>
            </a:custGeom>
            <a:blipFill>
              <a:blip r:embed="rId3">
                <a:alphaModFix amt="0"/>
              </a:blip>
              <a:stretch>
                <a:fillRect l="0" t="-469601" r="0" b="-469601"/>
              </a:stretch>
            </a:blipFill>
          </p:spPr>
        </p:sp>
        <p:sp>
          <p:nvSpPr>
            <p:cNvPr name="TextBox 36" id="36"/>
            <p:cNvSpPr txBox="true"/>
            <p:nvPr/>
          </p:nvSpPr>
          <p:spPr>
            <a:xfrm>
              <a:off x="0" y="-38100"/>
              <a:ext cx="14630400" cy="586740"/>
            </a:xfrm>
            <a:prstGeom prst="rect">
              <a:avLst/>
            </a:prstGeom>
          </p:spPr>
          <p:txBody>
            <a:bodyPr anchor="ctr" rtlCol="false" tIns="0" lIns="0" bIns="0" rIns="0"/>
            <a:lstStyle/>
            <a:p>
              <a:pPr algn="l">
                <a:lnSpc>
                  <a:spcPts val="1800"/>
                </a:lnSpc>
              </a:pPr>
              <a:r>
                <a:rPr lang="en-US" sz="1500">
                  <a:solidFill>
                    <a:srgbClr val="6B7280"/>
                  </a:solidFill>
                  <a:latin typeface="Calibri (MS)"/>
                  <a:ea typeface="Calibri (MS)"/>
                  <a:cs typeface="Calibri (MS)"/>
                  <a:sym typeface="Calibri (MS)"/>
                </a:rPr>
                <a:t>Davao del Norte Provincial Government — Cybersecurity Seminar</a:t>
              </a:r>
            </a:p>
          </p:txBody>
        </p:sp>
      </p:grpSp>
      <p:grpSp>
        <p:nvGrpSpPr>
          <p:cNvPr name="Group 37" id="37"/>
          <p:cNvGrpSpPr/>
          <p:nvPr/>
        </p:nvGrpSpPr>
        <p:grpSpPr>
          <a:xfrm rot="0">
            <a:off x="16911828" y="9710928"/>
            <a:ext cx="685800" cy="411480"/>
            <a:chOff x="0" y="0"/>
            <a:chExt cx="914400" cy="548640"/>
          </a:xfrm>
        </p:grpSpPr>
        <p:sp>
          <p:nvSpPr>
            <p:cNvPr name="Freeform 38" id="38"/>
            <p:cNvSpPr/>
            <p:nvPr/>
          </p:nvSpPr>
          <p:spPr>
            <a:xfrm flipH="false" flipV="false" rot="0">
              <a:off x="0" y="0"/>
              <a:ext cx="914400" cy="548640"/>
            </a:xfrm>
            <a:custGeom>
              <a:avLst/>
              <a:gdLst/>
              <a:ahLst/>
              <a:cxnLst/>
              <a:rect r="r" b="b" t="t" l="l"/>
              <a:pathLst>
                <a:path h="548640" w="914400">
                  <a:moveTo>
                    <a:pt x="0" y="0"/>
                  </a:moveTo>
                  <a:lnTo>
                    <a:pt x="914400" y="0"/>
                  </a:lnTo>
                  <a:lnTo>
                    <a:pt x="914400" y="548640"/>
                  </a:lnTo>
                  <a:lnTo>
                    <a:pt x="0" y="548640"/>
                  </a:lnTo>
                  <a:close/>
                </a:path>
              </a:pathLst>
            </a:custGeom>
            <a:blipFill>
              <a:blip r:embed="rId3">
                <a:alphaModFix amt="0"/>
              </a:blip>
              <a:stretch>
                <a:fillRect l="-26982" t="0" r="-26982" b="0"/>
              </a:stretch>
            </a:blipFill>
          </p:spPr>
        </p:sp>
        <p:sp>
          <p:nvSpPr>
            <p:cNvPr name="TextBox 39" id="39"/>
            <p:cNvSpPr txBox="true"/>
            <p:nvPr/>
          </p:nvSpPr>
          <p:spPr>
            <a:xfrm>
              <a:off x="0" y="-38100"/>
              <a:ext cx="914400" cy="586740"/>
            </a:xfrm>
            <a:prstGeom prst="rect">
              <a:avLst/>
            </a:prstGeom>
          </p:spPr>
          <p:txBody>
            <a:bodyPr anchor="ctr" rtlCol="false" tIns="0" lIns="0" bIns="0" rIns="0"/>
            <a:lstStyle/>
            <a:p>
              <a:pPr algn="r">
                <a:lnSpc>
                  <a:spcPts val="1800"/>
                </a:lnSpc>
              </a:pPr>
              <a:r>
                <a:rPr lang="en-US" sz="1500">
                  <a:solidFill>
                    <a:srgbClr val="6B7280"/>
                  </a:solidFill>
                  <a:latin typeface="Calibri (MS)"/>
                  <a:ea typeface="Calibri (MS)"/>
                  <a:cs typeface="Calibri (MS)"/>
                  <a:sym typeface="Calibri (MS)"/>
                </a:rPr>
                <a:t>54</a:t>
              </a:r>
            </a:p>
          </p:txBody>
        </p:sp>
      </p:grpSp>
    </p:spTree>
  </p:cSld>
  <p:clrMapOvr>
    <a:masterClrMapping/>
  </p:clrMapOvr>
</p:sld>
</file>

<file path=ppt/slides/slide5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60120" y="685800"/>
            <a:ext cx="13716000" cy="411480"/>
            <a:chOff x="0" y="0"/>
            <a:chExt cx="18288000" cy="548640"/>
          </a:xfrm>
        </p:grpSpPr>
        <p:sp>
          <p:nvSpPr>
            <p:cNvPr name="Freeform 3" id="3"/>
            <p:cNvSpPr/>
            <p:nvPr/>
          </p:nvSpPr>
          <p:spPr>
            <a:xfrm flipH="false" flipV="false" rot="0">
              <a:off x="0" y="0"/>
              <a:ext cx="18288000" cy="548640"/>
            </a:xfrm>
            <a:custGeom>
              <a:avLst/>
              <a:gdLst/>
              <a:ahLst/>
              <a:cxnLst/>
              <a:rect r="r" b="b" t="t" l="l"/>
              <a:pathLst>
                <a:path h="548640" w="18288000">
                  <a:moveTo>
                    <a:pt x="0" y="0"/>
                  </a:moveTo>
                  <a:lnTo>
                    <a:pt x="18288000" y="0"/>
                  </a:lnTo>
                  <a:lnTo>
                    <a:pt x="18288000" y="548640"/>
                  </a:lnTo>
                  <a:lnTo>
                    <a:pt x="0" y="548640"/>
                  </a:lnTo>
                  <a:close/>
                </a:path>
              </a:pathLst>
            </a:custGeom>
            <a:blipFill>
              <a:blip r:embed="rId3">
                <a:alphaModFix amt="0"/>
              </a:blip>
              <a:stretch>
                <a:fillRect l="0" t="-599501" r="0" b="-599501"/>
              </a:stretch>
            </a:blipFill>
          </p:spPr>
        </p:sp>
        <p:sp>
          <p:nvSpPr>
            <p:cNvPr name="TextBox 4" id="4"/>
            <p:cNvSpPr txBox="true"/>
            <p:nvPr/>
          </p:nvSpPr>
          <p:spPr>
            <a:xfrm>
              <a:off x="0" y="-38100"/>
              <a:ext cx="18288000" cy="586740"/>
            </a:xfrm>
            <a:prstGeom prst="rect">
              <a:avLst/>
            </a:prstGeom>
          </p:spPr>
          <p:txBody>
            <a:bodyPr anchor="ctr" rtlCol="false" tIns="0" lIns="0" bIns="0" rIns="0"/>
            <a:lstStyle/>
            <a:p>
              <a:pPr algn="l">
                <a:lnSpc>
                  <a:spcPts val="2160"/>
                </a:lnSpc>
              </a:pPr>
              <a:r>
                <a:rPr lang="en-US" b="true" sz="1800" spc="225">
                  <a:solidFill>
                    <a:srgbClr val="00B4D8"/>
                  </a:solidFill>
                  <a:latin typeface="Calibri (MS) Bold"/>
                  <a:ea typeface="Calibri (MS) Bold"/>
                  <a:cs typeface="Calibri (MS) Bold"/>
                  <a:sym typeface="Calibri (MS) Bold"/>
                </a:rPr>
                <a:t>CIA TRIAD SORT · SCENARIO</a:t>
              </a:r>
            </a:p>
          </p:txBody>
        </p:sp>
      </p:grpSp>
      <p:grpSp>
        <p:nvGrpSpPr>
          <p:cNvPr name="Group 5" id="5"/>
          <p:cNvGrpSpPr/>
          <p:nvPr/>
        </p:nvGrpSpPr>
        <p:grpSpPr>
          <a:xfrm rot="0">
            <a:off x="960120" y="1069848"/>
            <a:ext cx="10972800" cy="822960"/>
            <a:chOff x="0" y="0"/>
            <a:chExt cx="14630400" cy="1097280"/>
          </a:xfrm>
        </p:grpSpPr>
        <p:sp>
          <p:nvSpPr>
            <p:cNvPr name="Freeform 6" id="6"/>
            <p:cNvSpPr/>
            <p:nvPr/>
          </p:nvSpPr>
          <p:spPr>
            <a:xfrm flipH="false" flipV="false" rot="0">
              <a:off x="0" y="0"/>
              <a:ext cx="14630400" cy="1097280"/>
            </a:xfrm>
            <a:custGeom>
              <a:avLst/>
              <a:gdLst/>
              <a:ahLst/>
              <a:cxnLst/>
              <a:rect r="r" b="b" t="t" l="l"/>
              <a:pathLst>
                <a:path h="1097280" w="14630400">
                  <a:moveTo>
                    <a:pt x="0" y="0"/>
                  </a:moveTo>
                  <a:lnTo>
                    <a:pt x="14630400" y="0"/>
                  </a:lnTo>
                  <a:lnTo>
                    <a:pt x="14630400" y="1097280"/>
                  </a:lnTo>
                  <a:lnTo>
                    <a:pt x="0" y="1097280"/>
                  </a:lnTo>
                  <a:close/>
                </a:path>
              </a:pathLst>
            </a:custGeom>
            <a:blipFill>
              <a:blip r:embed="rId3">
                <a:alphaModFix amt="0"/>
              </a:blip>
              <a:stretch>
                <a:fillRect l="0" t="-209800" r="0" b="-209800"/>
              </a:stretch>
            </a:blipFill>
          </p:spPr>
        </p:sp>
        <p:sp>
          <p:nvSpPr>
            <p:cNvPr name="TextBox 7" id="7"/>
            <p:cNvSpPr txBox="true"/>
            <p:nvPr/>
          </p:nvSpPr>
          <p:spPr>
            <a:xfrm>
              <a:off x="0" y="0"/>
              <a:ext cx="14630400" cy="1097280"/>
            </a:xfrm>
            <a:prstGeom prst="rect">
              <a:avLst/>
            </a:prstGeom>
          </p:spPr>
          <p:txBody>
            <a:bodyPr anchor="ctr" rtlCol="false" tIns="0" lIns="0" bIns="0" rIns="0"/>
            <a:lstStyle/>
            <a:p>
              <a:pPr algn="l">
                <a:lnSpc>
                  <a:spcPts val="4680"/>
                </a:lnSpc>
              </a:pPr>
              <a:r>
                <a:rPr lang="en-US" sz="3900" b="true">
                  <a:solidFill>
                    <a:srgbClr val="1E2761"/>
                  </a:solidFill>
                  <a:latin typeface="Cambria Bold"/>
                  <a:ea typeface="Cambria Bold"/>
                  <a:cs typeface="Cambria Bold"/>
                  <a:sym typeface="Cambria Bold"/>
                </a:rPr>
                <a:t>Scenario 9</a:t>
              </a:r>
            </a:p>
          </p:txBody>
        </p:sp>
      </p:grpSp>
      <p:grpSp>
        <p:nvGrpSpPr>
          <p:cNvPr name="Group 8" id="8"/>
          <p:cNvGrpSpPr/>
          <p:nvPr/>
        </p:nvGrpSpPr>
        <p:grpSpPr>
          <a:xfrm rot="0">
            <a:off x="960120" y="1810512"/>
            <a:ext cx="8229600" cy="411480"/>
            <a:chOff x="0" y="0"/>
            <a:chExt cx="10972800" cy="548640"/>
          </a:xfrm>
        </p:grpSpPr>
        <p:sp>
          <p:nvSpPr>
            <p:cNvPr name="Freeform 9" id="9"/>
            <p:cNvSpPr/>
            <p:nvPr/>
          </p:nvSpPr>
          <p:spPr>
            <a:xfrm flipH="false" flipV="false" rot="0">
              <a:off x="0" y="0"/>
              <a:ext cx="10972800" cy="548640"/>
            </a:xfrm>
            <a:custGeom>
              <a:avLst/>
              <a:gdLst/>
              <a:ahLst/>
              <a:cxnLst/>
              <a:rect r="r" b="b" t="t" l="l"/>
              <a:pathLst>
                <a:path h="548640" w="10972800">
                  <a:moveTo>
                    <a:pt x="0" y="0"/>
                  </a:moveTo>
                  <a:lnTo>
                    <a:pt x="10972800" y="0"/>
                  </a:lnTo>
                  <a:lnTo>
                    <a:pt x="10972800" y="548640"/>
                  </a:lnTo>
                  <a:lnTo>
                    <a:pt x="0" y="548640"/>
                  </a:lnTo>
                  <a:close/>
                </a:path>
              </a:pathLst>
            </a:custGeom>
            <a:blipFill>
              <a:blip r:embed="rId3">
                <a:alphaModFix amt="0"/>
              </a:blip>
              <a:stretch>
                <a:fillRect l="0" t="-339700" r="0" b="-339700"/>
              </a:stretch>
            </a:blipFill>
          </p:spPr>
        </p:sp>
        <p:sp>
          <p:nvSpPr>
            <p:cNvPr name="TextBox 10" id="10"/>
            <p:cNvSpPr txBox="true"/>
            <p:nvPr/>
          </p:nvSpPr>
          <p:spPr>
            <a:xfrm>
              <a:off x="0" y="-28575"/>
              <a:ext cx="10972800" cy="577215"/>
            </a:xfrm>
            <a:prstGeom prst="rect">
              <a:avLst/>
            </a:prstGeom>
          </p:spPr>
          <p:txBody>
            <a:bodyPr anchor="ctr" rtlCol="false" tIns="0" lIns="0" bIns="0" rIns="0"/>
            <a:lstStyle/>
            <a:p>
              <a:pPr algn="l">
                <a:lnSpc>
                  <a:spcPts val="1980"/>
                </a:lnSpc>
              </a:pPr>
              <a:r>
                <a:rPr lang="en-US" sz="1650">
                  <a:solidFill>
                    <a:srgbClr val="6B7280"/>
                  </a:solidFill>
                  <a:latin typeface="Calibri (MS)"/>
                  <a:ea typeface="Calibri (MS)"/>
                  <a:cs typeface="Calibri (MS)"/>
                  <a:sym typeface="Calibri (MS)"/>
                </a:rPr>
                <a:t>9 of 12</a:t>
              </a:r>
            </a:p>
          </p:txBody>
        </p:sp>
      </p:grpSp>
      <p:grpSp>
        <p:nvGrpSpPr>
          <p:cNvPr name="Group 11" id="11"/>
          <p:cNvGrpSpPr/>
          <p:nvPr/>
        </p:nvGrpSpPr>
        <p:grpSpPr>
          <a:xfrm rot="0">
            <a:off x="960120" y="2537460"/>
            <a:ext cx="16322040" cy="2811780"/>
            <a:chOff x="0" y="0"/>
            <a:chExt cx="21762720" cy="3749040"/>
          </a:xfrm>
        </p:grpSpPr>
        <p:sp>
          <p:nvSpPr>
            <p:cNvPr name="Freeform 12" id="12"/>
            <p:cNvSpPr/>
            <p:nvPr/>
          </p:nvSpPr>
          <p:spPr>
            <a:xfrm flipH="false" flipV="false" rot="0">
              <a:off x="0" y="0"/>
              <a:ext cx="21762720" cy="3749040"/>
            </a:xfrm>
            <a:custGeom>
              <a:avLst/>
              <a:gdLst/>
              <a:ahLst/>
              <a:cxnLst/>
              <a:rect r="r" b="b" t="t" l="l"/>
              <a:pathLst>
                <a:path h="3749040" w="21762720">
                  <a:moveTo>
                    <a:pt x="0" y="182880"/>
                  </a:moveTo>
                  <a:cubicBezTo>
                    <a:pt x="0" y="81915"/>
                    <a:pt x="81915" y="0"/>
                    <a:pt x="182880" y="0"/>
                  </a:cubicBezTo>
                  <a:lnTo>
                    <a:pt x="21579839" y="0"/>
                  </a:lnTo>
                  <a:cubicBezTo>
                    <a:pt x="21680804" y="0"/>
                    <a:pt x="21762720" y="81915"/>
                    <a:pt x="21762720" y="182880"/>
                  </a:cubicBezTo>
                  <a:lnTo>
                    <a:pt x="21762720" y="3566160"/>
                  </a:lnTo>
                  <a:cubicBezTo>
                    <a:pt x="21762720" y="3667125"/>
                    <a:pt x="21680804" y="3749040"/>
                    <a:pt x="21579839" y="3749040"/>
                  </a:cubicBezTo>
                  <a:lnTo>
                    <a:pt x="182880" y="3749040"/>
                  </a:lnTo>
                  <a:cubicBezTo>
                    <a:pt x="81915" y="3749040"/>
                    <a:pt x="0" y="3667125"/>
                    <a:pt x="0" y="3566160"/>
                  </a:cubicBezTo>
                  <a:close/>
                </a:path>
              </a:pathLst>
            </a:custGeom>
            <a:solidFill>
              <a:srgbClr val="F4F7FC"/>
            </a:solidFill>
          </p:spPr>
        </p:sp>
      </p:grpSp>
      <p:grpSp>
        <p:nvGrpSpPr>
          <p:cNvPr name="Group 13" id="13"/>
          <p:cNvGrpSpPr/>
          <p:nvPr/>
        </p:nvGrpSpPr>
        <p:grpSpPr>
          <a:xfrm rot="0">
            <a:off x="1440180" y="2811780"/>
            <a:ext cx="15361920" cy="2263140"/>
            <a:chOff x="0" y="0"/>
            <a:chExt cx="20482560" cy="3017520"/>
          </a:xfrm>
        </p:grpSpPr>
        <p:sp>
          <p:nvSpPr>
            <p:cNvPr name="Freeform 14" id="14"/>
            <p:cNvSpPr/>
            <p:nvPr/>
          </p:nvSpPr>
          <p:spPr>
            <a:xfrm flipH="false" flipV="false" rot="0">
              <a:off x="0" y="0"/>
              <a:ext cx="20482561" cy="3017520"/>
            </a:xfrm>
            <a:custGeom>
              <a:avLst/>
              <a:gdLst/>
              <a:ahLst/>
              <a:cxnLst/>
              <a:rect r="r" b="b" t="t" l="l"/>
              <a:pathLst>
                <a:path h="3017520" w="20482561">
                  <a:moveTo>
                    <a:pt x="0" y="0"/>
                  </a:moveTo>
                  <a:lnTo>
                    <a:pt x="20482561" y="0"/>
                  </a:lnTo>
                  <a:lnTo>
                    <a:pt x="20482561" y="3017520"/>
                  </a:lnTo>
                  <a:lnTo>
                    <a:pt x="0" y="3017520"/>
                  </a:lnTo>
                  <a:close/>
                </a:path>
              </a:pathLst>
            </a:custGeom>
            <a:blipFill>
              <a:blip r:embed="rId3">
                <a:alphaModFix amt="0"/>
              </a:blip>
              <a:stretch>
                <a:fillRect l="0" t="-82262" r="0" b="-82262"/>
              </a:stretch>
            </a:blipFill>
          </p:spPr>
        </p:sp>
        <p:sp>
          <p:nvSpPr>
            <p:cNvPr name="TextBox 15" id="15"/>
            <p:cNvSpPr txBox="true"/>
            <p:nvPr/>
          </p:nvSpPr>
          <p:spPr>
            <a:xfrm>
              <a:off x="0" y="-104775"/>
              <a:ext cx="20482560" cy="3122295"/>
            </a:xfrm>
            <a:prstGeom prst="rect">
              <a:avLst/>
            </a:prstGeom>
          </p:spPr>
          <p:txBody>
            <a:bodyPr anchor="ctr" rtlCol="false" tIns="0" lIns="0" bIns="0" rIns="0"/>
            <a:lstStyle/>
            <a:p>
              <a:pPr algn="l">
                <a:lnSpc>
                  <a:spcPts val="4147"/>
                </a:lnSpc>
              </a:pPr>
              <a:r>
                <a:rPr lang="en-US" sz="2700" i="true">
                  <a:solidFill>
                    <a:srgbClr val="23262F"/>
                  </a:solidFill>
                  <a:latin typeface="Cambria Italics"/>
                  <a:ea typeface="Cambria Italics"/>
                  <a:cs typeface="Cambria Italics"/>
                  <a:sym typeface="Cambria Italics"/>
                </a:rPr>
                <a:t>“A flood of fake traffic overwhelms the province's website during voter registration season, making it unreachable.”</a:t>
              </a:r>
            </a:p>
          </p:txBody>
        </p:sp>
      </p:grpSp>
      <p:sp>
        <p:nvSpPr>
          <p:cNvPr name="TextBox 16" id="16"/>
          <p:cNvSpPr txBox="true"/>
          <p:nvPr/>
        </p:nvSpPr>
        <p:spPr>
          <a:xfrm rot="0">
            <a:off x="1051560" y="5604510"/>
            <a:ext cx="16139160" cy="1276350"/>
          </a:xfrm>
          <a:prstGeom prst="rect">
            <a:avLst/>
          </a:prstGeom>
        </p:spPr>
        <p:txBody>
          <a:bodyPr anchor="t" rtlCol="false" tIns="0" lIns="0" bIns="0" rIns="0">
            <a:spAutoFit/>
          </a:bodyPr>
          <a:lstStyle/>
          <a:p>
            <a:pPr algn="ctr">
              <a:lnSpc>
                <a:spcPts val="3402"/>
              </a:lnSpc>
            </a:pPr>
            <a:r>
              <a:rPr lang="en-US" sz="2100" i="true">
                <a:solidFill>
                  <a:srgbClr val="6B7280"/>
                </a:solidFill>
                <a:latin typeface="Calibri (MS) Italics"/>
                <a:ea typeface="Calibri (MS) Italics"/>
                <a:cs typeface="Calibri (MS) Italics"/>
                <a:sym typeface="Calibri (MS) Italics"/>
              </a:rPr>
              <a:t>Which does this break — Confidentiality, Integrity, or Availability?</a:t>
            </a:r>
          </a:p>
          <a:p>
            <a:pPr algn="ctr">
              <a:lnSpc>
                <a:spcPts val="3402"/>
              </a:lnSpc>
            </a:pPr>
            <a:r>
              <a:rPr lang="en-US" sz="2100" i="true">
                <a:solidFill>
                  <a:srgbClr val="6B7280"/>
                </a:solidFill>
                <a:latin typeface="Calibri (MS) Italics"/>
                <a:ea typeface="Calibri (MS) Italics"/>
                <a:cs typeface="Calibri (MS) Italics"/>
                <a:sym typeface="Calibri (MS) Italics"/>
              </a:rPr>
              <a:t>Some break more than one. Discuss, then we'll reveal the answer.</a:t>
            </a:r>
          </a:p>
        </p:txBody>
      </p:sp>
      <p:grpSp>
        <p:nvGrpSpPr>
          <p:cNvPr name="Group 17" id="17"/>
          <p:cNvGrpSpPr/>
          <p:nvPr/>
        </p:nvGrpSpPr>
        <p:grpSpPr>
          <a:xfrm rot="0">
            <a:off x="950595" y="7191375"/>
            <a:ext cx="5162550" cy="910590"/>
            <a:chOff x="0" y="0"/>
            <a:chExt cx="6883400" cy="1214120"/>
          </a:xfrm>
        </p:grpSpPr>
        <p:sp>
          <p:nvSpPr>
            <p:cNvPr name="Freeform 18" id="18"/>
            <p:cNvSpPr/>
            <p:nvPr/>
          </p:nvSpPr>
          <p:spPr>
            <a:xfrm flipH="false" flipV="false" rot="0">
              <a:off x="0" y="0"/>
              <a:ext cx="6883400" cy="1214120"/>
            </a:xfrm>
            <a:custGeom>
              <a:avLst/>
              <a:gdLst/>
              <a:ahLst/>
              <a:cxnLst/>
              <a:rect r="r" b="b" t="t" l="l"/>
              <a:pathLst>
                <a:path h="1214120" w="6883400">
                  <a:moveTo>
                    <a:pt x="0" y="168148"/>
                  </a:moveTo>
                  <a:cubicBezTo>
                    <a:pt x="0" y="75311"/>
                    <a:pt x="75311" y="0"/>
                    <a:pt x="168148" y="0"/>
                  </a:cubicBezTo>
                  <a:lnTo>
                    <a:pt x="6715252" y="0"/>
                  </a:lnTo>
                  <a:cubicBezTo>
                    <a:pt x="6808089" y="0"/>
                    <a:pt x="6883400" y="75311"/>
                    <a:pt x="6883400" y="168148"/>
                  </a:cubicBezTo>
                  <a:lnTo>
                    <a:pt x="6883400" y="1045972"/>
                  </a:lnTo>
                  <a:cubicBezTo>
                    <a:pt x="6883400" y="1138809"/>
                    <a:pt x="6808089" y="1214120"/>
                    <a:pt x="6715252" y="1214120"/>
                  </a:cubicBezTo>
                  <a:lnTo>
                    <a:pt x="168148" y="1214120"/>
                  </a:lnTo>
                  <a:cubicBezTo>
                    <a:pt x="75311" y="1214120"/>
                    <a:pt x="0" y="1138809"/>
                    <a:pt x="0" y="1045972"/>
                  </a:cubicBezTo>
                  <a:close/>
                </a:path>
              </a:pathLst>
            </a:custGeom>
            <a:solidFill>
              <a:srgbClr val="F4F7FC"/>
            </a:solidFill>
            <a:ln w="19050" cap="sq">
              <a:solidFill>
                <a:srgbClr val="D7DCEC"/>
              </a:solidFill>
              <a:prstDash val="solid"/>
              <a:miter/>
            </a:ln>
          </p:spPr>
        </p:sp>
      </p:grpSp>
      <p:grpSp>
        <p:nvGrpSpPr>
          <p:cNvPr name="Group 19" id="19"/>
          <p:cNvGrpSpPr/>
          <p:nvPr/>
        </p:nvGrpSpPr>
        <p:grpSpPr>
          <a:xfrm rot="0">
            <a:off x="960120" y="7200900"/>
            <a:ext cx="5143500" cy="891540"/>
            <a:chOff x="0" y="0"/>
            <a:chExt cx="6858000" cy="1188720"/>
          </a:xfrm>
        </p:grpSpPr>
        <p:sp>
          <p:nvSpPr>
            <p:cNvPr name="Freeform 20" id="20"/>
            <p:cNvSpPr/>
            <p:nvPr/>
          </p:nvSpPr>
          <p:spPr>
            <a:xfrm flipH="false" flipV="false" rot="0">
              <a:off x="0" y="0"/>
              <a:ext cx="6858000" cy="1188720"/>
            </a:xfrm>
            <a:custGeom>
              <a:avLst/>
              <a:gdLst/>
              <a:ahLst/>
              <a:cxnLst/>
              <a:rect r="r" b="b" t="t" l="l"/>
              <a:pathLst>
                <a:path h="1188720" w="6858000">
                  <a:moveTo>
                    <a:pt x="0" y="0"/>
                  </a:moveTo>
                  <a:lnTo>
                    <a:pt x="6858000" y="0"/>
                  </a:lnTo>
                  <a:lnTo>
                    <a:pt x="6858000" y="1188720"/>
                  </a:lnTo>
                  <a:lnTo>
                    <a:pt x="0" y="1188720"/>
                  </a:lnTo>
                  <a:close/>
                </a:path>
              </a:pathLst>
            </a:custGeom>
            <a:blipFill>
              <a:blip r:embed="rId3">
                <a:alphaModFix amt="0"/>
              </a:blip>
              <a:stretch>
                <a:fillRect l="0" t="-62413" r="0" b="-62413"/>
              </a:stretch>
            </a:blipFill>
          </p:spPr>
        </p:sp>
        <p:sp>
          <p:nvSpPr>
            <p:cNvPr name="TextBox 21" id="21"/>
            <p:cNvSpPr txBox="true"/>
            <p:nvPr/>
          </p:nvSpPr>
          <p:spPr>
            <a:xfrm>
              <a:off x="0" y="-47625"/>
              <a:ext cx="6858000" cy="1236345"/>
            </a:xfrm>
            <a:prstGeom prst="rect">
              <a:avLst/>
            </a:prstGeom>
          </p:spPr>
          <p:txBody>
            <a:bodyPr anchor="ctr" rtlCol="false" tIns="0" lIns="0" bIns="0" rIns="0"/>
            <a:lstStyle/>
            <a:p>
              <a:pPr algn="ctr">
                <a:lnSpc>
                  <a:spcPts val="2520"/>
                </a:lnSpc>
              </a:pPr>
              <a:r>
                <a:rPr lang="en-US" sz="2100">
                  <a:solidFill>
                    <a:srgbClr val="6B7280"/>
                  </a:solidFill>
                  <a:latin typeface="Calibri (MS)"/>
                  <a:ea typeface="Calibri (MS)"/>
                  <a:cs typeface="Calibri (MS)"/>
                  <a:sym typeface="Calibri (MS)"/>
                </a:rPr>
                <a:t>Confidentiality</a:t>
              </a:r>
            </a:p>
          </p:txBody>
        </p:sp>
      </p:grpSp>
      <p:grpSp>
        <p:nvGrpSpPr>
          <p:cNvPr name="Group 22" id="22"/>
          <p:cNvGrpSpPr/>
          <p:nvPr/>
        </p:nvGrpSpPr>
        <p:grpSpPr>
          <a:xfrm rot="0">
            <a:off x="6533007" y="7191375"/>
            <a:ext cx="5162550" cy="910590"/>
            <a:chOff x="0" y="0"/>
            <a:chExt cx="6883400" cy="1214120"/>
          </a:xfrm>
        </p:grpSpPr>
        <p:sp>
          <p:nvSpPr>
            <p:cNvPr name="Freeform 23" id="23"/>
            <p:cNvSpPr/>
            <p:nvPr/>
          </p:nvSpPr>
          <p:spPr>
            <a:xfrm flipH="false" flipV="false" rot="0">
              <a:off x="0" y="0"/>
              <a:ext cx="6883400" cy="1214120"/>
            </a:xfrm>
            <a:custGeom>
              <a:avLst/>
              <a:gdLst/>
              <a:ahLst/>
              <a:cxnLst/>
              <a:rect r="r" b="b" t="t" l="l"/>
              <a:pathLst>
                <a:path h="1214120" w="6883400">
                  <a:moveTo>
                    <a:pt x="0" y="168148"/>
                  </a:moveTo>
                  <a:cubicBezTo>
                    <a:pt x="0" y="75311"/>
                    <a:pt x="75311" y="0"/>
                    <a:pt x="168148" y="0"/>
                  </a:cubicBezTo>
                  <a:lnTo>
                    <a:pt x="6715252" y="0"/>
                  </a:lnTo>
                  <a:cubicBezTo>
                    <a:pt x="6808089" y="0"/>
                    <a:pt x="6883400" y="75311"/>
                    <a:pt x="6883400" y="168148"/>
                  </a:cubicBezTo>
                  <a:lnTo>
                    <a:pt x="6883400" y="1045972"/>
                  </a:lnTo>
                  <a:cubicBezTo>
                    <a:pt x="6883400" y="1138809"/>
                    <a:pt x="6808089" y="1214120"/>
                    <a:pt x="6715252" y="1214120"/>
                  </a:cubicBezTo>
                  <a:lnTo>
                    <a:pt x="168148" y="1214120"/>
                  </a:lnTo>
                  <a:cubicBezTo>
                    <a:pt x="75311" y="1214120"/>
                    <a:pt x="0" y="1138809"/>
                    <a:pt x="0" y="1045972"/>
                  </a:cubicBezTo>
                  <a:close/>
                </a:path>
              </a:pathLst>
            </a:custGeom>
            <a:solidFill>
              <a:srgbClr val="F4F7FC"/>
            </a:solidFill>
            <a:ln w="19050" cap="sq">
              <a:solidFill>
                <a:srgbClr val="D7DCEC"/>
              </a:solidFill>
              <a:prstDash val="solid"/>
              <a:miter/>
            </a:ln>
          </p:spPr>
        </p:sp>
      </p:grpSp>
      <p:grpSp>
        <p:nvGrpSpPr>
          <p:cNvPr name="Group 24" id="24"/>
          <p:cNvGrpSpPr/>
          <p:nvPr/>
        </p:nvGrpSpPr>
        <p:grpSpPr>
          <a:xfrm rot="0">
            <a:off x="6542532" y="7200900"/>
            <a:ext cx="5143500" cy="891540"/>
            <a:chOff x="0" y="0"/>
            <a:chExt cx="6858000" cy="1188720"/>
          </a:xfrm>
        </p:grpSpPr>
        <p:sp>
          <p:nvSpPr>
            <p:cNvPr name="Freeform 25" id="25"/>
            <p:cNvSpPr/>
            <p:nvPr/>
          </p:nvSpPr>
          <p:spPr>
            <a:xfrm flipH="false" flipV="false" rot="0">
              <a:off x="0" y="0"/>
              <a:ext cx="6858000" cy="1188720"/>
            </a:xfrm>
            <a:custGeom>
              <a:avLst/>
              <a:gdLst/>
              <a:ahLst/>
              <a:cxnLst/>
              <a:rect r="r" b="b" t="t" l="l"/>
              <a:pathLst>
                <a:path h="1188720" w="6858000">
                  <a:moveTo>
                    <a:pt x="0" y="0"/>
                  </a:moveTo>
                  <a:lnTo>
                    <a:pt x="6858000" y="0"/>
                  </a:lnTo>
                  <a:lnTo>
                    <a:pt x="6858000" y="1188720"/>
                  </a:lnTo>
                  <a:lnTo>
                    <a:pt x="0" y="1188720"/>
                  </a:lnTo>
                  <a:close/>
                </a:path>
              </a:pathLst>
            </a:custGeom>
            <a:blipFill>
              <a:blip r:embed="rId3">
                <a:alphaModFix amt="0"/>
              </a:blip>
              <a:stretch>
                <a:fillRect l="0" t="-62413" r="0" b="-62413"/>
              </a:stretch>
            </a:blipFill>
          </p:spPr>
        </p:sp>
        <p:sp>
          <p:nvSpPr>
            <p:cNvPr name="TextBox 26" id="26"/>
            <p:cNvSpPr txBox="true"/>
            <p:nvPr/>
          </p:nvSpPr>
          <p:spPr>
            <a:xfrm>
              <a:off x="0" y="-47625"/>
              <a:ext cx="6858000" cy="1236345"/>
            </a:xfrm>
            <a:prstGeom prst="rect">
              <a:avLst/>
            </a:prstGeom>
          </p:spPr>
          <p:txBody>
            <a:bodyPr anchor="ctr" rtlCol="false" tIns="0" lIns="0" bIns="0" rIns="0"/>
            <a:lstStyle/>
            <a:p>
              <a:pPr algn="ctr">
                <a:lnSpc>
                  <a:spcPts val="2520"/>
                </a:lnSpc>
              </a:pPr>
              <a:r>
                <a:rPr lang="en-US" sz="2100">
                  <a:solidFill>
                    <a:srgbClr val="6B7280"/>
                  </a:solidFill>
                  <a:latin typeface="Calibri (MS)"/>
                  <a:ea typeface="Calibri (MS)"/>
                  <a:cs typeface="Calibri (MS)"/>
                  <a:sym typeface="Calibri (MS)"/>
                </a:rPr>
                <a:t>Integrity</a:t>
              </a:r>
            </a:p>
          </p:txBody>
        </p:sp>
      </p:grpSp>
      <p:grpSp>
        <p:nvGrpSpPr>
          <p:cNvPr name="Group 27" id="27"/>
          <p:cNvGrpSpPr/>
          <p:nvPr/>
        </p:nvGrpSpPr>
        <p:grpSpPr>
          <a:xfrm rot="0">
            <a:off x="12115419" y="7191375"/>
            <a:ext cx="5162550" cy="910590"/>
            <a:chOff x="0" y="0"/>
            <a:chExt cx="6883400" cy="1214120"/>
          </a:xfrm>
        </p:grpSpPr>
        <p:sp>
          <p:nvSpPr>
            <p:cNvPr name="Freeform 28" id="28"/>
            <p:cNvSpPr/>
            <p:nvPr/>
          </p:nvSpPr>
          <p:spPr>
            <a:xfrm flipH="false" flipV="false" rot="0">
              <a:off x="0" y="0"/>
              <a:ext cx="6883400" cy="1214120"/>
            </a:xfrm>
            <a:custGeom>
              <a:avLst/>
              <a:gdLst/>
              <a:ahLst/>
              <a:cxnLst/>
              <a:rect r="r" b="b" t="t" l="l"/>
              <a:pathLst>
                <a:path h="1214120" w="6883400">
                  <a:moveTo>
                    <a:pt x="0" y="168148"/>
                  </a:moveTo>
                  <a:cubicBezTo>
                    <a:pt x="0" y="75311"/>
                    <a:pt x="75311" y="0"/>
                    <a:pt x="168148" y="0"/>
                  </a:cubicBezTo>
                  <a:lnTo>
                    <a:pt x="6715252" y="0"/>
                  </a:lnTo>
                  <a:cubicBezTo>
                    <a:pt x="6808089" y="0"/>
                    <a:pt x="6883400" y="75311"/>
                    <a:pt x="6883400" y="168148"/>
                  </a:cubicBezTo>
                  <a:lnTo>
                    <a:pt x="6883400" y="1045972"/>
                  </a:lnTo>
                  <a:cubicBezTo>
                    <a:pt x="6883400" y="1138809"/>
                    <a:pt x="6808089" y="1214120"/>
                    <a:pt x="6715252" y="1214120"/>
                  </a:cubicBezTo>
                  <a:lnTo>
                    <a:pt x="168148" y="1214120"/>
                  </a:lnTo>
                  <a:cubicBezTo>
                    <a:pt x="75311" y="1214120"/>
                    <a:pt x="0" y="1138809"/>
                    <a:pt x="0" y="1045972"/>
                  </a:cubicBezTo>
                  <a:close/>
                </a:path>
              </a:pathLst>
            </a:custGeom>
            <a:solidFill>
              <a:srgbClr val="F4F7FC"/>
            </a:solidFill>
            <a:ln w="19050" cap="sq">
              <a:solidFill>
                <a:srgbClr val="D7DCEC"/>
              </a:solidFill>
              <a:prstDash val="solid"/>
              <a:miter/>
            </a:ln>
          </p:spPr>
        </p:sp>
      </p:grpSp>
      <p:grpSp>
        <p:nvGrpSpPr>
          <p:cNvPr name="Group 29" id="29"/>
          <p:cNvGrpSpPr/>
          <p:nvPr/>
        </p:nvGrpSpPr>
        <p:grpSpPr>
          <a:xfrm rot="0">
            <a:off x="12124944" y="7200900"/>
            <a:ext cx="5143500" cy="891540"/>
            <a:chOff x="0" y="0"/>
            <a:chExt cx="6858000" cy="1188720"/>
          </a:xfrm>
        </p:grpSpPr>
        <p:sp>
          <p:nvSpPr>
            <p:cNvPr name="Freeform 30" id="30"/>
            <p:cNvSpPr/>
            <p:nvPr/>
          </p:nvSpPr>
          <p:spPr>
            <a:xfrm flipH="false" flipV="false" rot="0">
              <a:off x="0" y="0"/>
              <a:ext cx="6858000" cy="1188720"/>
            </a:xfrm>
            <a:custGeom>
              <a:avLst/>
              <a:gdLst/>
              <a:ahLst/>
              <a:cxnLst/>
              <a:rect r="r" b="b" t="t" l="l"/>
              <a:pathLst>
                <a:path h="1188720" w="6858000">
                  <a:moveTo>
                    <a:pt x="0" y="0"/>
                  </a:moveTo>
                  <a:lnTo>
                    <a:pt x="6858000" y="0"/>
                  </a:lnTo>
                  <a:lnTo>
                    <a:pt x="6858000" y="1188720"/>
                  </a:lnTo>
                  <a:lnTo>
                    <a:pt x="0" y="1188720"/>
                  </a:lnTo>
                  <a:close/>
                </a:path>
              </a:pathLst>
            </a:custGeom>
            <a:blipFill>
              <a:blip r:embed="rId3">
                <a:alphaModFix amt="0"/>
              </a:blip>
              <a:stretch>
                <a:fillRect l="0" t="-62413" r="0" b="-62413"/>
              </a:stretch>
            </a:blipFill>
          </p:spPr>
        </p:sp>
        <p:sp>
          <p:nvSpPr>
            <p:cNvPr name="TextBox 31" id="31"/>
            <p:cNvSpPr txBox="true"/>
            <p:nvPr/>
          </p:nvSpPr>
          <p:spPr>
            <a:xfrm>
              <a:off x="0" y="-47625"/>
              <a:ext cx="6858000" cy="1236345"/>
            </a:xfrm>
            <a:prstGeom prst="rect">
              <a:avLst/>
            </a:prstGeom>
          </p:spPr>
          <p:txBody>
            <a:bodyPr anchor="ctr" rtlCol="false" tIns="0" lIns="0" bIns="0" rIns="0"/>
            <a:lstStyle/>
            <a:p>
              <a:pPr algn="ctr">
                <a:lnSpc>
                  <a:spcPts val="2520"/>
                </a:lnSpc>
              </a:pPr>
              <a:r>
                <a:rPr lang="en-US" sz="2100">
                  <a:solidFill>
                    <a:srgbClr val="6B7280"/>
                  </a:solidFill>
                  <a:latin typeface="Calibri (MS)"/>
                  <a:ea typeface="Calibri (MS)"/>
                  <a:cs typeface="Calibri (MS)"/>
                  <a:sym typeface="Calibri (MS)"/>
                </a:rPr>
                <a:t>Availability</a:t>
              </a:r>
            </a:p>
          </p:txBody>
        </p:sp>
      </p:grpSp>
      <p:grpSp>
        <p:nvGrpSpPr>
          <p:cNvPr name="Group 32" id="32"/>
          <p:cNvGrpSpPr/>
          <p:nvPr/>
        </p:nvGrpSpPr>
        <p:grpSpPr>
          <a:xfrm rot="0">
            <a:off x="685800" y="9710928"/>
            <a:ext cx="10972800" cy="411480"/>
            <a:chOff x="0" y="0"/>
            <a:chExt cx="14630400" cy="548640"/>
          </a:xfrm>
        </p:grpSpPr>
        <p:sp>
          <p:nvSpPr>
            <p:cNvPr name="Freeform 33" id="33"/>
            <p:cNvSpPr/>
            <p:nvPr/>
          </p:nvSpPr>
          <p:spPr>
            <a:xfrm flipH="false" flipV="false" rot="0">
              <a:off x="0" y="0"/>
              <a:ext cx="14630400" cy="548640"/>
            </a:xfrm>
            <a:custGeom>
              <a:avLst/>
              <a:gdLst/>
              <a:ahLst/>
              <a:cxnLst/>
              <a:rect r="r" b="b" t="t" l="l"/>
              <a:pathLst>
                <a:path h="548640" w="14630400">
                  <a:moveTo>
                    <a:pt x="0" y="0"/>
                  </a:moveTo>
                  <a:lnTo>
                    <a:pt x="14630400" y="0"/>
                  </a:lnTo>
                  <a:lnTo>
                    <a:pt x="14630400" y="548640"/>
                  </a:lnTo>
                  <a:lnTo>
                    <a:pt x="0" y="548640"/>
                  </a:lnTo>
                  <a:close/>
                </a:path>
              </a:pathLst>
            </a:custGeom>
            <a:blipFill>
              <a:blip r:embed="rId3">
                <a:alphaModFix amt="0"/>
              </a:blip>
              <a:stretch>
                <a:fillRect l="0" t="-469601" r="0" b="-469601"/>
              </a:stretch>
            </a:blipFill>
          </p:spPr>
        </p:sp>
        <p:sp>
          <p:nvSpPr>
            <p:cNvPr name="TextBox 34" id="34"/>
            <p:cNvSpPr txBox="true"/>
            <p:nvPr/>
          </p:nvSpPr>
          <p:spPr>
            <a:xfrm>
              <a:off x="0" y="-38100"/>
              <a:ext cx="14630400" cy="586740"/>
            </a:xfrm>
            <a:prstGeom prst="rect">
              <a:avLst/>
            </a:prstGeom>
          </p:spPr>
          <p:txBody>
            <a:bodyPr anchor="ctr" rtlCol="false" tIns="0" lIns="0" bIns="0" rIns="0"/>
            <a:lstStyle/>
            <a:p>
              <a:pPr algn="l">
                <a:lnSpc>
                  <a:spcPts val="1800"/>
                </a:lnSpc>
              </a:pPr>
              <a:r>
                <a:rPr lang="en-US" sz="1500">
                  <a:solidFill>
                    <a:srgbClr val="6B7280"/>
                  </a:solidFill>
                  <a:latin typeface="Calibri (MS)"/>
                  <a:ea typeface="Calibri (MS)"/>
                  <a:cs typeface="Calibri (MS)"/>
                  <a:sym typeface="Calibri (MS)"/>
                </a:rPr>
                <a:t>Davao del Norte Provincial Government — Cybersecurity Seminar</a:t>
              </a:r>
            </a:p>
          </p:txBody>
        </p:sp>
      </p:grpSp>
      <p:grpSp>
        <p:nvGrpSpPr>
          <p:cNvPr name="Group 35" id="35"/>
          <p:cNvGrpSpPr/>
          <p:nvPr/>
        </p:nvGrpSpPr>
        <p:grpSpPr>
          <a:xfrm rot="0">
            <a:off x="16911828" y="9710928"/>
            <a:ext cx="685800" cy="411480"/>
            <a:chOff x="0" y="0"/>
            <a:chExt cx="914400" cy="548640"/>
          </a:xfrm>
        </p:grpSpPr>
        <p:sp>
          <p:nvSpPr>
            <p:cNvPr name="Freeform 36" id="36"/>
            <p:cNvSpPr/>
            <p:nvPr/>
          </p:nvSpPr>
          <p:spPr>
            <a:xfrm flipH="false" flipV="false" rot="0">
              <a:off x="0" y="0"/>
              <a:ext cx="914400" cy="548640"/>
            </a:xfrm>
            <a:custGeom>
              <a:avLst/>
              <a:gdLst/>
              <a:ahLst/>
              <a:cxnLst/>
              <a:rect r="r" b="b" t="t" l="l"/>
              <a:pathLst>
                <a:path h="548640" w="914400">
                  <a:moveTo>
                    <a:pt x="0" y="0"/>
                  </a:moveTo>
                  <a:lnTo>
                    <a:pt x="914400" y="0"/>
                  </a:lnTo>
                  <a:lnTo>
                    <a:pt x="914400" y="548640"/>
                  </a:lnTo>
                  <a:lnTo>
                    <a:pt x="0" y="548640"/>
                  </a:lnTo>
                  <a:close/>
                </a:path>
              </a:pathLst>
            </a:custGeom>
            <a:blipFill>
              <a:blip r:embed="rId3">
                <a:alphaModFix amt="0"/>
              </a:blip>
              <a:stretch>
                <a:fillRect l="-26982" t="0" r="-26982" b="0"/>
              </a:stretch>
            </a:blipFill>
          </p:spPr>
        </p:sp>
        <p:sp>
          <p:nvSpPr>
            <p:cNvPr name="TextBox 37" id="37"/>
            <p:cNvSpPr txBox="true"/>
            <p:nvPr/>
          </p:nvSpPr>
          <p:spPr>
            <a:xfrm>
              <a:off x="0" y="-38100"/>
              <a:ext cx="914400" cy="586740"/>
            </a:xfrm>
            <a:prstGeom prst="rect">
              <a:avLst/>
            </a:prstGeom>
          </p:spPr>
          <p:txBody>
            <a:bodyPr anchor="ctr" rtlCol="false" tIns="0" lIns="0" bIns="0" rIns="0"/>
            <a:lstStyle/>
            <a:p>
              <a:pPr algn="r">
                <a:lnSpc>
                  <a:spcPts val="1800"/>
                </a:lnSpc>
              </a:pPr>
              <a:r>
                <a:rPr lang="en-US" sz="1500">
                  <a:solidFill>
                    <a:srgbClr val="6B7280"/>
                  </a:solidFill>
                  <a:latin typeface="Calibri (MS)"/>
                  <a:ea typeface="Calibri (MS)"/>
                  <a:cs typeface="Calibri (MS)"/>
                  <a:sym typeface="Calibri (MS)"/>
                </a:rPr>
                <a:t>55</a:t>
              </a:r>
            </a:p>
          </p:txBody>
        </p:sp>
      </p:grpSp>
    </p:spTree>
  </p:cSld>
  <p:clrMapOvr>
    <a:masterClrMapping/>
  </p:clrMapOvr>
</p:sld>
</file>

<file path=ppt/slides/slide5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60120" y="685800"/>
            <a:ext cx="13716000" cy="411480"/>
            <a:chOff x="0" y="0"/>
            <a:chExt cx="18288000" cy="548640"/>
          </a:xfrm>
        </p:grpSpPr>
        <p:sp>
          <p:nvSpPr>
            <p:cNvPr name="Freeform 3" id="3"/>
            <p:cNvSpPr/>
            <p:nvPr/>
          </p:nvSpPr>
          <p:spPr>
            <a:xfrm flipH="false" flipV="false" rot="0">
              <a:off x="0" y="0"/>
              <a:ext cx="18288000" cy="548640"/>
            </a:xfrm>
            <a:custGeom>
              <a:avLst/>
              <a:gdLst/>
              <a:ahLst/>
              <a:cxnLst/>
              <a:rect r="r" b="b" t="t" l="l"/>
              <a:pathLst>
                <a:path h="548640" w="18288000">
                  <a:moveTo>
                    <a:pt x="0" y="0"/>
                  </a:moveTo>
                  <a:lnTo>
                    <a:pt x="18288000" y="0"/>
                  </a:lnTo>
                  <a:lnTo>
                    <a:pt x="18288000" y="548640"/>
                  </a:lnTo>
                  <a:lnTo>
                    <a:pt x="0" y="548640"/>
                  </a:lnTo>
                  <a:close/>
                </a:path>
              </a:pathLst>
            </a:custGeom>
            <a:blipFill>
              <a:blip r:embed="rId3">
                <a:alphaModFix amt="0"/>
              </a:blip>
              <a:stretch>
                <a:fillRect l="0" t="-599501" r="0" b="-599501"/>
              </a:stretch>
            </a:blipFill>
          </p:spPr>
        </p:sp>
        <p:sp>
          <p:nvSpPr>
            <p:cNvPr name="TextBox 4" id="4"/>
            <p:cNvSpPr txBox="true"/>
            <p:nvPr/>
          </p:nvSpPr>
          <p:spPr>
            <a:xfrm>
              <a:off x="0" y="-38100"/>
              <a:ext cx="18288000" cy="586740"/>
            </a:xfrm>
            <a:prstGeom prst="rect">
              <a:avLst/>
            </a:prstGeom>
          </p:spPr>
          <p:txBody>
            <a:bodyPr anchor="ctr" rtlCol="false" tIns="0" lIns="0" bIns="0" rIns="0"/>
            <a:lstStyle/>
            <a:p>
              <a:pPr algn="l">
                <a:lnSpc>
                  <a:spcPts val="2160"/>
                </a:lnSpc>
              </a:pPr>
              <a:r>
                <a:rPr lang="en-US" b="true" sz="1800" spc="225">
                  <a:solidFill>
                    <a:srgbClr val="00B4D8"/>
                  </a:solidFill>
                  <a:latin typeface="Calibri (MS) Bold"/>
                  <a:ea typeface="Calibri (MS) Bold"/>
                  <a:cs typeface="Calibri (MS) Bold"/>
                  <a:sym typeface="Calibri (MS) Bold"/>
                </a:rPr>
                <a:t>CIA TRIAD SORT · ANSWER</a:t>
              </a:r>
            </a:p>
          </p:txBody>
        </p:sp>
      </p:grpSp>
      <p:grpSp>
        <p:nvGrpSpPr>
          <p:cNvPr name="Group 5" id="5"/>
          <p:cNvGrpSpPr/>
          <p:nvPr/>
        </p:nvGrpSpPr>
        <p:grpSpPr>
          <a:xfrm rot="0">
            <a:off x="960120" y="1069848"/>
            <a:ext cx="10972800" cy="822960"/>
            <a:chOff x="0" y="0"/>
            <a:chExt cx="14630400" cy="1097280"/>
          </a:xfrm>
        </p:grpSpPr>
        <p:sp>
          <p:nvSpPr>
            <p:cNvPr name="Freeform 6" id="6"/>
            <p:cNvSpPr/>
            <p:nvPr/>
          </p:nvSpPr>
          <p:spPr>
            <a:xfrm flipH="false" flipV="false" rot="0">
              <a:off x="0" y="0"/>
              <a:ext cx="14630400" cy="1097280"/>
            </a:xfrm>
            <a:custGeom>
              <a:avLst/>
              <a:gdLst/>
              <a:ahLst/>
              <a:cxnLst/>
              <a:rect r="r" b="b" t="t" l="l"/>
              <a:pathLst>
                <a:path h="1097280" w="14630400">
                  <a:moveTo>
                    <a:pt x="0" y="0"/>
                  </a:moveTo>
                  <a:lnTo>
                    <a:pt x="14630400" y="0"/>
                  </a:lnTo>
                  <a:lnTo>
                    <a:pt x="14630400" y="1097280"/>
                  </a:lnTo>
                  <a:lnTo>
                    <a:pt x="0" y="1097280"/>
                  </a:lnTo>
                  <a:close/>
                </a:path>
              </a:pathLst>
            </a:custGeom>
            <a:blipFill>
              <a:blip r:embed="rId3">
                <a:alphaModFix amt="0"/>
              </a:blip>
              <a:stretch>
                <a:fillRect l="0" t="-209800" r="0" b="-209800"/>
              </a:stretch>
            </a:blipFill>
          </p:spPr>
        </p:sp>
        <p:sp>
          <p:nvSpPr>
            <p:cNvPr name="TextBox 7" id="7"/>
            <p:cNvSpPr txBox="true"/>
            <p:nvPr/>
          </p:nvSpPr>
          <p:spPr>
            <a:xfrm>
              <a:off x="0" y="0"/>
              <a:ext cx="14630400" cy="1097280"/>
            </a:xfrm>
            <a:prstGeom prst="rect">
              <a:avLst/>
            </a:prstGeom>
          </p:spPr>
          <p:txBody>
            <a:bodyPr anchor="ctr" rtlCol="false" tIns="0" lIns="0" bIns="0" rIns="0"/>
            <a:lstStyle/>
            <a:p>
              <a:pPr algn="l">
                <a:lnSpc>
                  <a:spcPts val="4680"/>
                </a:lnSpc>
              </a:pPr>
              <a:r>
                <a:rPr lang="en-US" sz="3900" b="true">
                  <a:solidFill>
                    <a:srgbClr val="1E2761"/>
                  </a:solidFill>
                  <a:latin typeface="Cambria Bold"/>
                  <a:ea typeface="Cambria Bold"/>
                  <a:cs typeface="Cambria Bold"/>
                  <a:sym typeface="Cambria Bold"/>
                </a:rPr>
                <a:t>Scenario 9 — Answer</a:t>
              </a:r>
            </a:p>
          </p:txBody>
        </p:sp>
      </p:grpSp>
      <p:grpSp>
        <p:nvGrpSpPr>
          <p:cNvPr name="Group 8" id="8"/>
          <p:cNvGrpSpPr/>
          <p:nvPr/>
        </p:nvGrpSpPr>
        <p:grpSpPr>
          <a:xfrm rot="0">
            <a:off x="960120" y="1810512"/>
            <a:ext cx="8229600" cy="411480"/>
            <a:chOff x="0" y="0"/>
            <a:chExt cx="10972800" cy="548640"/>
          </a:xfrm>
        </p:grpSpPr>
        <p:sp>
          <p:nvSpPr>
            <p:cNvPr name="Freeform 9" id="9"/>
            <p:cNvSpPr/>
            <p:nvPr/>
          </p:nvSpPr>
          <p:spPr>
            <a:xfrm flipH="false" flipV="false" rot="0">
              <a:off x="0" y="0"/>
              <a:ext cx="10972800" cy="548640"/>
            </a:xfrm>
            <a:custGeom>
              <a:avLst/>
              <a:gdLst/>
              <a:ahLst/>
              <a:cxnLst/>
              <a:rect r="r" b="b" t="t" l="l"/>
              <a:pathLst>
                <a:path h="548640" w="10972800">
                  <a:moveTo>
                    <a:pt x="0" y="0"/>
                  </a:moveTo>
                  <a:lnTo>
                    <a:pt x="10972800" y="0"/>
                  </a:lnTo>
                  <a:lnTo>
                    <a:pt x="10972800" y="548640"/>
                  </a:lnTo>
                  <a:lnTo>
                    <a:pt x="0" y="548640"/>
                  </a:lnTo>
                  <a:close/>
                </a:path>
              </a:pathLst>
            </a:custGeom>
            <a:blipFill>
              <a:blip r:embed="rId3">
                <a:alphaModFix amt="0"/>
              </a:blip>
              <a:stretch>
                <a:fillRect l="0" t="-339700" r="0" b="-339700"/>
              </a:stretch>
            </a:blipFill>
          </p:spPr>
        </p:sp>
        <p:sp>
          <p:nvSpPr>
            <p:cNvPr name="TextBox 10" id="10"/>
            <p:cNvSpPr txBox="true"/>
            <p:nvPr/>
          </p:nvSpPr>
          <p:spPr>
            <a:xfrm>
              <a:off x="0" y="-28575"/>
              <a:ext cx="10972800" cy="577215"/>
            </a:xfrm>
            <a:prstGeom prst="rect">
              <a:avLst/>
            </a:prstGeom>
          </p:spPr>
          <p:txBody>
            <a:bodyPr anchor="ctr" rtlCol="false" tIns="0" lIns="0" bIns="0" rIns="0"/>
            <a:lstStyle/>
            <a:p>
              <a:pPr algn="l">
                <a:lnSpc>
                  <a:spcPts val="1980"/>
                </a:lnSpc>
              </a:pPr>
              <a:r>
                <a:rPr lang="en-US" sz="1650">
                  <a:solidFill>
                    <a:srgbClr val="6B7280"/>
                  </a:solidFill>
                  <a:latin typeface="Calibri (MS)"/>
                  <a:ea typeface="Calibri (MS)"/>
                  <a:cs typeface="Calibri (MS)"/>
                  <a:sym typeface="Calibri (MS)"/>
                </a:rPr>
                <a:t>9 of 12</a:t>
              </a:r>
            </a:p>
          </p:txBody>
        </p:sp>
      </p:grpSp>
      <p:grpSp>
        <p:nvGrpSpPr>
          <p:cNvPr name="Group 11" id="11"/>
          <p:cNvGrpSpPr/>
          <p:nvPr/>
        </p:nvGrpSpPr>
        <p:grpSpPr>
          <a:xfrm rot="0">
            <a:off x="960120" y="2537460"/>
            <a:ext cx="16322040" cy="2400300"/>
            <a:chOff x="0" y="0"/>
            <a:chExt cx="21762720" cy="3200400"/>
          </a:xfrm>
        </p:grpSpPr>
        <p:sp>
          <p:nvSpPr>
            <p:cNvPr name="Freeform 12" id="12"/>
            <p:cNvSpPr/>
            <p:nvPr/>
          </p:nvSpPr>
          <p:spPr>
            <a:xfrm flipH="false" flipV="false" rot="0">
              <a:off x="0" y="0"/>
              <a:ext cx="21762720" cy="3200400"/>
            </a:xfrm>
            <a:custGeom>
              <a:avLst/>
              <a:gdLst/>
              <a:ahLst/>
              <a:cxnLst/>
              <a:rect r="r" b="b" t="t" l="l"/>
              <a:pathLst>
                <a:path h="3200400" w="21762720">
                  <a:moveTo>
                    <a:pt x="0" y="182880"/>
                  </a:moveTo>
                  <a:cubicBezTo>
                    <a:pt x="0" y="81915"/>
                    <a:pt x="81915" y="0"/>
                    <a:pt x="182880" y="0"/>
                  </a:cubicBezTo>
                  <a:lnTo>
                    <a:pt x="21579839" y="0"/>
                  </a:lnTo>
                  <a:cubicBezTo>
                    <a:pt x="21680804" y="0"/>
                    <a:pt x="21762720" y="81915"/>
                    <a:pt x="21762720" y="182880"/>
                  </a:cubicBezTo>
                  <a:lnTo>
                    <a:pt x="21762720" y="3017520"/>
                  </a:lnTo>
                  <a:cubicBezTo>
                    <a:pt x="21762720" y="3118485"/>
                    <a:pt x="21680804" y="3200400"/>
                    <a:pt x="21579839" y="3200400"/>
                  </a:cubicBezTo>
                  <a:lnTo>
                    <a:pt x="182880" y="3200400"/>
                  </a:lnTo>
                  <a:cubicBezTo>
                    <a:pt x="81915" y="3200400"/>
                    <a:pt x="0" y="3118485"/>
                    <a:pt x="0" y="3017520"/>
                  </a:cubicBezTo>
                  <a:close/>
                </a:path>
              </a:pathLst>
            </a:custGeom>
            <a:solidFill>
              <a:srgbClr val="F4F7FC"/>
            </a:solidFill>
          </p:spPr>
        </p:sp>
      </p:grpSp>
      <p:grpSp>
        <p:nvGrpSpPr>
          <p:cNvPr name="Group 13" id="13"/>
          <p:cNvGrpSpPr/>
          <p:nvPr/>
        </p:nvGrpSpPr>
        <p:grpSpPr>
          <a:xfrm rot="0">
            <a:off x="1440180" y="2811780"/>
            <a:ext cx="15361920" cy="1851660"/>
            <a:chOff x="0" y="0"/>
            <a:chExt cx="20482560" cy="2468880"/>
          </a:xfrm>
        </p:grpSpPr>
        <p:sp>
          <p:nvSpPr>
            <p:cNvPr name="Freeform 14" id="14"/>
            <p:cNvSpPr/>
            <p:nvPr/>
          </p:nvSpPr>
          <p:spPr>
            <a:xfrm flipH="false" flipV="false" rot="0">
              <a:off x="0" y="0"/>
              <a:ext cx="20482561" cy="2468880"/>
            </a:xfrm>
            <a:custGeom>
              <a:avLst/>
              <a:gdLst/>
              <a:ahLst/>
              <a:cxnLst/>
              <a:rect r="r" b="b" t="t" l="l"/>
              <a:pathLst>
                <a:path h="2468880" w="20482561">
                  <a:moveTo>
                    <a:pt x="0" y="0"/>
                  </a:moveTo>
                  <a:lnTo>
                    <a:pt x="20482561" y="0"/>
                  </a:lnTo>
                  <a:lnTo>
                    <a:pt x="20482561" y="2468880"/>
                  </a:lnTo>
                  <a:lnTo>
                    <a:pt x="0" y="2468880"/>
                  </a:lnTo>
                  <a:close/>
                </a:path>
              </a:pathLst>
            </a:custGeom>
            <a:blipFill>
              <a:blip r:embed="rId3">
                <a:alphaModFix amt="0"/>
              </a:blip>
              <a:stretch>
                <a:fillRect l="0" t="-111653" r="0" b="-111653"/>
              </a:stretch>
            </a:blipFill>
          </p:spPr>
        </p:sp>
        <p:sp>
          <p:nvSpPr>
            <p:cNvPr name="TextBox 15" id="15"/>
            <p:cNvSpPr txBox="true"/>
            <p:nvPr/>
          </p:nvSpPr>
          <p:spPr>
            <a:xfrm>
              <a:off x="0" y="-95250"/>
              <a:ext cx="20482560" cy="2564130"/>
            </a:xfrm>
            <a:prstGeom prst="rect">
              <a:avLst/>
            </a:prstGeom>
          </p:spPr>
          <p:txBody>
            <a:bodyPr anchor="ctr" rtlCol="false" tIns="0" lIns="0" bIns="0" rIns="0"/>
            <a:lstStyle/>
            <a:p>
              <a:pPr algn="l">
                <a:lnSpc>
                  <a:spcPts val="3916"/>
                </a:lnSpc>
              </a:pPr>
              <a:r>
                <a:rPr lang="en-US" sz="2550" i="true">
                  <a:solidFill>
                    <a:srgbClr val="23262F"/>
                  </a:solidFill>
                  <a:latin typeface="Cambria Italics"/>
                  <a:ea typeface="Cambria Italics"/>
                  <a:cs typeface="Cambria Italics"/>
                  <a:sym typeface="Cambria Italics"/>
                </a:rPr>
                <a:t>“A flood of fake traffic overwhelms the province's website during voter registration season, making it unreachable.”</a:t>
              </a:r>
            </a:p>
          </p:txBody>
        </p:sp>
      </p:grpSp>
      <p:grpSp>
        <p:nvGrpSpPr>
          <p:cNvPr name="Group 16" id="16"/>
          <p:cNvGrpSpPr/>
          <p:nvPr/>
        </p:nvGrpSpPr>
        <p:grpSpPr>
          <a:xfrm rot="0">
            <a:off x="950595" y="5408295"/>
            <a:ext cx="5162550" cy="910590"/>
            <a:chOff x="0" y="0"/>
            <a:chExt cx="6883400" cy="1214120"/>
          </a:xfrm>
        </p:grpSpPr>
        <p:sp>
          <p:nvSpPr>
            <p:cNvPr name="Freeform 17" id="17"/>
            <p:cNvSpPr/>
            <p:nvPr/>
          </p:nvSpPr>
          <p:spPr>
            <a:xfrm flipH="false" flipV="false" rot="0">
              <a:off x="0" y="0"/>
              <a:ext cx="6883400" cy="1214120"/>
            </a:xfrm>
            <a:custGeom>
              <a:avLst/>
              <a:gdLst/>
              <a:ahLst/>
              <a:cxnLst/>
              <a:rect r="r" b="b" t="t" l="l"/>
              <a:pathLst>
                <a:path h="1214120" w="6883400">
                  <a:moveTo>
                    <a:pt x="0" y="168148"/>
                  </a:moveTo>
                  <a:cubicBezTo>
                    <a:pt x="0" y="75311"/>
                    <a:pt x="75311" y="0"/>
                    <a:pt x="168148" y="0"/>
                  </a:cubicBezTo>
                  <a:lnTo>
                    <a:pt x="6715252" y="0"/>
                  </a:lnTo>
                  <a:cubicBezTo>
                    <a:pt x="6808089" y="0"/>
                    <a:pt x="6883400" y="75311"/>
                    <a:pt x="6883400" y="168148"/>
                  </a:cubicBezTo>
                  <a:lnTo>
                    <a:pt x="6883400" y="1045972"/>
                  </a:lnTo>
                  <a:cubicBezTo>
                    <a:pt x="6883400" y="1138809"/>
                    <a:pt x="6808089" y="1214120"/>
                    <a:pt x="6715252" y="1214120"/>
                  </a:cubicBezTo>
                  <a:lnTo>
                    <a:pt x="168148" y="1214120"/>
                  </a:lnTo>
                  <a:cubicBezTo>
                    <a:pt x="75311" y="1214120"/>
                    <a:pt x="0" y="1138809"/>
                    <a:pt x="0" y="1045972"/>
                  </a:cubicBezTo>
                  <a:close/>
                </a:path>
              </a:pathLst>
            </a:custGeom>
            <a:solidFill>
              <a:srgbClr val="F4F7FC"/>
            </a:solidFill>
            <a:ln w="19050" cap="sq">
              <a:solidFill>
                <a:srgbClr val="D7DCEC"/>
              </a:solidFill>
              <a:prstDash val="solid"/>
              <a:miter/>
            </a:ln>
          </p:spPr>
        </p:sp>
      </p:grpSp>
      <p:grpSp>
        <p:nvGrpSpPr>
          <p:cNvPr name="Group 18" id="18"/>
          <p:cNvGrpSpPr/>
          <p:nvPr/>
        </p:nvGrpSpPr>
        <p:grpSpPr>
          <a:xfrm rot="0">
            <a:off x="960120" y="5417820"/>
            <a:ext cx="5143500" cy="891540"/>
            <a:chOff x="0" y="0"/>
            <a:chExt cx="6858000" cy="1188720"/>
          </a:xfrm>
        </p:grpSpPr>
        <p:sp>
          <p:nvSpPr>
            <p:cNvPr name="Freeform 19" id="19"/>
            <p:cNvSpPr/>
            <p:nvPr/>
          </p:nvSpPr>
          <p:spPr>
            <a:xfrm flipH="false" flipV="false" rot="0">
              <a:off x="0" y="0"/>
              <a:ext cx="6858000" cy="1188720"/>
            </a:xfrm>
            <a:custGeom>
              <a:avLst/>
              <a:gdLst/>
              <a:ahLst/>
              <a:cxnLst/>
              <a:rect r="r" b="b" t="t" l="l"/>
              <a:pathLst>
                <a:path h="1188720" w="6858000">
                  <a:moveTo>
                    <a:pt x="0" y="0"/>
                  </a:moveTo>
                  <a:lnTo>
                    <a:pt x="6858000" y="0"/>
                  </a:lnTo>
                  <a:lnTo>
                    <a:pt x="6858000" y="1188720"/>
                  </a:lnTo>
                  <a:lnTo>
                    <a:pt x="0" y="1188720"/>
                  </a:lnTo>
                  <a:close/>
                </a:path>
              </a:pathLst>
            </a:custGeom>
            <a:blipFill>
              <a:blip r:embed="rId3">
                <a:alphaModFix amt="0"/>
              </a:blip>
              <a:stretch>
                <a:fillRect l="0" t="-62413" r="0" b="-62413"/>
              </a:stretch>
            </a:blipFill>
          </p:spPr>
        </p:sp>
        <p:sp>
          <p:nvSpPr>
            <p:cNvPr name="TextBox 20" id="20"/>
            <p:cNvSpPr txBox="true"/>
            <p:nvPr/>
          </p:nvSpPr>
          <p:spPr>
            <a:xfrm>
              <a:off x="0" y="-47625"/>
              <a:ext cx="6858000" cy="1236345"/>
            </a:xfrm>
            <a:prstGeom prst="rect">
              <a:avLst/>
            </a:prstGeom>
          </p:spPr>
          <p:txBody>
            <a:bodyPr anchor="ctr" rtlCol="false" tIns="0" lIns="0" bIns="0" rIns="0"/>
            <a:lstStyle/>
            <a:p>
              <a:pPr algn="ctr">
                <a:lnSpc>
                  <a:spcPts val="2520"/>
                </a:lnSpc>
              </a:pPr>
              <a:r>
                <a:rPr lang="en-US" sz="2100">
                  <a:solidFill>
                    <a:srgbClr val="6B7280"/>
                  </a:solidFill>
                  <a:latin typeface="Calibri (MS)"/>
                  <a:ea typeface="Calibri (MS)"/>
                  <a:cs typeface="Calibri (MS)"/>
                  <a:sym typeface="Calibri (MS)"/>
                </a:rPr>
                <a:t>Confidentiality</a:t>
              </a:r>
            </a:p>
          </p:txBody>
        </p:sp>
      </p:grpSp>
      <p:grpSp>
        <p:nvGrpSpPr>
          <p:cNvPr name="Group 21" id="21"/>
          <p:cNvGrpSpPr/>
          <p:nvPr/>
        </p:nvGrpSpPr>
        <p:grpSpPr>
          <a:xfrm rot="0">
            <a:off x="6533007" y="5408295"/>
            <a:ext cx="5162550" cy="910590"/>
            <a:chOff x="0" y="0"/>
            <a:chExt cx="6883400" cy="1214120"/>
          </a:xfrm>
        </p:grpSpPr>
        <p:sp>
          <p:nvSpPr>
            <p:cNvPr name="Freeform 22" id="22"/>
            <p:cNvSpPr/>
            <p:nvPr/>
          </p:nvSpPr>
          <p:spPr>
            <a:xfrm flipH="false" flipV="false" rot="0">
              <a:off x="0" y="0"/>
              <a:ext cx="6883400" cy="1214120"/>
            </a:xfrm>
            <a:custGeom>
              <a:avLst/>
              <a:gdLst/>
              <a:ahLst/>
              <a:cxnLst/>
              <a:rect r="r" b="b" t="t" l="l"/>
              <a:pathLst>
                <a:path h="1214120" w="6883400">
                  <a:moveTo>
                    <a:pt x="0" y="168148"/>
                  </a:moveTo>
                  <a:cubicBezTo>
                    <a:pt x="0" y="75311"/>
                    <a:pt x="75311" y="0"/>
                    <a:pt x="168148" y="0"/>
                  </a:cubicBezTo>
                  <a:lnTo>
                    <a:pt x="6715252" y="0"/>
                  </a:lnTo>
                  <a:cubicBezTo>
                    <a:pt x="6808089" y="0"/>
                    <a:pt x="6883400" y="75311"/>
                    <a:pt x="6883400" y="168148"/>
                  </a:cubicBezTo>
                  <a:lnTo>
                    <a:pt x="6883400" y="1045972"/>
                  </a:lnTo>
                  <a:cubicBezTo>
                    <a:pt x="6883400" y="1138809"/>
                    <a:pt x="6808089" y="1214120"/>
                    <a:pt x="6715252" y="1214120"/>
                  </a:cubicBezTo>
                  <a:lnTo>
                    <a:pt x="168148" y="1214120"/>
                  </a:lnTo>
                  <a:cubicBezTo>
                    <a:pt x="75311" y="1214120"/>
                    <a:pt x="0" y="1138809"/>
                    <a:pt x="0" y="1045972"/>
                  </a:cubicBezTo>
                  <a:close/>
                </a:path>
              </a:pathLst>
            </a:custGeom>
            <a:solidFill>
              <a:srgbClr val="F4F7FC"/>
            </a:solidFill>
            <a:ln w="19050" cap="sq">
              <a:solidFill>
                <a:srgbClr val="D7DCEC"/>
              </a:solidFill>
              <a:prstDash val="solid"/>
              <a:miter/>
            </a:ln>
          </p:spPr>
        </p:sp>
      </p:grpSp>
      <p:grpSp>
        <p:nvGrpSpPr>
          <p:cNvPr name="Group 23" id="23"/>
          <p:cNvGrpSpPr/>
          <p:nvPr/>
        </p:nvGrpSpPr>
        <p:grpSpPr>
          <a:xfrm rot="0">
            <a:off x="6542532" y="5417820"/>
            <a:ext cx="5143500" cy="891540"/>
            <a:chOff x="0" y="0"/>
            <a:chExt cx="6858000" cy="1188720"/>
          </a:xfrm>
        </p:grpSpPr>
        <p:sp>
          <p:nvSpPr>
            <p:cNvPr name="Freeform 24" id="24"/>
            <p:cNvSpPr/>
            <p:nvPr/>
          </p:nvSpPr>
          <p:spPr>
            <a:xfrm flipH="false" flipV="false" rot="0">
              <a:off x="0" y="0"/>
              <a:ext cx="6858000" cy="1188720"/>
            </a:xfrm>
            <a:custGeom>
              <a:avLst/>
              <a:gdLst/>
              <a:ahLst/>
              <a:cxnLst/>
              <a:rect r="r" b="b" t="t" l="l"/>
              <a:pathLst>
                <a:path h="1188720" w="6858000">
                  <a:moveTo>
                    <a:pt x="0" y="0"/>
                  </a:moveTo>
                  <a:lnTo>
                    <a:pt x="6858000" y="0"/>
                  </a:lnTo>
                  <a:lnTo>
                    <a:pt x="6858000" y="1188720"/>
                  </a:lnTo>
                  <a:lnTo>
                    <a:pt x="0" y="1188720"/>
                  </a:lnTo>
                  <a:close/>
                </a:path>
              </a:pathLst>
            </a:custGeom>
            <a:blipFill>
              <a:blip r:embed="rId3">
                <a:alphaModFix amt="0"/>
              </a:blip>
              <a:stretch>
                <a:fillRect l="0" t="-62413" r="0" b="-62413"/>
              </a:stretch>
            </a:blipFill>
          </p:spPr>
        </p:sp>
        <p:sp>
          <p:nvSpPr>
            <p:cNvPr name="TextBox 25" id="25"/>
            <p:cNvSpPr txBox="true"/>
            <p:nvPr/>
          </p:nvSpPr>
          <p:spPr>
            <a:xfrm>
              <a:off x="0" y="-47625"/>
              <a:ext cx="6858000" cy="1236345"/>
            </a:xfrm>
            <a:prstGeom prst="rect">
              <a:avLst/>
            </a:prstGeom>
          </p:spPr>
          <p:txBody>
            <a:bodyPr anchor="ctr" rtlCol="false" tIns="0" lIns="0" bIns="0" rIns="0"/>
            <a:lstStyle/>
            <a:p>
              <a:pPr algn="ctr">
                <a:lnSpc>
                  <a:spcPts val="2520"/>
                </a:lnSpc>
              </a:pPr>
              <a:r>
                <a:rPr lang="en-US" sz="2100">
                  <a:solidFill>
                    <a:srgbClr val="6B7280"/>
                  </a:solidFill>
                  <a:latin typeface="Calibri (MS)"/>
                  <a:ea typeface="Calibri (MS)"/>
                  <a:cs typeface="Calibri (MS)"/>
                  <a:sym typeface="Calibri (MS)"/>
                </a:rPr>
                <a:t>Integrity</a:t>
              </a:r>
            </a:p>
          </p:txBody>
        </p:sp>
      </p:grpSp>
      <p:grpSp>
        <p:nvGrpSpPr>
          <p:cNvPr name="Group 26" id="26"/>
          <p:cNvGrpSpPr/>
          <p:nvPr/>
        </p:nvGrpSpPr>
        <p:grpSpPr>
          <a:xfrm rot="0">
            <a:off x="12115419" y="5408295"/>
            <a:ext cx="5162550" cy="910590"/>
            <a:chOff x="0" y="0"/>
            <a:chExt cx="6883400" cy="1214120"/>
          </a:xfrm>
        </p:grpSpPr>
        <p:sp>
          <p:nvSpPr>
            <p:cNvPr name="Freeform 27" id="27"/>
            <p:cNvSpPr/>
            <p:nvPr/>
          </p:nvSpPr>
          <p:spPr>
            <a:xfrm flipH="false" flipV="false" rot="0">
              <a:off x="0" y="0"/>
              <a:ext cx="6883400" cy="1214120"/>
            </a:xfrm>
            <a:custGeom>
              <a:avLst/>
              <a:gdLst/>
              <a:ahLst/>
              <a:cxnLst/>
              <a:rect r="r" b="b" t="t" l="l"/>
              <a:pathLst>
                <a:path h="1214120" w="6883400">
                  <a:moveTo>
                    <a:pt x="0" y="168148"/>
                  </a:moveTo>
                  <a:cubicBezTo>
                    <a:pt x="0" y="75311"/>
                    <a:pt x="75311" y="0"/>
                    <a:pt x="168148" y="0"/>
                  </a:cubicBezTo>
                  <a:lnTo>
                    <a:pt x="6715252" y="0"/>
                  </a:lnTo>
                  <a:cubicBezTo>
                    <a:pt x="6808089" y="0"/>
                    <a:pt x="6883400" y="75311"/>
                    <a:pt x="6883400" y="168148"/>
                  </a:cubicBezTo>
                  <a:lnTo>
                    <a:pt x="6883400" y="1045972"/>
                  </a:lnTo>
                  <a:cubicBezTo>
                    <a:pt x="6883400" y="1138809"/>
                    <a:pt x="6808089" y="1214120"/>
                    <a:pt x="6715252" y="1214120"/>
                  </a:cubicBezTo>
                  <a:lnTo>
                    <a:pt x="168148" y="1214120"/>
                  </a:lnTo>
                  <a:cubicBezTo>
                    <a:pt x="75311" y="1214120"/>
                    <a:pt x="0" y="1138809"/>
                    <a:pt x="0" y="1045972"/>
                  </a:cubicBezTo>
                  <a:close/>
                </a:path>
              </a:pathLst>
            </a:custGeom>
            <a:solidFill>
              <a:srgbClr val="B8690F"/>
            </a:solidFill>
            <a:ln w="19050" cap="sq">
              <a:solidFill>
                <a:srgbClr val="B8690F"/>
              </a:solidFill>
              <a:prstDash val="solid"/>
              <a:miter/>
            </a:ln>
          </p:spPr>
        </p:sp>
      </p:grpSp>
      <p:grpSp>
        <p:nvGrpSpPr>
          <p:cNvPr name="Group 28" id="28"/>
          <p:cNvGrpSpPr/>
          <p:nvPr/>
        </p:nvGrpSpPr>
        <p:grpSpPr>
          <a:xfrm rot="0">
            <a:off x="12124944" y="5417820"/>
            <a:ext cx="5143500" cy="891540"/>
            <a:chOff x="0" y="0"/>
            <a:chExt cx="6858000" cy="1188720"/>
          </a:xfrm>
        </p:grpSpPr>
        <p:sp>
          <p:nvSpPr>
            <p:cNvPr name="Freeform 29" id="29"/>
            <p:cNvSpPr/>
            <p:nvPr/>
          </p:nvSpPr>
          <p:spPr>
            <a:xfrm flipH="false" flipV="false" rot="0">
              <a:off x="0" y="0"/>
              <a:ext cx="6858000" cy="1188720"/>
            </a:xfrm>
            <a:custGeom>
              <a:avLst/>
              <a:gdLst/>
              <a:ahLst/>
              <a:cxnLst/>
              <a:rect r="r" b="b" t="t" l="l"/>
              <a:pathLst>
                <a:path h="1188720" w="6858000">
                  <a:moveTo>
                    <a:pt x="0" y="0"/>
                  </a:moveTo>
                  <a:lnTo>
                    <a:pt x="6858000" y="0"/>
                  </a:lnTo>
                  <a:lnTo>
                    <a:pt x="6858000" y="1188720"/>
                  </a:lnTo>
                  <a:lnTo>
                    <a:pt x="0" y="1188720"/>
                  </a:lnTo>
                  <a:close/>
                </a:path>
              </a:pathLst>
            </a:custGeom>
            <a:blipFill>
              <a:blip r:embed="rId3">
                <a:alphaModFix amt="0"/>
              </a:blip>
              <a:stretch>
                <a:fillRect l="0" t="-62413" r="0" b="-62413"/>
              </a:stretch>
            </a:blipFill>
          </p:spPr>
        </p:sp>
        <p:sp>
          <p:nvSpPr>
            <p:cNvPr name="TextBox 30" id="30"/>
            <p:cNvSpPr txBox="true"/>
            <p:nvPr/>
          </p:nvSpPr>
          <p:spPr>
            <a:xfrm>
              <a:off x="0" y="-47625"/>
              <a:ext cx="6858000" cy="1236345"/>
            </a:xfrm>
            <a:prstGeom prst="rect">
              <a:avLst/>
            </a:prstGeom>
          </p:spPr>
          <p:txBody>
            <a:bodyPr anchor="ctr" rtlCol="false" tIns="0" lIns="0" bIns="0" rIns="0"/>
            <a:lstStyle/>
            <a:p>
              <a:pPr algn="ctr">
                <a:lnSpc>
                  <a:spcPts val="2520"/>
                </a:lnSpc>
              </a:pPr>
              <a:r>
                <a:rPr lang="en-US" sz="2100" b="true">
                  <a:solidFill>
                    <a:srgbClr val="FFFFFF"/>
                  </a:solidFill>
                  <a:latin typeface="Calibri (MS) Bold"/>
                  <a:ea typeface="Calibri (MS) Bold"/>
                  <a:cs typeface="Calibri (MS) Bold"/>
                  <a:sym typeface="Calibri (MS) Bold"/>
                </a:rPr>
                <a:t>✓  Availability</a:t>
              </a:r>
            </a:p>
          </p:txBody>
        </p:sp>
      </p:grpSp>
      <p:grpSp>
        <p:nvGrpSpPr>
          <p:cNvPr name="Group 31" id="31"/>
          <p:cNvGrpSpPr/>
          <p:nvPr/>
        </p:nvGrpSpPr>
        <p:grpSpPr>
          <a:xfrm rot="0">
            <a:off x="950595" y="6779895"/>
            <a:ext cx="16341090" cy="2145030"/>
            <a:chOff x="0" y="0"/>
            <a:chExt cx="21788120" cy="2860040"/>
          </a:xfrm>
        </p:grpSpPr>
        <p:sp>
          <p:nvSpPr>
            <p:cNvPr name="Freeform 32" id="32"/>
            <p:cNvSpPr/>
            <p:nvPr/>
          </p:nvSpPr>
          <p:spPr>
            <a:xfrm flipH="false" flipV="false" rot="0">
              <a:off x="0" y="0"/>
              <a:ext cx="21788120" cy="2860040"/>
            </a:xfrm>
            <a:custGeom>
              <a:avLst/>
              <a:gdLst/>
              <a:ahLst/>
              <a:cxnLst/>
              <a:rect r="r" b="b" t="t" l="l"/>
              <a:pathLst>
                <a:path h="2860040" w="21788120">
                  <a:moveTo>
                    <a:pt x="0" y="184531"/>
                  </a:moveTo>
                  <a:cubicBezTo>
                    <a:pt x="0" y="82677"/>
                    <a:pt x="82677" y="0"/>
                    <a:pt x="184531" y="0"/>
                  </a:cubicBezTo>
                  <a:lnTo>
                    <a:pt x="21603588" y="0"/>
                  </a:lnTo>
                  <a:cubicBezTo>
                    <a:pt x="21705443" y="0"/>
                    <a:pt x="21788120" y="82677"/>
                    <a:pt x="21788120" y="184531"/>
                  </a:cubicBezTo>
                  <a:lnTo>
                    <a:pt x="21788120" y="2675509"/>
                  </a:lnTo>
                  <a:cubicBezTo>
                    <a:pt x="21788120" y="2777363"/>
                    <a:pt x="21705443" y="2860040"/>
                    <a:pt x="21603588" y="2860040"/>
                  </a:cubicBezTo>
                  <a:lnTo>
                    <a:pt x="184531" y="2860040"/>
                  </a:lnTo>
                  <a:cubicBezTo>
                    <a:pt x="82677" y="2860040"/>
                    <a:pt x="0" y="2777363"/>
                    <a:pt x="0" y="2675509"/>
                  </a:cubicBezTo>
                  <a:close/>
                </a:path>
              </a:pathLst>
            </a:custGeom>
            <a:solidFill>
              <a:srgbClr val="FBF9F4"/>
            </a:solidFill>
            <a:ln w="19050" cap="sq">
              <a:solidFill>
                <a:srgbClr val="EFE6D2"/>
              </a:solidFill>
              <a:prstDash val="solid"/>
              <a:miter/>
            </a:ln>
          </p:spPr>
        </p:sp>
      </p:grpSp>
      <p:sp>
        <p:nvSpPr>
          <p:cNvPr name="TextBox 33" id="33"/>
          <p:cNvSpPr txBox="true"/>
          <p:nvPr/>
        </p:nvSpPr>
        <p:spPr>
          <a:xfrm rot="0">
            <a:off x="1463040" y="6977253"/>
            <a:ext cx="15316200" cy="1659255"/>
          </a:xfrm>
          <a:prstGeom prst="rect">
            <a:avLst/>
          </a:prstGeom>
        </p:spPr>
        <p:txBody>
          <a:bodyPr anchor="t" rtlCol="false" tIns="0" lIns="0" bIns="0" rIns="0">
            <a:spAutoFit/>
          </a:bodyPr>
          <a:lstStyle/>
          <a:p>
            <a:pPr algn="l">
              <a:lnSpc>
                <a:spcPts val="3159"/>
              </a:lnSpc>
            </a:pPr>
            <a:r>
              <a:rPr lang="en-US" sz="2025">
                <a:solidFill>
                  <a:srgbClr val="23262F"/>
                </a:solidFill>
                <a:latin typeface="Calibri (MS)"/>
                <a:ea typeface="Calibri (MS)"/>
                <a:cs typeface="Calibri (MS)"/>
                <a:sym typeface="Calibri (MS)"/>
              </a:rPr>
              <a:t>Nothing is read or changed — the site is simply overwhelmed and unreachable. A textbook Availability attack (a DDoS).</a:t>
            </a:r>
          </a:p>
        </p:txBody>
      </p:sp>
      <p:grpSp>
        <p:nvGrpSpPr>
          <p:cNvPr name="Group 34" id="34"/>
          <p:cNvGrpSpPr/>
          <p:nvPr/>
        </p:nvGrpSpPr>
        <p:grpSpPr>
          <a:xfrm rot="0">
            <a:off x="685800" y="9710928"/>
            <a:ext cx="10972800" cy="411480"/>
            <a:chOff x="0" y="0"/>
            <a:chExt cx="14630400" cy="548640"/>
          </a:xfrm>
        </p:grpSpPr>
        <p:sp>
          <p:nvSpPr>
            <p:cNvPr name="Freeform 35" id="35"/>
            <p:cNvSpPr/>
            <p:nvPr/>
          </p:nvSpPr>
          <p:spPr>
            <a:xfrm flipH="false" flipV="false" rot="0">
              <a:off x="0" y="0"/>
              <a:ext cx="14630400" cy="548640"/>
            </a:xfrm>
            <a:custGeom>
              <a:avLst/>
              <a:gdLst/>
              <a:ahLst/>
              <a:cxnLst/>
              <a:rect r="r" b="b" t="t" l="l"/>
              <a:pathLst>
                <a:path h="548640" w="14630400">
                  <a:moveTo>
                    <a:pt x="0" y="0"/>
                  </a:moveTo>
                  <a:lnTo>
                    <a:pt x="14630400" y="0"/>
                  </a:lnTo>
                  <a:lnTo>
                    <a:pt x="14630400" y="548640"/>
                  </a:lnTo>
                  <a:lnTo>
                    <a:pt x="0" y="548640"/>
                  </a:lnTo>
                  <a:close/>
                </a:path>
              </a:pathLst>
            </a:custGeom>
            <a:blipFill>
              <a:blip r:embed="rId3">
                <a:alphaModFix amt="0"/>
              </a:blip>
              <a:stretch>
                <a:fillRect l="0" t="-469601" r="0" b="-469601"/>
              </a:stretch>
            </a:blipFill>
          </p:spPr>
        </p:sp>
        <p:sp>
          <p:nvSpPr>
            <p:cNvPr name="TextBox 36" id="36"/>
            <p:cNvSpPr txBox="true"/>
            <p:nvPr/>
          </p:nvSpPr>
          <p:spPr>
            <a:xfrm>
              <a:off x="0" y="-38100"/>
              <a:ext cx="14630400" cy="586740"/>
            </a:xfrm>
            <a:prstGeom prst="rect">
              <a:avLst/>
            </a:prstGeom>
          </p:spPr>
          <p:txBody>
            <a:bodyPr anchor="ctr" rtlCol="false" tIns="0" lIns="0" bIns="0" rIns="0"/>
            <a:lstStyle/>
            <a:p>
              <a:pPr algn="l">
                <a:lnSpc>
                  <a:spcPts val="1800"/>
                </a:lnSpc>
              </a:pPr>
              <a:r>
                <a:rPr lang="en-US" sz="1500">
                  <a:solidFill>
                    <a:srgbClr val="6B7280"/>
                  </a:solidFill>
                  <a:latin typeface="Calibri (MS)"/>
                  <a:ea typeface="Calibri (MS)"/>
                  <a:cs typeface="Calibri (MS)"/>
                  <a:sym typeface="Calibri (MS)"/>
                </a:rPr>
                <a:t>Davao del Norte Provincial Government — Cybersecurity Seminar</a:t>
              </a:r>
            </a:p>
          </p:txBody>
        </p:sp>
      </p:grpSp>
      <p:grpSp>
        <p:nvGrpSpPr>
          <p:cNvPr name="Group 37" id="37"/>
          <p:cNvGrpSpPr/>
          <p:nvPr/>
        </p:nvGrpSpPr>
        <p:grpSpPr>
          <a:xfrm rot="0">
            <a:off x="16911828" y="9710928"/>
            <a:ext cx="685800" cy="411480"/>
            <a:chOff x="0" y="0"/>
            <a:chExt cx="914400" cy="548640"/>
          </a:xfrm>
        </p:grpSpPr>
        <p:sp>
          <p:nvSpPr>
            <p:cNvPr name="Freeform 38" id="38"/>
            <p:cNvSpPr/>
            <p:nvPr/>
          </p:nvSpPr>
          <p:spPr>
            <a:xfrm flipH="false" flipV="false" rot="0">
              <a:off x="0" y="0"/>
              <a:ext cx="914400" cy="548640"/>
            </a:xfrm>
            <a:custGeom>
              <a:avLst/>
              <a:gdLst/>
              <a:ahLst/>
              <a:cxnLst/>
              <a:rect r="r" b="b" t="t" l="l"/>
              <a:pathLst>
                <a:path h="548640" w="914400">
                  <a:moveTo>
                    <a:pt x="0" y="0"/>
                  </a:moveTo>
                  <a:lnTo>
                    <a:pt x="914400" y="0"/>
                  </a:lnTo>
                  <a:lnTo>
                    <a:pt x="914400" y="548640"/>
                  </a:lnTo>
                  <a:lnTo>
                    <a:pt x="0" y="548640"/>
                  </a:lnTo>
                  <a:close/>
                </a:path>
              </a:pathLst>
            </a:custGeom>
            <a:blipFill>
              <a:blip r:embed="rId3">
                <a:alphaModFix amt="0"/>
              </a:blip>
              <a:stretch>
                <a:fillRect l="-26982" t="0" r="-26982" b="0"/>
              </a:stretch>
            </a:blipFill>
          </p:spPr>
        </p:sp>
        <p:sp>
          <p:nvSpPr>
            <p:cNvPr name="TextBox 39" id="39"/>
            <p:cNvSpPr txBox="true"/>
            <p:nvPr/>
          </p:nvSpPr>
          <p:spPr>
            <a:xfrm>
              <a:off x="0" y="-38100"/>
              <a:ext cx="914400" cy="586740"/>
            </a:xfrm>
            <a:prstGeom prst="rect">
              <a:avLst/>
            </a:prstGeom>
          </p:spPr>
          <p:txBody>
            <a:bodyPr anchor="ctr" rtlCol="false" tIns="0" lIns="0" bIns="0" rIns="0"/>
            <a:lstStyle/>
            <a:p>
              <a:pPr algn="r">
                <a:lnSpc>
                  <a:spcPts val="1800"/>
                </a:lnSpc>
              </a:pPr>
              <a:r>
                <a:rPr lang="en-US" sz="1500">
                  <a:solidFill>
                    <a:srgbClr val="6B7280"/>
                  </a:solidFill>
                  <a:latin typeface="Calibri (MS)"/>
                  <a:ea typeface="Calibri (MS)"/>
                  <a:cs typeface="Calibri (MS)"/>
                  <a:sym typeface="Calibri (MS)"/>
                </a:rPr>
                <a:t>56</a:t>
              </a:r>
            </a:p>
          </p:txBody>
        </p:sp>
      </p:grpSp>
    </p:spTree>
  </p:cSld>
  <p:clrMapOvr>
    <a:masterClrMapping/>
  </p:clrMapOvr>
</p:sld>
</file>

<file path=ppt/slides/slide6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60120" y="685800"/>
            <a:ext cx="13716000" cy="411480"/>
            <a:chOff x="0" y="0"/>
            <a:chExt cx="18288000" cy="548640"/>
          </a:xfrm>
        </p:grpSpPr>
        <p:sp>
          <p:nvSpPr>
            <p:cNvPr name="Freeform 3" id="3"/>
            <p:cNvSpPr/>
            <p:nvPr/>
          </p:nvSpPr>
          <p:spPr>
            <a:xfrm flipH="false" flipV="false" rot="0">
              <a:off x="0" y="0"/>
              <a:ext cx="18288000" cy="548640"/>
            </a:xfrm>
            <a:custGeom>
              <a:avLst/>
              <a:gdLst/>
              <a:ahLst/>
              <a:cxnLst/>
              <a:rect r="r" b="b" t="t" l="l"/>
              <a:pathLst>
                <a:path h="548640" w="18288000">
                  <a:moveTo>
                    <a:pt x="0" y="0"/>
                  </a:moveTo>
                  <a:lnTo>
                    <a:pt x="18288000" y="0"/>
                  </a:lnTo>
                  <a:lnTo>
                    <a:pt x="18288000" y="548640"/>
                  </a:lnTo>
                  <a:lnTo>
                    <a:pt x="0" y="548640"/>
                  </a:lnTo>
                  <a:close/>
                </a:path>
              </a:pathLst>
            </a:custGeom>
            <a:blipFill>
              <a:blip r:embed="rId3">
                <a:alphaModFix amt="0"/>
              </a:blip>
              <a:stretch>
                <a:fillRect l="0" t="-599501" r="0" b="-599501"/>
              </a:stretch>
            </a:blipFill>
          </p:spPr>
        </p:sp>
        <p:sp>
          <p:nvSpPr>
            <p:cNvPr name="TextBox 4" id="4"/>
            <p:cNvSpPr txBox="true"/>
            <p:nvPr/>
          </p:nvSpPr>
          <p:spPr>
            <a:xfrm>
              <a:off x="0" y="-38100"/>
              <a:ext cx="18288000" cy="586740"/>
            </a:xfrm>
            <a:prstGeom prst="rect">
              <a:avLst/>
            </a:prstGeom>
          </p:spPr>
          <p:txBody>
            <a:bodyPr anchor="ctr" rtlCol="false" tIns="0" lIns="0" bIns="0" rIns="0"/>
            <a:lstStyle/>
            <a:p>
              <a:pPr algn="l">
                <a:lnSpc>
                  <a:spcPts val="2160"/>
                </a:lnSpc>
              </a:pPr>
              <a:r>
                <a:rPr lang="en-US" b="true" sz="1800" spc="225">
                  <a:solidFill>
                    <a:srgbClr val="00B4D8"/>
                  </a:solidFill>
                  <a:latin typeface="Calibri (MS) Bold"/>
                  <a:ea typeface="Calibri (MS) Bold"/>
                  <a:cs typeface="Calibri (MS) Bold"/>
                  <a:sym typeface="Calibri (MS) Bold"/>
                </a:rPr>
                <a:t>CIA TRIAD SORT · SCENARIO</a:t>
              </a:r>
            </a:p>
          </p:txBody>
        </p:sp>
      </p:grpSp>
      <p:grpSp>
        <p:nvGrpSpPr>
          <p:cNvPr name="Group 5" id="5"/>
          <p:cNvGrpSpPr/>
          <p:nvPr/>
        </p:nvGrpSpPr>
        <p:grpSpPr>
          <a:xfrm rot="0">
            <a:off x="960120" y="1069848"/>
            <a:ext cx="10972800" cy="822960"/>
            <a:chOff x="0" y="0"/>
            <a:chExt cx="14630400" cy="1097280"/>
          </a:xfrm>
        </p:grpSpPr>
        <p:sp>
          <p:nvSpPr>
            <p:cNvPr name="Freeform 6" id="6"/>
            <p:cNvSpPr/>
            <p:nvPr/>
          </p:nvSpPr>
          <p:spPr>
            <a:xfrm flipH="false" flipV="false" rot="0">
              <a:off x="0" y="0"/>
              <a:ext cx="14630400" cy="1097280"/>
            </a:xfrm>
            <a:custGeom>
              <a:avLst/>
              <a:gdLst/>
              <a:ahLst/>
              <a:cxnLst/>
              <a:rect r="r" b="b" t="t" l="l"/>
              <a:pathLst>
                <a:path h="1097280" w="14630400">
                  <a:moveTo>
                    <a:pt x="0" y="0"/>
                  </a:moveTo>
                  <a:lnTo>
                    <a:pt x="14630400" y="0"/>
                  </a:lnTo>
                  <a:lnTo>
                    <a:pt x="14630400" y="1097280"/>
                  </a:lnTo>
                  <a:lnTo>
                    <a:pt x="0" y="1097280"/>
                  </a:lnTo>
                  <a:close/>
                </a:path>
              </a:pathLst>
            </a:custGeom>
            <a:blipFill>
              <a:blip r:embed="rId3">
                <a:alphaModFix amt="0"/>
              </a:blip>
              <a:stretch>
                <a:fillRect l="0" t="-209800" r="0" b="-209800"/>
              </a:stretch>
            </a:blipFill>
          </p:spPr>
        </p:sp>
        <p:sp>
          <p:nvSpPr>
            <p:cNvPr name="TextBox 7" id="7"/>
            <p:cNvSpPr txBox="true"/>
            <p:nvPr/>
          </p:nvSpPr>
          <p:spPr>
            <a:xfrm>
              <a:off x="0" y="0"/>
              <a:ext cx="14630400" cy="1097280"/>
            </a:xfrm>
            <a:prstGeom prst="rect">
              <a:avLst/>
            </a:prstGeom>
          </p:spPr>
          <p:txBody>
            <a:bodyPr anchor="ctr" rtlCol="false" tIns="0" lIns="0" bIns="0" rIns="0"/>
            <a:lstStyle/>
            <a:p>
              <a:pPr algn="l">
                <a:lnSpc>
                  <a:spcPts val="4680"/>
                </a:lnSpc>
              </a:pPr>
              <a:r>
                <a:rPr lang="en-US" sz="3900" b="true">
                  <a:solidFill>
                    <a:srgbClr val="1E2761"/>
                  </a:solidFill>
                  <a:latin typeface="Cambria Bold"/>
                  <a:ea typeface="Cambria Bold"/>
                  <a:cs typeface="Cambria Bold"/>
                  <a:sym typeface="Cambria Bold"/>
                </a:rPr>
                <a:t>Scenario 10</a:t>
              </a:r>
            </a:p>
          </p:txBody>
        </p:sp>
      </p:grpSp>
      <p:grpSp>
        <p:nvGrpSpPr>
          <p:cNvPr name="Group 8" id="8"/>
          <p:cNvGrpSpPr/>
          <p:nvPr/>
        </p:nvGrpSpPr>
        <p:grpSpPr>
          <a:xfrm rot="0">
            <a:off x="960120" y="1810512"/>
            <a:ext cx="8229600" cy="411480"/>
            <a:chOff x="0" y="0"/>
            <a:chExt cx="10972800" cy="548640"/>
          </a:xfrm>
        </p:grpSpPr>
        <p:sp>
          <p:nvSpPr>
            <p:cNvPr name="Freeform 9" id="9"/>
            <p:cNvSpPr/>
            <p:nvPr/>
          </p:nvSpPr>
          <p:spPr>
            <a:xfrm flipH="false" flipV="false" rot="0">
              <a:off x="0" y="0"/>
              <a:ext cx="10972800" cy="548640"/>
            </a:xfrm>
            <a:custGeom>
              <a:avLst/>
              <a:gdLst/>
              <a:ahLst/>
              <a:cxnLst/>
              <a:rect r="r" b="b" t="t" l="l"/>
              <a:pathLst>
                <a:path h="548640" w="10972800">
                  <a:moveTo>
                    <a:pt x="0" y="0"/>
                  </a:moveTo>
                  <a:lnTo>
                    <a:pt x="10972800" y="0"/>
                  </a:lnTo>
                  <a:lnTo>
                    <a:pt x="10972800" y="548640"/>
                  </a:lnTo>
                  <a:lnTo>
                    <a:pt x="0" y="548640"/>
                  </a:lnTo>
                  <a:close/>
                </a:path>
              </a:pathLst>
            </a:custGeom>
            <a:blipFill>
              <a:blip r:embed="rId3">
                <a:alphaModFix amt="0"/>
              </a:blip>
              <a:stretch>
                <a:fillRect l="0" t="-339700" r="0" b="-339700"/>
              </a:stretch>
            </a:blipFill>
          </p:spPr>
        </p:sp>
        <p:sp>
          <p:nvSpPr>
            <p:cNvPr name="TextBox 10" id="10"/>
            <p:cNvSpPr txBox="true"/>
            <p:nvPr/>
          </p:nvSpPr>
          <p:spPr>
            <a:xfrm>
              <a:off x="0" y="-28575"/>
              <a:ext cx="10972800" cy="577215"/>
            </a:xfrm>
            <a:prstGeom prst="rect">
              <a:avLst/>
            </a:prstGeom>
          </p:spPr>
          <p:txBody>
            <a:bodyPr anchor="ctr" rtlCol="false" tIns="0" lIns="0" bIns="0" rIns="0"/>
            <a:lstStyle/>
            <a:p>
              <a:pPr algn="l">
                <a:lnSpc>
                  <a:spcPts val="1980"/>
                </a:lnSpc>
              </a:pPr>
              <a:r>
                <a:rPr lang="en-US" sz="1650">
                  <a:solidFill>
                    <a:srgbClr val="6B7280"/>
                  </a:solidFill>
                  <a:latin typeface="Calibri (MS)"/>
                  <a:ea typeface="Calibri (MS)"/>
                  <a:cs typeface="Calibri (MS)"/>
                  <a:sym typeface="Calibri (MS)"/>
                </a:rPr>
                <a:t>10 of 12</a:t>
              </a:r>
            </a:p>
          </p:txBody>
        </p:sp>
      </p:grpSp>
      <p:grpSp>
        <p:nvGrpSpPr>
          <p:cNvPr name="Group 11" id="11"/>
          <p:cNvGrpSpPr/>
          <p:nvPr/>
        </p:nvGrpSpPr>
        <p:grpSpPr>
          <a:xfrm rot="0">
            <a:off x="960120" y="2537460"/>
            <a:ext cx="16322040" cy="2811780"/>
            <a:chOff x="0" y="0"/>
            <a:chExt cx="21762720" cy="3749040"/>
          </a:xfrm>
        </p:grpSpPr>
        <p:sp>
          <p:nvSpPr>
            <p:cNvPr name="Freeform 12" id="12"/>
            <p:cNvSpPr/>
            <p:nvPr/>
          </p:nvSpPr>
          <p:spPr>
            <a:xfrm flipH="false" flipV="false" rot="0">
              <a:off x="0" y="0"/>
              <a:ext cx="21762720" cy="3749040"/>
            </a:xfrm>
            <a:custGeom>
              <a:avLst/>
              <a:gdLst/>
              <a:ahLst/>
              <a:cxnLst/>
              <a:rect r="r" b="b" t="t" l="l"/>
              <a:pathLst>
                <a:path h="3749040" w="21762720">
                  <a:moveTo>
                    <a:pt x="0" y="182880"/>
                  </a:moveTo>
                  <a:cubicBezTo>
                    <a:pt x="0" y="81915"/>
                    <a:pt x="81915" y="0"/>
                    <a:pt x="182880" y="0"/>
                  </a:cubicBezTo>
                  <a:lnTo>
                    <a:pt x="21579839" y="0"/>
                  </a:lnTo>
                  <a:cubicBezTo>
                    <a:pt x="21680804" y="0"/>
                    <a:pt x="21762720" y="81915"/>
                    <a:pt x="21762720" y="182880"/>
                  </a:cubicBezTo>
                  <a:lnTo>
                    <a:pt x="21762720" y="3566160"/>
                  </a:lnTo>
                  <a:cubicBezTo>
                    <a:pt x="21762720" y="3667125"/>
                    <a:pt x="21680804" y="3749040"/>
                    <a:pt x="21579839" y="3749040"/>
                  </a:cubicBezTo>
                  <a:lnTo>
                    <a:pt x="182880" y="3749040"/>
                  </a:lnTo>
                  <a:cubicBezTo>
                    <a:pt x="81915" y="3749040"/>
                    <a:pt x="0" y="3667125"/>
                    <a:pt x="0" y="3566160"/>
                  </a:cubicBezTo>
                  <a:close/>
                </a:path>
              </a:pathLst>
            </a:custGeom>
            <a:solidFill>
              <a:srgbClr val="F4F7FC"/>
            </a:solidFill>
          </p:spPr>
        </p:sp>
      </p:grpSp>
      <p:grpSp>
        <p:nvGrpSpPr>
          <p:cNvPr name="Group 13" id="13"/>
          <p:cNvGrpSpPr/>
          <p:nvPr/>
        </p:nvGrpSpPr>
        <p:grpSpPr>
          <a:xfrm rot="0">
            <a:off x="1440180" y="2811780"/>
            <a:ext cx="15361920" cy="2263140"/>
            <a:chOff x="0" y="0"/>
            <a:chExt cx="20482560" cy="3017520"/>
          </a:xfrm>
        </p:grpSpPr>
        <p:sp>
          <p:nvSpPr>
            <p:cNvPr name="Freeform 14" id="14"/>
            <p:cNvSpPr/>
            <p:nvPr/>
          </p:nvSpPr>
          <p:spPr>
            <a:xfrm flipH="false" flipV="false" rot="0">
              <a:off x="0" y="0"/>
              <a:ext cx="20482561" cy="3017520"/>
            </a:xfrm>
            <a:custGeom>
              <a:avLst/>
              <a:gdLst/>
              <a:ahLst/>
              <a:cxnLst/>
              <a:rect r="r" b="b" t="t" l="l"/>
              <a:pathLst>
                <a:path h="3017520" w="20482561">
                  <a:moveTo>
                    <a:pt x="0" y="0"/>
                  </a:moveTo>
                  <a:lnTo>
                    <a:pt x="20482561" y="0"/>
                  </a:lnTo>
                  <a:lnTo>
                    <a:pt x="20482561" y="3017520"/>
                  </a:lnTo>
                  <a:lnTo>
                    <a:pt x="0" y="3017520"/>
                  </a:lnTo>
                  <a:close/>
                </a:path>
              </a:pathLst>
            </a:custGeom>
            <a:blipFill>
              <a:blip r:embed="rId3">
                <a:alphaModFix amt="0"/>
              </a:blip>
              <a:stretch>
                <a:fillRect l="0" t="-82262" r="0" b="-82262"/>
              </a:stretch>
            </a:blipFill>
          </p:spPr>
        </p:sp>
        <p:sp>
          <p:nvSpPr>
            <p:cNvPr name="TextBox 15" id="15"/>
            <p:cNvSpPr txBox="true"/>
            <p:nvPr/>
          </p:nvSpPr>
          <p:spPr>
            <a:xfrm>
              <a:off x="0" y="-104775"/>
              <a:ext cx="20482560" cy="3122295"/>
            </a:xfrm>
            <a:prstGeom prst="rect">
              <a:avLst/>
            </a:prstGeom>
          </p:spPr>
          <p:txBody>
            <a:bodyPr anchor="ctr" rtlCol="false" tIns="0" lIns="0" bIns="0" rIns="0"/>
            <a:lstStyle/>
            <a:p>
              <a:pPr algn="l">
                <a:lnSpc>
                  <a:spcPts val="4147"/>
                </a:lnSpc>
              </a:pPr>
              <a:r>
                <a:rPr lang="en-US" sz="2700" i="true">
                  <a:solidFill>
                    <a:srgbClr val="23262F"/>
                  </a:solidFill>
                  <a:latin typeface="Cambria Italics"/>
                  <a:ea typeface="Cambria Italics"/>
                  <a:cs typeface="Cambria Italics"/>
                  <a:sym typeface="Cambria Italics"/>
                </a:rPr>
                <a:t>“A sticky note with an admin password is left in plain view at a public-facing counter.”</a:t>
              </a:r>
            </a:p>
          </p:txBody>
        </p:sp>
      </p:grpSp>
      <p:sp>
        <p:nvSpPr>
          <p:cNvPr name="TextBox 16" id="16"/>
          <p:cNvSpPr txBox="true"/>
          <p:nvPr/>
        </p:nvSpPr>
        <p:spPr>
          <a:xfrm rot="0">
            <a:off x="1051560" y="5604510"/>
            <a:ext cx="16139160" cy="1276350"/>
          </a:xfrm>
          <a:prstGeom prst="rect">
            <a:avLst/>
          </a:prstGeom>
        </p:spPr>
        <p:txBody>
          <a:bodyPr anchor="t" rtlCol="false" tIns="0" lIns="0" bIns="0" rIns="0">
            <a:spAutoFit/>
          </a:bodyPr>
          <a:lstStyle/>
          <a:p>
            <a:pPr algn="ctr">
              <a:lnSpc>
                <a:spcPts val="3402"/>
              </a:lnSpc>
            </a:pPr>
            <a:r>
              <a:rPr lang="en-US" sz="2100" i="true">
                <a:solidFill>
                  <a:srgbClr val="6B7280"/>
                </a:solidFill>
                <a:latin typeface="Calibri (MS) Italics"/>
                <a:ea typeface="Calibri (MS) Italics"/>
                <a:cs typeface="Calibri (MS) Italics"/>
                <a:sym typeface="Calibri (MS) Italics"/>
              </a:rPr>
              <a:t>Which does this break — Confidentiality, Integrity, or Availability?</a:t>
            </a:r>
          </a:p>
          <a:p>
            <a:pPr algn="ctr">
              <a:lnSpc>
                <a:spcPts val="3402"/>
              </a:lnSpc>
            </a:pPr>
            <a:r>
              <a:rPr lang="en-US" sz="2100" i="true">
                <a:solidFill>
                  <a:srgbClr val="6B7280"/>
                </a:solidFill>
                <a:latin typeface="Calibri (MS) Italics"/>
                <a:ea typeface="Calibri (MS) Italics"/>
                <a:cs typeface="Calibri (MS) Italics"/>
                <a:sym typeface="Calibri (MS) Italics"/>
              </a:rPr>
              <a:t>Some break more than one. Discuss, then we'll reveal the answer.</a:t>
            </a:r>
          </a:p>
        </p:txBody>
      </p:sp>
      <p:grpSp>
        <p:nvGrpSpPr>
          <p:cNvPr name="Group 17" id="17"/>
          <p:cNvGrpSpPr/>
          <p:nvPr/>
        </p:nvGrpSpPr>
        <p:grpSpPr>
          <a:xfrm rot="0">
            <a:off x="950595" y="7191375"/>
            <a:ext cx="5162550" cy="910590"/>
            <a:chOff x="0" y="0"/>
            <a:chExt cx="6883400" cy="1214120"/>
          </a:xfrm>
        </p:grpSpPr>
        <p:sp>
          <p:nvSpPr>
            <p:cNvPr name="Freeform 18" id="18"/>
            <p:cNvSpPr/>
            <p:nvPr/>
          </p:nvSpPr>
          <p:spPr>
            <a:xfrm flipH="false" flipV="false" rot="0">
              <a:off x="0" y="0"/>
              <a:ext cx="6883400" cy="1214120"/>
            </a:xfrm>
            <a:custGeom>
              <a:avLst/>
              <a:gdLst/>
              <a:ahLst/>
              <a:cxnLst/>
              <a:rect r="r" b="b" t="t" l="l"/>
              <a:pathLst>
                <a:path h="1214120" w="6883400">
                  <a:moveTo>
                    <a:pt x="0" y="168148"/>
                  </a:moveTo>
                  <a:cubicBezTo>
                    <a:pt x="0" y="75311"/>
                    <a:pt x="75311" y="0"/>
                    <a:pt x="168148" y="0"/>
                  </a:cubicBezTo>
                  <a:lnTo>
                    <a:pt x="6715252" y="0"/>
                  </a:lnTo>
                  <a:cubicBezTo>
                    <a:pt x="6808089" y="0"/>
                    <a:pt x="6883400" y="75311"/>
                    <a:pt x="6883400" y="168148"/>
                  </a:cubicBezTo>
                  <a:lnTo>
                    <a:pt x="6883400" y="1045972"/>
                  </a:lnTo>
                  <a:cubicBezTo>
                    <a:pt x="6883400" y="1138809"/>
                    <a:pt x="6808089" y="1214120"/>
                    <a:pt x="6715252" y="1214120"/>
                  </a:cubicBezTo>
                  <a:lnTo>
                    <a:pt x="168148" y="1214120"/>
                  </a:lnTo>
                  <a:cubicBezTo>
                    <a:pt x="75311" y="1214120"/>
                    <a:pt x="0" y="1138809"/>
                    <a:pt x="0" y="1045972"/>
                  </a:cubicBezTo>
                  <a:close/>
                </a:path>
              </a:pathLst>
            </a:custGeom>
            <a:solidFill>
              <a:srgbClr val="F4F7FC"/>
            </a:solidFill>
            <a:ln w="19050" cap="sq">
              <a:solidFill>
                <a:srgbClr val="D7DCEC"/>
              </a:solidFill>
              <a:prstDash val="solid"/>
              <a:miter/>
            </a:ln>
          </p:spPr>
        </p:sp>
      </p:grpSp>
      <p:grpSp>
        <p:nvGrpSpPr>
          <p:cNvPr name="Group 19" id="19"/>
          <p:cNvGrpSpPr/>
          <p:nvPr/>
        </p:nvGrpSpPr>
        <p:grpSpPr>
          <a:xfrm rot="0">
            <a:off x="960120" y="7200900"/>
            <a:ext cx="5143500" cy="891540"/>
            <a:chOff x="0" y="0"/>
            <a:chExt cx="6858000" cy="1188720"/>
          </a:xfrm>
        </p:grpSpPr>
        <p:sp>
          <p:nvSpPr>
            <p:cNvPr name="Freeform 20" id="20"/>
            <p:cNvSpPr/>
            <p:nvPr/>
          </p:nvSpPr>
          <p:spPr>
            <a:xfrm flipH="false" flipV="false" rot="0">
              <a:off x="0" y="0"/>
              <a:ext cx="6858000" cy="1188720"/>
            </a:xfrm>
            <a:custGeom>
              <a:avLst/>
              <a:gdLst/>
              <a:ahLst/>
              <a:cxnLst/>
              <a:rect r="r" b="b" t="t" l="l"/>
              <a:pathLst>
                <a:path h="1188720" w="6858000">
                  <a:moveTo>
                    <a:pt x="0" y="0"/>
                  </a:moveTo>
                  <a:lnTo>
                    <a:pt x="6858000" y="0"/>
                  </a:lnTo>
                  <a:lnTo>
                    <a:pt x="6858000" y="1188720"/>
                  </a:lnTo>
                  <a:lnTo>
                    <a:pt x="0" y="1188720"/>
                  </a:lnTo>
                  <a:close/>
                </a:path>
              </a:pathLst>
            </a:custGeom>
            <a:blipFill>
              <a:blip r:embed="rId3">
                <a:alphaModFix amt="0"/>
              </a:blip>
              <a:stretch>
                <a:fillRect l="0" t="-62413" r="0" b="-62413"/>
              </a:stretch>
            </a:blipFill>
          </p:spPr>
        </p:sp>
        <p:sp>
          <p:nvSpPr>
            <p:cNvPr name="TextBox 21" id="21"/>
            <p:cNvSpPr txBox="true"/>
            <p:nvPr/>
          </p:nvSpPr>
          <p:spPr>
            <a:xfrm>
              <a:off x="0" y="-47625"/>
              <a:ext cx="6858000" cy="1236345"/>
            </a:xfrm>
            <a:prstGeom prst="rect">
              <a:avLst/>
            </a:prstGeom>
          </p:spPr>
          <p:txBody>
            <a:bodyPr anchor="ctr" rtlCol="false" tIns="0" lIns="0" bIns="0" rIns="0"/>
            <a:lstStyle/>
            <a:p>
              <a:pPr algn="ctr">
                <a:lnSpc>
                  <a:spcPts val="2520"/>
                </a:lnSpc>
              </a:pPr>
              <a:r>
                <a:rPr lang="en-US" sz="2100">
                  <a:solidFill>
                    <a:srgbClr val="6B7280"/>
                  </a:solidFill>
                  <a:latin typeface="Calibri (MS)"/>
                  <a:ea typeface="Calibri (MS)"/>
                  <a:cs typeface="Calibri (MS)"/>
                  <a:sym typeface="Calibri (MS)"/>
                </a:rPr>
                <a:t>Confidentiality</a:t>
              </a:r>
            </a:p>
          </p:txBody>
        </p:sp>
      </p:grpSp>
      <p:grpSp>
        <p:nvGrpSpPr>
          <p:cNvPr name="Group 22" id="22"/>
          <p:cNvGrpSpPr/>
          <p:nvPr/>
        </p:nvGrpSpPr>
        <p:grpSpPr>
          <a:xfrm rot="0">
            <a:off x="6533007" y="7191375"/>
            <a:ext cx="5162550" cy="910590"/>
            <a:chOff x="0" y="0"/>
            <a:chExt cx="6883400" cy="1214120"/>
          </a:xfrm>
        </p:grpSpPr>
        <p:sp>
          <p:nvSpPr>
            <p:cNvPr name="Freeform 23" id="23"/>
            <p:cNvSpPr/>
            <p:nvPr/>
          </p:nvSpPr>
          <p:spPr>
            <a:xfrm flipH="false" flipV="false" rot="0">
              <a:off x="0" y="0"/>
              <a:ext cx="6883400" cy="1214120"/>
            </a:xfrm>
            <a:custGeom>
              <a:avLst/>
              <a:gdLst/>
              <a:ahLst/>
              <a:cxnLst/>
              <a:rect r="r" b="b" t="t" l="l"/>
              <a:pathLst>
                <a:path h="1214120" w="6883400">
                  <a:moveTo>
                    <a:pt x="0" y="168148"/>
                  </a:moveTo>
                  <a:cubicBezTo>
                    <a:pt x="0" y="75311"/>
                    <a:pt x="75311" y="0"/>
                    <a:pt x="168148" y="0"/>
                  </a:cubicBezTo>
                  <a:lnTo>
                    <a:pt x="6715252" y="0"/>
                  </a:lnTo>
                  <a:cubicBezTo>
                    <a:pt x="6808089" y="0"/>
                    <a:pt x="6883400" y="75311"/>
                    <a:pt x="6883400" y="168148"/>
                  </a:cubicBezTo>
                  <a:lnTo>
                    <a:pt x="6883400" y="1045972"/>
                  </a:lnTo>
                  <a:cubicBezTo>
                    <a:pt x="6883400" y="1138809"/>
                    <a:pt x="6808089" y="1214120"/>
                    <a:pt x="6715252" y="1214120"/>
                  </a:cubicBezTo>
                  <a:lnTo>
                    <a:pt x="168148" y="1214120"/>
                  </a:lnTo>
                  <a:cubicBezTo>
                    <a:pt x="75311" y="1214120"/>
                    <a:pt x="0" y="1138809"/>
                    <a:pt x="0" y="1045972"/>
                  </a:cubicBezTo>
                  <a:close/>
                </a:path>
              </a:pathLst>
            </a:custGeom>
            <a:solidFill>
              <a:srgbClr val="F4F7FC"/>
            </a:solidFill>
            <a:ln w="19050" cap="sq">
              <a:solidFill>
                <a:srgbClr val="D7DCEC"/>
              </a:solidFill>
              <a:prstDash val="solid"/>
              <a:miter/>
            </a:ln>
          </p:spPr>
        </p:sp>
      </p:grpSp>
      <p:grpSp>
        <p:nvGrpSpPr>
          <p:cNvPr name="Group 24" id="24"/>
          <p:cNvGrpSpPr/>
          <p:nvPr/>
        </p:nvGrpSpPr>
        <p:grpSpPr>
          <a:xfrm rot="0">
            <a:off x="6542532" y="7200900"/>
            <a:ext cx="5143500" cy="891540"/>
            <a:chOff x="0" y="0"/>
            <a:chExt cx="6858000" cy="1188720"/>
          </a:xfrm>
        </p:grpSpPr>
        <p:sp>
          <p:nvSpPr>
            <p:cNvPr name="Freeform 25" id="25"/>
            <p:cNvSpPr/>
            <p:nvPr/>
          </p:nvSpPr>
          <p:spPr>
            <a:xfrm flipH="false" flipV="false" rot="0">
              <a:off x="0" y="0"/>
              <a:ext cx="6858000" cy="1188720"/>
            </a:xfrm>
            <a:custGeom>
              <a:avLst/>
              <a:gdLst/>
              <a:ahLst/>
              <a:cxnLst/>
              <a:rect r="r" b="b" t="t" l="l"/>
              <a:pathLst>
                <a:path h="1188720" w="6858000">
                  <a:moveTo>
                    <a:pt x="0" y="0"/>
                  </a:moveTo>
                  <a:lnTo>
                    <a:pt x="6858000" y="0"/>
                  </a:lnTo>
                  <a:lnTo>
                    <a:pt x="6858000" y="1188720"/>
                  </a:lnTo>
                  <a:lnTo>
                    <a:pt x="0" y="1188720"/>
                  </a:lnTo>
                  <a:close/>
                </a:path>
              </a:pathLst>
            </a:custGeom>
            <a:blipFill>
              <a:blip r:embed="rId3">
                <a:alphaModFix amt="0"/>
              </a:blip>
              <a:stretch>
                <a:fillRect l="0" t="-62413" r="0" b="-62413"/>
              </a:stretch>
            </a:blipFill>
          </p:spPr>
        </p:sp>
        <p:sp>
          <p:nvSpPr>
            <p:cNvPr name="TextBox 26" id="26"/>
            <p:cNvSpPr txBox="true"/>
            <p:nvPr/>
          </p:nvSpPr>
          <p:spPr>
            <a:xfrm>
              <a:off x="0" y="-47625"/>
              <a:ext cx="6858000" cy="1236345"/>
            </a:xfrm>
            <a:prstGeom prst="rect">
              <a:avLst/>
            </a:prstGeom>
          </p:spPr>
          <p:txBody>
            <a:bodyPr anchor="ctr" rtlCol="false" tIns="0" lIns="0" bIns="0" rIns="0"/>
            <a:lstStyle/>
            <a:p>
              <a:pPr algn="ctr">
                <a:lnSpc>
                  <a:spcPts val="2520"/>
                </a:lnSpc>
              </a:pPr>
              <a:r>
                <a:rPr lang="en-US" sz="2100">
                  <a:solidFill>
                    <a:srgbClr val="6B7280"/>
                  </a:solidFill>
                  <a:latin typeface="Calibri (MS)"/>
                  <a:ea typeface="Calibri (MS)"/>
                  <a:cs typeface="Calibri (MS)"/>
                  <a:sym typeface="Calibri (MS)"/>
                </a:rPr>
                <a:t>Integrity</a:t>
              </a:r>
            </a:p>
          </p:txBody>
        </p:sp>
      </p:grpSp>
      <p:grpSp>
        <p:nvGrpSpPr>
          <p:cNvPr name="Group 27" id="27"/>
          <p:cNvGrpSpPr/>
          <p:nvPr/>
        </p:nvGrpSpPr>
        <p:grpSpPr>
          <a:xfrm rot="0">
            <a:off x="12115419" y="7191375"/>
            <a:ext cx="5162550" cy="910590"/>
            <a:chOff x="0" y="0"/>
            <a:chExt cx="6883400" cy="1214120"/>
          </a:xfrm>
        </p:grpSpPr>
        <p:sp>
          <p:nvSpPr>
            <p:cNvPr name="Freeform 28" id="28"/>
            <p:cNvSpPr/>
            <p:nvPr/>
          </p:nvSpPr>
          <p:spPr>
            <a:xfrm flipH="false" flipV="false" rot="0">
              <a:off x="0" y="0"/>
              <a:ext cx="6883400" cy="1214120"/>
            </a:xfrm>
            <a:custGeom>
              <a:avLst/>
              <a:gdLst/>
              <a:ahLst/>
              <a:cxnLst/>
              <a:rect r="r" b="b" t="t" l="l"/>
              <a:pathLst>
                <a:path h="1214120" w="6883400">
                  <a:moveTo>
                    <a:pt x="0" y="168148"/>
                  </a:moveTo>
                  <a:cubicBezTo>
                    <a:pt x="0" y="75311"/>
                    <a:pt x="75311" y="0"/>
                    <a:pt x="168148" y="0"/>
                  </a:cubicBezTo>
                  <a:lnTo>
                    <a:pt x="6715252" y="0"/>
                  </a:lnTo>
                  <a:cubicBezTo>
                    <a:pt x="6808089" y="0"/>
                    <a:pt x="6883400" y="75311"/>
                    <a:pt x="6883400" y="168148"/>
                  </a:cubicBezTo>
                  <a:lnTo>
                    <a:pt x="6883400" y="1045972"/>
                  </a:lnTo>
                  <a:cubicBezTo>
                    <a:pt x="6883400" y="1138809"/>
                    <a:pt x="6808089" y="1214120"/>
                    <a:pt x="6715252" y="1214120"/>
                  </a:cubicBezTo>
                  <a:lnTo>
                    <a:pt x="168148" y="1214120"/>
                  </a:lnTo>
                  <a:cubicBezTo>
                    <a:pt x="75311" y="1214120"/>
                    <a:pt x="0" y="1138809"/>
                    <a:pt x="0" y="1045972"/>
                  </a:cubicBezTo>
                  <a:close/>
                </a:path>
              </a:pathLst>
            </a:custGeom>
            <a:solidFill>
              <a:srgbClr val="F4F7FC"/>
            </a:solidFill>
            <a:ln w="19050" cap="sq">
              <a:solidFill>
                <a:srgbClr val="D7DCEC"/>
              </a:solidFill>
              <a:prstDash val="solid"/>
              <a:miter/>
            </a:ln>
          </p:spPr>
        </p:sp>
      </p:grpSp>
      <p:grpSp>
        <p:nvGrpSpPr>
          <p:cNvPr name="Group 29" id="29"/>
          <p:cNvGrpSpPr/>
          <p:nvPr/>
        </p:nvGrpSpPr>
        <p:grpSpPr>
          <a:xfrm rot="0">
            <a:off x="12124944" y="7200900"/>
            <a:ext cx="5143500" cy="891540"/>
            <a:chOff x="0" y="0"/>
            <a:chExt cx="6858000" cy="1188720"/>
          </a:xfrm>
        </p:grpSpPr>
        <p:sp>
          <p:nvSpPr>
            <p:cNvPr name="Freeform 30" id="30"/>
            <p:cNvSpPr/>
            <p:nvPr/>
          </p:nvSpPr>
          <p:spPr>
            <a:xfrm flipH="false" flipV="false" rot="0">
              <a:off x="0" y="0"/>
              <a:ext cx="6858000" cy="1188720"/>
            </a:xfrm>
            <a:custGeom>
              <a:avLst/>
              <a:gdLst/>
              <a:ahLst/>
              <a:cxnLst/>
              <a:rect r="r" b="b" t="t" l="l"/>
              <a:pathLst>
                <a:path h="1188720" w="6858000">
                  <a:moveTo>
                    <a:pt x="0" y="0"/>
                  </a:moveTo>
                  <a:lnTo>
                    <a:pt x="6858000" y="0"/>
                  </a:lnTo>
                  <a:lnTo>
                    <a:pt x="6858000" y="1188720"/>
                  </a:lnTo>
                  <a:lnTo>
                    <a:pt x="0" y="1188720"/>
                  </a:lnTo>
                  <a:close/>
                </a:path>
              </a:pathLst>
            </a:custGeom>
            <a:blipFill>
              <a:blip r:embed="rId3">
                <a:alphaModFix amt="0"/>
              </a:blip>
              <a:stretch>
                <a:fillRect l="0" t="-62413" r="0" b="-62413"/>
              </a:stretch>
            </a:blipFill>
          </p:spPr>
        </p:sp>
        <p:sp>
          <p:nvSpPr>
            <p:cNvPr name="TextBox 31" id="31"/>
            <p:cNvSpPr txBox="true"/>
            <p:nvPr/>
          </p:nvSpPr>
          <p:spPr>
            <a:xfrm>
              <a:off x="0" y="-47625"/>
              <a:ext cx="6858000" cy="1236345"/>
            </a:xfrm>
            <a:prstGeom prst="rect">
              <a:avLst/>
            </a:prstGeom>
          </p:spPr>
          <p:txBody>
            <a:bodyPr anchor="ctr" rtlCol="false" tIns="0" lIns="0" bIns="0" rIns="0"/>
            <a:lstStyle/>
            <a:p>
              <a:pPr algn="ctr">
                <a:lnSpc>
                  <a:spcPts val="2520"/>
                </a:lnSpc>
              </a:pPr>
              <a:r>
                <a:rPr lang="en-US" sz="2100">
                  <a:solidFill>
                    <a:srgbClr val="6B7280"/>
                  </a:solidFill>
                  <a:latin typeface="Calibri (MS)"/>
                  <a:ea typeface="Calibri (MS)"/>
                  <a:cs typeface="Calibri (MS)"/>
                  <a:sym typeface="Calibri (MS)"/>
                </a:rPr>
                <a:t>Availability</a:t>
              </a:r>
            </a:p>
          </p:txBody>
        </p:sp>
      </p:grpSp>
      <p:grpSp>
        <p:nvGrpSpPr>
          <p:cNvPr name="Group 32" id="32"/>
          <p:cNvGrpSpPr/>
          <p:nvPr/>
        </p:nvGrpSpPr>
        <p:grpSpPr>
          <a:xfrm rot="0">
            <a:off x="685800" y="9710928"/>
            <a:ext cx="10972800" cy="411480"/>
            <a:chOff x="0" y="0"/>
            <a:chExt cx="14630400" cy="548640"/>
          </a:xfrm>
        </p:grpSpPr>
        <p:sp>
          <p:nvSpPr>
            <p:cNvPr name="Freeform 33" id="33"/>
            <p:cNvSpPr/>
            <p:nvPr/>
          </p:nvSpPr>
          <p:spPr>
            <a:xfrm flipH="false" flipV="false" rot="0">
              <a:off x="0" y="0"/>
              <a:ext cx="14630400" cy="548640"/>
            </a:xfrm>
            <a:custGeom>
              <a:avLst/>
              <a:gdLst/>
              <a:ahLst/>
              <a:cxnLst/>
              <a:rect r="r" b="b" t="t" l="l"/>
              <a:pathLst>
                <a:path h="548640" w="14630400">
                  <a:moveTo>
                    <a:pt x="0" y="0"/>
                  </a:moveTo>
                  <a:lnTo>
                    <a:pt x="14630400" y="0"/>
                  </a:lnTo>
                  <a:lnTo>
                    <a:pt x="14630400" y="548640"/>
                  </a:lnTo>
                  <a:lnTo>
                    <a:pt x="0" y="548640"/>
                  </a:lnTo>
                  <a:close/>
                </a:path>
              </a:pathLst>
            </a:custGeom>
            <a:blipFill>
              <a:blip r:embed="rId3">
                <a:alphaModFix amt="0"/>
              </a:blip>
              <a:stretch>
                <a:fillRect l="0" t="-469601" r="0" b="-469601"/>
              </a:stretch>
            </a:blipFill>
          </p:spPr>
        </p:sp>
        <p:sp>
          <p:nvSpPr>
            <p:cNvPr name="TextBox 34" id="34"/>
            <p:cNvSpPr txBox="true"/>
            <p:nvPr/>
          </p:nvSpPr>
          <p:spPr>
            <a:xfrm>
              <a:off x="0" y="-38100"/>
              <a:ext cx="14630400" cy="586740"/>
            </a:xfrm>
            <a:prstGeom prst="rect">
              <a:avLst/>
            </a:prstGeom>
          </p:spPr>
          <p:txBody>
            <a:bodyPr anchor="ctr" rtlCol="false" tIns="0" lIns="0" bIns="0" rIns="0"/>
            <a:lstStyle/>
            <a:p>
              <a:pPr algn="l">
                <a:lnSpc>
                  <a:spcPts val="1800"/>
                </a:lnSpc>
              </a:pPr>
              <a:r>
                <a:rPr lang="en-US" sz="1500">
                  <a:solidFill>
                    <a:srgbClr val="6B7280"/>
                  </a:solidFill>
                  <a:latin typeface="Calibri (MS)"/>
                  <a:ea typeface="Calibri (MS)"/>
                  <a:cs typeface="Calibri (MS)"/>
                  <a:sym typeface="Calibri (MS)"/>
                </a:rPr>
                <a:t>Davao del Norte Provincial Government — Cybersecurity Seminar</a:t>
              </a:r>
            </a:p>
          </p:txBody>
        </p:sp>
      </p:grpSp>
      <p:grpSp>
        <p:nvGrpSpPr>
          <p:cNvPr name="Group 35" id="35"/>
          <p:cNvGrpSpPr/>
          <p:nvPr/>
        </p:nvGrpSpPr>
        <p:grpSpPr>
          <a:xfrm rot="0">
            <a:off x="16911828" y="9710928"/>
            <a:ext cx="685800" cy="411480"/>
            <a:chOff x="0" y="0"/>
            <a:chExt cx="914400" cy="548640"/>
          </a:xfrm>
        </p:grpSpPr>
        <p:sp>
          <p:nvSpPr>
            <p:cNvPr name="Freeform 36" id="36"/>
            <p:cNvSpPr/>
            <p:nvPr/>
          </p:nvSpPr>
          <p:spPr>
            <a:xfrm flipH="false" flipV="false" rot="0">
              <a:off x="0" y="0"/>
              <a:ext cx="914400" cy="548640"/>
            </a:xfrm>
            <a:custGeom>
              <a:avLst/>
              <a:gdLst/>
              <a:ahLst/>
              <a:cxnLst/>
              <a:rect r="r" b="b" t="t" l="l"/>
              <a:pathLst>
                <a:path h="548640" w="914400">
                  <a:moveTo>
                    <a:pt x="0" y="0"/>
                  </a:moveTo>
                  <a:lnTo>
                    <a:pt x="914400" y="0"/>
                  </a:lnTo>
                  <a:lnTo>
                    <a:pt x="914400" y="548640"/>
                  </a:lnTo>
                  <a:lnTo>
                    <a:pt x="0" y="548640"/>
                  </a:lnTo>
                  <a:close/>
                </a:path>
              </a:pathLst>
            </a:custGeom>
            <a:blipFill>
              <a:blip r:embed="rId3">
                <a:alphaModFix amt="0"/>
              </a:blip>
              <a:stretch>
                <a:fillRect l="-26982" t="0" r="-26982" b="0"/>
              </a:stretch>
            </a:blipFill>
          </p:spPr>
        </p:sp>
        <p:sp>
          <p:nvSpPr>
            <p:cNvPr name="TextBox 37" id="37"/>
            <p:cNvSpPr txBox="true"/>
            <p:nvPr/>
          </p:nvSpPr>
          <p:spPr>
            <a:xfrm>
              <a:off x="0" y="-38100"/>
              <a:ext cx="914400" cy="586740"/>
            </a:xfrm>
            <a:prstGeom prst="rect">
              <a:avLst/>
            </a:prstGeom>
          </p:spPr>
          <p:txBody>
            <a:bodyPr anchor="ctr" rtlCol="false" tIns="0" lIns="0" bIns="0" rIns="0"/>
            <a:lstStyle/>
            <a:p>
              <a:pPr algn="r">
                <a:lnSpc>
                  <a:spcPts val="1800"/>
                </a:lnSpc>
              </a:pPr>
              <a:r>
                <a:rPr lang="en-US" sz="1500">
                  <a:solidFill>
                    <a:srgbClr val="6B7280"/>
                  </a:solidFill>
                  <a:latin typeface="Calibri (MS)"/>
                  <a:ea typeface="Calibri (MS)"/>
                  <a:cs typeface="Calibri (MS)"/>
                  <a:sym typeface="Calibri (MS)"/>
                </a:rPr>
                <a:t>57</a:t>
              </a:r>
            </a:p>
          </p:txBody>
        </p:sp>
      </p:grpSp>
    </p:spTree>
  </p:cSld>
  <p:clrMapOvr>
    <a:masterClrMapping/>
  </p:clrMapOvr>
</p:sld>
</file>

<file path=ppt/slides/slide6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60120" y="685800"/>
            <a:ext cx="13716000" cy="411480"/>
            <a:chOff x="0" y="0"/>
            <a:chExt cx="18288000" cy="548640"/>
          </a:xfrm>
        </p:grpSpPr>
        <p:sp>
          <p:nvSpPr>
            <p:cNvPr name="Freeform 3" id="3"/>
            <p:cNvSpPr/>
            <p:nvPr/>
          </p:nvSpPr>
          <p:spPr>
            <a:xfrm flipH="false" flipV="false" rot="0">
              <a:off x="0" y="0"/>
              <a:ext cx="18288000" cy="548640"/>
            </a:xfrm>
            <a:custGeom>
              <a:avLst/>
              <a:gdLst/>
              <a:ahLst/>
              <a:cxnLst/>
              <a:rect r="r" b="b" t="t" l="l"/>
              <a:pathLst>
                <a:path h="548640" w="18288000">
                  <a:moveTo>
                    <a:pt x="0" y="0"/>
                  </a:moveTo>
                  <a:lnTo>
                    <a:pt x="18288000" y="0"/>
                  </a:lnTo>
                  <a:lnTo>
                    <a:pt x="18288000" y="548640"/>
                  </a:lnTo>
                  <a:lnTo>
                    <a:pt x="0" y="548640"/>
                  </a:lnTo>
                  <a:close/>
                </a:path>
              </a:pathLst>
            </a:custGeom>
            <a:blipFill>
              <a:blip r:embed="rId3">
                <a:alphaModFix amt="0"/>
              </a:blip>
              <a:stretch>
                <a:fillRect l="0" t="-599501" r="0" b="-599501"/>
              </a:stretch>
            </a:blipFill>
          </p:spPr>
        </p:sp>
        <p:sp>
          <p:nvSpPr>
            <p:cNvPr name="TextBox 4" id="4"/>
            <p:cNvSpPr txBox="true"/>
            <p:nvPr/>
          </p:nvSpPr>
          <p:spPr>
            <a:xfrm>
              <a:off x="0" y="-38100"/>
              <a:ext cx="18288000" cy="586740"/>
            </a:xfrm>
            <a:prstGeom prst="rect">
              <a:avLst/>
            </a:prstGeom>
          </p:spPr>
          <p:txBody>
            <a:bodyPr anchor="ctr" rtlCol="false" tIns="0" lIns="0" bIns="0" rIns="0"/>
            <a:lstStyle/>
            <a:p>
              <a:pPr algn="l">
                <a:lnSpc>
                  <a:spcPts val="2160"/>
                </a:lnSpc>
              </a:pPr>
              <a:r>
                <a:rPr lang="en-US" b="true" sz="1800" spc="225">
                  <a:solidFill>
                    <a:srgbClr val="00B4D8"/>
                  </a:solidFill>
                  <a:latin typeface="Calibri (MS) Bold"/>
                  <a:ea typeface="Calibri (MS) Bold"/>
                  <a:cs typeface="Calibri (MS) Bold"/>
                  <a:sym typeface="Calibri (MS) Bold"/>
                </a:rPr>
                <a:t>CIA TRIAD SORT · ANSWER</a:t>
              </a:r>
            </a:p>
          </p:txBody>
        </p:sp>
      </p:grpSp>
      <p:grpSp>
        <p:nvGrpSpPr>
          <p:cNvPr name="Group 5" id="5"/>
          <p:cNvGrpSpPr/>
          <p:nvPr/>
        </p:nvGrpSpPr>
        <p:grpSpPr>
          <a:xfrm rot="0">
            <a:off x="960120" y="1069848"/>
            <a:ext cx="10972800" cy="822960"/>
            <a:chOff x="0" y="0"/>
            <a:chExt cx="14630400" cy="1097280"/>
          </a:xfrm>
        </p:grpSpPr>
        <p:sp>
          <p:nvSpPr>
            <p:cNvPr name="Freeform 6" id="6"/>
            <p:cNvSpPr/>
            <p:nvPr/>
          </p:nvSpPr>
          <p:spPr>
            <a:xfrm flipH="false" flipV="false" rot="0">
              <a:off x="0" y="0"/>
              <a:ext cx="14630400" cy="1097280"/>
            </a:xfrm>
            <a:custGeom>
              <a:avLst/>
              <a:gdLst/>
              <a:ahLst/>
              <a:cxnLst/>
              <a:rect r="r" b="b" t="t" l="l"/>
              <a:pathLst>
                <a:path h="1097280" w="14630400">
                  <a:moveTo>
                    <a:pt x="0" y="0"/>
                  </a:moveTo>
                  <a:lnTo>
                    <a:pt x="14630400" y="0"/>
                  </a:lnTo>
                  <a:lnTo>
                    <a:pt x="14630400" y="1097280"/>
                  </a:lnTo>
                  <a:lnTo>
                    <a:pt x="0" y="1097280"/>
                  </a:lnTo>
                  <a:close/>
                </a:path>
              </a:pathLst>
            </a:custGeom>
            <a:blipFill>
              <a:blip r:embed="rId3">
                <a:alphaModFix amt="0"/>
              </a:blip>
              <a:stretch>
                <a:fillRect l="0" t="-209800" r="0" b="-209800"/>
              </a:stretch>
            </a:blipFill>
          </p:spPr>
        </p:sp>
        <p:sp>
          <p:nvSpPr>
            <p:cNvPr name="TextBox 7" id="7"/>
            <p:cNvSpPr txBox="true"/>
            <p:nvPr/>
          </p:nvSpPr>
          <p:spPr>
            <a:xfrm>
              <a:off x="0" y="0"/>
              <a:ext cx="14630400" cy="1097280"/>
            </a:xfrm>
            <a:prstGeom prst="rect">
              <a:avLst/>
            </a:prstGeom>
          </p:spPr>
          <p:txBody>
            <a:bodyPr anchor="ctr" rtlCol="false" tIns="0" lIns="0" bIns="0" rIns="0"/>
            <a:lstStyle/>
            <a:p>
              <a:pPr algn="l">
                <a:lnSpc>
                  <a:spcPts val="4680"/>
                </a:lnSpc>
              </a:pPr>
              <a:r>
                <a:rPr lang="en-US" sz="3900" b="true">
                  <a:solidFill>
                    <a:srgbClr val="1E2761"/>
                  </a:solidFill>
                  <a:latin typeface="Cambria Bold"/>
                  <a:ea typeface="Cambria Bold"/>
                  <a:cs typeface="Cambria Bold"/>
                  <a:sym typeface="Cambria Bold"/>
                </a:rPr>
                <a:t>Scenario 10 — Answer</a:t>
              </a:r>
            </a:p>
          </p:txBody>
        </p:sp>
      </p:grpSp>
      <p:grpSp>
        <p:nvGrpSpPr>
          <p:cNvPr name="Group 8" id="8"/>
          <p:cNvGrpSpPr/>
          <p:nvPr/>
        </p:nvGrpSpPr>
        <p:grpSpPr>
          <a:xfrm rot="0">
            <a:off x="960120" y="1810512"/>
            <a:ext cx="8229600" cy="411480"/>
            <a:chOff x="0" y="0"/>
            <a:chExt cx="10972800" cy="548640"/>
          </a:xfrm>
        </p:grpSpPr>
        <p:sp>
          <p:nvSpPr>
            <p:cNvPr name="Freeform 9" id="9"/>
            <p:cNvSpPr/>
            <p:nvPr/>
          </p:nvSpPr>
          <p:spPr>
            <a:xfrm flipH="false" flipV="false" rot="0">
              <a:off x="0" y="0"/>
              <a:ext cx="10972800" cy="548640"/>
            </a:xfrm>
            <a:custGeom>
              <a:avLst/>
              <a:gdLst/>
              <a:ahLst/>
              <a:cxnLst/>
              <a:rect r="r" b="b" t="t" l="l"/>
              <a:pathLst>
                <a:path h="548640" w="10972800">
                  <a:moveTo>
                    <a:pt x="0" y="0"/>
                  </a:moveTo>
                  <a:lnTo>
                    <a:pt x="10972800" y="0"/>
                  </a:lnTo>
                  <a:lnTo>
                    <a:pt x="10972800" y="548640"/>
                  </a:lnTo>
                  <a:lnTo>
                    <a:pt x="0" y="548640"/>
                  </a:lnTo>
                  <a:close/>
                </a:path>
              </a:pathLst>
            </a:custGeom>
            <a:blipFill>
              <a:blip r:embed="rId3">
                <a:alphaModFix amt="0"/>
              </a:blip>
              <a:stretch>
                <a:fillRect l="0" t="-339700" r="0" b="-339700"/>
              </a:stretch>
            </a:blipFill>
          </p:spPr>
        </p:sp>
        <p:sp>
          <p:nvSpPr>
            <p:cNvPr name="TextBox 10" id="10"/>
            <p:cNvSpPr txBox="true"/>
            <p:nvPr/>
          </p:nvSpPr>
          <p:spPr>
            <a:xfrm>
              <a:off x="0" y="-28575"/>
              <a:ext cx="10972800" cy="577215"/>
            </a:xfrm>
            <a:prstGeom prst="rect">
              <a:avLst/>
            </a:prstGeom>
          </p:spPr>
          <p:txBody>
            <a:bodyPr anchor="ctr" rtlCol="false" tIns="0" lIns="0" bIns="0" rIns="0"/>
            <a:lstStyle/>
            <a:p>
              <a:pPr algn="l">
                <a:lnSpc>
                  <a:spcPts val="1980"/>
                </a:lnSpc>
              </a:pPr>
              <a:r>
                <a:rPr lang="en-US" sz="1650">
                  <a:solidFill>
                    <a:srgbClr val="6B7280"/>
                  </a:solidFill>
                  <a:latin typeface="Calibri (MS)"/>
                  <a:ea typeface="Calibri (MS)"/>
                  <a:cs typeface="Calibri (MS)"/>
                  <a:sym typeface="Calibri (MS)"/>
                </a:rPr>
                <a:t>10 of 12</a:t>
              </a:r>
            </a:p>
          </p:txBody>
        </p:sp>
      </p:grpSp>
      <p:grpSp>
        <p:nvGrpSpPr>
          <p:cNvPr name="Group 11" id="11"/>
          <p:cNvGrpSpPr/>
          <p:nvPr/>
        </p:nvGrpSpPr>
        <p:grpSpPr>
          <a:xfrm rot="0">
            <a:off x="960120" y="2537460"/>
            <a:ext cx="16322040" cy="2400300"/>
            <a:chOff x="0" y="0"/>
            <a:chExt cx="21762720" cy="3200400"/>
          </a:xfrm>
        </p:grpSpPr>
        <p:sp>
          <p:nvSpPr>
            <p:cNvPr name="Freeform 12" id="12"/>
            <p:cNvSpPr/>
            <p:nvPr/>
          </p:nvSpPr>
          <p:spPr>
            <a:xfrm flipH="false" flipV="false" rot="0">
              <a:off x="0" y="0"/>
              <a:ext cx="21762720" cy="3200400"/>
            </a:xfrm>
            <a:custGeom>
              <a:avLst/>
              <a:gdLst/>
              <a:ahLst/>
              <a:cxnLst/>
              <a:rect r="r" b="b" t="t" l="l"/>
              <a:pathLst>
                <a:path h="3200400" w="21762720">
                  <a:moveTo>
                    <a:pt x="0" y="182880"/>
                  </a:moveTo>
                  <a:cubicBezTo>
                    <a:pt x="0" y="81915"/>
                    <a:pt x="81915" y="0"/>
                    <a:pt x="182880" y="0"/>
                  </a:cubicBezTo>
                  <a:lnTo>
                    <a:pt x="21579839" y="0"/>
                  </a:lnTo>
                  <a:cubicBezTo>
                    <a:pt x="21680804" y="0"/>
                    <a:pt x="21762720" y="81915"/>
                    <a:pt x="21762720" y="182880"/>
                  </a:cubicBezTo>
                  <a:lnTo>
                    <a:pt x="21762720" y="3017520"/>
                  </a:lnTo>
                  <a:cubicBezTo>
                    <a:pt x="21762720" y="3118485"/>
                    <a:pt x="21680804" y="3200400"/>
                    <a:pt x="21579839" y="3200400"/>
                  </a:cubicBezTo>
                  <a:lnTo>
                    <a:pt x="182880" y="3200400"/>
                  </a:lnTo>
                  <a:cubicBezTo>
                    <a:pt x="81915" y="3200400"/>
                    <a:pt x="0" y="3118485"/>
                    <a:pt x="0" y="3017520"/>
                  </a:cubicBezTo>
                  <a:close/>
                </a:path>
              </a:pathLst>
            </a:custGeom>
            <a:solidFill>
              <a:srgbClr val="F4F7FC"/>
            </a:solidFill>
          </p:spPr>
        </p:sp>
      </p:grpSp>
      <p:grpSp>
        <p:nvGrpSpPr>
          <p:cNvPr name="Group 13" id="13"/>
          <p:cNvGrpSpPr/>
          <p:nvPr/>
        </p:nvGrpSpPr>
        <p:grpSpPr>
          <a:xfrm rot="0">
            <a:off x="1440180" y="2811780"/>
            <a:ext cx="15361920" cy="1851660"/>
            <a:chOff x="0" y="0"/>
            <a:chExt cx="20482560" cy="2468880"/>
          </a:xfrm>
        </p:grpSpPr>
        <p:sp>
          <p:nvSpPr>
            <p:cNvPr name="Freeform 14" id="14"/>
            <p:cNvSpPr/>
            <p:nvPr/>
          </p:nvSpPr>
          <p:spPr>
            <a:xfrm flipH="false" flipV="false" rot="0">
              <a:off x="0" y="0"/>
              <a:ext cx="20482561" cy="2468880"/>
            </a:xfrm>
            <a:custGeom>
              <a:avLst/>
              <a:gdLst/>
              <a:ahLst/>
              <a:cxnLst/>
              <a:rect r="r" b="b" t="t" l="l"/>
              <a:pathLst>
                <a:path h="2468880" w="20482561">
                  <a:moveTo>
                    <a:pt x="0" y="0"/>
                  </a:moveTo>
                  <a:lnTo>
                    <a:pt x="20482561" y="0"/>
                  </a:lnTo>
                  <a:lnTo>
                    <a:pt x="20482561" y="2468880"/>
                  </a:lnTo>
                  <a:lnTo>
                    <a:pt x="0" y="2468880"/>
                  </a:lnTo>
                  <a:close/>
                </a:path>
              </a:pathLst>
            </a:custGeom>
            <a:blipFill>
              <a:blip r:embed="rId3">
                <a:alphaModFix amt="0"/>
              </a:blip>
              <a:stretch>
                <a:fillRect l="0" t="-111653" r="0" b="-111653"/>
              </a:stretch>
            </a:blipFill>
          </p:spPr>
        </p:sp>
        <p:sp>
          <p:nvSpPr>
            <p:cNvPr name="TextBox 15" id="15"/>
            <p:cNvSpPr txBox="true"/>
            <p:nvPr/>
          </p:nvSpPr>
          <p:spPr>
            <a:xfrm>
              <a:off x="0" y="-95250"/>
              <a:ext cx="20482560" cy="2564130"/>
            </a:xfrm>
            <a:prstGeom prst="rect">
              <a:avLst/>
            </a:prstGeom>
          </p:spPr>
          <p:txBody>
            <a:bodyPr anchor="ctr" rtlCol="false" tIns="0" lIns="0" bIns="0" rIns="0"/>
            <a:lstStyle/>
            <a:p>
              <a:pPr algn="l">
                <a:lnSpc>
                  <a:spcPts val="3916"/>
                </a:lnSpc>
              </a:pPr>
              <a:r>
                <a:rPr lang="en-US" sz="2550" i="true">
                  <a:solidFill>
                    <a:srgbClr val="23262F"/>
                  </a:solidFill>
                  <a:latin typeface="Cambria Italics"/>
                  <a:ea typeface="Cambria Italics"/>
                  <a:cs typeface="Cambria Italics"/>
                  <a:sym typeface="Cambria Italics"/>
                </a:rPr>
                <a:t>“A sticky note with an admin password is left in plain view at a public-facing counter.”</a:t>
              </a:r>
            </a:p>
          </p:txBody>
        </p:sp>
      </p:grpSp>
      <p:grpSp>
        <p:nvGrpSpPr>
          <p:cNvPr name="Group 16" id="16"/>
          <p:cNvGrpSpPr/>
          <p:nvPr/>
        </p:nvGrpSpPr>
        <p:grpSpPr>
          <a:xfrm rot="0">
            <a:off x="950595" y="5408295"/>
            <a:ext cx="5162550" cy="910590"/>
            <a:chOff x="0" y="0"/>
            <a:chExt cx="6883400" cy="1214120"/>
          </a:xfrm>
        </p:grpSpPr>
        <p:sp>
          <p:nvSpPr>
            <p:cNvPr name="Freeform 17" id="17"/>
            <p:cNvSpPr/>
            <p:nvPr/>
          </p:nvSpPr>
          <p:spPr>
            <a:xfrm flipH="false" flipV="false" rot="0">
              <a:off x="0" y="0"/>
              <a:ext cx="6883400" cy="1214120"/>
            </a:xfrm>
            <a:custGeom>
              <a:avLst/>
              <a:gdLst/>
              <a:ahLst/>
              <a:cxnLst/>
              <a:rect r="r" b="b" t="t" l="l"/>
              <a:pathLst>
                <a:path h="1214120" w="6883400">
                  <a:moveTo>
                    <a:pt x="0" y="168148"/>
                  </a:moveTo>
                  <a:cubicBezTo>
                    <a:pt x="0" y="75311"/>
                    <a:pt x="75311" y="0"/>
                    <a:pt x="168148" y="0"/>
                  </a:cubicBezTo>
                  <a:lnTo>
                    <a:pt x="6715252" y="0"/>
                  </a:lnTo>
                  <a:cubicBezTo>
                    <a:pt x="6808089" y="0"/>
                    <a:pt x="6883400" y="75311"/>
                    <a:pt x="6883400" y="168148"/>
                  </a:cubicBezTo>
                  <a:lnTo>
                    <a:pt x="6883400" y="1045972"/>
                  </a:lnTo>
                  <a:cubicBezTo>
                    <a:pt x="6883400" y="1138809"/>
                    <a:pt x="6808089" y="1214120"/>
                    <a:pt x="6715252" y="1214120"/>
                  </a:cubicBezTo>
                  <a:lnTo>
                    <a:pt x="168148" y="1214120"/>
                  </a:lnTo>
                  <a:cubicBezTo>
                    <a:pt x="75311" y="1214120"/>
                    <a:pt x="0" y="1138809"/>
                    <a:pt x="0" y="1045972"/>
                  </a:cubicBezTo>
                  <a:close/>
                </a:path>
              </a:pathLst>
            </a:custGeom>
            <a:solidFill>
              <a:srgbClr val="6C4FD1"/>
            </a:solidFill>
            <a:ln w="19050" cap="sq">
              <a:solidFill>
                <a:srgbClr val="6C4FD1"/>
              </a:solidFill>
              <a:prstDash val="solid"/>
              <a:miter/>
            </a:ln>
          </p:spPr>
        </p:sp>
      </p:grpSp>
      <p:grpSp>
        <p:nvGrpSpPr>
          <p:cNvPr name="Group 18" id="18"/>
          <p:cNvGrpSpPr/>
          <p:nvPr/>
        </p:nvGrpSpPr>
        <p:grpSpPr>
          <a:xfrm rot="0">
            <a:off x="960120" y="5417820"/>
            <a:ext cx="5143500" cy="891540"/>
            <a:chOff x="0" y="0"/>
            <a:chExt cx="6858000" cy="1188720"/>
          </a:xfrm>
        </p:grpSpPr>
        <p:sp>
          <p:nvSpPr>
            <p:cNvPr name="Freeform 19" id="19"/>
            <p:cNvSpPr/>
            <p:nvPr/>
          </p:nvSpPr>
          <p:spPr>
            <a:xfrm flipH="false" flipV="false" rot="0">
              <a:off x="0" y="0"/>
              <a:ext cx="6858000" cy="1188720"/>
            </a:xfrm>
            <a:custGeom>
              <a:avLst/>
              <a:gdLst/>
              <a:ahLst/>
              <a:cxnLst/>
              <a:rect r="r" b="b" t="t" l="l"/>
              <a:pathLst>
                <a:path h="1188720" w="6858000">
                  <a:moveTo>
                    <a:pt x="0" y="0"/>
                  </a:moveTo>
                  <a:lnTo>
                    <a:pt x="6858000" y="0"/>
                  </a:lnTo>
                  <a:lnTo>
                    <a:pt x="6858000" y="1188720"/>
                  </a:lnTo>
                  <a:lnTo>
                    <a:pt x="0" y="1188720"/>
                  </a:lnTo>
                  <a:close/>
                </a:path>
              </a:pathLst>
            </a:custGeom>
            <a:blipFill>
              <a:blip r:embed="rId3">
                <a:alphaModFix amt="0"/>
              </a:blip>
              <a:stretch>
                <a:fillRect l="0" t="-62413" r="0" b="-62413"/>
              </a:stretch>
            </a:blipFill>
          </p:spPr>
        </p:sp>
        <p:sp>
          <p:nvSpPr>
            <p:cNvPr name="TextBox 20" id="20"/>
            <p:cNvSpPr txBox="true"/>
            <p:nvPr/>
          </p:nvSpPr>
          <p:spPr>
            <a:xfrm>
              <a:off x="0" y="-47625"/>
              <a:ext cx="6858000" cy="1236345"/>
            </a:xfrm>
            <a:prstGeom prst="rect">
              <a:avLst/>
            </a:prstGeom>
          </p:spPr>
          <p:txBody>
            <a:bodyPr anchor="ctr" rtlCol="false" tIns="0" lIns="0" bIns="0" rIns="0"/>
            <a:lstStyle/>
            <a:p>
              <a:pPr algn="ctr">
                <a:lnSpc>
                  <a:spcPts val="2520"/>
                </a:lnSpc>
              </a:pPr>
              <a:r>
                <a:rPr lang="en-US" sz="2100" b="true">
                  <a:solidFill>
                    <a:srgbClr val="FFFFFF"/>
                  </a:solidFill>
                  <a:latin typeface="Calibri (MS) Bold"/>
                  <a:ea typeface="Calibri (MS) Bold"/>
                  <a:cs typeface="Calibri (MS) Bold"/>
                  <a:sym typeface="Calibri (MS) Bold"/>
                </a:rPr>
                <a:t>✓  Confidentiality</a:t>
              </a:r>
            </a:p>
          </p:txBody>
        </p:sp>
      </p:grpSp>
      <p:grpSp>
        <p:nvGrpSpPr>
          <p:cNvPr name="Group 21" id="21"/>
          <p:cNvGrpSpPr/>
          <p:nvPr/>
        </p:nvGrpSpPr>
        <p:grpSpPr>
          <a:xfrm rot="0">
            <a:off x="6533007" y="5408295"/>
            <a:ext cx="5162550" cy="910590"/>
            <a:chOff x="0" y="0"/>
            <a:chExt cx="6883400" cy="1214120"/>
          </a:xfrm>
        </p:grpSpPr>
        <p:sp>
          <p:nvSpPr>
            <p:cNvPr name="Freeform 22" id="22"/>
            <p:cNvSpPr/>
            <p:nvPr/>
          </p:nvSpPr>
          <p:spPr>
            <a:xfrm flipH="false" flipV="false" rot="0">
              <a:off x="0" y="0"/>
              <a:ext cx="6883400" cy="1214120"/>
            </a:xfrm>
            <a:custGeom>
              <a:avLst/>
              <a:gdLst/>
              <a:ahLst/>
              <a:cxnLst/>
              <a:rect r="r" b="b" t="t" l="l"/>
              <a:pathLst>
                <a:path h="1214120" w="6883400">
                  <a:moveTo>
                    <a:pt x="0" y="168148"/>
                  </a:moveTo>
                  <a:cubicBezTo>
                    <a:pt x="0" y="75311"/>
                    <a:pt x="75311" y="0"/>
                    <a:pt x="168148" y="0"/>
                  </a:cubicBezTo>
                  <a:lnTo>
                    <a:pt x="6715252" y="0"/>
                  </a:lnTo>
                  <a:cubicBezTo>
                    <a:pt x="6808089" y="0"/>
                    <a:pt x="6883400" y="75311"/>
                    <a:pt x="6883400" y="168148"/>
                  </a:cubicBezTo>
                  <a:lnTo>
                    <a:pt x="6883400" y="1045972"/>
                  </a:lnTo>
                  <a:cubicBezTo>
                    <a:pt x="6883400" y="1138809"/>
                    <a:pt x="6808089" y="1214120"/>
                    <a:pt x="6715252" y="1214120"/>
                  </a:cubicBezTo>
                  <a:lnTo>
                    <a:pt x="168148" y="1214120"/>
                  </a:lnTo>
                  <a:cubicBezTo>
                    <a:pt x="75311" y="1214120"/>
                    <a:pt x="0" y="1138809"/>
                    <a:pt x="0" y="1045972"/>
                  </a:cubicBezTo>
                  <a:close/>
                </a:path>
              </a:pathLst>
            </a:custGeom>
            <a:solidFill>
              <a:srgbClr val="F4F7FC"/>
            </a:solidFill>
            <a:ln w="19050" cap="sq">
              <a:solidFill>
                <a:srgbClr val="D7DCEC"/>
              </a:solidFill>
              <a:prstDash val="solid"/>
              <a:miter/>
            </a:ln>
          </p:spPr>
        </p:sp>
      </p:grpSp>
      <p:grpSp>
        <p:nvGrpSpPr>
          <p:cNvPr name="Group 23" id="23"/>
          <p:cNvGrpSpPr/>
          <p:nvPr/>
        </p:nvGrpSpPr>
        <p:grpSpPr>
          <a:xfrm rot="0">
            <a:off x="6542532" y="5417820"/>
            <a:ext cx="5143500" cy="891540"/>
            <a:chOff x="0" y="0"/>
            <a:chExt cx="6858000" cy="1188720"/>
          </a:xfrm>
        </p:grpSpPr>
        <p:sp>
          <p:nvSpPr>
            <p:cNvPr name="Freeform 24" id="24"/>
            <p:cNvSpPr/>
            <p:nvPr/>
          </p:nvSpPr>
          <p:spPr>
            <a:xfrm flipH="false" flipV="false" rot="0">
              <a:off x="0" y="0"/>
              <a:ext cx="6858000" cy="1188720"/>
            </a:xfrm>
            <a:custGeom>
              <a:avLst/>
              <a:gdLst/>
              <a:ahLst/>
              <a:cxnLst/>
              <a:rect r="r" b="b" t="t" l="l"/>
              <a:pathLst>
                <a:path h="1188720" w="6858000">
                  <a:moveTo>
                    <a:pt x="0" y="0"/>
                  </a:moveTo>
                  <a:lnTo>
                    <a:pt x="6858000" y="0"/>
                  </a:lnTo>
                  <a:lnTo>
                    <a:pt x="6858000" y="1188720"/>
                  </a:lnTo>
                  <a:lnTo>
                    <a:pt x="0" y="1188720"/>
                  </a:lnTo>
                  <a:close/>
                </a:path>
              </a:pathLst>
            </a:custGeom>
            <a:blipFill>
              <a:blip r:embed="rId3">
                <a:alphaModFix amt="0"/>
              </a:blip>
              <a:stretch>
                <a:fillRect l="0" t="-62413" r="0" b="-62413"/>
              </a:stretch>
            </a:blipFill>
          </p:spPr>
        </p:sp>
        <p:sp>
          <p:nvSpPr>
            <p:cNvPr name="TextBox 25" id="25"/>
            <p:cNvSpPr txBox="true"/>
            <p:nvPr/>
          </p:nvSpPr>
          <p:spPr>
            <a:xfrm>
              <a:off x="0" y="-47625"/>
              <a:ext cx="6858000" cy="1236345"/>
            </a:xfrm>
            <a:prstGeom prst="rect">
              <a:avLst/>
            </a:prstGeom>
          </p:spPr>
          <p:txBody>
            <a:bodyPr anchor="ctr" rtlCol="false" tIns="0" lIns="0" bIns="0" rIns="0"/>
            <a:lstStyle/>
            <a:p>
              <a:pPr algn="ctr">
                <a:lnSpc>
                  <a:spcPts val="2520"/>
                </a:lnSpc>
              </a:pPr>
              <a:r>
                <a:rPr lang="en-US" sz="2100">
                  <a:solidFill>
                    <a:srgbClr val="6B7280"/>
                  </a:solidFill>
                  <a:latin typeface="Calibri (MS)"/>
                  <a:ea typeface="Calibri (MS)"/>
                  <a:cs typeface="Calibri (MS)"/>
                  <a:sym typeface="Calibri (MS)"/>
                </a:rPr>
                <a:t>Integrity</a:t>
              </a:r>
            </a:p>
          </p:txBody>
        </p:sp>
      </p:grpSp>
      <p:grpSp>
        <p:nvGrpSpPr>
          <p:cNvPr name="Group 26" id="26"/>
          <p:cNvGrpSpPr/>
          <p:nvPr/>
        </p:nvGrpSpPr>
        <p:grpSpPr>
          <a:xfrm rot="0">
            <a:off x="12115419" y="5408295"/>
            <a:ext cx="5162550" cy="910590"/>
            <a:chOff x="0" y="0"/>
            <a:chExt cx="6883400" cy="1214120"/>
          </a:xfrm>
        </p:grpSpPr>
        <p:sp>
          <p:nvSpPr>
            <p:cNvPr name="Freeform 27" id="27"/>
            <p:cNvSpPr/>
            <p:nvPr/>
          </p:nvSpPr>
          <p:spPr>
            <a:xfrm flipH="false" flipV="false" rot="0">
              <a:off x="0" y="0"/>
              <a:ext cx="6883400" cy="1214120"/>
            </a:xfrm>
            <a:custGeom>
              <a:avLst/>
              <a:gdLst/>
              <a:ahLst/>
              <a:cxnLst/>
              <a:rect r="r" b="b" t="t" l="l"/>
              <a:pathLst>
                <a:path h="1214120" w="6883400">
                  <a:moveTo>
                    <a:pt x="0" y="168148"/>
                  </a:moveTo>
                  <a:cubicBezTo>
                    <a:pt x="0" y="75311"/>
                    <a:pt x="75311" y="0"/>
                    <a:pt x="168148" y="0"/>
                  </a:cubicBezTo>
                  <a:lnTo>
                    <a:pt x="6715252" y="0"/>
                  </a:lnTo>
                  <a:cubicBezTo>
                    <a:pt x="6808089" y="0"/>
                    <a:pt x="6883400" y="75311"/>
                    <a:pt x="6883400" y="168148"/>
                  </a:cubicBezTo>
                  <a:lnTo>
                    <a:pt x="6883400" y="1045972"/>
                  </a:lnTo>
                  <a:cubicBezTo>
                    <a:pt x="6883400" y="1138809"/>
                    <a:pt x="6808089" y="1214120"/>
                    <a:pt x="6715252" y="1214120"/>
                  </a:cubicBezTo>
                  <a:lnTo>
                    <a:pt x="168148" y="1214120"/>
                  </a:lnTo>
                  <a:cubicBezTo>
                    <a:pt x="75311" y="1214120"/>
                    <a:pt x="0" y="1138809"/>
                    <a:pt x="0" y="1045972"/>
                  </a:cubicBezTo>
                  <a:close/>
                </a:path>
              </a:pathLst>
            </a:custGeom>
            <a:solidFill>
              <a:srgbClr val="F4F7FC"/>
            </a:solidFill>
            <a:ln w="19050" cap="sq">
              <a:solidFill>
                <a:srgbClr val="D7DCEC"/>
              </a:solidFill>
              <a:prstDash val="solid"/>
              <a:miter/>
            </a:ln>
          </p:spPr>
        </p:sp>
      </p:grpSp>
      <p:grpSp>
        <p:nvGrpSpPr>
          <p:cNvPr name="Group 28" id="28"/>
          <p:cNvGrpSpPr/>
          <p:nvPr/>
        </p:nvGrpSpPr>
        <p:grpSpPr>
          <a:xfrm rot="0">
            <a:off x="12124944" y="5417820"/>
            <a:ext cx="5143500" cy="891540"/>
            <a:chOff x="0" y="0"/>
            <a:chExt cx="6858000" cy="1188720"/>
          </a:xfrm>
        </p:grpSpPr>
        <p:sp>
          <p:nvSpPr>
            <p:cNvPr name="Freeform 29" id="29"/>
            <p:cNvSpPr/>
            <p:nvPr/>
          </p:nvSpPr>
          <p:spPr>
            <a:xfrm flipH="false" flipV="false" rot="0">
              <a:off x="0" y="0"/>
              <a:ext cx="6858000" cy="1188720"/>
            </a:xfrm>
            <a:custGeom>
              <a:avLst/>
              <a:gdLst/>
              <a:ahLst/>
              <a:cxnLst/>
              <a:rect r="r" b="b" t="t" l="l"/>
              <a:pathLst>
                <a:path h="1188720" w="6858000">
                  <a:moveTo>
                    <a:pt x="0" y="0"/>
                  </a:moveTo>
                  <a:lnTo>
                    <a:pt x="6858000" y="0"/>
                  </a:lnTo>
                  <a:lnTo>
                    <a:pt x="6858000" y="1188720"/>
                  </a:lnTo>
                  <a:lnTo>
                    <a:pt x="0" y="1188720"/>
                  </a:lnTo>
                  <a:close/>
                </a:path>
              </a:pathLst>
            </a:custGeom>
            <a:blipFill>
              <a:blip r:embed="rId3">
                <a:alphaModFix amt="0"/>
              </a:blip>
              <a:stretch>
                <a:fillRect l="0" t="-62413" r="0" b="-62413"/>
              </a:stretch>
            </a:blipFill>
          </p:spPr>
        </p:sp>
        <p:sp>
          <p:nvSpPr>
            <p:cNvPr name="TextBox 30" id="30"/>
            <p:cNvSpPr txBox="true"/>
            <p:nvPr/>
          </p:nvSpPr>
          <p:spPr>
            <a:xfrm>
              <a:off x="0" y="-47625"/>
              <a:ext cx="6858000" cy="1236345"/>
            </a:xfrm>
            <a:prstGeom prst="rect">
              <a:avLst/>
            </a:prstGeom>
          </p:spPr>
          <p:txBody>
            <a:bodyPr anchor="ctr" rtlCol="false" tIns="0" lIns="0" bIns="0" rIns="0"/>
            <a:lstStyle/>
            <a:p>
              <a:pPr algn="ctr">
                <a:lnSpc>
                  <a:spcPts val="2520"/>
                </a:lnSpc>
              </a:pPr>
              <a:r>
                <a:rPr lang="en-US" sz="2100">
                  <a:solidFill>
                    <a:srgbClr val="6B7280"/>
                  </a:solidFill>
                  <a:latin typeface="Calibri (MS)"/>
                  <a:ea typeface="Calibri (MS)"/>
                  <a:cs typeface="Calibri (MS)"/>
                  <a:sym typeface="Calibri (MS)"/>
                </a:rPr>
                <a:t>Availability</a:t>
              </a:r>
            </a:p>
          </p:txBody>
        </p:sp>
      </p:grpSp>
      <p:grpSp>
        <p:nvGrpSpPr>
          <p:cNvPr name="Group 31" id="31"/>
          <p:cNvGrpSpPr/>
          <p:nvPr/>
        </p:nvGrpSpPr>
        <p:grpSpPr>
          <a:xfrm rot="0">
            <a:off x="950595" y="6779895"/>
            <a:ext cx="16341090" cy="2145030"/>
            <a:chOff x="0" y="0"/>
            <a:chExt cx="21788120" cy="2860040"/>
          </a:xfrm>
        </p:grpSpPr>
        <p:sp>
          <p:nvSpPr>
            <p:cNvPr name="Freeform 32" id="32"/>
            <p:cNvSpPr/>
            <p:nvPr/>
          </p:nvSpPr>
          <p:spPr>
            <a:xfrm flipH="false" flipV="false" rot="0">
              <a:off x="0" y="0"/>
              <a:ext cx="21788120" cy="2860040"/>
            </a:xfrm>
            <a:custGeom>
              <a:avLst/>
              <a:gdLst/>
              <a:ahLst/>
              <a:cxnLst/>
              <a:rect r="r" b="b" t="t" l="l"/>
              <a:pathLst>
                <a:path h="2860040" w="21788120">
                  <a:moveTo>
                    <a:pt x="0" y="184531"/>
                  </a:moveTo>
                  <a:cubicBezTo>
                    <a:pt x="0" y="82677"/>
                    <a:pt x="82677" y="0"/>
                    <a:pt x="184531" y="0"/>
                  </a:cubicBezTo>
                  <a:lnTo>
                    <a:pt x="21603588" y="0"/>
                  </a:lnTo>
                  <a:cubicBezTo>
                    <a:pt x="21705443" y="0"/>
                    <a:pt x="21788120" y="82677"/>
                    <a:pt x="21788120" y="184531"/>
                  </a:cubicBezTo>
                  <a:lnTo>
                    <a:pt x="21788120" y="2675509"/>
                  </a:lnTo>
                  <a:cubicBezTo>
                    <a:pt x="21788120" y="2777363"/>
                    <a:pt x="21705443" y="2860040"/>
                    <a:pt x="21603588" y="2860040"/>
                  </a:cubicBezTo>
                  <a:lnTo>
                    <a:pt x="184531" y="2860040"/>
                  </a:lnTo>
                  <a:cubicBezTo>
                    <a:pt x="82677" y="2860040"/>
                    <a:pt x="0" y="2777363"/>
                    <a:pt x="0" y="2675509"/>
                  </a:cubicBezTo>
                  <a:close/>
                </a:path>
              </a:pathLst>
            </a:custGeom>
            <a:solidFill>
              <a:srgbClr val="FBF9F4"/>
            </a:solidFill>
            <a:ln w="19050" cap="sq">
              <a:solidFill>
                <a:srgbClr val="EFE6D2"/>
              </a:solidFill>
              <a:prstDash val="solid"/>
              <a:miter/>
            </a:ln>
          </p:spPr>
        </p:sp>
      </p:grpSp>
      <p:sp>
        <p:nvSpPr>
          <p:cNvPr name="TextBox 33" id="33"/>
          <p:cNvSpPr txBox="true"/>
          <p:nvPr/>
        </p:nvSpPr>
        <p:spPr>
          <a:xfrm rot="0">
            <a:off x="1463040" y="6977253"/>
            <a:ext cx="15316200" cy="1659255"/>
          </a:xfrm>
          <a:prstGeom prst="rect">
            <a:avLst/>
          </a:prstGeom>
        </p:spPr>
        <p:txBody>
          <a:bodyPr anchor="t" rtlCol="false" tIns="0" lIns="0" bIns="0" rIns="0">
            <a:spAutoFit/>
          </a:bodyPr>
          <a:lstStyle/>
          <a:p>
            <a:pPr algn="l">
              <a:lnSpc>
                <a:spcPts val="3159"/>
              </a:lnSpc>
            </a:pPr>
            <a:r>
              <a:rPr lang="en-US" sz="2025">
                <a:solidFill>
                  <a:srgbClr val="23262F"/>
                </a:solidFill>
                <a:latin typeface="Calibri (MS)"/>
                <a:ea typeface="Calibri (MS)"/>
                <a:cs typeface="Calibri (MS)"/>
                <a:sym typeface="Calibri (MS)"/>
              </a:rPr>
              <a:t>Right now, this is a Confidentiality risk — a secret that shouldn't be visible is visible. Depending on who reads it, it could later become the doorway to an Integrity or Availability incident too.</a:t>
            </a:r>
          </a:p>
        </p:txBody>
      </p:sp>
      <p:grpSp>
        <p:nvGrpSpPr>
          <p:cNvPr name="Group 34" id="34"/>
          <p:cNvGrpSpPr/>
          <p:nvPr/>
        </p:nvGrpSpPr>
        <p:grpSpPr>
          <a:xfrm rot="0">
            <a:off x="685800" y="9710928"/>
            <a:ext cx="10972800" cy="411480"/>
            <a:chOff x="0" y="0"/>
            <a:chExt cx="14630400" cy="548640"/>
          </a:xfrm>
        </p:grpSpPr>
        <p:sp>
          <p:nvSpPr>
            <p:cNvPr name="Freeform 35" id="35"/>
            <p:cNvSpPr/>
            <p:nvPr/>
          </p:nvSpPr>
          <p:spPr>
            <a:xfrm flipH="false" flipV="false" rot="0">
              <a:off x="0" y="0"/>
              <a:ext cx="14630400" cy="548640"/>
            </a:xfrm>
            <a:custGeom>
              <a:avLst/>
              <a:gdLst/>
              <a:ahLst/>
              <a:cxnLst/>
              <a:rect r="r" b="b" t="t" l="l"/>
              <a:pathLst>
                <a:path h="548640" w="14630400">
                  <a:moveTo>
                    <a:pt x="0" y="0"/>
                  </a:moveTo>
                  <a:lnTo>
                    <a:pt x="14630400" y="0"/>
                  </a:lnTo>
                  <a:lnTo>
                    <a:pt x="14630400" y="548640"/>
                  </a:lnTo>
                  <a:lnTo>
                    <a:pt x="0" y="548640"/>
                  </a:lnTo>
                  <a:close/>
                </a:path>
              </a:pathLst>
            </a:custGeom>
            <a:blipFill>
              <a:blip r:embed="rId3">
                <a:alphaModFix amt="0"/>
              </a:blip>
              <a:stretch>
                <a:fillRect l="0" t="-469601" r="0" b="-469601"/>
              </a:stretch>
            </a:blipFill>
          </p:spPr>
        </p:sp>
        <p:sp>
          <p:nvSpPr>
            <p:cNvPr name="TextBox 36" id="36"/>
            <p:cNvSpPr txBox="true"/>
            <p:nvPr/>
          </p:nvSpPr>
          <p:spPr>
            <a:xfrm>
              <a:off x="0" y="-38100"/>
              <a:ext cx="14630400" cy="586740"/>
            </a:xfrm>
            <a:prstGeom prst="rect">
              <a:avLst/>
            </a:prstGeom>
          </p:spPr>
          <p:txBody>
            <a:bodyPr anchor="ctr" rtlCol="false" tIns="0" lIns="0" bIns="0" rIns="0"/>
            <a:lstStyle/>
            <a:p>
              <a:pPr algn="l">
                <a:lnSpc>
                  <a:spcPts val="1800"/>
                </a:lnSpc>
              </a:pPr>
              <a:r>
                <a:rPr lang="en-US" sz="1500">
                  <a:solidFill>
                    <a:srgbClr val="6B7280"/>
                  </a:solidFill>
                  <a:latin typeface="Calibri (MS)"/>
                  <a:ea typeface="Calibri (MS)"/>
                  <a:cs typeface="Calibri (MS)"/>
                  <a:sym typeface="Calibri (MS)"/>
                </a:rPr>
                <a:t>Davao del Norte Provincial Government — Cybersecurity Seminar</a:t>
              </a:r>
            </a:p>
          </p:txBody>
        </p:sp>
      </p:grpSp>
      <p:grpSp>
        <p:nvGrpSpPr>
          <p:cNvPr name="Group 37" id="37"/>
          <p:cNvGrpSpPr/>
          <p:nvPr/>
        </p:nvGrpSpPr>
        <p:grpSpPr>
          <a:xfrm rot="0">
            <a:off x="16911828" y="9710928"/>
            <a:ext cx="685800" cy="411480"/>
            <a:chOff x="0" y="0"/>
            <a:chExt cx="914400" cy="548640"/>
          </a:xfrm>
        </p:grpSpPr>
        <p:sp>
          <p:nvSpPr>
            <p:cNvPr name="Freeform 38" id="38"/>
            <p:cNvSpPr/>
            <p:nvPr/>
          </p:nvSpPr>
          <p:spPr>
            <a:xfrm flipH="false" flipV="false" rot="0">
              <a:off x="0" y="0"/>
              <a:ext cx="914400" cy="548640"/>
            </a:xfrm>
            <a:custGeom>
              <a:avLst/>
              <a:gdLst/>
              <a:ahLst/>
              <a:cxnLst/>
              <a:rect r="r" b="b" t="t" l="l"/>
              <a:pathLst>
                <a:path h="548640" w="914400">
                  <a:moveTo>
                    <a:pt x="0" y="0"/>
                  </a:moveTo>
                  <a:lnTo>
                    <a:pt x="914400" y="0"/>
                  </a:lnTo>
                  <a:lnTo>
                    <a:pt x="914400" y="548640"/>
                  </a:lnTo>
                  <a:lnTo>
                    <a:pt x="0" y="548640"/>
                  </a:lnTo>
                  <a:close/>
                </a:path>
              </a:pathLst>
            </a:custGeom>
            <a:blipFill>
              <a:blip r:embed="rId3">
                <a:alphaModFix amt="0"/>
              </a:blip>
              <a:stretch>
                <a:fillRect l="-26982" t="0" r="-26982" b="0"/>
              </a:stretch>
            </a:blipFill>
          </p:spPr>
        </p:sp>
        <p:sp>
          <p:nvSpPr>
            <p:cNvPr name="TextBox 39" id="39"/>
            <p:cNvSpPr txBox="true"/>
            <p:nvPr/>
          </p:nvSpPr>
          <p:spPr>
            <a:xfrm>
              <a:off x="0" y="-38100"/>
              <a:ext cx="914400" cy="586740"/>
            </a:xfrm>
            <a:prstGeom prst="rect">
              <a:avLst/>
            </a:prstGeom>
          </p:spPr>
          <p:txBody>
            <a:bodyPr anchor="ctr" rtlCol="false" tIns="0" lIns="0" bIns="0" rIns="0"/>
            <a:lstStyle/>
            <a:p>
              <a:pPr algn="r">
                <a:lnSpc>
                  <a:spcPts val="1800"/>
                </a:lnSpc>
              </a:pPr>
              <a:r>
                <a:rPr lang="en-US" sz="1500">
                  <a:solidFill>
                    <a:srgbClr val="6B7280"/>
                  </a:solidFill>
                  <a:latin typeface="Calibri (MS)"/>
                  <a:ea typeface="Calibri (MS)"/>
                  <a:cs typeface="Calibri (MS)"/>
                  <a:sym typeface="Calibri (MS)"/>
                </a:rPr>
                <a:t>58</a:t>
              </a:r>
            </a:p>
          </p:txBody>
        </p:sp>
      </p:grpSp>
    </p:spTree>
  </p:cSld>
  <p:clrMapOvr>
    <a:masterClrMapping/>
  </p:clrMapOvr>
</p:sld>
</file>

<file path=ppt/slides/slide6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60120" y="685800"/>
            <a:ext cx="13716000" cy="411480"/>
            <a:chOff x="0" y="0"/>
            <a:chExt cx="18288000" cy="548640"/>
          </a:xfrm>
        </p:grpSpPr>
        <p:sp>
          <p:nvSpPr>
            <p:cNvPr name="Freeform 3" id="3"/>
            <p:cNvSpPr/>
            <p:nvPr/>
          </p:nvSpPr>
          <p:spPr>
            <a:xfrm flipH="false" flipV="false" rot="0">
              <a:off x="0" y="0"/>
              <a:ext cx="18288000" cy="548640"/>
            </a:xfrm>
            <a:custGeom>
              <a:avLst/>
              <a:gdLst/>
              <a:ahLst/>
              <a:cxnLst/>
              <a:rect r="r" b="b" t="t" l="l"/>
              <a:pathLst>
                <a:path h="548640" w="18288000">
                  <a:moveTo>
                    <a:pt x="0" y="0"/>
                  </a:moveTo>
                  <a:lnTo>
                    <a:pt x="18288000" y="0"/>
                  </a:lnTo>
                  <a:lnTo>
                    <a:pt x="18288000" y="548640"/>
                  </a:lnTo>
                  <a:lnTo>
                    <a:pt x="0" y="548640"/>
                  </a:lnTo>
                  <a:close/>
                </a:path>
              </a:pathLst>
            </a:custGeom>
            <a:blipFill>
              <a:blip r:embed="rId3">
                <a:alphaModFix amt="0"/>
              </a:blip>
              <a:stretch>
                <a:fillRect l="0" t="-599501" r="0" b="-599501"/>
              </a:stretch>
            </a:blipFill>
          </p:spPr>
        </p:sp>
        <p:sp>
          <p:nvSpPr>
            <p:cNvPr name="TextBox 4" id="4"/>
            <p:cNvSpPr txBox="true"/>
            <p:nvPr/>
          </p:nvSpPr>
          <p:spPr>
            <a:xfrm>
              <a:off x="0" y="-38100"/>
              <a:ext cx="18288000" cy="586740"/>
            </a:xfrm>
            <a:prstGeom prst="rect">
              <a:avLst/>
            </a:prstGeom>
          </p:spPr>
          <p:txBody>
            <a:bodyPr anchor="ctr" rtlCol="false" tIns="0" lIns="0" bIns="0" rIns="0"/>
            <a:lstStyle/>
            <a:p>
              <a:pPr algn="l">
                <a:lnSpc>
                  <a:spcPts val="2160"/>
                </a:lnSpc>
              </a:pPr>
              <a:r>
                <a:rPr lang="en-US" b="true" sz="1800" spc="225">
                  <a:solidFill>
                    <a:srgbClr val="00B4D8"/>
                  </a:solidFill>
                  <a:latin typeface="Calibri (MS) Bold"/>
                  <a:ea typeface="Calibri (MS) Bold"/>
                  <a:cs typeface="Calibri (MS) Bold"/>
                  <a:sym typeface="Calibri (MS) Bold"/>
                </a:rPr>
                <a:t>CIA TRIAD SORT · SCENARIO</a:t>
              </a:r>
            </a:p>
          </p:txBody>
        </p:sp>
      </p:grpSp>
      <p:grpSp>
        <p:nvGrpSpPr>
          <p:cNvPr name="Group 5" id="5"/>
          <p:cNvGrpSpPr/>
          <p:nvPr/>
        </p:nvGrpSpPr>
        <p:grpSpPr>
          <a:xfrm rot="0">
            <a:off x="960120" y="1069848"/>
            <a:ext cx="10972800" cy="822960"/>
            <a:chOff x="0" y="0"/>
            <a:chExt cx="14630400" cy="1097280"/>
          </a:xfrm>
        </p:grpSpPr>
        <p:sp>
          <p:nvSpPr>
            <p:cNvPr name="Freeform 6" id="6"/>
            <p:cNvSpPr/>
            <p:nvPr/>
          </p:nvSpPr>
          <p:spPr>
            <a:xfrm flipH="false" flipV="false" rot="0">
              <a:off x="0" y="0"/>
              <a:ext cx="14630400" cy="1097280"/>
            </a:xfrm>
            <a:custGeom>
              <a:avLst/>
              <a:gdLst/>
              <a:ahLst/>
              <a:cxnLst/>
              <a:rect r="r" b="b" t="t" l="l"/>
              <a:pathLst>
                <a:path h="1097280" w="14630400">
                  <a:moveTo>
                    <a:pt x="0" y="0"/>
                  </a:moveTo>
                  <a:lnTo>
                    <a:pt x="14630400" y="0"/>
                  </a:lnTo>
                  <a:lnTo>
                    <a:pt x="14630400" y="1097280"/>
                  </a:lnTo>
                  <a:lnTo>
                    <a:pt x="0" y="1097280"/>
                  </a:lnTo>
                  <a:close/>
                </a:path>
              </a:pathLst>
            </a:custGeom>
            <a:blipFill>
              <a:blip r:embed="rId3">
                <a:alphaModFix amt="0"/>
              </a:blip>
              <a:stretch>
                <a:fillRect l="0" t="-209800" r="0" b="-209800"/>
              </a:stretch>
            </a:blipFill>
          </p:spPr>
        </p:sp>
        <p:sp>
          <p:nvSpPr>
            <p:cNvPr name="TextBox 7" id="7"/>
            <p:cNvSpPr txBox="true"/>
            <p:nvPr/>
          </p:nvSpPr>
          <p:spPr>
            <a:xfrm>
              <a:off x="0" y="0"/>
              <a:ext cx="14630400" cy="1097280"/>
            </a:xfrm>
            <a:prstGeom prst="rect">
              <a:avLst/>
            </a:prstGeom>
          </p:spPr>
          <p:txBody>
            <a:bodyPr anchor="ctr" rtlCol="false" tIns="0" lIns="0" bIns="0" rIns="0"/>
            <a:lstStyle/>
            <a:p>
              <a:pPr algn="l">
                <a:lnSpc>
                  <a:spcPts val="4680"/>
                </a:lnSpc>
              </a:pPr>
              <a:r>
                <a:rPr lang="en-US" sz="3900" b="true">
                  <a:solidFill>
                    <a:srgbClr val="1E2761"/>
                  </a:solidFill>
                  <a:latin typeface="Cambria Bold"/>
                  <a:ea typeface="Cambria Bold"/>
                  <a:cs typeface="Cambria Bold"/>
                  <a:sym typeface="Cambria Bold"/>
                </a:rPr>
                <a:t>Scenario 11</a:t>
              </a:r>
            </a:p>
          </p:txBody>
        </p:sp>
      </p:grpSp>
      <p:grpSp>
        <p:nvGrpSpPr>
          <p:cNvPr name="Group 8" id="8"/>
          <p:cNvGrpSpPr/>
          <p:nvPr/>
        </p:nvGrpSpPr>
        <p:grpSpPr>
          <a:xfrm rot="0">
            <a:off x="960120" y="1810512"/>
            <a:ext cx="8229600" cy="411480"/>
            <a:chOff x="0" y="0"/>
            <a:chExt cx="10972800" cy="548640"/>
          </a:xfrm>
        </p:grpSpPr>
        <p:sp>
          <p:nvSpPr>
            <p:cNvPr name="Freeform 9" id="9"/>
            <p:cNvSpPr/>
            <p:nvPr/>
          </p:nvSpPr>
          <p:spPr>
            <a:xfrm flipH="false" flipV="false" rot="0">
              <a:off x="0" y="0"/>
              <a:ext cx="10972800" cy="548640"/>
            </a:xfrm>
            <a:custGeom>
              <a:avLst/>
              <a:gdLst/>
              <a:ahLst/>
              <a:cxnLst/>
              <a:rect r="r" b="b" t="t" l="l"/>
              <a:pathLst>
                <a:path h="548640" w="10972800">
                  <a:moveTo>
                    <a:pt x="0" y="0"/>
                  </a:moveTo>
                  <a:lnTo>
                    <a:pt x="10972800" y="0"/>
                  </a:lnTo>
                  <a:lnTo>
                    <a:pt x="10972800" y="548640"/>
                  </a:lnTo>
                  <a:lnTo>
                    <a:pt x="0" y="548640"/>
                  </a:lnTo>
                  <a:close/>
                </a:path>
              </a:pathLst>
            </a:custGeom>
            <a:blipFill>
              <a:blip r:embed="rId3">
                <a:alphaModFix amt="0"/>
              </a:blip>
              <a:stretch>
                <a:fillRect l="0" t="-339700" r="0" b="-339700"/>
              </a:stretch>
            </a:blipFill>
          </p:spPr>
        </p:sp>
        <p:sp>
          <p:nvSpPr>
            <p:cNvPr name="TextBox 10" id="10"/>
            <p:cNvSpPr txBox="true"/>
            <p:nvPr/>
          </p:nvSpPr>
          <p:spPr>
            <a:xfrm>
              <a:off x="0" y="-28575"/>
              <a:ext cx="10972800" cy="577215"/>
            </a:xfrm>
            <a:prstGeom prst="rect">
              <a:avLst/>
            </a:prstGeom>
          </p:spPr>
          <p:txBody>
            <a:bodyPr anchor="ctr" rtlCol="false" tIns="0" lIns="0" bIns="0" rIns="0"/>
            <a:lstStyle/>
            <a:p>
              <a:pPr algn="l">
                <a:lnSpc>
                  <a:spcPts val="1980"/>
                </a:lnSpc>
              </a:pPr>
              <a:r>
                <a:rPr lang="en-US" sz="1650">
                  <a:solidFill>
                    <a:srgbClr val="6B7280"/>
                  </a:solidFill>
                  <a:latin typeface="Calibri (MS)"/>
                  <a:ea typeface="Calibri (MS)"/>
                  <a:cs typeface="Calibri (MS)"/>
                  <a:sym typeface="Calibri (MS)"/>
                </a:rPr>
                <a:t>11 of 12</a:t>
              </a:r>
            </a:p>
          </p:txBody>
        </p:sp>
      </p:grpSp>
      <p:grpSp>
        <p:nvGrpSpPr>
          <p:cNvPr name="Group 11" id="11"/>
          <p:cNvGrpSpPr/>
          <p:nvPr/>
        </p:nvGrpSpPr>
        <p:grpSpPr>
          <a:xfrm rot="0">
            <a:off x="960120" y="2537460"/>
            <a:ext cx="16322040" cy="2811780"/>
            <a:chOff x="0" y="0"/>
            <a:chExt cx="21762720" cy="3749040"/>
          </a:xfrm>
        </p:grpSpPr>
        <p:sp>
          <p:nvSpPr>
            <p:cNvPr name="Freeform 12" id="12"/>
            <p:cNvSpPr/>
            <p:nvPr/>
          </p:nvSpPr>
          <p:spPr>
            <a:xfrm flipH="false" flipV="false" rot="0">
              <a:off x="0" y="0"/>
              <a:ext cx="21762720" cy="3749040"/>
            </a:xfrm>
            <a:custGeom>
              <a:avLst/>
              <a:gdLst/>
              <a:ahLst/>
              <a:cxnLst/>
              <a:rect r="r" b="b" t="t" l="l"/>
              <a:pathLst>
                <a:path h="3749040" w="21762720">
                  <a:moveTo>
                    <a:pt x="0" y="182880"/>
                  </a:moveTo>
                  <a:cubicBezTo>
                    <a:pt x="0" y="81915"/>
                    <a:pt x="81915" y="0"/>
                    <a:pt x="182880" y="0"/>
                  </a:cubicBezTo>
                  <a:lnTo>
                    <a:pt x="21579839" y="0"/>
                  </a:lnTo>
                  <a:cubicBezTo>
                    <a:pt x="21680804" y="0"/>
                    <a:pt x="21762720" y="81915"/>
                    <a:pt x="21762720" y="182880"/>
                  </a:cubicBezTo>
                  <a:lnTo>
                    <a:pt x="21762720" y="3566160"/>
                  </a:lnTo>
                  <a:cubicBezTo>
                    <a:pt x="21762720" y="3667125"/>
                    <a:pt x="21680804" y="3749040"/>
                    <a:pt x="21579839" y="3749040"/>
                  </a:cubicBezTo>
                  <a:lnTo>
                    <a:pt x="182880" y="3749040"/>
                  </a:lnTo>
                  <a:cubicBezTo>
                    <a:pt x="81915" y="3749040"/>
                    <a:pt x="0" y="3667125"/>
                    <a:pt x="0" y="3566160"/>
                  </a:cubicBezTo>
                  <a:close/>
                </a:path>
              </a:pathLst>
            </a:custGeom>
            <a:solidFill>
              <a:srgbClr val="F4F7FC"/>
            </a:solidFill>
          </p:spPr>
        </p:sp>
      </p:grpSp>
      <p:grpSp>
        <p:nvGrpSpPr>
          <p:cNvPr name="Group 13" id="13"/>
          <p:cNvGrpSpPr/>
          <p:nvPr/>
        </p:nvGrpSpPr>
        <p:grpSpPr>
          <a:xfrm rot="0">
            <a:off x="1440180" y="2811780"/>
            <a:ext cx="15361920" cy="2263140"/>
            <a:chOff x="0" y="0"/>
            <a:chExt cx="20482560" cy="3017520"/>
          </a:xfrm>
        </p:grpSpPr>
        <p:sp>
          <p:nvSpPr>
            <p:cNvPr name="Freeform 14" id="14"/>
            <p:cNvSpPr/>
            <p:nvPr/>
          </p:nvSpPr>
          <p:spPr>
            <a:xfrm flipH="false" flipV="false" rot="0">
              <a:off x="0" y="0"/>
              <a:ext cx="20482561" cy="3017520"/>
            </a:xfrm>
            <a:custGeom>
              <a:avLst/>
              <a:gdLst/>
              <a:ahLst/>
              <a:cxnLst/>
              <a:rect r="r" b="b" t="t" l="l"/>
              <a:pathLst>
                <a:path h="3017520" w="20482561">
                  <a:moveTo>
                    <a:pt x="0" y="0"/>
                  </a:moveTo>
                  <a:lnTo>
                    <a:pt x="20482561" y="0"/>
                  </a:lnTo>
                  <a:lnTo>
                    <a:pt x="20482561" y="3017520"/>
                  </a:lnTo>
                  <a:lnTo>
                    <a:pt x="0" y="3017520"/>
                  </a:lnTo>
                  <a:close/>
                </a:path>
              </a:pathLst>
            </a:custGeom>
            <a:blipFill>
              <a:blip r:embed="rId3">
                <a:alphaModFix amt="0"/>
              </a:blip>
              <a:stretch>
                <a:fillRect l="0" t="-82262" r="0" b="-82262"/>
              </a:stretch>
            </a:blipFill>
          </p:spPr>
        </p:sp>
        <p:sp>
          <p:nvSpPr>
            <p:cNvPr name="TextBox 15" id="15"/>
            <p:cNvSpPr txBox="true"/>
            <p:nvPr/>
          </p:nvSpPr>
          <p:spPr>
            <a:xfrm>
              <a:off x="0" y="-104775"/>
              <a:ext cx="20482560" cy="3122295"/>
            </a:xfrm>
            <a:prstGeom prst="rect">
              <a:avLst/>
            </a:prstGeom>
          </p:spPr>
          <p:txBody>
            <a:bodyPr anchor="ctr" rtlCol="false" tIns="0" lIns="0" bIns="0" rIns="0"/>
            <a:lstStyle/>
            <a:p>
              <a:pPr algn="l">
                <a:lnSpc>
                  <a:spcPts val="4147"/>
                </a:lnSpc>
              </a:pPr>
              <a:r>
                <a:rPr lang="en-US" sz="2700" i="true">
                  <a:solidFill>
                    <a:srgbClr val="23262F"/>
                  </a:solidFill>
                  <a:latin typeface="Cambria Italics"/>
                  <a:ea typeface="Cambria Italics"/>
                  <a:cs typeface="Cambria Italics"/>
                  <a:sym typeface="Cambria Italics"/>
                </a:rPr>
                <a:t>“A typhoon knocks out power, and the backup generator fails, taking the LGU's central server offline for a full day.”</a:t>
              </a:r>
            </a:p>
          </p:txBody>
        </p:sp>
      </p:grpSp>
      <p:sp>
        <p:nvSpPr>
          <p:cNvPr name="TextBox 16" id="16"/>
          <p:cNvSpPr txBox="true"/>
          <p:nvPr/>
        </p:nvSpPr>
        <p:spPr>
          <a:xfrm rot="0">
            <a:off x="1051560" y="5604510"/>
            <a:ext cx="16139160" cy="1276350"/>
          </a:xfrm>
          <a:prstGeom prst="rect">
            <a:avLst/>
          </a:prstGeom>
        </p:spPr>
        <p:txBody>
          <a:bodyPr anchor="t" rtlCol="false" tIns="0" lIns="0" bIns="0" rIns="0">
            <a:spAutoFit/>
          </a:bodyPr>
          <a:lstStyle/>
          <a:p>
            <a:pPr algn="ctr">
              <a:lnSpc>
                <a:spcPts val="3402"/>
              </a:lnSpc>
            </a:pPr>
            <a:r>
              <a:rPr lang="en-US" sz="2100" i="true">
                <a:solidFill>
                  <a:srgbClr val="6B7280"/>
                </a:solidFill>
                <a:latin typeface="Calibri (MS) Italics"/>
                <a:ea typeface="Calibri (MS) Italics"/>
                <a:cs typeface="Calibri (MS) Italics"/>
                <a:sym typeface="Calibri (MS) Italics"/>
              </a:rPr>
              <a:t>Which does this break — Confidentiality, Integrity, or Availability?</a:t>
            </a:r>
          </a:p>
          <a:p>
            <a:pPr algn="ctr">
              <a:lnSpc>
                <a:spcPts val="3402"/>
              </a:lnSpc>
            </a:pPr>
            <a:r>
              <a:rPr lang="en-US" sz="2100" i="true">
                <a:solidFill>
                  <a:srgbClr val="6B7280"/>
                </a:solidFill>
                <a:latin typeface="Calibri (MS) Italics"/>
                <a:ea typeface="Calibri (MS) Italics"/>
                <a:cs typeface="Calibri (MS) Italics"/>
                <a:sym typeface="Calibri (MS) Italics"/>
              </a:rPr>
              <a:t>Some break more than one. Discuss, then we'll reveal the answer.</a:t>
            </a:r>
          </a:p>
        </p:txBody>
      </p:sp>
      <p:grpSp>
        <p:nvGrpSpPr>
          <p:cNvPr name="Group 17" id="17"/>
          <p:cNvGrpSpPr/>
          <p:nvPr/>
        </p:nvGrpSpPr>
        <p:grpSpPr>
          <a:xfrm rot="0">
            <a:off x="950595" y="7191375"/>
            <a:ext cx="5162550" cy="910590"/>
            <a:chOff x="0" y="0"/>
            <a:chExt cx="6883400" cy="1214120"/>
          </a:xfrm>
        </p:grpSpPr>
        <p:sp>
          <p:nvSpPr>
            <p:cNvPr name="Freeform 18" id="18"/>
            <p:cNvSpPr/>
            <p:nvPr/>
          </p:nvSpPr>
          <p:spPr>
            <a:xfrm flipH="false" flipV="false" rot="0">
              <a:off x="0" y="0"/>
              <a:ext cx="6883400" cy="1214120"/>
            </a:xfrm>
            <a:custGeom>
              <a:avLst/>
              <a:gdLst/>
              <a:ahLst/>
              <a:cxnLst/>
              <a:rect r="r" b="b" t="t" l="l"/>
              <a:pathLst>
                <a:path h="1214120" w="6883400">
                  <a:moveTo>
                    <a:pt x="0" y="168148"/>
                  </a:moveTo>
                  <a:cubicBezTo>
                    <a:pt x="0" y="75311"/>
                    <a:pt x="75311" y="0"/>
                    <a:pt x="168148" y="0"/>
                  </a:cubicBezTo>
                  <a:lnTo>
                    <a:pt x="6715252" y="0"/>
                  </a:lnTo>
                  <a:cubicBezTo>
                    <a:pt x="6808089" y="0"/>
                    <a:pt x="6883400" y="75311"/>
                    <a:pt x="6883400" y="168148"/>
                  </a:cubicBezTo>
                  <a:lnTo>
                    <a:pt x="6883400" y="1045972"/>
                  </a:lnTo>
                  <a:cubicBezTo>
                    <a:pt x="6883400" y="1138809"/>
                    <a:pt x="6808089" y="1214120"/>
                    <a:pt x="6715252" y="1214120"/>
                  </a:cubicBezTo>
                  <a:lnTo>
                    <a:pt x="168148" y="1214120"/>
                  </a:lnTo>
                  <a:cubicBezTo>
                    <a:pt x="75311" y="1214120"/>
                    <a:pt x="0" y="1138809"/>
                    <a:pt x="0" y="1045972"/>
                  </a:cubicBezTo>
                  <a:close/>
                </a:path>
              </a:pathLst>
            </a:custGeom>
            <a:solidFill>
              <a:srgbClr val="F4F7FC"/>
            </a:solidFill>
            <a:ln w="19050" cap="sq">
              <a:solidFill>
                <a:srgbClr val="D7DCEC"/>
              </a:solidFill>
              <a:prstDash val="solid"/>
              <a:miter/>
            </a:ln>
          </p:spPr>
        </p:sp>
      </p:grpSp>
      <p:grpSp>
        <p:nvGrpSpPr>
          <p:cNvPr name="Group 19" id="19"/>
          <p:cNvGrpSpPr/>
          <p:nvPr/>
        </p:nvGrpSpPr>
        <p:grpSpPr>
          <a:xfrm rot="0">
            <a:off x="960120" y="7200900"/>
            <a:ext cx="5143500" cy="891540"/>
            <a:chOff x="0" y="0"/>
            <a:chExt cx="6858000" cy="1188720"/>
          </a:xfrm>
        </p:grpSpPr>
        <p:sp>
          <p:nvSpPr>
            <p:cNvPr name="Freeform 20" id="20"/>
            <p:cNvSpPr/>
            <p:nvPr/>
          </p:nvSpPr>
          <p:spPr>
            <a:xfrm flipH="false" flipV="false" rot="0">
              <a:off x="0" y="0"/>
              <a:ext cx="6858000" cy="1188720"/>
            </a:xfrm>
            <a:custGeom>
              <a:avLst/>
              <a:gdLst/>
              <a:ahLst/>
              <a:cxnLst/>
              <a:rect r="r" b="b" t="t" l="l"/>
              <a:pathLst>
                <a:path h="1188720" w="6858000">
                  <a:moveTo>
                    <a:pt x="0" y="0"/>
                  </a:moveTo>
                  <a:lnTo>
                    <a:pt x="6858000" y="0"/>
                  </a:lnTo>
                  <a:lnTo>
                    <a:pt x="6858000" y="1188720"/>
                  </a:lnTo>
                  <a:lnTo>
                    <a:pt x="0" y="1188720"/>
                  </a:lnTo>
                  <a:close/>
                </a:path>
              </a:pathLst>
            </a:custGeom>
            <a:blipFill>
              <a:blip r:embed="rId3">
                <a:alphaModFix amt="0"/>
              </a:blip>
              <a:stretch>
                <a:fillRect l="0" t="-62413" r="0" b="-62413"/>
              </a:stretch>
            </a:blipFill>
          </p:spPr>
        </p:sp>
        <p:sp>
          <p:nvSpPr>
            <p:cNvPr name="TextBox 21" id="21"/>
            <p:cNvSpPr txBox="true"/>
            <p:nvPr/>
          </p:nvSpPr>
          <p:spPr>
            <a:xfrm>
              <a:off x="0" y="-47625"/>
              <a:ext cx="6858000" cy="1236345"/>
            </a:xfrm>
            <a:prstGeom prst="rect">
              <a:avLst/>
            </a:prstGeom>
          </p:spPr>
          <p:txBody>
            <a:bodyPr anchor="ctr" rtlCol="false" tIns="0" lIns="0" bIns="0" rIns="0"/>
            <a:lstStyle/>
            <a:p>
              <a:pPr algn="ctr">
                <a:lnSpc>
                  <a:spcPts val="2520"/>
                </a:lnSpc>
              </a:pPr>
              <a:r>
                <a:rPr lang="en-US" sz="2100">
                  <a:solidFill>
                    <a:srgbClr val="6B7280"/>
                  </a:solidFill>
                  <a:latin typeface="Calibri (MS)"/>
                  <a:ea typeface="Calibri (MS)"/>
                  <a:cs typeface="Calibri (MS)"/>
                  <a:sym typeface="Calibri (MS)"/>
                </a:rPr>
                <a:t>Confidentiality</a:t>
              </a:r>
            </a:p>
          </p:txBody>
        </p:sp>
      </p:grpSp>
      <p:grpSp>
        <p:nvGrpSpPr>
          <p:cNvPr name="Group 22" id="22"/>
          <p:cNvGrpSpPr/>
          <p:nvPr/>
        </p:nvGrpSpPr>
        <p:grpSpPr>
          <a:xfrm rot="0">
            <a:off x="6533007" y="7191375"/>
            <a:ext cx="5162550" cy="910590"/>
            <a:chOff x="0" y="0"/>
            <a:chExt cx="6883400" cy="1214120"/>
          </a:xfrm>
        </p:grpSpPr>
        <p:sp>
          <p:nvSpPr>
            <p:cNvPr name="Freeform 23" id="23"/>
            <p:cNvSpPr/>
            <p:nvPr/>
          </p:nvSpPr>
          <p:spPr>
            <a:xfrm flipH="false" flipV="false" rot="0">
              <a:off x="0" y="0"/>
              <a:ext cx="6883400" cy="1214120"/>
            </a:xfrm>
            <a:custGeom>
              <a:avLst/>
              <a:gdLst/>
              <a:ahLst/>
              <a:cxnLst/>
              <a:rect r="r" b="b" t="t" l="l"/>
              <a:pathLst>
                <a:path h="1214120" w="6883400">
                  <a:moveTo>
                    <a:pt x="0" y="168148"/>
                  </a:moveTo>
                  <a:cubicBezTo>
                    <a:pt x="0" y="75311"/>
                    <a:pt x="75311" y="0"/>
                    <a:pt x="168148" y="0"/>
                  </a:cubicBezTo>
                  <a:lnTo>
                    <a:pt x="6715252" y="0"/>
                  </a:lnTo>
                  <a:cubicBezTo>
                    <a:pt x="6808089" y="0"/>
                    <a:pt x="6883400" y="75311"/>
                    <a:pt x="6883400" y="168148"/>
                  </a:cubicBezTo>
                  <a:lnTo>
                    <a:pt x="6883400" y="1045972"/>
                  </a:lnTo>
                  <a:cubicBezTo>
                    <a:pt x="6883400" y="1138809"/>
                    <a:pt x="6808089" y="1214120"/>
                    <a:pt x="6715252" y="1214120"/>
                  </a:cubicBezTo>
                  <a:lnTo>
                    <a:pt x="168148" y="1214120"/>
                  </a:lnTo>
                  <a:cubicBezTo>
                    <a:pt x="75311" y="1214120"/>
                    <a:pt x="0" y="1138809"/>
                    <a:pt x="0" y="1045972"/>
                  </a:cubicBezTo>
                  <a:close/>
                </a:path>
              </a:pathLst>
            </a:custGeom>
            <a:solidFill>
              <a:srgbClr val="F4F7FC"/>
            </a:solidFill>
            <a:ln w="19050" cap="sq">
              <a:solidFill>
                <a:srgbClr val="D7DCEC"/>
              </a:solidFill>
              <a:prstDash val="solid"/>
              <a:miter/>
            </a:ln>
          </p:spPr>
        </p:sp>
      </p:grpSp>
      <p:grpSp>
        <p:nvGrpSpPr>
          <p:cNvPr name="Group 24" id="24"/>
          <p:cNvGrpSpPr/>
          <p:nvPr/>
        </p:nvGrpSpPr>
        <p:grpSpPr>
          <a:xfrm rot="0">
            <a:off x="6542532" y="7200900"/>
            <a:ext cx="5143500" cy="891540"/>
            <a:chOff x="0" y="0"/>
            <a:chExt cx="6858000" cy="1188720"/>
          </a:xfrm>
        </p:grpSpPr>
        <p:sp>
          <p:nvSpPr>
            <p:cNvPr name="Freeform 25" id="25"/>
            <p:cNvSpPr/>
            <p:nvPr/>
          </p:nvSpPr>
          <p:spPr>
            <a:xfrm flipH="false" flipV="false" rot="0">
              <a:off x="0" y="0"/>
              <a:ext cx="6858000" cy="1188720"/>
            </a:xfrm>
            <a:custGeom>
              <a:avLst/>
              <a:gdLst/>
              <a:ahLst/>
              <a:cxnLst/>
              <a:rect r="r" b="b" t="t" l="l"/>
              <a:pathLst>
                <a:path h="1188720" w="6858000">
                  <a:moveTo>
                    <a:pt x="0" y="0"/>
                  </a:moveTo>
                  <a:lnTo>
                    <a:pt x="6858000" y="0"/>
                  </a:lnTo>
                  <a:lnTo>
                    <a:pt x="6858000" y="1188720"/>
                  </a:lnTo>
                  <a:lnTo>
                    <a:pt x="0" y="1188720"/>
                  </a:lnTo>
                  <a:close/>
                </a:path>
              </a:pathLst>
            </a:custGeom>
            <a:blipFill>
              <a:blip r:embed="rId3">
                <a:alphaModFix amt="0"/>
              </a:blip>
              <a:stretch>
                <a:fillRect l="0" t="-62413" r="0" b="-62413"/>
              </a:stretch>
            </a:blipFill>
          </p:spPr>
        </p:sp>
        <p:sp>
          <p:nvSpPr>
            <p:cNvPr name="TextBox 26" id="26"/>
            <p:cNvSpPr txBox="true"/>
            <p:nvPr/>
          </p:nvSpPr>
          <p:spPr>
            <a:xfrm>
              <a:off x="0" y="-47625"/>
              <a:ext cx="6858000" cy="1236345"/>
            </a:xfrm>
            <a:prstGeom prst="rect">
              <a:avLst/>
            </a:prstGeom>
          </p:spPr>
          <p:txBody>
            <a:bodyPr anchor="ctr" rtlCol="false" tIns="0" lIns="0" bIns="0" rIns="0"/>
            <a:lstStyle/>
            <a:p>
              <a:pPr algn="ctr">
                <a:lnSpc>
                  <a:spcPts val="2520"/>
                </a:lnSpc>
              </a:pPr>
              <a:r>
                <a:rPr lang="en-US" sz="2100">
                  <a:solidFill>
                    <a:srgbClr val="6B7280"/>
                  </a:solidFill>
                  <a:latin typeface="Calibri (MS)"/>
                  <a:ea typeface="Calibri (MS)"/>
                  <a:cs typeface="Calibri (MS)"/>
                  <a:sym typeface="Calibri (MS)"/>
                </a:rPr>
                <a:t>Integrity</a:t>
              </a:r>
            </a:p>
          </p:txBody>
        </p:sp>
      </p:grpSp>
      <p:grpSp>
        <p:nvGrpSpPr>
          <p:cNvPr name="Group 27" id="27"/>
          <p:cNvGrpSpPr/>
          <p:nvPr/>
        </p:nvGrpSpPr>
        <p:grpSpPr>
          <a:xfrm rot="0">
            <a:off x="12115419" y="7191375"/>
            <a:ext cx="5162550" cy="910590"/>
            <a:chOff x="0" y="0"/>
            <a:chExt cx="6883400" cy="1214120"/>
          </a:xfrm>
        </p:grpSpPr>
        <p:sp>
          <p:nvSpPr>
            <p:cNvPr name="Freeform 28" id="28"/>
            <p:cNvSpPr/>
            <p:nvPr/>
          </p:nvSpPr>
          <p:spPr>
            <a:xfrm flipH="false" flipV="false" rot="0">
              <a:off x="0" y="0"/>
              <a:ext cx="6883400" cy="1214120"/>
            </a:xfrm>
            <a:custGeom>
              <a:avLst/>
              <a:gdLst/>
              <a:ahLst/>
              <a:cxnLst/>
              <a:rect r="r" b="b" t="t" l="l"/>
              <a:pathLst>
                <a:path h="1214120" w="6883400">
                  <a:moveTo>
                    <a:pt x="0" y="168148"/>
                  </a:moveTo>
                  <a:cubicBezTo>
                    <a:pt x="0" y="75311"/>
                    <a:pt x="75311" y="0"/>
                    <a:pt x="168148" y="0"/>
                  </a:cubicBezTo>
                  <a:lnTo>
                    <a:pt x="6715252" y="0"/>
                  </a:lnTo>
                  <a:cubicBezTo>
                    <a:pt x="6808089" y="0"/>
                    <a:pt x="6883400" y="75311"/>
                    <a:pt x="6883400" y="168148"/>
                  </a:cubicBezTo>
                  <a:lnTo>
                    <a:pt x="6883400" y="1045972"/>
                  </a:lnTo>
                  <a:cubicBezTo>
                    <a:pt x="6883400" y="1138809"/>
                    <a:pt x="6808089" y="1214120"/>
                    <a:pt x="6715252" y="1214120"/>
                  </a:cubicBezTo>
                  <a:lnTo>
                    <a:pt x="168148" y="1214120"/>
                  </a:lnTo>
                  <a:cubicBezTo>
                    <a:pt x="75311" y="1214120"/>
                    <a:pt x="0" y="1138809"/>
                    <a:pt x="0" y="1045972"/>
                  </a:cubicBezTo>
                  <a:close/>
                </a:path>
              </a:pathLst>
            </a:custGeom>
            <a:solidFill>
              <a:srgbClr val="F4F7FC"/>
            </a:solidFill>
            <a:ln w="19050" cap="sq">
              <a:solidFill>
                <a:srgbClr val="D7DCEC"/>
              </a:solidFill>
              <a:prstDash val="solid"/>
              <a:miter/>
            </a:ln>
          </p:spPr>
        </p:sp>
      </p:grpSp>
      <p:grpSp>
        <p:nvGrpSpPr>
          <p:cNvPr name="Group 29" id="29"/>
          <p:cNvGrpSpPr/>
          <p:nvPr/>
        </p:nvGrpSpPr>
        <p:grpSpPr>
          <a:xfrm rot="0">
            <a:off x="12124944" y="7200900"/>
            <a:ext cx="5143500" cy="891540"/>
            <a:chOff x="0" y="0"/>
            <a:chExt cx="6858000" cy="1188720"/>
          </a:xfrm>
        </p:grpSpPr>
        <p:sp>
          <p:nvSpPr>
            <p:cNvPr name="Freeform 30" id="30"/>
            <p:cNvSpPr/>
            <p:nvPr/>
          </p:nvSpPr>
          <p:spPr>
            <a:xfrm flipH="false" flipV="false" rot="0">
              <a:off x="0" y="0"/>
              <a:ext cx="6858000" cy="1188720"/>
            </a:xfrm>
            <a:custGeom>
              <a:avLst/>
              <a:gdLst/>
              <a:ahLst/>
              <a:cxnLst/>
              <a:rect r="r" b="b" t="t" l="l"/>
              <a:pathLst>
                <a:path h="1188720" w="6858000">
                  <a:moveTo>
                    <a:pt x="0" y="0"/>
                  </a:moveTo>
                  <a:lnTo>
                    <a:pt x="6858000" y="0"/>
                  </a:lnTo>
                  <a:lnTo>
                    <a:pt x="6858000" y="1188720"/>
                  </a:lnTo>
                  <a:lnTo>
                    <a:pt x="0" y="1188720"/>
                  </a:lnTo>
                  <a:close/>
                </a:path>
              </a:pathLst>
            </a:custGeom>
            <a:blipFill>
              <a:blip r:embed="rId3">
                <a:alphaModFix amt="0"/>
              </a:blip>
              <a:stretch>
                <a:fillRect l="0" t="-62413" r="0" b="-62413"/>
              </a:stretch>
            </a:blipFill>
          </p:spPr>
        </p:sp>
        <p:sp>
          <p:nvSpPr>
            <p:cNvPr name="TextBox 31" id="31"/>
            <p:cNvSpPr txBox="true"/>
            <p:nvPr/>
          </p:nvSpPr>
          <p:spPr>
            <a:xfrm>
              <a:off x="0" y="-47625"/>
              <a:ext cx="6858000" cy="1236345"/>
            </a:xfrm>
            <a:prstGeom prst="rect">
              <a:avLst/>
            </a:prstGeom>
          </p:spPr>
          <p:txBody>
            <a:bodyPr anchor="ctr" rtlCol="false" tIns="0" lIns="0" bIns="0" rIns="0"/>
            <a:lstStyle/>
            <a:p>
              <a:pPr algn="ctr">
                <a:lnSpc>
                  <a:spcPts val="2520"/>
                </a:lnSpc>
              </a:pPr>
              <a:r>
                <a:rPr lang="en-US" sz="2100">
                  <a:solidFill>
                    <a:srgbClr val="6B7280"/>
                  </a:solidFill>
                  <a:latin typeface="Calibri (MS)"/>
                  <a:ea typeface="Calibri (MS)"/>
                  <a:cs typeface="Calibri (MS)"/>
                  <a:sym typeface="Calibri (MS)"/>
                </a:rPr>
                <a:t>Availability</a:t>
              </a:r>
            </a:p>
          </p:txBody>
        </p:sp>
      </p:grpSp>
      <p:grpSp>
        <p:nvGrpSpPr>
          <p:cNvPr name="Group 32" id="32"/>
          <p:cNvGrpSpPr/>
          <p:nvPr/>
        </p:nvGrpSpPr>
        <p:grpSpPr>
          <a:xfrm rot="0">
            <a:off x="685800" y="9710928"/>
            <a:ext cx="10972800" cy="411480"/>
            <a:chOff x="0" y="0"/>
            <a:chExt cx="14630400" cy="548640"/>
          </a:xfrm>
        </p:grpSpPr>
        <p:sp>
          <p:nvSpPr>
            <p:cNvPr name="Freeform 33" id="33"/>
            <p:cNvSpPr/>
            <p:nvPr/>
          </p:nvSpPr>
          <p:spPr>
            <a:xfrm flipH="false" flipV="false" rot="0">
              <a:off x="0" y="0"/>
              <a:ext cx="14630400" cy="548640"/>
            </a:xfrm>
            <a:custGeom>
              <a:avLst/>
              <a:gdLst/>
              <a:ahLst/>
              <a:cxnLst/>
              <a:rect r="r" b="b" t="t" l="l"/>
              <a:pathLst>
                <a:path h="548640" w="14630400">
                  <a:moveTo>
                    <a:pt x="0" y="0"/>
                  </a:moveTo>
                  <a:lnTo>
                    <a:pt x="14630400" y="0"/>
                  </a:lnTo>
                  <a:lnTo>
                    <a:pt x="14630400" y="548640"/>
                  </a:lnTo>
                  <a:lnTo>
                    <a:pt x="0" y="548640"/>
                  </a:lnTo>
                  <a:close/>
                </a:path>
              </a:pathLst>
            </a:custGeom>
            <a:blipFill>
              <a:blip r:embed="rId3">
                <a:alphaModFix amt="0"/>
              </a:blip>
              <a:stretch>
                <a:fillRect l="0" t="-469601" r="0" b="-469601"/>
              </a:stretch>
            </a:blipFill>
          </p:spPr>
        </p:sp>
        <p:sp>
          <p:nvSpPr>
            <p:cNvPr name="TextBox 34" id="34"/>
            <p:cNvSpPr txBox="true"/>
            <p:nvPr/>
          </p:nvSpPr>
          <p:spPr>
            <a:xfrm>
              <a:off x="0" y="-38100"/>
              <a:ext cx="14630400" cy="586740"/>
            </a:xfrm>
            <a:prstGeom prst="rect">
              <a:avLst/>
            </a:prstGeom>
          </p:spPr>
          <p:txBody>
            <a:bodyPr anchor="ctr" rtlCol="false" tIns="0" lIns="0" bIns="0" rIns="0"/>
            <a:lstStyle/>
            <a:p>
              <a:pPr algn="l">
                <a:lnSpc>
                  <a:spcPts val="1800"/>
                </a:lnSpc>
              </a:pPr>
              <a:r>
                <a:rPr lang="en-US" sz="1500">
                  <a:solidFill>
                    <a:srgbClr val="6B7280"/>
                  </a:solidFill>
                  <a:latin typeface="Calibri (MS)"/>
                  <a:ea typeface="Calibri (MS)"/>
                  <a:cs typeface="Calibri (MS)"/>
                  <a:sym typeface="Calibri (MS)"/>
                </a:rPr>
                <a:t>Davao del Norte Provincial Government — Cybersecurity Seminar</a:t>
              </a:r>
            </a:p>
          </p:txBody>
        </p:sp>
      </p:grpSp>
      <p:grpSp>
        <p:nvGrpSpPr>
          <p:cNvPr name="Group 35" id="35"/>
          <p:cNvGrpSpPr/>
          <p:nvPr/>
        </p:nvGrpSpPr>
        <p:grpSpPr>
          <a:xfrm rot="0">
            <a:off x="16911828" y="9710928"/>
            <a:ext cx="685800" cy="411480"/>
            <a:chOff x="0" y="0"/>
            <a:chExt cx="914400" cy="548640"/>
          </a:xfrm>
        </p:grpSpPr>
        <p:sp>
          <p:nvSpPr>
            <p:cNvPr name="Freeform 36" id="36"/>
            <p:cNvSpPr/>
            <p:nvPr/>
          </p:nvSpPr>
          <p:spPr>
            <a:xfrm flipH="false" flipV="false" rot="0">
              <a:off x="0" y="0"/>
              <a:ext cx="914400" cy="548640"/>
            </a:xfrm>
            <a:custGeom>
              <a:avLst/>
              <a:gdLst/>
              <a:ahLst/>
              <a:cxnLst/>
              <a:rect r="r" b="b" t="t" l="l"/>
              <a:pathLst>
                <a:path h="548640" w="914400">
                  <a:moveTo>
                    <a:pt x="0" y="0"/>
                  </a:moveTo>
                  <a:lnTo>
                    <a:pt x="914400" y="0"/>
                  </a:lnTo>
                  <a:lnTo>
                    <a:pt x="914400" y="548640"/>
                  </a:lnTo>
                  <a:lnTo>
                    <a:pt x="0" y="548640"/>
                  </a:lnTo>
                  <a:close/>
                </a:path>
              </a:pathLst>
            </a:custGeom>
            <a:blipFill>
              <a:blip r:embed="rId3">
                <a:alphaModFix amt="0"/>
              </a:blip>
              <a:stretch>
                <a:fillRect l="-26982" t="0" r="-26982" b="0"/>
              </a:stretch>
            </a:blipFill>
          </p:spPr>
        </p:sp>
        <p:sp>
          <p:nvSpPr>
            <p:cNvPr name="TextBox 37" id="37"/>
            <p:cNvSpPr txBox="true"/>
            <p:nvPr/>
          </p:nvSpPr>
          <p:spPr>
            <a:xfrm>
              <a:off x="0" y="-38100"/>
              <a:ext cx="914400" cy="586740"/>
            </a:xfrm>
            <a:prstGeom prst="rect">
              <a:avLst/>
            </a:prstGeom>
          </p:spPr>
          <p:txBody>
            <a:bodyPr anchor="ctr" rtlCol="false" tIns="0" lIns="0" bIns="0" rIns="0"/>
            <a:lstStyle/>
            <a:p>
              <a:pPr algn="r">
                <a:lnSpc>
                  <a:spcPts val="1800"/>
                </a:lnSpc>
              </a:pPr>
              <a:r>
                <a:rPr lang="en-US" sz="1500">
                  <a:solidFill>
                    <a:srgbClr val="6B7280"/>
                  </a:solidFill>
                  <a:latin typeface="Calibri (MS)"/>
                  <a:ea typeface="Calibri (MS)"/>
                  <a:cs typeface="Calibri (MS)"/>
                  <a:sym typeface="Calibri (MS)"/>
                </a:rPr>
                <a:t>59</a:t>
              </a:r>
            </a:p>
          </p:txBody>
        </p:sp>
      </p:grpSp>
    </p:spTree>
  </p:cSld>
  <p:clrMapOvr>
    <a:masterClrMapping/>
  </p:clrMapOvr>
</p:sld>
</file>

<file path=ppt/slides/slide6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60120" y="685800"/>
            <a:ext cx="13716000" cy="411480"/>
            <a:chOff x="0" y="0"/>
            <a:chExt cx="18288000" cy="548640"/>
          </a:xfrm>
        </p:grpSpPr>
        <p:sp>
          <p:nvSpPr>
            <p:cNvPr name="Freeform 3" id="3"/>
            <p:cNvSpPr/>
            <p:nvPr/>
          </p:nvSpPr>
          <p:spPr>
            <a:xfrm flipH="false" flipV="false" rot="0">
              <a:off x="0" y="0"/>
              <a:ext cx="18288000" cy="548640"/>
            </a:xfrm>
            <a:custGeom>
              <a:avLst/>
              <a:gdLst/>
              <a:ahLst/>
              <a:cxnLst/>
              <a:rect r="r" b="b" t="t" l="l"/>
              <a:pathLst>
                <a:path h="548640" w="18288000">
                  <a:moveTo>
                    <a:pt x="0" y="0"/>
                  </a:moveTo>
                  <a:lnTo>
                    <a:pt x="18288000" y="0"/>
                  </a:lnTo>
                  <a:lnTo>
                    <a:pt x="18288000" y="548640"/>
                  </a:lnTo>
                  <a:lnTo>
                    <a:pt x="0" y="548640"/>
                  </a:lnTo>
                  <a:close/>
                </a:path>
              </a:pathLst>
            </a:custGeom>
            <a:blipFill>
              <a:blip r:embed="rId3">
                <a:alphaModFix amt="0"/>
              </a:blip>
              <a:stretch>
                <a:fillRect l="0" t="-599501" r="0" b="-599501"/>
              </a:stretch>
            </a:blipFill>
          </p:spPr>
        </p:sp>
        <p:sp>
          <p:nvSpPr>
            <p:cNvPr name="TextBox 4" id="4"/>
            <p:cNvSpPr txBox="true"/>
            <p:nvPr/>
          </p:nvSpPr>
          <p:spPr>
            <a:xfrm>
              <a:off x="0" y="-38100"/>
              <a:ext cx="18288000" cy="586740"/>
            </a:xfrm>
            <a:prstGeom prst="rect">
              <a:avLst/>
            </a:prstGeom>
          </p:spPr>
          <p:txBody>
            <a:bodyPr anchor="ctr" rtlCol="false" tIns="0" lIns="0" bIns="0" rIns="0"/>
            <a:lstStyle/>
            <a:p>
              <a:pPr algn="l">
                <a:lnSpc>
                  <a:spcPts val="2160"/>
                </a:lnSpc>
              </a:pPr>
              <a:r>
                <a:rPr lang="en-US" b="true" sz="1800" spc="225">
                  <a:solidFill>
                    <a:srgbClr val="00B4D8"/>
                  </a:solidFill>
                  <a:latin typeface="Calibri (MS) Bold"/>
                  <a:ea typeface="Calibri (MS) Bold"/>
                  <a:cs typeface="Calibri (MS) Bold"/>
                  <a:sym typeface="Calibri (MS) Bold"/>
                </a:rPr>
                <a:t>CIA TRIAD SORT · ANSWER</a:t>
              </a:r>
            </a:p>
          </p:txBody>
        </p:sp>
      </p:grpSp>
      <p:grpSp>
        <p:nvGrpSpPr>
          <p:cNvPr name="Group 5" id="5"/>
          <p:cNvGrpSpPr/>
          <p:nvPr/>
        </p:nvGrpSpPr>
        <p:grpSpPr>
          <a:xfrm rot="0">
            <a:off x="960120" y="1069848"/>
            <a:ext cx="10972800" cy="822960"/>
            <a:chOff x="0" y="0"/>
            <a:chExt cx="14630400" cy="1097280"/>
          </a:xfrm>
        </p:grpSpPr>
        <p:sp>
          <p:nvSpPr>
            <p:cNvPr name="Freeform 6" id="6"/>
            <p:cNvSpPr/>
            <p:nvPr/>
          </p:nvSpPr>
          <p:spPr>
            <a:xfrm flipH="false" flipV="false" rot="0">
              <a:off x="0" y="0"/>
              <a:ext cx="14630400" cy="1097280"/>
            </a:xfrm>
            <a:custGeom>
              <a:avLst/>
              <a:gdLst/>
              <a:ahLst/>
              <a:cxnLst/>
              <a:rect r="r" b="b" t="t" l="l"/>
              <a:pathLst>
                <a:path h="1097280" w="14630400">
                  <a:moveTo>
                    <a:pt x="0" y="0"/>
                  </a:moveTo>
                  <a:lnTo>
                    <a:pt x="14630400" y="0"/>
                  </a:lnTo>
                  <a:lnTo>
                    <a:pt x="14630400" y="1097280"/>
                  </a:lnTo>
                  <a:lnTo>
                    <a:pt x="0" y="1097280"/>
                  </a:lnTo>
                  <a:close/>
                </a:path>
              </a:pathLst>
            </a:custGeom>
            <a:blipFill>
              <a:blip r:embed="rId3">
                <a:alphaModFix amt="0"/>
              </a:blip>
              <a:stretch>
                <a:fillRect l="0" t="-209800" r="0" b="-209800"/>
              </a:stretch>
            </a:blipFill>
          </p:spPr>
        </p:sp>
        <p:sp>
          <p:nvSpPr>
            <p:cNvPr name="TextBox 7" id="7"/>
            <p:cNvSpPr txBox="true"/>
            <p:nvPr/>
          </p:nvSpPr>
          <p:spPr>
            <a:xfrm>
              <a:off x="0" y="0"/>
              <a:ext cx="14630400" cy="1097280"/>
            </a:xfrm>
            <a:prstGeom prst="rect">
              <a:avLst/>
            </a:prstGeom>
          </p:spPr>
          <p:txBody>
            <a:bodyPr anchor="ctr" rtlCol="false" tIns="0" lIns="0" bIns="0" rIns="0"/>
            <a:lstStyle/>
            <a:p>
              <a:pPr algn="l">
                <a:lnSpc>
                  <a:spcPts val="4680"/>
                </a:lnSpc>
              </a:pPr>
              <a:r>
                <a:rPr lang="en-US" sz="3900" b="true">
                  <a:solidFill>
                    <a:srgbClr val="1E2761"/>
                  </a:solidFill>
                  <a:latin typeface="Cambria Bold"/>
                  <a:ea typeface="Cambria Bold"/>
                  <a:cs typeface="Cambria Bold"/>
                  <a:sym typeface="Cambria Bold"/>
                </a:rPr>
                <a:t>Scenario 11 — Answer</a:t>
              </a:r>
            </a:p>
          </p:txBody>
        </p:sp>
      </p:grpSp>
      <p:grpSp>
        <p:nvGrpSpPr>
          <p:cNvPr name="Group 8" id="8"/>
          <p:cNvGrpSpPr/>
          <p:nvPr/>
        </p:nvGrpSpPr>
        <p:grpSpPr>
          <a:xfrm rot="0">
            <a:off x="960120" y="1810512"/>
            <a:ext cx="8229600" cy="411480"/>
            <a:chOff x="0" y="0"/>
            <a:chExt cx="10972800" cy="548640"/>
          </a:xfrm>
        </p:grpSpPr>
        <p:sp>
          <p:nvSpPr>
            <p:cNvPr name="Freeform 9" id="9"/>
            <p:cNvSpPr/>
            <p:nvPr/>
          </p:nvSpPr>
          <p:spPr>
            <a:xfrm flipH="false" flipV="false" rot="0">
              <a:off x="0" y="0"/>
              <a:ext cx="10972800" cy="548640"/>
            </a:xfrm>
            <a:custGeom>
              <a:avLst/>
              <a:gdLst/>
              <a:ahLst/>
              <a:cxnLst/>
              <a:rect r="r" b="b" t="t" l="l"/>
              <a:pathLst>
                <a:path h="548640" w="10972800">
                  <a:moveTo>
                    <a:pt x="0" y="0"/>
                  </a:moveTo>
                  <a:lnTo>
                    <a:pt x="10972800" y="0"/>
                  </a:lnTo>
                  <a:lnTo>
                    <a:pt x="10972800" y="548640"/>
                  </a:lnTo>
                  <a:lnTo>
                    <a:pt x="0" y="548640"/>
                  </a:lnTo>
                  <a:close/>
                </a:path>
              </a:pathLst>
            </a:custGeom>
            <a:blipFill>
              <a:blip r:embed="rId3">
                <a:alphaModFix amt="0"/>
              </a:blip>
              <a:stretch>
                <a:fillRect l="0" t="-339700" r="0" b="-339700"/>
              </a:stretch>
            </a:blipFill>
          </p:spPr>
        </p:sp>
        <p:sp>
          <p:nvSpPr>
            <p:cNvPr name="TextBox 10" id="10"/>
            <p:cNvSpPr txBox="true"/>
            <p:nvPr/>
          </p:nvSpPr>
          <p:spPr>
            <a:xfrm>
              <a:off x="0" y="-28575"/>
              <a:ext cx="10972800" cy="577215"/>
            </a:xfrm>
            <a:prstGeom prst="rect">
              <a:avLst/>
            </a:prstGeom>
          </p:spPr>
          <p:txBody>
            <a:bodyPr anchor="ctr" rtlCol="false" tIns="0" lIns="0" bIns="0" rIns="0"/>
            <a:lstStyle/>
            <a:p>
              <a:pPr algn="l">
                <a:lnSpc>
                  <a:spcPts val="1980"/>
                </a:lnSpc>
              </a:pPr>
              <a:r>
                <a:rPr lang="en-US" sz="1650">
                  <a:solidFill>
                    <a:srgbClr val="6B7280"/>
                  </a:solidFill>
                  <a:latin typeface="Calibri (MS)"/>
                  <a:ea typeface="Calibri (MS)"/>
                  <a:cs typeface="Calibri (MS)"/>
                  <a:sym typeface="Calibri (MS)"/>
                </a:rPr>
                <a:t>11 of 12</a:t>
              </a:r>
            </a:p>
          </p:txBody>
        </p:sp>
      </p:grpSp>
      <p:grpSp>
        <p:nvGrpSpPr>
          <p:cNvPr name="Group 11" id="11"/>
          <p:cNvGrpSpPr/>
          <p:nvPr/>
        </p:nvGrpSpPr>
        <p:grpSpPr>
          <a:xfrm rot="0">
            <a:off x="960120" y="2537460"/>
            <a:ext cx="16322040" cy="2400300"/>
            <a:chOff x="0" y="0"/>
            <a:chExt cx="21762720" cy="3200400"/>
          </a:xfrm>
        </p:grpSpPr>
        <p:sp>
          <p:nvSpPr>
            <p:cNvPr name="Freeform 12" id="12"/>
            <p:cNvSpPr/>
            <p:nvPr/>
          </p:nvSpPr>
          <p:spPr>
            <a:xfrm flipH="false" flipV="false" rot="0">
              <a:off x="0" y="0"/>
              <a:ext cx="21762720" cy="3200400"/>
            </a:xfrm>
            <a:custGeom>
              <a:avLst/>
              <a:gdLst/>
              <a:ahLst/>
              <a:cxnLst/>
              <a:rect r="r" b="b" t="t" l="l"/>
              <a:pathLst>
                <a:path h="3200400" w="21762720">
                  <a:moveTo>
                    <a:pt x="0" y="182880"/>
                  </a:moveTo>
                  <a:cubicBezTo>
                    <a:pt x="0" y="81915"/>
                    <a:pt x="81915" y="0"/>
                    <a:pt x="182880" y="0"/>
                  </a:cubicBezTo>
                  <a:lnTo>
                    <a:pt x="21579839" y="0"/>
                  </a:lnTo>
                  <a:cubicBezTo>
                    <a:pt x="21680804" y="0"/>
                    <a:pt x="21762720" y="81915"/>
                    <a:pt x="21762720" y="182880"/>
                  </a:cubicBezTo>
                  <a:lnTo>
                    <a:pt x="21762720" y="3017520"/>
                  </a:lnTo>
                  <a:cubicBezTo>
                    <a:pt x="21762720" y="3118485"/>
                    <a:pt x="21680804" y="3200400"/>
                    <a:pt x="21579839" y="3200400"/>
                  </a:cubicBezTo>
                  <a:lnTo>
                    <a:pt x="182880" y="3200400"/>
                  </a:lnTo>
                  <a:cubicBezTo>
                    <a:pt x="81915" y="3200400"/>
                    <a:pt x="0" y="3118485"/>
                    <a:pt x="0" y="3017520"/>
                  </a:cubicBezTo>
                  <a:close/>
                </a:path>
              </a:pathLst>
            </a:custGeom>
            <a:solidFill>
              <a:srgbClr val="F4F7FC"/>
            </a:solidFill>
          </p:spPr>
        </p:sp>
      </p:grpSp>
      <p:grpSp>
        <p:nvGrpSpPr>
          <p:cNvPr name="Group 13" id="13"/>
          <p:cNvGrpSpPr/>
          <p:nvPr/>
        </p:nvGrpSpPr>
        <p:grpSpPr>
          <a:xfrm rot="0">
            <a:off x="1440180" y="2811780"/>
            <a:ext cx="15361920" cy="1851660"/>
            <a:chOff x="0" y="0"/>
            <a:chExt cx="20482560" cy="2468880"/>
          </a:xfrm>
        </p:grpSpPr>
        <p:sp>
          <p:nvSpPr>
            <p:cNvPr name="Freeform 14" id="14"/>
            <p:cNvSpPr/>
            <p:nvPr/>
          </p:nvSpPr>
          <p:spPr>
            <a:xfrm flipH="false" flipV="false" rot="0">
              <a:off x="0" y="0"/>
              <a:ext cx="20482561" cy="2468880"/>
            </a:xfrm>
            <a:custGeom>
              <a:avLst/>
              <a:gdLst/>
              <a:ahLst/>
              <a:cxnLst/>
              <a:rect r="r" b="b" t="t" l="l"/>
              <a:pathLst>
                <a:path h="2468880" w="20482561">
                  <a:moveTo>
                    <a:pt x="0" y="0"/>
                  </a:moveTo>
                  <a:lnTo>
                    <a:pt x="20482561" y="0"/>
                  </a:lnTo>
                  <a:lnTo>
                    <a:pt x="20482561" y="2468880"/>
                  </a:lnTo>
                  <a:lnTo>
                    <a:pt x="0" y="2468880"/>
                  </a:lnTo>
                  <a:close/>
                </a:path>
              </a:pathLst>
            </a:custGeom>
            <a:blipFill>
              <a:blip r:embed="rId3">
                <a:alphaModFix amt="0"/>
              </a:blip>
              <a:stretch>
                <a:fillRect l="0" t="-111653" r="0" b="-111653"/>
              </a:stretch>
            </a:blipFill>
          </p:spPr>
        </p:sp>
        <p:sp>
          <p:nvSpPr>
            <p:cNvPr name="TextBox 15" id="15"/>
            <p:cNvSpPr txBox="true"/>
            <p:nvPr/>
          </p:nvSpPr>
          <p:spPr>
            <a:xfrm>
              <a:off x="0" y="-95250"/>
              <a:ext cx="20482560" cy="2564130"/>
            </a:xfrm>
            <a:prstGeom prst="rect">
              <a:avLst/>
            </a:prstGeom>
          </p:spPr>
          <p:txBody>
            <a:bodyPr anchor="ctr" rtlCol="false" tIns="0" lIns="0" bIns="0" rIns="0"/>
            <a:lstStyle/>
            <a:p>
              <a:pPr algn="l">
                <a:lnSpc>
                  <a:spcPts val="3916"/>
                </a:lnSpc>
              </a:pPr>
              <a:r>
                <a:rPr lang="en-US" sz="2550" i="true">
                  <a:solidFill>
                    <a:srgbClr val="23262F"/>
                  </a:solidFill>
                  <a:latin typeface="Cambria Italics"/>
                  <a:ea typeface="Cambria Italics"/>
                  <a:cs typeface="Cambria Italics"/>
                  <a:sym typeface="Cambria Italics"/>
                </a:rPr>
                <a:t>“A typhoon knocks out power, and the backup generator fails, taking the LGU's central server offline for a full day.”</a:t>
              </a:r>
            </a:p>
          </p:txBody>
        </p:sp>
      </p:grpSp>
      <p:grpSp>
        <p:nvGrpSpPr>
          <p:cNvPr name="Group 16" id="16"/>
          <p:cNvGrpSpPr/>
          <p:nvPr/>
        </p:nvGrpSpPr>
        <p:grpSpPr>
          <a:xfrm rot="0">
            <a:off x="950595" y="5408295"/>
            <a:ext cx="5162550" cy="910590"/>
            <a:chOff x="0" y="0"/>
            <a:chExt cx="6883400" cy="1214120"/>
          </a:xfrm>
        </p:grpSpPr>
        <p:sp>
          <p:nvSpPr>
            <p:cNvPr name="Freeform 17" id="17"/>
            <p:cNvSpPr/>
            <p:nvPr/>
          </p:nvSpPr>
          <p:spPr>
            <a:xfrm flipH="false" flipV="false" rot="0">
              <a:off x="0" y="0"/>
              <a:ext cx="6883400" cy="1214120"/>
            </a:xfrm>
            <a:custGeom>
              <a:avLst/>
              <a:gdLst/>
              <a:ahLst/>
              <a:cxnLst/>
              <a:rect r="r" b="b" t="t" l="l"/>
              <a:pathLst>
                <a:path h="1214120" w="6883400">
                  <a:moveTo>
                    <a:pt x="0" y="168148"/>
                  </a:moveTo>
                  <a:cubicBezTo>
                    <a:pt x="0" y="75311"/>
                    <a:pt x="75311" y="0"/>
                    <a:pt x="168148" y="0"/>
                  </a:cubicBezTo>
                  <a:lnTo>
                    <a:pt x="6715252" y="0"/>
                  </a:lnTo>
                  <a:cubicBezTo>
                    <a:pt x="6808089" y="0"/>
                    <a:pt x="6883400" y="75311"/>
                    <a:pt x="6883400" y="168148"/>
                  </a:cubicBezTo>
                  <a:lnTo>
                    <a:pt x="6883400" y="1045972"/>
                  </a:lnTo>
                  <a:cubicBezTo>
                    <a:pt x="6883400" y="1138809"/>
                    <a:pt x="6808089" y="1214120"/>
                    <a:pt x="6715252" y="1214120"/>
                  </a:cubicBezTo>
                  <a:lnTo>
                    <a:pt x="168148" y="1214120"/>
                  </a:lnTo>
                  <a:cubicBezTo>
                    <a:pt x="75311" y="1214120"/>
                    <a:pt x="0" y="1138809"/>
                    <a:pt x="0" y="1045972"/>
                  </a:cubicBezTo>
                  <a:close/>
                </a:path>
              </a:pathLst>
            </a:custGeom>
            <a:solidFill>
              <a:srgbClr val="F4F7FC"/>
            </a:solidFill>
            <a:ln w="19050" cap="sq">
              <a:solidFill>
                <a:srgbClr val="D7DCEC"/>
              </a:solidFill>
              <a:prstDash val="solid"/>
              <a:miter/>
            </a:ln>
          </p:spPr>
        </p:sp>
      </p:grpSp>
      <p:grpSp>
        <p:nvGrpSpPr>
          <p:cNvPr name="Group 18" id="18"/>
          <p:cNvGrpSpPr/>
          <p:nvPr/>
        </p:nvGrpSpPr>
        <p:grpSpPr>
          <a:xfrm rot="0">
            <a:off x="960120" y="5417820"/>
            <a:ext cx="5143500" cy="891540"/>
            <a:chOff x="0" y="0"/>
            <a:chExt cx="6858000" cy="1188720"/>
          </a:xfrm>
        </p:grpSpPr>
        <p:sp>
          <p:nvSpPr>
            <p:cNvPr name="Freeform 19" id="19"/>
            <p:cNvSpPr/>
            <p:nvPr/>
          </p:nvSpPr>
          <p:spPr>
            <a:xfrm flipH="false" flipV="false" rot="0">
              <a:off x="0" y="0"/>
              <a:ext cx="6858000" cy="1188720"/>
            </a:xfrm>
            <a:custGeom>
              <a:avLst/>
              <a:gdLst/>
              <a:ahLst/>
              <a:cxnLst/>
              <a:rect r="r" b="b" t="t" l="l"/>
              <a:pathLst>
                <a:path h="1188720" w="6858000">
                  <a:moveTo>
                    <a:pt x="0" y="0"/>
                  </a:moveTo>
                  <a:lnTo>
                    <a:pt x="6858000" y="0"/>
                  </a:lnTo>
                  <a:lnTo>
                    <a:pt x="6858000" y="1188720"/>
                  </a:lnTo>
                  <a:lnTo>
                    <a:pt x="0" y="1188720"/>
                  </a:lnTo>
                  <a:close/>
                </a:path>
              </a:pathLst>
            </a:custGeom>
            <a:blipFill>
              <a:blip r:embed="rId3">
                <a:alphaModFix amt="0"/>
              </a:blip>
              <a:stretch>
                <a:fillRect l="0" t="-62413" r="0" b="-62413"/>
              </a:stretch>
            </a:blipFill>
          </p:spPr>
        </p:sp>
        <p:sp>
          <p:nvSpPr>
            <p:cNvPr name="TextBox 20" id="20"/>
            <p:cNvSpPr txBox="true"/>
            <p:nvPr/>
          </p:nvSpPr>
          <p:spPr>
            <a:xfrm>
              <a:off x="0" y="-47625"/>
              <a:ext cx="6858000" cy="1236345"/>
            </a:xfrm>
            <a:prstGeom prst="rect">
              <a:avLst/>
            </a:prstGeom>
          </p:spPr>
          <p:txBody>
            <a:bodyPr anchor="ctr" rtlCol="false" tIns="0" lIns="0" bIns="0" rIns="0"/>
            <a:lstStyle/>
            <a:p>
              <a:pPr algn="ctr">
                <a:lnSpc>
                  <a:spcPts val="2520"/>
                </a:lnSpc>
              </a:pPr>
              <a:r>
                <a:rPr lang="en-US" sz="2100">
                  <a:solidFill>
                    <a:srgbClr val="6B7280"/>
                  </a:solidFill>
                  <a:latin typeface="Calibri (MS)"/>
                  <a:ea typeface="Calibri (MS)"/>
                  <a:cs typeface="Calibri (MS)"/>
                  <a:sym typeface="Calibri (MS)"/>
                </a:rPr>
                <a:t>Confidentiality</a:t>
              </a:r>
            </a:p>
          </p:txBody>
        </p:sp>
      </p:grpSp>
      <p:grpSp>
        <p:nvGrpSpPr>
          <p:cNvPr name="Group 21" id="21"/>
          <p:cNvGrpSpPr/>
          <p:nvPr/>
        </p:nvGrpSpPr>
        <p:grpSpPr>
          <a:xfrm rot="0">
            <a:off x="6533007" y="5408295"/>
            <a:ext cx="5162550" cy="910590"/>
            <a:chOff x="0" y="0"/>
            <a:chExt cx="6883400" cy="1214120"/>
          </a:xfrm>
        </p:grpSpPr>
        <p:sp>
          <p:nvSpPr>
            <p:cNvPr name="Freeform 22" id="22"/>
            <p:cNvSpPr/>
            <p:nvPr/>
          </p:nvSpPr>
          <p:spPr>
            <a:xfrm flipH="false" flipV="false" rot="0">
              <a:off x="0" y="0"/>
              <a:ext cx="6883400" cy="1214120"/>
            </a:xfrm>
            <a:custGeom>
              <a:avLst/>
              <a:gdLst/>
              <a:ahLst/>
              <a:cxnLst/>
              <a:rect r="r" b="b" t="t" l="l"/>
              <a:pathLst>
                <a:path h="1214120" w="6883400">
                  <a:moveTo>
                    <a:pt x="0" y="168148"/>
                  </a:moveTo>
                  <a:cubicBezTo>
                    <a:pt x="0" y="75311"/>
                    <a:pt x="75311" y="0"/>
                    <a:pt x="168148" y="0"/>
                  </a:cubicBezTo>
                  <a:lnTo>
                    <a:pt x="6715252" y="0"/>
                  </a:lnTo>
                  <a:cubicBezTo>
                    <a:pt x="6808089" y="0"/>
                    <a:pt x="6883400" y="75311"/>
                    <a:pt x="6883400" y="168148"/>
                  </a:cubicBezTo>
                  <a:lnTo>
                    <a:pt x="6883400" y="1045972"/>
                  </a:lnTo>
                  <a:cubicBezTo>
                    <a:pt x="6883400" y="1138809"/>
                    <a:pt x="6808089" y="1214120"/>
                    <a:pt x="6715252" y="1214120"/>
                  </a:cubicBezTo>
                  <a:lnTo>
                    <a:pt x="168148" y="1214120"/>
                  </a:lnTo>
                  <a:cubicBezTo>
                    <a:pt x="75311" y="1214120"/>
                    <a:pt x="0" y="1138809"/>
                    <a:pt x="0" y="1045972"/>
                  </a:cubicBezTo>
                  <a:close/>
                </a:path>
              </a:pathLst>
            </a:custGeom>
            <a:solidFill>
              <a:srgbClr val="F4F7FC"/>
            </a:solidFill>
            <a:ln w="19050" cap="sq">
              <a:solidFill>
                <a:srgbClr val="D7DCEC"/>
              </a:solidFill>
              <a:prstDash val="solid"/>
              <a:miter/>
            </a:ln>
          </p:spPr>
        </p:sp>
      </p:grpSp>
      <p:grpSp>
        <p:nvGrpSpPr>
          <p:cNvPr name="Group 23" id="23"/>
          <p:cNvGrpSpPr/>
          <p:nvPr/>
        </p:nvGrpSpPr>
        <p:grpSpPr>
          <a:xfrm rot="0">
            <a:off x="6542532" y="5417820"/>
            <a:ext cx="5143500" cy="891540"/>
            <a:chOff x="0" y="0"/>
            <a:chExt cx="6858000" cy="1188720"/>
          </a:xfrm>
        </p:grpSpPr>
        <p:sp>
          <p:nvSpPr>
            <p:cNvPr name="Freeform 24" id="24"/>
            <p:cNvSpPr/>
            <p:nvPr/>
          </p:nvSpPr>
          <p:spPr>
            <a:xfrm flipH="false" flipV="false" rot="0">
              <a:off x="0" y="0"/>
              <a:ext cx="6858000" cy="1188720"/>
            </a:xfrm>
            <a:custGeom>
              <a:avLst/>
              <a:gdLst/>
              <a:ahLst/>
              <a:cxnLst/>
              <a:rect r="r" b="b" t="t" l="l"/>
              <a:pathLst>
                <a:path h="1188720" w="6858000">
                  <a:moveTo>
                    <a:pt x="0" y="0"/>
                  </a:moveTo>
                  <a:lnTo>
                    <a:pt x="6858000" y="0"/>
                  </a:lnTo>
                  <a:lnTo>
                    <a:pt x="6858000" y="1188720"/>
                  </a:lnTo>
                  <a:lnTo>
                    <a:pt x="0" y="1188720"/>
                  </a:lnTo>
                  <a:close/>
                </a:path>
              </a:pathLst>
            </a:custGeom>
            <a:blipFill>
              <a:blip r:embed="rId3">
                <a:alphaModFix amt="0"/>
              </a:blip>
              <a:stretch>
                <a:fillRect l="0" t="-62413" r="0" b="-62413"/>
              </a:stretch>
            </a:blipFill>
          </p:spPr>
        </p:sp>
        <p:sp>
          <p:nvSpPr>
            <p:cNvPr name="TextBox 25" id="25"/>
            <p:cNvSpPr txBox="true"/>
            <p:nvPr/>
          </p:nvSpPr>
          <p:spPr>
            <a:xfrm>
              <a:off x="0" y="-47625"/>
              <a:ext cx="6858000" cy="1236345"/>
            </a:xfrm>
            <a:prstGeom prst="rect">
              <a:avLst/>
            </a:prstGeom>
          </p:spPr>
          <p:txBody>
            <a:bodyPr anchor="ctr" rtlCol="false" tIns="0" lIns="0" bIns="0" rIns="0"/>
            <a:lstStyle/>
            <a:p>
              <a:pPr algn="ctr">
                <a:lnSpc>
                  <a:spcPts val="2520"/>
                </a:lnSpc>
              </a:pPr>
              <a:r>
                <a:rPr lang="en-US" sz="2100">
                  <a:solidFill>
                    <a:srgbClr val="6B7280"/>
                  </a:solidFill>
                  <a:latin typeface="Calibri (MS)"/>
                  <a:ea typeface="Calibri (MS)"/>
                  <a:cs typeface="Calibri (MS)"/>
                  <a:sym typeface="Calibri (MS)"/>
                </a:rPr>
                <a:t>Integrity</a:t>
              </a:r>
            </a:p>
          </p:txBody>
        </p:sp>
      </p:grpSp>
      <p:grpSp>
        <p:nvGrpSpPr>
          <p:cNvPr name="Group 26" id="26"/>
          <p:cNvGrpSpPr/>
          <p:nvPr/>
        </p:nvGrpSpPr>
        <p:grpSpPr>
          <a:xfrm rot="0">
            <a:off x="12115419" y="5408295"/>
            <a:ext cx="5162550" cy="910590"/>
            <a:chOff x="0" y="0"/>
            <a:chExt cx="6883400" cy="1214120"/>
          </a:xfrm>
        </p:grpSpPr>
        <p:sp>
          <p:nvSpPr>
            <p:cNvPr name="Freeform 27" id="27"/>
            <p:cNvSpPr/>
            <p:nvPr/>
          </p:nvSpPr>
          <p:spPr>
            <a:xfrm flipH="false" flipV="false" rot="0">
              <a:off x="0" y="0"/>
              <a:ext cx="6883400" cy="1214120"/>
            </a:xfrm>
            <a:custGeom>
              <a:avLst/>
              <a:gdLst/>
              <a:ahLst/>
              <a:cxnLst/>
              <a:rect r="r" b="b" t="t" l="l"/>
              <a:pathLst>
                <a:path h="1214120" w="6883400">
                  <a:moveTo>
                    <a:pt x="0" y="168148"/>
                  </a:moveTo>
                  <a:cubicBezTo>
                    <a:pt x="0" y="75311"/>
                    <a:pt x="75311" y="0"/>
                    <a:pt x="168148" y="0"/>
                  </a:cubicBezTo>
                  <a:lnTo>
                    <a:pt x="6715252" y="0"/>
                  </a:lnTo>
                  <a:cubicBezTo>
                    <a:pt x="6808089" y="0"/>
                    <a:pt x="6883400" y="75311"/>
                    <a:pt x="6883400" y="168148"/>
                  </a:cubicBezTo>
                  <a:lnTo>
                    <a:pt x="6883400" y="1045972"/>
                  </a:lnTo>
                  <a:cubicBezTo>
                    <a:pt x="6883400" y="1138809"/>
                    <a:pt x="6808089" y="1214120"/>
                    <a:pt x="6715252" y="1214120"/>
                  </a:cubicBezTo>
                  <a:lnTo>
                    <a:pt x="168148" y="1214120"/>
                  </a:lnTo>
                  <a:cubicBezTo>
                    <a:pt x="75311" y="1214120"/>
                    <a:pt x="0" y="1138809"/>
                    <a:pt x="0" y="1045972"/>
                  </a:cubicBezTo>
                  <a:close/>
                </a:path>
              </a:pathLst>
            </a:custGeom>
            <a:solidFill>
              <a:srgbClr val="B8690F"/>
            </a:solidFill>
            <a:ln w="19050" cap="sq">
              <a:solidFill>
                <a:srgbClr val="B8690F"/>
              </a:solidFill>
              <a:prstDash val="solid"/>
              <a:miter/>
            </a:ln>
          </p:spPr>
        </p:sp>
      </p:grpSp>
      <p:grpSp>
        <p:nvGrpSpPr>
          <p:cNvPr name="Group 28" id="28"/>
          <p:cNvGrpSpPr/>
          <p:nvPr/>
        </p:nvGrpSpPr>
        <p:grpSpPr>
          <a:xfrm rot="0">
            <a:off x="12124944" y="5417820"/>
            <a:ext cx="5143500" cy="891540"/>
            <a:chOff x="0" y="0"/>
            <a:chExt cx="6858000" cy="1188720"/>
          </a:xfrm>
        </p:grpSpPr>
        <p:sp>
          <p:nvSpPr>
            <p:cNvPr name="Freeform 29" id="29"/>
            <p:cNvSpPr/>
            <p:nvPr/>
          </p:nvSpPr>
          <p:spPr>
            <a:xfrm flipH="false" flipV="false" rot="0">
              <a:off x="0" y="0"/>
              <a:ext cx="6858000" cy="1188720"/>
            </a:xfrm>
            <a:custGeom>
              <a:avLst/>
              <a:gdLst/>
              <a:ahLst/>
              <a:cxnLst/>
              <a:rect r="r" b="b" t="t" l="l"/>
              <a:pathLst>
                <a:path h="1188720" w="6858000">
                  <a:moveTo>
                    <a:pt x="0" y="0"/>
                  </a:moveTo>
                  <a:lnTo>
                    <a:pt x="6858000" y="0"/>
                  </a:lnTo>
                  <a:lnTo>
                    <a:pt x="6858000" y="1188720"/>
                  </a:lnTo>
                  <a:lnTo>
                    <a:pt x="0" y="1188720"/>
                  </a:lnTo>
                  <a:close/>
                </a:path>
              </a:pathLst>
            </a:custGeom>
            <a:blipFill>
              <a:blip r:embed="rId3">
                <a:alphaModFix amt="0"/>
              </a:blip>
              <a:stretch>
                <a:fillRect l="0" t="-62413" r="0" b="-62413"/>
              </a:stretch>
            </a:blipFill>
          </p:spPr>
        </p:sp>
        <p:sp>
          <p:nvSpPr>
            <p:cNvPr name="TextBox 30" id="30"/>
            <p:cNvSpPr txBox="true"/>
            <p:nvPr/>
          </p:nvSpPr>
          <p:spPr>
            <a:xfrm>
              <a:off x="0" y="-47625"/>
              <a:ext cx="6858000" cy="1236345"/>
            </a:xfrm>
            <a:prstGeom prst="rect">
              <a:avLst/>
            </a:prstGeom>
          </p:spPr>
          <p:txBody>
            <a:bodyPr anchor="ctr" rtlCol="false" tIns="0" lIns="0" bIns="0" rIns="0"/>
            <a:lstStyle/>
            <a:p>
              <a:pPr algn="ctr">
                <a:lnSpc>
                  <a:spcPts val="2520"/>
                </a:lnSpc>
              </a:pPr>
              <a:r>
                <a:rPr lang="en-US" sz="2100" b="true">
                  <a:solidFill>
                    <a:srgbClr val="FFFFFF"/>
                  </a:solidFill>
                  <a:latin typeface="Calibri (MS) Bold"/>
                  <a:ea typeface="Calibri (MS) Bold"/>
                  <a:cs typeface="Calibri (MS) Bold"/>
                  <a:sym typeface="Calibri (MS) Bold"/>
                </a:rPr>
                <a:t>✓  Availability</a:t>
              </a:r>
            </a:p>
          </p:txBody>
        </p:sp>
      </p:grpSp>
      <p:grpSp>
        <p:nvGrpSpPr>
          <p:cNvPr name="Group 31" id="31"/>
          <p:cNvGrpSpPr/>
          <p:nvPr/>
        </p:nvGrpSpPr>
        <p:grpSpPr>
          <a:xfrm rot="0">
            <a:off x="950595" y="6779895"/>
            <a:ext cx="16341090" cy="2145030"/>
            <a:chOff x="0" y="0"/>
            <a:chExt cx="21788120" cy="2860040"/>
          </a:xfrm>
        </p:grpSpPr>
        <p:sp>
          <p:nvSpPr>
            <p:cNvPr name="Freeform 32" id="32"/>
            <p:cNvSpPr/>
            <p:nvPr/>
          </p:nvSpPr>
          <p:spPr>
            <a:xfrm flipH="false" flipV="false" rot="0">
              <a:off x="0" y="0"/>
              <a:ext cx="21788120" cy="2860040"/>
            </a:xfrm>
            <a:custGeom>
              <a:avLst/>
              <a:gdLst/>
              <a:ahLst/>
              <a:cxnLst/>
              <a:rect r="r" b="b" t="t" l="l"/>
              <a:pathLst>
                <a:path h="2860040" w="21788120">
                  <a:moveTo>
                    <a:pt x="0" y="184531"/>
                  </a:moveTo>
                  <a:cubicBezTo>
                    <a:pt x="0" y="82677"/>
                    <a:pt x="82677" y="0"/>
                    <a:pt x="184531" y="0"/>
                  </a:cubicBezTo>
                  <a:lnTo>
                    <a:pt x="21603588" y="0"/>
                  </a:lnTo>
                  <a:cubicBezTo>
                    <a:pt x="21705443" y="0"/>
                    <a:pt x="21788120" y="82677"/>
                    <a:pt x="21788120" y="184531"/>
                  </a:cubicBezTo>
                  <a:lnTo>
                    <a:pt x="21788120" y="2675509"/>
                  </a:lnTo>
                  <a:cubicBezTo>
                    <a:pt x="21788120" y="2777363"/>
                    <a:pt x="21705443" y="2860040"/>
                    <a:pt x="21603588" y="2860040"/>
                  </a:cubicBezTo>
                  <a:lnTo>
                    <a:pt x="184531" y="2860040"/>
                  </a:lnTo>
                  <a:cubicBezTo>
                    <a:pt x="82677" y="2860040"/>
                    <a:pt x="0" y="2777363"/>
                    <a:pt x="0" y="2675509"/>
                  </a:cubicBezTo>
                  <a:close/>
                </a:path>
              </a:pathLst>
            </a:custGeom>
            <a:solidFill>
              <a:srgbClr val="FBF9F4"/>
            </a:solidFill>
            <a:ln w="19050" cap="sq">
              <a:solidFill>
                <a:srgbClr val="EFE6D2"/>
              </a:solidFill>
              <a:prstDash val="solid"/>
              <a:miter/>
            </a:ln>
          </p:spPr>
        </p:sp>
      </p:grpSp>
      <p:sp>
        <p:nvSpPr>
          <p:cNvPr name="TextBox 33" id="33"/>
          <p:cNvSpPr txBox="true"/>
          <p:nvPr/>
        </p:nvSpPr>
        <p:spPr>
          <a:xfrm rot="0">
            <a:off x="1463040" y="6977253"/>
            <a:ext cx="15316200" cy="1659255"/>
          </a:xfrm>
          <a:prstGeom prst="rect">
            <a:avLst/>
          </a:prstGeom>
        </p:spPr>
        <p:txBody>
          <a:bodyPr anchor="t" rtlCol="false" tIns="0" lIns="0" bIns="0" rIns="0">
            <a:spAutoFit/>
          </a:bodyPr>
          <a:lstStyle/>
          <a:p>
            <a:pPr algn="l">
              <a:lnSpc>
                <a:spcPts val="3159"/>
              </a:lnSpc>
            </a:pPr>
            <a:r>
              <a:rPr lang="en-US" sz="2025">
                <a:solidFill>
                  <a:srgbClr val="23262F"/>
                </a:solidFill>
                <a:latin typeface="Calibri (MS)"/>
                <a:ea typeface="Calibri (MS)"/>
                <a:cs typeface="Calibri (MS)"/>
                <a:sym typeface="Calibri (MS)"/>
              </a:rPr>
              <a:t>No attacker involved at all — Availability failures can be entirely accidental or environmental, not just malicious.</a:t>
            </a:r>
          </a:p>
        </p:txBody>
      </p:sp>
      <p:grpSp>
        <p:nvGrpSpPr>
          <p:cNvPr name="Group 34" id="34"/>
          <p:cNvGrpSpPr/>
          <p:nvPr/>
        </p:nvGrpSpPr>
        <p:grpSpPr>
          <a:xfrm rot="0">
            <a:off x="685800" y="9710928"/>
            <a:ext cx="10972800" cy="411480"/>
            <a:chOff x="0" y="0"/>
            <a:chExt cx="14630400" cy="548640"/>
          </a:xfrm>
        </p:grpSpPr>
        <p:sp>
          <p:nvSpPr>
            <p:cNvPr name="Freeform 35" id="35"/>
            <p:cNvSpPr/>
            <p:nvPr/>
          </p:nvSpPr>
          <p:spPr>
            <a:xfrm flipH="false" flipV="false" rot="0">
              <a:off x="0" y="0"/>
              <a:ext cx="14630400" cy="548640"/>
            </a:xfrm>
            <a:custGeom>
              <a:avLst/>
              <a:gdLst/>
              <a:ahLst/>
              <a:cxnLst/>
              <a:rect r="r" b="b" t="t" l="l"/>
              <a:pathLst>
                <a:path h="548640" w="14630400">
                  <a:moveTo>
                    <a:pt x="0" y="0"/>
                  </a:moveTo>
                  <a:lnTo>
                    <a:pt x="14630400" y="0"/>
                  </a:lnTo>
                  <a:lnTo>
                    <a:pt x="14630400" y="548640"/>
                  </a:lnTo>
                  <a:lnTo>
                    <a:pt x="0" y="548640"/>
                  </a:lnTo>
                  <a:close/>
                </a:path>
              </a:pathLst>
            </a:custGeom>
            <a:blipFill>
              <a:blip r:embed="rId3">
                <a:alphaModFix amt="0"/>
              </a:blip>
              <a:stretch>
                <a:fillRect l="0" t="-469601" r="0" b="-469601"/>
              </a:stretch>
            </a:blipFill>
          </p:spPr>
        </p:sp>
        <p:sp>
          <p:nvSpPr>
            <p:cNvPr name="TextBox 36" id="36"/>
            <p:cNvSpPr txBox="true"/>
            <p:nvPr/>
          </p:nvSpPr>
          <p:spPr>
            <a:xfrm>
              <a:off x="0" y="-38100"/>
              <a:ext cx="14630400" cy="586740"/>
            </a:xfrm>
            <a:prstGeom prst="rect">
              <a:avLst/>
            </a:prstGeom>
          </p:spPr>
          <p:txBody>
            <a:bodyPr anchor="ctr" rtlCol="false" tIns="0" lIns="0" bIns="0" rIns="0"/>
            <a:lstStyle/>
            <a:p>
              <a:pPr algn="l">
                <a:lnSpc>
                  <a:spcPts val="1800"/>
                </a:lnSpc>
              </a:pPr>
              <a:r>
                <a:rPr lang="en-US" sz="1500">
                  <a:solidFill>
                    <a:srgbClr val="6B7280"/>
                  </a:solidFill>
                  <a:latin typeface="Calibri (MS)"/>
                  <a:ea typeface="Calibri (MS)"/>
                  <a:cs typeface="Calibri (MS)"/>
                  <a:sym typeface="Calibri (MS)"/>
                </a:rPr>
                <a:t>Davao del Norte Provincial Government — Cybersecurity Seminar</a:t>
              </a:r>
            </a:p>
          </p:txBody>
        </p:sp>
      </p:grpSp>
      <p:grpSp>
        <p:nvGrpSpPr>
          <p:cNvPr name="Group 37" id="37"/>
          <p:cNvGrpSpPr/>
          <p:nvPr/>
        </p:nvGrpSpPr>
        <p:grpSpPr>
          <a:xfrm rot="0">
            <a:off x="16911828" y="9710928"/>
            <a:ext cx="685800" cy="411480"/>
            <a:chOff x="0" y="0"/>
            <a:chExt cx="914400" cy="548640"/>
          </a:xfrm>
        </p:grpSpPr>
        <p:sp>
          <p:nvSpPr>
            <p:cNvPr name="Freeform 38" id="38"/>
            <p:cNvSpPr/>
            <p:nvPr/>
          </p:nvSpPr>
          <p:spPr>
            <a:xfrm flipH="false" flipV="false" rot="0">
              <a:off x="0" y="0"/>
              <a:ext cx="914400" cy="548640"/>
            </a:xfrm>
            <a:custGeom>
              <a:avLst/>
              <a:gdLst/>
              <a:ahLst/>
              <a:cxnLst/>
              <a:rect r="r" b="b" t="t" l="l"/>
              <a:pathLst>
                <a:path h="548640" w="914400">
                  <a:moveTo>
                    <a:pt x="0" y="0"/>
                  </a:moveTo>
                  <a:lnTo>
                    <a:pt x="914400" y="0"/>
                  </a:lnTo>
                  <a:lnTo>
                    <a:pt x="914400" y="548640"/>
                  </a:lnTo>
                  <a:lnTo>
                    <a:pt x="0" y="548640"/>
                  </a:lnTo>
                  <a:close/>
                </a:path>
              </a:pathLst>
            </a:custGeom>
            <a:blipFill>
              <a:blip r:embed="rId3">
                <a:alphaModFix amt="0"/>
              </a:blip>
              <a:stretch>
                <a:fillRect l="-26982" t="0" r="-26982" b="0"/>
              </a:stretch>
            </a:blipFill>
          </p:spPr>
        </p:sp>
        <p:sp>
          <p:nvSpPr>
            <p:cNvPr name="TextBox 39" id="39"/>
            <p:cNvSpPr txBox="true"/>
            <p:nvPr/>
          </p:nvSpPr>
          <p:spPr>
            <a:xfrm>
              <a:off x="0" y="-38100"/>
              <a:ext cx="914400" cy="586740"/>
            </a:xfrm>
            <a:prstGeom prst="rect">
              <a:avLst/>
            </a:prstGeom>
          </p:spPr>
          <p:txBody>
            <a:bodyPr anchor="ctr" rtlCol="false" tIns="0" lIns="0" bIns="0" rIns="0"/>
            <a:lstStyle/>
            <a:p>
              <a:pPr algn="r">
                <a:lnSpc>
                  <a:spcPts val="1800"/>
                </a:lnSpc>
              </a:pPr>
              <a:r>
                <a:rPr lang="en-US" sz="1500">
                  <a:solidFill>
                    <a:srgbClr val="6B7280"/>
                  </a:solidFill>
                  <a:latin typeface="Calibri (MS)"/>
                  <a:ea typeface="Calibri (MS)"/>
                  <a:cs typeface="Calibri (MS)"/>
                  <a:sym typeface="Calibri (MS)"/>
                </a:rPr>
                <a:t>60</a:t>
              </a:r>
            </a:p>
          </p:txBody>
        </p:sp>
      </p:grpSp>
    </p:spTree>
  </p:cSld>
  <p:clrMapOvr>
    <a:masterClrMapping/>
  </p:clrMapOvr>
</p:sld>
</file>

<file path=ppt/slides/slide6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60120" y="685800"/>
            <a:ext cx="13716000" cy="411480"/>
            <a:chOff x="0" y="0"/>
            <a:chExt cx="18288000" cy="548640"/>
          </a:xfrm>
        </p:grpSpPr>
        <p:sp>
          <p:nvSpPr>
            <p:cNvPr name="Freeform 3" id="3"/>
            <p:cNvSpPr/>
            <p:nvPr/>
          </p:nvSpPr>
          <p:spPr>
            <a:xfrm flipH="false" flipV="false" rot="0">
              <a:off x="0" y="0"/>
              <a:ext cx="18288000" cy="548640"/>
            </a:xfrm>
            <a:custGeom>
              <a:avLst/>
              <a:gdLst/>
              <a:ahLst/>
              <a:cxnLst/>
              <a:rect r="r" b="b" t="t" l="l"/>
              <a:pathLst>
                <a:path h="548640" w="18288000">
                  <a:moveTo>
                    <a:pt x="0" y="0"/>
                  </a:moveTo>
                  <a:lnTo>
                    <a:pt x="18288000" y="0"/>
                  </a:lnTo>
                  <a:lnTo>
                    <a:pt x="18288000" y="548640"/>
                  </a:lnTo>
                  <a:lnTo>
                    <a:pt x="0" y="548640"/>
                  </a:lnTo>
                  <a:close/>
                </a:path>
              </a:pathLst>
            </a:custGeom>
            <a:blipFill>
              <a:blip r:embed="rId3">
                <a:alphaModFix amt="0"/>
              </a:blip>
              <a:stretch>
                <a:fillRect l="0" t="-599501" r="0" b="-599501"/>
              </a:stretch>
            </a:blipFill>
          </p:spPr>
        </p:sp>
        <p:sp>
          <p:nvSpPr>
            <p:cNvPr name="TextBox 4" id="4"/>
            <p:cNvSpPr txBox="true"/>
            <p:nvPr/>
          </p:nvSpPr>
          <p:spPr>
            <a:xfrm>
              <a:off x="0" y="-38100"/>
              <a:ext cx="18288000" cy="586740"/>
            </a:xfrm>
            <a:prstGeom prst="rect">
              <a:avLst/>
            </a:prstGeom>
          </p:spPr>
          <p:txBody>
            <a:bodyPr anchor="ctr" rtlCol="false" tIns="0" lIns="0" bIns="0" rIns="0"/>
            <a:lstStyle/>
            <a:p>
              <a:pPr algn="l">
                <a:lnSpc>
                  <a:spcPts val="2160"/>
                </a:lnSpc>
              </a:pPr>
              <a:r>
                <a:rPr lang="en-US" b="true" sz="1800" spc="225">
                  <a:solidFill>
                    <a:srgbClr val="00B4D8"/>
                  </a:solidFill>
                  <a:latin typeface="Calibri (MS) Bold"/>
                  <a:ea typeface="Calibri (MS) Bold"/>
                  <a:cs typeface="Calibri (MS) Bold"/>
                  <a:sym typeface="Calibri (MS) Bold"/>
                </a:rPr>
                <a:t>CIA TRIAD SORT · SCENARIO</a:t>
              </a:r>
            </a:p>
          </p:txBody>
        </p:sp>
      </p:grpSp>
      <p:grpSp>
        <p:nvGrpSpPr>
          <p:cNvPr name="Group 5" id="5"/>
          <p:cNvGrpSpPr/>
          <p:nvPr/>
        </p:nvGrpSpPr>
        <p:grpSpPr>
          <a:xfrm rot="0">
            <a:off x="960120" y="1069848"/>
            <a:ext cx="10972800" cy="822960"/>
            <a:chOff x="0" y="0"/>
            <a:chExt cx="14630400" cy="1097280"/>
          </a:xfrm>
        </p:grpSpPr>
        <p:sp>
          <p:nvSpPr>
            <p:cNvPr name="Freeform 6" id="6"/>
            <p:cNvSpPr/>
            <p:nvPr/>
          </p:nvSpPr>
          <p:spPr>
            <a:xfrm flipH="false" flipV="false" rot="0">
              <a:off x="0" y="0"/>
              <a:ext cx="14630400" cy="1097280"/>
            </a:xfrm>
            <a:custGeom>
              <a:avLst/>
              <a:gdLst/>
              <a:ahLst/>
              <a:cxnLst/>
              <a:rect r="r" b="b" t="t" l="l"/>
              <a:pathLst>
                <a:path h="1097280" w="14630400">
                  <a:moveTo>
                    <a:pt x="0" y="0"/>
                  </a:moveTo>
                  <a:lnTo>
                    <a:pt x="14630400" y="0"/>
                  </a:lnTo>
                  <a:lnTo>
                    <a:pt x="14630400" y="1097280"/>
                  </a:lnTo>
                  <a:lnTo>
                    <a:pt x="0" y="1097280"/>
                  </a:lnTo>
                  <a:close/>
                </a:path>
              </a:pathLst>
            </a:custGeom>
            <a:blipFill>
              <a:blip r:embed="rId3">
                <a:alphaModFix amt="0"/>
              </a:blip>
              <a:stretch>
                <a:fillRect l="0" t="-209800" r="0" b="-209800"/>
              </a:stretch>
            </a:blipFill>
          </p:spPr>
        </p:sp>
        <p:sp>
          <p:nvSpPr>
            <p:cNvPr name="TextBox 7" id="7"/>
            <p:cNvSpPr txBox="true"/>
            <p:nvPr/>
          </p:nvSpPr>
          <p:spPr>
            <a:xfrm>
              <a:off x="0" y="0"/>
              <a:ext cx="14630400" cy="1097280"/>
            </a:xfrm>
            <a:prstGeom prst="rect">
              <a:avLst/>
            </a:prstGeom>
          </p:spPr>
          <p:txBody>
            <a:bodyPr anchor="ctr" rtlCol="false" tIns="0" lIns="0" bIns="0" rIns="0"/>
            <a:lstStyle/>
            <a:p>
              <a:pPr algn="l">
                <a:lnSpc>
                  <a:spcPts val="4680"/>
                </a:lnSpc>
              </a:pPr>
              <a:r>
                <a:rPr lang="en-US" sz="3900" b="true">
                  <a:solidFill>
                    <a:srgbClr val="1E2761"/>
                  </a:solidFill>
                  <a:latin typeface="Cambria Bold"/>
                  <a:ea typeface="Cambria Bold"/>
                  <a:cs typeface="Cambria Bold"/>
                  <a:sym typeface="Cambria Bold"/>
                </a:rPr>
                <a:t>Scenario 12</a:t>
              </a:r>
            </a:p>
          </p:txBody>
        </p:sp>
      </p:grpSp>
      <p:grpSp>
        <p:nvGrpSpPr>
          <p:cNvPr name="Group 8" id="8"/>
          <p:cNvGrpSpPr/>
          <p:nvPr/>
        </p:nvGrpSpPr>
        <p:grpSpPr>
          <a:xfrm rot="0">
            <a:off x="960120" y="1810512"/>
            <a:ext cx="8229600" cy="411480"/>
            <a:chOff x="0" y="0"/>
            <a:chExt cx="10972800" cy="548640"/>
          </a:xfrm>
        </p:grpSpPr>
        <p:sp>
          <p:nvSpPr>
            <p:cNvPr name="Freeform 9" id="9"/>
            <p:cNvSpPr/>
            <p:nvPr/>
          </p:nvSpPr>
          <p:spPr>
            <a:xfrm flipH="false" flipV="false" rot="0">
              <a:off x="0" y="0"/>
              <a:ext cx="10972800" cy="548640"/>
            </a:xfrm>
            <a:custGeom>
              <a:avLst/>
              <a:gdLst/>
              <a:ahLst/>
              <a:cxnLst/>
              <a:rect r="r" b="b" t="t" l="l"/>
              <a:pathLst>
                <a:path h="548640" w="10972800">
                  <a:moveTo>
                    <a:pt x="0" y="0"/>
                  </a:moveTo>
                  <a:lnTo>
                    <a:pt x="10972800" y="0"/>
                  </a:lnTo>
                  <a:lnTo>
                    <a:pt x="10972800" y="548640"/>
                  </a:lnTo>
                  <a:lnTo>
                    <a:pt x="0" y="548640"/>
                  </a:lnTo>
                  <a:close/>
                </a:path>
              </a:pathLst>
            </a:custGeom>
            <a:blipFill>
              <a:blip r:embed="rId3">
                <a:alphaModFix amt="0"/>
              </a:blip>
              <a:stretch>
                <a:fillRect l="0" t="-339700" r="0" b="-339700"/>
              </a:stretch>
            </a:blipFill>
          </p:spPr>
        </p:sp>
        <p:sp>
          <p:nvSpPr>
            <p:cNvPr name="TextBox 10" id="10"/>
            <p:cNvSpPr txBox="true"/>
            <p:nvPr/>
          </p:nvSpPr>
          <p:spPr>
            <a:xfrm>
              <a:off x="0" y="-28575"/>
              <a:ext cx="10972800" cy="577215"/>
            </a:xfrm>
            <a:prstGeom prst="rect">
              <a:avLst/>
            </a:prstGeom>
          </p:spPr>
          <p:txBody>
            <a:bodyPr anchor="ctr" rtlCol="false" tIns="0" lIns="0" bIns="0" rIns="0"/>
            <a:lstStyle/>
            <a:p>
              <a:pPr algn="l">
                <a:lnSpc>
                  <a:spcPts val="1980"/>
                </a:lnSpc>
              </a:pPr>
              <a:r>
                <a:rPr lang="en-US" sz="1650">
                  <a:solidFill>
                    <a:srgbClr val="6B7280"/>
                  </a:solidFill>
                  <a:latin typeface="Calibri (MS)"/>
                  <a:ea typeface="Calibri (MS)"/>
                  <a:cs typeface="Calibri (MS)"/>
                  <a:sym typeface="Calibri (MS)"/>
                </a:rPr>
                <a:t>12 of 12</a:t>
              </a:r>
            </a:p>
          </p:txBody>
        </p:sp>
      </p:grpSp>
      <p:grpSp>
        <p:nvGrpSpPr>
          <p:cNvPr name="Group 11" id="11"/>
          <p:cNvGrpSpPr/>
          <p:nvPr/>
        </p:nvGrpSpPr>
        <p:grpSpPr>
          <a:xfrm rot="0">
            <a:off x="960120" y="2537460"/>
            <a:ext cx="16322040" cy="2811780"/>
            <a:chOff x="0" y="0"/>
            <a:chExt cx="21762720" cy="3749040"/>
          </a:xfrm>
        </p:grpSpPr>
        <p:sp>
          <p:nvSpPr>
            <p:cNvPr name="Freeform 12" id="12"/>
            <p:cNvSpPr/>
            <p:nvPr/>
          </p:nvSpPr>
          <p:spPr>
            <a:xfrm flipH="false" flipV="false" rot="0">
              <a:off x="0" y="0"/>
              <a:ext cx="21762720" cy="3749040"/>
            </a:xfrm>
            <a:custGeom>
              <a:avLst/>
              <a:gdLst/>
              <a:ahLst/>
              <a:cxnLst/>
              <a:rect r="r" b="b" t="t" l="l"/>
              <a:pathLst>
                <a:path h="3749040" w="21762720">
                  <a:moveTo>
                    <a:pt x="0" y="182880"/>
                  </a:moveTo>
                  <a:cubicBezTo>
                    <a:pt x="0" y="81915"/>
                    <a:pt x="81915" y="0"/>
                    <a:pt x="182880" y="0"/>
                  </a:cubicBezTo>
                  <a:lnTo>
                    <a:pt x="21579839" y="0"/>
                  </a:lnTo>
                  <a:cubicBezTo>
                    <a:pt x="21680804" y="0"/>
                    <a:pt x="21762720" y="81915"/>
                    <a:pt x="21762720" y="182880"/>
                  </a:cubicBezTo>
                  <a:lnTo>
                    <a:pt x="21762720" y="3566160"/>
                  </a:lnTo>
                  <a:cubicBezTo>
                    <a:pt x="21762720" y="3667125"/>
                    <a:pt x="21680804" y="3749040"/>
                    <a:pt x="21579839" y="3749040"/>
                  </a:cubicBezTo>
                  <a:lnTo>
                    <a:pt x="182880" y="3749040"/>
                  </a:lnTo>
                  <a:cubicBezTo>
                    <a:pt x="81915" y="3749040"/>
                    <a:pt x="0" y="3667125"/>
                    <a:pt x="0" y="3566160"/>
                  </a:cubicBezTo>
                  <a:close/>
                </a:path>
              </a:pathLst>
            </a:custGeom>
            <a:solidFill>
              <a:srgbClr val="F4F7FC"/>
            </a:solidFill>
          </p:spPr>
        </p:sp>
      </p:grpSp>
      <p:grpSp>
        <p:nvGrpSpPr>
          <p:cNvPr name="Group 13" id="13"/>
          <p:cNvGrpSpPr/>
          <p:nvPr/>
        </p:nvGrpSpPr>
        <p:grpSpPr>
          <a:xfrm rot="0">
            <a:off x="1440180" y="2811780"/>
            <a:ext cx="15361920" cy="2263140"/>
            <a:chOff x="0" y="0"/>
            <a:chExt cx="20482560" cy="3017520"/>
          </a:xfrm>
        </p:grpSpPr>
        <p:sp>
          <p:nvSpPr>
            <p:cNvPr name="Freeform 14" id="14"/>
            <p:cNvSpPr/>
            <p:nvPr/>
          </p:nvSpPr>
          <p:spPr>
            <a:xfrm flipH="false" flipV="false" rot="0">
              <a:off x="0" y="0"/>
              <a:ext cx="20482561" cy="3017520"/>
            </a:xfrm>
            <a:custGeom>
              <a:avLst/>
              <a:gdLst/>
              <a:ahLst/>
              <a:cxnLst/>
              <a:rect r="r" b="b" t="t" l="l"/>
              <a:pathLst>
                <a:path h="3017520" w="20482561">
                  <a:moveTo>
                    <a:pt x="0" y="0"/>
                  </a:moveTo>
                  <a:lnTo>
                    <a:pt x="20482561" y="0"/>
                  </a:lnTo>
                  <a:lnTo>
                    <a:pt x="20482561" y="3017520"/>
                  </a:lnTo>
                  <a:lnTo>
                    <a:pt x="0" y="3017520"/>
                  </a:lnTo>
                  <a:close/>
                </a:path>
              </a:pathLst>
            </a:custGeom>
            <a:blipFill>
              <a:blip r:embed="rId3">
                <a:alphaModFix amt="0"/>
              </a:blip>
              <a:stretch>
                <a:fillRect l="0" t="-82262" r="0" b="-82262"/>
              </a:stretch>
            </a:blipFill>
          </p:spPr>
        </p:sp>
        <p:sp>
          <p:nvSpPr>
            <p:cNvPr name="TextBox 15" id="15"/>
            <p:cNvSpPr txBox="true"/>
            <p:nvPr/>
          </p:nvSpPr>
          <p:spPr>
            <a:xfrm>
              <a:off x="0" y="-104775"/>
              <a:ext cx="20482560" cy="3122295"/>
            </a:xfrm>
            <a:prstGeom prst="rect">
              <a:avLst/>
            </a:prstGeom>
          </p:spPr>
          <p:txBody>
            <a:bodyPr anchor="ctr" rtlCol="false" tIns="0" lIns="0" bIns="0" rIns="0"/>
            <a:lstStyle/>
            <a:p>
              <a:pPr algn="l">
                <a:lnSpc>
                  <a:spcPts val="4147"/>
                </a:lnSpc>
              </a:pPr>
              <a:r>
                <a:rPr lang="en-US" sz="2700" i="true">
                  <a:solidFill>
                    <a:srgbClr val="23262F"/>
                  </a:solidFill>
                  <a:latin typeface="Cambria Italics"/>
                  <a:ea typeface="Cambria Italics"/>
                  <a:cs typeface="Cambria Italics"/>
                  <a:sym typeface="Cambria Italics"/>
                </a:rPr>
                <a:t>“A former employee's account — never deactivated after they left — is used to quietly change several business-permit applications from “denied” to “approved.””</a:t>
              </a:r>
            </a:p>
          </p:txBody>
        </p:sp>
      </p:grpSp>
      <p:sp>
        <p:nvSpPr>
          <p:cNvPr name="TextBox 16" id="16"/>
          <p:cNvSpPr txBox="true"/>
          <p:nvPr/>
        </p:nvSpPr>
        <p:spPr>
          <a:xfrm rot="0">
            <a:off x="1051560" y="5604510"/>
            <a:ext cx="16139160" cy="1276350"/>
          </a:xfrm>
          <a:prstGeom prst="rect">
            <a:avLst/>
          </a:prstGeom>
        </p:spPr>
        <p:txBody>
          <a:bodyPr anchor="t" rtlCol="false" tIns="0" lIns="0" bIns="0" rIns="0">
            <a:spAutoFit/>
          </a:bodyPr>
          <a:lstStyle/>
          <a:p>
            <a:pPr algn="ctr">
              <a:lnSpc>
                <a:spcPts val="3402"/>
              </a:lnSpc>
            </a:pPr>
            <a:r>
              <a:rPr lang="en-US" sz="2100" i="true">
                <a:solidFill>
                  <a:srgbClr val="6B7280"/>
                </a:solidFill>
                <a:latin typeface="Calibri (MS) Italics"/>
                <a:ea typeface="Calibri (MS) Italics"/>
                <a:cs typeface="Calibri (MS) Italics"/>
                <a:sym typeface="Calibri (MS) Italics"/>
              </a:rPr>
              <a:t>Which does this break — Confidentiality, Integrity, or Availability?</a:t>
            </a:r>
          </a:p>
          <a:p>
            <a:pPr algn="ctr">
              <a:lnSpc>
                <a:spcPts val="3402"/>
              </a:lnSpc>
            </a:pPr>
            <a:r>
              <a:rPr lang="en-US" sz="2100" i="true">
                <a:solidFill>
                  <a:srgbClr val="6B7280"/>
                </a:solidFill>
                <a:latin typeface="Calibri (MS) Italics"/>
                <a:ea typeface="Calibri (MS) Italics"/>
                <a:cs typeface="Calibri (MS) Italics"/>
                <a:sym typeface="Calibri (MS) Italics"/>
              </a:rPr>
              <a:t>Some break more than one. Discuss, then we'll reveal the answer.</a:t>
            </a:r>
          </a:p>
        </p:txBody>
      </p:sp>
      <p:grpSp>
        <p:nvGrpSpPr>
          <p:cNvPr name="Group 17" id="17"/>
          <p:cNvGrpSpPr/>
          <p:nvPr/>
        </p:nvGrpSpPr>
        <p:grpSpPr>
          <a:xfrm rot="0">
            <a:off x="950595" y="7191375"/>
            <a:ext cx="5162550" cy="910590"/>
            <a:chOff x="0" y="0"/>
            <a:chExt cx="6883400" cy="1214120"/>
          </a:xfrm>
        </p:grpSpPr>
        <p:sp>
          <p:nvSpPr>
            <p:cNvPr name="Freeform 18" id="18"/>
            <p:cNvSpPr/>
            <p:nvPr/>
          </p:nvSpPr>
          <p:spPr>
            <a:xfrm flipH="false" flipV="false" rot="0">
              <a:off x="0" y="0"/>
              <a:ext cx="6883400" cy="1214120"/>
            </a:xfrm>
            <a:custGeom>
              <a:avLst/>
              <a:gdLst/>
              <a:ahLst/>
              <a:cxnLst/>
              <a:rect r="r" b="b" t="t" l="l"/>
              <a:pathLst>
                <a:path h="1214120" w="6883400">
                  <a:moveTo>
                    <a:pt x="0" y="168148"/>
                  </a:moveTo>
                  <a:cubicBezTo>
                    <a:pt x="0" y="75311"/>
                    <a:pt x="75311" y="0"/>
                    <a:pt x="168148" y="0"/>
                  </a:cubicBezTo>
                  <a:lnTo>
                    <a:pt x="6715252" y="0"/>
                  </a:lnTo>
                  <a:cubicBezTo>
                    <a:pt x="6808089" y="0"/>
                    <a:pt x="6883400" y="75311"/>
                    <a:pt x="6883400" y="168148"/>
                  </a:cubicBezTo>
                  <a:lnTo>
                    <a:pt x="6883400" y="1045972"/>
                  </a:lnTo>
                  <a:cubicBezTo>
                    <a:pt x="6883400" y="1138809"/>
                    <a:pt x="6808089" y="1214120"/>
                    <a:pt x="6715252" y="1214120"/>
                  </a:cubicBezTo>
                  <a:lnTo>
                    <a:pt x="168148" y="1214120"/>
                  </a:lnTo>
                  <a:cubicBezTo>
                    <a:pt x="75311" y="1214120"/>
                    <a:pt x="0" y="1138809"/>
                    <a:pt x="0" y="1045972"/>
                  </a:cubicBezTo>
                  <a:close/>
                </a:path>
              </a:pathLst>
            </a:custGeom>
            <a:solidFill>
              <a:srgbClr val="F4F7FC"/>
            </a:solidFill>
            <a:ln w="19050" cap="sq">
              <a:solidFill>
                <a:srgbClr val="D7DCEC"/>
              </a:solidFill>
              <a:prstDash val="solid"/>
              <a:miter/>
            </a:ln>
          </p:spPr>
        </p:sp>
      </p:grpSp>
      <p:grpSp>
        <p:nvGrpSpPr>
          <p:cNvPr name="Group 19" id="19"/>
          <p:cNvGrpSpPr/>
          <p:nvPr/>
        </p:nvGrpSpPr>
        <p:grpSpPr>
          <a:xfrm rot="0">
            <a:off x="960120" y="7200900"/>
            <a:ext cx="5143500" cy="891540"/>
            <a:chOff x="0" y="0"/>
            <a:chExt cx="6858000" cy="1188720"/>
          </a:xfrm>
        </p:grpSpPr>
        <p:sp>
          <p:nvSpPr>
            <p:cNvPr name="Freeform 20" id="20"/>
            <p:cNvSpPr/>
            <p:nvPr/>
          </p:nvSpPr>
          <p:spPr>
            <a:xfrm flipH="false" flipV="false" rot="0">
              <a:off x="0" y="0"/>
              <a:ext cx="6858000" cy="1188720"/>
            </a:xfrm>
            <a:custGeom>
              <a:avLst/>
              <a:gdLst/>
              <a:ahLst/>
              <a:cxnLst/>
              <a:rect r="r" b="b" t="t" l="l"/>
              <a:pathLst>
                <a:path h="1188720" w="6858000">
                  <a:moveTo>
                    <a:pt x="0" y="0"/>
                  </a:moveTo>
                  <a:lnTo>
                    <a:pt x="6858000" y="0"/>
                  </a:lnTo>
                  <a:lnTo>
                    <a:pt x="6858000" y="1188720"/>
                  </a:lnTo>
                  <a:lnTo>
                    <a:pt x="0" y="1188720"/>
                  </a:lnTo>
                  <a:close/>
                </a:path>
              </a:pathLst>
            </a:custGeom>
            <a:blipFill>
              <a:blip r:embed="rId3">
                <a:alphaModFix amt="0"/>
              </a:blip>
              <a:stretch>
                <a:fillRect l="0" t="-62413" r="0" b="-62413"/>
              </a:stretch>
            </a:blipFill>
          </p:spPr>
        </p:sp>
        <p:sp>
          <p:nvSpPr>
            <p:cNvPr name="TextBox 21" id="21"/>
            <p:cNvSpPr txBox="true"/>
            <p:nvPr/>
          </p:nvSpPr>
          <p:spPr>
            <a:xfrm>
              <a:off x="0" y="-47625"/>
              <a:ext cx="6858000" cy="1236345"/>
            </a:xfrm>
            <a:prstGeom prst="rect">
              <a:avLst/>
            </a:prstGeom>
          </p:spPr>
          <p:txBody>
            <a:bodyPr anchor="ctr" rtlCol="false" tIns="0" lIns="0" bIns="0" rIns="0"/>
            <a:lstStyle/>
            <a:p>
              <a:pPr algn="ctr">
                <a:lnSpc>
                  <a:spcPts val="2520"/>
                </a:lnSpc>
              </a:pPr>
              <a:r>
                <a:rPr lang="en-US" sz="2100">
                  <a:solidFill>
                    <a:srgbClr val="6B7280"/>
                  </a:solidFill>
                  <a:latin typeface="Calibri (MS)"/>
                  <a:ea typeface="Calibri (MS)"/>
                  <a:cs typeface="Calibri (MS)"/>
                  <a:sym typeface="Calibri (MS)"/>
                </a:rPr>
                <a:t>Confidentiality</a:t>
              </a:r>
            </a:p>
          </p:txBody>
        </p:sp>
      </p:grpSp>
      <p:grpSp>
        <p:nvGrpSpPr>
          <p:cNvPr name="Group 22" id="22"/>
          <p:cNvGrpSpPr/>
          <p:nvPr/>
        </p:nvGrpSpPr>
        <p:grpSpPr>
          <a:xfrm rot="0">
            <a:off x="6533007" y="7191375"/>
            <a:ext cx="5162550" cy="910590"/>
            <a:chOff x="0" y="0"/>
            <a:chExt cx="6883400" cy="1214120"/>
          </a:xfrm>
        </p:grpSpPr>
        <p:sp>
          <p:nvSpPr>
            <p:cNvPr name="Freeform 23" id="23"/>
            <p:cNvSpPr/>
            <p:nvPr/>
          </p:nvSpPr>
          <p:spPr>
            <a:xfrm flipH="false" flipV="false" rot="0">
              <a:off x="0" y="0"/>
              <a:ext cx="6883400" cy="1214120"/>
            </a:xfrm>
            <a:custGeom>
              <a:avLst/>
              <a:gdLst/>
              <a:ahLst/>
              <a:cxnLst/>
              <a:rect r="r" b="b" t="t" l="l"/>
              <a:pathLst>
                <a:path h="1214120" w="6883400">
                  <a:moveTo>
                    <a:pt x="0" y="168148"/>
                  </a:moveTo>
                  <a:cubicBezTo>
                    <a:pt x="0" y="75311"/>
                    <a:pt x="75311" y="0"/>
                    <a:pt x="168148" y="0"/>
                  </a:cubicBezTo>
                  <a:lnTo>
                    <a:pt x="6715252" y="0"/>
                  </a:lnTo>
                  <a:cubicBezTo>
                    <a:pt x="6808089" y="0"/>
                    <a:pt x="6883400" y="75311"/>
                    <a:pt x="6883400" y="168148"/>
                  </a:cubicBezTo>
                  <a:lnTo>
                    <a:pt x="6883400" y="1045972"/>
                  </a:lnTo>
                  <a:cubicBezTo>
                    <a:pt x="6883400" y="1138809"/>
                    <a:pt x="6808089" y="1214120"/>
                    <a:pt x="6715252" y="1214120"/>
                  </a:cubicBezTo>
                  <a:lnTo>
                    <a:pt x="168148" y="1214120"/>
                  </a:lnTo>
                  <a:cubicBezTo>
                    <a:pt x="75311" y="1214120"/>
                    <a:pt x="0" y="1138809"/>
                    <a:pt x="0" y="1045972"/>
                  </a:cubicBezTo>
                  <a:close/>
                </a:path>
              </a:pathLst>
            </a:custGeom>
            <a:solidFill>
              <a:srgbClr val="F4F7FC"/>
            </a:solidFill>
            <a:ln w="19050" cap="sq">
              <a:solidFill>
                <a:srgbClr val="D7DCEC"/>
              </a:solidFill>
              <a:prstDash val="solid"/>
              <a:miter/>
            </a:ln>
          </p:spPr>
        </p:sp>
      </p:grpSp>
      <p:grpSp>
        <p:nvGrpSpPr>
          <p:cNvPr name="Group 24" id="24"/>
          <p:cNvGrpSpPr/>
          <p:nvPr/>
        </p:nvGrpSpPr>
        <p:grpSpPr>
          <a:xfrm rot="0">
            <a:off x="6542532" y="7200900"/>
            <a:ext cx="5143500" cy="891540"/>
            <a:chOff x="0" y="0"/>
            <a:chExt cx="6858000" cy="1188720"/>
          </a:xfrm>
        </p:grpSpPr>
        <p:sp>
          <p:nvSpPr>
            <p:cNvPr name="Freeform 25" id="25"/>
            <p:cNvSpPr/>
            <p:nvPr/>
          </p:nvSpPr>
          <p:spPr>
            <a:xfrm flipH="false" flipV="false" rot="0">
              <a:off x="0" y="0"/>
              <a:ext cx="6858000" cy="1188720"/>
            </a:xfrm>
            <a:custGeom>
              <a:avLst/>
              <a:gdLst/>
              <a:ahLst/>
              <a:cxnLst/>
              <a:rect r="r" b="b" t="t" l="l"/>
              <a:pathLst>
                <a:path h="1188720" w="6858000">
                  <a:moveTo>
                    <a:pt x="0" y="0"/>
                  </a:moveTo>
                  <a:lnTo>
                    <a:pt x="6858000" y="0"/>
                  </a:lnTo>
                  <a:lnTo>
                    <a:pt x="6858000" y="1188720"/>
                  </a:lnTo>
                  <a:lnTo>
                    <a:pt x="0" y="1188720"/>
                  </a:lnTo>
                  <a:close/>
                </a:path>
              </a:pathLst>
            </a:custGeom>
            <a:blipFill>
              <a:blip r:embed="rId3">
                <a:alphaModFix amt="0"/>
              </a:blip>
              <a:stretch>
                <a:fillRect l="0" t="-62413" r="0" b="-62413"/>
              </a:stretch>
            </a:blipFill>
          </p:spPr>
        </p:sp>
        <p:sp>
          <p:nvSpPr>
            <p:cNvPr name="TextBox 26" id="26"/>
            <p:cNvSpPr txBox="true"/>
            <p:nvPr/>
          </p:nvSpPr>
          <p:spPr>
            <a:xfrm>
              <a:off x="0" y="-47625"/>
              <a:ext cx="6858000" cy="1236345"/>
            </a:xfrm>
            <a:prstGeom prst="rect">
              <a:avLst/>
            </a:prstGeom>
          </p:spPr>
          <p:txBody>
            <a:bodyPr anchor="ctr" rtlCol="false" tIns="0" lIns="0" bIns="0" rIns="0"/>
            <a:lstStyle/>
            <a:p>
              <a:pPr algn="ctr">
                <a:lnSpc>
                  <a:spcPts val="2520"/>
                </a:lnSpc>
              </a:pPr>
              <a:r>
                <a:rPr lang="en-US" sz="2100">
                  <a:solidFill>
                    <a:srgbClr val="6B7280"/>
                  </a:solidFill>
                  <a:latin typeface="Calibri (MS)"/>
                  <a:ea typeface="Calibri (MS)"/>
                  <a:cs typeface="Calibri (MS)"/>
                  <a:sym typeface="Calibri (MS)"/>
                </a:rPr>
                <a:t>Integrity</a:t>
              </a:r>
            </a:p>
          </p:txBody>
        </p:sp>
      </p:grpSp>
      <p:grpSp>
        <p:nvGrpSpPr>
          <p:cNvPr name="Group 27" id="27"/>
          <p:cNvGrpSpPr/>
          <p:nvPr/>
        </p:nvGrpSpPr>
        <p:grpSpPr>
          <a:xfrm rot="0">
            <a:off x="12115419" y="7191375"/>
            <a:ext cx="5162550" cy="910590"/>
            <a:chOff x="0" y="0"/>
            <a:chExt cx="6883400" cy="1214120"/>
          </a:xfrm>
        </p:grpSpPr>
        <p:sp>
          <p:nvSpPr>
            <p:cNvPr name="Freeform 28" id="28"/>
            <p:cNvSpPr/>
            <p:nvPr/>
          </p:nvSpPr>
          <p:spPr>
            <a:xfrm flipH="false" flipV="false" rot="0">
              <a:off x="0" y="0"/>
              <a:ext cx="6883400" cy="1214120"/>
            </a:xfrm>
            <a:custGeom>
              <a:avLst/>
              <a:gdLst/>
              <a:ahLst/>
              <a:cxnLst/>
              <a:rect r="r" b="b" t="t" l="l"/>
              <a:pathLst>
                <a:path h="1214120" w="6883400">
                  <a:moveTo>
                    <a:pt x="0" y="168148"/>
                  </a:moveTo>
                  <a:cubicBezTo>
                    <a:pt x="0" y="75311"/>
                    <a:pt x="75311" y="0"/>
                    <a:pt x="168148" y="0"/>
                  </a:cubicBezTo>
                  <a:lnTo>
                    <a:pt x="6715252" y="0"/>
                  </a:lnTo>
                  <a:cubicBezTo>
                    <a:pt x="6808089" y="0"/>
                    <a:pt x="6883400" y="75311"/>
                    <a:pt x="6883400" y="168148"/>
                  </a:cubicBezTo>
                  <a:lnTo>
                    <a:pt x="6883400" y="1045972"/>
                  </a:lnTo>
                  <a:cubicBezTo>
                    <a:pt x="6883400" y="1138809"/>
                    <a:pt x="6808089" y="1214120"/>
                    <a:pt x="6715252" y="1214120"/>
                  </a:cubicBezTo>
                  <a:lnTo>
                    <a:pt x="168148" y="1214120"/>
                  </a:lnTo>
                  <a:cubicBezTo>
                    <a:pt x="75311" y="1214120"/>
                    <a:pt x="0" y="1138809"/>
                    <a:pt x="0" y="1045972"/>
                  </a:cubicBezTo>
                  <a:close/>
                </a:path>
              </a:pathLst>
            </a:custGeom>
            <a:solidFill>
              <a:srgbClr val="F4F7FC"/>
            </a:solidFill>
            <a:ln w="19050" cap="sq">
              <a:solidFill>
                <a:srgbClr val="D7DCEC"/>
              </a:solidFill>
              <a:prstDash val="solid"/>
              <a:miter/>
            </a:ln>
          </p:spPr>
        </p:sp>
      </p:grpSp>
      <p:grpSp>
        <p:nvGrpSpPr>
          <p:cNvPr name="Group 29" id="29"/>
          <p:cNvGrpSpPr/>
          <p:nvPr/>
        </p:nvGrpSpPr>
        <p:grpSpPr>
          <a:xfrm rot="0">
            <a:off x="12124944" y="7200900"/>
            <a:ext cx="5143500" cy="891540"/>
            <a:chOff x="0" y="0"/>
            <a:chExt cx="6858000" cy="1188720"/>
          </a:xfrm>
        </p:grpSpPr>
        <p:sp>
          <p:nvSpPr>
            <p:cNvPr name="Freeform 30" id="30"/>
            <p:cNvSpPr/>
            <p:nvPr/>
          </p:nvSpPr>
          <p:spPr>
            <a:xfrm flipH="false" flipV="false" rot="0">
              <a:off x="0" y="0"/>
              <a:ext cx="6858000" cy="1188720"/>
            </a:xfrm>
            <a:custGeom>
              <a:avLst/>
              <a:gdLst/>
              <a:ahLst/>
              <a:cxnLst/>
              <a:rect r="r" b="b" t="t" l="l"/>
              <a:pathLst>
                <a:path h="1188720" w="6858000">
                  <a:moveTo>
                    <a:pt x="0" y="0"/>
                  </a:moveTo>
                  <a:lnTo>
                    <a:pt x="6858000" y="0"/>
                  </a:lnTo>
                  <a:lnTo>
                    <a:pt x="6858000" y="1188720"/>
                  </a:lnTo>
                  <a:lnTo>
                    <a:pt x="0" y="1188720"/>
                  </a:lnTo>
                  <a:close/>
                </a:path>
              </a:pathLst>
            </a:custGeom>
            <a:blipFill>
              <a:blip r:embed="rId3">
                <a:alphaModFix amt="0"/>
              </a:blip>
              <a:stretch>
                <a:fillRect l="0" t="-62413" r="0" b="-62413"/>
              </a:stretch>
            </a:blipFill>
          </p:spPr>
        </p:sp>
        <p:sp>
          <p:nvSpPr>
            <p:cNvPr name="TextBox 31" id="31"/>
            <p:cNvSpPr txBox="true"/>
            <p:nvPr/>
          </p:nvSpPr>
          <p:spPr>
            <a:xfrm>
              <a:off x="0" y="-47625"/>
              <a:ext cx="6858000" cy="1236345"/>
            </a:xfrm>
            <a:prstGeom prst="rect">
              <a:avLst/>
            </a:prstGeom>
          </p:spPr>
          <p:txBody>
            <a:bodyPr anchor="ctr" rtlCol="false" tIns="0" lIns="0" bIns="0" rIns="0"/>
            <a:lstStyle/>
            <a:p>
              <a:pPr algn="ctr">
                <a:lnSpc>
                  <a:spcPts val="2520"/>
                </a:lnSpc>
              </a:pPr>
              <a:r>
                <a:rPr lang="en-US" sz="2100">
                  <a:solidFill>
                    <a:srgbClr val="6B7280"/>
                  </a:solidFill>
                  <a:latin typeface="Calibri (MS)"/>
                  <a:ea typeface="Calibri (MS)"/>
                  <a:cs typeface="Calibri (MS)"/>
                  <a:sym typeface="Calibri (MS)"/>
                </a:rPr>
                <a:t>Availability</a:t>
              </a:r>
            </a:p>
          </p:txBody>
        </p:sp>
      </p:grpSp>
      <p:grpSp>
        <p:nvGrpSpPr>
          <p:cNvPr name="Group 32" id="32"/>
          <p:cNvGrpSpPr/>
          <p:nvPr/>
        </p:nvGrpSpPr>
        <p:grpSpPr>
          <a:xfrm rot="0">
            <a:off x="685800" y="9710928"/>
            <a:ext cx="10972800" cy="411480"/>
            <a:chOff x="0" y="0"/>
            <a:chExt cx="14630400" cy="548640"/>
          </a:xfrm>
        </p:grpSpPr>
        <p:sp>
          <p:nvSpPr>
            <p:cNvPr name="Freeform 33" id="33"/>
            <p:cNvSpPr/>
            <p:nvPr/>
          </p:nvSpPr>
          <p:spPr>
            <a:xfrm flipH="false" flipV="false" rot="0">
              <a:off x="0" y="0"/>
              <a:ext cx="14630400" cy="548640"/>
            </a:xfrm>
            <a:custGeom>
              <a:avLst/>
              <a:gdLst/>
              <a:ahLst/>
              <a:cxnLst/>
              <a:rect r="r" b="b" t="t" l="l"/>
              <a:pathLst>
                <a:path h="548640" w="14630400">
                  <a:moveTo>
                    <a:pt x="0" y="0"/>
                  </a:moveTo>
                  <a:lnTo>
                    <a:pt x="14630400" y="0"/>
                  </a:lnTo>
                  <a:lnTo>
                    <a:pt x="14630400" y="548640"/>
                  </a:lnTo>
                  <a:lnTo>
                    <a:pt x="0" y="548640"/>
                  </a:lnTo>
                  <a:close/>
                </a:path>
              </a:pathLst>
            </a:custGeom>
            <a:blipFill>
              <a:blip r:embed="rId3">
                <a:alphaModFix amt="0"/>
              </a:blip>
              <a:stretch>
                <a:fillRect l="0" t="-469601" r="0" b="-469601"/>
              </a:stretch>
            </a:blipFill>
          </p:spPr>
        </p:sp>
        <p:sp>
          <p:nvSpPr>
            <p:cNvPr name="TextBox 34" id="34"/>
            <p:cNvSpPr txBox="true"/>
            <p:nvPr/>
          </p:nvSpPr>
          <p:spPr>
            <a:xfrm>
              <a:off x="0" y="-38100"/>
              <a:ext cx="14630400" cy="586740"/>
            </a:xfrm>
            <a:prstGeom prst="rect">
              <a:avLst/>
            </a:prstGeom>
          </p:spPr>
          <p:txBody>
            <a:bodyPr anchor="ctr" rtlCol="false" tIns="0" lIns="0" bIns="0" rIns="0"/>
            <a:lstStyle/>
            <a:p>
              <a:pPr algn="l">
                <a:lnSpc>
                  <a:spcPts val="1800"/>
                </a:lnSpc>
              </a:pPr>
              <a:r>
                <a:rPr lang="en-US" sz="1500">
                  <a:solidFill>
                    <a:srgbClr val="6B7280"/>
                  </a:solidFill>
                  <a:latin typeface="Calibri (MS)"/>
                  <a:ea typeface="Calibri (MS)"/>
                  <a:cs typeface="Calibri (MS)"/>
                  <a:sym typeface="Calibri (MS)"/>
                </a:rPr>
                <a:t>Davao del Norte Provincial Government — Cybersecurity Seminar</a:t>
              </a:r>
            </a:p>
          </p:txBody>
        </p:sp>
      </p:grpSp>
      <p:grpSp>
        <p:nvGrpSpPr>
          <p:cNvPr name="Group 35" id="35"/>
          <p:cNvGrpSpPr/>
          <p:nvPr/>
        </p:nvGrpSpPr>
        <p:grpSpPr>
          <a:xfrm rot="0">
            <a:off x="16911828" y="9710928"/>
            <a:ext cx="685800" cy="411480"/>
            <a:chOff x="0" y="0"/>
            <a:chExt cx="914400" cy="548640"/>
          </a:xfrm>
        </p:grpSpPr>
        <p:sp>
          <p:nvSpPr>
            <p:cNvPr name="Freeform 36" id="36"/>
            <p:cNvSpPr/>
            <p:nvPr/>
          </p:nvSpPr>
          <p:spPr>
            <a:xfrm flipH="false" flipV="false" rot="0">
              <a:off x="0" y="0"/>
              <a:ext cx="914400" cy="548640"/>
            </a:xfrm>
            <a:custGeom>
              <a:avLst/>
              <a:gdLst/>
              <a:ahLst/>
              <a:cxnLst/>
              <a:rect r="r" b="b" t="t" l="l"/>
              <a:pathLst>
                <a:path h="548640" w="914400">
                  <a:moveTo>
                    <a:pt x="0" y="0"/>
                  </a:moveTo>
                  <a:lnTo>
                    <a:pt x="914400" y="0"/>
                  </a:lnTo>
                  <a:lnTo>
                    <a:pt x="914400" y="548640"/>
                  </a:lnTo>
                  <a:lnTo>
                    <a:pt x="0" y="548640"/>
                  </a:lnTo>
                  <a:close/>
                </a:path>
              </a:pathLst>
            </a:custGeom>
            <a:blipFill>
              <a:blip r:embed="rId3">
                <a:alphaModFix amt="0"/>
              </a:blip>
              <a:stretch>
                <a:fillRect l="-26982" t="0" r="-26982" b="0"/>
              </a:stretch>
            </a:blipFill>
          </p:spPr>
        </p:sp>
        <p:sp>
          <p:nvSpPr>
            <p:cNvPr name="TextBox 37" id="37"/>
            <p:cNvSpPr txBox="true"/>
            <p:nvPr/>
          </p:nvSpPr>
          <p:spPr>
            <a:xfrm>
              <a:off x="0" y="-38100"/>
              <a:ext cx="914400" cy="586740"/>
            </a:xfrm>
            <a:prstGeom prst="rect">
              <a:avLst/>
            </a:prstGeom>
          </p:spPr>
          <p:txBody>
            <a:bodyPr anchor="ctr" rtlCol="false" tIns="0" lIns="0" bIns="0" rIns="0"/>
            <a:lstStyle/>
            <a:p>
              <a:pPr algn="r">
                <a:lnSpc>
                  <a:spcPts val="1800"/>
                </a:lnSpc>
              </a:pPr>
              <a:r>
                <a:rPr lang="en-US" sz="1500">
                  <a:solidFill>
                    <a:srgbClr val="6B7280"/>
                  </a:solidFill>
                  <a:latin typeface="Calibri (MS)"/>
                  <a:ea typeface="Calibri (MS)"/>
                  <a:cs typeface="Calibri (MS)"/>
                  <a:sym typeface="Calibri (MS)"/>
                </a:rPr>
                <a:t>61</a:t>
              </a:r>
            </a:p>
          </p:txBody>
        </p:sp>
      </p:grpSp>
    </p:spTree>
  </p:cSld>
  <p:clrMapOvr>
    <a:masterClrMapping/>
  </p:clrMapOvr>
</p:sld>
</file>

<file path=ppt/slides/slide6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60120" y="685800"/>
            <a:ext cx="13716000" cy="411480"/>
            <a:chOff x="0" y="0"/>
            <a:chExt cx="18288000" cy="548640"/>
          </a:xfrm>
        </p:grpSpPr>
        <p:sp>
          <p:nvSpPr>
            <p:cNvPr name="Freeform 3" id="3"/>
            <p:cNvSpPr/>
            <p:nvPr/>
          </p:nvSpPr>
          <p:spPr>
            <a:xfrm flipH="false" flipV="false" rot="0">
              <a:off x="0" y="0"/>
              <a:ext cx="18288000" cy="548640"/>
            </a:xfrm>
            <a:custGeom>
              <a:avLst/>
              <a:gdLst/>
              <a:ahLst/>
              <a:cxnLst/>
              <a:rect r="r" b="b" t="t" l="l"/>
              <a:pathLst>
                <a:path h="548640" w="18288000">
                  <a:moveTo>
                    <a:pt x="0" y="0"/>
                  </a:moveTo>
                  <a:lnTo>
                    <a:pt x="18288000" y="0"/>
                  </a:lnTo>
                  <a:lnTo>
                    <a:pt x="18288000" y="548640"/>
                  </a:lnTo>
                  <a:lnTo>
                    <a:pt x="0" y="548640"/>
                  </a:lnTo>
                  <a:close/>
                </a:path>
              </a:pathLst>
            </a:custGeom>
            <a:blipFill>
              <a:blip r:embed="rId3">
                <a:alphaModFix amt="0"/>
              </a:blip>
              <a:stretch>
                <a:fillRect l="0" t="-599501" r="0" b="-599501"/>
              </a:stretch>
            </a:blipFill>
          </p:spPr>
        </p:sp>
        <p:sp>
          <p:nvSpPr>
            <p:cNvPr name="TextBox 4" id="4"/>
            <p:cNvSpPr txBox="true"/>
            <p:nvPr/>
          </p:nvSpPr>
          <p:spPr>
            <a:xfrm>
              <a:off x="0" y="-38100"/>
              <a:ext cx="18288000" cy="586740"/>
            </a:xfrm>
            <a:prstGeom prst="rect">
              <a:avLst/>
            </a:prstGeom>
          </p:spPr>
          <p:txBody>
            <a:bodyPr anchor="ctr" rtlCol="false" tIns="0" lIns="0" bIns="0" rIns="0"/>
            <a:lstStyle/>
            <a:p>
              <a:pPr algn="l">
                <a:lnSpc>
                  <a:spcPts val="2160"/>
                </a:lnSpc>
              </a:pPr>
              <a:r>
                <a:rPr lang="en-US" b="true" sz="1800" spc="225">
                  <a:solidFill>
                    <a:srgbClr val="00B4D8"/>
                  </a:solidFill>
                  <a:latin typeface="Calibri (MS) Bold"/>
                  <a:ea typeface="Calibri (MS) Bold"/>
                  <a:cs typeface="Calibri (MS) Bold"/>
                  <a:sym typeface="Calibri (MS) Bold"/>
                </a:rPr>
                <a:t>CIA TRIAD SORT · ANSWER</a:t>
              </a:r>
            </a:p>
          </p:txBody>
        </p:sp>
      </p:grpSp>
      <p:grpSp>
        <p:nvGrpSpPr>
          <p:cNvPr name="Group 5" id="5"/>
          <p:cNvGrpSpPr/>
          <p:nvPr/>
        </p:nvGrpSpPr>
        <p:grpSpPr>
          <a:xfrm rot="0">
            <a:off x="960120" y="1069848"/>
            <a:ext cx="10972800" cy="822960"/>
            <a:chOff x="0" y="0"/>
            <a:chExt cx="14630400" cy="1097280"/>
          </a:xfrm>
        </p:grpSpPr>
        <p:sp>
          <p:nvSpPr>
            <p:cNvPr name="Freeform 6" id="6"/>
            <p:cNvSpPr/>
            <p:nvPr/>
          </p:nvSpPr>
          <p:spPr>
            <a:xfrm flipH="false" flipV="false" rot="0">
              <a:off x="0" y="0"/>
              <a:ext cx="14630400" cy="1097280"/>
            </a:xfrm>
            <a:custGeom>
              <a:avLst/>
              <a:gdLst/>
              <a:ahLst/>
              <a:cxnLst/>
              <a:rect r="r" b="b" t="t" l="l"/>
              <a:pathLst>
                <a:path h="1097280" w="14630400">
                  <a:moveTo>
                    <a:pt x="0" y="0"/>
                  </a:moveTo>
                  <a:lnTo>
                    <a:pt x="14630400" y="0"/>
                  </a:lnTo>
                  <a:lnTo>
                    <a:pt x="14630400" y="1097280"/>
                  </a:lnTo>
                  <a:lnTo>
                    <a:pt x="0" y="1097280"/>
                  </a:lnTo>
                  <a:close/>
                </a:path>
              </a:pathLst>
            </a:custGeom>
            <a:blipFill>
              <a:blip r:embed="rId3">
                <a:alphaModFix amt="0"/>
              </a:blip>
              <a:stretch>
                <a:fillRect l="0" t="-209800" r="0" b="-209800"/>
              </a:stretch>
            </a:blipFill>
          </p:spPr>
        </p:sp>
        <p:sp>
          <p:nvSpPr>
            <p:cNvPr name="TextBox 7" id="7"/>
            <p:cNvSpPr txBox="true"/>
            <p:nvPr/>
          </p:nvSpPr>
          <p:spPr>
            <a:xfrm>
              <a:off x="0" y="0"/>
              <a:ext cx="14630400" cy="1097280"/>
            </a:xfrm>
            <a:prstGeom prst="rect">
              <a:avLst/>
            </a:prstGeom>
          </p:spPr>
          <p:txBody>
            <a:bodyPr anchor="ctr" rtlCol="false" tIns="0" lIns="0" bIns="0" rIns="0"/>
            <a:lstStyle/>
            <a:p>
              <a:pPr algn="l">
                <a:lnSpc>
                  <a:spcPts val="4680"/>
                </a:lnSpc>
              </a:pPr>
              <a:r>
                <a:rPr lang="en-US" sz="3900" b="true">
                  <a:solidFill>
                    <a:srgbClr val="1E2761"/>
                  </a:solidFill>
                  <a:latin typeface="Cambria Bold"/>
                  <a:ea typeface="Cambria Bold"/>
                  <a:cs typeface="Cambria Bold"/>
                  <a:sym typeface="Cambria Bold"/>
                </a:rPr>
                <a:t>Scenario 12 — Answer</a:t>
              </a:r>
            </a:p>
          </p:txBody>
        </p:sp>
      </p:grpSp>
      <p:grpSp>
        <p:nvGrpSpPr>
          <p:cNvPr name="Group 8" id="8"/>
          <p:cNvGrpSpPr/>
          <p:nvPr/>
        </p:nvGrpSpPr>
        <p:grpSpPr>
          <a:xfrm rot="0">
            <a:off x="960120" y="1810512"/>
            <a:ext cx="8229600" cy="411480"/>
            <a:chOff x="0" y="0"/>
            <a:chExt cx="10972800" cy="548640"/>
          </a:xfrm>
        </p:grpSpPr>
        <p:sp>
          <p:nvSpPr>
            <p:cNvPr name="Freeform 9" id="9"/>
            <p:cNvSpPr/>
            <p:nvPr/>
          </p:nvSpPr>
          <p:spPr>
            <a:xfrm flipH="false" flipV="false" rot="0">
              <a:off x="0" y="0"/>
              <a:ext cx="10972800" cy="548640"/>
            </a:xfrm>
            <a:custGeom>
              <a:avLst/>
              <a:gdLst/>
              <a:ahLst/>
              <a:cxnLst/>
              <a:rect r="r" b="b" t="t" l="l"/>
              <a:pathLst>
                <a:path h="548640" w="10972800">
                  <a:moveTo>
                    <a:pt x="0" y="0"/>
                  </a:moveTo>
                  <a:lnTo>
                    <a:pt x="10972800" y="0"/>
                  </a:lnTo>
                  <a:lnTo>
                    <a:pt x="10972800" y="548640"/>
                  </a:lnTo>
                  <a:lnTo>
                    <a:pt x="0" y="548640"/>
                  </a:lnTo>
                  <a:close/>
                </a:path>
              </a:pathLst>
            </a:custGeom>
            <a:blipFill>
              <a:blip r:embed="rId3">
                <a:alphaModFix amt="0"/>
              </a:blip>
              <a:stretch>
                <a:fillRect l="0" t="-339700" r="0" b="-339700"/>
              </a:stretch>
            </a:blipFill>
          </p:spPr>
        </p:sp>
        <p:sp>
          <p:nvSpPr>
            <p:cNvPr name="TextBox 10" id="10"/>
            <p:cNvSpPr txBox="true"/>
            <p:nvPr/>
          </p:nvSpPr>
          <p:spPr>
            <a:xfrm>
              <a:off x="0" y="-28575"/>
              <a:ext cx="10972800" cy="577215"/>
            </a:xfrm>
            <a:prstGeom prst="rect">
              <a:avLst/>
            </a:prstGeom>
          </p:spPr>
          <p:txBody>
            <a:bodyPr anchor="ctr" rtlCol="false" tIns="0" lIns="0" bIns="0" rIns="0"/>
            <a:lstStyle/>
            <a:p>
              <a:pPr algn="l">
                <a:lnSpc>
                  <a:spcPts val="1980"/>
                </a:lnSpc>
              </a:pPr>
              <a:r>
                <a:rPr lang="en-US" sz="1650">
                  <a:solidFill>
                    <a:srgbClr val="6B7280"/>
                  </a:solidFill>
                  <a:latin typeface="Calibri (MS)"/>
                  <a:ea typeface="Calibri (MS)"/>
                  <a:cs typeface="Calibri (MS)"/>
                  <a:sym typeface="Calibri (MS)"/>
                </a:rPr>
                <a:t>12 of 12</a:t>
              </a:r>
            </a:p>
          </p:txBody>
        </p:sp>
      </p:grpSp>
      <p:grpSp>
        <p:nvGrpSpPr>
          <p:cNvPr name="Group 11" id="11"/>
          <p:cNvGrpSpPr/>
          <p:nvPr/>
        </p:nvGrpSpPr>
        <p:grpSpPr>
          <a:xfrm rot="0">
            <a:off x="960120" y="2537460"/>
            <a:ext cx="16322040" cy="2400300"/>
            <a:chOff x="0" y="0"/>
            <a:chExt cx="21762720" cy="3200400"/>
          </a:xfrm>
        </p:grpSpPr>
        <p:sp>
          <p:nvSpPr>
            <p:cNvPr name="Freeform 12" id="12"/>
            <p:cNvSpPr/>
            <p:nvPr/>
          </p:nvSpPr>
          <p:spPr>
            <a:xfrm flipH="false" flipV="false" rot="0">
              <a:off x="0" y="0"/>
              <a:ext cx="21762720" cy="3200400"/>
            </a:xfrm>
            <a:custGeom>
              <a:avLst/>
              <a:gdLst/>
              <a:ahLst/>
              <a:cxnLst/>
              <a:rect r="r" b="b" t="t" l="l"/>
              <a:pathLst>
                <a:path h="3200400" w="21762720">
                  <a:moveTo>
                    <a:pt x="0" y="182880"/>
                  </a:moveTo>
                  <a:cubicBezTo>
                    <a:pt x="0" y="81915"/>
                    <a:pt x="81915" y="0"/>
                    <a:pt x="182880" y="0"/>
                  </a:cubicBezTo>
                  <a:lnTo>
                    <a:pt x="21579839" y="0"/>
                  </a:lnTo>
                  <a:cubicBezTo>
                    <a:pt x="21680804" y="0"/>
                    <a:pt x="21762720" y="81915"/>
                    <a:pt x="21762720" y="182880"/>
                  </a:cubicBezTo>
                  <a:lnTo>
                    <a:pt x="21762720" y="3017520"/>
                  </a:lnTo>
                  <a:cubicBezTo>
                    <a:pt x="21762720" y="3118485"/>
                    <a:pt x="21680804" y="3200400"/>
                    <a:pt x="21579839" y="3200400"/>
                  </a:cubicBezTo>
                  <a:lnTo>
                    <a:pt x="182880" y="3200400"/>
                  </a:lnTo>
                  <a:cubicBezTo>
                    <a:pt x="81915" y="3200400"/>
                    <a:pt x="0" y="3118485"/>
                    <a:pt x="0" y="3017520"/>
                  </a:cubicBezTo>
                  <a:close/>
                </a:path>
              </a:pathLst>
            </a:custGeom>
            <a:solidFill>
              <a:srgbClr val="F4F7FC"/>
            </a:solidFill>
          </p:spPr>
        </p:sp>
      </p:grpSp>
      <p:grpSp>
        <p:nvGrpSpPr>
          <p:cNvPr name="Group 13" id="13"/>
          <p:cNvGrpSpPr/>
          <p:nvPr/>
        </p:nvGrpSpPr>
        <p:grpSpPr>
          <a:xfrm rot="0">
            <a:off x="1440180" y="2811780"/>
            <a:ext cx="15361920" cy="1851660"/>
            <a:chOff x="0" y="0"/>
            <a:chExt cx="20482560" cy="2468880"/>
          </a:xfrm>
        </p:grpSpPr>
        <p:sp>
          <p:nvSpPr>
            <p:cNvPr name="Freeform 14" id="14"/>
            <p:cNvSpPr/>
            <p:nvPr/>
          </p:nvSpPr>
          <p:spPr>
            <a:xfrm flipH="false" flipV="false" rot="0">
              <a:off x="0" y="0"/>
              <a:ext cx="20482561" cy="2468880"/>
            </a:xfrm>
            <a:custGeom>
              <a:avLst/>
              <a:gdLst/>
              <a:ahLst/>
              <a:cxnLst/>
              <a:rect r="r" b="b" t="t" l="l"/>
              <a:pathLst>
                <a:path h="2468880" w="20482561">
                  <a:moveTo>
                    <a:pt x="0" y="0"/>
                  </a:moveTo>
                  <a:lnTo>
                    <a:pt x="20482561" y="0"/>
                  </a:lnTo>
                  <a:lnTo>
                    <a:pt x="20482561" y="2468880"/>
                  </a:lnTo>
                  <a:lnTo>
                    <a:pt x="0" y="2468880"/>
                  </a:lnTo>
                  <a:close/>
                </a:path>
              </a:pathLst>
            </a:custGeom>
            <a:blipFill>
              <a:blip r:embed="rId3">
                <a:alphaModFix amt="0"/>
              </a:blip>
              <a:stretch>
                <a:fillRect l="0" t="-111653" r="0" b="-111653"/>
              </a:stretch>
            </a:blipFill>
          </p:spPr>
        </p:sp>
        <p:sp>
          <p:nvSpPr>
            <p:cNvPr name="TextBox 15" id="15"/>
            <p:cNvSpPr txBox="true"/>
            <p:nvPr/>
          </p:nvSpPr>
          <p:spPr>
            <a:xfrm>
              <a:off x="0" y="-95250"/>
              <a:ext cx="20482560" cy="2564130"/>
            </a:xfrm>
            <a:prstGeom prst="rect">
              <a:avLst/>
            </a:prstGeom>
          </p:spPr>
          <p:txBody>
            <a:bodyPr anchor="ctr" rtlCol="false" tIns="0" lIns="0" bIns="0" rIns="0"/>
            <a:lstStyle/>
            <a:p>
              <a:pPr algn="l">
                <a:lnSpc>
                  <a:spcPts val="3916"/>
                </a:lnSpc>
              </a:pPr>
              <a:r>
                <a:rPr lang="en-US" sz="2550" i="true">
                  <a:solidFill>
                    <a:srgbClr val="23262F"/>
                  </a:solidFill>
                  <a:latin typeface="Cambria Italics"/>
                  <a:ea typeface="Cambria Italics"/>
                  <a:cs typeface="Cambria Italics"/>
                  <a:sym typeface="Cambria Italics"/>
                </a:rPr>
                <a:t>“A former employee's account — never deactivated after they left — is used to quietly change several business-permit applications from “denied” to “approved.””</a:t>
              </a:r>
            </a:p>
          </p:txBody>
        </p:sp>
      </p:grpSp>
      <p:grpSp>
        <p:nvGrpSpPr>
          <p:cNvPr name="Group 16" id="16"/>
          <p:cNvGrpSpPr/>
          <p:nvPr/>
        </p:nvGrpSpPr>
        <p:grpSpPr>
          <a:xfrm rot="0">
            <a:off x="950595" y="5408295"/>
            <a:ext cx="5162550" cy="910590"/>
            <a:chOff x="0" y="0"/>
            <a:chExt cx="6883400" cy="1214120"/>
          </a:xfrm>
        </p:grpSpPr>
        <p:sp>
          <p:nvSpPr>
            <p:cNvPr name="Freeform 17" id="17"/>
            <p:cNvSpPr/>
            <p:nvPr/>
          </p:nvSpPr>
          <p:spPr>
            <a:xfrm flipH="false" flipV="false" rot="0">
              <a:off x="0" y="0"/>
              <a:ext cx="6883400" cy="1214120"/>
            </a:xfrm>
            <a:custGeom>
              <a:avLst/>
              <a:gdLst/>
              <a:ahLst/>
              <a:cxnLst/>
              <a:rect r="r" b="b" t="t" l="l"/>
              <a:pathLst>
                <a:path h="1214120" w="6883400">
                  <a:moveTo>
                    <a:pt x="0" y="168148"/>
                  </a:moveTo>
                  <a:cubicBezTo>
                    <a:pt x="0" y="75311"/>
                    <a:pt x="75311" y="0"/>
                    <a:pt x="168148" y="0"/>
                  </a:cubicBezTo>
                  <a:lnTo>
                    <a:pt x="6715252" y="0"/>
                  </a:lnTo>
                  <a:cubicBezTo>
                    <a:pt x="6808089" y="0"/>
                    <a:pt x="6883400" y="75311"/>
                    <a:pt x="6883400" y="168148"/>
                  </a:cubicBezTo>
                  <a:lnTo>
                    <a:pt x="6883400" y="1045972"/>
                  </a:lnTo>
                  <a:cubicBezTo>
                    <a:pt x="6883400" y="1138809"/>
                    <a:pt x="6808089" y="1214120"/>
                    <a:pt x="6715252" y="1214120"/>
                  </a:cubicBezTo>
                  <a:lnTo>
                    <a:pt x="168148" y="1214120"/>
                  </a:lnTo>
                  <a:cubicBezTo>
                    <a:pt x="75311" y="1214120"/>
                    <a:pt x="0" y="1138809"/>
                    <a:pt x="0" y="1045972"/>
                  </a:cubicBezTo>
                  <a:close/>
                </a:path>
              </a:pathLst>
            </a:custGeom>
            <a:solidFill>
              <a:srgbClr val="6C4FD1"/>
            </a:solidFill>
            <a:ln w="19050" cap="sq">
              <a:solidFill>
                <a:srgbClr val="6C4FD1"/>
              </a:solidFill>
              <a:prstDash val="solid"/>
              <a:miter/>
            </a:ln>
          </p:spPr>
        </p:sp>
      </p:grpSp>
      <p:grpSp>
        <p:nvGrpSpPr>
          <p:cNvPr name="Group 18" id="18"/>
          <p:cNvGrpSpPr/>
          <p:nvPr/>
        </p:nvGrpSpPr>
        <p:grpSpPr>
          <a:xfrm rot="0">
            <a:off x="960120" y="5417820"/>
            <a:ext cx="5143500" cy="891540"/>
            <a:chOff x="0" y="0"/>
            <a:chExt cx="6858000" cy="1188720"/>
          </a:xfrm>
        </p:grpSpPr>
        <p:sp>
          <p:nvSpPr>
            <p:cNvPr name="Freeform 19" id="19"/>
            <p:cNvSpPr/>
            <p:nvPr/>
          </p:nvSpPr>
          <p:spPr>
            <a:xfrm flipH="false" flipV="false" rot="0">
              <a:off x="0" y="0"/>
              <a:ext cx="6858000" cy="1188720"/>
            </a:xfrm>
            <a:custGeom>
              <a:avLst/>
              <a:gdLst/>
              <a:ahLst/>
              <a:cxnLst/>
              <a:rect r="r" b="b" t="t" l="l"/>
              <a:pathLst>
                <a:path h="1188720" w="6858000">
                  <a:moveTo>
                    <a:pt x="0" y="0"/>
                  </a:moveTo>
                  <a:lnTo>
                    <a:pt x="6858000" y="0"/>
                  </a:lnTo>
                  <a:lnTo>
                    <a:pt x="6858000" y="1188720"/>
                  </a:lnTo>
                  <a:lnTo>
                    <a:pt x="0" y="1188720"/>
                  </a:lnTo>
                  <a:close/>
                </a:path>
              </a:pathLst>
            </a:custGeom>
            <a:blipFill>
              <a:blip r:embed="rId3">
                <a:alphaModFix amt="0"/>
              </a:blip>
              <a:stretch>
                <a:fillRect l="0" t="-62413" r="0" b="-62413"/>
              </a:stretch>
            </a:blipFill>
          </p:spPr>
        </p:sp>
        <p:sp>
          <p:nvSpPr>
            <p:cNvPr name="TextBox 20" id="20"/>
            <p:cNvSpPr txBox="true"/>
            <p:nvPr/>
          </p:nvSpPr>
          <p:spPr>
            <a:xfrm>
              <a:off x="0" y="-47625"/>
              <a:ext cx="6858000" cy="1236345"/>
            </a:xfrm>
            <a:prstGeom prst="rect">
              <a:avLst/>
            </a:prstGeom>
          </p:spPr>
          <p:txBody>
            <a:bodyPr anchor="ctr" rtlCol="false" tIns="0" lIns="0" bIns="0" rIns="0"/>
            <a:lstStyle/>
            <a:p>
              <a:pPr algn="ctr">
                <a:lnSpc>
                  <a:spcPts val="2520"/>
                </a:lnSpc>
              </a:pPr>
              <a:r>
                <a:rPr lang="en-US" sz="2100" b="true">
                  <a:solidFill>
                    <a:srgbClr val="FFFFFF"/>
                  </a:solidFill>
                  <a:latin typeface="Calibri (MS) Bold"/>
                  <a:ea typeface="Calibri (MS) Bold"/>
                  <a:cs typeface="Calibri (MS) Bold"/>
                  <a:sym typeface="Calibri (MS) Bold"/>
                </a:rPr>
                <a:t>✓  Confidentiality</a:t>
              </a:r>
            </a:p>
          </p:txBody>
        </p:sp>
      </p:grpSp>
      <p:grpSp>
        <p:nvGrpSpPr>
          <p:cNvPr name="Group 21" id="21"/>
          <p:cNvGrpSpPr/>
          <p:nvPr/>
        </p:nvGrpSpPr>
        <p:grpSpPr>
          <a:xfrm rot="0">
            <a:off x="6533007" y="5408295"/>
            <a:ext cx="5162550" cy="910590"/>
            <a:chOff x="0" y="0"/>
            <a:chExt cx="6883400" cy="1214120"/>
          </a:xfrm>
        </p:grpSpPr>
        <p:sp>
          <p:nvSpPr>
            <p:cNvPr name="Freeform 22" id="22"/>
            <p:cNvSpPr/>
            <p:nvPr/>
          </p:nvSpPr>
          <p:spPr>
            <a:xfrm flipH="false" flipV="false" rot="0">
              <a:off x="0" y="0"/>
              <a:ext cx="6883400" cy="1214120"/>
            </a:xfrm>
            <a:custGeom>
              <a:avLst/>
              <a:gdLst/>
              <a:ahLst/>
              <a:cxnLst/>
              <a:rect r="r" b="b" t="t" l="l"/>
              <a:pathLst>
                <a:path h="1214120" w="6883400">
                  <a:moveTo>
                    <a:pt x="0" y="168148"/>
                  </a:moveTo>
                  <a:cubicBezTo>
                    <a:pt x="0" y="75311"/>
                    <a:pt x="75311" y="0"/>
                    <a:pt x="168148" y="0"/>
                  </a:cubicBezTo>
                  <a:lnTo>
                    <a:pt x="6715252" y="0"/>
                  </a:lnTo>
                  <a:cubicBezTo>
                    <a:pt x="6808089" y="0"/>
                    <a:pt x="6883400" y="75311"/>
                    <a:pt x="6883400" y="168148"/>
                  </a:cubicBezTo>
                  <a:lnTo>
                    <a:pt x="6883400" y="1045972"/>
                  </a:lnTo>
                  <a:cubicBezTo>
                    <a:pt x="6883400" y="1138809"/>
                    <a:pt x="6808089" y="1214120"/>
                    <a:pt x="6715252" y="1214120"/>
                  </a:cubicBezTo>
                  <a:lnTo>
                    <a:pt x="168148" y="1214120"/>
                  </a:lnTo>
                  <a:cubicBezTo>
                    <a:pt x="75311" y="1214120"/>
                    <a:pt x="0" y="1138809"/>
                    <a:pt x="0" y="1045972"/>
                  </a:cubicBezTo>
                  <a:close/>
                </a:path>
              </a:pathLst>
            </a:custGeom>
            <a:solidFill>
              <a:srgbClr val="0F8A6E"/>
            </a:solidFill>
            <a:ln w="19050" cap="sq">
              <a:solidFill>
                <a:srgbClr val="0F8A6E"/>
              </a:solidFill>
              <a:prstDash val="solid"/>
              <a:miter/>
            </a:ln>
          </p:spPr>
        </p:sp>
      </p:grpSp>
      <p:grpSp>
        <p:nvGrpSpPr>
          <p:cNvPr name="Group 23" id="23"/>
          <p:cNvGrpSpPr/>
          <p:nvPr/>
        </p:nvGrpSpPr>
        <p:grpSpPr>
          <a:xfrm rot="0">
            <a:off x="6542532" y="5417820"/>
            <a:ext cx="5143500" cy="891540"/>
            <a:chOff x="0" y="0"/>
            <a:chExt cx="6858000" cy="1188720"/>
          </a:xfrm>
        </p:grpSpPr>
        <p:sp>
          <p:nvSpPr>
            <p:cNvPr name="Freeform 24" id="24"/>
            <p:cNvSpPr/>
            <p:nvPr/>
          </p:nvSpPr>
          <p:spPr>
            <a:xfrm flipH="false" flipV="false" rot="0">
              <a:off x="0" y="0"/>
              <a:ext cx="6858000" cy="1188720"/>
            </a:xfrm>
            <a:custGeom>
              <a:avLst/>
              <a:gdLst/>
              <a:ahLst/>
              <a:cxnLst/>
              <a:rect r="r" b="b" t="t" l="l"/>
              <a:pathLst>
                <a:path h="1188720" w="6858000">
                  <a:moveTo>
                    <a:pt x="0" y="0"/>
                  </a:moveTo>
                  <a:lnTo>
                    <a:pt x="6858000" y="0"/>
                  </a:lnTo>
                  <a:lnTo>
                    <a:pt x="6858000" y="1188720"/>
                  </a:lnTo>
                  <a:lnTo>
                    <a:pt x="0" y="1188720"/>
                  </a:lnTo>
                  <a:close/>
                </a:path>
              </a:pathLst>
            </a:custGeom>
            <a:blipFill>
              <a:blip r:embed="rId3">
                <a:alphaModFix amt="0"/>
              </a:blip>
              <a:stretch>
                <a:fillRect l="0" t="-62413" r="0" b="-62413"/>
              </a:stretch>
            </a:blipFill>
          </p:spPr>
        </p:sp>
        <p:sp>
          <p:nvSpPr>
            <p:cNvPr name="TextBox 25" id="25"/>
            <p:cNvSpPr txBox="true"/>
            <p:nvPr/>
          </p:nvSpPr>
          <p:spPr>
            <a:xfrm>
              <a:off x="0" y="-47625"/>
              <a:ext cx="6858000" cy="1236345"/>
            </a:xfrm>
            <a:prstGeom prst="rect">
              <a:avLst/>
            </a:prstGeom>
          </p:spPr>
          <p:txBody>
            <a:bodyPr anchor="ctr" rtlCol="false" tIns="0" lIns="0" bIns="0" rIns="0"/>
            <a:lstStyle/>
            <a:p>
              <a:pPr algn="ctr">
                <a:lnSpc>
                  <a:spcPts val="2520"/>
                </a:lnSpc>
              </a:pPr>
              <a:r>
                <a:rPr lang="en-US" sz="2100" b="true">
                  <a:solidFill>
                    <a:srgbClr val="FFFFFF"/>
                  </a:solidFill>
                  <a:latin typeface="Calibri (MS) Bold"/>
                  <a:ea typeface="Calibri (MS) Bold"/>
                  <a:cs typeface="Calibri (MS) Bold"/>
                  <a:sym typeface="Calibri (MS) Bold"/>
                </a:rPr>
                <a:t>✓  Integrity</a:t>
              </a:r>
            </a:p>
          </p:txBody>
        </p:sp>
      </p:grpSp>
      <p:grpSp>
        <p:nvGrpSpPr>
          <p:cNvPr name="Group 26" id="26"/>
          <p:cNvGrpSpPr/>
          <p:nvPr/>
        </p:nvGrpSpPr>
        <p:grpSpPr>
          <a:xfrm rot="0">
            <a:off x="12115419" y="5408295"/>
            <a:ext cx="5162550" cy="910590"/>
            <a:chOff x="0" y="0"/>
            <a:chExt cx="6883400" cy="1214120"/>
          </a:xfrm>
        </p:grpSpPr>
        <p:sp>
          <p:nvSpPr>
            <p:cNvPr name="Freeform 27" id="27"/>
            <p:cNvSpPr/>
            <p:nvPr/>
          </p:nvSpPr>
          <p:spPr>
            <a:xfrm flipH="false" flipV="false" rot="0">
              <a:off x="0" y="0"/>
              <a:ext cx="6883400" cy="1214120"/>
            </a:xfrm>
            <a:custGeom>
              <a:avLst/>
              <a:gdLst/>
              <a:ahLst/>
              <a:cxnLst/>
              <a:rect r="r" b="b" t="t" l="l"/>
              <a:pathLst>
                <a:path h="1214120" w="6883400">
                  <a:moveTo>
                    <a:pt x="0" y="168148"/>
                  </a:moveTo>
                  <a:cubicBezTo>
                    <a:pt x="0" y="75311"/>
                    <a:pt x="75311" y="0"/>
                    <a:pt x="168148" y="0"/>
                  </a:cubicBezTo>
                  <a:lnTo>
                    <a:pt x="6715252" y="0"/>
                  </a:lnTo>
                  <a:cubicBezTo>
                    <a:pt x="6808089" y="0"/>
                    <a:pt x="6883400" y="75311"/>
                    <a:pt x="6883400" y="168148"/>
                  </a:cubicBezTo>
                  <a:lnTo>
                    <a:pt x="6883400" y="1045972"/>
                  </a:lnTo>
                  <a:cubicBezTo>
                    <a:pt x="6883400" y="1138809"/>
                    <a:pt x="6808089" y="1214120"/>
                    <a:pt x="6715252" y="1214120"/>
                  </a:cubicBezTo>
                  <a:lnTo>
                    <a:pt x="168148" y="1214120"/>
                  </a:lnTo>
                  <a:cubicBezTo>
                    <a:pt x="75311" y="1214120"/>
                    <a:pt x="0" y="1138809"/>
                    <a:pt x="0" y="1045972"/>
                  </a:cubicBezTo>
                  <a:close/>
                </a:path>
              </a:pathLst>
            </a:custGeom>
            <a:solidFill>
              <a:srgbClr val="F4F7FC"/>
            </a:solidFill>
            <a:ln w="19050" cap="sq">
              <a:solidFill>
                <a:srgbClr val="D7DCEC"/>
              </a:solidFill>
              <a:prstDash val="solid"/>
              <a:miter/>
            </a:ln>
          </p:spPr>
        </p:sp>
      </p:grpSp>
      <p:grpSp>
        <p:nvGrpSpPr>
          <p:cNvPr name="Group 28" id="28"/>
          <p:cNvGrpSpPr/>
          <p:nvPr/>
        </p:nvGrpSpPr>
        <p:grpSpPr>
          <a:xfrm rot="0">
            <a:off x="12124944" y="5417820"/>
            <a:ext cx="5143500" cy="891540"/>
            <a:chOff x="0" y="0"/>
            <a:chExt cx="6858000" cy="1188720"/>
          </a:xfrm>
        </p:grpSpPr>
        <p:sp>
          <p:nvSpPr>
            <p:cNvPr name="Freeform 29" id="29"/>
            <p:cNvSpPr/>
            <p:nvPr/>
          </p:nvSpPr>
          <p:spPr>
            <a:xfrm flipH="false" flipV="false" rot="0">
              <a:off x="0" y="0"/>
              <a:ext cx="6858000" cy="1188720"/>
            </a:xfrm>
            <a:custGeom>
              <a:avLst/>
              <a:gdLst/>
              <a:ahLst/>
              <a:cxnLst/>
              <a:rect r="r" b="b" t="t" l="l"/>
              <a:pathLst>
                <a:path h="1188720" w="6858000">
                  <a:moveTo>
                    <a:pt x="0" y="0"/>
                  </a:moveTo>
                  <a:lnTo>
                    <a:pt x="6858000" y="0"/>
                  </a:lnTo>
                  <a:lnTo>
                    <a:pt x="6858000" y="1188720"/>
                  </a:lnTo>
                  <a:lnTo>
                    <a:pt x="0" y="1188720"/>
                  </a:lnTo>
                  <a:close/>
                </a:path>
              </a:pathLst>
            </a:custGeom>
            <a:blipFill>
              <a:blip r:embed="rId3">
                <a:alphaModFix amt="0"/>
              </a:blip>
              <a:stretch>
                <a:fillRect l="0" t="-62413" r="0" b="-62413"/>
              </a:stretch>
            </a:blipFill>
          </p:spPr>
        </p:sp>
        <p:sp>
          <p:nvSpPr>
            <p:cNvPr name="TextBox 30" id="30"/>
            <p:cNvSpPr txBox="true"/>
            <p:nvPr/>
          </p:nvSpPr>
          <p:spPr>
            <a:xfrm>
              <a:off x="0" y="-47625"/>
              <a:ext cx="6858000" cy="1236345"/>
            </a:xfrm>
            <a:prstGeom prst="rect">
              <a:avLst/>
            </a:prstGeom>
          </p:spPr>
          <p:txBody>
            <a:bodyPr anchor="ctr" rtlCol="false" tIns="0" lIns="0" bIns="0" rIns="0"/>
            <a:lstStyle/>
            <a:p>
              <a:pPr algn="ctr">
                <a:lnSpc>
                  <a:spcPts val="2520"/>
                </a:lnSpc>
              </a:pPr>
              <a:r>
                <a:rPr lang="en-US" sz="2100">
                  <a:solidFill>
                    <a:srgbClr val="6B7280"/>
                  </a:solidFill>
                  <a:latin typeface="Calibri (MS)"/>
                  <a:ea typeface="Calibri (MS)"/>
                  <a:cs typeface="Calibri (MS)"/>
                  <a:sym typeface="Calibri (MS)"/>
                </a:rPr>
                <a:t>Availability</a:t>
              </a:r>
            </a:p>
          </p:txBody>
        </p:sp>
      </p:grpSp>
      <p:grpSp>
        <p:nvGrpSpPr>
          <p:cNvPr name="Group 31" id="31"/>
          <p:cNvGrpSpPr/>
          <p:nvPr/>
        </p:nvGrpSpPr>
        <p:grpSpPr>
          <a:xfrm rot="0">
            <a:off x="950595" y="6779895"/>
            <a:ext cx="16341090" cy="2145030"/>
            <a:chOff x="0" y="0"/>
            <a:chExt cx="21788120" cy="2860040"/>
          </a:xfrm>
        </p:grpSpPr>
        <p:sp>
          <p:nvSpPr>
            <p:cNvPr name="Freeform 32" id="32"/>
            <p:cNvSpPr/>
            <p:nvPr/>
          </p:nvSpPr>
          <p:spPr>
            <a:xfrm flipH="false" flipV="false" rot="0">
              <a:off x="0" y="0"/>
              <a:ext cx="21788120" cy="2860040"/>
            </a:xfrm>
            <a:custGeom>
              <a:avLst/>
              <a:gdLst/>
              <a:ahLst/>
              <a:cxnLst/>
              <a:rect r="r" b="b" t="t" l="l"/>
              <a:pathLst>
                <a:path h="2860040" w="21788120">
                  <a:moveTo>
                    <a:pt x="0" y="184531"/>
                  </a:moveTo>
                  <a:cubicBezTo>
                    <a:pt x="0" y="82677"/>
                    <a:pt x="82677" y="0"/>
                    <a:pt x="184531" y="0"/>
                  </a:cubicBezTo>
                  <a:lnTo>
                    <a:pt x="21603588" y="0"/>
                  </a:lnTo>
                  <a:cubicBezTo>
                    <a:pt x="21705443" y="0"/>
                    <a:pt x="21788120" y="82677"/>
                    <a:pt x="21788120" y="184531"/>
                  </a:cubicBezTo>
                  <a:lnTo>
                    <a:pt x="21788120" y="2675509"/>
                  </a:lnTo>
                  <a:cubicBezTo>
                    <a:pt x="21788120" y="2777363"/>
                    <a:pt x="21705443" y="2860040"/>
                    <a:pt x="21603588" y="2860040"/>
                  </a:cubicBezTo>
                  <a:lnTo>
                    <a:pt x="184531" y="2860040"/>
                  </a:lnTo>
                  <a:cubicBezTo>
                    <a:pt x="82677" y="2860040"/>
                    <a:pt x="0" y="2777363"/>
                    <a:pt x="0" y="2675509"/>
                  </a:cubicBezTo>
                  <a:close/>
                </a:path>
              </a:pathLst>
            </a:custGeom>
            <a:solidFill>
              <a:srgbClr val="FBF9F4"/>
            </a:solidFill>
            <a:ln w="19050" cap="sq">
              <a:solidFill>
                <a:srgbClr val="EFE6D2"/>
              </a:solidFill>
              <a:prstDash val="solid"/>
              <a:miter/>
            </a:ln>
          </p:spPr>
        </p:sp>
      </p:grpSp>
      <p:sp>
        <p:nvSpPr>
          <p:cNvPr name="TextBox 33" id="33"/>
          <p:cNvSpPr txBox="true"/>
          <p:nvPr/>
        </p:nvSpPr>
        <p:spPr>
          <a:xfrm rot="0">
            <a:off x="1463040" y="6977253"/>
            <a:ext cx="15316200" cy="1659255"/>
          </a:xfrm>
          <a:prstGeom prst="rect">
            <a:avLst/>
          </a:prstGeom>
        </p:spPr>
        <p:txBody>
          <a:bodyPr anchor="t" rtlCol="false" tIns="0" lIns="0" bIns="0" rIns="0">
            <a:spAutoFit/>
          </a:bodyPr>
          <a:lstStyle/>
          <a:p>
            <a:pPr algn="l">
              <a:lnSpc>
                <a:spcPts val="3159"/>
              </a:lnSpc>
            </a:pPr>
            <a:r>
              <a:rPr lang="en-US" sz="2025">
                <a:solidFill>
                  <a:srgbClr val="23262F"/>
                </a:solidFill>
                <a:latin typeface="Calibri (MS)"/>
                <a:ea typeface="Calibri (MS)"/>
                <a:cs typeface="Calibri (MS)"/>
                <a:sym typeface="Calibri (MS)"/>
              </a:rPr>
              <a:t>The core harm is that official records were changed by someone with no authority to change them — an Integrity failure. It also flags a Confidentiality/access-control gap: an account that should have been shut off was still live.</a:t>
            </a:r>
          </a:p>
        </p:txBody>
      </p:sp>
      <p:grpSp>
        <p:nvGrpSpPr>
          <p:cNvPr name="Group 34" id="34"/>
          <p:cNvGrpSpPr/>
          <p:nvPr/>
        </p:nvGrpSpPr>
        <p:grpSpPr>
          <a:xfrm rot="0">
            <a:off x="685800" y="9710928"/>
            <a:ext cx="10972800" cy="411480"/>
            <a:chOff x="0" y="0"/>
            <a:chExt cx="14630400" cy="548640"/>
          </a:xfrm>
        </p:grpSpPr>
        <p:sp>
          <p:nvSpPr>
            <p:cNvPr name="Freeform 35" id="35"/>
            <p:cNvSpPr/>
            <p:nvPr/>
          </p:nvSpPr>
          <p:spPr>
            <a:xfrm flipH="false" flipV="false" rot="0">
              <a:off x="0" y="0"/>
              <a:ext cx="14630400" cy="548640"/>
            </a:xfrm>
            <a:custGeom>
              <a:avLst/>
              <a:gdLst/>
              <a:ahLst/>
              <a:cxnLst/>
              <a:rect r="r" b="b" t="t" l="l"/>
              <a:pathLst>
                <a:path h="548640" w="14630400">
                  <a:moveTo>
                    <a:pt x="0" y="0"/>
                  </a:moveTo>
                  <a:lnTo>
                    <a:pt x="14630400" y="0"/>
                  </a:lnTo>
                  <a:lnTo>
                    <a:pt x="14630400" y="548640"/>
                  </a:lnTo>
                  <a:lnTo>
                    <a:pt x="0" y="548640"/>
                  </a:lnTo>
                  <a:close/>
                </a:path>
              </a:pathLst>
            </a:custGeom>
            <a:blipFill>
              <a:blip r:embed="rId3">
                <a:alphaModFix amt="0"/>
              </a:blip>
              <a:stretch>
                <a:fillRect l="0" t="-469601" r="0" b="-469601"/>
              </a:stretch>
            </a:blipFill>
          </p:spPr>
        </p:sp>
        <p:sp>
          <p:nvSpPr>
            <p:cNvPr name="TextBox 36" id="36"/>
            <p:cNvSpPr txBox="true"/>
            <p:nvPr/>
          </p:nvSpPr>
          <p:spPr>
            <a:xfrm>
              <a:off x="0" y="-38100"/>
              <a:ext cx="14630400" cy="586740"/>
            </a:xfrm>
            <a:prstGeom prst="rect">
              <a:avLst/>
            </a:prstGeom>
          </p:spPr>
          <p:txBody>
            <a:bodyPr anchor="ctr" rtlCol="false" tIns="0" lIns="0" bIns="0" rIns="0"/>
            <a:lstStyle/>
            <a:p>
              <a:pPr algn="l">
                <a:lnSpc>
                  <a:spcPts val="1800"/>
                </a:lnSpc>
              </a:pPr>
              <a:r>
                <a:rPr lang="en-US" sz="1500">
                  <a:solidFill>
                    <a:srgbClr val="6B7280"/>
                  </a:solidFill>
                  <a:latin typeface="Calibri (MS)"/>
                  <a:ea typeface="Calibri (MS)"/>
                  <a:cs typeface="Calibri (MS)"/>
                  <a:sym typeface="Calibri (MS)"/>
                </a:rPr>
                <a:t>Davao del Norte Provincial Government — Cybersecurity Seminar</a:t>
              </a:r>
            </a:p>
          </p:txBody>
        </p:sp>
      </p:grpSp>
      <p:grpSp>
        <p:nvGrpSpPr>
          <p:cNvPr name="Group 37" id="37"/>
          <p:cNvGrpSpPr/>
          <p:nvPr/>
        </p:nvGrpSpPr>
        <p:grpSpPr>
          <a:xfrm rot="0">
            <a:off x="16911828" y="9710928"/>
            <a:ext cx="685800" cy="411480"/>
            <a:chOff x="0" y="0"/>
            <a:chExt cx="914400" cy="548640"/>
          </a:xfrm>
        </p:grpSpPr>
        <p:sp>
          <p:nvSpPr>
            <p:cNvPr name="Freeform 38" id="38"/>
            <p:cNvSpPr/>
            <p:nvPr/>
          </p:nvSpPr>
          <p:spPr>
            <a:xfrm flipH="false" flipV="false" rot="0">
              <a:off x="0" y="0"/>
              <a:ext cx="914400" cy="548640"/>
            </a:xfrm>
            <a:custGeom>
              <a:avLst/>
              <a:gdLst/>
              <a:ahLst/>
              <a:cxnLst/>
              <a:rect r="r" b="b" t="t" l="l"/>
              <a:pathLst>
                <a:path h="548640" w="914400">
                  <a:moveTo>
                    <a:pt x="0" y="0"/>
                  </a:moveTo>
                  <a:lnTo>
                    <a:pt x="914400" y="0"/>
                  </a:lnTo>
                  <a:lnTo>
                    <a:pt x="914400" y="548640"/>
                  </a:lnTo>
                  <a:lnTo>
                    <a:pt x="0" y="548640"/>
                  </a:lnTo>
                  <a:close/>
                </a:path>
              </a:pathLst>
            </a:custGeom>
            <a:blipFill>
              <a:blip r:embed="rId3">
                <a:alphaModFix amt="0"/>
              </a:blip>
              <a:stretch>
                <a:fillRect l="-26982" t="0" r="-26982" b="0"/>
              </a:stretch>
            </a:blipFill>
          </p:spPr>
        </p:sp>
        <p:sp>
          <p:nvSpPr>
            <p:cNvPr name="TextBox 39" id="39"/>
            <p:cNvSpPr txBox="true"/>
            <p:nvPr/>
          </p:nvSpPr>
          <p:spPr>
            <a:xfrm>
              <a:off x="0" y="-38100"/>
              <a:ext cx="914400" cy="586740"/>
            </a:xfrm>
            <a:prstGeom prst="rect">
              <a:avLst/>
            </a:prstGeom>
          </p:spPr>
          <p:txBody>
            <a:bodyPr anchor="ctr" rtlCol="false" tIns="0" lIns="0" bIns="0" rIns="0"/>
            <a:lstStyle/>
            <a:p>
              <a:pPr algn="r">
                <a:lnSpc>
                  <a:spcPts val="1800"/>
                </a:lnSpc>
              </a:pPr>
              <a:r>
                <a:rPr lang="en-US" sz="1500">
                  <a:solidFill>
                    <a:srgbClr val="6B7280"/>
                  </a:solidFill>
                  <a:latin typeface="Calibri (MS)"/>
                  <a:ea typeface="Calibri (MS)"/>
                  <a:cs typeface="Calibri (MS)"/>
                  <a:sym typeface="Calibri (MS)"/>
                </a:rPr>
                <a:t>62</a:t>
              </a:r>
            </a:p>
          </p:txBody>
        </p:sp>
      </p:grpSp>
    </p:spTree>
  </p:cSld>
  <p:clrMapOvr>
    <a:masterClrMapping/>
  </p:clrMapOvr>
</p:sld>
</file>

<file path=ppt/slides/slide66.xml><?xml version="1.0" encoding="utf-8"?>
<p:sld xmlns:p="http://schemas.openxmlformats.org/presentationml/2006/main" xmlns:a="http://schemas.openxmlformats.org/drawingml/2006/main" xmlns:r="http://schemas.openxmlformats.org/officeDocument/2006/relationships">
  <p:cSld>
    <p:bg>
      <p:bgPr>
        <a:solidFill>
          <a:srgbClr val="1E2761"/>
        </a:solidFill>
      </p:bgPr>
    </p:bg>
    <p:spTree>
      <p:nvGrpSpPr>
        <p:cNvPr id="1" name=""/>
        <p:cNvGrpSpPr/>
        <p:nvPr/>
      </p:nvGrpSpPr>
      <p:grpSpPr>
        <a:xfrm>
          <a:off x="0" y="0"/>
          <a:ext cx="0" cy="0"/>
          <a:chOff x="0" y="0"/>
          <a:chExt cx="0" cy="0"/>
        </a:xfrm>
      </p:grpSpPr>
      <p:grpSp>
        <p:nvGrpSpPr>
          <p:cNvPr name="Group 2" id="2"/>
          <p:cNvGrpSpPr/>
          <p:nvPr/>
        </p:nvGrpSpPr>
        <p:grpSpPr>
          <a:xfrm rot="0">
            <a:off x="13441680" y="-3566160"/>
            <a:ext cx="8915400" cy="8915400"/>
            <a:chOff x="0" y="0"/>
            <a:chExt cx="11887200" cy="11887200"/>
          </a:xfrm>
        </p:grpSpPr>
        <p:sp>
          <p:nvSpPr>
            <p:cNvPr name="Freeform 3" id="3"/>
            <p:cNvSpPr/>
            <p:nvPr/>
          </p:nvSpPr>
          <p:spPr>
            <a:xfrm flipH="false" flipV="false" rot="0">
              <a:off x="0" y="0"/>
              <a:ext cx="11887200" cy="11887200"/>
            </a:xfrm>
            <a:custGeom>
              <a:avLst/>
              <a:gdLst/>
              <a:ahLst/>
              <a:cxnLst/>
              <a:rect r="r" b="b" t="t" l="l"/>
              <a:pathLst>
                <a:path h="11887200" w="11887200">
                  <a:moveTo>
                    <a:pt x="0" y="5943600"/>
                  </a:moveTo>
                  <a:cubicBezTo>
                    <a:pt x="0" y="2661031"/>
                    <a:pt x="2661031" y="0"/>
                    <a:pt x="5943600" y="0"/>
                  </a:cubicBezTo>
                  <a:cubicBezTo>
                    <a:pt x="9226169" y="0"/>
                    <a:pt x="11887200" y="2661031"/>
                    <a:pt x="11887200" y="5943600"/>
                  </a:cubicBezTo>
                  <a:cubicBezTo>
                    <a:pt x="11887200" y="9226169"/>
                    <a:pt x="9226169" y="11887200"/>
                    <a:pt x="5943600" y="11887200"/>
                  </a:cubicBezTo>
                  <a:cubicBezTo>
                    <a:pt x="2661031" y="11887200"/>
                    <a:pt x="0" y="9226169"/>
                    <a:pt x="0" y="5943600"/>
                  </a:cubicBezTo>
                  <a:close/>
                </a:path>
              </a:pathLst>
            </a:custGeom>
            <a:solidFill>
              <a:srgbClr val="263186"/>
            </a:solidFill>
          </p:spPr>
        </p:sp>
      </p:grpSp>
      <p:grpSp>
        <p:nvGrpSpPr>
          <p:cNvPr name="Group 4" id="4"/>
          <p:cNvGrpSpPr/>
          <p:nvPr/>
        </p:nvGrpSpPr>
        <p:grpSpPr>
          <a:xfrm rot="0">
            <a:off x="0" y="2057400"/>
            <a:ext cx="18283428" cy="548640"/>
            <a:chOff x="0" y="0"/>
            <a:chExt cx="24377904" cy="731520"/>
          </a:xfrm>
        </p:grpSpPr>
        <p:sp>
          <p:nvSpPr>
            <p:cNvPr name="Freeform 5" id="5"/>
            <p:cNvSpPr/>
            <p:nvPr/>
          </p:nvSpPr>
          <p:spPr>
            <a:xfrm flipH="false" flipV="false" rot="0">
              <a:off x="0" y="0"/>
              <a:ext cx="24377904" cy="731520"/>
            </a:xfrm>
            <a:custGeom>
              <a:avLst/>
              <a:gdLst/>
              <a:ahLst/>
              <a:cxnLst/>
              <a:rect r="r" b="b" t="t" l="l"/>
              <a:pathLst>
                <a:path h="731520" w="24377904">
                  <a:moveTo>
                    <a:pt x="0" y="0"/>
                  </a:moveTo>
                  <a:lnTo>
                    <a:pt x="24377904" y="0"/>
                  </a:lnTo>
                  <a:lnTo>
                    <a:pt x="24377904" y="731520"/>
                  </a:lnTo>
                  <a:lnTo>
                    <a:pt x="0" y="731520"/>
                  </a:lnTo>
                  <a:close/>
                </a:path>
              </a:pathLst>
            </a:custGeom>
            <a:blipFill>
              <a:blip r:embed="rId3">
                <a:alphaModFix amt="0"/>
              </a:blip>
              <a:stretch>
                <a:fillRect l="0" t="-599338" r="0" b="-599338"/>
              </a:stretch>
            </a:blipFill>
          </p:spPr>
        </p:sp>
        <p:sp>
          <p:nvSpPr>
            <p:cNvPr name="TextBox 6" id="6"/>
            <p:cNvSpPr txBox="true"/>
            <p:nvPr/>
          </p:nvSpPr>
          <p:spPr>
            <a:xfrm>
              <a:off x="0" y="-47625"/>
              <a:ext cx="24377904" cy="779145"/>
            </a:xfrm>
            <a:prstGeom prst="rect">
              <a:avLst/>
            </a:prstGeom>
          </p:spPr>
          <p:txBody>
            <a:bodyPr anchor="ctr" rtlCol="false" tIns="0" lIns="0" bIns="0" rIns="0"/>
            <a:lstStyle/>
            <a:p>
              <a:pPr algn="ctr">
                <a:lnSpc>
                  <a:spcPts val="2520"/>
                </a:lnSpc>
              </a:pPr>
              <a:r>
                <a:rPr lang="en-US" b="true" sz="2100" spc="299">
                  <a:solidFill>
                    <a:srgbClr val="00B4D8"/>
                  </a:solidFill>
                  <a:latin typeface="Calibri (MS) Bold"/>
                  <a:ea typeface="Calibri (MS) Bold"/>
                  <a:cs typeface="Calibri (MS) Bold"/>
                  <a:sym typeface="Calibri (MS) Bold"/>
                </a:rPr>
                <a:t>TALK IT OVER — 5 MINUTES</a:t>
              </a:r>
            </a:p>
          </p:txBody>
        </p:sp>
      </p:grpSp>
      <p:grpSp>
        <p:nvGrpSpPr>
          <p:cNvPr name="Group 7" id="7"/>
          <p:cNvGrpSpPr/>
          <p:nvPr/>
        </p:nvGrpSpPr>
        <p:grpSpPr>
          <a:xfrm rot="0">
            <a:off x="1508760" y="2948940"/>
            <a:ext cx="15224760" cy="4663440"/>
            <a:chOff x="0" y="0"/>
            <a:chExt cx="20299680" cy="6217920"/>
          </a:xfrm>
        </p:grpSpPr>
        <p:sp>
          <p:nvSpPr>
            <p:cNvPr name="Freeform 8" id="8"/>
            <p:cNvSpPr/>
            <p:nvPr/>
          </p:nvSpPr>
          <p:spPr>
            <a:xfrm flipH="false" flipV="false" rot="0">
              <a:off x="0" y="0"/>
              <a:ext cx="20299680" cy="6217920"/>
            </a:xfrm>
            <a:custGeom>
              <a:avLst/>
              <a:gdLst/>
              <a:ahLst/>
              <a:cxnLst/>
              <a:rect r="r" b="b" t="t" l="l"/>
              <a:pathLst>
                <a:path h="6217920" w="20299680">
                  <a:moveTo>
                    <a:pt x="0" y="0"/>
                  </a:moveTo>
                  <a:lnTo>
                    <a:pt x="20299680" y="0"/>
                  </a:lnTo>
                  <a:lnTo>
                    <a:pt x="20299680" y="6217920"/>
                  </a:lnTo>
                  <a:lnTo>
                    <a:pt x="0" y="6217920"/>
                  </a:lnTo>
                  <a:close/>
                </a:path>
              </a:pathLst>
            </a:custGeom>
            <a:blipFill>
              <a:blip r:embed="rId3">
                <a:alphaModFix amt="0"/>
              </a:blip>
              <a:stretch>
                <a:fillRect l="0" t="-13612" r="0" b="-13612"/>
              </a:stretch>
            </a:blipFill>
          </p:spPr>
        </p:sp>
        <p:sp>
          <p:nvSpPr>
            <p:cNvPr name="TextBox 9" id="9"/>
            <p:cNvSpPr txBox="true"/>
            <p:nvPr/>
          </p:nvSpPr>
          <p:spPr>
            <a:xfrm>
              <a:off x="0" y="-133350"/>
              <a:ext cx="20299680" cy="6351270"/>
            </a:xfrm>
            <a:prstGeom prst="rect">
              <a:avLst/>
            </a:prstGeom>
          </p:spPr>
          <p:txBody>
            <a:bodyPr anchor="ctr" rtlCol="false" tIns="0" lIns="0" bIns="0" rIns="0"/>
            <a:lstStyle/>
            <a:p>
              <a:pPr algn="ctr">
                <a:lnSpc>
                  <a:spcPts val="6084"/>
                </a:lnSpc>
              </a:pPr>
              <a:r>
                <a:rPr lang="en-US" sz="3900" b="true">
                  <a:solidFill>
                    <a:srgbClr val="FFFFFF"/>
                  </a:solidFill>
                  <a:latin typeface="Cambria Bold"/>
                  <a:ea typeface="Cambria Bold"/>
                  <a:cs typeface="Cambria Bold"/>
                  <a:sym typeface="Cambria Bold"/>
                </a:rPr>
                <a:t>Pick the one system your office truly can't function without.</a:t>
              </a:r>
            </a:p>
            <a:p>
              <a:pPr algn="ctr">
                <a:lnSpc>
                  <a:spcPts val="6084"/>
                </a:lnSpc>
              </a:pPr>
            </a:p>
            <a:p>
              <a:pPr algn="ctr">
                <a:lnSpc>
                  <a:spcPts val="6084"/>
                </a:lnSpc>
              </a:pPr>
              <a:r>
                <a:rPr lang="en-US" sz="3900" b="true">
                  <a:solidFill>
                    <a:srgbClr val="FFFFFF"/>
                  </a:solidFill>
                  <a:latin typeface="Cambria Bold"/>
                  <a:ea typeface="Cambria Bold"/>
                  <a:cs typeface="Cambria Bold"/>
                  <a:sym typeface="Cambria Bold"/>
                </a:rPr>
                <a:t>If an attacker could only do ONE thing to it — leak its data, quietly alter it, or shut it down completely — which would hurt the people you serve most?</a:t>
              </a:r>
            </a:p>
          </p:txBody>
        </p:sp>
      </p:grpSp>
      <p:grpSp>
        <p:nvGrpSpPr>
          <p:cNvPr name="Group 10" id="10"/>
          <p:cNvGrpSpPr/>
          <p:nvPr/>
        </p:nvGrpSpPr>
        <p:grpSpPr>
          <a:xfrm rot="0">
            <a:off x="0" y="7749540"/>
            <a:ext cx="18283428" cy="685800"/>
            <a:chOff x="0" y="0"/>
            <a:chExt cx="24377904" cy="914400"/>
          </a:xfrm>
        </p:grpSpPr>
        <p:sp>
          <p:nvSpPr>
            <p:cNvPr name="Freeform 11" id="11"/>
            <p:cNvSpPr/>
            <p:nvPr/>
          </p:nvSpPr>
          <p:spPr>
            <a:xfrm flipH="false" flipV="false" rot="0">
              <a:off x="0" y="0"/>
              <a:ext cx="24377904" cy="914400"/>
            </a:xfrm>
            <a:custGeom>
              <a:avLst/>
              <a:gdLst/>
              <a:ahLst/>
              <a:cxnLst/>
              <a:rect r="r" b="b" t="t" l="l"/>
              <a:pathLst>
                <a:path h="914400" w="24377904">
                  <a:moveTo>
                    <a:pt x="0" y="0"/>
                  </a:moveTo>
                  <a:lnTo>
                    <a:pt x="24377904" y="0"/>
                  </a:lnTo>
                  <a:lnTo>
                    <a:pt x="24377904" y="914400"/>
                  </a:lnTo>
                  <a:lnTo>
                    <a:pt x="0" y="914400"/>
                  </a:lnTo>
                  <a:close/>
                </a:path>
              </a:pathLst>
            </a:custGeom>
            <a:blipFill>
              <a:blip r:embed="rId3">
                <a:alphaModFix amt="0"/>
              </a:blip>
              <a:stretch>
                <a:fillRect l="0" t="-469471" r="0" b="-469471"/>
              </a:stretch>
            </a:blipFill>
          </p:spPr>
        </p:sp>
        <p:sp>
          <p:nvSpPr>
            <p:cNvPr name="TextBox 12" id="12"/>
            <p:cNvSpPr txBox="true"/>
            <p:nvPr/>
          </p:nvSpPr>
          <p:spPr>
            <a:xfrm>
              <a:off x="0" y="-57150"/>
              <a:ext cx="24377904" cy="971550"/>
            </a:xfrm>
            <a:prstGeom prst="rect">
              <a:avLst/>
            </a:prstGeom>
          </p:spPr>
          <p:txBody>
            <a:bodyPr anchor="ctr" rtlCol="false" tIns="0" lIns="0" bIns="0" rIns="0"/>
            <a:lstStyle/>
            <a:p>
              <a:pPr algn="ctr">
                <a:lnSpc>
                  <a:spcPts val="2700"/>
                </a:lnSpc>
              </a:pPr>
              <a:r>
                <a:rPr lang="en-US" sz="2250" i="true">
                  <a:solidFill>
                    <a:srgbClr val="CADCFC"/>
                  </a:solidFill>
                  <a:latin typeface="Calibri (MS) Italics"/>
                  <a:ea typeface="Calibri (MS) Italics"/>
                  <a:cs typeface="Calibri (MS) Italics"/>
                  <a:sym typeface="Calibri (MS) Italics"/>
                </a:rPr>
                <a:t>Defend your pick to your table — then see who disagrees.</a:t>
              </a:r>
            </a:p>
          </p:txBody>
        </p:sp>
      </p:grpSp>
      <p:grpSp>
        <p:nvGrpSpPr>
          <p:cNvPr name="Group 13" id="13"/>
          <p:cNvGrpSpPr/>
          <p:nvPr/>
        </p:nvGrpSpPr>
        <p:grpSpPr>
          <a:xfrm rot="0">
            <a:off x="685800" y="9710928"/>
            <a:ext cx="10972800" cy="411480"/>
            <a:chOff x="0" y="0"/>
            <a:chExt cx="14630400" cy="548640"/>
          </a:xfrm>
        </p:grpSpPr>
        <p:sp>
          <p:nvSpPr>
            <p:cNvPr name="Freeform 14" id="14"/>
            <p:cNvSpPr/>
            <p:nvPr/>
          </p:nvSpPr>
          <p:spPr>
            <a:xfrm flipH="false" flipV="false" rot="0">
              <a:off x="0" y="0"/>
              <a:ext cx="14630400" cy="548640"/>
            </a:xfrm>
            <a:custGeom>
              <a:avLst/>
              <a:gdLst/>
              <a:ahLst/>
              <a:cxnLst/>
              <a:rect r="r" b="b" t="t" l="l"/>
              <a:pathLst>
                <a:path h="548640" w="14630400">
                  <a:moveTo>
                    <a:pt x="0" y="0"/>
                  </a:moveTo>
                  <a:lnTo>
                    <a:pt x="14630400" y="0"/>
                  </a:lnTo>
                  <a:lnTo>
                    <a:pt x="14630400" y="548640"/>
                  </a:lnTo>
                  <a:lnTo>
                    <a:pt x="0" y="548640"/>
                  </a:lnTo>
                  <a:close/>
                </a:path>
              </a:pathLst>
            </a:custGeom>
            <a:blipFill>
              <a:blip r:embed="rId3">
                <a:alphaModFix amt="0"/>
              </a:blip>
              <a:stretch>
                <a:fillRect l="0" t="-469601" r="0" b="-469601"/>
              </a:stretch>
            </a:blipFill>
          </p:spPr>
        </p:sp>
        <p:sp>
          <p:nvSpPr>
            <p:cNvPr name="TextBox 15" id="15"/>
            <p:cNvSpPr txBox="true"/>
            <p:nvPr/>
          </p:nvSpPr>
          <p:spPr>
            <a:xfrm>
              <a:off x="0" y="-38100"/>
              <a:ext cx="14630400" cy="586740"/>
            </a:xfrm>
            <a:prstGeom prst="rect">
              <a:avLst/>
            </a:prstGeom>
          </p:spPr>
          <p:txBody>
            <a:bodyPr anchor="ctr" rtlCol="false" tIns="0" lIns="0" bIns="0" rIns="0"/>
            <a:lstStyle/>
            <a:p>
              <a:pPr algn="l">
                <a:lnSpc>
                  <a:spcPts val="1800"/>
                </a:lnSpc>
              </a:pPr>
              <a:r>
                <a:rPr lang="en-US" sz="1500">
                  <a:solidFill>
                    <a:srgbClr val="CADCFC"/>
                  </a:solidFill>
                  <a:latin typeface="Calibri (MS)"/>
                  <a:ea typeface="Calibri (MS)"/>
                  <a:cs typeface="Calibri (MS)"/>
                  <a:sym typeface="Calibri (MS)"/>
                </a:rPr>
                <a:t>Davao del Norte Provincial Government — Cybersecurity Seminar</a:t>
              </a:r>
            </a:p>
          </p:txBody>
        </p:sp>
      </p:grpSp>
      <p:grpSp>
        <p:nvGrpSpPr>
          <p:cNvPr name="Group 16" id="16"/>
          <p:cNvGrpSpPr/>
          <p:nvPr/>
        </p:nvGrpSpPr>
        <p:grpSpPr>
          <a:xfrm rot="0">
            <a:off x="16911828" y="9710928"/>
            <a:ext cx="685800" cy="411480"/>
            <a:chOff x="0" y="0"/>
            <a:chExt cx="914400" cy="548640"/>
          </a:xfrm>
        </p:grpSpPr>
        <p:sp>
          <p:nvSpPr>
            <p:cNvPr name="Freeform 17" id="17"/>
            <p:cNvSpPr/>
            <p:nvPr/>
          </p:nvSpPr>
          <p:spPr>
            <a:xfrm flipH="false" flipV="false" rot="0">
              <a:off x="0" y="0"/>
              <a:ext cx="914400" cy="548640"/>
            </a:xfrm>
            <a:custGeom>
              <a:avLst/>
              <a:gdLst/>
              <a:ahLst/>
              <a:cxnLst/>
              <a:rect r="r" b="b" t="t" l="l"/>
              <a:pathLst>
                <a:path h="548640" w="914400">
                  <a:moveTo>
                    <a:pt x="0" y="0"/>
                  </a:moveTo>
                  <a:lnTo>
                    <a:pt x="914400" y="0"/>
                  </a:lnTo>
                  <a:lnTo>
                    <a:pt x="914400" y="548640"/>
                  </a:lnTo>
                  <a:lnTo>
                    <a:pt x="0" y="548640"/>
                  </a:lnTo>
                  <a:close/>
                </a:path>
              </a:pathLst>
            </a:custGeom>
            <a:blipFill>
              <a:blip r:embed="rId3">
                <a:alphaModFix amt="0"/>
              </a:blip>
              <a:stretch>
                <a:fillRect l="-26982" t="0" r="-26982" b="0"/>
              </a:stretch>
            </a:blipFill>
          </p:spPr>
        </p:sp>
        <p:sp>
          <p:nvSpPr>
            <p:cNvPr name="TextBox 18" id="18"/>
            <p:cNvSpPr txBox="true"/>
            <p:nvPr/>
          </p:nvSpPr>
          <p:spPr>
            <a:xfrm>
              <a:off x="0" y="-38100"/>
              <a:ext cx="914400" cy="586740"/>
            </a:xfrm>
            <a:prstGeom prst="rect">
              <a:avLst/>
            </a:prstGeom>
          </p:spPr>
          <p:txBody>
            <a:bodyPr anchor="ctr" rtlCol="false" tIns="0" lIns="0" bIns="0" rIns="0"/>
            <a:lstStyle/>
            <a:p>
              <a:pPr algn="r">
                <a:lnSpc>
                  <a:spcPts val="1800"/>
                </a:lnSpc>
              </a:pPr>
              <a:r>
                <a:rPr lang="en-US" sz="1500">
                  <a:solidFill>
                    <a:srgbClr val="CADCFC"/>
                  </a:solidFill>
                  <a:latin typeface="Calibri (MS)"/>
                  <a:ea typeface="Calibri (MS)"/>
                  <a:cs typeface="Calibri (MS)"/>
                  <a:sym typeface="Calibri (MS)"/>
                </a:rPr>
                <a:t>63</a:t>
              </a:r>
            </a:p>
          </p:txBody>
        </p:sp>
      </p:grpSp>
    </p:spTree>
  </p:cSld>
  <p:clrMapOvr>
    <a:masterClrMapping/>
  </p:clrMapOvr>
</p:sld>
</file>

<file path=ppt/slides/slide67.xml><?xml version="1.0" encoding="utf-8"?>
<p:sld xmlns:p="http://schemas.openxmlformats.org/presentationml/2006/main" xmlns:a="http://schemas.openxmlformats.org/drawingml/2006/main">
  <p:cSld>
    <p:bg>
      <p:bgPr>
        <a:solidFill>
          <a:srgbClr val="1E2761"/>
        </a:solidFill>
      </p:bgPr>
    </p:bg>
    <p:spTree>
      <p:nvGrpSpPr>
        <p:cNvPr id="1" name=""/>
        <p:cNvGrpSpPr/>
        <p:nvPr/>
      </p:nvGrpSpPr>
      <p:grpSpPr>
        <a:xfrm>
          <a:off x="0" y="0"/>
          <a:ext cx="0" cy="0"/>
          <a:chOff x="0" y="0"/>
          <a:chExt cx="0" cy="0"/>
        </a:xfrm>
      </p:grpSpPr>
    </p:spTree>
  </p:cSld>
  <p:clrMapOvr>
    <a:masterClrMapping/>
  </p:clrMapOvr>
</p:sld>
</file>

<file path=ppt/slides/slide68.xml><?xml version="1.0" encoding="utf-8"?>
<p:sld xmlns:p="http://schemas.openxmlformats.org/presentationml/2006/main" xmlns:a="http://schemas.openxmlformats.org/drawingml/2006/main" xmlns:r="http://schemas.openxmlformats.org/officeDocument/2006/relationships">
  <p:cSld>
    <p:bg>
      <p:bgPr>
        <a:solidFill>
          <a:srgbClr val="1E2761"/>
        </a:solidFill>
      </p:bgPr>
    </p:bg>
    <p:spTree>
      <p:nvGrpSpPr>
        <p:cNvPr id="1" name=""/>
        <p:cNvGrpSpPr/>
        <p:nvPr/>
      </p:nvGrpSpPr>
      <p:grpSpPr>
        <a:xfrm>
          <a:off x="0" y="0"/>
          <a:ext cx="0" cy="0"/>
          <a:chOff x="0" y="0"/>
          <a:chExt cx="0" cy="0"/>
        </a:xfrm>
      </p:grpSpPr>
      <p:grpSp>
        <p:nvGrpSpPr>
          <p:cNvPr name="Group 2" id="2"/>
          <p:cNvGrpSpPr/>
          <p:nvPr/>
        </p:nvGrpSpPr>
        <p:grpSpPr>
          <a:xfrm rot="0">
            <a:off x="13441680" y="-3566160"/>
            <a:ext cx="8915400" cy="8915400"/>
            <a:chOff x="0" y="0"/>
            <a:chExt cx="11887200" cy="11887200"/>
          </a:xfrm>
        </p:grpSpPr>
        <p:sp>
          <p:nvSpPr>
            <p:cNvPr name="Freeform 3" id="3"/>
            <p:cNvSpPr/>
            <p:nvPr/>
          </p:nvSpPr>
          <p:spPr>
            <a:xfrm flipH="false" flipV="false" rot="0">
              <a:off x="0" y="0"/>
              <a:ext cx="11887200" cy="11887200"/>
            </a:xfrm>
            <a:custGeom>
              <a:avLst/>
              <a:gdLst/>
              <a:ahLst/>
              <a:cxnLst/>
              <a:rect r="r" b="b" t="t" l="l"/>
              <a:pathLst>
                <a:path h="11887200" w="11887200">
                  <a:moveTo>
                    <a:pt x="0" y="5943600"/>
                  </a:moveTo>
                  <a:cubicBezTo>
                    <a:pt x="0" y="2661031"/>
                    <a:pt x="2661031" y="0"/>
                    <a:pt x="5943600" y="0"/>
                  </a:cubicBezTo>
                  <a:cubicBezTo>
                    <a:pt x="9226169" y="0"/>
                    <a:pt x="11887200" y="2661031"/>
                    <a:pt x="11887200" y="5943600"/>
                  </a:cubicBezTo>
                  <a:cubicBezTo>
                    <a:pt x="11887200" y="9226169"/>
                    <a:pt x="9226169" y="11887200"/>
                    <a:pt x="5943600" y="11887200"/>
                  </a:cubicBezTo>
                  <a:cubicBezTo>
                    <a:pt x="2661031" y="11887200"/>
                    <a:pt x="0" y="9226169"/>
                    <a:pt x="0" y="5943600"/>
                  </a:cubicBezTo>
                  <a:close/>
                </a:path>
              </a:pathLst>
            </a:custGeom>
            <a:solidFill>
              <a:srgbClr val="263186"/>
            </a:solidFill>
          </p:spPr>
        </p:sp>
      </p:grpSp>
      <p:grpSp>
        <p:nvGrpSpPr>
          <p:cNvPr name="Group 4" id="4"/>
          <p:cNvGrpSpPr/>
          <p:nvPr/>
        </p:nvGrpSpPr>
        <p:grpSpPr>
          <a:xfrm rot="0">
            <a:off x="7417403" y="2040731"/>
            <a:ext cx="3462338" cy="3050858"/>
            <a:chOff x="0" y="0"/>
            <a:chExt cx="4616450" cy="4067810"/>
          </a:xfrm>
        </p:grpSpPr>
        <p:sp>
          <p:nvSpPr>
            <p:cNvPr name="Freeform 5" id="5"/>
            <p:cNvSpPr/>
            <p:nvPr/>
          </p:nvSpPr>
          <p:spPr>
            <a:xfrm flipH="false" flipV="false" rot="0">
              <a:off x="0" y="0"/>
              <a:ext cx="4616450" cy="4067810"/>
            </a:xfrm>
            <a:custGeom>
              <a:avLst/>
              <a:gdLst/>
              <a:ahLst/>
              <a:cxnLst/>
              <a:rect r="r" b="b" t="t" l="l"/>
              <a:pathLst>
                <a:path h="4067810" w="4616450">
                  <a:moveTo>
                    <a:pt x="0" y="2033905"/>
                  </a:moveTo>
                  <a:lnTo>
                    <a:pt x="1017016" y="0"/>
                  </a:lnTo>
                  <a:lnTo>
                    <a:pt x="3599561" y="0"/>
                  </a:lnTo>
                  <a:lnTo>
                    <a:pt x="4616450" y="2033905"/>
                  </a:lnTo>
                  <a:lnTo>
                    <a:pt x="3599561" y="4067810"/>
                  </a:lnTo>
                  <a:lnTo>
                    <a:pt x="1017016" y="4067810"/>
                  </a:lnTo>
                  <a:close/>
                </a:path>
              </a:pathLst>
            </a:custGeom>
            <a:blipFill>
              <a:blip r:embed="rId2">
                <a:alphaModFix amt="0"/>
              </a:blip>
              <a:stretch>
                <a:fillRect l="-63055" t="0" r="-63055" b="0"/>
              </a:stretch>
            </a:blipFill>
            <a:ln w="33338" cap="sq">
              <a:solidFill>
                <a:srgbClr val="CADCFC"/>
              </a:solidFill>
              <a:prstDash val="solid"/>
              <a:miter/>
            </a:ln>
          </p:spPr>
        </p:sp>
      </p:grpSp>
      <p:grpSp>
        <p:nvGrpSpPr>
          <p:cNvPr name="Group 6" id="6"/>
          <p:cNvGrpSpPr/>
          <p:nvPr/>
        </p:nvGrpSpPr>
        <p:grpSpPr>
          <a:xfrm rot="0">
            <a:off x="7303770" y="3401568"/>
            <a:ext cx="329184" cy="329184"/>
            <a:chOff x="0" y="0"/>
            <a:chExt cx="438912" cy="438912"/>
          </a:xfrm>
        </p:grpSpPr>
        <p:sp>
          <p:nvSpPr>
            <p:cNvPr name="Freeform 7" id="7"/>
            <p:cNvSpPr/>
            <p:nvPr/>
          </p:nvSpPr>
          <p:spPr>
            <a:xfrm flipH="false" flipV="false" rot="0">
              <a:off x="0" y="0"/>
              <a:ext cx="438912" cy="438912"/>
            </a:xfrm>
            <a:custGeom>
              <a:avLst/>
              <a:gdLst/>
              <a:ahLst/>
              <a:cxnLst/>
              <a:rect r="r" b="b" t="t" l="l"/>
              <a:pathLst>
                <a:path h="438912" w="438912">
                  <a:moveTo>
                    <a:pt x="0" y="219456"/>
                  </a:moveTo>
                  <a:cubicBezTo>
                    <a:pt x="0" y="98298"/>
                    <a:pt x="98298" y="0"/>
                    <a:pt x="219456" y="0"/>
                  </a:cubicBezTo>
                  <a:cubicBezTo>
                    <a:pt x="340614" y="0"/>
                    <a:pt x="438912" y="98298"/>
                    <a:pt x="438912" y="219456"/>
                  </a:cubicBezTo>
                  <a:cubicBezTo>
                    <a:pt x="438912" y="340614"/>
                    <a:pt x="340614" y="438912"/>
                    <a:pt x="219456" y="438912"/>
                  </a:cubicBezTo>
                  <a:cubicBezTo>
                    <a:pt x="98298" y="438912"/>
                    <a:pt x="0" y="340614"/>
                    <a:pt x="0" y="219456"/>
                  </a:cubicBezTo>
                  <a:close/>
                </a:path>
              </a:pathLst>
            </a:custGeom>
            <a:solidFill>
              <a:srgbClr val="6C4FD1"/>
            </a:solidFill>
          </p:spPr>
        </p:sp>
      </p:grpSp>
      <p:grpSp>
        <p:nvGrpSpPr>
          <p:cNvPr name="Group 8" id="8"/>
          <p:cNvGrpSpPr/>
          <p:nvPr/>
        </p:nvGrpSpPr>
        <p:grpSpPr>
          <a:xfrm rot="0">
            <a:off x="8143875" y="4682061"/>
            <a:ext cx="329184" cy="329184"/>
            <a:chOff x="0" y="0"/>
            <a:chExt cx="438912" cy="438912"/>
          </a:xfrm>
        </p:grpSpPr>
        <p:sp>
          <p:nvSpPr>
            <p:cNvPr name="Freeform 9" id="9"/>
            <p:cNvSpPr/>
            <p:nvPr/>
          </p:nvSpPr>
          <p:spPr>
            <a:xfrm flipH="false" flipV="false" rot="0">
              <a:off x="0" y="0"/>
              <a:ext cx="438912" cy="438912"/>
            </a:xfrm>
            <a:custGeom>
              <a:avLst/>
              <a:gdLst/>
              <a:ahLst/>
              <a:cxnLst/>
              <a:rect r="r" b="b" t="t" l="l"/>
              <a:pathLst>
                <a:path h="438912" w="438912">
                  <a:moveTo>
                    <a:pt x="0" y="219456"/>
                  </a:moveTo>
                  <a:cubicBezTo>
                    <a:pt x="0" y="98298"/>
                    <a:pt x="98298" y="0"/>
                    <a:pt x="219456" y="0"/>
                  </a:cubicBezTo>
                  <a:cubicBezTo>
                    <a:pt x="340614" y="0"/>
                    <a:pt x="438912" y="98298"/>
                    <a:pt x="438912" y="219456"/>
                  </a:cubicBezTo>
                  <a:cubicBezTo>
                    <a:pt x="438912" y="340614"/>
                    <a:pt x="340614" y="438912"/>
                    <a:pt x="219456" y="438912"/>
                  </a:cubicBezTo>
                  <a:cubicBezTo>
                    <a:pt x="98298" y="438912"/>
                    <a:pt x="0" y="340614"/>
                    <a:pt x="0" y="219456"/>
                  </a:cubicBezTo>
                  <a:close/>
                </a:path>
              </a:pathLst>
            </a:custGeom>
            <a:solidFill>
              <a:srgbClr val="0F8A6E"/>
            </a:solidFill>
          </p:spPr>
        </p:sp>
      </p:grpSp>
      <p:grpSp>
        <p:nvGrpSpPr>
          <p:cNvPr name="Group 10" id="10"/>
          <p:cNvGrpSpPr/>
          <p:nvPr/>
        </p:nvGrpSpPr>
        <p:grpSpPr>
          <a:xfrm rot="0">
            <a:off x="9824085" y="4682061"/>
            <a:ext cx="329184" cy="329184"/>
            <a:chOff x="0" y="0"/>
            <a:chExt cx="438912" cy="438912"/>
          </a:xfrm>
        </p:grpSpPr>
        <p:sp>
          <p:nvSpPr>
            <p:cNvPr name="Freeform 11" id="11"/>
            <p:cNvSpPr/>
            <p:nvPr/>
          </p:nvSpPr>
          <p:spPr>
            <a:xfrm flipH="false" flipV="false" rot="0">
              <a:off x="0" y="0"/>
              <a:ext cx="438912" cy="438912"/>
            </a:xfrm>
            <a:custGeom>
              <a:avLst/>
              <a:gdLst/>
              <a:ahLst/>
              <a:cxnLst/>
              <a:rect r="r" b="b" t="t" l="l"/>
              <a:pathLst>
                <a:path h="438912" w="438912">
                  <a:moveTo>
                    <a:pt x="0" y="219456"/>
                  </a:moveTo>
                  <a:cubicBezTo>
                    <a:pt x="0" y="98298"/>
                    <a:pt x="98298" y="0"/>
                    <a:pt x="219456" y="0"/>
                  </a:cubicBezTo>
                  <a:cubicBezTo>
                    <a:pt x="340614" y="0"/>
                    <a:pt x="438912" y="98298"/>
                    <a:pt x="438912" y="219456"/>
                  </a:cubicBezTo>
                  <a:cubicBezTo>
                    <a:pt x="438912" y="340614"/>
                    <a:pt x="340614" y="438912"/>
                    <a:pt x="219456" y="438912"/>
                  </a:cubicBezTo>
                  <a:cubicBezTo>
                    <a:pt x="98298" y="438912"/>
                    <a:pt x="0" y="340614"/>
                    <a:pt x="0" y="219456"/>
                  </a:cubicBezTo>
                  <a:close/>
                </a:path>
              </a:pathLst>
            </a:custGeom>
            <a:solidFill>
              <a:srgbClr val="1F6FEB"/>
            </a:solidFill>
          </p:spPr>
        </p:sp>
      </p:grpSp>
      <p:grpSp>
        <p:nvGrpSpPr>
          <p:cNvPr name="Group 12" id="12"/>
          <p:cNvGrpSpPr/>
          <p:nvPr/>
        </p:nvGrpSpPr>
        <p:grpSpPr>
          <a:xfrm rot="0">
            <a:off x="10664190" y="3401568"/>
            <a:ext cx="329184" cy="329184"/>
            <a:chOff x="0" y="0"/>
            <a:chExt cx="438912" cy="438912"/>
          </a:xfrm>
        </p:grpSpPr>
        <p:sp>
          <p:nvSpPr>
            <p:cNvPr name="Freeform 13" id="13"/>
            <p:cNvSpPr/>
            <p:nvPr/>
          </p:nvSpPr>
          <p:spPr>
            <a:xfrm flipH="false" flipV="false" rot="0">
              <a:off x="0" y="0"/>
              <a:ext cx="438912" cy="438912"/>
            </a:xfrm>
            <a:custGeom>
              <a:avLst/>
              <a:gdLst/>
              <a:ahLst/>
              <a:cxnLst/>
              <a:rect r="r" b="b" t="t" l="l"/>
              <a:pathLst>
                <a:path h="438912" w="438912">
                  <a:moveTo>
                    <a:pt x="0" y="219456"/>
                  </a:moveTo>
                  <a:cubicBezTo>
                    <a:pt x="0" y="98298"/>
                    <a:pt x="98298" y="0"/>
                    <a:pt x="219456" y="0"/>
                  </a:cubicBezTo>
                  <a:cubicBezTo>
                    <a:pt x="340614" y="0"/>
                    <a:pt x="438912" y="98298"/>
                    <a:pt x="438912" y="219456"/>
                  </a:cubicBezTo>
                  <a:cubicBezTo>
                    <a:pt x="438912" y="340614"/>
                    <a:pt x="340614" y="438912"/>
                    <a:pt x="219456" y="438912"/>
                  </a:cubicBezTo>
                  <a:cubicBezTo>
                    <a:pt x="98298" y="438912"/>
                    <a:pt x="0" y="340614"/>
                    <a:pt x="0" y="219456"/>
                  </a:cubicBezTo>
                  <a:close/>
                </a:path>
              </a:pathLst>
            </a:custGeom>
            <a:solidFill>
              <a:srgbClr val="C98A12"/>
            </a:solidFill>
          </p:spPr>
        </p:sp>
      </p:grpSp>
      <p:grpSp>
        <p:nvGrpSpPr>
          <p:cNvPr name="Group 14" id="14"/>
          <p:cNvGrpSpPr/>
          <p:nvPr/>
        </p:nvGrpSpPr>
        <p:grpSpPr>
          <a:xfrm rot="0">
            <a:off x="9824085" y="2121075"/>
            <a:ext cx="329184" cy="329184"/>
            <a:chOff x="0" y="0"/>
            <a:chExt cx="438912" cy="438912"/>
          </a:xfrm>
        </p:grpSpPr>
        <p:sp>
          <p:nvSpPr>
            <p:cNvPr name="Freeform 15" id="15"/>
            <p:cNvSpPr/>
            <p:nvPr/>
          </p:nvSpPr>
          <p:spPr>
            <a:xfrm flipH="false" flipV="false" rot="0">
              <a:off x="0" y="0"/>
              <a:ext cx="438912" cy="438912"/>
            </a:xfrm>
            <a:custGeom>
              <a:avLst/>
              <a:gdLst/>
              <a:ahLst/>
              <a:cxnLst/>
              <a:rect r="r" b="b" t="t" l="l"/>
              <a:pathLst>
                <a:path h="438912" w="438912">
                  <a:moveTo>
                    <a:pt x="0" y="219456"/>
                  </a:moveTo>
                  <a:cubicBezTo>
                    <a:pt x="0" y="98298"/>
                    <a:pt x="98298" y="0"/>
                    <a:pt x="219456" y="0"/>
                  </a:cubicBezTo>
                  <a:cubicBezTo>
                    <a:pt x="340614" y="0"/>
                    <a:pt x="438912" y="98298"/>
                    <a:pt x="438912" y="219456"/>
                  </a:cubicBezTo>
                  <a:cubicBezTo>
                    <a:pt x="438912" y="340614"/>
                    <a:pt x="340614" y="438912"/>
                    <a:pt x="219456" y="438912"/>
                  </a:cubicBezTo>
                  <a:cubicBezTo>
                    <a:pt x="98298" y="438912"/>
                    <a:pt x="0" y="340614"/>
                    <a:pt x="0" y="219456"/>
                  </a:cubicBezTo>
                  <a:close/>
                </a:path>
              </a:pathLst>
            </a:custGeom>
            <a:solidFill>
              <a:srgbClr val="D9631E"/>
            </a:solidFill>
          </p:spPr>
        </p:sp>
      </p:grpSp>
      <p:grpSp>
        <p:nvGrpSpPr>
          <p:cNvPr name="Group 16" id="16"/>
          <p:cNvGrpSpPr/>
          <p:nvPr/>
        </p:nvGrpSpPr>
        <p:grpSpPr>
          <a:xfrm rot="0">
            <a:off x="8143875" y="2121075"/>
            <a:ext cx="329184" cy="329184"/>
            <a:chOff x="0" y="0"/>
            <a:chExt cx="438912" cy="438912"/>
          </a:xfrm>
        </p:grpSpPr>
        <p:sp>
          <p:nvSpPr>
            <p:cNvPr name="Freeform 17" id="17"/>
            <p:cNvSpPr/>
            <p:nvPr/>
          </p:nvSpPr>
          <p:spPr>
            <a:xfrm flipH="false" flipV="false" rot="0">
              <a:off x="0" y="0"/>
              <a:ext cx="438912" cy="438912"/>
            </a:xfrm>
            <a:custGeom>
              <a:avLst/>
              <a:gdLst/>
              <a:ahLst/>
              <a:cxnLst/>
              <a:rect r="r" b="b" t="t" l="l"/>
              <a:pathLst>
                <a:path h="438912" w="438912">
                  <a:moveTo>
                    <a:pt x="0" y="219456"/>
                  </a:moveTo>
                  <a:cubicBezTo>
                    <a:pt x="0" y="98298"/>
                    <a:pt x="98298" y="0"/>
                    <a:pt x="219456" y="0"/>
                  </a:cubicBezTo>
                  <a:cubicBezTo>
                    <a:pt x="340614" y="0"/>
                    <a:pt x="438912" y="98298"/>
                    <a:pt x="438912" y="219456"/>
                  </a:cubicBezTo>
                  <a:cubicBezTo>
                    <a:pt x="438912" y="340614"/>
                    <a:pt x="340614" y="438912"/>
                    <a:pt x="219456" y="438912"/>
                  </a:cubicBezTo>
                  <a:cubicBezTo>
                    <a:pt x="98298" y="438912"/>
                    <a:pt x="0" y="340614"/>
                    <a:pt x="0" y="219456"/>
                  </a:cubicBezTo>
                  <a:close/>
                </a:path>
              </a:pathLst>
            </a:custGeom>
            <a:solidFill>
              <a:srgbClr val="2E9E6B"/>
            </a:solidFill>
          </p:spPr>
        </p:sp>
      </p:grpSp>
      <p:grpSp>
        <p:nvGrpSpPr>
          <p:cNvPr name="Group 18" id="18"/>
          <p:cNvGrpSpPr/>
          <p:nvPr/>
        </p:nvGrpSpPr>
        <p:grpSpPr>
          <a:xfrm rot="0">
            <a:off x="0" y="5966460"/>
            <a:ext cx="18283428" cy="480060"/>
            <a:chOff x="0" y="0"/>
            <a:chExt cx="24377904" cy="640080"/>
          </a:xfrm>
        </p:grpSpPr>
        <p:sp>
          <p:nvSpPr>
            <p:cNvPr name="Freeform 19" id="19"/>
            <p:cNvSpPr/>
            <p:nvPr/>
          </p:nvSpPr>
          <p:spPr>
            <a:xfrm flipH="false" flipV="false" rot="0">
              <a:off x="0" y="0"/>
              <a:ext cx="24377904" cy="640080"/>
            </a:xfrm>
            <a:custGeom>
              <a:avLst/>
              <a:gdLst/>
              <a:ahLst/>
              <a:cxnLst/>
              <a:rect r="r" b="b" t="t" l="l"/>
              <a:pathLst>
                <a:path h="640080" w="24377904">
                  <a:moveTo>
                    <a:pt x="0" y="0"/>
                  </a:moveTo>
                  <a:lnTo>
                    <a:pt x="24377904" y="0"/>
                  </a:lnTo>
                  <a:lnTo>
                    <a:pt x="24377904" y="640080"/>
                  </a:lnTo>
                  <a:lnTo>
                    <a:pt x="0" y="640080"/>
                  </a:lnTo>
                  <a:close/>
                </a:path>
              </a:pathLst>
            </a:custGeom>
            <a:blipFill>
              <a:blip r:embed="rId2">
                <a:alphaModFix amt="0"/>
              </a:blip>
              <a:stretch>
                <a:fillRect l="0" t="-692101" r="0" b="-692101"/>
              </a:stretch>
            </a:blipFill>
          </p:spPr>
        </p:sp>
        <p:sp>
          <p:nvSpPr>
            <p:cNvPr name="TextBox 20" id="20"/>
            <p:cNvSpPr txBox="true"/>
            <p:nvPr/>
          </p:nvSpPr>
          <p:spPr>
            <a:xfrm>
              <a:off x="0" y="-47625"/>
              <a:ext cx="24377904" cy="687705"/>
            </a:xfrm>
            <a:prstGeom prst="rect">
              <a:avLst/>
            </a:prstGeom>
          </p:spPr>
          <p:txBody>
            <a:bodyPr anchor="ctr" rtlCol="false" tIns="0" lIns="0" bIns="0" rIns="0"/>
            <a:lstStyle/>
            <a:p>
              <a:pPr algn="ctr">
                <a:lnSpc>
                  <a:spcPts val="2340"/>
                </a:lnSpc>
              </a:pPr>
              <a:r>
                <a:rPr lang="en-US" b="true" sz="1950" spc="299">
                  <a:solidFill>
                    <a:srgbClr val="00B4D8"/>
                  </a:solidFill>
                  <a:latin typeface="Calibri (MS) Bold"/>
                  <a:ea typeface="Calibri (MS) Bold"/>
                  <a:cs typeface="Calibri (MS) Bold"/>
                  <a:sym typeface="Calibri (MS) Bold"/>
                </a:rPr>
                <a:t>FROM WHAT, TO HOW</a:t>
              </a:r>
            </a:p>
          </p:txBody>
        </p:sp>
      </p:grpSp>
      <p:grpSp>
        <p:nvGrpSpPr>
          <p:cNvPr name="Group 21" id="21"/>
          <p:cNvGrpSpPr/>
          <p:nvPr/>
        </p:nvGrpSpPr>
        <p:grpSpPr>
          <a:xfrm rot="0">
            <a:off x="0" y="6419088"/>
            <a:ext cx="18283428" cy="1303020"/>
            <a:chOff x="0" y="0"/>
            <a:chExt cx="24377904" cy="1737360"/>
          </a:xfrm>
        </p:grpSpPr>
        <p:sp>
          <p:nvSpPr>
            <p:cNvPr name="Freeform 22" id="22"/>
            <p:cNvSpPr/>
            <p:nvPr/>
          </p:nvSpPr>
          <p:spPr>
            <a:xfrm flipH="false" flipV="false" rot="0">
              <a:off x="0" y="0"/>
              <a:ext cx="24377904" cy="1737360"/>
            </a:xfrm>
            <a:custGeom>
              <a:avLst/>
              <a:gdLst/>
              <a:ahLst/>
              <a:cxnLst/>
              <a:rect r="r" b="b" t="t" l="l"/>
              <a:pathLst>
                <a:path h="1737360" w="24377904">
                  <a:moveTo>
                    <a:pt x="0" y="0"/>
                  </a:moveTo>
                  <a:lnTo>
                    <a:pt x="24377904" y="0"/>
                  </a:lnTo>
                  <a:lnTo>
                    <a:pt x="24377904" y="1737360"/>
                  </a:lnTo>
                  <a:lnTo>
                    <a:pt x="0" y="1737360"/>
                  </a:lnTo>
                  <a:close/>
                </a:path>
              </a:pathLst>
            </a:custGeom>
            <a:blipFill>
              <a:blip r:embed="rId2">
                <a:alphaModFix amt="0"/>
              </a:blip>
              <a:stretch>
                <a:fillRect l="0" t="-223405" r="0" b="-223405"/>
              </a:stretch>
            </a:blipFill>
          </p:spPr>
        </p:sp>
        <p:sp>
          <p:nvSpPr>
            <p:cNvPr name="TextBox 23" id="23"/>
            <p:cNvSpPr txBox="true"/>
            <p:nvPr/>
          </p:nvSpPr>
          <p:spPr>
            <a:xfrm>
              <a:off x="0" y="-19050"/>
              <a:ext cx="24377904" cy="1756410"/>
            </a:xfrm>
            <a:prstGeom prst="rect">
              <a:avLst/>
            </a:prstGeom>
          </p:spPr>
          <p:txBody>
            <a:bodyPr anchor="ctr" rtlCol="false" tIns="0" lIns="0" bIns="0" rIns="0"/>
            <a:lstStyle/>
            <a:p>
              <a:pPr algn="ctr">
                <a:lnSpc>
                  <a:spcPts val="7920"/>
                </a:lnSpc>
              </a:pPr>
              <a:r>
                <a:rPr lang="en-US" sz="6600" b="true">
                  <a:solidFill>
                    <a:srgbClr val="FFFFFF"/>
                  </a:solidFill>
                  <a:latin typeface="Cambria Bold"/>
                  <a:ea typeface="Cambria Bold"/>
                  <a:cs typeface="Cambria Bold"/>
                  <a:sym typeface="Cambria Bold"/>
                </a:rPr>
                <a:t>NIST CSF 2.0</a:t>
              </a:r>
            </a:p>
          </p:txBody>
        </p:sp>
      </p:grpSp>
      <p:grpSp>
        <p:nvGrpSpPr>
          <p:cNvPr name="Group 24" id="24"/>
          <p:cNvGrpSpPr/>
          <p:nvPr/>
        </p:nvGrpSpPr>
        <p:grpSpPr>
          <a:xfrm rot="0">
            <a:off x="0" y="7708392"/>
            <a:ext cx="18283428" cy="685800"/>
            <a:chOff x="0" y="0"/>
            <a:chExt cx="24377904" cy="914400"/>
          </a:xfrm>
        </p:grpSpPr>
        <p:sp>
          <p:nvSpPr>
            <p:cNvPr name="Freeform 25" id="25"/>
            <p:cNvSpPr/>
            <p:nvPr/>
          </p:nvSpPr>
          <p:spPr>
            <a:xfrm flipH="false" flipV="false" rot="0">
              <a:off x="0" y="0"/>
              <a:ext cx="24377904" cy="914400"/>
            </a:xfrm>
            <a:custGeom>
              <a:avLst/>
              <a:gdLst/>
              <a:ahLst/>
              <a:cxnLst/>
              <a:rect r="r" b="b" t="t" l="l"/>
              <a:pathLst>
                <a:path h="914400" w="24377904">
                  <a:moveTo>
                    <a:pt x="0" y="0"/>
                  </a:moveTo>
                  <a:lnTo>
                    <a:pt x="24377904" y="0"/>
                  </a:lnTo>
                  <a:lnTo>
                    <a:pt x="24377904" y="914400"/>
                  </a:lnTo>
                  <a:lnTo>
                    <a:pt x="0" y="914400"/>
                  </a:lnTo>
                  <a:close/>
                </a:path>
              </a:pathLst>
            </a:custGeom>
            <a:blipFill>
              <a:blip r:embed="rId2">
                <a:alphaModFix amt="0"/>
              </a:blip>
              <a:stretch>
                <a:fillRect l="0" t="-469471" r="0" b="-469471"/>
              </a:stretch>
            </a:blipFill>
          </p:spPr>
        </p:sp>
        <p:sp>
          <p:nvSpPr>
            <p:cNvPr name="TextBox 26" id="26"/>
            <p:cNvSpPr txBox="true"/>
            <p:nvPr/>
          </p:nvSpPr>
          <p:spPr>
            <a:xfrm>
              <a:off x="0" y="-38100"/>
              <a:ext cx="24377904" cy="952500"/>
            </a:xfrm>
            <a:prstGeom prst="rect">
              <a:avLst/>
            </a:prstGeom>
          </p:spPr>
          <p:txBody>
            <a:bodyPr anchor="ctr" rtlCol="false" tIns="0" lIns="0" bIns="0" rIns="0"/>
            <a:lstStyle/>
            <a:p>
              <a:pPr algn="ctr">
                <a:lnSpc>
                  <a:spcPts val="2879"/>
                </a:lnSpc>
              </a:pPr>
              <a:r>
                <a:rPr lang="en-US" sz="2400">
                  <a:solidFill>
                    <a:srgbClr val="CADCFC"/>
                  </a:solidFill>
                  <a:latin typeface="Calibri (MS)"/>
                  <a:ea typeface="Calibri (MS)"/>
                  <a:cs typeface="Calibri (MS)"/>
                  <a:sym typeface="Calibri (MS)"/>
                </a:rPr>
                <a:t>The Cybersecurity Framework that organizes the work of protecting C-I-A</a:t>
              </a:r>
            </a:p>
          </p:txBody>
        </p:sp>
      </p:grpSp>
      <p:grpSp>
        <p:nvGrpSpPr>
          <p:cNvPr name="Group 27" id="27"/>
          <p:cNvGrpSpPr/>
          <p:nvPr/>
        </p:nvGrpSpPr>
        <p:grpSpPr>
          <a:xfrm rot="0">
            <a:off x="685800" y="9710928"/>
            <a:ext cx="10972800" cy="411480"/>
            <a:chOff x="0" y="0"/>
            <a:chExt cx="14630400" cy="548640"/>
          </a:xfrm>
        </p:grpSpPr>
        <p:sp>
          <p:nvSpPr>
            <p:cNvPr name="Freeform 28" id="28"/>
            <p:cNvSpPr/>
            <p:nvPr/>
          </p:nvSpPr>
          <p:spPr>
            <a:xfrm flipH="false" flipV="false" rot="0">
              <a:off x="0" y="0"/>
              <a:ext cx="14630400" cy="548640"/>
            </a:xfrm>
            <a:custGeom>
              <a:avLst/>
              <a:gdLst/>
              <a:ahLst/>
              <a:cxnLst/>
              <a:rect r="r" b="b" t="t" l="l"/>
              <a:pathLst>
                <a:path h="548640" w="14630400">
                  <a:moveTo>
                    <a:pt x="0" y="0"/>
                  </a:moveTo>
                  <a:lnTo>
                    <a:pt x="14630400" y="0"/>
                  </a:lnTo>
                  <a:lnTo>
                    <a:pt x="14630400" y="548640"/>
                  </a:lnTo>
                  <a:lnTo>
                    <a:pt x="0" y="548640"/>
                  </a:lnTo>
                  <a:close/>
                </a:path>
              </a:pathLst>
            </a:custGeom>
            <a:blipFill>
              <a:blip r:embed="rId2">
                <a:alphaModFix amt="0"/>
              </a:blip>
              <a:stretch>
                <a:fillRect l="0" t="-469601" r="0" b="-469601"/>
              </a:stretch>
            </a:blipFill>
          </p:spPr>
        </p:sp>
        <p:sp>
          <p:nvSpPr>
            <p:cNvPr name="TextBox 29" id="29"/>
            <p:cNvSpPr txBox="true"/>
            <p:nvPr/>
          </p:nvSpPr>
          <p:spPr>
            <a:xfrm>
              <a:off x="0" y="-38100"/>
              <a:ext cx="14630400" cy="586740"/>
            </a:xfrm>
            <a:prstGeom prst="rect">
              <a:avLst/>
            </a:prstGeom>
          </p:spPr>
          <p:txBody>
            <a:bodyPr anchor="ctr" rtlCol="false" tIns="0" lIns="0" bIns="0" rIns="0"/>
            <a:lstStyle/>
            <a:p>
              <a:pPr algn="l">
                <a:lnSpc>
                  <a:spcPts val="1800"/>
                </a:lnSpc>
              </a:pPr>
              <a:r>
                <a:rPr lang="en-US" sz="1500">
                  <a:solidFill>
                    <a:srgbClr val="CADCFC"/>
                  </a:solidFill>
                  <a:latin typeface="Calibri (MS)"/>
                  <a:ea typeface="Calibri (MS)"/>
                  <a:cs typeface="Calibri (MS)"/>
                  <a:sym typeface="Calibri (MS)"/>
                </a:rPr>
                <a:t>Davao del Norte Provincial Government — Cybersecurity Seminar</a:t>
              </a:r>
            </a:p>
          </p:txBody>
        </p:sp>
      </p:grpSp>
      <p:grpSp>
        <p:nvGrpSpPr>
          <p:cNvPr name="Group 30" id="30"/>
          <p:cNvGrpSpPr/>
          <p:nvPr/>
        </p:nvGrpSpPr>
        <p:grpSpPr>
          <a:xfrm rot="0">
            <a:off x="16911828" y="9710928"/>
            <a:ext cx="685800" cy="411480"/>
            <a:chOff x="0" y="0"/>
            <a:chExt cx="914400" cy="548640"/>
          </a:xfrm>
        </p:grpSpPr>
        <p:sp>
          <p:nvSpPr>
            <p:cNvPr name="Freeform 31" id="31"/>
            <p:cNvSpPr/>
            <p:nvPr/>
          </p:nvSpPr>
          <p:spPr>
            <a:xfrm flipH="false" flipV="false" rot="0">
              <a:off x="0" y="0"/>
              <a:ext cx="914400" cy="548640"/>
            </a:xfrm>
            <a:custGeom>
              <a:avLst/>
              <a:gdLst/>
              <a:ahLst/>
              <a:cxnLst/>
              <a:rect r="r" b="b" t="t" l="l"/>
              <a:pathLst>
                <a:path h="548640" w="914400">
                  <a:moveTo>
                    <a:pt x="0" y="0"/>
                  </a:moveTo>
                  <a:lnTo>
                    <a:pt x="914400" y="0"/>
                  </a:lnTo>
                  <a:lnTo>
                    <a:pt x="914400" y="548640"/>
                  </a:lnTo>
                  <a:lnTo>
                    <a:pt x="0" y="548640"/>
                  </a:lnTo>
                  <a:close/>
                </a:path>
              </a:pathLst>
            </a:custGeom>
            <a:blipFill>
              <a:blip r:embed="rId2">
                <a:alphaModFix amt="0"/>
              </a:blip>
              <a:stretch>
                <a:fillRect l="-26982" t="0" r="-26982" b="0"/>
              </a:stretch>
            </a:blipFill>
          </p:spPr>
        </p:sp>
        <p:sp>
          <p:nvSpPr>
            <p:cNvPr name="TextBox 32" id="32"/>
            <p:cNvSpPr txBox="true"/>
            <p:nvPr/>
          </p:nvSpPr>
          <p:spPr>
            <a:xfrm>
              <a:off x="0" y="-38100"/>
              <a:ext cx="914400" cy="586740"/>
            </a:xfrm>
            <a:prstGeom prst="rect">
              <a:avLst/>
            </a:prstGeom>
          </p:spPr>
          <p:txBody>
            <a:bodyPr anchor="ctr" rtlCol="false" tIns="0" lIns="0" bIns="0" rIns="0"/>
            <a:lstStyle/>
            <a:p>
              <a:pPr algn="r">
                <a:lnSpc>
                  <a:spcPts val="1800"/>
                </a:lnSpc>
              </a:pPr>
              <a:r>
                <a:rPr lang="en-US" sz="1500">
                  <a:solidFill>
                    <a:srgbClr val="CADCFC"/>
                  </a:solidFill>
                  <a:latin typeface="Calibri (MS)"/>
                  <a:ea typeface="Calibri (MS)"/>
                  <a:cs typeface="Calibri (MS)"/>
                  <a:sym typeface="Calibri (MS)"/>
                </a:rPr>
                <a:t>1</a:t>
              </a:r>
            </a:p>
          </p:txBody>
        </p:sp>
      </p:grpSp>
    </p:spTree>
  </p:cSld>
  <p:clrMapOvr>
    <a:masterClrMapping/>
  </p:clrMapOvr>
</p:sld>
</file>

<file path=ppt/slides/slide6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754380" y="685800"/>
            <a:ext cx="850392" cy="850392"/>
            <a:chOff x="0" y="0"/>
            <a:chExt cx="1133856" cy="1133856"/>
          </a:xfrm>
        </p:grpSpPr>
        <p:sp>
          <p:nvSpPr>
            <p:cNvPr name="Freeform 3" id="3"/>
            <p:cNvSpPr/>
            <p:nvPr/>
          </p:nvSpPr>
          <p:spPr>
            <a:xfrm flipH="false" flipV="false" rot="0">
              <a:off x="0" y="0"/>
              <a:ext cx="1133856" cy="1133856"/>
            </a:xfrm>
            <a:custGeom>
              <a:avLst/>
              <a:gdLst/>
              <a:ahLst/>
              <a:cxnLst/>
              <a:rect r="r" b="b" t="t" l="l"/>
              <a:pathLst>
                <a:path h="1133856" w="1133856">
                  <a:moveTo>
                    <a:pt x="0" y="566928"/>
                  </a:moveTo>
                  <a:cubicBezTo>
                    <a:pt x="0" y="253873"/>
                    <a:pt x="253873" y="0"/>
                    <a:pt x="566928" y="0"/>
                  </a:cubicBezTo>
                  <a:cubicBezTo>
                    <a:pt x="879983" y="0"/>
                    <a:pt x="1133856" y="253873"/>
                    <a:pt x="1133856" y="566928"/>
                  </a:cubicBezTo>
                  <a:cubicBezTo>
                    <a:pt x="1133856" y="879983"/>
                    <a:pt x="879983" y="1133856"/>
                    <a:pt x="566928" y="1133856"/>
                  </a:cubicBezTo>
                  <a:cubicBezTo>
                    <a:pt x="253873" y="1133856"/>
                    <a:pt x="0" y="879983"/>
                    <a:pt x="0" y="566928"/>
                  </a:cubicBezTo>
                  <a:close/>
                </a:path>
              </a:pathLst>
            </a:custGeom>
            <a:solidFill>
              <a:srgbClr val="1E2761"/>
            </a:solidFill>
          </p:spPr>
        </p:sp>
      </p:grpSp>
      <p:grpSp>
        <p:nvGrpSpPr>
          <p:cNvPr name="Group 4" id="4"/>
          <p:cNvGrpSpPr/>
          <p:nvPr/>
        </p:nvGrpSpPr>
        <p:grpSpPr>
          <a:xfrm rot="0">
            <a:off x="932688" y="864108"/>
            <a:ext cx="493776" cy="493776"/>
            <a:chOff x="0" y="0"/>
            <a:chExt cx="658368" cy="658368"/>
          </a:xfrm>
        </p:grpSpPr>
        <p:sp>
          <p:nvSpPr>
            <p:cNvPr name="Freeform 5" id="5" descr="flask.png"/>
            <p:cNvSpPr/>
            <p:nvPr/>
          </p:nvSpPr>
          <p:spPr>
            <a:xfrm flipH="false" flipV="false" rot="0">
              <a:off x="0" y="0"/>
              <a:ext cx="658368" cy="658368"/>
            </a:xfrm>
            <a:custGeom>
              <a:avLst/>
              <a:gdLst/>
              <a:ahLst/>
              <a:cxnLst/>
              <a:rect r="r" b="b" t="t" l="l"/>
              <a:pathLst>
                <a:path h="658368" w="658368">
                  <a:moveTo>
                    <a:pt x="0" y="0"/>
                  </a:moveTo>
                  <a:lnTo>
                    <a:pt x="658368" y="0"/>
                  </a:lnTo>
                  <a:lnTo>
                    <a:pt x="658368" y="658368"/>
                  </a:lnTo>
                  <a:lnTo>
                    <a:pt x="0" y="658368"/>
                  </a:lnTo>
                  <a:lnTo>
                    <a:pt x="0" y="0"/>
                  </a:lnTo>
                  <a:close/>
                </a:path>
              </a:pathLst>
            </a:custGeom>
            <a:blipFill>
              <a:blip r:embed="rId2"/>
              <a:stretch>
                <a:fillRect l="0" t="0" r="0" b="0"/>
              </a:stretch>
            </a:blipFill>
          </p:spPr>
        </p:sp>
      </p:grpSp>
      <p:grpSp>
        <p:nvGrpSpPr>
          <p:cNvPr name="Group 6" id="6"/>
          <p:cNvGrpSpPr/>
          <p:nvPr/>
        </p:nvGrpSpPr>
        <p:grpSpPr>
          <a:xfrm rot="0">
            <a:off x="1851660" y="603504"/>
            <a:ext cx="13716000" cy="466344"/>
            <a:chOff x="0" y="0"/>
            <a:chExt cx="18288000" cy="621792"/>
          </a:xfrm>
        </p:grpSpPr>
        <p:sp>
          <p:nvSpPr>
            <p:cNvPr name="Freeform 7" id="7"/>
            <p:cNvSpPr/>
            <p:nvPr/>
          </p:nvSpPr>
          <p:spPr>
            <a:xfrm flipH="false" flipV="false" rot="0">
              <a:off x="0" y="0"/>
              <a:ext cx="18288000" cy="621792"/>
            </a:xfrm>
            <a:custGeom>
              <a:avLst/>
              <a:gdLst/>
              <a:ahLst/>
              <a:cxnLst/>
              <a:rect r="r" b="b" t="t" l="l"/>
              <a:pathLst>
                <a:path h="621792" w="18288000">
                  <a:moveTo>
                    <a:pt x="0" y="0"/>
                  </a:moveTo>
                  <a:lnTo>
                    <a:pt x="18288000" y="0"/>
                  </a:lnTo>
                  <a:lnTo>
                    <a:pt x="18288000" y="621792"/>
                  </a:lnTo>
                  <a:lnTo>
                    <a:pt x="0" y="621792"/>
                  </a:lnTo>
                  <a:close/>
                </a:path>
              </a:pathLst>
            </a:custGeom>
            <a:blipFill>
              <a:blip r:embed="rId3">
                <a:alphaModFix amt="0"/>
              </a:blip>
              <a:stretch>
                <a:fillRect l="0" t="-523089" r="0" b="-523089"/>
              </a:stretch>
            </a:blipFill>
          </p:spPr>
        </p:sp>
        <p:sp>
          <p:nvSpPr>
            <p:cNvPr name="TextBox 8" id="8"/>
            <p:cNvSpPr txBox="true"/>
            <p:nvPr/>
          </p:nvSpPr>
          <p:spPr>
            <a:xfrm>
              <a:off x="0" y="-47625"/>
              <a:ext cx="18288000" cy="669417"/>
            </a:xfrm>
            <a:prstGeom prst="rect">
              <a:avLst/>
            </a:prstGeom>
          </p:spPr>
          <p:txBody>
            <a:bodyPr anchor="ctr" rtlCol="false" tIns="0" lIns="0" bIns="0" rIns="0"/>
            <a:lstStyle/>
            <a:p>
              <a:pPr algn="l">
                <a:lnSpc>
                  <a:spcPts val="2340"/>
                </a:lnSpc>
              </a:pPr>
              <a:r>
                <a:rPr lang="en-US" b="true" sz="1950" spc="150">
                  <a:solidFill>
                    <a:srgbClr val="00B4D8"/>
                  </a:solidFill>
                  <a:latin typeface="Calibri (MS) Bold"/>
                  <a:ea typeface="Calibri (MS) Bold"/>
                  <a:cs typeface="Calibri (MS) Bold"/>
                  <a:sym typeface="Calibri (MS) Bold"/>
                </a:rPr>
                <a:t>NIST CSF 2.0</a:t>
              </a:r>
            </a:p>
          </p:txBody>
        </p:sp>
      </p:grpSp>
      <p:grpSp>
        <p:nvGrpSpPr>
          <p:cNvPr name="Group 9" id="9"/>
          <p:cNvGrpSpPr/>
          <p:nvPr/>
        </p:nvGrpSpPr>
        <p:grpSpPr>
          <a:xfrm rot="0">
            <a:off x="1824228" y="987552"/>
            <a:ext cx="15361920" cy="850392"/>
            <a:chOff x="0" y="0"/>
            <a:chExt cx="20482560" cy="1133856"/>
          </a:xfrm>
        </p:grpSpPr>
        <p:sp>
          <p:nvSpPr>
            <p:cNvPr name="Freeform 10" id="10"/>
            <p:cNvSpPr/>
            <p:nvPr/>
          </p:nvSpPr>
          <p:spPr>
            <a:xfrm flipH="false" flipV="false" rot="0">
              <a:off x="0" y="0"/>
              <a:ext cx="20482561" cy="1133856"/>
            </a:xfrm>
            <a:custGeom>
              <a:avLst/>
              <a:gdLst/>
              <a:ahLst/>
              <a:cxnLst/>
              <a:rect r="r" b="b" t="t" l="l"/>
              <a:pathLst>
                <a:path h="1133856" w="20482561">
                  <a:moveTo>
                    <a:pt x="0" y="0"/>
                  </a:moveTo>
                  <a:lnTo>
                    <a:pt x="20482561" y="0"/>
                  </a:lnTo>
                  <a:lnTo>
                    <a:pt x="20482561" y="1133856"/>
                  </a:lnTo>
                  <a:lnTo>
                    <a:pt x="0" y="1133856"/>
                  </a:lnTo>
                  <a:close/>
                </a:path>
              </a:pathLst>
            </a:custGeom>
            <a:blipFill>
              <a:blip r:embed="rId3">
                <a:alphaModFix amt="0"/>
              </a:blip>
              <a:stretch>
                <a:fillRect l="0" t="-301987" r="0" b="-301987"/>
              </a:stretch>
            </a:blipFill>
          </p:spPr>
        </p:sp>
        <p:sp>
          <p:nvSpPr>
            <p:cNvPr name="TextBox 11" id="11"/>
            <p:cNvSpPr txBox="true"/>
            <p:nvPr/>
          </p:nvSpPr>
          <p:spPr>
            <a:xfrm>
              <a:off x="0" y="-9525"/>
              <a:ext cx="20482560" cy="1143381"/>
            </a:xfrm>
            <a:prstGeom prst="rect">
              <a:avLst/>
            </a:prstGeom>
          </p:spPr>
          <p:txBody>
            <a:bodyPr anchor="ctr" rtlCol="false" tIns="0" lIns="0" bIns="0" rIns="0"/>
            <a:lstStyle/>
            <a:p>
              <a:pPr algn="l">
                <a:lnSpc>
                  <a:spcPts val="5040"/>
                </a:lnSpc>
              </a:pPr>
              <a:r>
                <a:rPr lang="en-US" sz="4200" b="true">
                  <a:solidFill>
                    <a:srgbClr val="1E2761"/>
                  </a:solidFill>
                  <a:latin typeface="Cambria Bold"/>
                  <a:ea typeface="Cambria Bold"/>
                  <a:cs typeface="Cambria Bold"/>
                  <a:sym typeface="Cambria Bold"/>
                </a:rPr>
                <a:t>Why a Framework</a:t>
              </a:r>
            </a:p>
          </p:txBody>
        </p:sp>
      </p:grpSp>
      <p:sp>
        <p:nvSpPr>
          <p:cNvPr name="TextBox 12" id="12"/>
          <p:cNvSpPr txBox="true"/>
          <p:nvPr/>
        </p:nvSpPr>
        <p:spPr>
          <a:xfrm rot="0">
            <a:off x="1325880" y="3565410"/>
            <a:ext cx="14493240" cy="2392680"/>
          </a:xfrm>
          <a:prstGeom prst="rect">
            <a:avLst/>
          </a:prstGeom>
        </p:spPr>
        <p:txBody>
          <a:bodyPr anchor="t" rtlCol="false" tIns="0" lIns="0" bIns="0" rIns="0">
            <a:spAutoFit/>
          </a:bodyPr>
          <a:lstStyle/>
          <a:p>
            <a:pPr algn="l">
              <a:lnSpc>
                <a:spcPts val="5040"/>
              </a:lnSpc>
            </a:pPr>
            <a:r>
              <a:rPr lang="en-US" sz="3000" i="true">
                <a:solidFill>
                  <a:srgbClr val="23262F"/>
                </a:solidFill>
                <a:latin typeface="Cambria Italics"/>
                <a:ea typeface="Cambria Italics"/>
                <a:cs typeface="Cambria Italics"/>
                <a:sym typeface="Cambria Italics"/>
              </a:rPr>
              <a:t>The CIA Triad told us what's at stake. Risk Management told us how to prioritize. NIST CSF 2.0 gives us a common structure to organize the actual work — a shared checklist so nothing important gets missed, and a shared vocabulary so IT, leadership, and auditors are describing the same thing the same way.</a:t>
            </a:r>
          </a:p>
        </p:txBody>
      </p:sp>
      <p:grpSp>
        <p:nvGrpSpPr>
          <p:cNvPr name="Group 13" id="13"/>
          <p:cNvGrpSpPr/>
          <p:nvPr/>
        </p:nvGrpSpPr>
        <p:grpSpPr>
          <a:xfrm rot="0">
            <a:off x="1234440" y="5554980"/>
            <a:ext cx="14676120" cy="2674620"/>
            <a:chOff x="0" y="0"/>
            <a:chExt cx="19568160" cy="3566160"/>
          </a:xfrm>
        </p:grpSpPr>
        <p:sp>
          <p:nvSpPr>
            <p:cNvPr name="Freeform 14" id="14"/>
            <p:cNvSpPr/>
            <p:nvPr/>
          </p:nvSpPr>
          <p:spPr>
            <a:xfrm flipH="false" flipV="false" rot="0">
              <a:off x="0" y="0"/>
              <a:ext cx="19568161" cy="3566160"/>
            </a:xfrm>
            <a:custGeom>
              <a:avLst/>
              <a:gdLst/>
              <a:ahLst/>
              <a:cxnLst/>
              <a:rect r="r" b="b" t="t" l="l"/>
              <a:pathLst>
                <a:path h="3566160" w="19568161">
                  <a:moveTo>
                    <a:pt x="0" y="182880"/>
                  </a:moveTo>
                  <a:cubicBezTo>
                    <a:pt x="0" y="81915"/>
                    <a:pt x="81915" y="0"/>
                    <a:pt x="182880" y="0"/>
                  </a:cubicBezTo>
                  <a:lnTo>
                    <a:pt x="19385280" y="0"/>
                  </a:lnTo>
                  <a:cubicBezTo>
                    <a:pt x="19486245" y="0"/>
                    <a:pt x="19568161" y="81915"/>
                    <a:pt x="19568161" y="182880"/>
                  </a:cubicBezTo>
                  <a:lnTo>
                    <a:pt x="19568161" y="3383280"/>
                  </a:lnTo>
                  <a:cubicBezTo>
                    <a:pt x="19568161" y="3484245"/>
                    <a:pt x="19486245" y="3566160"/>
                    <a:pt x="19385280" y="3566160"/>
                  </a:cubicBezTo>
                  <a:lnTo>
                    <a:pt x="182880" y="3566160"/>
                  </a:lnTo>
                  <a:cubicBezTo>
                    <a:pt x="81915" y="3566160"/>
                    <a:pt x="0" y="3484245"/>
                    <a:pt x="0" y="3383280"/>
                  </a:cubicBezTo>
                  <a:close/>
                </a:path>
              </a:pathLst>
            </a:custGeom>
            <a:solidFill>
              <a:srgbClr val="F4F7FC"/>
            </a:solidFill>
          </p:spPr>
        </p:sp>
      </p:grpSp>
      <p:grpSp>
        <p:nvGrpSpPr>
          <p:cNvPr name="Group 15" id="15"/>
          <p:cNvGrpSpPr/>
          <p:nvPr/>
        </p:nvGrpSpPr>
        <p:grpSpPr>
          <a:xfrm rot="0">
            <a:off x="685800" y="9710928"/>
            <a:ext cx="10972800" cy="411480"/>
            <a:chOff x="0" y="0"/>
            <a:chExt cx="14630400" cy="548640"/>
          </a:xfrm>
        </p:grpSpPr>
        <p:sp>
          <p:nvSpPr>
            <p:cNvPr name="Freeform 16" id="16"/>
            <p:cNvSpPr/>
            <p:nvPr/>
          </p:nvSpPr>
          <p:spPr>
            <a:xfrm flipH="false" flipV="false" rot="0">
              <a:off x="0" y="0"/>
              <a:ext cx="14630400" cy="548640"/>
            </a:xfrm>
            <a:custGeom>
              <a:avLst/>
              <a:gdLst/>
              <a:ahLst/>
              <a:cxnLst/>
              <a:rect r="r" b="b" t="t" l="l"/>
              <a:pathLst>
                <a:path h="548640" w="14630400">
                  <a:moveTo>
                    <a:pt x="0" y="0"/>
                  </a:moveTo>
                  <a:lnTo>
                    <a:pt x="14630400" y="0"/>
                  </a:lnTo>
                  <a:lnTo>
                    <a:pt x="14630400" y="548640"/>
                  </a:lnTo>
                  <a:lnTo>
                    <a:pt x="0" y="548640"/>
                  </a:lnTo>
                  <a:close/>
                </a:path>
              </a:pathLst>
            </a:custGeom>
            <a:blipFill>
              <a:blip r:embed="rId3">
                <a:alphaModFix amt="0"/>
              </a:blip>
              <a:stretch>
                <a:fillRect l="0" t="-469601" r="0" b="-469601"/>
              </a:stretch>
            </a:blipFill>
          </p:spPr>
        </p:sp>
        <p:sp>
          <p:nvSpPr>
            <p:cNvPr name="TextBox 17" id="17"/>
            <p:cNvSpPr txBox="true"/>
            <p:nvPr/>
          </p:nvSpPr>
          <p:spPr>
            <a:xfrm>
              <a:off x="0" y="-38100"/>
              <a:ext cx="14630400" cy="586740"/>
            </a:xfrm>
            <a:prstGeom prst="rect">
              <a:avLst/>
            </a:prstGeom>
          </p:spPr>
          <p:txBody>
            <a:bodyPr anchor="ctr" rtlCol="false" tIns="0" lIns="0" bIns="0" rIns="0"/>
            <a:lstStyle/>
            <a:p>
              <a:pPr algn="l">
                <a:lnSpc>
                  <a:spcPts val="1800"/>
                </a:lnSpc>
              </a:pPr>
              <a:r>
                <a:rPr lang="en-US" sz="1500">
                  <a:solidFill>
                    <a:srgbClr val="6B7280"/>
                  </a:solidFill>
                  <a:latin typeface="Calibri (MS)"/>
                  <a:ea typeface="Calibri (MS)"/>
                  <a:cs typeface="Calibri (MS)"/>
                  <a:sym typeface="Calibri (MS)"/>
                </a:rPr>
                <a:t>Davao del Norte Provincial Government — Cybersecurity Seminar</a:t>
              </a:r>
            </a:p>
          </p:txBody>
        </p:sp>
      </p:grpSp>
      <p:grpSp>
        <p:nvGrpSpPr>
          <p:cNvPr name="Group 18" id="18"/>
          <p:cNvGrpSpPr/>
          <p:nvPr/>
        </p:nvGrpSpPr>
        <p:grpSpPr>
          <a:xfrm rot="0">
            <a:off x="16911828" y="9710928"/>
            <a:ext cx="685800" cy="411480"/>
            <a:chOff x="0" y="0"/>
            <a:chExt cx="914400" cy="548640"/>
          </a:xfrm>
        </p:grpSpPr>
        <p:sp>
          <p:nvSpPr>
            <p:cNvPr name="Freeform 19" id="19"/>
            <p:cNvSpPr/>
            <p:nvPr/>
          </p:nvSpPr>
          <p:spPr>
            <a:xfrm flipH="false" flipV="false" rot="0">
              <a:off x="0" y="0"/>
              <a:ext cx="914400" cy="548640"/>
            </a:xfrm>
            <a:custGeom>
              <a:avLst/>
              <a:gdLst/>
              <a:ahLst/>
              <a:cxnLst/>
              <a:rect r="r" b="b" t="t" l="l"/>
              <a:pathLst>
                <a:path h="548640" w="914400">
                  <a:moveTo>
                    <a:pt x="0" y="0"/>
                  </a:moveTo>
                  <a:lnTo>
                    <a:pt x="914400" y="0"/>
                  </a:lnTo>
                  <a:lnTo>
                    <a:pt x="914400" y="548640"/>
                  </a:lnTo>
                  <a:lnTo>
                    <a:pt x="0" y="548640"/>
                  </a:lnTo>
                  <a:close/>
                </a:path>
              </a:pathLst>
            </a:custGeom>
            <a:blipFill>
              <a:blip r:embed="rId3">
                <a:alphaModFix amt="0"/>
              </a:blip>
              <a:stretch>
                <a:fillRect l="-26982" t="0" r="-26982" b="0"/>
              </a:stretch>
            </a:blipFill>
          </p:spPr>
        </p:sp>
        <p:sp>
          <p:nvSpPr>
            <p:cNvPr name="TextBox 20" id="20"/>
            <p:cNvSpPr txBox="true"/>
            <p:nvPr/>
          </p:nvSpPr>
          <p:spPr>
            <a:xfrm>
              <a:off x="0" y="-38100"/>
              <a:ext cx="914400" cy="586740"/>
            </a:xfrm>
            <a:prstGeom prst="rect">
              <a:avLst/>
            </a:prstGeom>
          </p:spPr>
          <p:txBody>
            <a:bodyPr anchor="ctr" rtlCol="false" tIns="0" lIns="0" bIns="0" rIns="0"/>
            <a:lstStyle/>
            <a:p>
              <a:pPr algn="r">
                <a:lnSpc>
                  <a:spcPts val="1800"/>
                </a:lnSpc>
              </a:pPr>
              <a:r>
                <a:rPr lang="en-US" sz="1500">
                  <a:solidFill>
                    <a:srgbClr val="6B7280"/>
                  </a:solidFill>
                  <a:latin typeface="Calibri (MS)"/>
                  <a:ea typeface="Calibri (MS)"/>
                  <a:cs typeface="Calibri (MS)"/>
                  <a:sym typeface="Calibri (MS)"/>
                </a:rPr>
                <a:t>2</a:t>
              </a:r>
            </a:p>
          </p:txBody>
        </p:sp>
      </p:grpSp>
    </p:spTree>
  </p:cSld>
  <p:clrMapOvr>
    <a:masterClrMapping/>
  </p:clrMapOvr>
</p:sld>
</file>

<file path=ppt/slides/slide7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754380" y="685800"/>
            <a:ext cx="850392" cy="850392"/>
            <a:chOff x="0" y="0"/>
            <a:chExt cx="1133856" cy="1133856"/>
          </a:xfrm>
        </p:grpSpPr>
        <p:sp>
          <p:nvSpPr>
            <p:cNvPr name="Freeform 3" id="3"/>
            <p:cNvSpPr/>
            <p:nvPr/>
          </p:nvSpPr>
          <p:spPr>
            <a:xfrm flipH="false" flipV="false" rot="0">
              <a:off x="0" y="0"/>
              <a:ext cx="1133856" cy="1133856"/>
            </a:xfrm>
            <a:custGeom>
              <a:avLst/>
              <a:gdLst/>
              <a:ahLst/>
              <a:cxnLst/>
              <a:rect r="r" b="b" t="t" l="l"/>
              <a:pathLst>
                <a:path h="1133856" w="1133856">
                  <a:moveTo>
                    <a:pt x="0" y="566928"/>
                  </a:moveTo>
                  <a:cubicBezTo>
                    <a:pt x="0" y="253873"/>
                    <a:pt x="253873" y="0"/>
                    <a:pt x="566928" y="0"/>
                  </a:cubicBezTo>
                  <a:cubicBezTo>
                    <a:pt x="879983" y="0"/>
                    <a:pt x="1133856" y="253873"/>
                    <a:pt x="1133856" y="566928"/>
                  </a:cubicBezTo>
                  <a:cubicBezTo>
                    <a:pt x="1133856" y="879983"/>
                    <a:pt x="879983" y="1133856"/>
                    <a:pt x="566928" y="1133856"/>
                  </a:cubicBezTo>
                  <a:cubicBezTo>
                    <a:pt x="253873" y="1133856"/>
                    <a:pt x="0" y="879983"/>
                    <a:pt x="0" y="566928"/>
                  </a:cubicBezTo>
                  <a:close/>
                </a:path>
              </a:pathLst>
            </a:custGeom>
            <a:solidFill>
              <a:srgbClr val="1E2761"/>
            </a:solidFill>
          </p:spPr>
        </p:sp>
      </p:grpSp>
      <p:grpSp>
        <p:nvGrpSpPr>
          <p:cNvPr name="Group 4" id="4"/>
          <p:cNvGrpSpPr/>
          <p:nvPr/>
        </p:nvGrpSpPr>
        <p:grpSpPr>
          <a:xfrm rot="0">
            <a:off x="932688" y="864108"/>
            <a:ext cx="493776" cy="493776"/>
            <a:chOff x="0" y="0"/>
            <a:chExt cx="658368" cy="658368"/>
          </a:xfrm>
        </p:grpSpPr>
        <p:sp>
          <p:nvSpPr>
            <p:cNvPr name="Freeform 5" id="5" descr="clipboard.png"/>
            <p:cNvSpPr/>
            <p:nvPr/>
          </p:nvSpPr>
          <p:spPr>
            <a:xfrm flipH="false" flipV="false" rot="0">
              <a:off x="0" y="0"/>
              <a:ext cx="658368" cy="658368"/>
            </a:xfrm>
            <a:custGeom>
              <a:avLst/>
              <a:gdLst/>
              <a:ahLst/>
              <a:cxnLst/>
              <a:rect r="r" b="b" t="t" l="l"/>
              <a:pathLst>
                <a:path h="658368" w="658368">
                  <a:moveTo>
                    <a:pt x="0" y="0"/>
                  </a:moveTo>
                  <a:lnTo>
                    <a:pt x="658368" y="0"/>
                  </a:lnTo>
                  <a:lnTo>
                    <a:pt x="658368" y="658368"/>
                  </a:lnTo>
                  <a:lnTo>
                    <a:pt x="0" y="658368"/>
                  </a:lnTo>
                  <a:lnTo>
                    <a:pt x="0" y="0"/>
                  </a:lnTo>
                  <a:close/>
                </a:path>
              </a:pathLst>
            </a:custGeom>
            <a:blipFill>
              <a:blip r:embed="rId2"/>
              <a:stretch>
                <a:fillRect l="0" t="0" r="0" b="0"/>
              </a:stretch>
            </a:blipFill>
          </p:spPr>
        </p:sp>
      </p:grpSp>
      <p:grpSp>
        <p:nvGrpSpPr>
          <p:cNvPr name="Group 6" id="6"/>
          <p:cNvGrpSpPr/>
          <p:nvPr/>
        </p:nvGrpSpPr>
        <p:grpSpPr>
          <a:xfrm rot="0">
            <a:off x="1851660" y="603504"/>
            <a:ext cx="13716000" cy="466344"/>
            <a:chOff x="0" y="0"/>
            <a:chExt cx="18288000" cy="621792"/>
          </a:xfrm>
        </p:grpSpPr>
        <p:sp>
          <p:nvSpPr>
            <p:cNvPr name="Freeform 7" id="7"/>
            <p:cNvSpPr/>
            <p:nvPr/>
          </p:nvSpPr>
          <p:spPr>
            <a:xfrm flipH="false" flipV="false" rot="0">
              <a:off x="0" y="0"/>
              <a:ext cx="18288000" cy="621792"/>
            </a:xfrm>
            <a:custGeom>
              <a:avLst/>
              <a:gdLst/>
              <a:ahLst/>
              <a:cxnLst/>
              <a:rect r="r" b="b" t="t" l="l"/>
              <a:pathLst>
                <a:path h="621792" w="18288000">
                  <a:moveTo>
                    <a:pt x="0" y="0"/>
                  </a:moveTo>
                  <a:lnTo>
                    <a:pt x="18288000" y="0"/>
                  </a:lnTo>
                  <a:lnTo>
                    <a:pt x="18288000" y="621792"/>
                  </a:lnTo>
                  <a:lnTo>
                    <a:pt x="0" y="621792"/>
                  </a:lnTo>
                  <a:close/>
                </a:path>
              </a:pathLst>
            </a:custGeom>
            <a:blipFill>
              <a:blip r:embed="rId3">
                <a:alphaModFix amt="0"/>
              </a:blip>
              <a:stretch>
                <a:fillRect l="0" t="-523089" r="0" b="-523089"/>
              </a:stretch>
            </a:blipFill>
          </p:spPr>
        </p:sp>
        <p:sp>
          <p:nvSpPr>
            <p:cNvPr name="TextBox 8" id="8"/>
            <p:cNvSpPr txBox="true"/>
            <p:nvPr/>
          </p:nvSpPr>
          <p:spPr>
            <a:xfrm>
              <a:off x="0" y="-47625"/>
              <a:ext cx="18288000" cy="669417"/>
            </a:xfrm>
            <a:prstGeom prst="rect">
              <a:avLst/>
            </a:prstGeom>
          </p:spPr>
          <p:txBody>
            <a:bodyPr anchor="ctr" rtlCol="false" tIns="0" lIns="0" bIns="0" rIns="0"/>
            <a:lstStyle/>
            <a:p>
              <a:pPr algn="l">
                <a:lnSpc>
                  <a:spcPts val="2340"/>
                </a:lnSpc>
              </a:pPr>
              <a:r>
                <a:rPr lang="en-US" b="true" sz="1950" spc="150">
                  <a:solidFill>
                    <a:srgbClr val="00B4D8"/>
                  </a:solidFill>
                  <a:latin typeface="Calibri (MS) Bold"/>
                  <a:ea typeface="Calibri (MS) Bold"/>
                  <a:cs typeface="Calibri (MS) Bold"/>
                  <a:sym typeface="Calibri (MS) Bold"/>
                </a:rPr>
                <a:t>NIST CSF 2.0</a:t>
              </a:r>
            </a:p>
          </p:txBody>
        </p:sp>
      </p:grpSp>
      <p:grpSp>
        <p:nvGrpSpPr>
          <p:cNvPr name="Group 9" id="9"/>
          <p:cNvGrpSpPr/>
          <p:nvPr/>
        </p:nvGrpSpPr>
        <p:grpSpPr>
          <a:xfrm rot="0">
            <a:off x="1824228" y="987552"/>
            <a:ext cx="15361920" cy="850392"/>
            <a:chOff x="0" y="0"/>
            <a:chExt cx="20482560" cy="1133856"/>
          </a:xfrm>
        </p:grpSpPr>
        <p:sp>
          <p:nvSpPr>
            <p:cNvPr name="Freeform 10" id="10"/>
            <p:cNvSpPr/>
            <p:nvPr/>
          </p:nvSpPr>
          <p:spPr>
            <a:xfrm flipH="false" flipV="false" rot="0">
              <a:off x="0" y="0"/>
              <a:ext cx="20482561" cy="1133856"/>
            </a:xfrm>
            <a:custGeom>
              <a:avLst/>
              <a:gdLst/>
              <a:ahLst/>
              <a:cxnLst/>
              <a:rect r="r" b="b" t="t" l="l"/>
              <a:pathLst>
                <a:path h="1133856" w="20482561">
                  <a:moveTo>
                    <a:pt x="0" y="0"/>
                  </a:moveTo>
                  <a:lnTo>
                    <a:pt x="20482561" y="0"/>
                  </a:lnTo>
                  <a:lnTo>
                    <a:pt x="20482561" y="1133856"/>
                  </a:lnTo>
                  <a:lnTo>
                    <a:pt x="0" y="1133856"/>
                  </a:lnTo>
                  <a:close/>
                </a:path>
              </a:pathLst>
            </a:custGeom>
            <a:blipFill>
              <a:blip r:embed="rId3">
                <a:alphaModFix amt="0"/>
              </a:blip>
              <a:stretch>
                <a:fillRect l="0" t="-301987" r="0" b="-301987"/>
              </a:stretch>
            </a:blipFill>
          </p:spPr>
        </p:sp>
        <p:sp>
          <p:nvSpPr>
            <p:cNvPr name="TextBox 11" id="11"/>
            <p:cNvSpPr txBox="true"/>
            <p:nvPr/>
          </p:nvSpPr>
          <p:spPr>
            <a:xfrm>
              <a:off x="0" y="-9525"/>
              <a:ext cx="20482560" cy="1143381"/>
            </a:xfrm>
            <a:prstGeom prst="rect">
              <a:avLst/>
            </a:prstGeom>
          </p:spPr>
          <p:txBody>
            <a:bodyPr anchor="ctr" rtlCol="false" tIns="0" lIns="0" bIns="0" rIns="0"/>
            <a:lstStyle/>
            <a:p>
              <a:pPr algn="l">
                <a:lnSpc>
                  <a:spcPts val="5040"/>
                </a:lnSpc>
              </a:pPr>
              <a:r>
                <a:rPr lang="en-US" sz="4200" b="true">
                  <a:solidFill>
                    <a:srgbClr val="1E2761"/>
                  </a:solidFill>
                  <a:latin typeface="Cambria Bold"/>
                  <a:ea typeface="Cambria Bold"/>
                  <a:cs typeface="Cambria Bold"/>
                  <a:sym typeface="Cambria Bold"/>
                </a:rPr>
                <a:t>The Six Functions</a:t>
              </a:r>
            </a:p>
          </p:txBody>
        </p:sp>
      </p:grpSp>
      <p:sp>
        <p:nvSpPr>
          <p:cNvPr name="TextBox 12" id="12"/>
          <p:cNvSpPr txBox="true"/>
          <p:nvPr/>
        </p:nvSpPr>
        <p:spPr>
          <a:xfrm rot="0">
            <a:off x="1325880" y="2124075"/>
            <a:ext cx="14767560" cy="710565"/>
          </a:xfrm>
          <a:prstGeom prst="rect">
            <a:avLst/>
          </a:prstGeom>
        </p:spPr>
        <p:txBody>
          <a:bodyPr anchor="t" rtlCol="false" tIns="0" lIns="0" bIns="0" rIns="0">
            <a:spAutoFit/>
          </a:bodyPr>
          <a:lstStyle/>
          <a:p>
            <a:pPr algn="l">
              <a:lnSpc>
                <a:spcPts val="2610"/>
              </a:lnSpc>
            </a:pPr>
            <a:r>
              <a:rPr lang="en-US" sz="2175" i="true">
                <a:solidFill>
                  <a:srgbClr val="6B7280"/>
                </a:solidFill>
                <a:latin typeface="Calibri (MS) Italics"/>
                <a:ea typeface="Calibri (MS) Italics"/>
                <a:cs typeface="Calibri (MS) Italics"/>
                <a:sym typeface="Calibri (MS) Italics"/>
              </a:rPr>
              <a:t>Everything in CSF 2.0 sits under one of six Functions. Govern sits apart, cutting across the other five — it's how leadership steers and holds the rest accountable.</a:t>
            </a:r>
          </a:p>
        </p:txBody>
      </p:sp>
      <p:grpSp>
        <p:nvGrpSpPr>
          <p:cNvPr name="Group 13" id="13"/>
          <p:cNvGrpSpPr/>
          <p:nvPr/>
        </p:nvGrpSpPr>
        <p:grpSpPr>
          <a:xfrm rot="0">
            <a:off x="1234440" y="3086100"/>
            <a:ext cx="5102352" cy="2125980"/>
            <a:chOff x="0" y="0"/>
            <a:chExt cx="6803136" cy="2834640"/>
          </a:xfrm>
        </p:grpSpPr>
        <p:sp>
          <p:nvSpPr>
            <p:cNvPr name="Freeform 14" id="14"/>
            <p:cNvSpPr/>
            <p:nvPr/>
          </p:nvSpPr>
          <p:spPr>
            <a:xfrm flipH="false" flipV="false" rot="0">
              <a:off x="0" y="0"/>
              <a:ext cx="6803136" cy="2834640"/>
            </a:xfrm>
            <a:custGeom>
              <a:avLst/>
              <a:gdLst/>
              <a:ahLst/>
              <a:cxnLst/>
              <a:rect r="r" b="b" t="t" l="l"/>
              <a:pathLst>
                <a:path h="2834640" w="6803136">
                  <a:moveTo>
                    <a:pt x="0" y="164592"/>
                  </a:moveTo>
                  <a:cubicBezTo>
                    <a:pt x="0" y="73660"/>
                    <a:pt x="73660" y="0"/>
                    <a:pt x="164592" y="0"/>
                  </a:cubicBezTo>
                  <a:lnTo>
                    <a:pt x="6638544" y="0"/>
                  </a:lnTo>
                  <a:cubicBezTo>
                    <a:pt x="6729475" y="0"/>
                    <a:pt x="6803136" y="73660"/>
                    <a:pt x="6803136" y="164592"/>
                  </a:cubicBezTo>
                  <a:lnTo>
                    <a:pt x="6803136" y="2670048"/>
                  </a:lnTo>
                  <a:cubicBezTo>
                    <a:pt x="6803136" y="2760980"/>
                    <a:pt x="6729475" y="2834640"/>
                    <a:pt x="6638544" y="2834640"/>
                  </a:cubicBezTo>
                  <a:lnTo>
                    <a:pt x="164592" y="2834640"/>
                  </a:lnTo>
                  <a:cubicBezTo>
                    <a:pt x="73660" y="2834640"/>
                    <a:pt x="0" y="2760980"/>
                    <a:pt x="0" y="2670048"/>
                  </a:cubicBezTo>
                  <a:close/>
                </a:path>
              </a:pathLst>
            </a:custGeom>
            <a:solidFill>
              <a:srgbClr val="F4F7FC"/>
            </a:solidFill>
          </p:spPr>
        </p:sp>
      </p:grpSp>
      <p:grpSp>
        <p:nvGrpSpPr>
          <p:cNvPr name="Group 15" id="15"/>
          <p:cNvGrpSpPr/>
          <p:nvPr/>
        </p:nvGrpSpPr>
        <p:grpSpPr>
          <a:xfrm rot="0">
            <a:off x="1563624" y="3415284"/>
            <a:ext cx="274320" cy="274320"/>
            <a:chOff x="0" y="0"/>
            <a:chExt cx="365760" cy="365760"/>
          </a:xfrm>
        </p:grpSpPr>
        <p:sp>
          <p:nvSpPr>
            <p:cNvPr name="Freeform 16" id="16"/>
            <p:cNvSpPr/>
            <p:nvPr/>
          </p:nvSpPr>
          <p:spPr>
            <a:xfrm flipH="false" flipV="false" rot="0">
              <a:off x="0" y="0"/>
              <a:ext cx="365760" cy="365760"/>
            </a:xfrm>
            <a:custGeom>
              <a:avLst/>
              <a:gdLst/>
              <a:ahLst/>
              <a:cxnLst/>
              <a:rect r="r" b="b" t="t" l="l"/>
              <a:pathLst>
                <a:path h="365760" w="365760">
                  <a:moveTo>
                    <a:pt x="0" y="182880"/>
                  </a:moveTo>
                  <a:cubicBezTo>
                    <a:pt x="0" y="81915"/>
                    <a:pt x="81915" y="0"/>
                    <a:pt x="182880" y="0"/>
                  </a:cubicBezTo>
                  <a:cubicBezTo>
                    <a:pt x="283845" y="0"/>
                    <a:pt x="365760" y="81915"/>
                    <a:pt x="365760" y="182880"/>
                  </a:cubicBezTo>
                  <a:cubicBezTo>
                    <a:pt x="365760" y="283845"/>
                    <a:pt x="283845" y="365760"/>
                    <a:pt x="182880" y="365760"/>
                  </a:cubicBezTo>
                  <a:cubicBezTo>
                    <a:pt x="81915" y="365760"/>
                    <a:pt x="0" y="283845"/>
                    <a:pt x="0" y="182880"/>
                  </a:cubicBezTo>
                  <a:close/>
                </a:path>
              </a:pathLst>
            </a:custGeom>
            <a:solidFill>
              <a:srgbClr val="6C4FD1"/>
            </a:solidFill>
          </p:spPr>
        </p:sp>
      </p:grpSp>
      <p:grpSp>
        <p:nvGrpSpPr>
          <p:cNvPr name="Group 17" id="17"/>
          <p:cNvGrpSpPr/>
          <p:nvPr/>
        </p:nvGrpSpPr>
        <p:grpSpPr>
          <a:xfrm rot="0">
            <a:off x="1988820" y="3291840"/>
            <a:ext cx="4005072" cy="548640"/>
            <a:chOff x="0" y="0"/>
            <a:chExt cx="5340096" cy="731520"/>
          </a:xfrm>
        </p:grpSpPr>
        <p:sp>
          <p:nvSpPr>
            <p:cNvPr name="Freeform 18" id="18"/>
            <p:cNvSpPr/>
            <p:nvPr/>
          </p:nvSpPr>
          <p:spPr>
            <a:xfrm flipH="false" flipV="false" rot="0">
              <a:off x="0" y="0"/>
              <a:ext cx="5340096" cy="731520"/>
            </a:xfrm>
            <a:custGeom>
              <a:avLst/>
              <a:gdLst/>
              <a:ahLst/>
              <a:cxnLst/>
              <a:rect r="r" b="b" t="t" l="l"/>
              <a:pathLst>
                <a:path h="731520" w="5340096">
                  <a:moveTo>
                    <a:pt x="0" y="0"/>
                  </a:moveTo>
                  <a:lnTo>
                    <a:pt x="5340096" y="0"/>
                  </a:lnTo>
                  <a:lnTo>
                    <a:pt x="5340096" y="731520"/>
                  </a:lnTo>
                  <a:lnTo>
                    <a:pt x="0" y="731520"/>
                  </a:lnTo>
                  <a:close/>
                </a:path>
              </a:pathLst>
            </a:custGeom>
            <a:blipFill>
              <a:blip r:embed="rId3">
                <a:alphaModFix amt="0"/>
              </a:blip>
              <a:stretch>
                <a:fillRect l="0" t="-92240" r="0" b="-92240"/>
              </a:stretch>
            </a:blipFill>
          </p:spPr>
        </p:sp>
        <p:sp>
          <p:nvSpPr>
            <p:cNvPr name="TextBox 19" id="19"/>
            <p:cNvSpPr txBox="true"/>
            <p:nvPr/>
          </p:nvSpPr>
          <p:spPr>
            <a:xfrm>
              <a:off x="0" y="0"/>
              <a:ext cx="5340096" cy="731520"/>
            </a:xfrm>
            <a:prstGeom prst="rect">
              <a:avLst/>
            </a:prstGeom>
          </p:spPr>
          <p:txBody>
            <a:bodyPr anchor="ctr" rtlCol="false" tIns="0" lIns="0" bIns="0" rIns="0"/>
            <a:lstStyle/>
            <a:p>
              <a:pPr algn="l">
                <a:lnSpc>
                  <a:spcPts val="2790"/>
                </a:lnSpc>
              </a:pPr>
              <a:r>
                <a:rPr lang="en-US" sz="2325" b="true">
                  <a:solidFill>
                    <a:srgbClr val="1E2761"/>
                  </a:solidFill>
                  <a:latin typeface="Cambria Bold"/>
                  <a:ea typeface="Cambria Bold"/>
                  <a:cs typeface="Cambria Bold"/>
                  <a:sym typeface="Cambria Bold"/>
                </a:rPr>
                <a:t>Govern</a:t>
              </a:r>
            </a:p>
          </p:txBody>
        </p:sp>
      </p:grpSp>
      <p:grpSp>
        <p:nvGrpSpPr>
          <p:cNvPr name="Group 20" id="20"/>
          <p:cNvGrpSpPr/>
          <p:nvPr/>
        </p:nvGrpSpPr>
        <p:grpSpPr>
          <a:xfrm rot="0">
            <a:off x="5445252" y="3319272"/>
            <a:ext cx="685800" cy="411480"/>
            <a:chOff x="0" y="0"/>
            <a:chExt cx="914400" cy="548640"/>
          </a:xfrm>
        </p:grpSpPr>
        <p:sp>
          <p:nvSpPr>
            <p:cNvPr name="Freeform 21" id="21"/>
            <p:cNvSpPr/>
            <p:nvPr/>
          </p:nvSpPr>
          <p:spPr>
            <a:xfrm flipH="false" flipV="false" rot="0">
              <a:off x="0" y="0"/>
              <a:ext cx="914400" cy="548640"/>
            </a:xfrm>
            <a:custGeom>
              <a:avLst/>
              <a:gdLst/>
              <a:ahLst/>
              <a:cxnLst/>
              <a:rect r="r" b="b" t="t" l="l"/>
              <a:pathLst>
                <a:path h="548640" w="914400">
                  <a:moveTo>
                    <a:pt x="0" y="0"/>
                  </a:moveTo>
                  <a:lnTo>
                    <a:pt x="914400" y="0"/>
                  </a:lnTo>
                  <a:lnTo>
                    <a:pt x="914400" y="548640"/>
                  </a:lnTo>
                  <a:lnTo>
                    <a:pt x="0" y="548640"/>
                  </a:lnTo>
                  <a:close/>
                </a:path>
              </a:pathLst>
            </a:custGeom>
            <a:blipFill>
              <a:blip r:embed="rId3">
                <a:alphaModFix amt="0"/>
              </a:blip>
              <a:stretch>
                <a:fillRect l="-26982" t="0" r="-26982" b="0"/>
              </a:stretch>
            </a:blipFill>
          </p:spPr>
        </p:sp>
        <p:sp>
          <p:nvSpPr>
            <p:cNvPr name="TextBox 22" id="22"/>
            <p:cNvSpPr txBox="true"/>
            <p:nvPr/>
          </p:nvSpPr>
          <p:spPr>
            <a:xfrm>
              <a:off x="0" y="-38100"/>
              <a:ext cx="914400" cy="586740"/>
            </a:xfrm>
            <a:prstGeom prst="rect">
              <a:avLst/>
            </a:prstGeom>
          </p:spPr>
          <p:txBody>
            <a:bodyPr anchor="ctr" rtlCol="false" tIns="0" lIns="0" bIns="0" rIns="0"/>
            <a:lstStyle/>
            <a:p>
              <a:pPr algn="r">
                <a:lnSpc>
                  <a:spcPts val="1800"/>
                </a:lnSpc>
              </a:pPr>
              <a:r>
                <a:rPr lang="en-US" sz="1500">
                  <a:solidFill>
                    <a:srgbClr val="6B7280"/>
                  </a:solidFill>
                  <a:latin typeface="Calibri (MS)"/>
                  <a:ea typeface="Calibri (MS)"/>
                  <a:cs typeface="Calibri (MS)"/>
                  <a:sym typeface="Calibri (MS)"/>
                </a:rPr>
                <a:t>GV</a:t>
              </a:r>
            </a:p>
          </p:txBody>
        </p:sp>
      </p:grpSp>
      <p:sp>
        <p:nvSpPr>
          <p:cNvPr name="TextBox 23" id="23"/>
          <p:cNvSpPr txBox="true"/>
          <p:nvPr/>
        </p:nvSpPr>
        <p:spPr>
          <a:xfrm rot="0">
            <a:off x="1655064" y="3896487"/>
            <a:ext cx="4261104" cy="1091565"/>
          </a:xfrm>
          <a:prstGeom prst="rect">
            <a:avLst/>
          </a:prstGeom>
        </p:spPr>
        <p:txBody>
          <a:bodyPr anchor="t" rtlCol="false" tIns="0" lIns="0" bIns="0" rIns="0">
            <a:spAutoFit/>
          </a:bodyPr>
          <a:lstStyle/>
          <a:p>
            <a:pPr algn="l">
              <a:lnSpc>
                <a:spcPts val="2525"/>
              </a:lnSpc>
            </a:pPr>
            <a:r>
              <a:rPr lang="en-US" sz="1725">
                <a:solidFill>
                  <a:srgbClr val="23262F"/>
                </a:solidFill>
                <a:latin typeface="Calibri (MS)"/>
                <a:ea typeface="Calibri (MS)"/>
                <a:cs typeface="Calibri (MS)"/>
                <a:sym typeface="Calibri (MS)"/>
              </a:rPr>
              <a:t>Strategy, policy, roles, and oversight — who's accountable for risk decisions.</a:t>
            </a:r>
          </a:p>
        </p:txBody>
      </p:sp>
      <p:grpSp>
        <p:nvGrpSpPr>
          <p:cNvPr name="Group 24" id="24"/>
          <p:cNvGrpSpPr/>
          <p:nvPr/>
        </p:nvGrpSpPr>
        <p:grpSpPr>
          <a:xfrm rot="0">
            <a:off x="6693408" y="3086100"/>
            <a:ext cx="5102352" cy="2125980"/>
            <a:chOff x="0" y="0"/>
            <a:chExt cx="6803136" cy="2834640"/>
          </a:xfrm>
        </p:grpSpPr>
        <p:sp>
          <p:nvSpPr>
            <p:cNvPr name="Freeform 25" id="25"/>
            <p:cNvSpPr/>
            <p:nvPr/>
          </p:nvSpPr>
          <p:spPr>
            <a:xfrm flipH="false" flipV="false" rot="0">
              <a:off x="0" y="0"/>
              <a:ext cx="6803136" cy="2834640"/>
            </a:xfrm>
            <a:custGeom>
              <a:avLst/>
              <a:gdLst/>
              <a:ahLst/>
              <a:cxnLst/>
              <a:rect r="r" b="b" t="t" l="l"/>
              <a:pathLst>
                <a:path h="2834640" w="6803136">
                  <a:moveTo>
                    <a:pt x="0" y="164592"/>
                  </a:moveTo>
                  <a:cubicBezTo>
                    <a:pt x="0" y="73660"/>
                    <a:pt x="73660" y="0"/>
                    <a:pt x="164592" y="0"/>
                  </a:cubicBezTo>
                  <a:lnTo>
                    <a:pt x="6638544" y="0"/>
                  </a:lnTo>
                  <a:cubicBezTo>
                    <a:pt x="6729475" y="0"/>
                    <a:pt x="6803136" y="73660"/>
                    <a:pt x="6803136" y="164592"/>
                  </a:cubicBezTo>
                  <a:lnTo>
                    <a:pt x="6803136" y="2670048"/>
                  </a:lnTo>
                  <a:cubicBezTo>
                    <a:pt x="6803136" y="2760980"/>
                    <a:pt x="6729475" y="2834640"/>
                    <a:pt x="6638544" y="2834640"/>
                  </a:cubicBezTo>
                  <a:lnTo>
                    <a:pt x="164592" y="2834640"/>
                  </a:lnTo>
                  <a:cubicBezTo>
                    <a:pt x="73660" y="2834640"/>
                    <a:pt x="0" y="2760980"/>
                    <a:pt x="0" y="2670048"/>
                  </a:cubicBezTo>
                  <a:close/>
                </a:path>
              </a:pathLst>
            </a:custGeom>
            <a:solidFill>
              <a:srgbClr val="F4F7FC"/>
            </a:solidFill>
          </p:spPr>
        </p:sp>
      </p:grpSp>
      <p:grpSp>
        <p:nvGrpSpPr>
          <p:cNvPr name="Group 26" id="26"/>
          <p:cNvGrpSpPr/>
          <p:nvPr/>
        </p:nvGrpSpPr>
        <p:grpSpPr>
          <a:xfrm rot="0">
            <a:off x="7022592" y="3415284"/>
            <a:ext cx="274320" cy="274320"/>
            <a:chOff x="0" y="0"/>
            <a:chExt cx="365760" cy="365760"/>
          </a:xfrm>
        </p:grpSpPr>
        <p:sp>
          <p:nvSpPr>
            <p:cNvPr name="Freeform 27" id="27"/>
            <p:cNvSpPr/>
            <p:nvPr/>
          </p:nvSpPr>
          <p:spPr>
            <a:xfrm flipH="false" flipV="false" rot="0">
              <a:off x="0" y="0"/>
              <a:ext cx="365760" cy="365760"/>
            </a:xfrm>
            <a:custGeom>
              <a:avLst/>
              <a:gdLst/>
              <a:ahLst/>
              <a:cxnLst/>
              <a:rect r="r" b="b" t="t" l="l"/>
              <a:pathLst>
                <a:path h="365760" w="365760">
                  <a:moveTo>
                    <a:pt x="0" y="182880"/>
                  </a:moveTo>
                  <a:cubicBezTo>
                    <a:pt x="0" y="81915"/>
                    <a:pt x="81915" y="0"/>
                    <a:pt x="182880" y="0"/>
                  </a:cubicBezTo>
                  <a:cubicBezTo>
                    <a:pt x="283845" y="0"/>
                    <a:pt x="365760" y="81915"/>
                    <a:pt x="365760" y="182880"/>
                  </a:cubicBezTo>
                  <a:cubicBezTo>
                    <a:pt x="365760" y="283845"/>
                    <a:pt x="283845" y="365760"/>
                    <a:pt x="182880" y="365760"/>
                  </a:cubicBezTo>
                  <a:cubicBezTo>
                    <a:pt x="81915" y="365760"/>
                    <a:pt x="0" y="283845"/>
                    <a:pt x="0" y="182880"/>
                  </a:cubicBezTo>
                  <a:close/>
                </a:path>
              </a:pathLst>
            </a:custGeom>
            <a:solidFill>
              <a:srgbClr val="0F8A6E"/>
            </a:solidFill>
          </p:spPr>
        </p:sp>
      </p:grpSp>
      <p:grpSp>
        <p:nvGrpSpPr>
          <p:cNvPr name="Group 28" id="28"/>
          <p:cNvGrpSpPr/>
          <p:nvPr/>
        </p:nvGrpSpPr>
        <p:grpSpPr>
          <a:xfrm rot="0">
            <a:off x="7447788" y="3291840"/>
            <a:ext cx="4005072" cy="548640"/>
            <a:chOff x="0" y="0"/>
            <a:chExt cx="5340096" cy="731520"/>
          </a:xfrm>
        </p:grpSpPr>
        <p:sp>
          <p:nvSpPr>
            <p:cNvPr name="Freeform 29" id="29"/>
            <p:cNvSpPr/>
            <p:nvPr/>
          </p:nvSpPr>
          <p:spPr>
            <a:xfrm flipH="false" flipV="false" rot="0">
              <a:off x="0" y="0"/>
              <a:ext cx="5340096" cy="731520"/>
            </a:xfrm>
            <a:custGeom>
              <a:avLst/>
              <a:gdLst/>
              <a:ahLst/>
              <a:cxnLst/>
              <a:rect r="r" b="b" t="t" l="l"/>
              <a:pathLst>
                <a:path h="731520" w="5340096">
                  <a:moveTo>
                    <a:pt x="0" y="0"/>
                  </a:moveTo>
                  <a:lnTo>
                    <a:pt x="5340096" y="0"/>
                  </a:lnTo>
                  <a:lnTo>
                    <a:pt x="5340096" y="731520"/>
                  </a:lnTo>
                  <a:lnTo>
                    <a:pt x="0" y="731520"/>
                  </a:lnTo>
                  <a:close/>
                </a:path>
              </a:pathLst>
            </a:custGeom>
            <a:blipFill>
              <a:blip r:embed="rId3">
                <a:alphaModFix amt="0"/>
              </a:blip>
              <a:stretch>
                <a:fillRect l="0" t="-92240" r="0" b="-92240"/>
              </a:stretch>
            </a:blipFill>
          </p:spPr>
        </p:sp>
        <p:sp>
          <p:nvSpPr>
            <p:cNvPr name="TextBox 30" id="30"/>
            <p:cNvSpPr txBox="true"/>
            <p:nvPr/>
          </p:nvSpPr>
          <p:spPr>
            <a:xfrm>
              <a:off x="0" y="0"/>
              <a:ext cx="5340096" cy="731520"/>
            </a:xfrm>
            <a:prstGeom prst="rect">
              <a:avLst/>
            </a:prstGeom>
          </p:spPr>
          <p:txBody>
            <a:bodyPr anchor="ctr" rtlCol="false" tIns="0" lIns="0" bIns="0" rIns="0"/>
            <a:lstStyle/>
            <a:p>
              <a:pPr algn="l">
                <a:lnSpc>
                  <a:spcPts val="2790"/>
                </a:lnSpc>
              </a:pPr>
              <a:r>
                <a:rPr lang="en-US" sz="2325" b="true">
                  <a:solidFill>
                    <a:srgbClr val="1E2761"/>
                  </a:solidFill>
                  <a:latin typeface="Cambria Bold"/>
                  <a:ea typeface="Cambria Bold"/>
                  <a:cs typeface="Cambria Bold"/>
                  <a:sym typeface="Cambria Bold"/>
                </a:rPr>
                <a:t>Identify</a:t>
              </a:r>
            </a:p>
          </p:txBody>
        </p:sp>
      </p:grpSp>
      <p:grpSp>
        <p:nvGrpSpPr>
          <p:cNvPr name="Group 31" id="31"/>
          <p:cNvGrpSpPr/>
          <p:nvPr/>
        </p:nvGrpSpPr>
        <p:grpSpPr>
          <a:xfrm rot="0">
            <a:off x="10904220" y="3319272"/>
            <a:ext cx="685800" cy="411480"/>
            <a:chOff x="0" y="0"/>
            <a:chExt cx="914400" cy="548640"/>
          </a:xfrm>
        </p:grpSpPr>
        <p:sp>
          <p:nvSpPr>
            <p:cNvPr name="Freeform 32" id="32"/>
            <p:cNvSpPr/>
            <p:nvPr/>
          </p:nvSpPr>
          <p:spPr>
            <a:xfrm flipH="false" flipV="false" rot="0">
              <a:off x="0" y="0"/>
              <a:ext cx="914400" cy="548640"/>
            </a:xfrm>
            <a:custGeom>
              <a:avLst/>
              <a:gdLst/>
              <a:ahLst/>
              <a:cxnLst/>
              <a:rect r="r" b="b" t="t" l="l"/>
              <a:pathLst>
                <a:path h="548640" w="914400">
                  <a:moveTo>
                    <a:pt x="0" y="0"/>
                  </a:moveTo>
                  <a:lnTo>
                    <a:pt x="914400" y="0"/>
                  </a:lnTo>
                  <a:lnTo>
                    <a:pt x="914400" y="548640"/>
                  </a:lnTo>
                  <a:lnTo>
                    <a:pt x="0" y="548640"/>
                  </a:lnTo>
                  <a:close/>
                </a:path>
              </a:pathLst>
            </a:custGeom>
            <a:blipFill>
              <a:blip r:embed="rId3">
                <a:alphaModFix amt="0"/>
              </a:blip>
              <a:stretch>
                <a:fillRect l="-26982" t="0" r="-26982" b="0"/>
              </a:stretch>
            </a:blipFill>
          </p:spPr>
        </p:sp>
        <p:sp>
          <p:nvSpPr>
            <p:cNvPr name="TextBox 33" id="33"/>
            <p:cNvSpPr txBox="true"/>
            <p:nvPr/>
          </p:nvSpPr>
          <p:spPr>
            <a:xfrm>
              <a:off x="0" y="-38100"/>
              <a:ext cx="914400" cy="586740"/>
            </a:xfrm>
            <a:prstGeom prst="rect">
              <a:avLst/>
            </a:prstGeom>
          </p:spPr>
          <p:txBody>
            <a:bodyPr anchor="ctr" rtlCol="false" tIns="0" lIns="0" bIns="0" rIns="0"/>
            <a:lstStyle/>
            <a:p>
              <a:pPr algn="r">
                <a:lnSpc>
                  <a:spcPts val="1800"/>
                </a:lnSpc>
              </a:pPr>
              <a:r>
                <a:rPr lang="en-US" sz="1500">
                  <a:solidFill>
                    <a:srgbClr val="6B7280"/>
                  </a:solidFill>
                  <a:latin typeface="Calibri (MS)"/>
                  <a:ea typeface="Calibri (MS)"/>
                  <a:cs typeface="Calibri (MS)"/>
                  <a:sym typeface="Calibri (MS)"/>
                </a:rPr>
                <a:t>ID</a:t>
              </a:r>
            </a:p>
          </p:txBody>
        </p:sp>
      </p:grpSp>
      <p:sp>
        <p:nvSpPr>
          <p:cNvPr name="TextBox 34" id="34"/>
          <p:cNvSpPr txBox="true"/>
          <p:nvPr/>
        </p:nvSpPr>
        <p:spPr>
          <a:xfrm rot="0">
            <a:off x="7114032" y="3896487"/>
            <a:ext cx="4261104" cy="1091565"/>
          </a:xfrm>
          <a:prstGeom prst="rect">
            <a:avLst/>
          </a:prstGeom>
        </p:spPr>
        <p:txBody>
          <a:bodyPr anchor="t" rtlCol="false" tIns="0" lIns="0" bIns="0" rIns="0">
            <a:spAutoFit/>
          </a:bodyPr>
          <a:lstStyle/>
          <a:p>
            <a:pPr algn="l">
              <a:lnSpc>
                <a:spcPts val="2525"/>
              </a:lnSpc>
            </a:pPr>
            <a:r>
              <a:rPr lang="en-US" sz="1725">
                <a:solidFill>
                  <a:srgbClr val="23262F"/>
                </a:solidFill>
                <a:latin typeface="Calibri (MS)"/>
                <a:ea typeface="Calibri (MS)"/>
                <a:cs typeface="Calibri (MS)"/>
                <a:sym typeface="Calibri (MS)"/>
              </a:rPr>
              <a:t>Understand your assets, systems, and the risks facing them.</a:t>
            </a:r>
          </a:p>
        </p:txBody>
      </p:sp>
      <p:grpSp>
        <p:nvGrpSpPr>
          <p:cNvPr name="Group 35" id="35"/>
          <p:cNvGrpSpPr/>
          <p:nvPr/>
        </p:nvGrpSpPr>
        <p:grpSpPr>
          <a:xfrm rot="0">
            <a:off x="12152376" y="3086100"/>
            <a:ext cx="5102352" cy="2125980"/>
            <a:chOff x="0" y="0"/>
            <a:chExt cx="6803136" cy="2834640"/>
          </a:xfrm>
        </p:grpSpPr>
        <p:sp>
          <p:nvSpPr>
            <p:cNvPr name="Freeform 36" id="36"/>
            <p:cNvSpPr/>
            <p:nvPr/>
          </p:nvSpPr>
          <p:spPr>
            <a:xfrm flipH="false" flipV="false" rot="0">
              <a:off x="0" y="0"/>
              <a:ext cx="6803136" cy="2834640"/>
            </a:xfrm>
            <a:custGeom>
              <a:avLst/>
              <a:gdLst/>
              <a:ahLst/>
              <a:cxnLst/>
              <a:rect r="r" b="b" t="t" l="l"/>
              <a:pathLst>
                <a:path h="2834640" w="6803136">
                  <a:moveTo>
                    <a:pt x="0" y="164592"/>
                  </a:moveTo>
                  <a:cubicBezTo>
                    <a:pt x="0" y="73660"/>
                    <a:pt x="73660" y="0"/>
                    <a:pt x="164592" y="0"/>
                  </a:cubicBezTo>
                  <a:lnTo>
                    <a:pt x="6638544" y="0"/>
                  </a:lnTo>
                  <a:cubicBezTo>
                    <a:pt x="6729475" y="0"/>
                    <a:pt x="6803136" y="73660"/>
                    <a:pt x="6803136" y="164592"/>
                  </a:cubicBezTo>
                  <a:lnTo>
                    <a:pt x="6803136" y="2670048"/>
                  </a:lnTo>
                  <a:cubicBezTo>
                    <a:pt x="6803136" y="2760980"/>
                    <a:pt x="6729475" y="2834640"/>
                    <a:pt x="6638544" y="2834640"/>
                  </a:cubicBezTo>
                  <a:lnTo>
                    <a:pt x="164592" y="2834640"/>
                  </a:lnTo>
                  <a:cubicBezTo>
                    <a:pt x="73660" y="2834640"/>
                    <a:pt x="0" y="2760980"/>
                    <a:pt x="0" y="2670048"/>
                  </a:cubicBezTo>
                  <a:close/>
                </a:path>
              </a:pathLst>
            </a:custGeom>
            <a:solidFill>
              <a:srgbClr val="F4F7FC"/>
            </a:solidFill>
          </p:spPr>
        </p:sp>
      </p:grpSp>
      <p:grpSp>
        <p:nvGrpSpPr>
          <p:cNvPr name="Group 37" id="37"/>
          <p:cNvGrpSpPr/>
          <p:nvPr/>
        </p:nvGrpSpPr>
        <p:grpSpPr>
          <a:xfrm rot="0">
            <a:off x="12481560" y="3415284"/>
            <a:ext cx="274320" cy="274320"/>
            <a:chOff x="0" y="0"/>
            <a:chExt cx="365760" cy="365760"/>
          </a:xfrm>
        </p:grpSpPr>
        <p:sp>
          <p:nvSpPr>
            <p:cNvPr name="Freeform 38" id="38"/>
            <p:cNvSpPr/>
            <p:nvPr/>
          </p:nvSpPr>
          <p:spPr>
            <a:xfrm flipH="false" flipV="false" rot="0">
              <a:off x="0" y="0"/>
              <a:ext cx="365760" cy="365760"/>
            </a:xfrm>
            <a:custGeom>
              <a:avLst/>
              <a:gdLst/>
              <a:ahLst/>
              <a:cxnLst/>
              <a:rect r="r" b="b" t="t" l="l"/>
              <a:pathLst>
                <a:path h="365760" w="365760">
                  <a:moveTo>
                    <a:pt x="0" y="182880"/>
                  </a:moveTo>
                  <a:cubicBezTo>
                    <a:pt x="0" y="81915"/>
                    <a:pt x="81915" y="0"/>
                    <a:pt x="182880" y="0"/>
                  </a:cubicBezTo>
                  <a:cubicBezTo>
                    <a:pt x="283845" y="0"/>
                    <a:pt x="365760" y="81915"/>
                    <a:pt x="365760" y="182880"/>
                  </a:cubicBezTo>
                  <a:cubicBezTo>
                    <a:pt x="365760" y="283845"/>
                    <a:pt x="283845" y="365760"/>
                    <a:pt x="182880" y="365760"/>
                  </a:cubicBezTo>
                  <a:cubicBezTo>
                    <a:pt x="81915" y="365760"/>
                    <a:pt x="0" y="283845"/>
                    <a:pt x="0" y="182880"/>
                  </a:cubicBezTo>
                  <a:close/>
                </a:path>
              </a:pathLst>
            </a:custGeom>
            <a:solidFill>
              <a:srgbClr val="1F6FEB"/>
            </a:solidFill>
          </p:spPr>
        </p:sp>
      </p:grpSp>
      <p:grpSp>
        <p:nvGrpSpPr>
          <p:cNvPr name="Group 39" id="39"/>
          <p:cNvGrpSpPr/>
          <p:nvPr/>
        </p:nvGrpSpPr>
        <p:grpSpPr>
          <a:xfrm rot="0">
            <a:off x="12906756" y="3291840"/>
            <a:ext cx="4005072" cy="548640"/>
            <a:chOff x="0" y="0"/>
            <a:chExt cx="5340096" cy="731520"/>
          </a:xfrm>
        </p:grpSpPr>
        <p:sp>
          <p:nvSpPr>
            <p:cNvPr name="Freeform 40" id="40"/>
            <p:cNvSpPr/>
            <p:nvPr/>
          </p:nvSpPr>
          <p:spPr>
            <a:xfrm flipH="false" flipV="false" rot="0">
              <a:off x="0" y="0"/>
              <a:ext cx="5340096" cy="731520"/>
            </a:xfrm>
            <a:custGeom>
              <a:avLst/>
              <a:gdLst/>
              <a:ahLst/>
              <a:cxnLst/>
              <a:rect r="r" b="b" t="t" l="l"/>
              <a:pathLst>
                <a:path h="731520" w="5340096">
                  <a:moveTo>
                    <a:pt x="0" y="0"/>
                  </a:moveTo>
                  <a:lnTo>
                    <a:pt x="5340096" y="0"/>
                  </a:lnTo>
                  <a:lnTo>
                    <a:pt x="5340096" y="731520"/>
                  </a:lnTo>
                  <a:lnTo>
                    <a:pt x="0" y="731520"/>
                  </a:lnTo>
                  <a:close/>
                </a:path>
              </a:pathLst>
            </a:custGeom>
            <a:blipFill>
              <a:blip r:embed="rId3">
                <a:alphaModFix amt="0"/>
              </a:blip>
              <a:stretch>
                <a:fillRect l="0" t="-92240" r="0" b="-92240"/>
              </a:stretch>
            </a:blipFill>
          </p:spPr>
        </p:sp>
        <p:sp>
          <p:nvSpPr>
            <p:cNvPr name="TextBox 41" id="41"/>
            <p:cNvSpPr txBox="true"/>
            <p:nvPr/>
          </p:nvSpPr>
          <p:spPr>
            <a:xfrm>
              <a:off x="0" y="0"/>
              <a:ext cx="5340096" cy="731520"/>
            </a:xfrm>
            <a:prstGeom prst="rect">
              <a:avLst/>
            </a:prstGeom>
          </p:spPr>
          <p:txBody>
            <a:bodyPr anchor="ctr" rtlCol="false" tIns="0" lIns="0" bIns="0" rIns="0"/>
            <a:lstStyle/>
            <a:p>
              <a:pPr algn="l">
                <a:lnSpc>
                  <a:spcPts val="2790"/>
                </a:lnSpc>
              </a:pPr>
              <a:r>
                <a:rPr lang="en-US" sz="2325" b="true">
                  <a:solidFill>
                    <a:srgbClr val="1E2761"/>
                  </a:solidFill>
                  <a:latin typeface="Cambria Bold"/>
                  <a:ea typeface="Cambria Bold"/>
                  <a:cs typeface="Cambria Bold"/>
                  <a:sym typeface="Cambria Bold"/>
                </a:rPr>
                <a:t>Protect</a:t>
              </a:r>
            </a:p>
          </p:txBody>
        </p:sp>
      </p:grpSp>
      <p:grpSp>
        <p:nvGrpSpPr>
          <p:cNvPr name="Group 42" id="42"/>
          <p:cNvGrpSpPr/>
          <p:nvPr/>
        </p:nvGrpSpPr>
        <p:grpSpPr>
          <a:xfrm rot="0">
            <a:off x="16363188" y="3319272"/>
            <a:ext cx="685800" cy="411480"/>
            <a:chOff x="0" y="0"/>
            <a:chExt cx="914400" cy="548640"/>
          </a:xfrm>
        </p:grpSpPr>
        <p:sp>
          <p:nvSpPr>
            <p:cNvPr name="Freeform 43" id="43"/>
            <p:cNvSpPr/>
            <p:nvPr/>
          </p:nvSpPr>
          <p:spPr>
            <a:xfrm flipH="false" flipV="false" rot="0">
              <a:off x="0" y="0"/>
              <a:ext cx="914400" cy="548640"/>
            </a:xfrm>
            <a:custGeom>
              <a:avLst/>
              <a:gdLst/>
              <a:ahLst/>
              <a:cxnLst/>
              <a:rect r="r" b="b" t="t" l="l"/>
              <a:pathLst>
                <a:path h="548640" w="914400">
                  <a:moveTo>
                    <a:pt x="0" y="0"/>
                  </a:moveTo>
                  <a:lnTo>
                    <a:pt x="914400" y="0"/>
                  </a:lnTo>
                  <a:lnTo>
                    <a:pt x="914400" y="548640"/>
                  </a:lnTo>
                  <a:lnTo>
                    <a:pt x="0" y="548640"/>
                  </a:lnTo>
                  <a:close/>
                </a:path>
              </a:pathLst>
            </a:custGeom>
            <a:blipFill>
              <a:blip r:embed="rId3">
                <a:alphaModFix amt="0"/>
              </a:blip>
              <a:stretch>
                <a:fillRect l="-26982" t="0" r="-26982" b="0"/>
              </a:stretch>
            </a:blipFill>
          </p:spPr>
        </p:sp>
        <p:sp>
          <p:nvSpPr>
            <p:cNvPr name="TextBox 44" id="44"/>
            <p:cNvSpPr txBox="true"/>
            <p:nvPr/>
          </p:nvSpPr>
          <p:spPr>
            <a:xfrm>
              <a:off x="0" y="-38100"/>
              <a:ext cx="914400" cy="586740"/>
            </a:xfrm>
            <a:prstGeom prst="rect">
              <a:avLst/>
            </a:prstGeom>
          </p:spPr>
          <p:txBody>
            <a:bodyPr anchor="ctr" rtlCol="false" tIns="0" lIns="0" bIns="0" rIns="0"/>
            <a:lstStyle/>
            <a:p>
              <a:pPr algn="r">
                <a:lnSpc>
                  <a:spcPts val="1800"/>
                </a:lnSpc>
              </a:pPr>
              <a:r>
                <a:rPr lang="en-US" sz="1500">
                  <a:solidFill>
                    <a:srgbClr val="6B7280"/>
                  </a:solidFill>
                  <a:latin typeface="Calibri (MS)"/>
                  <a:ea typeface="Calibri (MS)"/>
                  <a:cs typeface="Calibri (MS)"/>
                  <a:sym typeface="Calibri (MS)"/>
                </a:rPr>
                <a:t>PR</a:t>
              </a:r>
            </a:p>
          </p:txBody>
        </p:sp>
      </p:grpSp>
      <p:sp>
        <p:nvSpPr>
          <p:cNvPr name="TextBox 45" id="45"/>
          <p:cNvSpPr txBox="true"/>
          <p:nvPr/>
        </p:nvSpPr>
        <p:spPr>
          <a:xfrm rot="0">
            <a:off x="12573000" y="3896487"/>
            <a:ext cx="4261104" cy="1091565"/>
          </a:xfrm>
          <a:prstGeom prst="rect">
            <a:avLst/>
          </a:prstGeom>
        </p:spPr>
        <p:txBody>
          <a:bodyPr anchor="t" rtlCol="false" tIns="0" lIns="0" bIns="0" rIns="0">
            <a:spAutoFit/>
          </a:bodyPr>
          <a:lstStyle/>
          <a:p>
            <a:pPr algn="l">
              <a:lnSpc>
                <a:spcPts val="2525"/>
              </a:lnSpc>
            </a:pPr>
            <a:r>
              <a:rPr lang="en-US" sz="1725">
                <a:solidFill>
                  <a:srgbClr val="23262F"/>
                </a:solidFill>
                <a:latin typeface="Calibri (MS)"/>
                <a:ea typeface="Calibri (MS)"/>
                <a:cs typeface="Calibri (MS)"/>
                <a:sym typeface="Calibri (MS)"/>
              </a:rPr>
              <a:t>Safeguards that keep priority services delivered and risk contained.</a:t>
            </a:r>
          </a:p>
        </p:txBody>
      </p:sp>
      <p:grpSp>
        <p:nvGrpSpPr>
          <p:cNvPr name="Group 46" id="46"/>
          <p:cNvGrpSpPr/>
          <p:nvPr/>
        </p:nvGrpSpPr>
        <p:grpSpPr>
          <a:xfrm rot="0">
            <a:off x="1234440" y="5554980"/>
            <a:ext cx="5102352" cy="2125980"/>
            <a:chOff x="0" y="0"/>
            <a:chExt cx="6803136" cy="2834640"/>
          </a:xfrm>
        </p:grpSpPr>
        <p:sp>
          <p:nvSpPr>
            <p:cNvPr name="Freeform 47" id="47"/>
            <p:cNvSpPr/>
            <p:nvPr/>
          </p:nvSpPr>
          <p:spPr>
            <a:xfrm flipH="false" flipV="false" rot="0">
              <a:off x="0" y="0"/>
              <a:ext cx="6803136" cy="2834640"/>
            </a:xfrm>
            <a:custGeom>
              <a:avLst/>
              <a:gdLst/>
              <a:ahLst/>
              <a:cxnLst/>
              <a:rect r="r" b="b" t="t" l="l"/>
              <a:pathLst>
                <a:path h="2834640" w="6803136">
                  <a:moveTo>
                    <a:pt x="0" y="164592"/>
                  </a:moveTo>
                  <a:cubicBezTo>
                    <a:pt x="0" y="73660"/>
                    <a:pt x="73660" y="0"/>
                    <a:pt x="164592" y="0"/>
                  </a:cubicBezTo>
                  <a:lnTo>
                    <a:pt x="6638544" y="0"/>
                  </a:lnTo>
                  <a:cubicBezTo>
                    <a:pt x="6729475" y="0"/>
                    <a:pt x="6803136" y="73660"/>
                    <a:pt x="6803136" y="164592"/>
                  </a:cubicBezTo>
                  <a:lnTo>
                    <a:pt x="6803136" y="2670048"/>
                  </a:lnTo>
                  <a:cubicBezTo>
                    <a:pt x="6803136" y="2760980"/>
                    <a:pt x="6729475" y="2834640"/>
                    <a:pt x="6638544" y="2834640"/>
                  </a:cubicBezTo>
                  <a:lnTo>
                    <a:pt x="164592" y="2834640"/>
                  </a:lnTo>
                  <a:cubicBezTo>
                    <a:pt x="73660" y="2834640"/>
                    <a:pt x="0" y="2760980"/>
                    <a:pt x="0" y="2670048"/>
                  </a:cubicBezTo>
                  <a:close/>
                </a:path>
              </a:pathLst>
            </a:custGeom>
            <a:solidFill>
              <a:srgbClr val="F4F7FC"/>
            </a:solidFill>
          </p:spPr>
        </p:sp>
      </p:grpSp>
      <p:grpSp>
        <p:nvGrpSpPr>
          <p:cNvPr name="Group 48" id="48"/>
          <p:cNvGrpSpPr/>
          <p:nvPr/>
        </p:nvGrpSpPr>
        <p:grpSpPr>
          <a:xfrm rot="0">
            <a:off x="1563624" y="5884164"/>
            <a:ext cx="274320" cy="274320"/>
            <a:chOff x="0" y="0"/>
            <a:chExt cx="365760" cy="365760"/>
          </a:xfrm>
        </p:grpSpPr>
        <p:sp>
          <p:nvSpPr>
            <p:cNvPr name="Freeform 49" id="49"/>
            <p:cNvSpPr/>
            <p:nvPr/>
          </p:nvSpPr>
          <p:spPr>
            <a:xfrm flipH="false" flipV="false" rot="0">
              <a:off x="0" y="0"/>
              <a:ext cx="365760" cy="365760"/>
            </a:xfrm>
            <a:custGeom>
              <a:avLst/>
              <a:gdLst/>
              <a:ahLst/>
              <a:cxnLst/>
              <a:rect r="r" b="b" t="t" l="l"/>
              <a:pathLst>
                <a:path h="365760" w="365760">
                  <a:moveTo>
                    <a:pt x="0" y="182880"/>
                  </a:moveTo>
                  <a:cubicBezTo>
                    <a:pt x="0" y="81915"/>
                    <a:pt x="81915" y="0"/>
                    <a:pt x="182880" y="0"/>
                  </a:cubicBezTo>
                  <a:cubicBezTo>
                    <a:pt x="283845" y="0"/>
                    <a:pt x="365760" y="81915"/>
                    <a:pt x="365760" y="182880"/>
                  </a:cubicBezTo>
                  <a:cubicBezTo>
                    <a:pt x="365760" y="283845"/>
                    <a:pt x="283845" y="365760"/>
                    <a:pt x="182880" y="365760"/>
                  </a:cubicBezTo>
                  <a:cubicBezTo>
                    <a:pt x="81915" y="365760"/>
                    <a:pt x="0" y="283845"/>
                    <a:pt x="0" y="182880"/>
                  </a:cubicBezTo>
                  <a:close/>
                </a:path>
              </a:pathLst>
            </a:custGeom>
            <a:solidFill>
              <a:srgbClr val="C98A12"/>
            </a:solidFill>
          </p:spPr>
        </p:sp>
      </p:grpSp>
      <p:grpSp>
        <p:nvGrpSpPr>
          <p:cNvPr name="Group 50" id="50"/>
          <p:cNvGrpSpPr/>
          <p:nvPr/>
        </p:nvGrpSpPr>
        <p:grpSpPr>
          <a:xfrm rot="0">
            <a:off x="1988820" y="5760720"/>
            <a:ext cx="4005072" cy="548640"/>
            <a:chOff x="0" y="0"/>
            <a:chExt cx="5340096" cy="731520"/>
          </a:xfrm>
        </p:grpSpPr>
        <p:sp>
          <p:nvSpPr>
            <p:cNvPr name="Freeform 51" id="51"/>
            <p:cNvSpPr/>
            <p:nvPr/>
          </p:nvSpPr>
          <p:spPr>
            <a:xfrm flipH="false" flipV="false" rot="0">
              <a:off x="0" y="0"/>
              <a:ext cx="5340096" cy="731520"/>
            </a:xfrm>
            <a:custGeom>
              <a:avLst/>
              <a:gdLst/>
              <a:ahLst/>
              <a:cxnLst/>
              <a:rect r="r" b="b" t="t" l="l"/>
              <a:pathLst>
                <a:path h="731520" w="5340096">
                  <a:moveTo>
                    <a:pt x="0" y="0"/>
                  </a:moveTo>
                  <a:lnTo>
                    <a:pt x="5340096" y="0"/>
                  </a:lnTo>
                  <a:lnTo>
                    <a:pt x="5340096" y="731520"/>
                  </a:lnTo>
                  <a:lnTo>
                    <a:pt x="0" y="731520"/>
                  </a:lnTo>
                  <a:close/>
                </a:path>
              </a:pathLst>
            </a:custGeom>
            <a:blipFill>
              <a:blip r:embed="rId3">
                <a:alphaModFix amt="0"/>
              </a:blip>
              <a:stretch>
                <a:fillRect l="0" t="-92240" r="0" b="-92240"/>
              </a:stretch>
            </a:blipFill>
          </p:spPr>
        </p:sp>
        <p:sp>
          <p:nvSpPr>
            <p:cNvPr name="TextBox 52" id="52"/>
            <p:cNvSpPr txBox="true"/>
            <p:nvPr/>
          </p:nvSpPr>
          <p:spPr>
            <a:xfrm>
              <a:off x="0" y="0"/>
              <a:ext cx="5340096" cy="731520"/>
            </a:xfrm>
            <a:prstGeom prst="rect">
              <a:avLst/>
            </a:prstGeom>
          </p:spPr>
          <p:txBody>
            <a:bodyPr anchor="ctr" rtlCol="false" tIns="0" lIns="0" bIns="0" rIns="0"/>
            <a:lstStyle/>
            <a:p>
              <a:pPr algn="l">
                <a:lnSpc>
                  <a:spcPts val="2790"/>
                </a:lnSpc>
              </a:pPr>
              <a:r>
                <a:rPr lang="en-US" sz="2325" b="true">
                  <a:solidFill>
                    <a:srgbClr val="1E2761"/>
                  </a:solidFill>
                  <a:latin typeface="Cambria Bold"/>
                  <a:ea typeface="Cambria Bold"/>
                  <a:cs typeface="Cambria Bold"/>
                  <a:sym typeface="Cambria Bold"/>
                </a:rPr>
                <a:t>Detect</a:t>
              </a:r>
            </a:p>
          </p:txBody>
        </p:sp>
      </p:grpSp>
      <p:grpSp>
        <p:nvGrpSpPr>
          <p:cNvPr name="Group 53" id="53"/>
          <p:cNvGrpSpPr/>
          <p:nvPr/>
        </p:nvGrpSpPr>
        <p:grpSpPr>
          <a:xfrm rot="0">
            <a:off x="5445252" y="5788152"/>
            <a:ext cx="685800" cy="411480"/>
            <a:chOff x="0" y="0"/>
            <a:chExt cx="914400" cy="548640"/>
          </a:xfrm>
        </p:grpSpPr>
        <p:sp>
          <p:nvSpPr>
            <p:cNvPr name="Freeform 54" id="54"/>
            <p:cNvSpPr/>
            <p:nvPr/>
          </p:nvSpPr>
          <p:spPr>
            <a:xfrm flipH="false" flipV="false" rot="0">
              <a:off x="0" y="0"/>
              <a:ext cx="914400" cy="548640"/>
            </a:xfrm>
            <a:custGeom>
              <a:avLst/>
              <a:gdLst/>
              <a:ahLst/>
              <a:cxnLst/>
              <a:rect r="r" b="b" t="t" l="l"/>
              <a:pathLst>
                <a:path h="548640" w="914400">
                  <a:moveTo>
                    <a:pt x="0" y="0"/>
                  </a:moveTo>
                  <a:lnTo>
                    <a:pt x="914400" y="0"/>
                  </a:lnTo>
                  <a:lnTo>
                    <a:pt x="914400" y="548640"/>
                  </a:lnTo>
                  <a:lnTo>
                    <a:pt x="0" y="548640"/>
                  </a:lnTo>
                  <a:close/>
                </a:path>
              </a:pathLst>
            </a:custGeom>
            <a:blipFill>
              <a:blip r:embed="rId3">
                <a:alphaModFix amt="0"/>
              </a:blip>
              <a:stretch>
                <a:fillRect l="-26982" t="0" r="-26982" b="0"/>
              </a:stretch>
            </a:blipFill>
          </p:spPr>
        </p:sp>
        <p:sp>
          <p:nvSpPr>
            <p:cNvPr name="TextBox 55" id="55"/>
            <p:cNvSpPr txBox="true"/>
            <p:nvPr/>
          </p:nvSpPr>
          <p:spPr>
            <a:xfrm>
              <a:off x="0" y="-38100"/>
              <a:ext cx="914400" cy="586740"/>
            </a:xfrm>
            <a:prstGeom prst="rect">
              <a:avLst/>
            </a:prstGeom>
          </p:spPr>
          <p:txBody>
            <a:bodyPr anchor="ctr" rtlCol="false" tIns="0" lIns="0" bIns="0" rIns="0"/>
            <a:lstStyle/>
            <a:p>
              <a:pPr algn="r">
                <a:lnSpc>
                  <a:spcPts val="1800"/>
                </a:lnSpc>
              </a:pPr>
              <a:r>
                <a:rPr lang="en-US" sz="1500">
                  <a:solidFill>
                    <a:srgbClr val="6B7280"/>
                  </a:solidFill>
                  <a:latin typeface="Calibri (MS)"/>
                  <a:ea typeface="Calibri (MS)"/>
                  <a:cs typeface="Calibri (MS)"/>
                  <a:sym typeface="Calibri (MS)"/>
                </a:rPr>
                <a:t>DE</a:t>
              </a:r>
            </a:p>
          </p:txBody>
        </p:sp>
      </p:grpSp>
      <p:sp>
        <p:nvSpPr>
          <p:cNvPr name="TextBox 56" id="56"/>
          <p:cNvSpPr txBox="true"/>
          <p:nvPr/>
        </p:nvSpPr>
        <p:spPr>
          <a:xfrm rot="0">
            <a:off x="1655064" y="6365367"/>
            <a:ext cx="4261104" cy="1091565"/>
          </a:xfrm>
          <a:prstGeom prst="rect">
            <a:avLst/>
          </a:prstGeom>
        </p:spPr>
        <p:txBody>
          <a:bodyPr anchor="t" rtlCol="false" tIns="0" lIns="0" bIns="0" rIns="0">
            <a:spAutoFit/>
          </a:bodyPr>
          <a:lstStyle/>
          <a:p>
            <a:pPr algn="l">
              <a:lnSpc>
                <a:spcPts val="2525"/>
              </a:lnSpc>
            </a:pPr>
            <a:r>
              <a:rPr lang="en-US" sz="1725">
                <a:solidFill>
                  <a:srgbClr val="23262F"/>
                </a:solidFill>
                <a:latin typeface="Calibri (MS)"/>
                <a:ea typeface="Calibri (MS)"/>
                <a:cs typeface="Calibri (MS)"/>
                <a:sym typeface="Calibri (MS)"/>
              </a:rPr>
              <a:t>Find and analyze possible attacks and compromises, quickly.</a:t>
            </a:r>
          </a:p>
        </p:txBody>
      </p:sp>
      <p:grpSp>
        <p:nvGrpSpPr>
          <p:cNvPr name="Group 57" id="57"/>
          <p:cNvGrpSpPr/>
          <p:nvPr/>
        </p:nvGrpSpPr>
        <p:grpSpPr>
          <a:xfrm rot="0">
            <a:off x="6693408" y="5554980"/>
            <a:ext cx="5102352" cy="2125980"/>
            <a:chOff x="0" y="0"/>
            <a:chExt cx="6803136" cy="2834640"/>
          </a:xfrm>
        </p:grpSpPr>
        <p:sp>
          <p:nvSpPr>
            <p:cNvPr name="Freeform 58" id="58"/>
            <p:cNvSpPr/>
            <p:nvPr/>
          </p:nvSpPr>
          <p:spPr>
            <a:xfrm flipH="false" flipV="false" rot="0">
              <a:off x="0" y="0"/>
              <a:ext cx="6803136" cy="2834640"/>
            </a:xfrm>
            <a:custGeom>
              <a:avLst/>
              <a:gdLst/>
              <a:ahLst/>
              <a:cxnLst/>
              <a:rect r="r" b="b" t="t" l="l"/>
              <a:pathLst>
                <a:path h="2834640" w="6803136">
                  <a:moveTo>
                    <a:pt x="0" y="164592"/>
                  </a:moveTo>
                  <a:cubicBezTo>
                    <a:pt x="0" y="73660"/>
                    <a:pt x="73660" y="0"/>
                    <a:pt x="164592" y="0"/>
                  </a:cubicBezTo>
                  <a:lnTo>
                    <a:pt x="6638544" y="0"/>
                  </a:lnTo>
                  <a:cubicBezTo>
                    <a:pt x="6729475" y="0"/>
                    <a:pt x="6803136" y="73660"/>
                    <a:pt x="6803136" y="164592"/>
                  </a:cubicBezTo>
                  <a:lnTo>
                    <a:pt x="6803136" y="2670048"/>
                  </a:lnTo>
                  <a:cubicBezTo>
                    <a:pt x="6803136" y="2760980"/>
                    <a:pt x="6729475" y="2834640"/>
                    <a:pt x="6638544" y="2834640"/>
                  </a:cubicBezTo>
                  <a:lnTo>
                    <a:pt x="164592" y="2834640"/>
                  </a:lnTo>
                  <a:cubicBezTo>
                    <a:pt x="73660" y="2834640"/>
                    <a:pt x="0" y="2760980"/>
                    <a:pt x="0" y="2670048"/>
                  </a:cubicBezTo>
                  <a:close/>
                </a:path>
              </a:pathLst>
            </a:custGeom>
            <a:solidFill>
              <a:srgbClr val="F4F7FC"/>
            </a:solidFill>
          </p:spPr>
        </p:sp>
      </p:grpSp>
      <p:grpSp>
        <p:nvGrpSpPr>
          <p:cNvPr name="Group 59" id="59"/>
          <p:cNvGrpSpPr/>
          <p:nvPr/>
        </p:nvGrpSpPr>
        <p:grpSpPr>
          <a:xfrm rot="0">
            <a:off x="7022592" y="5884164"/>
            <a:ext cx="274320" cy="274320"/>
            <a:chOff x="0" y="0"/>
            <a:chExt cx="365760" cy="365760"/>
          </a:xfrm>
        </p:grpSpPr>
        <p:sp>
          <p:nvSpPr>
            <p:cNvPr name="Freeform 60" id="60"/>
            <p:cNvSpPr/>
            <p:nvPr/>
          </p:nvSpPr>
          <p:spPr>
            <a:xfrm flipH="false" flipV="false" rot="0">
              <a:off x="0" y="0"/>
              <a:ext cx="365760" cy="365760"/>
            </a:xfrm>
            <a:custGeom>
              <a:avLst/>
              <a:gdLst/>
              <a:ahLst/>
              <a:cxnLst/>
              <a:rect r="r" b="b" t="t" l="l"/>
              <a:pathLst>
                <a:path h="365760" w="365760">
                  <a:moveTo>
                    <a:pt x="0" y="182880"/>
                  </a:moveTo>
                  <a:cubicBezTo>
                    <a:pt x="0" y="81915"/>
                    <a:pt x="81915" y="0"/>
                    <a:pt x="182880" y="0"/>
                  </a:cubicBezTo>
                  <a:cubicBezTo>
                    <a:pt x="283845" y="0"/>
                    <a:pt x="365760" y="81915"/>
                    <a:pt x="365760" y="182880"/>
                  </a:cubicBezTo>
                  <a:cubicBezTo>
                    <a:pt x="365760" y="283845"/>
                    <a:pt x="283845" y="365760"/>
                    <a:pt x="182880" y="365760"/>
                  </a:cubicBezTo>
                  <a:cubicBezTo>
                    <a:pt x="81915" y="365760"/>
                    <a:pt x="0" y="283845"/>
                    <a:pt x="0" y="182880"/>
                  </a:cubicBezTo>
                  <a:close/>
                </a:path>
              </a:pathLst>
            </a:custGeom>
            <a:solidFill>
              <a:srgbClr val="D9631E"/>
            </a:solidFill>
          </p:spPr>
        </p:sp>
      </p:grpSp>
      <p:grpSp>
        <p:nvGrpSpPr>
          <p:cNvPr name="Group 61" id="61"/>
          <p:cNvGrpSpPr/>
          <p:nvPr/>
        </p:nvGrpSpPr>
        <p:grpSpPr>
          <a:xfrm rot="0">
            <a:off x="7447788" y="5760720"/>
            <a:ext cx="4005072" cy="548640"/>
            <a:chOff x="0" y="0"/>
            <a:chExt cx="5340096" cy="731520"/>
          </a:xfrm>
        </p:grpSpPr>
        <p:sp>
          <p:nvSpPr>
            <p:cNvPr name="Freeform 62" id="62"/>
            <p:cNvSpPr/>
            <p:nvPr/>
          </p:nvSpPr>
          <p:spPr>
            <a:xfrm flipH="false" flipV="false" rot="0">
              <a:off x="0" y="0"/>
              <a:ext cx="5340096" cy="731520"/>
            </a:xfrm>
            <a:custGeom>
              <a:avLst/>
              <a:gdLst/>
              <a:ahLst/>
              <a:cxnLst/>
              <a:rect r="r" b="b" t="t" l="l"/>
              <a:pathLst>
                <a:path h="731520" w="5340096">
                  <a:moveTo>
                    <a:pt x="0" y="0"/>
                  </a:moveTo>
                  <a:lnTo>
                    <a:pt x="5340096" y="0"/>
                  </a:lnTo>
                  <a:lnTo>
                    <a:pt x="5340096" y="731520"/>
                  </a:lnTo>
                  <a:lnTo>
                    <a:pt x="0" y="731520"/>
                  </a:lnTo>
                  <a:close/>
                </a:path>
              </a:pathLst>
            </a:custGeom>
            <a:blipFill>
              <a:blip r:embed="rId3">
                <a:alphaModFix amt="0"/>
              </a:blip>
              <a:stretch>
                <a:fillRect l="0" t="-92240" r="0" b="-92240"/>
              </a:stretch>
            </a:blipFill>
          </p:spPr>
        </p:sp>
        <p:sp>
          <p:nvSpPr>
            <p:cNvPr name="TextBox 63" id="63"/>
            <p:cNvSpPr txBox="true"/>
            <p:nvPr/>
          </p:nvSpPr>
          <p:spPr>
            <a:xfrm>
              <a:off x="0" y="0"/>
              <a:ext cx="5340096" cy="731520"/>
            </a:xfrm>
            <a:prstGeom prst="rect">
              <a:avLst/>
            </a:prstGeom>
          </p:spPr>
          <p:txBody>
            <a:bodyPr anchor="ctr" rtlCol="false" tIns="0" lIns="0" bIns="0" rIns="0"/>
            <a:lstStyle/>
            <a:p>
              <a:pPr algn="l">
                <a:lnSpc>
                  <a:spcPts val="2790"/>
                </a:lnSpc>
              </a:pPr>
              <a:r>
                <a:rPr lang="en-US" sz="2325" b="true">
                  <a:solidFill>
                    <a:srgbClr val="1E2761"/>
                  </a:solidFill>
                  <a:latin typeface="Cambria Bold"/>
                  <a:ea typeface="Cambria Bold"/>
                  <a:cs typeface="Cambria Bold"/>
                  <a:sym typeface="Cambria Bold"/>
                </a:rPr>
                <a:t>Respond</a:t>
              </a:r>
            </a:p>
          </p:txBody>
        </p:sp>
      </p:grpSp>
      <p:grpSp>
        <p:nvGrpSpPr>
          <p:cNvPr name="Group 64" id="64"/>
          <p:cNvGrpSpPr/>
          <p:nvPr/>
        </p:nvGrpSpPr>
        <p:grpSpPr>
          <a:xfrm rot="0">
            <a:off x="10904220" y="5788152"/>
            <a:ext cx="685800" cy="411480"/>
            <a:chOff x="0" y="0"/>
            <a:chExt cx="914400" cy="548640"/>
          </a:xfrm>
        </p:grpSpPr>
        <p:sp>
          <p:nvSpPr>
            <p:cNvPr name="Freeform 65" id="65"/>
            <p:cNvSpPr/>
            <p:nvPr/>
          </p:nvSpPr>
          <p:spPr>
            <a:xfrm flipH="false" flipV="false" rot="0">
              <a:off x="0" y="0"/>
              <a:ext cx="914400" cy="548640"/>
            </a:xfrm>
            <a:custGeom>
              <a:avLst/>
              <a:gdLst/>
              <a:ahLst/>
              <a:cxnLst/>
              <a:rect r="r" b="b" t="t" l="l"/>
              <a:pathLst>
                <a:path h="548640" w="914400">
                  <a:moveTo>
                    <a:pt x="0" y="0"/>
                  </a:moveTo>
                  <a:lnTo>
                    <a:pt x="914400" y="0"/>
                  </a:lnTo>
                  <a:lnTo>
                    <a:pt x="914400" y="548640"/>
                  </a:lnTo>
                  <a:lnTo>
                    <a:pt x="0" y="548640"/>
                  </a:lnTo>
                  <a:close/>
                </a:path>
              </a:pathLst>
            </a:custGeom>
            <a:blipFill>
              <a:blip r:embed="rId3">
                <a:alphaModFix amt="0"/>
              </a:blip>
              <a:stretch>
                <a:fillRect l="-26982" t="0" r="-26982" b="0"/>
              </a:stretch>
            </a:blipFill>
          </p:spPr>
        </p:sp>
        <p:sp>
          <p:nvSpPr>
            <p:cNvPr name="TextBox 66" id="66"/>
            <p:cNvSpPr txBox="true"/>
            <p:nvPr/>
          </p:nvSpPr>
          <p:spPr>
            <a:xfrm>
              <a:off x="0" y="-38100"/>
              <a:ext cx="914400" cy="586740"/>
            </a:xfrm>
            <a:prstGeom prst="rect">
              <a:avLst/>
            </a:prstGeom>
          </p:spPr>
          <p:txBody>
            <a:bodyPr anchor="ctr" rtlCol="false" tIns="0" lIns="0" bIns="0" rIns="0"/>
            <a:lstStyle/>
            <a:p>
              <a:pPr algn="r">
                <a:lnSpc>
                  <a:spcPts val="1800"/>
                </a:lnSpc>
              </a:pPr>
              <a:r>
                <a:rPr lang="en-US" sz="1500">
                  <a:solidFill>
                    <a:srgbClr val="6B7280"/>
                  </a:solidFill>
                  <a:latin typeface="Calibri (MS)"/>
                  <a:ea typeface="Calibri (MS)"/>
                  <a:cs typeface="Calibri (MS)"/>
                  <a:sym typeface="Calibri (MS)"/>
                </a:rPr>
                <a:t>RS</a:t>
              </a:r>
            </a:p>
          </p:txBody>
        </p:sp>
      </p:grpSp>
      <p:sp>
        <p:nvSpPr>
          <p:cNvPr name="TextBox 67" id="67"/>
          <p:cNvSpPr txBox="true"/>
          <p:nvPr/>
        </p:nvSpPr>
        <p:spPr>
          <a:xfrm rot="0">
            <a:off x="7114032" y="6365367"/>
            <a:ext cx="4261104" cy="1091565"/>
          </a:xfrm>
          <a:prstGeom prst="rect">
            <a:avLst/>
          </a:prstGeom>
        </p:spPr>
        <p:txBody>
          <a:bodyPr anchor="t" rtlCol="false" tIns="0" lIns="0" bIns="0" rIns="0">
            <a:spAutoFit/>
          </a:bodyPr>
          <a:lstStyle/>
          <a:p>
            <a:pPr algn="l">
              <a:lnSpc>
                <a:spcPts val="2525"/>
              </a:lnSpc>
            </a:pPr>
            <a:r>
              <a:rPr lang="en-US" sz="1725">
                <a:solidFill>
                  <a:srgbClr val="23262F"/>
                </a:solidFill>
                <a:latin typeface="Calibri (MS)"/>
                <a:ea typeface="Calibri (MS)"/>
                <a:cs typeface="Calibri (MS)"/>
                <a:sym typeface="Calibri (MS)"/>
              </a:rPr>
              <a:t>Take action on a detected incident to contain and manage it.</a:t>
            </a:r>
          </a:p>
        </p:txBody>
      </p:sp>
      <p:grpSp>
        <p:nvGrpSpPr>
          <p:cNvPr name="Group 68" id="68"/>
          <p:cNvGrpSpPr/>
          <p:nvPr/>
        </p:nvGrpSpPr>
        <p:grpSpPr>
          <a:xfrm rot="0">
            <a:off x="12152376" y="5554980"/>
            <a:ext cx="5102352" cy="2125980"/>
            <a:chOff x="0" y="0"/>
            <a:chExt cx="6803136" cy="2834640"/>
          </a:xfrm>
        </p:grpSpPr>
        <p:sp>
          <p:nvSpPr>
            <p:cNvPr name="Freeform 69" id="69"/>
            <p:cNvSpPr/>
            <p:nvPr/>
          </p:nvSpPr>
          <p:spPr>
            <a:xfrm flipH="false" flipV="false" rot="0">
              <a:off x="0" y="0"/>
              <a:ext cx="6803136" cy="2834640"/>
            </a:xfrm>
            <a:custGeom>
              <a:avLst/>
              <a:gdLst/>
              <a:ahLst/>
              <a:cxnLst/>
              <a:rect r="r" b="b" t="t" l="l"/>
              <a:pathLst>
                <a:path h="2834640" w="6803136">
                  <a:moveTo>
                    <a:pt x="0" y="164592"/>
                  </a:moveTo>
                  <a:cubicBezTo>
                    <a:pt x="0" y="73660"/>
                    <a:pt x="73660" y="0"/>
                    <a:pt x="164592" y="0"/>
                  </a:cubicBezTo>
                  <a:lnTo>
                    <a:pt x="6638544" y="0"/>
                  </a:lnTo>
                  <a:cubicBezTo>
                    <a:pt x="6729475" y="0"/>
                    <a:pt x="6803136" y="73660"/>
                    <a:pt x="6803136" y="164592"/>
                  </a:cubicBezTo>
                  <a:lnTo>
                    <a:pt x="6803136" y="2670048"/>
                  </a:lnTo>
                  <a:cubicBezTo>
                    <a:pt x="6803136" y="2760980"/>
                    <a:pt x="6729475" y="2834640"/>
                    <a:pt x="6638544" y="2834640"/>
                  </a:cubicBezTo>
                  <a:lnTo>
                    <a:pt x="164592" y="2834640"/>
                  </a:lnTo>
                  <a:cubicBezTo>
                    <a:pt x="73660" y="2834640"/>
                    <a:pt x="0" y="2760980"/>
                    <a:pt x="0" y="2670048"/>
                  </a:cubicBezTo>
                  <a:close/>
                </a:path>
              </a:pathLst>
            </a:custGeom>
            <a:solidFill>
              <a:srgbClr val="F4F7FC"/>
            </a:solidFill>
          </p:spPr>
        </p:sp>
      </p:grpSp>
      <p:grpSp>
        <p:nvGrpSpPr>
          <p:cNvPr name="Group 70" id="70"/>
          <p:cNvGrpSpPr/>
          <p:nvPr/>
        </p:nvGrpSpPr>
        <p:grpSpPr>
          <a:xfrm rot="0">
            <a:off x="12481560" y="5884164"/>
            <a:ext cx="274320" cy="274320"/>
            <a:chOff x="0" y="0"/>
            <a:chExt cx="365760" cy="365760"/>
          </a:xfrm>
        </p:grpSpPr>
        <p:sp>
          <p:nvSpPr>
            <p:cNvPr name="Freeform 71" id="71"/>
            <p:cNvSpPr/>
            <p:nvPr/>
          </p:nvSpPr>
          <p:spPr>
            <a:xfrm flipH="false" flipV="false" rot="0">
              <a:off x="0" y="0"/>
              <a:ext cx="365760" cy="365760"/>
            </a:xfrm>
            <a:custGeom>
              <a:avLst/>
              <a:gdLst/>
              <a:ahLst/>
              <a:cxnLst/>
              <a:rect r="r" b="b" t="t" l="l"/>
              <a:pathLst>
                <a:path h="365760" w="365760">
                  <a:moveTo>
                    <a:pt x="0" y="182880"/>
                  </a:moveTo>
                  <a:cubicBezTo>
                    <a:pt x="0" y="81915"/>
                    <a:pt x="81915" y="0"/>
                    <a:pt x="182880" y="0"/>
                  </a:cubicBezTo>
                  <a:cubicBezTo>
                    <a:pt x="283845" y="0"/>
                    <a:pt x="365760" y="81915"/>
                    <a:pt x="365760" y="182880"/>
                  </a:cubicBezTo>
                  <a:cubicBezTo>
                    <a:pt x="365760" y="283845"/>
                    <a:pt x="283845" y="365760"/>
                    <a:pt x="182880" y="365760"/>
                  </a:cubicBezTo>
                  <a:cubicBezTo>
                    <a:pt x="81915" y="365760"/>
                    <a:pt x="0" y="283845"/>
                    <a:pt x="0" y="182880"/>
                  </a:cubicBezTo>
                  <a:close/>
                </a:path>
              </a:pathLst>
            </a:custGeom>
            <a:solidFill>
              <a:srgbClr val="2E9E6B"/>
            </a:solidFill>
          </p:spPr>
        </p:sp>
      </p:grpSp>
      <p:grpSp>
        <p:nvGrpSpPr>
          <p:cNvPr name="Group 72" id="72"/>
          <p:cNvGrpSpPr/>
          <p:nvPr/>
        </p:nvGrpSpPr>
        <p:grpSpPr>
          <a:xfrm rot="0">
            <a:off x="12906756" y="5760720"/>
            <a:ext cx="4005072" cy="548640"/>
            <a:chOff x="0" y="0"/>
            <a:chExt cx="5340096" cy="731520"/>
          </a:xfrm>
        </p:grpSpPr>
        <p:sp>
          <p:nvSpPr>
            <p:cNvPr name="Freeform 73" id="73"/>
            <p:cNvSpPr/>
            <p:nvPr/>
          </p:nvSpPr>
          <p:spPr>
            <a:xfrm flipH="false" flipV="false" rot="0">
              <a:off x="0" y="0"/>
              <a:ext cx="5340096" cy="731520"/>
            </a:xfrm>
            <a:custGeom>
              <a:avLst/>
              <a:gdLst/>
              <a:ahLst/>
              <a:cxnLst/>
              <a:rect r="r" b="b" t="t" l="l"/>
              <a:pathLst>
                <a:path h="731520" w="5340096">
                  <a:moveTo>
                    <a:pt x="0" y="0"/>
                  </a:moveTo>
                  <a:lnTo>
                    <a:pt x="5340096" y="0"/>
                  </a:lnTo>
                  <a:lnTo>
                    <a:pt x="5340096" y="731520"/>
                  </a:lnTo>
                  <a:lnTo>
                    <a:pt x="0" y="731520"/>
                  </a:lnTo>
                  <a:close/>
                </a:path>
              </a:pathLst>
            </a:custGeom>
            <a:blipFill>
              <a:blip r:embed="rId3">
                <a:alphaModFix amt="0"/>
              </a:blip>
              <a:stretch>
                <a:fillRect l="0" t="-92240" r="0" b="-92240"/>
              </a:stretch>
            </a:blipFill>
          </p:spPr>
        </p:sp>
        <p:sp>
          <p:nvSpPr>
            <p:cNvPr name="TextBox 74" id="74"/>
            <p:cNvSpPr txBox="true"/>
            <p:nvPr/>
          </p:nvSpPr>
          <p:spPr>
            <a:xfrm>
              <a:off x="0" y="0"/>
              <a:ext cx="5340096" cy="731520"/>
            </a:xfrm>
            <a:prstGeom prst="rect">
              <a:avLst/>
            </a:prstGeom>
          </p:spPr>
          <p:txBody>
            <a:bodyPr anchor="ctr" rtlCol="false" tIns="0" lIns="0" bIns="0" rIns="0"/>
            <a:lstStyle/>
            <a:p>
              <a:pPr algn="l">
                <a:lnSpc>
                  <a:spcPts val="2790"/>
                </a:lnSpc>
              </a:pPr>
              <a:r>
                <a:rPr lang="en-US" sz="2325" b="true">
                  <a:solidFill>
                    <a:srgbClr val="1E2761"/>
                  </a:solidFill>
                  <a:latin typeface="Cambria Bold"/>
                  <a:ea typeface="Cambria Bold"/>
                  <a:cs typeface="Cambria Bold"/>
                  <a:sym typeface="Cambria Bold"/>
                </a:rPr>
                <a:t>Recover</a:t>
              </a:r>
            </a:p>
          </p:txBody>
        </p:sp>
      </p:grpSp>
      <p:grpSp>
        <p:nvGrpSpPr>
          <p:cNvPr name="Group 75" id="75"/>
          <p:cNvGrpSpPr/>
          <p:nvPr/>
        </p:nvGrpSpPr>
        <p:grpSpPr>
          <a:xfrm rot="0">
            <a:off x="16363188" y="5788152"/>
            <a:ext cx="685800" cy="411480"/>
            <a:chOff x="0" y="0"/>
            <a:chExt cx="914400" cy="548640"/>
          </a:xfrm>
        </p:grpSpPr>
        <p:sp>
          <p:nvSpPr>
            <p:cNvPr name="Freeform 76" id="76"/>
            <p:cNvSpPr/>
            <p:nvPr/>
          </p:nvSpPr>
          <p:spPr>
            <a:xfrm flipH="false" flipV="false" rot="0">
              <a:off x="0" y="0"/>
              <a:ext cx="914400" cy="548640"/>
            </a:xfrm>
            <a:custGeom>
              <a:avLst/>
              <a:gdLst/>
              <a:ahLst/>
              <a:cxnLst/>
              <a:rect r="r" b="b" t="t" l="l"/>
              <a:pathLst>
                <a:path h="548640" w="914400">
                  <a:moveTo>
                    <a:pt x="0" y="0"/>
                  </a:moveTo>
                  <a:lnTo>
                    <a:pt x="914400" y="0"/>
                  </a:lnTo>
                  <a:lnTo>
                    <a:pt x="914400" y="548640"/>
                  </a:lnTo>
                  <a:lnTo>
                    <a:pt x="0" y="548640"/>
                  </a:lnTo>
                  <a:close/>
                </a:path>
              </a:pathLst>
            </a:custGeom>
            <a:blipFill>
              <a:blip r:embed="rId3">
                <a:alphaModFix amt="0"/>
              </a:blip>
              <a:stretch>
                <a:fillRect l="-26982" t="0" r="-26982" b="0"/>
              </a:stretch>
            </a:blipFill>
          </p:spPr>
        </p:sp>
        <p:sp>
          <p:nvSpPr>
            <p:cNvPr name="TextBox 77" id="77"/>
            <p:cNvSpPr txBox="true"/>
            <p:nvPr/>
          </p:nvSpPr>
          <p:spPr>
            <a:xfrm>
              <a:off x="0" y="-38100"/>
              <a:ext cx="914400" cy="586740"/>
            </a:xfrm>
            <a:prstGeom prst="rect">
              <a:avLst/>
            </a:prstGeom>
          </p:spPr>
          <p:txBody>
            <a:bodyPr anchor="ctr" rtlCol="false" tIns="0" lIns="0" bIns="0" rIns="0"/>
            <a:lstStyle/>
            <a:p>
              <a:pPr algn="r">
                <a:lnSpc>
                  <a:spcPts val="1800"/>
                </a:lnSpc>
              </a:pPr>
              <a:r>
                <a:rPr lang="en-US" sz="1500">
                  <a:solidFill>
                    <a:srgbClr val="6B7280"/>
                  </a:solidFill>
                  <a:latin typeface="Calibri (MS)"/>
                  <a:ea typeface="Calibri (MS)"/>
                  <a:cs typeface="Calibri (MS)"/>
                  <a:sym typeface="Calibri (MS)"/>
                </a:rPr>
                <a:t>RC</a:t>
              </a:r>
            </a:p>
          </p:txBody>
        </p:sp>
      </p:grpSp>
      <p:sp>
        <p:nvSpPr>
          <p:cNvPr name="TextBox 78" id="78"/>
          <p:cNvSpPr txBox="true"/>
          <p:nvPr/>
        </p:nvSpPr>
        <p:spPr>
          <a:xfrm rot="0">
            <a:off x="12573000" y="6365367"/>
            <a:ext cx="4261104" cy="1091565"/>
          </a:xfrm>
          <a:prstGeom prst="rect">
            <a:avLst/>
          </a:prstGeom>
        </p:spPr>
        <p:txBody>
          <a:bodyPr anchor="t" rtlCol="false" tIns="0" lIns="0" bIns="0" rIns="0">
            <a:spAutoFit/>
          </a:bodyPr>
          <a:lstStyle/>
          <a:p>
            <a:pPr algn="l">
              <a:lnSpc>
                <a:spcPts val="2525"/>
              </a:lnSpc>
            </a:pPr>
            <a:r>
              <a:rPr lang="en-US" sz="1725">
                <a:solidFill>
                  <a:srgbClr val="23262F"/>
                </a:solidFill>
                <a:latin typeface="Calibri (MS)"/>
                <a:ea typeface="Calibri (MS)"/>
                <a:cs typeface="Calibri (MS)"/>
                <a:sym typeface="Calibri (MS)"/>
              </a:rPr>
              <a:t>Restore assets and operations affected by an incident.</a:t>
            </a:r>
          </a:p>
        </p:txBody>
      </p:sp>
      <p:grpSp>
        <p:nvGrpSpPr>
          <p:cNvPr name="Group 79" id="79"/>
          <p:cNvGrpSpPr/>
          <p:nvPr/>
        </p:nvGrpSpPr>
        <p:grpSpPr>
          <a:xfrm rot="0">
            <a:off x="685800" y="9710928"/>
            <a:ext cx="10972800" cy="411480"/>
            <a:chOff x="0" y="0"/>
            <a:chExt cx="14630400" cy="548640"/>
          </a:xfrm>
        </p:grpSpPr>
        <p:sp>
          <p:nvSpPr>
            <p:cNvPr name="Freeform 80" id="80"/>
            <p:cNvSpPr/>
            <p:nvPr/>
          </p:nvSpPr>
          <p:spPr>
            <a:xfrm flipH="false" flipV="false" rot="0">
              <a:off x="0" y="0"/>
              <a:ext cx="14630400" cy="548640"/>
            </a:xfrm>
            <a:custGeom>
              <a:avLst/>
              <a:gdLst/>
              <a:ahLst/>
              <a:cxnLst/>
              <a:rect r="r" b="b" t="t" l="l"/>
              <a:pathLst>
                <a:path h="548640" w="14630400">
                  <a:moveTo>
                    <a:pt x="0" y="0"/>
                  </a:moveTo>
                  <a:lnTo>
                    <a:pt x="14630400" y="0"/>
                  </a:lnTo>
                  <a:lnTo>
                    <a:pt x="14630400" y="548640"/>
                  </a:lnTo>
                  <a:lnTo>
                    <a:pt x="0" y="548640"/>
                  </a:lnTo>
                  <a:close/>
                </a:path>
              </a:pathLst>
            </a:custGeom>
            <a:blipFill>
              <a:blip r:embed="rId3">
                <a:alphaModFix amt="0"/>
              </a:blip>
              <a:stretch>
                <a:fillRect l="0" t="-469601" r="0" b="-469601"/>
              </a:stretch>
            </a:blipFill>
          </p:spPr>
        </p:sp>
        <p:sp>
          <p:nvSpPr>
            <p:cNvPr name="TextBox 81" id="81"/>
            <p:cNvSpPr txBox="true"/>
            <p:nvPr/>
          </p:nvSpPr>
          <p:spPr>
            <a:xfrm>
              <a:off x="0" y="-38100"/>
              <a:ext cx="14630400" cy="586740"/>
            </a:xfrm>
            <a:prstGeom prst="rect">
              <a:avLst/>
            </a:prstGeom>
          </p:spPr>
          <p:txBody>
            <a:bodyPr anchor="ctr" rtlCol="false" tIns="0" lIns="0" bIns="0" rIns="0"/>
            <a:lstStyle/>
            <a:p>
              <a:pPr algn="l">
                <a:lnSpc>
                  <a:spcPts val="1800"/>
                </a:lnSpc>
              </a:pPr>
              <a:r>
                <a:rPr lang="en-US" sz="1500">
                  <a:solidFill>
                    <a:srgbClr val="6B7280"/>
                  </a:solidFill>
                  <a:latin typeface="Calibri (MS)"/>
                  <a:ea typeface="Calibri (MS)"/>
                  <a:cs typeface="Calibri (MS)"/>
                  <a:sym typeface="Calibri (MS)"/>
                </a:rPr>
                <a:t>Davao del Norte Provincial Government — Cybersecurity Seminar</a:t>
              </a:r>
            </a:p>
          </p:txBody>
        </p:sp>
      </p:grpSp>
      <p:grpSp>
        <p:nvGrpSpPr>
          <p:cNvPr name="Group 82" id="82"/>
          <p:cNvGrpSpPr/>
          <p:nvPr/>
        </p:nvGrpSpPr>
        <p:grpSpPr>
          <a:xfrm rot="0">
            <a:off x="16911828" y="9710928"/>
            <a:ext cx="685800" cy="411480"/>
            <a:chOff x="0" y="0"/>
            <a:chExt cx="914400" cy="548640"/>
          </a:xfrm>
        </p:grpSpPr>
        <p:sp>
          <p:nvSpPr>
            <p:cNvPr name="Freeform 83" id="83"/>
            <p:cNvSpPr/>
            <p:nvPr/>
          </p:nvSpPr>
          <p:spPr>
            <a:xfrm flipH="false" flipV="false" rot="0">
              <a:off x="0" y="0"/>
              <a:ext cx="914400" cy="548640"/>
            </a:xfrm>
            <a:custGeom>
              <a:avLst/>
              <a:gdLst/>
              <a:ahLst/>
              <a:cxnLst/>
              <a:rect r="r" b="b" t="t" l="l"/>
              <a:pathLst>
                <a:path h="548640" w="914400">
                  <a:moveTo>
                    <a:pt x="0" y="0"/>
                  </a:moveTo>
                  <a:lnTo>
                    <a:pt x="914400" y="0"/>
                  </a:lnTo>
                  <a:lnTo>
                    <a:pt x="914400" y="548640"/>
                  </a:lnTo>
                  <a:lnTo>
                    <a:pt x="0" y="548640"/>
                  </a:lnTo>
                  <a:close/>
                </a:path>
              </a:pathLst>
            </a:custGeom>
            <a:blipFill>
              <a:blip r:embed="rId3">
                <a:alphaModFix amt="0"/>
              </a:blip>
              <a:stretch>
                <a:fillRect l="-26982" t="0" r="-26982" b="0"/>
              </a:stretch>
            </a:blipFill>
          </p:spPr>
        </p:sp>
        <p:sp>
          <p:nvSpPr>
            <p:cNvPr name="TextBox 84" id="84"/>
            <p:cNvSpPr txBox="true"/>
            <p:nvPr/>
          </p:nvSpPr>
          <p:spPr>
            <a:xfrm>
              <a:off x="0" y="-38100"/>
              <a:ext cx="914400" cy="586740"/>
            </a:xfrm>
            <a:prstGeom prst="rect">
              <a:avLst/>
            </a:prstGeom>
          </p:spPr>
          <p:txBody>
            <a:bodyPr anchor="ctr" rtlCol="false" tIns="0" lIns="0" bIns="0" rIns="0"/>
            <a:lstStyle/>
            <a:p>
              <a:pPr algn="r">
                <a:lnSpc>
                  <a:spcPts val="1800"/>
                </a:lnSpc>
              </a:pPr>
              <a:r>
                <a:rPr lang="en-US" sz="1500">
                  <a:solidFill>
                    <a:srgbClr val="6B7280"/>
                  </a:solidFill>
                  <a:latin typeface="Calibri (MS)"/>
                  <a:ea typeface="Calibri (MS)"/>
                  <a:cs typeface="Calibri (MS)"/>
                  <a:sym typeface="Calibri (MS)"/>
                </a:rPr>
                <a:t>3</a:t>
              </a:r>
            </a:p>
          </p:txBody>
        </p:sp>
      </p:grpSp>
    </p:spTree>
  </p:cSld>
  <p:clrMapOvr>
    <a:masterClrMapping/>
  </p:clrMapOvr>
</p:sld>
</file>

<file path=ppt/slides/slide7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754380" y="685800"/>
            <a:ext cx="850392" cy="850392"/>
            <a:chOff x="0" y="0"/>
            <a:chExt cx="1133856" cy="1133856"/>
          </a:xfrm>
        </p:grpSpPr>
        <p:sp>
          <p:nvSpPr>
            <p:cNvPr name="Freeform 3" id="3"/>
            <p:cNvSpPr/>
            <p:nvPr/>
          </p:nvSpPr>
          <p:spPr>
            <a:xfrm flipH="false" flipV="false" rot="0">
              <a:off x="0" y="0"/>
              <a:ext cx="1133856" cy="1133856"/>
            </a:xfrm>
            <a:custGeom>
              <a:avLst/>
              <a:gdLst/>
              <a:ahLst/>
              <a:cxnLst/>
              <a:rect r="r" b="b" t="t" l="l"/>
              <a:pathLst>
                <a:path h="1133856" w="1133856">
                  <a:moveTo>
                    <a:pt x="0" y="566928"/>
                  </a:moveTo>
                  <a:cubicBezTo>
                    <a:pt x="0" y="253873"/>
                    <a:pt x="253873" y="0"/>
                    <a:pt x="566928" y="0"/>
                  </a:cubicBezTo>
                  <a:cubicBezTo>
                    <a:pt x="879983" y="0"/>
                    <a:pt x="1133856" y="253873"/>
                    <a:pt x="1133856" y="566928"/>
                  </a:cubicBezTo>
                  <a:cubicBezTo>
                    <a:pt x="1133856" y="879983"/>
                    <a:pt x="879983" y="1133856"/>
                    <a:pt x="566928" y="1133856"/>
                  </a:cubicBezTo>
                  <a:cubicBezTo>
                    <a:pt x="253873" y="1133856"/>
                    <a:pt x="0" y="879983"/>
                    <a:pt x="0" y="566928"/>
                  </a:cubicBezTo>
                  <a:close/>
                </a:path>
              </a:pathLst>
            </a:custGeom>
            <a:solidFill>
              <a:srgbClr val="1E2761"/>
            </a:solidFill>
          </p:spPr>
        </p:sp>
      </p:grpSp>
      <p:grpSp>
        <p:nvGrpSpPr>
          <p:cNvPr name="Group 4" id="4"/>
          <p:cNvGrpSpPr/>
          <p:nvPr/>
        </p:nvGrpSpPr>
        <p:grpSpPr>
          <a:xfrm rot="0">
            <a:off x="932688" y="864108"/>
            <a:ext cx="493776" cy="493776"/>
            <a:chOff x="0" y="0"/>
            <a:chExt cx="658368" cy="658368"/>
          </a:xfrm>
        </p:grpSpPr>
        <p:sp>
          <p:nvSpPr>
            <p:cNvPr name="Freeform 5" id="5" descr="clipboard.png"/>
            <p:cNvSpPr/>
            <p:nvPr/>
          </p:nvSpPr>
          <p:spPr>
            <a:xfrm flipH="false" flipV="false" rot="0">
              <a:off x="0" y="0"/>
              <a:ext cx="658368" cy="658368"/>
            </a:xfrm>
            <a:custGeom>
              <a:avLst/>
              <a:gdLst/>
              <a:ahLst/>
              <a:cxnLst/>
              <a:rect r="r" b="b" t="t" l="l"/>
              <a:pathLst>
                <a:path h="658368" w="658368">
                  <a:moveTo>
                    <a:pt x="0" y="0"/>
                  </a:moveTo>
                  <a:lnTo>
                    <a:pt x="658368" y="0"/>
                  </a:lnTo>
                  <a:lnTo>
                    <a:pt x="658368" y="658368"/>
                  </a:lnTo>
                  <a:lnTo>
                    <a:pt x="0" y="658368"/>
                  </a:lnTo>
                  <a:lnTo>
                    <a:pt x="0" y="0"/>
                  </a:lnTo>
                  <a:close/>
                </a:path>
              </a:pathLst>
            </a:custGeom>
            <a:blipFill>
              <a:blip r:embed="rId2"/>
              <a:stretch>
                <a:fillRect l="0" t="0" r="0" b="0"/>
              </a:stretch>
            </a:blipFill>
          </p:spPr>
        </p:sp>
      </p:grpSp>
      <p:grpSp>
        <p:nvGrpSpPr>
          <p:cNvPr name="Group 6" id="6"/>
          <p:cNvGrpSpPr/>
          <p:nvPr/>
        </p:nvGrpSpPr>
        <p:grpSpPr>
          <a:xfrm rot="0">
            <a:off x="1851660" y="603504"/>
            <a:ext cx="13716000" cy="466344"/>
            <a:chOff x="0" y="0"/>
            <a:chExt cx="18288000" cy="621792"/>
          </a:xfrm>
        </p:grpSpPr>
        <p:sp>
          <p:nvSpPr>
            <p:cNvPr name="Freeform 7" id="7"/>
            <p:cNvSpPr/>
            <p:nvPr/>
          </p:nvSpPr>
          <p:spPr>
            <a:xfrm flipH="false" flipV="false" rot="0">
              <a:off x="0" y="0"/>
              <a:ext cx="18288000" cy="621792"/>
            </a:xfrm>
            <a:custGeom>
              <a:avLst/>
              <a:gdLst/>
              <a:ahLst/>
              <a:cxnLst/>
              <a:rect r="r" b="b" t="t" l="l"/>
              <a:pathLst>
                <a:path h="621792" w="18288000">
                  <a:moveTo>
                    <a:pt x="0" y="0"/>
                  </a:moveTo>
                  <a:lnTo>
                    <a:pt x="18288000" y="0"/>
                  </a:lnTo>
                  <a:lnTo>
                    <a:pt x="18288000" y="621792"/>
                  </a:lnTo>
                  <a:lnTo>
                    <a:pt x="0" y="621792"/>
                  </a:lnTo>
                  <a:close/>
                </a:path>
              </a:pathLst>
            </a:custGeom>
            <a:blipFill>
              <a:blip r:embed="rId3">
                <a:alphaModFix amt="0"/>
              </a:blip>
              <a:stretch>
                <a:fillRect l="0" t="-523089" r="0" b="-523089"/>
              </a:stretch>
            </a:blipFill>
          </p:spPr>
        </p:sp>
        <p:sp>
          <p:nvSpPr>
            <p:cNvPr name="TextBox 8" id="8"/>
            <p:cNvSpPr txBox="true"/>
            <p:nvPr/>
          </p:nvSpPr>
          <p:spPr>
            <a:xfrm>
              <a:off x="0" y="-47625"/>
              <a:ext cx="18288000" cy="669417"/>
            </a:xfrm>
            <a:prstGeom prst="rect">
              <a:avLst/>
            </a:prstGeom>
          </p:spPr>
          <p:txBody>
            <a:bodyPr anchor="ctr" rtlCol="false" tIns="0" lIns="0" bIns="0" rIns="0"/>
            <a:lstStyle/>
            <a:p>
              <a:pPr algn="l">
                <a:lnSpc>
                  <a:spcPts val="2340"/>
                </a:lnSpc>
              </a:pPr>
              <a:r>
                <a:rPr lang="en-US" b="true" sz="1950" spc="150">
                  <a:solidFill>
                    <a:srgbClr val="00B4D8"/>
                  </a:solidFill>
                  <a:latin typeface="Calibri (MS) Bold"/>
                  <a:ea typeface="Calibri (MS) Bold"/>
                  <a:cs typeface="Calibri (MS) Bold"/>
                  <a:sym typeface="Calibri (MS) Bold"/>
                </a:rPr>
                <a:t>NIST CSF 2.0 · FUNCTIONS 1–2</a:t>
              </a:r>
            </a:p>
          </p:txBody>
        </p:sp>
      </p:grpSp>
      <p:grpSp>
        <p:nvGrpSpPr>
          <p:cNvPr name="Group 9" id="9"/>
          <p:cNvGrpSpPr/>
          <p:nvPr/>
        </p:nvGrpSpPr>
        <p:grpSpPr>
          <a:xfrm rot="0">
            <a:off x="1824228" y="987552"/>
            <a:ext cx="15361920" cy="850392"/>
            <a:chOff x="0" y="0"/>
            <a:chExt cx="20482560" cy="1133856"/>
          </a:xfrm>
        </p:grpSpPr>
        <p:sp>
          <p:nvSpPr>
            <p:cNvPr name="Freeform 10" id="10"/>
            <p:cNvSpPr/>
            <p:nvPr/>
          </p:nvSpPr>
          <p:spPr>
            <a:xfrm flipH="false" flipV="false" rot="0">
              <a:off x="0" y="0"/>
              <a:ext cx="20482561" cy="1133856"/>
            </a:xfrm>
            <a:custGeom>
              <a:avLst/>
              <a:gdLst/>
              <a:ahLst/>
              <a:cxnLst/>
              <a:rect r="r" b="b" t="t" l="l"/>
              <a:pathLst>
                <a:path h="1133856" w="20482561">
                  <a:moveTo>
                    <a:pt x="0" y="0"/>
                  </a:moveTo>
                  <a:lnTo>
                    <a:pt x="20482561" y="0"/>
                  </a:lnTo>
                  <a:lnTo>
                    <a:pt x="20482561" y="1133856"/>
                  </a:lnTo>
                  <a:lnTo>
                    <a:pt x="0" y="1133856"/>
                  </a:lnTo>
                  <a:close/>
                </a:path>
              </a:pathLst>
            </a:custGeom>
            <a:blipFill>
              <a:blip r:embed="rId3">
                <a:alphaModFix amt="0"/>
              </a:blip>
              <a:stretch>
                <a:fillRect l="0" t="-301987" r="0" b="-301987"/>
              </a:stretch>
            </a:blipFill>
          </p:spPr>
        </p:sp>
        <p:sp>
          <p:nvSpPr>
            <p:cNvPr name="TextBox 11" id="11"/>
            <p:cNvSpPr txBox="true"/>
            <p:nvPr/>
          </p:nvSpPr>
          <p:spPr>
            <a:xfrm>
              <a:off x="0" y="-9525"/>
              <a:ext cx="20482560" cy="1143381"/>
            </a:xfrm>
            <a:prstGeom prst="rect">
              <a:avLst/>
            </a:prstGeom>
          </p:spPr>
          <p:txBody>
            <a:bodyPr anchor="ctr" rtlCol="false" tIns="0" lIns="0" bIns="0" rIns="0"/>
            <a:lstStyle/>
            <a:p>
              <a:pPr algn="l">
                <a:lnSpc>
                  <a:spcPts val="5040"/>
                </a:lnSpc>
              </a:pPr>
              <a:r>
                <a:rPr lang="en-US" sz="4200" b="true">
                  <a:solidFill>
                    <a:srgbClr val="1E2761"/>
                  </a:solidFill>
                  <a:latin typeface="Cambria Bold"/>
                  <a:ea typeface="Cambria Bold"/>
                  <a:cs typeface="Cambria Bold"/>
                  <a:sym typeface="Cambria Bold"/>
                </a:rPr>
                <a:t>Understand and Steer Your Risk</a:t>
              </a:r>
            </a:p>
          </p:txBody>
        </p:sp>
      </p:grpSp>
      <p:grpSp>
        <p:nvGrpSpPr>
          <p:cNvPr name="Group 12" id="12"/>
          <p:cNvGrpSpPr/>
          <p:nvPr/>
        </p:nvGrpSpPr>
        <p:grpSpPr>
          <a:xfrm rot="0">
            <a:off x="1234440" y="2743200"/>
            <a:ext cx="685800" cy="685800"/>
            <a:chOff x="0" y="0"/>
            <a:chExt cx="914400" cy="914400"/>
          </a:xfrm>
        </p:grpSpPr>
        <p:sp>
          <p:nvSpPr>
            <p:cNvPr name="Freeform 13" id="13"/>
            <p:cNvSpPr/>
            <p:nvPr/>
          </p:nvSpPr>
          <p:spPr>
            <a:xfrm flipH="false" flipV="false" rot="0">
              <a:off x="0" y="0"/>
              <a:ext cx="914400" cy="914400"/>
            </a:xfrm>
            <a:custGeom>
              <a:avLst/>
              <a:gdLst/>
              <a:ahLst/>
              <a:cxnLst/>
              <a:rect r="r" b="b" t="t" l="l"/>
              <a:pathLst>
                <a:path h="914400" w="914400">
                  <a:moveTo>
                    <a:pt x="0" y="146304"/>
                  </a:moveTo>
                  <a:cubicBezTo>
                    <a:pt x="0" y="65532"/>
                    <a:pt x="65532" y="0"/>
                    <a:pt x="146304" y="0"/>
                  </a:cubicBezTo>
                  <a:lnTo>
                    <a:pt x="768096" y="0"/>
                  </a:lnTo>
                  <a:cubicBezTo>
                    <a:pt x="848868" y="0"/>
                    <a:pt x="914400" y="65532"/>
                    <a:pt x="914400" y="146304"/>
                  </a:cubicBezTo>
                  <a:lnTo>
                    <a:pt x="914400" y="768096"/>
                  </a:lnTo>
                  <a:cubicBezTo>
                    <a:pt x="914400" y="848868"/>
                    <a:pt x="848868" y="914400"/>
                    <a:pt x="768096" y="914400"/>
                  </a:cubicBezTo>
                  <a:lnTo>
                    <a:pt x="146304" y="914400"/>
                  </a:lnTo>
                  <a:cubicBezTo>
                    <a:pt x="65532" y="914400"/>
                    <a:pt x="0" y="848868"/>
                    <a:pt x="0" y="768096"/>
                  </a:cubicBezTo>
                  <a:close/>
                </a:path>
              </a:pathLst>
            </a:custGeom>
            <a:solidFill>
              <a:srgbClr val="6C4FD1"/>
            </a:solidFill>
          </p:spPr>
        </p:sp>
      </p:grpSp>
      <p:grpSp>
        <p:nvGrpSpPr>
          <p:cNvPr name="Group 14" id="14"/>
          <p:cNvGrpSpPr/>
          <p:nvPr/>
        </p:nvGrpSpPr>
        <p:grpSpPr>
          <a:xfrm rot="0">
            <a:off x="1234440" y="2743200"/>
            <a:ext cx="685800" cy="685800"/>
            <a:chOff x="0" y="0"/>
            <a:chExt cx="914400" cy="914400"/>
          </a:xfrm>
        </p:grpSpPr>
        <p:sp>
          <p:nvSpPr>
            <p:cNvPr name="Freeform 15" id="15"/>
            <p:cNvSpPr/>
            <p:nvPr/>
          </p:nvSpPr>
          <p:spPr>
            <a:xfrm flipH="false" flipV="false" rot="0">
              <a:off x="0" y="0"/>
              <a:ext cx="914400" cy="914400"/>
            </a:xfrm>
            <a:custGeom>
              <a:avLst/>
              <a:gdLst/>
              <a:ahLst/>
              <a:cxnLst/>
              <a:rect r="r" b="b" t="t" l="l"/>
              <a:pathLst>
                <a:path h="914400" w="914400">
                  <a:moveTo>
                    <a:pt x="0" y="0"/>
                  </a:moveTo>
                  <a:lnTo>
                    <a:pt x="914400" y="0"/>
                  </a:lnTo>
                  <a:lnTo>
                    <a:pt x="914400" y="914400"/>
                  </a:lnTo>
                  <a:lnTo>
                    <a:pt x="0" y="914400"/>
                  </a:lnTo>
                  <a:close/>
                </a:path>
              </a:pathLst>
            </a:custGeom>
            <a:blipFill>
              <a:blip r:embed="rId3">
                <a:alphaModFix amt="0"/>
              </a:blip>
              <a:stretch>
                <a:fillRect l="-78303" t="0" r="-78303" b="0"/>
              </a:stretch>
            </a:blipFill>
          </p:spPr>
        </p:sp>
        <p:sp>
          <p:nvSpPr>
            <p:cNvPr name="TextBox 16" id="16"/>
            <p:cNvSpPr txBox="true"/>
            <p:nvPr/>
          </p:nvSpPr>
          <p:spPr>
            <a:xfrm>
              <a:off x="0" y="-38100"/>
              <a:ext cx="914400" cy="952500"/>
            </a:xfrm>
            <a:prstGeom prst="rect">
              <a:avLst/>
            </a:prstGeom>
          </p:spPr>
          <p:txBody>
            <a:bodyPr anchor="ctr" rtlCol="false" tIns="0" lIns="0" bIns="0" rIns="0"/>
            <a:lstStyle/>
            <a:p>
              <a:pPr algn="ctr">
                <a:lnSpc>
                  <a:spcPts val="2160"/>
                </a:lnSpc>
              </a:pPr>
              <a:r>
                <a:rPr lang="en-US" sz="1800" b="true">
                  <a:solidFill>
                    <a:srgbClr val="FFFFFF"/>
                  </a:solidFill>
                  <a:latin typeface="Calibri (MS) Bold"/>
                  <a:ea typeface="Calibri (MS) Bold"/>
                  <a:cs typeface="Calibri (MS) Bold"/>
                  <a:sym typeface="Calibri (MS) Bold"/>
                </a:rPr>
                <a:t>GV</a:t>
              </a:r>
            </a:p>
          </p:txBody>
        </p:sp>
      </p:grpSp>
      <p:grpSp>
        <p:nvGrpSpPr>
          <p:cNvPr name="Group 17" id="17"/>
          <p:cNvGrpSpPr/>
          <p:nvPr/>
        </p:nvGrpSpPr>
        <p:grpSpPr>
          <a:xfrm rot="0">
            <a:off x="2125980" y="2715768"/>
            <a:ext cx="6446520" cy="754380"/>
            <a:chOff x="0" y="0"/>
            <a:chExt cx="8595360" cy="1005840"/>
          </a:xfrm>
        </p:grpSpPr>
        <p:sp>
          <p:nvSpPr>
            <p:cNvPr name="Freeform 18" id="18"/>
            <p:cNvSpPr/>
            <p:nvPr/>
          </p:nvSpPr>
          <p:spPr>
            <a:xfrm flipH="false" flipV="false" rot="0">
              <a:off x="0" y="0"/>
              <a:ext cx="8595360" cy="1005840"/>
            </a:xfrm>
            <a:custGeom>
              <a:avLst/>
              <a:gdLst/>
              <a:ahLst/>
              <a:cxnLst/>
              <a:rect r="r" b="b" t="t" l="l"/>
              <a:pathLst>
                <a:path h="1005840" w="8595360">
                  <a:moveTo>
                    <a:pt x="0" y="0"/>
                  </a:moveTo>
                  <a:lnTo>
                    <a:pt x="8595360" y="0"/>
                  </a:lnTo>
                  <a:lnTo>
                    <a:pt x="8595360" y="1005840"/>
                  </a:lnTo>
                  <a:lnTo>
                    <a:pt x="0" y="1005840"/>
                  </a:lnTo>
                  <a:close/>
                </a:path>
              </a:pathLst>
            </a:custGeom>
            <a:blipFill>
              <a:blip r:embed="rId3">
                <a:alphaModFix amt="0"/>
              </a:blip>
              <a:stretch>
                <a:fillRect l="0" t="-116508" r="0" b="-116508"/>
              </a:stretch>
            </a:blipFill>
          </p:spPr>
        </p:sp>
        <p:sp>
          <p:nvSpPr>
            <p:cNvPr name="TextBox 19" id="19"/>
            <p:cNvSpPr txBox="true"/>
            <p:nvPr/>
          </p:nvSpPr>
          <p:spPr>
            <a:xfrm>
              <a:off x="0" y="-9525"/>
              <a:ext cx="8595360" cy="1015365"/>
            </a:xfrm>
            <a:prstGeom prst="rect">
              <a:avLst/>
            </a:prstGeom>
          </p:spPr>
          <p:txBody>
            <a:bodyPr anchor="ctr" rtlCol="false" tIns="0" lIns="0" bIns="0" rIns="0"/>
            <a:lstStyle/>
            <a:p>
              <a:pPr algn="l">
                <a:lnSpc>
                  <a:spcPts val="3960"/>
                </a:lnSpc>
              </a:pPr>
              <a:r>
                <a:rPr lang="en-US" sz="3300" b="true">
                  <a:solidFill>
                    <a:srgbClr val="1E2761"/>
                  </a:solidFill>
                  <a:latin typeface="Cambria Bold"/>
                  <a:ea typeface="Cambria Bold"/>
                  <a:cs typeface="Cambria Bold"/>
                  <a:sym typeface="Cambria Bold"/>
                </a:rPr>
                <a:t>Govern</a:t>
              </a:r>
            </a:p>
          </p:txBody>
        </p:sp>
      </p:grpSp>
      <p:grpSp>
        <p:nvGrpSpPr>
          <p:cNvPr name="Group 20" id="20"/>
          <p:cNvGrpSpPr/>
          <p:nvPr/>
        </p:nvGrpSpPr>
        <p:grpSpPr>
          <a:xfrm rot="0">
            <a:off x="1234440" y="3703320"/>
            <a:ext cx="7338060" cy="4251960"/>
            <a:chOff x="0" y="0"/>
            <a:chExt cx="9784080" cy="5669280"/>
          </a:xfrm>
        </p:grpSpPr>
        <p:sp>
          <p:nvSpPr>
            <p:cNvPr name="Freeform 21" id="21"/>
            <p:cNvSpPr/>
            <p:nvPr/>
          </p:nvSpPr>
          <p:spPr>
            <a:xfrm flipH="false" flipV="false" rot="0">
              <a:off x="0" y="0"/>
              <a:ext cx="9784080" cy="5669280"/>
            </a:xfrm>
            <a:custGeom>
              <a:avLst/>
              <a:gdLst/>
              <a:ahLst/>
              <a:cxnLst/>
              <a:rect r="r" b="b" t="t" l="l"/>
              <a:pathLst>
                <a:path h="5669280" w="9784080">
                  <a:moveTo>
                    <a:pt x="0" y="146304"/>
                  </a:moveTo>
                  <a:cubicBezTo>
                    <a:pt x="0" y="65532"/>
                    <a:pt x="65532" y="0"/>
                    <a:pt x="146304" y="0"/>
                  </a:cubicBezTo>
                  <a:lnTo>
                    <a:pt x="9637776" y="0"/>
                  </a:lnTo>
                  <a:cubicBezTo>
                    <a:pt x="9718548" y="0"/>
                    <a:pt x="9784080" y="65532"/>
                    <a:pt x="9784080" y="146304"/>
                  </a:cubicBezTo>
                  <a:lnTo>
                    <a:pt x="9784080" y="5522976"/>
                  </a:lnTo>
                  <a:cubicBezTo>
                    <a:pt x="9784080" y="5603748"/>
                    <a:pt x="9718548" y="5669280"/>
                    <a:pt x="9637776" y="5669280"/>
                  </a:cubicBezTo>
                  <a:lnTo>
                    <a:pt x="146304" y="5669280"/>
                  </a:lnTo>
                  <a:cubicBezTo>
                    <a:pt x="65532" y="5669280"/>
                    <a:pt x="0" y="5603748"/>
                    <a:pt x="0" y="5522976"/>
                  </a:cubicBezTo>
                  <a:close/>
                </a:path>
              </a:pathLst>
            </a:custGeom>
            <a:solidFill>
              <a:srgbClr val="F4F7FC"/>
            </a:solidFill>
          </p:spPr>
        </p:sp>
      </p:grpSp>
      <p:sp>
        <p:nvSpPr>
          <p:cNvPr name="TextBox 22" id="22"/>
          <p:cNvSpPr txBox="true"/>
          <p:nvPr/>
        </p:nvSpPr>
        <p:spPr>
          <a:xfrm rot="0">
            <a:off x="1764792" y="4102227"/>
            <a:ext cx="6277356" cy="3368421"/>
          </a:xfrm>
          <a:prstGeom prst="rect">
            <a:avLst/>
          </a:prstGeom>
        </p:spPr>
        <p:txBody>
          <a:bodyPr anchor="t" rtlCol="false" tIns="0" lIns="0" bIns="0" rIns="0">
            <a:spAutoFit/>
          </a:bodyPr>
          <a:lstStyle/>
          <a:p>
            <a:pPr algn="l" marL="366474" indent="-183237" lvl="1">
              <a:lnSpc>
                <a:spcPts val="2916"/>
              </a:lnSpc>
              <a:buFont typeface="Arial"/>
              <a:buChar char="•"/>
            </a:pPr>
            <a:r>
              <a:rPr lang="en-US" sz="2025">
                <a:solidFill>
                  <a:srgbClr val="23262F"/>
                </a:solidFill>
                <a:latin typeface="Calibri (MS)"/>
                <a:ea typeface="Calibri (MS)"/>
                <a:cs typeface="Calibri (MS)"/>
                <a:sym typeface="Calibri (MS)"/>
              </a:rPr>
              <a:t>Set policy: who reports what, to whom, and how fast</a:t>
            </a:r>
          </a:p>
          <a:p>
            <a:pPr algn="l" marL="366474" indent="-183237" lvl="1">
              <a:lnSpc>
                <a:spcPts val="2916"/>
              </a:lnSpc>
              <a:buFont typeface="Arial"/>
              <a:buChar char="•"/>
            </a:pPr>
            <a:r>
              <a:rPr lang="en-US" sz="2025">
                <a:solidFill>
                  <a:srgbClr val="23262F"/>
                </a:solidFill>
                <a:latin typeface="Calibri (MS)"/>
                <a:ea typeface="Calibri (MS)"/>
                <a:cs typeface="Calibri (MS)"/>
                <a:sym typeface="Calibri (MS)"/>
              </a:rPr>
              <a:t>Assign a named owner for cyber risk, with real accountability</a:t>
            </a:r>
          </a:p>
          <a:p>
            <a:pPr algn="l" marL="366474" indent="-183237" lvl="1">
              <a:lnSpc>
                <a:spcPts val="2916"/>
              </a:lnSpc>
              <a:buFont typeface="Arial"/>
              <a:buChar char="•"/>
            </a:pPr>
            <a:r>
              <a:rPr lang="en-US" sz="2025">
                <a:solidFill>
                  <a:srgbClr val="23262F"/>
                </a:solidFill>
                <a:latin typeface="Calibri (MS)"/>
                <a:ea typeface="Calibri (MS)"/>
                <a:cs typeface="Calibri (MS)"/>
                <a:sym typeface="Calibri (MS)"/>
              </a:rPr>
              <a:t>Decide the province's risk appetite before an incident forces the question</a:t>
            </a:r>
          </a:p>
        </p:txBody>
      </p:sp>
      <p:grpSp>
        <p:nvGrpSpPr>
          <p:cNvPr name="Group 23" id="23"/>
          <p:cNvGrpSpPr/>
          <p:nvPr/>
        </p:nvGrpSpPr>
        <p:grpSpPr>
          <a:xfrm rot="0">
            <a:off x="9121140" y="2743200"/>
            <a:ext cx="685800" cy="685800"/>
            <a:chOff x="0" y="0"/>
            <a:chExt cx="914400" cy="914400"/>
          </a:xfrm>
        </p:grpSpPr>
        <p:sp>
          <p:nvSpPr>
            <p:cNvPr name="Freeform 24" id="24"/>
            <p:cNvSpPr/>
            <p:nvPr/>
          </p:nvSpPr>
          <p:spPr>
            <a:xfrm flipH="false" flipV="false" rot="0">
              <a:off x="0" y="0"/>
              <a:ext cx="914400" cy="914400"/>
            </a:xfrm>
            <a:custGeom>
              <a:avLst/>
              <a:gdLst/>
              <a:ahLst/>
              <a:cxnLst/>
              <a:rect r="r" b="b" t="t" l="l"/>
              <a:pathLst>
                <a:path h="914400" w="914400">
                  <a:moveTo>
                    <a:pt x="0" y="146304"/>
                  </a:moveTo>
                  <a:cubicBezTo>
                    <a:pt x="0" y="65532"/>
                    <a:pt x="65532" y="0"/>
                    <a:pt x="146304" y="0"/>
                  </a:cubicBezTo>
                  <a:lnTo>
                    <a:pt x="768096" y="0"/>
                  </a:lnTo>
                  <a:cubicBezTo>
                    <a:pt x="848868" y="0"/>
                    <a:pt x="914400" y="65532"/>
                    <a:pt x="914400" y="146304"/>
                  </a:cubicBezTo>
                  <a:lnTo>
                    <a:pt x="914400" y="768096"/>
                  </a:lnTo>
                  <a:cubicBezTo>
                    <a:pt x="914400" y="848868"/>
                    <a:pt x="848868" y="914400"/>
                    <a:pt x="768096" y="914400"/>
                  </a:cubicBezTo>
                  <a:lnTo>
                    <a:pt x="146304" y="914400"/>
                  </a:lnTo>
                  <a:cubicBezTo>
                    <a:pt x="65532" y="914400"/>
                    <a:pt x="0" y="848868"/>
                    <a:pt x="0" y="768096"/>
                  </a:cubicBezTo>
                  <a:close/>
                </a:path>
              </a:pathLst>
            </a:custGeom>
            <a:solidFill>
              <a:srgbClr val="0F8A6E"/>
            </a:solidFill>
          </p:spPr>
        </p:sp>
      </p:grpSp>
      <p:grpSp>
        <p:nvGrpSpPr>
          <p:cNvPr name="Group 25" id="25"/>
          <p:cNvGrpSpPr/>
          <p:nvPr/>
        </p:nvGrpSpPr>
        <p:grpSpPr>
          <a:xfrm rot="0">
            <a:off x="9121140" y="2743200"/>
            <a:ext cx="685800" cy="685800"/>
            <a:chOff x="0" y="0"/>
            <a:chExt cx="914400" cy="914400"/>
          </a:xfrm>
        </p:grpSpPr>
        <p:sp>
          <p:nvSpPr>
            <p:cNvPr name="Freeform 26" id="26"/>
            <p:cNvSpPr/>
            <p:nvPr/>
          </p:nvSpPr>
          <p:spPr>
            <a:xfrm flipH="false" flipV="false" rot="0">
              <a:off x="0" y="0"/>
              <a:ext cx="914400" cy="914400"/>
            </a:xfrm>
            <a:custGeom>
              <a:avLst/>
              <a:gdLst/>
              <a:ahLst/>
              <a:cxnLst/>
              <a:rect r="r" b="b" t="t" l="l"/>
              <a:pathLst>
                <a:path h="914400" w="914400">
                  <a:moveTo>
                    <a:pt x="0" y="0"/>
                  </a:moveTo>
                  <a:lnTo>
                    <a:pt x="914400" y="0"/>
                  </a:lnTo>
                  <a:lnTo>
                    <a:pt x="914400" y="914400"/>
                  </a:lnTo>
                  <a:lnTo>
                    <a:pt x="0" y="914400"/>
                  </a:lnTo>
                  <a:close/>
                </a:path>
              </a:pathLst>
            </a:custGeom>
            <a:blipFill>
              <a:blip r:embed="rId3">
                <a:alphaModFix amt="0"/>
              </a:blip>
              <a:stretch>
                <a:fillRect l="-78303" t="0" r="-78303" b="0"/>
              </a:stretch>
            </a:blipFill>
          </p:spPr>
        </p:sp>
        <p:sp>
          <p:nvSpPr>
            <p:cNvPr name="TextBox 27" id="27"/>
            <p:cNvSpPr txBox="true"/>
            <p:nvPr/>
          </p:nvSpPr>
          <p:spPr>
            <a:xfrm>
              <a:off x="0" y="-38100"/>
              <a:ext cx="914400" cy="952500"/>
            </a:xfrm>
            <a:prstGeom prst="rect">
              <a:avLst/>
            </a:prstGeom>
          </p:spPr>
          <p:txBody>
            <a:bodyPr anchor="ctr" rtlCol="false" tIns="0" lIns="0" bIns="0" rIns="0"/>
            <a:lstStyle/>
            <a:p>
              <a:pPr algn="ctr">
                <a:lnSpc>
                  <a:spcPts val="2160"/>
                </a:lnSpc>
              </a:pPr>
              <a:r>
                <a:rPr lang="en-US" sz="1800" b="true">
                  <a:solidFill>
                    <a:srgbClr val="FFFFFF"/>
                  </a:solidFill>
                  <a:latin typeface="Calibri (MS) Bold"/>
                  <a:ea typeface="Calibri (MS) Bold"/>
                  <a:cs typeface="Calibri (MS) Bold"/>
                  <a:sym typeface="Calibri (MS) Bold"/>
                </a:rPr>
                <a:t>ID</a:t>
              </a:r>
            </a:p>
          </p:txBody>
        </p:sp>
      </p:grpSp>
      <p:grpSp>
        <p:nvGrpSpPr>
          <p:cNvPr name="Group 28" id="28"/>
          <p:cNvGrpSpPr/>
          <p:nvPr/>
        </p:nvGrpSpPr>
        <p:grpSpPr>
          <a:xfrm rot="0">
            <a:off x="10012680" y="2715768"/>
            <a:ext cx="6446520" cy="754380"/>
            <a:chOff x="0" y="0"/>
            <a:chExt cx="8595360" cy="1005840"/>
          </a:xfrm>
        </p:grpSpPr>
        <p:sp>
          <p:nvSpPr>
            <p:cNvPr name="Freeform 29" id="29"/>
            <p:cNvSpPr/>
            <p:nvPr/>
          </p:nvSpPr>
          <p:spPr>
            <a:xfrm flipH="false" flipV="false" rot="0">
              <a:off x="0" y="0"/>
              <a:ext cx="8595360" cy="1005840"/>
            </a:xfrm>
            <a:custGeom>
              <a:avLst/>
              <a:gdLst/>
              <a:ahLst/>
              <a:cxnLst/>
              <a:rect r="r" b="b" t="t" l="l"/>
              <a:pathLst>
                <a:path h="1005840" w="8595360">
                  <a:moveTo>
                    <a:pt x="0" y="0"/>
                  </a:moveTo>
                  <a:lnTo>
                    <a:pt x="8595360" y="0"/>
                  </a:lnTo>
                  <a:lnTo>
                    <a:pt x="8595360" y="1005840"/>
                  </a:lnTo>
                  <a:lnTo>
                    <a:pt x="0" y="1005840"/>
                  </a:lnTo>
                  <a:close/>
                </a:path>
              </a:pathLst>
            </a:custGeom>
            <a:blipFill>
              <a:blip r:embed="rId3">
                <a:alphaModFix amt="0"/>
              </a:blip>
              <a:stretch>
                <a:fillRect l="0" t="-116508" r="0" b="-116508"/>
              </a:stretch>
            </a:blipFill>
          </p:spPr>
        </p:sp>
        <p:sp>
          <p:nvSpPr>
            <p:cNvPr name="TextBox 30" id="30"/>
            <p:cNvSpPr txBox="true"/>
            <p:nvPr/>
          </p:nvSpPr>
          <p:spPr>
            <a:xfrm>
              <a:off x="0" y="-9525"/>
              <a:ext cx="8595360" cy="1015365"/>
            </a:xfrm>
            <a:prstGeom prst="rect">
              <a:avLst/>
            </a:prstGeom>
          </p:spPr>
          <p:txBody>
            <a:bodyPr anchor="ctr" rtlCol="false" tIns="0" lIns="0" bIns="0" rIns="0"/>
            <a:lstStyle/>
            <a:p>
              <a:pPr algn="l">
                <a:lnSpc>
                  <a:spcPts val="3960"/>
                </a:lnSpc>
              </a:pPr>
              <a:r>
                <a:rPr lang="en-US" sz="3300" b="true">
                  <a:solidFill>
                    <a:srgbClr val="1E2761"/>
                  </a:solidFill>
                  <a:latin typeface="Cambria Bold"/>
                  <a:ea typeface="Cambria Bold"/>
                  <a:cs typeface="Cambria Bold"/>
                  <a:sym typeface="Cambria Bold"/>
                </a:rPr>
                <a:t>Identify</a:t>
              </a:r>
            </a:p>
          </p:txBody>
        </p:sp>
      </p:grpSp>
      <p:grpSp>
        <p:nvGrpSpPr>
          <p:cNvPr name="Group 31" id="31"/>
          <p:cNvGrpSpPr/>
          <p:nvPr/>
        </p:nvGrpSpPr>
        <p:grpSpPr>
          <a:xfrm rot="0">
            <a:off x="9121140" y="3703320"/>
            <a:ext cx="7338060" cy="4251960"/>
            <a:chOff x="0" y="0"/>
            <a:chExt cx="9784080" cy="5669280"/>
          </a:xfrm>
        </p:grpSpPr>
        <p:sp>
          <p:nvSpPr>
            <p:cNvPr name="Freeform 32" id="32"/>
            <p:cNvSpPr/>
            <p:nvPr/>
          </p:nvSpPr>
          <p:spPr>
            <a:xfrm flipH="false" flipV="false" rot="0">
              <a:off x="0" y="0"/>
              <a:ext cx="9784080" cy="5669280"/>
            </a:xfrm>
            <a:custGeom>
              <a:avLst/>
              <a:gdLst/>
              <a:ahLst/>
              <a:cxnLst/>
              <a:rect r="r" b="b" t="t" l="l"/>
              <a:pathLst>
                <a:path h="5669280" w="9784080">
                  <a:moveTo>
                    <a:pt x="0" y="146304"/>
                  </a:moveTo>
                  <a:cubicBezTo>
                    <a:pt x="0" y="65532"/>
                    <a:pt x="65532" y="0"/>
                    <a:pt x="146304" y="0"/>
                  </a:cubicBezTo>
                  <a:lnTo>
                    <a:pt x="9637776" y="0"/>
                  </a:lnTo>
                  <a:cubicBezTo>
                    <a:pt x="9718548" y="0"/>
                    <a:pt x="9784080" y="65532"/>
                    <a:pt x="9784080" y="146304"/>
                  </a:cubicBezTo>
                  <a:lnTo>
                    <a:pt x="9784080" y="5522976"/>
                  </a:lnTo>
                  <a:cubicBezTo>
                    <a:pt x="9784080" y="5603748"/>
                    <a:pt x="9718548" y="5669280"/>
                    <a:pt x="9637776" y="5669280"/>
                  </a:cubicBezTo>
                  <a:lnTo>
                    <a:pt x="146304" y="5669280"/>
                  </a:lnTo>
                  <a:cubicBezTo>
                    <a:pt x="65532" y="5669280"/>
                    <a:pt x="0" y="5603748"/>
                    <a:pt x="0" y="5522976"/>
                  </a:cubicBezTo>
                  <a:close/>
                </a:path>
              </a:pathLst>
            </a:custGeom>
            <a:solidFill>
              <a:srgbClr val="F4F7FC"/>
            </a:solidFill>
          </p:spPr>
        </p:sp>
      </p:grpSp>
      <p:sp>
        <p:nvSpPr>
          <p:cNvPr name="TextBox 33" id="33"/>
          <p:cNvSpPr txBox="true"/>
          <p:nvPr/>
        </p:nvSpPr>
        <p:spPr>
          <a:xfrm rot="0">
            <a:off x="9651492" y="4102227"/>
            <a:ext cx="6277356" cy="3368421"/>
          </a:xfrm>
          <a:prstGeom prst="rect">
            <a:avLst/>
          </a:prstGeom>
        </p:spPr>
        <p:txBody>
          <a:bodyPr anchor="t" rtlCol="false" tIns="0" lIns="0" bIns="0" rIns="0">
            <a:spAutoFit/>
          </a:bodyPr>
          <a:lstStyle/>
          <a:p>
            <a:pPr algn="l" marL="366474" indent="-183237" lvl="1">
              <a:lnSpc>
                <a:spcPts val="2916"/>
              </a:lnSpc>
              <a:buFont typeface="Arial"/>
              <a:buChar char="•"/>
            </a:pPr>
            <a:r>
              <a:rPr lang="en-US" sz="2025">
                <a:solidFill>
                  <a:srgbClr val="23262F"/>
                </a:solidFill>
                <a:latin typeface="Calibri (MS)"/>
                <a:ea typeface="Calibri (MS)"/>
                <a:cs typeface="Calibri (MS)"/>
                <a:sym typeface="Calibri (MS)"/>
              </a:rPr>
              <a:t>Inventory what you actually have — devices, systems, data, vendors</a:t>
            </a:r>
          </a:p>
          <a:p>
            <a:pPr algn="l" marL="366474" indent="-183237" lvl="1">
              <a:lnSpc>
                <a:spcPts val="2916"/>
              </a:lnSpc>
              <a:buFont typeface="Arial"/>
              <a:buChar char="•"/>
            </a:pPr>
            <a:r>
              <a:rPr lang="en-US" sz="2025">
                <a:solidFill>
                  <a:srgbClr val="23262F"/>
                </a:solidFill>
                <a:latin typeface="Calibri (MS)"/>
                <a:ea typeface="Calibri (MS)"/>
                <a:cs typeface="Calibri (MS)"/>
                <a:sym typeface="Calibri (MS)"/>
              </a:rPr>
              <a:t>Know which assets matter most if they went down or leaked</a:t>
            </a:r>
          </a:p>
          <a:p>
            <a:pPr algn="l" marL="366474" indent="-183237" lvl="1">
              <a:lnSpc>
                <a:spcPts val="2916"/>
              </a:lnSpc>
              <a:buFont typeface="Arial"/>
              <a:buChar char="•"/>
            </a:pPr>
            <a:r>
              <a:rPr lang="en-US" sz="2025">
                <a:solidFill>
                  <a:srgbClr val="23262F"/>
                </a:solidFill>
                <a:latin typeface="Calibri (MS)"/>
                <a:ea typeface="Calibri (MS)"/>
                <a:cs typeface="Calibri (MS)"/>
                <a:sym typeface="Calibri (MS)"/>
              </a:rPr>
              <a:t>Assess where the real gaps and risks sit before you spend on fixes</a:t>
            </a:r>
          </a:p>
        </p:txBody>
      </p:sp>
      <p:grpSp>
        <p:nvGrpSpPr>
          <p:cNvPr name="Group 34" id="34"/>
          <p:cNvGrpSpPr/>
          <p:nvPr/>
        </p:nvGrpSpPr>
        <p:grpSpPr>
          <a:xfrm rot="0">
            <a:off x="685800" y="9710928"/>
            <a:ext cx="10972800" cy="411480"/>
            <a:chOff x="0" y="0"/>
            <a:chExt cx="14630400" cy="548640"/>
          </a:xfrm>
        </p:grpSpPr>
        <p:sp>
          <p:nvSpPr>
            <p:cNvPr name="Freeform 35" id="35"/>
            <p:cNvSpPr/>
            <p:nvPr/>
          </p:nvSpPr>
          <p:spPr>
            <a:xfrm flipH="false" flipV="false" rot="0">
              <a:off x="0" y="0"/>
              <a:ext cx="14630400" cy="548640"/>
            </a:xfrm>
            <a:custGeom>
              <a:avLst/>
              <a:gdLst/>
              <a:ahLst/>
              <a:cxnLst/>
              <a:rect r="r" b="b" t="t" l="l"/>
              <a:pathLst>
                <a:path h="548640" w="14630400">
                  <a:moveTo>
                    <a:pt x="0" y="0"/>
                  </a:moveTo>
                  <a:lnTo>
                    <a:pt x="14630400" y="0"/>
                  </a:lnTo>
                  <a:lnTo>
                    <a:pt x="14630400" y="548640"/>
                  </a:lnTo>
                  <a:lnTo>
                    <a:pt x="0" y="548640"/>
                  </a:lnTo>
                  <a:close/>
                </a:path>
              </a:pathLst>
            </a:custGeom>
            <a:blipFill>
              <a:blip r:embed="rId3">
                <a:alphaModFix amt="0"/>
              </a:blip>
              <a:stretch>
                <a:fillRect l="0" t="-469601" r="0" b="-469601"/>
              </a:stretch>
            </a:blipFill>
          </p:spPr>
        </p:sp>
        <p:sp>
          <p:nvSpPr>
            <p:cNvPr name="TextBox 36" id="36"/>
            <p:cNvSpPr txBox="true"/>
            <p:nvPr/>
          </p:nvSpPr>
          <p:spPr>
            <a:xfrm>
              <a:off x="0" y="-38100"/>
              <a:ext cx="14630400" cy="586740"/>
            </a:xfrm>
            <a:prstGeom prst="rect">
              <a:avLst/>
            </a:prstGeom>
          </p:spPr>
          <p:txBody>
            <a:bodyPr anchor="ctr" rtlCol="false" tIns="0" lIns="0" bIns="0" rIns="0"/>
            <a:lstStyle/>
            <a:p>
              <a:pPr algn="l">
                <a:lnSpc>
                  <a:spcPts val="1800"/>
                </a:lnSpc>
              </a:pPr>
              <a:r>
                <a:rPr lang="en-US" sz="1500">
                  <a:solidFill>
                    <a:srgbClr val="6B7280"/>
                  </a:solidFill>
                  <a:latin typeface="Calibri (MS)"/>
                  <a:ea typeface="Calibri (MS)"/>
                  <a:cs typeface="Calibri (MS)"/>
                  <a:sym typeface="Calibri (MS)"/>
                </a:rPr>
                <a:t>Davao del Norte Provincial Government — Cybersecurity Seminar</a:t>
              </a:r>
            </a:p>
          </p:txBody>
        </p:sp>
      </p:grpSp>
      <p:grpSp>
        <p:nvGrpSpPr>
          <p:cNvPr name="Group 37" id="37"/>
          <p:cNvGrpSpPr/>
          <p:nvPr/>
        </p:nvGrpSpPr>
        <p:grpSpPr>
          <a:xfrm rot="0">
            <a:off x="16911828" y="9710928"/>
            <a:ext cx="685800" cy="411480"/>
            <a:chOff x="0" y="0"/>
            <a:chExt cx="914400" cy="548640"/>
          </a:xfrm>
        </p:grpSpPr>
        <p:sp>
          <p:nvSpPr>
            <p:cNvPr name="Freeform 38" id="38"/>
            <p:cNvSpPr/>
            <p:nvPr/>
          </p:nvSpPr>
          <p:spPr>
            <a:xfrm flipH="false" flipV="false" rot="0">
              <a:off x="0" y="0"/>
              <a:ext cx="914400" cy="548640"/>
            </a:xfrm>
            <a:custGeom>
              <a:avLst/>
              <a:gdLst/>
              <a:ahLst/>
              <a:cxnLst/>
              <a:rect r="r" b="b" t="t" l="l"/>
              <a:pathLst>
                <a:path h="548640" w="914400">
                  <a:moveTo>
                    <a:pt x="0" y="0"/>
                  </a:moveTo>
                  <a:lnTo>
                    <a:pt x="914400" y="0"/>
                  </a:lnTo>
                  <a:lnTo>
                    <a:pt x="914400" y="548640"/>
                  </a:lnTo>
                  <a:lnTo>
                    <a:pt x="0" y="548640"/>
                  </a:lnTo>
                  <a:close/>
                </a:path>
              </a:pathLst>
            </a:custGeom>
            <a:blipFill>
              <a:blip r:embed="rId3">
                <a:alphaModFix amt="0"/>
              </a:blip>
              <a:stretch>
                <a:fillRect l="-26982" t="0" r="-26982" b="0"/>
              </a:stretch>
            </a:blipFill>
          </p:spPr>
        </p:sp>
        <p:sp>
          <p:nvSpPr>
            <p:cNvPr name="TextBox 39" id="39"/>
            <p:cNvSpPr txBox="true"/>
            <p:nvPr/>
          </p:nvSpPr>
          <p:spPr>
            <a:xfrm>
              <a:off x="0" y="-38100"/>
              <a:ext cx="914400" cy="586740"/>
            </a:xfrm>
            <a:prstGeom prst="rect">
              <a:avLst/>
            </a:prstGeom>
          </p:spPr>
          <p:txBody>
            <a:bodyPr anchor="ctr" rtlCol="false" tIns="0" lIns="0" bIns="0" rIns="0"/>
            <a:lstStyle/>
            <a:p>
              <a:pPr algn="r">
                <a:lnSpc>
                  <a:spcPts val="1800"/>
                </a:lnSpc>
              </a:pPr>
              <a:r>
                <a:rPr lang="en-US" sz="1500">
                  <a:solidFill>
                    <a:srgbClr val="6B7280"/>
                  </a:solidFill>
                  <a:latin typeface="Calibri (MS)"/>
                  <a:ea typeface="Calibri (MS)"/>
                  <a:cs typeface="Calibri (MS)"/>
                  <a:sym typeface="Calibri (MS)"/>
                </a:rPr>
                <a:t>4</a:t>
              </a:r>
            </a:p>
          </p:txBody>
        </p:sp>
      </p:grpSp>
    </p:spTree>
  </p:cSld>
  <p:clrMapOvr>
    <a:masterClrMapping/>
  </p:clrMapOvr>
</p:sld>
</file>

<file path=ppt/slides/slide7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6172200" cy="10287000"/>
            <a:chOff x="0" y="0"/>
            <a:chExt cx="8229600" cy="13716000"/>
          </a:xfrm>
        </p:grpSpPr>
        <p:sp>
          <p:nvSpPr>
            <p:cNvPr name="Freeform 3" id="3"/>
            <p:cNvSpPr/>
            <p:nvPr/>
          </p:nvSpPr>
          <p:spPr>
            <a:xfrm flipH="false" flipV="false" rot="0">
              <a:off x="0" y="0"/>
              <a:ext cx="8229600" cy="13716000"/>
            </a:xfrm>
            <a:custGeom>
              <a:avLst/>
              <a:gdLst/>
              <a:ahLst/>
              <a:cxnLst/>
              <a:rect r="r" b="b" t="t" l="l"/>
              <a:pathLst>
                <a:path h="13716000" w="8229600">
                  <a:moveTo>
                    <a:pt x="0" y="0"/>
                  </a:moveTo>
                  <a:lnTo>
                    <a:pt x="8229600" y="0"/>
                  </a:lnTo>
                  <a:lnTo>
                    <a:pt x="8229600" y="13716000"/>
                  </a:lnTo>
                  <a:lnTo>
                    <a:pt x="0" y="13716000"/>
                  </a:lnTo>
                  <a:close/>
                </a:path>
              </a:pathLst>
            </a:custGeom>
            <a:solidFill>
              <a:srgbClr val="1F6FEB"/>
            </a:solidFill>
          </p:spPr>
        </p:sp>
      </p:grpSp>
      <p:grpSp>
        <p:nvGrpSpPr>
          <p:cNvPr name="Group 4" id="4"/>
          <p:cNvGrpSpPr/>
          <p:nvPr/>
        </p:nvGrpSpPr>
        <p:grpSpPr>
          <a:xfrm rot="0">
            <a:off x="0" y="2400300"/>
            <a:ext cx="6172200" cy="2743200"/>
            <a:chOff x="0" y="0"/>
            <a:chExt cx="8229600" cy="3657600"/>
          </a:xfrm>
        </p:grpSpPr>
        <p:sp>
          <p:nvSpPr>
            <p:cNvPr name="Freeform 5" id="5"/>
            <p:cNvSpPr/>
            <p:nvPr/>
          </p:nvSpPr>
          <p:spPr>
            <a:xfrm flipH="false" flipV="false" rot="0">
              <a:off x="0" y="0"/>
              <a:ext cx="8229600" cy="3657600"/>
            </a:xfrm>
            <a:custGeom>
              <a:avLst/>
              <a:gdLst/>
              <a:ahLst/>
              <a:cxnLst/>
              <a:rect r="r" b="b" t="t" l="l"/>
              <a:pathLst>
                <a:path h="3657600" w="8229600">
                  <a:moveTo>
                    <a:pt x="0" y="0"/>
                  </a:moveTo>
                  <a:lnTo>
                    <a:pt x="8229600" y="0"/>
                  </a:lnTo>
                  <a:lnTo>
                    <a:pt x="8229600" y="3657600"/>
                  </a:lnTo>
                  <a:lnTo>
                    <a:pt x="0" y="3657600"/>
                  </a:lnTo>
                  <a:close/>
                </a:path>
              </a:pathLst>
            </a:custGeom>
            <a:blipFill>
              <a:blip r:embed="rId2">
                <a:alphaModFix amt="0"/>
              </a:blip>
              <a:stretch>
                <a:fillRect l="-7023" t="0" r="-7023" b="0"/>
              </a:stretch>
            </a:blipFill>
          </p:spPr>
        </p:sp>
        <p:sp>
          <p:nvSpPr>
            <p:cNvPr name="TextBox 6" id="6"/>
            <p:cNvSpPr txBox="true"/>
            <p:nvPr/>
          </p:nvSpPr>
          <p:spPr>
            <a:xfrm>
              <a:off x="0" y="-19050"/>
              <a:ext cx="8229600" cy="3676650"/>
            </a:xfrm>
            <a:prstGeom prst="rect">
              <a:avLst/>
            </a:prstGeom>
          </p:spPr>
          <p:txBody>
            <a:bodyPr anchor="ctr" rtlCol="false" tIns="0" lIns="0" bIns="0" rIns="0"/>
            <a:lstStyle/>
            <a:p>
              <a:pPr algn="ctr">
                <a:lnSpc>
                  <a:spcPts val="19800"/>
                </a:lnSpc>
              </a:pPr>
              <a:r>
                <a:rPr lang="en-US" sz="16500" b="true">
                  <a:solidFill>
                    <a:srgbClr val="FFFFFF"/>
                  </a:solidFill>
                  <a:latin typeface="Cambria Bold"/>
                  <a:ea typeface="Cambria Bold"/>
                  <a:cs typeface="Cambria Bold"/>
                  <a:sym typeface="Cambria Bold"/>
                </a:rPr>
                <a:t>PR</a:t>
              </a:r>
            </a:p>
          </p:txBody>
        </p:sp>
      </p:grpSp>
      <p:grpSp>
        <p:nvGrpSpPr>
          <p:cNvPr name="Group 7" id="7"/>
          <p:cNvGrpSpPr/>
          <p:nvPr/>
        </p:nvGrpSpPr>
        <p:grpSpPr>
          <a:xfrm rot="0">
            <a:off x="548640" y="5417820"/>
            <a:ext cx="5074920" cy="1097280"/>
            <a:chOff x="0" y="0"/>
            <a:chExt cx="6766560" cy="1463040"/>
          </a:xfrm>
        </p:grpSpPr>
        <p:sp>
          <p:nvSpPr>
            <p:cNvPr name="Freeform 8" id="8"/>
            <p:cNvSpPr/>
            <p:nvPr/>
          </p:nvSpPr>
          <p:spPr>
            <a:xfrm flipH="false" flipV="false" rot="0">
              <a:off x="0" y="0"/>
              <a:ext cx="6766560" cy="1463040"/>
            </a:xfrm>
            <a:custGeom>
              <a:avLst/>
              <a:gdLst/>
              <a:ahLst/>
              <a:cxnLst/>
              <a:rect r="r" b="b" t="t" l="l"/>
              <a:pathLst>
                <a:path h="1463040" w="6766560">
                  <a:moveTo>
                    <a:pt x="0" y="0"/>
                  </a:moveTo>
                  <a:lnTo>
                    <a:pt x="6766560" y="0"/>
                  </a:lnTo>
                  <a:lnTo>
                    <a:pt x="6766560" y="1463040"/>
                  </a:lnTo>
                  <a:lnTo>
                    <a:pt x="0" y="1463040"/>
                  </a:lnTo>
                  <a:close/>
                </a:path>
              </a:pathLst>
            </a:custGeom>
            <a:blipFill>
              <a:blip r:embed="rId2">
                <a:alphaModFix amt="0"/>
              </a:blip>
              <a:stretch>
                <a:fillRect l="0" t="-40118" r="0" b="-40118"/>
              </a:stretch>
            </a:blipFill>
          </p:spPr>
        </p:sp>
        <p:sp>
          <p:nvSpPr>
            <p:cNvPr name="TextBox 9" id="9"/>
            <p:cNvSpPr txBox="true"/>
            <p:nvPr/>
          </p:nvSpPr>
          <p:spPr>
            <a:xfrm>
              <a:off x="0" y="-9525"/>
              <a:ext cx="6766560" cy="1472565"/>
            </a:xfrm>
            <a:prstGeom prst="rect">
              <a:avLst/>
            </a:prstGeom>
          </p:spPr>
          <p:txBody>
            <a:bodyPr anchor="ctr" rtlCol="false" tIns="0" lIns="0" bIns="0" rIns="0"/>
            <a:lstStyle/>
            <a:p>
              <a:pPr algn="ctr">
                <a:lnSpc>
                  <a:spcPts val="4500"/>
                </a:lnSpc>
              </a:pPr>
              <a:r>
                <a:rPr lang="en-US" sz="3750" b="true">
                  <a:solidFill>
                    <a:srgbClr val="FFFFFF"/>
                  </a:solidFill>
                  <a:latin typeface="Cambria Bold"/>
                  <a:ea typeface="Cambria Bold"/>
                  <a:cs typeface="Cambria Bold"/>
                  <a:sym typeface="Cambria Bold"/>
                </a:rPr>
                <a:t>Protect</a:t>
              </a:r>
            </a:p>
          </p:txBody>
        </p:sp>
      </p:grpSp>
      <p:grpSp>
        <p:nvGrpSpPr>
          <p:cNvPr name="Group 10" id="10"/>
          <p:cNvGrpSpPr/>
          <p:nvPr/>
        </p:nvGrpSpPr>
        <p:grpSpPr>
          <a:xfrm rot="0">
            <a:off x="7132320" y="822960"/>
            <a:ext cx="9601200" cy="411480"/>
            <a:chOff x="0" y="0"/>
            <a:chExt cx="12801600" cy="548640"/>
          </a:xfrm>
        </p:grpSpPr>
        <p:sp>
          <p:nvSpPr>
            <p:cNvPr name="Freeform 11" id="11"/>
            <p:cNvSpPr/>
            <p:nvPr/>
          </p:nvSpPr>
          <p:spPr>
            <a:xfrm flipH="false" flipV="false" rot="0">
              <a:off x="0" y="0"/>
              <a:ext cx="12801600" cy="548640"/>
            </a:xfrm>
            <a:custGeom>
              <a:avLst/>
              <a:gdLst/>
              <a:ahLst/>
              <a:cxnLst/>
              <a:rect r="r" b="b" t="t" l="l"/>
              <a:pathLst>
                <a:path h="548640" w="12801600">
                  <a:moveTo>
                    <a:pt x="0" y="0"/>
                  </a:moveTo>
                  <a:lnTo>
                    <a:pt x="12801600" y="0"/>
                  </a:lnTo>
                  <a:lnTo>
                    <a:pt x="12801600" y="548640"/>
                  </a:lnTo>
                  <a:lnTo>
                    <a:pt x="0" y="548640"/>
                  </a:lnTo>
                  <a:close/>
                </a:path>
              </a:pathLst>
            </a:custGeom>
            <a:blipFill>
              <a:blip r:embed="rId2">
                <a:alphaModFix amt="0"/>
              </a:blip>
              <a:stretch>
                <a:fillRect l="0" t="-404650" r="0" b="-404650"/>
              </a:stretch>
            </a:blipFill>
          </p:spPr>
        </p:sp>
        <p:sp>
          <p:nvSpPr>
            <p:cNvPr name="TextBox 12" id="12"/>
            <p:cNvSpPr txBox="true"/>
            <p:nvPr/>
          </p:nvSpPr>
          <p:spPr>
            <a:xfrm>
              <a:off x="0" y="-38100"/>
              <a:ext cx="12801600" cy="586740"/>
            </a:xfrm>
            <a:prstGeom prst="rect">
              <a:avLst/>
            </a:prstGeom>
          </p:spPr>
          <p:txBody>
            <a:bodyPr anchor="ctr" rtlCol="false" tIns="0" lIns="0" bIns="0" rIns="0"/>
            <a:lstStyle/>
            <a:p>
              <a:pPr algn="l">
                <a:lnSpc>
                  <a:spcPts val="2160"/>
                </a:lnSpc>
              </a:pPr>
              <a:r>
                <a:rPr lang="en-US" b="true" sz="1800" spc="225">
                  <a:solidFill>
                    <a:srgbClr val="00B4D8"/>
                  </a:solidFill>
                  <a:latin typeface="Calibri (MS) Bold"/>
                  <a:ea typeface="Calibri (MS) Bold"/>
                  <a:cs typeface="Calibri (MS) Bold"/>
                  <a:sym typeface="Calibri (MS) Bold"/>
                </a:rPr>
                <a:t>NIST CSF 2.0 · FUNCTION 3</a:t>
              </a:r>
            </a:p>
          </p:txBody>
        </p:sp>
      </p:grpSp>
      <p:sp>
        <p:nvSpPr>
          <p:cNvPr name="TextBox 13" id="13"/>
          <p:cNvSpPr txBox="true"/>
          <p:nvPr/>
        </p:nvSpPr>
        <p:spPr>
          <a:xfrm rot="0">
            <a:off x="7223760" y="1329690"/>
            <a:ext cx="10241280" cy="887730"/>
          </a:xfrm>
          <a:prstGeom prst="rect">
            <a:avLst/>
          </a:prstGeom>
        </p:spPr>
        <p:txBody>
          <a:bodyPr anchor="t" rtlCol="false" tIns="0" lIns="0" bIns="0" rIns="0">
            <a:spAutoFit/>
          </a:bodyPr>
          <a:lstStyle/>
          <a:p>
            <a:pPr algn="l">
              <a:lnSpc>
                <a:spcPts val="4320"/>
              </a:lnSpc>
            </a:pPr>
            <a:r>
              <a:rPr lang="en-US" sz="3600" b="true">
                <a:solidFill>
                  <a:srgbClr val="1E2761"/>
                </a:solidFill>
                <a:latin typeface="Cambria Bold"/>
                <a:ea typeface="Cambria Bold"/>
                <a:cs typeface="Cambria Bold"/>
                <a:sym typeface="Cambria Bold"/>
              </a:rPr>
              <a:t>The safeguards</a:t>
            </a:r>
          </a:p>
        </p:txBody>
      </p:sp>
      <p:sp>
        <p:nvSpPr>
          <p:cNvPr name="TextBox 14" id="14"/>
          <p:cNvSpPr txBox="true"/>
          <p:nvPr/>
        </p:nvSpPr>
        <p:spPr>
          <a:xfrm rot="0">
            <a:off x="7223760" y="2175510"/>
            <a:ext cx="10241280" cy="1413510"/>
          </a:xfrm>
          <a:prstGeom prst="rect">
            <a:avLst/>
          </a:prstGeom>
        </p:spPr>
        <p:txBody>
          <a:bodyPr anchor="t" rtlCol="false" tIns="0" lIns="0" bIns="0" rIns="0">
            <a:spAutoFit/>
          </a:bodyPr>
          <a:lstStyle/>
          <a:p>
            <a:pPr algn="l">
              <a:lnSpc>
                <a:spcPts val="3402"/>
              </a:lnSpc>
            </a:pPr>
            <a:r>
              <a:rPr lang="en-US" sz="2100">
                <a:solidFill>
                  <a:srgbClr val="23262F"/>
                </a:solidFill>
                <a:latin typeface="Calibri (MS)"/>
                <a:ea typeface="Calibri (MS)"/>
                <a:cs typeface="Calibri (MS)"/>
                <a:sym typeface="Calibri (MS)"/>
              </a:rPr>
              <a:t>Once you know what you have (Identify) and who's accountable (Govern), Protect is where you actually reduce risk — the day-to-day controls that keep priority services running safely.</a:t>
            </a:r>
          </a:p>
        </p:txBody>
      </p:sp>
      <p:grpSp>
        <p:nvGrpSpPr>
          <p:cNvPr name="Group 15" id="15"/>
          <p:cNvGrpSpPr/>
          <p:nvPr/>
        </p:nvGrpSpPr>
        <p:grpSpPr>
          <a:xfrm rot="0">
            <a:off x="7132320" y="3771900"/>
            <a:ext cx="10424160" cy="4251960"/>
            <a:chOff x="0" y="0"/>
            <a:chExt cx="13898880" cy="5669280"/>
          </a:xfrm>
        </p:grpSpPr>
        <p:sp>
          <p:nvSpPr>
            <p:cNvPr name="Freeform 16" id="16"/>
            <p:cNvSpPr/>
            <p:nvPr/>
          </p:nvSpPr>
          <p:spPr>
            <a:xfrm flipH="false" flipV="false" rot="0">
              <a:off x="0" y="0"/>
              <a:ext cx="13898880" cy="5669280"/>
            </a:xfrm>
            <a:custGeom>
              <a:avLst/>
              <a:gdLst/>
              <a:ahLst/>
              <a:cxnLst/>
              <a:rect r="r" b="b" t="t" l="l"/>
              <a:pathLst>
                <a:path h="5669280" w="13898880">
                  <a:moveTo>
                    <a:pt x="0" y="146304"/>
                  </a:moveTo>
                  <a:cubicBezTo>
                    <a:pt x="0" y="65532"/>
                    <a:pt x="65532" y="0"/>
                    <a:pt x="146304" y="0"/>
                  </a:cubicBezTo>
                  <a:lnTo>
                    <a:pt x="13752576" y="0"/>
                  </a:lnTo>
                  <a:cubicBezTo>
                    <a:pt x="13833348" y="0"/>
                    <a:pt x="13898880" y="65532"/>
                    <a:pt x="13898880" y="146304"/>
                  </a:cubicBezTo>
                  <a:lnTo>
                    <a:pt x="13898880" y="5522976"/>
                  </a:lnTo>
                  <a:cubicBezTo>
                    <a:pt x="13898880" y="5603748"/>
                    <a:pt x="13833348" y="5669280"/>
                    <a:pt x="13752576" y="5669280"/>
                  </a:cubicBezTo>
                  <a:lnTo>
                    <a:pt x="146304" y="5669280"/>
                  </a:lnTo>
                  <a:cubicBezTo>
                    <a:pt x="65532" y="5669280"/>
                    <a:pt x="0" y="5603748"/>
                    <a:pt x="0" y="5522976"/>
                  </a:cubicBezTo>
                  <a:close/>
                </a:path>
              </a:pathLst>
            </a:custGeom>
            <a:solidFill>
              <a:srgbClr val="F4F7FC"/>
            </a:solidFill>
          </p:spPr>
        </p:sp>
      </p:grpSp>
      <p:sp>
        <p:nvSpPr>
          <p:cNvPr name="TextBox 17" id="17"/>
          <p:cNvSpPr txBox="true"/>
          <p:nvPr/>
        </p:nvSpPr>
        <p:spPr>
          <a:xfrm rot="0">
            <a:off x="7662672" y="4161282"/>
            <a:ext cx="9363456" cy="3377946"/>
          </a:xfrm>
          <a:prstGeom prst="rect">
            <a:avLst/>
          </a:prstGeom>
        </p:spPr>
        <p:txBody>
          <a:bodyPr anchor="t" rtlCol="false" tIns="0" lIns="0" bIns="0" rIns="0">
            <a:spAutoFit/>
          </a:bodyPr>
          <a:lstStyle/>
          <a:p>
            <a:pPr algn="l" marL="380048" indent="-190024" lvl="1">
              <a:lnSpc>
                <a:spcPts val="3024"/>
              </a:lnSpc>
              <a:buFont typeface="Arial"/>
              <a:buChar char="•"/>
            </a:pPr>
            <a:r>
              <a:rPr lang="en-US" sz="2100">
                <a:solidFill>
                  <a:srgbClr val="23262F"/>
                </a:solidFill>
                <a:latin typeface="Calibri (MS)"/>
                <a:ea typeface="Calibri (MS)"/>
                <a:cs typeface="Calibri (MS)"/>
                <a:sym typeface="Calibri (MS)"/>
              </a:rPr>
              <a:t>Access control — MFA, least privilege, offboarding accounts on the day someone leaves</a:t>
            </a:r>
          </a:p>
          <a:p>
            <a:pPr algn="l" marL="380048" indent="-190024" lvl="1">
              <a:lnSpc>
                <a:spcPts val="3024"/>
              </a:lnSpc>
              <a:buFont typeface="Arial"/>
              <a:buChar char="•"/>
            </a:pPr>
            <a:r>
              <a:rPr lang="en-US" sz="2100">
                <a:solidFill>
                  <a:srgbClr val="23262F"/>
                </a:solidFill>
                <a:latin typeface="Calibri (MS)"/>
                <a:ea typeface="Calibri (MS)"/>
                <a:cs typeface="Calibri (MS)"/>
                <a:sym typeface="Calibri (MS)"/>
              </a:rPr>
              <a:t>Awareness training — most breaches start with one person and one click</a:t>
            </a:r>
          </a:p>
          <a:p>
            <a:pPr algn="l" marL="380048" indent="-190024" lvl="1">
              <a:lnSpc>
                <a:spcPts val="3024"/>
              </a:lnSpc>
              <a:buFont typeface="Arial"/>
              <a:buChar char="•"/>
            </a:pPr>
            <a:r>
              <a:rPr lang="en-US" sz="2100">
                <a:solidFill>
                  <a:srgbClr val="23262F"/>
                </a:solidFill>
                <a:latin typeface="Calibri (MS)"/>
                <a:ea typeface="Calibri (MS)"/>
                <a:cs typeface="Calibri (MS)"/>
                <a:sym typeface="Calibri (MS)"/>
              </a:rPr>
              <a:t>Data security — encryption, backups kept separate from the systems they protect</a:t>
            </a:r>
          </a:p>
          <a:p>
            <a:pPr algn="l" marL="380048" indent="-190024" lvl="1">
              <a:lnSpc>
                <a:spcPts val="3024"/>
              </a:lnSpc>
              <a:buFont typeface="Arial"/>
              <a:buChar char="•"/>
            </a:pPr>
            <a:r>
              <a:rPr lang="en-US" sz="2100">
                <a:solidFill>
                  <a:srgbClr val="23262F"/>
                </a:solidFill>
                <a:latin typeface="Calibri (MS)"/>
                <a:ea typeface="Calibri (MS)"/>
                <a:cs typeface="Calibri (MS)"/>
                <a:sym typeface="Calibri (MS)"/>
              </a:rPr>
              <a:t>Platform security — patching, hardened configurations, maintained equipment</a:t>
            </a:r>
          </a:p>
        </p:txBody>
      </p:sp>
      <p:grpSp>
        <p:nvGrpSpPr>
          <p:cNvPr name="Group 18" id="18"/>
          <p:cNvGrpSpPr/>
          <p:nvPr/>
        </p:nvGrpSpPr>
        <p:grpSpPr>
          <a:xfrm rot="0">
            <a:off x="7132320" y="9710928"/>
            <a:ext cx="8229600" cy="411480"/>
            <a:chOff x="0" y="0"/>
            <a:chExt cx="10972800" cy="548640"/>
          </a:xfrm>
        </p:grpSpPr>
        <p:sp>
          <p:nvSpPr>
            <p:cNvPr name="Freeform 19" id="19"/>
            <p:cNvSpPr/>
            <p:nvPr/>
          </p:nvSpPr>
          <p:spPr>
            <a:xfrm flipH="false" flipV="false" rot="0">
              <a:off x="0" y="0"/>
              <a:ext cx="10972800" cy="548640"/>
            </a:xfrm>
            <a:custGeom>
              <a:avLst/>
              <a:gdLst/>
              <a:ahLst/>
              <a:cxnLst/>
              <a:rect r="r" b="b" t="t" l="l"/>
              <a:pathLst>
                <a:path h="548640" w="10972800">
                  <a:moveTo>
                    <a:pt x="0" y="0"/>
                  </a:moveTo>
                  <a:lnTo>
                    <a:pt x="10972800" y="0"/>
                  </a:lnTo>
                  <a:lnTo>
                    <a:pt x="10972800" y="548640"/>
                  </a:lnTo>
                  <a:lnTo>
                    <a:pt x="0" y="548640"/>
                  </a:lnTo>
                  <a:close/>
                </a:path>
              </a:pathLst>
            </a:custGeom>
            <a:blipFill>
              <a:blip r:embed="rId2">
                <a:alphaModFix amt="0"/>
              </a:blip>
              <a:stretch>
                <a:fillRect l="0" t="-339700" r="0" b="-339700"/>
              </a:stretch>
            </a:blipFill>
          </p:spPr>
        </p:sp>
        <p:sp>
          <p:nvSpPr>
            <p:cNvPr name="TextBox 20" id="20"/>
            <p:cNvSpPr txBox="true"/>
            <p:nvPr/>
          </p:nvSpPr>
          <p:spPr>
            <a:xfrm>
              <a:off x="0" y="-38100"/>
              <a:ext cx="10972800" cy="586740"/>
            </a:xfrm>
            <a:prstGeom prst="rect">
              <a:avLst/>
            </a:prstGeom>
          </p:spPr>
          <p:txBody>
            <a:bodyPr anchor="ctr" rtlCol="false" tIns="0" lIns="0" bIns="0" rIns="0"/>
            <a:lstStyle/>
            <a:p>
              <a:pPr algn="l">
                <a:lnSpc>
                  <a:spcPts val="1800"/>
                </a:lnSpc>
              </a:pPr>
              <a:r>
                <a:rPr lang="en-US" sz="1500">
                  <a:solidFill>
                    <a:srgbClr val="6B7280"/>
                  </a:solidFill>
                  <a:latin typeface="Calibri (MS)"/>
                  <a:ea typeface="Calibri (MS)"/>
                  <a:cs typeface="Calibri (MS)"/>
                  <a:sym typeface="Calibri (MS)"/>
                </a:rPr>
                <a:t>Davao del Norte Provincial Government — Cybersecurity Seminar</a:t>
              </a:r>
            </a:p>
          </p:txBody>
        </p:sp>
      </p:grpSp>
      <p:grpSp>
        <p:nvGrpSpPr>
          <p:cNvPr name="Group 21" id="21"/>
          <p:cNvGrpSpPr/>
          <p:nvPr/>
        </p:nvGrpSpPr>
        <p:grpSpPr>
          <a:xfrm rot="0">
            <a:off x="16911828" y="9710928"/>
            <a:ext cx="685800" cy="411480"/>
            <a:chOff x="0" y="0"/>
            <a:chExt cx="914400" cy="548640"/>
          </a:xfrm>
        </p:grpSpPr>
        <p:sp>
          <p:nvSpPr>
            <p:cNvPr name="Freeform 22" id="22"/>
            <p:cNvSpPr/>
            <p:nvPr/>
          </p:nvSpPr>
          <p:spPr>
            <a:xfrm flipH="false" flipV="false" rot="0">
              <a:off x="0" y="0"/>
              <a:ext cx="914400" cy="548640"/>
            </a:xfrm>
            <a:custGeom>
              <a:avLst/>
              <a:gdLst/>
              <a:ahLst/>
              <a:cxnLst/>
              <a:rect r="r" b="b" t="t" l="l"/>
              <a:pathLst>
                <a:path h="548640" w="914400">
                  <a:moveTo>
                    <a:pt x="0" y="0"/>
                  </a:moveTo>
                  <a:lnTo>
                    <a:pt x="914400" y="0"/>
                  </a:lnTo>
                  <a:lnTo>
                    <a:pt x="914400" y="548640"/>
                  </a:lnTo>
                  <a:lnTo>
                    <a:pt x="0" y="548640"/>
                  </a:lnTo>
                  <a:close/>
                </a:path>
              </a:pathLst>
            </a:custGeom>
            <a:blipFill>
              <a:blip r:embed="rId2">
                <a:alphaModFix amt="0"/>
              </a:blip>
              <a:stretch>
                <a:fillRect l="-26982" t="0" r="-26982" b="0"/>
              </a:stretch>
            </a:blipFill>
          </p:spPr>
        </p:sp>
        <p:sp>
          <p:nvSpPr>
            <p:cNvPr name="TextBox 23" id="23"/>
            <p:cNvSpPr txBox="true"/>
            <p:nvPr/>
          </p:nvSpPr>
          <p:spPr>
            <a:xfrm>
              <a:off x="0" y="-38100"/>
              <a:ext cx="914400" cy="586740"/>
            </a:xfrm>
            <a:prstGeom prst="rect">
              <a:avLst/>
            </a:prstGeom>
          </p:spPr>
          <p:txBody>
            <a:bodyPr anchor="ctr" rtlCol="false" tIns="0" lIns="0" bIns="0" rIns="0"/>
            <a:lstStyle/>
            <a:p>
              <a:pPr algn="r">
                <a:lnSpc>
                  <a:spcPts val="1800"/>
                </a:lnSpc>
              </a:pPr>
              <a:r>
                <a:rPr lang="en-US" sz="1500">
                  <a:solidFill>
                    <a:srgbClr val="6B7280"/>
                  </a:solidFill>
                  <a:latin typeface="Calibri (MS)"/>
                  <a:ea typeface="Calibri (MS)"/>
                  <a:cs typeface="Calibri (MS)"/>
                  <a:sym typeface="Calibri (MS)"/>
                </a:rPr>
                <a:t>5</a:t>
              </a:r>
            </a:p>
          </p:txBody>
        </p:sp>
      </p:grpSp>
    </p:spTree>
  </p:cSld>
  <p:clrMapOvr>
    <a:masterClrMapping/>
  </p:clrMapOvr>
</p:sld>
</file>

<file path=ppt/slides/slide7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754380" y="685800"/>
            <a:ext cx="850392" cy="850392"/>
            <a:chOff x="0" y="0"/>
            <a:chExt cx="1133856" cy="1133856"/>
          </a:xfrm>
        </p:grpSpPr>
        <p:sp>
          <p:nvSpPr>
            <p:cNvPr name="Freeform 3" id="3"/>
            <p:cNvSpPr/>
            <p:nvPr/>
          </p:nvSpPr>
          <p:spPr>
            <a:xfrm flipH="false" flipV="false" rot="0">
              <a:off x="0" y="0"/>
              <a:ext cx="1133856" cy="1133856"/>
            </a:xfrm>
            <a:custGeom>
              <a:avLst/>
              <a:gdLst/>
              <a:ahLst/>
              <a:cxnLst/>
              <a:rect r="r" b="b" t="t" l="l"/>
              <a:pathLst>
                <a:path h="1133856" w="1133856">
                  <a:moveTo>
                    <a:pt x="0" y="566928"/>
                  </a:moveTo>
                  <a:cubicBezTo>
                    <a:pt x="0" y="253873"/>
                    <a:pt x="253873" y="0"/>
                    <a:pt x="566928" y="0"/>
                  </a:cubicBezTo>
                  <a:cubicBezTo>
                    <a:pt x="879983" y="0"/>
                    <a:pt x="1133856" y="253873"/>
                    <a:pt x="1133856" y="566928"/>
                  </a:cubicBezTo>
                  <a:cubicBezTo>
                    <a:pt x="1133856" y="879983"/>
                    <a:pt x="879983" y="1133856"/>
                    <a:pt x="566928" y="1133856"/>
                  </a:cubicBezTo>
                  <a:cubicBezTo>
                    <a:pt x="253873" y="1133856"/>
                    <a:pt x="0" y="879983"/>
                    <a:pt x="0" y="566928"/>
                  </a:cubicBezTo>
                  <a:close/>
                </a:path>
              </a:pathLst>
            </a:custGeom>
            <a:solidFill>
              <a:srgbClr val="1E2761"/>
            </a:solidFill>
          </p:spPr>
        </p:sp>
      </p:grpSp>
      <p:grpSp>
        <p:nvGrpSpPr>
          <p:cNvPr name="Group 4" id="4"/>
          <p:cNvGrpSpPr/>
          <p:nvPr/>
        </p:nvGrpSpPr>
        <p:grpSpPr>
          <a:xfrm rot="0">
            <a:off x="932688" y="864108"/>
            <a:ext cx="493776" cy="493776"/>
            <a:chOff x="0" y="0"/>
            <a:chExt cx="658368" cy="658368"/>
          </a:xfrm>
        </p:grpSpPr>
        <p:sp>
          <p:nvSpPr>
            <p:cNvPr name="Freeform 5" id="5" descr="shield.png"/>
            <p:cNvSpPr/>
            <p:nvPr/>
          </p:nvSpPr>
          <p:spPr>
            <a:xfrm flipH="false" flipV="false" rot="0">
              <a:off x="0" y="0"/>
              <a:ext cx="658368" cy="658368"/>
            </a:xfrm>
            <a:custGeom>
              <a:avLst/>
              <a:gdLst/>
              <a:ahLst/>
              <a:cxnLst/>
              <a:rect r="r" b="b" t="t" l="l"/>
              <a:pathLst>
                <a:path h="658368" w="658368">
                  <a:moveTo>
                    <a:pt x="0" y="0"/>
                  </a:moveTo>
                  <a:lnTo>
                    <a:pt x="658368" y="0"/>
                  </a:lnTo>
                  <a:lnTo>
                    <a:pt x="658368" y="658368"/>
                  </a:lnTo>
                  <a:lnTo>
                    <a:pt x="0" y="658368"/>
                  </a:lnTo>
                  <a:lnTo>
                    <a:pt x="0" y="0"/>
                  </a:lnTo>
                  <a:close/>
                </a:path>
              </a:pathLst>
            </a:custGeom>
            <a:blipFill>
              <a:blip r:embed="rId2"/>
              <a:stretch>
                <a:fillRect l="0" t="0" r="0" b="0"/>
              </a:stretch>
            </a:blipFill>
          </p:spPr>
        </p:sp>
      </p:grpSp>
      <p:grpSp>
        <p:nvGrpSpPr>
          <p:cNvPr name="Group 6" id="6"/>
          <p:cNvGrpSpPr/>
          <p:nvPr/>
        </p:nvGrpSpPr>
        <p:grpSpPr>
          <a:xfrm rot="0">
            <a:off x="1851660" y="603504"/>
            <a:ext cx="13716000" cy="466344"/>
            <a:chOff x="0" y="0"/>
            <a:chExt cx="18288000" cy="621792"/>
          </a:xfrm>
        </p:grpSpPr>
        <p:sp>
          <p:nvSpPr>
            <p:cNvPr name="Freeform 7" id="7"/>
            <p:cNvSpPr/>
            <p:nvPr/>
          </p:nvSpPr>
          <p:spPr>
            <a:xfrm flipH="false" flipV="false" rot="0">
              <a:off x="0" y="0"/>
              <a:ext cx="18288000" cy="621792"/>
            </a:xfrm>
            <a:custGeom>
              <a:avLst/>
              <a:gdLst/>
              <a:ahLst/>
              <a:cxnLst/>
              <a:rect r="r" b="b" t="t" l="l"/>
              <a:pathLst>
                <a:path h="621792" w="18288000">
                  <a:moveTo>
                    <a:pt x="0" y="0"/>
                  </a:moveTo>
                  <a:lnTo>
                    <a:pt x="18288000" y="0"/>
                  </a:lnTo>
                  <a:lnTo>
                    <a:pt x="18288000" y="621792"/>
                  </a:lnTo>
                  <a:lnTo>
                    <a:pt x="0" y="621792"/>
                  </a:lnTo>
                  <a:close/>
                </a:path>
              </a:pathLst>
            </a:custGeom>
            <a:blipFill>
              <a:blip r:embed="rId3">
                <a:alphaModFix amt="0"/>
              </a:blip>
              <a:stretch>
                <a:fillRect l="0" t="-523089" r="0" b="-523089"/>
              </a:stretch>
            </a:blipFill>
          </p:spPr>
        </p:sp>
        <p:sp>
          <p:nvSpPr>
            <p:cNvPr name="TextBox 8" id="8"/>
            <p:cNvSpPr txBox="true"/>
            <p:nvPr/>
          </p:nvSpPr>
          <p:spPr>
            <a:xfrm>
              <a:off x="0" y="-47625"/>
              <a:ext cx="18288000" cy="669417"/>
            </a:xfrm>
            <a:prstGeom prst="rect">
              <a:avLst/>
            </a:prstGeom>
          </p:spPr>
          <p:txBody>
            <a:bodyPr anchor="ctr" rtlCol="false" tIns="0" lIns="0" bIns="0" rIns="0"/>
            <a:lstStyle/>
            <a:p>
              <a:pPr algn="l">
                <a:lnSpc>
                  <a:spcPts val="2340"/>
                </a:lnSpc>
              </a:pPr>
              <a:r>
                <a:rPr lang="en-US" b="true" sz="1950" spc="150">
                  <a:solidFill>
                    <a:srgbClr val="00B4D8"/>
                  </a:solidFill>
                  <a:latin typeface="Calibri (MS) Bold"/>
                  <a:ea typeface="Calibri (MS) Bold"/>
                  <a:cs typeface="Calibri (MS) Bold"/>
                  <a:sym typeface="Calibri (MS) Bold"/>
                </a:rPr>
                <a:t>NIST CSF 2.0 · FUNCTIONS 4–6</a:t>
              </a:r>
            </a:p>
          </p:txBody>
        </p:sp>
      </p:grpSp>
      <p:grpSp>
        <p:nvGrpSpPr>
          <p:cNvPr name="Group 9" id="9"/>
          <p:cNvGrpSpPr/>
          <p:nvPr/>
        </p:nvGrpSpPr>
        <p:grpSpPr>
          <a:xfrm rot="0">
            <a:off x="1824228" y="987552"/>
            <a:ext cx="15361920" cy="850392"/>
            <a:chOff x="0" y="0"/>
            <a:chExt cx="20482560" cy="1133856"/>
          </a:xfrm>
        </p:grpSpPr>
        <p:sp>
          <p:nvSpPr>
            <p:cNvPr name="Freeform 10" id="10"/>
            <p:cNvSpPr/>
            <p:nvPr/>
          </p:nvSpPr>
          <p:spPr>
            <a:xfrm flipH="false" flipV="false" rot="0">
              <a:off x="0" y="0"/>
              <a:ext cx="20482561" cy="1133856"/>
            </a:xfrm>
            <a:custGeom>
              <a:avLst/>
              <a:gdLst/>
              <a:ahLst/>
              <a:cxnLst/>
              <a:rect r="r" b="b" t="t" l="l"/>
              <a:pathLst>
                <a:path h="1133856" w="20482561">
                  <a:moveTo>
                    <a:pt x="0" y="0"/>
                  </a:moveTo>
                  <a:lnTo>
                    <a:pt x="20482561" y="0"/>
                  </a:lnTo>
                  <a:lnTo>
                    <a:pt x="20482561" y="1133856"/>
                  </a:lnTo>
                  <a:lnTo>
                    <a:pt x="0" y="1133856"/>
                  </a:lnTo>
                  <a:close/>
                </a:path>
              </a:pathLst>
            </a:custGeom>
            <a:blipFill>
              <a:blip r:embed="rId3">
                <a:alphaModFix amt="0"/>
              </a:blip>
              <a:stretch>
                <a:fillRect l="0" t="-301987" r="0" b="-301987"/>
              </a:stretch>
            </a:blipFill>
          </p:spPr>
        </p:sp>
        <p:sp>
          <p:nvSpPr>
            <p:cNvPr name="TextBox 11" id="11"/>
            <p:cNvSpPr txBox="true"/>
            <p:nvPr/>
          </p:nvSpPr>
          <p:spPr>
            <a:xfrm>
              <a:off x="0" y="-9525"/>
              <a:ext cx="20482560" cy="1143381"/>
            </a:xfrm>
            <a:prstGeom prst="rect">
              <a:avLst/>
            </a:prstGeom>
          </p:spPr>
          <p:txBody>
            <a:bodyPr anchor="ctr" rtlCol="false" tIns="0" lIns="0" bIns="0" rIns="0"/>
            <a:lstStyle/>
            <a:p>
              <a:pPr algn="l">
                <a:lnSpc>
                  <a:spcPts val="5040"/>
                </a:lnSpc>
              </a:pPr>
              <a:r>
                <a:rPr lang="en-US" sz="4200" b="true">
                  <a:solidFill>
                    <a:srgbClr val="1E2761"/>
                  </a:solidFill>
                  <a:latin typeface="Cambria Bold"/>
                  <a:ea typeface="Cambria Bold"/>
                  <a:cs typeface="Cambria Bold"/>
                  <a:sym typeface="Cambria Bold"/>
                </a:rPr>
                <a:t>The Incident Lifecycle</a:t>
              </a:r>
            </a:p>
          </p:txBody>
        </p:sp>
      </p:grpSp>
      <p:sp>
        <p:nvSpPr>
          <p:cNvPr name="TextBox 12" id="12"/>
          <p:cNvSpPr txBox="true"/>
          <p:nvPr/>
        </p:nvSpPr>
        <p:spPr>
          <a:xfrm rot="0">
            <a:off x="1325880" y="2055495"/>
            <a:ext cx="14767560" cy="641985"/>
          </a:xfrm>
          <a:prstGeom prst="rect">
            <a:avLst/>
          </a:prstGeom>
        </p:spPr>
        <p:txBody>
          <a:bodyPr anchor="t" rtlCol="false" tIns="0" lIns="0" bIns="0" rIns="0">
            <a:spAutoFit/>
          </a:bodyPr>
          <a:lstStyle/>
          <a:p>
            <a:pPr algn="l">
              <a:lnSpc>
                <a:spcPts val="2520"/>
              </a:lnSpc>
            </a:pPr>
            <a:r>
              <a:rPr lang="en-US" sz="2100" i="true">
                <a:solidFill>
                  <a:srgbClr val="6B7280"/>
                </a:solidFill>
                <a:latin typeface="Calibri (MS) Italics"/>
                <a:ea typeface="Calibri (MS) Italics"/>
                <a:cs typeface="Calibri (MS) Italics"/>
                <a:sym typeface="Calibri (MS) Italics"/>
              </a:rPr>
              <a:t>These three run in sequence once something actually goes wrong — this is the muscle memory an incident response plan builds.</a:t>
            </a:r>
          </a:p>
        </p:txBody>
      </p:sp>
      <p:grpSp>
        <p:nvGrpSpPr>
          <p:cNvPr name="Group 13" id="13"/>
          <p:cNvGrpSpPr/>
          <p:nvPr/>
        </p:nvGrpSpPr>
        <p:grpSpPr>
          <a:xfrm rot="0">
            <a:off x="1234440" y="3223260"/>
            <a:ext cx="4869180" cy="4114800"/>
            <a:chOff x="0" y="0"/>
            <a:chExt cx="6492240" cy="5486400"/>
          </a:xfrm>
        </p:grpSpPr>
        <p:sp>
          <p:nvSpPr>
            <p:cNvPr name="Freeform 14" id="14"/>
            <p:cNvSpPr/>
            <p:nvPr/>
          </p:nvSpPr>
          <p:spPr>
            <a:xfrm flipH="false" flipV="false" rot="0">
              <a:off x="0" y="0"/>
              <a:ext cx="6492240" cy="5486400"/>
            </a:xfrm>
            <a:custGeom>
              <a:avLst/>
              <a:gdLst/>
              <a:ahLst/>
              <a:cxnLst/>
              <a:rect r="r" b="b" t="t" l="l"/>
              <a:pathLst>
                <a:path h="5486400" w="6492240">
                  <a:moveTo>
                    <a:pt x="0" y="182880"/>
                  </a:moveTo>
                  <a:cubicBezTo>
                    <a:pt x="0" y="81915"/>
                    <a:pt x="81915" y="0"/>
                    <a:pt x="182880" y="0"/>
                  </a:cubicBezTo>
                  <a:lnTo>
                    <a:pt x="6309360" y="0"/>
                  </a:lnTo>
                  <a:cubicBezTo>
                    <a:pt x="6410325" y="0"/>
                    <a:pt x="6492240" y="81915"/>
                    <a:pt x="6492240" y="182880"/>
                  </a:cubicBezTo>
                  <a:lnTo>
                    <a:pt x="6492240" y="5303520"/>
                  </a:lnTo>
                  <a:cubicBezTo>
                    <a:pt x="6492240" y="5404485"/>
                    <a:pt x="6410325" y="5486400"/>
                    <a:pt x="6309360" y="5486400"/>
                  </a:cubicBezTo>
                  <a:lnTo>
                    <a:pt x="182880" y="5486400"/>
                  </a:lnTo>
                  <a:cubicBezTo>
                    <a:pt x="81915" y="5486400"/>
                    <a:pt x="0" y="5404485"/>
                    <a:pt x="0" y="5303520"/>
                  </a:cubicBezTo>
                  <a:close/>
                </a:path>
              </a:pathLst>
            </a:custGeom>
            <a:solidFill>
              <a:srgbClr val="F4F7FC"/>
            </a:solidFill>
          </p:spPr>
        </p:sp>
      </p:grpSp>
      <p:grpSp>
        <p:nvGrpSpPr>
          <p:cNvPr name="Group 15" id="15"/>
          <p:cNvGrpSpPr/>
          <p:nvPr/>
        </p:nvGrpSpPr>
        <p:grpSpPr>
          <a:xfrm rot="0">
            <a:off x="3188970" y="3634740"/>
            <a:ext cx="960120" cy="960120"/>
            <a:chOff x="0" y="0"/>
            <a:chExt cx="1280160" cy="1280160"/>
          </a:xfrm>
        </p:grpSpPr>
        <p:sp>
          <p:nvSpPr>
            <p:cNvPr name="Freeform 16" id="16"/>
            <p:cNvSpPr/>
            <p:nvPr/>
          </p:nvSpPr>
          <p:spPr>
            <a:xfrm flipH="false" flipV="false" rot="0">
              <a:off x="0" y="0"/>
              <a:ext cx="1280160" cy="1280160"/>
            </a:xfrm>
            <a:custGeom>
              <a:avLst/>
              <a:gdLst/>
              <a:ahLst/>
              <a:cxnLst/>
              <a:rect r="r" b="b" t="t" l="l"/>
              <a:pathLst>
                <a:path h="1280160" w="1280160">
                  <a:moveTo>
                    <a:pt x="0" y="640080"/>
                  </a:moveTo>
                  <a:cubicBezTo>
                    <a:pt x="0" y="286512"/>
                    <a:pt x="286512" y="0"/>
                    <a:pt x="640080" y="0"/>
                  </a:cubicBezTo>
                  <a:cubicBezTo>
                    <a:pt x="993648" y="0"/>
                    <a:pt x="1280160" y="286512"/>
                    <a:pt x="1280160" y="640080"/>
                  </a:cubicBezTo>
                  <a:cubicBezTo>
                    <a:pt x="1280160" y="993648"/>
                    <a:pt x="993648" y="1280160"/>
                    <a:pt x="640080" y="1280160"/>
                  </a:cubicBezTo>
                  <a:cubicBezTo>
                    <a:pt x="286512" y="1280160"/>
                    <a:pt x="0" y="993648"/>
                    <a:pt x="0" y="640080"/>
                  </a:cubicBezTo>
                  <a:close/>
                </a:path>
              </a:pathLst>
            </a:custGeom>
            <a:solidFill>
              <a:srgbClr val="C98A12"/>
            </a:solidFill>
          </p:spPr>
        </p:sp>
      </p:grpSp>
      <p:grpSp>
        <p:nvGrpSpPr>
          <p:cNvPr name="Group 17" id="17"/>
          <p:cNvGrpSpPr/>
          <p:nvPr/>
        </p:nvGrpSpPr>
        <p:grpSpPr>
          <a:xfrm rot="0">
            <a:off x="3188970" y="3634740"/>
            <a:ext cx="960120" cy="960120"/>
            <a:chOff x="0" y="0"/>
            <a:chExt cx="1280160" cy="1280160"/>
          </a:xfrm>
        </p:grpSpPr>
        <p:sp>
          <p:nvSpPr>
            <p:cNvPr name="Freeform 18" id="18"/>
            <p:cNvSpPr/>
            <p:nvPr/>
          </p:nvSpPr>
          <p:spPr>
            <a:xfrm flipH="false" flipV="false" rot="0">
              <a:off x="0" y="0"/>
              <a:ext cx="1280160" cy="1280160"/>
            </a:xfrm>
            <a:custGeom>
              <a:avLst/>
              <a:gdLst/>
              <a:ahLst/>
              <a:cxnLst/>
              <a:rect r="r" b="b" t="t" l="l"/>
              <a:pathLst>
                <a:path h="1280160" w="1280160">
                  <a:moveTo>
                    <a:pt x="0" y="0"/>
                  </a:moveTo>
                  <a:lnTo>
                    <a:pt x="1280160" y="0"/>
                  </a:lnTo>
                  <a:lnTo>
                    <a:pt x="1280160" y="1280160"/>
                  </a:lnTo>
                  <a:lnTo>
                    <a:pt x="0" y="1280160"/>
                  </a:lnTo>
                  <a:close/>
                </a:path>
              </a:pathLst>
            </a:custGeom>
            <a:blipFill>
              <a:blip r:embed="rId3">
                <a:alphaModFix amt="0"/>
              </a:blip>
              <a:stretch>
                <a:fillRect l="-78303" t="0" r="-78303" b="0"/>
              </a:stretch>
            </a:blipFill>
          </p:spPr>
        </p:sp>
        <p:sp>
          <p:nvSpPr>
            <p:cNvPr name="TextBox 19" id="19"/>
            <p:cNvSpPr txBox="true"/>
            <p:nvPr/>
          </p:nvSpPr>
          <p:spPr>
            <a:xfrm>
              <a:off x="0" y="-57150"/>
              <a:ext cx="1280160" cy="1337310"/>
            </a:xfrm>
            <a:prstGeom prst="rect">
              <a:avLst/>
            </a:prstGeom>
          </p:spPr>
          <p:txBody>
            <a:bodyPr anchor="ctr" rtlCol="false" tIns="0" lIns="0" bIns="0" rIns="0"/>
            <a:lstStyle/>
            <a:p>
              <a:pPr algn="ctr">
                <a:lnSpc>
                  <a:spcPts val="2700"/>
                </a:lnSpc>
              </a:pPr>
              <a:r>
                <a:rPr lang="en-US" sz="2250" b="true">
                  <a:solidFill>
                    <a:srgbClr val="FFFFFF"/>
                  </a:solidFill>
                  <a:latin typeface="Calibri (MS) Bold"/>
                  <a:ea typeface="Calibri (MS) Bold"/>
                  <a:cs typeface="Calibri (MS) Bold"/>
                  <a:sym typeface="Calibri (MS) Bold"/>
                </a:rPr>
                <a:t>DE</a:t>
              </a:r>
            </a:p>
          </p:txBody>
        </p:sp>
      </p:grpSp>
      <p:grpSp>
        <p:nvGrpSpPr>
          <p:cNvPr name="Group 20" id="20"/>
          <p:cNvGrpSpPr/>
          <p:nvPr/>
        </p:nvGrpSpPr>
        <p:grpSpPr>
          <a:xfrm rot="0">
            <a:off x="1234440" y="4759452"/>
            <a:ext cx="4869180" cy="617220"/>
            <a:chOff x="0" y="0"/>
            <a:chExt cx="6492240" cy="822960"/>
          </a:xfrm>
        </p:grpSpPr>
        <p:sp>
          <p:nvSpPr>
            <p:cNvPr name="Freeform 21" id="21"/>
            <p:cNvSpPr/>
            <p:nvPr/>
          </p:nvSpPr>
          <p:spPr>
            <a:xfrm flipH="false" flipV="false" rot="0">
              <a:off x="0" y="0"/>
              <a:ext cx="6492240" cy="822960"/>
            </a:xfrm>
            <a:custGeom>
              <a:avLst/>
              <a:gdLst/>
              <a:ahLst/>
              <a:cxnLst/>
              <a:rect r="r" b="b" t="t" l="l"/>
              <a:pathLst>
                <a:path h="822960" w="6492240">
                  <a:moveTo>
                    <a:pt x="0" y="0"/>
                  </a:moveTo>
                  <a:lnTo>
                    <a:pt x="6492240" y="0"/>
                  </a:lnTo>
                  <a:lnTo>
                    <a:pt x="6492240" y="822960"/>
                  </a:lnTo>
                  <a:lnTo>
                    <a:pt x="0" y="822960"/>
                  </a:lnTo>
                  <a:close/>
                </a:path>
              </a:pathLst>
            </a:custGeom>
            <a:blipFill>
              <a:blip r:embed="rId3">
                <a:alphaModFix amt="0"/>
              </a:blip>
              <a:stretch>
                <a:fillRect l="0" t="-103715" r="0" b="-103715"/>
              </a:stretch>
            </a:blipFill>
          </p:spPr>
        </p:sp>
        <p:sp>
          <p:nvSpPr>
            <p:cNvPr name="TextBox 22" id="22"/>
            <p:cNvSpPr txBox="true"/>
            <p:nvPr/>
          </p:nvSpPr>
          <p:spPr>
            <a:xfrm>
              <a:off x="0" y="-9525"/>
              <a:ext cx="6492240" cy="832485"/>
            </a:xfrm>
            <a:prstGeom prst="rect">
              <a:avLst/>
            </a:prstGeom>
          </p:spPr>
          <p:txBody>
            <a:bodyPr anchor="ctr" rtlCol="false" tIns="0" lIns="0" bIns="0" rIns="0"/>
            <a:lstStyle/>
            <a:p>
              <a:pPr algn="ctr">
                <a:lnSpc>
                  <a:spcPts val="3419"/>
                </a:lnSpc>
              </a:pPr>
              <a:r>
                <a:rPr lang="en-US" sz="2850" b="true">
                  <a:solidFill>
                    <a:srgbClr val="1E2761"/>
                  </a:solidFill>
                  <a:latin typeface="Cambria Bold"/>
                  <a:ea typeface="Cambria Bold"/>
                  <a:cs typeface="Cambria Bold"/>
                  <a:sym typeface="Cambria Bold"/>
                </a:rPr>
                <a:t>Detect</a:t>
              </a:r>
            </a:p>
          </p:txBody>
        </p:sp>
      </p:grpSp>
      <p:sp>
        <p:nvSpPr>
          <p:cNvPr name="TextBox 23" id="23"/>
          <p:cNvSpPr txBox="true"/>
          <p:nvPr/>
        </p:nvSpPr>
        <p:spPr>
          <a:xfrm rot="0">
            <a:off x="1737360" y="5427345"/>
            <a:ext cx="3863340" cy="1659255"/>
          </a:xfrm>
          <a:prstGeom prst="rect">
            <a:avLst/>
          </a:prstGeom>
        </p:spPr>
        <p:txBody>
          <a:bodyPr anchor="t" rtlCol="false" tIns="0" lIns="0" bIns="0" rIns="0">
            <a:spAutoFit/>
          </a:bodyPr>
          <a:lstStyle/>
          <a:p>
            <a:pPr algn="ctr">
              <a:lnSpc>
                <a:spcPts val="2925"/>
              </a:lnSpc>
            </a:pPr>
            <a:r>
              <a:rPr lang="en-US" sz="1875">
                <a:solidFill>
                  <a:srgbClr val="23262F"/>
                </a:solidFill>
                <a:latin typeface="Calibri (MS)"/>
                <a:ea typeface="Calibri (MS)"/>
                <a:cs typeface="Calibri (MS)"/>
                <a:sym typeface="Calibri (MS)"/>
              </a:rPr>
              <a:t>Something abnormal is found and analyzed — an alert, a flagged login, a monitoring tool doing its job.</a:t>
            </a:r>
          </a:p>
        </p:txBody>
      </p:sp>
      <p:grpSp>
        <p:nvGrpSpPr>
          <p:cNvPr name="Group 24" id="24"/>
          <p:cNvGrpSpPr/>
          <p:nvPr/>
        </p:nvGrpSpPr>
        <p:grpSpPr>
          <a:xfrm rot="5400000">
            <a:off x="6185916" y="5088636"/>
            <a:ext cx="411480" cy="384048"/>
            <a:chOff x="0" y="0"/>
            <a:chExt cx="548640" cy="512064"/>
          </a:xfrm>
        </p:grpSpPr>
        <p:sp>
          <p:nvSpPr>
            <p:cNvPr name="Freeform 25" id="25"/>
            <p:cNvSpPr/>
            <p:nvPr/>
          </p:nvSpPr>
          <p:spPr>
            <a:xfrm flipH="false" flipV="false" rot="0">
              <a:off x="0" y="0"/>
              <a:ext cx="548640" cy="512064"/>
            </a:xfrm>
            <a:custGeom>
              <a:avLst/>
              <a:gdLst/>
              <a:ahLst/>
              <a:cxnLst/>
              <a:rect r="r" b="b" t="t" l="l"/>
              <a:pathLst>
                <a:path h="512064" w="548640">
                  <a:moveTo>
                    <a:pt x="0" y="512064"/>
                  </a:moveTo>
                  <a:lnTo>
                    <a:pt x="274320" y="0"/>
                  </a:lnTo>
                  <a:lnTo>
                    <a:pt x="548640" y="512064"/>
                  </a:lnTo>
                  <a:close/>
                </a:path>
              </a:pathLst>
            </a:custGeom>
            <a:solidFill>
              <a:srgbClr val="00B4D8"/>
            </a:solidFill>
          </p:spPr>
        </p:sp>
      </p:grpSp>
      <p:grpSp>
        <p:nvGrpSpPr>
          <p:cNvPr name="Group 26" id="26"/>
          <p:cNvGrpSpPr/>
          <p:nvPr/>
        </p:nvGrpSpPr>
        <p:grpSpPr>
          <a:xfrm rot="0">
            <a:off x="6679692" y="3223260"/>
            <a:ext cx="4869180" cy="4114800"/>
            <a:chOff x="0" y="0"/>
            <a:chExt cx="6492240" cy="5486400"/>
          </a:xfrm>
        </p:grpSpPr>
        <p:sp>
          <p:nvSpPr>
            <p:cNvPr name="Freeform 27" id="27"/>
            <p:cNvSpPr/>
            <p:nvPr/>
          </p:nvSpPr>
          <p:spPr>
            <a:xfrm flipH="false" flipV="false" rot="0">
              <a:off x="0" y="0"/>
              <a:ext cx="6492240" cy="5486400"/>
            </a:xfrm>
            <a:custGeom>
              <a:avLst/>
              <a:gdLst/>
              <a:ahLst/>
              <a:cxnLst/>
              <a:rect r="r" b="b" t="t" l="l"/>
              <a:pathLst>
                <a:path h="5486400" w="6492240">
                  <a:moveTo>
                    <a:pt x="0" y="182880"/>
                  </a:moveTo>
                  <a:cubicBezTo>
                    <a:pt x="0" y="81915"/>
                    <a:pt x="81915" y="0"/>
                    <a:pt x="182880" y="0"/>
                  </a:cubicBezTo>
                  <a:lnTo>
                    <a:pt x="6309360" y="0"/>
                  </a:lnTo>
                  <a:cubicBezTo>
                    <a:pt x="6410325" y="0"/>
                    <a:pt x="6492240" y="81915"/>
                    <a:pt x="6492240" y="182880"/>
                  </a:cubicBezTo>
                  <a:lnTo>
                    <a:pt x="6492240" y="5303520"/>
                  </a:lnTo>
                  <a:cubicBezTo>
                    <a:pt x="6492240" y="5404485"/>
                    <a:pt x="6410325" y="5486400"/>
                    <a:pt x="6309360" y="5486400"/>
                  </a:cubicBezTo>
                  <a:lnTo>
                    <a:pt x="182880" y="5486400"/>
                  </a:lnTo>
                  <a:cubicBezTo>
                    <a:pt x="81915" y="5486400"/>
                    <a:pt x="0" y="5404485"/>
                    <a:pt x="0" y="5303520"/>
                  </a:cubicBezTo>
                  <a:close/>
                </a:path>
              </a:pathLst>
            </a:custGeom>
            <a:solidFill>
              <a:srgbClr val="F4F7FC"/>
            </a:solidFill>
          </p:spPr>
        </p:sp>
      </p:grpSp>
      <p:grpSp>
        <p:nvGrpSpPr>
          <p:cNvPr name="Group 28" id="28"/>
          <p:cNvGrpSpPr/>
          <p:nvPr/>
        </p:nvGrpSpPr>
        <p:grpSpPr>
          <a:xfrm rot="0">
            <a:off x="8634222" y="3634740"/>
            <a:ext cx="960120" cy="960120"/>
            <a:chOff x="0" y="0"/>
            <a:chExt cx="1280160" cy="1280160"/>
          </a:xfrm>
        </p:grpSpPr>
        <p:sp>
          <p:nvSpPr>
            <p:cNvPr name="Freeform 29" id="29"/>
            <p:cNvSpPr/>
            <p:nvPr/>
          </p:nvSpPr>
          <p:spPr>
            <a:xfrm flipH="false" flipV="false" rot="0">
              <a:off x="0" y="0"/>
              <a:ext cx="1280160" cy="1280160"/>
            </a:xfrm>
            <a:custGeom>
              <a:avLst/>
              <a:gdLst/>
              <a:ahLst/>
              <a:cxnLst/>
              <a:rect r="r" b="b" t="t" l="l"/>
              <a:pathLst>
                <a:path h="1280160" w="1280160">
                  <a:moveTo>
                    <a:pt x="0" y="640080"/>
                  </a:moveTo>
                  <a:cubicBezTo>
                    <a:pt x="0" y="286512"/>
                    <a:pt x="286512" y="0"/>
                    <a:pt x="640080" y="0"/>
                  </a:cubicBezTo>
                  <a:cubicBezTo>
                    <a:pt x="993648" y="0"/>
                    <a:pt x="1280160" y="286512"/>
                    <a:pt x="1280160" y="640080"/>
                  </a:cubicBezTo>
                  <a:cubicBezTo>
                    <a:pt x="1280160" y="993648"/>
                    <a:pt x="993648" y="1280160"/>
                    <a:pt x="640080" y="1280160"/>
                  </a:cubicBezTo>
                  <a:cubicBezTo>
                    <a:pt x="286512" y="1280160"/>
                    <a:pt x="0" y="993648"/>
                    <a:pt x="0" y="640080"/>
                  </a:cubicBezTo>
                  <a:close/>
                </a:path>
              </a:pathLst>
            </a:custGeom>
            <a:solidFill>
              <a:srgbClr val="D9631E"/>
            </a:solidFill>
          </p:spPr>
        </p:sp>
      </p:grpSp>
      <p:grpSp>
        <p:nvGrpSpPr>
          <p:cNvPr name="Group 30" id="30"/>
          <p:cNvGrpSpPr/>
          <p:nvPr/>
        </p:nvGrpSpPr>
        <p:grpSpPr>
          <a:xfrm rot="0">
            <a:off x="8634222" y="3634740"/>
            <a:ext cx="960120" cy="960120"/>
            <a:chOff x="0" y="0"/>
            <a:chExt cx="1280160" cy="1280160"/>
          </a:xfrm>
        </p:grpSpPr>
        <p:sp>
          <p:nvSpPr>
            <p:cNvPr name="Freeform 31" id="31"/>
            <p:cNvSpPr/>
            <p:nvPr/>
          </p:nvSpPr>
          <p:spPr>
            <a:xfrm flipH="false" flipV="false" rot="0">
              <a:off x="0" y="0"/>
              <a:ext cx="1280160" cy="1280160"/>
            </a:xfrm>
            <a:custGeom>
              <a:avLst/>
              <a:gdLst/>
              <a:ahLst/>
              <a:cxnLst/>
              <a:rect r="r" b="b" t="t" l="l"/>
              <a:pathLst>
                <a:path h="1280160" w="1280160">
                  <a:moveTo>
                    <a:pt x="0" y="0"/>
                  </a:moveTo>
                  <a:lnTo>
                    <a:pt x="1280160" y="0"/>
                  </a:lnTo>
                  <a:lnTo>
                    <a:pt x="1280160" y="1280160"/>
                  </a:lnTo>
                  <a:lnTo>
                    <a:pt x="0" y="1280160"/>
                  </a:lnTo>
                  <a:close/>
                </a:path>
              </a:pathLst>
            </a:custGeom>
            <a:blipFill>
              <a:blip r:embed="rId3">
                <a:alphaModFix amt="0"/>
              </a:blip>
              <a:stretch>
                <a:fillRect l="-78303" t="0" r="-78303" b="0"/>
              </a:stretch>
            </a:blipFill>
          </p:spPr>
        </p:sp>
        <p:sp>
          <p:nvSpPr>
            <p:cNvPr name="TextBox 32" id="32"/>
            <p:cNvSpPr txBox="true"/>
            <p:nvPr/>
          </p:nvSpPr>
          <p:spPr>
            <a:xfrm>
              <a:off x="0" y="-57150"/>
              <a:ext cx="1280160" cy="1337310"/>
            </a:xfrm>
            <a:prstGeom prst="rect">
              <a:avLst/>
            </a:prstGeom>
          </p:spPr>
          <p:txBody>
            <a:bodyPr anchor="ctr" rtlCol="false" tIns="0" lIns="0" bIns="0" rIns="0"/>
            <a:lstStyle/>
            <a:p>
              <a:pPr algn="ctr">
                <a:lnSpc>
                  <a:spcPts val="2700"/>
                </a:lnSpc>
              </a:pPr>
              <a:r>
                <a:rPr lang="en-US" sz="2250" b="true">
                  <a:solidFill>
                    <a:srgbClr val="FFFFFF"/>
                  </a:solidFill>
                  <a:latin typeface="Calibri (MS) Bold"/>
                  <a:ea typeface="Calibri (MS) Bold"/>
                  <a:cs typeface="Calibri (MS) Bold"/>
                  <a:sym typeface="Calibri (MS) Bold"/>
                </a:rPr>
                <a:t>RS</a:t>
              </a:r>
            </a:p>
          </p:txBody>
        </p:sp>
      </p:grpSp>
      <p:grpSp>
        <p:nvGrpSpPr>
          <p:cNvPr name="Group 33" id="33"/>
          <p:cNvGrpSpPr/>
          <p:nvPr/>
        </p:nvGrpSpPr>
        <p:grpSpPr>
          <a:xfrm rot="0">
            <a:off x="6679692" y="4759452"/>
            <a:ext cx="4869180" cy="617220"/>
            <a:chOff x="0" y="0"/>
            <a:chExt cx="6492240" cy="822960"/>
          </a:xfrm>
        </p:grpSpPr>
        <p:sp>
          <p:nvSpPr>
            <p:cNvPr name="Freeform 34" id="34"/>
            <p:cNvSpPr/>
            <p:nvPr/>
          </p:nvSpPr>
          <p:spPr>
            <a:xfrm flipH="false" flipV="false" rot="0">
              <a:off x="0" y="0"/>
              <a:ext cx="6492240" cy="822960"/>
            </a:xfrm>
            <a:custGeom>
              <a:avLst/>
              <a:gdLst/>
              <a:ahLst/>
              <a:cxnLst/>
              <a:rect r="r" b="b" t="t" l="l"/>
              <a:pathLst>
                <a:path h="822960" w="6492240">
                  <a:moveTo>
                    <a:pt x="0" y="0"/>
                  </a:moveTo>
                  <a:lnTo>
                    <a:pt x="6492240" y="0"/>
                  </a:lnTo>
                  <a:lnTo>
                    <a:pt x="6492240" y="822960"/>
                  </a:lnTo>
                  <a:lnTo>
                    <a:pt x="0" y="822960"/>
                  </a:lnTo>
                  <a:close/>
                </a:path>
              </a:pathLst>
            </a:custGeom>
            <a:blipFill>
              <a:blip r:embed="rId3">
                <a:alphaModFix amt="0"/>
              </a:blip>
              <a:stretch>
                <a:fillRect l="0" t="-103715" r="0" b="-103715"/>
              </a:stretch>
            </a:blipFill>
          </p:spPr>
        </p:sp>
        <p:sp>
          <p:nvSpPr>
            <p:cNvPr name="TextBox 35" id="35"/>
            <p:cNvSpPr txBox="true"/>
            <p:nvPr/>
          </p:nvSpPr>
          <p:spPr>
            <a:xfrm>
              <a:off x="0" y="-9525"/>
              <a:ext cx="6492240" cy="832485"/>
            </a:xfrm>
            <a:prstGeom prst="rect">
              <a:avLst/>
            </a:prstGeom>
          </p:spPr>
          <p:txBody>
            <a:bodyPr anchor="ctr" rtlCol="false" tIns="0" lIns="0" bIns="0" rIns="0"/>
            <a:lstStyle/>
            <a:p>
              <a:pPr algn="ctr">
                <a:lnSpc>
                  <a:spcPts val="3419"/>
                </a:lnSpc>
              </a:pPr>
              <a:r>
                <a:rPr lang="en-US" sz="2850" b="true">
                  <a:solidFill>
                    <a:srgbClr val="1E2761"/>
                  </a:solidFill>
                  <a:latin typeface="Cambria Bold"/>
                  <a:ea typeface="Cambria Bold"/>
                  <a:cs typeface="Cambria Bold"/>
                  <a:sym typeface="Cambria Bold"/>
                </a:rPr>
                <a:t>Respond</a:t>
              </a:r>
            </a:p>
          </p:txBody>
        </p:sp>
      </p:grpSp>
      <p:sp>
        <p:nvSpPr>
          <p:cNvPr name="TextBox 36" id="36"/>
          <p:cNvSpPr txBox="true"/>
          <p:nvPr/>
        </p:nvSpPr>
        <p:spPr>
          <a:xfrm rot="0">
            <a:off x="7182612" y="5427345"/>
            <a:ext cx="3863340" cy="1659255"/>
          </a:xfrm>
          <a:prstGeom prst="rect">
            <a:avLst/>
          </a:prstGeom>
        </p:spPr>
        <p:txBody>
          <a:bodyPr anchor="t" rtlCol="false" tIns="0" lIns="0" bIns="0" rIns="0">
            <a:spAutoFit/>
          </a:bodyPr>
          <a:lstStyle/>
          <a:p>
            <a:pPr algn="ctr">
              <a:lnSpc>
                <a:spcPts val="2925"/>
              </a:lnSpc>
            </a:pPr>
            <a:r>
              <a:rPr lang="en-US" sz="1875">
                <a:solidFill>
                  <a:srgbClr val="23262F"/>
                </a:solidFill>
                <a:latin typeface="Calibri (MS)"/>
                <a:ea typeface="Calibri (MS)"/>
                <a:cs typeface="Calibri (MS)"/>
                <a:sym typeface="Calibri (MS)"/>
              </a:rPr>
              <a:t>Act on what was found — contain it, communicate it, stop it from spreading further.</a:t>
            </a:r>
          </a:p>
        </p:txBody>
      </p:sp>
      <p:grpSp>
        <p:nvGrpSpPr>
          <p:cNvPr name="Group 37" id="37"/>
          <p:cNvGrpSpPr/>
          <p:nvPr/>
        </p:nvGrpSpPr>
        <p:grpSpPr>
          <a:xfrm rot="5400000">
            <a:off x="11631168" y="5088636"/>
            <a:ext cx="411480" cy="384048"/>
            <a:chOff x="0" y="0"/>
            <a:chExt cx="548640" cy="512064"/>
          </a:xfrm>
        </p:grpSpPr>
        <p:sp>
          <p:nvSpPr>
            <p:cNvPr name="Freeform 38" id="38"/>
            <p:cNvSpPr/>
            <p:nvPr/>
          </p:nvSpPr>
          <p:spPr>
            <a:xfrm flipH="false" flipV="false" rot="0">
              <a:off x="0" y="0"/>
              <a:ext cx="548640" cy="512064"/>
            </a:xfrm>
            <a:custGeom>
              <a:avLst/>
              <a:gdLst/>
              <a:ahLst/>
              <a:cxnLst/>
              <a:rect r="r" b="b" t="t" l="l"/>
              <a:pathLst>
                <a:path h="512064" w="548640">
                  <a:moveTo>
                    <a:pt x="0" y="512064"/>
                  </a:moveTo>
                  <a:lnTo>
                    <a:pt x="274320" y="0"/>
                  </a:lnTo>
                  <a:lnTo>
                    <a:pt x="548640" y="512064"/>
                  </a:lnTo>
                  <a:close/>
                </a:path>
              </a:pathLst>
            </a:custGeom>
            <a:solidFill>
              <a:srgbClr val="00B4D8"/>
            </a:solidFill>
          </p:spPr>
        </p:sp>
      </p:grpSp>
      <p:grpSp>
        <p:nvGrpSpPr>
          <p:cNvPr name="Group 39" id="39"/>
          <p:cNvGrpSpPr/>
          <p:nvPr/>
        </p:nvGrpSpPr>
        <p:grpSpPr>
          <a:xfrm rot="0">
            <a:off x="12124944" y="3223260"/>
            <a:ext cx="4869180" cy="4114800"/>
            <a:chOff x="0" y="0"/>
            <a:chExt cx="6492240" cy="5486400"/>
          </a:xfrm>
        </p:grpSpPr>
        <p:sp>
          <p:nvSpPr>
            <p:cNvPr name="Freeform 40" id="40"/>
            <p:cNvSpPr/>
            <p:nvPr/>
          </p:nvSpPr>
          <p:spPr>
            <a:xfrm flipH="false" flipV="false" rot="0">
              <a:off x="0" y="0"/>
              <a:ext cx="6492240" cy="5486400"/>
            </a:xfrm>
            <a:custGeom>
              <a:avLst/>
              <a:gdLst/>
              <a:ahLst/>
              <a:cxnLst/>
              <a:rect r="r" b="b" t="t" l="l"/>
              <a:pathLst>
                <a:path h="5486400" w="6492240">
                  <a:moveTo>
                    <a:pt x="0" y="182880"/>
                  </a:moveTo>
                  <a:cubicBezTo>
                    <a:pt x="0" y="81915"/>
                    <a:pt x="81915" y="0"/>
                    <a:pt x="182880" y="0"/>
                  </a:cubicBezTo>
                  <a:lnTo>
                    <a:pt x="6309360" y="0"/>
                  </a:lnTo>
                  <a:cubicBezTo>
                    <a:pt x="6410325" y="0"/>
                    <a:pt x="6492240" y="81915"/>
                    <a:pt x="6492240" y="182880"/>
                  </a:cubicBezTo>
                  <a:lnTo>
                    <a:pt x="6492240" y="5303520"/>
                  </a:lnTo>
                  <a:cubicBezTo>
                    <a:pt x="6492240" y="5404485"/>
                    <a:pt x="6410325" y="5486400"/>
                    <a:pt x="6309360" y="5486400"/>
                  </a:cubicBezTo>
                  <a:lnTo>
                    <a:pt x="182880" y="5486400"/>
                  </a:lnTo>
                  <a:cubicBezTo>
                    <a:pt x="81915" y="5486400"/>
                    <a:pt x="0" y="5404485"/>
                    <a:pt x="0" y="5303520"/>
                  </a:cubicBezTo>
                  <a:close/>
                </a:path>
              </a:pathLst>
            </a:custGeom>
            <a:solidFill>
              <a:srgbClr val="F4F7FC"/>
            </a:solidFill>
          </p:spPr>
        </p:sp>
      </p:grpSp>
      <p:grpSp>
        <p:nvGrpSpPr>
          <p:cNvPr name="Group 41" id="41"/>
          <p:cNvGrpSpPr/>
          <p:nvPr/>
        </p:nvGrpSpPr>
        <p:grpSpPr>
          <a:xfrm rot="0">
            <a:off x="14079474" y="3634740"/>
            <a:ext cx="960120" cy="960120"/>
            <a:chOff x="0" y="0"/>
            <a:chExt cx="1280160" cy="1280160"/>
          </a:xfrm>
        </p:grpSpPr>
        <p:sp>
          <p:nvSpPr>
            <p:cNvPr name="Freeform 42" id="42"/>
            <p:cNvSpPr/>
            <p:nvPr/>
          </p:nvSpPr>
          <p:spPr>
            <a:xfrm flipH="false" flipV="false" rot="0">
              <a:off x="0" y="0"/>
              <a:ext cx="1280160" cy="1280160"/>
            </a:xfrm>
            <a:custGeom>
              <a:avLst/>
              <a:gdLst/>
              <a:ahLst/>
              <a:cxnLst/>
              <a:rect r="r" b="b" t="t" l="l"/>
              <a:pathLst>
                <a:path h="1280160" w="1280160">
                  <a:moveTo>
                    <a:pt x="0" y="640080"/>
                  </a:moveTo>
                  <a:cubicBezTo>
                    <a:pt x="0" y="286512"/>
                    <a:pt x="286512" y="0"/>
                    <a:pt x="640080" y="0"/>
                  </a:cubicBezTo>
                  <a:cubicBezTo>
                    <a:pt x="993648" y="0"/>
                    <a:pt x="1280160" y="286512"/>
                    <a:pt x="1280160" y="640080"/>
                  </a:cubicBezTo>
                  <a:cubicBezTo>
                    <a:pt x="1280160" y="993648"/>
                    <a:pt x="993648" y="1280160"/>
                    <a:pt x="640080" y="1280160"/>
                  </a:cubicBezTo>
                  <a:cubicBezTo>
                    <a:pt x="286512" y="1280160"/>
                    <a:pt x="0" y="993648"/>
                    <a:pt x="0" y="640080"/>
                  </a:cubicBezTo>
                  <a:close/>
                </a:path>
              </a:pathLst>
            </a:custGeom>
            <a:solidFill>
              <a:srgbClr val="2E9E6B"/>
            </a:solidFill>
          </p:spPr>
        </p:sp>
      </p:grpSp>
      <p:grpSp>
        <p:nvGrpSpPr>
          <p:cNvPr name="Group 43" id="43"/>
          <p:cNvGrpSpPr/>
          <p:nvPr/>
        </p:nvGrpSpPr>
        <p:grpSpPr>
          <a:xfrm rot="0">
            <a:off x="14079474" y="3634740"/>
            <a:ext cx="960120" cy="960120"/>
            <a:chOff x="0" y="0"/>
            <a:chExt cx="1280160" cy="1280160"/>
          </a:xfrm>
        </p:grpSpPr>
        <p:sp>
          <p:nvSpPr>
            <p:cNvPr name="Freeform 44" id="44"/>
            <p:cNvSpPr/>
            <p:nvPr/>
          </p:nvSpPr>
          <p:spPr>
            <a:xfrm flipH="false" flipV="false" rot="0">
              <a:off x="0" y="0"/>
              <a:ext cx="1280160" cy="1280160"/>
            </a:xfrm>
            <a:custGeom>
              <a:avLst/>
              <a:gdLst/>
              <a:ahLst/>
              <a:cxnLst/>
              <a:rect r="r" b="b" t="t" l="l"/>
              <a:pathLst>
                <a:path h="1280160" w="1280160">
                  <a:moveTo>
                    <a:pt x="0" y="0"/>
                  </a:moveTo>
                  <a:lnTo>
                    <a:pt x="1280160" y="0"/>
                  </a:lnTo>
                  <a:lnTo>
                    <a:pt x="1280160" y="1280160"/>
                  </a:lnTo>
                  <a:lnTo>
                    <a:pt x="0" y="1280160"/>
                  </a:lnTo>
                  <a:close/>
                </a:path>
              </a:pathLst>
            </a:custGeom>
            <a:blipFill>
              <a:blip r:embed="rId3">
                <a:alphaModFix amt="0"/>
              </a:blip>
              <a:stretch>
                <a:fillRect l="-78303" t="0" r="-78303" b="0"/>
              </a:stretch>
            </a:blipFill>
          </p:spPr>
        </p:sp>
        <p:sp>
          <p:nvSpPr>
            <p:cNvPr name="TextBox 45" id="45"/>
            <p:cNvSpPr txBox="true"/>
            <p:nvPr/>
          </p:nvSpPr>
          <p:spPr>
            <a:xfrm>
              <a:off x="0" y="-57150"/>
              <a:ext cx="1280160" cy="1337310"/>
            </a:xfrm>
            <a:prstGeom prst="rect">
              <a:avLst/>
            </a:prstGeom>
          </p:spPr>
          <p:txBody>
            <a:bodyPr anchor="ctr" rtlCol="false" tIns="0" lIns="0" bIns="0" rIns="0"/>
            <a:lstStyle/>
            <a:p>
              <a:pPr algn="ctr">
                <a:lnSpc>
                  <a:spcPts val="2700"/>
                </a:lnSpc>
              </a:pPr>
              <a:r>
                <a:rPr lang="en-US" sz="2250" b="true">
                  <a:solidFill>
                    <a:srgbClr val="FFFFFF"/>
                  </a:solidFill>
                  <a:latin typeface="Calibri (MS) Bold"/>
                  <a:ea typeface="Calibri (MS) Bold"/>
                  <a:cs typeface="Calibri (MS) Bold"/>
                  <a:sym typeface="Calibri (MS) Bold"/>
                </a:rPr>
                <a:t>RC</a:t>
              </a:r>
            </a:p>
          </p:txBody>
        </p:sp>
      </p:grpSp>
      <p:grpSp>
        <p:nvGrpSpPr>
          <p:cNvPr name="Group 46" id="46"/>
          <p:cNvGrpSpPr/>
          <p:nvPr/>
        </p:nvGrpSpPr>
        <p:grpSpPr>
          <a:xfrm rot="0">
            <a:off x="12124944" y="4759452"/>
            <a:ext cx="4869180" cy="617220"/>
            <a:chOff x="0" y="0"/>
            <a:chExt cx="6492240" cy="822960"/>
          </a:xfrm>
        </p:grpSpPr>
        <p:sp>
          <p:nvSpPr>
            <p:cNvPr name="Freeform 47" id="47"/>
            <p:cNvSpPr/>
            <p:nvPr/>
          </p:nvSpPr>
          <p:spPr>
            <a:xfrm flipH="false" flipV="false" rot="0">
              <a:off x="0" y="0"/>
              <a:ext cx="6492240" cy="822960"/>
            </a:xfrm>
            <a:custGeom>
              <a:avLst/>
              <a:gdLst/>
              <a:ahLst/>
              <a:cxnLst/>
              <a:rect r="r" b="b" t="t" l="l"/>
              <a:pathLst>
                <a:path h="822960" w="6492240">
                  <a:moveTo>
                    <a:pt x="0" y="0"/>
                  </a:moveTo>
                  <a:lnTo>
                    <a:pt x="6492240" y="0"/>
                  </a:lnTo>
                  <a:lnTo>
                    <a:pt x="6492240" y="822960"/>
                  </a:lnTo>
                  <a:lnTo>
                    <a:pt x="0" y="822960"/>
                  </a:lnTo>
                  <a:close/>
                </a:path>
              </a:pathLst>
            </a:custGeom>
            <a:blipFill>
              <a:blip r:embed="rId3">
                <a:alphaModFix amt="0"/>
              </a:blip>
              <a:stretch>
                <a:fillRect l="0" t="-103715" r="0" b="-103715"/>
              </a:stretch>
            </a:blipFill>
          </p:spPr>
        </p:sp>
        <p:sp>
          <p:nvSpPr>
            <p:cNvPr name="TextBox 48" id="48"/>
            <p:cNvSpPr txBox="true"/>
            <p:nvPr/>
          </p:nvSpPr>
          <p:spPr>
            <a:xfrm>
              <a:off x="0" y="-9525"/>
              <a:ext cx="6492240" cy="832485"/>
            </a:xfrm>
            <a:prstGeom prst="rect">
              <a:avLst/>
            </a:prstGeom>
          </p:spPr>
          <p:txBody>
            <a:bodyPr anchor="ctr" rtlCol="false" tIns="0" lIns="0" bIns="0" rIns="0"/>
            <a:lstStyle/>
            <a:p>
              <a:pPr algn="ctr">
                <a:lnSpc>
                  <a:spcPts val="3419"/>
                </a:lnSpc>
              </a:pPr>
              <a:r>
                <a:rPr lang="en-US" sz="2850" b="true">
                  <a:solidFill>
                    <a:srgbClr val="1E2761"/>
                  </a:solidFill>
                  <a:latin typeface="Cambria Bold"/>
                  <a:ea typeface="Cambria Bold"/>
                  <a:cs typeface="Cambria Bold"/>
                  <a:sym typeface="Cambria Bold"/>
                </a:rPr>
                <a:t>Recover</a:t>
              </a:r>
            </a:p>
          </p:txBody>
        </p:sp>
      </p:grpSp>
      <p:sp>
        <p:nvSpPr>
          <p:cNvPr name="TextBox 49" id="49"/>
          <p:cNvSpPr txBox="true"/>
          <p:nvPr/>
        </p:nvSpPr>
        <p:spPr>
          <a:xfrm rot="0">
            <a:off x="12627864" y="5427345"/>
            <a:ext cx="3863340" cy="1659255"/>
          </a:xfrm>
          <a:prstGeom prst="rect">
            <a:avLst/>
          </a:prstGeom>
        </p:spPr>
        <p:txBody>
          <a:bodyPr anchor="t" rtlCol="false" tIns="0" lIns="0" bIns="0" rIns="0">
            <a:spAutoFit/>
          </a:bodyPr>
          <a:lstStyle/>
          <a:p>
            <a:pPr algn="ctr">
              <a:lnSpc>
                <a:spcPts val="2925"/>
              </a:lnSpc>
            </a:pPr>
            <a:r>
              <a:rPr lang="en-US" sz="1875">
                <a:solidFill>
                  <a:srgbClr val="23262F"/>
                </a:solidFill>
                <a:latin typeface="Calibri (MS)"/>
                <a:ea typeface="Calibri (MS)"/>
                <a:cs typeface="Calibri (MS)"/>
                <a:sym typeface="Calibri (MS)"/>
              </a:rPr>
              <a:t>Restore what the incident affected and get back to normal operations.</a:t>
            </a:r>
          </a:p>
        </p:txBody>
      </p:sp>
      <p:grpSp>
        <p:nvGrpSpPr>
          <p:cNvPr name="Group 50" id="50"/>
          <p:cNvGrpSpPr/>
          <p:nvPr/>
        </p:nvGrpSpPr>
        <p:grpSpPr>
          <a:xfrm rot="0">
            <a:off x="685800" y="9710928"/>
            <a:ext cx="10972800" cy="411480"/>
            <a:chOff x="0" y="0"/>
            <a:chExt cx="14630400" cy="548640"/>
          </a:xfrm>
        </p:grpSpPr>
        <p:sp>
          <p:nvSpPr>
            <p:cNvPr name="Freeform 51" id="51"/>
            <p:cNvSpPr/>
            <p:nvPr/>
          </p:nvSpPr>
          <p:spPr>
            <a:xfrm flipH="false" flipV="false" rot="0">
              <a:off x="0" y="0"/>
              <a:ext cx="14630400" cy="548640"/>
            </a:xfrm>
            <a:custGeom>
              <a:avLst/>
              <a:gdLst/>
              <a:ahLst/>
              <a:cxnLst/>
              <a:rect r="r" b="b" t="t" l="l"/>
              <a:pathLst>
                <a:path h="548640" w="14630400">
                  <a:moveTo>
                    <a:pt x="0" y="0"/>
                  </a:moveTo>
                  <a:lnTo>
                    <a:pt x="14630400" y="0"/>
                  </a:lnTo>
                  <a:lnTo>
                    <a:pt x="14630400" y="548640"/>
                  </a:lnTo>
                  <a:lnTo>
                    <a:pt x="0" y="548640"/>
                  </a:lnTo>
                  <a:close/>
                </a:path>
              </a:pathLst>
            </a:custGeom>
            <a:blipFill>
              <a:blip r:embed="rId3">
                <a:alphaModFix amt="0"/>
              </a:blip>
              <a:stretch>
                <a:fillRect l="0" t="-469601" r="0" b="-469601"/>
              </a:stretch>
            </a:blipFill>
          </p:spPr>
        </p:sp>
        <p:sp>
          <p:nvSpPr>
            <p:cNvPr name="TextBox 52" id="52"/>
            <p:cNvSpPr txBox="true"/>
            <p:nvPr/>
          </p:nvSpPr>
          <p:spPr>
            <a:xfrm>
              <a:off x="0" y="-38100"/>
              <a:ext cx="14630400" cy="586740"/>
            </a:xfrm>
            <a:prstGeom prst="rect">
              <a:avLst/>
            </a:prstGeom>
          </p:spPr>
          <p:txBody>
            <a:bodyPr anchor="ctr" rtlCol="false" tIns="0" lIns="0" bIns="0" rIns="0"/>
            <a:lstStyle/>
            <a:p>
              <a:pPr algn="l">
                <a:lnSpc>
                  <a:spcPts val="1800"/>
                </a:lnSpc>
              </a:pPr>
              <a:r>
                <a:rPr lang="en-US" sz="1500">
                  <a:solidFill>
                    <a:srgbClr val="6B7280"/>
                  </a:solidFill>
                  <a:latin typeface="Calibri (MS)"/>
                  <a:ea typeface="Calibri (MS)"/>
                  <a:cs typeface="Calibri (MS)"/>
                  <a:sym typeface="Calibri (MS)"/>
                </a:rPr>
                <a:t>Davao del Norte Provincial Government — Cybersecurity Seminar</a:t>
              </a:r>
            </a:p>
          </p:txBody>
        </p:sp>
      </p:grpSp>
      <p:grpSp>
        <p:nvGrpSpPr>
          <p:cNvPr name="Group 53" id="53"/>
          <p:cNvGrpSpPr/>
          <p:nvPr/>
        </p:nvGrpSpPr>
        <p:grpSpPr>
          <a:xfrm rot="0">
            <a:off x="16911828" y="9710928"/>
            <a:ext cx="685800" cy="411480"/>
            <a:chOff x="0" y="0"/>
            <a:chExt cx="914400" cy="548640"/>
          </a:xfrm>
        </p:grpSpPr>
        <p:sp>
          <p:nvSpPr>
            <p:cNvPr name="Freeform 54" id="54"/>
            <p:cNvSpPr/>
            <p:nvPr/>
          </p:nvSpPr>
          <p:spPr>
            <a:xfrm flipH="false" flipV="false" rot="0">
              <a:off x="0" y="0"/>
              <a:ext cx="914400" cy="548640"/>
            </a:xfrm>
            <a:custGeom>
              <a:avLst/>
              <a:gdLst/>
              <a:ahLst/>
              <a:cxnLst/>
              <a:rect r="r" b="b" t="t" l="l"/>
              <a:pathLst>
                <a:path h="548640" w="914400">
                  <a:moveTo>
                    <a:pt x="0" y="0"/>
                  </a:moveTo>
                  <a:lnTo>
                    <a:pt x="914400" y="0"/>
                  </a:lnTo>
                  <a:lnTo>
                    <a:pt x="914400" y="548640"/>
                  </a:lnTo>
                  <a:lnTo>
                    <a:pt x="0" y="548640"/>
                  </a:lnTo>
                  <a:close/>
                </a:path>
              </a:pathLst>
            </a:custGeom>
            <a:blipFill>
              <a:blip r:embed="rId3">
                <a:alphaModFix amt="0"/>
              </a:blip>
              <a:stretch>
                <a:fillRect l="-26982" t="0" r="-26982" b="0"/>
              </a:stretch>
            </a:blipFill>
          </p:spPr>
        </p:sp>
        <p:sp>
          <p:nvSpPr>
            <p:cNvPr name="TextBox 55" id="55"/>
            <p:cNvSpPr txBox="true"/>
            <p:nvPr/>
          </p:nvSpPr>
          <p:spPr>
            <a:xfrm>
              <a:off x="0" y="-38100"/>
              <a:ext cx="914400" cy="586740"/>
            </a:xfrm>
            <a:prstGeom prst="rect">
              <a:avLst/>
            </a:prstGeom>
          </p:spPr>
          <p:txBody>
            <a:bodyPr anchor="ctr" rtlCol="false" tIns="0" lIns="0" bIns="0" rIns="0"/>
            <a:lstStyle/>
            <a:p>
              <a:pPr algn="r">
                <a:lnSpc>
                  <a:spcPts val="1800"/>
                </a:lnSpc>
              </a:pPr>
              <a:r>
                <a:rPr lang="en-US" sz="1500">
                  <a:solidFill>
                    <a:srgbClr val="6B7280"/>
                  </a:solidFill>
                  <a:latin typeface="Calibri (MS)"/>
                  <a:ea typeface="Calibri (MS)"/>
                  <a:cs typeface="Calibri (MS)"/>
                  <a:sym typeface="Calibri (MS)"/>
                </a:rPr>
                <a:t>6</a:t>
              </a:r>
            </a:p>
          </p:txBody>
        </p:sp>
      </p:grpSp>
    </p:spTree>
  </p:cSld>
  <p:clrMapOvr>
    <a:masterClrMapping/>
  </p:clrMapOvr>
</p:sld>
</file>

<file path=ppt/slides/slide7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754380" y="685800"/>
            <a:ext cx="850392" cy="850392"/>
            <a:chOff x="0" y="0"/>
            <a:chExt cx="1133856" cy="1133856"/>
          </a:xfrm>
        </p:grpSpPr>
        <p:sp>
          <p:nvSpPr>
            <p:cNvPr name="Freeform 3" id="3"/>
            <p:cNvSpPr/>
            <p:nvPr/>
          </p:nvSpPr>
          <p:spPr>
            <a:xfrm flipH="false" flipV="false" rot="0">
              <a:off x="0" y="0"/>
              <a:ext cx="1133856" cy="1133856"/>
            </a:xfrm>
            <a:custGeom>
              <a:avLst/>
              <a:gdLst/>
              <a:ahLst/>
              <a:cxnLst/>
              <a:rect r="r" b="b" t="t" l="l"/>
              <a:pathLst>
                <a:path h="1133856" w="1133856">
                  <a:moveTo>
                    <a:pt x="0" y="566928"/>
                  </a:moveTo>
                  <a:cubicBezTo>
                    <a:pt x="0" y="253873"/>
                    <a:pt x="253873" y="0"/>
                    <a:pt x="566928" y="0"/>
                  </a:cubicBezTo>
                  <a:cubicBezTo>
                    <a:pt x="879983" y="0"/>
                    <a:pt x="1133856" y="253873"/>
                    <a:pt x="1133856" y="566928"/>
                  </a:cubicBezTo>
                  <a:cubicBezTo>
                    <a:pt x="1133856" y="879983"/>
                    <a:pt x="879983" y="1133856"/>
                    <a:pt x="566928" y="1133856"/>
                  </a:cubicBezTo>
                  <a:cubicBezTo>
                    <a:pt x="253873" y="1133856"/>
                    <a:pt x="0" y="879983"/>
                    <a:pt x="0" y="566928"/>
                  </a:cubicBezTo>
                  <a:close/>
                </a:path>
              </a:pathLst>
            </a:custGeom>
            <a:solidFill>
              <a:srgbClr val="1E2761"/>
            </a:solidFill>
          </p:spPr>
        </p:sp>
      </p:grpSp>
      <p:grpSp>
        <p:nvGrpSpPr>
          <p:cNvPr name="Group 4" id="4"/>
          <p:cNvGrpSpPr/>
          <p:nvPr/>
        </p:nvGrpSpPr>
        <p:grpSpPr>
          <a:xfrm rot="0">
            <a:off x="932688" y="864108"/>
            <a:ext cx="493776" cy="493776"/>
            <a:chOff x="0" y="0"/>
            <a:chExt cx="658368" cy="658368"/>
          </a:xfrm>
        </p:grpSpPr>
        <p:sp>
          <p:nvSpPr>
            <p:cNvPr name="Freeform 5" id="5" descr="flask.png"/>
            <p:cNvSpPr/>
            <p:nvPr/>
          </p:nvSpPr>
          <p:spPr>
            <a:xfrm flipH="false" flipV="false" rot="0">
              <a:off x="0" y="0"/>
              <a:ext cx="658368" cy="658368"/>
            </a:xfrm>
            <a:custGeom>
              <a:avLst/>
              <a:gdLst/>
              <a:ahLst/>
              <a:cxnLst/>
              <a:rect r="r" b="b" t="t" l="l"/>
              <a:pathLst>
                <a:path h="658368" w="658368">
                  <a:moveTo>
                    <a:pt x="0" y="0"/>
                  </a:moveTo>
                  <a:lnTo>
                    <a:pt x="658368" y="0"/>
                  </a:lnTo>
                  <a:lnTo>
                    <a:pt x="658368" y="658368"/>
                  </a:lnTo>
                  <a:lnTo>
                    <a:pt x="0" y="658368"/>
                  </a:lnTo>
                  <a:lnTo>
                    <a:pt x="0" y="0"/>
                  </a:lnTo>
                  <a:close/>
                </a:path>
              </a:pathLst>
            </a:custGeom>
            <a:blipFill>
              <a:blip r:embed="rId2"/>
              <a:stretch>
                <a:fillRect l="0" t="0" r="0" b="0"/>
              </a:stretch>
            </a:blipFill>
          </p:spPr>
        </p:sp>
      </p:grpSp>
      <p:grpSp>
        <p:nvGrpSpPr>
          <p:cNvPr name="Group 6" id="6"/>
          <p:cNvGrpSpPr/>
          <p:nvPr/>
        </p:nvGrpSpPr>
        <p:grpSpPr>
          <a:xfrm rot="0">
            <a:off x="1851660" y="603504"/>
            <a:ext cx="13716000" cy="466344"/>
            <a:chOff x="0" y="0"/>
            <a:chExt cx="18288000" cy="621792"/>
          </a:xfrm>
        </p:grpSpPr>
        <p:sp>
          <p:nvSpPr>
            <p:cNvPr name="Freeform 7" id="7"/>
            <p:cNvSpPr/>
            <p:nvPr/>
          </p:nvSpPr>
          <p:spPr>
            <a:xfrm flipH="false" flipV="false" rot="0">
              <a:off x="0" y="0"/>
              <a:ext cx="18288000" cy="621792"/>
            </a:xfrm>
            <a:custGeom>
              <a:avLst/>
              <a:gdLst/>
              <a:ahLst/>
              <a:cxnLst/>
              <a:rect r="r" b="b" t="t" l="l"/>
              <a:pathLst>
                <a:path h="621792" w="18288000">
                  <a:moveTo>
                    <a:pt x="0" y="0"/>
                  </a:moveTo>
                  <a:lnTo>
                    <a:pt x="18288000" y="0"/>
                  </a:lnTo>
                  <a:lnTo>
                    <a:pt x="18288000" y="621792"/>
                  </a:lnTo>
                  <a:lnTo>
                    <a:pt x="0" y="621792"/>
                  </a:lnTo>
                  <a:close/>
                </a:path>
              </a:pathLst>
            </a:custGeom>
            <a:blipFill>
              <a:blip r:embed="rId3">
                <a:alphaModFix amt="0"/>
              </a:blip>
              <a:stretch>
                <a:fillRect l="0" t="-523089" r="0" b="-523089"/>
              </a:stretch>
            </a:blipFill>
          </p:spPr>
        </p:sp>
        <p:sp>
          <p:nvSpPr>
            <p:cNvPr name="TextBox 8" id="8"/>
            <p:cNvSpPr txBox="true"/>
            <p:nvPr/>
          </p:nvSpPr>
          <p:spPr>
            <a:xfrm>
              <a:off x="0" y="-47625"/>
              <a:ext cx="18288000" cy="669417"/>
            </a:xfrm>
            <a:prstGeom prst="rect">
              <a:avLst/>
            </a:prstGeom>
          </p:spPr>
          <p:txBody>
            <a:bodyPr anchor="ctr" rtlCol="false" tIns="0" lIns="0" bIns="0" rIns="0"/>
            <a:lstStyle/>
            <a:p>
              <a:pPr algn="l">
                <a:lnSpc>
                  <a:spcPts val="2340"/>
                </a:lnSpc>
              </a:pPr>
              <a:r>
                <a:rPr lang="en-US" b="true" sz="1950" spc="150">
                  <a:solidFill>
                    <a:srgbClr val="00B4D8"/>
                  </a:solidFill>
                  <a:latin typeface="Calibri (MS) Bold"/>
                  <a:ea typeface="Calibri (MS) Bold"/>
                  <a:cs typeface="Calibri (MS) Bold"/>
                  <a:sym typeface="Calibri (MS) Bold"/>
                </a:rPr>
                <a:t>NIST CSF 2.0</a:t>
              </a:r>
            </a:p>
          </p:txBody>
        </p:sp>
      </p:grpSp>
      <p:grpSp>
        <p:nvGrpSpPr>
          <p:cNvPr name="Group 9" id="9"/>
          <p:cNvGrpSpPr/>
          <p:nvPr/>
        </p:nvGrpSpPr>
        <p:grpSpPr>
          <a:xfrm rot="0">
            <a:off x="1824228" y="987552"/>
            <a:ext cx="15361920" cy="850392"/>
            <a:chOff x="0" y="0"/>
            <a:chExt cx="20482560" cy="1133856"/>
          </a:xfrm>
        </p:grpSpPr>
        <p:sp>
          <p:nvSpPr>
            <p:cNvPr name="Freeform 10" id="10"/>
            <p:cNvSpPr/>
            <p:nvPr/>
          </p:nvSpPr>
          <p:spPr>
            <a:xfrm flipH="false" flipV="false" rot="0">
              <a:off x="0" y="0"/>
              <a:ext cx="20482561" cy="1133856"/>
            </a:xfrm>
            <a:custGeom>
              <a:avLst/>
              <a:gdLst/>
              <a:ahLst/>
              <a:cxnLst/>
              <a:rect r="r" b="b" t="t" l="l"/>
              <a:pathLst>
                <a:path h="1133856" w="20482561">
                  <a:moveTo>
                    <a:pt x="0" y="0"/>
                  </a:moveTo>
                  <a:lnTo>
                    <a:pt x="20482561" y="0"/>
                  </a:lnTo>
                  <a:lnTo>
                    <a:pt x="20482561" y="1133856"/>
                  </a:lnTo>
                  <a:lnTo>
                    <a:pt x="0" y="1133856"/>
                  </a:lnTo>
                  <a:close/>
                </a:path>
              </a:pathLst>
            </a:custGeom>
            <a:blipFill>
              <a:blip r:embed="rId3">
                <a:alphaModFix amt="0"/>
              </a:blip>
              <a:stretch>
                <a:fillRect l="0" t="-301987" r="0" b="-301987"/>
              </a:stretch>
            </a:blipFill>
          </p:spPr>
        </p:sp>
        <p:sp>
          <p:nvSpPr>
            <p:cNvPr name="TextBox 11" id="11"/>
            <p:cNvSpPr txBox="true"/>
            <p:nvPr/>
          </p:nvSpPr>
          <p:spPr>
            <a:xfrm>
              <a:off x="0" y="-9525"/>
              <a:ext cx="20482560" cy="1143381"/>
            </a:xfrm>
            <a:prstGeom prst="rect">
              <a:avLst/>
            </a:prstGeom>
          </p:spPr>
          <p:txBody>
            <a:bodyPr anchor="ctr" rtlCol="false" tIns="0" lIns="0" bIns="0" rIns="0"/>
            <a:lstStyle/>
            <a:p>
              <a:pPr algn="l">
                <a:lnSpc>
                  <a:spcPts val="5040"/>
                </a:lnSpc>
              </a:pPr>
              <a:r>
                <a:rPr lang="en-US" sz="4200" b="true">
                  <a:solidFill>
                    <a:srgbClr val="1E2761"/>
                  </a:solidFill>
                  <a:latin typeface="Cambria Bold"/>
                  <a:ea typeface="Cambria Bold"/>
                  <a:cs typeface="Cambria Bold"/>
                  <a:sym typeface="Cambria Bold"/>
                </a:rPr>
                <a:t>Profiles: Where You Are vs. Where You're Going</a:t>
              </a:r>
            </a:p>
          </p:txBody>
        </p:sp>
      </p:grpSp>
      <p:grpSp>
        <p:nvGrpSpPr>
          <p:cNvPr name="Group 12" id="12"/>
          <p:cNvGrpSpPr/>
          <p:nvPr/>
        </p:nvGrpSpPr>
        <p:grpSpPr>
          <a:xfrm rot="0">
            <a:off x="1234440" y="2674620"/>
            <a:ext cx="7338060" cy="1165860"/>
            <a:chOff x="0" y="0"/>
            <a:chExt cx="9784080" cy="1554480"/>
          </a:xfrm>
        </p:grpSpPr>
        <p:sp>
          <p:nvSpPr>
            <p:cNvPr name="Freeform 13" id="13"/>
            <p:cNvSpPr/>
            <p:nvPr/>
          </p:nvSpPr>
          <p:spPr>
            <a:xfrm flipH="false" flipV="false" rot="0">
              <a:off x="0" y="0"/>
              <a:ext cx="9784080" cy="1554480"/>
            </a:xfrm>
            <a:custGeom>
              <a:avLst/>
              <a:gdLst/>
              <a:ahLst/>
              <a:cxnLst/>
              <a:rect r="r" b="b" t="t" l="l"/>
              <a:pathLst>
                <a:path h="1554480" w="9784080">
                  <a:moveTo>
                    <a:pt x="0" y="164592"/>
                  </a:moveTo>
                  <a:cubicBezTo>
                    <a:pt x="0" y="73660"/>
                    <a:pt x="73660" y="0"/>
                    <a:pt x="164592" y="0"/>
                  </a:cubicBezTo>
                  <a:lnTo>
                    <a:pt x="9619488" y="0"/>
                  </a:lnTo>
                  <a:cubicBezTo>
                    <a:pt x="9710420" y="0"/>
                    <a:pt x="9784080" y="73660"/>
                    <a:pt x="9784080" y="164592"/>
                  </a:cubicBezTo>
                  <a:lnTo>
                    <a:pt x="9784080" y="1389888"/>
                  </a:lnTo>
                  <a:cubicBezTo>
                    <a:pt x="9784080" y="1480820"/>
                    <a:pt x="9710420" y="1554480"/>
                    <a:pt x="9619488" y="1554480"/>
                  </a:cubicBezTo>
                  <a:lnTo>
                    <a:pt x="164592" y="1554480"/>
                  </a:lnTo>
                  <a:cubicBezTo>
                    <a:pt x="73660" y="1554480"/>
                    <a:pt x="0" y="1480820"/>
                    <a:pt x="0" y="1389888"/>
                  </a:cubicBezTo>
                  <a:close/>
                </a:path>
              </a:pathLst>
            </a:custGeom>
            <a:solidFill>
              <a:srgbClr val="6B7280"/>
            </a:solidFill>
          </p:spPr>
        </p:sp>
      </p:grpSp>
      <p:grpSp>
        <p:nvGrpSpPr>
          <p:cNvPr name="Group 14" id="14"/>
          <p:cNvGrpSpPr/>
          <p:nvPr/>
        </p:nvGrpSpPr>
        <p:grpSpPr>
          <a:xfrm rot="0">
            <a:off x="1577340" y="2784348"/>
            <a:ext cx="6652260" cy="576072"/>
            <a:chOff x="0" y="0"/>
            <a:chExt cx="8869680" cy="768096"/>
          </a:xfrm>
        </p:grpSpPr>
        <p:sp>
          <p:nvSpPr>
            <p:cNvPr name="Freeform 15" id="15"/>
            <p:cNvSpPr/>
            <p:nvPr/>
          </p:nvSpPr>
          <p:spPr>
            <a:xfrm flipH="false" flipV="false" rot="0">
              <a:off x="0" y="0"/>
              <a:ext cx="8869680" cy="768096"/>
            </a:xfrm>
            <a:custGeom>
              <a:avLst/>
              <a:gdLst/>
              <a:ahLst/>
              <a:cxnLst/>
              <a:rect r="r" b="b" t="t" l="l"/>
              <a:pathLst>
                <a:path h="768096" w="8869680">
                  <a:moveTo>
                    <a:pt x="0" y="0"/>
                  </a:moveTo>
                  <a:lnTo>
                    <a:pt x="8869680" y="0"/>
                  </a:lnTo>
                  <a:lnTo>
                    <a:pt x="8869680" y="768096"/>
                  </a:lnTo>
                  <a:lnTo>
                    <a:pt x="0" y="768096"/>
                  </a:lnTo>
                  <a:close/>
                </a:path>
              </a:pathLst>
            </a:custGeom>
            <a:blipFill>
              <a:blip r:embed="rId3">
                <a:alphaModFix amt="0"/>
              </a:blip>
              <a:stretch>
                <a:fillRect l="0" t="-175005" r="0" b="-175005"/>
              </a:stretch>
            </a:blipFill>
          </p:spPr>
        </p:sp>
        <p:sp>
          <p:nvSpPr>
            <p:cNvPr name="TextBox 16" id="16"/>
            <p:cNvSpPr txBox="true"/>
            <p:nvPr/>
          </p:nvSpPr>
          <p:spPr>
            <a:xfrm>
              <a:off x="0" y="-19050"/>
              <a:ext cx="8869680" cy="787146"/>
            </a:xfrm>
            <a:prstGeom prst="rect">
              <a:avLst/>
            </a:prstGeom>
          </p:spPr>
          <p:txBody>
            <a:bodyPr anchor="ctr" rtlCol="false" tIns="0" lIns="0" bIns="0" rIns="0"/>
            <a:lstStyle/>
            <a:p>
              <a:pPr algn="l">
                <a:lnSpc>
                  <a:spcPts val="3240"/>
                </a:lnSpc>
              </a:pPr>
              <a:r>
                <a:rPr lang="en-US" sz="2700" b="true">
                  <a:solidFill>
                    <a:srgbClr val="FFFFFF"/>
                  </a:solidFill>
                  <a:latin typeface="Cambria Bold"/>
                  <a:ea typeface="Cambria Bold"/>
                  <a:cs typeface="Cambria Bold"/>
                  <a:sym typeface="Cambria Bold"/>
                </a:rPr>
                <a:t>Current Profile</a:t>
              </a:r>
            </a:p>
          </p:txBody>
        </p:sp>
      </p:grpSp>
      <p:grpSp>
        <p:nvGrpSpPr>
          <p:cNvPr name="Group 17" id="17"/>
          <p:cNvGrpSpPr/>
          <p:nvPr/>
        </p:nvGrpSpPr>
        <p:grpSpPr>
          <a:xfrm rot="0">
            <a:off x="1577340" y="3332988"/>
            <a:ext cx="6652260" cy="411480"/>
            <a:chOff x="0" y="0"/>
            <a:chExt cx="8869680" cy="548640"/>
          </a:xfrm>
        </p:grpSpPr>
        <p:sp>
          <p:nvSpPr>
            <p:cNvPr name="Freeform 18" id="18"/>
            <p:cNvSpPr/>
            <p:nvPr/>
          </p:nvSpPr>
          <p:spPr>
            <a:xfrm flipH="false" flipV="false" rot="0">
              <a:off x="0" y="0"/>
              <a:ext cx="8869680" cy="548640"/>
            </a:xfrm>
            <a:custGeom>
              <a:avLst/>
              <a:gdLst/>
              <a:ahLst/>
              <a:cxnLst/>
              <a:rect r="r" b="b" t="t" l="l"/>
              <a:pathLst>
                <a:path h="548640" w="8869680">
                  <a:moveTo>
                    <a:pt x="0" y="0"/>
                  </a:moveTo>
                  <a:lnTo>
                    <a:pt x="8869680" y="0"/>
                  </a:lnTo>
                  <a:lnTo>
                    <a:pt x="8869680" y="548640"/>
                  </a:lnTo>
                  <a:lnTo>
                    <a:pt x="0" y="548640"/>
                  </a:lnTo>
                  <a:close/>
                </a:path>
              </a:pathLst>
            </a:custGeom>
            <a:blipFill>
              <a:blip r:embed="rId3">
                <a:alphaModFix amt="0"/>
              </a:blip>
              <a:stretch>
                <a:fillRect l="0" t="-265008" r="0" b="-265008"/>
              </a:stretch>
            </a:blipFill>
          </p:spPr>
        </p:sp>
        <p:sp>
          <p:nvSpPr>
            <p:cNvPr name="TextBox 19" id="19"/>
            <p:cNvSpPr txBox="true"/>
            <p:nvPr/>
          </p:nvSpPr>
          <p:spPr>
            <a:xfrm>
              <a:off x="0" y="-38100"/>
              <a:ext cx="8869680" cy="586740"/>
            </a:xfrm>
            <a:prstGeom prst="rect">
              <a:avLst/>
            </a:prstGeom>
          </p:spPr>
          <p:txBody>
            <a:bodyPr anchor="ctr" rtlCol="false" tIns="0" lIns="0" bIns="0" rIns="0"/>
            <a:lstStyle/>
            <a:p>
              <a:pPr algn="l">
                <a:lnSpc>
                  <a:spcPts val="2070"/>
                </a:lnSpc>
              </a:pPr>
              <a:r>
                <a:rPr lang="en-US" sz="1725">
                  <a:solidFill>
                    <a:srgbClr val="CADCFC"/>
                  </a:solidFill>
                  <a:latin typeface="Calibri (MS)"/>
                  <a:ea typeface="Calibri (MS)"/>
                  <a:cs typeface="Calibri (MS)"/>
                  <a:sym typeface="Calibri (MS)"/>
                </a:rPr>
                <a:t>What you actually do today</a:t>
              </a:r>
            </a:p>
          </p:txBody>
        </p:sp>
      </p:grpSp>
      <p:grpSp>
        <p:nvGrpSpPr>
          <p:cNvPr name="Group 20" id="20"/>
          <p:cNvGrpSpPr/>
          <p:nvPr/>
        </p:nvGrpSpPr>
        <p:grpSpPr>
          <a:xfrm rot="0">
            <a:off x="1234440" y="4114800"/>
            <a:ext cx="7338060" cy="2125980"/>
            <a:chOff x="0" y="0"/>
            <a:chExt cx="9784080" cy="2834640"/>
          </a:xfrm>
        </p:grpSpPr>
        <p:sp>
          <p:nvSpPr>
            <p:cNvPr name="Freeform 21" id="21"/>
            <p:cNvSpPr/>
            <p:nvPr/>
          </p:nvSpPr>
          <p:spPr>
            <a:xfrm flipH="false" flipV="false" rot="0">
              <a:off x="0" y="0"/>
              <a:ext cx="9784080" cy="2834640"/>
            </a:xfrm>
            <a:custGeom>
              <a:avLst/>
              <a:gdLst/>
              <a:ahLst/>
              <a:cxnLst/>
              <a:rect r="r" b="b" t="t" l="l"/>
              <a:pathLst>
                <a:path h="2834640" w="9784080">
                  <a:moveTo>
                    <a:pt x="0" y="146304"/>
                  </a:moveTo>
                  <a:cubicBezTo>
                    <a:pt x="0" y="65532"/>
                    <a:pt x="65532" y="0"/>
                    <a:pt x="146304" y="0"/>
                  </a:cubicBezTo>
                  <a:lnTo>
                    <a:pt x="9637776" y="0"/>
                  </a:lnTo>
                  <a:cubicBezTo>
                    <a:pt x="9718548" y="0"/>
                    <a:pt x="9784080" y="65532"/>
                    <a:pt x="9784080" y="146304"/>
                  </a:cubicBezTo>
                  <a:lnTo>
                    <a:pt x="9784080" y="2688336"/>
                  </a:lnTo>
                  <a:cubicBezTo>
                    <a:pt x="9784080" y="2769108"/>
                    <a:pt x="9718548" y="2834640"/>
                    <a:pt x="9637776" y="2834640"/>
                  </a:cubicBezTo>
                  <a:lnTo>
                    <a:pt x="146304" y="2834640"/>
                  </a:lnTo>
                  <a:cubicBezTo>
                    <a:pt x="65532" y="2834640"/>
                    <a:pt x="0" y="2769108"/>
                    <a:pt x="0" y="2688336"/>
                  </a:cubicBezTo>
                  <a:close/>
                </a:path>
              </a:pathLst>
            </a:custGeom>
            <a:solidFill>
              <a:srgbClr val="F4F7FC"/>
            </a:solidFill>
          </p:spPr>
        </p:sp>
      </p:grpSp>
      <p:sp>
        <p:nvSpPr>
          <p:cNvPr name="TextBox 22" id="22"/>
          <p:cNvSpPr txBox="true"/>
          <p:nvPr/>
        </p:nvSpPr>
        <p:spPr>
          <a:xfrm rot="0">
            <a:off x="1764792" y="4504182"/>
            <a:ext cx="6277356" cy="1251966"/>
          </a:xfrm>
          <a:prstGeom prst="rect">
            <a:avLst/>
          </a:prstGeom>
        </p:spPr>
        <p:txBody>
          <a:bodyPr anchor="t" rtlCol="false" tIns="0" lIns="0" bIns="0" rIns="0">
            <a:spAutoFit/>
          </a:bodyPr>
          <a:lstStyle/>
          <a:p>
            <a:pPr algn="l" marL="352901" indent="-176451" lvl="1">
              <a:lnSpc>
                <a:spcPts val="2808"/>
              </a:lnSpc>
              <a:buFont typeface="Arial"/>
              <a:buChar char="•"/>
            </a:pPr>
            <a:r>
              <a:rPr lang="en-US" sz="1950">
                <a:solidFill>
                  <a:srgbClr val="23262F"/>
                </a:solidFill>
                <a:latin typeface="Calibri (MS)"/>
                <a:ea typeface="Calibri (MS)"/>
                <a:cs typeface="Calibri (MS)"/>
                <a:sym typeface="Calibri (MS)"/>
              </a:rPr>
              <a:t>Honest snapshot of today's practices across all six Functions</a:t>
            </a:r>
          </a:p>
          <a:p>
            <a:pPr algn="l" marL="352901" indent="-176451" lvl="1">
              <a:lnSpc>
                <a:spcPts val="2808"/>
              </a:lnSpc>
              <a:buFont typeface="Arial"/>
              <a:buChar char="•"/>
            </a:pPr>
            <a:r>
              <a:rPr lang="en-US" sz="1950">
                <a:solidFill>
                  <a:srgbClr val="23262F"/>
                </a:solidFill>
                <a:latin typeface="Calibri (MS)"/>
                <a:ea typeface="Calibri (MS)"/>
                <a:cs typeface="Calibri (MS)"/>
                <a:sym typeface="Calibri (MS)"/>
              </a:rPr>
              <a:t>Not what policy says should happen — what actually happens</a:t>
            </a:r>
          </a:p>
        </p:txBody>
      </p:sp>
      <p:grpSp>
        <p:nvGrpSpPr>
          <p:cNvPr name="Group 23" id="23"/>
          <p:cNvGrpSpPr/>
          <p:nvPr/>
        </p:nvGrpSpPr>
        <p:grpSpPr>
          <a:xfrm rot="0">
            <a:off x="9121140" y="2674620"/>
            <a:ext cx="7338060" cy="1165860"/>
            <a:chOff x="0" y="0"/>
            <a:chExt cx="9784080" cy="1554480"/>
          </a:xfrm>
        </p:grpSpPr>
        <p:sp>
          <p:nvSpPr>
            <p:cNvPr name="Freeform 24" id="24"/>
            <p:cNvSpPr/>
            <p:nvPr/>
          </p:nvSpPr>
          <p:spPr>
            <a:xfrm flipH="false" flipV="false" rot="0">
              <a:off x="0" y="0"/>
              <a:ext cx="9784080" cy="1554480"/>
            </a:xfrm>
            <a:custGeom>
              <a:avLst/>
              <a:gdLst/>
              <a:ahLst/>
              <a:cxnLst/>
              <a:rect r="r" b="b" t="t" l="l"/>
              <a:pathLst>
                <a:path h="1554480" w="9784080">
                  <a:moveTo>
                    <a:pt x="0" y="164592"/>
                  </a:moveTo>
                  <a:cubicBezTo>
                    <a:pt x="0" y="73660"/>
                    <a:pt x="73660" y="0"/>
                    <a:pt x="164592" y="0"/>
                  </a:cubicBezTo>
                  <a:lnTo>
                    <a:pt x="9619488" y="0"/>
                  </a:lnTo>
                  <a:cubicBezTo>
                    <a:pt x="9710420" y="0"/>
                    <a:pt x="9784080" y="73660"/>
                    <a:pt x="9784080" y="164592"/>
                  </a:cubicBezTo>
                  <a:lnTo>
                    <a:pt x="9784080" y="1389888"/>
                  </a:lnTo>
                  <a:cubicBezTo>
                    <a:pt x="9784080" y="1480820"/>
                    <a:pt x="9710420" y="1554480"/>
                    <a:pt x="9619488" y="1554480"/>
                  </a:cubicBezTo>
                  <a:lnTo>
                    <a:pt x="164592" y="1554480"/>
                  </a:lnTo>
                  <a:cubicBezTo>
                    <a:pt x="73660" y="1554480"/>
                    <a:pt x="0" y="1480820"/>
                    <a:pt x="0" y="1389888"/>
                  </a:cubicBezTo>
                  <a:close/>
                </a:path>
              </a:pathLst>
            </a:custGeom>
            <a:solidFill>
              <a:srgbClr val="1E2761"/>
            </a:solidFill>
          </p:spPr>
        </p:sp>
      </p:grpSp>
      <p:grpSp>
        <p:nvGrpSpPr>
          <p:cNvPr name="Group 25" id="25"/>
          <p:cNvGrpSpPr/>
          <p:nvPr/>
        </p:nvGrpSpPr>
        <p:grpSpPr>
          <a:xfrm rot="0">
            <a:off x="9464040" y="2784348"/>
            <a:ext cx="6652260" cy="576072"/>
            <a:chOff x="0" y="0"/>
            <a:chExt cx="8869680" cy="768096"/>
          </a:xfrm>
        </p:grpSpPr>
        <p:sp>
          <p:nvSpPr>
            <p:cNvPr name="Freeform 26" id="26"/>
            <p:cNvSpPr/>
            <p:nvPr/>
          </p:nvSpPr>
          <p:spPr>
            <a:xfrm flipH="false" flipV="false" rot="0">
              <a:off x="0" y="0"/>
              <a:ext cx="8869680" cy="768096"/>
            </a:xfrm>
            <a:custGeom>
              <a:avLst/>
              <a:gdLst/>
              <a:ahLst/>
              <a:cxnLst/>
              <a:rect r="r" b="b" t="t" l="l"/>
              <a:pathLst>
                <a:path h="768096" w="8869680">
                  <a:moveTo>
                    <a:pt x="0" y="0"/>
                  </a:moveTo>
                  <a:lnTo>
                    <a:pt x="8869680" y="0"/>
                  </a:lnTo>
                  <a:lnTo>
                    <a:pt x="8869680" y="768096"/>
                  </a:lnTo>
                  <a:lnTo>
                    <a:pt x="0" y="768096"/>
                  </a:lnTo>
                  <a:close/>
                </a:path>
              </a:pathLst>
            </a:custGeom>
            <a:blipFill>
              <a:blip r:embed="rId3">
                <a:alphaModFix amt="0"/>
              </a:blip>
              <a:stretch>
                <a:fillRect l="0" t="-175005" r="0" b="-175005"/>
              </a:stretch>
            </a:blipFill>
          </p:spPr>
        </p:sp>
        <p:sp>
          <p:nvSpPr>
            <p:cNvPr name="TextBox 27" id="27"/>
            <p:cNvSpPr txBox="true"/>
            <p:nvPr/>
          </p:nvSpPr>
          <p:spPr>
            <a:xfrm>
              <a:off x="0" y="-19050"/>
              <a:ext cx="8869680" cy="787146"/>
            </a:xfrm>
            <a:prstGeom prst="rect">
              <a:avLst/>
            </a:prstGeom>
          </p:spPr>
          <p:txBody>
            <a:bodyPr anchor="ctr" rtlCol="false" tIns="0" lIns="0" bIns="0" rIns="0"/>
            <a:lstStyle/>
            <a:p>
              <a:pPr algn="l">
                <a:lnSpc>
                  <a:spcPts val="3240"/>
                </a:lnSpc>
              </a:pPr>
              <a:r>
                <a:rPr lang="en-US" sz="2700" b="true">
                  <a:solidFill>
                    <a:srgbClr val="FFFFFF"/>
                  </a:solidFill>
                  <a:latin typeface="Cambria Bold"/>
                  <a:ea typeface="Cambria Bold"/>
                  <a:cs typeface="Cambria Bold"/>
                  <a:sym typeface="Cambria Bold"/>
                </a:rPr>
                <a:t>Target Profile</a:t>
              </a:r>
            </a:p>
          </p:txBody>
        </p:sp>
      </p:grpSp>
      <p:grpSp>
        <p:nvGrpSpPr>
          <p:cNvPr name="Group 28" id="28"/>
          <p:cNvGrpSpPr/>
          <p:nvPr/>
        </p:nvGrpSpPr>
        <p:grpSpPr>
          <a:xfrm rot="0">
            <a:off x="9464040" y="3332988"/>
            <a:ext cx="6652260" cy="411480"/>
            <a:chOff x="0" y="0"/>
            <a:chExt cx="8869680" cy="548640"/>
          </a:xfrm>
        </p:grpSpPr>
        <p:sp>
          <p:nvSpPr>
            <p:cNvPr name="Freeform 29" id="29"/>
            <p:cNvSpPr/>
            <p:nvPr/>
          </p:nvSpPr>
          <p:spPr>
            <a:xfrm flipH="false" flipV="false" rot="0">
              <a:off x="0" y="0"/>
              <a:ext cx="8869680" cy="548640"/>
            </a:xfrm>
            <a:custGeom>
              <a:avLst/>
              <a:gdLst/>
              <a:ahLst/>
              <a:cxnLst/>
              <a:rect r="r" b="b" t="t" l="l"/>
              <a:pathLst>
                <a:path h="548640" w="8869680">
                  <a:moveTo>
                    <a:pt x="0" y="0"/>
                  </a:moveTo>
                  <a:lnTo>
                    <a:pt x="8869680" y="0"/>
                  </a:lnTo>
                  <a:lnTo>
                    <a:pt x="8869680" y="548640"/>
                  </a:lnTo>
                  <a:lnTo>
                    <a:pt x="0" y="548640"/>
                  </a:lnTo>
                  <a:close/>
                </a:path>
              </a:pathLst>
            </a:custGeom>
            <a:blipFill>
              <a:blip r:embed="rId3">
                <a:alphaModFix amt="0"/>
              </a:blip>
              <a:stretch>
                <a:fillRect l="0" t="-265008" r="0" b="-265008"/>
              </a:stretch>
            </a:blipFill>
          </p:spPr>
        </p:sp>
        <p:sp>
          <p:nvSpPr>
            <p:cNvPr name="TextBox 30" id="30"/>
            <p:cNvSpPr txBox="true"/>
            <p:nvPr/>
          </p:nvSpPr>
          <p:spPr>
            <a:xfrm>
              <a:off x="0" y="-38100"/>
              <a:ext cx="8869680" cy="586740"/>
            </a:xfrm>
            <a:prstGeom prst="rect">
              <a:avLst/>
            </a:prstGeom>
          </p:spPr>
          <p:txBody>
            <a:bodyPr anchor="ctr" rtlCol="false" tIns="0" lIns="0" bIns="0" rIns="0"/>
            <a:lstStyle/>
            <a:p>
              <a:pPr algn="l">
                <a:lnSpc>
                  <a:spcPts val="2070"/>
                </a:lnSpc>
              </a:pPr>
              <a:r>
                <a:rPr lang="en-US" sz="1725">
                  <a:solidFill>
                    <a:srgbClr val="CADCFC"/>
                  </a:solidFill>
                  <a:latin typeface="Calibri (MS)"/>
                  <a:ea typeface="Calibri (MS)"/>
                  <a:cs typeface="Calibri (MS)"/>
                  <a:sym typeface="Calibri (MS)"/>
                </a:rPr>
                <a:t>What you're aiming for</a:t>
              </a:r>
            </a:p>
          </p:txBody>
        </p:sp>
      </p:grpSp>
      <p:grpSp>
        <p:nvGrpSpPr>
          <p:cNvPr name="Group 31" id="31"/>
          <p:cNvGrpSpPr/>
          <p:nvPr/>
        </p:nvGrpSpPr>
        <p:grpSpPr>
          <a:xfrm rot="0">
            <a:off x="9121140" y="4114800"/>
            <a:ext cx="7338060" cy="2125980"/>
            <a:chOff x="0" y="0"/>
            <a:chExt cx="9784080" cy="2834640"/>
          </a:xfrm>
        </p:grpSpPr>
        <p:sp>
          <p:nvSpPr>
            <p:cNvPr name="Freeform 32" id="32"/>
            <p:cNvSpPr/>
            <p:nvPr/>
          </p:nvSpPr>
          <p:spPr>
            <a:xfrm flipH="false" flipV="false" rot="0">
              <a:off x="0" y="0"/>
              <a:ext cx="9784080" cy="2834640"/>
            </a:xfrm>
            <a:custGeom>
              <a:avLst/>
              <a:gdLst/>
              <a:ahLst/>
              <a:cxnLst/>
              <a:rect r="r" b="b" t="t" l="l"/>
              <a:pathLst>
                <a:path h="2834640" w="9784080">
                  <a:moveTo>
                    <a:pt x="0" y="146304"/>
                  </a:moveTo>
                  <a:cubicBezTo>
                    <a:pt x="0" y="65532"/>
                    <a:pt x="65532" y="0"/>
                    <a:pt x="146304" y="0"/>
                  </a:cubicBezTo>
                  <a:lnTo>
                    <a:pt x="9637776" y="0"/>
                  </a:lnTo>
                  <a:cubicBezTo>
                    <a:pt x="9718548" y="0"/>
                    <a:pt x="9784080" y="65532"/>
                    <a:pt x="9784080" y="146304"/>
                  </a:cubicBezTo>
                  <a:lnTo>
                    <a:pt x="9784080" y="2688336"/>
                  </a:lnTo>
                  <a:cubicBezTo>
                    <a:pt x="9784080" y="2769108"/>
                    <a:pt x="9718548" y="2834640"/>
                    <a:pt x="9637776" y="2834640"/>
                  </a:cubicBezTo>
                  <a:lnTo>
                    <a:pt x="146304" y="2834640"/>
                  </a:lnTo>
                  <a:cubicBezTo>
                    <a:pt x="65532" y="2834640"/>
                    <a:pt x="0" y="2769108"/>
                    <a:pt x="0" y="2688336"/>
                  </a:cubicBezTo>
                  <a:close/>
                </a:path>
              </a:pathLst>
            </a:custGeom>
            <a:solidFill>
              <a:srgbClr val="F4F7FC"/>
            </a:solidFill>
          </p:spPr>
        </p:sp>
      </p:grpSp>
      <p:sp>
        <p:nvSpPr>
          <p:cNvPr name="TextBox 33" id="33"/>
          <p:cNvSpPr txBox="true"/>
          <p:nvPr/>
        </p:nvSpPr>
        <p:spPr>
          <a:xfrm rot="0">
            <a:off x="9651492" y="4504182"/>
            <a:ext cx="6277356" cy="1251966"/>
          </a:xfrm>
          <a:prstGeom prst="rect">
            <a:avLst/>
          </a:prstGeom>
        </p:spPr>
        <p:txBody>
          <a:bodyPr anchor="t" rtlCol="false" tIns="0" lIns="0" bIns="0" rIns="0">
            <a:spAutoFit/>
          </a:bodyPr>
          <a:lstStyle/>
          <a:p>
            <a:pPr algn="l" marL="352901" indent="-176451" lvl="1">
              <a:lnSpc>
                <a:spcPts val="2808"/>
              </a:lnSpc>
              <a:buFont typeface="Arial"/>
              <a:buChar char="•"/>
            </a:pPr>
            <a:r>
              <a:rPr lang="en-US" sz="1950">
                <a:solidFill>
                  <a:srgbClr val="23262F"/>
                </a:solidFill>
                <a:latin typeface="Calibri (MS)"/>
                <a:ea typeface="Calibri (MS)"/>
                <a:cs typeface="Calibri (MS)"/>
                <a:sym typeface="Calibri (MS)"/>
              </a:rPr>
              <a:t>The outcomes you want, given your risk and resources</a:t>
            </a:r>
          </a:p>
          <a:p>
            <a:pPr algn="l" marL="352901" indent="-176451" lvl="1">
              <a:lnSpc>
                <a:spcPts val="2808"/>
              </a:lnSpc>
              <a:buFont typeface="Arial"/>
              <a:buChar char="•"/>
            </a:pPr>
            <a:r>
              <a:rPr lang="en-US" sz="1950">
                <a:solidFill>
                  <a:srgbClr val="23262F"/>
                </a:solidFill>
                <a:latin typeface="Calibri (MS)"/>
                <a:ea typeface="Calibri (MS)"/>
                <a:cs typeface="Calibri (MS)"/>
                <a:sym typeface="Calibri (MS)"/>
              </a:rPr>
              <a:t>Sets the bar without demanding every organization do everything</a:t>
            </a:r>
          </a:p>
        </p:txBody>
      </p:sp>
      <p:grpSp>
        <p:nvGrpSpPr>
          <p:cNvPr name="Group 34" id="34"/>
          <p:cNvGrpSpPr/>
          <p:nvPr/>
        </p:nvGrpSpPr>
        <p:grpSpPr>
          <a:xfrm rot="0">
            <a:off x="1224915" y="6779895"/>
            <a:ext cx="14695170" cy="1870710"/>
            <a:chOff x="0" y="0"/>
            <a:chExt cx="19593560" cy="2494280"/>
          </a:xfrm>
        </p:grpSpPr>
        <p:sp>
          <p:nvSpPr>
            <p:cNvPr name="Freeform 35" id="35"/>
            <p:cNvSpPr/>
            <p:nvPr/>
          </p:nvSpPr>
          <p:spPr>
            <a:xfrm flipH="false" flipV="false" rot="0">
              <a:off x="0" y="0"/>
              <a:ext cx="19593561" cy="2494280"/>
            </a:xfrm>
            <a:custGeom>
              <a:avLst/>
              <a:gdLst/>
              <a:ahLst/>
              <a:cxnLst/>
              <a:rect r="r" b="b" t="t" l="l"/>
              <a:pathLst>
                <a:path h="2494280" w="19593561">
                  <a:moveTo>
                    <a:pt x="0" y="184785"/>
                  </a:moveTo>
                  <a:cubicBezTo>
                    <a:pt x="0" y="82677"/>
                    <a:pt x="82677" y="0"/>
                    <a:pt x="184785" y="0"/>
                  </a:cubicBezTo>
                  <a:lnTo>
                    <a:pt x="19408775" y="0"/>
                  </a:lnTo>
                  <a:cubicBezTo>
                    <a:pt x="19510756" y="0"/>
                    <a:pt x="19593561" y="82677"/>
                    <a:pt x="19593561" y="184785"/>
                  </a:cubicBezTo>
                  <a:lnTo>
                    <a:pt x="19593561" y="2309495"/>
                  </a:lnTo>
                  <a:cubicBezTo>
                    <a:pt x="19593561" y="2411476"/>
                    <a:pt x="19510883" y="2494280"/>
                    <a:pt x="19408775" y="2494280"/>
                  </a:cubicBezTo>
                  <a:lnTo>
                    <a:pt x="184785" y="2494280"/>
                  </a:lnTo>
                  <a:cubicBezTo>
                    <a:pt x="82677" y="2494280"/>
                    <a:pt x="0" y="2411603"/>
                    <a:pt x="0" y="2309495"/>
                  </a:cubicBezTo>
                  <a:close/>
                </a:path>
              </a:pathLst>
            </a:custGeom>
            <a:solidFill>
              <a:srgbClr val="FBF9F4"/>
            </a:solidFill>
            <a:ln w="19050" cap="sq">
              <a:solidFill>
                <a:srgbClr val="EFE6D2"/>
              </a:solidFill>
              <a:prstDash val="solid"/>
              <a:miter/>
            </a:ln>
          </p:spPr>
        </p:sp>
      </p:grpSp>
      <p:grpSp>
        <p:nvGrpSpPr>
          <p:cNvPr name="Group 36" id="36"/>
          <p:cNvGrpSpPr/>
          <p:nvPr/>
        </p:nvGrpSpPr>
        <p:grpSpPr>
          <a:xfrm rot="0">
            <a:off x="1645920" y="7036308"/>
            <a:ext cx="12344400" cy="384048"/>
            <a:chOff x="0" y="0"/>
            <a:chExt cx="16459200" cy="512064"/>
          </a:xfrm>
        </p:grpSpPr>
        <p:sp>
          <p:nvSpPr>
            <p:cNvPr name="Freeform 37" id="37"/>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3">
                <a:alphaModFix amt="0"/>
              </a:blip>
              <a:stretch>
                <a:fillRect l="0" t="-576304" r="0" b="-576304"/>
              </a:stretch>
            </a:blipFill>
          </p:spPr>
        </p:sp>
        <p:sp>
          <p:nvSpPr>
            <p:cNvPr name="TextBox 38" id="38"/>
            <p:cNvSpPr txBox="true"/>
            <p:nvPr/>
          </p:nvSpPr>
          <p:spPr>
            <a:xfrm>
              <a:off x="0" y="-19050"/>
              <a:ext cx="16459200" cy="531114"/>
            </a:xfrm>
            <a:prstGeom prst="rect">
              <a:avLst/>
            </a:prstGeom>
          </p:spPr>
          <p:txBody>
            <a:bodyPr anchor="ctr" rtlCol="false" tIns="0" lIns="0" bIns="0" rIns="0"/>
            <a:lstStyle/>
            <a:p>
              <a:pPr algn="l">
                <a:lnSpc>
                  <a:spcPts val="1889"/>
                </a:lnSpc>
              </a:pPr>
              <a:r>
                <a:rPr lang="en-US" b="true" sz="1575" spc="150">
                  <a:solidFill>
                    <a:srgbClr val="6B7280"/>
                  </a:solidFill>
                  <a:latin typeface="Calibri (MS) Bold"/>
                  <a:ea typeface="Calibri (MS) Bold"/>
                  <a:cs typeface="Calibri (MS) Bold"/>
                  <a:sym typeface="Calibri (MS) Bold"/>
                </a:rPr>
                <a:t>THE PRACTICAL PAYOFF</a:t>
              </a:r>
            </a:p>
          </p:txBody>
        </p:sp>
      </p:grpSp>
      <p:sp>
        <p:nvSpPr>
          <p:cNvPr name="TextBox 39" id="39"/>
          <p:cNvSpPr txBox="true"/>
          <p:nvPr/>
        </p:nvSpPr>
        <p:spPr>
          <a:xfrm rot="0">
            <a:off x="1737360" y="7392924"/>
            <a:ext cx="13670280" cy="1120140"/>
          </a:xfrm>
          <a:prstGeom prst="rect">
            <a:avLst/>
          </a:prstGeom>
        </p:spPr>
        <p:txBody>
          <a:bodyPr anchor="t" rtlCol="false" tIns="0" lIns="0" bIns="0" rIns="0">
            <a:spAutoFit/>
          </a:bodyPr>
          <a:lstStyle/>
          <a:p>
            <a:pPr algn="l">
              <a:lnSpc>
                <a:spcPts val="3042"/>
              </a:lnSpc>
            </a:pPr>
            <a:r>
              <a:rPr lang="en-US" sz="1950">
                <a:solidFill>
                  <a:srgbClr val="23262F"/>
                </a:solidFill>
                <a:latin typeface="Calibri (MS)"/>
                <a:ea typeface="Calibri (MS)"/>
                <a:cs typeface="Calibri (MS)"/>
                <a:sym typeface="Calibri (MS)"/>
              </a:rPr>
              <a:t>The gap between Current and Target is your actual to-do list — not a generic checklist, but the specific, prioritized set of improvements this office needs next. NIST publishes an Organizational Profile template to help build one.</a:t>
            </a:r>
          </a:p>
        </p:txBody>
      </p:sp>
      <p:grpSp>
        <p:nvGrpSpPr>
          <p:cNvPr name="Group 40" id="40"/>
          <p:cNvGrpSpPr/>
          <p:nvPr/>
        </p:nvGrpSpPr>
        <p:grpSpPr>
          <a:xfrm rot="0">
            <a:off x="685800" y="9710928"/>
            <a:ext cx="10972800" cy="411480"/>
            <a:chOff x="0" y="0"/>
            <a:chExt cx="14630400" cy="548640"/>
          </a:xfrm>
        </p:grpSpPr>
        <p:sp>
          <p:nvSpPr>
            <p:cNvPr name="Freeform 41" id="41"/>
            <p:cNvSpPr/>
            <p:nvPr/>
          </p:nvSpPr>
          <p:spPr>
            <a:xfrm flipH="false" flipV="false" rot="0">
              <a:off x="0" y="0"/>
              <a:ext cx="14630400" cy="548640"/>
            </a:xfrm>
            <a:custGeom>
              <a:avLst/>
              <a:gdLst/>
              <a:ahLst/>
              <a:cxnLst/>
              <a:rect r="r" b="b" t="t" l="l"/>
              <a:pathLst>
                <a:path h="548640" w="14630400">
                  <a:moveTo>
                    <a:pt x="0" y="0"/>
                  </a:moveTo>
                  <a:lnTo>
                    <a:pt x="14630400" y="0"/>
                  </a:lnTo>
                  <a:lnTo>
                    <a:pt x="14630400" y="548640"/>
                  </a:lnTo>
                  <a:lnTo>
                    <a:pt x="0" y="548640"/>
                  </a:lnTo>
                  <a:close/>
                </a:path>
              </a:pathLst>
            </a:custGeom>
            <a:blipFill>
              <a:blip r:embed="rId3">
                <a:alphaModFix amt="0"/>
              </a:blip>
              <a:stretch>
                <a:fillRect l="0" t="-469601" r="0" b="-469601"/>
              </a:stretch>
            </a:blipFill>
          </p:spPr>
        </p:sp>
        <p:sp>
          <p:nvSpPr>
            <p:cNvPr name="TextBox 42" id="42"/>
            <p:cNvSpPr txBox="true"/>
            <p:nvPr/>
          </p:nvSpPr>
          <p:spPr>
            <a:xfrm>
              <a:off x="0" y="-38100"/>
              <a:ext cx="14630400" cy="586740"/>
            </a:xfrm>
            <a:prstGeom prst="rect">
              <a:avLst/>
            </a:prstGeom>
          </p:spPr>
          <p:txBody>
            <a:bodyPr anchor="ctr" rtlCol="false" tIns="0" lIns="0" bIns="0" rIns="0"/>
            <a:lstStyle/>
            <a:p>
              <a:pPr algn="l">
                <a:lnSpc>
                  <a:spcPts val="1800"/>
                </a:lnSpc>
              </a:pPr>
              <a:r>
                <a:rPr lang="en-US" sz="1500">
                  <a:solidFill>
                    <a:srgbClr val="6B7280"/>
                  </a:solidFill>
                  <a:latin typeface="Calibri (MS)"/>
                  <a:ea typeface="Calibri (MS)"/>
                  <a:cs typeface="Calibri (MS)"/>
                  <a:sym typeface="Calibri (MS)"/>
                </a:rPr>
                <a:t>Davao del Norte Provincial Government — Cybersecurity Seminar</a:t>
              </a:r>
            </a:p>
          </p:txBody>
        </p:sp>
      </p:grpSp>
      <p:grpSp>
        <p:nvGrpSpPr>
          <p:cNvPr name="Group 43" id="43"/>
          <p:cNvGrpSpPr/>
          <p:nvPr/>
        </p:nvGrpSpPr>
        <p:grpSpPr>
          <a:xfrm rot="0">
            <a:off x="16911828" y="9710928"/>
            <a:ext cx="685800" cy="411480"/>
            <a:chOff x="0" y="0"/>
            <a:chExt cx="914400" cy="548640"/>
          </a:xfrm>
        </p:grpSpPr>
        <p:sp>
          <p:nvSpPr>
            <p:cNvPr name="Freeform 44" id="44"/>
            <p:cNvSpPr/>
            <p:nvPr/>
          </p:nvSpPr>
          <p:spPr>
            <a:xfrm flipH="false" flipV="false" rot="0">
              <a:off x="0" y="0"/>
              <a:ext cx="914400" cy="548640"/>
            </a:xfrm>
            <a:custGeom>
              <a:avLst/>
              <a:gdLst/>
              <a:ahLst/>
              <a:cxnLst/>
              <a:rect r="r" b="b" t="t" l="l"/>
              <a:pathLst>
                <a:path h="548640" w="914400">
                  <a:moveTo>
                    <a:pt x="0" y="0"/>
                  </a:moveTo>
                  <a:lnTo>
                    <a:pt x="914400" y="0"/>
                  </a:lnTo>
                  <a:lnTo>
                    <a:pt x="914400" y="548640"/>
                  </a:lnTo>
                  <a:lnTo>
                    <a:pt x="0" y="548640"/>
                  </a:lnTo>
                  <a:close/>
                </a:path>
              </a:pathLst>
            </a:custGeom>
            <a:blipFill>
              <a:blip r:embed="rId3">
                <a:alphaModFix amt="0"/>
              </a:blip>
              <a:stretch>
                <a:fillRect l="-26982" t="0" r="-26982" b="0"/>
              </a:stretch>
            </a:blipFill>
          </p:spPr>
        </p:sp>
        <p:sp>
          <p:nvSpPr>
            <p:cNvPr name="TextBox 45" id="45"/>
            <p:cNvSpPr txBox="true"/>
            <p:nvPr/>
          </p:nvSpPr>
          <p:spPr>
            <a:xfrm>
              <a:off x="0" y="-38100"/>
              <a:ext cx="914400" cy="586740"/>
            </a:xfrm>
            <a:prstGeom prst="rect">
              <a:avLst/>
            </a:prstGeom>
          </p:spPr>
          <p:txBody>
            <a:bodyPr anchor="ctr" rtlCol="false" tIns="0" lIns="0" bIns="0" rIns="0"/>
            <a:lstStyle/>
            <a:p>
              <a:pPr algn="r">
                <a:lnSpc>
                  <a:spcPts val="1800"/>
                </a:lnSpc>
              </a:pPr>
              <a:r>
                <a:rPr lang="en-US" sz="1500">
                  <a:solidFill>
                    <a:srgbClr val="6B7280"/>
                  </a:solidFill>
                  <a:latin typeface="Calibri (MS)"/>
                  <a:ea typeface="Calibri (MS)"/>
                  <a:cs typeface="Calibri (MS)"/>
                  <a:sym typeface="Calibri (MS)"/>
                </a:rPr>
                <a:t>7</a:t>
              </a:r>
            </a:p>
          </p:txBody>
        </p:sp>
      </p:grpSp>
    </p:spTree>
  </p:cSld>
  <p:clrMapOvr>
    <a:masterClrMapping/>
  </p:clrMapOvr>
</p:sld>
</file>

<file path=ppt/slides/slide7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754380" y="685800"/>
            <a:ext cx="850392" cy="850392"/>
            <a:chOff x="0" y="0"/>
            <a:chExt cx="1133856" cy="1133856"/>
          </a:xfrm>
        </p:grpSpPr>
        <p:sp>
          <p:nvSpPr>
            <p:cNvPr name="Freeform 3" id="3"/>
            <p:cNvSpPr/>
            <p:nvPr/>
          </p:nvSpPr>
          <p:spPr>
            <a:xfrm flipH="false" flipV="false" rot="0">
              <a:off x="0" y="0"/>
              <a:ext cx="1133856" cy="1133856"/>
            </a:xfrm>
            <a:custGeom>
              <a:avLst/>
              <a:gdLst/>
              <a:ahLst/>
              <a:cxnLst/>
              <a:rect r="r" b="b" t="t" l="l"/>
              <a:pathLst>
                <a:path h="1133856" w="1133856">
                  <a:moveTo>
                    <a:pt x="0" y="566928"/>
                  </a:moveTo>
                  <a:cubicBezTo>
                    <a:pt x="0" y="253873"/>
                    <a:pt x="253873" y="0"/>
                    <a:pt x="566928" y="0"/>
                  </a:cubicBezTo>
                  <a:cubicBezTo>
                    <a:pt x="879983" y="0"/>
                    <a:pt x="1133856" y="253873"/>
                    <a:pt x="1133856" y="566928"/>
                  </a:cubicBezTo>
                  <a:cubicBezTo>
                    <a:pt x="1133856" y="879983"/>
                    <a:pt x="879983" y="1133856"/>
                    <a:pt x="566928" y="1133856"/>
                  </a:cubicBezTo>
                  <a:cubicBezTo>
                    <a:pt x="253873" y="1133856"/>
                    <a:pt x="0" y="879983"/>
                    <a:pt x="0" y="566928"/>
                  </a:cubicBezTo>
                  <a:close/>
                </a:path>
              </a:pathLst>
            </a:custGeom>
            <a:solidFill>
              <a:srgbClr val="1E2761"/>
            </a:solidFill>
          </p:spPr>
        </p:sp>
      </p:grpSp>
      <p:grpSp>
        <p:nvGrpSpPr>
          <p:cNvPr name="Group 4" id="4"/>
          <p:cNvGrpSpPr/>
          <p:nvPr/>
        </p:nvGrpSpPr>
        <p:grpSpPr>
          <a:xfrm rot="0">
            <a:off x="932688" y="864108"/>
            <a:ext cx="493776" cy="493776"/>
            <a:chOff x="0" y="0"/>
            <a:chExt cx="658368" cy="658368"/>
          </a:xfrm>
        </p:grpSpPr>
        <p:sp>
          <p:nvSpPr>
            <p:cNvPr name="Freeform 5" id="5" descr="clipboard.png"/>
            <p:cNvSpPr/>
            <p:nvPr/>
          </p:nvSpPr>
          <p:spPr>
            <a:xfrm flipH="false" flipV="false" rot="0">
              <a:off x="0" y="0"/>
              <a:ext cx="658368" cy="658368"/>
            </a:xfrm>
            <a:custGeom>
              <a:avLst/>
              <a:gdLst/>
              <a:ahLst/>
              <a:cxnLst/>
              <a:rect r="r" b="b" t="t" l="l"/>
              <a:pathLst>
                <a:path h="658368" w="658368">
                  <a:moveTo>
                    <a:pt x="0" y="0"/>
                  </a:moveTo>
                  <a:lnTo>
                    <a:pt x="658368" y="0"/>
                  </a:lnTo>
                  <a:lnTo>
                    <a:pt x="658368" y="658368"/>
                  </a:lnTo>
                  <a:lnTo>
                    <a:pt x="0" y="658368"/>
                  </a:lnTo>
                  <a:lnTo>
                    <a:pt x="0" y="0"/>
                  </a:lnTo>
                  <a:close/>
                </a:path>
              </a:pathLst>
            </a:custGeom>
            <a:blipFill>
              <a:blip r:embed="rId2"/>
              <a:stretch>
                <a:fillRect l="0" t="0" r="0" b="0"/>
              </a:stretch>
            </a:blipFill>
          </p:spPr>
        </p:sp>
      </p:grpSp>
      <p:grpSp>
        <p:nvGrpSpPr>
          <p:cNvPr name="Group 6" id="6"/>
          <p:cNvGrpSpPr/>
          <p:nvPr/>
        </p:nvGrpSpPr>
        <p:grpSpPr>
          <a:xfrm rot="0">
            <a:off x="1851660" y="603504"/>
            <a:ext cx="13716000" cy="466344"/>
            <a:chOff x="0" y="0"/>
            <a:chExt cx="18288000" cy="621792"/>
          </a:xfrm>
        </p:grpSpPr>
        <p:sp>
          <p:nvSpPr>
            <p:cNvPr name="Freeform 7" id="7"/>
            <p:cNvSpPr/>
            <p:nvPr/>
          </p:nvSpPr>
          <p:spPr>
            <a:xfrm flipH="false" flipV="false" rot="0">
              <a:off x="0" y="0"/>
              <a:ext cx="18288000" cy="621792"/>
            </a:xfrm>
            <a:custGeom>
              <a:avLst/>
              <a:gdLst/>
              <a:ahLst/>
              <a:cxnLst/>
              <a:rect r="r" b="b" t="t" l="l"/>
              <a:pathLst>
                <a:path h="621792" w="18288000">
                  <a:moveTo>
                    <a:pt x="0" y="0"/>
                  </a:moveTo>
                  <a:lnTo>
                    <a:pt x="18288000" y="0"/>
                  </a:lnTo>
                  <a:lnTo>
                    <a:pt x="18288000" y="621792"/>
                  </a:lnTo>
                  <a:lnTo>
                    <a:pt x="0" y="621792"/>
                  </a:lnTo>
                  <a:close/>
                </a:path>
              </a:pathLst>
            </a:custGeom>
            <a:blipFill>
              <a:blip r:embed="rId3">
                <a:alphaModFix amt="0"/>
              </a:blip>
              <a:stretch>
                <a:fillRect l="0" t="-523089" r="0" b="-523089"/>
              </a:stretch>
            </a:blipFill>
          </p:spPr>
        </p:sp>
        <p:sp>
          <p:nvSpPr>
            <p:cNvPr name="TextBox 8" id="8"/>
            <p:cNvSpPr txBox="true"/>
            <p:nvPr/>
          </p:nvSpPr>
          <p:spPr>
            <a:xfrm>
              <a:off x="0" y="-47625"/>
              <a:ext cx="18288000" cy="669417"/>
            </a:xfrm>
            <a:prstGeom prst="rect">
              <a:avLst/>
            </a:prstGeom>
          </p:spPr>
          <p:txBody>
            <a:bodyPr anchor="ctr" rtlCol="false" tIns="0" lIns="0" bIns="0" rIns="0"/>
            <a:lstStyle/>
            <a:p>
              <a:pPr algn="l">
                <a:lnSpc>
                  <a:spcPts val="2340"/>
                </a:lnSpc>
              </a:pPr>
              <a:r>
                <a:rPr lang="en-US" b="true" sz="1950" spc="150">
                  <a:solidFill>
                    <a:srgbClr val="00B4D8"/>
                  </a:solidFill>
                  <a:latin typeface="Calibri (MS) Bold"/>
                  <a:ea typeface="Calibri (MS) Bold"/>
                  <a:cs typeface="Calibri (MS) Bold"/>
                  <a:sym typeface="Calibri (MS) Bold"/>
                </a:rPr>
                <a:t>NIST CSF 2.0</a:t>
              </a:r>
            </a:p>
          </p:txBody>
        </p:sp>
      </p:grpSp>
      <p:grpSp>
        <p:nvGrpSpPr>
          <p:cNvPr name="Group 9" id="9"/>
          <p:cNvGrpSpPr/>
          <p:nvPr/>
        </p:nvGrpSpPr>
        <p:grpSpPr>
          <a:xfrm rot="0">
            <a:off x="1824228" y="987552"/>
            <a:ext cx="15361920" cy="850392"/>
            <a:chOff x="0" y="0"/>
            <a:chExt cx="20482560" cy="1133856"/>
          </a:xfrm>
        </p:grpSpPr>
        <p:sp>
          <p:nvSpPr>
            <p:cNvPr name="Freeform 10" id="10"/>
            <p:cNvSpPr/>
            <p:nvPr/>
          </p:nvSpPr>
          <p:spPr>
            <a:xfrm flipH="false" flipV="false" rot="0">
              <a:off x="0" y="0"/>
              <a:ext cx="20482561" cy="1133856"/>
            </a:xfrm>
            <a:custGeom>
              <a:avLst/>
              <a:gdLst/>
              <a:ahLst/>
              <a:cxnLst/>
              <a:rect r="r" b="b" t="t" l="l"/>
              <a:pathLst>
                <a:path h="1133856" w="20482561">
                  <a:moveTo>
                    <a:pt x="0" y="0"/>
                  </a:moveTo>
                  <a:lnTo>
                    <a:pt x="20482561" y="0"/>
                  </a:lnTo>
                  <a:lnTo>
                    <a:pt x="20482561" y="1133856"/>
                  </a:lnTo>
                  <a:lnTo>
                    <a:pt x="0" y="1133856"/>
                  </a:lnTo>
                  <a:close/>
                </a:path>
              </a:pathLst>
            </a:custGeom>
            <a:blipFill>
              <a:blip r:embed="rId3">
                <a:alphaModFix amt="0"/>
              </a:blip>
              <a:stretch>
                <a:fillRect l="0" t="-301987" r="0" b="-301987"/>
              </a:stretch>
            </a:blipFill>
          </p:spPr>
        </p:sp>
        <p:sp>
          <p:nvSpPr>
            <p:cNvPr name="TextBox 11" id="11"/>
            <p:cNvSpPr txBox="true"/>
            <p:nvPr/>
          </p:nvSpPr>
          <p:spPr>
            <a:xfrm>
              <a:off x="0" y="-9525"/>
              <a:ext cx="20482560" cy="1143381"/>
            </a:xfrm>
            <a:prstGeom prst="rect">
              <a:avLst/>
            </a:prstGeom>
          </p:spPr>
          <p:txBody>
            <a:bodyPr anchor="ctr" rtlCol="false" tIns="0" lIns="0" bIns="0" rIns="0"/>
            <a:lstStyle/>
            <a:p>
              <a:pPr algn="l">
                <a:lnSpc>
                  <a:spcPts val="5040"/>
                </a:lnSpc>
              </a:pPr>
              <a:r>
                <a:rPr lang="en-US" sz="4200" b="true">
                  <a:solidFill>
                    <a:srgbClr val="1E2761"/>
                  </a:solidFill>
                  <a:latin typeface="Cambria Bold"/>
                  <a:ea typeface="Cambria Bold"/>
                  <a:cs typeface="Cambria Bold"/>
                  <a:sym typeface="Cambria Bold"/>
                </a:rPr>
                <a:t>Tiers: How Rigorously You Manage It</a:t>
              </a:r>
            </a:p>
          </p:txBody>
        </p:sp>
      </p:grpSp>
      <p:sp>
        <p:nvSpPr>
          <p:cNvPr name="TextBox 12" id="12"/>
          <p:cNvSpPr txBox="true"/>
          <p:nvPr/>
        </p:nvSpPr>
        <p:spPr>
          <a:xfrm rot="0">
            <a:off x="1325880" y="2124075"/>
            <a:ext cx="14767560" cy="710565"/>
          </a:xfrm>
          <a:prstGeom prst="rect">
            <a:avLst/>
          </a:prstGeom>
        </p:spPr>
        <p:txBody>
          <a:bodyPr anchor="t" rtlCol="false" tIns="0" lIns="0" bIns="0" rIns="0">
            <a:spAutoFit/>
          </a:bodyPr>
          <a:lstStyle/>
          <a:p>
            <a:pPr algn="l">
              <a:lnSpc>
                <a:spcPts val="2520"/>
              </a:lnSpc>
            </a:pPr>
            <a:r>
              <a:rPr lang="en-US" sz="2100" i="true">
                <a:solidFill>
                  <a:srgbClr val="6B7280"/>
                </a:solidFill>
                <a:latin typeface="Calibri (MS) Italics"/>
                <a:ea typeface="Calibri (MS) Italics"/>
                <a:cs typeface="Calibri (MS) Italics"/>
                <a:sym typeface="Calibri (MS) Italics"/>
              </a:rPr>
              <a:t>Separate from Profiles, Tiers describe how formal and consistent your risk-management process is — not how much you've covered, but how disciplined the practice is.</a:t>
            </a:r>
          </a:p>
        </p:txBody>
      </p:sp>
      <p:grpSp>
        <p:nvGrpSpPr>
          <p:cNvPr name="Group 13" id="13"/>
          <p:cNvGrpSpPr/>
          <p:nvPr/>
        </p:nvGrpSpPr>
        <p:grpSpPr>
          <a:xfrm rot="0">
            <a:off x="1234440" y="3154680"/>
            <a:ext cx="3730752" cy="3703320"/>
            <a:chOff x="0" y="0"/>
            <a:chExt cx="4974336" cy="4937760"/>
          </a:xfrm>
        </p:grpSpPr>
        <p:sp>
          <p:nvSpPr>
            <p:cNvPr name="Freeform 14" id="14"/>
            <p:cNvSpPr/>
            <p:nvPr/>
          </p:nvSpPr>
          <p:spPr>
            <a:xfrm flipH="false" flipV="false" rot="0">
              <a:off x="0" y="0"/>
              <a:ext cx="4974336" cy="4937760"/>
            </a:xfrm>
            <a:custGeom>
              <a:avLst/>
              <a:gdLst/>
              <a:ahLst/>
              <a:cxnLst/>
              <a:rect r="r" b="b" t="t" l="l"/>
              <a:pathLst>
                <a:path h="4937760" w="4974336">
                  <a:moveTo>
                    <a:pt x="0" y="182880"/>
                  </a:moveTo>
                  <a:cubicBezTo>
                    <a:pt x="0" y="81915"/>
                    <a:pt x="81915" y="0"/>
                    <a:pt x="182880" y="0"/>
                  </a:cubicBezTo>
                  <a:lnTo>
                    <a:pt x="4791456" y="0"/>
                  </a:lnTo>
                  <a:cubicBezTo>
                    <a:pt x="4892421" y="0"/>
                    <a:pt x="4974336" y="81915"/>
                    <a:pt x="4974336" y="182880"/>
                  </a:cubicBezTo>
                  <a:lnTo>
                    <a:pt x="4974336" y="4754880"/>
                  </a:lnTo>
                  <a:cubicBezTo>
                    <a:pt x="4974336" y="4855845"/>
                    <a:pt x="4892421" y="4937760"/>
                    <a:pt x="4791456" y="4937760"/>
                  </a:cubicBezTo>
                  <a:lnTo>
                    <a:pt x="182880" y="4937760"/>
                  </a:lnTo>
                  <a:cubicBezTo>
                    <a:pt x="81915" y="4937760"/>
                    <a:pt x="0" y="4855845"/>
                    <a:pt x="0" y="4754880"/>
                  </a:cubicBezTo>
                  <a:close/>
                </a:path>
              </a:pathLst>
            </a:custGeom>
            <a:solidFill>
              <a:srgbClr val="E8EAF6"/>
            </a:solidFill>
          </p:spPr>
        </p:sp>
      </p:grpSp>
      <p:grpSp>
        <p:nvGrpSpPr>
          <p:cNvPr name="Group 15" id="15"/>
          <p:cNvGrpSpPr/>
          <p:nvPr/>
        </p:nvGrpSpPr>
        <p:grpSpPr>
          <a:xfrm rot="0">
            <a:off x="1234440" y="3497580"/>
            <a:ext cx="3730752" cy="1097280"/>
            <a:chOff x="0" y="0"/>
            <a:chExt cx="4974336" cy="1463040"/>
          </a:xfrm>
        </p:grpSpPr>
        <p:sp>
          <p:nvSpPr>
            <p:cNvPr name="Freeform 16" id="16"/>
            <p:cNvSpPr/>
            <p:nvPr/>
          </p:nvSpPr>
          <p:spPr>
            <a:xfrm flipH="false" flipV="false" rot="0">
              <a:off x="0" y="0"/>
              <a:ext cx="4974336" cy="1463040"/>
            </a:xfrm>
            <a:custGeom>
              <a:avLst/>
              <a:gdLst/>
              <a:ahLst/>
              <a:cxnLst/>
              <a:rect r="r" b="b" t="t" l="l"/>
              <a:pathLst>
                <a:path h="1463040" w="4974336">
                  <a:moveTo>
                    <a:pt x="0" y="0"/>
                  </a:moveTo>
                  <a:lnTo>
                    <a:pt x="4974336" y="0"/>
                  </a:lnTo>
                  <a:lnTo>
                    <a:pt x="4974336" y="1463040"/>
                  </a:lnTo>
                  <a:lnTo>
                    <a:pt x="0" y="1463040"/>
                  </a:lnTo>
                  <a:close/>
                </a:path>
              </a:pathLst>
            </a:custGeom>
            <a:blipFill>
              <a:blip r:embed="rId3">
                <a:alphaModFix amt="0"/>
              </a:blip>
              <a:stretch>
                <a:fillRect l="0" t="-16249" r="0" b="-16249"/>
              </a:stretch>
            </a:blipFill>
          </p:spPr>
        </p:sp>
        <p:sp>
          <p:nvSpPr>
            <p:cNvPr name="TextBox 17" id="17"/>
            <p:cNvSpPr txBox="true"/>
            <p:nvPr/>
          </p:nvSpPr>
          <p:spPr>
            <a:xfrm>
              <a:off x="0" y="-9525"/>
              <a:ext cx="4974336" cy="1472565"/>
            </a:xfrm>
            <a:prstGeom prst="rect">
              <a:avLst/>
            </a:prstGeom>
          </p:spPr>
          <p:txBody>
            <a:bodyPr anchor="ctr" rtlCol="false" tIns="0" lIns="0" bIns="0" rIns="0"/>
            <a:lstStyle/>
            <a:p>
              <a:pPr algn="ctr">
                <a:lnSpc>
                  <a:spcPts val="6120"/>
                </a:lnSpc>
              </a:pPr>
              <a:r>
                <a:rPr lang="en-US" sz="5100" b="true">
                  <a:solidFill>
                    <a:srgbClr val="1E2761"/>
                  </a:solidFill>
                  <a:latin typeface="Cambria Bold"/>
                  <a:ea typeface="Cambria Bold"/>
                  <a:cs typeface="Cambria Bold"/>
                  <a:sym typeface="Cambria Bold"/>
                </a:rPr>
                <a:t>1</a:t>
              </a:r>
            </a:p>
          </p:txBody>
        </p:sp>
      </p:grpSp>
      <p:grpSp>
        <p:nvGrpSpPr>
          <p:cNvPr name="Group 18" id="18"/>
          <p:cNvGrpSpPr/>
          <p:nvPr/>
        </p:nvGrpSpPr>
        <p:grpSpPr>
          <a:xfrm rot="0">
            <a:off x="1440180" y="4663440"/>
            <a:ext cx="3319272" cy="617220"/>
            <a:chOff x="0" y="0"/>
            <a:chExt cx="4425696" cy="822960"/>
          </a:xfrm>
        </p:grpSpPr>
        <p:sp>
          <p:nvSpPr>
            <p:cNvPr name="Freeform 19" id="19"/>
            <p:cNvSpPr/>
            <p:nvPr/>
          </p:nvSpPr>
          <p:spPr>
            <a:xfrm flipH="false" flipV="false" rot="0">
              <a:off x="0" y="0"/>
              <a:ext cx="4425696" cy="822960"/>
            </a:xfrm>
            <a:custGeom>
              <a:avLst/>
              <a:gdLst/>
              <a:ahLst/>
              <a:cxnLst/>
              <a:rect r="r" b="b" t="t" l="l"/>
              <a:pathLst>
                <a:path h="822960" w="4425696">
                  <a:moveTo>
                    <a:pt x="0" y="0"/>
                  </a:moveTo>
                  <a:lnTo>
                    <a:pt x="4425696" y="0"/>
                  </a:lnTo>
                  <a:lnTo>
                    <a:pt x="4425696" y="822960"/>
                  </a:lnTo>
                  <a:lnTo>
                    <a:pt x="0" y="822960"/>
                  </a:lnTo>
                  <a:close/>
                </a:path>
              </a:pathLst>
            </a:custGeom>
            <a:blipFill>
              <a:blip r:embed="rId3">
                <a:alphaModFix amt="0"/>
              </a:blip>
              <a:stretch>
                <a:fillRect l="0" t="-54786" r="0" b="-54786"/>
              </a:stretch>
            </a:blipFill>
          </p:spPr>
        </p:sp>
        <p:sp>
          <p:nvSpPr>
            <p:cNvPr name="TextBox 20" id="20"/>
            <p:cNvSpPr txBox="true"/>
            <p:nvPr/>
          </p:nvSpPr>
          <p:spPr>
            <a:xfrm>
              <a:off x="0" y="-19050"/>
              <a:ext cx="4425696" cy="842010"/>
            </a:xfrm>
            <a:prstGeom prst="rect">
              <a:avLst/>
            </a:prstGeom>
          </p:spPr>
          <p:txBody>
            <a:bodyPr anchor="ctr" rtlCol="false" tIns="0" lIns="0" bIns="0" rIns="0"/>
            <a:lstStyle/>
            <a:p>
              <a:pPr algn="ctr">
                <a:lnSpc>
                  <a:spcPts val="2700"/>
                </a:lnSpc>
              </a:pPr>
              <a:r>
                <a:rPr lang="en-US" sz="2250" b="true">
                  <a:solidFill>
                    <a:srgbClr val="1E2761"/>
                  </a:solidFill>
                  <a:latin typeface="Cambria Bold"/>
                  <a:ea typeface="Cambria Bold"/>
                  <a:cs typeface="Cambria Bold"/>
                  <a:sym typeface="Cambria Bold"/>
                </a:rPr>
                <a:t>Partial</a:t>
              </a:r>
            </a:p>
          </p:txBody>
        </p:sp>
      </p:grpSp>
      <p:sp>
        <p:nvSpPr>
          <p:cNvPr name="TextBox 21" id="21"/>
          <p:cNvSpPr txBox="true"/>
          <p:nvPr/>
        </p:nvSpPr>
        <p:spPr>
          <a:xfrm rot="0">
            <a:off x="1600200" y="5318760"/>
            <a:ext cx="2999232" cy="1356360"/>
          </a:xfrm>
          <a:prstGeom prst="rect">
            <a:avLst/>
          </a:prstGeom>
        </p:spPr>
        <p:txBody>
          <a:bodyPr anchor="t" rtlCol="false" tIns="0" lIns="0" bIns="0" rIns="0">
            <a:spAutoFit/>
          </a:bodyPr>
          <a:lstStyle/>
          <a:p>
            <a:pPr algn="ctr">
              <a:lnSpc>
                <a:spcPts val="2475"/>
              </a:lnSpc>
            </a:pPr>
            <a:r>
              <a:rPr lang="en-US" sz="1650">
                <a:solidFill>
                  <a:srgbClr val="23262F"/>
                </a:solidFill>
                <a:latin typeface="Calibri (MS)"/>
                <a:ea typeface="Calibri (MS)"/>
                <a:cs typeface="Calibri (MS)"/>
                <a:sym typeface="Calibri (MS)"/>
              </a:rPr>
              <a:t>Ad hoc, reactive — done case-by-case, not as policy.</a:t>
            </a:r>
          </a:p>
        </p:txBody>
      </p:sp>
      <p:grpSp>
        <p:nvGrpSpPr>
          <p:cNvPr name="Group 22" id="22"/>
          <p:cNvGrpSpPr/>
          <p:nvPr/>
        </p:nvGrpSpPr>
        <p:grpSpPr>
          <a:xfrm rot="0">
            <a:off x="5266944" y="3154680"/>
            <a:ext cx="3730752" cy="3703320"/>
            <a:chOff x="0" y="0"/>
            <a:chExt cx="4974336" cy="4937760"/>
          </a:xfrm>
        </p:grpSpPr>
        <p:sp>
          <p:nvSpPr>
            <p:cNvPr name="Freeform 23" id="23"/>
            <p:cNvSpPr/>
            <p:nvPr/>
          </p:nvSpPr>
          <p:spPr>
            <a:xfrm flipH="false" flipV="false" rot="0">
              <a:off x="0" y="0"/>
              <a:ext cx="4974336" cy="4937760"/>
            </a:xfrm>
            <a:custGeom>
              <a:avLst/>
              <a:gdLst/>
              <a:ahLst/>
              <a:cxnLst/>
              <a:rect r="r" b="b" t="t" l="l"/>
              <a:pathLst>
                <a:path h="4937760" w="4974336">
                  <a:moveTo>
                    <a:pt x="0" y="182880"/>
                  </a:moveTo>
                  <a:cubicBezTo>
                    <a:pt x="0" y="81915"/>
                    <a:pt x="81915" y="0"/>
                    <a:pt x="182880" y="0"/>
                  </a:cubicBezTo>
                  <a:lnTo>
                    <a:pt x="4791456" y="0"/>
                  </a:lnTo>
                  <a:cubicBezTo>
                    <a:pt x="4892421" y="0"/>
                    <a:pt x="4974336" y="81915"/>
                    <a:pt x="4974336" y="182880"/>
                  </a:cubicBezTo>
                  <a:lnTo>
                    <a:pt x="4974336" y="4754880"/>
                  </a:lnTo>
                  <a:cubicBezTo>
                    <a:pt x="4974336" y="4855845"/>
                    <a:pt x="4892421" y="4937760"/>
                    <a:pt x="4791456" y="4937760"/>
                  </a:cubicBezTo>
                  <a:lnTo>
                    <a:pt x="182880" y="4937760"/>
                  </a:lnTo>
                  <a:cubicBezTo>
                    <a:pt x="81915" y="4937760"/>
                    <a:pt x="0" y="4855845"/>
                    <a:pt x="0" y="4754880"/>
                  </a:cubicBezTo>
                  <a:close/>
                </a:path>
              </a:pathLst>
            </a:custGeom>
            <a:solidFill>
              <a:srgbClr val="D6DAF0"/>
            </a:solidFill>
          </p:spPr>
        </p:sp>
      </p:grpSp>
      <p:grpSp>
        <p:nvGrpSpPr>
          <p:cNvPr name="Group 24" id="24"/>
          <p:cNvGrpSpPr/>
          <p:nvPr/>
        </p:nvGrpSpPr>
        <p:grpSpPr>
          <a:xfrm rot="0">
            <a:off x="5266944" y="3497580"/>
            <a:ext cx="3730752" cy="1097280"/>
            <a:chOff x="0" y="0"/>
            <a:chExt cx="4974336" cy="1463040"/>
          </a:xfrm>
        </p:grpSpPr>
        <p:sp>
          <p:nvSpPr>
            <p:cNvPr name="Freeform 25" id="25"/>
            <p:cNvSpPr/>
            <p:nvPr/>
          </p:nvSpPr>
          <p:spPr>
            <a:xfrm flipH="false" flipV="false" rot="0">
              <a:off x="0" y="0"/>
              <a:ext cx="4974336" cy="1463040"/>
            </a:xfrm>
            <a:custGeom>
              <a:avLst/>
              <a:gdLst/>
              <a:ahLst/>
              <a:cxnLst/>
              <a:rect r="r" b="b" t="t" l="l"/>
              <a:pathLst>
                <a:path h="1463040" w="4974336">
                  <a:moveTo>
                    <a:pt x="0" y="0"/>
                  </a:moveTo>
                  <a:lnTo>
                    <a:pt x="4974336" y="0"/>
                  </a:lnTo>
                  <a:lnTo>
                    <a:pt x="4974336" y="1463040"/>
                  </a:lnTo>
                  <a:lnTo>
                    <a:pt x="0" y="1463040"/>
                  </a:lnTo>
                  <a:close/>
                </a:path>
              </a:pathLst>
            </a:custGeom>
            <a:blipFill>
              <a:blip r:embed="rId3">
                <a:alphaModFix amt="0"/>
              </a:blip>
              <a:stretch>
                <a:fillRect l="0" t="-16249" r="0" b="-16249"/>
              </a:stretch>
            </a:blipFill>
          </p:spPr>
        </p:sp>
        <p:sp>
          <p:nvSpPr>
            <p:cNvPr name="TextBox 26" id="26"/>
            <p:cNvSpPr txBox="true"/>
            <p:nvPr/>
          </p:nvSpPr>
          <p:spPr>
            <a:xfrm>
              <a:off x="0" y="-9525"/>
              <a:ext cx="4974336" cy="1472565"/>
            </a:xfrm>
            <a:prstGeom prst="rect">
              <a:avLst/>
            </a:prstGeom>
          </p:spPr>
          <p:txBody>
            <a:bodyPr anchor="ctr" rtlCol="false" tIns="0" lIns="0" bIns="0" rIns="0"/>
            <a:lstStyle/>
            <a:p>
              <a:pPr algn="ctr">
                <a:lnSpc>
                  <a:spcPts val="6120"/>
                </a:lnSpc>
              </a:pPr>
              <a:r>
                <a:rPr lang="en-US" sz="5100" b="true">
                  <a:solidFill>
                    <a:srgbClr val="1E2761"/>
                  </a:solidFill>
                  <a:latin typeface="Cambria Bold"/>
                  <a:ea typeface="Cambria Bold"/>
                  <a:cs typeface="Cambria Bold"/>
                  <a:sym typeface="Cambria Bold"/>
                </a:rPr>
                <a:t>2</a:t>
              </a:r>
            </a:p>
          </p:txBody>
        </p:sp>
      </p:grpSp>
      <p:grpSp>
        <p:nvGrpSpPr>
          <p:cNvPr name="Group 27" id="27"/>
          <p:cNvGrpSpPr/>
          <p:nvPr/>
        </p:nvGrpSpPr>
        <p:grpSpPr>
          <a:xfrm rot="0">
            <a:off x="5472684" y="4663440"/>
            <a:ext cx="3319272" cy="617220"/>
            <a:chOff x="0" y="0"/>
            <a:chExt cx="4425696" cy="822960"/>
          </a:xfrm>
        </p:grpSpPr>
        <p:sp>
          <p:nvSpPr>
            <p:cNvPr name="Freeform 28" id="28"/>
            <p:cNvSpPr/>
            <p:nvPr/>
          </p:nvSpPr>
          <p:spPr>
            <a:xfrm flipH="false" flipV="false" rot="0">
              <a:off x="0" y="0"/>
              <a:ext cx="4425696" cy="822960"/>
            </a:xfrm>
            <a:custGeom>
              <a:avLst/>
              <a:gdLst/>
              <a:ahLst/>
              <a:cxnLst/>
              <a:rect r="r" b="b" t="t" l="l"/>
              <a:pathLst>
                <a:path h="822960" w="4425696">
                  <a:moveTo>
                    <a:pt x="0" y="0"/>
                  </a:moveTo>
                  <a:lnTo>
                    <a:pt x="4425696" y="0"/>
                  </a:lnTo>
                  <a:lnTo>
                    <a:pt x="4425696" y="822960"/>
                  </a:lnTo>
                  <a:lnTo>
                    <a:pt x="0" y="822960"/>
                  </a:lnTo>
                  <a:close/>
                </a:path>
              </a:pathLst>
            </a:custGeom>
            <a:blipFill>
              <a:blip r:embed="rId3">
                <a:alphaModFix amt="0"/>
              </a:blip>
              <a:stretch>
                <a:fillRect l="0" t="-54786" r="0" b="-54786"/>
              </a:stretch>
            </a:blipFill>
          </p:spPr>
        </p:sp>
        <p:sp>
          <p:nvSpPr>
            <p:cNvPr name="TextBox 29" id="29"/>
            <p:cNvSpPr txBox="true"/>
            <p:nvPr/>
          </p:nvSpPr>
          <p:spPr>
            <a:xfrm>
              <a:off x="0" y="-19050"/>
              <a:ext cx="4425696" cy="842010"/>
            </a:xfrm>
            <a:prstGeom prst="rect">
              <a:avLst/>
            </a:prstGeom>
          </p:spPr>
          <p:txBody>
            <a:bodyPr anchor="ctr" rtlCol="false" tIns="0" lIns="0" bIns="0" rIns="0"/>
            <a:lstStyle/>
            <a:p>
              <a:pPr algn="ctr">
                <a:lnSpc>
                  <a:spcPts val="2700"/>
                </a:lnSpc>
              </a:pPr>
              <a:r>
                <a:rPr lang="en-US" sz="2250" b="true">
                  <a:solidFill>
                    <a:srgbClr val="1E2761"/>
                  </a:solidFill>
                  <a:latin typeface="Cambria Bold"/>
                  <a:ea typeface="Cambria Bold"/>
                  <a:cs typeface="Cambria Bold"/>
                  <a:sym typeface="Cambria Bold"/>
                </a:rPr>
                <a:t>Risk Informed</a:t>
              </a:r>
            </a:p>
          </p:txBody>
        </p:sp>
      </p:grpSp>
      <p:sp>
        <p:nvSpPr>
          <p:cNvPr name="TextBox 30" id="30"/>
          <p:cNvSpPr txBox="true"/>
          <p:nvPr/>
        </p:nvSpPr>
        <p:spPr>
          <a:xfrm rot="0">
            <a:off x="5632704" y="5318760"/>
            <a:ext cx="2999232" cy="1356360"/>
          </a:xfrm>
          <a:prstGeom prst="rect">
            <a:avLst/>
          </a:prstGeom>
        </p:spPr>
        <p:txBody>
          <a:bodyPr anchor="t" rtlCol="false" tIns="0" lIns="0" bIns="0" rIns="0">
            <a:spAutoFit/>
          </a:bodyPr>
          <a:lstStyle/>
          <a:p>
            <a:pPr algn="ctr">
              <a:lnSpc>
                <a:spcPts val="2475"/>
              </a:lnSpc>
            </a:pPr>
            <a:r>
              <a:rPr lang="en-US" sz="1650">
                <a:solidFill>
                  <a:srgbClr val="23262F"/>
                </a:solidFill>
                <a:latin typeface="Calibri (MS)"/>
                <a:ea typeface="Calibri (MS)"/>
                <a:cs typeface="Calibri (MS)"/>
                <a:sym typeface="Calibri (MS)"/>
              </a:rPr>
              <a:t>Approved by management, but not yet organization-wide policy.</a:t>
            </a:r>
          </a:p>
        </p:txBody>
      </p:sp>
      <p:grpSp>
        <p:nvGrpSpPr>
          <p:cNvPr name="Group 31" id="31"/>
          <p:cNvGrpSpPr/>
          <p:nvPr/>
        </p:nvGrpSpPr>
        <p:grpSpPr>
          <a:xfrm rot="0">
            <a:off x="9299448" y="3154680"/>
            <a:ext cx="3730752" cy="3703320"/>
            <a:chOff x="0" y="0"/>
            <a:chExt cx="4974336" cy="4937760"/>
          </a:xfrm>
        </p:grpSpPr>
        <p:sp>
          <p:nvSpPr>
            <p:cNvPr name="Freeform 32" id="32"/>
            <p:cNvSpPr/>
            <p:nvPr/>
          </p:nvSpPr>
          <p:spPr>
            <a:xfrm flipH="false" flipV="false" rot="0">
              <a:off x="0" y="0"/>
              <a:ext cx="4974336" cy="4937760"/>
            </a:xfrm>
            <a:custGeom>
              <a:avLst/>
              <a:gdLst/>
              <a:ahLst/>
              <a:cxnLst/>
              <a:rect r="r" b="b" t="t" l="l"/>
              <a:pathLst>
                <a:path h="4937760" w="4974336">
                  <a:moveTo>
                    <a:pt x="0" y="182880"/>
                  </a:moveTo>
                  <a:cubicBezTo>
                    <a:pt x="0" y="81915"/>
                    <a:pt x="81915" y="0"/>
                    <a:pt x="182880" y="0"/>
                  </a:cubicBezTo>
                  <a:lnTo>
                    <a:pt x="4791456" y="0"/>
                  </a:lnTo>
                  <a:cubicBezTo>
                    <a:pt x="4892421" y="0"/>
                    <a:pt x="4974336" y="81915"/>
                    <a:pt x="4974336" y="182880"/>
                  </a:cubicBezTo>
                  <a:lnTo>
                    <a:pt x="4974336" y="4754880"/>
                  </a:lnTo>
                  <a:cubicBezTo>
                    <a:pt x="4974336" y="4855845"/>
                    <a:pt x="4892421" y="4937760"/>
                    <a:pt x="4791456" y="4937760"/>
                  </a:cubicBezTo>
                  <a:lnTo>
                    <a:pt x="182880" y="4937760"/>
                  </a:lnTo>
                  <a:cubicBezTo>
                    <a:pt x="81915" y="4937760"/>
                    <a:pt x="0" y="4855845"/>
                    <a:pt x="0" y="4754880"/>
                  </a:cubicBezTo>
                  <a:close/>
                </a:path>
              </a:pathLst>
            </a:custGeom>
            <a:solidFill>
              <a:srgbClr val="AEB6E0"/>
            </a:solidFill>
          </p:spPr>
        </p:sp>
      </p:grpSp>
      <p:grpSp>
        <p:nvGrpSpPr>
          <p:cNvPr name="Group 33" id="33"/>
          <p:cNvGrpSpPr/>
          <p:nvPr/>
        </p:nvGrpSpPr>
        <p:grpSpPr>
          <a:xfrm rot="0">
            <a:off x="9299448" y="3497580"/>
            <a:ext cx="3730752" cy="1097280"/>
            <a:chOff x="0" y="0"/>
            <a:chExt cx="4974336" cy="1463040"/>
          </a:xfrm>
        </p:grpSpPr>
        <p:sp>
          <p:nvSpPr>
            <p:cNvPr name="Freeform 34" id="34"/>
            <p:cNvSpPr/>
            <p:nvPr/>
          </p:nvSpPr>
          <p:spPr>
            <a:xfrm flipH="false" flipV="false" rot="0">
              <a:off x="0" y="0"/>
              <a:ext cx="4974336" cy="1463040"/>
            </a:xfrm>
            <a:custGeom>
              <a:avLst/>
              <a:gdLst/>
              <a:ahLst/>
              <a:cxnLst/>
              <a:rect r="r" b="b" t="t" l="l"/>
              <a:pathLst>
                <a:path h="1463040" w="4974336">
                  <a:moveTo>
                    <a:pt x="0" y="0"/>
                  </a:moveTo>
                  <a:lnTo>
                    <a:pt x="4974336" y="0"/>
                  </a:lnTo>
                  <a:lnTo>
                    <a:pt x="4974336" y="1463040"/>
                  </a:lnTo>
                  <a:lnTo>
                    <a:pt x="0" y="1463040"/>
                  </a:lnTo>
                  <a:close/>
                </a:path>
              </a:pathLst>
            </a:custGeom>
            <a:blipFill>
              <a:blip r:embed="rId3">
                <a:alphaModFix amt="0"/>
              </a:blip>
              <a:stretch>
                <a:fillRect l="0" t="-16249" r="0" b="-16249"/>
              </a:stretch>
            </a:blipFill>
          </p:spPr>
        </p:sp>
        <p:sp>
          <p:nvSpPr>
            <p:cNvPr name="TextBox 35" id="35"/>
            <p:cNvSpPr txBox="true"/>
            <p:nvPr/>
          </p:nvSpPr>
          <p:spPr>
            <a:xfrm>
              <a:off x="0" y="-9525"/>
              <a:ext cx="4974336" cy="1472565"/>
            </a:xfrm>
            <a:prstGeom prst="rect">
              <a:avLst/>
            </a:prstGeom>
          </p:spPr>
          <p:txBody>
            <a:bodyPr anchor="ctr" rtlCol="false" tIns="0" lIns="0" bIns="0" rIns="0"/>
            <a:lstStyle/>
            <a:p>
              <a:pPr algn="ctr">
                <a:lnSpc>
                  <a:spcPts val="6120"/>
                </a:lnSpc>
              </a:pPr>
              <a:r>
                <a:rPr lang="en-US" sz="5100" b="true">
                  <a:solidFill>
                    <a:srgbClr val="1E2761"/>
                  </a:solidFill>
                  <a:latin typeface="Cambria Bold"/>
                  <a:ea typeface="Cambria Bold"/>
                  <a:cs typeface="Cambria Bold"/>
                  <a:sym typeface="Cambria Bold"/>
                </a:rPr>
                <a:t>3</a:t>
              </a:r>
            </a:p>
          </p:txBody>
        </p:sp>
      </p:grpSp>
      <p:grpSp>
        <p:nvGrpSpPr>
          <p:cNvPr name="Group 36" id="36"/>
          <p:cNvGrpSpPr/>
          <p:nvPr/>
        </p:nvGrpSpPr>
        <p:grpSpPr>
          <a:xfrm rot="0">
            <a:off x="9505188" y="4663440"/>
            <a:ext cx="3319272" cy="617220"/>
            <a:chOff x="0" y="0"/>
            <a:chExt cx="4425696" cy="822960"/>
          </a:xfrm>
        </p:grpSpPr>
        <p:sp>
          <p:nvSpPr>
            <p:cNvPr name="Freeform 37" id="37"/>
            <p:cNvSpPr/>
            <p:nvPr/>
          </p:nvSpPr>
          <p:spPr>
            <a:xfrm flipH="false" flipV="false" rot="0">
              <a:off x="0" y="0"/>
              <a:ext cx="4425696" cy="822960"/>
            </a:xfrm>
            <a:custGeom>
              <a:avLst/>
              <a:gdLst/>
              <a:ahLst/>
              <a:cxnLst/>
              <a:rect r="r" b="b" t="t" l="l"/>
              <a:pathLst>
                <a:path h="822960" w="4425696">
                  <a:moveTo>
                    <a:pt x="0" y="0"/>
                  </a:moveTo>
                  <a:lnTo>
                    <a:pt x="4425696" y="0"/>
                  </a:lnTo>
                  <a:lnTo>
                    <a:pt x="4425696" y="822960"/>
                  </a:lnTo>
                  <a:lnTo>
                    <a:pt x="0" y="822960"/>
                  </a:lnTo>
                  <a:close/>
                </a:path>
              </a:pathLst>
            </a:custGeom>
            <a:blipFill>
              <a:blip r:embed="rId3">
                <a:alphaModFix amt="0"/>
              </a:blip>
              <a:stretch>
                <a:fillRect l="0" t="-54786" r="0" b="-54786"/>
              </a:stretch>
            </a:blipFill>
          </p:spPr>
        </p:sp>
        <p:sp>
          <p:nvSpPr>
            <p:cNvPr name="TextBox 38" id="38"/>
            <p:cNvSpPr txBox="true"/>
            <p:nvPr/>
          </p:nvSpPr>
          <p:spPr>
            <a:xfrm>
              <a:off x="0" y="-19050"/>
              <a:ext cx="4425696" cy="842010"/>
            </a:xfrm>
            <a:prstGeom prst="rect">
              <a:avLst/>
            </a:prstGeom>
          </p:spPr>
          <p:txBody>
            <a:bodyPr anchor="ctr" rtlCol="false" tIns="0" lIns="0" bIns="0" rIns="0"/>
            <a:lstStyle/>
            <a:p>
              <a:pPr algn="ctr">
                <a:lnSpc>
                  <a:spcPts val="2700"/>
                </a:lnSpc>
              </a:pPr>
              <a:r>
                <a:rPr lang="en-US" sz="2250" b="true">
                  <a:solidFill>
                    <a:srgbClr val="1E2761"/>
                  </a:solidFill>
                  <a:latin typeface="Cambria Bold"/>
                  <a:ea typeface="Cambria Bold"/>
                  <a:cs typeface="Cambria Bold"/>
                  <a:sym typeface="Cambria Bold"/>
                </a:rPr>
                <a:t>Repeatable</a:t>
              </a:r>
            </a:p>
          </p:txBody>
        </p:sp>
      </p:grpSp>
      <p:sp>
        <p:nvSpPr>
          <p:cNvPr name="TextBox 39" id="39"/>
          <p:cNvSpPr txBox="true"/>
          <p:nvPr/>
        </p:nvSpPr>
        <p:spPr>
          <a:xfrm rot="0">
            <a:off x="9665208" y="5318760"/>
            <a:ext cx="2999232" cy="1356360"/>
          </a:xfrm>
          <a:prstGeom prst="rect">
            <a:avLst/>
          </a:prstGeom>
        </p:spPr>
        <p:txBody>
          <a:bodyPr anchor="t" rtlCol="false" tIns="0" lIns="0" bIns="0" rIns="0">
            <a:spAutoFit/>
          </a:bodyPr>
          <a:lstStyle/>
          <a:p>
            <a:pPr algn="ctr">
              <a:lnSpc>
                <a:spcPts val="2475"/>
              </a:lnSpc>
            </a:pPr>
            <a:r>
              <a:rPr lang="en-US" sz="1650">
                <a:solidFill>
                  <a:srgbClr val="23262F"/>
                </a:solidFill>
                <a:latin typeface="Calibri (MS)"/>
                <a:ea typeface="Calibri (MS)"/>
                <a:cs typeface="Calibri (MS)"/>
                <a:sym typeface="Calibri (MS)"/>
              </a:rPr>
              <a:t>Formal, organization-wide policy with routine information sharing.</a:t>
            </a:r>
          </a:p>
        </p:txBody>
      </p:sp>
      <p:grpSp>
        <p:nvGrpSpPr>
          <p:cNvPr name="Group 40" id="40"/>
          <p:cNvGrpSpPr/>
          <p:nvPr/>
        </p:nvGrpSpPr>
        <p:grpSpPr>
          <a:xfrm rot="0">
            <a:off x="13331952" y="3154680"/>
            <a:ext cx="3730752" cy="3703320"/>
            <a:chOff x="0" y="0"/>
            <a:chExt cx="4974336" cy="4937760"/>
          </a:xfrm>
        </p:grpSpPr>
        <p:sp>
          <p:nvSpPr>
            <p:cNvPr name="Freeform 41" id="41"/>
            <p:cNvSpPr/>
            <p:nvPr/>
          </p:nvSpPr>
          <p:spPr>
            <a:xfrm flipH="false" flipV="false" rot="0">
              <a:off x="0" y="0"/>
              <a:ext cx="4974336" cy="4937760"/>
            </a:xfrm>
            <a:custGeom>
              <a:avLst/>
              <a:gdLst/>
              <a:ahLst/>
              <a:cxnLst/>
              <a:rect r="r" b="b" t="t" l="l"/>
              <a:pathLst>
                <a:path h="4937760" w="4974336">
                  <a:moveTo>
                    <a:pt x="0" y="182880"/>
                  </a:moveTo>
                  <a:cubicBezTo>
                    <a:pt x="0" y="81915"/>
                    <a:pt x="81915" y="0"/>
                    <a:pt x="182880" y="0"/>
                  </a:cubicBezTo>
                  <a:lnTo>
                    <a:pt x="4791456" y="0"/>
                  </a:lnTo>
                  <a:cubicBezTo>
                    <a:pt x="4892421" y="0"/>
                    <a:pt x="4974336" y="81915"/>
                    <a:pt x="4974336" y="182880"/>
                  </a:cubicBezTo>
                  <a:lnTo>
                    <a:pt x="4974336" y="4754880"/>
                  </a:lnTo>
                  <a:cubicBezTo>
                    <a:pt x="4974336" y="4855845"/>
                    <a:pt x="4892421" y="4937760"/>
                    <a:pt x="4791456" y="4937760"/>
                  </a:cubicBezTo>
                  <a:lnTo>
                    <a:pt x="182880" y="4937760"/>
                  </a:lnTo>
                  <a:cubicBezTo>
                    <a:pt x="81915" y="4937760"/>
                    <a:pt x="0" y="4855845"/>
                    <a:pt x="0" y="4754880"/>
                  </a:cubicBezTo>
                  <a:close/>
                </a:path>
              </a:pathLst>
            </a:custGeom>
            <a:solidFill>
              <a:srgbClr val="1E2761"/>
            </a:solidFill>
          </p:spPr>
        </p:sp>
      </p:grpSp>
      <p:grpSp>
        <p:nvGrpSpPr>
          <p:cNvPr name="Group 42" id="42"/>
          <p:cNvGrpSpPr/>
          <p:nvPr/>
        </p:nvGrpSpPr>
        <p:grpSpPr>
          <a:xfrm rot="0">
            <a:off x="13331952" y="3497580"/>
            <a:ext cx="3730752" cy="1097280"/>
            <a:chOff x="0" y="0"/>
            <a:chExt cx="4974336" cy="1463040"/>
          </a:xfrm>
        </p:grpSpPr>
        <p:sp>
          <p:nvSpPr>
            <p:cNvPr name="Freeform 43" id="43"/>
            <p:cNvSpPr/>
            <p:nvPr/>
          </p:nvSpPr>
          <p:spPr>
            <a:xfrm flipH="false" flipV="false" rot="0">
              <a:off x="0" y="0"/>
              <a:ext cx="4974336" cy="1463040"/>
            </a:xfrm>
            <a:custGeom>
              <a:avLst/>
              <a:gdLst/>
              <a:ahLst/>
              <a:cxnLst/>
              <a:rect r="r" b="b" t="t" l="l"/>
              <a:pathLst>
                <a:path h="1463040" w="4974336">
                  <a:moveTo>
                    <a:pt x="0" y="0"/>
                  </a:moveTo>
                  <a:lnTo>
                    <a:pt x="4974336" y="0"/>
                  </a:lnTo>
                  <a:lnTo>
                    <a:pt x="4974336" y="1463040"/>
                  </a:lnTo>
                  <a:lnTo>
                    <a:pt x="0" y="1463040"/>
                  </a:lnTo>
                  <a:close/>
                </a:path>
              </a:pathLst>
            </a:custGeom>
            <a:blipFill>
              <a:blip r:embed="rId3">
                <a:alphaModFix amt="0"/>
              </a:blip>
              <a:stretch>
                <a:fillRect l="0" t="-16249" r="0" b="-16249"/>
              </a:stretch>
            </a:blipFill>
          </p:spPr>
        </p:sp>
        <p:sp>
          <p:nvSpPr>
            <p:cNvPr name="TextBox 44" id="44"/>
            <p:cNvSpPr txBox="true"/>
            <p:nvPr/>
          </p:nvSpPr>
          <p:spPr>
            <a:xfrm>
              <a:off x="0" y="-9525"/>
              <a:ext cx="4974336" cy="1472565"/>
            </a:xfrm>
            <a:prstGeom prst="rect">
              <a:avLst/>
            </a:prstGeom>
          </p:spPr>
          <p:txBody>
            <a:bodyPr anchor="ctr" rtlCol="false" tIns="0" lIns="0" bIns="0" rIns="0"/>
            <a:lstStyle/>
            <a:p>
              <a:pPr algn="ctr">
                <a:lnSpc>
                  <a:spcPts val="6120"/>
                </a:lnSpc>
              </a:pPr>
              <a:r>
                <a:rPr lang="en-US" sz="5100" b="true">
                  <a:solidFill>
                    <a:srgbClr val="FFFFFF"/>
                  </a:solidFill>
                  <a:latin typeface="Cambria Bold"/>
                  <a:ea typeface="Cambria Bold"/>
                  <a:cs typeface="Cambria Bold"/>
                  <a:sym typeface="Cambria Bold"/>
                </a:rPr>
                <a:t>4</a:t>
              </a:r>
            </a:p>
          </p:txBody>
        </p:sp>
      </p:grpSp>
      <p:grpSp>
        <p:nvGrpSpPr>
          <p:cNvPr name="Group 45" id="45"/>
          <p:cNvGrpSpPr/>
          <p:nvPr/>
        </p:nvGrpSpPr>
        <p:grpSpPr>
          <a:xfrm rot="0">
            <a:off x="13537692" y="4663440"/>
            <a:ext cx="3319272" cy="617220"/>
            <a:chOff x="0" y="0"/>
            <a:chExt cx="4425696" cy="822960"/>
          </a:xfrm>
        </p:grpSpPr>
        <p:sp>
          <p:nvSpPr>
            <p:cNvPr name="Freeform 46" id="46"/>
            <p:cNvSpPr/>
            <p:nvPr/>
          </p:nvSpPr>
          <p:spPr>
            <a:xfrm flipH="false" flipV="false" rot="0">
              <a:off x="0" y="0"/>
              <a:ext cx="4425696" cy="822960"/>
            </a:xfrm>
            <a:custGeom>
              <a:avLst/>
              <a:gdLst/>
              <a:ahLst/>
              <a:cxnLst/>
              <a:rect r="r" b="b" t="t" l="l"/>
              <a:pathLst>
                <a:path h="822960" w="4425696">
                  <a:moveTo>
                    <a:pt x="0" y="0"/>
                  </a:moveTo>
                  <a:lnTo>
                    <a:pt x="4425696" y="0"/>
                  </a:lnTo>
                  <a:lnTo>
                    <a:pt x="4425696" y="822960"/>
                  </a:lnTo>
                  <a:lnTo>
                    <a:pt x="0" y="822960"/>
                  </a:lnTo>
                  <a:close/>
                </a:path>
              </a:pathLst>
            </a:custGeom>
            <a:blipFill>
              <a:blip r:embed="rId3">
                <a:alphaModFix amt="0"/>
              </a:blip>
              <a:stretch>
                <a:fillRect l="0" t="-54786" r="0" b="-54786"/>
              </a:stretch>
            </a:blipFill>
          </p:spPr>
        </p:sp>
        <p:sp>
          <p:nvSpPr>
            <p:cNvPr name="TextBox 47" id="47"/>
            <p:cNvSpPr txBox="true"/>
            <p:nvPr/>
          </p:nvSpPr>
          <p:spPr>
            <a:xfrm>
              <a:off x="0" y="-19050"/>
              <a:ext cx="4425696" cy="842010"/>
            </a:xfrm>
            <a:prstGeom prst="rect">
              <a:avLst/>
            </a:prstGeom>
          </p:spPr>
          <p:txBody>
            <a:bodyPr anchor="ctr" rtlCol="false" tIns="0" lIns="0" bIns="0" rIns="0"/>
            <a:lstStyle/>
            <a:p>
              <a:pPr algn="ctr">
                <a:lnSpc>
                  <a:spcPts val="2700"/>
                </a:lnSpc>
              </a:pPr>
              <a:r>
                <a:rPr lang="en-US" sz="2250" b="true">
                  <a:solidFill>
                    <a:srgbClr val="FFFFFF"/>
                  </a:solidFill>
                  <a:latin typeface="Cambria Bold"/>
                  <a:ea typeface="Cambria Bold"/>
                  <a:cs typeface="Cambria Bold"/>
                  <a:sym typeface="Cambria Bold"/>
                </a:rPr>
                <a:t>Adaptive</a:t>
              </a:r>
            </a:p>
          </p:txBody>
        </p:sp>
      </p:grpSp>
      <p:sp>
        <p:nvSpPr>
          <p:cNvPr name="TextBox 48" id="48"/>
          <p:cNvSpPr txBox="true"/>
          <p:nvPr/>
        </p:nvSpPr>
        <p:spPr>
          <a:xfrm rot="0">
            <a:off x="13697712" y="5318760"/>
            <a:ext cx="2999232" cy="1356360"/>
          </a:xfrm>
          <a:prstGeom prst="rect">
            <a:avLst/>
          </a:prstGeom>
        </p:spPr>
        <p:txBody>
          <a:bodyPr anchor="t" rtlCol="false" tIns="0" lIns="0" bIns="0" rIns="0">
            <a:spAutoFit/>
          </a:bodyPr>
          <a:lstStyle/>
          <a:p>
            <a:pPr algn="ctr">
              <a:lnSpc>
                <a:spcPts val="2475"/>
              </a:lnSpc>
            </a:pPr>
            <a:r>
              <a:rPr lang="en-US" sz="1650">
                <a:solidFill>
                  <a:srgbClr val="CADCFC"/>
                </a:solidFill>
                <a:latin typeface="Calibri (MS)"/>
                <a:ea typeface="Calibri (MS)"/>
                <a:cs typeface="Calibri (MS)"/>
                <a:sym typeface="Calibri (MS)"/>
              </a:rPr>
              <a:t>Embedded in culture — actively adapts based on experience.</a:t>
            </a:r>
          </a:p>
        </p:txBody>
      </p:sp>
      <p:grpSp>
        <p:nvGrpSpPr>
          <p:cNvPr name="Group 49" id="49"/>
          <p:cNvGrpSpPr/>
          <p:nvPr/>
        </p:nvGrpSpPr>
        <p:grpSpPr>
          <a:xfrm rot="0">
            <a:off x="685800" y="9710928"/>
            <a:ext cx="10972800" cy="411480"/>
            <a:chOff x="0" y="0"/>
            <a:chExt cx="14630400" cy="548640"/>
          </a:xfrm>
        </p:grpSpPr>
        <p:sp>
          <p:nvSpPr>
            <p:cNvPr name="Freeform 50" id="50"/>
            <p:cNvSpPr/>
            <p:nvPr/>
          </p:nvSpPr>
          <p:spPr>
            <a:xfrm flipH="false" flipV="false" rot="0">
              <a:off x="0" y="0"/>
              <a:ext cx="14630400" cy="548640"/>
            </a:xfrm>
            <a:custGeom>
              <a:avLst/>
              <a:gdLst/>
              <a:ahLst/>
              <a:cxnLst/>
              <a:rect r="r" b="b" t="t" l="l"/>
              <a:pathLst>
                <a:path h="548640" w="14630400">
                  <a:moveTo>
                    <a:pt x="0" y="0"/>
                  </a:moveTo>
                  <a:lnTo>
                    <a:pt x="14630400" y="0"/>
                  </a:lnTo>
                  <a:lnTo>
                    <a:pt x="14630400" y="548640"/>
                  </a:lnTo>
                  <a:lnTo>
                    <a:pt x="0" y="548640"/>
                  </a:lnTo>
                  <a:close/>
                </a:path>
              </a:pathLst>
            </a:custGeom>
            <a:blipFill>
              <a:blip r:embed="rId3">
                <a:alphaModFix amt="0"/>
              </a:blip>
              <a:stretch>
                <a:fillRect l="0" t="-469601" r="0" b="-469601"/>
              </a:stretch>
            </a:blipFill>
          </p:spPr>
        </p:sp>
        <p:sp>
          <p:nvSpPr>
            <p:cNvPr name="TextBox 51" id="51"/>
            <p:cNvSpPr txBox="true"/>
            <p:nvPr/>
          </p:nvSpPr>
          <p:spPr>
            <a:xfrm>
              <a:off x="0" y="-38100"/>
              <a:ext cx="14630400" cy="586740"/>
            </a:xfrm>
            <a:prstGeom prst="rect">
              <a:avLst/>
            </a:prstGeom>
          </p:spPr>
          <p:txBody>
            <a:bodyPr anchor="ctr" rtlCol="false" tIns="0" lIns="0" bIns="0" rIns="0"/>
            <a:lstStyle/>
            <a:p>
              <a:pPr algn="l">
                <a:lnSpc>
                  <a:spcPts val="1800"/>
                </a:lnSpc>
              </a:pPr>
              <a:r>
                <a:rPr lang="en-US" sz="1500">
                  <a:solidFill>
                    <a:srgbClr val="6B7280"/>
                  </a:solidFill>
                  <a:latin typeface="Calibri (MS)"/>
                  <a:ea typeface="Calibri (MS)"/>
                  <a:cs typeface="Calibri (MS)"/>
                  <a:sym typeface="Calibri (MS)"/>
                </a:rPr>
                <a:t>Davao del Norte Provincial Government — Cybersecurity Seminar</a:t>
              </a:r>
            </a:p>
          </p:txBody>
        </p:sp>
      </p:grpSp>
      <p:grpSp>
        <p:nvGrpSpPr>
          <p:cNvPr name="Group 52" id="52"/>
          <p:cNvGrpSpPr/>
          <p:nvPr/>
        </p:nvGrpSpPr>
        <p:grpSpPr>
          <a:xfrm rot="0">
            <a:off x="16911828" y="9710928"/>
            <a:ext cx="685800" cy="411480"/>
            <a:chOff x="0" y="0"/>
            <a:chExt cx="914400" cy="548640"/>
          </a:xfrm>
        </p:grpSpPr>
        <p:sp>
          <p:nvSpPr>
            <p:cNvPr name="Freeform 53" id="53"/>
            <p:cNvSpPr/>
            <p:nvPr/>
          </p:nvSpPr>
          <p:spPr>
            <a:xfrm flipH="false" flipV="false" rot="0">
              <a:off x="0" y="0"/>
              <a:ext cx="914400" cy="548640"/>
            </a:xfrm>
            <a:custGeom>
              <a:avLst/>
              <a:gdLst/>
              <a:ahLst/>
              <a:cxnLst/>
              <a:rect r="r" b="b" t="t" l="l"/>
              <a:pathLst>
                <a:path h="548640" w="914400">
                  <a:moveTo>
                    <a:pt x="0" y="0"/>
                  </a:moveTo>
                  <a:lnTo>
                    <a:pt x="914400" y="0"/>
                  </a:lnTo>
                  <a:lnTo>
                    <a:pt x="914400" y="548640"/>
                  </a:lnTo>
                  <a:lnTo>
                    <a:pt x="0" y="548640"/>
                  </a:lnTo>
                  <a:close/>
                </a:path>
              </a:pathLst>
            </a:custGeom>
            <a:blipFill>
              <a:blip r:embed="rId3">
                <a:alphaModFix amt="0"/>
              </a:blip>
              <a:stretch>
                <a:fillRect l="-26982" t="0" r="-26982" b="0"/>
              </a:stretch>
            </a:blipFill>
          </p:spPr>
        </p:sp>
        <p:sp>
          <p:nvSpPr>
            <p:cNvPr name="TextBox 54" id="54"/>
            <p:cNvSpPr txBox="true"/>
            <p:nvPr/>
          </p:nvSpPr>
          <p:spPr>
            <a:xfrm>
              <a:off x="0" y="-38100"/>
              <a:ext cx="914400" cy="586740"/>
            </a:xfrm>
            <a:prstGeom prst="rect">
              <a:avLst/>
            </a:prstGeom>
          </p:spPr>
          <p:txBody>
            <a:bodyPr anchor="ctr" rtlCol="false" tIns="0" lIns="0" bIns="0" rIns="0"/>
            <a:lstStyle/>
            <a:p>
              <a:pPr algn="r">
                <a:lnSpc>
                  <a:spcPts val="1800"/>
                </a:lnSpc>
              </a:pPr>
              <a:r>
                <a:rPr lang="en-US" sz="1500">
                  <a:solidFill>
                    <a:srgbClr val="6B7280"/>
                  </a:solidFill>
                  <a:latin typeface="Calibri (MS)"/>
                  <a:ea typeface="Calibri (MS)"/>
                  <a:cs typeface="Calibri (MS)"/>
                  <a:sym typeface="Calibri (MS)"/>
                </a:rPr>
                <a:t>8</a:t>
              </a:r>
            </a:p>
          </p:txBody>
        </p:sp>
      </p:grpSp>
    </p:spTree>
  </p:cSld>
  <p:clrMapOvr>
    <a:masterClrMapping/>
  </p:clrMapOvr>
</p:sld>
</file>

<file path=ppt/slides/slide76.xml><?xml version="1.0" encoding="utf-8"?>
<p:sld xmlns:p="http://schemas.openxmlformats.org/presentationml/2006/main" xmlns:a="http://schemas.openxmlformats.org/drawingml/2006/main" xmlns:r="http://schemas.openxmlformats.org/officeDocument/2006/relationships">
  <p:cSld>
    <p:bg>
      <p:bgPr>
        <a:solidFill>
          <a:srgbClr val="1E2761"/>
        </a:solidFill>
      </p:bgPr>
    </p:bg>
    <p:spTree>
      <p:nvGrpSpPr>
        <p:cNvPr id="1" name=""/>
        <p:cNvGrpSpPr/>
        <p:nvPr/>
      </p:nvGrpSpPr>
      <p:grpSpPr>
        <a:xfrm>
          <a:off x="0" y="0"/>
          <a:ext cx="0" cy="0"/>
          <a:chOff x="0" y="0"/>
          <a:chExt cx="0" cy="0"/>
        </a:xfrm>
      </p:grpSpPr>
      <p:grpSp>
        <p:nvGrpSpPr>
          <p:cNvPr name="Group 2" id="2"/>
          <p:cNvGrpSpPr/>
          <p:nvPr/>
        </p:nvGrpSpPr>
        <p:grpSpPr>
          <a:xfrm rot="0">
            <a:off x="-3017520" y="6309360"/>
            <a:ext cx="8229600" cy="8229600"/>
            <a:chOff x="0" y="0"/>
            <a:chExt cx="10972800" cy="10972800"/>
          </a:xfrm>
        </p:grpSpPr>
        <p:sp>
          <p:nvSpPr>
            <p:cNvPr name="Freeform 3" id="3"/>
            <p:cNvSpPr/>
            <p:nvPr/>
          </p:nvSpPr>
          <p:spPr>
            <a:xfrm flipH="false" flipV="false" rot="0">
              <a:off x="0" y="0"/>
              <a:ext cx="10972800" cy="10972800"/>
            </a:xfrm>
            <a:custGeom>
              <a:avLst/>
              <a:gdLst/>
              <a:ahLst/>
              <a:cxnLst/>
              <a:rect r="r" b="b" t="t" l="l"/>
              <a:pathLst>
                <a:path h="10972800" w="10972800">
                  <a:moveTo>
                    <a:pt x="0" y="5486400"/>
                  </a:moveTo>
                  <a:cubicBezTo>
                    <a:pt x="0" y="2456307"/>
                    <a:pt x="2456307" y="0"/>
                    <a:pt x="5486400" y="0"/>
                  </a:cubicBezTo>
                  <a:cubicBezTo>
                    <a:pt x="8516493" y="0"/>
                    <a:pt x="10972800" y="2456307"/>
                    <a:pt x="10972800" y="5486400"/>
                  </a:cubicBezTo>
                  <a:cubicBezTo>
                    <a:pt x="10972800" y="8516493"/>
                    <a:pt x="8516493" y="10972800"/>
                    <a:pt x="5486400" y="10972800"/>
                  </a:cubicBezTo>
                  <a:cubicBezTo>
                    <a:pt x="2456307" y="10972800"/>
                    <a:pt x="0" y="8516493"/>
                    <a:pt x="0" y="5486400"/>
                  </a:cubicBezTo>
                  <a:close/>
                </a:path>
              </a:pathLst>
            </a:custGeom>
            <a:solidFill>
              <a:srgbClr val="263186"/>
            </a:solidFill>
          </p:spPr>
        </p:sp>
      </p:grpSp>
      <p:grpSp>
        <p:nvGrpSpPr>
          <p:cNvPr name="Group 4" id="4"/>
          <p:cNvGrpSpPr/>
          <p:nvPr/>
        </p:nvGrpSpPr>
        <p:grpSpPr>
          <a:xfrm rot="0">
            <a:off x="1234440" y="1303020"/>
            <a:ext cx="10972800" cy="548640"/>
            <a:chOff x="0" y="0"/>
            <a:chExt cx="14630400" cy="731520"/>
          </a:xfrm>
        </p:grpSpPr>
        <p:sp>
          <p:nvSpPr>
            <p:cNvPr name="Freeform 5" id="5"/>
            <p:cNvSpPr/>
            <p:nvPr/>
          </p:nvSpPr>
          <p:spPr>
            <a:xfrm flipH="false" flipV="false" rot="0">
              <a:off x="0" y="0"/>
              <a:ext cx="14630400" cy="731520"/>
            </a:xfrm>
            <a:custGeom>
              <a:avLst/>
              <a:gdLst/>
              <a:ahLst/>
              <a:cxnLst/>
              <a:rect r="r" b="b" t="t" l="l"/>
              <a:pathLst>
                <a:path h="731520" w="14630400">
                  <a:moveTo>
                    <a:pt x="0" y="0"/>
                  </a:moveTo>
                  <a:lnTo>
                    <a:pt x="14630400" y="0"/>
                  </a:lnTo>
                  <a:lnTo>
                    <a:pt x="14630400" y="731520"/>
                  </a:lnTo>
                  <a:lnTo>
                    <a:pt x="0" y="731520"/>
                  </a:lnTo>
                  <a:close/>
                </a:path>
              </a:pathLst>
            </a:custGeom>
            <a:blipFill>
              <a:blip r:embed="rId2">
                <a:alphaModFix amt="0"/>
              </a:blip>
              <a:stretch>
                <a:fillRect l="0" t="-339700" r="0" b="-339700"/>
              </a:stretch>
            </a:blipFill>
          </p:spPr>
        </p:sp>
        <p:sp>
          <p:nvSpPr>
            <p:cNvPr name="TextBox 6" id="6"/>
            <p:cNvSpPr txBox="true"/>
            <p:nvPr/>
          </p:nvSpPr>
          <p:spPr>
            <a:xfrm>
              <a:off x="0" y="-47625"/>
              <a:ext cx="14630400" cy="779145"/>
            </a:xfrm>
            <a:prstGeom prst="rect">
              <a:avLst/>
            </a:prstGeom>
          </p:spPr>
          <p:txBody>
            <a:bodyPr anchor="ctr" rtlCol="false" tIns="0" lIns="0" bIns="0" rIns="0"/>
            <a:lstStyle/>
            <a:p>
              <a:pPr algn="l">
                <a:lnSpc>
                  <a:spcPts val="2520"/>
                </a:lnSpc>
              </a:pPr>
              <a:r>
                <a:rPr lang="en-US" b="true" sz="2100" spc="299">
                  <a:solidFill>
                    <a:srgbClr val="00B4D8"/>
                  </a:solidFill>
                  <a:latin typeface="Calibri (MS) Bold"/>
                  <a:ea typeface="Calibri (MS) Bold"/>
                  <a:cs typeface="Calibri (MS) Bold"/>
                  <a:sym typeface="Calibri (MS) Bold"/>
                </a:rPr>
                <a:t>YOUR TURN</a:t>
              </a:r>
            </a:p>
          </p:txBody>
        </p:sp>
      </p:grpSp>
      <p:grpSp>
        <p:nvGrpSpPr>
          <p:cNvPr name="Group 7" id="7"/>
          <p:cNvGrpSpPr/>
          <p:nvPr/>
        </p:nvGrpSpPr>
        <p:grpSpPr>
          <a:xfrm rot="0">
            <a:off x="1234440" y="1851660"/>
            <a:ext cx="10149840" cy="1783080"/>
            <a:chOff x="0" y="0"/>
            <a:chExt cx="13533120" cy="2377440"/>
          </a:xfrm>
        </p:grpSpPr>
        <p:sp>
          <p:nvSpPr>
            <p:cNvPr name="Freeform 8" id="8"/>
            <p:cNvSpPr/>
            <p:nvPr/>
          </p:nvSpPr>
          <p:spPr>
            <a:xfrm flipH="false" flipV="false" rot="0">
              <a:off x="0" y="0"/>
              <a:ext cx="13533120" cy="2377440"/>
            </a:xfrm>
            <a:custGeom>
              <a:avLst/>
              <a:gdLst/>
              <a:ahLst/>
              <a:cxnLst/>
              <a:rect r="r" b="b" t="t" l="l"/>
              <a:pathLst>
                <a:path h="2377440" w="13533120">
                  <a:moveTo>
                    <a:pt x="0" y="0"/>
                  </a:moveTo>
                  <a:lnTo>
                    <a:pt x="13533120" y="0"/>
                  </a:lnTo>
                  <a:lnTo>
                    <a:pt x="13533120" y="2377440"/>
                  </a:lnTo>
                  <a:lnTo>
                    <a:pt x="0" y="2377440"/>
                  </a:lnTo>
                  <a:close/>
                </a:path>
              </a:pathLst>
            </a:custGeom>
            <a:blipFill>
              <a:blip r:embed="rId2">
                <a:alphaModFix amt="0"/>
              </a:blip>
              <a:stretch>
                <a:fillRect l="0" t="-60914" r="0" b="-60914"/>
              </a:stretch>
            </a:blipFill>
          </p:spPr>
        </p:sp>
        <p:sp>
          <p:nvSpPr>
            <p:cNvPr name="TextBox 9" id="9"/>
            <p:cNvSpPr txBox="true"/>
            <p:nvPr/>
          </p:nvSpPr>
          <p:spPr>
            <a:xfrm>
              <a:off x="0" y="-9525"/>
              <a:ext cx="13533120" cy="2386965"/>
            </a:xfrm>
            <a:prstGeom prst="rect">
              <a:avLst/>
            </a:prstGeom>
          </p:spPr>
          <p:txBody>
            <a:bodyPr anchor="ctr" rtlCol="false" tIns="0" lIns="0" bIns="0" rIns="0"/>
            <a:lstStyle/>
            <a:p>
              <a:pPr algn="l">
                <a:lnSpc>
                  <a:spcPts val="6839"/>
                </a:lnSpc>
              </a:pPr>
              <a:r>
                <a:rPr lang="en-US" sz="5700" b="true">
                  <a:solidFill>
                    <a:srgbClr val="FFFFFF"/>
                  </a:solidFill>
                  <a:latin typeface="Cambria Bold"/>
                  <a:ea typeface="Cambria Bold"/>
                  <a:cs typeface="Cambria Bold"/>
                  <a:sym typeface="Cambria Bold"/>
                </a:rPr>
                <a:t>Sort 20 Real Scenarios</a:t>
              </a:r>
            </a:p>
          </p:txBody>
        </p:sp>
      </p:grpSp>
      <p:sp>
        <p:nvSpPr>
          <p:cNvPr name="TextBox 10" id="10"/>
          <p:cNvSpPr txBox="true"/>
          <p:nvPr/>
        </p:nvSpPr>
        <p:spPr>
          <a:xfrm rot="0">
            <a:off x="1325880" y="3429000"/>
            <a:ext cx="8869680" cy="1943100"/>
          </a:xfrm>
          <a:prstGeom prst="rect">
            <a:avLst/>
          </a:prstGeom>
        </p:spPr>
        <p:txBody>
          <a:bodyPr anchor="t" rtlCol="false" tIns="0" lIns="0" bIns="0" rIns="0">
            <a:spAutoFit/>
          </a:bodyPr>
          <a:lstStyle/>
          <a:p>
            <a:pPr algn="l">
              <a:lnSpc>
                <a:spcPts val="3375"/>
              </a:lnSpc>
            </a:pPr>
            <a:r>
              <a:rPr lang="en-US" sz="2250">
                <a:solidFill>
                  <a:srgbClr val="CADCFC"/>
                </a:solidFill>
                <a:latin typeface="Calibri (MS)"/>
                <a:ea typeface="Calibri (MS)"/>
                <a:cs typeface="Calibri (MS)"/>
                <a:sym typeface="Calibri (MS)"/>
              </a:rPr>
              <a:t>Scan the code or visit the link below. For each scenario, decide which of the six Functions it belongs to. Some belong to more than one.</a:t>
            </a:r>
          </a:p>
        </p:txBody>
      </p:sp>
      <p:grpSp>
        <p:nvGrpSpPr>
          <p:cNvPr name="Group 11" id="11"/>
          <p:cNvGrpSpPr/>
          <p:nvPr/>
        </p:nvGrpSpPr>
        <p:grpSpPr>
          <a:xfrm rot="0">
            <a:off x="1234440" y="5692140"/>
            <a:ext cx="754380" cy="754380"/>
            <a:chOff x="0" y="0"/>
            <a:chExt cx="1005840" cy="1005840"/>
          </a:xfrm>
        </p:grpSpPr>
        <p:sp>
          <p:nvSpPr>
            <p:cNvPr name="Freeform 12" id="12"/>
            <p:cNvSpPr/>
            <p:nvPr/>
          </p:nvSpPr>
          <p:spPr>
            <a:xfrm flipH="false" flipV="false" rot="0">
              <a:off x="0" y="0"/>
              <a:ext cx="1005840" cy="1005840"/>
            </a:xfrm>
            <a:custGeom>
              <a:avLst/>
              <a:gdLst/>
              <a:ahLst/>
              <a:cxnLst/>
              <a:rect r="r" b="b" t="t" l="l"/>
              <a:pathLst>
                <a:path h="1005840" w="1005840">
                  <a:moveTo>
                    <a:pt x="0" y="502920"/>
                  </a:moveTo>
                  <a:cubicBezTo>
                    <a:pt x="0" y="225171"/>
                    <a:pt x="225171" y="0"/>
                    <a:pt x="502920" y="0"/>
                  </a:cubicBezTo>
                  <a:cubicBezTo>
                    <a:pt x="780669" y="0"/>
                    <a:pt x="1005840" y="225171"/>
                    <a:pt x="1005840" y="502920"/>
                  </a:cubicBezTo>
                  <a:cubicBezTo>
                    <a:pt x="1005840" y="780669"/>
                    <a:pt x="780669" y="1005840"/>
                    <a:pt x="502920" y="1005840"/>
                  </a:cubicBezTo>
                  <a:cubicBezTo>
                    <a:pt x="225171" y="1005840"/>
                    <a:pt x="0" y="780669"/>
                    <a:pt x="0" y="502920"/>
                  </a:cubicBezTo>
                  <a:close/>
                </a:path>
              </a:pathLst>
            </a:custGeom>
            <a:solidFill>
              <a:srgbClr val="00B4D8"/>
            </a:solidFill>
          </p:spPr>
        </p:sp>
      </p:grpSp>
      <p:grpSp>
        <p:nvGrpSpPr>
          <p:cNvPr name="Group 13" id="13"/>
          <p:cNvGrpSpPr/>
          <p:nvPr/>
        </p:nvGrpSpPr>
        <p:grpSpPr>
          <a:xfrm rot="0">
            <a:off x="1412748" y="5870448"/>
            <a:ext cx="397764" cy="397764"/>
            <a:chOff x="0" y="0"/>
            <a:chExt cx="530352" cy="530352"/>
          </a:xfrm>
        </p:grpSpPr>
        <p:sp>
          <p:nvSpPr>
            <p:cNvPr name="Freeform 14" id="14" descr="link.png"/>
            <p:cNvSpPr/>
            <p:nvPr/>
          </p:nvSpPr>
          <p:spPr>
            <a:xfrm flipH="false" flipV="false" rot="0">
              <a:off x="0" y="0"/>
              <a:ext cx="530352" cy="530352"/>
            </a:xfrm>
            <a:custGeom>
              <a:avLst/>
              <a:gdLst/>
              <a:ahLst/>
              <a:cxnLst/>
              <a:rect r="r" b="b" t="t" l="l"/>
              <a:pathLst>
                <a:path h="530352" w="530352">
                  <a:moveTo>
                    <a:pt x="0" y="0"/>
                  </a:moveTo>
                  <a:lnTo>
                    <a:pt x="530352" y="0"/>
                  </a:lnTo>
                  <a:lnTo>
                    <a:pt x="530352" y="530352"/>
                  </a:lnTo>
                  <a:lnTo>
                    <a:pt x="0" y="530352"/>
                  </a:lnTo>
                  <a:lnTo>
                    <a:pt x="0" y="0"/>
                  </a:lnTo>
                  <a:close/>
                </a:path>
              </a:pathLst>
            </a:custGeom>
            <a:blipFill>
              <a:blip r:embed="rId3"/>
              <a:stretch>
                <a:fillRect l="0" t="0" r="0" b="0"/>
              </a:stretch>
            </a:blipFill>
          </p:spPr>
        </p:sp>
      </p:grpSp>
      <p:grpSp>
        <p:nvGrpSpPr>
          <p:cNvPr name="Group 15" id="15"/>
          <p:cNvGrpSpPr/>
          <p:nvPr/>
        </p:nvGrpSpPr>
        <p:grpSpPr>
          <a:xfrm rot="0">
            <a:off x="2263140" y="5650992"/>
            <a:ext cx="7543800" cy="411480"/>
            <a:chOff x="0" y="0"/>
            <a:chExt cx="10058400" cy="548640"/>
          </a:xfrm>
        </p:grpSpPr>
        <p:sp>
          <p:nvSpPr>
            <p:cNvPr name="Freeform 16" id="16"/>
            <p:cNvSpPr/>
            <p:nvPr/>
          </p:nvSpPr>
          <p:spPr>
            <a:xfrm flipH="false" flipV="false" rot="0">
              <a:off x="0" y="0"/>
              <a:ext cx="10058400" cy="548640"/>
            </a:xfrm>
            <a:custGeom>
              <a:avLst/>
              <a:gdLst/>
              <a:ahLst/>
              <a:cxnLst/>
              <a:rect r="r" b="b" t="t" l="l"/>
              <a:pathLst>
                <a:path h="548640" w="10058400">
                  <a:moveTo>
                    <a:pt x="0" y="0"/>
                  </a:moveTo>
                  <a:lnTo>
                    <a:pt x="10058400" y="0"/>
                  </a:lnTo>
                  <a:lnTo>
                    <a:pt x="10058400" y="548640"/>
                  </a:lnTo>
                  <a:lnTo>
                    <a:pt x="0" y="548640"/>
                  </a:lnTo>
                  <a:close/>
                </a:path>
              </a:pathLst>
            </a:custGeom>
            <a:blipFill>
              <a:blip r:embed="rId2">
                <a:alphaModFix amt="0"/>
              </a:blip>
              <a:stretch>
                <a:fillRect l="0" t="-307225" r="0" b="-307225"/>
              </a:stretch>
            </a:blipFill>
          </p:spPr>
        </p:sp>
        <p:sp>
          <p:nvSpPr>
            <p:cNvPr name="TextBox 17" id="17"/>
            <p:cNvSpPr txBox="true"/>
            <p:nvPr/>
          </p:nvSpPr>
          <p:spPr>
            <a:xfrm>
              <a:off x="0" y="-47625"/>
              <a:ext cx="10058400" cy="596265"/>
            </a:xfrm>
            <a:prstGeom prst="rect">
              <a:avLst/>
            </a:prstGeom>
          </p:spPr>
          <p:txBody>
            <a:bodyPr anchor="ctr" rtlCol="false" tIns="0" lIns="0" bIns="0" rIns="0"/>
            <a:lstStyle/>
            <a:p>
              <a:pPr algn="l">
                <a:lnSpc>
                  <a:spcPts val="2340"/>
                </a:lnSpc>
              </a:pPr>
              <a:r>
                <a:rPr lang="en-US" sz="1950">
                  <a:solidFill>
                    <a:srgbClr val="CADCFC"/>
                  </a:solidFill>
                  <a:latin typeface="Calibri (MS)"/>
                  <a:ea typeface="Calibri (MS)"/>
                  <a:cs typeface="Calibri (MS)"/>
                  <a:sym typeface="Calibri (MS)"/>
                </a:rPr>
                <a:t>Go to:</a:t>
              </a:r>
            </a:p>
          </p:txBody>
        </p:sp>
      </p:grpSp>
      <p:grpSp>
        <p:nvGrpSpPr>
          <p:cNvPr name="Group 18" id="18"/>
          <p:cNvGrpSpPr/>
          <p:nvPr/>
        </p:nvGrpSpPr>
        <p:grpSpPr>
          <a:xfrm rot="0">
            <a:off x="2235708" y="6062472"/>
            <a:ext cx="9326880" cy="754380"/>
            <a:chOff x="0" y="0"/>
            <a:chExt cx="12435840" cy="1005840"/>
          </a:xfrm>
        </p:grpSpPr>
        <p:sp>
          <p:nvSpPr>
            <p:cNvPr name="Freeform 19" id="19"/>
            <p:cNvSpPr/>
            <p:nvPr/>
          </p:nvSpPr>
          <p:spPr>
            <a:xfrm flipH="false" flipV="false" rot="0">
              <a:off x="0" y="0"/>
              <a:ext cx="12435840" cy="1005840"/>
            </a:xfrm>
            <a:custGeom>
              <a:avLst/>
              <a:gdLst/>
              <a:ahLst/>
              <a:cxnLst/>
              <a:rect r="r" b="b" t="t" l="l"/>
              <a:pathLst>
                <a:path h="1005840" w="12435840">
                  <a:moveTo>
                    <a:pt x="0" y="0"/>
                  </a:moveTo>
                  <a:lnTo>
                    <a:pt x="12435840" y="0"/>
                  </a:lnTo>
                  <a:lnTo>
                    <a:pt x="12435840" y="1005840"/>
                  </a:lnTo>
                  <a:lnTo>
                    <a:pt x="0" y="1005840"/>
                  </a:lnTo>
                  <a:close/>
                </a:path>
              </a:pathLst>
            </a:custGeom>
            <a:blipFill>
              <a:blip r:embed="rId2">
                <a:alphaModFix amt="0"/>
              </a:blip>
              <a:stretch>
                <a:fillRect l="0" t="-190905" r="0" b="-190905"/>
              </a:stretch>
            </a:blipFill>
          </p:spPr>
        </p:sp>
        <p:sp>
          <p:nvSpPr>
            <p:cNvPr name="TextBox 20" id="20"/>
            <p:cNvSpPr txBox="true"/>
            <p:nvPr/>
          </p:nvSpPr>
          <p:spPr>
            <a:xfrm>
              <a:off x="0" y="-19050"/>
              <a:ext cx="12435840" cy="1024890"/>
            </a:xfrm>
            <a:prstGeom prst="rect">
              <a:avLst/>
            </a:prstGeom>
          </p:spPr>
          <p:txBody>
            <a:bodyPr anchor="ctr" rtlCol="false" tIns="0" lIns="0" bIns="0" rIns="0"/>
            <a:lstStyle/>
            <a:p>
              <a:pPr algn="l">
                <a:lnSpc>
                  <a:spcPts val="4320"/>
                </a:lnSpc>
              </a:pPr>
              <a:r>
                <a:rPr lang="en-US" sz="3600" b="true">
                  <a:solidFill>
                    <a:srgbClr val="FFFFFF"/>
                  </a:solidFill>
                  <a:latin typeface="Cambria Bold"/>
                  <a:ea typeface="Cambria Bold"/>
                  <a:cs typeface="Cambria Bold"/>
                  <a:sym typeface="Cambria Bold"/>
                </a:rPr>
                <a:t>ferdienervida.com/nistcsf</a:t>
              </a:r>
            </a:p>
          </p:txBody>
        </p:sp>
      </p:grpSp>
      <p:grpSp>
        <p:nvGrpSpPr>
          <p:cNvPr name="Group 21" id="21"/>
          <p:cNvGrpSpPr/>
          <p:nvPr/>
        </p:nvGrpSpPr>
        <p:grpSpPr>
          <a:xfrm rot="0">
            <a:off x="1234440" y="7063740"/>
            <a:ext cx="9601200" cy="548640"/>
            <a:chOff x="0" y="0"/>
            <a:chExt cx="12801600" cy="731520"/>
          </a:xfrm>
        </p:grpSpPr>
        <p:sp>
          <p:nvSpPr>
            <p:cNvPr name="Freeform 22" id="22"/>
            <p:cNvSpPr/>
            <p:nvPr/>
          </p:nvSpPr>
          <p:spPr>
            <a:xfrm flipH="false" flipV="false" rot="0">
              <a:off x="0" y="0"/>
              <a:ext cx="12801600" cy="731520"/>
            </a:xfrm>
            <a:custGeom>
              <a:avLst/>
              <a:gdLst/>
              <a:ahLst/>
              <a:cxnLst/>
              <a:rect r="r" b="b" t="t" l="l"/>
              <a:pathLst>
                <a:path h="731520" w="12801600">
                  <a:moveTo>
                    <a:pt x="0" y="0"/>
                  </a:moveTo>
                  <a:lnTo>
                    <a:pt x="12801600" y="0"/>
                  </a:lnTo>
                  <a:lnTo>
                    <a:pt x="12801600" y="731520"/>
                  </a:lnTo>
                  <a:lnTo>
                    <a:pt x="0" y="731520"/>
                  </a:lnTo>
                  <a:close/>
                </a:path>
              </a:pathLst>
            </a:custGeom>
            <a:blipFill>
              <a:blip r:embed="rId2">
                <a:alphaModFix amt="0"/>
              </a:blip>
              <a:stretch>
                <a:fillRect l="0" t="-290988" r="0" b="-290988"/>
              </a:stretch>
            </a:blipFill>
          </p:spPr>
        </p:sp>
        <p:sp>
          <p:nvSpPr>
            <p:cNvPr name="TextBox 23" id="23"/>
            <p:cNvSpPr txBox="true"/>
            <p:nvPr/>
          </p:nvSpPr>
          <p:spPr>
            <a:xfrm>
              <a:off x="0" y="-47625"/>
              <a:ext cx="12801600" cy="779145"/>
            </a:xfrm>
            <a:prstGeom prst="rect">
              <a:avLst/>
            </a:prstGeom>
          </p:spPr>
          <p:txBody>
            <a:bodyPr anchor="ctr" rtlCol="false" tIns="0" lIns="0" bIns="0" rIns="0"/>
            <a:lstStyle/>
            <a:p>
              <a:pPr algn="l">
                <a:lnSpc>
                  <a:spcPts val="2340"/>
                </a:lnSpc>
              </a:pPr>
              <a:r>
                <a:rPr lang="en-US" sz="1950" i="true">
                  <a:solidFill>
                    <a:srgbClr val="CADCFC"/>
                  </a:solidFill>
                  <a:latin typeface="Calibri (MS) Italics"/>
                  <a:ea typeface="Calibri (MS) Italics"/>
                  <a:cs typeface="Calibri (MS) Italics"/>
                  <a:sym typeface="Calibri (MS) Italics"/>
                </a:rPr>
                <a:t>⏱  About 25 minutes, then we review together</a:t>
              </a:r>
            </a:p>
          </p:txBody>
        </p:sp>
      </p:grpSp>
      <p:grpSp>
        <p:nvGrpSpPr>
          <p:cNvPr name="Group 24" id="24"/>
          <p:cNvGrpSpPr/>
          <p:nvPr/>
        </p:nvGrpSpPr>
        <p:grpSpPr>
          <a:xfrm rot="0">
            <a:off x="13098780" y="2125980"/>
            <a:ext cx="3977640" cy="3977640"/>
            <a:chOff x="0" y="0"/>
            <a:chExt cx="5303520" cy="5303520"/>
          </a:xfrm>
        </p:grpSpPr>
        <p:sp>
          <p:nvSpPr>
            <p:cNvPr name="Freeform 25" id="25"/>
            <p:cNvSpPr/>
            <p:nvPr/>
          </p:nvSpPr>
          <p:spPr>
            <a:xfrm flipH="false" flipV="false" rot="0">
              <a:off x="0" y="0"/>
              <a:ext cx="5303520" cy="5303520"/>
            </a:xfrm>
            <a:custGeom>
              <a:avLst/>
              <a:gdLst/>
              <a:ahLst/>
              <a:cxnLst/>
              <a:rect r="r" b="b" t="t" l="l"/>
              <a:pathLst>
                <a:path h="5303520" w="5303520">
                  <a:moveTo>
                    <a:pt x="0" y="219456"/>
                  </a:moveTo>
                  <a:cubicBezTo>
                    <a:pt x="0" y="98298"/>
                    <a:pt x="98298" y="0"/>
                    <a:pt x="219456" y="0"/>
                  </a:cubicBezTo>
                  <a:lnTo>
                    <a:pt x="5084064" y="0"/>
                  </a:lnTo>
                  <a:cubicBezTo>
                    <a:pt x="5205222" y="0"/>
                    <a:pt x="5303520" y="98298"/>
                    <a:pt x="5303520" y="219456"/>
                  </a:cubicBezTo>
                  <a:lnTo>
                    <a:pt x="5303520" y="5084064"/>
                  </a:lnTo>
                  <a:cubicBezTo>
                    <a:pt x="5303520" y="5205222"/>
                    <a:pt x="5205222" y="5303520"/>
                    <a:pt x="5084064" y="5303520"/>
                  </a:cubicBezTo>
                  <a:lnTo>
                    <a:pt x="219456" y="5303520"/>
                  </a:lnTo>
                  <a:cubicBezTo>
                    <a:pt x="98298" y="5303520"/>
                    <a:pt x="0" y="5205222"/>
                    <a:pt x="0" y="5084064"/>
                  </a:cubicBezTo>
                  <a:close/>
                </a:path>
              </a:pathLst>
            </a:custGeom>
            <a:solidFill>
              <a:srgbClr val="FFFFFF"/>
            </a:solidFill>
          </p:spPr>
        </p:sp>
      </p:grpSp>
      <p:grpSp>
        <p:nvGrpSpPr>
          <p:cNvPr name="Group 26" id="26"/>
          <p:cNvGrpSpPr/>
          <p:nvPr/>
        </p:nvGrpSpPr>
        <p:grpSpPr>
          <a:xfrm rot="0">
            <a:off x="13441680" y="2468880"/>
            <a:ext cx="3291840" cy="3291840"/>
            <a:chOff x="0" y="0"/>
            <a:chExt cx="4389120" cy="4389120"/>
          </a:xfrm>
        </p:grpSpPr>
        <p:sp>
          <p:nvSpPr>
            <p:cNvPr name="Freeform 27" id="27" descr="qr_nistcsf.png"/>
            <p:cNvSpPr/>
            <p:nvPr/>
          </p:nvSpPr>
          <p:spPr>
            <a:xfrm flipH="false" flipV="false" rot="0">
              <a:off x="0" y="0"/>
              <a:ext cx="4389120" cy="4389120"/>
            </a:xfrm>
            <a:custGeom>
              <a:avLst/>
              <a:gdLst/>
              <a:ahLst/>
              <a:cxnLst/>
              <a:rect r="r" b="b" t="t" l="l"/>
              <a:pathLst>
                <a:path h="4389120" w="4389120">
                  <a:moveTo>
                    <a:pt x="0" y="0"/>
                  </a:moveTo>
                  <a:lnTo>
                    <a:pt x="4389120" y="0"/>
                  </a:lnTo>
                  <a:lnTo>
                    <a:pt x="4389120" y="4389120"/>
                  </a:lnTo>
                  <a:lnTo>
                    <a:pt x="0" y="4389120"/>
                  </a:lnTo>
                  <a:lnTo>
                    <a:pt x="0" y="0"/>
                  </a:lnTo>
                  <a:close/>
                </a:path>
              </a:pathLst>
            </a:custGeom>
            <a:blipFill>
              <a:blip r:embed="rId4"/>
              <a:stretch>
                <a:fillRect l="0" t="0" r="0" b="0"/>
              </a:stretch>
            </a:blipFill>
          </p:spPr>
        </p:sp>
      </p:grpSp>
      <p:grpSp>
        <p:nvGrpSpPr>
          <p:cNvPr name="Group 28" id="28"/>
          <p:cNvGrpSpPr/>
          <p:nvPr/>
        </p:nvGrpSpPr>
        <p:grpSpPr>
          <a:xfrm rot="0">
            <a:off x="13098780" y="6281928"/>
            <a:ext cx="3977640" cy="480060"/>
            <a:chOff x="0" y="0"/>
            <a:chExt cx="5303520" cy="640080"/>
          </a:xfrm>
        </p:grpSpPr>
        <p:sp>
          <p:nvSpPr>
            <p:cNvPr name="Freeform 29" id="29"/>
            <p:cNvSpPr/>
            <p:nvPr/>
          </p:nvSpPr>
          <p:spPr>
            <a:xfrm flipH="false" flipV="false" rot="0">
              <a:off x="0" y="0"/>
              <a:ext cx="5303520" cy="640080"/>
            </a:xfrm>
            <a:custGeom>
              <a:avLst/>
              <a:gdLst/>
              <a:ahLst/>
              <a:cxnLst/>
              <a:rect r="r" b="b" t="t" l="l"/>
              <a:pathLst>
                <a:path h="640080" w="5303520">
                  <a:moveTo>
                    <a:pt x="0" y="0"/>
                  </a:moveTo>
                  <a:lnTo>
                    <a:pt x="5303520" y="0"/>
                  </a:lnTo>
                  <a:lnTo>
                    <a:pt x="5303520" y="640080"/>
                  </a:lnTo>
                  <a:lnTo>
                    <a:pt x="0" y="640080"/>
                  </a:lnTo>
                  <a:close/>
                </a:path>
              </a:pathLst>
            </a:custGeom>
            <a:blipFill>
              <a:blip r:embed="rId2">
                <a:alphaModFix amt="0"/>
              </a:blip>
              <a:stretch>
                <a:fillRect l="0" t="-111447" r="0" b="-111447"/>
              </a:stretch>
            </a:blipFill>
          </p:spPr>
        </p:sp>
        <p:sp>
          <p:nvSpPr>
            <p:cNvPr name="TextBox 30" id="30"/>
            <p:cNvSpPr txBox="true"/>
            <p:nvPr/>
          </p:nvSpPr>
          <p:spPr>
            <a:xfrm>
              <a:off x="0" y="-38100"/>
              <a:ext cx="5303520" cy="678180"/>
            </a:xfrm>
            <a:prstGeom prst="rect">
              <a:avLst/>
            </a:prstGeom>
          </p:spPr>
          <p:txBody>
            <a:bodyPr anchor="ctr" rtlCol="false" tIns="0" lIns="0" bIns="0" rIns="0"/>
            <a:lstStyle/>
            <a:p>
              <a:pPr algn="ctr">
                <a:lnSpc>
                  <a:spcPts val="2160"/>
                </a:lnSpc>
              </a:pPr>
              <a:r>
                <a:rPr lang="en-US" sz="1800" b="true">
                  <a:solidFill>
                    <a:srgbClr val="CADCFC"/>
                  </a:solidFill>
                  <a:latin typeface="Calibri (MS) Bold"/>
                  <a:ea typeface="Calibri (MS) Bold"/>
                  <a:cs typeface="Calibri (MS) Bold"/>
                  <a:sym typeface="Calibri (MS) Bold"/>
                </a:rPr>
                <a:t>NIST CSF Sort</a:t>
              </a:r>
            </a:p>
          </p:txBody>
        </p:sp>
      </p:grpSp>
      <p:grpSp>
        <p:nvGrpSpPr>
          <p:cNvPr name="Group 31" id="31"/>
          <p:cNvGrpSpPr/>
          <p:nvPr/>
        </p:nvGrpSpPr>
        <p:grpSpPr>
          <a:xfrm rot="0">
            <a:off x="685800" y="9710928"/>
            <a:ext cx="10972800" cy="411480"/>
            <a:chOff x="0" y="0"/>
            <a:chExt cx="14630400" cy="548640"/>
          </a:xfrm>
        </p:grpSpPr>
        <p:sp>
          <p:nvSpPr>
            <p:cNvPr name="Freeform 32" id="32"/>
            <p:cNvSpPr/>
            <p:nvPr/>
          </p:nvSpPr>
          <p:spPr>
            <a:xfrm flipH="false" flipV="false" rot="0">
              <a:off x="0" y="0"/>
              <a:ext cx="14630400" cy="548640"/>
            </a:xfrm>
            <a:custGeom>
              <a:avLst/>
              <a:gdLst/>
              <a:ahLst/>
              <a:cxnLst/>
              <a:rect r="r" b="b" t="t" l="l"/>
              <a:pathLst>
                <a:path h="548640" w="14630400">
                  <a:moveTo>
                    <a:pt x="0" y="0"/>
                  </a:moveTo>
                  <a:lnTo>
                    <a:pt x="14630400" y="0"/>
                  </a:lnTo>
                  <a:lnTo>
                    <a:pt x="14630400" y="548640"/>
                  </a:lnTo>
                  <a:lnTo>
                    <a:pt x="0" y="548640"/>
                  </a:lnTo>
                  <a:close/>
                </a:path>
              </a:pathLst>
            </a:custGeom>
            <a:blipFill>
              <a:blip r:embed="rId2">
                <a:alphaModFix amt="0"/>
              </a:blip>
              <a:stretch>
                <a:fillRect l="0" t="-469601" r="0" b="-469601"/>
              </a:stretch>
            </a:blipFill>
          </p:spPr>
        </p:sp>
        <p:sp>
          <p:nvSpPr>
            <p:cNvPr name="TextBox 33" id="33"/>
            <p:cNvSpPr txBox="true"/>
            <p:nvPr/>
          </p:nvSpPr>
          <p:spPr>
            <a:xfrm>
              <a:off x="0" y="-38100"/>
              <a:ext cx="14630400" cy="586740"/>
            </a:xfrm>
            <a:prstGeom prst="rect">
              <a:avLst/>
            </a:prstGeom>
          </p:spPr>
          <p:txBody>
            <a:bodyPr anchor="ctr" rtlCol="false" tIns="0" lIns="0" bIns="0" rIns="0"/>
            <a:lstStyle/>
            <a:p>
              <a:pPr algn="l">
                <a:lnSpc>
                  <a:spcPts val="1800"/>
                </a:lnSpc>
              </a:pPr>
              <a:r>
                <a:rPr lang="en-US" sz="1500">
                  <a:solidFill>
                    <a:srgbClr val="CADCFC"/>
                  </a:solidFill>
                  <a:latin typeface="Calibri (MS)"/>
                  <a:ea typeface="Calibri (MS)"/>
                  <a:cs typeface="Calibri (MS)"/>
                  <a:sym typeface="Calibri (MS)"/>
                </a:rPr>
                <a:t>Davao del Norte Provincial Government — Cybersecurity Seminar</a:t>
              </a:r>
            </a:p>
          </p:txBody>
        </p:sp>
      </p:grpSp>
      <p:grpSp>
        <p:nvGrpSpPr>
          <p:cNvPr name="Group 34" id="34"/>
          <p:cNvGrpSpPr/>
          <p:nvPr/>
        </p:nvGrpSpPr>
        <p:grpSpPr>
          <a:xfrm rot="0">
            <a:off x="16911828" y="9710928"/>
            <a:ext cx="685800" cy="411480"/>
            <a:chOff x="0" y="0"/>
            <a:chExt cx="914400" cy="548640"/>
          </a:xfrm>
        </p:grpSpPr>
        <p:sp>
          <p:nvSpPr>
            <p:cNvPr name="Freeform 35" id="35"/>
            <p:cNvSpPr/>
            <p:nvPr/>
          </p:nvSpPr>
          <p:spPr>
            <a:xfrm flipH="false" flipV="false" rot="0">
              <a:off x="0" y="0"/>
              <a:ext cx="914400" cy="548640"/>
            </a:xfrm>
            <a:custGeom>
              <a:avLst/>
              <a:gdLst/>
              <a:ahLst/>
              <a:cxnLst/>
              <a:rect r="r" b="b" t="t" l="l"/>
              <a:pathLst>
                <a:path h="548640" w="914400">
                  <a:moveTo>
                    <a:pt x="0" y="0"/>
                  </a:moveTo>
                  <a:lnTo>
                    <a:pt x="914400" y="0"/>
                  </a:lnTo>
                  <a:lnTo>
                    <a:pt x="914400" y="548640"/>
                  </a:lnTo>
                  <a:lnTo>
                    <a:pt x="0" y="548640"/>
                  </a:lnTo>
                  <a:close/>
                </a:path>
              </a:pathLst>
            </a:custGeom>
            <a:blipFill>
              <a:blip r:embed="rId2">
                <a:alphaModFix amt="0"/>
              </a:blip>
              <a:stretch>
                <a:fillRect l="-26982" t="0" r="-26982" b="0"/>
              </a:stretch>
            </a:blipFill>
          </p:spPr>
        </p:sp>
        <p:sp>
          <p:nvSpPr>
            <p:cNvPr name="TextBox 36" id="36"/>
            <p:cNvSpPr txBox="true"/>
            <p:nvPr/>
          </p:nvSpPr>
          <p:spPr>
            <a:xfrm>
              <a:off x="0" y="-38100"/>
              <a:ext cx="914400" cy="586740"/>
            </a:xfrm>
            <a:prstGeom prst="rect">
              <a:avLst/>
            </a:prstGeom>
          </p:spPr>
          <p:txBody>
            <a:bodyPr anchor="ctr" rtlCol="false" tIns="0" lIns="0" bIns="0" rIns="0"/>
            <a:lstStyle/>
            <a:p>
              <a:pPr algn="r">
                <a:lnSpc>
                  <a:spcPts val="1800"/>
                </a:lnSpc>
              </a:pPr>
              <a:r>
                <a:rPr lang="en-US" sz="1500">
                  <a:solidFill>
                    <a:srgbClr val="CADCFC"/>
                  </a:solidFill>
                  <a:latin typeface="Calibri (MS)"/>
                  <a:ea typeface="Calibri (MS)"/>
                  <a:cs typeface="Calibri (MS)"/>
                  <a:sym typeface="Calibri (MS)"/>
                </a:rPr>
                <a:t>10</a:t>
              </a:r>
            </a:p>
          </p:txBody>
        </p:sp>
      </p:grpSp>
    </p:spTree>
  </p:cSld>
  <p:clrMapOvr>
    <a:masterClrMapping/>
  </p:clrMapOvr>
</p:sld>
</file>

<file path=ppt/slides/slide7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60120" y="685800"/>
            <a:ext cx="13716000" cy="411480"/>
            <a:chOff x="0" y="0"/>
            <a:chExt cx="18288000" cy="548640"/>
          </a:xfrm>
        </p:grpSpPr>
        <p:sp>
          <p:nvSpPr>
            <p:cNvPr name="Freeform 3" id="3"/>
            <p:cNvSpPr/>
            <p:nvPr/>
          </p:nvSpPr>
          <p:spPr>
            <a:xfrm flipH="false" flipV="false" rot="0">
              <a:off x="0" y="0"/>
              <a:ext cx="18288000" cy="548640"/>
            </a:xfrm>
            <a:custGeom>
              <a:avLst/>
              <a:gdLst/>
              <a:ahLst/>
              <a:cxnLst/>
              <a:rect r="r" b="b" t="t" l="l"/>
              <a:pathLst>
                <a:path h="548640" w="18288000">
                  <a:moveTo>
                    <a:pt x="0" y="0"/>
                  </a:moveTo>
                  <a:lnTo>
                    <a:pt x="18288000" y="0"/>
                  </a:lnTo>
                  <a:lnTo>
                    <a:pt x="18288000" y="548640"/>
                  </a:lnTo>
                  <a:lnTo>
                    <a:pt x="0" y="548640"/>
                  </a:lnTo>
                  <a:close/>
                </a:path>
              </a:pathLst>
            </a:custGeom>
            <a:blipFill>
              <a:blip r:embed="rId2">
                <a:alphaModFix amt="0"/>
              </a:blip>
              <a:stretch>
                <a:fillRect l="0" t="-599501" r="0" b="-599501"/>
              </a:stretch>
            </a:blipFill>
          </p:spPr>
        </p:sp>
        <p:sp>
          <p:nvSpPr>
            <p:cNvPr name="TextBox 4" id="4"/>
            <p:cNvSpPr txBox="true"/>
            <p:nvPr/>
          </p:nvSpPr>
          <p:spPr>
            <a:xfrm>
              <a:off x="0" y="-38100"/>
              <a:ext cx="18288000" cy="586740"/>
            </a:xfrm>
            <a:prstGeom prst="rect">
              <a:avLst/>
            </a:prstGeom>
          </p:spPr>
          <p:txBody>
            <a:bodyPr anchor="ctr" rtlCol="false" tIns="0" lIns="0" bIns="0" rIns="0"/>
            <a:lstStyle/>
            <a:p>
              <a:pPr algn="l">
                <a:lnSpc>
                  <a:spcPts val="2160"/>
                </a:lnSpc>
              </a:pPr>
              <a:r>
                <a:rPr lang="en-US" b="true" sz="1800" spc="225">
                  <a:solidFill>
                    <a:srgbClr val="00B4D8"/>
                  </a:solidFill>
                  <a:latin typeface="Calibri (MS) Bold"/>
                  <a:ea typeface="Calibri (MS) Bold"/>
                  <a:cs typeface="Calibri (MS) Bold"/>
                  <a:sym typeface="Calibri (MS) Bold"/>
                </a:rPr>
                <a:t>NIST CSF SORT · SCENARIO</a:t>
              </a:r>
            </a:p>
          </p:txBody>
        </p:sp>
      </p:grpSp>
      <p:grpSp>
        <p:nvGrpSpPr>
          <p:cNvPr name="Group 5" id="5"/>
          <p:cNvGrpSpPr/>
          <p:nvPr/>
        </p:nvGrpSpPr>
        <p:grpSpPr>
          <a:xfrm rot="0">
            <a:off x="960120" y="1069848"/>
            <a:ext cx="10972800" cy="822960"/>
            <a:chOff x="0" y="0"/>
            <a:chExt cx="14630400" cy="1097280"/>
          </a:xfrm>
        </p:grpSpPr>
        <p:sp>
          <p:nvSpPr>
            <p:cNvPr name="Freeform 6" id="6"/>
            <p:cNvSpPr/>
            <p:nvPr/>
          </p:nvSpPr>
          <p:spPr>
            <a:xfrm flipH="false" flipV="false" rot="0">
              <a:off x="0" y="0"/>
              <a:ext cx="14630400" cy="1097280"/>
            </a:xfrm>
            <a:custGeom>
              <a:avLst/>
              <a:gdLst/>
              <a:ahLst/>
              <a:cxnLst/>
              <a:rect r="r" b="b" t="t" l="l"/>
              <a:pathLst>
                <a:path h="1097280" w="14630400">
                  <a:moveTo>
                    <a:pt x="0" y="0"/>
                  </a:moveTo>
                  <a:lnTo>
                    <a:pt x="14630400" y="0"/>
                  </a:lnTo>
                  <a:lnTo>
                    <a:pt x="14630400" y="1097280"/>
                  </a:lnTo>
                  <a:lnTo>
                    <a:pt x="0" y="1097280"/>
                  </a:lnTo>
                  <a:close/>
                </a:path>
              </a:pathLst>
            </a:custGeom>
            <a:blipFill>
              <a:blip r:embed="rId2">
                <a:alphaModFix amt="0"/>
              </a:blip>
              <a:stretch>
                <a:fillRect l="0" t="-209800" r="0" b="-209800"/>
              </a:stretch>
            </a:blipFill>
          </p:spPr>
        </p:sp>
        <p:sp>
          <p:nvSpPr>
            <p:cNvPr name="TextBox 7" id="7"/>
            <p:cNvSpPr txBox="true"/>
            <p:nvPr/>
          </p:nvSpPr>
          <p:spPr>
            <a:xfrm>
              <a:off x="0" y="0"/>
              <a:ext cx="14630400" cy="1097280"/>
            </a:xfrm>
            <a:prstGeom prst="rect">
              <a:avLst/>
            </a:prstGeom>
          </p:spPr>
          <p:txBody>
            <a:bodyPr anchor="ctr" rtlCol="false" tIns="0" lIns="0" bIns="0" rIns="0"/>
            <a:lstStyle/>
            <a:p>
              <a:pPr algn="l">
                <a:lnSpc>
                  <a:spcPts val="4680"/>
                </a:lnSpc>
              </a:pPr>
              <a:r>
                <a:rPr lang="en-US" sz="3900" b="true">
                  <a:solidFill>
                    <a:srgbClr val="1E2761"/>
                  </a:solidFill>
                  <a:latin typeface="Cambria Bold"/>
                  <a:ea typeface="Cambria Bold"/>
                  <a:cs typeface="Cambria Bold"/>
                  <a:sym typeface="Cambria Bold"/>
                </a:rPr>
                <a:t>Scenario 1</a:t>
              </a:r>
            </a:p>
          </p:txBody>
        </p:sp>
      </p:grpSp>
      <p:grpSp>
        <p:nvGrpSpPr>
          <p:cNvPr name="Group 8" id="8"/>
          <p:cNvGrpSpPr/>
          <p:nvPr/>
        </p:nvGrpSpPr>
        <p:grpSpPr>
          <a:xfrm rot="0">
            <a:off x="960120" y="1810512"/>
            <a:ext cx="8229600" cy="411480"/>
            <a:chOff x="0" y="0"/>
            <a:chExt cx="10972800" cy="548640"/>
          </a:xfrm>
        </p:grpSpPr>
        <p:sp>
          <p:nvSpPr>
            <p:cNvPr name="Freeform 9" id="9"/>
            <p:cNvSpPr/>
            <p:nvPr/>
          </p:nvSpPr>
          <p:spPr>
            <a:xfrm flipH="false" flipV="false" rot="0">
              <a:off x="0" y="0"/>
              <a:ext cx="10972800" cy="548640"/>
            </a:xfrm>
            <a:custGeom>
              <a:avLst/>
              <a:gdLst/>
              <a:ahLst/>
              <a:cxnLst/>
              <a:rect r="r" b="b" t="t" l="l"/>
              <a:pathLst>
                <a:path h="548640" w="10972800">
                  <a:moveTo>
                    <a:pt x="0" y="0"/>
                  </a:moveTo>
                  <a:lnTo>
                    <a:pt x="10972800" y="0"/>
                  </a:lnTo>
                  <a:lnTo>
                    <a:pt x="10972800" y="548640"/>
                  </a:lnTo>
                  <a:lnTo>
                    <a:pt x="0" y="548640"/>
                  </a:lnTo>
                  <a:close/>
                </a:path>
              </a:pathLst>
            </a:custGeom>
            <a:blipFill>
              <a:blip r:embed="rId2">
                <a:alphaModFix amt="0"/>
              </a:blip>
              <a:stretch>
                <a:fillRect l="0" t="-339700" r="0" b="-339700"/>
              </a:stretch>
            </a:blipFill>
          </p:spPr>
        </p:sp>
        <p:sp>
          <p:nvSpPr>
            <p:cNvPr name="TextBox 10" id="10"/>
            <p:cNvSpPr txBox="true"/>
            <p:nvPr/>
          </p:nvSpPr>
          <p:spPr>
            <a:xfrm>
              <a:off x="0" y="-28575"/>
              <a:ext cx="10972800" cy="577215"/>
            </a:xfrm>
            <a:prstGeom prst="rect">
              <a:avLst/>
            </a:prstGeom>
          </p:spPr>
          <p:txBody>
            <a:bodyPr anchor="ctr" rtlCol="false" tIns="0" lIns="0" bIns="0" rIns="0"/>
            <a:lstStyle/>
            <a:p>
              <a:pPr algn="l">
                <a:lnSpc>
                  <a:spcPts val="1980"/>
                </a:lnSpc>
              </a:pPr>
              <a:r>
                <a:rPr lang="en-US" sz="1650">
                  <a:solidFill>
                    <a:srgbClr val="6B7280"/>
                  </a:solidFill>
                  <a:latin typeface="Calibri (MS)"/>
                  <a:ea typeface="Calibri (MS)"/>
                  <a:cs typeface="Calibri (MS)"/>
                  <a:sym typeface="Calibri (MS)"/>
                </a:rPr>
                <a:t>1 of 20</a:t>
              </a:r>
            </a:p>
          </p:txBody>
        </p:sp>
      </p:grpSp>
      <p:grpSp>
        <p:nvGrpSpPr>
          <p:cNvPr name="Group 11" id="11"/>
          <p:cNvGrpSpPr/>
          <p:nvPr/>
        </p:nvGrpSpPr>
        <p:grpSpPr>
          <a:xfrm rot="0">
            <a:off x="960120" y="2537460"/>
            <a:ext cx="16322040" cy="2811780"/>
            <a:chOff x="0" y="0"/>
            <a:chExt cx="21762720" cy="3749040"/>
          </a:xfrm>
        </p:grpSpPr>
        <p:sp>
          <p:nvSpPr>
            <p:cNvPr name="Freeform 12" id="12"/>
            <p:cNvSpPr/>
            <p:nvPr/>
          </p:nvSpPr>
          <p:spPr>
            <a:xfrm flipH="false" flipV="false" rot="0">
              <a:off x="0" y="0"/>
              <a:ext cx="21762720" cy="3749040"/>
            </a:xfrm>
            <a:custGeom>
              <a:avLst/>
              <a:gdLst/>
              <a:ahLst/>
              <a:cxnLst/>
              <a:rect r="r" b="b" t="t" l="l"/>
              <a:pathLst>
                <a:path h="3749040" w="21762720">
                  <a:moveTo>
                    <a:pt x="0" y="182880"/>
                  </a:moveTo>
                  <a:cubicBezTo>
                    <a:pt x="0" y="81915"/>
                    <a:pt x="81915" y="0"/>
                    <a:pt x="182880" y="0"/>
                  </a:cubicBezTo>
                  <a:lnTo>
                    <a:pt x="21579839" y="0"/>
                  </a:lnTo>
                  <a:cubicBezTo>
                    <a:pt x="21680804" y="0"/>
                    <a:pt x="21762720" y="81915"/>
                    <a:pt x="21762720" y="182880"/>
                  </a:cubicBezTo>
                  <a:lnTo>
                    <a:pt x="21762720" y="3566160"/>
                  </a:lnTo>
                  <a:cubicBezTo>
                    <a:pt x="21762720" y="3667125"/>
                    <a:pt x="21680804" y="3749040"/>
                    <a:pt x="21579839" y="3749040"/>
                  </a:cubicBezTo>
                  <a:lnTo>
                    <a:pt x="182880" y="3749040"/>
                  </a:lnTo>
                  <a:cubicBezTo>
                    <a:pt x="81915" y="3749040"/>
                    <a:pt x="0" y="3667125"/>
                    <a:pt x="0" y="3566160"/>
                  </a:cubicBezTo>
                  <a:close/>
                </a:path>
              </a:pathLst>
            </a:custGeom>
            <a:solidFill>
              <a:srgbClr val="F4F7FC"/>
            </a:solidFill>
          </p:spPr>
        </p:sp>
      </p:grpSp>
      <p:grpSp>
        <p:nvGrpSpPr>
          <p:cNvPr name="Group 13" id="13"/>
          <p:cNvGrpSpPr/>
          <p:nvPr/>
        </p:nvGrpSpPr>
        <p:grpSpPr>
          <a:xfrm rot="0">
            <a:off x="1440180" y="2811780"/>
            <a:ext cx="15361920" cy="2263140"/>
            <a:chOff x="0" y="0"/>
            <a:chExt cx="20482560" cy="3017520"/>
          </a:xfrm>
        </p:grpSpPr>
        <p:sp>
          <p:nvSpPr>
            <p:cNvPr name="Freeform 14" id="14"/>
            <p:cNvSpPr/>
            <p:nvPr/>
          </p:nvSpPr>
          <p:spPr>
            <a:xfrm flipH="false" flipV="false" rot="0">
              <a:off x="0" y="0"/>
              <a:ext cx="20482561" cy="3017520"/>
            </a:xfrm>
            <a:custGeom>
              <a:avLst/>
              <a:gdLst/>
              <a:ahLst/>
              <a:cxnLst/>
              <a:rect r="r" b="b" t="t" l="l"/>
              <a:pathLst>
                <a:path h="3017520" w="20482561">
                  <a:moveTo>
                    <a:pt x="0" y="0"/>
                  </a:moveTo>
                  <a:lnTo>
                    <a:pt x="20482561" y="0"/>
                  </a:lnTo>
                  <a:lnTo>
                    <a:pt x="20482561" y="3017520"/>
                  </a:lnTo>
                  <a:lnTo>
                    <a:pt x="0" y="3017520"/>
                  </a:lnTo>
                  <a:close/>
                </a:path>
              </a:pathLst>
            </a:custGeom>
            <a:blipFill>
              <a:blip r:embed="rId2">
                <a:alphaModFix amt="0"/>
              </a:blip>
              <a:stretch>
                <a:fillRect l="0" t="-82262" r="0" b="-82262"/>
              </a:stretch>
            </a:blipFill>
          </p:spPr>
        </p:sp>
        <p:sp>
          <p:nvSpPr>
            <p:cNvPr name="TextBox 15" id="15"/>
            <p:cNvSpPr txBox="true"/>
            <p:nvPr/>
          </p:nvSpPr>
          <p:spPr>
            <a:xfrm>
              <a:off x="0" y="-104775"/>
              <a:ext cx="20482560" cy="3122295"/>
            </a:xfrm>
            <a:prstGeom prst="rect">
              <a:avLst/>
            </a:prstGeom>
          </p:spPr>
          <p:txBody>
            <a:bodyPr anchor="ctr" rtlCol="false" tIns="0" lIns="0" bIns="0" rIns="0"/>
            <a:lstStyle/>
            <a:p>
              <a:pPr algn="l">
                <a:lnSpc>
                  <a:spcPts val="4147"/>
                </a:lnSpc>
              </a:pPr>
              <a:r>
                <a:rPr lang="en-US" sz="2700" i="true">
                  <a:solidFill>
                    <a:srgbClr val="23262F"/>
                  </a:solidFill>
                  <a:latin typeface="Cambria Italics"/>
                  <a:ea typeface="Cambria Italics"/>
                  <a:cs typeface="Cambria Italics"/>
                  <a:sym typeface="Cambria Italics"/>
                </a:rPr>
                <a:t>"The provincial administrator signs a written policy requiring every department to report a data breach to the CIO within 24 hours."</a:t>
              </a:r>
            </a:p>
          </p:txBody>
        </p:sp>
      </p:grpSp>
      <p:sp>
        <p:nvSpPr>
          <p:cNvPr name="TextBox 16" id="16"/>
          <p:cNvSpPr txBox="true"/>
          <p:nvPr/>
        </p:nvSpPr>
        <p:spPr>
          <a:xfrm rot="0">
            <a:off x="1051560" y="5604510"/>
            <a:ext cx="16139160" cy="1276350"/>
          </a:xfrm>
          <a:prstGeom prst="rect">
            <a:avLst/>
          </a:prstGeom>
        </p:spPr>
        <p:txBody>
          <a:bodyPr anchor="t" rtlCol="false" tIns="0" lIns="0" bIns="0" rIns="0">
            <a:spAutoFit/>
          </a:bodyPr>
          <a:lstStyle/>
          <a:p>
            <a:pPr algn="ctr">
              <a:lnSpc>
                <a:spcPts val="3402"/>
              </a:lnSpc>
            </a:pPr>
            <a:r>
              <a:rPr lang="en-US" sz="2100" i="true">
                <a:solidFill>
                  <a:srgbClr val="6B7280"/>
                </a:solidFill>
                <a:latin typeface="Calibri (MS) Italics"/>
                <a:ea typeface="Calibri (MS) Italics"/>
                <a:cs typeface="Calibri (MS) Italics"/>
                <a:sym typeface="Calibri (MS) Italics"/>
              </a:rPr>
              <a:t>Which Function does this belong to — Govern, Identify, Protect, Detect, Respond, or Recover?</a:t>
            </a:r>
          </a:p>
          <a:p>
            <a:pPr algn="ctr">
              <a:lnSpc>
                <a:spcPts val="3402"/>
              </a:lnSpc>
            </a:pPr>
            <a:r>
              <a:rPr lang="en-US" sz="2100" i="true">
                <a:solidFill>
                  <a:srgbClr val="6B7280"/>
                </a:solidFill>
                <a:latin typeface="Calibri (MS) Italics"/>
                <a:ea typeface="Calibri (MS) Italics"/>
                <a:cs typeface="Calibri (MS) Italics"/>
                <a:sym typeface="Calibri (MS) Italics"/>
              </a:rPr>
              <a:t>Some belong to more than one. Discuss, then we'll reveal the answer.</a:t>
            </a:r>
          </a:p>
        </p:txBody>
      </p:sp>
      <p:grpSp>
        <p:nvGrpSpPr>
          <p:cNvPr name="Group 17" id="17"/>
          <p:cNvGrpSpPr/>
          <p:nvPr/>
        </p:nvGrpSpPr>
        <p:grpSpPr>
          <a:xfrm rot="0">
            <a:off x="950595" y="7122795"/>
            <a:ext cx="5162550" cy="910590"/>
            <a:chOff x="0" y="0"/>
            <a:chExt cx="6883400" cy="1214120"/>
          </a:xfrm>
        </p:grpSpPr>
        <p:sp>
          <p:nvSpPr>
            <p:cNvPr name="Freeform 18" id="18"/>
            <p:cNvSpPr/>
            <p:nvPr/>
          </p:nvSpPr>
          <p:spPr>
            <a:xfrm flipH="false" flipV="false" rot="0">
              <a:off x="0" y="0"/>
              <a:ext cx="6883400" cy="1214120"/>
            </a:xfrm>
            <a:custGeom>
              <a:avLst/>
              <a:gdLst/>
              <a:ahLst/>
              <a:cxnLst/>
              <a:rect r="r" b="b" t="t" l="l"/>
              <a:pathLst>
                <a:path h="1214120" w="6883400">
                  <a:moveTo>
                    <a:pt x="0" y="168148"/>
                  </a:moveTo>
                  <a:cubicBezTo>
                    <a:pt x="0" y="75311"/>
                    <a:pt x="75311" y="0"/>
                    <a:pt x="168148" y="0"/>
                  </a:cubicBezTo>
                  <a:lnTo>
                    <a:pt x="6715252" y="0"/>
                  </a:lnTo>
                  <a:cubicBezTo>
                    <a:pt x="6808089" y="0"/>
                    <a:pt x="6883400" y="75311"/>
                    <a:pt x="6883400" y="168148"/>
                  </a:cubicBezTo>
                  <a:lnTo>
                    <a:pt x="6883400" y="1045972"/>
                  </a:lnTo>
                  <a:cubicBezTo>
                    <a:pt x="6883400" y="1138809"/>
                    <a:pt x="6808089" y="1214120"/>
                    <a:pt x="6715252" y="1214120"/>
                  </a:cubicBezTo>
                  <a:lnTo>
                    <a:pt x="168148" y="1214120"/>
                  </a:lnTo>
                  <a:cubicBezTo>
                    <a:pt x="75311" y="1214120"/>
                    <a:pt x="0" y="1138809"/>
                    <a:pt x="0" y="1045972"/>
                  </a:cubicBezTo>
                  <a:close/>
                </a:path>
              </a:pathLst>
            </a:custGeom>
            <a:solidFill>
              <a:srgbClr val="F4F7FC"/>
            </a:solidFill>
            <a:ln w="19050" cap="sq">
              <a:solidFill>
                <a:srgbClr val="D7DCEC"/>
              </a:solidFill>
              <a:prstDash val="solid"/>
              <a:miter/>
            </a:ln>
          </p:spPr>
        </p:sp>
      </p:grpSp>
      <p:grpSp>
        <p:nvGrpSpPr>
          <p:cNvPr name="Group 19" id="19"/>
          <p:cNvGrpSpPr/>
          <p:nvPr/>
        </p:nvGrpSpPr>
        <p:grpSpPr>
          <a:xfrm rot="0">
            <a:off x="960120" y="7200900"/>
            <a:ext cx="5143500" cy="589788"/>
            <a:chOff x="0" y="0"/>
            <a:chExt cx="6858000" cy="786384"/>
          </a:xfrm>
        </p:grpSpPr>
        <p:sp>
          <p:nvSpPr>
            <p:cNvPr name="Freeform 20" id="20"/>
            <p:cNvSpPr/>
            <p:nvPr/>
          </p:nvSpPr>
          <p:spPr>
            <a:xfrm flipH="false" flipV="false" rot="0">
              <a:off x="0" y="0"/>
              <a:ext cx="6858000" cy="786384"/>
            </a:xfrm>
            <a:custGeom>
              <a:avLst/>
              <a:gdLst/>
              <a:ahLst/>
              <a:cxnLst/>
              <a:rect r="r" b="b" t="t" l="l"/>
              <a:pathLst>
                <a:path h="786384" w="6858000">
                  <a:moveTo>
                    <a:pt x="0" y="0"/>
                  </a:moveTo>
                  <a:lnTo>
                    <a:pt x="6858000" y="0"/>
                  </a:lnTo>
                  <a:lnTo>
                    <a:pt x="6858000" y="786384"/>
                  </a:lnTo>
                  <a:lnTo>
                    <a:pt x="0" y="786384"/>
                  </a:lnTo>
                  <a:close/>
                </a:path>
              </a:pathLst>
            </a:custGeom>
            <a:blipFill>
              <a:blip r:embed="rId2">
                <a:alphaModFix amt="0"/>
              </a:blip>
              <a:stretch>
                <a:fillRect l="0" t="-119927" r="0" b="-119927"/>
              </a:stretch>
            </a:blipFill>
          </p:spPr>
        </p:sp>
        <p:sp>
          <p:nvSpPr>
            <p:cNvPr name="TextBox 21" id="21"/>
            <p:cNvSpPr txBox="true"/>
            <p:nvPr/>
          </p:nvSpPr>
          <p:spPr>
            <a:xfrm>
              <a:off x="0" y="-38100"/>
              <a:ext cx="6858000" cy="824484"/>
            </a:xfrm>
            <a:prstGeom prst="rect">
              <a:avLst/>
            </a:prstGeom>
          </p:spPr>
          <p:txBody>
            <a:bodyPr anchor="ctr" rtlCol="false" tIns="0" lIns="0" bIns="0" rIns="0"/>
            <a:lstStyle/>
            <a:p>
              <a:pPr algn="ctr">
                <a:lnSpc>
                  <a:spcPts val="2430"/>
                </a:lnSpc>
              </a:pPr>
              <a:r>
                <a:rPr lang="en-US" sz="2025">
                  <a:solidFill>
                    <a:srgbClr val="6B7280"/>
                  </a:solidFill>
                  <a:latin typeface="Calibri (MS)"/>
                  <a:ea typeface="Calibri (MS)"/>
                  <a:cs typeface="Calibri (MS)"/>
                  <a:sym typeface="Calibri (MS)"/>
                </a:rPr>
                <a:t>Govern</a:t>
              </a:r>
            </a:p>
          </p:txBody>
        </p:sp>
      </p:grpSp>
      <p:grpSp>
        <p:nvGrpSpPr>
          <p:cNvPr name="Group 22" id="22"/>
          <p:cNvGrpSpPr/>
          <p:nvPr/>
        </p:nvGrpSpPr>
        <p:grpSpPr>
          <a:xfrm rot="0">
            <a:off x="960120" y="7639812"/>
            <a:ext cx="5143500" cy="329184"/>
            <a:chOff x="0" y="0"/>
            <a:chExt cx="6858000" cy="438912"/>
          </a:xfrm>
        </p:grpSpPr>
        <p:sp>
          <p:nvSpPr>
            <p:cNvPr name="Freeform 23" id="23"/>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24" id="24"/>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9AA3B8"/>
                  </a:solidFill>
                  <a:latin typeface="Arimo"/>
                  <a:ea typeface="Arimo"/>
                  <a:cs typeface="Arimo"/>
                  <a:sym typeface="Arimo"/>
                </a:rPr>
                <a:t>GV</a:t>
              </a:r>
            </a:p>
          </p:txBody>
        </p:sp>
      </p:grpSp>
      <p:grpSp>
        <p:nvGrpSpPr>
          <p:cNvPr name="Group 25" id="25"/>
          <p:cNvGrpSpPr/>
          <p:nvPr/>
        </p:nvGrpSpPr>
        <p:grpSpPr>
          <a:xfrm rot="0">
            <a:off x="6533007" y="7122795"/>
            <a:ext cx="5162550" cy="910590"/>
            <a:chOff x="0" y="0"/>
            <a:chExt cx="6883400" cy="1214120"/>
          </a:xfrm>
        </p:grpSpPr>
        <p:sp>
          <p:nvSpPr>
            <p:cNvPr name="Freeform 26" id="26"/>
            <p:cNvSpPr/>
            <p:nvPr/>
          </p:nvSpPr>
          <p:spPr>
            <a:xfrm flipH="false" flipV="false" rot="0">
              <a:off x="0" y="0"/>
              <a:ext cx="6883400" cy="1214120"/>
            </a:xfrm>
            <a:custGeom>
              <a:avLst/>
              <a:gdLst/>
              <a:ahLst/>
              <a:cxnLst/>
              <a:rect r="r" b="b" t="t" l="l"/>
              <a:pathLst>
                <a:path h="1214120" w="6883400">
                  <a:moveTo>
                    <a:pt x="0" y="168148"/>
                  </a:moveTo>
                  <a:cubicBezTo>
                    <a:pt x="0" y="75311"/>
                    <a:pt x="75311" y="0"/>
                    <a:pt x="168148" y="0"/>
                  </a:cubicBezTo>
                  <a:lnTo>
                    <a:pt x="6715252" y="0"/>
                  </a:lnTo>
                  <a:cubicBezTo>
                    <a:pt x="6808089" y="0"/>
                    <a:pt x="6883400" y="75311"/>
                    <a:pt x="6883400" y="168148"/>
                  </a:cubicBezTo>
                  <a:lnTo>
                    <a:pt x="6883400" y="1045972"/>
                  </a:lnTo>
                  <a:cubicBezTo>
                    <a:pt x="6883400" y="1138809"/>
                    <a:pt x="6808089" y="1214120"/>
                    <a:pt x="6715252" y="1214120"/>
                  </a:cubicBezTo>
                  <a:lnTo>
                    <a:pt x="168148" y="1214120"/>
                  </a:lnTo>
                  <a:cubicBezTo>
                    <a:pt x="75311" y="1214120"/>
                    <a:pt x="0" y="1138809"/>
                    <a:pt x="0" y="1045972"/>
                  </a:cubicBezTo>
                  <a:close/>
                </a:path>
              </a:pathLst>
            </a:custGeom>
            <a:solidFill>
              <a:srgbClr val="F4F7FC"/>
            </a:solidFill>
            <a:ln w="19050" cap="sq">
              <a:solidFill>
                <a:srgbClr val="D7DCEC"/>
              </a:solidFill>
              <a:prstDash val="solid"/>
              <a:miter/>
            </a:ln>
          </p:spPr>
        </p:sp>
      </p:grpSp>
      <p:grpSp>
        <p:nvGrpSpPr>
          <p:cNvPr name="Group 27" id="27"/>
          <p:cNvGrpSpPr/>
          <p:nvPr/>
        </p:nvGrpSpPr>
        <p:grpSpPr>
          <a:xfrm rot="0">
            <a:off x="6542532" y="7200900"/>
            <a:ext cx="5143500" cy="589788"/>
            <a:chOff x="0" y="0"/>
            <a:chExt cx="6858000" cy="786384"/>
          </a:xfrm>
        </p:grpSpPr>
        <p:sp>
          <p:nvSpPr>
            <p:cNvPr name="Freeform 28" id="28"/>
            <p:cNvSpPr/>
            <p:nvPr/>
          </p:nvSpPr>
          <p:spPr>
            <a:xfrm flipH="false" flipV="false" rot="0">
              <a:off x="0" y="0"/>
              <a:ext cx="6858000" cy="786384"/>
            </a:xfrm>
            <a:custGeom>
              <a:avLst/>
              <a:gdLst/>
              <a:ahLst/>
              <a:cxnLst/>
              <a:rect r="r" b="b" t="t" l="l"/>
              <a:pathLst>
                <a:path h="786384" w="6858000">
                  <a:moveTo>
                    <a:pt x="0" y="0"/>
                  </a:moveTo>
                  <a:lnTo>
                    <a:pt x="6858000" y="0"/>
                  </a:lnTo>
                  <a:lnTo>
                    <a:pt x="6858000" y="786384"/>
                  </a:lnTo>
                  <a:lnTo>
                    <a:pt x="0" y="786384"/>
                  </a:lnTo>
                  <a:close/>
                </a:path>
              </a:pathLst>
            </a:custGeom>
            <a:blipFill>
              <a:blip r:embed="rId2">
                <a:alphaModFix amt="0"/>
              </a:blip>
              <a:stretch>
                <a:fillRect l="0" t="-119927" r="0" b="-119927"/>
              </a:stretch>
            </a:blipFill>
          </p:spPr>
        </p:sp>
        <p:sp>
          <p:nvSpPr>
            <p:cNvPr name="TextBox 29" id="29"/>
            <p:cNvSpPr txBox="true"/>
            <p:nvPr/>
          </p:nvSpPr>
          <p:spPr>
            <a:xfrm>
              <a:off x="0" y="-38100"/>
              <a:ext cx="6858000" cy="824484"/>
            </a:xfrm>
            <a:prstGeom prst="rect">
              <a:avLst/>
            </a:prstGeom>
          </p:spPr>
          <p:txBody>
            <a:bodyPr anchor="ctr" rtlCol="false" tIns="0" lIns="0" bIns="0" rIns="0"/>
            <a:lstStyle/>
            <a:p>
              <a:pPr algn="ctr">
                <a:lnSpc>
                  <a:spcPts val="2430"/>
                </a:lnSpc>
              </a:pPr>
              <a:r>
                <a:rPr lang="en-US" sz="2025">
                  <a:solidFill>
                    <a:srgbClr val="6B7280"/>
                  </a:solidFill>
                  <a:latin typeface="Calibri (MS)"/>
                  <a:ea typeface="Calibri (MS)"/>
                  <a:cs typeface="Calibri (MS)"/>
                  <a:sym typeface="Calibri (MS)"/>
                </a:rPr>
                <a:t>Identify</a:t>
              </a:r>
            </a:p>
          </p:txBody>
        </p:sp>
      </p:grpSp>
      <p:grpSp>
        <p:nvGrpSpPr>
          <p:cNvPr name="Group 30" id="30"/>
          <p:cNvGrpSpPr/>
          <p:nvPr/>
        </p:nvGrpSpPr>
        <p:grpSpPr>
          <a:xfrm rot="0">
            <a:off x="6542532" y="7639812"/>
            <a:ext cx="5143500" cy="329184"/>
            <a:chOff x="0" y="0"/>
            <a:chExt cx="6858000" cy="438912"/>
          </a:xfrm>
        </p:grpSpPr>
        <p:sp>
          <p:nvSpPr>
            <p:cNvPr name="Freeform 31" id="31"/>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32" id="32"/>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9AA3B8"/>
                  </a:solidFill>
                  <a:latin typeface="Arimo"/>
                  <a:ea typeface="Arimo"/>
                  <a:cs typeface="Arimo"/>
                  <a:sym typeface="Arimo"/>
                </a:rPr>
                <a:t>ID</a:t>
              </a:r>
            </a:p>
          </p:txBody>
        </p:sp>
      </p:grpSp>
      <p:grpSp>
        <p:nvGrpSpPr>
          <p:cNvPr name="Group 33" id="33"/>
          <p:cNvGrpSpPr/>
          <p:nvPr/>
        </p:nvGrpSpPr>
        <p:grpSpPr>
          <a:xfrm rot="0">
            <a:off x="12115419" y="7122795"/>
            <a:ext cx="5162550" cy="910590"/>
            <a:chOff x="0" y="0"/>
            <a:chExt cx="6883400" cy="1214120"/>
          </a:xfrm>
        </p:grpSpPr>
        <p:sp>
          <p:nvSpPr>
            <p:cNvPr name="Freeform 34" id="34"/>
            <p:cNvSpPr/>
            <p:nvPr/>
          </p:nvSpPr>
          <p:spPr>
            <a:xfrm flipH="false" flipV="false" rot="0">
              <a:off x="0" y="0"/>
              <a:ext cx="6883400" cy="1214120"/>
            </a:xfrm>
            <a:custGeom>
              <a:avLst/>
              <a:gdLst/>
              <a:ahLst/>
              <a:cxnLst/>
              <a:rect r="r" b="b" t="t" l="l"/>
              <a:pathLst>
                <a:path h="1214120" w="6883400">
                  <a:moveTo>
                    <a:pt x="0" y="168148"/>
                  </a:moveTo>
                  <a:cubicBezTo>
                    <a:pt x="0" y="75311"/>
                    <a:pt x="75311" y="0"/>
                    <a:pt x="168148" y="0"/>
                  </a:cubicBezTo>
                  <a:lnTo>
                    <a:pt x="6715252" y="0"/>
                  </a:lnTo>
                  <a:cubicBezTo>
                    <a:pt x="6808089" y="0"/>
                    <a:pt x="6883400" y="75311"/>
                    <a:pt x="6883400" y="168148"/>
                  </a:cubicBezTo>
                  <a:lnTo>
                    <a:pt x="6883400" y="1045972"/>
                  </a:lnTo>
                  <a:cubicBezTo>
                    <a:pt x="6883400" y="1138809"/>
                    <a:pt x="6808089" y="1214120"/>
                    <a:pt x="6715252" y="1214120"/>
                  </a:cubicBezTo>
                  <a:lnTo>
                    <a:pt x="168148" y="1214120"/>
                  </a:lnTo>
                  <a:cubicBezTo>
                    <a:pt x="75311" y="1214120"/>
                    <a:pt x="0" y="1138809"/>
                    <a:pt x="0" y="1045972"/>
                  </a:cubicBezTo>
                  <a:close/>
                </a:path>
              </a:pathLst>
            </a:custGeom>
            <a:solidFill>
              <a:srgbClr val="F4F7FC"/>
            </a:solidFill>
            <a:ln w="19050" cap="sq">
              <a:solidFill>
                <a:srgbClr val="D7DCEC"/>
              </a:solidFill>
              <a:prstDash val="solid"/>
              <a:miter/>
            </a:ln>
          </p:spPr>
        </p:sp>
      </p:grpSp>
      <p:grpSp>
        <p:nvGrpSpPr>
          <p:cNvPr name="Group 35" id="35"/>
          <p:cNvGrpSpPr/>
          <p:nvPr/>
        </p:nvGrpSpPr>
        <p:grpSpPr>
          <a:xfrm rot="0">
            <a:off x="12124944" y="7200900"/>
            <a:ext cx="5143500" cy="589788"/>
            <a:chOff x="0" y="0"/>
            <a:chExt cx="6858000" cy="786384"/>
          </a:xfrm>
        </p:grpSpPr>
        <p:sp>
          <p:nvSpPr>
            <p:cNvPr name="Freeform 36" id="36"/>
            <p:cNvSpPr/>
            <p:nvPr/>
          </p:nvSpPr>
          <p:spPr>
            <a:xfrm flipH="false" flipV="false" rot="0">
              <a:off x="0" y="0"/>
              <a:ext cx="6858000" cy="786384"/>
            </a:xfrm>
            <a:custGeom>
              <a:avLst/>
              <a:gdLst/>
              <a:ahLst/>
              <a:cxnLst/>
              <a:rect r="r" b="b" t="t" l="l"/>
              <a:pathLst>
                <a:path h="786384" w="6858000">
                  <a:moveTo>
                    <a:pt x="0" y="0"/>
                  </a:moveTo>
                  <a:lnTo>
                    <a:pt x="6858000" y="0"/>
                  </a:lnTo>
                  <a:lnTo>
                    <a:pt x="6858000" y="786384"/>
                  </a:lnTo>
                  <a:lnTo>
                    <a:pt x="0" y="786384"/>
                  </a:lnTo>
                  <a:close/>
                </a:path>
              </a:pathLst>
            </a:custGeom>
            <a:blipFill>
              <a:blip r:embed="rId2">
                <a:alphaModFix amt="0"/>
              </a:blip>
              <a:stretch>
                <a:fillRect l="0" t="-119927" r="0" b="-119927"/>
              </a:stretch>
            </a:blipFill>
          </p:spPr>
        </p:sp>
        <p:sp>
          <p:nvSpPr>
            <p:cNvPr name="TextBox 37" id="37"/>
            <p:cNvSpPr txBox="true"/>
            <p:nvPr/>
          </p:nvSpPr>
          <p:spPr>
            <a:xfrm>
              <a:off x="0" y="-38100"/>
              <a:ext cx="6858000" cy="824484"/>
            </a:xfrm>
            <a:prstGeom prst="rect">
              <a:avLst/>
            </a:prstGeom>
          </p:spPr>
          <p:txBody>
            <a:bodyPr anchor="ctr" rtlCol="false" tIns="0" lIns="0" bIns="0" rIns="0"/>
            <a:lstStyle/>
            <a:p>
              <a:pPr algn="ctr">
                <a:lnSpc>
                  <a:spcPts val="2430"/>
                </a:lnSpc>
              </a:pPr>
              <a:r>
                <a:rPr lang="en-US" sz="2025">
                  <a:solidFill>
                    <a:srgbClr val="6B7280"/>
                  </a:solidFill>
                  <a:latin typeface="Calibri (MS)"/>
                  <a:ea typeface="Calibri (MS)"/>
                  <a:cs typeface="Calibri (MS)"/>
                  <a:sym typeface="Calibri (MS)"/>
                </a:rPr>
                <a:t>Protect</a:t>
              </a:r>
            </a:p>
          </p:txBody>
        </p:sp>
      </p:grpSp>
      <p:grpSp>
        <p:nvGrpSpPr>
          <p:cNvPr name="Group 38" id="38"/>
          <p:cNvGrpSpPr/>
          <p:nvPr/>
        </p:nvGrpSpPr>
        <p:grpSpPr>
          <a:xfrm rot="0">
            <a:off x="12124944" y="7639812"/>
            <a:ext cx="5143500" cy="329184"/>
            <a:chOff x="0" y="0"/>
            <a:chExt cx="6858000" cy="438912"/>
          </a:xfrm>
        </p:grpSpPr>
        <p:sp>
          <p:nvSpPr>
            <p:cNvPr name="Freeform 39" id="39"/>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40" id="40"/>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9AA3B8"/>
                  </a:solidFill>
                  <a:latin typeface="Arimo"/>
                  <a:ea typeface="Arimo"/>
                  <a:cs typeface="Arimo"/>
                  <a:sym typeface="Arimo"/>
                </a:rPr>
                <a:t>PR</a:t>
              </a:r>
            </a:p>
          </p:txBody>
        </p:sp>
      </p:grpSp>
      <p:grpSp>
        <p:nvGrpSpPr>
          <p:cNvPr name="Group 41" id="41"/>
          <p:cNvGrpSpPr/>
          <p:nvPr/>
        </p:nvGrpSpPr>
        <p:grpSpPr>
          <a:xfrm rot="0">
            <a:off x="950595" y="8288655"/>
            <a:ext cx="5162550" cy="910590"/>
            <a:chOff x="0" y="0"/>
            <a:chExt cx="6883400" cy="1214120"/>
          </a:xfrm>
        </p:grpSpPr>
        <p:sp>
          <p:nvSpPr>
            <p:cNvPr name="Freeform 42" id="42"/>
            <p:cNvSpPr/>
            <p:nvPr/>
          </p:nvSpPr>
          <p:spPr>
            <a:xfrm flipH="false" flipV="false" rot="0">
              <a:off x="0" y="0"/>
              <a:ext cx="6883400" cy="1214120"/>
            </a:xfrm>
            <a:custGeom>
              <a:avLst/>
              <a:gdLst/>
              <a:ahLst/>
              <a:cxnLst/>
              <a:rect r="r" b="b" t="t" l="l"/>
              <a:pathLst>
                <a:path h="1214120" w="6883400">
                  <a:moveTo>
                    <a:pt x="0" y="168148"/>
                  </a:moveTo>
                  <a:cubicBezTo>
                    <a:pt x="0" y="75311"/>
                    <a:pt x="75311" y="0"/>
                    <a:pt x="168148" y="0"/>
                  </a:cubicBezTo>
                  <a:lnTo>
                    <a:pt x="6715252" y="0"/>
                  </a:lnTo>
                  <a:cubicBezTo>
                    <a:pt x="6808089" y="0"/>
                    <a:pt x="6883400" y="75311"/>
                    <a:pt x="6883400" y="168148"/>
                  </a:cubicBezTo>
                  <a:lnTo>
                    <a:pt x="6883400" y="1045972"/>
                  </a:lnTo>
                  <a:cubicBezTo>
                    <a:pt x="6883400" y="1138809"/>
                    <a:pt x="6808089" y="1214120"/>
                    <a:pt x="6715252" y="1214120"/>
                  </a:cubicBezTo>
                  <a:lnTo>
                    <a:pt x="168148" y="1214120"/>
                  </a:lnTo>
                  <a:cubicBezTo>
                    <a:pt x="75311" y="1214120"/>
                    <a:pt x="0" y="1138809"/>
                    <a:pt x="0" y="1045972"/>
                  </a:cubicBezTo>
                  <a:close/>
                </a:path>
              </a:pathLst>
            </a:custGeom>
            <a:solidFill>
              <a:srgbClr val="F4F7FC"/>
            </a:solidFill>
            <a:ln w="19050" cap="sq">
              <a:solidFill>
                <a:srgbClr val="D7DCEC"/>
              </a:solidFill>
              <a:prstDash val="solid"/>
              <a:miter/>
            </a:ln>
          </p:spPr>
        </p:sp>
      </p:grpSp>
      <p:grpSp>
        <p:nvGrpSpPr>
          <p:cNvPr name="Group 43" id="43"/>
          <p:cNvGrpSpPr/>
          <p:nvPr/>
        </p:nvGrpSpPr>
        <p:grpSpPr>
          <a:xfrm rot="0">
            <a:off x="960120" y="8366760"/>
            <a:ext cx="5143500" cy="589788"/>
            <a:chOff x="0" y="0"/>
            <a:chExt cx="6858000" cy="786384"/>
          </a:xfrm>
        </p:grpSpPr>
        <p:sp>
          <p:nvSpPr>
            <p:cNvPr name="Freeform 44" id="44"/>
            <p:cNvSpPr/>
            <p:nvPr/>
          </p:nvSpPr>
          <p:spPr>
            <a:xfrm flipH="false" flipV="false" rot="0">
              <a:off x="0" y="0"/>
              <a:ext cx="6858000" cy="786384"/>
            </a:xfrm>
            <a:custGeom>
              <a:avLst/>
              <a:gdLst/>
              <a:ahLst/>
              <a:cxnLst/>
              <a:rect r="r" b="b" t="t" l="l"/>
              <a:pathLst>
                <a:path h="786384" w="6858000">
                  <a:moveTo>
                    <a:pt x="0" y="0"/>
                  </a:moveTo>
                  <a:lnTo>
                    <a:pt x="6858000" y="0"/>
                  </a:lnTo>
                  <a:lnTo>
                    <a:pt x="6858000" y="786384"/>
                  </a:lnTo>
                  <a:lnTo>
                    <a:pt x="0" y="786384"/>
                  </a:lnTo>
                  <a:close/>
                </a:path>
              </a:pathLst>
            </a:custGeom>
            <a:blipFill>
              <a:blip r:embed="rId2">
                <a:alphaModFix amt="0"/>
              </a:blip>
              <a:stretch>
                <a:fillRect l="0" t="-119927" r="0" b="-119927"/>
              </a:stretch>
            </a:blipFill>
          </p:spPr>
        </p:sp>
        <p:sp>
          <p:nvSpPr>
            <p:cNvPr name="TextBox 45" id="45"/>
            <p:cNvSpPr txBox="true"/>
            <p:nvPr/>
          </p:nvSpPr>
          <p:spPr>
            <a:xfrm>
              <a:off x="0" y="-38100"/>
              <a:ext cx="6858000" cy="824484"/>
            </a:xfrm>
            <a:prstGeom prst="rect">
              <a:avLst/>
            </a:prstGeom>
          </p:spPr>
          <p:txBody>
            <a:bodyPr anchor="ctr" rtlCol="false" tIns="0" lIns="0" bIns="0" rIns="0"/>
            <a:lstStyle/>
            <a:p>
              <a:pPr algn="ctr">
                <a:lnSpc>
                  <a:spcPts val="2430"/>
                </a:lnSpc>
              </a:pPr>
              <a:r>
                <a:rPr lang="en-US" sz="2025">
                  <a:solidFill>
                    <a:srgbClr val="6B7280"/>
                  </a:solidFill>
                  <a:latin typeface="Calibri (MS)"/>
                  <a:ea typeface="Calibri (MS)"/>
                  <a:cs typeface="Calibri (MS)"/>
                  <a:sym typeface="Calibri (MS)"/>
                </a:rPr>
                <a:t>Detect</a:t>
              </a:r>
            </a:p>
          </p:txBody>
        </p:sp>
      </p:grpSp>
      <p:grpSp>
        <p:nvGrpSpPr>
          <p:cNvPr name="Group 46" id="46"/>
          <p:cNvGrpSpPr/>
          <p:nvPr/>
        </p:nvGrpSpPr>
        <p:grpSpPr>
          <a:xfrm rot="0">
            <a:off x="960120" y="8805672"/>
            <a:ext cx="5143500" cy="329184"/>
            <a:chOff x="0" y="0"/>
            <a:chExt cx="6858000" cy="438912"/>
          </a:xfrm>
        </p:grpSpPr>
        <p:sp>
          <p:nvSpPr>
            <p:cNvPr name="Freeform 47" id="47"/>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48" id="48"/>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9AA3B8"/>
                  </a:solidFill>
                  <a:latin typeface="Arimo"/>
                  <a:ea typeface="Arimo"/>
                  <a:cs typeface="Arimo"/>
                  <a:sym typeface="Arimo"/>
                </a:rPr>
                <a:t>DE</a:t>
              </a:r>
            </a:p>
          </p:txBody>
        </p:sp>
      </p:grpSp>
      <p:grpSp>
        <p:nvGrpSpPr>
          <p:cNvPr name="Group 49" id="49"/>
          <p:cNvGrpSpPr/>
          <p:nvPr/>
        </p:nvGrpSpPr>
        <p:grpSpPr>
          <a:xfrm rot="0">
            <a:off x="6533007" y="8288655"/>
            <a:ext cx="5162550" cy="910590"/>
            <a:chOff x="0" y="0"/>
            <a:chExt cx="6883400" cy="1214120"/>
          </a:xfrm>
        </p:grpSpPr>
        <p:sp>
          <p:nvSpPr>
            <p:cNvPr name="Freeform 50" id="50"/>
            <p:cNvSpPr/>
            <p:nvPr/>
          </p:nvSpPr>
          <p:spPr>
            <a:xfrm flipH="false" flipV="false" rot="0">
              <a:off x="0" y="0"/>
              <a:ext cx="6883400" cy="1214120"/>
            </a:xfrm>
            <a:custGeom>
              <a:avLst/>
              <a:gdLst/>
              <a:ahLst/>
              <a:cxnLst/>
              <a:rect r="r" b="b" t="t" l="l"/>
              <a:pathLst>
                <a:path h="1214120" w="6883400">
                  <a:moveTo>
                    <a:pt x="0" y="168148"/>
                  </a:moveTo>
                  <a:cubicBezTo>
                    <a:pt x="0" y="75311"/>
                    <a:pt x="75311" y="0"/>
                    <a:pt x="168148" y="0"/>
                  </a:cubicBezTo>
                  <a:lnTo>
                    <a:pt x="6715252" y="0"/>
                  </a:lnTo>
                  <a:cubicBezTo>
                    <a:pt x="6808089" y="0"/>
                    <a:pt x="6883400" y="75311"/>
                    <a:pt x="6883400" y="168148"/>
                  </a:cubicBezTo>
                  <a:lnTo>
                    <a:pt x="6883400" y="1045972"/>
                  </a:lnTo>
                  <a:cubicBezTo>
                    <a:pt x="6883400" y="1138809"/>
                    <a:pt x="6808089" y="1214120"/>
                    <a:pt x="6715252" y="1214120"/>
                  </a:cubicBezTo>
                  <a:lnTo>
                    <a:pt x="168148" y="1214120"/>
                  </a:lnTo>
                  <a:cubicBezTo>
                    <a:pt x="75311" y="1214120"/>
                    <a:pt x="0" y="1138809"/>
                    <a:pt x="0" y="1045972"/>
                  </a:cubicBezTo>
                  <a:close/>
                </a:path>
              </a:pathLst>
            </a:custGeom>
            <a:solidFill>
              <a:srgbClr val="F4F7FC"/>
            </a:solidFill>
            <a:ln w="19050" cap="sq">
              <a:solidFill>
                <a:srgbClr val="D7DCEC"/>
              </a:solidFill>
              <a:prstDash val="solid"/>
              <a:miter/>
            </a:ln>
          </p:spPr>
        </p:sp>
      </p:grpSp>
      <p:grpSp>
        <p:nvGrpSpPr>
          <p:cNvPr name="Group 51" id="51"/>
          <p:cNvGrpSpPr/>
          <p:nvPr/>
        </p:nvGrpSpPr>
        <p:grpSpPr>
          <a:xfrm rot="0">
            <a:off x="6542532" y="8366760"/>
            <a:ext cx="5143500" cy="589788"/>
            <a:chOff x="0" y="0"/>
            <a:chExt cx="6858000" cy="786384"/>
          </a:xfrm>
        </p:grpSpPr>
        <p:sp>
          <p:nvSpPr>
            <p:cNvPr name="Freeform 52" id="52"/>
            <p:cNvSpPr/>
            <p:nvPr/>
          </p:nvSpPr>
          <p:spPr>
            <a:xfrm flipH="false" flipV="false" rot="0">
              <a:off x="0" y="0"/>
              <a:ext cx="6858000" cy="786384"/>
            </a:xfrm>
            <a:custGeom>
              <a:avLst/>
              <a:gdLst/>
              <a:ahLst/>
              <a:cxnLst/>
              <a:rect r="r" b="b" t="t" l="l"/>
              <a:pathLst>
                <a:path h="786384" w="6858000">
                  <a:moveTo>
                    <a:pt x="0" y="0"/>
                  </a:moveTo>
                  <a:lnTo>
                    <a:pt x="6858000" y="0"/>
                  </a:lnTo>
                  <a:lnTo>
                    <a:pt x="6858000" y="786384"/>
                  </a:lnTo>
                  <a:lnTo>
                    <a:pt x="0" y="786384"/>
                  </a:lnTo>
                  <a:close/>
                </a:path>
              </a:pathLst>
            </a:custGeom>
            <a:blipFill>
              <a:blip r:embed="rId2">
                <a:alphaModFix amt="0"/>
              </a:blip>
              <a:stretch>
                <a:fillRect l="0" t="-119927" r="0" b="-119927"/>
              </a:stretch>
            </a:blipFill>
          </p:spPr>
        </p:sp>
        <p:sp>
          <p:nvSpPr>
            <p:cNvPr name="TextBox 53" id="53"/>
            <p:cNvSpPr txBox="true"/>
            <p:nvPr/>
          </p:nvSpPr>
          <p:spPr>
            <a:xfrm>
              <a:off x="0" y="-38100"/>
              <a:ext cx="6858000" cy="824484"/>
            </a:xfrm>
            <a:prstGeom prst="rect">
              <a:avLst/>
            </a:prstGeom>
          </p:spPr>
          <p:txBody>
            <a:bodyPr anchor="ctr" rtlCol="false" tIns="0" lIns="0" bIns="0" rIns="0"/>
            <a:lstStyle/>
            <a:p>
              <a:pPr algn="ctr">
                <a:lnSpc>
                  <a:spcPts val="2430"/>
                </a:lnSpc>
              </a:pPr>
              <a:r>
                <a:rPr lang="en-US" sz="2025">
                  <a:solidFill>
                    <a:srgbClr val="6B7280"/>
                  </a:solidFill>
                  <a:latin typeface="Calibri (MS)"/>
                  <a:ea typeface="Calibri (MS)"/>
                  <a:cs typeface="Calibri (MS)"/>
                  <a:sym typeface="Calibri (MS)"/>
                </a:rPr>
                <a:t>Respond</a:t>
              </a:r>
            </a:p>
          </p:txBody>
        </p:sp>
      </p:grpSp>
      <p:grpSp>
        <p:nvGrpSpPr>
          <p:cNvPr name="Group 54" id="54"/>
          <p:cNvGrpSpPr/>
          <p:nvPr/>
        </p:nvGrpSpPr>
        <p:grpSpPr>
          <a:xfrm rot="0">
            <a:off x="6542532" y="8805672"/>
            <a:ext cx="5143500" cy="329184"/>
            <a:chOff x="0" y="0"/>
            <a:chExt cx="6858000" cy="438912"/>
          </a:xfrm>
        </p:grpSpPr>
        <p:sp>
          <p:nvSpPr>
            <p:cNvPr name="Freeform 55" id="55"/>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56" id="56"/>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9AA3B8"/>
                  </a:solidFill>
                  <a:latin typeface="Arimo"/>
                  <a:ea typeface="Arimo"/>
                  <a:cs typeface="Arimo"/>
                  <a:sym typeface="Arimo"/>
                </a:rPr>
                <a:t>RS</a:t>
              </a:r>
            </a:p>
          </p:txBody>
        </p:sp>
      </p:grpSp>
      <p:grpSp>
        <p:nvGrpSpPr>
          <p:cNvPr name="Group 57" id="57"/>
          <p:cNvGrpSpPr/>
          <p:nvPr/>
        </p:nvGrpSpPr>
        <p:grpSpPr>
          <a:xfrm rot="0">
            <a:off x="12115419" y="8288655"/>
            <a:ext cx="5162550" cy="910590"/>
            <a:chOff x="0" y="0"/>
            <a:chExt cx="6883400" cy="1214120"/>
          </a:xfrm>
        </p:grpSpPr>
        <p:sp>
          <p:nvSpPr>
            <p:cNvPr name="Freeform 58" id="58"/>
            <p:cNvSpPr/>
            <p:nvPr/>
          </p:nvSpPr>
          <p:spPr>
            <a:xfrm flipH="false" flipV="false" rot="0">
              <a:off x="0" y="0"/>
              <a:ext cx="6883400" cy="1214120"/>
            </a:xfrm>
            <a:custGeom>
              <a:avLst/>
              <a:gdLst/>
              <a:ahLst/>
              <a:cxnLst/>
              <a:rect r="r" b="b" t="t" l="l"/>
              <a:pathLst>
                <a:path h="1214120" w="6883400">
                  <a:moveTo>
                    <a:pt x="0" y="168148"/>
                  </a:moveTo>
                  <a:cubicBezTo>
                    <a:pt x="0" y="75311"/>
                    <a:pt x="75311" y="0"/>
                    <a:pt x="168148" y="0"/>
                  </a:cubicBezTo>
                  <a:lnTo>
                    <a:pt x="6715252" y="0"/>
                  </a:lnTo>
                  <a:cubicBezTo>
                    <a:pt x="6808089" y="0"/>
                    <a:pt x="6883400" y="75311"/>
                    <a:pt x="6883400" y="168148"/>
                  </a:cubicBezTo>
                  <a:lnTo>
                    <a:pt x="6883400" y="1045972"/>
                  </a:lnTo>
                  <a:cubicBezTo>
                    <a:pt x="6883400" y="1138809"/>
                    <a:pt x="6808089" y="1214120"/>
                    <a:pt x="6715252" y="1214120"/>
                  </a:cubicBezTo>
                  <a:lnTo>
                    <a:pt x="168148" y="1214120"/>
                  </a:lnTo>
                  <a:cubicBezTo>
                    <a:pt x="75311" y="1214120"/>
                    <a:pt x="0" y="1138809"/>
                    <a:pt x="0" y="1045972"/>
                  </a:cubicBezTo>
                  <a:close/>
                </a:path>
              </a:pathLst>
            </a:custGeom>
            <a:solidFill>
              <a:srgbClr val="F4F7FC"/>
            </a:solidFill>
            <a:ln w="19050" cap="sq">
              <a:solidFill>
                <a:srgbClr val="D7DCEC"/>
              </a:solidFill>
              <a:prstDash val="solid"/>
              <a:miter/>
            </a:ln>
          </p:spPr>
        </p:sp>
      </p:grpSp>
      <p:grpSp>
        <p:nvGrpSpPr>
          <p:cNvPr name="Group 59" id="59"/>
          <p:cNvGrpSpPr/>
          <p:nvPr/>
        </p:nvGrpSpPr>
        <p:grpSpPr>
          <a:xfrm rot="0">
            <a:off x="12124944" y="8366760"/>
            <a:ext cx="5143500" cy="589788"/>
            <a:chOff x="0" y="0"/>
            <a:chExt cx="6858000" cy="786384"/>
          </a:xfrm>
        </p:grpSpPr>
        <p:sp>
          <p:nvSpPr>
            <p:cNvPr name="Freeform 60" id="60"/>
            <p:cNvSpPr/>
            <p:nvPr/>
          </p:nvSpPr>
          <p:spPr>
            <a:xfrm flipH="false" flipV="false" rot="0">
              <a:off x="0" y="0"/>
              <a:ext cx="6858000" cy="786384"/>
            </a:xfrm>
            <a:custGeom>
              <a:avLst/>
              <a:gdLst/>
              <a:ahLst/>
              <a:cxnLst/>
              <a:rect r="r" b="b" t="t" l="l"/>
              <a:pathLst>
                <a:path h="786384" w="6858000">
                  <a:moveTo>
                    <a:pt x="0" y="0"/>
                  </a:moveTo>
                  <a:lnTo>
                    <a:pt x="6858000" y="0"/>
                  </a:lnTo>
                  <a:lnTo>
                    <a:pt x="6858000" y="786384"/>
                  </a:lnTo>
                  <a:lnTo>
                    <a:pt x="0" y="786384"/>
                  </a:lnTo>
                  <a:close/>
                </a:path>
              </a:pathLst>
            </a:custGeom>
            <a:blipFill>
              <a:blip r:embed="rId2">
                <a:alphaModFix amt="0"/>
              </a:blip>
              <a:stretch>
                <a:fillRect l="0" t="-119927" r="0" b="-119927"/>
              </a:stretch>
            </a:blipFill>
          </p:spPr>
        </p:sp>
        <p:sp>
          <p:nvSpPr>
            <p:cNvPr name="TextBox 61" id="61"/>
            <p:cNvSpPr txBox="true"/>
            <p:nvPr/>
          </p:nvSpPr>
          <p:spPr>
            <a:xfrm>
              <a:off x="0" y="-38100"/>
              <a:ext cx="6858000" cy="824484"/>
            </a:xfrm>
            <a:prstGeom prst="rect">
              <a:avLst/>
            </a:prstGeom>
          </p:spPr>
          <p:txBody>
            <a:bodyPr anchor="ctr" rtlCol="false" tIns="0" lIns="0" bIns="0" rIns="0"/>
            <a:lstStyle/>
            <a:p>
              <a:pPr algn="ctr">
                <a:lnSpc>
                  <a:spcPts val="2430"/>
                </a:lnSpc>
              </a:pPr>
              <a:r>
                <a:rPr lang="en-US" sz="2025">
                  <a:solidFill>
                    <a:srgbClr val="6B7280"/>
                  </a:solidFill>
                  <a:latin typeface="Calibri (MS)"/>
                  <a:ea typeface="Calibri (MS)"/>
                  <a:cs typeface="Calibri (MS)"/>
                  <a:sym typeface="Calibri (MS)"/>
                </a:rPr>
                <a:t>Recover</a:t>
              </a:r>
            </a:p>
          </p:txBody>
        </p:sp>
      </p:grpSp>
      <p:grpSp>
        <p:nvGrpSpPr>
          <p:cNvPr name="Group 62" id="62"/>
          <p:cNvGrpSpPr/>
          <p:nvPr/>
        </p:nvGrpSpPr>
        <p:grpSpPr>
          <a:xfrm rot="0">
            <a:off x="12124944" y="8805672"/>
            <a:ext cx="5143500" cy="329184"/>
            <a:chOff x="0" y="0"/>
            <a:chExt cx="6858000" cy="438912"/>
          </a:xfrm>
        </p:grpSpPr>
        <p:sp>
          <p:nvSpPr>
            <p:cNvPr name="Freeform 63" id="63"/>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64" id="64"/>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9AA3B8"/>
                  </a:solidFill>
                  <a:latin typeface="Arimo"/>
                  <a:ea typeface="Arimo"/>
                  <a:cs typeface="Arimo"/>
                  <a:sym typeface="Arimo"/>
                </a:rPr>
                <a:t>RC</a:t>
              </a:r>
            </a:p>
          </p:txBody>
        </p:sp>
      </p:grpSp>
      <p:grpSp>
        <p:nvGrpSpPr>
          <p:cNvPr name="Group 65" id="65"/>
          <p:cNvGrpSpPr/>
          <p:nvPr/>
        </p:nvGrpSpPr>
        <p:grpSpPr>
          <a:xfrm rot="0">
            <a:off x="685800" y="9710928"/>
            <a:ext cx="10972800" cy="411480"/>
            <a:chOff x="0" y="0"/>
            <a:chExt cx="14630400" cy="548640"/>
          </a:xfrm>
        </p:grpSpPr>
        <p:sp>
          <p:nvSpPr>
            <p:cNvPr name="Freeform 66" id="66"/>
            <p:cNvSpPr/>
            <p:nvPr/>
          </p:nvSpPr>
          <p:spPr>
            <a:xfrm flipH="false" flipV="false" rot="0">
              <a:off x="0" y="0"/>
              <a:ext cx="14630400" cy="548640"/>
            </a:xfrm>
            <a:custGeom>
              <a:avLst/>
              <a:gdLst/>
              <a:ahLst/>
              <a:cxnLst/>
              <a:rect r="r" b="b" t="t" l="l"/>
              <a:pathLst>
                <a:path h="548640" w="14630400">
                  <a:moveTo>
                    <a:pt x="0" y="0"/>
                  </a:moveTo>
                  <a:lnTo>
                    <a:pt x="14630400" y="0"/>
                  </a:lnTo>
                  <a:lnTo>
                    <a:pt x="14630400" y="548640"/>
                  </a:lnTo>
                  <a:lnTo>
                    <a:pt x="0" y="548640"/>
                  </a:lnTo>
                  <a:close/>
                </a:path>
              </a:pathLst>
            </a:custGeom>
            <a:blipFill>
              <a:blip r:embed="rId2">
                <a:alphaModFix amt="0"/>
              </a:blip>
              <a:stretch>
                <a:fillRect l="0" t="-469601" r="0" b="-469601"/>
              </a:stretch>
            </a:blipFill>
          </p:spPr>
        </p:sp>
        <p:sp>
          <p:nvSpPr>
            <p:cNvPr name="TextBox 67" id="67"/>
            <p:cNvSpPr txBox="true"/>
            <p:nvPr/>
          </p:nvSpPr>
          <p:spPr>
            <a:xfrm>
              <a:off x="0" y="-38100"/>
              <a:ext cx="14630400" cy="586740"/>
            </a:xfrm>
            <a:prstGeom prst="rect">
              <a:avLst/>
            </a:prstGeom>
          </p:spPr>
          <p:txBody>
            <a:bodyPr anchor="ctr" rtlCol="false" tIns="0" lIns="0" bIns="0" rIns="0"/>
            <a:lstStyle/>
            <a:p>
              <a:pPr algn="l">
                <a:lnSpc>
                  <a:spcPts val="1800"/>
                </a:lnSpc>
              </a:pPr>
              <a:r>
                <a:rPr lang="en-US" sz="1500">
                  <a:solidFill>
                    <a:srgbClr val="6B7280"/>
                  </a:solidFill>
                  <a:latin typeface="Calibri (MS)"/>
                  <a:ea typeface="Calibri (MS)"/>
                  <a:cs typeface="Calibri (MS)"/>
                  <a:sym typeface="Calibri (MS)"/>
                </a:rPr>
                <a:t>Davao del Norte Provincial Government — Cybersecurity Seminar</a:t>
              </a:r>
            </a:p>
          </p:txBody>
        </p:sp>
      </p:grpSp>
      <p:grpSp>
        <p:nvGrpSpPr>
          <p:cNvPr name="Group 68" id="68"/>
          <p:cNvGrpSpPr/>
          <p:nvPr/>
        </p:nvGrpSpPr>
        <p:grpSpPr>
          <a:xfrm rot="0">
            <a:off x="16911828" y="9710928"/>
            <a:ext cx="685800" cy="411480"/>
            <a:chOff x="0" y="0"/>
            <a:chExt cx="914400" cy="548640"/>
          </a:xfrm>
        </p:grpSpPr>
        <p:sp>
          <p:nvSpPr>
            <p:cNvPr name="Freeform 69" id="69"/>
            <p:cNvSpPr/>
            <p:nvPr/>
          </p:nvSpPr>
          <p:spPr>
            <a:xfrm flipH="false" flipV="false" rot="0">
              <a:off x="0" y="0"/>
              <a:ext cx="914400" cy="548640"/>
            </a:xfrm>
            <a:custGeom>
              <a:avLst/>
              <a:gdLst/>
              <a:ahLst/>
              <a:cxnLst/>
              <a:rect r="r" b="b" t="t" l="l"/>
              <a:pathLst>
                <a:path h="548640" w="914400">
                  <a:moveTo>
                    <a:pt x="0" y="0"/>
                  </a:moveTo>
                  <a:lnTo>
                    <a:pt x="914400" y="0"/>
                  </a:lnTo>
                  <a:lnTo>
                    <a:pt x="914400" y="548640"/>
                  </a:lnTo>
                  <a:lnTo>
                    <a:pt x="0" y="548640"/>
                  </a:lnTo>
                  <a:close/>
                </a:path>
              </a:pathLst>
            </a:custGeom>
            <a:blipFill>
              <a:blip r:embed="rId2">
                <a:alphaModFix amt="0"/>
              </a:blip>
              <a:stretch>
                <a:fillRect l="-26982" t="0" r="-26982" b="0"/>
              </a:stretch>
            </a:blipFill>
          </p:spPr>
        </p:sp>
        <p:sp>
          <p:nvSpPr>
            <p:cNvPr name="TextBox 70" id="70"/>
            <p:cNvSpPr txBox="true"/>
            <p:nvPr/>
          </p:nvSpPr>
          <p:spPr>
            <a:xfrm>
              <a:off x="0" y="-38100"/>
              <a:ext cx="914400" cy="586740"/>
            </a:xfrm>
            <a:prstGeom prst="rect">
              <a:avLst/>
            </a:prstGeom>
          </p:spPr>
          <p:txBody>
            <a:bodyPr anchor="ctr" rtlCol="false" tIns="0" lIns="0" bIns="0" rIns="0"/>
            <a:lstStyle/>
            <a:p>
              <a:pPr algn="r">
                <a:lnSpc>
                  <a:spcPts val="1800"/>
                </a:lnSpc>
              </a:pPr>
              <a:r>
                <a:rPr lang="en-US" sz="1500">
                  <a:solidFill>
                    <a:srgbClr val="6B7280"/>
                  </a:solidFill>
                  <a:latin typeface="Calibri (MS)"/>
                  <a:ea typeface="Calibri (MS)"/>
                  <a:cs typeface="Calibri (MS)"/>
                  <a:sym typeface="Calibri (MS)"/>
                </a:rPr>
                <a:t>11</a:t>
              </a:r>
            </a:p>
          </p:txBody>
        </p:sp>
      </p:grpSp>
    </p:spTree>
  </p:cSld>
  <p:clrMapOvr>
    <a:masterClrMapping/>
  </p:clrMapOvr>
</p:sld>
</file>

<file path=ppt/slides/slide7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60120" y="685800"/>
            <a:ext cx="13716000" cy="411480"/>
            <a:chOff x="0" y="0"/>
            <a:chExt cx="18288000" cy="548640"/>
          </a:xfrm>
        </p:grpSpPr>
        <p:sp>
          <p:nvSpPr>
            <p:cNvPr name="Freeform 3" id="3"/>
            <p:cNvSpPr/>
            <p:nvPr/>
          </p:nvSpPr>
          <p:spPr>
            <a:xfrm flipH="false" flipV="false" rot="0">
              <a:off x="0" y="0"/>
              <a:ext cx="18288000" cy="548640"/>
            </a:xfrm>
            <a:custGeom>
              <a:avLst/>
              <a:gdLst/>
              <a:ahLst/>
              <a:cxnLst/>
              <a:rect r="r" b="b" t="t" l="l"/>
              <a:pathLst>
                <a:path h="548640" w="18288000">
                  <a:moveTo>
                    <a:pt x="0" y="0"/>
                  </a:moveTo>
                  <a:lnTo>
                    <a:pt x="18288000" y="0"/>
                  </a:lnTo>
                  <a:lnTo>
                    <a:pt x="18288000" y="548640"/>
                  </a:lnTo>
                  <a:lnTo>
                    <a:pt x="0" y="548640"/>
                  </a:lnTo>
                  <a:close/>
                </a:path>
              </a:pathLst>
            </a:custGeom>
            <a:blipFill>
              <a:blip r:embed="rId2">
                <a:alphaModFix amt="0"/>
              </a:blip>
              <a:stretch>
                <a:fillRect l="0" t="-599501" r="0" b="-599501"/>
              </a:stretch>
            </a:blipFill>
          </p:spPr>
        </p:sp>
        <p:sp>
          <p:nvSpPr>
            <p:cNvPr name="TextBox 4" id="4"/>
            <p:cNvSpPr txBox="true"/>
            <p:nvPr/>
          </p:nvSpPr>
          <p:spPr>
            <a:xfrm>
              <a:off x="0" y="-38100"/>
              <a:ext cx="18288000" cy="586740"/>
            </a:xfrm>
            <a:prstGeom prst="rect">
              <a:avLst/>
            </a:prstGeom>
          </p:spPr>
          <p:txBody>
            <a:bodyPr anchor="ctr" rtlCol="false" tIns="0" lIns="0" bIns="0" rIns="0"/>
            <a:lstStyle/>
            <a:p>
              <a:pPr algn="l">
                <a:lnSpc>
                  <a:spcPts val="2160"/>
                </a:lnSpc>
              </a:pPr>
              <a:r>
                <a:rPr lang="en-US" b="true" sz="1800" spc="225">
                  <a:solidFill>
                    <a:srgbClr val="00B4D8"/>
                  </a:solidFill>
                  <a:latin typeface="Calibri (MS) Bold"/>
                  <a:ea typeface="Calibri (MS) Bold"/>
                  <a:cs typeface="Calibri (MS) Bold"/>
                  <a:sym typeface="Calibri (MS) Bold"/>
                </a:rPr>
                <a:t>NIST CSF SORT · ANSWER</a:t>
              </a:r>
            </a:p>
          </p:txBody>
        </p:sp>
      </p:grpSp>
      <p:grpSp>
        <p:nvGrpSpPr>
          <p:cNvPr name="Group 5" id="5"/>
          <p:cNvGrpSpPr/>
          <p:nvPr/>
        </p:nvGrpSpPr>
        <p:grpSpPr>
          <a:xfrm rot="0">
            <a:off x="960120" y="1069848"/>
            <a:ext cx="10972800" cy="822960"/>
            <a:chOff x="0" y="0"/>
            <a:chExt cx="14630400" cy="1097280"/>
          </a:xfrm>
        </p:grpSpPr>
        <p:sp>
          <p:nvSpPr>
            <p:cNvPr name="Freeform 6" id="6"/>
            <p:cNvSpPr/>
            <p:nvPr/>
          </p:nvSpPr>
          <p:spPr>
            <a:xfrm flipH="false" flipV="false" rot="0">
              <a:off x="0" y="0"/>
              <a:ext cx="14630400" cy="1097280"/>
            </a:xfrm>
            <a:custGeom>
              <a:avLst/>
              <a:gdLst/>
              <a:ahLst/>
              <a:cxnLst/>
              <a:rect r="r" b="b" t="t" l="l"/>
              <a:pathLst>
                <a:path h="1097280" w="14630400">
                  <a:moveTo>
                    <a:pt x="0" y="0"/>
                  </a:moveTo>
                  <a:lnTo>
                    <a:pt x="14630400" y="0"/>
                  </a:lnTo>
                  <a:lnTo>
                    <a:pt x="14630400" y="1097280"/>
                  </a:lnTo>
                  <a:lnTo>
                    <a:pt x="0" y="1097280"/>
                  </a:lnTo>
                  <a:close/>
                </a:path>
              </a:pathLst>
            </a:custGeom>
            <a:blipFill>
              <a:blip r:embed="rId2">
                <a:alphaModFix amt="0"/>
              </a:blip>
              <a:stretch>
                <a:fillRect l="0" t="-209800" r="0" b="-209800"/>
              </a:stretch>
            </a:blipFill>
          </p:spPr>
        </p:sp>
        <p:sp>
          <p:nvSpPr>
            <p:cNvPr name="TextBox 7" id="7"/>
            <p:cNvSpPr txBox="true"/>
            <p:nvPr/>
          </p:nvSpPr>
          <p:spPr>
            <a:xfrm>
              <a:off x="0" y="0"/>
              <a:ext cx="14630400" cy="1097280"/>
            </a:xfrm>
            <a:prstGeom prst="rect">
              <a:avLst/>
            </a:prstGeom>
          </p:spPr>
          <p:txBody>
            <a:bodyPr anchor="ctr" rtlCol="false" tIns="0" lIns="0" bIns="0" rIns="0"/>
            <a:lstStyle/>
            <a:p>
              <a:pPr algn="l">
                <a:lnSpc>
                  <a:spcPts val="4680"/>
                </a:lnSpc>
              </a:pPr>
              <a:r>
                <a:rPr lang="en-US" sz="3900" b="true">
                  <a:solidFill>
                    <a:srgbClr val="1E2761"/>
                  </a:solidFill>
                  <a:latin typeface="Cambria Bold"/>
                  <a:ea typeface="Cambria Bold"/>
                  <a:cs typeface="Cambria Bold"/>
                  <a:sym typeface="Cambria Bold"/>
                </a:rPr>
                <a:t>Scenario 1 — Answer</a:t>
              </a:r>
            </a:p>
          </p:txBody>
        </p:sp>
      </p:grpSp>
      <p:grpSp>
        <p:nvGrpSpPr>
          <p:cNvPr name="Group 8" id="8"/>
          <p:cNvGrpSpPr/>
          <p:nvPr/>
        </p:nvGrpSpPr>
        <p:grpSpPr>
          <a:xfrm rot="0">
            <a:off x="960120" y="1810512"/>
            <a:ext cx="8229600" cy="411480"/>
            <a:chOff x="0" y="0"/>
            <a:chExt cx="10972800" cy="548640"/>
          </a:xfrm>
        </p:grpSpPr>
        <p:sp>
          <p:nvSpPr>
            <p:cNvPr name="Freeform 9" id="9"/>
            <p:cNvSpPr/>
            <p:nvPr/>
          </p:nvSpPr>
          <p:spPr>
            <a:xfrm flipH="false" flipV="false" rot="0">
              <a:off x="0" y="0"/>
              <a:ext cx="10972800" cy="548640"/>
            </a:xfrm>
            <a:custGeom>
              <a:avLst/>
              <a:gdLst/>
              <a:ahLst/>
              <a:cxnLst/>
              <a:rect r="r" b="b" t="t" l="l"/>
              <a:pathLst>
                <a:path h="548640" w="10972800">
                  <a:moveTo>
                    <a:pt x="0" y="0"/>
                  </a:moveTo>
                  <a:lnTo>
                    <a:pt x="10972800" y="0"/>
                  </a:lnTo>
                  <a:lnTo>
                    <a:pt x="10972800" y="548640"/>
                  </a:lnTo>
                  <a:lnTo>
                    <a:pt x="0" y="548640"/>
                  </a:lnTo>
                  <a:close/>
                </a:path>
              </a:pathLst>
            </a:custGeom>
            <a:blipFill>
              <a:blip r:embed="rId2">
                <a:alphaModFix amt="0"/>
              </a:blip>
              <a:stretch>
                <a:fillRect l="0" t="-339700" r="0" b="-339700"/>
              </a:stretch>
            </a:blipFill>
          </p:spPr>
        </p:sp>
        <p:sp>
          <p:nvSpPr>
            <p:cNvPr name="TextBox 10" id="10"/>
            <p:cNvSpPr txBox="true"/>
            <p:nvPr/>
          </p:nvSpPr>
          <p:spPr>
            <a:xfrm>
              <a:off x="0" y="-28575"/>
              <a:ext cx="10972800" cy="577215"/>
            </a:xfrm>
            <a:prstGeom prst="rect">
              <a:avLst/>
            </a:prstGeom>
          </p:spPr>
          <p:txBody>
            <a:bodyPr anchor="ctr" rtlCol="false" tIns="0" lIns="0" bIns="0" rIns="0"/>
            <a:lstStyle/>
            <a:p>
              <a:pPr algn="l">
                <a:lnSpc>
                  <a:spcPts val="1980"/>
                </a:lnSpc>
              </a:pPr>
              <a:r>
                <a:rPr lang="en-US" sz="1650">
                  <a:solidFill>
                    <a:srgbClr val="6B7280"/>
                  </a:solidFill>
                  <a:latin typeface="Calibri (MS)"/>
                  <a:ea typeface="Calibri (MS)"/>
                  <a:cs typeface="Calibri (MS)"/>
                  <a:sym typeface="Calibri (MS)"/>
                </a:rPr>
                <a:t>1 of 20</a:t>
              </a:r>
            </a:p>
          </p:txBody>
        </p:sp>
      </p:grpSp>
      <p:grpSp>
        <p:nvGrpSpPr>
          <p:cNvPr name="Group 11" id="11"/>
          <p:cNvGrpSpPr/>
          <p:nvPr/>
        </p:nvGrpSpPr>
        <p:grpSpPr>
          <a:xfrm rot="0">
            <a:off x="960120" y="2537460"/>
            <a:ext cx="16322040" cy="2194560"/>
            <a:chOff x="0" y="0"/>
            <a:chExt cx="21762720" cy="2926080"/>
          </a:xfrm>
        </p:grpSpPr>
        <p:sp>
          <p:nvSpPr>
            <p:cNvPr name="Freeform 12" id="12"/>
            <p:cNvSpPr/>
            <p:nvPr/>
          </p:nvSpPr>
          <p:spPr>
            <a:xfrm flipH="false" flipV="false" rot="0">
              <a:off x="0" y="0"/>
              <a:ext cx="21762720" cy="2926080"/>
            </a:xfrm>
            <a:custGeom>
              <a:avLst/>
              <a:gdLst/>
              <a:ahLst/>
              <a:cxnLst/>
              <a:rect r="r" b="b" t="t" l="l"/>
              <a:pathLst>
                <a:path h="2926080" w="21762720">
                  <a:moveTo>
                    <a:pt x="0" y="182880"/>
                  </a:moveTo>
                  <a:cubicBezTo>
                    <a:pt x="0" y="81915"/>
                    <a:pt x="81915" y="0"/>
                    <a:pt x="182880" y="0"/>
                  </a:cubicBezTo>
                  <a:lnTo>
                    <a:pt x="21579839" y="0"/>
                  </a:lnTo>
                  <a:cubicBezTo>
                    <a:pt x="21680804" y="0"/>
                    <a:pt x="21762720" y="81915"/>
                    <a:pt x="21762720" y="182880"/>
                  </a:cubicBezTo>
                  <a:lnTo>
                    <a:pt x="21762720" y="2743200"/>
                  </a:lnTo>
                  <a:cubicBezTo>
                    <a:pt x="21762720" y="2844165"/>
                    <a:pt x="21680804" y="2926080"/>
                    <a:pt x="21579839" y="2926080"/>
                  </a:cubicBezTo>
                  <a:lnTo>
                    <a:pt x="182880" y="2926080"/>
                  </a:lnTo>
                  <a:cubicBezTo>
                    <a:pt x="81915" y="2926080"/>
                    <a:pt x="0" y="2844165"/>
                    <a:pt x="0" y="2743200"/>
                  </a:cubicBezTo>
                  <a:close/>
                </a:path>
              </a:pathLst>
            </a:custGeom>
            <a:solidFill>
              <a:srgbClr val="F4F7FC"/>
            </a:solidFill>
          </p:spPr>
        </p:sp>
      </p:grpSp>
      <p:grpSp>
        <p:nvGrpSpPr>
          <p:cNvPr name="Group 13" id="13"/>
          <p:cNvGrpSpPr/>
          <p:nvPr/>
        </p:nvGrpSpPr>
        <p:grpSpPr>
          <a:xfrm rot="0">
            <a:off x="1440180" y="2770632"/>
            <a:ext cx="15361920" cy="1714500"/>
            <a:chOff x="0" y="0"/>
            <a:chExt cx="20482560" cy="2286000"/>
          </a:xfrm>
        </p:grpSpPr>
        <p:sp>
          <p:nvSpPr>
            <p:cNvPr name="Freeform 14" id="14"/>
            <p:cNvSpPr/>
            <p:nvPr/>
          </p:nvSpPr>
          <p:spPr>
            <a:xfrm flipH="false" flipV="false" rot="0">
              <a:off x="0" y="0"/>
              <a:ext cx="20482561" cy="2286000"/>
            </a:xfrm>
            <a:custGeom>
              <a:avLst/>
              <a:gdLst/>
              <a:ahLst/>
              <a:cxnLst/>
              <a:rect r="r" b="b" t="t" l="l"/>
              <a:pathLst>
                <a:path h="2286000" w="20482561">
                  <a:moveTo>
                    <a:pt x="0" y="0"/>
                  </a:moveTo>
                  <a:lnTo>
                    <a:pt x="20482561" y="0"/>
                  </a:lnTo>
                  <a:lnTo>
                    <a:pt x="20482561" y="2286000"/>
                  </a:lnTo>
                  <a:lnTo>
                    <a:pt x="0" y="2286000"/>
                  </a:lnTo>
                  <a:close/>
                </a:path>
              </a:pathLst>
            </a:custGeom>
            <a:blipFill>
              <a:blip r:embed="rId2">
                <a:alphaModFix amt="0"/>
              </a:blip>
              <a:stretch>
                <a:fillRect l="0" t="-124585" r="0" b="-124585"/>
              </a:stretch>
            </a:blipFill>
          </p:spPr>
        </p:sp>
        <p:sp>
          <p:nvSpPr>
            <p:cNvPr name="TextBox 15" id="15"/>
            <p:cNvSpPr txBox="true"/>
            <p:nvPr/>
          </p:nvSpPr>
          <p:spPr>
            <a:xfrm>
              <a:off x="0" y="-85725"/>
              <a:ext cx="20482560" cy="2371725"/>
            </a:xfrm>
            <a:prstGeom prst="rect">
              <a:avLst/>
            </a:prstGeom>
          </p:spPr>
          <p:txBody>
            <a:bodyPr anchor="ctr" rtlCol="false" tIns="0" lIns="0" bIns="0" rIns="0"/>
            <a:lstStyle/>
            <a:p>
              <a:pPr algn="l">
                <a:lnSpc>
                  <a:spcPts val="3600"/>
                </a:lnSpc>
              </a:pPr>
              <a:r>
                <a:rPr lang="en-US" sz="2400" i="true">
                  <a:solidFill>
                    <a:srgbClr val="23262F"/>
                  </a:solidFill>
                  <a:latin typeface="Cambria Italics"/>
                  <a:ea typeface="Cambria Italics"/>
                  <a:cs typeface="Cambria Italics"/>
                  <a:sym typeface="Cambria Italics"/>
                </a:rPr>
                <a:t>"The provincial administrator signs a written policy requiring every department to report a data breach to the CIO within 24 hours."</a:t>
              </a:r>
            </a:p>
          </p:txBody>
        </p:sp>
      </p:grpSp>
      <p:grpSp>
        <p:nvGrpSpPr>
          <p:cNvPr name="Group 16" id="16"/>
          <p:cNvGrpSpPr/>
          <p:nvPr/>
        </p:nvGrpSpPr>
        <p:grpSpPr>
          <a:xfrm rot="0">
            <a:off x="950595" y="5065395"/>
            <a:ext cx="5162550" cy="842010"/>
            <a:chOff x="0" y="0"/>
            <a:chExt cx="6883400" cy="1122680"/>
          </a:xfrm>
        </p:grpSpPr>
        <p:sp>
          <p:nvSpPr>
            <p:cNvPr name="Freeform 17" id="17"/>
            <p:cNvSpPr/>
            <p:nvPr/>
          </p:nvSpPr>
          <p:spPr>
            <a:xfrm flipH="false" flipV="false" rot="0">
              <a:off x="0" y="0"/>
              <a:ext cx="6883400" cy="1122680"/>
            </a:xfrm>
            <a:custGeom>
              <a:avLst/>
              <a:gdLst/>
              <a:ahLst/>
              <a:cxnLst/>
              <a:rect r="r" b="b" t="t" l="l"/>
              <a:pathLst>
                <a:path h="1122680" w="6883400">
                  <a:moveTo>
                    <a:pt x="0" y="168402"/>
                  </a:moveTo>
                  <a:cubicBezTo>
                    <a:pt x="0" y="75438"/>
                    <a:pt x="75438" y="0"/>
                    <a:pt x="168402" y="0"/>
                  </a:cubicBezTo>
                  <a:lnTo>
                    <a:pt x="6714998" y="0"/>
                  </a:lnTo>
                  <a:cubicBezTo>
                    <a:pt x="6807962" y="0"/>
                    <a:pt x="6883400" y="75438"/>
                    <a:pt x="6883400" y="168402"/>
                  </a:cubicBezTo>
                  <a:lnTo>
                    <a:pt x="6883400" y="954278"/>
                  </a:lnTo>
                  <a:cubicBezTo>
                    <a:pt x="6883400" y="1047242"/>
                    <a:pt x="6807962" y="1122680"/>
                    <a:pt x="6714998" y="1122680"/>
                  </a:cubicBezTo>
                  <a:lnTo>
                    <a:pt x="168402" y="1122680"/>
                  </a:lnTo>
                  <a:cubicBezTo>
                    <a:pt x="75438" y="1122680"/>
                    <a:pt x="0" y="1047242"/>
                    <a:pt x="0" y="954278"/>
                  </a:cubicBezTo>
                  <a:close/>
                </a:path>
              </a:pathLst>
            </a:custGeom>
            <a:solidFill>
              <a:srgbClr val="6C4FD1"/>
            </a:solidFill>
            <a:ln w="19050" cap="sq">
              <a:solidFill>
                <a:srgbClr val="6C4FD1"/>
              </a:solidFill>
              <a:prstDash val="solid"/>
              <a:miter/>
            </a:ln>
          </p:spPr>
        </p:sp>
      </p:grpSp>
      <p:grpSp>
        <p:nvGrpSpPr>
          <p:cNvPr name="Group 18" id="18"/>
          <p:cNvGrpSpPr/>
          <p:nvPr/>
        </p:nvGrpSpPr>
        <p:grpSpPr>
          <a:xfrm rot="0">
            <a:off x="960120" y="5143500"/>
            <a:ext cx="5143500" cy="521208"/>
            <a:chOff x="0" y="0"/>
            <a:chExt cx="6858000" cy="694944"/>
          </a:xfrm>
        </p:grpSpPr>
        <p:sp>
          <p:nvSpPr>
            <p:cNvPr name="Freeform 19" id="19"/>
            <p:cNvSpPr/>
            <p:nvPr/>
          </p:nvSpPr>
          <p:spPr>
            <a:xfrm flipH="false" flipV="false" rot="0">
              <a:off x="0" y="0"/>
              <a:ext cx="6858000" cy="694944"/>
            </a:xfrm>
            <a:custGeom>
              <a:avLst/>
              <a:gdLst/>
              <a:ahLst/>
              <a:cxnLst/>
              <a:rect r="r" b="b" t="t" l="l"/>
              <a:pathLst>
                <a:path h="694944" w="6858000">
                  <a:moveTo>
                    <a:pt x="0" y="0"/>
                  </a:moveTo>
                  <a:lnTo>
                    <a:pt x="6858000" y="0"/>
                  </a:lnTo>
                  <a:lnTo>
                    <a:pt x="6858000" y="694944"/>
                  </a:lnTo>
                  <a:lnTo>
                    <a:pt x="0" y="694944"/>
                  </a:lnTo>
                  <a:close/>
                </a:path>
              </a:pathLst>
            </a:custGeom>
            <a:blipFill>
              <a:blip r:embed="rId2">
                <a:alphaModFix amt="0"/>
              </a:blip>
              <a:stretch>
                <a:fillRect l="0" t="-142286" r="0" b="-142286"/>
              </a:stretch>
            </a:blipFill>
          </p:spPr>
        </p:sp>
        <p:sp>
          <p:nvSpPr>
            <p:cNvPr name="TextBox 20" id="20"/>
            <p:cNvSpPr txBox="true"/>
            <p:nvPr/>
          </p:nvSpPr>
          <p:spPr>
            <a:xfrm>
              <a:off x="0" y="-38100"/>
              <a:ext cx="6858000" cy="733044"/>
            </a:xfrm>
            <a:prstGeom prst="rect">
              <a:avLst/>
            </a:prstGeom>
          </p:spPr>
          <p:txBody>
            <a:bodyPr anchor="ctr" rtlCol="false" tIns="0" lIns="0" bIns="0" rIns="0"/>
            <a:lstStyle/>
            <a:p>
              <a:pPr algn="ctr">
                <a:lnSpc>
                  <a:spcPts val="2430"/>
                </a:lnSpc>
              </a:pPr>
              <a:r>
                <a:rPr lang="en-US" sz="2025" b="true">
                  <a:solidFill>
                    <a:srgbClr val="FFFFFF"/>
                  </a:solidFill>
                  <a:latin typeface="Calibri (MS) Bold"/>
                  <a:ea typeface="Calibri (MS) Bold"/>
                  <a:cs typeface="Calibri (MS) Bold"/>
                  <a:sym typeface="Calibri (MS) Bold"/>
                </a:rPr>
                <a:t>✓  Govern</a:t>
              </a:r>
            </a:p>
          </p:txBody>
        </p:sp>
      </p:grpSp>
      <p:grpSp>
        <p:nvGrpSpPr>
          <p:cNvPr name="Group 21" id="21"/>
          <p:cNvGrpSpPr/>
          <p:nvPr/>
        </p:nvGrpSpPr>
        <p:grpSpPr>
          <a:xfrm rot="0">
            <a:off x="960120" y="5513832"/>
            <a:ext cx="5143500" cy="329184"/>
            <a:chOff x="0" y="0"/>
            <a:chExt cx="6858000" cy="438912"/>
          </a:xfrm>
        </p:grpSpPr>
        <p:sp>
          <p:nvSpPr>
            <p:cNvPr name="Freeform 22" id="22"/>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23" id="23"/>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FFFFFF"/>
                  </a:solidFill>
                  <a:latin typeface="Arimo"/>
                  <a:ea typeface="Arimo"/>
                  <a:cs typeface="Arimo"/>
                  <a:sym typeface="Arimo"/>
                </a:rPr>
                <a:t>GV</a:t>
              </a:r>
            </a:p>
          </p:txBody>
        </p:sp>
      </p:grpSp>
      <p:grpSp>
        <p:nvGrpSpPr>
          <p:cNvPr name="Group 24" id="24"/>
          <p:cNvGrpSpPr/>
          <p:nvPr/>
        </p:nvGrpSpPr>
        <p:grpSpPr>
          <a:xfrm rot="0">
            <a:off x="6533007" y="5065395"/>
            <a:ext cx="5162550" cy="842010"/>
            <a:chOff x="0" y="0"/>
            <a:chExt cx="6883400" cy="1122680"/>
          </a:xfrm>
        </p:grpSpPr>
        <p:sp>
          <p:nvSpPr>
            <p:cNvPr name="Freeform 25" id="25"/>
            <p:cNvSpPr/>
            <p:nvPr/>
          </p:nvSpPr>
          <p:spPr>
            <a:xfrm flipH="false" flipV="false" rot="0">
              <a:off x="0" y="0"/>
              <a:ext cx="6883400" cy="1122680"/>
            </a:xfrm>
            <a:custGeom>
              <a:avLst/>
              <a:gdLst/>
              <a:ahLst/>
              <a:cxnLst/>
              <a:rect r="r" b="b" t="t" l="l"/>
              <a:pathLst>
                <a:path h="1122680" w="6883400">
                  <a:moveTo>
                    <a:pt x="0" y="168402"/>
                  </a:moveTo>
                  <a:cubicBezTo>
                    <a:pt x="0" y="75438"/>
                    <a:pt x="75438" y="0"/>
                    <a:pt x="168402" y="0"/>
                  </a:cubicBezTo>
                  <a:lnTo>
                    <a:pt x="6714998" y="0"/>
                  </a:lnTo>
                  <a:cubicBezTo>
                    <a:pt x="6807962" y="0"/>
                    <a:pt x="6883400" y="75438"/>
                    <a:pt x="6883400" y="168402"/>
                  </a:cubicBezTo>
                  <a:lnTo>
                    <a:pt x="6883400" y="954278"/>
                  </a:lnTo>
                  <a:cubicBezTo>
                    <a:pt x="6883400" y="1047242"/>
                    <a:pt x="6807962" y="1122680"/>
                    <a:pt x="6714998" y="1122680"/>
                  </a:cubicBezTo>
                  <a:lnTo>
                    <a:pt x="168402" y="1122680"/>
                  </a:lnTo>
                  <a:cubicBezTo>
                    <a:pt x="75438" y="1122680"/>
                    <a:pt x="0" y="1047242"/>
                    <a:pt x="0" y="954278"/>
                  </a:cubicBezTo>
                  <a:close/>
                </a:path>
              </a:pathLst>
            </a:custGeom>
            <a:solidFill>
              <a:srgbClr val="F4F7FC"/>
            </a:solidFill>
            <a:ln w="19050" cap="sq">
              <a:solidFill>
                <a:srgbClr val="D7DCEC"/>
              </a:solidFill>
              <a:prstDash val="solid"/>
              <a:miter/>
            </a:ln>
          </p:spPr>
        </p:sp>
      </p:grpSp>
      <p:grpSp>
        <p:nvGrpSpPr>
          <p:cNvPr name="Group 26" id="26"/>
          <p:cNvGrpSpPr/>
          <p:nvPr/>
        </p:nvGrpSpPr>
        <p:grpSpPr>
          <a:xfrm rot="0">
            <a:off x="6542532" y="5143500"/>
            <a:ext cx="5143500" cy="521208"/>
            <a:chOff x="0" y="0"/>
            <a:chExt cx="6858000" cy="694944"/>
          </a:xfrm>
        </p:grpSpPr>
        <p:sp>
          <p:nvSpPr>
            <p:cNvPr name="Freeform 27" id="27"/>
            <p:cNvSpPr/>
            <p:nvPr/>
          </p:nvSpPr>
          <p:spPr>
            <a:xfrm flipH="false" flipV="false" rot="0">
              <a:off x="0" y="0"/>
              <a:ext cx="6858000" cy="694944"/>
            </a:xfrm>
            <a:custGeom>
              <a:avLst/>
              <a:gdLst/>
              <a:ahLst/>
              <a:cxnLst/>
              <a:rect r="r" b="b" t="t" l="l"/>
              <a:pathLst>
                <a:path h="694944" w="6858000">
                  <a:moveTo>
                    <a:pt x="0" y="0"/>
                  </a:moveTo>
                  <a:lnTo>
                    <a:pt x="6858000" y="0"/>
                  </a:lnTo>
                  <a:lnTo>
                    <a:pt x="6858000" y="694944"/>
                  </a:lnTo>
                  <a:lnTo>
                    <a:pt x="0" y="694944"/>
                  </a:lnTo>
                  <a:close/>
                </a:path>
              </a:pathLst>
            </a:custGeom>
            <a:blipFill>
              <a:blip r:embed="rId2">
                <a:alphaModFix amt="0"/>
              </a:blip>
              <a:stretch>
                <a:fillRect l="0" t="-142286" r="0" b="-142286"/>
              </a:stretch>
            </a:blipFill>
          </p:spPr>
        </p:sp>
        <p:sp>
          <p:nvSpPr>
            <p:cNvPr name="TextBox 28" id="28"/>
            <p:cNvSpPr txBox="true"/>
            <p:nvPr/>
          </p:nvSpPr>
          <p:spPr>
            <a:xfrm>
              <a:off x="0" y="-38100"/>
              <a:ext cx="6858000" cy="733044"/>
            </a:xfrm>
            <a:prstGeom prst="rect">
              <a:avLst/>
            </a:prstGeom>
          </p:spPr>
          <p:txBody>
            <a:bodyPr anchor="ctr" rtlCol="false" tIns="0" lIns="0" bIns="0" rIns="0"/>
            <a:lstStyle/>
            <a:p>
              <a:pPr algn="ctr">
                <a:lnSpc>
                  <a:spcPts val="2430"/>
                </a:lnSpc>
              </a:pPr>
              <a:r>
                <a:rPr lang="en-US" sz="2025">
                  <a:solidFill>
                    <a:srgbClr val="6B7280"/>
                  </a:solidFill>
                  <a:latin typeface="Calibri (MS)"/>
                  <a:ea typeface="Calibri (MS)"/>
                  <a:cs typeface="Calibri (MS)"/>
                  <a:sym typeface="Calibri (MS)"/>
                </a:rPr>
                <a:t>Identify</a:t>
              </a:r>
            </a:p>
          </p:txBody>
        </p:sp>
      </p:grpSp>
      <p:grpSp>
        <p:nvGrpSpPr>
          <p:cNvPr name="Group 29" id="29"/>
          <p:cNvGrpSpPr/>
          <p:nvPr/>
        </p:nvGrpSpPr>
        <p:grpSpPr>
          <a:xfrm rot="0">
            <a:off x="6542532" y="5513832"/>
            <a:ext cx="5143500" cy="329184"/>
            <a:chOff x="0" y="0"/>
            <a:chExt cx="6858000" cy="438912"/>
          </a:xfrm>
        </p:grpSpPr>
        <p:sp>
          <p:nvSpPr>
            <p:cNvPr name="Freeform 30" id="30"/>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31" id="31"/>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9AA3B8"/>
                  </a:solidFill>
                  <a:latin typeface="Arimo"/>
                  <a:ea typeface="Arimo"/>
                  <a:cs typeface="Arimo"/>
                  <a:sym typeface="Arimo"/>
                </a:rPr>
                <a:t>ID</a:t>
              </a:r>
            </a:p>
          </p:txBody>
        </p:sp>
      </p:grpSp>
      <p:grpSp>
        <p:nvGrpSpPr>
          <p:cNvPr name="Group 32" id="32"/>
          <p:cNvGrpSpPr/>
          <p:nvPr/>
        </p:nvGrpSpPr>
        <p:grpSpPr>
          <a:xfrm rot="0">
            <a:off x="12115419" y="5065395"/>
            <a:ext cx="5162550" cy="842010"/>
            <a:chOff x="0" y="0"/>
            <a:chExt cx="6883400" cy="1122680"/>
          </a:xfrm>
        </p:grpSpPr>
        <p:sp>
          <p:nvSpPr>
            <p:cNvPr name="Freeform 33" id="33"/>
            <p:cNvSpPr/>
            <p:nvPr/>
          </p:nvSpPr>
          <p:spPr>
            <a:xfrm flipH="false" flipV="false" rot="0">
              <a:off x="0" y="0"/>
              <a:ext cx="6883400" cy="1122680"/>
            </a:xfrm>
            <a:custGeom>
              <a:avLst/>
              <a:gdLst/>
              <a:ahLst/>
              <a:cxnLst/>
              <a:rect r="r" b="b" t="t" l="l"/>
              <a:pathLst>
                <a:path h="1122680" w="6883400">
                  <a:moveTo>
                    <a:pt x="0" y="168402"/>
                  </a:moveTo>
                  <a:cubicBezTo>
                    <a:pt x="0" y="75438"/>
                    <a:pt x="75438" y="0"/>
                    <a:pt x="168402" y="0"/>
                  </a:cubicBezTo>
                  <a:lnTo>
                    <a:pt x="6714998" y="0"/>
                  </a:lnTo>
                  <a:cubicBezTo>
                    <a:pt x="6807962" y="0"/>
                    <a:pt x="6883400" y="75438"/>
                    <a:pt x="6883400" y="168402"/>
                  </a:cubicBezTo>
                  <a:lnTo>
                    <a:pt x="6883400" y="954278"/>
                  </a:lnTo>
                  <a:cubicBezTo>
                    <a:pt x="6883400" y="1047242"/>
                    <a:pt x="6807962" y="1122680"/>
                    <a:pt x="6714998" y="1122680"/>
                  </a:cubicBezTo>
                  <a:lnTo>
                    <a:pt x="168402" y="1122680"/>
                  </a:lnTo>
                  <a:cubicBezTo>
                    <a:pt x="75438" y="1122680"/>
                    <a:pt x="0" y="1047242"/>
                    <a:pt x="0" y="954278"/>
                  </a:cubicBezTo>
                  <a:close/>
                </a:path>
              </a:pathLst>
            </a:custGeom>
            <a:solidFill>
              <a:srgbClr val="F4F7FC"/>
            </a:solidFill>
            <a:ln w="19050" cap="sq">
              <a:solidFill>
                <a:srgbClr val="D7DCEC"/>
              </a:solidFill>
              <a:prstDash val="solid"/>
              <a:miter/>
            </a:ln>
          </p:spPr>
        </p:sp>
      </p:grpSp>
      <p:grpSp>
        <p:nvGrpSpPr>
          <p:cNvPr name="Group 34" id="34"/>
          <p:cNvGrpSpPr/>
          <p:nvPr/>
        </p:nvGrpSpPr>
        <p:grpSpPr>
          <a:xfrm rot="0">
            <a:off x="12124944" y="5143500"/>
            <a:ext cx="5143500" cy="521208"/>
            <a:chOff x="0" y="0"/>
            <a:chExt cx="6858000" cy="694944"/>
          </a:xfrm>
        </p:grpSpPr>
        <p:sp>
          <p:nvSpPr>
            <p:cNvPr name="Freeform 35" id="35"/>
            <p:cNvSpPr/>
            <p:nvPr/>
          </p:nvSpPr>
          <p:spPr>
            <a:xfrm flipH="false" flipV="false" rot="0">
              <a:off x="0" y="0"/>
              <a:ext cx="6858000" cy="694944"/>
            </a:xfrm>
            <a:custGeom>
              <a:avLst/>
              <a:gdLst/>
              <a:ahLst/>
              <a:cxnLst/>
              <a:rect r="r" b="b" t="t" l="l"/>
              <a:pathLst>
                <a:path h="694944" w="6858000">
                  <a:moveTo>
                    <a:pt x="0" y="0"/>
                  </a:moveTo>
                  <a:lnTo>
                    <a:pt x="6858000" y="0"/>
                  </a:lnTo>
                  <a:lnTo>
                    <a:pt x="6858000" y="694944"/>
                  </a:lnTo>
                  <a:lnTo>
                    <a:pt x="0" y="694944"/>
                  </a:lnTo>
                  <a:close/>
                </a:path>
              </a:pathLst>
            </a:custGeom>
            <a:blipFill>
              <a:blip r:embed="rId2">
                <a:alphaModFix amt="0"/>
              </a:blip>
              <a:stretch>
                <a:fillRect l="0" t="-142286" r="0" b="-142286"/>
              </a:stretch>
            </a:blipFill>
          </p:spPr>
        </p:sp>
        <p:sp>
          <p:nvSpPr>
            <p:cNvPr name="TextBox 36" id="36"/>
            <p:cNvSpPr txBox="true"/>
            <p:nvPr/>
          </p:nvSpPr>
          <p:spPr>
            <a:xfrm>
              <a:off x="0" y="-38100"/>
              <a:ext cx="6858000" cy="733044"/>
            </a:xfrm>
            <a:prstGeom prst="rect">
              <a:avLst/>
            </a:prstGeom>
          </p:spPr>
          <p:txBody>
            <a:bodyPr anchor="ctr" rtlCol="false" tIns="0" lIns="0" bIns="0" rIns="0"/>
            <a:lstStyle/>
            <a:p>
              <a:pPr algn="ctr">
                <a:lnSpc>
                  <a:spcPts val="2430"/>
                </a:lnSpc>
              </a:pPr>
              <a:r>
                <a:rPr lang="en-US" sz="2025">
                  <a:solidFill>
                    <a:srgbClr val="6B7280"/>
                  </a:solidFill>
                  <a:latin typeface="Calibri (MS)"/>
                  <a:ea typeface="Calibri (MS)"/>
                  <a:cs typeface="Calibri (MS)"/>
                  <a:sym typeface="Calibri (MS)"/>
                </a:rPr>
                <a:t>Protect</a:t>
              </a:r>
            </a:p>
          </p:txBody>
        </p:sp>
      </p:grpSp>
      <p:grpSp>
        <p:nvGrpSpPr>
          <p:cNvPr name="Group 37" id="37"/>
          <p:cNvGrpSpPr/>
          <p:nvPr/>
        </p:nvGrpSpPr>
        <p:grpSpPr>
          <a:xfrm rot="0">
            <a:off x="12124944" y="5513832"/>
            <a:ext cx="5143500" cy="329184"/>
            <a:chOff x="0" y="0"/>
            <a:chExt cx="6858000" cy="438912"/>
          </a:xfrm>
        </p:grpSpPr>
        <p:sp>
          <p:nvSpPr>
            <p:cNvPr name="Freeform 38" id="38"/>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39" id="39"/>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9AA3B8"/>
                  </a:solidFill>
                  <a:latin typeface="Arimo"/>
                  <a:ea typeface="Arimo"/>
                  <a:cs typeface="Arimo"/>
                  <a:sym typeface="Arimo"/>
                </a:rPr>
                <a:t>PR</a:t>
              </a:r>
            </a:p>
          </p:txBody>
        </p:sp>
      </p:grpSp>
      <p:grpSp>
        <p:nvGrpSpPr>
          <p:cNvPr name="Group 40" id="40"/>
          <p:cNvGrpSpPr/>
          <p:nvPr/>
        </p:nvGrpSpPr>
        <p:grpSpPr>
          <a:xfrm rot="0">
            <a:off x="950595" y="6135243"/>
            <a:ext cx="5162550" cy="842010"/>
            <a:chOff x="0" y="0"/>
            <a:chExt cx="6883400" cy="1122680"/>
          </a:xfrm>
        </p:grpSpPr>
        <p:sp>
          <p:nvSpPr>
            <p:cNvPr name="Freeform 41" id="41"/>
            <p:cNvSpPr/>
            <p:nvPr/>
          </p:nvSpPr>
          <p:spPr>
            <a:xfrm flipH="false" flipV="false" rot="0">
              <a:off x="0" y="0"/>
              <a:ext cx="6883400" cy="1122680"/>
            </a:xfrm>
            <a:custGeom>
              <a:avLst/>
              <a:gdLst/>
              <a:ahLst/>
              <a:cxnLst/>
              <a:rect r="r" b="b" t="t" l="l"/>
              <a:pathLst>
                <a:path h="1122680" w="6883400">
                  <a:moveTo>
                    <a:pt x="0" y="168402"/>
                  </a:moveTo>
                  <a:cubicBezTo>
                    <a:pt x="0" y="75438"/>
                    <a:pt x="75438" y="0"/>
                    <a:pt x="168402" y="0"/>
                  </a:cubicBezTo>
                  <a:lnTo>
                    <a:pt x="6714998" y="0"/>
                  </a:lnTo>
                  <a:cubicBezTo>
                    <a:pt x="6807962" y="0"/>
                    <a:pt x="6883400" y="75438"/>
                    <a:pt x="6883400" y="168402"/>
                  </a:cubicBezTo>
                  <a:lnTo>
                    <a:pt x="6883400" y="954278"/>
                  </a:lnTo>
                  <a:cubicBezTo>
                    <a:pt x="6883400" y="1047242"/>
                    <a:pt x="6807962" y="1122680"/>
                    <a:pt x="6714998" y="1122680"/>
                  </a:cubicBezTo>
                  <a:lnTo>
                    <a:pt x="168402" y="1122680"/>
                  </a:lnTo>
                  <a:cubicBezTo>
                    <a:pt x="75438" y="1122680"/>
                    <a:pt x="0" y="1047242"/>
                    <a:pt x="0" y="954278"/>
                  </a:cubicBezTo>
                  <a:close/>
                </a:path>
              </a:pathLst>
            </a:custGeom>
            <a:solidFill>
              <a:srgbClr val="F4F7FC"/>
            </a:solidFill>
            <a:ln w="19050" cap="sq">
              <a:solidFill>
                <a:srgbClr val="D7DCEC"/>
              </a:solidFill>
              <a:prstDash val="solid"/>
              <a:miter/>
            </a:ln>
          </p:spPr>
        </p:sp>
      </p:grpSp>
      <p:grpSp>
        <p:nvGrpSpPr>
          <p:cNvPr name="Group 42" id="42"/>
          <p:cNvGrpSpPr/>
          <p:nvPr/>
        </p:nvGrpSpPr>
        <p:grpSpPr>
          <a:xfrm rot="0">
            <a:off x="960120" y="6213348"/>
            <a:ext cx="5143500" cy="521208"/>
            <a:chOff x="0" y="0"/>
            <a:chExt cx="6858000" cy="694944"/>
          </a:xfrm>
        </p:grpSpPr>
        <p:sp>
          <p:nvSpPr>
            <p:cNvPr name="Freeform 43" id="43"/>
            <p:cNvSpPr/>
            <p:nvPr/>
          </p:nvSpPr>
          <p:spPr>
            <a:xfrm flipH="false" flipV="false" rot="0">
              <a:off x="0" y="0"/>
              <a:ext cx="6858000" cy="694944"/>
            </a:xfrm>
            <a:custGeom>
              <a:avLst/>
              <a:gdLst/>
              <a:ahLst/>
              <a:cxnLst/>
              <a:rect r="r" b="b" t="t" l="l"/>
              <a:pathLst>
                <a:path h="694944" w="6858000">
                  <a:moveTo>
                    <a:pt x="0" y="0"/>
                  </a:moveTo>
                  <a:lnTo>
                    <a:pt x="6858000" y="0"/>
                  </a:lnTo>
                  <a:lnTo>
                    <a:pt x="6858000" y="694944"/>
                  </a:lnTo>
                  <a:lnTo>
                    <a:pt x="0" y="694944"/>
                  </a:lnTo>
                  <a:close/>
                </a:path>
              </a:pathLst>
            </a:custGeom>
            <a:blipFill>
              <a:blip r:embed="rId2">
                <a:alphaModFix amt="0"/>
              </a:blip>
              <a:stretch>
                <a:fillRect l="0" t="-142286" r="0" b="-142286"/>
              </a:stretch>
            </a:blipFill>
          </p:spPr>
        </p:sp>
        <p:sp>
          <p:nvSpPr>
            <p:cNvPr name="TextBox 44" id="44"/>
            <p:cNvSpPr txBox="true"/>
            <p:nvPr/>
          </p:nvSpPr>
          <p:spPr>
            <a:xfrm>
              <a:off x="0" y="-38100"/>
              <a:ext cx="6858000" cy="733044"/>
            </a:xfrm>
            <a:prstGeom prst="rect">
              <a:avLst/>
            </a:prstGeom>
          </p:spPr>
          <p:txBody>
            <a:bodyPr anchor="ctr" rtlCol="false" tIns="0" lIns="0" bIns="0" rIns="0"/>
            <a:lstStyle/>
            <a:p>
              <a:pPr algn="ctr">
                <a:lnSpc>
                  <a:spcPts val="2430"/>
                </a:lnSpc>
              </a:pPr>
              <a:r>
                <a:rPr lang="en-US" sz="2025">
                  <a:solidFill>
                    <a:srgbClr val="6B7280"/>
                  </a:solidFill>
                  <a:latin typeface="Calibri (MS)"/>
                  <a:ea typeface="Calibri (MS)"/>
                  <a:cs typeface="Calibri (MS)"/>
                  <a:sym typeface="Calibri (MS)"/>
                </a:rPr>
                <a:t>Detect</a:t>
              </a:r>
            </a:p>
          </p:txBody>
        </p:sp>
      </p:grpSp>
      <p:grpSp>
        <p:nvGrpSpPr>
          <p:cNvPr name="Group 45" id="45"/>
          <p:cNvGrpSpPr/>
          <p:nvPr/>
        </p:nvGrpSpPr>
        <p:grpSpPr>
          <a:xfrm rot="0">
            <a:off x="960120" y="6583680"/>
            <a:ext cx="5143500" cy="329184"/>
            <a:chOff x="0" y="0"/>
            <a:chExt cx="6858000" cy="438912"/>
          </a:xfrm>
        </p:grpSpPr>
        <p:sp>
          <p:nvSpPr>
            <p:cNvPr name="Freeform 46" id="46"/>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47" id="47"/>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9AA3B8"/>
                  </a:solidFill>
                  <a:latin typeface="Arimo"/>
                  <a:ea typeface="Arimo"/>
                  <a:cs typeface="Arimo"/>
                  <a:sym typeface="Arimo"/>
                </a:rPr>
                <a:t>DE</a:t>
              </a:r>
            </a:p>
          </p:txBody>
        </p:sp>
      </p:grpSp>
      <p:grpSp>
        <p:nvGrpSpPr>
          <p:cNvPr name="Group 48" id="48"/>
          <p:cNvGrpSpPr/>
          <p:nvPr/>
        </p:nvGrpSpPr>
        <p:grpSpPr>
          <a:xfrm rot="0">
            <a:off x="6533007" y="6135243"/>
            <a:ext cx="5162550" cy="842010"/>
            <a:chOff x="0" y="0"/>
            <a:chExt cx="6883400" cy="1122680"/>
          </a:xfrm>
        </p:grpSpPr>
        <p:sp>
          <p:nvSpPr>
            <p:cNvPr name="Freeform 49" id="49"/>
            <p:cNvSpPr/>
            <p:nvPr/>
          </p:nvSpPr>
          <p:spPr>
            <a:xfrm flipH="false" flipV="false" rot="0">
              <a:off x="0" y="0"/>
              <a:ext cx="6883400" cy="1122680"/>
            </a:xfrm>
            <a:custGeom>
              <a:avLst/>
              <a:gdLst/>
              <a:ahLst/>
              <a:cxnLst/>
              <a:rect r="r" b="b" t="t" l="l"/>
              <a:pathLst>
                <a:path h="1122680" w="6883400">
                  <a:moveTo>
                    <a:pt x="0" y="168402"/>
                  </a:moveTo>
                  <a:cubicBezTo>
                    <a:pt x="0" y="75438"/>
                    <a:pt x="75438" y="0"/>
                    <a:pt x="168402" y="0"/>
                  </a:cubicBezTo>
                  <a:lnTo>
                    <a:pt x="6714998" y="0"/>
                  </a:lnTo>
                  <a:cubicBezTo>
                    <a:pt x="6807962" y="0"/>
                    <a:pt x="6883400" y="75438"/>
                    <a:pt x="6883400" y="168402"/>
                  </a:cubicBezTo>
                  <a:lnTo>
                    <a:pt x="6883400" y="954278"/>
                  </a:lnTo>
                  <a:cubicBezTo>
                    <a:pt x="6883400" y="1047242"/>
                    <a:pt x="6807962" y="1122680"/>
                    <a:pt x="6714998" y="1122680"/>
                  </a:cubicBezTo>
                  <a:lnTo>
                    <a:pt x="168402" y="1122680"/>
                  </a:lnTo>
                  <a:cubicBezTo>
                    <a:pt x="75438" y="1122680"/>
                    <a:pt x="0" y="1047242"/>
                    <a:pt x="0" y="954278"/>
                  </a:cubicBezTo>
                  <a:close/>
                </a:path>
              </a:pathLst>
            </a:custGeom>
            <a:solidFill>
              <a:srgbClr val="F4F7FC"/>
            </a:solidFill>
            <a:ln w="19050" cap="sq">
              <a:solidFill>
                <a:srgbClr val="D7DCEC"/>
              </a:solidFill>
              <a:prstDash val="solid"/>
              <a:miter/>
            </a:ln>
          </p:spPr>
        </p:sp>
      </p:grpSp>
      <p:grpSp>
        <p:nvGrpSpPr>
          <p:cNvPr name="Group 50" id="50"/>
          <p:cNvGrpSpPr/>
          <p:nvPr/>
        </p:nvGrpSpPr>
        <p:grpSpPr>
          <a:xfrm rot="0">
            <a:off x="6542532" y="6213348"/>
            <a:ext cx="5143500" cy="521208"/>
            <a:chOff x="0" y="0"/>
            <a:chExt cx="6858000" cy="694944"/>
          </a:xfrm>
        </p:grpSpPr>
        <p:sp>
          <p:nvSpPr>
            <p:cNvPr name="Freeform 51" id="51"/>
            <p:cNvSpPr/>
            <p:nvPr/>
          </p:nvSpPr>
          <p:spPr>
            <a:xfrm flipH="false" flipV="false" rot="0">
              <a:off x="0" y="0"/>
              <a:ext cx="6858000" cy="694944"/>
            </a:xfrm>
            <a:custGeom>
              <a:avLst/>
              <a:gdLst/>
              <a:ahLst/>
              <a:cxnLst/>
              <a:rect r="r" b="b" t="t" l="l"/>
              <a:pathLst>
                <a:path h="694944" w="6858000">
                  <a:moveTo>
                    <a:pt x="0" y="0"/>
                  </a:moveTo>
                  <a:lnTo>
                    <a:pt x="6858000" y="0"/>
                  </a:lnTo>
                  <a:lnTo>
                    <a:pt x="6858000" y="694944"/>
                  </a:lnTo>
                  <a:lnTo>
                    <a:pt x="0" y="694944"/>
                  </a:lnTo>
                  <a:close/>
                </a:path>
              </a:pathLst>
            </a:custGeom>
            <a:blipFill>
              <a:blip r:embed="rId2">
                <a:alphaModFix amt="0"/>
              </a:blip>
              <a:stretch>
                <a:fillRect l="0" t="-142286" r="0" b="-142286"/>
              </a:stretch>
            </a:blipFill>
          </p:spPr>
        </p:sp>
        <p:sp>
          <p:nvSpPr>
            <p:cNvPr name="TextBox 52" id="52"/>
            <p:cNvSpPr txBox="true"/>
            <p:nvPr/>
          </p:nvSpPr>
          <p:spPr>
            <a:xfrm>
              <a:off x="0" y="-38100"/>
              <a:ext cx="6858000" cy="733044"/>
            </a:xfrm>
            <a:prstGeom prst="rect">
              <a:avLst/>
            </a:prstGeom>
          </p:spPr>
          <p:txBody>
            <a:bodyPr anchor="ctr" rtlCol="false" tIns="0" lIns="0" bIns="0" rIns="0"/>
            <a:lstStyle/>
            <a:p>
              <a:pPr algn="ctr">
                <a:lnSpc>
                  <a:spcPts val="2430"/>
                </a:lnSpc>
              </a:pPr>
              <a:r>
                <a:rPr lang="en-US" sz="2025">
                  <a:solidFill>
                    <a:srgbClr val="6B7280"/>
                  </a:solidFill>
                  <a:latin typeface="Calibri (MS)"/>
                  <a:ea typeface="Calibri (MS)"/>
                  <a:cs typeface="Calibri (MS)"/>
                  <a:sym typeface="Calibri (MS)"/>
                </a:rPr>
                <a:t>Respond</a:t>
              </a:r>
            </a:p>
          </p:txBody>
        </p:sp>
      </p:grpSp>
      <p:grpSp>
        <p:nvGrpSpPr>
          <p:cNvPr name="Group 53" id="53"/>
          <p:cNvGrpSpPr/>
          <p:nvPr/>
        </p:nvGrpSpPr>
        <p:grpSpPr>
          <a:xfrm rot="0">
            <a:off x="6542532" y="6583680"/>
            <a:ext cx="5143500" cy="329184"/>
            <a:chOff x="0" y="0"/>
            <a:chExt cx="6858000" cy="438912"/>
          </a:xfrm>
        </p:grpSpPr>
        <p:sp>
          <p:nvSpPr>
            <p:cNvPr name="Freeform 54" id="54"/>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55" id="55"/>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9AA3B8"/>
                  </a:solidFill>
                  <a:latin typeface="Arimo"/>
                  <a:ea typeface="Arimo"/>
                  <a:cs typeface="Arimo"/>
                  <a:sym typeface="Arimo"/>
                </a:rPr>
                <a:t>RS</a:t>
              </a:r>
            </a:p>
          </p:txBody>
        </p:sp>
      </p:grpSp>
      <p:grpSp>
        <p:nvGrpSpPr>
          <p:cNvPr name="Group 56" id="56"/>
          <p:cNvGrpSpPr/>
          <p:nvPr/>
        </p:nvGrpSpPr>
        <p:grpSpPr>
          <a:xfrm rot="0">
            <a:off x="12115419" y="6135243"/>
            <a:ext cx="5162550" cy="842010"/>
            <a:chOff x="0" y="0"/>
            <a:chExt cx="6883400" cy="1122680"/>
          </a:xfrm>
        </p:grpSpPr>
        <p:sp>
          <p:nvSpPr>
            <p:cNvPr name="Freeform 57" id="57"/>
            <p:cNvSpPr/>
            <p:nvPr/>
          </p:nvSpPr>
          <p:spPr>
            <a:xfrm flipH="false" flipV="false" rot="0">
              <a:off x="0" y="0"/>
              <a:ext cx="6883400" cy="1122680"/>
            </a:xfrm>
            <a:custGeom>
              <a:avLst/>
              <a:gdLst/>
              <a:ahLst/>
              <a:cxnLst/>
              <a:rect r="r" b="b" t="t" l="l"/>
              <a:pathLst>
                <a:path h="1122680" w="6883400">
                  <a:moveTo>
                    <a:pt x="0" y="168402"/>
                  </a:moveTo>
                  <a:cubicBezTo>
                    <a:pt x="0" y="75438"/>
                    <a:pt x="75438" y="0"/>
                    <a:pt x="168402" y="0"/>
                  </a:cubicBezTo>
                  <a:lnTo>
                    <a:pt x="6714998" y="0"/>
                  </a:lnTo>
                  <a:cubicBezTo>
                    <a:pt x="6807962" y="0"/>
                    <a:pt x="6883400" y="75438"/>
                    <a:pt x="6883400" y="168402"/>
                  </a:cubicBezTo>
                  <a:lnTo>
                    <a:pt x="6883400" y="954278"/>
                  </a:lnTo>
                  <a:cubicBezTo>
                    <a:pt x="6883400" y="1047242"/>
                    <a:pt x="6807962" y="1122680"/>
                    <a:pt x="6714998" y="1122680"/>
                  </a:cubicBezTo>
                  <a:lnTo>
                    <a:pt x="168402" y="1122680"/>
                  </a:lnTo>
                  <a:cubicBezTo>
                    <a:pt x="75438" y="1122680"/>
                    <a:pt x="0" y="1047242"/>
                    <a:pt x="0" y="954278"/>
                  </a:cubicBezTo>
                  <a:close/>
                </a:path>
              </a:pathLst>
            </a:custGeom>
            <a:solidFill>
              <a:srgbClr val="F4F7FC"/>
            </a:solidFill>
            <a:ln w="19050" cap="sq">
              <a:solidFill>
                <a:srgbClr val="D7DCEC"/>
              </a:solidFill>
              <a:prstDash val="solid"/>
              <a:miter/>
            </a:ln>
          </p:spPr>
        </p:sp>
      </p:grpSp>
      <p:grpSp>
        <p:nvGrpSpPr>
          <p:cNvPr name="Group 58" id="58"/>
          <p:cNvGrpSpPr/>
          <p:nvPr/>
        </p:nvGrpSpPr>
        <p:grpSpPr>
          <a:xfrm rot="0">
            <a:off x="12124944" y="6213348"/>
            <a:ext cx="5143500" cy="521208"/>
            <a:chOff x="0" y="0"/>
            <a:chExt cx="6858000" cy="694944"/>
          </a:xfrm>
        </p:grpSpPr>
        <p:sp>
          <p:nvSpPr>
            <p:cNvPr name="Freeform 59" id="59"/>
            <p:cNvSpPr/>
            <p:nvPr/>
          </p:nvSpPr>
          <p:spPr>
            <a:xfrm flipH="false" flipV="false" rot="0">
              <a:off x="0" y="0"/>
              <a:ext cx="6858000" cy="694944"/>
            </a:xfrm>
            <a:custGeom>
              <a:avLst/>
              <a:gdLst/>
              <a:ahLst/>
              <a:cxnLst/>
              <a:rect r="r" b="b" t="t" l="l"/>
              <a:pathLst>
                <a:path h="694944" w="6858000">
                  <a:moveTo>
                    <a:pt x="0" y="0"/>
                  </a:moveTo>
                  <a:lnTo>
                    <a:pt x="6858000" y="0"/>
                  </a:lnTo>
                  <a:lnTo>
                    <a:pt x="6858000" y="694944"/>
                  </a:lnTo>
                  <a:lnTo>
                    <a:pt x="0" y="694944"/>
                  </a:lnTo>
                  <a:close/>
                </a:path>
              </a:pathLst>
            </a:custGeom>
            <a:blipFill>
              <a:blip r:embed="rId2">
                <a:alphaModFix amt="0"/>
              </a:blip>
              <a:stretch>
                <a:fillRect l="0" t="-142286" r="0" b="-142286"/>
              </a:stretch>
            </a:blipFill>
          </p:spPr>
        </p:sp>
        <p:sp>
          <p:nvSpPr>
            <p:cNvPr name="TextBox 60" id="60"/>
            <p:cNvSpPr txBox="true"/>
            <p:nvPr/>
          </p:nvSpPr>
          <p:spPr>
            <a:xfrm>
              <a:off x="0" y="-38100"/>
              <a:ext cx="6858000" cy="733044"/>
            </a:xfrm>
            <a:prstGeom prst="rect">
              <a:avLst/>
            </a:prstGeom>
          </p:spPr>
          <p:txBody>
            <a:bodyPr anchor="ctr" rtlCol="false" tIns="0" lIns="0" bIns="0" rIns="0"/>
            <a:lstStyle/>
            <a:p>
              <a:pPr algn="ctr">
                <a:lnSpc>
                  <a:spcPts val="2430"/>
                </a:lnSpc>
              </a:pPr>
              <a:r>
                <a:rPr lang="en-US" sz="2025">
                  <a:solidFill>
                    <a:srgbClr val="6B7280"/>
                  </a:solidFill>
                  <a:latin typeface="Calibri (MS)"/>
                  <a:ea typeface="Calibri (MS)"/>
                  <a:cs typeface="Calibri (MS)"/>
                  <a:sym typeface="Calibri (MS)"/>
                </a:rPr>
                <a:t>Recover</a:t>
              </a:r>
            </a:p>
          </p:txBody>
        </p:sp>
      </p:grpSp>
      <p:grpSp>
        <p:nvGrpSpPr>
          <p:cNvPr name="Group 61" id="61"/>
          <p:cNvGrpSpPr/>
          <p:nvPr/>
        </p:nvGrpSpPr>
        <p:grpSpPr>
          <a:xfrm rot="0">
            <a:off x="12124944" y="6583680"/>
            <a:ext cx="5143500" cy="329184"/>
            <a:chOff x="0" y="0"/>
            <a:chExt cx="6858000" cy="438912"/>
          </a:xfrm>
        </p:grpSpPr>
        <p:sp>
          <p:nvSpPr>
            <p:cNvPr name="Freeform 62" id="62"/>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63" id="63"/>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9AA3B8"/>
                  </a:solidFill>
                  <a:latin typeface="Arimo"/>
                  <a:ea typeface="Arimo"/>
                  <a:cs typeface="Arimo"/>
                  <a:sym typeface="Arimo"/>
                </a:rPr>
                <a:t>RC</a:t>
              </a:r>
            </a:p>
          </p:txBody>
        </p:sp>
      </p:grpSp>
      <p:grpSp>
        <p:nvGrpSpPr>
          <p:cNvPr name="Group 64" id="64"/>
          <p:cNvGrpSpPr/>
          <p:nvPr/>
        </p:nvGrpSpPr>
        <p:grpSpPr>
          <a:xfrm rot="0">
            <a:off x="950595" y="7328535"/>
            <a:ext cx="16341090" cy="1596390"/>
            <a:chOff x="0" y="0"/>
            <a:chExt cx="21788120" cy="2128520"/>
          </a:xfrm>
        </p:grpSpPr>
        <p:sp>
          <p:nvSpPr>
            <p:cNvPr name="Freeform 65" id="65"/>
            <p:cNvSpPr/>
            <p:nvPr/>
          </p:nvSpPr>
          <p:spPr>
            <a:xfrm flipH="false" flipV="false" rot="0">
              <a:off x="0" y="0"/>
              <a:ext cx="21788120" cy="2128520"/>
            </a:xfrm>
            <a:custGeom>
              <a:avLst/>
              <a:gdLst/>
              <a:ahLst/>
              <a:cxnLst/>
              <a:rect r="r" b="b" t="t" l="l"/>
              <a:pathLst>
                <a:path h="2128520" w="21788120">
                  <a:moveTo>
                    <a:pt x="0" y="185039"/>
                  </a:moveTo>
                  <a:cubicBezTo>
                    <a:pt x="0" y="82931"/>
                    <a:pt x="82931" y="0"/>
                    <a:pt x="185039" y="0"/>
                  </a:cubicBezTo>
                  <a:lnTo>
                    <a:pt x="21603081" y="0"/>
                  </a:lnTo>
                  <a:cubicBezTo>
                    <a:pt x="21705317" y="0"/>
                    <a:pt x="21788120" y="82931"/>
                    <a:pt x="21788120" y="185039"/>
                  </a:cubicBezTo>
                  <a:lnTo>
                    <a:pt x="21788120" y="1943481"/>
                  </a:lnTo>
                  <a:cubicBezTo>
                    <a:pt x="21788120" y="2045716"/>
                    <a:pt x="21705190" y="2128520"/>
                    <a:pt x="21603081" y="2128520"/>
                  </a:cubicBezTo>
                  <a:lnTo>
                    <a:pt x="185039" y="2128520"/>
                  </a:lnTo>
                  <a:cubicBezTo>
                    <a:pt x="82931" y="2128520"/>
                    <a:pt x="0" y="2045589"/>
                    <a:pt x="0" y="1943481"/>
                  </a:cubicBezTo>
                  <a:close/>
                </a:path>
              </a:pathLst>
            </a:custGeom>
            <a:solidFill>
              <a:srgbClr val="FBF9F4"/>
            </a:solidFill>
            <a:ln w="19050" cap="sq">
              <a:solidFill>
                <a:srgbClr val="EFE6D2"/>
              </a:solidFill>
              <a:prstDash val="solid"/>
              <a:miter/>
            </a:ln>
          </p:spPr>
        </p:sp>
      </p:grpSp>
      <p:sp>
        <p:nvSpPr>
          <p:cNvPr name="TextBox 66" id="66"/>
          <p:cNvSpPr txBox="true"/>
          <p:nvPr/>
        </p:nvSpPr>
        <p:spPr>
          <a:xfrm rot="0">
            <a:off x="1463040" y="7494270"/>
            <a:ext cx="15316200" cy="1238250"/>
          </a:xfrm>
          <a:prstGeom prst="rect">
            <a:avLst/>
          </a:prstGeom>
        </p:spPr>
        <p:txBody>
          <a:bodyPr anchor="t" rtlCol="false" tIns="0" lIns="0" bIns="0" rIns="0">
            <a:spAutoFit/>
          </a:bodyPr>
          <a:lstStyle/>
          <a:p>
            <a:pPr algn="l">
              <a:lnSpc>
                <a:spcPts val="2880"/>
              </a:lnSpc>
            </a:pPr>
            <a:r>
              <a:rPr lang="en-US" sz="1875">
                <a:solidFill>
                  <a:srgbClr val="23262F"/>
                </a:solidFill>
                <a:latin typeface="Calibri (MS)"/>
                <a:ea typeface="Calibri (MS)"/>
                <a:cs typeface="Calibri (MS)"/>
                <a:sym typeface="Calibri (MS)"/>
              </a:rPr>
              <a:t>This is leadership establishing policy and expectations for how risk gets managed and communicated across the whole organization. That's Govern.</a:t>
            </a:r>
          </a:p>
        </p:txBody>
      </p:sp>
      <p:grpSp>
        <p:nvGrpSpPr>
          <p:cNvPr name="Group 67" id="67"/>
          <p:cNvGrpSpPr/>
          <p:nvPr/>
        </p:nvGrpSpPr>
        <p:grpSpPr>
          <a:xfrm rot="0">
            <a:off x="685800" y="9710928"/>
            <a:ext cx="10972800" cy="411480"/>
            <a:chOff x="0" y="0"/>
            <a:chExt cx="14630400" cy="548640"/>
          </a:xfrm>
        </p:grpSpPr>
        <p:sp>
          <p:nvSpPr>
            <p:cNvPr name="Freeform 68" id="68"/>
            <p:cNvSpPr/>
            <p:nvPr/>
          </p:nvSpPr>
          <p:spPr>
            <a:xfrm flipH="false" flipV="false" rot="0">
              <a:off x="0" y="0"/>
              <a:ext cx="14630400" cy="548640"/>
            </a:xfrm>
            <a:custGeom>
              <a:avLst/>
              <a:gdLst/>
              <a:ahLst/>
              <a:cxnLst/>
              <a:rect r="r" b="b" t="t" l="l"/>
              <a:pathLst>
                <a:path h="548640" w="14630400">
                  <a:moveTo>
                    <a:pt x="0" y="0"/>
                  </a:moveTo>
                  <a:lnTo>
                    <a:pt x="14630400" y="0"/>
                  </a:lnTo>
                  <a:lnTo>
                    <a:pt x="14630400" y="548640"/>
                  </a:lnTo>
                  <a:lnTo>
                    <a:pt x="0" y="548640"/>
                  </a:lnTo>
                  <a:close/>
                </a:path>
              </a:pathLst>
            </a:custGeom>
            <a:blipFill>
              <a:blip r:embed="rId2">
                <a:alphaModFix amt="0"/>
              </a:blip>
              <a:stretch>
                <a:fillRect l="0" t="-469601" r="0" b="-469601"/>
              </a:stretch>
            </a:blipFill>
          </p:spPr>
        </p:sp>
        <p:sp>
          <p:nvSpPr>
            <p:cNvPr name="TextBox 69" id="69"/>
            <p:cNvSpPr txBox="true"/>
            <p:nvPr/>
          </p:nvSpPr>
          <p:spPr>
            <a:xfrm>
              <a:off x="0" y="-38100"/>
              <a:ext cx="14630400" cy="586740"/>
            </a:xfrm>
            <a:prstGeom prst="rect">
              <a:avLst/>
            </a:prstGeom>
          </p:spPr>
          <p:txBody>
            <a:bodyPr anchor="ctr" rtlCol="false" tIns="0" lIns="0" bIns="0" rIns="0"/>
            <a:lstStyle/>
            <a:p>
              <a:pPr algn="l">
                <a:lnSpc>
                  <a:spcPts val="1800"/>
                </a:lnSpc>
              </a:pPr>
              <a:r>
                <a:rPr lang="en-US" sz="1500">
                  <a:solidFill>
                    <a:srgbClr val="6B7280"/>
                  </a:solidFill>
                  <a:latin typeface="Calibri (MS)"/>
                  <a:ea typeface="Calibri (MS)"/>
                  <a:cs typeface="Calibri (MS)"/>
                  <a:sym typeface="Calibri (MS)"/>
                </a:rPr>
                <a:t>Davao del Norte Provincial Government — Cybersecurity Seminar</a:t>
              </a:r>
            </a:p>
          </p:txBody>
        </p:sp>
      </p:grpSp>
      <p:grpSp>
        <p:nvGrpSpPr>
          <p:cNvPr name="Group 70" id="70"/>
          <p:cNvGrpSpPr/>
          <p:nvPr/>
        </p:nvGrpSpPr>
        <p:grpSpPr>
          <a:xfrm rot="0">
            <a:off x="16911828" y="9710928"/>
            <a:ext cx="685800" cy="411480"/>
            <a:chOff x="0" y="0"/>
            <a:chExt cx="914400" cy="548640"/>
          </a:xfrm>
        </p:grpSpPr>
        <p:sp>
          <p:nvSpPr>
            <p:cNvPr name="Freeform 71" id="71"/>
            <p:cNvSpPr/>
            <p:nvPr/>
          </p:nvSpPr>
          <p:spPr>
            <a:xfrm flipH="false" flipV="false" rot="0">
              <a:off x="0" y="0"/>
              <a:ext cx="914400" cy="548640"/>
            </a:xfrm>
            <a:custGeom>
              <a:avLst/>
              <a:gdLst/>
              <a:ahLst/>
              <a:cxnLst/>
              <a:rect r="r" b="b" t="t" l="l"/>
              <a:pathLst>
                <a:path h="548640" w="914400">
                  <a:moveTo>
                    <a:pt x="0" y="0"/>
                  </a:moveTo>
                  <a:lnTo>
                    <a:pt x="914400" y="0"/>
                  </a:lnTo>
                  <a:lnTo>
                    <a:pt x="914400" y="548640"/>
                  </a:lnTo>
                  <a:lnTo>
                    <a:pt x="0" y="548640"/>
                  </a:lnTo>
                  <a:close/>
                </a:path>
              </a:pathLst>
            </a:custGeom>
            <a:blipFill>
              <a:blip r:embed="rId2">
                <a:alphaModFix amt="0"/>
              </a:blip>
              <a:stretch>
                <a:fillRect l="-26982" t="0" r="-26982" b="0"/>
              </a:stretch>
            </a:blipFill>
          </p:spPr>
        </p:sp>
        <p:sp>
          <p:nvSpPr>
            <p:cNvPr name="TextBox 72" id="72"/>
            <p:cNvSpPr txBox="true"/>
            <p:nvPr/>
          </p:nvSpPr>
          <p:spPr>
            <a:xfrm>
              <a:off x="0" y="-38100"/>
              <a:ext cx="914400" cy="586740"/>
            </a:xfrm>
            <a:prstGeom prst="rect">
              <a:avLst/>
            </a:prstGeom>
          </p:spPr>
          <p:txBody>
            <a:bodyPr anchor="ctr" rtlCol="false" tIns="0" lIns="0" bIns="0" rIns="0"/>
            <a:lstStyle/>
            <a:p>
              <a:pPr algn="r">
                <a:lnSpc>
                  <a:spcPts val="1800"/>
                </a:lnSpc>
              </a:pPr>
              <a:r>
                <a:rPr lang="en-US" sz="1500">
                  <a:solidFill>
                    <a:srgbClr val="6B7280"/>
                  </a:solidFill>
                  <a:latin typeface="Calibri (MS)"/>
                  <a:ea typeface="Calibri (MS)"/>
                  <a:cs typeface="Calibri (MS)"/>
                  <a:sym typeface="Calibri (MS)"/>
                </a:rPr>
                <a:t>12</a:t>
              </a:r>
            </a:p>
          </p:txBody>
        </p:sp>
      </p:grpSp>
    </p:spTree>
  </p:cSld>
  <p:clrMapOvr>
    <a:masterClrMapping/>
  </p:clrMapOvr>
</p:sld>
</file>

<file path=ppt/slides/slide7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60120" y="685800"/>
            <a:ext cx="13716000" cy="411480"/>
            <a:chOff x="0" y="0"/>
            <a:chExt cx="18288000" cy="548640"/>
          </a:xfrm>
        </p:grpSpPr>
        <p:sp>
          <p:nvSpPr>
            <p:cNvPr name="Freeform 3" id="3"/>
            <p:cNvSpPr/>
            <p:nvPr/>
          </p:nvSpPr>
          <p:spPr>
            <a:xfrm flipH="false" flipV="false" rot="0">
              <a:off x="0" y="0"/>
              <a:ext cx="18288000" cy="548640"/>
            </a:xfrm>
            <a:custGeom>
              <a:avLst/>
              <a:gdLst/>
              <a:ahLst/>
              <a:cxnLst/>
              <a:rect r="r" b="b" t="t" l="l"/>
              <a:pathLst>
                <a:path h="548640" w="18288000">
                  <a:moveTo>
                    <a:pt x="0" y="0"/>
                  </a:moveTo>
                  <a:lnTo>
                    <a:pt x="18288000" y="0"/>
                  </a:lnTo>
                  <a:lnTo>
                    <a:pt x="18288000" y="548640"/>
                  </a:lnTo>
                  <a:lnTo>
                    <a:pt x="0" y="548640"/>
                  </a:lnTo>
                  <a:close/>
                </a:path>
              </a:pathLst>
            </a:custGeom>
            <a:blipFill>
              <a:blip r:embed="rId2">
                <a:alphaModFix amt="0"/>
              </a:blip>
              <a:stretch>
                <a:fillRect l="0" t="-599501" r="0" b="-599501"/>
              </a:stretch>
            </a:blipFill>
          </p:spPr>
        </p:sp>
        <p:sp>
          <p:nvSpPr>
            <p:cNvPr name="TextBox 4" id="4"/>
            <p:cNvSpPr txBox="true"/>
            <p:nvPr/>
          </p:nvSpPr>
          <p:spPr>
            <a:xfrm>
              <a:off x="0" y="-38100"/>
              <a:ext cx="18288000" cy="586740"/>
            </a:xfrm>
            <a:prstGeom prst="rect">
              <a:avLst/>
            </a:prstGeom>
          </p:spPr>
          <p:txBody>
            <a:bodyPr anchor="ctr" rtlCol="false" tIns="0" lIns="0" bIns="0" rIns="0"/>
            <a:lstStyle/>
            <a:p>
              <a:pPr algn="l">
                <a:lnSpc>
                  <a:spcPts val="2160"/>
                </a:lnSpc>
              </a:pPr>
              <a:r>
                <a:rPr lang="en-US" b="true" sz="1800" spc="225">
                  <a:solidFill>
                    <a:srgbClr val="00B4D8"/>
                  </a:solidFill>
                  <a:latin typeface="Calibri (MS) Bold"/>
                  <a:ea typeface="Calibri (MS) Bold"/>
                  <a:cs typeface="Calibri (MS) Bold"/>
                  <a:sym typeface="Calibri (MS) Bold"/>
                </a:rPr>
                <a:t>NIST CSF SORT · SCENARIO</a:t>
              </a:r>
            </a:p>
          </p:txBody>
        </p:sp>
      </p:grpSp>
      <p:grpSp>
        <p:nvGrpSpPr>
          <p:cNvPr name="Group 5" id="5"/>
          <p:cNvGrpSpPr/>
          <p:nvPr/>
        </p:nvGrpSpPr>
        <p:grpSpPr>
          <a:xfrm rot="0">
            <a:off x="960120" y="1069848"/>
            <a:ext cx="10972800" cy="822960"/>
            <a:chOff x="0" y="0"/>
            <a:chExt cx="14630400" cy="1097280"/>
          </a:xfrm>
        </p:grpSpPr>
        <p:sp>
          <p:nvSpPr>
            <p:cNvPr name="Freeform 6" id="6"/>
            <p:cNvSpPr/>
            <p:nvPr/>
          </p:nvSpPr>
          <p:spPr>
            <a:xfrm flipH="false" flipV="false" rot="0">
              <a:off x="0" y="0"/>
              <a:ext cx="14630400" cy="1097280"/>
            </a:xfrm>
            <a:custGeom>
              <a:avLst/>
              <a:gdLst/>
              <a:ahLst/>
              <a:cxnLst/>
              <a:rect r="r" b="b" t="t" l="l"/>
              <a:pathLst>
                <a:path h="1097280" w="14630400">
                  <a:moveTo>
                    <a:pt x="0" y="0"/>
                  </a:moveTo>
                  <a:lnTo>
                    <a:pt x="14630400" y="0"/>
                  </a:lnTo>
                  <a:lnTo>
                    <a:pt x="14630400" y="1097280"/>
                  </a:lnTo>
                  <a:lnTo>
                    <a:pt x="0" y="1097280"/>
                  </a:lnTo>
                  <a:close/>
                </a:path>
              </a:pathLst>
            </a:custGeom>
            <a:blipFill>
              <a:blip r:embed="rId2">
                <a:alphaModFix amt="0"/>
              </a:blip>
              <a:stretch>
                <a:fillRect l="0" t="-209800" r="0" b="-209800"/>
              </a:stretch>
            </a:blipFill>
          </p:spPr>
        </p:sp>
        <p:sp>
          <p:nvSpPr>
            <p:cNvPr name="TextBox 7" id="7"/>
            <p:cNvSpPr txBox="true"/>
            <p:nvPr/>
          </p:nvSpPr>
          <p:spPr>
            <a:xfrm>
              <a:off x="0" y="0"/>
              <a:ext cx="14630400" cy="1097280"/>
            </a:xfrm>
            <a:prstGeom prst="rect">
              <a:avLst/>
            </a:prstGeom>
          </p:spPr>
          <p:txBody>
            <a:bodyPr anchor="ctr" rtlCol="false" tIns="0" lIns="0" bIns="0" rIns="0"/>
            <a:lstStyle/>
            <a:p>
              <a:pPr algn="l">
                <a:lnSpc>
                  <a:spcPts val="4680"/>
                </a:lnSpc>
              </a:pPr>
              <a:r>
                <a:rPr lang="en-US" sz="3900" b="true">
                  <a:solidFill>
                    <a:srgbClr val="1E2761"/>
                  </a:solidFill>
                  <a:latin typeface="Cambria Bold"/>
                  <a:ea typeface="Cambria Bold"/>
                  <a:cs typeface="Cambria Bold"/>
                  <a:sym typeface="Cambria Bold"/>
                </a:rPr>
                <a:t>Scenario 2</a:t>
              </a:r>
            </a:p>
          </p:txBody>
        </p:sp>
      </p:grpSp>
      <p:grpSp>
        <p:nvGrpSpPr>
          <p:cNvPr name="Group 8" id="8"/>
          <p:cNvGrpSpPr/>
          <p:nvPr/>
        </p:nvGrpSpPr>
        <p:grpSpPr>
          <a:xfrm rot="0">
            <a:off x="960120" y="1810512"/>
            <a:ext cx="8229600" cy="411480"/>
            <a:chOff x="0" y="0"/>
            <a:chExt cx="10972800" cy="548640"/>
          </a:xfrm>
        </p:grpSpPr>
        <p:sp>
          <p:nvSpPr>
            <p:cNvPr name="Freeform 9" id="9"/>
            <p:cNvSpPr/>
            <p:nvPr/>
          </p:nvSpPr>
          <p:spPr>
            <a:xfrm flipH="false" flipV="false" rot="0">
              <a:off x="0" y="0"/>
              <a:ext cx="10972800" cy="548640"/>
            </a:xfrm>
            <a:custGeom>
              <a:avLst/>
              <a:gdLst/>
              <a:ahLst/>
              <a:cxnLst/>
              <a:rect r="r" b="b" t="t" l="l"/>
              <a:pathLst>
                <a:path h="548640" w="10972800">
                  <a:moveTo>
                    <a:pt x="0" y="0"/>
                  </a:moveTo>
                  <a:lnTo>
                    <a:pt x="10972800" y="0"/>
                  </a:lnTo>
                  <a:lnTo>
                    <a:pt x="10972800" y="548640"/>
                  </a:lnTo>
                  <a:lnTo>
                    <a:pt x="0" y="548640"/>
                  </a:lnTo>
                  <a:close/>
                </a:path>
              </a:pathLst>
            </a:custGeom>
            <a:blipFill>
              <a:blip r:embed="rId2">
                <a:alphaModFix amt="0"/>
              </a:blip>
              <a:stretch>
                <a:fillRect l="0" t="-339700" r="0" b="-339700"/>
              </a:stretch>
            </a:blipFill>
          </p:spPr>
        </p:sp>
        <p:sp>
          <p:nvSpPr>
            <p:cNvPr name="TextBox 10" id="10"/>
            <p:cNvSpPr txBox="true"/>
            <p:nvPr/>
          </p:nvSpPr>
          <p:spPr>
            <a:xfrm>
              <a:off x="0" y="-28575"/>
              <a:ext cx="10972800" cy="577215"/>
            </a:xfrm>
            <a:prstGeom prst="rect">
              <a:avLst/>
            </a:prstGeom>
          </p:spPr>
          <p:txBody>
            <a:bodyPr anchor="ctr" rtlCol="false" tIns="0" lIns="0" bIns="0" rIns="0"/>
            <a:lstStyle/>
            <a:p>
              <a:pPr algn="l">
                <a:lnSpc>
                  <a:spcPts val="1980"/>
                </a:lnSpc>
              </a:pPr>
              <a:r>
                <a:rPr lang="en-US" sz="1650">
                  <a:solidFill>
                    <a:srgbClr val="6B7280"/>
                  </a:solidFill>
                  <a:latin typeface="Calibri (MS)"/>
                  <a:ea typeface="Calibri (MS)"/>
                  <a:cs typeface="Calibri (MS)"/>
                  <a:sym typeface="Calibri (MS)"/>
                </a:rPr>
                <a:t>2 of 20</a:t>
              </a:r>
            </a:p>
          </p:txBody>
        </p:sp>
      </p:grpSp>
      <p:grpSp>
        <p:nvGrpSpPr>
          <p:cNvPr name="Group 11" id="11"/>
          <p:cNvGrpSpPr/>
          <p:nvPr/>
        </p:nvGrpSpPr>
        <p:grpSpPr>
          <a:xfrm rot="0">
            <a:off x="960120" y="2537460"/>
            <a:ext cx="16322040" cy="2811780"/>
            <a:chOff x="0" y="0"/>
            <a:chExt cx="21762720" cy="3749040"/>
          </a:xfrm>
        </p:grpSpPr>
        <p:sp>
          <p:nvSpPr>
            <p:cNvPr name="Freeform 12" id="12"/>
            <p:cNvSpPr/>
            <p:nvPr/>
          </p:nvSpPr>
          <p:spPr>
            <a:xfrm flipH="false" flipV="false" rot="0">
              <a:off x="0" y="0"/>
              <a:ext cx="21762720" cy="3749040"/>
            </a:xfrm>
            <a:custGeom>
              <a:avLst/>
              <a:gdLst/>
              <a:ahLst/>
              <a:cxnLst/>
              <a:rect r="r" b="b" t="t" l="l"/>
              <a:pathLst>
                <a:path h="3749040" w="21762720">
                  <a:moveTo>
                    <a:pt x="0" y="182880"/>
                  </a:moveTo>
                  <a:cubicBezTo>
                    <a:pt x="0" y="81915"/>
                    <a:pt x="81915" y="0"/>
                    <a:pt x="182880" y="0"/>
                  </a:cubicBezTo>
                  <a:lnTo>
                    <a:pt x="21579839" y="0"/>
                  </a:lnTo>
                  <a:cubicBezTo>
                    <a:pt x="21680804" y="0"/>
                    <a:pt x="21762720" y="81915"/>
                    <a:pt x="21762720" y="182880"/>
                  </a:cubicBezTo>
                  <a:lnTo>
                    <a:pt x="21762720" y="3566160"/>
                  </a:lnTo>
                  <a:cubicBezTo>
                    <a:pt x="21762720" y="3667125"/>
                    <a:pt x="21680804" y="3749040"/>
                    <a:pt x="21579839" y="3749040"/>
                  </a:cubicBezTo>
                  <a:lnTo>
                    <a:pt x="182880" y="3749040"/>
                  </a:lnTo>
                  <a:cubicBezTo>
                    <a:pt x="81915" y="3749040"/>
                    <a:pt x="0" y="3667125"/>
                    <a:pt x="0" y="3566160"/>
                  </a:cubicBezTo>
                  <a:close/>
                </a:path>
              </a:pathLst>
            </a:custGeom>
            <a:solidFill>
              <a:srgbClr val="F4F7FC"/>
            </a:solidFill>
          </p:spPr>
        </p:sp>
      </p:grpSp>
      <p:grpSp>
        <p:nvGrpSpPr>
          <p:cNvPr name="Group 13" id="13"/>
          <p:cNvGrpSpPr/>
          <p:nvPr/>
        </p:nvGrpSpPr>
        <p:grpSpPr>
          <a:xfrm rot="0">
            <a:off x="1440180" y="2811780"/>
            <a:ext cx="15361920" cy="2263140"/>
            <a:chOff x="0" y="0"/>
            <a:chExt cx="20482560" cy="3017520"/>
          </a:xfrm>
        </p:grpSpPr>
        <p:sp>
          <p:nvSpPr>
            <p:cNvPr name="Freeform 14" id="14"/>
            <p:cNvSpPr/>
            <p:nvPr/>
          </p:nvSpPr>
          <p:spPr>
            <a:xfrm flipH="false" flipV="false" rot="0">
              <a:off x="0" y="0"/>
              <a:ext cx="20482561" cy="3017520"/>
            </a:xfrm>
            <a:custGeom>
              <a:avLst/>
              <a:gdLst/>
              <a:ahLst/>
              <a:cxnLst/>
              <a:rect r="r" b="b" t="t" l="l"/>
              <a:pathLst>
                <a:path h="3017520" w="20482561">
                  <a:moveTo>
                    <a:pt x="0" y="0"/>
                  </a:moveTo>
                  <a:lnTo>
                    <a:pt x="20482561" y="0"/>
                  </a:lnTo>
                  <a:lnTo>
                    <a:pt x="20482561" y="3017520"/>
                  </a:lnTo>
                  <a:lnTo>
                    <a:pt x="0" y="3017520"/>
                  </a:lnTo>
                  <a:close/>
                </a:path>
              </a:pathLst>
            </a:custGeom>
            <a:blipFill>
              <a:blip r:embed="rId2">
                <a:alphaModFix amt="0"/>
              </a:blip>
              <a:stretch>
                <a:fillRect l="0" t="-82262" r="0" b="-82262"/>
              </a:stretch>
            </a:blipFill>
          </p:spPr>
        </p:sp>
        <p:sp>
          <p:nvSpPr>
            <p:cNvPr name="TextBox 15" id="15"/>
            <p:cNvSpPr txBox="true"/>
            <p:nvPr/>
          </p:nvSpPr>
          <p:spPr>
            <a:xfrm>
              <a:off x="0" y="-104775"/>
              <a:ext cx="20482560" cy="3122295"/>
            </a:xfrm>
            <a:prstGeom prst="rect">
              <a:avLst/>
            </a:prstGeom>
          </p:spPr>
          <p:txBody>
            <a:bodyPr anchor="ctr" rtlCol="false" tIns="0" lIns="0" bIns="0" rIns="0"/>
            <a:lstStyle/>
            <a:p>
              <a:pPr algn="l">
                <a:lnSpc>
                  <a:spcPts val="4147"/>
                </a:lnSpc>
              </a:pPr>
              <a:r>
                <a:rPr lang="en-US" sz="2700" i="true">
                  <a:solidFill>
                    <a:srgbClr val="23262F"/>
                  </a:solidFill>
                  <a:latin typeface="Cambria Italics"/>
                  <a:ea typeface="Cambria Italics"/>
                  <a:cs typeface="Cambria Italics"/>
                  <a:sym typeface="Cambria Italics"/>
                </a:rPr>
                <a:t>"During a routine review, IT discovers three old servers still plugged into the network that nobody remembered were there."</a:t>
              </a:r>
            </a:p>
          </p:txBody>
        </p:sp>
      </p:grpSp>
      <p:sp>
        <p:nvSpPr>
          <p:cNvPr name="TextBox 16" id="16"/>
          <p:cNvSpPr txBox="true"/>
          <p:nvPr/>
        </p:nvSpPr>
        <p:spPr>
          <a:xfrm rot="0">
            <a:off x="1051560" y="5604510"/>
            <a:ext cx="16139160" cy="1276350"/>
          </a:xfrm>
          <a:prstGeom prst="rect">
            <a:avLst/>
          </a:prstGeom>
        </p:spPr>
        <p:txBody>
          <a:bodyPr anchor="t" rtlCol="false" tIns="0" lIns="0" bIns="0" rIns="0">
            <a:spAutoFit/>
          </a:bodyPr>
          <a:lstStyle/>
          <a:p>
            <a:pPr algn="ctr">
              <a:lnSpc>
                <a:spcPts val="3402"/>
              </a:lnSpc>
            </a:pPr>
            <a:r>
              <a:rPr lang="en-US" sz="2100" i="true">
                <a:solidFill>
                  <a:srgbClr val="6B7280"/>
                </a:solidFill>
                <a:latin typeface="Calibri (MS) Italics"/>
                <a:ea typeface="Calibri (MS) Italics"/>
                <a:cs typeface="Calibri (MS) Italics"/>
                <a:sym typeface="Calibri (MS) Italics"/>
              </a:rPr>
              <a:t>Which Function does this belong to — Govern, Identify, Protect, Detect, Respond, or Recover?</a:t>
            </a:r>
          </a:p>
          <a:p>
            <a:pPr algn="ctr">
              <a:lnSpc>
                <a:spcPts val="3402"/>
              </a:lnSpc>
            </a:pPr>
            <a:r>
              <a:rPr lang="en-US" sz="2100" i="true">
                <a:solidFill>
                  <a:srgbClr val="6B7280"/>
                </a:solidFill>
                <a:latin typeface="Calibri (MS) Italics"/>
                <a:ea typeface="Calibri (MS) Italics"/>
                <a:cs typeface="Calibri (MS) Italics"/>
                <a:sym typeface="Calibri (MS) Italics"/>
              </a:rPr>
              <a:t>Some belong to more than one. Discuss, then we'll reveal the answer.</a:t>
            </a:r>
          </a:p>
        </p:txBody>
      </p:sp>
      <p:grpSp>
        <p:nvGrpSpPr>
          <p:cNvPr name="Group 17" id="17"/>
          <p:cNvGrpSpPr/>
          <p:nvPr/>
        </p:nvGrpSpPr>
        <p:grpSpPr>
          <a:xfrm rot="0">
            <a:off x="950595" y="7122795"/>
            <a:ext cx="5162550" cy="910590"/>
            <a:chOff x="0" y="0"/>
            <a:chExt cx="6883400" cy="1214120"/>
          </a:xfrm>
        </p:grpSpPr>
        <p:sp>
          <p:nvSpPr>
            <p:cNvPr name="Freeform 18" id="18"/>
            <p:cNvSpPr/>
            <p:nvPr/>
          </p:nvSpPr>
          <p:spPr>
            <a:xfrm flipH="false" flipV="false" rot="0">
              <a:off x="0" y="0"/>
              <a:ext cx="6883400" cy="1214120"/>
            </a:xfrm>
            <a:custGeom>
              <a:avLst/>
              <a:gdLst/>
              <a:ahLst/>
              <a:cxnLst/>
              <a:rect r="r" b="b" t="t" l="l"/>
              <a:pathLst>
                <a:path h="1214120" w="6883400">
                  <a:moveTo>
                    <a:pt x="0" y="168148"/>
                  </a:moveTo>
                  <a:cubicBezTo>
                    <a:pt x="0" y="75311"/>
                    <a:pt x="75311" y="0"/>
                    <a:pt x="168148" y="0"/>
                  </a:cubicBezTo>
                  <a:lnTo>
                    <a:pt x="6715252" y="0"/>
                  </a:lnTo>
                  <a:cubicBezTo>
                    <a:pt x="6808089" y="0"/>
                    <a:pt x="6883400" y="75311"/>
                    <a:pt x="6883400" y="168148"/>
                  </a:cubicBezTo>
                  <a:lnTo>
                    <a:pt x="6883400" y="1045972"/>
                  </a:lnTo>
                  <a:cubicBezTo>
                    <a:pt x="6883400" y="1138809"/>
                    <a:pt x="6808089" y="1214120"/>
                    <a:pt x="6715252" y="1214120"/>
                  </a:cubicBezTo>
                  <a:lnTo>
                    <a:pt x="168148" y="1214120"/>
                  </a:lnTo>
                  <a:cubicBezTo>
                    <a:pt x="75311" y="1214120"/>
                    <a:pt x="0" y="1138809"/>
                    <a:pt x="0" y="1045972"/>
                  </a:cubicBezTo>
                  <a:close/>
                </a:path>
              </a:pathLst>
            </a:custGeom>
            <a:solidFill>
              <a:srgbClr val="F4F7FC"/>
            </a:solidFill>
            <a:ln w="19050" cap="sq">
              <a:solidFill>
                <a:srgbClr val="D7DCEC"/>
              </a:solidFill>
              <a:prstDash val="solid"/>
              <a:miter/>
            </a:ln>
          </p:spPr>
        </p:sp>
      </p:grpSp>
      <p:grpSp>
        <p:nvGrpSpPr>
          <p:cNvPr name="Group 19" id="19"/>
          <p:cNvGrpSpPr/>
          <p:nvPr/>
        </p:nvGrpSpPr>
        <p:grpSpPr>
          <a:xfrm rot="0">
            <a:off x="960120" y="7200900"/>
            <a:ext cx="5143500" cy="589788"/>
            <a:chOff x="0" y="0"/>
            <a:chExt cx="6858000" cy="786384"/>
          </a:xfrm>
        </p:grpSpPr>
        <p:sp>
          <p:nvSpPr>
            <p:cNvPr name="Freeform 20" id="20"/>
            <p:cNvSpPr/>
            <p:nvPr/>
          </p:nvSpPr>
          <p:spPr>
            <a:xfrm flipH="false" flipV="false" rot="0">
              <a:off x="0" y="0"/>
              <a:ext cx="6858000" cy="786384"/>
            </a:xfrm>
            <a:custGeom>
              <a:avLst/>
              <a:gdLst/>
              <a:ahLst/>
              <a:cxnLst/>
              <a:rect r="r" b="b" t="t" l="l"/>
              <a:pathLst>
                <a:path h="786384" w="6858000">
                  <a:moveTo>
                    <a:pt x="0" y="0"/>
                  </a:moveTo>
                  <a:lnTo>
                    <a:pt x="6858000" y="0"/>
                  </a:lnTo>
                  <a:lnTo>
                    <a:pt x="6858000" y="786384"/>
                  </a:lnTo>
                  <a:lnTo>
                    <a:pt x="0" y="786384"/>
                  </a:lnTo>
                  <a:close/>
                </a:path>
              </a:pathLst>
            </a:custGeom>
            <a:blipFill>
              <a:blip r:embed="rId2">
                <a:alphaModFix amt="0"/>
              </a:blip>
              <a:stretch>
                <a:fillRect l="0" t="-119927" r="0" b="-119927"/>
              </a:stretch>
            </a:blipFill>
          </p:spPr>
        </p:sp>
        <p:sp>
          <p:nvSpPr>
            <p:cNvPr name="TextBox 21" id="21"/>
            <p:cNvSpPr txBox="true"/>
            <p:nvPr/>
          </p:nvSpPr>
          <p:spPr>
            <a:xfrm>
              <a:off x="0" y="-38100"/>
              <a:ext cx="6858000" cy="824484"/>
            </a:xfrm>
            <a:prstGeom prst="rect">
              <a:avLst/>
            </a:prstGeom>
          </p:spPr>
          <p:txBody>
            <a:bodyPr anchor="ctr" rtlCol="false" tIns="0" lIns="0" bIns="0" rIns="0"/>
            <a:lstStyle/>
            <a:p>
              <a:pPr algn="ctr">
                <a:lnSpc>
                  <a:spcPts val="2430"/>
                </a:lnSpc>
              </a:pPr>
              <a:r>
                <a:rPr lang="en-US" sz="2025">
                  <a:solidFill>
                    <a:srgbClr val="6B7280"/>
                  </a:solidFill>
                  <a:latin typeface="Calibri (MS)"/>
                  <a:ea typeface="Calibri (MS)"/>
                  <a:cs typeface="Calibri (MS)"/>
                  <a:sym typeface="Calibri (MS)"/>
                </a:rPr>
                <a:t>Govern</a:t>
              </a:r>
            </a:p>
          </p:txBody>
        </p:sp>
      </p:grpSp>
      <p:grpSp>
        <p:nvGrpSpPr>
          <p:cNvPr name="Group 22" id="22"/>
          <p:cNvGrpSpPr/>
          <p:nvPr/>
        </p:nvGrpSpPr>
        <p:grpSpPr>
          <a:xfrm rot="0">
            <a:off x="960120" y="7639812"/>
            <a:ext cx="5143500" cy="329184"/>
            <a:chOff x="0" y="0"/>
            <a:chExt cx="6858000" cy="438912"/>
          </a:xfrm>
        </p:grpSpPr>
        <p:sp>
          <p:nvSpPr>
            <p:cNvPr name="Freeform 23" id="23"/>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24" id="24"/>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9AA3B8"/>
                  </a:solidFill>
                  <a:latin typeface="Arimo"/>
                  <a:ea typeface="Arimo"/>
                  <a:cs typeface="Arimo"/>
                  <a:sym typeface="Arimo"/>
                </a:rPr>
                <a:t>GV</a:t>
              </a:r>
            </a:p>
          </p:txBody>
        </p:sp>
      </p:grpSp>
      <p:grpSp>
        <p:nvGrpSpPr>
          <p:cNvPr name="Group 25" id="25"/>
          <p:cNvGrpSpPr/>
          <p:nvPr/>
        </p:nvGrpSpPr>
        <p:grpSpPr>
          <a:xfrm rot="0">
            <a:off x="6533007" y="7122795"/>
            <a:ext cx="5162550" cy="910590"/>
            <a:chOff x="0" y="0"/>
            <a:chExt cx="6883400" cy="1214120"/>
          </a:xfrm>
        </p:grpSpPr>
        <p:sp>
          <p:nvSpPr>
            <p:cNvPr name="Freeform 26" id="26"/>
            <p:cNvSpPr/>
            <p:nvPr/>
          </p:nvSpPr>
          <p:spPr>
            <a:xfrm flipH="false" flipV="false" rot="0">
              <a:off x="0" y="0"/>
              <a:ext cx="6883400" cy="1214120"/>
            </a:xfrm>
            <a:custGeom>
              <a:avLst/>
              <a:gdLst/>
              <a:ahLst/>
              <a:cxnLst/>
              <a:rect r="r" b="b" t="t" l="l"/>
              <a:pathLst>
                <a:path h="1214120" w="6883400">
                  <a:moveTo>
                    <a:pt x="0" y="168148"/>
                  </a:moveTo>
                  <a:cubicBezTo>
                    <a:pt x="0" y="75311"/>
                    <a:pt x="75311" y="0"/>
                    <a:pt x="168148" y="0"/>
                  </a:cubicBezTo>
                  <a:lnTo>
                    <a:pt x="6715252" y="0"/>
                  </a:lnTo>
                  <a:cubicBezTo>
                    <a:pt x="6808089" y="0"/>
                    <a:pt x="6883400" y="75311"/>
                    <a:pt x="6883400" y="168148"/>
                  </a:cubicBezTo>
                  <a:lnTo>
                    <a:pt x="6883400" y="1045972"/>
                  </a:lnTo>
                  <a:cubicBezTo>
                    <a:pt x="6883400" y="1138809"/>
                    <a:pt x="6808089" y="1214120"/>
                    <a:pt x="6715252" y="1214120"/>
                  </a:cubicBezTo>
                  <a:lnTo>
                    <a:pt x="168148" y="1214120"/>
                  </a:lnTo>
                  <a:cubicBezTo>
                    <a:pt x="75311" y="1214120"/>
                    <a:pt x="0" y="1138809"/>
                    <a:pt x="0" y="1045972"/>
                  </a:cubicBezTo>
                  <a:close/>
                </a:path>
              </a:pathLst>
            </a:custGeom>
            <a:solidFill>
              <a:srgbClr val="F4F7FC"/>
            </a:solidFill>
            <a:ln w="19050" cap="sq">
              <a:solidFill>
                <a:srgbClr val="D7DCEC"/>
              </a:solidFill>
              <a:prstDash val="solid"/>
              <a:miter/>
            </a:ln>
          </p:spPr>
        </p:sp>
      </p:grpSp>
      <p:grpSp>
        <p:nvGrpSpPr>
          <p:cNvPr name="Group 27" id="27"/>
          <p:cNvGrpSpPr/>
          <p:nvPr/>
        </p:nvGrpSpPr>
        <p:grpSpPr>
          <a:xfrm rot="0">
            <a:off x="6542532" y="7200900"/>
            <a:ext cx="5143500" cy="589788"/>
            <a:chOff x="0" y="0"/>
            <a:chExt cx="6858000" cy="786384"/>
          </a:xfrm>
        </p:grpSpPr>
        <p:sp>
          <p:nvSpPr>
            <p:cNvPr name="Freeform 28" id="28"/>
            <p:cNvSpPr/>
            <p:nvPr/>
          </p:nvSpPr>
          <p:spPr>
            <a:xfrm flipH="false" flipV="false" rot="0">
              <a:off x="0" y="0"/>
              <a:ext cx="6858000" cy="786384"/>
            </a:xfrm>
            <a:custGeom>
              <a:avLst/>
              <a:gdLst/>
              <a:ahLst/>
              <a:cxnLst/>
              <a:rect r="r" b="b" t="t" l="l"/>
              <a:pathLst>
                <a:path h="786384" w="6858000">
                  <a:moveTo>
                    <a:pt x="0" y="0"/>
                  </a:moveTo>
                  <a:lnTo>
                    <a:pt x="6858000" y="0"/>
                  </a:lnTo>
                  <a:lnTo>
                    <a:pt x="6858000" y="786384"/>
                  </a:lnTo>
                  <a:lnTo>
                    <a:pt x="0" y="786384"/>
                  </a:lnTo>
                  <a:close/>
                </a:path>
              </a:pathLst>
            </a:custGeom>
            <a:blipFill>
              <a:blip r:embed="rId2">
                <a:alphaModFix amt="0"/>
              </a:blip>
              <a:stretch>
                <a:fillRect l="0" t="-119927" r="0" b="-119927"/>
              </a:stretch>
            </a:blipFill>
          </p:spPr>
        </p:sp>
        <p:sp>
          <p:nvSpPr>
            <p:cNvPr name="TextBox 29" id="29"/>
            <p:cNvSpPr txBox="true"/>
            <p:nvPr/>
          </p:nvSpPr>
          <p:spPr>
            <a:xfrm>
              <a:off x="0" y="-38100"/>
              <a:ext cx="6858000" cy="824484"/>
            </a:xfrm>
            <a:prstGeom prst="rect">
              <a:avLst/>
            </a:prstGeom>
          </p:spPr>
          <p:txBody>
            <a:bodyPr anchor="ctr" rtlCol="false" tIns="0" lIns="0" bIns="0" rIns="0"/>
            <a:lstStyle/>
            <a:p>
              <a:pPr algn="ctr">
                <a:lnSpc>
                  <a:spcPts val="2430"/>
                </a:lnSpc>
              </a:pPr>
              <a:r>
                <a:rPr lang="en-US" sz="2025">
                  <a:solidFill>
                    <a:srgbClr val="6B7280"/>
                  </a:solidFill>
                  <a:latin typeface="Calibri (MS)"/>
                  <a:ea typeface="Calibri (MS)"/>
                  <a:cs typeface="Calibri (MS)"/>
                  <a:sym typeface="Calibri (MS)"/>
                </a:rPr>
                <a:t>Identify</a:t>
              </a:r>
            </a:p>
          </p:txBody>
        </p:sp>
      </p:grpSp>
      <p:grpSp>
        <p:nvGrpSpPr>
          <p:cNvPr name="Group 30" id="30"/>
          <p:cNvGrpSpPr/>
          <p:nvPr/>
        </p:nvGrpSpPr>
        <p:grpSpPr>
          <a:xfrm rot="0">
            <a:off x="6542532" y="7639812"/>
            <a:ext cx="5143500" cy="329184"/>
            <a:chOff x="0" y="0"/>
            <a:chExt cx="6858000" cy="438912"/>
          </a:xfrm>
        </p:grpSpPr>
        <p:sp>
          <p:nvSpPr>
            <p:cNvPr name="Freeform 31" id="31"/>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32" id="32"/>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9AA3B8"/>
                  </a:solidFill>
                  <a:latin typeface="Arimo"/>
                  <a:ea typeface="Arimo"/>
                  <a:cs typeface="Arimo"/>
                  <a:sym typeface="Arimo"/>
                </a:rPr>
                <a:t>ID</a:t>
              </a:r>
            </a:p>
          </p:txBody>
        </p:sp>
      </p:grpSp>
      <p:grpSp>
        <p:nvGrpSpPr>
          <p:cNvPr name="Group 33" id="33"/>
          <p:cNvGrpSpPr/>
          <p:nvPr/>
        </p:nvGrpSpPr>
        <p:grpSpPr>
          <a:xfrm rot="0">
            <a:off x="12115419" y="7122795"/>
            <a:ext cx="5162550" cy="910590"/>
            <a:chOff x="0" y="0"/>
            <a:chExt cx="6883400" cy="1214120"/>
          </a:xfrm>
        </p:grpSpPr>
        <p:sp>
          <p:nvSpPr>
            <p:cNvPr name="Freeform 34" id="34"/>
            <p:cNvSpPr/>
            <p:nvPr/>
          </p:nvSpPr>
          <p:spPr>
            <a:xfrm flipH="false" flipV="false" rot="0">
              <a:off x="0" y="0"/>
              <a:ext cx="6883400" cy="1214120"/>
            </a:xfrm>
            <a:custGeom>
              <a:avLst/>
              <a:gdLst/>
              <a:ahLst/>
              <a:cxnLst/>
              <a:rect r="r" b="b" t="t" l="l"/>
              <a:pathLst>
                <a:path h="1214120" w="6883400">
                  <a:moveTo>
                    <a:pt x="0" y="168148"/>
                  </a:moveTo>
                  <a:cubicBezTo>
                    <a:pt x="0" y="75311"/>
                    <a:pt x="75311" y="0"/>
                    <a:pt x="168148" y="0"/>
                  </a:cubicBezTo>
                  <a:lnTo>
                    <a:pt x="6715252" y="0"/>
                  </a:lnTo>
                  <a:cubicBezTo>
                    <a:pt x="6808089" y="0"/>
                    <a:pt x="6883400" y="75311"/>
                    <a:pt x="6883400" y="168148"/>
                  </a:cubicBezTo>
                  <a:lnTo>
                    <a:pt x="6883400" y="1045972"/>
                  </a:lnTo>
                  <a:cubicBezTo>
                    <a:pt x="6883400" y="1138809"/>
                    <a:pt x="6808089" y="1214120"/>
                    <a:pt x="6715252" y="1214120"/>
                  </a:cubicBezTo>
                  <a:lnTo>
                    <a:pt x="168148" y="1214120"/>
                  </a:lnTo>
                  <a:cubicBezTo>
                    <a:pt x="75311" y="1214120"/>
                    <a:pt x="0" y="1138809"/>
                    <a:pt x="0" y="1045972"/>
                  </a:cubicBezTo>
                  <a:close/>
                </a:path>
              </a:pathLst>
            </a:custGeom>
            <a:solidFill>
              <a:srgbClr val="F4F7FC"/>
            </a:solidFill>
            <a:ln w="19050" cap="sq">
              <a:solidFill>
                <a:srgbClr val="D7DCEC"/>
              </a:solidFill>
              <a:prstDash val="solid"/>
              <a:miter/>
            </a:ln>
          </p:spPr>
        </p:sp>
      </p:grpSp>
      <p:grpSp>
        <p:nvGrpSpPr>
          <p:cNvPr name="Group 35" id="35"/>
          <p:cNvGrpSpPr/>
          <p:nvPr/>
        </p:nvGrpSpPr>
        <p:grpSpPr>
          <a:xfrm rot="0">
            <a:off x="12124944" y="7200900"/>
            <a:ext cx="5143500" cy="589788"/>
            <a:chOff x="0" y="0"/>
            <a:chExt cx="6858000" cy="786384"/>
          </a:xfrm>
        </p:grpSpPr>
        <p:sp>
          <p:nvSpPr>
            <p:cNvPr name="Freeform 36" id="36"/>
            <p:cNvSpPr/>
            <p:nvPr/>
          </p:nvSpPr>
          <p:spPr>
            <a:xfrm flipH="false" flipV="false" rot="0">
              <a:off x="0" y="0"/>
              <a:ext cx="6858000" cy="786384"/>
            </a:xfrm>
            <a:custGeom>
              <a:avLst/>
              <a:gdLst/>
              <a:ahLst/>
              <a:cxnLst/>
              <a:rect r="r" b="b" t="t" l="l"/>
              <a:pathLst>
                <a:path h="786384" w="6858000">
                  <a:moveTo>
                    <a:pt x="0" y="0"/>
                  </a:moveTo>
                  <a:lnTo>
                    <a:pt x="6858000" y="0"/>
                  </a:lnTo>
                  <a:lnTo>
                    <a:pt x="6858000" y="786384"/>
                  </a:lnTo>
                  <a:lnTo>
                    <a:pt x="0" y="786384"/>
                  </a:lnTo>
                  <a:close/>
                </a:path>
              </a:pathLst>
            </a:custGeom>
            <a:blipFill>
              <a:blip r:embed="rId2">
                <a:alphaModFix amt="0"/>
              </a:blip>
              <a:stretch>
                <a:fillRect l="0" t="-119927" r="0" b="-119927"/>
              </a:stretch>
            </a:blipFill>
          </p:spPr>
        </p:sp>
        <p:sp>
          <p:nvSpPr>
            <p:cNvPr name="TextBox 37" id="37"/>
            <p:cNvSpPr txBox="true"/>
            <p:nvPr/>
          </p:nvSpPr>
          <p:spPr>
            <a:xfrm>
              <a:off x="0" y="-38100"/>
              <a:ext cx="6858000" cy="824484"/>
            </a:xfrm>
            <a:prstGeom prst="rect">
              <a:avLst/>
            </a:prstGeom>
          </p:spPr>
          <p:txBody>
            <a:bodyPr anchor="ctr" rtlCol="false" tIns="0" lIns="0" bIns="0" rIns="0"/>
            <a:lstStyle/>
            <a:p>
              <a:pPr algn="ctr">
                <a:lnSpc>
                  <a:spcPts val="2430"/>
                </a:lnSpc>
              </a:pPr>
              <a:r>
                <a:rPr lang="en-US" sz="2025">
                  <a:solidFill>
                    <a:srgbClr val="6B7280"/>
                  </a:solidFill>
                  <a:latin typeface="Calibri (MS)"/>
                  <a:ea typeface="Calibri (MS)"/>
                  <a:cs typeface="Calibri (MS)"/>
                  <a:sym typeface="Calibri (MS)"/>
                </a:rPr>
                <a:t>Protect</a:t>
              </a:r>
            </a:p>
          </p:txBody>
        </p:sp>
      </p:grpSp>
      <p:grpSp>
        <p:nvGrpSpPr>
          <p:cNvPr name="Group 38" id="38"/>
          <p:cNvGrpSpPr/>
          <p:nvPr/>
        </p:nvGrpSpPr>
        <p:grpSpPr>
          <a:xfrm rot="0">
            <a:off x="12124944" y="7639812"/>
            <a:ext cx="5143500" cy="329184"/>
            <a:chOff x="0" y="0"/>
            <a:chExt cx="6858000" cy="438912"/>
          </a:xfrm>
        </p:grpSpPr>
        <p:sp>
          <p:nvSpPr>
            <p:cNvPr name="Freeform 39" id="39"/>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40" id="40"/>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9AA3B8"/>
                  </a:solidFill>
                  <a:latin typeface="Arimo"/>
                  <a:ea typeface="Arimo"/>
                  <a:cs typeface="Arimo"/>
                  <a:sym typeface="Arimo"/>
                </a:rPr>
                <a:t>PR</a:t>
              </a:r>
            </a:p>
          </p:txBody>
        </p:sp>
      </p:grpSp>
      <p:grpSp>
        <p:nvGrpSpPr>
          <p:cNvPr name="Group 41" id="41"/>
          <p:cNvGrpSpPr/>
          <p:nvPr/>
        </p:nvGrpSpPr>
        <p:grpSpPr>
          <a:xfrm rot="0">
            <a:off x="950595" y="8288655"/>
            <a:ext cx="5162550" cy="910590"/>
            <a:chOff x="0" y="0"/>
            <a:chExt cx="6883400" cy="1214120"/>
          </a:xfrm>
        </p:grpSpPr>
        <p:sp>
          <p:nvSpPr>
            <p:cNvPr name="Freeform 42" id="42"/>
            <p:cNvSpPr/>
            <p:nvPr/>
          </p:nvSpPr>
          <p:spPr>
            <a:xfrm flipH="false" flipV="false" rot="0">
              <a:off x="0" y="0"/>
              <a:ext cx="6883400" cy="1214120"/>
            </a:xfrm>
            <a:custGeom>
              <a:avLst/>
              <a:gdLst/>
              <a:ahLst/>
              <a:cxnLst/>
              <a:rect r="r" b="b" t="t" l="l"/>
              <a:pathLst>
                <a:path h="1214120" w="6883400">
                  <a:moveTo>
                    <a:pt x="0" y="168148"/>
                  </a:moveTo>
                  <a:cubicBezTo>
                    <a:pt x="0" y="75311"/>
                    <a:pt x="75311" y="0"/>
                    <a:pt x="168148" y="0"/>
                  </a:cubicBezTo>
                  <a:lnTo>
                    <a:pt x="6715252" y="0"/>
                  </a:lnTo>
                  <a:cubicBezTo>
                    <a:pt x="6808089" y="0"/>
                    <a:pt x="6883400" y="75311"/>
                    <a:pt x="6883400" y="168148"/>
                  </a:cubicBezTo>
                  <a:lnTo>
                    <a:pt x="6883400" y="1045972"/>
                  </a:lnTo>
                  <a:cubicBezTo>
                    <a:pt x="6883400" y="1138809"/>
                    <a:pt x="6808089" y="1214120"/>
                    <a:pt x="6715252" y="1214120"/>
                  </a:cubicBezTo>
                  <a:lnTo>
                    <a:pt x="168148" y="1214120"/>
                  </a:lnTo>
                  <a:cubicBezTo>
                    <a:pt x="75311" y="1214120"/>
                    <a:pt x="0" y="1138809"/>
                    <a:pt x="0" y="1045972"/>
                  </a:cubicBezTo>
                  <a:close/>
                </a:path>
              </a:pathLst>
            </a:custGeom>
            <a:solidFill>
              <a:srgbClr val="F4F7FC"/>
            </a:solidFill>
            <a:ln w="19050" cap="sq">
              <a:solidFill>
                <a:srgbClr val="D7DCEC"/>
              </a:solidFill>
              <a:prstDash val="solid"/>
              <a:miter/>
            </a:ln>
          </p:spPr>
        </p:sp>
      </p:grpSp>
      <p:grpSp>
        <p:nvGrpSpPr>
          <p:cNvPr name="Group 43" id="43"/>
          <p:cNvGrpSpPr/>
          <p:nvPr/>
        </p:nvGrpSpPr>
        <p:grpSpPr>
          <a:xfrm rot="0">
            <a:off x="960120" y="8366760"/>
            <a:ext cx="5143500" cy="589788"/>
            <a:chOff x="0" y="0"/>
            <a:chExt cx="6858000" cy="786384"/>
          </a:xfrm>
        </p:grpSpPr>
        <p:sp>
          <p:nvSpPr>
            <p:cNvPr name="Freeform 44" id="44"/>
            <p:cNvSpPr/>
            <p:nvPr/>
          </p:nvSpPr>
          <p:spPr>
            <a:xfrm flipH="false" flipV="false" rot="0">
              <a:off x="0" y="0"/>
              <a:ext cx="6858000" cy="786384"/>
            </a:xfrm>
            <a:custGeom>
              <a:avLst/>
              <a:gdLst/>
              <a:ahLst/>
              <a:cxnLst/>
              <a:rect r="r" b="b" t="t" l="l"/>
              <a:pathLst>
                <a:path h="786384" w="6858000">
                  <a:moveTo>
                    <a:pt x="0" y="0"/>
                  </a:moveTo>
                  <a:lnTo>
                    <a:pt x="6858000" y="0"/>
                  </a:lnTo>
                  <a:lnTo>
                    <a:pt x="6858000" y="786384"/>
                  </a:lnTo>
                  <a:lnTo>
                    <a:pt x="0" y="786384"/>
                  </a:lnTo>
                  <a:close/>
                </a:path>
              </a:pathLst>
            </a:custGeom>
            <a:blipFill>
              <a:blip r:embed="rId2">
                <a:alphaModFix amt="0"/>
              </a:blip>
              <a:stretch>
                <a:fillRect l="0" t="-119927" r="0" b="-119927"/>
              </a:stretch>
            </a:blipFill>
          </p:spPr>
        </p:sp>
        <p:sp>
          <p:nvSpPr>
            <p:cNvPr name="TextBox 45" id="45"/>
            <p:cNvSpPr txBox="true"/>
            <p:nvPr/>
          </p:nvSpPr>
          <p:spPr>
            <a:xfrm>
              <a:off x="0" y="-38100"/>
              <a:ext cx="6858000" cy="824484"/>
            </a:xfrm>
            <a:prstGeom prst="rect">
              <a:avLst/>
            </a:prstGeom>
          </p:spPr>
          <p:txBody>
            <a:bodyPr anchor="ctr" rtlCol="false" tIns="0" lIns="0" bIns="0" rIns="0"/>
            <a:lstStyle/>
            <a:p>
              <a:pPr algn="ctr">
                <a:lnSpc>
                  <a:spcPts val="2430"/>
                </a:lnSpc>
              </a:pPr>
              <a:r>
                <a:rPr lang="en-US" sz="2025">
                  <a:solidFill>
                    <a:srgbClr val="6B7280"/>
                  </a:solidFill>
                  <a:latin typeface="Calibri (MS)"/>
                  <a:ea typeface="Calibri (MS)"/>
                  <a:cs typeface="Calibri (MS)"/>
                  <a:sym typeface="Calibri (MS)"/>
                </a:rPr>
                <a:t>Detect</a:t>
              </a:r>
            </a:p>
          </p:txBody>
        </p:sp>
      </p:grpSp>
      <p:grpSp>
        <p:nvGrpSpPr>
          <p:cNvPr name="Group 46" id="46"/>
          <p:cNvGrpSpPr/>
          <p:nvPr/>
        </p:nvGrpSpPr>
        <p:grpSpPr>
          <a:xfrm rot="0">
            <a:off x="960120" y="8805672"/>
            <a:ext cx="5143500" cy="329184"/>
            <a:chOff x="0" y="0"/>
            <a:chExt cx="6858000" cy="438912"/>
          </a:xfrm>
        </p:grpSpPr>
        <p:sp>
          <p:nvSpPr>
            <p:cNvPr name="Freeform 47" id="47"/>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48" id="48"/>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9AA3B8"/>
                  </a:solidFill>
                  <a:latin typeface="Arimo"/>
                  <a:ea typeface="Arimo"/>
                  <a:cs typeface="Arimo"/>
                  <a:sym typeface="Arimo"/>
                </a:rPr>
                <a:t>DE</a:t>
              </a:r>
            </a:p>
          </p:txBody>
        </p:sp>
      </p:grpSp>
      <p:grpSp>
        <p:nvGrpSpPr>
          <p:cNvPr name="Group 49" id="49"/>
          <p:cNvGrpSpPr/>
          <p:nvPr/>
        </p:nvGrpSpPr>
        <p:grpSpPr>
          <a:xfrm rot="0">
            <a:off x="6533007" y="8288655"/>
            <a:ext cx="5162550" cy="910590"/>
            <a:chOff x="0" y="0"/>
            <a:chExt cx="6883400" cy="1214120"/>
          </a:xfrm>
        </p:grpSpPr>
        <p:sp>
          <p:nvSpPr>
            <p:cNvPr name="Freeform 50" id="50"/>
            <p:cNvSpPr/>
            <p:nvPr/>
          </p:nvSpPr>
          <p:spPr>
            <a:xfrm flipH="false" flipV="false" rot="0">
              <a:off x="0" y="0"/>
              <a:ext cx="6883400" cy="1214120"/>
            </a:xfrm>
            <a:custGeom>
              <a:avLst/>
              <a:gdLst/>
              <a:ahLst/>
              <a:cxnLst/>
              <a:rect r="r" b="b" t="t" l="l"/>
              <a:pathLst>
                <a:path h="1214120" w="6883400">
                  <a:moveTo>
                    <a:pt x="0" y="168148"/>
                  </a:moveTo>
                  <a:cubicBezTo>
                    <a:pt x="0" y="75311"/>
                    <a:pt x="75311" y="0"/>
                    <a:pt x="168148" y="0"/>
                  </a:cubicBezTo>
                  <a:lnTo>
                    <a:pt x="6715252" y="0"/>
                  </a:lnTo>
                  <a:cubicBezTo>
                    <a:pt x="6808089" y="0"/>
                    <a:pt x="6883400" y="75311"/>
                    <a:pt x="6883400" y="168148"/>
                  </a:cubicBezTo>
                  <a:lnTo>
                    <a:pt x="6883400" y="1045972"/>
                  </a:lnTo>
                  <a:cubicBezTo>
                    <a:pt x="6883400" y="1138809"/>
                    <a:pt x="6808089" y="1214120"/>
                    <a:pt x="6715252" y="1214120"/>
                  </a:cubicBezTo>
                  <a:lnTo>
                    <a:pt x="168148" y="1214120"/>
                  </a:lnTo>
                  <a:cubicBezTo>
                    <a:pt x="75311" y="1214120"/>
                    <a:pt x="0" y="1138809"/>
                    <a:pt x="0" y="1045972"/>
                  </a:cubicBezTo>
                  <a:close/>
                </a:path>
              </a:pathLst>
            </a:custGeom>
            <a:solidFill>
              <a:srgbClr val="F4F7FC"/>
            </a:solidFill>
            <a:ln w="19050" cap="sq">
              <a:solidFill>
                <a:srgbClr val="D7DCEC"/>
              </a:solidFill>
              <a:prstDash val="solid"/>
              <a:miter/>
            </a:ln>
          </p:spPr>
        </p:sp>
      </p:grpSp>
      <p:grpSp>
        <p:nvGrpSpPr>
          <p:cNvPr name="Group 51" id="51"/>
          <p:cNvGrpSpPr/>
          <p:nvPr/>
        </p:nvGrpSpPr>
        <p:grpSpPr>
          <a:xfrm rot="0">
            <a:off x="6542532" y="8366760"/>
            <a:ext cx="5143500" cy="589788"/>
            <a:chOff x="0" y="0"/>
            <a:chExt cx="6858000" cy="786384"/>
          </a:xfrm>
        </p:grpSpPr>
        <p:sp>
          <p:nvSpPr>
            <p:cNvPr name="Freeform 52" id="52"/>
            <p:cNvSpPr/>
            <p:nvPr/>
          </p:nvSpPr>
          <p:spPr>
            <a:xfrm flipH="false" flipV="false" rot="0">
              <a:off x="0" y="0"/>
              <a:ext cx="6858000" cy="786384"/>
            </a:xfrm>
            <a:custGeom>
              <a:avLst/>
              <a:gdLst/>
              <a:ahLst/>
              <a:cxnLst/>
              <a:rect r="r" b="b" t="t" l="l"/>
              <a:pathLst>
                <a:path h="786384" w="6858000">
                  <a:moveTo>
                    <a:pt x="0" y="0"/>
                  </a:moveTo>
                  <a:lnTo>
                    <a:pt x="6858000" y="0"/>
                  </a:lnTo>
                  <a:lnTo>
                    <a:pt x="6858000" y="786384"/>
                  </a:lnTo>
                  <a:lnTo>
                    <a:pt x="0" y="786384"/>
                  </a:lnTo>
                  <a:close/>
                </a:path>
              </a:pathLst>
            </a:custGeom>
            <a:blipFill>
              <a:blip r:embed="rId2">
                <a:alphaModFix amt="0"/>
              </a:blip>
              <a:stretch>
                <a:fillRect l="0" t="-119927" r="0" b="-119927"/>
              </a:stretch>
            </a:blipFill>
          </p:spPr>
        </p:sp>
        <p:sp>
          <p:nvSpPr>
            <p:cNvPr name="TextBox 53" id="53"/>
            <p:cNvSpPr txBox="true"/>
            <p:nvPr/>
          </p:nvSpPr>
          <p:spPr>
            <a:xfrm>
              <a:off x="0" y="-38100"/>
              <a:ext cx="6858000" cy="824484"/>
            </a:xfrm>
            <a:prstGeom prst="rect">
              <a:avLst/>
            </a:prstGeom>
          </p:spPr>
          <p:txBody>
            <a:bodyPr anchor="ctr" rtlCol="false" tIns="0" lIns="0" bIns="0" rIns="0"/>
            <a:lstStyle/>
            <a:p>
              <a:pPr algn="ctr">
                <a:lnSpc>
                  <a:spcPts val="2430"/>
                </a:lnSpc>
              </a:pPr>
              <a:r>
                <a:rPr lang="en-US" sz="2025">
                  <a:solidFill>
                    <a:srgbClr val="6B7280"/>
                  </a:solidFill>
                  <a:latin typeface="Calibri (MS)"/>
                  <a:ea typeface="Calibri (MS)"/>
                  <a:cs typeface="Calibri (MS)"/>
                  <a:sym typeface="Calibri (MS)"/>
                </a:rPr>
                <a:t>Respond</a:t>
              </a:r>
            </a:p>
          </p:txBody>
        </p:sp>
      </p:grpSp>
      <p:grpSp>
        <p:nvGrpSpPr>
          <p:cNvPr name="Group 54" id="54"/>
          <p:cNvGrpSpPr/>
          <p:nvPr/>
        </p:nvGrpSpPr>
        <p:grpSpPr>
          <a:xfrm rot="0">
            <a:off x="6542532" y="8805672"/>
            <a:ext cx="5143500" cy="329184"/>
            <a:chOff x="0" y="0"/>
            <a:chExt cx="6858000" cy="438912"/>
          </a:xfrm>
        </p:grpSpPr>
        <p:sp>
          <p:nvSpPr>
            <p:cNvPr name="Freeform 55" id="55"/>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56" id="56"/>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9AA3B8"/>
                  </a:solidFill>
                  <a:latin typeface="Arimo"/>
                  <a:ea typeface="Arimo"/>
                  <a:cs typeface="Arimo"/>
                  <a:sym typeface="Arimo"/>
                </a:rPr>
                <a:t>RS</a:t>
              </a:r>
            </a:p>
          </p:txBody>
        </p:sp>
      </p:grpSp>
      <p:grpSp>
        <p:nvGrpSpPr>
          <p:cNvPr name="Group 57" id="57"/>
          <p:cNvGrpSpPr/>
          <p:nvPr/>
        </p:nvGrpSpPr>
        <p:grpSpPr>
          <a:xfrm rot="0">
            <a:off x="12115419" y="8288655"/>
            <a:ext cx="5162550" cy="910590"/>
            <a:chOff x="0" y="0"/>
            <a:chExt cx="6883400" cy="1214120"/>
          </a:xfrm>
        </p:grpSpPr>
        <p:sp>
          <p:nvSpPr>
            <p:cNvPr name="Freeform 58" id="58"/>
            <p:cNvSpPr/>
            <p:nvPr/>
          </p:nvSpPr>
          <p:spPr>
            <a:xfrm flipH="false" flipV="false" rot="0">
              <a:off x="0" y="0"/>
              <a:ext cx="6883400" cy="1214120"/>
            </a:xfrm>
            <a:custGeom>
              <a:avLst/>
              <a:gdLst/>
              <a:ahLst/>
              <a:cxnLst/>
              <a:rect r="r" b="b" t="t" l="l"/>
              <a:pathLst>
                <a:path h="1214120" w="6883400">
                  <a:moveTo>
                    <a:pt x="0" y="168148"/>
                  </a:moveTo>
                  <a:cubicBezTo>
                    <a:pt x="0" y="75311"/>
                    <a:pt x="75311" y="0"/>
                    <a:pt x="168148" y="0"/>
                  </a:cubicBezTo>
                  <a:lnTo>
                    <a:pt x="6715252" y="0"/>
                  </a:lnTo>
                  <a:cubicBezTo>
                    <a:pt x="6808089" y="0"/>
                    <a:pt x="6883400" y="75311"/>
                    <a:pt x="6883400" y="168148"/>
                  </a:cubicBezTo>
                  <a:lnTo>
                    <a:pt x="6883400" y="1045972"/>
                  </a:lnTo>
                  <a:cubicBezTo>
                    <a:pt x="6883400" y="1138809"/>
                    <a:pt x="6808089" y="1214120"/>
                    <a:pt x="6715252" y="1214120"/>
                  </a:cubicBezTo>
                  <a:lnTo>
                    <a:pt x="168148" y="1214120"/>
                  </a:lnTo>
                  <a:cubicBezTo>
                    <a:pt x="75311" y="1214120"/>
                    <a:pt x="0" y="1138809"/>
                    <a:pt x="0" y="1045972"/>
                  </a:cubicBezTo>
                  <a:close/>
                </a:path>
              </a:pathLst>
            </a:custGeom>
            <a:solidFill>
              <a:srgbClr val="F4F7FC"/>
            </a:solidFill>
            <a:ln w="19050" cap="sq">
              <a:solidFill>
                <a:srgbClr val="D7DCEC"/>
              </a:solidFill>
              <a:prstDash val="solid"/>
              <a:miter/>
            </a:ln>
          </p:spPr>
        </p:sp>
      </p:grpSp>
      <p:grpSp>
        <p:nvGrpSpPr>
          <p:cNvPr name="Group 59" id="59"/>
          <p:cNvGrpSpPr/>
          <p:nvPr/>
        </p:nvGrpSpPr>
        <p:grpSpPr>
          <a:xfrm rot="0">
            <a:off x="12124944" y="8366760"/>
            <a:ext cx="5143500" cy="589788"/>
            <a:chOff x="0" y="0"/>
            <a:chExt cx="6858000" cy="786384"/>
          </a:xfrm>
        </p:grpSpPr>
        <p:sp>
          <p:nvSpPr>
            <p:cNvPr name="Freeform 60" id="60"/>
            <p:cNvSpPr/>
            <p:nvPr/>
          </p:nvSpPr>
          <p:spPr>
            <a:xfrm flipH="false" flipV="false" rot="0">
              <a:off x="0" y="0"/>
              <a:ext cx="6858000" cy="786384"/>
            </a:xfrm>
            <a:custGeom>
              <a:avLst/>
              <a:gdLst/>
              <a:ahLst/>
              <a:cxnLst/>
              <a:rect r="r" b="b" t="t" l="l"/>
              <a:pathLst>
                <a:path h="786384" w="6858000">
                  <a:moveTo>
                    <a:pt x="0" y="0"/>
                  </a:moveTo>
                  <a:lnTo>
                    <a:pt x="6858000" y="0"/>
                  </a:lnTo>
                  <a:lnTo>
                    <a:pt x="6858000" y="786384"/>
                  </a:lnTo>
                  <a:lnTo>
                    <a:pt x="0" y="786384"/>
                  </a:lnTo>
                  <a:close/>
                </a:path>
              </a:pathLst>
            </a:custGeom>
            <a:blipFill>
              <a:blip r:embed="rId2">
                <a:alphaModFix amt="0"/>
              </a:blip>
              <a:stretch>
                <a:fillRect l="0" t="-119927" r="0" b="-119927"/>
              </a:stretch>
            </a:blipFill>
          </p:spPr>
        </p:sp>
        <p:sp>
          <p:nvSpPr>
            <p:cNvPr name="TextBox 61" id="61"/>
            <p:cNvSpPr txBox="true"/>
            <p:nvPr/>
          </p:nvSpPr>
          <p:spPr>
            <a:xfrm>
              <a:off x="0" y="-38100"/>
              <a:ext cx="6858000" cy="824484"/>
            </a:xfrm>
            <a:prstGeom prst="rect">
              <a:avLst/>
            </a:prstGeom>
          </p:spPr>
          <p:txBody>
            <a:bodyPr anchor="ctr" rtlCol="false" tIns="0" lIns="0" bIns="0" rIns="0"/>
            <a:lstStyle/>
            <a:p>
              <a:pPr algn="ctr">
                <a:lnSpc>
                  <a:spcPts val="2430"/>
                </a:lnSpc>
              </a:pPr>
              <a:r>
                <a:rPr lang="en-US" sz="2025">
                  <a:solidFill>
                    <a:srgbClr val="6B7280"/>
                  </a:solidFill>
                  <a:latin typeface="Calibri (MS)"/>
                  <a:ea typeface="Calibri (MS)"/>
                  <a:cs typeface="Calibri (MS)"/>
                  <a:sym typeface="Calibri (MS)"/>
                </a:rPr>
                <a:t>Recover</a:t>
              </a:r>
            </a:p>
          </p:txBody>
        </p:sp>
      </p:grpSp>
      <p:grpSp>
        <p:nvGrpSpPr>
          <p:cNvPr name="Group 62" id="62"/>
          <p:cNvGrpSpPr/>
          <p:nvPr/>
        </p:nvGrpSpPr>
        <p:grpSpPr>
          <a:xfrm rot="0">
            <a:off x="12124944" y="8805672"/>
            <a:ext cx="5143500" cy="329184"/>
            <a:chOff x="0" y="0"/>
            <a:chExt cx="6858000" cy="438912"/>
          </a:xfrm>
        </p:grpSpPr>
        <p:sp>
          <p:nvSpPr>
            <p:cNvPr name="Freeform 63" id="63"/>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64" id="64"/>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9AA3B8"/>
                  </a:solidFill>
                  <a:latin typeface="Arimo"/>
                  <a:ea typeface="Arimo"/>
                  <a:cs typeface="Arimo"/>
                  <a:sym typeface="Arimo"/>
                </a:rPr>
                <a:t>RC</a:t>
              </a:r>
            </a:p>
          </p:txBody>
        </p:sp>
      </p:grpSp>
      <p:grpSp>
        <p:nvGrpSpPr>
          <p:cNvPr name="Group 65" id="65"/>
          <p:cNvGrpSpPr/>
          <p:nvPr/>
        </p:nvGrpSpPr>
        <p:grpSpPr>
          <a:xfrm rot="0">
            <a:off x="685800" y="9710928"/>
            <a:ext cx="10972800" cy="411480"/>
            <a:chOff x="0" y="0"/>
            <a:chExt cx="14630400" cy="548640"/>
          </a:xfrm>
        </p:grpSpPr>
        <p:sp>
          <p:nvSpPr>
            <p:cNvPr name="Freeform 66" id="66"/>
            <p:cNvSpPr/>
            <p:nvPr/>
          </p:nvSpPr>
          <p:spPr>
            <a:xfrm flipH="false" flipV="false" rot="0">
              <a:off x="0" y="0"/>
              <a:ext cx="14630400" cy="548640"/>
            </a:xfrm>
            <a:custGeom>
              <a:avLst/>
              <a:gdLst/>
              <a:ahLst/>
              <a:cxnLst/>
              <a:rect r="r" b="b" t="t" l="l"/>
              <a:pathLst>
                <a:path h="548640" w="14630400">
                  <a:moveTo>
                    <a:pt x="0" y="0"/>
                  </a:moveTo>
                  <a:lnTo>
                    <a:pt x="14630400" y="0"/>
                  </a:lnTo>
                  <a:lnTo>
                    <a:pt x="14630400" y="548640"/>
                  </a:lnTo>
                  <a:lnTo>
                    <a:pt x="0" y="548640"/>
                  </a:lnTo>
                  <a:close/>
                </a:path>
              </a:pathLst>
            </a:custGeom>
            <a:blipFill>
              <a:blip r:embed="rId2">
                <a:alphaModFix amt="0"/>
              </a:blip>
              <a:stretch>
                <a:fillRect l="0" t="-469601" r="0" b="-469601"/>
              </a:stretch>
            </a:blipFill>
          </p:spPr>
        </p:sp>
        <p:sp>
          <p:nvSpPr>
            <p:cNvPr name="TextBox 67" id="67"/>
            <p:cNvSpPr txBox="true"/>
            <p:nvPr/>
          </p:nvSpPr>
          <p:spPr>
            <a:xfrm>
              <a:off x="0" y="-38100"/>
              <a:ext cx="14630400" cy="586740"/>
            </a:xfrm>
            <a:prstGeom prst="rect">
              <a:avLst/>
            </a:prstGeom>
          </p:spPr>
          <p:txBody>
            <a:bodyPr anchor="ctr" rtlCol="false" tIns="0" lIns="0" bIns="0" rIns="0"/>
            <a:lstStyle/>
            <a:p>
              <a:pPr algn="l">
                <a:lnSpc>
                  <a:spcPts val="1800"/>
                </a:lnSpc>
              </a:pPr>
              <a:r>
                <a:rPr lang="en-US" sz="1500">
                  <a:solidFill>
                    <a:srgbClr val="6B7280"/>
                  </a:solidFill>
                  <a:latin typeface="Calibri (MS)"/>
                  <a:ea typeface="Calibri (MS)"/>
                  <a:cs typeface="Calibri (MS)"/>
                  <a:sym typeface="Calibri (MS)"/>
                </a:rPr>
                <a:t>Davao del Norte Provincial Government — Cybersecurity Seminar</a:t>
              </a:r>
            </a:p>
          </p:txBody>
        </p:sp>
      </p:grpSp>
      <p:grpSp>
        <p:nvGrpSpPr>
          <p:cNvPr name="Group 68" id="68"/>
          <p:cNvGrpSpPr/>
          <p:nvPr/>
        </p:nvGrpSpPr>
        <p:grpSpPr>
          <a:xfrm rot="0">
            <a:off x="16911828" y="9710928"/>
            <a:ext cx="685800" cy="411480"/>
            <a:chOff x="0" y="0"/>
            <a:chExt cx="914400" cy="548640"/>
          </a:xfrm>
        </p:grpSpPr>
        <p:sp>
          <p:nvSpPr>
            <p:cNvPr name="Freeform 69" id="69"/>
            <p:cNvSpPr/>
            <p:nvPr/>
          </p:nvSpPr>
          <p:spPr>
            <a:xfrm flipH="false" flipV="false" rot="0">
              <a:off x="0" y="0"/>
              <a:ext cx="914400" cy="548640"/>
            </a:xfrm>
            <a:custGeom>
              <a:avLst/>
              <a:gdLst/>
              <a:ahLst/>
              <a:cxnLst/>
              <a:rect r="r" b="b" t="t" l="l"/>
              <a:pathLst>
                <a:path h="548640" w="914400">
                  <a:moveTo>
                    <a:pt x="0" y="0"/>
                  </a:moveTo>
                  <a:lnTo>
                    <a:pt x="914400" y="0"/>
                  </a:lnTo>
                  <a:lnTo>
                    <a:pt x="914400" y="548640"/>
                  </a:lnTo>
                  <a:lnTo>
                    <a:pt x="0" y="548640"/>
                  </a:lnTo>
                  <a:close/>
                </a:path>
              </a:pathLst>
            </a:custGeom>
            <a:blipFill>
              <a:blip r:embed="rId2">
                <a:alphaModFix amt="0"/>
              </a:blip>
              <a:stretch>
                <a:fillRect l="-26982" t="0" r="-26982" b="0"/>
              </a:stretch>
            </a:blipFill>
          </p:spPr>
        </p:sp>
        <p:sp>
          <p:nvSpPr>
            <p:cNvPr name="TextBox 70" id="70"/>
            <p:cNvSpPr txBox="true"/>
            <p:nvPr/>
          </p:nvSpPr>
          <p:spPr>
            <a:xfrm>
              <a:off x="0" y="-38100"/>
              <a:ext cx="914400" cy="586740"/>
            </a:xfrm>
            <a:prstGeom prst="rect">
              <a:avLst/>
            </a:prstGeom>
          </p:spPr>
          <p:txBody>
            <a:bodyPr anchor="ctr" rtlCol="false" tIns="0" lIns="0" bIns="0" rIns="0"/>
            <a:lstStyle/>
            <a:p>
              <a:pPr algn="r">
                <a:lnSpc>
                  <a:spcPts val="1800"/>
                </a:lnSpc>
              </a:pPr>
              <a:r>
                <a:rPr lang="en-US" sz="1500">
                  <a:solidFill>
                    <a:srgbClr val="6B7280"/>
                  </a:solidFill>
                  <a:latin typeface="Calibri (MS)"/>
                  <a:ea typeface="Calibri (MS)"/>
                  <a:cs typeface="Calibri (MS)"/>
                  <a:sym typeface="Calibri (MS)"/>
                </a:rPr>
                <a:t>13</a:t>
              </a:r>
            </a:p>
          </p:txBody>
        </p:sp>
      </p:grpSp>
    </p:spTree>
  </p:cSld>
  <p:clrMapOvr>
    <a:masterClrMapping/>
  </p:clrMapOvr>
</p:sld>
</file>

<file path=ppt/slides/slide8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60120" y="685800"/>
            <a:ext cx="13716000" cy="411480"/>
            <a:chOff x="0" y="0"/>
            <a:chExt cx="18288000" cy="548640"/>
          </a:xfrm>
        </p:grpSpPr>
        <p:sp>
          <p:nvSpPr>
            <p:cNvPr name="Freeform 3" id="3"/>
            <p:cNvSpPr/>
            <p:nvPr/>
          </p:nvSpPr>
          <p:spPr>
            <a:xfrm flipH="false" flipV="false" rot="0">
              <a:off x="0" y="0"/>
              <a:ext cx="18288000" cy="548640"/>
            </a:xfrm>
            <a:custGeom>
              <a:avLst/>
              <a:gdLst/>
              <a:ahLst/>
              <a:cxnLst/>
              <a:rect r="r" b="b" t="t" l="l"/>
              <a:pathLst>
                <a:path h="548640" w="18288000">
                  <a:moveTo>
                    <a:pt x="0" y="0"/>
                  </a:moveTo>
                  <a:lnTo>
                    <a:pt x="18288000" y="0"/>
                  </a:lnTo>
                  <a:lnTo>
                    <a:pt x="18288000" y="548640"/>
                  </a:lnTo>
                  <a:lnTo>
                    <a:pt x="0" y="548640"/>
                  </a:lnTo>
                  <a:close/>
                </a:path>
              </a:pathLst>
            </a:custGeom>
            <a:blipFill>
              <a:blip r:embed="rId2">
                <a:alphaModFix amt="0"/>
              </a:blip>
              <a:stretch>
                <a:fillRect l="0" t="-599501" r="0" b="-599501"/>
              </a:stretch>
            </a:blipFill>
          </p:spPr>
        </p:sp>
        <p:sp>
          <p:nvSpPr>
            <p:cNvPr name="TextBox 4" id="4"/>
            <p:cNvSpPr txBox="true"/>
            <p:nvPr/>
          </p:nvSpPr>
          <p:spPr>
            <a:xfrm>
              <a:off x="0" y="-38100"/>
              <a:ext cx="18288000" cy="586740"/>
            </a:xfrm>
            <a:prstGeom prst="rect">
              <a:avLst/>
            </a:prstGeom>
          </p:spPr>
          <p:txBody>
            <a:bodyPr anchor="ctr" rtlCol="false" tIns="0" lIns="0" bIns="0" rIns="0"/>
            <a:lstStyle/>
            <a:p>
              <a:pPr algn="l">
                <a:lnSpc>
                  <a:spcPts val="2160"/>
                </a:lnSpc>
              </a:pPr>
              <a:r>
                <a:rPr lang="en-US" b="true" sz="1800" spc="225">
                  <a:solidFill>
                    <a:srgbClr val="00B4D8"/>
                  </a:solidFill>
                  <a:latin typeface="Calibri (MS) Bold"/>
                  <a:ea typeface="Calibri (MS) Bold"/>
                  <a:cs typeface="Calibri (MS) Bold"/>
                  <a:sym typeface="Calibri (MS) Bold"/>
                </a:rPr>
                <a:t>NIST CSF SORT · ANSWER</a:t>
              </a:r>
            </a:p>
          </p:txBody>
        </p:sp>
      </p:grpSp>
      <p:grpSp>
        <p:nvGrpSpPr>
          <p:cNvPr name="Group 5" id="5"/>
          <p:cNvGrpSpPr/>
          <p:nvPr/>
        </p:nvGrpSpPr>
        <p:grpSpPr>
          <a:xfrm rot="0">
            <a:off x="960120" y="1069848"/>
            <a:ext cx="10972800" cy="822960"/>
            <a:chOff x="0" y="0"/>
            <a:chExt cx="14630400" cy="1097280"/>
          </a:xfrm>
        </p:grpSpPr>
        <p:sp>
          <p:nvSpPr>
            <p:cNvPr name="Freeform 6" id="6"/>
            <p:cNvSpPr/>
            <p:nvPr/>
          </p:nvSpPr>
          <p:spPr>
            <a:xfrm flipH="false" flipV="false" rot="0">
              <a:off x="0" y="0"/>
              <a:ext cx="14630400" cy="1097280"/>
            </a:xfrm>
            <a:custGeom>
              <a:avLst/>
              <a:gdLst/>
              <a:ahLst/>
              <a:cxnLst/>
              <a:rect r="r" b="b" t="t" l="l"/>
              <a:pathLst>
                <a:path h="1097280" w="14630400">
                  <a:moveTo>
                    <a:pt x="0" y="0"/>
                  </a:moveTo>
                  <a:lnTo>
                    <a:pt x="14630400" y="0"/>
                  </a:lnTo>
                  <a:lnTo>
                    <a:pt x="14630400" y="1097280"/>
                  </a:lnTo>
                  <a:lnTo>
                    <a:pt x="0" y="1097280"/>
                  </a:lnTo>
                  <a:close/>
                </a:path>
              </a:pathLst>
            </a:custGeom>
            <a:blipFill>
              <a:blip r:embed="rId2">
                <a:alphaModFix amt="0"/>
              </a:blip>
              <a:stretch>
                <a:fillRect l="0" t="-209800" r="0" b="-209800"/>
              </a:stretch>
            </a:blipFill>
          </p:spPr>
        </p:sp>
        <p:sp>
          <p:nvSpPr>
            <p:cNvPr name="TextBox 7" id="7"/>
            <p:cNvSpPr txBox="true"/>
            <p:nvPr/>
          </p:nvSpPr>
          <p:spPr>
            <a:xfrm>
              <a:off x="0" y="0"/>
              <a:ext cx="14630400" cy="1097280"/>
            </a:xfrm>
            <a:prstGeom prst="rect">
              <a:avLst/>
            </a:prstGeom>
          </p:spPr>
          <p:txBody>
            <a:bodyPr anchor="ctr" rtlCol="false" tIns="0" lIns="0" bIns="0" rIns="0"/>
            <a:lstStyle/>
            <a:p>
              <a:pPr algn="l">
                <a:lnSpc>
                  <a:spcPts val="4680"/>
                </a:lnSpc>
              </a:pPr>
              <a:r>
                <a:rPr lang="en-US" sz="3900" b="true">
                  <a:solidFill>
                    <a:srgbClr val="1E2761"/>
                  </a:solidFill>
                  <a:latin typeface="Cambria Bold"/>
                  <a:ea typeface="Cambria Bold"/>
                  <a:cs typeface="Cambria Bold"/>
                  <a:sym typeface="Cambria Bold"/>
                </a:rPr>
                <a:t>Scenario 2 — Answer</a:t>
              </a:r>
            </a:p>
          </p:txBody>
        </p:sp>
      </p:grpSp>
      <p:grpSp>
        <p:nvGrpSpPr>
          <p:cNvPr name="Group 8" id="8"/>
          <p:cNvGrpSpPr/>
          <p:nvPr/>
        </p:nvGrpSpPr>
        <p:grpSpPr>
          <a:xfrm rot="0">
            <a:off x="960120" y="1810512"/>
            <a:ext cx="8229600" cy="411480"/>
            <a:chOff x="0" y="0"/>
            <a:chExt cx="10972800" cy="548640"/>
          </a:xfrm>
        </p:grpSpPr>
        <p:sp>
          <p:nvSpPr>
            <p:cNvPr name="Freeform 9" id="9"/>
            <p:cNvSpPr/>
            <p:nvPr/>
          </p:nvSpPr>
          <p:spPr>
            <a:xfrm flipH="false" flipV="false" rot="0">
              <a:off x="0" y="0"/>
              <a:ext cx="10972800" cy="548640"/>
            </a:xfrm>
            <a:custGeom>
              <a:avLst/>
              <a:gdLst/>
              <a:ahLst/>
              <a:cxnLst/>
              <a:rect r="r" b="b" t="t" l="l"/>
              <a:pathLst>
                <a:path h="548640" w="10972800">
                  <a:moveTo>
                    <a:pt x="0" y="0"/>
                  </a:moveTo>
                  <a:lnTo>
                    <a:pt x="10972800" y="0"/>
                  </a:lnTo>
                  <a:lnTo>
                    <a:pt x="10972800" y="548640"/>
                  </a:lnTo>
                  <a:lnTo>
                    <a:pt x="0" y="548640"/>
                  </a:lnTo>
                  <a:close/>
                </a:path>
              </a:pathLst>
            </a:custGeom>
            <a:blipFill>
              <a:blip r:embed="rId2">
                <a:alphaModFix amt="0"/>
              </a:blip>
              <a:stretch>
                <a:fillRect l="0" t="-339700" r="0" b="-339700"/>
              </a:stretch>
            </a:blipFill>
          </p:spPr>
        </p:sp>
        <p:sp>
          <p:nvSpPr>
            <p:cNvPr name="TextBox 10" id="10"/>
            <p:cNvSpPr txBox="true"/>
            <p:nvPr/>
          </p:nvSpPr>
          <p:spPr>
            <a:xfrm>
              <a:off x="0" y="-28575"/>
              <a:ext cx="10972800" cy="577215"/>
            </a:xfrm>
            <a:prstGeom prst="rect">
              <a:avLst/>
            </a:prstGeom>
          </p:spPr>
          <p:txBody>
            <a:bodyPr anchor="ctr" rtlCol="false" tIns="0" lIns="0" bIns="0" rIns="0"/>
            <a:lstStyle/>
            <a:p>
              <a:pPr algn="l">
                <a:lnSpc>
                  <a:spcPts val="1980"/>
                </a:lnSpc>
              </a:pPr>
              <a:r>
                <a:rPr lang="en-US" sz="1650">
                  <a:solidFill>
                    <a:srgbClr val="6B7280"/>
                  </a:solidFill>
                  <a:latin typeface="Calibri (MS)"/>
                  <a:ea typeface="Calibri (MS)"/>
                  <a:cs typeface="Calibri (MS)"/>
                  <a:sym typeface="Calibri (MS)"/>
                </a:rPr>
                <a:t>2 of 20</a:t>
              </a:r>
            </a:p>
          </p:txBody>
        </p:sp>
      </p:grpSp>
      <p:grpSp>
        <p:nvGrpSpPr>
          <p:cNvPr name="Group 11" id="11"/>
          <p:cNvGrpSpPr/>
          <p:nvPr/>
        </p:nvGrpSpPr>
        <p:grpSpPr>
          <a:xfrm rot="0">
            <a:off x="960120" y="2537460"/>
            <a:ext cx="16322040" cy="2194560"/>
            <a:chOff x="0" y="0"/>
            <a:chExt cx="21762720" cy="2926080"/>
          </a:xfrm>
        </p:grpSpPr>
        <p:sp>
          <p:nvSpPr>
            <p:cNvPr name="Freeform 12" id="12"/>
            <p:cNvSpPr/>
            <p:nvPr/>
          </p:nvSpPr>
          <p:spPr>
            <a:xfrm flipH="false" flipV="false" rot="0">
              <a:off x="0" y="0"/>
              <a:ext cx="21762720" cy="2926080"/>
            </a:xfrm>
            <a:custGeom>
              <a:avLst/>
              <a:gdLst/>
              <a:ahLst/>
              <a:cxnLst/>
              <a:rect r="r" b="b" t="t" l="l"/>
              <a:pathLst>
                <a:path h="2926080" w="21762720">
                  <a:moveTo>
                    <a:pt x="0" y="182880"/>
                  </a:moveTo>
                  <a:cubicBezTo>
                    <a:pt x="0" y="81915"/>
                    <a:pt x="81915" y="0"/>
                    <a:pt x="182880" y="0"/>
                  </a:cubicBezTo>
                  <a:lnTo>
                    <a:pt x="21579839" y="0"/>
                  </a:lnTo>
                  <a:cubicBezTo>
                    <a:pt x="21680804" y="0"/>
                    <a:pt x="21762720" y="81915"/>
                    <a:pt x="21762720" y="182880"/>
                  </a:cubicBezTo>
                  <a:lnTo>
                    <a:pt x="21762720" y="2743200"/>
                  </a:lnTo>
                  <a:cubicBezTo>
                    <a:pt x="21762720" y="2844165"/>
                    <a:pt x="21680804" y="2926080"/>
                    <a:pt x="21579839" y="2926080"/>
                  </a:cubicBezTo>
                  <a:lnTo>
                    <a:pt x="182880" y="2926080"/>
                  </a:lnTo>
                  <a:cubicBezTo>
                    <a:pt x="81915" y="2926080"/>
                    <a:pt x="0" y="2844165"/>
                    <a:pt x="0" y="2743200"/>
                  </a:cubicBezTo>
                  <a:close/>
                </a:path>
              </a:pathLst>
            </a:custGeom>
            <a:solidFill>
              <a:srgbClr val="F4F7FC"/>
            </a:solidFill>
          </p:spPr>
        </p:sp>
      </p:grpSp>
      <p:grpSp>
        <p:nvGrpSpPr>
          <p:cNvPr name="Group 13" id="13"/>
          <p:cNvGrpSpPr/>
          <p:nvPr/>
        </p:nvGrpSpPr>
        <p:grpSpPr>
          <a:xfrm rot="0">
            <a:off x="1440180" y="2770632"/>
            <a:ext cx="15361920" cy="1714500"/>
            <a:chOff x="0" y="0"/>
            <a:chExt cx="20482560" cy="2286000"/>
          </a:xfrm>
        </p:grpSpPr>
        <p:sp>
          <p:nvSpPr>
            <p:cNvPr name="Freeform 14" id="14"/>
            <p:cNvSpPr/>
            <p:nvPr/>
          </p:nvSpPr>
          <p:spPr>
            <a:xfrm flipH="false" flipV="false" rot="0">
              <a:off x="0" y="0"/>
              <a:ext cx="20482561" cy="2286000"/>
            </a:xfrm>
            <a:custGeom>
              <a:avLst/>
              <a:gdLst/>
              <a:ahLst/>
              <a:cxnLst/>
              <a:rect r="r" b="b" t="t" l="l"/>
              <a:pathLst>
                <a:path h="2286000" w="20482561">
                  <a:moveTo>
                    <a:pt x="0" y="0"/>
                  </a:moveTo>
                  <a:lnTo>
                    <a:pt x="20482561" y="0"/>
                  </a:lnTo>
                  <a:lnTo>
                    <a:pt x="20482561" y="2286000"/>
                  </a:lnTo>
                  <a:lnTo>
                    <a:pt x="0" y="2286000"/>
                  </a:lnTo>
                  <a:close/>
                </a:path>
              </a:pathLst>
            </a:custGeom>
            <a:blipFill>
              <a:blip r:embed="rId2">
                <a:alphaModFix amt="0"/>
              </a:blip>
              <a:stretch>
                <a:fillRect l="0" t="-124585" r="0" b="-124585"/>
              </a:stretch>
            </a:blipFill>
          </p:spPr>
        </p:sp>
        <p:sp>
          <p:nvSpPr>
            <p:cNvPr name="TextBox 15" id="15"/>
            <p:cNvSpPr txBox="true"/>
            <p:nvPr/>
          </p:nvSpPr>
          <p:spPr>
            <a:xfrm>
              <a:off x="0" y="-85725"/>
              <a:ext cx="20482560" cy="2371725"/>
            </a:xfrm>
            <a:prstGeom prst="rect">
              <a:avLst/>
            </a:prstGeom>
          </p:spPr>
          <p:txBody>
            <a:bodyPr anchor="ctr" rtlCol="false" tIns="0" lIns="0" bIns="0" rIns="0"/>
            <a:lstStyle/>
            <a:p>
              <a:pPr algn="l">
                <a:lnSpc>
                  <a:spcPts val="3600"/>
                </a:lnSpc>
              </a:pPr>
              <a:r>
                <a:rPr lang="en-US" sz="2400" i="true">
                  <a:solidFill>
                    <a:srgbClr val="23262F"/>
                  </a:solidFill>
                  <a:latin typeface="Cambria Italics"/>
                  <a:ea typeface="Cambria Italics"/>
                  <a:cs typeface="Cambria Italics"/>
                  <a:sym typeface="Cambria Italics"/>
                </a:rPr>
                <a:t>"During a routine review, IT discovers three old servers still plugged into the network that nobody remembered were there."</a:t>
              </a:r>
            </a:p>
          </p:txBody>
        </p:sp>
      </p:grpSp>
      <p:grpSp>
        <p:nvGrpSpPr>
          <p:cNvPr name="Group 16" id="16"/>
          <p:cNvGrpSpPr/>
          <p:nvPr/>
        </p:nvGrpSpPr>
        <p:grpSpPr>
          <a:xfrm rot="0">
            <a:off x="950595" y="5065395"/>
            <a:ext cx="5162550" cy="842010"/>
            <a:chOff x="0" y="0"/>
            <a:chExt cx="6883400" cy="1122680"/>
          </a:xfrm>
        </p:grpSpPr>
        <p:sp>
          <p:nvSpPr>
            <p:cNvPr name="Freeform 17" id="17"/>
            <p:cNvSpPr/>
            <p:nvPr/>
          </p:nvSpPr>
          <p:spPr>
            <a:xfrm flipH="false" flipV="false" rot="0">
              <a:off x="0" y="0"/>
              <a:ext cx="6883400" cy="1122680"/>
            </a:xfrm>
            <a:custGeom>
              <a:avLst/>
              <a:gdLst/>
              <a:ahLst/>
              <a:cxnLst/>
              <a:rect r="r" b="b" t="t" l="l"/>
              <a:pathLst>
                <a:path h="1122680" w="6883400">
                  <a:moveTo>
                    <a:pt x="0" y="168402"/>
                  </a:moveTo>
                  <a:cubicBezTo>
                    <a:pt x="0" y="75438"/>
                    <a:pt x="75438" y="0"/>
                    <a:pt x="168402" y="0"/>
                  </a:cubicBezTo>
                  <a:lnTo>
                    <a:pt x="6714998" y="0"/>
                  </a:lnTo>
                  <a:cubicBezTo>
                    <a:pt x="6807962" y="0"/>
                    <a:pt x="6883400" y="75438"/>
                    <a:pt x="6883400" y="168402"/>
                  </a:cubicBezTo>
                  <a:lnTo>
                    <a:pt x="6883400" y="954278"/>
                  </a:lnTo>
                  <a:cubicBezTo>
                    <a:pt x="6883400" y="1047242"/>
                    <a:pt x="6807962" y="1122680"/>
                    <a:pt x="6714998" y="1122680"/>
                  </a:cubicBezTo>
                  <a:lnTo>
                    <a:pt x="168402" y="1122680"/>
                  </a:lnTo>
                  <a:cubicBezTo>
                    <a:pt x="75438" y="1122680"/>
                    <a:pt x="0" y="1047242"/>
                    <a:pt x="0" y="954278"/>
                  </a:cubicBezTo>
                  <a:close/>
                </a:path>
              </a:pathLst>
            </a:custGeom>
            <a:solidFill>
              <a:srgbClr val="F4F7FC"/>
            </a:solidFill>
            <a:ln w="19050" cap="sq">
              <a:solidFill>
                <a:srgbClr val="D7DCEC"/>
              </a:solidFill>
              <a:prstDash val="solid"/>
              <a:miter/>
            </a:ln>
          </p:spPr>
        </p:sp>
      </p:grpSp>
      <p:grpSp>
        <p:nvGrpSpPr>
          <p:cNvPr name="Group 18" id="18"/>
          <p:cNvGrpSpPr/>
          <p:nvPr/>
        </p:nvGrpSpPr>
        <p:grpSpPr>
          <a:xfrm rot="0">
            <a:off x="960120" y="5143500"/>
            <a:ext cx="5143500" cy="521208"/>
            <a:chOff x="0" y="0"/>
            <a:chExt cx="6858000" cy="694944"/>
          </a:xfrm>
        </p:grpSpPr>
        <p:sp>
          <p:nvSpPr>
            <p:cNvPr name="Freeform 19" id="19"/>
            <p:cNvSpPr/>
            <p:nvPr/>
          </p:nvSpPr>
          <p:spPr>
            <a:xfrm flipH="false" flipV="false" rot="0">
              <a:off x="0" y="0"/>
              <a:ext cx="6858000" cy="694944"/>
            </a:xfrm>
            <a:custGeom>
              <a:avLst/>
              <a:gdLst/>
              <a:ahLst/>
              <a:cxnLst/>
              <a:rect r="r" b="b" t="t" l="l"/>
              <a:pathLst>
                <a:path h="694944" w="6858000">
                  <a:moveTo>
                    <a:pt x="0" y="0"/>
                  </a:moveTo>
                  <a:lnTo>
                    <a:pt x="6858000" y="0"/>
                  </a:lnTo>
                  <a:lnTo>
                    <a:pt x="6858000" y="694944"/>
                  </a:lnTo>
                  <a:lnTo>
                    <a:pt x="0" y="694944"/>
                  </a:lnTo>
                  <a:close/>
                </a:path>
              </a:pathLst>
            </a:custGeom>
            <a:blipFill>
              <a:blip r:embed="rId2">
                <a:alphaModFix amt="0"/>
              </a:blip>
              <a:stretch>
                <a:fillRect l="0" t="-142286" r="0" b="-142286"/>
              </a:stretch>
            </a:blipFill>
          </p:spPr>
        </p:sp>
        <p:sp>
          <p:nvSpPr>
            <p:cNvPr name="TextBox 20" id="20"/>
            <p:cNvSpPr txBox="true"/>
            <p:nvPr/>
          </p:nvSpPr>
          <p:spPr>
            <a:xfrm>
              <a:off x="0" y="-38100"/>
              <a:ext cx="6858000" cy="733044"/>
            </a:xfrm>
            <a:prstGeom prst="rect">
              <a:avLst/>
            </a:prstGeom>
          </p:spPr>
          <p:txBody>
            <a:bodyPr anchor="ctr" rtlCol="false" tIns="0" lIns="0" bIns="0" rIns="0"/>
            <a:lstStyle/>
            <a:p>
              <a:pPr algn="ctr">
                <a:lnSpc>
                  <a:spcPts val="2430"/>
                </a:lnSpc>
              </a:pPr>
              <a:r>
                <a:rPr lang="en-US" sz="2025">
                  <a:solidFill>
                    <a:srgbClr val="6B7280"/>
                  </a:solidFill>
                  <a:latin typeface="Calibri (MS)"/>
                  <a:ea typeface="Calibri (MS)"/>
                  <a:cs typeface="Calibri (MS)"/>
                  <a:sym typeface="Calibri (MS)"/>
                </a:rPr>
                <a:t>Govern</a:t>
              </a:r>
            </a:p>
          </p:txBody>
        </p:sp>
      </p:grpSp>
      <p:grpSp>
        <p:nvGrpSpPr>
          <p:cNvPr name="Group 21" id="21"/>
          <p:cNvGrpSpPr/>
          <p:nvPr/>
        </p:nvGrpSpPr>
        <p:grpSpPr>
          <a:xfrm rot="0">
            <a:off x="960120" y="5513832"/>
            <a:ext cx="5143500" cy="329184"/>
            <a:chOff x="0" y="0"/>
            <a:chExt cx="6858000" cy="438912"/>
          </a:xfrm>
        </p:grpSpPr>
        <p:sp>
          <p:nvSpPr>
            <p:cNvPr name="Freeform 22" id="22"/>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23" id="23"/>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9AA3B8"/>
                  </a:solidFill>
                  <a:latin typeface="Arimo"/>
                  <a:ea typeface="Arimo"/>
                  <a:cs typeface="Arimo"/>
                  <a:sym typeface="Arimo"/>
                </a:rPr>
                <a:t>GV</a:t>
              </a:r>
            </a:p>
          </p:txBody>
        </p:sp>
      </p:grpSp>
      <p:grpSp>
        <p:nvGrpSpPr>
          <p:cNvPr name="Group 24" id="24"/>
          <p:cNvGrpSpPr/>
          <p:nvPr/>
        </p:nvGrpSpPr>
        <p:grpSpPr>
          <a:xfrm rot="0">
            <a:off x="6533007" y="5065395"/>
            <a:ext cx="5162550" cy="842010"/>
            <a:chOff x="0" y="0"/>
            <a:chExt cx="6883400" cy="1122680"/>
          </a:xfrm>
        </p:grpSpPr>
        <p:sp>
          <p:nvSpPr>
            <p:cNvPr name="Freeform 25" id="25"/>
            <p:cNvSpPr/>
            <p:nvPr/>
          </p:nvSpPr>
          <p:spPr>
            <a:xfrm flipH="false" flipV="false" rot="0">
              <a:off x="0" y="0"/>
              <a:ext cx="6883400" cy="1122680"/>
            </a:xfrm>
            <a:custGeom>
              <a:avLst/>
              <a:gdLst/>
              <a:ahLst/>
              <a:cxnLst/>
              <a:rect r="r" b="b" t="t" l="l"/>
              <a:pathLst>
                <a:path h="1122680" w="6883400">
                  <a:moveTo>
                    <a:pt x="0" y="168402"/>
                  </a:moveTo>
                  <a:cubicBezTo>
                    <a:pt x="0" y="75438"/>
                    <a:pt x="75438" y="0"/>
                    <a:pt x="168402" y="0"/>
                  </a:cubicBezTo>
                  <a:lnTo>
                    <a:pt x="6714998" y="0"/>
                  </a:lnTo>
                  <a:cubicBezTo>
                    <a:pt x="6807962" y="0"/>
                    <a:pt x="6883400" y="75438"/>
                    <a:pt x="6883400" y="168402"/>
                  </a:cubicBezTo>
                  <a:lnTo>
                    <a:pt x="6883400" y="954278"/>
                  </a:lnTo>
                  <a:cubicBezTo>
                    <a:pt x="6883400" y="1047242"/>
                    <a:pt x="6807962" y="1122680"/>
                    <a:pt x="6714998" y="1122680"/>
                  </a:cubicBezTo>
                  <a:lnTo>
                    <a:pt x="168402" y="1122680"/>
                  </a:lnTo>
                  <a:cubicBezTo>
                    <a:pt x="75438" y="1122680"/>
                    <a:pt x="0" y="1047242"/>
                    <a:pt x="0" y="954278"/>
                  </a:cubicBezTo>
                  <a:close/>
                </a:path>
              </a:pathLst>
            </a:custGeom>
            <a:solidFill>
              <a:srgbClr val="0F8A6E"/>
            </a:solidFill>
            <a:ln w="19050" cap="sq">
              <a:solidFill>
                <a:srgbClr val="0F8A6E"/>
              </a:solidFill>
              <a:prstDash val="solid"/>
              <a:miter/>
            </a:ln>
          </p:spPr>
        </p:sp>
      </p:grpSp>
      <p:grpSp>
        <p:nvGrpSpPr>
          <p:cNvPr name="Group 26" id="26"/>
          <p:cNvGrpSpPr/>
          <p:nvPr/>
        </p:nvGrpSpPr>
        <p:grpSpPr>
          <a:xfrm rot="0">
            <a:off x="6542532" y="5143500"/>
            <a:ext cx="5143500" cy="521208"/>
            <a:chOff x="0" y="0"/>
            <a:chExt cx="6858000" cy="694944"/>
          </a:xfrm>
        </p:grpSpPr>
        <p:sp>
          <p:nvSpPr>
            <p:cNvPr name="Freeform 27" id="27"/>
            <p:cNvSpPr/>
            <p:nvPr/>
          </p:nvSpPr>
          <p:spPr>
            <a:xfrm flipH="false" flipV="false" rot="0">
              <a:off x="0" y="0"/>
              <a:ext cx="6858000" cy="694944"/>
            </a:xfrm>
            <a:custGeom>
              <a:avLst/>
              <a:gdLst/>
              <a:ahLst/>
              <a:cxnLst/>
              <a:rect r="r" b="b" t="t" l="l"/>
              <a:pathLst>
                <a:path h="694944" w="6858000">
                  <a:moveTo>
                    <a:pt x="0" y="0"/>
                  </a:moveTo>
                  <a:lnTo>
                    <a:pt x="6858000" y="0"/>
                  </a:lnTo>
                  <a:lnTo>
                    <a:pt x="6858000" y="694944"/>
                  </a:lnTo>
                  <a:lnTo>
                    <a:pt x="0" y="694944"/>
                  </a:lnTo>
                  <a:close/>
                </a:path>
              </a:pathLst>
            </a:custGeom>
            <a:blipFill>
              <a:blip r:embed="rId2">
                <a:alphaModFix amt="0"/>
              </a:blip>
              <a:stretch>
                <a:fillRect l="0" t="-142286" r="0" b="-142286"/>
              </a:stretch>
            </a:blipFill>
          </p:spPr>
        </p:sp>
        <p:sp>
          <p:nvSpPr>
            <p:cNvPr name="TextBox 28" id="28"/>
            <p:cNvSpPr txBox="true"/>
            <p:nvPr/>
          </p:nvSpPr>
          <p:spPr>
            <a:xfrm>
              <a:off x="0" y="-38100"/>
              <a:ext cx="6858000" cy="733044"/>
            </a:xfrm>
            <a:prstGeom prst="rect">
              <a:avLst/>
            </a:prstGeom>
          </p:spPr>
          <p:txBody>
            <a:bodyPr anchor="ctr" rtlCol="false" tIns="0" lIns="0" bIns="0" rIns="0"/>
            <a:lstStyle/>
            <a:p>
              <a:pPr algn="ctr">
                <a:lnSpc>
                  <a:spcPts val="2430"/>
                </a:lnSpc>
              </a:pPr>
              <a:r>
                <a:rPr lang="en-US" sz="2025" b="true">
                  <a:solidFill>
                    <a:srgbClr val="FFFFFF"/>
                  </a:solidFill>
                  <a:latin typeface="Calibri (MS) Bold"/>
                  <a:ea typeface="Calibri (MS) Bold"/>
                  <a:cs typeface="Calibri (MS) Bold"/>
                  <a:sym typeface="Calibri (MS) Bold"/>
                </a:rPr>
                <a:t>✓  Identify</a:t>
              </a:r>
            </a:p>
          </p:txBody>
        </p:sp>
      </p:grpSp>
      <p:grpSp>
        <p:nvGrpSpPr>
          <p:cNvPr name="Group 29" id="29"/>
          <p:cNvGrpSpPr/>
          <p:nvPr/>
        </p:nvGrpSpPr>
        <p:grpSpPr>
          <a:xfrm rot="0">
            <a:off x="6542532" y="5513832"/>
            <a:ext cx="5143500" cy="329184"/>
            <a:chOff x="0" y="0"/>
            <a:chExt cx="6858000" cy="438912"/>
          </a:xfrm>
        </p:grpSpPr>
        <p:sp>
          <p:nvSpPr>
            <p:cNvPr name="Freeform 30" id="30"/>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31" id="31"/>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FFFFFF"/>
                  </a:solidFill>
                  <a:latin typeface="Arimo"/>
                  <a:ea typeface="Arimo"/>
                  <a:cs typeface="Arimo"/>
                  <a:sym typeface="Arimo"/>
                </a:rPr>
                <a:t>ID</a:t>
              </a:r>
            </a:p>
          </p:txBody>
        </p:sp>
      </p:grpSp>
      <p:grpSp>
        <p:nvGrpSpPr>
          <p:cNvPr name="Group 32" id="32"/>
          <p:cNvGrpSpPr/>
          <p:nvPr/>
        </p:nvGrpSpPr>
        <p:grpSpPr>
          <a:xfrm rot="0">
            <a:off x="12115419" y="5065395"/>
            <a:ext cx="5162550" cy="842010"/>
            <a:chOff x="0" y="0"/>
            <a:chExt cx="6883400" cy="1122680"/>
          </a:xfrm>
        </p:grpSpPr>
        <p:sp>
          <p:nvSpPr>
            <p:cNvPr name="Freeform 33" id="33"/>
            <p:cNvSpPr/>
            <p:nvPr/>
          </p:nvSpPr>
          <p:spPr>
            <a:xfrm flipH="false" flipV="false" rot="0">
              <a:off x="0" y="0"/>
              <a:ext cx="6883400" cy="1122680"/>
            </a:xfrm>
            <a:custGeom>
              <a:avLst/>
              <a:gdLst/>
              <a:ahLst/>
              <a:cxnLst/>
              <a:rect r="r" b="b" t="t" l="l"/>
              <a:pathLst>
                <a:path h="1122680" w="6883400">
                  <a:moveTo>
                    <a:pt x="0" y="168402"/>
                  </a:moveTo>
                  <a:cubicBezTo>
                    <a:pt x="0" y="75438"/>
                    <a:pt x="75438" y="0"/>
                    <a:pt x="168402" y="0"/>
                  </a:cubicBezTo>
                  <a:lnTo>
                    <a:pt x="6714998" y="0"/>
                  </a:lnTo>
                  <a:cubicBezTo>
                    <a:pt x="6807962" y="0"/>
                    <a:pt x="6883400" y="75438"/>
                    <a:pt x="6883400" y="168402"/>
                  </a:cubicBezTo>
                  <a:lnTo>
                    <a:pt x="6883400" y="954278"/>
                  </a:lnTo>
                  <a:cubicBezTo>
                    <a:pt x="6883400" y="1047242"/>
                    <a:pt x="6807962" y="1122680"/>
                    <a:pt x="6714998" y="1122680"/>
                  </a:cubicBezTo>
                  <a:lnTo>
                    <a:pt x="168402" y="1122680"/>
                  </a:lnTo>
                  <a:cubicBezTo>
                    <a:pt x="75438" y="1122680"/>
                    <a:pt x="0" y="1047242"/>
                    <a:pt x="0" y="954278"/>
                  </a:cubicBezTo>
                  <a:close/>
                </a:path>
              </a:pathLst>
            </a:custGeom>
            <a:solidFill>
              <a:srgbClr val="F4F7FC"/>
            </a:solidFill>
            <a:ln w="19050" cap="sq">
              <a:solidFill>
                <a:srgbClr val="D7DCEC"/>
              </a:solidFill>
              <a:prstDash val="solid"/>
              <a:miter/>
            </a:ln>
          </p:spPr>
        </p:sp>
      </p:grpSp>
      <p:grpSp>
        <p:nvGrpSpPr>
          <p:cNvPr name="Group 34" id="34"/>
          <p:cNvGrpSpPr/>
          <p:nvPr/>
        </p:nvGrpSpPr>
        <p:grpSpPr>
          <a:xfrm rot="0">
            <a:off x="12124944" y="5143500"/>
            <a:ext cx="5143500" cy="521208"/>
            <a:chOff x="0" y="0"/>
            <a:chExt cx="6858000" cy="694944"/>
          </a:xfrm>
        </p:grpSpPr>
        <p:sp>
          <p:nvSpPr>
            <p:cNvPr name="Freeform 35" id="35"/>
            <p:cNvSpPr/>
            <p:nvPr/>
          </p:nvSpPr>
          <p:spPr>
            <a:xfrm flipH="false" flipV="false" rot="0">
              <a:off x="0" y="0"/>
              <a:ext cx="6858000" cy="694944"/>
            </a:xfrm>
            <a:custGeom>
              <a:avLst/>
              <a:gdLst/>
              <a:ahLst/>
              <a:cxnLst/>
              <a:rect r="r" b="b" t="t" l="l"/>
              <a:pathLst>
                <a:path h="694944" w="6858000">
                  <a:moveTo>
                    <a:pt x="0" y="0"/>
                  </a:moveTo>
                  <a:lnTo>
                    <a:pt x="6858000" y="0"/>
                  </a:lnTo>
                  <a:lnTo>
                    <a:pt x="6858000" y="694944"/>
                  </a:lnTo>
                  <a:lnTo>
                    <a:pt x="0" y="694944"/>
                  </a:lnTo>
                  <a:close/>
                </a:path>
              </a:pathLst>
            </a:custGeom>
            <a:blipFill>
              <a:blip r:embed="rId2">
                <a:alphaModFix amt="0"/>
              </a:blip>
              <a:stretch>
                <a:fillRect l="0" t="-142286" r="0" b="-142286"/>
              </a:stretch>
            </a:blipFill>
          </p:spPr>
        </p:sp>
        <p:sp>
          <p:nvSpPr>
            <p:cNvPr name="TextBox 36" id="36"/>
            <p:cNvSpPr txBox="true"/>
            <p:nvPr/>
          </p:nvSpPr>
          <p:spPr>
            <a:xfrm>
              <a:off x="0" y="-38100"/>
              <a:ext cx="6858000" cy="733044"/>
            </a:xfrm>
            <a:prstGeom prst="rect">
              <a:avLst/>
            </a:prstGeom>
          </p:spPr>
          <p:txBody>
            <a:bodyPr anchor="ctr" rtlCol="false" tIns="0" lIns="0" bIns="0" rIns="0"/>
            <a:lstStyle/>
            <a:p>
              <a:pPr algn="ctr">
                <a:lnSpc>
                  <a:spcPts val="2430"/>
                </a:lnSpc>
              </a:pPr>
              <a:r>
                <a:rPr lang="en-US" sz="2025">
                  <a:solidFill>
                    <a:srgbClr val="6B7280"/>
                  </a:solidFill>
                  <a:latin typeface="Calibri (MS)"/>
                  <a:ea typeface="Calibri (MS)"/>
                  <a:cs typeface="Calibri (MS)"/>
                  <a:sym typeface="Calibri (MS)"/>
                </a:rPr>
                <a:t>Protect</a:t>
              </a:r>
            </a:p>
          </p:txBody>
        </p:sp>
      </p:grpSp>
      <p:grpSp>
        <p:nvGrpSpPr>
          <p:cNvPr name="Group 37" id="37"/>
          <p:cNvGrpSpPr/>
          <p:nvPr/>
        </p:nvGrpSpPr>
        <p:grpSpPr>
          <a:xfrm rot="0">
            <a:off x="12124944" y="5513832"/>
            <a:ext cx="5143500" cy="329184"/>
            <a:chOff x="0" y="0"/>
            <a:chExt cx="6858000" cy="438912"/>
          </a:xfrm>
        </p:grpSpPr>
        <p:sp>
          <p:nvSpPr>
            <p:cNvPr name="Freeform 38" id="38"/>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39" id="39"/>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9AA3B8"/>
                  </a:solidFill>
                  <a:latin typeface="Arimo"/>
                  <a:ea typeface="Arimo"/>
                  <a:cs typeface="Arimo"/>
                  <a:sym typeface="Arimo"/>
                </a:rPr>
                <a:t>PR</a:t>
              </a:r>
            </a:p>
          </p:txBody>
        </p:sp>
      </p:grpSp>
      <p:grpSp>
        <p:nvGrpSpPr>
          <p:cNvPr name="Group 40" id="40"/>
          <p:cNvGrpSpPr/>
          <p:nvPr/>
        </p:nvGrpSpPr>
        <p:grpSpPr>
          <a:xfrm rot="0">
            <a:off x="950595" y="6135243"/>
            <a:ext cx="5162550" cy="842010"/>
            <a:chOff x="0" y="0"/>
            <a:chExt cx="6883400" cy="1122680"/>
          </a:xfrm>
        </p:grpSpPr>
        <p:sp>
          <p:nvSpPr>
            <p:cNvPr name="Freeform 41" id="41"/>
            <p:cNvSpPr/>
            <p:nvPr/>
          </p:nvSpPr>
          <p:spPr>
            <a:xfrm flipH="false" flipV="false" rot="0">
              <a:off x="0" y="0"/>
              <a:ext cx="6883400" cy="1122680"/>
            </a:xfrm>
            <a:custGeom>
              <a:avLst/>
              <a:gdLst/>
              <a:ahLst/>
              <a:cxnLst/>
              <a:rect r="r" b="b" t="t" l="l"/>
              <a:pathLst>
                <a:path h="1122680" w="6883400">
                  <a:moveTo>
                    <a:pt x="0" y="168402"/>
                  </a:moveTo>
                  <a:cubicBezTo>
                    <a:pt x="0" y="75438"/>
                    <a:pt x="75438" y="0"/>
                    <a:pt x="168402" y="0"/>
                  </a:cubicBezTo>
                  <a:lnTo>
                    <a:pt x="6714998" y="0"/>
                  </a:lnTo>
                  <a:cubicBezTo>
                    <a:pt x="6807962" y="0"/>
                    <a:pt x="6883400" y="75438"/>
                    <a:pt x="6883400" y="168402"/>
                  </a:cubicBezTo>
                  <a:lnTo>
                    <a:pt x="6883400" y="954278"/>
                  </a:lnTo>
                  <a:cubicBezTo>
                    <a:pt x="6883400" y="1047242"/>
                    <a:pt x="6807962" y="1122680"/>
                    <a:pt x="6714998" y="1122680"/>
                  </a:cubicBezTo>
                  <a:lnTo>
                    <a:pt x="168402" y="1122680"/>
                  </a:lnTo>
                  <a:cubicBezTo>
                    <a:pt x="75438" y="1122680"/>
                    <a:pt x="0" y="1047242"/>
                    <a:pt x="0" y="954278"/>
                  </a:cubicBezTo>
                  <a:close/>
                </a:path>
              </a:pathLst>
            </a:custGeom>
            <a:solidFill>
              <a:srgbClr val="F4F7FC"/>
            </a:solidFill>
            <a:ln w="19050" cap="sq">
              <a:solidFill>
                <a:srgbClr val="D7DCEC"/>
              </a:solidFill>
              <a:prstDash val="solid"/>
              <a:miter/>
            </a:ln>
          </p:spPr>
        </p:sp>
      </p:grpSp>
      <p:grpSp>
        <p:nvGrpSpPr>
          <p:cNvPr name="Group 42" id="42"/>
          <p:cNvGrpSpPr/>
          <p:nvPr/>
        </p:nvGrpSpPr>
        <p:grpSpPr>
          <a:xfrm rot="0">
            <a:off x="960120" y="6213348"/>
            <a:ext cx="5143500" cy="521208"/>
            <a:chOff x="0" y="0"/>
            <a:chExt cx="6858000" cy="694944"/>
          </a:xfrm>
        </p:grpSpPr>
        <p:sp>
          <p:nvSpPr>
            <p:cNvPr name="Freeform 43" id="43"/>
            <p:cNvSpPr/>
            <p:nvPr/>
          </p:nvSpPr>
          <p:spPr>
            <a:xfrm flipH="false" flipV="false" rot="0">
              <a:off x="0" y="0"/>
              <a:ext cx="6858000" cy="694944"/>
            </a:xfrm>
            <a:custGeom>
              <a:avLst/>
              <a:gdLst/>
              <a:ahLst/>
              <a:cxnLst/>
              <a:rect r="r" b="b" t="t" l="l"/>
              <a:pathLst>
                <a:path h="694944" w="6858000">
                  <a:moveTo>
                    <a:pt x="0" y="0"/>
                  </a:moveTo>
                  <a:lnTo>
                    <a:pt x="6858000" y="0"/>
                  </a:lnTo>
                  <a:lnTo>
                    <a:pt x="6858000" y="694944"/>
                  </a:lnTo>
                  <a:lnTo>
                    <a:pt x="0" y="694944"/>
                  </a:lnTo>
                  <a:close/>
                </a:path>
              </a:pathLst>
            </a:custGeom>
            <a:blipFill>
              <a:blip r:embed="rId2">
                <a:alphaModFix amt="0"/>
              </a:blip>
              <a:stretch>
                <a:fillRect l="0" t="-142286" r="0" b="-142286"/>
              </a:stretch>
            </a:blipFill>
          </p:spPr>
        </p:sp>
        <p:sp>
          <p:nvSpPr>
            <p:cNvPr name="TextBox 44" id="44"/>
            <p:cNvSpPr txBox="true"/>
            <p:nvPr/>
          </p:nvSpPr>
          <p:spPr>
            <a:xfrm>
              <a:off x="0" y="-38100"/>
              <a:ext cx="6858000" cy="733044"/>
            </a:xfrm>
            <a:prstGeom prst="rect">
              <a:avLst/>
            </a:prstGeom>
          </p:spPr>
          <p:txBody>
            <a:bodyPr anchor="ctr" rtlCol="false" tIns="0" lIns="0" bIns="0" rIns="0"/>
            <a:lstStyle/>
            <a:p>
              <a:pPr algn="ctr">
                <a:lnSpc>
                  <a:spcPts val="2430"/>
                </a:lnSpc>
              </a:pPr>
              <a:r>
                <a:rPr lang="en-US" sz="2025">
                  <a:solidFill>
                    <a:srgbClr val="6B7280"/>
                  </a:solidFill>
                  <a:latin typeface="Calibri (MS)"/>
                  <a:ea typeface="Calibri (MS)"/>
                  <a:cs typeface="Calibri (MS)"/>
                  <a:sym typeface="Calibri (MS)"/>
                </a:rPr>
                <a:t>Detect</a:t>
              </a:r>
            </a:p>
          </p:txBody>
        </p:sp>
      </p:grpSp>
      <p:grpSp>
        <p:nvGrpSpPr>
          <p:cNvPr name="Group 45" id="45"/>
          <p:cNvGrpSpPr/>
          <p:nvPr/>
        </p:nvGrpSpPr>
        <p:grpSpPr>
          <a:xfrm rot="0">
            <a:off x="960120" y="6583680"/>
            <a:ext cx="5143500" cy="329184"/>
            <a:chOff x="0" y="0"/>
            <a:chExt cx="6858000" cy="438912"/>
          </a:xfrm>
        </p:grpSpPr>
        <p:sp>
          <p:nvSpPr>
            <p:cNvPr name="Freeform 46" id="46"/>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47" id="47"/>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9AA3B8"/>
                  </a:solidFill>
                  <a:latin typeface="Arimo"/>
                  <a:ea typeface="Arimo"/>
                  <a:cs typeface="Arimo"/>
                  <a:sym typeface="Arimo"/>
                </a:rPr>
                <a:t>DE</a:t>
              </a:r>
            </a:p>
          </p:txBody>
        </p:sp>
      </p:grpSp>
      <p:grpSp>
        <p:nvGrpSpPr>
          <p:cNvPr name="Group 48" id="48"/>
          <p:cNvGrpSpPr/>
          <p:nvPr/>
        </p:nvGrpSpPr>
        <p:grpSpPr>
          <a:xfrm rot="0">
            <a:off x="6533007" y="6135243"/>
            <a:ext cx="5162550" cy="842010"/>
            <a:chOff x="0" y="0"/>
            <a:chExt cx="6883400" cy="1122680"/>
          </a:xfrm>
        </p:grpSpPr>
        <p:sp>
          <p:nvSpPr>
            <p:cNvPr name="Freeform 49" id="49"/>
            <p:cNvSpPr/>
            <p:nvPr/>
          </p:nvSpPr>
          <p:spPr>
            <a:xfrm flipH="false" flipV="false" rot="0">
              <a:off x="0" y="0"/>
              <a:ext cx="6883400" cy="1122680"/>
            </a:xfrm>
            <a:custGeom>
              <a:avLst/>
              <a:gdLst/>
              <a:ahLst/>
              <a:cxnLst/>
              <a:rect r="r" b="b" t="t" l="l"/>
              <a:pathLst>
                <a:path h="1122680" w="6883400">
                  <a:moveTo>
                    <a:pt x="0" y="168402"/>
                  </a:moveTo>
                  <a:cubicBezTo>
                    <a:pt x="0" y="75438"/>
                    <a:pt x="75438" y="0"/>
                    <a:pt x="168402" y="0"/>
                  </a:cubicBezTo>
                  <a:lnTo>
                    <a:pt x="6714998" y="0"/>
                  </a:lnTo>
                  <a:cubicBezTo>
                    <a:pt x="6807962" y="0"/>
                    <a:pt x="6883400" y="75438"/>
                    <a:pt x="6883400" y="168402"/>
                  </a:cubicBezTo>
                  <a:lnTo>
                    <a:pt x="6883400" y="954278"/>
                  </a:lnTo>
                  <a:cubicBezTo>
                    <a:pt x="6883400" y="1047242"/>
                    <a:pt x="6807962" y="1122680"/>
                    <a:pt x="6714998" y="1122680"/>
                  </a:cubicBezTo>
                  <a:lnTo>
                    <a:pt x="168402" y="1122680"/>
                  </a:lnTo>
                  <a:cubicBezTo>
                    <a:pt x="75438" y="1122680"/>
                    <a:pt x="0" y="1047242"/>
                    <a:pt x="0" y="954278"/>
                  </a:cubicBezTo>
                  <a:close/>
                </a:path>
              </a:pathLst>
            </a:custGeom>
            <a:solidFill>
              <a:srgbClr val="F4F7FC"/>
            </a:solidFill>
            <a:ln w="19050" cap="sq">
              <a:solidFill>
                <a:srgbClr val="D7DCEC"/>
              </a:solidFill>
              <a:prstDash val="solid"/>
              <a:miter/>
            </a:ln>
          </p:spPr>
        </p:sp>
      </p:grpSp>
      <p:grpSp>
        <p:nvGrpSpPr>
          <p:cNvPr name="Group 50" id="50"/>
          <p:cNvGrpSpPr/>
          <p:nvPr/>
        </p:nvGrpSpPr>
        <p:grpSpPr>
          <a:xfrm rot="0">
            <a:off x="6542532" y="6213348"/>
            <a:ext cx="5143500" cy="521208"/>
            <a:chOff x="0" y="0"/>
            <a:chExt cx="6858000" cy="694944"/>
          </a:xfrm>
        </p:grpSpPr>
        <p:sp>
          <p:nvSpPr>
            <p:cNvPr name="Freeform 51" id="51"/>
            <p:cNvSpPr/>
            <p:nvPr/>
          </p:nvSpPr>
          <p:spPr>
            <a:xfrm flipH="false" flipV="false" rot="0">
              <a:off x="0" y="0"/>
              <a:ext cx="6858000" cy="694944"/>
            </a:xfrm>
            <a:custGeom>
              <a:avLst/>
              <a:gdLst/>
              <a:ahLst/>
              <a:cxnLst/>
              <a:rect r="r" b="b" t="t" l="l"/>
              <a:pathLst>
                <a:path h="694944" w="6858000">
                  <a:moveTo>
                    <a:pt x="0" y="0"/>
                  </a:moveTo>
                  <a:lnTo>
                    <a:pt x="6858000" y="0"/>
                  </a:lnTo>
                  <a:lnTo>
                    <a:pt x="6858000" y="694944"/>
                  </a:lnTo>
                  <a:lnTo>
                    <a:pt x="0" y="694944"/>
                  </a:lnTo>
                  <a:close/>
                </a:path>
              </a:pathLst>
            </a:custGeom>
            <a:blipFill>
              <a:blip r:embed="rId2">
                <a:alphaModFix amt="0"/>
              </a:blip>
              <a:stretch>
                <a:fillRect l="0" t="-142286" r="0" b="-142286"/>
              </a:stretch>
            </a:blipFill>
          </p:spPr>
        </p:sp>
        <p:sp>
          <p:nvSpPr>
            <p:cNvPr name="TextBox 52" id="52"/>
            <p:cNvSpPr txBox="true"/>
            <p:nvPr/>
          </p:nvSpPr>
          <p:spPr>
            <a:xfrm>
              <a:off x="0" y="-38100"/>
              <a:ext cx="6858000" cy="733044"/>
            </a:xfrm>
            <a:prstGeom prst="rect">
              <a:avLst/>
            </a:prstGeom>
          </p:spPr>
          <p:txBody>
            <a:bodyPr anchor="ctr" rtlCol="false" tIns="0" lIns="0" bIns="0" rIns="0"/>
            <a:lstStyle/>
            <a:p>
              <a:pPr algn="ctr">
                <a:lnSpc>
                  <a:spcPts val="2430"/>
                </a:lnSpc>
              </a:pPr>
              <a:r>
                <a:rPr lang="en-US" sz="2025">
                  <a:solidFill>
                    <a:srgbClr val="6B7280"/>
                  </a:solidFill>
                  <a:latin typeface="Calibri (MS)"/>
                  <a:ea typeface="Calibri (MS)"/>
                  <a:cs typeface="Calibri (MS)"/>
                  <a:sym typeface="Calibri (MS)"/>
                </a:rPr>
                <a:t>Respond</a:t>
              </a:r>
            </a:p>
          </p:txBody>
        </p:sp>
      </p:grpSp>
      <p:grpSp>
        <p:nvGrpSpPr>
          <p:cNvPr name="Group 53" id="53"/>
          <p:cNvGrpSpPr/>
          <p:nvPr/>
        </p:nvGrpSpPr>
        <p:grpSpPr>
          <a:xfrm rot="0">
            <a:off x="6542532" y="6583680"/>
            <a:ext cx="5143500" cy="329184"/>
            <a:chOff x="0" y="0"/>
            <a:chExt cx="6858000" cy="438912"/>
          </a:xfrm>
        </p:grpSpPr>
        <p:sp>
          <p:nvSpPr>
            <p:cNvPr name="Freeform 54" id="54"/>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55" id="55"/>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9AA3B8"/>
                  </a:solidFill>
                  <a:latin typeface="Arimo"/>
                  <a:ea typeface="Arimo"/>
                  <a:cs typeface="Arimo"/>
                  <a:sym typeface="Arimo"/>
                </a:rPr>
                <a:t>RS</a:t>
              </a:r>
            </a:p>
          </p:txBody>
        </p:sp>
      </p:grpSp>
      <p:grpSp>
        <p:nvGrpSpPr>
          <p:cNvPr name="Group 56" id="56"/>
          <p:cNvGrpSpPr/>
          <p:nvPr/>
        </p:nvGrpSpPr>
        <p:grpSpPr>
          <a:xfrm rot="0">
            <a:off x="12115419" y="6135243"/>
            <a:ext cx="5162550" cy="842010"/>
            <a:chOff x="0" y="0"/>
            <a:chExt cx="6883400" cy="1122680"/>
          </a:xfrm>
        </p:grpSpPr>
        <p:sp>
          <p:nvSpPr>
            <p:cNvPr name="Freeform 57" id="57"/>
            <p:cNvSpPr/>
            <p:nvPr/>
          </p:nvSpPr>
          <p:spPr>
            <a:xfrm flipH="false" flipV="false" rot="0">
              <a:off x="0" y="0"/>
              <a:ext cx="6883400" cy="1122680"/>
            </a:xfrm>
            <a:custGeom>
              <a:avLst/>
              <a:gdLst/>
              <a:ahLst/>
              <a:cxnLst/>
              <a:rect r="r" b="b" t="t" l="l"/>
              <a:pathLst>
                <a:path h="1122680" w="6883400">
                  <a:moveTo>
                    <a:pt x="0" y="168402"/>
                  </a:moveTo>
                  <a:cubicBezTo>
                    <a:pt x="0" y="75438"/>
                    <a:pt x="75438" y="0"/>
                    <a:pt x="168402" y="0"/>
                  </a:cubicBezTo>
                  <a:lnTo>
                    <a:pt x="6714998" y="0"/>
                  </a:lnTo>
                  <a:cubicBezTo>
                    <a:pt x="6807962" y="0"/>
                    <a:pt x="6883400" y="75438"/>
                    <a:pt x="6883400" y="168402"/>
                  </a:cubicBezTo>
                  <a:lnTo>
                    <a:pt x="6883400" y="954278"/>
                  </a:lnTo>
                  <a:cubicBezTo>
                    <a:pt x="6883400" y="1047242"/>
                    <a:pt x="6807962" y="1122680"/>
                    <a:pt x="6714998" y="1122680"/>
                  </a:cubicBezTo>
                  <a:lnTo>
                    <a:pt x="168402" y="1122680"/>
                  </a:lnTo>
                  <a:cubicBezTo>
                    <a:pt x="75438" y="1122680"/>
                    <a:pt x="0" y="1047242"/>
                    <a:pt x="0" y="954278"/>
                  </a:cubicBezTo>
                  <a:close/>
                </a:path>
              </a:pathLst>
            </a:custGeom>
            <a:solidFill>
              <a:srgbClr val="F4F7FC"/>
            </a:solidFill>
            <a:ln w="19050" cap="sq">
              <a:solidFill>
                <a:srgbClr val="D7DCEC"/>
              </a:solidFill>
              <a:prstDash val="solid"/>
              <a:miter/>
            </a:ln>
          </p:spPr>
        </p:sp>
      </p:grpSp>
      <p:grpSp>
        <p:nvGrpSpPr>
          <p:cNvPr name="Group 58" id="58"/>
          <p:cNvGrpSpPr/>
          <p:nvPr/>
        </p:nvGrpSpPr>
        <p:grpSpPr>
          <a:xfrm rot="0">
            <a:off x="12124944" y="6213348"/>
            <a:ext cx="5143500" cy="521208"/>
            <a:chOff x="0" y="0"/>
            <a:chExt cx="6858000" cy="694944"/>
          </a:xfrm>
        </p:grpSpPr>
        <p:sp>
          <p:nvSpPr>
            <p:cNvPr name="Freeform 59" id="59"/>
            <p:cNvSpPr/>
            <p:nvPr/>
          </p:nvSpPr>
          <p:spPr>
            <a:xfrm flipH="false" flipV="false" rot="0">
              <a:off x="0" y="0"/>
              <a:ext cx="6858000" cy="694944"/>
            </a:xfrm>
            <a:custGeom>
              <a:avLst/>
              <a:gdLst/>
              <a:ahLst/>
              <a:cxnLst/>
              <a:rect r="r" b="b" t="t" l="l"/>
              <a:pathLst>
                <a:path h="694944" w="6858000">
                  <a:moveTo>
                    <a:pt x="0" y="0"/>
                  </a:moveTo>
                  <a:lnTo>
                    <a:pt x="6858000" y="0"/>
                  </a:lnTo>
                  <a:lnTo>
                    <a:pt x="6858000" y="694944"/>
                  </a:lnTo>
                  <a:lnTo>
                    <a:pt x="0" y="694944"/>
                  </a:lnTo>
                  <a:close/>
                </a:path>
              </a:pathLst>
            </a:custGeom>
            <a:blipFill>
              <a:blip r:embed="rId2">
                <a:alphaModFix amt="0"/>
              </a:blip>
              <a:stretch>
                <a:fillRect l="0" t="-142286" r="0" b="-142286"/>
              </a:stretch>
            </a:blipFill>
          </p:spPr>
        </p:sp>
        <p:sp>
          <p:nvSpPr>
            <p:cNvPr name="TextBox 60" id="60"/>
            <p:cNvSpPr txBox="true"/>
            <p:nvPr/>
          </p:nvSpPr>
          <p:spPr>
            <a:xfrm>
              <a:off x="0" y="-38100"/>
              <a:ext cx="6858000" cy="733044"/>
            </a:xfrm>
            <a:prstGeom prst="rect">
              <a:avLst/>
            </a:prstGeom>
          </p:spPr>
          <p:txBody>
            <a:bodyPr anchor="ctr" rtlCol="false" tIns="0" lIns="0" bIns="0" rIns="0"/>
            <a:lstStyle/>
            <a:p>
              <a:pPr algn="ctr">
                <a:lnSpc>
                  <a:spcPts val="2430"/>
                </a:lnSpc>
              </a:pPr>
              <a:r>
                <a:rPr lang="en-US" sz="2025">
                  <a:solidFill>
                    <a:srgbClr val="6B7280"/>
                  </a:solidFill>
                  <a:latin typeface="Calibri (MS)"/>
                  <a:ea typeface="Calibri (MS)"/>
                  <a:cs typeface="Calibri (MS)"/>
                  <a:sym typeface="Calibri (MS)"/>
                </a:rPr>
                <a:t>Recover</a:t>
              </a:r>
            </a:p>
          </p:txBody>
        </p:sp>
      </p:grpSp>
      <p:grpSp>
        <p:nvGrpSpPr>
          <p:cNvPr name="Group 61" id="61"/>
          <p:cNvGrpSpPr/>
          <p:nvPr/>
        </p:nvGrpSpPr>
        <p:grpSpPr>
          <a:xfrm rot="0">
            <a:off x="12124944" y="6583680"/>
            <a:ext cx="5143500" cy="329184"/>
            <a:chOff x="0" y="0"/>
            <a:chExt cx="6858000" cy="438912"/>
          </a:xfrm>
        </p:grpSpPr>
        <p:sp>
          <p:nvSpPr>
            <p:cNvPr name="Freeform 62" id="62"/>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63" id="63"/>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9AA3B8"/>
                  </a:solidFill>
                  <a:latin typeface="Arimo"/>
                  <a:ea typeface="Arimo"/>
                  <a:cs typeface="Arimo"/>
                  <a:sym typeface="Arimo"/>
                </a:rPr>
                <a:t>RC</a:t>
              </a:r>
            </a:p>
          </p:txBody>
        </p:sp>
      </p:grpSp>
      <p:grpSp>
        <p:nvGrpSpPr>
          <p:cNvPr name="Group 64" id="64"/>
          <p:cNvGrpSpPr/>
          <p:nvPr/>
        </p:nvGrpSpPr>
        <p:grpSpPr>
          <a:xfrm rot="0">
            <a:off x="950595" y="7328535"/>
            <a:ext cx="16341090" cy="1596390"/>
            <a:chOff x="0" y="0"/>
            <a:chExt cx="21788120" cy="2128520"/>
          </a:xfrm>
        </p:grpSpPr>
        <p:sp>
          <p:nvSpPr>
            <p:cNvPr name="Freeform 65" id="65"/>
            <p:cNvSpPr/>
            <p:nvPr/>
          </p:nvSpPr>
          <p:spPr>
            <a:xfrm flipH="false" flipV="false" rot="0">
              <a:off x="0" y="0"/>
              <a:ext cx="21788120" cy="2128520"/>
            </a:xfrm>
            <a:custGeom>
              <a:avLst/>
              <a:gdLst/>
              <a:ahLst/>
              <a:cxnLst/>
              <a:rect r="r" b="b" t="t" l="l"/>
              <a:pathLst>
                <a:path h="2128520" w="21788120">
                  <a:moveTo>
                    <a:pt x="0" y="185039"/>
                  </a:moveTo>
                  <a:cubicBezTo>
                    <a:pt x="0" y="82931"/>
                    <a:pt x="82931" y="0"/>
                    <a:pt x="185039" y="0"/>
                  </a:cubicBezTo>
                  <a:lnTo>
                    <a:pt x="21603081" y="0"/>
                  </a:lnTo>
                  <a:cubicBezTo>
                    <a:pt x="21705317" y="0"/>
                    <a:pt x="21788120" y="82931"/>
                    <a:pt x="21788120" y="185039"/>
                  </a:cubicBezTo>
                  <a:lnTo>
                    <a:pt x="21788120" y="1943481"/>
                  </a:lnTo>
                  <a:cubicBezTo>
                    <a:pt x="21788120" y="2045716"/>
                    <a:pt x="21705190" y="2128520"/>
                    <a:pt x="21603081" y="2128520"/>
                  </a:cubicBezTo>
                  <a:lnTo>
                    <a:pt x="185039" y="2128520"/>
                  </a:lnTo>
                  <a:cubicBezTo>
                    <a:pt x="82931" y="2128520"/>
                    <a:pt x="0" y="2045589"/>
                    <a:pt x="0" y="1943481"/>
                  </a:cubicBezTo>
                  <a:close/>
                </a:path>
              </a:pathLst>
            </a:custGeom>
            <a:solidFill>
              <a:srgbClr val="FBF9F4"/>
            </a:solidFill>
            <a:ln w="19050" cap="sq">
              <a:solidFill>
                <a:srgbClr val="EFE6D2"/>
              </a:solidFill>
              <a:prstDash val="solid"/>
              <a:miter/>
            </a:ln>
          </p:spPr>
        </p:sp>
      </p:grpSp>
      <p:sp>
        <p:nvSpPr>
          <p:cNvPr name="TextBox 66" id="66"/>
          <p:cNvSpPr txBox="true"/>
          <p:nvPr/>
        </p:nvSpPr>
        <p:spPr>
          <a:xfrm rot="0">
            <a:off x="1463040" y="7494270"/>
            <a:ext cx="15316200" cy="1238250"/>
          </a:xfrm>
          <a:prstGeom prst="rect">
            <a:avLst/>
          </a:prstGeom>
        </p:spPr>
        <p:txBody>
          <a:bodyPr anchor="t" rtlCol="false" tIns="0" lIns="0" bIns="0" rIns="0">
            <a:spAutoFit/>
          </a:bodyPr>
          <a:lstStyle/>
          <a:p>
            <a:pPr algn="l">
              <a:lnSpc>
                <a:spcPts val="2880"/>
              </a:lnSpc>
            </a:pPr>
            <a:r>
              <a:rPr lang="en-US" sz="1875">
                <a:solidFill>
                  <a:srgbClr val="23262F"/>
                </a:solidFill>
                <a:latin typeface="Calibri (MS)"/>
                <a:ea typeface="Calibri (MS)"/>
                <a:cs typeface="Calibri (MS)"/>
                <a:sym typeface="Calibri (MS)"/>
              </a:rPr>
              <a:t>Before you can protect anything, you have to know it exists. Finding unaccounted-for assets is exactly what Identify is for.</a:t>
            </a:r>
          </a:p>
        </p:txBody>
      </p:sp>
      <p:grpSp>
        <p:nvGrpSpPr>
          <p:cNvPr name="Group 67" id="67"/>
          <p:cNvGrpSpPr/>
          <p:nvPr/>
        </p:nvGrpSpPr>
        <p:grpSpPr>
          <a:xfrm rot="0">
            <a:off x="685800" y="9710928"/>
            <a:ext cx="10972800" cy="411480"/>
            <a:chOff x="0" y="0"/>
            <a:chExt cx="14630400" cy="548640"/>
          </a:xfrm>
        </p:grpSpPr>
        <p:sp>
          <p:nvSpPr>
            <p:cNvPr name="Freeform 68" id="68"/>
            <p:cNvSpPr/>
            <p:nvPr/>
          </p:nvSpPr>
          <p:spPr>
            <a:xfrm flipH="false" flipV="false" rot="0">
              <a:off x="0" y="0"/>
              <a:ext cx="14630400" cy="548640"/>
            </a:xfrm>
            <a:custGeom>
              <a:avLst/>
              <a:gdLst/>
              <a:ahLst/>
              <a:cxnLst/>
              <a:rect r="r" b="b" t="t" l="l"/>
              <a:pathLst>
                <a:path h="548640" w="14630400">
                  <a:moveTo>
                    <a:pt x="0" y="0"/>
                  </a:moveTo>
                  <a:lnTo>
                    <a:pt x="14630400" y="0"/>
                  </a:lnTo>
                  <a:lnTo>
                    <a:pt x="14630400" y="548640"/>
                  </a:lnTo>
                  <a:lnTo>
                    <a:pt x="0" y="548640"/>
                  </a:lnTo>
                  <a:close/>
                </a:path>
              </a:pathLst>
            </a:custGeom>
            <a:blipFill>
              <a:blip r:embed="rId2">
                <a:alphaModFix amt="0"/>
              </a:blip>
              <a:stretch>
                <a:fillRect l="0" t="-469601" r="0" b="-469601"/>
              </a:stretch>
            </a:blipFill>
          </p:spPr>
        </p:sp>
        <p:sp>
          <p:nvSpPr>
            <p:cNvPr name="TextBox 69" id="69"/>
            <p:cNvSpPr txBox="true"/>
            <p:nvPr/>
          </p:nvSpPr>
          <p:spPr>
            <a:xfrm>
              <a:off x="0" y="-38100"/>
              <a:ext cx="14630400" cy="586740"/>
            </a:xfrm>
            <a:prstGeom prst="rect">
              <a:avLst/>
            </a:prstGeom>
          </p:spPr>
          <p:txBody>
            <a:bodyPr anchor="ctr" rtlCol="false" tIns="0" lIns="0" bIns="0" rIns="0"/>
            <a:lstStyle/>
            <a:p>
              <a:pPr algn="l">
                <a:lnSpc>
                  <a:spcPts val="1800"/>
                </a:lnSpc>
              </a:pPr>
              <a:r>
                <a:rPr lang="en-US" sz="1500">
                  <a:solidFill>
                    <a:srgbClr val="6B7280"/>
                  </a:solidFill>
                  <a:latin typeface="Calibri (MS)"/>
                  <a:ea typeface="Calibri (MS)"/>
                  <a:cs typeface="Calibri (MS)"/>
                  <a:sym typeface="Calibri (MS)"/>
                </a:rPr>
                <a:t>Davao del Norte Provincial Government — Cybersecurity Seminar</a:t>
              </a:r>
            </a:p>
          </p:txBody>
        </p:sp>
      </p:grpSp>
      <p:grpSp>
        <p:nvGrpSpPr>
          <p:cNvPr name="Group 70" id="70"/>
          <p:cNvGrpSpPr/>
          <p:nvPr/>
        </p:nvGrpSpPr>
        <p:grpSpPr>
          <a:xfrm rot="0">
            <a:off x="16911828" y="9710928"/>
            <a:ext cx="685800" cy="411480"/>
            <a:chOff x="0" y="0"/>
            <a:chExt cx="914400" cy="548640"/>
          </a:xfrm>
        </p:grpSpPr>
        <p:sp>
          <p:nvSpPr>
            <p:cNvPr name="Freeform 71" id="71"/>
            <p:cNvSpPr/>
            <p:nvPr/>
          </p:nvSpPr>
          <p:spPr>
            <a:xfrm flipH="false" flipV="false" rot="0">
              <a:off x="0" y="0"/>
              <a:ext cx="914400" cy="548640"/>
            </a:xfrm>
            <a:custGeom>
              <a:avLst/>
              <a:gdLst/>
              <a:ahLst/>
              <a:cxnLst/>
              <a:rect r="r" b="b" t="t" l="l"/>
              <a:pathLst>
                <a:path h="548640" w="914400">
                  <a:moveTo>
                    <a:pt x="0" y="0"/>
                  </a:moveTo>
                  <a:lnTo>
                    <a:pt x="914400" y="0"/>
                  </a:lnTo>
                  <a:lnTo>
                    <a:pt x="914400" y="548640"/>
                  </a:lnTo>
                  <a:lnTo>
                    <a:pt x="0" y="548640"/>
                  </a:lnTo>
                  <a:close/>
                </a:path>
              </a:pathLst>
            </a:custGeom>
            <a:blipFill>
              <a:blip r:embed="rId2">
                <a:alphaModFix amt="0"/>
              </a:blip>
              <a:stretch>
                <a:fillRect l="-26982" t="0" r="-26982" b="0"/>
              </a:stretch>
            </a:blipFill>
          </p:spPr>
        </p:sp>
        <p:sp>
          <p:nvSpPr>
            <p:cNvPr name="TextBox 72" id="72"/>
            <p:cNvSpPr txBox="true"/>
            <p:nvPr/>
          </p:nvSpPr>
          <p:spPr>
            <a:xfrm>
              <a:off x="0" y="-38100"/>
              <a:ext cx="914400" cy="586740"/>
            </a:xfrm>
            <a:prstGeom prst="rect">
              <a:avLst/>
            </a:prstGeom>
          </p:spPr>
          <p:txBody>
            <a:bodyPr anchor="ctr" rtlCol="false" tIns="0" lIns="0" bIns="0" rIns="0"/>
            <a:lstStyle/>
            <a:p>
              <a:pPr algn="r">
                <a:lnSpc>
                  <a:spcPts val="1800"/>
                </a:lnSpc>
              </a:pPr>
              <a:r>
                <a:rPr lang="en-US" sz="1500">
                  <a:solidFill>
                    <a:srgbClr val="6B7280"/>
                  </a:solidFill>
                  <a:latin typeface="Calibri (MS)"/>
                  <a:ea typeface="Calibri (MS)"/>
                  <a:cs typeface="Calibri (MS)"/>
                  <a:sym typeface="Calibri (MS)"/>
                </a:rPr>
                <a:t>14</a:t>
              </a:r>
            </a:p>
          </p:txBody>
        </p:sp>
      </p:grpSp>
    </p:spTree>
  </p:cSld>
  <p:clrMapOvr>
    <a:masterClrMapping/>
  </p:clrMapOvr>
</p:sld>
</file>

<file path=ppt/slides/slide8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60120" y="685800"/>
            <a:ext cx="13716000" cy="411480"/>
            <a:chOff x="0" y="0"/>
            <a:chExt cx="18288000" cy="548640"/>
          </a:xfrm>
        </p:grpSpPr>
        <p:sp>
          <p:nvSpPr>
            <p:cNvPr name="Freeform 3" id="3"/>
            <p:cNvSpPr/>
            <p:nvPr/>
          </p:nvSpPr>
          <p:spPr>
            <a:xfrm flipH="false" flipV="false" rot="0">
              <a:off x="0" y="0"/>
              <a:ext cx="18288000" cy="548640"/>
            </a:xfrm>
            <a:custGeom>
              <a:avLst/>
              <a:gdLst/>
              <a:ahLst/>
              <a:cxnLst/>
              <a:rect r="r" b="b" t="t" l="l"/>
              <a:pathLst>
                <a:path h="548640" w="18288000">
                  <a:moveTo>
                    <a:pt x="0" y="0"/>
                  </a:moveTo>
                  <a:lnTo>
                    <a:pt x="18288000" y="0"/>
                  </a:lnTo>
                  <a:lnTo>
                    <a:pt x="18288000" y="548640"/>
                  </a:lnTo>
                  <a:lnTo>
                    <a:pt x="0" y="548640"/>
                  </a:lnTo>
                  <a:close/>
                </a:path>
              </a:pathLst>
            </a:custGeom>
            <a:blipFill>
              <a:blip r:embed="rId2">
                <a:alphaModFix amt="0"/>
              </a:blip>
              <a:stretch>
                <a:fillRect l="0" t="-599501" r="0" b="-599501"/>
              </a:stretch>
            </a:blipFill>
          </p:spPr>
        </p:sp>
        <p:sp>
          <p:nvSpPr>
            <p:cNvPr name="TextBox 4" id="4"/>
            <p:cNvSpPr txBox="true"/>
            <p:nvPr/>
          </p:nvSpPr>
          <p:spPr>
            <a:xfrm>
              <a:off x="0" y="-38100"/>
              <a:ext cx="18288000" cy="586740"/>
            </a:xfrm>
            <a:prstGeom prst="rect">
              <a:avLst/>
            </a:prstGeom>
          </p:spPr>
          <p:txBody>
            <a:bodyPr anchor="ctr" rtlCol="false" tIns="0" lIns="0" bIns="0" rIns="0"/>
            <a:lstStyle/>
            <a:p>
              <a:pPr algn="l">
                <a:lnSpc>
                  <a:spcPts val="2160"/>
                </a:lnSpc>
              </a:pPr>
              <a:r>
                <a:rPr lang="en-US" b="true" sz="1800" spc="225">
                  <a:solidFill>
                    <a:srgbClr val="00B4D8"/>
                  </a:solidFill>
                  <a:latin typeface="Calibri (MS) Bold"/>
                  <a:ea typeface="Calibri (MS) Bold"/>
                  <a:cs typeface="Calibri (MS) Bold"/>
                  <a:sym typeface="Calibri (MS) Bold"/>
                </a:rPr>
                <a:t>NIST CSF SORT · SCENARIO</a:t>
              </a:r>
            </a:p>
          </p:txBody>
        </p:sp>
      </p:grpSp>
      <p:grpSp>
        <p:nvGrpSpPr>
          <p:cNvPr name="Group 5" id="5"/>
          <p:cNvGrpSpPr/>
          <p:nvPr/>
        </p:nvGrpSpPr>
        <p:grpSpPr>
          <a:xfrm rot="0">
            <a:off x="960120" y="1069848"/>
            <a:ext cx="10972800" cy="822960"/>
            <a:chOff x="0" y="0"/>
            <a:chExt cx="14630400" cy="1097280"/>
          </a:xfrm>
        </p:grpSpPr>
        <p:sp>
          <p:nvSpPr>
            <p:cNvPr name="Freeform 6" id="6"/>
            <p:cNvSpPr/>
            <p:nvPr/>
          </p:nvSpPr>
          <p:spPr>
            <a:xfrm flipH="false" flipV="false" rot="0">
              <a:off x="0" y="0"/>
              <a:ext cx="14630400" cy="1097280"/>
            </a:xfrm>
            <a:custGeom>
              <a:avLst/>
              <a:gdLst/>
              <a:ahLst/>
              <a:cxnLst/>
              <a:rect r="r" b="b" t="t" l="l"/>
              <a:pathLst>
                <a:path h="1097280" w="14630400">
                  <a:moveTo>
                    <a:pt x="0" y="0"/>
                  </a:moveTo>
                  <a:lnTo>
                    <a:pt x="14630400" y="0"/>
                  </a:lnTo>
                  <a:lnTo>
                    <a:pt x="14630400" y="1097280"/>
                  </a:lnTo>
                  <a:lnTo>
                    <a:pt x="0" y="1097280"/>
                  </a:lnTo>
                  <a:close/>
                </a:path>
              </a:pathLst>
            </a:custGeom>
            <a:blipFill>
              <a:blip r:embed="rId2">
                <a:alphaModFix amt="0"/>
              </a:blip>
              <a:stretch>
                <a:fillRect l="0" t="-209800" r="0" b="-209800"/>
              </a:stretch>
            </a:blipFill>
          </p:spPr>
        </p:sp>
        <p:sp>
          <p:nvSpPr>
            <p:cNvPr name="TextBox 7" id="7"/>
            <p:cNvSpPr txBox="true"/>
            <p:nvPr/>
          </p:nvSpPr>
          <p:spPr>
            <a:xfrm>
              <a:off x="0" y="0"/>
              <a:ext cx="14630400" cy="1097280"/>
            </a:xfrm>
            <a:prstGeom prst="rect">
              <a:avLst/>
            </a:prstGeom>
          </p:spPr>
          <p:txBody>
            <a:bodyPr anchor="ctr" rtlCol="false" tIns="0" lIns="0" bIns="0" rIns="0"/>
            <a:lstStyle/>
            <a:p>
              <a:pPr algn="l">
                <a:lnSpc>
                  <a:spcPts val="4680"/>
                </a:lnSpc>
              </a:pPr>
              <a:r>
                <a:rPr lang="en-US" sz="3900" b="true">
                  <a:solidFill>
                    <a:srgbClr val="1E2761"/>
                  </a:solidFill>
                  <a:latin typeface="Cambria Bold"/>
                  <a:ea typeface="Cambria Bold"/>
                  <a:cs typeface="Cambria Bold"/>
                  <a:sym typeface="Cambria Bold"/>
                </a:rPr>
                <a:t>Scenario 3</a:t>
              </a:r>
            </a:p>
          </p:txBody>
        </p:sp>
      </p:grpSp>
      <p:grpSp>
        <p:nvGrpSpPr>
          <p:cNvPr name="Group 8" id="8"/>
          <p:cNvGrpSpPr/>
          <p:nvPr/>
        </p:nvGrpSpPr>
        <p:grpSpPr>
          <a:xfrm rot="0">
            <a:off x="960120" y="1810512"/>
            <a:ext cx="8229600" cy="411480"/>
            <a:chOff x="0" y="0"/>
            <a:chExt cx="10972800" cy="548640"/>
          </a:xfrm>
        </p:grpSpPr>
        <p:sp>
          <p:nvSpPr>
            <p:cNvPr name="Freeform 9" id="9"/>
            <p:cNvSpPr/>
            <p:nvPr/>
          </p:nvSpPr>
          <p:spPr>
            <a:xfrm flipH="false" flipV="false" rot="0">
              <a:off x="0" y="0"/>
              <a:ext cx="10972800" cy="548640"/>
            </a:xfrm>
            <a:custGeom>
              <a:avLst/>
              <a:gdLst/>
              <a:ahLst/>
              <a:cxnLst/>
              <a:rect r="r" b="b" t="t" l="l"/>
              <a:pathLst>
                <a:path h="548640" w="10972800">
                  <a:moveTo>
                    <a:pt x="0" y="0"/>
                  </a:moveTo>
                  <a:lnTo>
                    <a:pt x="10972800" y="0"/>
                  </a:lnTo>
                  <a:lnTo>
                    <a:pt x="10972800" y="548640"/>
                  </a:lnTo>
                  <a:lnTo>
                    <a:pt x="0" y="548640"/>
                  </a:lnTo>
                  <a:close/>
                </a:path>
              </a:pathLst>
            </a:custGeom>
            <a:blipFill>
              <a:blip r:embed="rId2">
                <a:alphaModFix amt="0"/>
              </a:blip>
              <a:stretch>
                <a:fillRect l="0" t="-339700" r="0" b="-339700"/>
              </a:stretch>
            </a:blipFill>
          </p:spPr>
        </p:sp>
        <p:sp>
          <p:nvSpPr>
            <p:cNvPr name="TextBox 10" id="10"/>
            <p:cNvSpPr txBox="true"/>
            <p:nvPr/>
          </p:nvSpPr>
          <p:spPr>
            <a:xfrm>
              <a:off x="0" y="-28575"/>
              <a:ext cx="10972800" cy="577215"/>
            </a:xfrm>
            <a:prstGeom prst="rect">
              <a:avLst/>
            </a:prstGeom>
          </p:spPr>
          <p:txBody>
            <a:bodyPr anchor="ctr" rtlCol="false" tIns="0" lIns="0" bIns="0" rIns="0"/>
            <a:lstStyle/>
            <a:p>
              <a:pPr algn="l">
                <a:lnSpc>
                  <a:spcPts val="1980"/>
                </a:lnSpc>
              </a:pPr>
              <a:r>
                <a:rPr lang="en-US" sz="1650">
                  <a:solidFill>
                    <a:srgbClr val="6B7280"/>
                  </a:solidFill>
                  <a:latin typeface="Calibri (MS)"/>
                  <a:ea typeface="Calibri (MS)"/>
                  <a:cs typeface="Calibri (MS)"/>
                  <a:sym typeface="Calibri (MS)"/>
                </a:rPr>
                <a:t>3 of 20</a:t>
              </a:r>
            </a:p>
          </p:txBody>
        </p:sp>
      </p:grpSp>
      <p:grpSp>
        <p:nvGrpSpPr>
          <p:cNvPr name="Group 11" id="11"/>
          <p:cNvGrpSpPr/>
          <p:nvPr/>
        </p:nvGrpSpPr>
        <p:grpSpPr>
          <a:xfrm rot="0">
            <a:off x="960120" y="2537460"/>
            <a:ext cx="16322040" cy="2811780"/>
            <a:chOff x="0" y="0"/>
            <a:chExt cx="21762720" cy="3749040"/>
          </a:xfrm>
        </p:grpSpPr>
        <p:sp>
          <p:nvSpPr>
            <p:cNvPr name="Freeform 12" id="12"/>
            <p:cNvSpPr/>
            <p:nvPr/>
          </p:nvSpPr>
          <p:spPr>
            <a:xfrm flipH="false" flipV="false" rot="0">
              <a:off x="0" y="0"/>
              <a:ext cx="21762720" cy="3749040"/>
            </a:xfrm>
            <a:custGeom>
              <a:avLst/>
              <a:gdLst/>
              <a:ahLst/>
              <a:cxnLst/>
              <a:rect r="r" b="b" t="t" l="l"/>
              <a:pathLst>
                <a:path h="3749040" w="21762720">
                  <a:moveTo>
                    <a:pt x="0" y="182880"/>
                  </a:moveTo>
                  <a:cubicBezTo>
                    <a:pt x="0" y="81915"/>
                    <a:pt x="81915" y="0"/>
                    <a:pt x="182880" y="0"/>
                  </a:cubicBezTo>
                  <a:lnTo>
                    <a:pt x="21579839" y="0"/>
                  </a:lnTo>
                  <a:cubicBezTo>
                    <a:pt x="21680804" y="0"/>
                    <a:pt x="21762720" y="81915"/>
                    <a:pt x="21762720" y="182880"/>
                  </a:cubicBezTo>
                  <a:lnTo>
                    <a:pt x="21762720" y="3566160"/>
                  </a:lnTo>
                  <a:cubicBezTo>
                    <a:pt x="21762720" y="3667125"/>
                    <a:pt x="21680804" y="3749040"/>
                    <a:pt x="21579839" y="3749040"/>
                  </a:cubicBezTo>
                  <a:lnTo>
                    <a:pt x="182880" y="3749040"/>
                  </a:lnTo>
                  <a:cubicBezTo>
                    <a:pt x="81915" y="3749040"/>
                    <a:pt x="0" y="3667125"/>
                    <a:pt x="0" y="3566160"/>
                  </a:cubicBezTo>
                  <a:close/>
                </a:path>
              </a:pathLst>
            </a:custGeom>
            <a:solidFill>
              <a:srgbClr val="F4F7FC"/>
            </a:solidFill>
          </p:spPr>
        </p:sp>
      </p:grpSp>
      <p:grpSp>
        <p:nvGrpSpPr>
          <p:cNvPr name="Group 13" id="13"/>
          <p:cNvGrpSpPr/>
          <p:nvPr/>
        </p:nvGrpSpPr>
        <p:grpSpPr>
          <a:xfrm rot="0">
            <a:off x="1440180" y="2811780"/>
            <a:ext cx="15361920" cy="2263140"/>
            <a:chOff x="0" y="0"/>
            <a:chExt cx="20482560" cy="3017520"/>
          </a:xfrm>
        </p:grpSpPr>
        <p:sp>
          <p:nvSpPr>
            <p:cNvPr name="Freeform 14" id="14"/>
            <p:cNvSpPr/>
            <p:nvPr/>
          </p:nvSpPr>
          <p:spPr>
            <a:xfrm flipH="false" flipV="false" rot="0">
              <a:off x="0" y="0"/>
              <a:ext cx="20482561" cy="3017520"/>
            </a:xfrm>
            <a:custGeom>
              <a:avLst/>
              <a:gdLst/>
              <a:ahLst/>
              <a:cxnLst/>
              <a:rect r="r" b="b" t="t" l="l"/>
              <a:pathLst>
                <a:path h="3017520" w="20482561">
                  <a:moveTo>
                    <a:pt x="0" y="0"/>
                  </a:moveTo>
                  <a:lnTo>
                    <a:pt x="20482561" y="0"/>
                  </a:lnTo>
                  <a:lnTo>
                    <a:pt x="20482561" y="3017520"/>
                  </a:lnTo>
                  <a:lnTo>
                    <a:pt x="0" y="3017520"/>
                  </a:lnTo>
                  <a:close/>
                </a:path>
              </a:pathLst>
            </a:custGeom>
            <a:blipFill>
              <a:blip r:embed="rId2">
                <a:alphaModFix amt="0"/>
              </a:blip>
              <a:stretch>
                <a:fillRect l="0" t="-82262" r="0" b="-82262"/>
              </a:stretch>
            </a:blipFill>
          </p:spPr>
        </p:sp>
        <p:sp>
          <p:nvSpPr>
            <p:cNvPr name="TextBox 15" id="15"/>
            <p:cNvSpPr txBox="true"/>
            <p:nvPr/>
          </p:nvSpPr>
          <p:spPr>
            <a:xfrm>
              <a:off x="0" y="-104775"/>
              <a:ext cx="20482560" cy="3122295"/>
            </a:xfrm>
            <a:prstGeom prst="rect">
              <a:avLst/>
            </a:prstGeom>
          </p:spPr>
          <p:txBody>
            <a:bodyPr anchor="ctr" rtlCol="false" tIns="0" lIns="0" bIns="0" rIns="0"/>
            <a:lstStyle/>
            <a:p>
              <a:pPr algn="l">
                <a:lnSpc>
                  <a:spcPts val="4147"/>
                </a:lnSpc>
              </a:pPr>
              <a:r>
                <a:rPr lang="en-US" sz="2700" i="true">
                  <a:solidFill>
                    <a:srgbClr val="23262F"/>
                  </a:solidFill>
                  <a:latin typeface="Cambria Italics"/>
                  <a:ea typeface="Cambria Italics"/>
                  <a:cs typeface="Cambria Italics"/>
                  <a:sym typeface="Cambria Italics"/>
                </a:rPr>
                <a:t>"The treasurer's office requires two-factor authentication before anyone can log into the online payment portal."</a:t>
              </a:r>
            </a:p>
          </p:txBody>
        </p:sp>
      </p:grpSp>
      <p:sp>
        <p:nvSpPr>
          <p:cNvPr name="TextBox 16" id="16"/>
          <p:cNvSpPr txBox="true"/>
          <p:nvPr/>
        </p:nvSpPr>
        <p:spPr>
          <a:xfrm rot="0">
            <a:off x="1051560" y="5604510"/>
            <a:ext cx="16139160" cy="1276350"/>
          </a:xfrm>
          <a:prstGeom prst="rect">
            <a:avLst/>
          </a:prstGeom>
        </p:spPr>
        <p:txBody>
          <a:bodyPr anchor="t" rtlCol="false" tIns="0" lIns="0" bIns="0" rIns="0">
            <a:spAutoFit/>
          </a:bodyPr>
          <a:lstStyle/>
          <a:p>
            <a:pPr algn="ctr">
              <a:lnSpc>
                <a:spcPts val="3402"/>
              </a:lnSpc>
            </a:pPr>
            <a:r>
              <a:rPr lang="en-US" sz="2100" i="true">
                <a:solidFill>
                  <a:srgbClr val="6B7280"/>
                </a:solidFill>
                <a:latin typeface="Calibri (MS) Italics"/>
                <a:ea typeface="Calibri (MS) Italics"/>
                <a:cs typeface="Calibri (MS) Italics"/>
                <a:sym typeface="Calibri (MS) Italics"/>
              </a:rPr>
              <a:t>Which Function does this belong to — Govern, Identify, Protect, Detect, Respond, or Recover?</a:t>
            </a:r>
          </a:p>
          <a:p>
            <a:pPr algn="ctr">
              <a:lnSpc>
                <a:spcPts val="3402"/>
              </a:lnSpc>
            </a:pPr>
            <a:r>
              <a:rPr lang="en-US" sz="2100" i="true">
                <a:solidFill>
                  <a:srgbClr val="6B7280"/>
                </a:solidFill>
                <a:latin typeface="Calibri (MS) Italics"/>
                <a:ea typeface="Calibri (MS) Italics"/>
                <a:cs typeface="Calibri (MS) Italics"/>
                <a:sym typeface="Calibri (MS) Italics"/>
              </a:rPr>
              <a:t>Some belong to more than one. Discuss, then we'll reveal the answer.</a:t>
            </a:r>
          </a:p>
        </p:txBody>
      </p:sp>
      <p:grpSp>
        <p:nvGrpSpPr>
          <p:cNvPr name="Group 17" id="17"/>
          <p:cNvGrpSpPr/>
          <p:nvPr/>
        </p:nvGrpSpPr>
        <p:grpSpPr>
          <a:xfrm rot="0">
            <a:off x="950595" y="7122795"/>
            <a:ext cx="5162550" cy="910590"/>
            <a:chOff x="0" y="0"/>
            <a:chExt cx="6883400" cy="1214120"/>
          </a:xfrm>
        </p:grpSpPr>
        <p:sp>
          <p:nvSpPr>
            <p:cNvPr name="Freeform 18" id="18"/>
            <p:cNvSpPr/>
            <p:nvPr/>
          </p:nvSpPr>
          <p:spPr>
            <a:xfrm flipH="false" flipV="false" rot="0">
              <a:off x="0" y="0"/>
              <a:ext cx="6883400" cy="1214120"/>
            </a:xfrm>
            <a:custGeom>
              <a:avLst/>
              <a:gdLst/>
              <a:ahLst/>
              <a:cxnLst/>
              <a:rect r="r" b="b" t="t" l="l"/>
              <a:pathLst>
                <a:path h="1214120" w="6883400">
                  <a:moveTo>
                    <a:pt x="0" y="168148"/>
                  </a:moveTo>
                  <a:cubicBezTo>
                    <a:pt x="0" y="75311"/>
                    <a:pt x="75311" y="0"/>
                    <a:pt x="168148" y="0"/>
                  </a:cubicBezTo>
                  <a:lnTo>
                    <a:pt x="6715252" y="0"/>
                  </a:lnTo>
                  <a:cubicBezTo>
                    <a:pt x="6808089" y="0"/>
                    <a:pt x="6883400" y="75311"/>
                    <a:pt x="6883400" y="168148"/>
                  </a:cubicBezTo>
                  <a:lnTo>
                    <a:pt x="6883400" y="1045972"/>
                  </a:lnTo>
                  <a:cubicBezTo>
                    <a:pt x="6883400" y="1138809"/>
                    <a:pt x="6808089" y="1214120"/>
                    <a:pt x="6715252" y="1214120"/>
                  </a:cubicBezTo>
                  <a:lnTo>
                    <a:pt x="168148" y="1214120"/>
                  </a:lnTo>
                  <a:cubicBezTo>
                    <a:pt x="75311" y="1214120"/>
                    <a:pt x="0" y="1138809"/>
                    <a:pt x="0" y="1045972"/>
                  </a:cubicBezTo>
                  <a:close/>
                </a:path>
              </a:pathLst>
            </a:custGeom>
            <a:solidFill>
              <a:srgbClr val="F4F7FC"/>
            </a:solidFill>
            <a:ln w="19050" cap="sq">
              <a:solidFill>
                <a:srgbClr val="D7DCEC"/>
              </a:solidFill>
              <a:prstDash val="solid"/>
              <a:miter/>
            </a:ln>
          </p:spPr>
        </p:sp>
      </p:grpSp>
      <p:grpSp>
        <p:nvGrpSpPr>
          <p:cNvPr name="Group 19" id="19"/>
          <p:cNvGrpSpPr/>
          <p:nvPr/>
        </p:nvGrpSpPr>
        <p:grpSpPr>
          <a:xfrm rot="0">
            <a:off x="960120" y="7200900"/>
            <a:ext cx="5143500" cy="589788"/>
            <a:chOff x="0" y="0"/>
            <a:chExt cx="6858000" cy="786384"/>
          </a:xfrm>
        </p:grpSpPr>
        <p:sp>
          <p:nvSpPr>
            <p:cNvPr name="Freeform 20" id="20"/>
            <p:cNvSpPr/>
            <p:nvPr/>
          </p:nvSpPr>
          <p:spPr>
            <a:xfrm flipH="false" flipV="false" rot="0">
              <a:off x="0" y="0"/>
              <a:ext cx="6858000" cy="786384"/>
            </a:xfrm>
            <a:custGeom>
              <a:avLst/>
              <a:gdLst/>
              <a:ahLst/>
              <a:cxnLst/>
              <a:rect r="r" b="b" t="t" l="l"/>
              <a:pathLst>
                <a:path h="786384" w="6858000">
                  <a:moveTo>
                    <a:pt x="0" y="0"/>
                  </a:moveTo>
                  <a:lnTo>
                    <a:pt x="6858000" y="0"/>
                  </a:lnTo>
                  <a:lnTo>
                    <a:pt x="6858000" y="786384"/>
                  </a:lnTo>
                  <a:lnTo>
                    <a:pt x="0" y="786384"/>
                  </a:lnTo>
                  <a:close/>
                </a:path>
              </a:pathLst>
            </a:custGeom>
            <a:blipFill>
              <a:blip r:embed="rId2">
                <a:alphaModFix amt="0"/>
              </a:blip>
              <a:stretch>
                <a:fillRect l="0" t="-119927" r="0" b="-119927"/>
              </a:stretch>
            </a:blipFill>
          </p:spPr>
        </p:sp>
        <p:sp>
          <p:nvSpPr>
            <p:cNvPr name="TextBox 21" id="21"/>
            <p:cNvSpPr txBox="true"/>
            <p:nvPr/>
          </p:nvSpPr>
          <p:spPr>
            <a:xfrm>
              <a:off x="0" y="-38100"/>
              <a:ext cx="6858000" cy="824484"/>
            </a:xfrm>
            <a:prstGeom prst="rect">
              <a:avLst/>
            </a:prstGeom>
          </p:spPr>
          <p:txBody>
            <a:bodyPr anchor="ctr" rtlCol="false" tIns="0" lIns="0" bIns="0" rIns="0"/>
            <a:lstStyle/>
            <a:p>
              <a:pPr algn="ctr">
                <a:lnSpc>
                  <a:spcPts val="2430"/>
                </a:lnSpc>
              </a:pPr>
              <a:r>
                <a:rPr lang="en-US" sz="2025">
                  <a:solidFill>
                    <a:srgbClr val="6B7280"/>
                  </a:solidFill>
                  <a:latin typeface="Calibri (MS)"/>
                  <a:ea typeface="Calibri (MS)"/>
                  <a:cs typeface="Calibri (MS)"/>
                  <a:sym typeface="Calibri (MS)"/>
                </a:rPr>
                <a:t>Govern</a:t>
              </a:r>
            </a:p>
          </p:txBody>
        </p:sp>
      </p:grpSp>
      <p:grpSp>
        <p:nvGrpSpPr>
          <p:cNvPr name="Group 22" id="22"/>
          <p:cNvGrpSpPr/>
          <p:nvPr/>
        </p:nvGrpSpPr>
        <p:grpSpPr>
          <a:xfrm rot="0">
            <a:off x="960120" y="7639812"/>
            <a:ext cx="5143500" cy="329184"/>
            <a:chOff x="0" y="0"/>
            <a:chExt cx="6858000" cy="438912"/>
          </a:xfrm>
        </p:grpSpPr>
        <p:sp>
          <p:nvSpPr>
            <p:cNvPr name="Freeform 23" id="23"/>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24" id="24"/>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9AA3B8"/>
                  </a:solidFill>
                  <a:latin typeface="Arimo"/>
                  <a:ea typeface="Arimo"/>
                  <a:cs typeface="Arimo"/>
                  <a:sym typeface="Arimo"/>
                </a:rPr>
                <a:t>GV</a:t>
              </a:r>
            </a:p>
          </p:txBody>
        </p:sp>
      </p:grpSp>
      <p:grpSp>
        <p:nvGrpSpPr>
          <p:cNvPr name="Group 25" id="25"/>
          <p:cNvGrpSpPr/>
          <p:nvPr/>
        </p:nvGrpSpPr>
        <p:grpSpPr>
          <a:xfrm rot="0">
            <a:off x="6533007" y="7122795"/>
            <a:ext cx="5162550" cy="910590"/>
            <a:chOff x="0" y="0"/>
            <a:chExt cx="6883400" cy="1214120"/>
          </a:xfrm>
        </p:grpSpPr>
        <p:sp>
          <p:nvSpPr>
            <p:cNvPr name="Freeform 26" id="26"/>
            <p:cNvSpPr/>
            <p:nvPr/>
          </p:nvSpPr>
          <p:spPr>
            <a:xfrm flipH="false" flipV="false" rot="0">
              <a:off x="0" y="0"/>
              <a:ext cx="6883400" cy="1214120"/>
            </a:xfrm>
            <a:custGeom>
              <a:avLst/>
              <a:gdLst/>
              <a:ahLst/>
              <a:cxnLst/>
              <a:rect r="r" b="b" t="t" l="l"/>
              <a:pathLst>
                <a:path h="1214120" w="6883400">
                  <a:moveTo>
                    <a:pt x="0" y="168148"/>
                  </a:moveTo>
                  <a:cubicBezTo>
                    <a:pt x="0" y="75311"/>
                    <a:pt x="75311" y="0"/>
                    <a:pt x="168148" y="0"/>
                  </a:cubicBezTo>
                  <a:lnTo>
                    <a:pt x="6715252" y="0"/>
                  </a:lnTo>
                  <a:cubicBezTo>
                    <a:pt x="6808089" y="0"/>
                    <a:pt x="6883400" y="75311"/>
                    <a:pt x="6883400" y="168148"/>
                  </a:cubicBezTo>
                  <a:lnTo>
                    <a:pt x="6883400" y="1045972"/>
                  </a:lnTo>
                  <a:cubicBezTo>
                    <a:pt x="6883400" y="1138809"/>
                    <a:pt x="6808089" y="1214120"/>
                    <a:pt x="6715252" y="1214120"/>
                  </a:cubicBezTo>
                  <a:lnTo>
                    <a:pt x="168148" y="1214120"/>
                  </a:lnTo>
                  <a:cubicBezTo>
                    <a:pt x="75311" y="1214120"/>
                    <a:pt x="0" y="1138809"/>
                    <a:pt x="0" y="1045972"/>
                  </a:cubicBezTo>
                  <a:close/>
                </a:path>
              </a:pathLst>
            </a:custGeom>
            <a:solidFill>
              <a:srgbClr val="F4F7FC"/>
            </a:solidFill>
            <a:ln w="19050" cap="sq">
              <a:solidFill>
                <a:srgbClr val="D7DCEC"/>
              </a:solidFill>
              <a:prstDash val="solid"/>
              <a:miter/>
            </a:ln>
          </p:spPr>
        </p:sp>
      </p:grpSp>
      <p:grpSp>
        <p:nvGrpSpPr>
          <p:cNvPr name="Group 27" id="27"/>
          <p:cNvGrpSpPr/>
          <p:nvPr/>
        </p:nvGrpSpPr>
        <p:grpSpPr>
          <a:xfrm rot="0">
            <a:off x="6542532" y="7200900"/>
            <a:ext cx="5143500" cy="589788"/>
            <a:chOff x="0" y="0"/>
            <a:chExt cx="6858000" cy="786384"/>
          </a:xfrm>
        </p:grpSpPr>
        <p:sp>
          <p:nvSpPr>
            <p:cNvPr name="Freeform 28" id="28"/>
            <p:cNvSpPr/>
            <p:nvPr/>
          </p:nvSpPr>
          <p:spPr>
            <a:xfrm flipH="false" flipV="false" rot="0">
              <a:off x="0" y="0"/>
              <a:ext cx="6858000" cy="786384"/>
            </a:xfrm>
            <a:custGeom>
              <a:avLst/>
              <a:gdLst/>
              <a:ahLst/>
              <a:cxnLst/>
              <a:rect r="r" b="b" t="t" l="l"/>
              <a:pathLst>
                <a:path h="786384" w="6858000">
                  <a:moveTo>
                    <a:pt x="0" y="0"/>
                  </a:moveTo>
                  <a:lnTo>
                    <a:pt x="6858000" y="0"/>
                  </a:lnTo>
                  <a:lnTo>
                    <a:pt x="6858000" y="786384"/>
                  </a:lnTo>
                  <a:lnTo>
                    <a:pt x="0" y="786384"/>
                  </a:lnTo>
                  <a:close/>
                </a:path>
              </a:pathLst>
            </a:custGeom>
            <a:blipFill>
              <a:blip r:embed="rId2">
                <a:alphaModFix amt="0"/>
              </a:blip>
              <a:stretch>
                <a:fillRect l="0" t="-119927" r="0" b="-119927"/>
              </a:stretch>
            </a:blipFill>
          </p:spPr>
        </p:sp>
        <p:sp>
          <p:nvSpPr>
            <p:cNvPr name="TextBox 29" id="29"/>
            <p:cNvSpPr txBox="true"/>
            <p:nvPr/>
          </p:nvSpPr>
          <p:spPr>
            <a:xfrm>
              <a:off x="0" y="-38100"/>
              <a:ext cx="6858000" cy="824484"/>
            </a:xfrm>
            <a:prstGeom prst="rect">
              <a:avLst/>
            </a:prstGeom>
          </p:spPr>
          <p:txBody>
            <a:bodyPr anchor="ctr" rtlCol="false" tIns="0" lIns="0" bIns="0" rIns="0"/>
            <a:lstStyle/>
            <a:p>
              <a:pPr algn="ctr">
                <a:lnSpc>
                  <a:spcPts val="2430"/>
                </a:lnSpc>
              </a:pPr>
              <a:r>
                <a:rPr lang="en-US" sz="2025">
                  <a:solidFill>
                    <a:srgbClr val="6B7280"/>
                  </a:solidFill>
                  <a:latin typeface="Calibri (MS)"/>
                  <a:ea typeface="Calibri (MS)"/>
                  <a:cs typeface="Calibri (MS)"/>
                  <a:sym typeface="Calibri (MS)"/>
                </a:rPr>
                <a:t>Identify</a:t>
              </a:r>
            </a:p>
          </p:txBody>
        </p:sp>
      </p:grpSp>
      <p:grpSp>
        <p:nvGrpSpPr>
          <p:cNvPr name="Group 30" id="30"/>
          <p:cNvGrpSpPr/>
          <p:nvPr/>
        </p:nvGrpSpPr>
        <p:grpSpPr>
          <a:xfrm rot="0">
            <a:off x="6542532" y="7639812"/>
            <a:ext cx="5143500" cy="329184"/>
            <a:chOff x="0" y="0"/>
            <a:chExt cx="6858000" cy="438912"/>
          </a:xfrm>
        </p:grpSpPr>
        <p:sp>
          <p:nvSpPr>
            <p:cNvPr name="Freeform 31" id="31"/>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32" id="32"/>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9AA3B8"/>
                  </a:solidFill>
                  <a:latin typeface="Arimo"/>
                  <a:ea typeface="Arimo"/>
                  <a:cs typeface="Arimo"/>
                  <a:sym typeface="Arimo"/>
                </a:rPr>
                <a:t>ID</a:t>
              </a:r>
            </a:p>
          </p:txBody>
        </p:sp>
      </p:grpSp>
      <p:grpSp>
        <p:nvGrpSpPr>
          <p:cNvPr name="Group 33" id="33"/>
          <p:cNvGrpSpPr/>
          <p:nvPr/>
        </p:nvGrpSpPr>
        <p:grpSpPr>
          <a:xfrm rot="0">
            <a:off x="12115419" y="7122795"/>
            <a:ext cx="5162550" cy="910590"/>
            <a:chOff x="0" y="0"/>
            <a:chExt cx="6883400" cy="1214120"/>
          </a:xfrm>
        </p:grpSpPr>
        <p:sp>
          <p:nvSpPr>
            <p:cNvPr name="Freeform 34" id="34"/>
            <p:cNvSpPr/>
            <p:nvPr/>
          </p:nvSpPr>
          <p:spPr>
            <a:xfrm flipH="false" flipV="false" rot="0">
              <a:off x="0" y="0"/>
              <a:ext cx="6883400" cy="1214120"/>
            </a:xfrm>
            <a:custGeom>
              <a:avLst/>
              <a:gdLst/>
              <a:ahLst/>
              <a:cxnLst/>
              <a:rect r="r" b="b" t="t" l="l"/>
              <a:pathLst>
                <a:path h="1214120" w="6883400">
                  <a:moveTo>
                    <a:pt x="0" y="168148"/>
                  </a:moveTo>
                  <a:cubicBezTo>
                    <a:pt x="0" y="75311"/>
                    <a:pt x="75311" y="0"/>
                    <a:pt x="168148" y="0"/>
                  </a:cubicBezTo>
                  <a:lnTo>
                    <a:pt x="6715252" y="0"/>
                  </a:lnTo>
                  <a:cubicBezTo>
                    <a:pt x="6808089" y="0"/>
                    <a:pt x="6883400" y="75311"/>
                    <a:pt x="6883400" y="168148"/>
                  </a:cubicBezTo>
                  <a:lnTo>
                    <a:pt x="6883400" y="1045972"/>
                  </a:lnTo>
                  <a:cubicBezTo>
                    <a:pt x="6883400" y="1138809"/>
                    <a:pt x="6808089" y="1214120"/>
                    <a:pt x="6715252" y="1214120"/>
                  </a:cubicBezTo>
                  <a:lnTo>
                    <a:pt x="168148" y="1214120"/>
                  </a:lnTo>
                  <a:cubicBezTo>
                    <a:pt x="75311" y="1214120"/>
                    <a:pt x="0" y="1138809"/>
                    <a:pt x="0" y="1045972"/>
                  </a:cubicBezTo>
                  <a:close/>
                </a:path>
              </a:pathLst>
            </a:custGeom>
            <a:solidFill>
              <a:srgbClr val="F4F7FC"/>
            </a:solidFill>
            <a:ln w="19050" cap="sq">
              <a:solidFill>
                <a:srgbClr val="D7DCEC"/>
              </a:solidFill>
              <a:prstDash val="solid"/>
              <a:miter/>
            </a:ln>
          </p:spPr>
        </p:sp>
      </p:grpSp>
      <p:grpSp>
        <p:nvGrpSpPr>
          <p:cNvPr name="Group 35" id="35"/>
          <p:cNvGrpSpPr/>
          <p:nvPr/>
        </p:nvGrpSpPr>
        <p:grpSpPr>
          <a:xfrm rot="0">
            <a:off x="12124944" y="7200900"/>
            <a:ext cx="5143500" cy="589788"/>
            <a:chOff x="0" y="0"/>
            <a:chExt cx="6858000" cy="786384"/>
          </a:xfrm>
        </p:grpSpPr>
        <p:sp>
          <p:nvSpPr>
            <p:cNvPr name="Freeform 36" id="36"/>
            <p:cNvSpPr/>
            <p:nvPr/>
          </p:nvSpPr>
          <p:spPr>
            <a:xfrm flipH="false" flipV="false" rot="0">
              <a:off x="0" y="0"/>
              <a:ext cx="6858000" cy="786384"/>
            </a:xfrm>
            <a:custGeom>
              <a:avLst/>
              <a:gdLst/>
              <a:ahLst/>
              <a:cxnLst/>
              <a:rect r="r" b="b" t="t" l="l"/>
              <a:pathLst>
                <a:path h="786384" w="6858000">
                  <a:moveTo>
                    <a:pt x="0" y="0"/>
                  </a:moveTo>
                  <a:lnTo>
                    <a:pt x="6858000" y="0"/>
                  </a:lnTo>
                  <a:lnTo>
                    <a:pt x="6858000" y="786384"/>
                  </a:lnTo>
                  <a:lnTo>
                    <a:pt x="0" y="786384"/>
                  </a:lnTo>
                  <a:close/>
                </a:path>
              </a:pathLst>
            </a:custGeom>
            <a:blipFill>
              <a:blip r:embed="rId2">
                <a:alphaModFix amt="0"/>
              </a:blip>
              <a:stretch>
                <a:fillRect l="0" t="-119927" r="0" b="-119927"/>
              </a:stretch>
            </a:blipFill>
          </p:spPr>
        </p:sp>
        <p:sp>
          <p:nvSpPr>
            <p:cNvPr name="TextBox 37" id="37"/>
            <p:cNvSpPr txBox="true"/>
            <p:nvPr/>
          </p:nvSpPr>
          <p:spPr>
            <a:xfrm>
              <a:off x="0" y="-38100"/>
              <a:ext cx="6858000" cy="824484"/>
            </a:xfrm>
            <a:prstGeom prst="rect">
              <a:avLst/>
            </a:prstGeom>
          </p:spPr>
          <p:txBody>
            <a:bodyPr anchor="ctr" rtlCol="false" tIns="0" lIns="0" bIns="0" rIns="0"/>
            <a:lstStyle/>
            <a:p>
              <a:pPr algn="ctr">
                <a:lnSpc>
                  <a:spcPts val="2430"/>
                </a:lnSpc>
              </a:pPr>
              <a:r>
                <a:rPr lang="en-US" sz="2025">
                  <a:solidFill>
                    <a:srgbClr val="6B7280"/>
                  </a:solidFill>
                  <a:latin typeface="Calibri (MS)"/>
                  <a:ea typeface="Calibri (MS)"/>
                  <a:cs typeface="Calibri (MS)"/>
                  <a:sym typeface="Calibri (MS)"/>
                </a:rPr>
                <a:t>Protect</a:t>
              </a:r>
            </a:p>
          </p:txBody>
        </p:sp>
      </p:grpSp>
      <p:grpSp>
        <p:nvGrpSpPr>
          <p:cNvPr name="Group 38" id="38"/>
          <p:cNvGrpSpPr/>
          <p:nvPr/>
        </p:nvGrpSpPr>
        <p:grpSpPr>
          <a:xfrm rot="0">
            <a:off x="12124944" y="7639812"/>
            <a:ext cx="5143500" cy="329184"/>
            <a:chOff x="0" y="0"/>
            <a:chExt cx="6858000" cy="438912"/>
          </a:xfrm>
        </p:grpSpPr>
        <p:sp>
          <p:nvSpPr>
            <p:cNvPr name="Freeform 39" id="39"/>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40" id="40"/>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9AA3B8"/>
                  </a:solidFill>
                  <a:latin typeface="Arimo"/>
                  <a:ea typeface="Arimo"/>
                  <a:cs typeface="Arimo"/>
                  <a:sym typeface="Arimo"/>
                </a:rPr>
                <a:t>PR</a:t>
              </a:r>
            </a:p>
          </p:txBody>
        </p:sp>
      </p:grpSp>
      <p:grpSp>
        <p:nvGrpSpPr>
          <p:cNvPr name="Group 41" id="41"/>
          <p:cNvGrpSpPr/>
          <p:nvPr/>
        </p:nvGrpSpPr>
        <p:grpSpPr>
          <a:xfrm rot="0">
            <a:off x="950595" y="8288655"/>
            <a:ext cx="5162550" cy="910590"/>
            <a:chOff x="0" y="0"/>
            <a:chExt cx="6883400" cy="1214120"/>
          </a:xfrm>
        </p:grpSpPr>
        <p:sp>
          <p:nvSpPr>
            <p:cNvPr name="Freeform 42" id="42"/>
            <p:cNvSpPr/>
            <p:nvPr/>
          </p:nvSpPr>
          <p:spPr>
            <a:xfrm flipH="false" flipV="false" rot="0">
              <a:off x="0" y="0"/>
              <a:ext cx="6883400" cy="1214120"/>
            </a:xfrm>
            <a:custGeom>
              <a:avLst/>
              <a:gdLst/>
              <a:ahLst/>
              <a:cxnLst/>
              <a:rect r="r" b="b" t="t" l="l"/>
              <a:pathLst>
                <a:path h="1214120" w="6883400">
                  <a:moveTo>
                    <a:pt x="0" y="168148"/>
                  </a:moveTo>
                  <a:cubicBezTo>
                    <a:pt x="0" y="75311"/>
                    <a:pt x="75311" y="0"/>
                    <a:pt x="168148" y="0"/>
                  </a:cubicBezTo>
                  <a:lnTo>
                    <a:pt x="6715252" y="0"/>
                  </a:lnTo>
                  <a:cubicBezTo>
                    <a:pt x="6808089" y="0"/>
                    <a:pt x="6883400" y="75311"/>
                    <a:pt x="6883400" y="168148"/>
                  </a:cubicBezTo>
                  <a:lnTo>
                    <a:pt x="6883400" y="1045972"/>
                  </a:lnTo>
                  <a:cubicBezTo>
                    <a:pt x="6883400" y="1138809"/>
                    <a:pt x="6808089" y="1214120"/>
                    <a:pt x="6715252" y="1214120"/>
                  </a:cubicBezTo>
                  <a:lnTo>
                    <a:pt x="168148" y="1214120"/>
                  </a:lnTo>
                  <a:cubicBezTo>
                    <a:pt x="75311" y="1214120"/>
                    <a:pt x="0" y="1138809"/>
                    <a:pt x="0" y="1045972"/>
                  </a:cubicBezTo>
                  <a:close/>
                </a:path>
              </a:pathLst>
            </a:custGeom>
            <a:solidFill>
              <a:srgbClr val="F4F7FC"/>
            </a:solidFill>
            <a:ln w="19050" cap="sq">
              <a:solidFill>
                <a:srgbClr val="D7DCEC"/>
              </a:solidFill>
              <a:prstDash val="solid"/>
              <a:miter/>
            </a:ln>
          </p:spPr>
        </p:sp>
      </p:grpSp>
      <p:grpSp>
        <p:nvGrpSpPr>
          <p:cNvPr name="Group 43" id="43"/>
          <p:cNvGrpSpPr/>
          <p:nvPr/>
        </p:nvGrpSpPr>
        <p:grpSpPr>
          <a:xfrm rot="0">
            <a:off x="960120" y="8366760"/>
            <a:ext cx="5143500" cy="589788"/>
            <a:chOff x="0" y="0"/>
            <a:chExt cx="6858000" cy="786384"/>
          </a:xfrm>
        </p:grpSpPr>
        <p:sp>
          <p:nvSpPr>
            <p:cNvPr name="Freeform 44" id="44"/>
            <p:cNvSpPr/>
            <p:nvPr/>
          </p:nvSpPr>
          <p:spPr>
            <a:xfrm flipH="false" flipV="false" rot="0">
              <a:off x="0" y="0"/>
              <a:ext cx="6858000" cy="786384"/>
            </a:xfrm>
            <a:custGeom>
              <a:avLst/>
              <a:gdLst/>
              <a:ahLst/>
              <a:cxnLst/>
              <a:rect r="r" b="b" t="t" l="l"/>
              <a:pathLst>
                <a:path h="786384" w="6858000">
                  <a:moveTo>
                    <a:pt x="0" y="0"/>
                  </a:moveTo>
                  <a:lnTo>
                    <a:pt x="6858000" y="0"/>
                  </a:lnTo>
                  <a:lnTo>
                    <a:pt x="6858000" y="786384"/>
                  </a:lnTo>
                  <a:lnTo>
                    <a:pt x="0" y="786384"/>
                  </a:lnTo>
                  <a:close/>
                </a:path>
              </a:pathLst>
            </a:custGeom>
            <a:blipFill>
              <a:blip r:embed="rId2">
                <a:alphaModFix amt="0"/>
              </a:blip>
              <a:stretch>
                <a:fillRect l="0" t="-119927" r="0" b="-119927"/>
              </a:stretch>
            </a:blipFill>
          </p:spPr>
        </p:sp>
        <p:sp>
          <p:nvSpPr>
            <p:cNvPr name="TextBox 45" id="45"/>
            <p:cNvSpPr txBox="true"/>
            <p:nvPr/>
          </p:nvSpPr>
          <p:spPr>
            <a:xfrm>
              <a:off x="0" y="-38100"/>
              <a:ext cx="6858000" cy="824484"/>
            </a:xfrm>
            <a:prstGeom prst="rect">
              <a:avLst/>
            </a:prstGeom>
          </p:spPr>
          <p:txBody>
            <a:bodyPr anchor="ctr" rtlCol="false" tIns="0" lIns="0" bIns="0" rIns="0"/>
            <a:lstStyle/>
            <a:p>
              <a:pPr algn="ctr">
                <a:lnSpc>
                  <a:spcPts val="2430"/>
                </a:lnSpc>
              </a:pPr>
              <a:r>
                <a:rPr lang="en-US" sz="2025">
                  <a:solidFill>
                    <a:srgbClr val="6B7280"/>
                  </a:solidFill>
                  <a:latin typeface="Calibri (MS)"/>
                  <a:ea typeface="Calibri (MS)"/>
                  <a:cs typeface="Calibri (MS)"/>
                  <a:sym typeface="Calibri (MS)"/>
                </a:rPr>
                <a:t>Detect</a:t>
              </a:r>
            </a:p>
          </p:txBody>
        </p:sp>
      </p:grpSp>
      <p:grpSp>
        <p:nvGrpSpPr>
          <p:cNvPr name="Group 46" id="46"/>
          <p:cNvGrpSpPr/>
          <p:nvPr/>
        </p:nvGrpSpPr>
        <p:grpSpPr>
          <a:xfrm rot="0">
            <a:off x="960120" y="8805672"/>
            <a:ext cx="5143500" cy="329184"/>
            <a:chOff x="0" y="0"/>
            <a:chExt cx="6858000" cy="438912"/>
          </a:xfrm>
        </p:grpSpPr>
        <p:sp>
          <p:nvSpPr>
            <p:cNvPr name="Freeform 47" id="47"/>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48" id="48"/>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9AA3B8"/>
                  </a:solidFill>
                  <a:latin typeface="Arimo"/>
                  <a:ea typeface="Arimo"/>
                  <a:cs typeface="Arimo"/>
                  <a:sym typeface="Arimo"/>
                </a:rPr>
                <a:t>DE</a:t>
              </a:r>
            </a:p>
          </p:txBody>
        </p:sp>
      </p:grpSp>
      <p:grpSp>
        <p:nvGrpSpPr>
          <p:cNvPr name="Group 49" id="49"/>
          <p:cNvGrpSpPr/>
          <p:nvPr/>
        </p:nvGrpSpPr>
        <p:grpSpPr>
          <a:xfrm rot="0">
            <a:off x="6533007" y="8288655"/>
            <a:ext cx="5162550" cy="910590"/>
            <a:chOff x="0" y="0"/>
            <a:chExt cx="6883400" cy="1214120"/>
          </a:xfrm>
        </p:grpSpPr>
        <p:sp>
          <p:nvSpPr>
            <p:cNvPr name="Freeform 50" id="50"/>
            <p:cNvSpPr/>
            <p:nvPr/>
          </p:nvSpPr>
          <p:spPr>
            <a:xfrm flipH="false" flipV="false" rot="0">
              <a:off x="0" y="0"/>
              <a:ext cx="6883400" cy="1214120"/>
            </a:xfrm>
            <a:custGeom>
              <a:avLst/>
              <a:gdLst/>
              <a:ahLst/>
              <a:cxnLst/>
              <a:rect r="r" b="b" t="t" l="l"/>
              <a:pathLst>
                <a:path h="1214120" w="6883400">
                  <a:moveTo>
                    <a:pt x="0" y="168148"/>
                  </a:moveTo>
                  <a:cubicBezTo>
                    <a:pt x="0" y="75311"/>
                    <a:pt x="75311" y="0"/>
                    <a:pt x="168148" y="0"/>
                  </a:cubicBezTo>
                  <a:lnTo>
                    <a:pt x="6715252" y="0"/>
                  </a:lnTo>
                  <a:cubicBezTo>
                    <a:pt x="6808089" y="0"/>
                    <a:pt x="6883400" y="75311"/>
                    <a:pt x="6883400" y="168148"/>
                  </a:cubicBezTo>
                  <a:lnTo>
                    <a:pt x="6883400" y="1045972"/>
                  </a:lnTo>
                  <a:cubicBezTo>
                    <a:pt x="6883400" y="1138809"/>
                    <a:pt x="6808089" y="1214120"/>
                    <a:pt x="6715252" y="1214120"/>
                  </a:cubicBezTo>
                  <a:lnTo>
                    <a:pt x="168148" y="1214120"/>
                  </a:lnTo>
                  <a:cubicBezTo>
                    <a:pt x="75311" y="1214120"/>
                    <a:pt x="0" y="1138809"/>
                    <a:pt x="0" y="1045972"/>
                  </a:cubicBezTo>
                  <a:close/>
                </a:path>
              </a:pathLst>
            </a:custGeom>
            <a:solidFill>
              <a:srgbClr val="F4F7FC"/>
            </a:solidFill>
            <a:ln w="19050" cap="sq">
              <a:solidFill>
                <a:srgbClr val="D7DCEC"/>
              </a:solidFill>
              <a:prstDash val="solid"/>
              <a:miter/>
            </a:ln>
          </p:spPr>
        </p:sp>
      </p:grpSp>
      <p:grpSp>
        <p:nvGrpSpPr>
          <p:cNvPr name="Group 51" id="51"/>
          <p:cNvGrpSpPr/>
          <p:nvPr/>
        </p:nvGrpSpPr>
        <p:grpSpPr>
          <a:xfrm rot="0">
            <a:off x="6542532" y="8366760"/>
            <a:ext cx="5143500" cy="589788"/>
            <a:chOff x="0" y="0"/>
            <a:chExt cx="6858000" cy="786384"/>
          </a:xfrm>
        </p:grpSpPr>
        <p:sp>
          <p:nvSpPr>
            <p:cNvPr name="Freeform 52" id="52"/>
            <p:cNvSpPr/>
            <p:nvPr/>
          </p:nvSpPr>
          <p:spPr>
            <a:xfrm flipH="false" flipV="false" rot="0">
              <a:off x="0" y="0"/>
              <a:ext cx="6858000" cy="786384"/>
            </a:xfrm>
            <a:custGeom>
              <a:avLst/>
              <a:gdLst/>
              <a:ahLst/>
              <a:cxnLst/>
              <a:rect r="r" b="b" t="t" l="l"/>
              <a:pathLst>
                <a:path h="786384" w="6858000">
                  <a:moveTo>
                    <a:pt x="0" y="0"/>
                  </a:moveTo>
                  <a:lnTo>
                    <a:pt x="6858000" y="0"/>
                  </a:lnTo>
                  <a:lnTo>
                    <a:pt x="6858000" y="786384"/>
                  </a:lnTo>
                  <a:lnTo>
                    <a:pt x="0" y="786384"/>
                  </a:lnTo>
                  <a:close/>
                </a:path>
              </a:pathLst>
            </a:custGeom>
            <a:blipFill>
              <a:blip r:embed="rId2">
                <a:alphaModFix amt="0"/>
              </a:blip>
              <a:stretch>
                <a:fillRect l="0" t="-119927" r="0" b="-119927"/>
              </a:stretch>
            </a:blipFill>
          </p:spPr>
        </p:sp>
        <p:sp>
          <p:nvSpPr>
            <p:cNvPr name="TextBox 53" id="53"/>
            <p:cNvSpPr txBox="true"/>
            <p:nvPr/>
          </p:nvSpPr>
          <p:spPr>
            <a:xfrm>
              <a:off x="0" y="-38100"/>
              <a:ext cx="6858000" cy="824484"/>
            </a:xfrm>
            <a:prstGeom prst="rect">
              <a:avLst/>
            </a:prstGeom>
          </p:spPr>
          <p:txBody>
            <a:bodyPr anchor="ctr" rtlCol="false" tIns="0" lIns="0" bIns="0" rIns="0"/>
            <a:lstStyle/>
            <a:p>
              <a:pPr algn="ctr">
                <a:lnSpc>
                  <a:spcPts val="2430"/>
                </a:lnSpc>
              </a:pPr>
              <a:r>
                <a:rPr lang="en-US" sz="2025">
                  <a:solidFill>
                    <a:srgbClr val="6B7280"/>
                  </a:solidFill>
                  <a:latin typeface="Calibri (MS)"/>
                  <a:ea typeface="Calibri (MS)"/>
                  <a:cs typeface="Calibri (MS)"/>
                  <a:sym typeface="Calibri (MS)"/>
                </a:rPr>
                <a:t>Respond</a:t>
              </a:r>
            </a:p>
          </p:txBody>
        </p:sp>
      </p:grpSp>
      <p:grpSp>
        <p:nvGrpSpPr>
          <p:cNvPr name="Group 54" id="54"/>
          <p:cNvGrpSpPr/>
          <p:nvPr/>
        </p:nvGrpSpPr>
        <p:grpSpPr>
          <a:xfrm rot="0">
            <a:off x="6542532" y="8805672"/>
            <a:ext cx="5143500" cy="329184"/>
            <a:chOff x="0" y="0"/>
            <a:chExt cx="6858000" cy="438912"/>
          </a:xfrm>
        </p:grpSpPr>
        <p:sp>
          <p:nvSpPr>
            <p:cNvPr name="Freeform 55" id="55"/>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56" id="56"/>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9AA3B8"/>
                  </a:solidFill>
                  <a:latin typeface="Arimo"/>
                  <a:ea typeface="Arimo"/>
                  <a:cs typeface="Arimo"/>
                  <a:sym typeface="Arimo"/>
                </a:rPr>
                <a:t>RS</a:t>
              </a:r>
            </a:p>
          </p:txBody>
        </p:sp>
      </p:grpSp>
      <p:grpSp>
        <p:nvGrpSpPr>
          <p:cNvPr name="Group 57" id="57"/>
          <p:cNvGrpSpPr/>
          <p:nvPr/>
        </p:nvGrpSpPr>
        <p:grpSpPr>
          <a:xfrm rot="0">
            <a:off x="12115419" y="8288655"/>
            <a:ext cx="5162550" cy="910590"/>
            <a:chOff x="0" y="0"/>
            <a:chExt cx="6883400" cy="1214120"/>
          </a:xfrm>
        </p:grpSpPr>
        <p:sp>
          <p:nvSpPr>
            <p:cNvPr name="Freeform 58" id="58"/>
            <p:cNvSpPr/>
            <p:nvPr/>
          </p:nvSpPr>
          <p:spPr>
            <a:xfrm flipH="false" flipV="false" rot="0">
              <a:off x="0" y="0"/>
              <a:ext cx="6883400" cy="1214120"/>
            </a:xfrm>
            <a:custGeom>
              <a:avLst/>
              <a:gdLst/>
              <a:ahLst/>
              <a:cxnLst/>
              <a:rect r="r" b="b" t="t" l="l"/>
              <a:pathLst>
                <a:path h="1214120" w="6883400">
                  <a:moveTo>
                    <a:pt x="0" y="168148"/>
                  </a:moveTo>
                  <a:cubicBezTo>
                    <a:pt x="0" y="75311"/>
                    <a:pt x="75311" y="0"/>
                    <a:pt x="168148" y="0"/>
                  </a:cubicBezTo>
                  <a:lnTo>
                    <a:pt x="6715252" y="0"/>
                  </a:lnTo>
                  <a:cubicBezTo>
                    <a:pt x="6808089" y="0"/>
                    <a:pt x="6883400" y="75311"/>
                    <a:pt x="6883400" y="168148"/>
                  </a:cubicBezTo>
                  <a:lnTo>
                    <a:pt x="6883400" y="1045972"/>
                  </a:lnTo>
                  <a:cubicBezTo>
                    <a:pt x="6883400" y="1138809"/>
                    <a:pt x="6808089" y="1214120"/>
                    <a:pt x="6715252" y="1214120"/>
                  </a:cubicBezTo>
                  <a:lnTo>
                    <a:pt x="168148" y="1214120"/>
                  </a:lnTo>
                  <a:cubicBezTo>
                    <a:pt x="75311" y="1214120"/>
                    <a:pt x="0" y="1138809"/>
                    <a:pt x="0" y="1045972"/>
                  </a:cubicBezTo>
                  <a:close/>
                </a:path>
              </a:pathLst>
            </a:custGeom>
            <a:solidFill>
              <a:srgbClr val="F4F7FC"/>
            </a:solidFill>
            <a:ln w="19050" cap="sq">
              <a:solidFill>
                <a:srgbClr val="D7DCEC"/>
              </a:solidFill>
              <a:prstDash val="solid"/>
              <a:miter/>
            </a:ln>
          </p:spPr>
        </p:sp>
      </p:grpSp>
      <p:grpSp>
        <p:nvGrpSpPr>
          <p:cNvPr name="Group 59" id="59"/>
          <p:cNvGrpSpPr/>
          <p:nvPr/>
        </p:nvGrpSpPr>
        <p:grpSpPr>
          <a:xfrm rot="0">
            <a:off x="12124944" y="8366760"/>
            <a:ext cx="5143500" cy="589788"/>
            <a:chOff x="0" y="0"/>
            <a:chExt cx="6858000" cy="786384"/>
          </a:xfrm>
        </p:grpSpPr>
        <p:sp>
          <p:nvSpPr>
            <p:cNvPr name="Freeform 60" id="60"/>
            <p:cNvSpPr/>
            <p:nvPr/>
          </p:nvSpPr>
          <p:spPr>
            <a:xfrm flipH="false" flipV="false" rot="0">
              <a:off x="0" y="0"/>
              <a:ext cx="6858000" cy="786384"/>
            </a:xfrm>
            <a:custGeom>
              <a:avLst/>
              <a:gdLst/>
              <a:ahLst/>
              <a:cxnLst/>
              <a:rect r="r" b="b" t="t" l="l"/>
              <a:pathLst>
                <a:path h="786384" w="6858000">
                  <a:moveTo>
                    <a:pt x="0" y="0"/>
                  </a:moveTo>
                  <a:lnTo>
                    <a:pt x="6858000" y="0"/>
                  </a:lnTo>
                  <a:lnTo>
                    <a:pt x="6858000" y="786384"/>
                  </a:lnTo>
                  <a:lnTo>
                    <a:pt x="0" y="786384"/>
                  </a:lnTo>
                  <a:close/>
                </a:path>
              </a:pathLst>
            </a:custGeom>
            <a:blipFill>
              <a:blip r:embed="rId2">
                <a:alphaModFix amt="0"/>
              </a:blip>
              <a:stretch>
                <a:fillRect l="0" t="-119927" r="0" b="-119927"/>
              </a:stretch>
            </a:blipFill>
          </p:spPr>
        </p:sp>
        <p:sp>
          <p:nvSpPr>
            <p:cNvPr name="TextBox 61" id="61"/>
            <p:cNvSpPr txBox="true"/>
            <p:nvPr/>
          </p:nvSpPr>
          <p:spPr>
            <a:xfrm>
              <a:off x="0" y="-38100"/>
              <a:ext cx="6858000" cy="824484"/>
            </a:xfrm>
            <a:prstGeom prst="rect">
              <a:avLst/>
            </a:prstGeom>
          </p:spPr>
          <p:txBody>
            <a:bodyPr anchor="ctr" rtlCol="false" tIns="0" lIns="0" bIns="0" rIns="0"/>
            <a:lstStyle/>
            <a:p>
              <a:pPr algn="ctr">
                <a:lnSpc>
                  <a:spcPts val="2430"/>
                </a:lnSpc>
              </a:pPr>
              <a:r>
                <a:rPr lang="en-US" sz="2025">
                  <a:solidFill>
                    <a:srgbClr val="6B7280"/>
                  </a:solidFill>
                  <a:latin typeface="Calibri (MS)"/>
                  <a:ea typeface="Calibri (MS)"/>
                  <a:cs typeface="Calibri (MS)"/>
                  <a:sym typeface="Calibri (MS)"/>
                </a:rPr>
                <a:t>Recover</a:t>
              </a:r>
            </a:p>
          </p:txBody>
        </p:sp>
      </p:grpSp>
      <p:grpSp>
        <p:nvGrpSpPr>
          <p:cNvPr name="Group 62" id="62"/>
          <p:cNvGrpSpPr/>
          <p:nvPr/>
        </p:nvGrpSpPr>
        <p:grpSpPr>
          <a:xfrm rot="0">
            <a:off x="12124944" y="8805672"/>
            <a:ext cx="5143500" cy="329184"/>
            <a:chOff x="0" y="0"/>
            <a:chExt cx="6858000" cy="438912"/>
          </a:xfrm>
        </p:grpSpPr>
        <p:sp>
          <p:nvSpPr>
            <p:cNvPr name="Freeform 63" id="63"/>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64" id="64"/>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9AA3B8"/>
                  </a:solidFill>
                  <a:latin typeface="Arimo"/>
                  <a:ea typeface="Arimo"/>
                  <a:cs typeface="Arimo"/>
                  <a:sym typeface="Arimo"/>
                </a:rPr>
                <a:t>RC</a:t>
              </a:r>
            </a:p>
          </p:txBody>
        </p:sp>
      </p:grpSp>
      <p:grpSp>
        <p:nvGrpSpPr>
          <p:cNvPr name="Group 65" id="65"/>
          <p:cNvGrpSpPr/>
          <p:nvPr/>
        </p:nvGrpSpPr>
        <p:grpSpPr>
          <a:xfrm rot="0">
            <a:off x="685800" y="9710928"/>
            <a:ext cx="10972800" cy="411480"/>
            <a:chOff x="0" y="0"/>
            <a:chExt cx="14630400" cy="548640"/>
          </a:xfrm>
        </p:grpSpPr>
        <p:sp>
          <p:nvSpPr>
            <p:cNvPr name="Freeform 66" id="66"/>
            <p:cNvSpPr/>
            <p:nvPr/>
          </p:nvSpPr>
          <p:spPr>
            <a:xfrm flipH="false" flipV="false" rot="0">
              <a:off x="0" y="0"/>
              <a:ext cx="14630400" cy="548640"/>
            </a:xfrm>
            <a:custGeom>
              <a:avLst/>
              <a:gdLst/>
              <a:ahLst/>
              <a:cxnLst/>
              <a:rect r="r" b="b" t="t" l="l"/>
              <a:pathLst>
                <a:path h="548640" w="14630400">
                  <a:moveTo>
                    <a:pt x="0" y="0"/>
                  </a:moveTo>
                  <a:lnTo>
                    <a:pt x="14630400" y="0"/>
                  </a:lnTo>
                  <a:lnTo>
                    <a:pt x="14630400" y="548640"/>
                  </a:lnTo>
                  <a:lnTo>
                    <a:pt x="0" y="548640"/>
                  </a:lnTo>
                  <a:close/>
                </a:path>
              </a:pathLst>
            </a:custGeom>
            <a:blipFill>
              <a:blip r:embed="rId2">
                <a:alphaModFix amt="0"/>
              </a:blip>
              <a:stretch>
                <a:fillRect l="0" t="-469601" r="0" b="-469601"/>
              </a:stretch>
            </a:blipFill>
          </p:spPr>
        </p:sp>
        <p:sp>
          <p:nvSpPr>
            <p:cNvPr name="TextBox 67" id="67"/>
            <p:cNvSpPr txBox="true"/>
            <p:nvPr/>
          </p:nvSpPr>
          <p:spPr>
            <a:xfrm>
              <a:off x="0" y="-38100"/>
              <a:ext cx="14630400" cy="586740"/>
            </a:xfrm>
            <a:prstGeom prst="rect">
              <a:avLst/>
            </a:prstGeom>
          </p:spPr>
          <p:txBody>
            <a:bodyPr anchor="ctr" rtlCol="false" tIns="0" lIns="0" bIns="0" rIns="0"/>
            <a:lstStyle/>
            <a:p>
              <a:pPr algn="l">
                <a:lnSpc>
                  <a:spcPts val="1800"/>
                </a:lnSpc>
              </a:pPr>
              <a:r>
                <a:rPr lang="en-US" sz="1500">
                  <a:solidFill>
                    <a:srgbClr val="6B7280"/>
                  </a:solidFill>
                  <a:latin typeface="Calibri (MS)"/>
                  <a:ea typeface="Calibri (MS)"/>
                  <a:cs typeface="Calibri (MS)"/>
                  <a:sym typeface="Calibri (MS)"/>
                </a:rPr>
                <a:t>Davao del Norte Provincial Government — Cybersecurity Seminar</a:t>
              </a:r>
            </a:p>
          </p:txBody>
        </p:sp>
      </p:grpSp>
      <p:grpSp>
        <p:nvGrpSpPr>
          <p:cNvPr name="Group 68" id="68"/>
          <p:cNvGrpSpPr/>
          <p:nvPr/>
        </p:nvGrpSpPr>
        <p:grpSpPr>
          <a:xfrm rot="0">
            <a:off x="16911828" y="9710928"/>
            <a:ext cx="685800" cy="411480"/>
            <a:chOff x="0" y="0"/>
            <a:chExt cx="914400" cy="548640"/>
          </a:xfrm>
        </p:grpSpPr>
        <p:sp>
          <p:nvSpPr>
            <p:cNvPr name="Freeform 69" id="69"/>
            <p:cNvSpPr/>
            <p:nvPr/>
          </p:nvSpPr>
          <p:spPr>
            <a:xfrm flipH="false" flipV="false" rot="0">
              <a:off x="0" y="0"/>
              <a:ext cx="914400" cy="548640"/>
            </a:xfrm>
            <a:custGeom>
              <a:avLst/>
              <a:gdLst/>
              <a:ahLst/>
              <a:cxnLst/>
              <a:rect r="r" b="b" t="t" l="l"/>
              <a:pathLst>
                <a:path h="548640" w="914400">
                  <a:moveTo>
                    <a:pt x="0" y="0"/>
                  </a:moveTo>
                  <a:lnTo>
                    <a:pt x="914400" y="0"/>
                  </a:lnTo>
                  <a:lnTo>
                    <a:pt x="914400" y="548640"/>
                  </a:lnTo>
                  <a:lnTo>
                    <a:pt x="0" y="548640"/>
                  </a:lnTo>
                  <a:close/>
                </a:path>
              </a:pathLst>
            </a:custGeom>
            <a:blipFill>
              <a:blip r:embed="rId2">
                <a:alphaModFix amt="0"/>
              </a:blip>
              <a:stretch>
                <a:fillRect l="-26982" t="0" r="-26982" b="0"/>
              </a:stretch>
            </a:blipFill>
          </p:spPr>
        </p:sp>
        <p:sp>
          <p:nvSpPr>
            <p:cNvPr name="TextBox 70" id="70"/>
            <p:cNvSpPr txBox="true"/>
            <p:nvPr/>
          </p:nvSpPr>
          <p:spPr>
            <a:xfrm>
              <a:off x="0" y="-38100"/>
              <a:ext cx="914400" cy="586740"/>
            </a:xfrm>
            <a:prstGeom prst="rect">
              <a:avLst/>
            </a:prstGeom>
          </p:spPr>
          <p:txBody>
            <a:bodyPr anchor="ctr" rtlCol="false" tIns="0" lIns="0" bIns="0" rIns="0"/>
            <a:lstStyle/>
            <a:p>
              <a:pPr algn="r">
                <a:lnSpc>
                  <a:spcPts val="1800"/>
                </a:lnSpc>
              </a:pPr>
              <a:r>
                <a:rPr lang="en-US" sz="1500">
                  <a:solidFill>
                    <a:srgbClr val="6B7280"/>
                  </a:solidFill>
                  <a:latin typeface="Calibri (MS)"/>
                  <a:ea typeface="Calibri (MS)"/>
                  <a:cs typeface="Calibri (MS)"/>
                  <a:sym typeface="Calibri (MS)"/>
                </a:rPr>
                <a:t>15</a:t>
              </a:r>
            </a:p>
          </p:txBody>
        </p:sp>
      </p:grpSp>
    </p:spTree>
  </p:cSld>
  <p:clrMapOvr>
    <a:masterClrMapping/>
  </p:clrMapOvr>
</p:sld>
</file>

<file path=ppt/slides/slide8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60120" y="685800"/>
            <a:ext cx="13716000" cy="411480"/>
            <a:chOff x="0" y="0"/>
            <a:chExt cx="18288000" cy="548640"/>
          </a:xfrm>
        </p:grpSpPr>
        <p:sp>
          <p:nvSpPr>
            <p:cNvPr name="Freeform 3" id="3"/>
            <p:cNvSpPr/>
            <p:nvPr/>
          </p:nvSpPr>
          <p:spPr>
            <a:xfrm flipH="false" flipV="false" rot="0">
              <a:off x="0" y="0"/>
              <a:ext cx="18288000" cy="548640"/>
            </a:xfrm>
            <a:custGeom>
              <a:avLst/>
              <a:gdLst/>
              <a:ahLst/>
              <a:cxnLst/>
              <a:rect r="r" b="b" t="t" l="l"/>
              <a:pathLst>
                <a:path h="548640" w="18288000">
                  <a:moveTo>
                    <a:pt x="0" y="0"/>
                  </a:moveTo>
                  <a:lnTo>
                    <a:pt x="18288000" y="0"/>
                  </a:lnTo>
                  <a:lnTo>
                    <a:pt x="18288000" y="548640"/>
                  </a:lnTo>
                  <a:lnTo>
                    <a:pt x="0" y="548640"/>
                  </a:lnTo>
                  <a:close/>
                </a:path>
              </a:pathLst>
            </a:custGeom>
            <a:blipFill>
              <a:blip r:embed="rId2">
                <a:alphaModFix amt="0"/>
              </a:blip>
              <a:stretch>
                <a:fillRect l="0" t="-599501" r="0" b="-599501"/>
              </a:stretch>
            </a:blipFill>
          </p:spPr>
        </p:sp>
        <p:sp>
          <p:nvSpPr>
            <p:cNvPr name="TextBox 4" id="4"/>
            <p:cNvSpPr txBox="true"/>
            <p:nvPr/>
          </p:nvSpPr>
          <p:spPr>
            <a:xfrm>
              <a:off x="0" y="-38100"/>
              <a:ext cx="18288000" cy="586740"/>
            </a:xfrm>
            <a:prstGeom prst="rect">
              <a:avLst/>
            </a:prstGeom>
          </p:spPr>
          <p:txBody>
            <a:bodyPr anchor="ctr" rtlCol="false" tIns="0" lIns="0" bIns="0" rIns="0"/>
            <a:lstStyle/>
            <a:p>
              <a:pPr algn="l">
                <a:lnSpc>
                  <a:spcPts val="2160"/>
                </a:lnSpc>
              </a:pPr>
              <a:r>
                <a:rPr lang="en-US" b="true" sz="1800" spc="225">
                  <a:solidFill>
                    <a:srgbClr val="00B4D8"/>
                  </a:solidFill>
                  <a:latin typeface="Calibri (MS) Bold"/>
                  <a:ea typeface="Calibri (MS) Bold"/>
                  <a:cs typeface="Calibri (MS) Bold"/>
                  <a:sym typeface="Calibri (MS) Bold"/>
                </a:rPr>
                <a:t>NIST CSF SORT · ANSWER</a:t>
              </a:r>
            </a:p>
          </p:txBody>
        </p:sp>
      </p:grpSp>
      <p:grpSp>
        <p:nvGrpSpPr>
          <p:cNvPr name="Group 5" id="5"/>
          <p:cNvGrpSpPr/>
          <p:nvPr/>
        </p:nvGrpSpPr>
        <p:grpSpPr>
          <a:xfrm rot="0">
            <a:off x="960120" y="1069848"/>
            <a:ext cx="10972800" cy="822960"/>
            <a:chOff x="0" y="0"/>
            <a:chExt cx="14630400" cy="1097280"/>
          </a:xfrm>
        </p:grpSpPr>
        <p:sp>
          <p:nvSpPr>
            <p:cNvPr name="Freeform 6" id="6"/>
            <p:cNvSpPr/>
            <p:nvPr/>
          </p:nvSpPr>
          <p:spPr>
            <a:xfrm flipH="false" flipV="false" rot="0">
              <a:off x="0" y="0"/>
              <a:ext cx="14630400" cy="1097280"/>
            </a:xfrm>
            <a:custGeom>
              <a:avLst/>
              <a:gdLst/>
              <a:ahLst/>
              <a:cxnLst/>
              <a:rect r="r" b="b" t="t" l="l"/>
              <a:pathLst>
                <a:path h="1097280" w="14630400">
                  <a:moveTo>
                    <a:pt x="0" y="0"/>
                  </a:moveTo>
                  <a:lnTo>
                    <a:pt x="14630400" y="0"/>
                  </a:lnTo>
                  <a:lnTo>
                    <a:pt x="14630400" y="1097280"/>
                  </a:lnTo>
                  <a:lnTo>
                    <a:pt x="0" y="1097280"/>
                  </a:lnTo>
                  <a:close/>
                </a:path>
              </a:pathLst>
            </a:custGeom>
            <a:blipFill>
              <a:blip r:embed="rId2">
                <a:alphaModFix amt="0"/>
              </a:blip>
              <a:stretch>
                <a:fillRect l="0" t="-209800" r="0" b="-209800"/>
              </a:stretch>
            </a:blipFill>
          </p:spPr>
        </p:sp>
        <p:sp>
          <p:nvSpPr>
            <p:cNvPr name="TextBox 7" id="7"/>
            <p:cNvSpPr txBox="true"/>
            <p:nvPr/>
          </p:nvSpPr>
          <p:spPr>
            <a:xfrm>
              <a:off x="0" y="0"/>
              <a:ext cx="14630400" cy="1097280"/>
            </a:xfrm>
            <a:prstGeom prst="rect">
              <a:avLst/>
            </a:prstGeom>
          </p:spPr>
          <p:txBody>
            <a:bodyPr anchor="ctr" rtlCol="false" tIns="0" lIns="0" bIns="0" rIns="0"/>
            <a:lstStyle/>
            <a:p>
              <a:pPr algn="l">
                <a:lnSpc>
                  <a:spcPts val="4680"/>
                </a:lnSpc>
              </a:pPr>
              <a:r>
                <a:rPr lang="en-US" sz="3900" b="true">
                  <a:solidFill>
                    <a:srgbClr val="1E2761"/>
                  </a:solidFill>
                  <a:latin typeface="Cambria Bold"/>
                  <a:ea typeface="Cambria Bold"/>
                  <a:cs typeface="Cambria Bold"/>
                  <a:sym typeface="Cambria Bold"/>
                </a:rPr>
                <a:t>Scenario 3 — Answer</a:t>
              </a:r>
            </a:p>
          </p:txBody>
        </p:sp>
      </p:grpSp>
      <p:grpSp>
        <p:nvGrpSpPr>
          <p:cNvPr name="Group 8" id="8"/>
          <p:cNvGrpSpPr/>
          <p:nvPr/>
        </p:nvGrpSpPr>
        <p:grpSpPr>
          <a:xfrm rot="0">
            <a:off x="960120" y="1810512"/>
            <a:ext cx="8229600" cy="411480"/>
            <a:chOff x="0" y="0"/>
            <a:chExt cx="10972800" cy="548640"/>
          </a:xfrm>
        </p:grpSpPr>
        <p:sp>
          <p:nvSpPr>
            <p:cNvPr name="Freeform 9" id="9"/>
            <p:cNvSpPr/>
            <p:nvPr/>
          </p:nvSpPr>
          <p:spPr>
            <a:xfrm flipH="false" flipV="false" rot="0">
              <a:off x="0" y="0"/>
              <a:ext cx="10972800" cy="548640"/>
            </a:xfrm>
            <a:custGeom>
              <a:avLst/>
              <a:gdLst/>
              <a:ahLst/>
              <a:cxnLst/>
              <a:rect r="r" b="b" t="t" l="l"/>
              <a:pathLst>
                <a:path h="548640" w="10972800">
                  <a:moveTo>
                    <a:pt x="0" y="0"/>
                  </a:moveTo>
                  <a:lnTo>
                    <a:pt x="10972800" y="0"/>
                  </a:lnTo>
                  <a:lnTo>
                    <a:pt x="10972800" y="548640"/>
                  </a:lnTo>
                  <a:lnTo>
                    <a:pt x="0" y="548640"/>
                  </a:lnTo>
                  <a:close/>
                </a:path>
              </a:pathLst>
            </a:custGeom>
            <a:blipFill>
              <a:blip r:embed="rId2">
                <a:alphaModFix amt="0"/>
              </a:blip>
              <a:stretch>
                <a:fillRect l="0" t="-339700" r="0" b="-339700"/>
              </a:stretch>
            </a:blipFill>
          </p:spPr>
        </p:sp>
        <p:sp>
          <p:nvSpPr>
            <p:cNvPr name="TextBox 10" id="10"/>
            <p:cNvSpPr txBox="true"/>
            <p:nvPr/>
          </p:nvSpPr>
          <p:spPr>
            <a:xfrm>
              <a:off x="0" y="-28575"/>
              <a:ext cx="10972800" cy="577215"/>
            </a:xfrm>
            <a:prstGeom prst="rect">
              <a:avLst/>
            </a:prstGeom>
          </p:spPr>
          <p:txBody>
            <a:bodyPr anchor="ctr" rtlCol="false" tIns="0" lIns="0" bIns="0" rIns="0"/>
            <a:lstStyle/>
            <a:p>
              <a:pPr algn="l">
                <a:lnSpc>
                  <a:spcPts val="1980"/>
                </a:lnSpc>
              </a:pPr>
              <a:r>
                <a:rPr lang="en-US" sz="1650">
                  <a:solidFill>
                    <a:srgbClr val="6B7280"/>
                  </a:solidFill>
                  <a:latin typeface="Calibri (MS)"/>
                  <a:ea typeface="Calibri (MS)"/>
                  <a:cs typeface="Calibri (MS)"/>
                  <a:sym typeface="Calibri (MS)"/>
                </a:rPr>
                <a:t>3 of 20</a:t>
              </a:r>
            </a:p>
          </p:txBody>
        </p:sp>
      </p:grpSp>
      <p:grpSp>
        <p:nvGrpSpPr>
          <p:cNvPr name="Group 11" id="11"/>
          <p:cNvGrpSpPr/>
          <p:nvPr/>
        </p:nvGrpSpPr>
        <p:grpSpPr>
          <a:xfrm rot="0">
            <a:off x="960120" y="2537460"/>
            <a:ext cx="16322040" cy="2194560"/>
            <a:chOff x="0" y="0"/>
            <a:chExt cx="21762720" cy="2926080"/>
          </a:xfrm>
        </p:grpSpPr>
        <p:sp>
          <p:nvSpPr>
            <p:cNvPr name="Freeform 12" id="12"/>
            <p:cNvSpPr/>
            <p:nvPr/>
          </p:nvSpPr>
          <p:spPr>
            <a:xfrm flipH="false" flipV="false" rot="0">
              <a:off x="0" y="0"/>
              <a:ext cx="21762720" cy="2926080"/>
            </a:xfrm>
            <a:custGeom>
              <a:avLst/>
              <a:gdLst/>
              <a:ahLst/>
              <a:cxnLst/>
              <a:rect r="r" b="b" t="t" l="l"/>
              <a:pathLst>
                <a:path h="2926080" w="21762720">
                  <a:moveTo>
                    <a:pt x="0" y="182880"/>
                  </a:moveTo>
                  <a:cubicBezTo>
                    <a:pt x="0" y="81915"/>
                    <a:pt x="81915" y="0"/>
                    <a:pt x="182880" y="0"/>
                  </a:cubicBezTo>
                  <a:lnTo>
                    <a:pt x="21579839" y="0"/>
                  </a:lnTo>
                  <a:cubicBezTo>
                    <a:pt x="21680804" y="0"/>
                    <a:pt x="21762720" y="81915"/>
                    <a:pt x="21762720" y="182880"/>
                  </a:cubicBezTo>
                  <a:lnTo>
                    <a:pt x="21762720" y="2743200"/>
                  </a:lnTo>
                  <a:cubicBezTo>
                    <a:pt x="21762720" y="2844165"/>
                    <a:pt x="21680804" y="2926080"/>
                    <a:pt x="21579839" y="2926080"/>
                  </a:cubicBezTo>
                  <a:lnTo>
                    <a:pt x="182880" y="2926080"/>
                  </a:lnTo>
                  <a:cubicBezTo>
                    <a:pt x="81915" y="2926080"/>
                    <a:pt x="0" y="2844165"/>
                    <a:pt x="0" y="2743200"/>
                  </a:cubicBezTo>
                  <a:close/>
                </a:path>
              </a:pathLst>
            </a:custGeom>
            <a:solidFill>
              <a:srgbClr val="F4F7FC"/>
            </a:solidFill>
          </p:spPr>
        </p:sp>
      </p:grpSp>
      <p:grpSp>
        <p:nvGrpSpPr>
          <p:cNvPr name="Group 13" id="13"/>
          <p:cNvGrpSpPr/>
          <p:nvPr/>
        </p:nvGrpSpPr>
        <p:grpSpPr>
          <a:xfrm rot="0">
            <a:off x="1440180" y="2770632"/>
            <a:ext cx="15361920" cy="1714500"/>
            <a:chOff x="0" y="0"/>
            <a:chExt cx="20482560" cy="2286000"/>
          </a:xfrm>
        </p:grpSpPr>
        <p:sp>
          <p:nvSpPr>
            <p:cNvPr name="Freeform 14" id="14"/>
            <p:cNvSpPr/>
            <p:nvPr/>
          </p:nvSpPr>
          <p:spPr>
            <a:xfrm flipH="false" flipV="false" rot="0">
              <a:off x="0" y="0"/>
              <a:ext cx="20482561" cy="2286000"/>
            </a:xfrm>
            <a:custGeom>
              <a:avLst/>
              <a:gdLst/>
              <a:ahLst/>
              <a:cxnLst/>
              <a:rect r="r" b="b" t="t" l="l"/>
              <a:pathLst>
                <a:path h="2286000" w="20482561">
                  <a:moveTo>
                    <a:pt x="0" y="0"/>
                  </a:moveTo>
                  <a:lnTo>
                    <a:pt x="20482561" y="0"/>
                  </a:lnTo>
                  <a:lnTo>
                    <a:pt x="20482561" y="2286000"/>
                  </a:lnTo>
                  <a:lnTo>
                    <a:pt x="0" y="2286000"/>
                  </a:lnTo>
                  <a:close/>
                </a:path>
              </a:pathLst>
            </a:custGeom>
            <a:blipFill>
              <a:blip r:embed="rId2">
                <a:alphaModFix amt="0"/>
              </a:blip>
              <a:stretch>
                <a:fillRect l="0" t="-124585" r="0" b="-124585"/>
              </a:stretch>
            </a:blipFill>
          </p:spPr>
        </p:sp>
        <p:sp>
          <p:nvSpPr>
            <p:cNvPr name="TextBox 15" id="15"/>
            <p:cNvSpPr txBox="true"/>
            <p:nvPr/>
          </p:nvSpPr>
          <p:spPr>
            <a:xfrm>
              <a:off x="0" y="-85725"/>
              <a:ext cx="20482560" cy="2371725"/>
            </a:xfrm>
            <a:prstGeom prst="rect">
              <a:avLst/>
            </a:prstGeom>
          </p:spPr>
          <p:txBody>
            <a:bodyPr anchor="ctr" rtlCol="false" tIns="0" lIns="0" bIns="0" rIns="0"/>
            <a:lstStyle/>
            <a:p>
              <a:pPr algn="l">
                <a:lnSpc>
                  <a:spcPts val="3600"/>
                </a:lnSpc>
              </a:pPr>
              <a:r>
                <a:rPr lang="en-US" sz="2400" i="true">
                  <a:solidFill>
                    <a:srgbClr val="23262F"/>
                  </a:solidFill>
                  <a:latin typeface="Cambria Italics"/>
                  <a:ea typeface="Cambria Italics"/>
                  <a:cs typeface="Cambria Italics"/>
                  <a:sym typeface="Cambria Italics"/>
                </a:rPr>
                <a:t>"The treasurer's office requires two-factor authentication before anyone can log into the online payment portal."</a:t>
              </a:r>
            </a:p>
          </p:txBody>
        </p:sp>
      </p:grpSp>
      <p:grpSp>
        <p:nvGrpSpPr>
          <p:cNvPr name="Group 16" id="16"/>
          <p:cNvGrpSpPr/>
          <p:nvPr/>
        </p:nvGrpSpPr>
        <p:grpSpPr>
          <a:xfrm rot="0">
            <a:off x="950595" y="5065395"/>
            <a:ext cx="5162550" cy="842010"/>
            <a:chOff x="0" y="0"/>
            <a:chExt cx="6883400" cy="1122680"/>
          </a:xfrm>
        </p:grpSpPr>
        <p:sp>
          <p:nvSpPr>
            <p:cNvPr name="Freeform 17" id="17"/>
            <p:cNvSpPr/>
            <p:nvPr/>
          </p:nvSpPr>
          <p:spPr>
            <a:xfrm flipH="false" flipV="false" rot="0">
              <a:off x="0" y="0"/>
              <a:ext cx="6883400" cy="1122680"/>
            </a:xfrm>
            <a:custGeom>
              <a:avLst/>
              <a:gdLst/>
              <a:ahLst/>
              <a:cxnLst/>
              <a:rect r="r" b="b" t="t" l="l"/>
              <a:pathLst>
                <a:path h="1122680" w="6883400">
                  <a:moveTo>
                    <a:pt x="0" y="168402"/>
                  </a:moveTo>
                  <a:cubicBezTo>
                    <a:pt x="0" y="75438"/>
                    <a:pt x="75438" y="0"/>
                    <a:pt x="168402" y="0"/>
                  </a:cubicBezTo>
                  <a:lnTo>
                    <a:pt x="6714998" y="0"/>
                  </a:lnTo>
                  <a:cubicBezTo>
                    <a:pt x="6807962" y="0"/>
                    <a:pt x="6883400" y="75438"/>
                    <a:pt x="6883400" y="168402"/>
                  </a:cubicBezTo>
                  <a:lnTo>
                    <a:pt x="6883400" y="954278"/>
                  </a:lnTo>
                  <a:cubicBezTo>
                    <a:pt x="6883400" y="1047242"/>
                    <a:pt x="6807962" y="1122680"/>
                    <a:pt x="6714998" y="1122680"/>
                  </a:cubicBezTo>
                  <a:lnTo>
                    <a:pt x="168402" y="1122680"/>
                  </a:lnTo>
                  <a:cubicBezTo>
                    <a:pt x="75438" y="1122680"/>
                    <a:pt x="0" y="1047242"/>
                    <a:pt x="0" y="954278"/>
                  </a:cubicBezTo>
                  <a:close/>
                </a:path>
              </a:pathLst>
            </a:custGeom>
            <a:solidFill>
              <a:srgbClr val="F4F7FC"/>
            </a:solidFill>
            <a:ln w="19050" cap="sq">
              <a:solidFill>
                <a:srgbClr val="D7DCEC"/>
              </a:solidFill>
              <a:prstDash val="solid"/>
              <a:miter/>
            </a:ln>
          </p:spPr>
        </p:sp>
      </p:grpSp>
      <p:grpSp>
        <p:nvGrpSpPr>
          <p:cNvPr name="Group 18" id="18"/>
          <p:cNvGrpSpPr/>
          <p:nvPr/>
        </p:nvGrpSpPr>
        <p:grpSpPr>
          <a:xfrm rot="0">
            <a:off x="960120" y="5143500"/>
            <a:ext cx="5143500" cy="521208"/>
            <a:chOff x="0" y="0"/>
            <a:chExt cx="6858000" cy="694944"/>
          </a:xfrm>
        </p:grpSpPr>
        <p:sp>
          <p:nvSpPr>
            <p:cNvPr name="Freeform 19" id="19"/>
            <p:cNvSpPr/>
            <p:nvPr/>
          </p:nvSpPr>
          <p:spPr>
            <a:xfrm flipH="false" flipV="false" rot="0">
              <a:off x="0" y="0"/>
              <a:ext cx="6858000" cy="694944"/>
            </a:xfrm>
            <a:custGeom>
              <a:avLst/>
              <a:gdLst/>
              <a:ahLst/>
              <a:cxnLst/>
              <a:rect r="r" b="b" t="t" l="l"/>
              <a:pathLst>
                <a:path h="694944" w="6858000">
                  <a:moveTo>
                    <a:pt x="0" y="0"/>
                  </a:moveTo>
                  <a:lnTo>
                    <a:pt x="6858000" y="0"/>
                  </a:lnTo>
                  <a:lnTo>
                    <a:pt x="6858000" y="694944"/>
                  </a:lnTo>
                  <a:lnTo>
                    <a:pt x="0" y="694944"/>
                  </a:lnTo>
                  <a:close/>
                </a:path>
              </a:pathLst>
            </a:custGeom>
            <a:blipFill>
              <a:blip r:embed="rId2">
                <a:alphaModFix amt="0"/>
              </a:blip>
              <a:stretch>
                <a:fillRect l="0" t="-142286" r="0" b="-142286"/>
              </a:stretch>
            </a:blipFill>
          </p:spPr>
        </p:sp>
        <p:sp>
          <p:nvSpPr>
            <p:cNvPr name="TextBox 20" id="20"/>
            <p:cNvSpPr txBox="true"/>
            <p:nvPr/>
          </p:nvSpPr>
          <p:spPr>
            <a:xfrm>
              <a:off x="0" y="-38100"/>
              <a:ext cx="6858000" cy="733044"/>
            </a:xfrm>
            <a:prstGeom prst="rect">
              <a:avLst/>
            </a:prstGeom>
          </p:spPr>
          <p:txBody>
            <a:bodyPr anchor="ctr" rtlCol="false" tIns="0" lIns="0" bIns="0" rIns="0"/>
            <a:lstStyle/>
            <a:p>
              <a:pPr algn="ctr">
                <a:lnSpc>
                  <a:spcPts val="2430"/>
                </a:lnSpc>
              </a:pPr>
              <a:r>
                <a:rPr lang="en-US" sz="2025">
                  <a:solidFill>
                    <a:srgbClr val="6B7280"/>
                  </a:solidFill>
                  <a:latin typeface="Calibri (MS)"/>
                  <a:ea typeface="Calibri (MS)"/>
                  <a:cs typeface="Calibri (MS)"/>
                  <a:sym typeface="Calibri (MS)"/>
                </a:rPr>
                <a:t>Govern</a:t>
              </a:r>
            </a:p>
          </p:txBody>
        </p:sp>
      </p:grpSp>
      <p:grpSp>
        <p:nvGrpSpPr>
          <p:cNvPr name="Group 21" id="21"/>
          <p:cNvGrpSpPr/>
          <p:nvPr/>
        </p:nvGrpSpPr>
        <p:grpSpPr>
          <a:xfrm rot="0">
            <a:off x="960120" y="5513832"/>
            <a:ext cx="5143500" cy="329184"/>
            <a:chOff x="0" y="0"/>
            <a:chExt cx="6858000" cy="438912"/>
          </a:xfrm>
        </p:grpSpPr>
        <p:sp>
          <p:nvSpPr>
            <p:cNvPr name="Freeform 22" id="22"/>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23" id="23"/>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9AA3B8"/>
                  </a:solidFill>
                  <a:latin typeface="Arimo"/>
                  <a:ea typeface="Arimo"/>
                  <a:cs typeface="Arimo"/>
                  <a:sym typeface="Arimo"/>
                </a:rPr>
                <a:t>GV</a:t>
              </a:r>
            </a:p>
          </p:txBody>
        </p:sp>
      </p:grpSp>
      <p:grpSp>
        <p:nvGrpSpPr>
          <p:cNvPr name="Group 24" id="24"/>
          <p:cNvGrpSpPr/>
          <p:nvPr/>
        </p:nvGrpSpPr>
        <p:grpSpPr>
          <a:xfrm rot="0">
            <a:off x="6533007" y="5065395"/>
            <a:ext cx="5162550" cy="842010"/>
            <a:chOff x="0" y="0"/>
            <a:chExt cx="6883400" cy="1122680"/>
          </a:xfrm>
        </p:grpSpPr>
        <p:sp>
          <p:nvSpPr>
            <p:cNvPr name="Freeform 25" id="25"/>
            <p:cNvSpPr/>
            <p:nvPr/>
          </p:nvSpPr>
          <p:spPr>
            <a:xfrm flipH="false" flipV="false" rot="0">
              <a:off x="0" y="0"/>
              <a:ext cx="6883400" cy="1122680"/>
            </a:xfrm>
            <a:custGeom>
              <a:avLst/>
              <a:gdLst/>
              <a:ahLst/>
              <a:cxnLst/>
              <a:rect r="r" b="b" t="t" l="l"/>
              <a:pathLst>
                <a:path h="1122680" w="6883400">
                  <a:moveTo>
                    <a:pt x="0" y="168402"/>
                  </a:moveTo>
                  <a:cubicBezTo>
                    <a:pt x="0" y="75438"/>
                    <a:pt x="75438" y="0"/>
                    <a:pt x="168402" y="0"/>
                  </a:cubicBezTo>
                  <a:lnTo>
                    <a:pt x="6714998" y="0"/>
                  </a:lnTo>
                  <a:cubicBezTo>
                    <a:pt x="6807962" y="0"/>
                    <a:pt x="6883400" y="75438"/>
                    <a:pt x="6883400" y="168402"/>
                  </a:cubicBezTo>
                  <a:lnTo>
                    <a:pt x="6883400" y="954278"/>
                  </a:lnTo>
                  <a:cubicBezTo>
                    <a:pt x="6883400" y="1047242"/>
                    <a:pt x="6807962" y="1122680"/>
                    <a:pt x="6714998" y="1122680"/>
                  </a:cubicBezTo>
                  <a:lnTo>
                    <a:pt x="168402" y="1122680"/>
                  </a:lnTo>
                  <a:cubicBezTo>
                    <a:pt x="75438" y="1122680"/>
                    <a:pt x="0" y="1047242"/>
                    <a:pt x="0" y="954278"/>
                  </a:cubicBezTo>
                  <a:close/>
                </a:path>
              </a:pathLst>
            </a:custGeom>
            <a:solidFill>
              <a:srgbClr val="F4F7FC"/>
            </a:solidFill>
            <a:ln w="19050" cap="sq">
              <a:solidFill>
                <a:srgbClr val="D7DCEC"/>
              </a:solidFill>
              <a:prstDash val="solid"/>
              <a:miter/>
            </a:ln>
          </p:spPr>
        </p:sp>
      </p:grpSp>
      <p:grpSp>
        <p:nvGrpSpPr>
          <p:cNvPr name="Group 26" id="26"/>
          <p:cNvGrpSpPr/>
          <p:nvPr/>
        </p:nvGrpSpPr>
        <p:grpSpPr>
          <a:xfrm rot="0">
            <a:off x="6542532" y="5143500"/>
            <a:ext cx="5143500" cy="521208"/>
            <a:chOff x="0" y="0"/>
            <a:chExt cx="6858000" cy="694944"/>
          </a:xfrm>
        </p:grpSpPr>
        <p:sp>
          <p:nvSpPr>
            <p:cNvPr name="Freeform 27" id="27"/>
            <p:cNvSpPr/>
            <p:nvPr/>
          </p:nvSpPr>
          <p:spPr>
            <a:xfrm flipH="false" flipV="false" rot="0">
              <a:off x="0" y="0"/>
              <a:ext cx="6858000" cy="694944"/>
            </a:xfrm>
            <a:custGeom>
              <a:avLst/>
              <a:gdLst/>
              <a:ahLst/>
              <a:cxnLst/>
              <a:rect r="r" b="b" t="t" l="l"/>
              <a:pathLst>
                <a:path h="694944" w="6858000">
                  <a:moveTo>
                    <a:pt x="0" y="0"/>
                  </a:moveTo>
                  <a:lnTo>
                    <a:pt x="6858000" y="0"/>
                  </a:lnTo>
                  <a:lnTo>
                    <a:pt x="6858000" y="694944"/>
                  </a:lnTo>
                  <a:lnTo>
                    <a:pt x="0" y="694944"/>
                  </a:lnTo>
                  <a:close/>
                </a:path>
              </a:pathLst>
            </a:custGeom>
            <a:blipFill>
              <a:blip r:embed="rId2">
                <a:alphaModFix amt="0"/>
              </a:blip>
              <a:stretch>
                <a:fillRect l="0" t="-142286" r="0" b="-142286"/>
              </a:stretch>
            </a:blipFill>
          </p:spPr>
        </p:sp>
        <p:sp>
          <p:nvSpPr>
            <p:cNvPr name="TextBox 28" id="28"/>
            <p:cNvSpPr txBox="true"/>
            <p:nvPr/>
          </p:nvSpPr>
          <p:spPr>
            <a:xfrm>
              <a:off x="0" y="-38100"/>
              <a:ext cx="6858000" cy="733044"/>
            </a:xfrm>
            <a:prstGeom prst="rect">
              <a:avLst/>
            </a:prstGeom>
          </p:spPr>
          <p:txBody>
            <a:bodyPr anchor="ctr" rtlCol="false" tIns="0" lIns="0" bIns="0" rIns="0"/>
            <a:lstStyle/>
            <a:p>
              <a:pPr algn="ctr">
                <a:lnSpc>
                  <a:spcPts val="2430"/>
                </a:lnSpc>
              </a:pPr>
              <a:r>
                <a:rPr lang="en-US" sz="2025">
                  <a:solidFill>
                    <a:srgbClr val="6B7280"/>
                  </a:solidFill>
                  <a:latin typeface="Calibri (MS)"/>
                  <a:ea typeface="Calibri (MS)"/>
                  <a:cs typeface="Calibri (MS)"/>
                  <a:sym typeface="Calibri (MS)"/>
                </a:rPr>
                <a:t>Identify</a:t>
              </a:r>
            </a:p>
          </p:txBody>
        </p:sp>
      </p:grpSp>
      <p:grpSp>
        <p:nvGrpSpPr>
          <p:cNvPr name="Group 29" id="29"/>
          <p:cNvGrpSpPr/>
          <p:nvPr/>
        </p:nvGrpSpPr>
        <p:grpSpPr>
          <a:xfrm rot="0">
            <a:off x="6542532" y="5513832"/>
            <a:ext cx="5143500" cy="329184"/>
            <a:chOff x="0" y="0"/>
            <a:chExt cx="6858000" cy="438912"/>
          </a:xfrm>
        </p:grpSpPr>
        <p:sp>
          <p:nvSpPr>
            <p:cNvPr name="Freeform 30" id="30"/>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31" id="31"/>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9AA3B8"/>
                  </a:solidFill>
                  <a:latin typeface="Arimo"/>
                  <a:ea typeface="Arimo"/>
                  <a:cs typeface="Arimo"/>
                  <a:sym typeface="Arimo"/>
                </a:rPr>
                <a:t>ID</a:t>
              </a:r>
            </a:p>
          </p:txBody>
        </p:sp>
      </p:grpSp>
      <p:grpSp>
        <p:nvGrpSpPr>
          <p:cNvPr name="Group 32" id="32"/>
          <p:cNvGrpSpPr/>
          <p:nvPr/>
        </p:nvGrpSpPr>
        <p:grpSpPr>
          <a:xfrm rot="0">
            <a:off x="12115419" y="5065395"/>
            <a:ext cx="5162550" cy="842010"/>
            <a:chOff x="0" y="0"/>
            <a:chExt cx="6883400" cy="1122680"/>
          </a:xfrm>
        </p:grpSpPr>
        <p:sp>
          <p:nvSpPr>
            <p:cNvPr name="Freeform 33" id="33"/>
            <p:cNvSpPr/>
            <p:nvPr/>
          </p:nvSpPr>
          <p:spPr>
            <a:xfrm flipH="false" flipV="false" rot="0">
              <a:off x="0" y="0"/>
              <a:ext cx="6883400" cy="1122680"/>
            </a:xfrm>
            <a:custGeom>
              <a:avLst/>
              <a:gdLst/>
              <a:ahLst/>
              <a:cxnLst/>
              <a:rect r="r" b="b" t="t" l="l"/>
              <a:pathLst>
                <a:path h="1122680" w="6883400">
                  <a:moveTo>
                    <a:pt x="0" y="168402"/>
                  </a:moveTo>
                  <a:cubicBezTo>
                    <a:pt x="0" y="75438"/>
                    <a:pt x="75438" y="0"/>
                    <a:pt x="168402" y="0"/>
                  </a:cubicBezTo>
                  <a:lnTo>
                    <a:pt x="6714998" y="0"/>
                  </a:lnTo>
                  <a:cubicBezTo>
                    <a:pt x="6807962" y="0"/>
                    <a:pt x="6883400" y="75438"/>
                    <a:pt x="6883400" y="168402"/>
                  </a:cubicBezTo>
                  <a:lnTo>
                    <a:pt x="6883400" y="954278"/>
                  </a:lnTo>
                  <a:cubicBezTo>
                    <a:pt x="6883400" y="1047242"/>
                    <a:pt x="6807962" y="1122680"/>
                    <a:pt x="6714998" y="1122680"/>
                  </a:cubicBezTo>
                  <a:lnTo>
                    <a:pt x="168402" y="1122680"/>
                  </a:lnTo>
                  <a:cubicBezTo>
                    <a:pt x="75438" y="1122680"/>
                    <a:pt x="0" y="1047242"/>
                    <a:pt x="0" y="954278"/>
                  </a:cubicBezTo>
                  <a:close/>
                </a:path>
              </a:pathLst>
            </a:custGeom>
            <a:solidFill>
              <a:srgbClr val="1F6FEB"/>
            </a:solidFill>
            <a:ln w="19050" cap="sq">
              <a:solidFill>
                <a:srgbClr val="1F6FEB"/>
              </a:solidFill>
              <a:prstDash val="solid"/>
              <a:miter/>
            </a:ln>
          </p:spPr>
        </p:sp>
      </p:grpSp>
      <p:grpSp>
        <p:nvGrpSpPr>
          <p:cNvPr name="Group 34" id="34"/>
          <p:cNvGrpSpPr/>
          <p:nvPr/>
        </p:nvGrpSpPr>
        <p:grpSpPr>
          <a:xfrm rot="0">
            <a:off x="12124944" y="5143500"/>
            <a:ext cx="5143500" cy="521208"/>
            <a:chOff x="0" y="0"/>
            <a:chExt cx="6858000" cy="694944"/>
          </a:xfrm>
        </p:grpSpPr>
        <p:sp>
          <p:nvSpPr>
            <p:cNvPr name="Freeform 35" id="35"/>
            <p:cNvSpPr/>
            <p:nvPr/>
          </p:nvSpPr>
          <p:spPr>
            <a:xfrm flipH="false" flipV="false" rot="0">
              <a:off x="0" y="0"/>
              <a:ext cx="6858000" cy="694944"/>
            </a:xfrm>
            <a:custGeom>
              <a:avLst/>
              <a:gdLst/>
              <a:ahLst/>
              <a:cxnLst/>
              <a:rect r="r" b="b" t="t" l="l"/>
              <a:pathLst>
                <a:path h="694944" w="6858000">
                  <a:moveTo>
                    <a:pt x="0" y="0"/>
                  </a:moveTo>
                  <a:lnTo>
                    <a:pt x="6858000" y="0"/>
                  </a:lnTo>
                  <a:lnTo>
                    <a:pt x="6858000" y="694944"/>
                  </a:lnTo>
                  <a:lnTo>
                    <a:pt x="0" y="694944"/>
                  </a:lnTo>
                  <a:close/>
                </a:path>
              </a:pathLst>
            </a:custGeom>
            <a:blipFill>
              <a:blip r:embed="rId2">
                <a:alphaModFix amt="0"/>
              </a:blip>
              <a:stretch>
                <a:fillRect l="0" t="-142286" r="0" b="-142286"/>
              </a:stretch>
            </a:blipFill>
          </p:spPr>
        </p:sp>
        <p:sp>
          <p:nvSpPr>
            <p:cNvPr name="TextBox 36" id="36"/>
            <p:cNvSpPr txBox="true"/>
            <p:nvPr/>
          </p:nvSpPr>
          <p:spPr>
            <a:xfrm>
              <a:off x="0" y="-38100"/>
              <a:ext cx="6858000" cy="733044"/>
            </a:xfrm>
            <a:prstGeom prst="rect">
              <a:avLst/>
            </a:prstGeom>
          </p:spPr>
          <p:txBody>
            <a:bodyPr anchor="ctr" rtlCol="false" tIns="0" lIns="0" bIns="0" rIns="0"/>
            <a:lstStyle/>
            <a:p>
              <a:pPr algn="ctr">
                <a:lnSpc>
                  <a:spcPts val="2430"/>
                </a:lnSpc>
              </a:pPr>
              <a:r>
                <a:rPr lang="en-US" sz="2025" b="true">
                  <a:solidFill>
                    <a:srgbClr val="FFFFFF"/>
                  </a:solidFill>
                  <a:latin typeface="Calibri (MS) Bold"/>
                  <a:ea typeface="Calibri (MS) Bold"/>
                  <a:cs typeface="Calibri (MS) Bold"/>
                  <a:sym typeface="Calibri (MS) Bold"/>
                </a:rPr>
                <a:t>✓  Protect</a:t>
              </a:r>
            </a:p>
          </p:txBody>
        </p:sp>
      </p:grpSp>
      <p:grpSp>
        <p:nvGrpSpPr>
          <p:cNvPr name="Group 37" id="37"/>
          <p:cNvGrpSpPr/>
          <p:nvPr/>
        </p:nvGrpSpPr>
        <p:grpSpPr>
          <a:xfrm rot="0">
            <a:off x="12124944" y="5513832"/>
            <a:ext cx="5143500" cy="329184"/>
            <a:chOff x="0" y="0"/>
            <a:chExt cx="6858000" cy="438912"/>
          </a:xfrm>
        </p:grpSpPr>
        <p:sp>
          <p:nvSpPr>
            <p:cNvPr name="Freeform 38" id="38"/>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39" id="39"/>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FFFFFF"/>
                  </a:solidFill>
                  <a:latin typeface="Arimo"/>
                  <a:ea typeface="Arimo"/>
                  <a:cs typeface="Arimo"/>
                  <a:sym typeface="Arimo"/>
                </a:rPr>
                <a:t>PR</a:t>
              </a:r>
            </a:p>
          </p:txBody>
        </p:sp>
      </p:grpSp>
      <p:grpSp>
        <p:nvGrpSpPr>
          <p:cNvPr name="Group 40" id="40"/>
          <p:cNvGrpSpPr/>
          <p:nvPr/>
        </p:nvGrpSpPr>
        <p:grpSpPr>
          <a:xfrm rot="0">
            <a:off x="950595" y="6135243"/>
            <a:ext cx="5162550" cy="842010"/>
            <a:chOff x="0" y="0"/>
            <a:chExt cx="6883400" cy="1122680"/>
          </a:xfrm>
        </p:grpSpPr>
        <p:sp>
          <p:nvSpPr>
            <p:cNvPr name="Freeform 41" id="41"/>
            <p:cNvSpPr/>
            <p:nvPr/>
          </p:nvSpPr>
          <p:spPr>
            <a:xfrm flipH="false" flipV="false" rot="0">
              <a:off x="0" y="0"/>
              <a:ext cx="6883400" cy="1122680"/>
            </a:xfrm>
            <a:custGeom>
              <a:avLst/>
              <a:gdLst/>
              <a:ahLst/>
              <a:cxnLst/>
              <a:rect r="r" b="b" t="t" l="l"/>
              <a:pathLst>
                <a:path h="1122680" w="6883400">
                  <a:moveTo>
                    <a:pt x="0" y="168402"/>
                  </a:moveTo>
                  <a:cubicBezTo>
                    <a:pt x="0" y="75438"/>
                    <a:pt x="75438" y="0"/>
                    <a:pt x="168402" y="0"/>
                  </a:cubicBezTo>
                  <a:lnTo>
                    <a:pt x="6714998" y="0"/>
                  </a:lnTo>
                  <a:cubicBezTo>
                    <a:pt x="6807962" y="0"/>
                    <a:pt x="6883400" y="75438"/>
                    <a:pt x="6883400" y="168402"/>
                  </a:cubicBezTo>
                  <a:lnTo>
                    <a:pt x="6883400" y="954278"/>
                  </a:lnTo>
                  <a:cubicBezTo>
                    <a:pt x="6883400" y="1047242"/>
                    <a:pt x="6807962" y="1122680"/>
                    <a:pt x="6714998" y="1122680"/>
                  </a:cubicBezTo>
                  <a:lnTo>
                    <a:pt x="168402" y="1122680"/>
                  </a:lnTo>
                  <a:cubicBezTo>
                    <a:pt x="75438" y="1122680"/>
                    <a:pt x="0" y="1047242"/>
                    <a:pt x="0" y="954278"/>
                  </a:cubicBezTo>
                  <a:close/>
                </a:path>
              </a:pathLst>
            </a:custGeom>
            <a:solidFill>
              <a:srgbClr val="F4F7FC"/>
            </a:solidFill>
            <a:ln w="19050" cap="sq">
              <a:solidFill>
                <a:srgbClr val="D7DCEC"/>
              </a:solidFill>
              <a:prstDash val="solid"/>
              <a:miter/>
            </a:ln>
          </p:spPr>
        </p:sp>
      </p:grpSp>
      <p:grpSp>
        <p:nvGrpSpPr>
          <p:cNvPr name="Group 42" id="42"/>
          <p:cNvGrpSpPr/>
          <p:nvPr/>
        </p:nvGrpSpPr>
        <p:grpSpPr>
          <a:xfrm rot="0">
            <a:off x="960120" y="6213348"/>
            <a:ext cx="5143500" cy="521208"/>
            <a:chOff x="0" y="0"/>
            <a:chExt cx="6858000" cy="694944"/>
          </a:xfrm>
        </p:grpSpPr>
        <p:sp>
          <p:nvSpPr>
            <p:cNvPr name="Freeform 43" id="43"/>
            <p:cNvSpPr/>
            <p:nvPr/>
          </p:nvSpPr>
          <p:spPr>
            <a:xfrm flipH="false" flipV="false" rot="0">
              <a:off x="0" y="0"/>
              <a:ext cx="6858000" cy="694944"/>
            </a:xfrm>
            <a:custGeom>
              <a:avLst/>
              <a:gdLst/>
              <a:ahLst/>
              <a:cxnLst/>
              <a:rect r="r" b="b" t="t" l="l"/>
              <a:pathLst>
                <a:path h="694944" w="6858000">
                  <a:moveTo>
                    <a:pt x="0" y="0"/>
                  </a:moveTo>
                  <a:lnTo>
                    <a:pt x="6858000" y="0"/>
                  </a:lnTo>
                  <a:lnTo>
                    <a:pt x="6858000" y="694944"/>
                  </a:lnTo>
                  <a:lnTo>
                    <a:pt x="0" y="694944"/>
                  </a:lnTo>
                  <a:close/>
                </a:path>
              </a:pathLst>
            </a:custGeom>
            <a:blipFill>
              <a:blip r:embed="rId2">
                <a:alphaModFix amt="0"/>
              </a:blip>
              <a:stretch>
                <a:fillRect l="0" t="-142286" r="0" b="-142286"/>
              </a:stretch>
            </a:blipFill>
          </p:spPr>
        </p:sp>
        <p:sp>
          <p:nvSpPr>
            <p:cNvPr name="TextBox 44" id="44"/>
            <p:cNvSpPr txBox="true"/>
            <p:nvPr/>
          </p:nvSpPr>
          <p:spPr>
            <a:xfrm>
              <a:off x="0" y="-38100"/>
              <a:ext cx="6858000" cy="733044"/>
            </a:xfrm>
            <a:prstGeom prst="rect">
              <a:avLst/>
            </a:prstGeom>
          </p:spPr>
          <p:txBody>
            <a:bodyPr anchor="ctr" rtlCol="false" tIns="0" lIns="0" bIns="0" rIns="0"/>
            <a:lstStyle/>
            <a:p>
              <a:pPr algn="ctr">
                <a:lnSpc>
                  <a:spcPts val="2430"/>
                </a:lnSpc>
              </a:pPr>
              <a:r>
                <a:rPr lang="en-US" sz="2025">
                  <a:solidFill>
                    <a:srgbClr val="6B7280"/>
                  </a:solidFill>
                  <a:latin typeface="Calibri (MS)"/>
                  <a:ea typeface="Calibri (MS)"/>
                  <a:cs typeface="Calibri (MS)"/>
                  <a:sym typeface="Calibri (MS)"/>
                </a:rPr>
                <a:t>Detect</a:t>
              </a:r>
            </a:p>
          </p:txBody>
        </p:sp>
      </p:grpSp>
      <p:grpSp>
        <p:nvGrpSpPr>
          <p:cNvPr name="Group 45" id="45"/>
          <p:cNvGrpSpPr/>
          <p:nvPr/>
        </p:nvGrpSpPr>
        <p:grpSpPr>
          <a:xfrm rot="0">
            <a:off x="960120" y="6583680"/>
            <a:ext cx="5143500" cy="329184"/>
            <a:chOff x="0" y="0"/>
            <a:chExt cx="6858000" cy="438912"/>
          </a:xfrm>
        </p:grpSpPr>
        <p:sp>
          <p:nvSpPr>
            <p:cNvPr name="Freeform 46" id="46"/>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47" id="47"/>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9AA3B8"/>
                  </a:solidFill>
                  <a:latin typeface="Arimo"/>
                  <a:ea typeface="Arimo"/>
                  <a:cs typeface="Arimo"/>
                  <a:sym typeface="Arimo"/>
                </a:rPr>
                <a:t>DE</a:t>
              </a:r>
            </a:p>
          </p:txBody>
        </p:sp>
      </p:grpSp>
      <p:grpSp>
        <p:nvGrpSpPr>
          <p:cNvPr name="Group 48" id="48"/>
          <p:cNvGrpSpPr/>
          <p:nvPr/>
        </p:nvGrpSpPr>
        <p:grpSpPr>
          <a:xfrm rot="0">
            <a:off x="6533007" y="6135243"/>
            <a:ext cx="5162550" cy="842010"/>
            <a:chOff x="0" y="0"/>
            <a:chExt cx="6883400" cy="1122680"/>
          </a:xfrm>
        </p:grpSpPr>
        <p:sp>
          <p:nvSpPr>
            <p:cNvPr name="Freeform 49" id="49"/>
            <p:cNvSpPr/>
            <p:nvPr/>
          </p:nvSpPr>
          <p:spPr>
            <a:xfrm flipH="false" flipV="false" rot="0">
              <a:off x="0" y="0"/>
              <a:ext cx="6883400" cy="1122680"/>
            </a:xfrm>
            <a:custGeom>
              <a:avLst/>
              <a:gdLst/>
              <a:ahLst/>
              <a:cxnLst/>
              <a:rect r="r" b="b" t="t" l="l"/>
              <a:pathLst>
                <a:path h="1122680" w="6883400">
                  <a:moveTo>
                    <a:pt x="0" y="168402"/>
                  </a:moveTo>
                  <a:cubicBezTo>
                    <a:pt x="0" y="75438"/>
                    <a:pt x="75438" y="0"/>
                    <a:pt x="168402" y="0"/>
                  </a:cubicBezTo>
                  <a:lnTo>
                    <a:pt x="6714998" y="0"/>
                  </a:lnTo>
                  <a:cubicBezTo>
                    <a:pt x="6807962" y="0"/>
                    <a:pt x="6883400" y="75438"/>
                    <a:pt x="6883400" y="168402"/>
                  </a:cubicBezTo>
                  <a:lnTo>
                    <a:pt x="6883400" y="954278"/>
                  </a:lnTo>
                  <a:cubicBezTo>
                    <a:pt x="6883400" y="1047242"/>
                    <a:pt x="6807962" y="1122680"/>
                    <a:pt x="6714998" y="1122680"/>
                  </a:cubicBezTo>
                  <a:lnTo>
                    <a:pt x="168402" y="1122680"/>
                  </a:lnTo>
                  <a:cubicBezTo>
                    <a:pt x="75438" y="1122680"/>
                    <a:pt x="0" y="1047242"/>
                    <a:pt x="0" y="954278"/>
                  </a:cubicBezTo>
                  <a:close/>
                </a:path>
              </a:pathLst>
            </a:custGeom>
            <a:solidFill>
              <a:srgbClr val="F4F7FC"/>
            </a:solidFill>
            <a:ln w="19050" cap="sq">
              <a:solidFill>
                <a:srgbClr val="D7DCEC"/>
              </a:solidFill>
              <a:prstDash val="solid"/>
              <a:miter/>
            </a:ln>
          </p:spPr>
        </p:sp>
      </p:grpSp>
      <p:grpSp>
        <p:nvGrpSpPr>
          <p:cNvPr name="Group 50" id="50"/>
          <p:cNvGrpSpPr/>
          <p:nvPr/>
        </p:nvGrpSpPr>
        <p:grpSpPr>
          <a:xfrm rot="0">
            <a:off x="6542532" y="6213348"/>
            <a:ext cx="5143500" cy="521208"/>
            <a:chOff x="0" y="0"/>
            <a:chExt cx="6858000" cy="694944"/>
          </a:xfrm>
        </p:grpSpPr>
        <p:sp>
          <p:nvSpPr>
            <p:cNvPr name="Freeform 51" id="51"/>
            <p:cNvSpPr/>
            <p:nvPr/>
          </p:nvSpPr>
          <p:spPr>
            <a:xfrm flipH="false" flipV="false" rot="0">
              <a:off x="0" y="0"/>
              <a:ext cx="6858000" cy="694944"/>
            </a:xfrm>
            <a:custGeom>
              <a:avLst/>
              <a:gdLst/>
              <a:ahLst/>
              <a:cxnLst/>
              <a:rect r="r" b="b" t="t" l="l"/>
              <a:pathLst>
                <a:path h="694944" w="6858000">
                  <a:moveTo>
                    <a:pt x="0" y="0"/>
                  </a:moveTo>
                  <a:lnTo>
                    <a:pt x="6858000" y="0"/>
                  </a:lnTo>
                  <a:lnTo>
                    <a:pt x="6858000" y="694944"/>
                  </a:lnTo>
                  <a:lnTo>
                    <a:pt x="0" y="694944"/>
                  </a:lnTo>
                  <a:close/>
                </a:path>
              </a:pathLst>
            </a:custGeom>
            <a:blipFill>
              <a:blip r:embed="rId2">
                <a:alphaModFix amt="0"/>
              </a:blip>
              <a:stretch>
                <a:fillRect l="0" t="-142286" r="0" b="-142286"/>
              </a:stretch>
            </a:blipFill>
          </p:spPr>
        </p:sp>
        <p:sp>
          <p:nvSpPr>
            <p:cNvPr name="TextBox 52" id="52"/>
            <p:cNvSpPr txBox="true"/>
            <p:nvPr/>
          </p:nvSpPr>
          <p:spPr>
            <a:xfrm>
              <a:off x="0" y="-38100"/>
              <a:ext cx="6858000" cy="733044"/>
            </a:xfrm>
            <a:prstGeom prst="rect">
              <a:avLst/>
            </a:prstGeom>
          </p:spPr>
          <p:txBody>
            <a:bodyPr anchor="ctr" rtlCol="false" tIns="0" lIns="0" bIns="0" rIns="0"/>
            <a:lstStyle/>
            <a:p>
              <a:pPr algn="ctr">
                <a:lnSpc>
                  <a:spcPts val="2430"/>
                </a:lnSpc>
              </a:pPr>
              <a:r>
                <a:rPr lang="en-US" sz="2025">
                  <a:solidFill>
                    <a:srgbClr val="6B7280"/>
                  </a:solidFill>
                  <a:latin typeface="Calibri (MS)"/>
                  <a:ea typeface="Calibri (MS)"/>
                  <a:cs typeface="Calibri (MS)"/>
                  <a:sym typeface="Calibri (MS)"/>
                </a:rPr>
                <a:t>Respond</a:t>
              </a:r>
            </a:p>
          </p:txBody>
        </p:sp>
      </p:grpSp>
      <p:grpSp>
        <p:nvGrpSpPr>
          <p:cNvPr name="Group 53" id="53"/>
          <p:cNvGrpSpPr/>
          <p:nvPr/>
        </p:nvGrpSpPr>
        <p:grpSpPr>
          <a:xfrm rot="0">
            <a:off x="6542532" y="6583680"/>
            <a:ext cx="5143500" cy="329184"/>
            <a:chOff x="0" y="0"/>
            <a:chExt cx="6858000" cy="438912"/>
          </a:xfrm>
        </p:grpSpPr>
        <p:sp>
          <p:nvSpPr>
            <p:cNvPr name="Freeform 54" id="54"/>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55" id="55"/>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9AA3B8"/>
                  </a:solidFill>
                  <a:latin typeface="Arimo"/>
                  <a:ea typeface="Arimo"/>
                  <a:cs typeface="Arimo"/>
                  <a:sym typeface="Arimo"/>
                </a:rPr>
                <a:t>RS</a:t>
              </a:r>
            </a:p>
          </p:txBody>
        </p:sp>
      </p:grpSp>
      <p:grpSp>
        <p:nvGrpSpPr>
          <p:cNvPr name="Group 56" id="56"/>
          <p:cNvGrpSpPr/>
          <p:nvPr/>
        </p:nvGrpSpPr>
        <p:grpSpPr>
          <a:xfrm rot="0">
            <a:off x="12115419" y="6135243"/>
            <a:ext cx="5162550" cy="842010"/>
            <a:chOff x="0" y="0"/>
            <a:chExt cx="6883400" cy="1122680"/>
          </a:xfrm>
        </p:grpSpPr>
        <p:sp>
          <p:nvSpPr>
            <p:cNvPr name="Freeform 57" id="57"/>
            <p:cNvSpPr/>
            <p:nvPr/>
          </p:nvSpPr>
          <p:spPr>
            <a:xfrm flipH="false" flipV="false" rot="0">
              <a:off x="0" y="0"/>
              <a:ext cx="6883400" cy="1122680"/>
            </a:xfrm>
            <a:custGeom>
              <a:avLst/>
              <a:gdLst/>
              <a:ahLst/>
              <a:cxnLst/>
              <a:rect r="r" b="b" t="t" l="l"/>
              <a:pathLst>
                <a:path h="1122680" w="6883400">
                  <a:moveTo>
                    <a:pt x="0" y="168402"/>
                  </a:moveTo>
                  <a:cubicBezTo>
                    <a:pt x="0" y="75438"/>
                    <a:pt x="75438" y="0"/>
                    <a:pt x="168402" y="0"/>
                  </a:cubicBezTo>
                  <a:lnTo>
                    <a:pt x="6714998" y="0"/>
                  </a:lnTo>
                  <a:cubicBezTo>
                    <a:pt x="6807962" y="0"/>
                    <a:pt x="6883400" y="75438"/>
                    <a:pt x="6883400" y="168402"/>
                  </a:cubicBezTo>
                  <a:lnTo>
                    <a:pt x="6883400" y="954278"/>
                  </a:lnTo>
                  <a:cubicBezTo>
                    <a:pt x="6883400" y="1047242"/>
                    <a:pt x="6807962" y="1122680"/>
                    <a:pt x="6714998" y="1122680"/>
                  </a:cubicBezTo>
                  <a:lnTo>
                    <a:pt x="168402" y="1122680"/>
                  </a:lnTo>
                  <a:cubicBezTo>
                    <a:pt x="75438" y="1122680"/>
                    <a:pt x="0" y="1047242"/>
                    <a:pt x="0" y="954278"/>
                  </a:cubicBezTo>
                  <a:close/>
                </a:path>
              </a:pathLst>
            </a:custGeom>
            <a:solidFill>
              <a:srgbClr val="F4F7FC"/>
            </a:solidFill>
            <a:ln w="19050" cap="sq">
              <a:solidFill>
                <a:srgbClr val="D7DCEC"/>
              </a:solidFill>
              <a:prstDash val="solid"/>
              <a:miter/>
            </a:ln>
          </p:spPr>
        </p:sp>
      </p:grpSp>
      <p:grpSp>
        <p:nvGrpSpPr>
          <p:cNvPr name="Group 58" id="58"/>
          <p:cNvGrpSpPr/>
          <p:nvPr/>
        </p:nvGrpSpPr>
        <p:grpSpPr>
          <a:xfrm rot="0">
            <a:off x="12124944" y="6213348"/>
            <a:ext cx="5143500" cy="521208"/>
            <a:chOff x="0" y="0"/>
            <a:chExt cx="6858000" cy="694944"/>
          </a:xfrm>
        </p:grpSpPr>
        <p:sp>
          <p:nvSpPr>
            <p:cNvPr name="Freeform 59" id="59"/>
            <p:cNvSpPr/>
            <p:nvPr/>
          </p:nvSpPr>
          <p:spPr>
            <a:xfrm flipH="false" flipV="false" rot="0">
              <a:off x="0" y="0"/>
              <a:ext cx="6858000" cy="694944"/>
            </a:xfrm>
            <a:custGeom>
              <a:avLst/>
              <a:gdLst/>
              <a:ahLst/>
              <a:cxnLst/>
              <a:rect r="r" b="b" t="t" l="l"/>
              <a:pathLst>
                <a:path h="694944" w="6858000">
                  <a:moveTo>
                    <a:pt x="0" y="0"/>
                  </a:moveTo>
                  <a:lnTo>
                    <a:pt x="6858000" y="0"/>
                  </a:lnTo>
                  <a:lnTo>
                    <a:pt x="6858000" y="694944"/>
                  </a:lnTo>
                  <a:lnTo>
                    <a:pt x="0" y="694944"/>
                  </a:lnTo>
                  <a:close/>
                </a:path>
              </a:pathLst>
            </a:custGeom>
            <a:blipFill>
              <a:blip r:embed="rId2">
                <a:alphaModFix amt="0"/>
              </a:blip>
              <a:stretch>
                <a:fillRect l="0" t="-142286" r="0" b="-142286"/>
              </a:stretch>
            </a:blipFill>
          </p:spPr>
        </p:sp>
        <p:sp>
          <p:nvSpPr>
            <p:cNvPr name="TextBox 60" id="60"/>
            <p:cNvSpPr txBox="true"/>
            <p:nvPr/>
          </p:nvSpPr>
          <p:spPr>
            <a:xfrm>
              <a:off x="0" y="-38100"/>
              <a:ext cx="6858000" cy="733044"/>
            </a:xfrm>
            <a:prstGeom prst="rect">
              <a:avLst/>
            </a:prstGeom>
          </p:spPr>
          <p:txBody>
            <a:bodyPr anchor="ctr" rtlCol="false" tIns="0" lIns="0" bIns="0" rIns="0"/>
            <a:lstStyle/>
            <a:p>
              <a:pPr algn="ctr">
                <a:lnSpc>
                  <a:spcPts val="2430"/>
                </a:lnSpc>
              </a:pPr>
              <a:r>
                <a:rPr lang="en-US" sz="2025">
                  <a:solidFill>
                    <a:srgbClr val="6B7280"/>
                  </a:solidFill>
                  <a:latin typeface="Calibri (MS)"/>
                  <a:ea typeface="Calibri (MS)"/>
                  <a:cs typeface="Calibri (MS)"/>
                  <a:sym typeface="Calibri (MS)"/>
                </a:rPr>
                <a:t>Recover</a:t>
              </a:r>
            </a:p>
          </p:txBody>
        </p:sp>
      </p:grpSp>
      <p:grpSp>
        <p:nvGrpSpPr>
          <p:cNvPr name="Group 61" id="61"/>
          <p:cNvGrpSpPr/>
          <p:nvPr/>
        </p:nvGrpSpPr>
        <p:grpSpPr>
          <a:xfrm rot="0">
            <a:off x="12124944" y="6583680"/>
            <a:ext cx="5143500" cy="329184"/>
            <a:chOff x="0" y="0"/>
            <a:chExt cx="6858000" cy="438912"/>
          </a:xfrm>
        </p:grpSpPr>
        <p:sp>
          <p:nvSpPr>
            <p:cNvPr name="Freeform 62" id="62"/>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63" id="63"/>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9AA3B8"/>
                  </a:solidFill>
                  <a:latin typeface="Arimo"/>
                  <a:ea typeface="Arimo"/>
                  <a:cs typeface="Arimo"/>
                  <a:sym typeface="Arimo"/>
                </a:rPr>
                <a:t>RC</a:t>
              </a:r>
            </a:p>
          </p:txBody>
        </p:sp>
      </p:grpSp>
      <p:grpSp>
        <p:nvGrpSpPr>
          <p:cNvPr name="Group 64" id="64"/>
          <p:cNvGrpSpPr/>
          <p:nvPr/>
        </p:nvGrpSpPr>
        <p:grpSpPr>
          <a:xfrm rot="0">
            <a:off x="950595" y="7328535"/>
            <a:ext cx="16341090" cy="1596390"/>
            <a:chOff x="0" y="0"/>
            <a:chExt cx="21788120" cy="2128520"/>
          </a:xfrm>
        </p:grpSpPr>
        <p:sp>
          <p:nvSpPr>
            <p:cNvPr name="Freeform 65" id="65"/>
            <p:cNvSpPr/>
            <p:nvPr/>
          </p:nvSpPr>
          <p:spPr>
            <a:xfrm flipH="false" flipV="false" rot="0">
              <a:off x="0" y="0"/>
              <a:ext cx="21788120" cy="2128520"/>
            </a:xfrm>
            <a:custGeom>
              <a:avLst/>
              <a:gdLst/>
              <a:ahLst/>
              <a:cxnLst/>
              <a:rect r="r" b="b" t="t" l="l"/>
              <a:pathLst>
                <a:path h="2128520" w="21788120">
                  <a:moveTo>
                    <a:pt x="0" y="185039"/>
                  </a:moveTo>
                  <a:cubicBezTo>
                    <a:pt x="0" y="82931"/>
                    <a:pt x="82931" y="0"/>
                    <a:pt x="185039" y="0"/>
                  </a:cubicBezTo>
                  <a:lnTo>
                    <a:pt x="21603081" y="0"/>
                  </a:lnTo>
                  <a:cubicBezTo>
                    <a:pt x="21705317" y="0"/>
                    <a:pt x="21788120" y="82931"/>
                    <a:pt x="21788120" y="185039"/>
                  </a:cubicBezTo>
                  <a:lnTo>
                    <a:pt x="21788120" y="1943481"/>
                  </a:lnTo>
                  <a:cubicBezTo>
                    <a:pt x="21788120" y="2045716"/>
                    <a:pt x="21705190" y="2128520"/>
                    <a:pt x="21603081" y="2128520"/>
                  </a:cubicBezTo>
                  <a:lnTo>
                    <a:pt x="185039" y="2128520"/>
                  </a:lnTo>
                  <a:cubicBezTo>
                    <a:pt x="82931" y="2128520"/>
                    <a:pt x="0" y="2045589"/>
                    <a:pt x="0" y="1943481"/>
                  </a:cubicBezTo>
                  <a:close/>
                </a:path>
              </a:pathLst>
            </a:custGeom>
            <a:solidFill>
              <a:srgbClr val="FBF9F4"/>
            </a:solidFill>
            <a:ln w="19050" cap="sq">
              <a:solidFill>
                <a:srgbClr val="EFE6D2"/>
              </a:solidFill>
              <a:prstDash val="solid"/>
              <a:miter/>
            </a:ln>
          </p:spPr>
        </p:sp>
      </p:grpSp>
      <p:sp>
        <p:nvSpPr>
          <p:cNvPr name="TextBox 66" id="66"/>
          <p:cNvSpPr txBox="true"/>
          <p:nvPr/>
        </p:nvSpPr>
        <p:spPr>
          <a:xfrm rot="0">
            <a:off x="1463040" y="7494270"/>
            <a:ext cx="15316200" cy="1238250"/>
          </a:xfrm>
          <a:prstGeom prst="rect">
            <a:avLst/>
          </a:prstGeom>
        </p:spPr>
        <p:txBody>
          <a:bodyPr anchor="t" rtlCol="false" tIns="0" lIns="0" bIns="0" rIns="0">
            <a:spAutoFit/>
          </a:bodyPr>
          <a:lstStyle/>
          <a:p>
            <a:pPr algn="l">
              <a:lnSpc>
                <a:spcPts val="2880"/>
              </a:lnSpc>
            </a:pPr>
            <a:r>
              <a:rPr lang="en-US" sz="1875">
                <a:solidFill>
                  <a:srgbClr val="23262F"/>
                </a:solidFill>
                <a:latin typeface="Calibri (MS)"/>
                <a:ea typeface="Calibri (MS)"/>
                <a:cs typeface="Calibri (MS)"/>
                <a:sym typeface="Calibri (MS)"/>
              </a:rPr>
              <a:t>This is a safeguard actively reducing risk to a system — a day-to-day control. That's Protect.</a:t>
            </a:r>
          </a:p>
        </p:txBody>
      </p:sp>
      <p:grpSp>
        <p:nvGrpSpPr>
          <p:cNvPr name="Group 67" id="67"/>
          <p:cNvGrpSpPr/>
          <p:nvPr/>
        </p:nvGrpSpPr>
        <p:grpSpPr>
          <a:xfrm rot="0">
            <a:off x="685800" y="9710928"/>
            <a:ext cx="10972800" cy="411480"/>
            <a:chOff x="0" y="0"/>
            <a:chExt cx="14630400" cy="548640"/>
          </a:xfrm>
        </p:grpSpPr>
        <p:sp>
          <p:nvSpPr>
            <p:cNvPr name="Freeform 68" id="68"/>
            <p:cNvSpPr/>
            <p:nvPr/>
          </p:nvSpPr>
          <p:spPr>
            <a:xfrm flipH="false" flipV="false" rot="0">
              <a:off x="0" y="0"/>
              <a:ext cx="14630400" cy="548640"/>
            </a:xfrm>
            <a:custGeom>
              <a:avLst/>
              <a:gdLst/>
              <a:ahLst/>
              <a:cxnLst/>
              <a:rect r="r" b="b" t="t" l="l"/>
              <a:pathLst>
                <a:path h="548640" w="14630400">
                  <a:moveTo>
                    <a:pt x="0" y="0"/>
                  </a:moveTo>
                  <a:lnTo>
                    <a:pt x="14630400" y="0"/>
                  </a:lnTo>
                  <a:lnTo>
                    <a:pt x="14630400" y="548640"/>
                  </a:lnTo>
                  <a:lnTo>
                    <a:pt x="0" y="548640"/>
                  </a:lnTo>
                  <a:close/>
                </a:path>
              </a:pathLst>
            </a:custGeom>
            <a:blipFill>
              <a:blip r:embed="rId2">
                <a:alphaModFix amt="0"/>
              </a:blip>
              <a:stretch>
                <a:fillRect l="0" t="-469601" r="0" b="-469601"/>
              </a:stretch>
            </a:blipFill>
          </p:spPr>
        </p:sp>
        <p:sp>
          <p:nvSpPr>
            <p:cNvPr name="TextBox 69" id="69"/>
            <p:cNvSpPr txBox="true"/>
            <p:nvPr/>
          </p:nvSpPr>
          <p:spPr>
            <a:xfrm>
              <a:off x="0" y="-38100"/>
              <a:ext cx="14630400" cy="586740"/>
            </a:xfrm>
            <a:prstGeom prst="rect">
              <a:avLst/>
            </a:prstGeom>
          </p:spPr>
          <p:txBody>
            <a:bodyPr anchor="ctr" rtlCol="false" tIns="0" lIns="0" bIns="0" rIns="0"/>
            <a:lstStyle/>
            <a:p>
              <a:pPr algn="l">
                <a:lnSpc>
                  <a:spcPts val="1800"/>
                </a:lnSpc>
              </a:pPr>
              <a:r>
                <a:rPr lang="en-US" sz="1500">
                  <a:solidFill>
                    <a:srgbClr val="6B7280"/>
                  </a:solidFill>
                  <a:latin typeface="Calibri (MS)"/>
                  <a:ea typeface="Calibri (MS)"/>
                  <a:cs typeface="Calibri (MS)"/>
                  <a:sym typeface="Calibri (MS)"/>
                </a:rPr>
                <a:t>Davao del Norte Provincial Government — Cybersecurity Seminar</a:t>
              </a:r>
            </a:p>
          </p:txBody>
        </p:sp>
      </p:grpSp>
      <p:grpSp>
        <p:nvGrpSpPr>
          <p:cNvPr name="Group 70" id="70"/>
          <p:cNvGrpSpPr/>
          <p:nvPr/>
        </p:nvGrpSpPr>
        <p:grpSpPr>
          <a:xfrm rot="0">
            <a:off x="16911828" y="9710928"/>
            <a:ext cx="685800" cy="411480"/>
            <a:chOff x="0" y="0"/>
            <a:chExt cx="914400" cy="548640"/>
          </a:xfrm>
        </p:grpSpPr>
        <p:sp>
          <p:nvSpPr>
            <p:cNvPr name="Freeform 71" id="71"/>
            <p:cNvSpPr/>
            <p:nvPr/>
          </p:nvSpPr>
          <p:spPr>
            <a:xfrm flipH="false" flipV="false" rot="0">
              <a:off x="0" y="0"/>
              <a:ext cx="914400" cy="548640"/>
            </a:xfrm>
            <a:custGeom>
              <a:avLst/>
              <a:gdLst/>
              <a:ahLst/>
              <a:cxnLst/>
              <a:rect r="r" b="b" t="t" l="l"/>
              <a:pathLst>
                <a:path h="548640" w="914400">
                  <a:moveTo>
                    <a:pt x="0" y="0"/>
                  </a:moveTo>
                  <a:lnTo>
                    <a:pt x="914400" y="0"/>
                  </a:lnTo>
                  <a:lnTo>
                    <a:pt x="914400" y="548640"/>
                  </a:lnTo>
                  <a:lnTo>
                    <a:pt x="0" y="548640"/>
                  </a:lnTo>
                  <a:close/>
                </a:path>
              </a:pathLst>
            </a:custGeom>
            <a:blipFill>
              <a:blip r:embed="rId2">
                <a:alphaModFix amt="0"/>
              </a:blip>
              <a:stretch>
                <a:fillRect l="-26982" t="0" r="-26982" b="0"/>
              </a:stretch>
            </a:blipFill>
          </p:spPr>
        </p:sp>
        <p:sp>
          <p:nvSpPr>
            <p:cNvPr name="TextBox 72" id="72"/>
            <p:cNvSpPr txBox="true"/>
            <p:nvPr/>
          </p:nvSpPr>
          <p:spPr>
            <a:xfrm>
              <a:off x="0" y="-38100"/>
              <a:ext cx="914400" cy="586740"/>
            </a:xfrm>
            <a:prstGeom prst="rect">
              <a:avLst/>
            </a:prstGeom>
          </p:spPr>
          <p:txBody>
            <a:bodyPr anchor="ctr" rtlCol="false" tIns="0" lIns="0" bIns="0" rIns="0"/>
            <a:lstStyle/>
            <a:p>
              <a:pPr algn="r">
                <a:lnSpc>
                  <a:spcPts val="1800"/>
                </a:lnSpc>
              </a:pPr>
              <a:r>
                <a:rPr lang="en-US" sz="1500">
                  <a:solidFill>
                    <a:srgbClr val="6B7280"/>
                  </a:solidFill>
                  <a:latin typeface="Calibri (MS)"/>
                  <a:ea typeface="Calibri (MS)"/>
                  <a:cs typeface="Calibri (MS)"/>
                  <a:sym typeface="Calibri (MS)"/>
                </a:rPr>
                <a:t>16</a:t>
              </a:r>
            </a:p>
          </p:txBody>
        </p:sp>
      </p:grpSp>
    </p:spTree>
  </p:cSld>
  <p:clrMapOvr>
    <a:masterClrMapping/>
  </p:clrMapOvr>
</p:sld>
</file>

<file path=ppt/slides/slide8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60120" y="685800"/>
            <a:ext cx="13716000" cy="411480"/>
            <a:chOff x="0" y="0"/>
            <a:chExt cx="18288000" cy="548640"/>
          </a:xfrm>
        </p:grpSpPr>
        <p:sp>
          <p:nvSpPr>
            <p:cNvPr name="Freeform 3" id="3"/>
            <p:cNvSpPr/>
            <p:nvPr/>
          </p:nvSpPr>
          <p:spPr>
            <a:xfrm flipH="false" flipV="false" rot="0">
              <a:off x="0" y="0"/>
              <a:ext cx="18288000" cy="548640"/>
            </a:xfrm>
            <a:custGeom>
              <a:avLst/>
              <a:gdLst/>
              <a:ahLst/>
              <a:cxnLst/>
              <a:rect r="r" b="b" t="t" l="l"/>
              <a:pathLst>
                <a:path h="548640" w="18288000">
                  <a:moveTo>
                    <a:pt x="0" y="0"/>
                  </a:moveTo>
                  <a:lnTo>
                    <a:pt x="18288000" y="0"/>
                  </a:lnTo>
                  <a:lnTo>
                    <a:pt x="18288000" y="548640"/>
                  </a:lnTo>
                  <a:lnTo>
                    <a:pt x="0" y="548640"/>
                  </a:lnTo>
                  <a:close/>
                </a:path>
              </a:pathLst>
            </a:custGeom>
            <a:blipFill>
              <a:blip r:embed="rId2">
                <a:alphaModFix amt="0"/>
              </a:blip>
              <a:stretch>
                <a:fillRect l="0" t="-599501" r="0" b="-599501"/>
              </a:stretch>
            </a:blipFill>
          </p:spPr>
        </p:sp>
        <p:sp>
          <p:nvSpPr>
            <p:cNvPr name="TextBox 4" id="4"/>
            <p:cNvSpPr txBox="true"/>
            <p:nvPr/>
          </p:nvSpPr>
          <p:spPr>
            <a:xfrm>
              <a:off x="0" y="-38100"/>
              <a:ext cx="18288000" cy="586740"/>
            </a:xfrm>
            <a:prstGeom prst="rect">
              <a:avLst/>
            </a:prstGeom>
          </p:spPr>
          <p:txBody>
            <a:bodyPr anchor="ctr" rtlCol="false" tIns="0" lIns="0" bIns="0" rIns="0"/>
            <a:lstStyle/>
            <a:p>
              <a:pPr algn="l">
                <a:lnSpc>
                  <a:spcPts val="2160"/>
                </a:lnSpc>
              </a:pPr>
              <a:r>
                <a:rPr lang="en-US" b="true" sz="1800" spc="225">
                  <a:solidFill>
                    <a:srgbClr val="00B4D8"/>
                  </a:solidFill>
                  <a:latin typeface="Calibri (MS) Bold"/>
                  <a:ea typeface="Calibri (MS) Bold"/>
                  <a:cs typeface="Calibri (MS) Bold"/>
                  <a:sym typeface="Calibri (MS) Bold"/>
                </a:rPr>
                <a:t>NIST CSF SORT · SCENARIO</a:t>
              </a:r>
            </a:p>
          </p:txBody>
        </p:sp>
      </p:grpSp>
      <p:grpSp>
        <p:nvGrpSpPr>
          <p:cNvPr name="Group 5" id="5"/>
          <p:cNvGrpSpPr/>
          <p:nvPr/>
        </p:nvGrpSpPr>
        <p:grpSpPr>
          <a:xfrm rot="0">
            <a:off x="960120" y="1069848"/>
            <a:ext cx="10972800" cy="822960"/>
            <a:chOff x="0" y="0"/>
            <a:chExt cx="14630400" cy="1097280"/>
          </a:xfrm>
        </p:grpSpPr>
        <p:sp>
          <p:nvSpPr>
            <p:cNvPr name="Freeform 6" id="6"/>
            <p:cNvSpPr/>
            <p:nvPr/>
          </p:nvSpPr>
          <p:spPr>
            <a:xfrm flipH="false" flipV="false" rot="0">
              <a:off x="0" y="0"/>
              <a:ext cx="14630400" cy="1097280"/>
            </a:xfrm>
            <a:custGeom>
              <a:avLst/>
              <a:gdLst/>
              <a:ahLst/>
              <a:cxnLst/>
              <a:rect r="r" b="b" t="t" l="l"/>
              <a:pathLst>
                <a:path h="1097280" w="14630400">
                  <a:moveTo>
                    <a:pt x="0" y="0"/>
                  </a:moveTo>
                  <a:lnTo>
                    <a:pt x="14630400" y="0"/>
                  </a:lnTo>
                  <a:lnTo>
                    <a:pt x="14630400" y="1097280"/>
                  </a:lnTo>
                  <a:lnTo>
                    <a:pt x="0" y="1097280"/>
                  </a:lnTo>
                  <a:close/>
                </a:path>
              </a:pathLst>
            </a:custGeom>
            <a:blipFill>
              <a:blip r:embed="rId2">
                <a:alphaModFix amt="0"/>
              </a:blip>
              <a:stretch>
                <a:fillRect l="0" t="-209800" r="0" b="-209800"/>
              </a:stretch>
            </a:blipFill>
          </p:spPr>
        </p:sp>
        <p:sp>
          <p:nvSpPr>
            <p:cNvPr name="TextBox 7" id="7"/>
            <p:cNvSpPr txBox="true"/>
            <p:nvPr/>
          </p:nvSpPr>
          <p:spPr>
            <a:xfrm>
              <a:off x="0" y="0"/>
              <a:ext cx="14630400" cy="1097280"/>
            </a:xfrm>
            <a:prstGeom prst="rect">
              <a:avLst/>
            </a:prstGeom>
          </p:spPr>
          <p:txBody>
            <a:bodyPr anchor="ctr" rtlCol="false" tIns="0" lIns="0" bIns="0" rIns="0"/>
            <a:lstStyle/>
            <a:p>
              <a:pPr algn="l">
                <a:lnSpc>
                  <a:spcPts val="4680"/>
                </a:lnSpc>
              </a:pPr>
              <a:r>
                <a:rPr lang="en-US" sz="3900" b="true">
                  <a:solidFill>
                    <a:srgbClr val="1E2761"/>
                  </a:solidFill>
                  <a:latin typeface="Cambria Bold"/>
                  <a:ea typeface="Cambria Bold"/>
                  <a:cs typeface="Cambria Bold"/>
                  <a:sym typeface="Cambria Bold"/>
                </a:rPr>
                <a:t>Scenario 4</a:t>
              </a:r>
            </a:p>
          </p:txBody>
        </p:sp>
      </p:grpSp>
      <p:grpSp>
        <p:nvGrpSpPr>
          <p:cNvPr name="Group 8" id="8"/>
          <p:cNvGrpSpPr/>
          <p:nvPr/>
        </p:nvGrpSpPr>
        <p:grpSpPr>
          <a:xfrm rot="0">
            <a:off x="960120" y="1810512"/>
            <a:ext cx="8229600" cy="411480"/>
            <a:chOff x="0" y="0"/>
            <a:chExt cx="10972800" cy="548640"/>
          </a:xfrm>
        </p:grpSpPr>
        <p:sp>
          <p:nvSpPr>
            <p:cNvPr name="Freeform 9" id="9"/>
            <p:cNvSpPr/>
            <p:nvPr/>
          </p:nvSpPr>
          <p:spPr>
            <a:xfrm flipH="false" flipV="false" rot="0">
              <a:off x="0" y="0"/>
              <a:ext cx="10972800" cy="548640"/>
            </a:xfrm>
            <a:custGeom>
              <a:avLst/>
              <a:gdLst/>
              <a:ahLst/>
              <a:cxnLst/>
              <a:rect r="r" b="b" t="t" l="l"/>
              <a:pathLst>
                <a:path h="548640" w="10972800">
                  <a:moveTo>
                    <a:pt x="0" y="0"/>
                  </a:moveTo>
                  <a:lnTo>
                    <a:pt x="10972800" y="0"/>
                  </a:lnTo>
                  <a:lnTo>
                    <a:pt x="10972800" y="548640"/>
                  </a:lnTo>
                  <a:lnTo>
                    <a:pt x="0" y="548640"/>
                  </a:lnTo>
                  <a:close/>
                </a:path>
              </a:pathLst>
            </a:custGeom>
            <a:blipFill>
              <a:blip r:embed="rId2">
                <a:alphaModFix amt="0"/>
              </a:blip>
              <a:stretch>
                <a:fillRect l="0" t="-339700" r="0" b="-339700"/>
              </a:stretch>
            </a:blipFill>
          </p:spPr>
        </p:sp>
        <p:sp>
          <p:nvSpPr>
            <p:cNvPr name="TextBox 10" id="10"/>
            <p:cNvSpPr txBox="true"/>
            <p:nvPr/>
          </p:nvSpPr>
          <p:spPr>
            <a:xfrm>
              <a:off x="0" y="-28575"/>
              <a:ext cx="10972800" cy="577215"/>
            </a:xfrm>
            <a:prstGeom prst="rect">
              <a:avLst/>
            </a:prstGeom>
          </p:spPr>
          <p:txBody>
            <a:bodyPr anchor="ctr" rtlCol="false" tIns="0" lIns="0" bIns="0" rIns="0"/>
            <a:lstStyle/>
            <a:p>
              <a:pPr algn="l">
                <a:lnSpc>
                  <a:spcPts val="1980"/>
                </a:lnSpc>
              </a:pPr>
              <a:r>
                <a:rPr lang="en-US" sz="1650">
                  <a:solidFill>
                    <a:srgbClr val="6B7280"/>
                  </a:solidFill>
                  <a:latin typeface="Calibri (MS)"/>
                  <a:ea typeface="Calibri (MS)"/>
                  <a:cs typeface="Calibri (MS)"/>
                  <a:sym typeface="Calibri (MS)"/>
                </a:rPr>
                <a:t>4 of 20</a:t>
              </a:r>
            </a:p>
          </p:txBody>
        </p:sp>
      </p:grpSp>
      <p:grpSp>
        <p:nvGrpSpPr>
          <p:cNvPr name="Group 11" id="11"/>
          <p:cNvGrpSpPr/>
          <p:nvPr/>
        </p:nvGrpSpPr>
        <p:grpSpPr>
          <a:xfrm rot="0">
            <a:off x="960120" y="2537460"/>
            <a:ext cx="16322040" cy="2811780"/>
            <a:chOff x="0" y="0"/>
            <a:chExt cx="21762720" cy="3749040"/>
          </a:xfrm>
        </p:grpSpPr>
        <p:sp>
          <p:nvSpPr>
            <p:cNvPr name="Freeform 12" id="12"/>
            <p:cNvSpPr/>
            <p:nvPr/>
          </p:nvSpPr>
          <p:spPr>
            <a:xfrm flipH="false" flipV="false" rot="0">
              <a:off x="0" y="0"/>
              <a:ext cx="21762720" cy="3749040"/>
            </a:xfrm>
            <a:custGeom>
              <a:avLst/>
              <a:gdLst/>
              <a:ahLst/>
              <a:cxnLst/>
              <a:rect r="r" b="b" t="t" l="l"/>
              <a:pathLst>
                <a:path h="3749040" w="21762720">
                  <a:moveTo>
                    <a:pt x="0" y="182880"/>
                  </a:moveTo>
                  <a:cubicBezTo>
                    <a:pt x="0" y="81915"/>
                    <a:pt x="81915" y="0"/>
                    <a:pt x="182880" y="0"/>
                  </a:cubicBezTo>
                  <a:lnTo>
                    <a:pt x="21579839" y="0"/>
                  </a:lnTo>
                  <a:cubicBezTo>
                    <a:pt x="21680804" y="0"/>
                    <a:pt x="21762720" y="81915"/>
                    <a:pt x="21762720" y="182880"/>
                  </a:cubicBezTo>
                  <a:lnTo>
                    <a:pt x="21762720" y="3566160"/>
                  </a:lnTo>
                  <a:cubicBezTo>
                    <a:pt x="21762720" y="3667125"/>
                    <a:pt x="21680804" y="3749040"/>
                    <a:pt x="21579839" y="3749040"/>
                  </a:cubicBezTo>
                  <a:lnTo>
                    <a:pt x="182880" y="3749040"/>
                  </a:lnTo>
                  <a:cubicBezTo>
                    <a:pt x="81915" y="3749040"/>
                    <a:pt x="0" y="3667125"/>
                    <a:pt x="0" y="3566160"/>
                  </a:cubicBezTo>
                  <a:close/>
                </a:path>
              </a:pathLst>
            </a:custGeom>
            <a:solidFill>
              <a:srgbClr val="F4F7FC"/>
            </a:solidFill>
          </p:spPr>
        </p:sp>
      </p:grpSp>
      <p:grpSp>
        <p:nvGrpSpPr>
          <p:cNvPr name="Group 13" id="13"/>
          <p:cNvGrpSpPr/>
          <p:nvPr/>
        </p:nvGrpSpPr>
        <p:grpSpPr>
          <a:xfrm rot="0">
            <a:off x="1440180" y="2811780"/>
            <a:ext cx="15361920" cy="2263140"/>
            <a:chOff x="0" y="0"/>
            <a:chExt cx="20482560" cy="3017520"/>
          </a:xfrm>
        </p:grpSpPr>
        <p:sp>
          <p:nvSpPr>
            <p:cNvPr name="Freeform 14" id="14"/>
            <p:cNvSpPr/>
            <p:nvPr/>
          </p:nvSpPr>
          <p:spPr>
            <a:xfrm flipH="false" flipV="false" rot="0">
              <a:off x="0" y="0"/>
              <a:ext cx="20482561" cy="3017520"/>
            </a:xfrm>
            <a:custGeom>
              <a:avLst/>
              <a:gdLst/>
              <a:ahLst/>
              <a:cxnLst/>
              <a:rect r="r" b="b" t="t" l="l"/>
              <a:pathLst>
                <a:path h="3017520" w="20482561">
                  <a:moveTo>
                    <a:pt x="0" y="0"/>
                  </a:moveTo>
                  <a:lnTo>
                    <a:pt x="20482561" y="0"/>
                  </a:lnTo>
                  <a:lnTo>
                    <a:pt x="20482561" y="3017520"/>
                  </a:lnTo>
                  <a:lnTo>
                    <a:pt x="0" y="3017520"/>
                  </a:lnTo>
                  <a:close/>
                </a:path>
              </a:pathLst>
            </a:custGeom>
            <a:blipFill>
              <a:blip r:embed="rId2">
                <a:alphaModFix amt="0"/>
              </a:blip>
              <a:stretch>
                <a:fillRect l="0" t="-82262" r="0" b="-82262"/>
              </a:stretch>
            </a:blipFill>
          </p:spPr>
        </p:sp>
        <p:sp>
          <p:nvSpPr>
            <p:cNvPr name="TextBox 15" id="15"/>
            <p:cNvSpPr txBox="true"/>
            <p:nvPr/>
          </p:nvSpPr>
          <p:spPr>
            <a:xfrm>
              <a:off x="0" y="-104775"/>
              <a:ext cx="20482560" cy="3122295"/>
            </a:xfrm>
            <a:prstGeom prst="rect">
              <a:avLst/>
            </a:prstGeom>
          </p:spPr>
          <p:txBody>
            <a:bodyPr anchor="ctr" rtlCol="false" tIns="0" lIns="0" bIns="0" rIns="0"/>
            <a:lstStyle/>
            <a:p>
              <a:pPr algn="l">
                <a:lnSpc>
                  <a:spcPts val="4147"/>
                </a:lnSpc>
              </a:pPr>
              <a:r>
                <a:rPr lang="en-US" sz="2700" i="true">
                  <a:solidFill>
                    <a:srgbClr val="23262F"/>
                  </a:solidFill>
                  <a:latin typeface="Cambria Italics"/>
                  <a:ea typeface="Cambria Italics"/>
                  <a:cs typeface="Cambria Italics"/>
                  <a:sym typeface="Cambria Italics"/>
                </a:rPr>
                <a:t>"A monitoring tool flags unusual login attempts on the HR system at 3 AM and alerts the IT officer."</a:t>
              </a:r>
            </a:p>
          </p:txBody>
        </p:sp>
      </p:grpSp>
      <p:sp>
        <p:nvSpPr>
          <p:cNvPr name="TextBox 16" id="16"/>
          <p:cNvSpPr txBox="true"/>
          <p:nvPr/>
        </p:nvSpPr>
        <p:spPr>
          <a:xfrm rot="0">
            <a:off x="1051560" y="5604510"/>
            <a:ext cx="16139160" cy="1276350"/>
          </a:xfrm>
          <a:prstGeom prst="rect">
            <a:avLst/>
          </a:prstGeom>
        </p:spPr>
        <p:txBody>
          <a:bodyPr anchor="t" rtlCol="false" tIns="0" lIns="0" bIns="0" rIns="0">
            <a:spAutoFit/>
          </a:bodyPr>
          <a:lstStyle/>
          <a:p>
            <a:pPr algn="ctr">
              <a:lnSpc>
                <a:spcPts val="3402"/>
              </a:lnSpc>
            </a:pPr>
            <a:r>
              <a:rPr lang="en-US" sz="2100" i="true">
                <a:solidFill>
                  <a:srgbClr val="6B7280"/>
                </a:solidFill>
                <a:latin typeface="Calibri (MS) Italics"/>
                <a:ea typeface="Calibri (MS) Italics"/>
                <a:cs typeface="Calibri (MS) Italics"/>
                <a:sym typeface="Calibri (MS) Italics"/>
              </a:rPr>
              <a:t>Which Function does this belong to — Govern, Identify, Protect, Detect, Respond, or Recover?</a:t>
            </a:r>
          </a:p>
          <a:p>
            <a:pPr algn="ctr">
              <a:lnSpc>
                <a:spcPts val="3402"/>
              </a:lnSpc>
            </a:pPr>
            <a:r>
              <a:rPr lang="en-US" sz="2100" i="true">
                <a:solidFill>
                  <a:srgbClr val="6B7280"/>
                </a:solidFill>
                <a:latin typeface="Calibri (MS) Italics"/>
                <a:ea typeface="Calibri (MS) Italics"/>
                <a:cs typeface="Calibri (MS) Italics"/>
                <a:sym typeface="Calibri (MS) Italics"/>
              </a:rPr>
              <a:t>Some belong to more than one. Discuss, then we'll reveal the answer.</a:t>
            </a:r>
          </a:p>
        </p:txBody>
      </p:sp>
      <p:grpSp>
        <p:nvGrpSpPr>
          <p:cNvPr name="Group 17" id="17"/>
          <p:cNvGrpSpPr/>
          <p:nvPr/>
        </p:nvGrpSpPr>
        <p:grpSpPr>
          <a:xfrm rot="0">
            <a:off x="950595" y="7122795"/>
            <a:ext cx="5162550" cy="910590"/>
            <a:chOff x="0" y="0"/>
            <a:chExt cx="6883400" cy="1214120"/>
          </a:xfrm>
        </p:grpSpPr>
        <p:sp>
          <p:nvSpPr>
            <p:cNvPr name="Freeform 18" id="18"/>
            <p:cNvSpPr/>
            <p:nvPr/>
          </p:nvSpPr>
          <p:spPr>
            <a:xfrm flipH="false" flipV="false" rot="0">
              <a:off x="0" y="0"/>
              <a:ext cx="6883400" cy="1214120"/>
            </a:xfrm>
            <a:custGeom>
              <a:avLst/>
              <a:gdLst/>
              <a:ahLst/>
              <a:cxnLst/>
              <a:rect r="r" b="b" t="t" l="l"/>
              <a:pathLst>
                <a:path h="1214120" w="6883400">
                  <a:moveTo>
                    <a:pt x="0" y="168148"/>
                  </a:moveTo>
                  <a:cubicBezTo>
                    <a:pt x="0" y="75311"/>
                    <a:pt x="75311" y="0"/>
                    <a:pt x="168148" y="0"/>
                  </a:cubicBezTo>
                  <a:lnTo>
                    <a:pt x="6715252" y="0"/>
                  </a:lnTo>
                  <a:cubicBezTo>
                    <a:pt x="6808089" y="0"/>
                    <a:pt x="6883400" y="75311"/>
                    <a:pt x="6883400" y="168148"/>
                  </a:cubicBezTo>
                  <a:lnTo>
                    <a:pt x="6883400" y="1045972"/>
                  </a:lnTo>
                  <a:cubicBezTo>
                    <a:pt x="6883400" y="1138809"/>
                    <a:pt x="6808089" y="1214120"/>
                    <a:pt x="6715252" y="1214120"/>
                  </a:cubicBezTo>
                  <a:lnTo>
                    <a:pt x="168148" y="1214120"/>
                  </a:lnTo>
                  <a:cubicBezTo>
                    <a:pt x="75311" y="1214120"/>
                    <a:pt x="0" y="1138809"/>
                    <a:pt x="0" y="1045972"/>
                  </a:cubicBezTo>
                  <a:close/>
                </a:path>
              </a:pathLst>
            </a:custGeom>
            <a:solidFill>
              <a:srgbClr val="F4F7FC"/>
            </a:solidFill>
            <a:ln w="19050" cap="sq">
              <a:solidFill>
                <a:srgbClr val="D7DCEC"/>
              </a:solidFill>
              <a:prstDash val="solid"/>
              <a:miter/>
            </a:ln>
          </p:spPr>
        </p:sp>
      </p:grpSp>
      <p:grpSp>
        <p:nvGrpSpPr>
          <p:cNvPr name="Group 19" id="19"/>
          <p:cNvGrpSpPr/>
          <p:nvPr/>
        </p:nvGrpSpPr>
        <p:grpSpPr>
          <a:xfrm rot="0">
            <a:off x="960120" y="7200900"/>
            <a:ext cx="5143500" cy="589788"/>
            <a:chOff x="0" y="0"/>
            <a:chExt cx="6858000" cy="786384"/>
          </a:xfrm>
        </p:grpSpPr>
        <p:sp>
          <p:nvSpPr>
            <p:cNvPr name="Freeform 20" id="20"/>
            <p:cNvSpPr/>
            <p:nvPr/>
          </p:nvSpPr>
          <p:spPr>
            <a:xfrm flipH="false" flipV="false" rot="0">
              <a:off x="0" y="0"/>
              <a:ext cx="6858000" cy="786384"/>
            </a:xfrm>
            <a:custGeom>
              <a:avLst/>
              <a:gdLst/>
              <a:ahLst/>
              <a:cxnLst/>
              <a:rect r="r" b="b" t="t" l="l"/>
              <a:pathLst>
                <a:path h="786384" w="6858000">
                  <a:moveTo>
                    <a:pt x="0" y="0"/>
                  </a:moveTo>
                  <a:lnTo>
                    <a:pt x="6858000" y="0"/>
                  </a:lnTo>
                  <a:lnTo>
                    <a:pt x="6858000" y="786384"/>
                  </a:lnTo>
                  <a:lnTo>
                    <a:pt x="0" y="786384"/>
                  </a:lnTo>
                  <a:close/>
                </a:path>
              </a:pathLst>
            </a:custGeom>
            <a:blipFill>
              <a:blip r:embed="rId2">
                <a:alphaModFix amt="0"/>
              </a:blip>
              <a:stretch>
                <a:fillRect l="0" t="-119927" r="0" b="-119927"/>
              </a:stretch>
            </a:blipFill>
          </p:spPr>
        </p:sp>
        <p:sp>
          <p:nvSpPr>
            <p:cNvPr name="TextBox 21" id="21"/>
            <p:cNvSpPr txBox="true"/>
            <p:nvPr/>
          </p:nvSpPr>
          <p:spPr>
            <a:xfrm>
              <a:off x="0" y="-38100"/>
              <a:ext cx="6858000" cy="824484"/>
            </a:xfrm>
            <a:prstGeom prst="rect">
              <a:avLst/>
            </a:prstGeom>
          </p:spPr>
          <p:txBody>
            <a:bodyPr anchor="ctr" rtlCol="false" tIns="0" lIns="0" bIns="0" rIns="0"/>
            <a:lstStyle/>
            <a:p>
              <a:pPr algn="ctr">
                <a:lnSpc>
                  <a:spcPts val="2430"/>
                </a:lnSpc>
              </a:pPr>
              <a:r>
                <a:rPr lang="en-US" sz="2025">
                  <a:solidFill>
                    <a:srgbClr val="6B7280"/>
                  </a:solidFill>
                  <a:latin typeface="Calibri (MS)"/>
                  <a:ea typeface="Calibri (MS)"/>
                  <a:cs typeface="Calibri (MS)"/>
                  <a:sym typeface="Calibri (MS)"/>
                </a:rPr>
                <a:t>Govern</a:t>
              </a:r>
            </a:p>
          </p:txBody>
        </p:sp>
      </p:grpSp>
      <p:grpSp>
        <p:nvGrpSpPr>
          <p:cNvPr name="Group 22" id="22"/>
          <p:cNvGrpSpPr/>
          <p:nvPr/>
        </p:nvGrpSpPr>
        <p:grpSpPr>
          <a:xfrm rot="0">
            <a:off x="960120" y="7639812"/>
            <a:ext cx="5143500" cy="329184"/>
            <a:chOff x="0" y="0"/>
            <a:chExt cx="6858000" cy="438912"/>
          </a:xfrm>
        </p:grpSpPr>
        <p:sp>
          <p:nvSpPr>
            <p:cNvPr name="Freeform 23" id="23"/>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24" id="24"/>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9AA3B8"/>
                  </a:solidFill>
                  <a:latin typeface="Arimo"/>
                  <a:ea typeface="Arimo"/>
                  <a:cs typeface="Arimo"/>
                  <a:sym typeface="Arimo"/>
                </a:rPr>
                <a:t>GV</a:t>
              </a:r>
            </a:p>
          </p:txBody>
        </p:sp>
      </p:grpSp>
      <p:grpSp>
        <p:nvGrpSpPr>
          <p:cNvPr name="Group 25" id="25"/>
          <p:cNvGrpSpPr/>
          <p:nvPr/>
        </p:nvGrpSpPr>
        <p:grpSpPr>
          <a:xfrm rot="0">
            <a:off x="6533007" y="7122795"/>
            <a:ext cx="5162550" cy="910590"/>
            <a:chOff x="0" y="0"/>
            <a:chExt cx="6883400" cy="1214120"/>
          </a:xfrm>
        </p:grpSpPr>
        <p:sp>
          <p:nvSpPr>
            <p:cNvPr name="Freeform 26" id="26"/>
            <p:cNvSpPr/>
            <p:nvPr/>
          </p:nvSpPr>
          <p:spPr>
            <a:xfrm flipH="false" flipV="false" rot="0">
              <a:off x="0" y="0"/>
              <a:ext cx="6883400" cy="1214120"/>
            </a:xfrm>
            <a:custGeom>
              <a:avLst/>
              <a:gdLst/>
              <a:ahLst/>
              <a:cxnLst/>
              <a:rect r="r" b="b" t="t" l="l"/>
              <a:pathLst>
                <a:path h="1214120" w="6883400">
                  <a:moveTo>
                    <a:pt x="0" y="168148"/>
                  </a:moveTo>
                  <a:cubicBezTo>
                    <a:pt x="0" y="75311"/>
                    <a:pt x="75311" y="0"/>
                    <a:pt x="168148" y="0"/>
                  </a:cubicBezTo>
                  <a:lnTo>
                    <a:pt x="6715252" y="0"/>
                  </a:lnTo>
                  <a:cubicBezTo>
                    <a:pt x="6808089" y="0"/>
                    <a:pt x="6883400" y="75311"/>
                    <a:pt x="6883400" y="168148"/>
                  </a:cubicBezTo>
                  <a:lnTo>
                    <a:pt x="6883400" y="1045972"/>
                  </a:lnTo>
                  <a:cubicBezTo>
                    <a:pt x="6883400" y="1138809"/>
                    <a:pt x="6808089" y="1214120"/>
                    <a:pt x="6715252" y="1214120"/>
                  </a:cubicBezTo>
                  <a:lnTo>
                    <a:pt x="168148" y="1214120"/>
                  </a:lnTo>
                  <a:cubicBezTo>
                    <a:pt x="75311" y="1214120"/>
                    <a:pt x="0" y="1138809"/>
                    <a:pt x="0" y="1045972"/>
                  </a:cubicBezTo>
                  <a:close/>
                </a:path>
              </a:pathLst>
            </a:custGeom>
            <a:solidFill>
              <a:srgbClr val="F4F7FC"/>
            </a:solidFill>
            <a:ln w="19050" cap="sq">
              <a:solidFill>
                <a:srgbClr val="D7DCEC"/>
              </a:solidFill>
              <a:prstDash val="solid"/>
              <a:miter/>
            </a:ln>
          </p:spPr>
        </p:sp>
      </p:grpSp>
      <p:grpSp>
        <p:nvGrpSpPr>
          <p:cNvPr name="Group 27" id="27"/>
          <p:cNvGrpSpPr/>
          <p:nvPr/>
        </p:nvGrpSpPr>
        <p:grpSpPr>
          <a:xfrm rot="0">
            <a:off x="6542532" y="7200900"/>
            <a:ext cx="5143500" cy="589788"/>
            <a:chOff x="0" y="0"/>
            <a:chExt cx="6858000" cy="786384"/>
          </a:xfrm>
        </p:grpSpPr>
        <p:sp>
          <p:nvSpPr>
            <p:cNvPr name="Freeform 28" id="28"/>
            <p:cNvSpPr/>
            <p:nvPr/>
          </p:nvSpPr>
          <p:spPr>
            <a:xfrm flipH="false" flipV="false" rot="0">
              <a:off x="0" y="0"/>
              <a:ext cx="6858000" cy="786384"/>
            </a:xfrm>
            <a:custGeom>
              <a:avLst/>
              <a:gdLst/>
              <a:ahLst/>
              <a:cxnLst/>
              <a:rect r="r" b="b" t="t" l="l"/>
              <a:pathLst>
                <a:path h="786384" w="6858000">
                  <a:moveTo>
                    <a:pt x="0" y="0"/>
                  </a:moveTo>
                  <a:lnTo>
                    <a:pt x="6858000" y="0"/>
                  </a:lnTo>
                  <a:lnTo>
                    <a:pt x="6858000" y="786384"/>
                  </a:lnTo>
                  <a:lnTo>
                    <a:pt x="0" y="786384"/>
                  </a:lnTo>
                  <a:close/>
                </a:path>
              </a:pathLst>
            </a:custGeom>
            <a:blipFill>
              <a:blip r:embed="rId2">
                <a:alphaModFix amt="0"/>
              </a:blip>
              <a:stretch>
                <a:fillRect l="0" t="-119927" r="0" b="-119927"/>
              </a:stretch>
            </a:blipFill>
          </p:spPr>
        </p:sp>
        <p:sp>
          <p:nvSpPr>
            <p:cNvPr name="TextBox 29" id="29"/>
            <p:cNvSpPr txBox="true"/>
            <p:nvPr/>
          </p:nvSpPr>
          <p:spPr>
            <a:xfrm>
              <a:off x="0" y="-38100"/>
              <a:ext cx="6858000" cy="824484"/>
            </a:xfrm>
            <a:prstGeom prst="rect">
              <a:avLst/>
            </a:prstGeom>
          </p:spPr>
          <p:txBody>
            <a:bodyPr anchor="ctr" rtlCol="false" tIns="0" lIns="0" bIns="0" rIns="0"/>
            <a:lstStyle/>
            <a:p>
              <a:pPr algn="ctr">
                <a:lnSpc>
                  <a:spcPts val="2430"/>
                </a:lnSpc>
              </a:pPr>
              <a:r>
                <a:rPr lang="en-US" sz="2025">
                  <a:solidFill>
                    <a:srgbClr val="6B7280"/>
                  </a:solidFill>
                  <a:latin typeface="Calibri (MS)"/>
                  <a:ea typeface="Calibri (MS)"/>
                  <a:cs typeface="Calibri (MS)"/>
                  <a:sym typeface="Calibri (MS)"/>
                </a:rPr>
                <a:t>Identify</a:t>
              </a:r>
            </a:p>
          </p:txBody>
        </p:sp>
      </p:grpSp>
      <p:grpSp>
        <p:nvGrpSpPr>
          <p:cNvPr name="Group 30" id="30"/>
          <p:cNvGrpSpPr/>
          <p:nvPr/>
        </p:nvGrpSpPr>
        <p:grpSpPr>
          <a:xfrm rot="0">
            <a:off x="6542532" y="7639812"/>
            <a:ext cx="5143500" cy="329184"/>
            <a:chOff x="0" y="0"/>
            <a:chExt cx="6858000" cy="438912"/>
          </a:xfrm>
        </p:grpSpPr>
        <p:sp>
          <p:nvSpPr>
            <p:cNvPr name="Freeform 31" id="31"/>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32" id="32"/>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9AA3B8"/>
                  </a:solidFill>
                  <a:latin typeface="Arimo"/>
                  <a:ea typeface="Arimo"/>
                  <a:cs typeface="Arimo"/>
                  <a:sym typeface="Arimo"/>
                </a:rPr>
                <a:t>ID</a:t>
              </a:r>
            </a:p>
          </p:txBody>
        </p:sp>
      </p:grpSp>
      <p:grpSp>
        <p:nvGrpSpPr>
          <p:cNvPr name="Group 33" id="33"/>
          <p:cNvGrpSpPr/>
          <p:nvPr/>
        </p:nvGrpSpPr>
        <p:grpSpPr>
          <a:xfrm rot="0">
            <a:off x="12115419" y="7122795"/>
            <a:ext cx="5162550" cy="910590"/>
            <a:chOff x="0" y="0"/>
            <a:chExt cx="6883400" cy="1214120"/>
          </a:xfrm>
        </p:grpSpPr>
        <p:sp>
          <p:nvSpPr>
            <p:cNvPr name="Freeform 34" id="34"/>
            <p:cNvSpPr/>
            <p:nvPr/>
          </p:nvSpPr>
          <p:spPr>
            <a:xfrm flipH="false" flipV="false" rot="0">
              <a:off x="0" y="0"/>
              <a:ext cx="6883400" cy="1214120"/>
            </a:xfrm>
            <a:custGeom>
              <a:avLst/>
              <a:gdLst/>
              <a:ahLst/>
              <a:cxnLst/>
              <a:rect r="r" b="b" t="t" l="l"/>
              <a:pathLst>
                <a:path h="1214120" w="6883400">
                  <a:moveTo>
                    <a:pt x="0" y="168148"/>
                  </a:moveTo>
                  <a:cubicBezTo>
                    <a:pt x="0" y="75311"/>
                    <a:pt x="75311" y="0"/>
                    <a:pt x="168148" y="0"/>
                  </a:cubicBezTo>
                  <a:lnTo>
                    <a:pt x="6715252" y="0"/>
                  </a:lnTo>
                  <a:cubicBezTo>
                    <a:pt x="6808089" y="0"/>
                    <a:pt x="6883400" y="75311"/>
                    <a:pt x="6883400" y="168148"/>
                  </a:cubicBezTo>
                  <a:lnTo>
                    <a:pt x="6883400" y="1045972"/>
                  </a:lnTo>
                  <a:cubicBezTo>
                    <a:pt x="6883400" y="1138809"/>
                    <a:pt x="6808089" y="1214120"/>
                    <a:pt x="6715252" y="1214120"/>
                  </a:cubicBezTo>
                  <a:lnTo>
                    <a:pt x="168148" y="1214120"/>
                  </a:lnTo>
                  <a:cubicBezTo>
                    <a:pt x="75311" y="1214120"/>
                    <a:pt x="0" y="1138809"/>
                    <a:pt x="0" y="1045972"/>
                  </a:cubicBezTo>
                  <a:close/>
                </a:path>
              </a:pathLst>
            </a:custGeom>
            <a:solidFill>
              <a:srgbClr val="F4F7FC"/>
            </a:solidFill>
            <a:ln w="19050" cap="sq">
              <a:solidFill>
                <a:srgbClr val="D7DCEC"/>
              </a:solidFill>
              <a:prstDash val="solid"/>
              <a:miter/>
            </a:ln>
          </p:spPr>
        </p:sp>
      </p:grpSp>
      <p:grpSp>
        <p:nvGrpSpPr>
          <p:cNvPr name="Group 35" id="35"/>
          <p:cNvGrpSpPr/>
          <p:nvPr/>
        </p:nvGrpSpPr>
        <p:grpSpPr>
          <a:xfrm rot="0">
            <a:off x="12124944" y="7200900"/>
            <a:ext cx="5143500" cy="589788"/>
            <a:chOff x="0" y="0"/>
            <a:chExt cx="6858000" cy="786384"/>
          </a:xfrm>
        </p:grpSpPr>
        <p:sp>
          <p:nvSpPr>
            <p:cNvPr name="Freeform 36" id="36"/>
            <p:cNvSpPr/>
            <p:nvPr/>
          </p:nvSpPr>
          <p:spPr>
            <a:xfrm flipH="false" flipV="false" rot="0">
              <a:off x="0" y="0"/>
              <a:ext cx="6858000" cy="786384"/>
            </a:xfrm>
            <a:custGeom>
              <a:avLst/>
              <a:gdLst/>
              <a:ahLst/>
              <a:cxnLst/>
              <a:rect r="r" b="b" t="t" l="l"/>
              <a:pathLst>
                <a:path h="786384" w="6858000">
                  <a:moveTo>
                    <a:pt x="0" y="0"/>
                  </a:moveTo>
                  <a:lnTo>
                    <a:pt x="6858000" y="0"/>
                  </a:lnTo>
                  <a:lnTo>
                    <a:pt x="6858000" y="786384"/>
                  </a:lnTo>
                  <a:lnTo>
                    <a:pt x="0" y="786384"/>
                  </a:lnTo>
                  <a:close/>
                </a:path>
              </a:pathLst>
            </a:custGeom>
            <a:blipFill>
              <a:blip r:embed="rId2">
                <a:alphaModFix amt="0"/>
              </a:blip>
              <a:stretch>
                <a:fillRect l="0" t="-119927" r="0" b="-119927"/>
              </a:stretch>
            </a:blipFill>
          </p:spPr>
        </p:sp>
        <p:sp>
          <p:nvSpPr>
            <p:cNvPr name="TextBox 37" id="37"/>
            <p:cNvSpPr txBox="true"/>
            <p:nvPr/>
          </p:nvSpPr>
          <p:spPr>
            <a:xfrm>
              <a:off x="0" y="-38100"/>
              <a:ext cx="6858000" cy="824484"/>
            </a:xfrm>
            <a:prstGeom prst="rect">
              <a:avLst/>
            </a:prstGeom>
          </p:spPr>
          <p:txBody>
            <a:bodyPr anchor="ctr" rtlCol="false" tIns="0" lIns="0" bIns="0" rIns="0"/>
            <a:lstStyle/>
            <a:p>
              <a:pPr algn="ctr">
                <a:lnSpc>
                  <a:spcPts val="2430"/>
                </a:lnSpc>
              </a:pPr>
              <a:r>
                <a:rPr lang="en-US" sz="2025">
                  <a:solidFill>
                    <a:srgbClr val="6B7280"/>
                  </a:solidFill>
                  <a:latin typeface="Calibri (MS)"/>
                  <a:ea typeface="Calibri (MS)"/>
                  <a:cs typeface="Calibri (MS)"/>
                  <a:sym typeface="Calibri (MS)"/>
                </a:rPr>
                <a:t>Protect</a:t>
              </a:r>
            </a:p>
          </p:txBody>
        </p:sp>
      </p:grpSp>
      <p:grpSp>
        <p:nvGrpSpPr>
          <p:cNvPr name="Group 38" id="38"/>
          <p:cNvGrpSpPr/>
          <p:nvPr/>
        </p:nvGrpSpPr>
        <p:grpSpPr>
          <a:xfrm rot="0">
            <a:off x="12124944" y="7639812"/>
            <a:ext cx="5143500" cy="329184"/>
            <a:chOff x="0" y="0"/>
            <a:chExt cx="6858000" cy="438912"/>
          </a:xfrm>
        </p:grpSpPr>
        <p:sp>
          <p:nvSpPr>
            <p:cNvPr name="Freeform 39" id="39"/>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40" id="40"/>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9AA3B8"/>
                  </a:solidFill>
                  <a:latin typeface="Arimo"/>
                  <a:ea typeface="Arimo"/>
                  <a:cs typeface="Arimo"/>
                  <a:sym typeface="Arimo"/>
                </a:rPr>
                <a:t>PR</a:t>
              </a:r>
            </a:p>
          </p:txBody>
        </p:sp>
      </p:grpSp>
      <p:grpSp>
        <p:nvGrpSpPr>
          <p:cNvPr name="Group 41" id="41"/>
          <p:cNvGrpSpPr/>
          <p:nvPr/>
        </p:nvGrpSpPr>
        <p:grpSpPr>
          <a:xfrm rot="0">
            <a:off x="950595" y="8288655"/>
            <a:ext cx="5162550" cy="910590"/>
            <a:chOff x="0" y="0"/>
            <a:chExt cx="6883400" cy="1214120"/>
          </a:xfrm>
        </p:grpSpPr>
        <p:sp>
          <p:nvSpPr>
            <p:cNvPr name="Freeform 42" id="42"/>
            <p:cNvSpPr/>
            <p:nvPr/>
          </p:nvSpPr>
          <p:spPr>
            <a:xfrm flipH="false" flipV="false" rot="0">
              <a:off x="0" y="0"/>
              <a:ext cx="6883400" cy="1214120"/>
            </a:xfrm>
            <a:custGeom>
              <a:avLst/>
              <a:gdLst/>
              <a:ahLst/>
              <a:cxnLst/>
              <a:rect r="r" b="b" t="t" l="l"/>
              <a:pathLst>
                <a:path h="1214120" w="6883400">
                  <a:moveTo>
                    <a:pt x="0" y="168148"/>
                  </a:moveTo>
                  <a:cubicBezTo>
                    <a:pt x="0" y="75311"/>
                    <a:pt x="75311" y="0"/>
                    <a:pt x="168148" y="0"/>
                  </a:cubicBezTo>
                  <a:lnTo>
                    <a:pt x="6715252" y="0"/>
                  </a:lnTo>
                  <a:cubicBezTo>
                    <a:pt x="6808089" y="0"/>
                    <a:pt x="6883400" y="75311"/>
                    <a:pt x="6883400" y="168148"/>
                  </a:cubicBezTo>
                  <a:lnTo>
                    <a:pt x="6883400" y="1045972"/>
                  </a:lnTo>
                  <a:cubicBezTo>
                    <a:pt x="6883400" y="1138809"/>
                    <a:pt x="6808089" y="1214120"/>
                    <a:pt x="6715252" y="1214120"/>
                  </a:cubicBezTo>
                  <a:lnTo>
                    <a:pt x="168148" y="1214120"/>
                  </a:lnTo>
                  <a:cubicBezTo>
                    <a:pt x="75311" y="1214120"/>
                    <a:pt x="0" y="1138809"/>
                    <a:pt x="0" y="1045972"/>
                  </a:cubicBezTo>
                  <a:close/>
                </a:path>
              </a:pathLst>
            </a:custGeom>
            <a:solidFill>
              <a:srgbClr val="F4F7FC"/>
            </a:solidFill>
            <a:ln w="19050" cap="sq">
              <a:solidFill>
                <a:srgbClr val="D7DCEC"/>
              </a:solidFill>
              <a:prstDash val="solid"/>
              <a:miter/>
            </a:ln>
          </p:spPr>
        </p:sp>
      </p:grpSp>
      <p:grpSp>
        <p:nvGrpSpPr>
          <p:cNvPr name="Group 43" id="43"/>
          <p:cNvGrpSpPr/>
          <p:nvPr/>
        </p:nvGrpSpPr>
        <p:grpSpPr>
          <a:xfrm rot="0">
            <a:off x="960120" y="8366760"/>
            <a:ext cx="5143500" cy="589788"/>
            <a:chOff x="0" y="0"/>
            <a:chExt cx="6858000" cy="786384"/>
          </a:xfrm>
        </p:grpSpPr>
        <p:sp>
          <p:nvSpPr>
            <p:cNvPr name="Freeform 44" id="44"/>
            <p:cNvSpPr/>
            <p:nvPr/>
          </p:nvSpPr>
          <p:spPr>
            <a:xfrm flipH="false" flipV="false" rot="0">
              <a:off x="0" y="0"/>
              <a:ext cx="6858000" cy="786384"/>
            </a:xfrm>
            <a:custGeom>
              <a:avLst/>
              <a:gdLst/>
              <a:ahLst/>
              <a:cxnLst/>
              <a:rect r="r" b="b" t="t" l="l"/>
              <a:pathLst>
                <a:path h="786384" w="6858000">
                  <a:moveTo>
                    <a:pt x="0" y="0"/>
                  </a:moveTo>
                  <a:lnTo>
                    <a:pt x="6858000" y="0"/>
                  </a:lnTo>
                  <a:lnTo>
                    <a:pt x="6858000" y="786384"/>
                  </a:lnTo>
                  <a:lnTo>
                    <a:pt x="0" y="786384"/>
                  </a:lnTo>
                  <a:close/>
                </a:path>
              </a:pathLst>
            </a:custGeom>
            <a:blipFill>
              <a:blip r:embed="rId2">
                <a:alphaModFix amt="0"/>
              </a:blip>
              <a:stretch>
                <a:fillRect l="0" t="-119927" r="0" b="-119927"/>
              </a:stretch>
            </a:blipFill>
          </p:spPr>
        </p:sp>
        <p:sp>
          <p:nvSpPr>
            <p:cNvPr name="TextBox 45" id="45"/>
            <p:cNvSpPr txBox="true"/>
            <p:nvPr/>
          </p:nvSpPr>
          <p:spPr>
            <a:xfrm>
              <a:off x="0" y="-38100"/>
              <a:ext cx="6858000" cy="824484"/>
            </a:xfrm>
            <a:prstGeom prst="rect">
              <a:avLst/>
            </a:prstGeom>
          </p:spPr>
          <p:txBody>
            <a:bodyPr anchor="ctr" rtlCol="false" tIns="0" lIns="0" bIns="0" rIns="0"/>
            <a:lstStyle/>
            <a:p>
              <a:pPr algn="ctr">
                <a:lnSpc>
                  <a:spcPts val="2430"/>
                </a:lnSpc>
              </a:pPr>
              <a:r>
                <a:rPr lang="en-US" sz="2025">
                  <a:solidFill>
                    <a:srgbClr val="6B7280"/>
                  </a:solidFill>
                  <a:latin typeface="Calibri (MS)"/>
                  <a:ea typeface="Calibri (MS)"/>
                  <a:cs typeface="Calibri (MS)"/>
                  <a:sym typeface="Calibri (MS)"/>
                </a:rPr>
                <a:t>Detect</a:t>
              </a:r>
            </a:p>
          </p:txBody>
        </p:sp>
      </p:grpSp>
      <p:grpSp>
        <p:nvGrpSpPr>
          <p:cNvPr name="Group 46" id="46"/>
          <p:cNvGrpSpPr/>
          <p:nvPr/>
        </p:nvGrpSpPr>
        <p:grpSpPr>
          <a:xfrm rot="0">
            <a:off x="960120" y="8805672"/>
            <a:ext cx="5143500" cy="329184"/>
            <a:chOff x="0" y="0"/>
            <a:chExt cx="6858000" cy="438912"/>
          </a:xfrm>
        </p:grpSpPr>
        <p:sp>
          <p:nvSpPr>
            <p:cNvPr name="Freeform 47" id="47"/>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48" id="48"/>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9AA3B8"/>
                  </a:solidFill>
                  <a:latin typeface="Arimo"/>
                  <a:ea typeface="Arimo"/>
                  <a:cs typeface="Arimo"/>
                  <a:sym typeface="Arimo"/>
                </a:rPr>
                <a:t>DE</a:t>
              </a:r>
            </a:p>
          </p:txBody>
        </p:sp>
      </p:grpSp>
      <p:grpSp>
        <p:nvGrpSpPr>
          <p:cNvPr name="Group 49" id="49"/>
          <p:cNvGrpSpPr/>
          <p:nvPr/>
        </p:nvGrpSpPr>
        <p:grpSpPr>
          <a:xfrm rot="0">
            <a:off x="6533007" y="8288655"/>
            <a:ext cx="5162550" cy="910590"/>
            <a:chOff x="0" y="0"/>
            <a:chExt cx="6883400" cy="1214120"/>
          </a:xfrm>
        </p:grpSpPr>
        <p:sp>
          <p:nvSpPr>
            <p:cNvPr name="Freeform 50" id="50"/>
            <p:cNvSpPr/>
            <p:nvPr/>
          </p:nvSpPr>
          <p:spPr>
            <a:xfrm flipH="false" flipV="false" rot="0">
              <a:off x="0" y="0"/>
              <a:ext cx="6883400" cy="1214120"/>
            </a:xfrm>
            <a:custGeom>
              <a:avLst/>
              <a:gdLst/>
              <a:ahLst/>
              <a:cxnLst/>
              <a:rect r="r" b="b" t="t" l="l"/>
              <a:pathLst>
                <a:path h="1214120" w="6883400">
                  <a:moveTo>
                    <a:pt x="0" y="168148"/>
                  </a:moveTo>
                  <a:cubicBezTo>
                    <a:pt x="0" y="75311"/>
                    <a:pt x="75311" y="0"/>
                    <a:pt x="168148" y="0"/>
                  </a:cubicBezTo>
                  <a:lnTo>
                    <a:pt x="6715252" y="0"/>
                  </a:lnTo>
                  <a:cubicBezTo>
                    <a:pt x="6808089" y="0"/>
                    <a:pt x="6883400" y="75311"/>
                    <a:pt x="6883400" y="168148"/>
                  </a:cubicBezTo>
                  <a:lnTo>
                    <a:pt x="6883400" y="1045972"/>
                  </a:lnTo>
                  <a:cubicBezTo>
                    <a:pt x="6883400" y="1138809"/>
                    <a:pt x="6808089" y="1214120"/>
                    <a:pt x="6715252" y="1214120"/>
                  </a:cubicBezTo>
                  <a:lnTo>
                    <a:pt x="168148" y="1214120"/>
                  </a:lnTo>
                  <a:cubicBezTo>
                    <a:pt x="75311" y="1214120"/>
                    <a:pt x="0" y="1138809"/>
                    <a:pt x="0" y="1045972"/>
                  </a:cubicBezTo>
                  <a:close/>
                </a:path>
              </a:pathLst>
            </a:custGeom>
            <a:solidFill>
              <a:srgbClr val="F4F7FC"/>
            </a:solidFill>
            <a:ln w="19050" cap="sq">
              <a:solidFill>
                <a:srgbClr val="D7DCEC"/>
              </a:solidFill>
              <a:prstDash val="solid"/>
              <a:miter/>
            </a:ln>
          </p:spPr>
        </p:sp>
      </p:grpSp>
      <p:grpSp>
        <p:nvGrpSpPr>
          <p:cNvPr name="Group 51" id="51"/>
          <p:cNvGrpSpPr/>
          <p:nvPr/>
        </p:nvGrpSpPr>
        <p:grpSpPr>
          <a:xfrm rot="0">
            <a:off x="6542532" y="8366760"/>
            <a:ext cx="5143500" cy="589788"/>
            <a:chOff x="0" y="0"/>
            <a:chExt cx="6858000" cy="786384"/>
          </a:xfrm>
        </p:grpSpPr>
        <p:sp>
          <p:nvSpPr>
            <p:cNvPr name="Freeform 52" id="52"/>
            <p:cNvSpPr/>
            <p:nvPr/>
          </p:nvSpPr>
          <p:spPr>
            <a:xfrm flipH="false" flipV="false" rot="0">
              <a:off x="0" y="0"/>
              <a:ext cx="6858000" cy="786384"/>
            </a:xfrm>
            <a:custGeom>
              <a:avLst/>
              <a:gdLst/>
              <a:ahLst/>
              <a:cxnLst/>
              <a:rect r="r" b="b" t="t" l="l"/>
              <a:pathLst>
                <a:path h="786384" w="6858000">
                  <a:moveTo>
                    <a:pt x="0" y="0"/>
                  </a:moveTo>
                  <a:lnTo>
                    <a:pt x="6858000" y="0"/>
                  </a:lnTo>
                  <a:lnTo>
                    <a:pt x="6858000" y="786384"/>
                  </a:lnTo>
                  <a:lnTo>
                    <a:pt x="0" y="786384"/>
                  </a:lnTo>
                  <a:close/>
                </a:path>
              </a:pathLst>
            </a:custGeom>
            <a:blipFill>
              <a:blip r:embed="rId2">
                <a:alphaModFix amt="0"/>
              </a:blip>
              <a:stretch>
                <a:fillRect l="0" t="-119927" r="0" b="-119927"/>
              </a:stretch>
            </a:blipFill>
          </p:spPr>
        </p:sp>
        <p:sp>
          <p:nvSpPr>
            <p:cNvPr name="TextBox 53" id="53"/>
            <p:cNvSpPr txBox="true"/>
            <p:nvPr/>
          </p:nvSpPr>
          <p:spPr>
            <a:xfrm>
              <a:off x="0" y="-38100"/>
              <a:ext cx="6858000" cy="824484"/>
            </a:xfrm>
            <a:prstGeom prst="rect">
              <a:avLst/>
            </a:prstGeom>
          </p:spPr>
          <p:txBody>
            <a:bodyPr anchor="ctr" rtlCol="false" tIns="0" lIns="0" bIns="0" rIns="0"/>
            <a:lstStyle/>
            <a:p>
              <a:pPr algn="ctr">
                <a:lnSpc>
                  <a:spcPts val="2430"/>
                </a:lnSpc>
              </a:pPr>
              <a:r>
                <a:rPr lang="en-US" sz="2025">
                  <a:solidFill>
                    <a:srgbClr val="6B7280"/>
                  </a:solidFill>
                  <a:latin typeface="Calibri (MS)"/>
                  <a:ea typeface="Calibri (MS)"/>
                  <a:cs typeface="Calibri (MS)"/>
                  <a:sym typeface="Calibri (MS)"/>
                </a:rPr>
                <a:t>Respond</a:t>
              </a:r>
            </a:p>
          </p:txBody>
        </p:sp>
      </p:grpSp>
      <p:grpSp>
        <p:nvGrpSpPr>
          <p:cNvPr name="Group 54" id="54"/>
          <p:cNvGrpSpPr/>
          <p:nvPr/>
        </p:nvGrpSpPr>
        <p:grpSpPr>
          <a:xfrm rot="0">
            <a:off x="6542532" y="8805672"/>
            <a:ext cx="5143500" cy="329184"/>
            <a:chOff x="0" y="0"/>
            <a:chExt cx="6858000" cy="438912"/>
          </a:xfrm>
        </p:grpSpPr>
        <p:sp>
          <p:nvSpPr>
            <p:cNvPr name="Freeform 55" id="55"/>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56" id="56"/>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9AA3B8"/>
                  </a:solidFill>
                  <a:latin typeface="Arimo"/>
                  <a:ea typeface="Arimo"/>
                  <a:cs typeface="Arimo"/>
                  <a:sym typeface="Arimo"/>
                </a:rPr>
                <a:t>RS</a:t>
              </a:r>
            </a:p>
          </p:txBody>
        </p:sp>
      </p:grpSp>
      <p:grpSp>
        <p:nvGrpSpPr>
          <p:cNvPr name="Group 57" id="57"/>
          <p:cNvGrpSpPr/>
          <p:nvPr/>
        </p:nvGrpSpPr>
        <p:grpSpPr>
          <a:xfrm rot="0">
            <a:off x="12115419" y="8288655"/>
            <a:ext cx="5162550" cy="910590"/>
            <a:chOff x="0" y="0"/>
            <a:chExt cx="6883400" cy="1214120"/>
          </a:xfrm>
        </p:grpSpPr>
        <p:sp>
          <p:nvSpPr>
            <p:cNvPr name="Freeform 58" id="58"/>
            <p:cNvSpPr/>
            <p:nvPr/>
          </p:nvSpPr>
          <p:spPr>
            <a:xfrm flipH="false" flipV="false" rot="0">
              <a:off x="0" y="0"/>
              <a:ext cx="6883400" cy="1214120"/>
            </a:xfrm>
            <a:custGeom>
              <a:avLst/>
              <a:gdLst/>
              <a:ahLst/>
              <a:cxnLst/>
              <a:rect r="r" b="b" t="t" l="l"/>
              <a:pathLst>
                <a:path h="1214120" w="6883400">
                  <a:moveTo>
                    <a:pt x="0" y="168148"/>
                  </a:moveTo>
                  <a:cubicBezTo>
                    <a:pt x="0" y="75311"/>
                    <a:pt x="75311" y="0"/>
                    <a:pt x="168148" y="0"/>
                  </a:cubicBezTo>
                  <a:lnTo>
                    <a:pt x="6715252" y="0"/>
                  </a:lnTo>
                  <a:cubicBezTo>
                    <a:pt x="6808089" y="0"/>
                    <a:pt x="6883400" y="75311"/>
                    <a:pt x="6883400" y="168148"/>
                  </a:cubicBezTo>
                  <a:lnTo>
                    <a:pt x="6883400" y="1045972"/>
                  </a:lnTo>
                  <a:cubicBezTo>
                    <a:pt x="6883400" y="1138809"/>
                    <a:pt x="6808089" y="1214120"/>
                    <a:pt x="6715252" y="1214120"/>
                  </a:cubicBezTo>
                  <a:lnTo>
                    <a:pt x="168148" y="1214120"/>
                  </a:lnTo>
                  <a:cubicBezTo>
                    <a:pt x="75311" y="1214120"/>
                    <a:pt x="0" y="1138809"/>
                    <a:pt x="0" y="1045972"/>
                  </a:cubicBezTo>
                  <a:close/>
                </a:path>
              </a:pathLst>
            </a:custGeom>
            <a:solidFill>
              <a:srgbClr val="F4F7FC"/>
            </a:solidFill>
            <a:ln w="19050" cap="sq">
              <a:solidFill>
                <a:srgbClr val="D7DCEC"/>
              </a:solidFill>
              <a:prstDash val="solid"/>
              <a:miter/>
            </a:ln>
          </p:spPr>
        </p:sp>
      </p:grpSp>
      <p:grpSp>
        <p:nvGrpSpPr>
          <p:cNvPr name="Group 59" id="59"/>
          <p:cNvGrpSpPr/>
          <p:nvPr/>
        </p:nvGrpSpPr>
        <p:grpSpPr>
          <a:xfrm rot="0">
            <a:off x="12124944" y="8366760"/>
            <a:ext cx="5143500" cy="589788"/>
            <a:chOff x="0" y="0"/>
            <a:chExt cx="6858000" cy="786384"/>
          </a:xfrm>
        </p:grpSpPr>
        <p:sp>
          <p:nvSpPr>
            <p:cNvPr name="Freeform 60" id="60"/>
            <p:cNvSpPr/>
            <p:nvPr/>
          </p:nvSpPr>
          <p:spPr>
            <a:xfrm flipH="false" flipV="false" rot="0">
              <a:off x="0" y="0"/>
              <a:ext cx="6858000" cy="786384"/>
            </a:xfrm>
            <a:custGeom>
              <a:avLst/>
              <a:gdLst/>
              <a:ahLst/>
              <a:cxnLst/>
              <a:rect r="r" b="b" t="t" l="l"/>
              <a:pathLst>
                <a:path h="786384" w="6858000">
                  <a:moveTo>
                    <a:pt x="0" y="0"/>
                  </a:moveTo>
                  <a:lnTo>
                    <a:pt x="6858000" y="0"/>
                  </a:lnTo>
                  <a:lnTo>
                    <a:pt x="6858000" y="786384"/>
                  </a:lnTo>
                  <a:lnTo>
                    <a:pt x="0" y="786384"/>
                  </a:lnTo>
                  <a:close/>
                </a:path>
              </a:pathLst>
            </a:custGeom>
            <a:blipFill>
              <a:blip r:embed="rId2">
                <a:alphaModFix amt="0"/>
              </a:blip>
              <a:stretch>
                <a:fillRect l="0" t="-119927" r="0" b="-119927"/>
              </a:stretch>
            </a:blipFill>
          </p:spPr>
        </p:sp>
        <p:sp>
          <p:nvSpPr>
            <p:cNvPr name="TextBox 61" id="61"/>
            <p:cNvSpPr txBox="true"/>
            <p:nvPr/>
          </p:nvSpPr>
          <p:spPr>
            <a:xfrm>
              <a:off x="0" y="-38100"/>
              <a:ext cx="6858000" cy="824484"/>
            </a:xfrm>
            <a:prstGeom prst="rect">
              <a:avLst/>
            </a:prstGeom>
          </p:spPr>
          <p:txBody>
            <a:bodyPr anchor="ctr" rtlCol="false" tIns="0" lIns="0" bIns="0" rIns="0"/>
            <a:lstStyle/>
            <a:p>
              <a:pPr algn="ctr">
                <a:lnSpc>
                  <a:spcPts val="2430"/>
                </a:lnSpc>
              </a:pPr>
              <a:r>
                <a:rPr lang="en-US" sz="2025">
                  <a:solidFill>
                    <a:srgbClr val="6B7280"/>
                  </a:solidFill>
                  <a:latin typeface="Calibri (MS)"/>
                  <a:ea typeface="Calibri (MS)"/>
                  <a:cs typeface="Calibri (MS)"/>
                  <a:sym typeface="Calibri (MS)"/>
                </a:rPr>
                <a:t>Recover</a:t>
              </a:r>
            </a:p>
          </p:txBody>
        </p:sp>
      </p:grpSp>
      <p:grpSp>
        <p:nvGrpSpPr>
          <p:cNvPr name="Group 62" id="62"/>
          <p:cNvGrpSpPr/>
          <p:nvPr/>
        </p:nvGrpSpPr>
        <p:grpSpPr>
          <a:xfrm rot="0">
            <a:off x="12124944" y="8805672"/>
            <a:ext cx="5143500" cy="329184"/>
            <a:chOff x="0" y="0"/>
            <a:chExt cx="6858000" cy="438912"/>
          </a:xfrm>
        </p:grpSpPr>
        <p:sp>
          <p:nvSpPr>
            <p:cNvPr name="Freeform 63" id="63"/>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64" id="64"/>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9AA3B8"/>
                  </a:solidFill>
                  <a:latin typeface="Arimo"/>
                  <a:ea typeface="Arimo"/>
                  <a:cs typeface="Arimo"/>
                  <a:sym typeface="Arimo"/>
                </a:rPr>
                <a:t>RC</a:t>
              </a:r>
            </a:p>
          </p:txBody>
        </p:sp>
      </p:grpSp>
      <p:grpSp>
        <p:nvGrpSpPr>
          <p:cNvPr name="Group 65" id="65"/>
          <p:cNvGrpSpPr/>
          <p:nvPr/>
        </p:nvGrpSpPr>
        <p:grpSpPr>
          <a:xfrm rot="0">
            <a:off x="685800" y="9710928"/>
            <a:ext cx="10972800" cy="411480"/>
            <a:chOff x="0" y="0"/>
            <a:chExt cx="14630400" cy="548640"/>
          </a:xfrm>
        </p:grpSpPr>
        <p:sp>
          <p:nvSpPr>
            <p:cNvPr name="Freeform 66" id="66"/>
            <p:cNvSpPr/>
            <p:nvPr/>
          </p:nvSpPr>
          <p:spPr>
            <a:xfrm flipH="false" flipV="false" rot="0">
              <a:off x="0" y="0"/>
              <a:ext cx="14630400" cy="548640"/>
            </a:xfrm>
            <a:custGeom>
              <a:avLst/>
              <a:gdLst/>
              <a:ahLst/>
              <a:cxnLst/>
              <a:rect r="r" b="b" t="t" l="l"/>
              <a:pathLst>
                <a:path h="548640" w="14630400">
                  <a:moveTo>
                    <a:pt x="0" y="0"/>
                  </a:moveTo>
                  <a:lnTo>
                    <a:pt x="14630400" y="0"/>
                  </a:lnTo>
                  <a:lnTo>
                    <a:pt x="14630400" y="548640"/>
                  </a:lnTo>
                  <a:lnTo>
                    <a:pt x="0" y="548640"/>
                  </a:lnTo>
                  <a:close/>
                </a:path>
              </a:pathLst>
            </a:custGeom>
            <a:blipFill>
              <a:blip r:embed="rId2">
                <a:alphaModFix amt="0"/>
              </a:blip>
              <a:stretch>
                <a:fillRect l="0" t="-469601" r="0" b="-469601"/>
              </a:stretch>
            </a:blipFill>
          </p:spPr>
        </p:sp>
        <p:sp>
          <p:nvSpPr>
            <p:cNvPr name="TextBox 67" id="67"/>
            <p:cNvSpPr txBox="true"/>
            <p:nvPr/>
          </p:nvSpPr>
          <p:spPr>
            <a:xfrm>
              <a:off x="0" y="-38100"/>
              <a:ext cx="14630400" cy="586740"/>
            </a:xfrm>
            <a:prstGeom prst="rect">
              <a:avLst/>
            </a:prstGeom>
          </p:spPr>
          <p:txBody>
            <a:bodyPr anchor="ctr" rtlCol="false" tIns="0" lIns="0" bIns="0" rIns="0"/>
            <a:lstStyle/>
            <a:p>
              <a:pPr algn="l">
                <a:lnSpc>
                  <a:spcPts val="1800"/>
                </a:lnSpc>
              </a:pPr>
              <a:r>
                <a:rPr lang="en-US" sz="1500">
                  <a:solidFill>
                    <a:srgbClr val="6B7280"/>
                  </a:solidFill>
                  <a:latin typeface="Calibri (MS)"/>
                  <a:ea typeface="Calibri (MS)"/>
                  <a:cs typeface="Calibri (MS)"/>
                  <a:sym typeface="Calibri (MS)"/>
                </a:rPr>
                <a:t>Davao del Norte Provincial Government — Cybersecurity Seminar</a:t>
              </a:r>
            </a:p>
          </p:txBody>
        </p:sp>
      </p:grpSp>
      <p:grpSp>
        <p:nvGrpSpPr>
          <p:cNvPr name="Group 68" id="68"/>
          <p:cNvGrpSpPr/>
          <p:nvPr/>
        </p:nvGrpSpPr>
        <p:grpSpPr>
          <a:xfrm rot="0">
            <a:off x="16911828" y="9710928"/>
            <a:ext cx="685800" cy="411480"/>
            <a:chOff x="0" y="0"/>
            <a:chExt cx="914400" cy="548640"/>
          </a:xfrm>
        </p:grpSpPr>
        <p:sp>
          <p:nvSpPr>
            <p:cNvPr name="Freeform 69" id="69"/>
            <p:cNvSpPr/>
            <p:nvPr/>
          </p:nvSpPr>
          <p:spPr>
            <a:xfrm flipH="false" flipV="false" rot="0">
              <a:off x="0" y="0"/>
              <a:ext cx="914400" cy="548640"/>
            </a:xfrm>
            <a:custGeom>
              <a:avLst/>
              <a:gdLst/>
              <a:ahLst/>
              <a:cxnLst/>
              <a:rect r="r" b="b" t="t" l="l"/>
              <a:pathLst>
                <a:path h="548640" w="914400">
                  <a:moveTo>
                    <a:pt x="0" y="0"/>
                  </a:moveTo>
                  <a:lnTo>
                    <a:pt x="914400" y="0"/>
                  </a:lnTo>
                  <a:lnTo>
                    <a:pt x="914400" y="548640"/>
                  </a:lnTo>
                  <a:lnTo>
                    <a:pt x="0" y="548640"/>
                  </a:lnTo>
                  <a:close/>
                </a:path>
              </a:pathLst>
            </a:custGeom>
            <a:blipFill>
              <a:blip r:embed="rId2">
                <a:alphaModFix amt="0"/>
              </a:blip>
              <a:stretch>
                <a:fillRect l="-26982" t="0" r="-26982" b="0"/>
              </a:stretch>
            </a:blipFill>
          </p:spPr>
        </p:sp>
        <p:sp>
          <p:nvSpPr>
            <p:cNvPr name="TextBox 70" id="70"/>
            <p:cNvSpPr txBox="true"/>
            <p:nvPr/>
          </p:nvSpPr>
          <p:spPr>
            <a:xfrm>
              <a:off x="0" y="-38100"/>
              <a:ext cx="914400" cy="586740"/>
            </a:xfrm>
            <a:prstGeom prst="rect">
              <a:avLst/>
            </a:prstGeom>
          </p:spPr>
          <p:txBody>
            <a:bodyPr anchor="ctr" rtlCol="false" tIns="0" lIns="0" bIns="0" rIns="0"/>
            <a:lstStyle/>
            <a:p>
              <a:pPr algn="r">
                <a:lnSpc>
                  <a:spcPts val="1800"/>
                </a:lnSpc>
              </a:pPr>
              <a:r>
                <a:rPr lang="en-US" sz="1500">
                  <a:solidFill>
                    <a:srgbClr val="6B7280"/>
                  </a:solidFill>
                  <a:latin typeface="Calibri (MS)"/>
                  <a:ea typeface="Calibri (MS)"/>
                  <a:cs typeface="Calibri (MS)"/>
                  <a:sym typeface="Calibri (MS)"/>
                </a:rPr>
                <a:t>17</a:t>
              </a:r>
            </a:p>
          </p:txBody>
        </p:sp>
      </p:grpSp>
    </p:spTree>
  </p:cSld>
  <p:clrMapOvr>
    <a:masterClrMapping/>
  </p:clrMapOvr>
</p:sld>
</file>

<file path=ppt/slides/slide8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60120" y="685800"/>
            <a:ext cx="13716000" cy="411480"/>
            <a:chOff x="0" y="0"/>
            <a:chExt cx="18288000" cy="548640"/>
          </a:xfrm>
        </p:grpSpPr>
        <p:sp>
          <p:nvSpPr>
            <p:cNvPr name="Freeform 3" id="3"/>
            <p:cNvSpPr/>
            <p:nvPr/>
          </p:nvSpPr>
          <p:spPr>
            <a:xfrm flipH="false" flipV="false" rot="0">
              <a:off x="0" y="0"/>
              <a:ext cx="18288000" cy="548640"/>
            </a:xfrm>
            <a:custGeom>
              <a:avLst/>
              <a:gdLst/>
              <a:ahLst/>
              <a:cxnLst/>
              <a:rect r="r" b="b" t="t" l="l"/>
              <a:pathLst>
                <a:path h="548640" w="18288000">
                  <a:moveTo>
                    <a:pt x="0" y="0"/>
                  </a:moveTo>
                  <a:lnTo>
                    <a:pt x="18288000" y="0"/>
                  </a:lnTo>
                  <a:lnTo>
                    <a:pt x="18288000" y="548640"/>
                  </a:lnTo>
                  <a:lnTo>
                    <a:pt x="0" y="548640"/>
                  </a:lnTo>
                  <a:close/>
                </a:path>
              </a:pathLst>
            </a:custGeom>
            <a:blipFill>
              <a:blip r:embed="rId2">
                <a:alphaModFix amt="0"/>
              </a:blip>
              <a:stretch>
                <a:fillRect l="0" t="-599501" r="0" b="-599501"/>
              </a:stretch>
            </a:blipFill>
          </p:spPr>
        </p:sp>
        <p:sp>
          <p:nvSpPr>
            <p:cNvPr name="TextBox 4" id="4"/>
            <p:cNvSpPr txBox="true"/>
            <p:nvPr/>
          </p:nvSpPr>
          <p:spPr>
            <a:xfrm>
              <a:off x="0" y="-38100"/>
              <a:ext cx="18288000" cy="586740"/>
            </a:xfrm>
            <a:prstGeom prst="rect">
              <a:avLst/>
            </a:prstGeom>
          </p:spPr>
          <p:txBody>
            <a:bodyPr anchor="ctr" rtlCol="false" tIns="0" lIns="0" bIns="0" rIns="0"/>
            <a:lstStyle/>
            <a:p>
              <a:pPr algn="l">
                <a:lnSpc>
                  <a:spcPts val="2160"/>
                </a:lnSpc>
              </a:pPr>
              <a:r>
                <a:rPr lang="en-US" b="true" sz="1800" spc="225">
                  <a:solidFill>
                    <a:srgbClr val="00B4D8"/>
                  </a:solidFill>
                  <a:latin typeface="Calibri (MS) Bold"/>
                  <a:ea typeface="Calibri (MS) Bold"/>
                  <a:cs typeface="Calibri (MS) Bold"/>
                  <a:sym typeface="Calibri (MS) Bold"/>
                </a:rPr>
                <a:t>NIST CSF SORT · ANSWER</a:t>
              </a:r>
            </a:p>
          </p:txBody>
        </p:sp>
      </p:grpSp>
      <p:grpSp>
        <p:nvGrpSpPr>
          <p:cNvPr name="Group 5" id="5"/>
          <p:cNvGrpSpPr/>
          <p:nvPr/>
        </p:nvGrpSpPr>
        <p:grpSpPr>
          <a:xfrm rot="0">
            <a:off x="960120" y="1069848"/>
            <a:ext cx="10972800" cy="822960"/>
            <a:chOff x="0" y="0"/>
            <a:chExt cx="14630400" cy="1097280"/>
          </a:xfrm>
        </p:grpSpPr>
        <p:sp>
          <p:nvSpPr>
            <p:cNvPr name="Freeform 6" id="6"/>
            <p:cNvSpPr/>
            <p:nvPr/>
          </p:nvSpPr>
          <p:spPr>
            <a:xfrm flipH="false" flipV="false" rot="0">
              <a:off x="0" y="0"/>
              <a:ext cx="14630400" cy="1097280"/>
            </a:xfrm>
            <a:custGeom>
              <a:avLst/>
              <a:gdLst/>
              <a:ahLst/>
              <a:cxnLst/>
              <a:rect r="r" b="b" t="t" l="l"/>
              <a:pathLst>
                <a:path h="1097280" w="14630400">
                  <a:moveTo>
                    <a:pt x="0" y="0"/>
                  </a:moveTo>
                  <a:lnTo>
                    <a:pt x="14630400" y="0"/>
                  </a:lnTo>
                  <a:lnTo>
                    <a:pt x="14630400" y="1097280"/>
                  </a:lnTo>
                  <a:lnTo>
                    <a:pt x="0" y="1097280"/>
                  </a:lnTo>
                  <a:close/>
                </a:path>
              </a:pathLst>
            </a:custGeom>
            <a:blipFill>
              <a:blip r:embed="rId2">
                <a:alphaModFix amt="0"/>
              </a:blip>
              <a:stretch>
                <a:fillRect l="0" t="-209800" r="0" b="-209800"/>
              </a:stretch>
            </a:blipFill>
          </p:spPr>
        </p:sp>
        <p:sp>
          <p:nvSpPr>
            <p:cNvPr name="TextBox 7" id="7"/>
            <p:cNvSpPr txBox="true"/>
            <p:nvPr/>
          </p:nvSpPr>
          <p:spPr>
            <a:xfrm>
              <a:off x="0" y="0"/>
              <a:ext cx="14630400" cy="1097280"/>
            </a:xfrm>
            <a:prstGeom prst="rect">
              <a:avLst/>
            </a:prstGeom>
          </p:spPr>
          <p:txBody>
            <a:bodyPr anchor="ctr" rtlCol="false" tIns="0" lIns="0" bIns="0" rIns="0"/>
            <a:lstStyle/>
            <a:p>
              <a:pPr algn="l">
                <a:lnSpc>
                  <a:spcPts val="4680"/>
                </a:lnSpc>
              </a:pPr>
              <a:r>
                <a:rPr lang="en-US" sz="3900" b="true">
                  <a:solidFill>
                    <a:srgbClr val="1E2761"/>
                  </a:solidFill>
                  <a:latin typeface="Cambria Bold"/>
                  <a:ea typeface="Cambria Bold"/>
                  <a:cs typeface="Cambria Bold"/>
                  <a:sym typeface="Cambria Bold"/>
                </a:rPr>
                <a:t>Scenario 4 — Answer</a:t>
              </a:r>
            </a:p>
          </p:txBody>
        </p:sp>
      </p:grpSp>
      <p:grpSp>
        <p:nvGrpSpPr>
          <p:cNvPr name="Group 8" id="8"/>
          <p:cNvGrpSpPr/>
          <p:nvPr/>
        </p:nvGrpSpPr>
        <p:grpSpPr>
          <a:xfrm rot="0">
            <a:off x="960120" y="1810512"/>
            <a:ext cx="8229600" cy="411480"/>
            <a:chOff x="0" y="0"/>
            <a:chExt cx="10972800" cy="548640"/>
          </a:xfrm>
        </p:grpSpPr>
        <p:sp>
          <p:nvSpPr>
            <p:cNvPr name="Freeform 9" id="9"/>
            <p:cNvSpPr/>
            <p:nvPr/>
          </p:nvSpPr>
          <p:spPr>
            <a:xfrm flipH="false" flipV="false" rot="0">
              <a:off x="0" y="0"/>
              <a:ext cx="10972800" cy="548640"/>
            </a:xfrm>
            <a:custGeom>
              <a:avLst/>
              <a:gdLst/>
              <a:ahLst/>
              <a:cxnLst/>
              <a:rect r="r" b="b" t="t" l="l"/>
              <a:pathLst>
                <a:path h="548640" w="10972800">
                  <a:moveTo>
                    <a:pt x="0" y="0"/>
                  </a:moveTo>
                  <a:lnTo>
                    <a:pt x="10972800" y="0"/>
                  </a:lnTo>
                  <a:lnTo>
                    <a:pt x="10972800" y="548640"/>
                  </a:lnTo>
                  <a:lnTo>
                    <a:pt x="0" y="548640"/>
                  </a:lnTo>
                  <a:close/>
                </a:path>
              </a:pathLst>
            </a:custGeom>
            <a:blipFill>
              <a:blip r:embed="rId2">
                <a:alphaModFix amt="0"/>
              </a:blip>
              <a:stretch>
                <a:fillRect l="0" t="-339700" r="0" b="-339700"/>
              </a:stretch>
            </a:blipFill>
          </p:spPr>
        </p:sp>
        <p:sp>
          <p:nvSpPr>
            <p:cNvPr name="TextBox 10" id="10"/>
            <p:cNvSpPr txBox="true"/>
            <p:nvPr/>
          </p:nvSpPr>
          <p:spPr>
            <a:xfrm>
              <a:off x="0" y="-28575"/>
              <a:ext cx="10972800" cy="577215"/>
            </a:xfrm>
            <a:prstGeom prst="rect">
              <a:avLst/>
            </a:prstGeom>
          </p:spPr>
          <p:txBody>
            <a:bodyPr anchor="ctr" rtlCol="false" tIns="0" lIns="0" bIns="0" rIns="0"/>
            <a:lstStyle/>
            <a:p>
              <a:pPr algn="l">
                <a:lnSpc>
                  <a:spcPts val="1980"/>
                </a:lnSpc>
              </a:pPr>
              <a:r>
                <a:rPr lang="en-US" sz="1650">
                  <a:solidFill>
                    <a:srgbClr val="6B7280"/>
                  </a:solidFill>
                  <a:latin typeface="Calibri (MS)"/>
                  <a:ea typeface="Calibri (MS)"/>
                  <a:cs typeface="Calibri (MS)"/>
                  <a:sym typeface="Calibri (MS)"/>
                </a:rPr>
                <a:t>4 of 20</a:t>
              </a:r>
            </a:p>
          </p:txBody>
        </p:sp>
      </p:grpSp>
      <p:grpSp>
        <p:nvGrpSpPr>
          <p:cNvPr name="Group 11" id="11"/>
          <p:cNvGrpSpPr/>
          <p:nvPr/>
        </p:nvGrpSpPr>
        <p:grpSpPr>
          <a:xfrm rot="0">
            <a:off x="960120" y="2537460"/>
            <a:ext cx="16322040" cy="2194560"/>
            <a:chOff x="0" y="0"/>
            <a:chExt cx="21762720" cy="2926080"/>
          </a:xfrm>
        </p:grpSpPr>
        <p:sp>
          <p:nvSpPr>
            <p:cNvPr name="Freeform 12" id="12"/>
            <p:cNvSpPr/>
            <p:nvPr/>
          </p:nvSpPr>
          <p:spPr>
            <a:xfrm flipH="false" flipV="false" rot="0">
              <a:off x="0" y="0"/>
              <a:ext cx="21762720" cy="2926080"/>
            </a:xfrm>
            <a:custGeom>
              <a:avLst/>
              <a:gdLst/>
              <a:ahLst/>
              <a:cxnLst/>
              <a:rect r="r" b="b" t="t" l="l"/>
              <a:pathLst>
                <a:path h="2926080" w="21762720">
                  <a:moveTo>
                    <a:pt x="0" y="182880"/>
                  </a:moveTo>
                  <a:cubicBezTo>
                    <a:pt x="0" y="81915"/>
                    <a:pt x="81915" y="0"/>
                    <a:pt x="182880" y="0"/>
                  </a:cubicBezTo>
                  <a:lnTo>
                    <a:pt x="21579839" y="0"/>
                  </a:lnTo>
                  <a:cubicBezTo>
                    <a:pt x="21680804" y="0"/>
                    <a:pt x="21762720" y="81915"/>
                    <a:pt x="21762720" y="182880"/>
                  </a:cubicBezTo>
                  <a:lnTo>
                    <a:pt x="21762720" y="2743200"/>
                  </a:lnTo>
                  <a:cubicBezTo>
                    <a:pt x="21762720" y="2844165"/>
                    <a:pt x="21680804" y="2926080"/>
                    <a:pt x="21579839" y="2926080"/>
                  </a:cubicBezTo>
                  <a:lnTo>
                    <a:pt x="182880" y="2926080"/>
                  </a:lnTo>
                  <a:cubicBezTo>
                    <a:pt x="81915" y="2926080"/>
                    <a:pt x="0" y="2844165"/>
                    <a:pt x="0" y="2743200"/>
                  </a:cubicBezTo>
                  <a:close/>
                </a:path>
              </a:pathLst>
            </a:custGeom>
            <a:solidFill>
              <a:srgbClr val="F4F7FC"/>
            </a:solidFill>
          </p:spPr>
        </p:sp>
      </p:grpSp>
      <p:grpSp>
        <p:nvGrpSpPr>
          <p:cNvPr name="Group 13" id="13"/>
          <p:cNvGrpSpPr/>
          <p:nvPr/>
        </p:nvGrpSpPr>
        <p:grpSpPr>
          <a:xfrm rot="0">
            <a:off x="1440180" y="2770632"/>
            <a:ext cx="15361920" cy="1714500"/>
            <a:chOff x="0" y="0"/>
            <a:chExt cx="20482560" cy="2286000"/>
          </a:xfrm>
        </p:grpSpPr>
        <p:sp>
          <p:nvSpPr>
            <p:cNvPr name="Freeform 14" id="14"/>
            <p:cNvSpPr/>
            <p:nvPr/>
          </p:nvSpPr>
          <p:spPr>
            <a:xfrm flipH="false" flipV="false" rot="0">
              <a:off x="0" y="0"/>
              <a:ext cx="20482561" cy="2286000"/>
            </a:xfrm>
            <a:custGeom>
              <a:avLst/>
              <a:gdLst/>
              <a:ahLst/>
              <a:cxnLst/>
              <a:rect r="r" b="b" t="t" l="l"/>
              <a:pathLst>
                <a:path h="2286000" w="20482561">
                  <a:moveTo>
                    <a:pt x="0" y="0"/>
                  </a:moveTo>
                  <a:lnTo>
                    <a:pt x="20482561" y="0"/>
                  </a:lnTo>
                  <a:lnTo>
                    <a:pt x="20482561" y="2286000"/>
                  </a:lnTo>
                  <a:lnTo>
                    <a:pt x="0" y="2286000"/>
                  </a:lnTo>
                  <a:close/>
                </a:path>
              </a:pathLst>
            </a:custGeom>
            <a:blipFill>
              <a:blip r:embed="rId2">
                <a:alphaModFix amt="0"/>
              </a:blip>
              <a:stretch>
                <a:fillRect l="0" t="-124585" r="0" b="-124585"/>
              </a:stretch>
            </a:blipFill>
          </p:spPr>
        </p:sp>
        <p:sp>
          <p:nvSpPr>
            <p:cNvPr name="TextBox 15" id="15"/>
            <p:cNvSpPr txBox="true"/>
            <p:nvPr/>
          </p:nvSpPr>
          <p:spPr>
            <a:xfrm>
              <a:off x="0" y="-85725"/>
              <a:ext cx="20482560" cy="2371725"/>
            </a:xfrm>
            <a:prstGeom prst="rect">
              <a:avLst/>
            </a:prstGeom>
          </p:spPr>
          <p:txBody>
            <a:bodyPr anchor="ctr" rtlCol="false" tIns="0" lIns="0" bIns="0" rIns="0"/>
            <a:lstStyle/>
            <a:p>
              <a:pPr algn="l">
                <a:lnSpc>
                  <a:spcPts val="3600"/>
                </a:lnSpc>
              </a:pPr>
              <a:r>
                <a:rPr lang="en-US" sz="2400" i="true">
                  <a:solidFill>
                    <a:srgbClr val="23262F"/>
                  </a:solidFill>
                  <a:latin typeface="Cambria Italics"/>
                  <a:ea typeface="Cambria Italics"/>
                  <a:cs typeface="Cambria Italics"/>
                  <a:sym typeface="Cambria Italics"/>
                </a:rPr>
                <a:t>"A monitoring tool flags unusual login attempts on the HR system at 3 AM and alerts the IT officer."</a:t>
              </a:r>
            </a:p>
          </p:txBody>
        </p:sp>
      </p:grpSp>
      <p:grpSp>
        <p:nvGrpSpPr>
          <p:cNvPr name="Group 16" id="16"/>
          <p:cNvGrpSpPr/>
          <p:nvPr/>
        </p:nvGrpSpPr>
        <p:grpSpPr>
          <a:xfrm rot="0">
            <a:off x="950595" y="5065395"/>
            <a:ext cx="5162550" cy="842010"/>
            <a:chOff x="0" y="0"/>
            <a:chExt cx="6883400" cy="1122680"/>
          </a:xfrm>
        </p:grpSpPr>
        <p:sp>
          <p:nvSpPr>
            <p:cNvPr name="Freeform 17" id="17"/>
            <p:cNvSpPr/>
            <p:nvPr/>
          </p:nvSpPr>
          <p:spPr>
            <a:xfrm flipH="false" flipV="false" rot="0">
              <a:off x="0" y="0"/>
              <a:ext cx="6883400" cy="1122680"/>
            </a:xfrm>
            <a:custGeom>
              <a:avLst/>
              <a:gdLst/>
              <a:ahLst/>
              <a:cxnLst/>
              <a:rect r="r" b="b" t="t" l="l"/>
              <a:pathLst>
                <a:path h="1122680" w="6883400">
                  <a:moveTo>
                    <a:pt x="0" y="168402"/>
                  </a:moveTo>
                  <a:cubicBezTo>
                    <a:pt x="0" y="75438"/>
                    <a:pt x="75438" y="0"/>
                    <a:pt x="168402" y="0"/>
                  </a:cubicBezTo>
                  <a:lnTo>
                    <a:pt x="6714998" y="0"/>
                  </a:lnTo>
                  <a:cubicBezTo>
                    <a:pt x="6807962" y="0"/>
                    <a:pt x="6883400" y="75438"/>
                    <a:pt x="6883400" y="168402"/>
                  </a:cubicBezTo>
                  <a:lnTo>
                    <a:pt x="6883400" y="954278"/>
                  </a:lnTo>
                  <a:cubicBezTo>
                    <a:pt x="6883400" y="1047242"/>
                    <a:pt x="6807962" y="1122680"/>
                    <a:pt x="6714998" y="1122680"/>
                  </a:cubicBezTo>
                  <a:lnTo>
                    <a:pt x="168402" y="1122680"/>
                  </a:lnTo>
                  <a:cubicBezTo>
                    <a:pt x="75438" y="1122680"/>
                    <a:pt x="0" y="1047242"/>
                    <a:pt x="0" y="954278"/>
                  </a:cubicBezTo>
                  <a:close/>
                </a:path>
              </a:pathLst>
            </a:custGeom>
            <a:solidFill>
              <a:srgbClr val="F4F7FC"/>
            </a:solidFill>
            <a:ln w="19050" cap="sq">
              <a:solidFill>
                <a:srgbClr val="D7DCEC"/>
              </a:solidFill>
              <a:prstDash val="solid"/>
              <a:miter/>
            </a:ln>
          </p:spPr>
        </p:sp>
      </p:grpSp>
      <p:grpSp>
        <p:nvGrpSpPr>
          <p:cNvPr name="Group 18" id="18"/>
          <p:cNvGrpSpPr/>
          <p:nvPr/>
        </p:nvGrpSpPr>
        <p:grpSpPr>
          <a:xfrm rot="0">
            <a:off x="960120" y="5143500"/>
            <a:ext cx="5143500" cy="521208"/>
            <a:chOff x="0" y="0"/>
            <a:chExt cx="6858000" cy="694944"/>
          </a:xfrm>
        </p:grpSpPr>
        <p:sp>
          <p:nvSpPr>
            <p:cNvPr name="Freeform 19" id="19"/>
            <p:cNvSpPr/>
            <p:nvPr/>
          </p:nvSpPr>
          <p:spPr>
            <a:xfrm flipH="false" flipV="false" rot="0">
              <a:off x="0" y="0"/>
              <a:ext cx="6858000" cy="694944"/>
            </a:xfrm>
            <a:custGeom>
              <a:avLst/>
              <a:gdLst/>
              <a:ahLst/>
              <a:cxnLst/>
              <a:rect r="r" b="b" t="t" l="l"/>
              <a:pathLst>
                <a:path h="694944" w="6858000">
                  <a:moveTo>
                    <a:pt x="0" y="0"/>
                  </a:moveTo>
                  <a:lnTo>
                    <a:pt x="6858000" y="0"/>
                  </a:lnTo>
                  <a:lnTo>
                    <a:pt x="6858000" y="694944"/>
                  </a:lnTo>
                  <a:lnTo>
                    <a:pt x="0" y="694944"/>
                  </a:lnTo>
                  <a:close/>
                </a:path>
              </a:pathLst>
            </a:custGeom>
            <a:blipFill>
              <a:blip r:embed="rId2">
                <a:alphaModFix amt="0"/>
              </a:blip>
              <a:stretch>
                <a:fillRect l="0" t="-142286" r="0" b="-142286"/>
              </a:stretch>
            </a:blipFill>
          </p:spPr>
        </p:sp>
        <p:sp>
          <p:nvSpPr>
            <p:cNvPr name="TextBox 20" id="20"/>
            <p:cNvSpPr txBox="true"/>
            <p:nvPr/>
          </p:nvSpPr>
          <p:spPr>
            <a:xfrm>
              <a:off x="0" y="-38100"/>
              <a:ext cx="6858000" cy="733044"/>
            </a:xfrm>
            <a:prstGeom prst="rect">
              <a:avLst/>
            </a:prstGeom>
          </p:spPr>
          <p:txBody>
            <a:bodyPr anchor="ctr" rtlCol="false" tIns="0" lIns="0" bIns="0" rIns="0"/>
            <a:lstStyle/>
            <a:p>
              <a:pPr algn="ctr">
                <a:lnSpc>
                  <a:spcPts val="2430"/>
                </a:lnSpc>
              </a:pPr>
              <a:r>
                <a:rPr lang="en-US" sz="2025">
                  <a:solidFill>
                    <a:srgbClr val="6B7280"/>
                  </a:solidFill>
                  <a:latin typeface="Calibri (MS)"/>
                  <a:ea typeface="Calibri (MS)"/>
                  <a:cs typeface="Calibri (MS)"/>
                  <a:sym typeface="Calibri (MS)"/>
                </a:rPr>
                <a:t>Govern</a:t>
              </a:r>
            </a:p>
          </p:txBody>
        </p:sp>
      </p:grpSp>
      <p:grpSp>
        <p:nvGrpSpPr>
          <p:cNvPr name="Group 21" id="21"/>
          <p:cNvGrpSpPr/>
          <p:nvPr/>
        </p:nvGrpSpPr>
        <p:grpSpPr>
          <a:xfrm rot="0">
            <a:off x="960120" y="5513832"/>
            <a:ext cx="5143500" cy="329184"/>
            <a:chOff x="0" y="0"/>
            <a:chExt cx="6858000" cy="438912"/>
          </a:xfrm>
        </p:grpSpPr>
        <p:sp>
          <p:nvSpPr>
            <p:cNvPr name="Freeform 22" id="22"/>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23" id="23"/>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9AA3B8"/>
                  </a:solidFill>
                  <a:latin typeface="Arimo"/>
                  <a:ea typeface="Arimo"/>
                  <a:cs typeface="Arimo"/>
                  <a:sym typeface="Arimo"/>
                </a:rPr>
                <a:t>GV</a:t>
              </a:r>
            </a:p>
          </p:txBody>
        </p:sp>
      </p:grpSp>
      <p:grpSp>
        <p:nvGrpSpPr>
          <p:cNvPr name="Group 24" id="24"/>
          <p:cNvGrpSpPr/>
          <p:nvPr/>
        </p:nvGrpSpPr>
        <p:grpSpPr>
          <a:xfrm rot="0">
            <a:off x="6533007" y="5065395"/>
            <a:ext cx="5162550" cy="842010"/>
            <a:chOff x="0" y="0"/>
            <a:chExt cx="6883400" cy="1122680"/>
          </a:xfrm>
        </p:grpSpPr>
        <p:sp>
          <p:nvSpPr>
            <p:cNvPr name="Freeform 25" id="25"/>
            <p:cNvSpPr/>
            <p:nvPr/>
          </p:nvSpPr>
          <p:spPr>
            <a:xfrm flipH="false" flipV="false" rot="0">
              <a:off x="0" y="0"/>
              <a:ext cx="6883400" cy="1122680"/>
            </a:xfrm>
            <a:custGeom>
              <a:avLst/>
              <a:gdLst/>
              <a:ahLst/>
              <a:cxnLst/>
              <a:rect r="r" b="b" t="t" l="l"/>
              <a:pathLst>
                <a:path h="1122680" w="6883400">
                  <a:moveTo>
                    <a:pt x="0" y="168402"/>
                  </a:moveTo>
                  <a:cubicBezTo>
                    <a:pt x="0" y="75438"/>
                    <a:pt x="75438" y="0"/>
                    <a:pt x="168402" y="0"/>
                  </a:cubicBezTo>
                  <a:lnTo>
                    <a:pt x="6714998" y="0"/>
                  </a:lnTo>
                  <a:cubicBezTo>
                    <a:pt x="6807962" y="0"/>
                    <a:pt x="6883400" y="75438"/>
                    <a:pt x="6883400" y="168402"/>
                  </a:cubicBezTo>
                  <a:lnTo>
                    <a:pt x="6883400" y="954278"/>
                  </a:lnTo>
                  <a:cubicBezTo>
                    <a:pt x="6883400" y="1047242"/>
                    <a:pt x="6807962" y="1122680"/>
                    <a:pt x="6714998" y="1122680"/>
                  </a:cubicBezTo>
                  <a:lnTo>
                    <a:pt x="168402" y="1122680"/>
                  </a:lnTo>
                  <a:cubicBezTo>
                    <a:pt x="75438" y="1122680"/>
                    <a:pt x="0" y="1047242"/>
                    <a:pt x="0" y="954278"/>
                  </a:cubicBezTo>
                  <a:close/>
                </a:path>
              </a:pathLst>
            </a:custGeom>
            <a:solidFill>
              <a:srgbClr val="F4F7FC"/>
            </a:solidFill>
            <a:ln w="19050" cap="sq">
              <a:solidFill>
                <a:srgbClr val="D7DCEC"/>
              </a:solidFill>
              <a:prstDash val="solid"/>
              <a:miter/>
            </a:ln>
          </p:spPr>
        </p:sp>
      </p:grpSp>
      <p:grpSp>
        <p:nvGrpSpPr>
          <p:cNvPr name="Group 26" id="26"/>
          <p:cNvGrpSpPr/>
          <p:nvPr/>
        </p:nvGrpSpPr>
        <p:grpSpPr>
          <a:xfrm rot="0">
            <a:off x="6542532" y="5143500"/>
            <a:ext cx="5143500" cy="521208"/>
            <a:chOff x="0" y="0"/>
            <a:chExt cx="6858000" cy="694944"/>
          </a:xfrm>
        </p:grpSpPr>
        <p:sp>
          <p:nvSpPr>
            <p:cNvPr name="Freeform 27" id="27"/>
            <p:cNvSpPr/>
            <p:nvPr/>
          </p:nvSpPr>
          <p:spPr>
            <a:xfrm flipH="false" flipV="false" rot="0">
              <a:off x="0" y="0"/>
              <a:ext cx="6858000" cy="694944"/>
            </a:xfrm>
            <a:custGeom>
              <a:avLst/>
              <a:gdLst/>
              <a:ahLst/>
              <a:cxnLst/>
              <a:rect r="r" b="b" t="t" l="l"/>
              <a:pathLst>
                <a:path h="694944" w="6858000">
                  <a:moveTo>
                    <a:pt x="0" y="0"/>
                  </a:moveTo>
                  <a:lnTo>
                    <a:pt x="6858000" y="0"/>
                  </a:lnTo>
                  <a:lnTo>
                    <a:pt x="6858000" y="694944"/>
                  </a:lnTo>
                  <a:lnTo>
                    <a:pt x="0" y="694944"/>
                  </a:lnTo>
                  <a:close/>
                </a:path>
              </a:pathLst>
            </a:custGeom>
            <a:blipFill>
              <a:blip r:embed="rId2">
                <a:alphaModFix amt="0"/>
              </a:blip>
              <a:stretch>
                <a:fillRect l="0" t="-142286" r="0" b="-142286"/>
              </a:stretch>
            </a:blipFill>
          </p:spPr>
        </p:sp>
        <p:sp>
          <p:nvSpPr>
            <p:cNvPr name="TextBox 28" id="28"/>
            <p:cNvSpPr txBox="true"/>
            <p:nvPr/>
          </p:nvSpPr>
          <p:spPr>
            <a:xfrm>
              <a:off x="0" y="-38100"/>
              <a:ext cx="6858000" cy="733044"/>
            </a:xfrm>
            <a:prstGeom prst="rect">
              <a:avLst/>
            </a:prstGeom>
          </p:spPr>
          <p:txBody>
            <a:bodyPr anchor="ctr" rtlCol="false" tIns="0" lIns="0" bIns="0" rIns="0"/>
            <a:lstStyle/>
            <a:p>
              <a:pPr algn="ctr">
                <a:lnSpc>
                  <a:spcPts val="2430"/>
                </a:lnSpc>
              </a:pPr>
              <a:r>
                <a:rPr lang="en-US" sz="2025">
                  <a:solidFill>
                    <a:srgbClr val="6B7280"/>
                  </a:solidFill>
                  <a:latin typeface="Calibri (MS)"/>
                  <a:ea typeface="Calibri (MS)"/>
                  <a:cs typeface="Calibri (MS)"/>
                  <a:sym typeface="Calibri (MS)"/>
                </a:rPr>
                <a:t>Identify</a:t>
              </a:r>
            </a:p>
          </p:txBody>
        </p:sp>
      </p:grpSp>
      <p:grpSp>
        <p:nvGrpSpPr>
          <p:cNvPr name="Group 29" id="29"/>
          <p:cNvGrpSpPr/>
          <p:nvPr/>
        </p:nvGrpSpPr>
        <p:grpSpPr>
          <a:xfrm rot="0">
            <a:off x="6542532" y="5513832"/>
            <a:ext cx="5143500" cy="329184"/>
            <a:chOff x="0" y="0"/>
            <a:chExt cx="6858000" cy="438912"/>
          </a:xfrm>
        </p:grpSpPr>
        <p:sp>
          <p:nvSpPr>
            <p:cNvPr name="Freeform 30" id="30"/>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31" id="31"/>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9AA3B8"/>
                  </a:solidFill>
                  <a:latin typeface="Arimo"/>
                  <a:ea typeface="Arimo"/>
                  <a:cs typeface="Arimo"/>
                  <a:sym typeface="Arimo"/>
                </a:rPr>
                <a:t>ID</a:t>
              </a:r>
            </a:p>
          </p:txBody>
        </p:sp>
      </p:grpSp>
      <p:grpSp>
        <p:nvGrpSpPr>
          <p:cNvPr name="Group 32" id="32"/>
          <p:cNvGrpSpPr/>
          <p:nvPr/>
        </p:nvGrpSpPr>
        <p:grpSpPr>
          <a:xfrm rot="0">
            <a:off x="12115419" y="5065395"/>
            <a:ext cx="5162550" cy="842010"/>
            <a:chOff x="0" y="0"/>
            <a:chExt cx="6883400" cy="1122680"/>
          </a:xfrm>
        </p:grpSpPr>
        <p:sp>
          <p:nvSpPr>
            <p:cNvPr name="Freeform 33" id="33"/>
            <p:cNvSpPr/>
            <p:nvPr/>
          </p:nvSpPr>
          <p:spPr>
            <a:xfrm flipH="false" flipV="false" rot="0">
              <a:off x="0" y="0"/>
              <a:ext cx="6883400" cy="1122680"/>
            </a:xfrm>
            <a:custGeom>
              <a:avLst/>
              <a:gdLst/>
              <a:ahLst/>
              <a:cxnLst/>
              <a:rect r="r" b="b" t="t" l="l"/>
              <a:pathLst>
                <a:path h="1122680" w="6883400">
                  <a:moveTo>
                    <a:pt x="0" y="168402"/>
                  </a:moveTo>
                  <a:cubicBezTo>
                    <a:pt x="0" y="75438"/>
                    <a:pt x="75438" y="0"/>
                    <a:pt x="168402" y="0"/>
                  </a:cubicBezTo>
                  <a:lnTo>
                    <a:pt x="6714998" y="0"/>
                  </a:lnTo>
                  <a:cubicBezTo>
                    <a:pt x="6807962" y="0"/>
                    <a:pt x="6883400" y="75438"/>
                    <a:pt x="6883400" y="168402"/>
                  </a:cubicBezTo>
                  <a:lnTo>
                    <a:pt x="6883400" y="954278"/>
                  </a:lnTo>
                  <a:cubicBezTo>
                    <a:pt x="6883400" y="1047242"/>
                    <a:pt x="6807962" y="1122680"/>
                    <a:pt x="6714998" y="1122680"/>
                  </a:cubicBezTo>
                  <a:lnTo>
                    <a:pt x="168402" y="1122680"/>
                  </a:lnTo>
                  <a:cubicBezTo>
                    <a:pt x="75438" y="1122680"/>
                    <a:pt x="0" y="1047242"/>
                    <a:pt x="0" y="954278"/>
                  </a:cubicBezTo>
                  <a:close/>
                </a:path>
              </a:pathLst>
            </a:custGeom>
            <a:solidFill>
              <a:srgbClr val="F4F7FC"/>
            </a:solidFill>
            <a:ln w="19050" cap="sq">
              <a:solidFill>
                <a:srgbClr val="D7DCEC"/>
              </a:solidFill>
              <a:prstDash val="solid"/>
              <a:miter/>
            </a:ln>
          </p:spPr>
        </p:sp>
      </p:grpSp>
      <p:grpSp>
        <p:nvGrpSpPr>
          <p:cNvPr name="Group 34" id="34"/>
          <p:cNvGrpSpPr/>
          <p:nvPr/>
        </p:nvGrpSpPr>
        <p:grpSpPr>
          <a:xfrm rot="0">
            <a:off x="12124944" y="5143500"/>
            <a:ext cx="5143500" cy="521208"/>
            <a:chOff x="0" y="0"/>
            <a:chExt cx="6858000" cy="694944"/>
          </a:xfrm>
        </p:grpSpPr>
        <p:sp>
          <p:nvSpPr>
            <p:cNvPr name="Freeform 35" id="35"/>
            <p:cNvSpPr/>
            <p:nvPr/>
          </p:nvSpPr>
          <p:spPr>
            <a:xfrm flipH="false" flipV="false" rot="0">
              <a:off x="0" y="0"/>
              <a:ext cx="6858000" cy="694944"/>
            </a:xfrm>
            <a:custGeom>
              <a:avLst/>
              <a:gdLst/>
              <a:ahLst/>
              <a:cxnLst/>
              <a:rect r="r" b="b" t="t" l="l"/>
              <a:pathLst>
                <a:path h="694944" w="6858000">
                  <a:moveTo>
                    <a:pt x="0" y="0"/>
                  </a:moveTo>
                  <a:lnTo>
                    <a:pt x="6858000" y="0"/>
                  </a:lnTo>
                  <a:lnTo>
                    <a:pt x="6858000" y="694944"/>
                  </a:lnTo>
                  <a:lnTo>
                    <a:pt x="0" y="694944"/>
                  </a:lnTo>
                  <a:close/>
                </a:path>
              </a:pathLst>
            </a:custGeom>
            <a:blipFill>
              <a:blip r:embed="rId2">
                <a:alphaModFix amt="0"/>
              </a:blip>
              <a:stretch>
                <a:fillRect l="0" t="-142286" r="0" b="-142286"/>
              </a:stretch>
            </a:blipFill>
          </p:spPr>
        </p:sp>
        <p:sp>
          <p:nvSpPr>
            <p:cNvPr name="TextBox 36" id="36"/>
            <p:cNvSpPr txBox="true"/>
            <p:nvPr/>
          </p:nvSpPr>
          <p:spPr>
            <a:xfrm>
              <a:off x="0" y="-38100"/>
              <a:ext cx="6858000" cy="733044"/>
            </a:xfrm>
            <a:prstGeom prst="rect">
              <a:avLst/>
            </a:prstGeom>
          </p:spPr>
          <p:txBody>
            <a:bodyPr anchor="ctr" rtlCol="false" tIns="0" lIns="0" bIns="0" rIns="0"/>
            <a:lstStyle/>
            <a:p>
              <a:pPr algn="ctr">
                <a:lnSpc>
                  <a:spcPts val="2430"/>
                </a:lnSpc>
              </a:pPr>
              <a:r>
                <a:rPr lang="en-US" sz="2025">
                  <a:solidFill>
                    <a:srgbClr val="6B7280"/>
                  </a:solidFill>
                  <a:latin typeface="Calibri (MS)"/>
                  <a:ea typeface="Calibri (MS)"/>
                  <a:cs typeface="Calibri (MS)"/>
                  <a:sym typeface="Calibri (MS)"/>
                </a:rPr>
                <a:t>Protect</a:t>
              </a:r>
            </a:p>
          </p:txBody>
        </p:sp>
      </p:grpSp>
      <p:grpSp>
        <p:nvGrpSpPr>
          <p:cNvPr name="Group 37" id="37"/>
          <p:cNvGrpSpPr/>
          <p:nvPr/>
        </p:nvGrpSpPr>
        <p:grpSpPr>
          <a:xfrm rot="0">
            <a:off x="12124944" y="5513832"/>
            <a:ext cx="5143500" cy="329184"/>
            <a:chOff x="0" y="0"/>
            <a:chExt cx="6858000" cy="438912"/>
          </a:xfrm>
        </p:grpSpPr>
        <p:sp>
          <p:nvSpPr>
            <p:cNvPr name="Freeform 38" id="38"/>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39" id="39"/>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9AA3B8"/>
                  </a:solidFill>
                  <a:latin typeface="Arimo"/>
                  <a:ea typeface="Arimo"/>
                  <a:cs typeface="Arimo"/>
                  <a:sym typeface="Arimo"/>
                </a:rPr>
                <a:t>PR</a:t>
              </a:r>
            </a:p>
          </p:txBody>
        </p:sp>
      </p:grpSp>
      <p:grpSp>
        <p:nvGrpSpPr>
          <p:cNvPr name="Group 40" id="40"/>
          <p:cNvGrpSpPr/>
          <p:nvPr/>
        </p:nvGrpSpPr>
        <p:grpSpPr>
          <a:xfrm rot="0">
            <a:off x="950595" y="6135243"/>
            <a:ext cx="5162550" cy="842010"/>
            <a:chOff x="0" y="0"/>
            <a:chExt cx="6883400" cy="1122680"/>
          </a:xfrm>
        </p:grpSpPr>
        <p:sp>
          <p:nvSpPr>
            <p:cNvPr name="Freeform 41" id="41"/>
            <p:cNvSpPr/>
            <p:nvPr/>
          </p:nvSpPr>
          <p:spPr>
            <a:xfrm flipH="false" flipV="false" rot="0">
              <a:off x="0" y="0"/>
              <a:ext cx="6883400" cy="1122680"/>
            </a:xfrm>
            <a:custGeom>
              <a:avLst/>
              <a:gdLst/>
              <a:ahLst/>
              <a:cxnLst/>
              <a:rect r="r" b="b" t="t" l="l"/>
              <a:pathLst>
                <a:path h="1122680" w="6883400">
                  <a:moveTo>
                    <a:pt x="0" y="168402"/>
                  </a:moveTo>
                  <a:cubicBezTo>
                    <a:pt x="0" y="75438"/>
                    <a:pt x="75438" y="0"/>
                    <a:pt x="168402" y="0"/>
                  </a:cubicBezTo>
                  <a:lnTo>
                    <a:pt x="6714998" y="0"/>
                  </a:lnTo>
                  <a:cubicBezTo>
                    <a:pt x="6807962" y="0"/>
                    <a:pt x="6883400" y="75438"/>
                    <a:pt x="6883400" y="168402"/>
                  </a:cubicBezTo>
                  <a:lnTo>
                    <a:pt x="6883400" y="954278"/>
                  </a:lnTo>
                  <a:cubicBezTo>
                    <a:pt x="6883400" y="1047242"/>
                    <a:pt x="6807962" y="1122680"/>
                    <a:pt x="6714998" y="1122680"/>
                  </a:cubicBezTo>
                  <a:lnTo>
                    <a:pt x="168402" y="1122680"/>
                  </a:lnTo>
                  <a:cubicBezTo>
                    <a:pt x="75438" y="1122680"/>
                    <a:pt x="0" y="1047242"/>
                    <a:pt x="0" y="954278"/>
                  </a:cubicBezTo>
                  <a:close/>
                </a:path>
              </a:pathLst>
            </a:custGeom>
            <a:solidFill>
              <a:srgbClr val="C98A12"/>
            </a:solidFill>
            <a:ln w="19050" cap="sq">
              <a:solidFill>
                <a:srgbClr val="C98A12"/>
              </a:solidFill>
              <a:prstDash val="solid"/>
              <a:miter/>
            </a:ln>
          </p:spPr>
        </p:sp>
      </p:grpSp>
      <p:grpSp>
        <p:nvGrpSpPr>
          <p:cNvPr name="Group 42" id="42"/>
          <p:cNvGrpSpPr/>
          <p:nvPr/>
        </p:nvGrpSpPr>
        <p:grpSpPr>
          <a:xfrm rot="0">
            <a:off x="960120" y="6213348"/>
            <a:ext cx="5143500" cy="521208"/>
            <a:chOff x="0" y="0"/>
            <a:chExt cx="6858000" cy="694944"/>
          </a:xfrm>
        </p:grpSpPr>
        <p:sp>
          <p:nvSpPr>
            <p:cNvPr name="Freeform 43" id="43"/>
            <p:cNvSpPr/>
            <p:nvPr/>
          </p:nvSpPr>
          <p:spPr>
            <a:xfrm flipH="false" flipV="false" rot="0">
              <a:off x="0" y="0"/>
              <a:ext cx="6858000" cy="694944"/>
            </a:xfrm>
            <a:custGeom>
              <a:avLst/>
              <a:gdLst/>
              <a:ahLst/>
              <a:cxnLst/>
              <a:rect r="r" b="b" t="t" l="l"/>
              <a:pathLst>
                <a:path h="694944" w="6858000">
                  <a:moveTo>
                    <a:pt x="0" y="0"/>
                  </a:moveTo>
                  <a:lnTo>
                    <a:pt x="6858000" y="0"/>
                  </a:lnTo>
                  <a:lnTo>
                    <a:pt x="6858000" y="694944"/>
                  </a:lnTo>
                  <a:lnTo>
                    <a:pt x="0" y="694944"/>
                  </a:lnTo>
                  <a:close/>
                </a:path>
              </a:pathLst>
            </a:custGeom>
            <a:blipFill>
              <a:blip r:embed="rId2">
                <a:alphaModFix amt="0"/>
              </a:blip>
              <a:stretch>
                <a:fillRect l="0" t="-142286" r="0" b="-142286"/>
              </a:stretch>
            </a:blipFill>
          </p:spPr>
        </p:sp>
        <p:sp>
          <p:nvSpPr>
            <p:cNvPr name="TextBox 44" id="44"/>
            <p:cNvSpPr txBox="true"/>
            <p:nvPr/>
          </p:nvSpPr>
          <p:spPr>
            <a:xfrm>
              <a:off x="0" y="-38100"/>
              <a:ext cx="6858000" cy="733044"/>
            </a:xfrm>
            <a:prstGeom prst="rect">
              <a:avLst/>
            </a:prstGeom>
          </p:spPr>
          <p:txBody>
            <a:bodyPr anchor="ctr" rtlCol="false" tIns="0" lIns="0" bIns="0" rIns="0"/>
            <a:lstStyle/>
            <a:p>
              <a:pPr algn="ctr">
                <a:lnSpc>
                  <a:spcPts val="2430"/>
                </a:lnSpc>
              </a:pPr>
              <a:r>
                <a:rPr lang="en-US" sz="2025" b="true">
                  <a:solidFill>
                    <a:srgbClr val="FFFFFF"/>
                  </a:solidFill>
                  <a:latin typeface="Calibri (MS) Bold"/>
                  <a:ea typeface="Calibri (MS) Bold"/>
                  <a:cs typeface="Calibri (MS) Bold"/>
                  <a:sym typeface="Calibri (MS) Bold"/>
                </a:rPr>
                <a:t>✓  Detect</a:t>
              </a:r>
            </a:p>
          </p:txBody>
        </p:sp>
      </p:grpSp>
      <p:grpSp>
        <p:nvGrpSpPr>
          <p:cNvPr name="Group 45" id="45"/>
          <p:cNvGrpSpPr/>
          <p:nvPr/>
        </p:nvGrpSpPr>
        <p:grpSpPr>
          <a:xfrm rot="0">
            <a:off x="960120" y="6583680"/>
            <a:ext cx="5143500" cy="329184"/>
            <a:chOff x="0" y="0"/>
            <a:chExt cx="6858000" cy="438912"/>
          </a:xfrm>
        </p:grpSpPr>
        <p:sp>
          <p:nvSpPr>
            <p:cNvPr name="Freeform 46" id="46"/>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47" id="47"/>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FFFFFF"/>
                  </a:solidFill>
                  <a:latin typeface="Arimo"/>
                  <a:ea typeface="Arimo"/>
                  <a:cs typeface="Arimo"/>
                  <a:sym typeface="Arimo"/>
                </a:rPr>
                <a:t>DE</a:t>
              </a:r>
            </a:p>
          </p:txBody>
        </p:sp>
      </p:grpSp>
      <p:grpSp>
        <p:nvGrpSpPr>
          <p:cNvPr name="Group 48" id="48"/>
          <p:cNvGrpSpPr/>
          <p:nvPr/>
        </p:nvGrpSpPr>
        <p:grpSpPr>
          <a:xfrm rot="0">
            <a:off x="6533007" y="6135243"/>
            <a:ext cx="5162550" cy="842010"/>
            <a:chOff x="0" y="0"/>
            <a:chExt cx="6883400" cy="1122680"/>
          </a:xfrm>
        </p:grpSpPr>
        <p:sp>
          <p:nvSpPr>
            <p:cNvPr name="Freeform 49" id="49"/>
            <p:cNvSpPr/>
            <p:nvPr/>
          </p:nvSpPr>
          <p:spPr>
            <a:xfrm flipH="false" flipV="false" rot="0">
              <a:off x="0" y="0"/>
              <a:ext cx="6883400" cy="1122680"/>
            </a:xfrm>
            <a:custGeom>
              <a:avLst/>
              <a:gdLst/>
              <a:ahLst/>
              <a:cxnLst/>
              <a:rect r="r" b="b" t="t" l="l"/>
              <a:pathLst>
                <a:path h="1122680" w="6883400">
                  <a:moveTo>
                    <a:pt x="0" y="168402"/>
                  </a:moveTo>
                  <a:cubicBezTo>
                    <a:pt x="0" y="75438"/>
                    <a:pt x="75438" y="0"/>
                    <a:pt x="168402" y="0"/>
                  </a:cubicBezTo>
                  <a:lnTo>
                    <a:pt x="6714998" y="0"/>
                  </a:lnTo>
                  <a:cubicBezTo>
                    <a:pt x="6807962" y="0"/>
                    <a:pt x="6883400" y="75438"/>
                    <a:pt x="6883400" y="168402"/>
                  </a:cubicBezTo>
                  <a:lnTo>
                    <a:pt x="6883400" y="954278"/>
                  </a:lnTo>
                  <a:cubicBezTo>
                    <a:pt x="6883400" y="1047242"/>
                    <a:pt x="6807962" y="1122680"/>
                    <a:pt x="6714998" y="1122680"/>
                  </a:cubicBezTo>
                  <a:lnTo>
                    <a:pt x="168402" y="1122680"/>
                  </a:lnTo>
                  <a:cubicBezTo>
                    <a:pt x="75438" y="1122680"/>
                    <a:pt x="0" y="1047242"/>
                    <a:pt x="0" y="954278"/>
                  </a:cubicBezTo>
                  <a:close/>
                </a:path>
              </a:pathLst>
            </a:custGeom>
            <a:solidFill>
              <a:srgbClr val="F4F7FC"/>
            </a:solidFill>
            <a:ln w="19050" cap="sq">
              <a:solidFill>
                <a:srgbClr val="D7DCEC"/>
              </a:solidFill>
              <a:prstDash val="solid"/>
              <a:miter/>
            </a:ln>
          </p:spPr>
        </p:sp>
      </p:grpSp>
      <p:grpSp>
        <p:nvGrpSpPr>
          <p:cNvPr name="Group 50" id="50"/>
          <p:cNvGrpSpPr/>
          <p:nvPr/>
        </p:nvGrpSpPr>
        <p:grpSpPr>
          <a:xfrm rot="0">
            <a:off x="6542532" y="6213348"/>
            <a:ext cx="5143500" cy="521208"/>
            <a:chOff x="0" y="0"/>
            <a:chExt cx="6858000" cy="694944"/>
          </a:xfrm>
        </p:grpSpPr>
        <p:sp>
          <p:nvSpPr>
            <p:cNvPr name="Freeform 51" id="51"/>
            <p:cNvSpPr/>
            <p:nvPr/>
          </p:nvSpPr>
          <p:spPr>
            <a:xfrm flipH="false" flipV="false" rot="0">
              <a:off x="0" y="0"/>
              <a:ext cx="6858000" cy="694944"/>
            </a:xfrm>
            <a:custGeom>
              <a:avLst/>
              <a:gdLst/>
              <a:ahLst/>
              <a:cxnLst/>
              <a:rect r="r" b="b" t="t" l="l"/>
              <a:pathLst>
                <a:path h="694944" w="6858000">
                  <a:moveTo>
                    <a:pt x="0" y="0"/>
                  </a:moveTo>
                  <a:lnTo>
                    <a:pt x="6858000" y="0"/>
                  </a:lnTo>
                  <a:lnTo>
                    <a:pt x="6858000" y="694944"/>
                  </a:lnTo>
                  <a:lnTo>
                    <a:pt x="0" y="694944"/>
                  </a:lnTo>
                  <a:close/>
                </a:path>
              </a:pathLst>
            </a:custGeom>
            <a:blipFill>
              <a:blip r:embed="rId2">
                <a:alphaModFix amt="0"/>
              </a:blip>
              <a:stretch>
                <a:fillRect l="0" t="-142286" r="0" b="-142286"/>
              </a:stretch>
            </a:blipFill>
          </p:spPr>
        </p:sp>
        <p:sp>
          <p:nvSpPr>
            <p:cNvPr name="TextBox 52" id="52"/>
            <p:cNvSpPr txBox="true"/>
            <p:nvPr/>
          </p:nvSpPr>
          <p:spPr>
            <a:xfrm>
              <a:off x="0" y="-38100"/>
              <a:ext cx="6858000" cy="733044"/>
            </a:xfrm>
            <a:prstGeom prst="rect">
              <a:avLst/>
            </a:prstGeom>
          </p:spPr>
          <p:txBody>
            <a:bodyPr anchor="ctr" rtlCol="false" tIns="0" lIns="0" bIns="0" rIns="0"/>
            <a:lstStyle/>
            <a:p>
              <a:pPr algn="ctr">
                <a:lnSpc>
                  <a:spcPts val="2430"/>
                </a:lnSpc>
              </a:pPr>
              <a:r>
                <a:rPr lang="en-US" sz="2025">
                  <a:solidFill>
                    <a:srgbClr val="6B7280"/>
                  </a:solidFill>
                  <a:latin typeface="Calibri (MS)"/>
                  <a:ea typeface="Calibri (MS)"/>
                  <a:cs typeface="Calibri (MS)"/>
                  <a:sym typeface="Calibri (MS)"/>
                </a:rPr>
                <a:t>Respond</a:t>
              </a:r>
            </a:p>
          </p:txBody>
        </p:sp>
      </p:grpSp>
      <p:grpSp>
        <p:nvGrpSpPr>
          <p:cNvPr name="Group 53" id="53"/>
          <p:cNvGrpSpPr/>
          <p:nvPr/>
        </p:nvGrpSpPr>
        <p:grpSpPr>
          <a:xfrm rot="0">
            <a:off x="6542532" y="6583680"/>
            <a:ext cx="5143500" cy="329184"/>
            <a:chOff x="0" y="0"/>
            <a:chExt cx="6858000" cy="438912"/>
          </a:xfrm>
        </p:grpSpPr>
        <p:sp>
          <p:nvSpPr>
            <p:cNvPr name="Freeform 54" id="54"/>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55" id="55"/>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9AA3B8"/>
                  </a:solidFill>
                  <a:latin typeface="Arimo"/>
                  <a:ea typeface="Arimo"/>
                  <a:cs typeface="Arimo"/>
                  <a:sym typeface="Arimo"/>
                </a:rPr>
                <a:t>RS</a:t>
              </a:r>
            </a:p>
          </p:txBody>
        </p:sp>
      </p:grpSp>
      <p:grpSp>
        <p:nvGrpSpPr>
          <p:cNvPr name="Group 56" id="56"/>
          <p:cNvGrpSpPr/>
          <p:nvPr/>
        </p:nvGrpSpPr>
        <p:grpSpPr>
          <a:xfrm rot="0">
            <a:off x="12115419" y="6135243"/>
            <a:ext cx="5162550" cy="842010"/>
            <a:chOff x="0" y="0"/>
            <a:chExt cx="6883400" cy="1122680"/>
          </a:xfrm>
        </p:grpSpPr>
        <p:sp>
          <p:nvSpPr>
            <p:cNvPr name="Freeform 57" id="57"/>
            <p:cNvSpPr/>
            <p:nvPr/>
          </p:nvSpPr>
          <p:spPr>
            <a:xfrm flipH="false" flipV="false" rot="0">
              <a:off x="0" y="0"/>
              <a:ext cx="6883400" cy="1122680"/>
            </a:xfrm>
            <a:custGeom>
              <a:avLst/>
              <a:gdLst/>
              <a:ahLst/>
              <a:cxnLst/>
              <a:rect r="r" b="b" t="t" l="l"/>
              <a:pathLst>
                <a:path h="1122680" w="6883400">
                  <a:moveTo>
                    <a:pt x="0" y="168402"/>
                  </a:moveTo>
                  <a:cubicBezTo>
                    <a:pt x="0" y="75438"/>
                    <a:pt x="75438" y="0"/>
                    <a:pt x="168402" y="0"/>
                  </a:cubicBezTo>
                  <a:lnTo>
                    <a:pt x="6714998" y="0"/>
                  </a:lnTo>
                  <a:cubicBezTo>
                    <a:pt x="6807962" y="0"/>
                    <a:pt x="6883400" y="75438"/>
                    <a:pt x="6883400" y="168402"/>
                  </a:cubicBezTo>
                  <a:lnTo>
                    <a:pt x="6883400" y="954278"/>
                  </a:lnTo>
                  <a:cubicBezTo>
                    <a:pt x="6883400" y="1047242"/>
                    <a:pt x="6807962" y="1122680"/>
                    <a:pt x="6714998" y="1122680"/>
                  </a:cubicBezTo>
                  <a:lnTo>
                    <a:pt x="168402" y="1122680"/>
                  </a:lnTo>
                  <a:cubicBezTo>
                    <a:pt x="75438" y="1122680"/>
                    <a:pt x="0" y="1047242"/>
                    <a:pt x="0" y="954278"/>
                  </a:cubicBezTo>
                  <a:close/>
                </a:path>
              </a:pathLst>
            </a:custGeom>
            <a:solidFill>
              <a:srgbClr val="F4F7FC"/>
            </a:solidFill>
            <a:ln w="19050" cap="sq">
              <a:solidFill>
                <a:srgbClr val="D7DCEC"/>
              </a:solidFill>
              <a:prstDash val="solid"/>
              <a:miter/>
            </a:ln>
          </p:spPr>
        </p:sp>
      </p:grpSp>
      <p:grpSp>
        <p:nvGrpSpPr>
          <p:cNvPr name="Group 58" id="58"/>
          <p:cNvGrpSpPr/>
          <p:nvPr/>
        </p:nvGrpSpPr>
        <p:grpSpPr>
          <a:xfrm rot="0">
            <a:off x="12124944" y="6213348"/>
            <a:ext cx="5143500" cy="521208"/>
            <a:chOff x="0" y="0"/>
            <a:chExt cx="6858000" cy="694944"/>
          </a:xfrm>
        </p:grpSpPr>
        <p:sp>
          <p:nvSpPr>
            <p:cNvPr name="Freeform 59" id="59"/>
            <p:cNvSpPr/>
            <p:nvPr/>
          </p:nvSpPr>
          <p:spPr>
            <a:xfrm flipH="false" flipV="false" rot="0">
              <a:off x="0" y="0"/>
              <a:ext cx="6858000" cy="694944"/>
            </a:xfrm>
            <a:custGeom>
              <a:avLst/>
              <a:gdLst/>
              <a:ahLst/>
              <a:cxnLst/>
              <a:rect r="r" b="b" t="t" l="l"/>
              <a:pathLst>
                <a:path h="694944" w="6858000">
                  <a:moveTo>
                    <a:pt x="0" y="0"/>
                  </a:moveTo>
                  <a:lnTo>
                    <a:pt x="6858000" y="0"/>
                  </a:lnTo>
                  <a:lnTo>
                    <a:pt x="6858000" y="694944"/>
                  </a:lnTo>
                  <a:lnTo>
                    <a:pt x="0" y="694944"/>
                  </a:lnTo>
                  <a:close/>
                </a:path>
              </a:pathLst>
            </a:custGeom>
            <a:blipFill>
              <a:blip r:embed="rId2">
                <a:alphaModFix amt="0"/>
              </a:blip>
              <a:stretch>
                <a:fillRect l="0" t="-142286" r="0" b="-142286"/>
              </a:stretch>
            </a:blipFill>
          </p:spPr>
        </p:sp>
        <p:sp>
          <p:nvSpPr>
            <p:cNvPr name="TextBox 60" id="60"/>
            <p:cNvSpPr txBox="true"/>
            <p:nvPr/>
          </p:nvSpPr>
          <p:spPr>
            <a:xfrm>
              <a:off x="0" y="-38100"/>
              <a:ext cx="6858000" cy="733044"/>
            </a:xfrm>
            <a:prstGeom prst="rect">
              <a:avLst/>
            </a:prstGeom>
          </p:spPr>
          <p:txBody>
            <a:bodyPr anchor="ctr" rtlCol="false" tIns="0" lIns="0" bIns="0" rIns="0"/>
            <a:lstStyle/>
            <a:p>
              <a:pPr algn="ctr">
                <a:lnSpc>
                  <a:spcPts val="2430"/>
                </a:lnSpc>
              </a:pPr>
              <a:r>
                <a:rPr lang="en-US" sz="2025">
                  <a:solidFill>
                    <a:srgbClr val="6B7280"/>
                  </a:solidFill>
                  <a:latin typeface="Calibri (MS)"/>
                  <a:ea typeface="Calibri (MS)"/>
                  <a:cs typeface="Calibri (MS)"/>
                  <a:sym typeface="Calibri (MS)"/>
                </a:rPr>
                <a:t>Recover</a:t>
              </a:r>
            </a:p>
          </p:txBody>
        </p:sp>
      </p:grpSp>
      <p:grpSp>
        <p:nvGrpSpPr>
          <p:cNvPr name="Group 61" id="61"/>
          <p:cNvGrpSpPr/>
          <p:nvPr/>
        </p:nvGrpSpPr>
        <p:grpSpPr>
          <a:xfrm rot="0">
            <a:off x="12124944" y="6583680"/>
            <a:ext cx="5143500" cy="329184"/>
            <a:chOff x="0" y="0"/>
            <a:chExt cx="6858000" cy="438912"/>
          </a:xfrm>
        </p:grpSpPr>
        <p:sp>
          <p:nvSpPr>
            <p:cNvPr name="Freeform 62" id="62"/>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63" id="63"/>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9AA3B8"/>
                  </a:solidFill>
                  <a:latin typeface="Arimo"/>
                  <a:ea typeface="Arimo"/>
                  <a:cs typeface="Arimo"/>
                  <a:sym typeface="Arimo"/>
                </a:rPr>
                <a:t>RC</a:t>
              </a:r>
            </a:p>
          </p:txBody>
        </p:sp>
      </p:grpSp>
      <p:grpSp>
        <p:nvGrpSpPr>
          <p:cNvPr name="Group 64" id="64"/>
          <p:cNvGrpSpPr/>
          <p:nvPr/>
        </p:nvGrpSpPr>
        <p:grpSpPr>
          <a:xfrm rot="0">
            <a:off x="950595" y="7328535"/>
            <a:ext cx="16341090" cy="1596390"/>
            <a:chOff x="0" y="0"/>
            <a:chExt cx="21788120" cy="2128520"/>
          </a:xfrm>
        </p:grpSpPr>
        <p:sp>
          <p:nvSpPr>
            <p:cNvPr name="Freeform 65" id="65"/>
            <p:cNvSpPr/>
            <p:nvPr/>
          </p:nvSpPr>
          <p:spPr>
            <a:xfrm flipH="false" flipV="false" rot="0">
              <a:off x="0" y="0"/>
              <a:ext cx="21788120" cy="2128520"/>
            </a:xfrm>
            <a:custGeom>
              <a:avLst/>
              <a:gdLst/>
              <a:ahLst/>
              <a:cxnLst/>
              <a:rect r="r" b="b" t="t" l="l"/>
              <a:pathLst>
                <a:path h="2128520" w="21788120">
                  <a:moveTo>
                    <a:pt x="0" y="185039"/>
                  </a:moveTo>
                  <a:cubicBezTo>
                    <a:pt x="0" y="82931"/>
                    <a:pt x="82931" y="0"/>
                    <a:pt x="185039" y="0"/>
                  </a:cubicBezTo>
                  <a:lnTo>
                    <a:pt x="21603081" y="0"/>
                  </a:lnTo>
                  <a:cubicBezTo>
                    <a:pt x="21705317" y="0"/>
                    <a:pt x="21788120" y="82931"/>
                    <a:pt x="21788120" y="185039"/>
                  </a:cubicBezTo>
                  <a:lnTo>
                    <a:pt x="21788120" y="1943481"/>
                  </a:lnTo>
                  <a:cubicBezTo>
                    <a:pt x="21788120" y="2045716"/>
                    <a:pt x="21705190" y="2128520"/>
                    <a:pt x="21603081" y="2128520"/>
                  </a:cubicBezTo>
                  <a:lnTo>
                    <a:pt x="185039" y="2128520"/>
                  </a:lnTo>
                  <a:cubicBezTo>
                    <a:pt x="82931" y="2128520"/>
                    <a:pt x="0" y="2045589"/>
                    <a:pt x="0" y="1943481"/>
                  </a:cubicBezTo>
                  <a:close/>
                </a:path>
              </a:pathLst>
            </a:custGeom>
            <a:solidFill>
              <a:srgbClr val="FBF9F4"/>
            </a:solidFill>
            <a:ln w="19050" cap="sq">
              <a:solidFill>
                <a:srgbClr val="EFE6D2"/>
              </a:solidFill>
              <a:prstDash val="solid"/>
              <a:miter/>
            </a:ln>
          </p:spPr>
        </p:sp>
      </p:grpSp>
      <p:sp>
        <p:nvSpPr>
          <p:cNvPr name="TextBox 66" id="66"/>
          <p:cNvSpPr txBox="true"/>
          <p:nvPr/>
        </p:nvSpPr>
        <p:spPr>
          <a:xfrm rot="0">
            <a:off x="1463040" y="7494270"/>
            <a:ext cx="15316200" cy="1238250"/>
          </a:xfrm>
          <a:prstGeom prst="rect">
            <a:avLst/>
          </a:prstGeom>
        </p:spPr>
        <p:txBody>
          <a:bodyPr anchor="t" rtlCol="false" tIns="0" lIns="0" bIns="0" rIns="0">
            <a:spAutoFit/>
          </a:bodyPr>
          <a:lstStyle/>
          <a:p>
            <a:pPr algn="l">
              <a:lnSpc>
                <a:spcPts val="2880"/>
              </a:lnSpc>
            </a:pPr>
            <a:r>
              <a:rPr lang="en-US" sz="1875">
                <a:solidFill>
                  <a:srgbClr val="23262F"/>
                </a:solidFill>
                <a:latin typeface="Calibri (MS)"/>
                <a:ea typeface="Calibri (MS)"/>
                <a:cs typeface="Calibri (MS)"/>
                <a:sym typeface="Calibri (MS)"/>
              </a:rPr>
              <a:t>Nothing has been stopped or fixed yet — the system just found and flagged something abnormal. That's Detect.</a:t>
            </a:r>
          </a:p>
        </p:txBody>
      </p:sp>
      <p:grpSp>
        <p:nvGrpSpPr>
          <p:cNvPr name="Group 67" id="67"/>
          <p:cNvGrpSpPr/>
          <p:nvPr/>
        </p:nvGrpSpPr>
        <p:grpSpPr>
          <a:xfrm rot="0">
            <a:off x="685800" y="9710928"/>
            <a:ext cx="10972800" cy="411480"/>
            <a:chOff x="0" y="0"/>
            <a:chExt cx="14630400" cy="548640"/>
          </a:xfrm>
        </p:grpSpPr>
        <p:sp>
          <p:nvSpPr>
            <p:cNvPr name="Freeform 68" id="68"/>
            <p:cNvSpPr/>
            <p:nvPr/>
          </p:nvSpPr>
          <p:spPr>
            <a:xfrm flipH="false" flipV="false" rot="0">
              <a:off x="0" y="0"/>
              <a:ext cx="14630400" cy="548640"/>
            </a:xfrm>
            <a:custGeom>
              <a:avLst/>
              <a:gdLst/>
              <a:ahLst/>
              <a:cxnLst/>
              <a:rect r="r" b="b" t="t" l="l"/>
              <a:pathLst>
                <a:path h="548640" w="14630400">
                  <a:moveTo>
                    <a:pt x="0" y="0"/>
                  </a:moveTo>
                  <a:lnTo>
                    <a:pt x="14630400" y="0"/>
                  </a:lnTo>
                  <a:lnTo>
                    <a:pt x="14630400" y="548640"/>
                  </a:lnTo>
                  <a:lnTo>
                    <a:pt x="0" y="548640"/>
                  </a:lnTo>
                  <a:close/>
                </a:path>
              </a:pathLst>
            </a:custGeom>
            <a:blipFill>
              <a:blip r:embed="rId2">
                <a:alphaModFix amt="0"/>
              </a:blip>
              <a:stretch>
                <a:fillRect l="0" t="-469601" r="0" b="-469601"/>
              </a:stretch>
            </a:blipFill>
          </p:spPr>
        </p:sp>
        <p:sp>
          <p:nvSpPr>
            <p:cNvPr name="TextBox 69" id="69"/>
            <p:cNvSpPr txBox="true"/>
            <p:nvPr/>
          </p:nvSpPr>
          <p:spPr>
            <a:xfrm>
              <a:off x="0" y="-38100"/>
              <a:ext cx="14630400" cy="586740"/>
            </a:xfrm>
            <a:prstGeom prst="rect">
              <a:avLst/>
            </a:prstGeom>
          </p:spPr>
          <p:txBody>
            <a:bodyPr anchor="ctr" rtlCol="false" tIns="0" lIns="0" bIns="0" rIns="0"/>
            <a:lstStyle/>
            <a:p>
              <a:pPr algn="l">
                <a:lnSpc>
                  <a:spcPts val="1800"/>
                </a:lnSpc>
              </a:pPr>
              <a:r>
                <a:rPr lang="en-US" sz="1500">
                  <a:solidFill>
                    <a:srgbClr val="6B7280"/>
                  </a:solidFill>
                  <a:latin typeface="Calibri (MS)"/>
                  <a:ea typeface="Calibri (MS)"/>
                  <a:cs typeface="Calibri (MS)"/>
                  <a:sym typeface="Calibri (MS)"/>
                </a:rPr>
                <a:t>Davao del Norte Provincial Government — Cybersecurity Seminar</a:t>
              </a:r>
            </a:p>
          </p:txBody>
        </p:sp>
      </p:grpSp>
      <p:grpSp>
        <p:nvGrpSpPr>
          <p:cNvPr name="Group 70" id="70"/>
          <p:cNvGrpSpPr/>
          <p:nvPr/>
        </p:nvGrpSpPr>
        <p:grpSpPr>
          <a:xfrm rot="0">
            <a:off x="16911828" y="9710928"/>
            <a:ext cx="685800" cy="411480"/>
            <a:chOff x="0" y="0"/>
            <a:chExt cx="914400" cy="548640"/>
          </a:xfrm>
        </p:grpSpPr>
        <p:sp>
          <p:nvSpPr>
            <p:cNvPr name="Freeform 71" id="71"/>
            <p:cNvSpPr/>
            <p:nvPr/>
          </p:nvSpPr>
          <p:spPr>
            <a:xfrm flipH="false" flipV="false" rot="0">
              <a:off x="0" y="0"/>
              <a:ext cx="914400" cy="548640"/>
            </a:xfrm>
            <a:custGeom>
              <a:avLst/>
              <a:gdLst/>
              <a:ahLst/>
              <a:cxnLst/>
              <a:rect r="r" b="b" t="t" l="l"/>
              <a:pathLst>
                <a:path h="548640" w="914400">
                  <a:moveTo>
                    <a:pt x="0" y="0"/>
                  </a:moveTo>
                  <a:lnTo>
                    <a:pt x="914400" y="0"/>
                  </a:lnTo>
                  <a:lnTo>
                    <a:pt x="914400" y="548640"/>
                  </a:lnTo>
                  <a:lnTo>
                    <a:pt x="0" y="548640"/>
                  </a:lnTo>
                  <a:close/>
                </a:path>
              </a:pathLst>
            </a:custGeom>
            <a:blipFill>
              <a:blip r:embed="rId2">
                <a:alphaModFix amt="0"/>
              </a:blip>
              <a:stretch>
                <a:fillRect l="-26982" t="0" r="-26982" b="0"/>
              </a:stretch>
            </a:blipFill>
          </p:spPr>
        </p:sp>
        <p:sp>
          <p:nvSpPr>
            <p:cNvPr name="TextBox 72" id="72"/>
            <p:cNvSpPr txBox="true"/>
            <p:nvPr/>
          </p:nvSpPr>
          <p:spPr>
            <a:xfrm>
              <a:off x="0" y="-38100"/>
              <a:ext cx="914400" cy="586740"/>
            </a:xfrm>
            <a:prstGeom prst="rect">
              <a:avLst/>
            </a:prstGeom>
          </p:spPr>
          <p:txBody>
            <a:bodyPr anchor="ctr" rtlCol="false" tIns="0" lIns="0" bIns="0" rIns="0"/>
            <a:lstStyle/>
            <a:p>
              <a:pPr algn="r">
                <a:lnSpc>
                  <a:spcPts val="1800"/>
                </a:lnSpc>
              </a:pPr>
              <a:r>
                <a:rPr lang="en-US" sz="1500">
                  <a:solidFill>
                    <a:srgbClr val="6B7280"/>
                  </a:solidFill>
                  <a:latin typeface="Calibri (MS)"/>
                  <a:ea typeface="Calibri (MS)"/>
                  <a:cs typeface="Calibri (MS)"/>
                  <a:sym typeface="Calibri (MS)"/>
                </a:rPr>
                <a:t>18</a:t>
              </a:r>
            </a:p>
          </p:txBody>
        </p:sp>
      </p:grpSp>
    </p:spTree>
  </p:cSld>
  <p:clrMapOvr>
    <a:masterClrMapping/>
  </p:clrMapOvr>
</p:sld>
</file>

<file path=ppt/slides/slide8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60120" y="685800"/>
            <a:ext cx="13716000" cy="411480"/>
            <a:chOff x="0" y="0"/>
            <a:chExt cx="18288000" cy="548640"/>
          </a:xfrm>
        </p:grpSpPr>
        <p:sp>
          <p:nvSpPr>
            <p:cNvPr name="Freeform 3" id="3"/>
            <p:cNvSpPr/>
            <p:nvPr/>
          </p:nvSpPr>
          <p:spPr>
            <a:xfrm flipH="false" flipV="false" rot="0">
              <a:off x="0" y="0"/>
              <a:ext cx="18288000" cy="548640"/>
            </a:xfrm>
            <a:custGeom>
              <a:avLst/>
              <a:gdLst/>
              <a:ahLst/>
              <a:cxnLst/>
              <a:rect r="r" b="b" t="t" l="l"/>
              <a:pathLst>
                <a:path h="548640" w="18288000">
                  <a:moveTo>
                    <a:pt x="0" y="0"/>
                  </a:moveTo>
                  <a:lnTo>
                    <a:pt x="18288000" y="0"/>
                  </a:lnTo>
                  <a:lnTo>
                    <a:pt x="18288000" y="548640"/>
                  </a:lnTo>
                  <a:lnTo>
                    <a:pt x="0" y="548640"/>
                  </a:lnTo>
                  <a:close/>
                </a:path>
              </a:pathLst>
            </a:custGeom>
            <a:blipFill>
              <a:blip r:embed="rId2">
                <a:alphaModFix amt="0"/>
              </a:blip>
              <a:stretch>
                <a:fillRect l="0" t="-599501" r="0" b="-599501"/>
              </a:stretch>
            </a:blipFill>
          </p:spPr>
        </p:sp>
        <p:sp>
          <p:nvSpPr>
            <p:cNvPr name="TextBox 4" id="4"/>
            <p:cNvSpPr txBox="true"/>
            <p:nvPr/>
          </p:nvSpPr>
          <p:spPr>
            <a:xfrm>
              <a:off x="0" y="-38100"/>
              <a:ext cx="18288000" cy="586740"/>
            </a:xfrm>
            <a:prstGeom prst="rect">
              <a:avLst/>
            </a:prstGeom>
          </p:spPr>
          <p:txBody>
            <a:bodyPr anchor="ctr" rtlCol="false" tIns="0" lIns="0" bIns="0" rIns="0"/>
            <a:lstStyle/>
            <a:p>
              <a:pPr algn="l">
                <a:lnSpc>
                  <a:spcPts val="2160"/>
                </a:lnSpc>
              </a:pPr>
              <a:r>
                <a:rPr lang="en-US" b="true" sz="1800" spc="225">
                  <a:solidFill>
                    <a:srgbClr val="00B4D8"/>
                  </a:solidFill>
                  <a:latin typeface="Calibri (MS) Bold"/>
                  <a:ea typeface="Calibri (MS) Bold"/>
                  <a:cs typeface="Calibri (MS) Bold"/>
                  <a:sym typeface="Calibri (MS) Bold"/>
                </a:rPr>
                <a:t>NIST CSF SORT · SCENARIO</a:t>
              </a:r>
            </a:p>
          </p:txBody>
        </p:sp>
      </p:grpSp>
      <p:grpSp>
        <p:nvGrpSpPr>
          <p:cNvPr name="Group 5" id="5"/>
          <p:cNvGrpSpPr/>
          <p:nvPr/>
        </p:nvGrpSpPr>
        <p:grpSpPr>
          <a:xfrm rot="0">
            <a:off x="960120" y="1069848"/>
            <a:ext cx="10972800" cy="822960"/>
            <a:chOff x="0" y="0"/>
            <a:chExt cx="14630400" cy="1097280"/>
          </a:xfrm>
        </p:grpSpPr>
        <p:sp>
          <p:nvSpPr>
            <p:cNvPr name="Freeform 6" id="6"/>
            <p:cNvSpPr/>
            <p:nvPr/>
          </p:nvSpPr>
          <p:spPr>
            <a:xfrm flipH="false" flipV="false" rot="0">
              <a:off x="0" y="0"/>
              <a:ext cx="14630400" cy="1097280"/>
            </a:xfrm>
            <a:custGeom>
              <a:avLst/>
              <a:gdLst/>
              <a:ahLst/>
              <a:cxnLst/>
              <a:rect r="r" b="b" t="t" l="l"/>
              <a:pathLst>
                <a:path h="1097280" w="14630400">
                  <a:moveTo>
                    <a:pt x="0" y="0"/>
                  </a:moveTo>
                  <a:lnTo>
                    <a:pt x="14630400" y="0"/>
                  </a:lnTo>
                  <a:lnTo>
                    <a:pt x="14630400" y="1097280"/>
                  </a:lnTo>
                  <a:lnTo>
                    <a:pt x="0" y="1097280"/>
                  </a:lnTo>
                  <a:close/>
                </a:path>
              </a:pathLst>
            </a:custGeom>
            <a:blipFill>
              <a:blip r:embed="rId2">
                <a:alphaModFix amt="0"/>
              </a:blip>
              <a:stretch>
                <a:fillRect l="0" t="-209800" r="0" b="-209800"/>
              </a:stretch>
            </a:blipFill>
          </p:spPr>
        </p:sp>
        <p:sp>
          <p:nvSpPr>
            <p:cNvPr name="TextBox 7" id="7"/>
            <p:cNvSpPr txBox="true"/>
            <p:nvPr/>
          </p:nvSpPr>
          <p:spPr>
            <a:xfrm>
              <a:off x="0" y="0"/>
              <a:ext cx="14630400" cy="1097280"/>
            </a:xfrm>
            <a:prstGeom prst="rect">
              <a:avLst/>
            </a:prstGeom>
          </p:spPr>
          <p:txBody>
            <a:bodyPr anchor="ctr" rtlCol="false" tIns="0" lIns="0" bIns="0" rIns="0"/>
            <a:lstStyle/>
            <a:p>
              <a:pPr algn="l">
                <a:lnSpc>
                  <a:spcPts val="4680"/>
                </a:lnSpc>
              </a:pPr>
              <a:r>
                <a:rPr lang="en-US" sz="3900" b="true">
                  <a:solidFill>
                    <a:srgbClr val="1E2761"/>
                  </a:solidFill>
                  <a:latin typeface="Cambria Bold"/>
                  <a:ea typeface="Cambria Bold"/>
                  <a:cs typeface="Cambria Bold"/>
                  <a:sym typeface="Cambria Bold"/>
                </a:rPr>
                <a:t>Scenario 5</a:t>
              </a:r>
            </a:p>
          </p:txBody>
        </p:sp>
      </p:grpSp>
      <p:grpSp>
        <p:nvGrpSpPr>
          <p:cNvPr name="Group 8" id="8"/>
          <p:cNvGrpSpPr/>
          <p:nvPr/>
        </p:nvGrpSpPr>
        <p:grpSpPr>
          <a:xfrm rot="0">
            <a:off x="960120" y="1810512"/>
            <a:ext cx="8229600" cy="411480"/>
            <a:chOff x="0" y="0"/>
            <a:chExt cx="10972800" cy="548640"/>
          </a:xfrm>
        </p:grpSpPr>
        <p:sp>
          <p:nvSpPr>
            <p:cNvPr name="Freeform 9" id="9"/>
            <p:cNvSpPr/>
            <p:nvPr/>
          </p:nvSpPr>
          <p:spPr>
            <a:xfrm flipH="false" flipV="false" rot="0">
              <a:off x="0" y="0"/>
              <a:ext cx="10972800" cy="548640"/>
            </a:xfrm>
            <a:custGeom>
              <a:avLst/>
              <a:gdLst/>
              <a:ahLst/>
              <a:cxnLst/>
              <a:rect r="r" b="b" t="t" l="l"/>
              <a:pathLst>
                <a:path h="548640" w="10972800">
                  <a:moveTo>
                    <a:pt x="0" y="0"/>
                  </a:moveTo>
                  <a:lnTo>
                    <a:pt x="10972800" y="0"/>
                  </a:lnTo>
                  <a:lnTo>
                    <a:pt x="10972800" y="548640"/>
                  </a:lnTo>
                  <a:lnTo>
                    <a:pt x="0" y="548640"/>
                  </a:lnTo>
                  <a:close/>
                </a:path>
              </a:pathLst>
            </a:custGeom>
            <a:blipFill>
              <a:blip r:embed="rId2">
                <a:alphaModFix amt="0"/>
              </a:blip>
              <a:stretch>
                <a:fillRect l="0" t="-339700" r="0" b="-339700"/>
              </a:stretch>
            </a:blipFill>
          </p:spPr>
        </p:sp>
        <p:sp>
          <p:nvSpPr>
            <p:cNvPr name="TextBox 10" id="10"/>
            <p:cNvSpPr txBox="true"/>
            <p:nvPr/>
          </p:nvSpPr>
          <p:spPr>
            <a:xfrm>
              <a:off x="0" y="-28575"/>
              <a:ext cx="10972800" cy="577215"/>
            </a:xfrm>
            <a:prstGeom prst="rect">
              <a:avLst/>
            </a:prstGeom>
          </p:spPr>
          <p:txBody>
            <a:bodyPr anchor="ctr" rtlCol="false" tIns="0" lIns="0" bIns="0" rIns="0"/>
            <a:lstStyle/>
            <a:p>
              <a:pPr algn="l">
                <a:lnSpc>
                  <a:spcPts val="1980"/>
                </a:lnSpc>
              </a:pPr>
              <a:r>
                <a:rPr lang="en-US" sz="1650">
                  <a:solidFill>
                    <a:srgbClr val="6B7280"/>
                  </a:solidFill>
                  <a:latin typeface="Calibri (MS)"/>
                  <a:ea typeface="Calibri (MS)"/>
                  <a:cs typeface="Calibri (MS)"/>
                  <a:sym typeface="Calibri (MS)"/>
                </a:rPr>
                <a:t>5 of 20</a:t>
              </a:r>
            </a:p>
          </p:txBody>
        </p:sp>
      </p:grpSp>
      <p:grpSp>
        <p:nvGrpSpPr>
          <p:cNvPr name="Group 11" id="11"/>
          <p:cNvGrpSpPr/>
          <p:nvPr/>
        </p:nvGrpSpPr>
        <p:grpSpPr>
          <a:xfrm rot="0">
            <a:off x="960120" y="2537460"/>
            <a:ext cx="16322040" cy="2811780"/>
            <a:chOff x="0" y="0"/>
            <a:chExt cx="21762720" cy="3749040"/>
          </a:xfrm>
        </p:grpSpPr>
        <p:sp>
          <p:nvSpPr>
            <p:cNvPr name="Freeform 12" id="12"/>
            <p:cNvSpPr/>
            <p:nvPr/>
          </p:nvSpPr>
          <p:spPr>
            <a:xfrm flipH="false" flipV="false" rot="0">
              <a:off x="0" y="0"/>
              <a:ext cx="21762720" cy="3749040"/>
            </a:xfrm>
            <a:custGeom>
              <a:avLst/>
              <a:gdLst/>
              <a:ahLst/>
              <a:cxnLst/>
              <a:rect r="r" b="b" t="t" l="l"/>
              <a:pathLst>
                <a:path h="3749040" w="21762720">
                  <a:moveTo>
                    <a:pt x="0" y="182880"/>
                  </a:moveTo>
                  <a:cubicBezTo>
                    <a:pt x="0" y="81915"/>
                    <a:pt x="81915" y="0"/>
                    <a:pt x="182880" y="0"/>
                  </a:cubicBezTo>
                  <a:lnTo>
                    <a:pt x="21579839" y="0"/>
                  </a:lnTo>
                  <a:cubicBezTo>
                    <a:pt x="21680804" y="0"/>
                    <a:pt x="21762720" y="81915"/>
                    <a:pt x="21762720" y="182880"/>
                  </a:cubicBezTo>
                  <a:lnTo>
                    <a:pt x="21762720" y="3566160"/>
                  </a:lnTo>
                  <a:cubicBezTo>
                    <a:pt x="21762720" y="3667125"/>
                    <a:pt x="21680804" y="3749040"/>
                    <a:pt x="21579839" y="3749040"/>
                  </a:cubicBezTo>
                  <a:lnTo>
                    <a:pt x="182880" y="3749040"/>
                  </a:lnTo>
                  <a:cubicBezTo>
                    <a:pt x="81915" y="3749040"/>
                    <a:pt x="0" y="3667125"/>
                    <a:pt x="0" y="3566160"/>
                  </a:cubicBezTo>
                  <a:close/>
                </a:path>
              </a:pathLst>
            </a:custGeom>
            <a:solidFill>
              <a:srgbClr val="F4F7FC"/>
            </a:solidFill>
          </p:spPr>
        </p:sp>
      </p:grpSp>
      <p:grpSp>
        <p:nvGrpSpPr>
          <p:cNvPr name="Group 13" id="13"/>
          <p:cNvGrpSpPr/>
          <p:nvPr/>
        </p:nvGrpSpPr>
        <p:grpSpPr>
          <a:xfrm rot="0">
            <a:off x="1440180" y="2811780"/>
            <a:ext cx="15361920" cy="2263140"/>
            <a:chOff x="0" y="0"/>
            <a:chExt cx="20482560" cy="3017520"/>
          </a:xfrm>
        </p:grpSpPr>
        <p:sp>
          <p:nvSpPr>
            <p:cNvPr name="Freeform 14" id="14"/>
            <p:cNvSpPr/>
            <p:nvPr/>
          </p:nvSpPr>
          <p:spPr>
            <a:xfrm flipH="false" flipV="false" rot="0">
              <a:off x="0" y="0"/>
              <a:ext cx="20482561" cy="3017520"/>
            </a:xfrm>
            <a:custGeom>
              <a:avLst/>
              <a:gdLst/>
              <a:ahLst/>
              <a:cxnLst/>
              <a:rect r="r" b="b" t="t" l="l"/>
              <a:pathLst>
                <a:path h="3017520" w="20482561">
                  <a:moveTo>
                    <a:pt x="0" y="0"/>
                  </a:moveTo>
                  <a:lnTo>
                    <a:pt x="20482561" y="0"/>
                  </a:lnTo>
                  <a:lnTo>
                    <a:pt x="20482561" y="3017520"/>
                  </a:lnTo>
                  <a:lnTo>
                    <a:pt x="0" y="3017520"/>
                  </a:lnTo>
                  <a:close/>
                </a:path>
              </a:pathLst>
            </a:custGeom>
            <a:blipFill>
              <a:blip r:embed="rId2">
                <a:alphaModFix amt="0"/>
              </a:blip>
              <a:stretch>
                <a:fillRect l="0" t="-82262" r="0" b="-82262"/>
              </a:stretch>
            </a:blipFill>
          </p:spPr>
        </p:sp>
        <p:sp>
          <p:nvSpPr>
            <p:cNvPr name="TextBox 15" id="15"/>
            <p:cNvSpPr txBox="true"/>
            <p:nvPr/>
          </p:nvSpPr>
          <p:spPr>
            <a:xfrm>
              <a:off x="0" y="-104775"/>
              <a:ext cx="20482560" cy="3122295"/>
            </a:xfrm>
            <a:prstGeom prst="rect">
              <a:avLst/>
            </a:prstGeom>
          </p:spPr>
          <p:txBody>
            <a:bodyPr anchor="ctr" rtlCol="false" tIns="0" lIns="0" bIns="0" rIns="0"/>
            <a:lstStyle/>
            <a:p>
              <a:pPr algn="l">
                <a:lnSpc>
                  <a:spcPts val="4147"/>
                </a:lnSpc>
              </a:pPr>
              <a:r>
                <a:rPr lang="en-US" sz="2700" i="true">
                  <a:solidFill>
                    <a:srgbClr val="23262F"/>
                  </a:solidFill>
                  <a:latin typeface="Cambria Italics"/>
                  <a:ea typeface="Cambria Italics"/>
                  <a:cs typeface="Cambria Italics"/>
                  <a:sym typeface="Cambria Italics"/>
                </a:rPr>
                <a:t>"The moment ransomware is discovered, the IT team disconnects the infected computers from the network within the hour."</a:t>
              </a:r>
            </a:p>
          </p:txBody>
        </p:sp>
      </p:grpSp>
      <p:sp>
        <p:nvSpPr>
          <p:cNvPr name="TextBox 16" id="16"/>
          <p:cNvSpPr txBox="true"/>
          <p:nvPr/>
        </p:nvSpPr>
        <p:spPr>
          <a:xfrm rot="0">
            <a:off x="1051560" y="5604510"/>
            <a:ext cx="16139160" cy="1276350"/>
          </a:xfrm>
          <a:prstGeom prst="rect">
            <a:avLst/>
          </a:prstGeom>
        </p:spPr>
        <p:txBody>
          <a:bodyPr anchor="t" rtlCol="false" tIns="0" lIns="0" bIns="0" rIns="0">
            <a:spAutoFit/>
          </a:bodyPr>
          <a:lstStyle/>
          <a:p>
            <a:pPr algn="ctr">
              <a:lnSpc>
                <a:spcPts val="3402"/>
              </a:lnSpc>
            </a:pPr>
            <a:r>
              <a:rPr lang="en-US" sz="2100" i="true">
                <a:solidFill>
                  <a:srgbClr val="6B7280"/>
                </a:solidFill>
                <a:latin typeface="Calibri (MS) Italics"/>
                <a:ea typeface="Calibri (MS) Italics"/>
                <a:cs typeface="Calibri (MS) Italics"/>
                <a:sym typeface="Calibri (MS) Italics"/>
              </a:rPr>
              <a:t>Which Function does this belong to — Govern, Identify, Protect, Detect, Respond, or Recover?</a:t>
            </a:r>
          </a:p>
          <a:p>
            <a:pPr algn="ctr">
              <a:lnSpc>
                <a:spcPts val="3402"/>
              </a:lnSpc>
            </a:pPr>
            <a:r>
              <a:rPr lang="en-US" sz="2100" i="true">
                <a:solidFill>
                  <a:srgbClr val="6B7280"/>
                </a:solidFill>
                <a:latin typeface="Calibri (MS) Italics"/>
                <a:ea typeface="Calibri (MS) Italics"/>
                <a:cs typeface="Calibri (MS) Italics"/>
                <a:sym typeface="Calibri (MS) Italics"/>
              </a:rPr>
              <a:t>Some belong to more than one. Discuss, then we'll reveal the answer.</a:t>
            </a:r>
          </a:p>
        </p:txBody>
      </p:sp>
      <p:grpSp>
        <p:nvGrpSpPr>
          <p:cNvPr name="Group 17" id="17"/>
          <p:cNvGrpSpPr/>
          <p:nvPr/>
        </p:nvGrpSpPr>
        <p:grpSpPr>
          <a:xfrm rot="0">
            <a:off x="950595" y="7122795"/>
            <a:ext cx="5162550" cy="910590"/>
            <a:chOff x="0" y="0"/>
            <a:chExt cx="6883400" cy="1214120"/>
          </a:xfrm>
        </p:grpSpPr>
        <p:sp>
          <p:nvSpPr>
            <p:cNvPr name="Freeform 18" id="18"/>
            <p:cNvSpPr/>
            <p:nvPr/>
          </p:nvSpPr>
          <p:spPr>
            <a:xfrm flipH="false" flipV="false" rot="0">
              <a:off x="0" y="0"/>
              <a:ext cx="6883400" cy="1214120"/>
            </a:xfrm>
            <a:custGeom>
              <a:avLst/>
              <a:gdLst/>
              <a:ahLst/>
              <a:cxnLst/>
              <a:rect r="r" b="b" t="t" l="l"/>
              <a:pathLst>
                <a:path h="1214120" w="6883400">
                  <a:moveTo>
                    <a:pt x="0" y="168148"/>
                  </a:moveTo>
                  <a:cubicBezTo>
                    <a:pt x="0" y="75311"/>
                    <a:pt x="75311" y="0"/>
                    <a:pt x="168148" y="0"/>
                  </a:cubicBezTo>
                  <a:lnTo>
                    <a:pt x="6715252" y="0"/>
                  </a:lnTo>
                  <a:cubicBezTo>
                    <a:pt x="6808089" y="0"/>
                    <a:pt x="6883400" y="75311"/>
                    <a:pt x="6883400" y="168148"/>
                  </a:cubicBezTo>
                  <a:lnTo>
                    <a:pt x="6883400" y="1045972"/>
                  </a:lnTo>
                  <a:cubicBezTo>
                    <a:pt x="6883400" y="1138809"/>
                    <a:pt x="6808089" y="1214120"/>
                    <a:pt x="6715252" y="1214120"/>
                  </a:cubicBezTo>
                  <a:lnTo>
                    <a:pt x="168148" y="1214120"/>
                  </a:lnTo>
                  <a:cubicBezTo>
                    <a:pt x="75311" y="1214120"/>
                    <a:pt x="0" y="1138809"/>
                    <a:pt x="0" y="1045972"/>
                  </a:cubicBezTo>
                  <a:close/>
                </a:path>
              </a:pathLst>
            </a:custGeom>
            <a:solidFill>
              <a:srgbClr val="F4F7FC"/>
            </a:solidFill>
            <a:ln w="19050" cap="sq">
              <a:solidFill>
                <a:srgbClr val="D7DCEC"/>
              </a:solidFill>
              <a:prstDash val="solid"/>
              <a:miter/>
            </a:ln>
          </p:spPr>
        </p:sp>
      </p:grpSp>
      <p:grpSp>
        <p:nvGrpSpPr>
          <p:cNvPr name="Group 19" id="19"/>
          <p:cNvGrpSpPr/>
          <p:nvPr/>
        </p:nvGrpSpPr>
        <p:grpSpPr>
          <a:xfrm rot="0">
            <a:off x="960120" y="7200900"/>
            <a:ext cx="5143500" cy="589788"/>
            <a:chOff x="0" y="0"/>
            <a:chExt cx="6858000" cy="786384"/>
          </a:xfrm>
        </p:grpSpPr>
        <p:sp>
          <p:nvSpPr>
            <p:cNvPr name="Freeform 20" id="20"/>
            <p:cNvSpPr/>
            <p:nvPr/>
          </p:nvSpPr>
          <p:spPr>
            <a:xfrm flipH="false" flipV="false" rot="0">
              <a:off x="0" y="0"/>
              <a:ext cx="6858000" cy="786384"/>
            </a:xfrm>
            <a:custGeom>
              <a:avLst/>
              <a:gdLst/>
              <a:ahLst/>
              <a:cxnLst/>
              <a:rect r="r" b="b" t="t" l="l"/>
              <a:pathLst>
                <a:path h="786384" w="6858000">
                  <a:moveTo>
                    <a:pt x="0" y="0"/>
                  </a:moveTo>
                  <a:lnTo>
                    <a:pt x="6858000" y="0"/>
                  </a:lnTo>
                  <a:lnTo>
                    <a:pt x="6858000" y="786384"/>
                  </a:lnTo>
                  <a:lnTo>
                    <a:pt x="0" y="786384"/>
                  </a:lnTo>
                  <a:close/>
                </a:path>
              </a:pathLst>
            </a:custGeom>
            <a:blipFill>
              <a:blip r:embed="rId2">
                <a:alphaModFix amt="0"/>
              </a:blip>
              <a:stretch>
                <a:fillRect l="0" t="-119927" r="0" b="-119927"/>
              </a:stretch>
            </a:blipFill>
          </p:spPr>
        </p:sp>
        <p:sp>
          <p:nvSpPr>
            <p:cNvPr name="TextBox 21" id="21"/>
            <p:cNvSpPr txBox="true"/>
            <p:nvPr/>
          </p:nvSpPr>
          <p:spPr>
            <a:xfrm>
              <a:off x="0" y="-38100"/>
              <a:ext cx="6858000" cy="824484"/>
            </a:xfrm>
            <a:prstGeom prst="rect">
              <a:avLst/>
            </a:prstGeom>
          </p:spPr>
          <p:txBody>
            <a:bodyPr anchor="ctr" rtlCol="false" tIns="0" lIns="0" bIns="0" rIns="0"/>
            <a:lstStyle/>
            <a:p>
              <a:pPr algn="ctr">
                <a:lnSpc>
                  <a:spcPts val="2430"/>
                </a:lnSpc>
              </a:pPr>
              <a:r>
                <a:rPr lang="en-US" sz="2025">
                  <a:solidFill>
                    <a:srgbClr val="6B7280"/>
                  </a:solidFill>
                  <a:latin typeface="Calibri (MS)"/>
                  <a:ea typeface="Calibri (MS)"/>
                  <a:cs typeface="Calibri (MS)"/>
                  <a:sym typeface="Calibri (MS)"/>
                </a:rPr>
                <a:t>Govern</a:t>
              </a:r>
            </a:p>
          </p:txBody>
        </p:sp>
      </p:grpSp>
      <p:grpSp>
        <p:nvGrpSpPr>
          <p:cNvPr name="Group 22" id="22"/>
          <p:cNvGrpSpPr/>
          <p:nvPr/>
        </p:nvGrpSpPr>
        <p:grpSpPr>
          <a:xfrm rot="0">
            <a:off x="960120" y="7639812"/>
            <a:ext cx="5143500" cy="329184"/>
            <a:chOff x="0" y="0"/>
            <a:chExt cx="6858000" cy="438912"/>
          </a:xfrm>
        </p:grpSpPr>
        <p:sp>
          <p:nvSpPr>
            <p:cNvPr name="Freeform 23" id="23"/>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24" id="24"/>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9AA3B8"/>
                  </a:solidFill>
                  <a:latin typeface="Arimo"/>
                  <a:ea typeface="Arimo"/>
                  <a:cs typeface="Arimo"/>
                  <a:sym typeface="Arimo"/>
                </a:rPr>
                <a:t>GV</a:t>
              </a:r>
            </a:p>
          </p:txBody>
        </p:sp>
      </p:grpSp>
      <p:grpSp>
        <p:nvGrpSpPr>
          <p:cNvPr name="Group 25" id="25"/>
          <p:cNvGrpSpPr/>
          <p:nvPr/>
        </p:nvGrpSpPr>
        <p:grpSpPr>
          <a:xfrm rot="0">
            <a:off x="6533007" y="7122795"/>
            <a:ext cx="5162550" cy="910590"/>
            <a:chOff x="0" y="0"/>
            <a:chExt cx="6883400" cy="1214120"/>
          </a:xfrm>
        </p:grpSpPr>
        <p:sp>
          <p:nvSpPr>
            <p:cNvPr name="Freeform 26" id="26"/>
            <p:cNvSpPr/>
            <p:nvPr/>
          </p:nvSpPr>
          <p:spPr>
            <a:xfrm flipH="false" flipV="false" rot="0">
              <a:off x="0" y="0"/>
              <a:ext cx="6883400" cy="1214120"/>
            </a:xfrm>
            <a:custGeom>
              <a:avLst/>
              <a:gdLst/>
              <a:ahLst/>
              <a:cxnLst/>
              <a:rect r="r" b="b" t="t" l="l"/>
              <a:pathLst>
                <a:path h="1214120" w="6883400">
                  <a:moveTo>
                    <a:pt x="0" y="168148"/>
                  </a:moveTo>
                  <a:cubicBezTo>
                    <a:pt x="0" y="75311"/>
                    <a:pt x="75311" y="0"/>
                    <a:pt x="168148" y="0"/>
                  </a:cubicBezTo>
                  <a:lnTo>
                    <a:pt x="6715252" y="0"/>
                  </a:lnTo>
                  <a:cubicBezTo>
                    <a:pt x="6808089" y="0"/>
                    <a:pt x="6883400" y="75311"/>
                    <a:pt x="6883400" y="168148"/>
                  </a:cubicBezTo>
                  <a:lnTo>
                    <a:pt x="6883400" y="1045972"/>
                  </a:lnTo>
                  <a:cubicBezTo>
                    <a:pt x="6883400" y="1138809"/>
                    <a:pt x="6808089" y="1214120"/>
                    <a:pt x="6715252" y="1214120"/>
                  </a:cubicBezTo>
                  <a:lnTo>
                    <a:pt x="168148" y="1214120"/>
                  </a:lnTo>
                  <a:cubicBezTo>
                    <a:pt x="75311" y="1214120"/>
                    <a:pt x="0" y="1138809"/>
                    <a:pt x="0" y="1045972"/>
                  </a:cubicBezTo>
                  <a:close/>
                </a:path>
              </a:pathLst>
            </a:custGeom>
            <a:solidFill>
              <a:srgbClr val="F4F7FC"/>
            </a:solidFill>
            <a:ln w="19050" cap="sq">
              <a:solidFill>
                <a:srgbClr val="D7DCEC"/>
              </a:solidFill>
              <a:prstDash val="solid"/>
              <a:miter/>
            </a:ln>
          </p:spPr>
        </p:sp>
      </p:grpSp>
      <p:grpSp>
        <p:nvGrpSpPr>
          <p:cNvPr name="Group 27" id="27"/>
          <p:cNvGrpSpPr/>
          <p:nvPr/>
        </p:nvGrpSpPr>
        <p:grpSpPr>
          <a:xfrm rot="0">
            <a:off x="6542532" y="7200900"/>
            <a:ext cx="5143500" cy="589788"/>
            <a:chOff x="0" y="0"/>
            <a:chExt cx="6858000" cy="786384"/>
          </a:xfrm>
        </p:grpSpPr>
        <p:sp>
          <p:nvSpPr>
            <p:cNvPr name="Freeform 28" id="28"/>
            <p:cNvSpPr/>
            <p:nvPr/>
          </p:nvSpPr>
          <p:spPr>
            <a:xfrm flipH="false" flipV="false" rot="0">
              <a:off x="0" y="0"/>
              <a:ext cx="6858000" cy="786384"/>
            </a:xfrm>
            <a:custGeom>
              <a:avLst/>
              <a:gdLst/>
              <a:ahLst/>
              <a:cxnLst/>
              <a:rect r="r" b="b" t="t" l="l"/>
              <a:pathLst>
                <a:path h="786384" w="6858000">
                  <a:moveTo>
                    <a:pt x="0" y="0"/>
                  </a:moveTo>
                  <a:lnTo>
                    <a:pt x="6858000" y="0"/>
                  </a:lnTo>
                  <a:lnTo>
                    <a:pt x="6858000" y="786384"/>
                  </a:lnTo>
                  <a:lnTo>
                    <a:pt x="0" y="786384"/>
                  </a:lnTo>
                  <a:close/>
                </a:path>
              </a:pathLst>
            </a:custGeom>
            <a:blipFill>
              <a:blip r:embed="rId2">
                <a:alphaModFix amt="0"/>
              </a:blip>
              <a:stretch>
                <a:fillRect l="0" t="-119927" r="0" b="-119927"/>
              </a:stretch>
            </a:blipFill>
          </p:spPr>
        </p:sp>
        <p:sp>
          <p:nvSpPr>
            <p:cNvPr name="TextBox 29" id="29"/>
            <p:cNvSpPr txBox="true"/>
            <p:nvPr/>
          </p:nvSpPr>
          <p:spPr>
            <a:xfrm>
              <a:off x="0" y="-38100"/>
              <a:ext cx="6858000" cy="824484"/>
            </a:xfrm>
            <a:prstGeom prst="rect">
              <a:avLst/>
            </a:prstGeom>
          </p:spPr>
          <p:txBody>
            <a:bodyPr anchor="ctr" rtlCol="false" tIns="0" lIns="0" bIns="0" rIns="0"/>
            <a:lstStyle/>
            <a:p>
              <a:pPr algn="ctr">
                <a:lnSpc>
                  <a:spcPts val="2430"/>
                </a:lnSpc>
              </a:pPr>
              <a:r>
                <a:rPr lang="en-US" sz="2025">
                  <a:solidFill>
                    <a:srgbClr val="6B7280"/>
                  </a:solidFill>
                  <a:latin typeface="Calibri (MS)"/>
                  <a:ea typeface="Calibri (MS)"/>
                  <a:cs typeface="Calibri (MS)"/>
                  <a:sym typeface="Calibri (MS)"/>
                </a:rPr>
                <a:t>Identify</a:t>
              </a:r>
            </a:p>
          </p:txBody>
        </p:sp>
      </p:grpSp>
      <p:grpSp>
        <p:nvGrpSpPr>
          <p:cNvPr name="Group 30" id="30"/>
          <p:cNvGrpSpPr/>
          <p:nvPr/>
        </p:nvGrpSpPr>
        <p:grpSpPr>
          <a:xfrm rot="0">
            <a:off x="6542532" y="7639812"/>
            <a:ext cx="5143500" cy="329184"/>
            <a:chOff x="0" y="0"/>
            <a:chExt cx="6858000" cy="438912"/>
          </a:xfrm>
        </p:grpSpPr>
        <p:sp>
          <p:nvSpPr>
            <p:cNvPr name="Freeform 31" id="31"/>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32" id="32"/>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9AA3B8"/>
                  </a:solidFill>
                  <a:latin typeface="Arimo"/>
                  <a:ea typeface="Arimo"/>
                  <a:cs typeface="Arimo"/>
                  <a:sym typeface="Arimo"/>
                </a:rPr>
                <a:t>ID</a:t>
              </a:r>
            </a:p>
          </p:txBody>
        </p:sp>
      </p:grpSp>
      <p:grpSp>
        <p:nvGrpSpPr>
          <p:cNvPr name="Group 33" id="33"/>
          <p:cNvGrpSpPr/>
          <p:nvPr/>
        </p:nvGrpSpPr>
        <p:grpSpPr>
          <a:xfrm rot="0">
            <a:off x="12115419" y="7122795"/>
            <a:ext cx="5162550" cy="910590"/>
            <a:chOff x="0" y="0"/>
            <a:chExt cx="6883400" cy="1214120"/>
          </a:xfrm>
        </p:grpSpPr>
        <p:sp>
          <p:nvSpPr>
            <p:cNvPr name="Freeform 34" id="34"/>
            <p:cNvSpPr/>
            <p:nvPr/>
          </p:nvSpPr>
          <p:spPr>
            <a:xfrm flipH="false" flipV="false" rot="0">
              <a:off x="0" y="0"/>
              <a:ext cx="6883400" cy="1214120"/>
            </a:xfrm>
            <a:custGeom>
              <a:avLst/>
              <a:gdLst/>
              <a:ahLst/>
              <a:cxnLst/>
              <a:rect r="r" b="b" t="t" l="l"/>
              <a:pathLst>
                <a:path h="1214120" w="6883400">
                  <a:moveTo>
                    <a:pt x="0" y="168148"/>
                  </a:moveTo>
                  <a:cubicBezTo>
                    <a:pt x="0" y="75311"/>
                    <a:pt x="75311" y="0"/>
                    <a:pt x="168148" y="0"/>
                  </a:cubicBezTo>
                  <a:lnTo>
                    <a:pt x="6715252" y="0"/>
                  </a:lnTo>
                  <a:cubicBezTo>
                    <a:pt x="6808089" y="0"/>
                    <a:pt x="6883400" y="75311"/>
                    <a:pt x="6883400" y="168148"/>
                  </a:cubicBezTo>
                  <a:lnTo>
                    <a:pt x="6883400" y="1045972"/>
                  </a:lnTo>
                  <a:cubicBezTo>
                    <a:pt x="6883400" y="1138809"/>
                    <a:pt x="6808089" y="1214120"/>
                    <a:pt x="6715252" y="1214120"/>
                  </a:cubicBezTo>
                  <a:lnTo>
                    <a:pt x="168148" y="1214120"/>
                  </a:lnTo>
                  <a:cubicBezTo>
                    <a:pt x="75311" y="1214120"/>
                    <a:pt x="0" y="1138809"/>
                    <a:pt x="0" y="1045972"/>
                  </a:cubicBezTo>
                  <a:close/>
                </a:path>
              </a:pathLst>
            </a:custGeom>
            <a:solidFill>
              <a:srgbClr val="F4F7FC"/>
            </a:solidFill>
            <a:ln w="19050" cap="sq">
              <a:solidFill>
                <a:srgbClr val="D7DCEC"/>
              </a:solidFill>
              <a:prstDash val="solid"/>
              <a:miter/>
            </a:ln>
          </p:spPr>
        </p:sp>
      </p:grpSp>
      <p:grpSp>
        <p:nvGrpSpPr>
          <p:cNvPr name="Group 35" id="35"/>
          <p:cNvGrpSpPr/>
          <p:nvPr/>
        </p:nvGrpSpPr>
        <p:grpSpPr>
          <a:xfrm rot="0">
            <a:off x="12124944" y="7200900"/>
            <a:ext cx="5143500" cy="589788"/>
            <a:chOff x="0" y="0"/>
            <a:chExt cx="6858000" cy="786384"/>
          </a:xfrm>
        </p:grpSpPr>
        <p:sp>
          <p:nvSpPr>
            <p:cNvPr name="Freeform 36" id="36"/>
            <p:cNvSpPr/>
            <p:nvPr/>
          </p:nvSpPr>
          <p:spPr>
            <a:xfrm flipH="false" flipV="false" rot="0">
              <a:off x="0" y="0"/>
              <a:ext cx="6858000" cy="786384"/>
            </a:xfrm>
            <a:custGeom>
              <a:avLst/>
              <a:gdLst/>
              <a:ahLst/>
              <a:cxnLst/>
              <a:rect r="r" b="b" t="t" l="l"/>
              <a:pathLst>
                <a:path h="786384" w="6858000">
                  <a:moveTo>
                    <a:pt x="0" y="0"/>
                  </a:moveTo>
                  <a:lnTo>
                    <a:pt x="6858000" y="0"/>
                  </a:lnTo>
                  <a:lnTo>
                    <a:pt x="6858000" y="786384"/>
                  </a:lnTo>
                  <a:lnTo>
                    <a:pt x="0" y="786384"/>
                  </a:lnTo>
                  <a:close/>
                </a:path>
              </a:pathLst>
            </a:custGeom>
            <a:blipFill>
              <a:blip r:embed="rId2">
                <a:alphaModFix amt="0"/>
              </a:blip>
              <a:stretch>
                <a:fillRect l="0" t="-119927" r="0" b="-119927"/>
              </a:stretch>
            </a:blipFill>
          </p:spPr>
        </p:sp>
        <p:sp>
          <p:nvSpPr>
            <p:cNvPr name="TextBox 37" id="37"/>
            <p:cNvSpPr txBox="true"/>
            <p:nvPr/>
          </p:nvSpPr>
          <p:spPr>
            <a:xfrm>
              <a:off x="0" y="-38100"/>
              <a:ext cx="6858000" cy="824484"/>
            </a:xfrm>
            <a:prstGeom prst="rect">
              <a:avLst/>
            </a:prstGeom>
          </p:spPr>
          <p:txBody>
            <a:bodyPr anchor="ctr" rtlCol="false" tIns="0" lIns="0" bIns="0" rIns="0"/>
            <a:lstStyle/>
            <a:p>
              <a:pPr algn="ctr">
                <a:lnSpc>
                  <a:spcPts val="2430"/>
                </a:lnSpc>
              </a:pPr>
              <a:r>
                <a:rPr lang="en-US" sz="2025">
                  <a:solidFill>
                    <a:srgbClr val="6B7280"/>
                  </a:solidFill>
                  <a:latin typeface="Calibri (MS)"/>
                  <a:ea typeface="Calibri (MS)"/>
                  <a:cs typeface="Calibri (MS)"/>
                  <a:sym typeface="Calibri (MS)"/>
                </a:rPr>
                <a:t>Protect</a:t>
              </a:r>
            </a:p>
          </p:txBody>
        </p:sp>
      </p:grpSp>
      <p:grpSp>
        <p:nvGrpSpPr>
          <p:cNvPr name="Group 38" id="38"/>
          <p:cNvGrpSpPr/>
          <p:nvPr/>
        </p:nvGrpSpPr>
        <p:grpSpPr>
          <a:xfrm rot="0">
            <a:off x="12124944" y="7639812"/>
            <a:ext cx="5143500" cy="329184"/>
            <a:chOff x="0" y="0"/>
            <a:chExt cx="6858000" cy="438912"/>
          </a:xfrm>
        </p:grpSpPr>
        <p:sp>
          <p:nvSpPr>
            <p:cNvPr name="Freeform 39" id="39"/>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40" id="40"/>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9AA3B8"/>
                  </a:solidFill>
                  <a:latin typeface="Arimo"/>
                  <a:ea typeface="Arimo"/>
                  <a:cs typeface="Arimo"/>
                  <a:sym typeface="Arimo"/>
                </a:rPr>
                <a:t>PR</a:t>
              </a:r>
            </a:p>
          </p:txBody>
        </p:sp>
      </p:grpSp>
      <p:grpSp>
        <p:nvGrpSpPr>
          <p:cNvPr name="Group 41" id="41"/>
          <p:cNvGrpSpPr/>
          <p:nvPr/>
        </p:nvGrpSpPr>
        <p:grpSpPr>
          <a:xfrm rot="0">
            <a:off x="950595" y="8288655"/>
            <a:ext cx="5162550" cy="910590"/>
            <a:chOff x="0" y="0"/>
            <a:chExt cx="6883400" cy="1214120"/>
          </a:xfrm>
        </p:grpSpPr>
        <p:sp>
          <p:nvSpPr>
            <p:cNvPr name="Freeform 42" id="42"/>
            <p:cNvSpPr/>
            <p:nvPr/>
          </p:nvSpPr>
          <p:spPr>
            <a:xfrm flipH="false" flipV="false" rot="0">
              <a:off x="0" y="0"/>
              <a:ext cx="6883400" cy="1214120"/>
            </a:xfrm>
            <a:custGeom>
              <a:avLst/>
              <a:gdLst/>
              <a:ahLst/>
              <a:cxnLst/>
              <a:rect r="r" b="b" t="t" l="l"/>
              <a:pathLst>
                <a:path h="1214120" w="6883400">
                  <a:moveTo>
                    <a:pt x="0" y="168148"/>
                  </a:moveTo>
                  <a:cubicBezTo>
                    <a:pt x="0" y="75311"/>
                    <a:pt x="75311" y="0"/>
                    <a:pt x="168148" y="0"/>
                  </a:cubicBezTo>
                  <a:lnTo>
                    <a:pt x="6715252" y="0"/>
                  </a:lnTo>
                  <a:cubicBezTo>
                    <a:pt x="6808089" y="0"/>
                    <a:pt x="6883400" y="75311"/>
                    <a:pt x="6883400" y="168148"/>
                  </a:cubicBezTo>
                  <a:lnTo>
                    <a:pt x="6883400" y="1045972"/>
                  </a:lnTo>
                  <a:cubicBezTo>
                    <a:pt x="6883400" y="1138809"/>
                    <a:pt x="6808089" y="1214120"/>
                    <a:pt x="6715252" y="1214120"/>
                  </a:cubicBezTo>
                  <a:lnTo>
                    <a:pt x="168148" y="1214120"/>
                  </a:lnTo>
                  <a:cubicBezTo>
                    <a:pt x="75311" y="1214120"/>
                    <a:pt x="0" y="1138809"/>
                    <a:pt x="0" y="1045972"/>
                  </a:cubicBezTo>
                  <a:close/>
                </a:path>
              </a:pathLst>
            </a:custGeom>
            <a:solidFill>
              <a:srgbClr val="F4F7FC"/>
            </a:solidFill>
            <a:ln w="19050" cap="sq">
              <a:solidFill>
                <a:srgbClr val="D7DCEC"/>
              </a:solidFill>
              <a:prstDash val="solid"/>
              <a:miter/>
            </a:ln>
          </p:spPr>
        </p:sp>
      </p:grpSp>
      <p:grpSp>
        <p:nvGrpSpPr>
          <p:cNvPr name="Group 43" id="43"/>
          <p:cNvGrpSpPr/>
          <p:nvPr/>
        </p:nvGrpSpPr>
        <p:grpSpPr>
          <a:xfrm rot="0">
            <a:off x="960120" y="8366760"/>
            <a:ext cx="5143500" cy="589788"/>
            <a:chOff x="0" y="0"/>
            <a:chExt cx="6858000" cy="786384"/>
          </a:xfrm>
        </p:grpSpPr>
        <p:sp>
          <p:nvSpPr>
            <p:cNvPr name="Freeform 44" id="44"/>
            <p:cNvSpPr/>
            <p:nvPr/>
          </p:nvSpPr>
          <p:spPr>
            <a:xfrm flipH="false" flipV="false" rot="0">
              <a:off x="0" y="0"/>
              <a:ext cx="6858000" cy="786384"/>
            </a:xfrm>
            <a:custGeom>
              <a:avLst/>
              <a:gdLst/>
              <a:ahLst/>
              <a:cxnLst/>
              <a:rect r="r" b="b" t="t" l="l"/>
              <a:pathLst>
                <a:path h="786384" w="6858000">
                  <a:moveTo>
                    <a:pt x="0" y="0"/>
                  </a:moveTo>
                  <a:lnTo>
                    <a:pt x="6858000" y="0"/>
                  </a:lnTo>
                  <a:lnTo>
                    <a:pt x="6858000" y="786384"/>
                  </a:lnTo>
                  <a:lnTo>
                    <a:pt x="0" y="786384"/>
                  </a:lnTo>
                  <a:close/>
                </a:path>
              </a:pathLst>
            </a:custGeom>
            <a:blipFill>
              <a:blip r:embed="rId2">
                <a:alphaModFix amt="0"/>
              </a:blip>
              <a:stretch>
                <a:fillRect l="0" t="-119927" r="0" b="-119927"/>
              </a:stretch>
            </a:blipFill>
          </p:spPr>
        </p:sp>
        <p:sp>
          <p:nvSpPr>
            <p:cNvPr name="TextBox 45" id="45"/>
            <p:cNvSpPr txBox="true"/>
            <p:nvPr/>
          </p:nvSpPr>
          <p:spPr>
            <a:xfrm>
              <a:off x="0" y="-38100"/>
              <a:ext cx="6858000" cy="824484"/>
            </a:xfrm>
            <a:prstGeom prst="rect">
              <a:avLst/>
            </a:prstGeom>
          </p:spPr>
          <p:txBody>
            <a:bodyPr anchor="ctr" rtlCol="false" tIns="0" lIns="0" bIns="0" rIns="0"/>
            <a:lstStyle/>
            <a:p>
              <a:pPr algn="ctr">
                <a:lnSpc>
                  <a:spcPts val="2430"/>
                </a:lnSpc>
              </a:pPr>
              <a:r>
                <a:rPr lang="en-US" sz="2025">
                  <a:solidFill>
                    <a:srgbClr val="6B7280"/>
                  </a:solidFill>
                  <a:latin typeface="Calibri (MS)"/>
                  <a:ea typeface="Calibri (MS)"/>
                  <a:cs typeface="Calibri (MS)"/>
                  <a:sym typeface="Calibri (MS)"/>
                </a:rPr>
                <a:t>Detect</a:t>
              </a:r>
            </a:p>
          </p:txBody>
        </p:sp>
      </p:grpSp>
      <p:grpSp>
        <p:nvGrpSpPr>
          <p:cNvPr name="Group 46" id="46"/>
          <p:cNvGrpSpPr/>
          <p:nvPr/>
        </p:nvGrpSpPr>
        <p:grpSpPr>
          <a:xfrm rot="0">
            <a:off x="960120" y="8805672"/>
            <a:ext cx="5143500" cy="329184"/>
            <a:chOff x="0" y="0"/>
            <a:chExt cx="6858000" cy="438912"/>
          </a:xfrm>
        </p:grpSpPr>
        <p:sp>
          <p:nvSpPr>
            <p:cNvPr name="Freeform 47" id="47"/>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48" id="48"/>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9AA3B8"/>
                  </a:solidFill>
                  <a:latin typeface="Arimo"/>
                  <a:ea typeface="Arimo"/>
                  <a:cs typeface="Arimo"/>
                  <a:sym typeface="Arimo"/>
                </a:rPr>
                <a:t>DE</a:t>
              </a:r>
            </a:p>
          </p:txBody>
        </p:sp>
      </p:grpSp>
      <p:grpSp>
        <p:nvGrpSpPr>
          <p:cNvPr name="Group 49" id="49"/>
          <p:cNvGrpSpPr/>
          <p:nvPr/>
        </p:nvGrpSpPr>
        <p:grpSpPr>
          <a:xfrm rot="0">
            <a:off x="6533007" y="8288655"/>
            <a:ext cx="5162550" cy="910590"/>
            <a:chOff x="0" y="0"/>
            <a:chExt cx="6883400" cy="1214120"/>
          </a:xfrm>
        </p:grpSpPr>
        <p:sp>
          <p:nvSpPr>
            <p:cNvPr name="Freeform 50" id="50"/>
            <p:cNvSpPr/>
            <p:nvPr/>
          </p:nvSpPr>
          <p:spPr>
            <a:xfrm flipH="false" flipV="false" rot="0">
              <a:off x="0" y="0"/>
              <a:ext cx="6883400" cy="1214120"/>
            </a:xfrm>
            <a:custGeom>
              <a:avLst/>
              <a:gdLst/>
              <a:ahLst/>
              <a:cxnLst/>
              <a:rect r="r" b="b" t="t" l="l"/>
              <a:pathLst>
                <a:path h="1214120" w="6883400">
                  <a:moveTo>
                    <a:pt x="0" y="168148"/>
                  </a:moveTo>
                  <a:cubicBezTo>
                    <a:pt x="0" y="75311"/>
                    <a:pt x="75311" y="0"/>
                    <a:pt x="168148" y="0"/>
                  </a:cubicBezTo>
                  <a:lnTo>
                    <a:pt x="6715252" y="0"/>
                  </a:lnTo>
                  <a:cubicBezTo>
                    <a:pt x="6808089" y="0"/>
                    <a:pt x="6883400" y="75311"/>
                    <a:pt x="6883400" y="168148"/>
                  </a:cubicBezTo>
                  <a:lnTo>
                    <a:pt x="6883400" y="1045972"/>
                  </a:lnTo>
                  <a:cubicBezTo>
                    <a:pt x="6883400" y="1138809"/>
                    <a:pt x="6808089" y="1214120"/>
                    <a:pt x="6715252" y="1214120"/>
                  </a:cubicBezTo>
                  <a:lnTo>
                    <a:pt x="168148" y="1214120"/>
                  </a:lnTo>
                  <a:cubicBezTo>
                    <a:pt x="75311" y="1214120"/>
                    <a:pt x="0" y="1138809"/>
                    <a:pt x="0" y="1045972"/>
                  </a:cubicBezTo>
                  <a:close/>
                </a:path>
              </a:pathLst>
            </a:custGeom>
            <a:solidFill>
              <a:srgbClr val="F4F7FC"/>
            </a:solidFill>
            <a:ln w="19050" cap="sq">
              <a:solidFill>
                <a:srgbClr val="D7DCEC"/>
              </a:solidFill>
              <a:prstDash val="solid"/>
              <a:miter/>
            </a:ln>
          </p:spPr>
        </p:sp>
      </p:grpSp>
      <p:grpSp>
        <p:nvGrpSpPr>
          <p:cNvPr name="Group 51" id="51"/>
          <p:cNvGrpSpPr/>
          <p:nvPr/>
        </p:nvGrpSpPr>
        <p:grpSpPr>
          <a:xfrm rot="0">
            <a:off x="6542532" y="8366760"/>
            <a:ext cx="5143500" cy="589788"/>
            <a:chOff x="0" y="0"/>
            <a:chExt cx="6858000" cy="786384"/>
          </a:xfrm>
        </p:grpSpPr>
        <p:sp>
          <p:nvSpPr>
            <p:cNvPr name="Freeform 52" id="52"/>
            <p:cNvSpPr/>
            <p:nvPr/>
          </p:nvSpPr>
          <p:spPr>
            <a:xfrm flipH="false" flipV="false" rot="0">
              <a:off x="0" y="0"/>
              <a:ext cx="6858000" cy="786384"/>
            </a:xfrm>
            <a:custGeom>
              <a:avLst/>
              <a:gdLst/>
              <a:ahLst/>
              <a:cxnLst/>
              <a:rect r="r" b="b" t="t" l="l"/>
              <a:pathLst>
                <a:path h="786384" w="6858000">
                  <a:moveTo>
                    <a:pt x="0" y="0"/>
                  </a:moveTo>
                  <a:lnTo>
                    <a:pt x="6858000" y="0"/>
                  </a:lnTo>
                  <a:lnTo>
                    <a:pt x="6858000" y="786384"/>
                  </a:lnTo>
                  <a:lnTo>
                    <a:pt x="0" y="786384"/>
                  </a:lnTo>
                  <a:close/>
                </a:path>
              </a:pathLst>
            </a:custGeom>
            <a:blipFill>
              <a:blip r:embed="rId2">
                <a:alphaModFix amt="0"/>
              </a:blip>
              <a:stretch>
                <a:fillRect l="0" t="-119927" r="0" b="-119927"/>
              </a:stretch>
            </a:blipFill>
          </p:spPr>
        </p:sp>
        <p:sp>
          <p:nvSpPr>
            <p:cNvPr name="TextBox 53" id="53"/>
            <p:cNvSpPr txBox="true"/>
            <p:nvPr/>
          </p:nvSpPr>
          <p:spPr>
            <a:xfrm>
              <a:off x="0" y="-38100"/>
              <a:ext cx="6858000" cy="824484"/>
            </a:xfrm>
            <a:prstGeom prst="rect">
              <a:avLst/>
            </a:prstGeom>
          </p:spPr>
          <p:txBody>
            <a:bodyPr anchor="ctr" rtlCol="false" tIns="0" lIns="0" bIns="0" rIns="0"/>
            <a:lstStyle/>
            <a:p>
              <a:pPr algn="ctr">
                <a:lnSpc>
                  <a:spcPts val="2430"/>
                </a:lnSpc>
              </a:pPr>
              <a:r>
                <a:rPr lang="en-US" sz="2025">
                  <a:solidFill>
                    <a:srgbClr val="6B7280"/>
                  </a:solidFill>
                  <a:latin typeface="Calibri (MS)"/>
                  <a:ea typeface="Calibri (MS)"/>
                  <a:cs typeface="Calibri (MS)"/>
                  <a:sym typeface="Calibri (MS)"/>
                </a:rPr>
                <a:t>Respond</a:t>
              </a:r>
            </a:p>
          </p:txBody>
        </p:sp>
      </p:grpSp>
      <p:grpSp>
        <p:nvGrpSpPr>
          <p:cNvPr name="Group 54" id="54"/>
          <p:cNvGrpSpPr/>
          <p:nvPr/>
        </p:nvGrpSpPr>
        <p:grpSpPr>
          <a:xfrm rot="0">
            <a:off x="6542532" y="8805672"/>
            <a:ext cx="5143500" cy="329184"/>
            <a:chOff x="0" y="0"/>
            <a:chExt cx="6858000" cy="438912"/>
          </a:xfrm>
        </p:grpSpPr>
        <p:sp>
          <p:nvSpPr>
            <p:cNvPr name="Freeform 55" id="55"/>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56" id="56"/>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9AA3B8"/>
                  </a:solidFill>
                  <a:latin typeface="Arimo"/>
                  <a:ea typeface="Arimo"/>
                  <a:cs typeface="Arimo"/>
                  <a:sym typeface="Arimo"/>
                </a:rPr>
                <a:t>RS</a:t>
              </a:r>
            </a:p>
          </p:txBody>
        </p:sp>
      </p:grpSp>
      <p:grpSp>
        <p:nvGrpSpPr>
          <p:cNvPr name="Group 57" id="57"/>
          <p:cNvGrpSpPr/>
          <p:nvPr/>
        </p:nvGrpSpPr>
        <p:grpSpPr>
          <a:xfrm rot="0">
            <a:off x="12115419" y="8288655"/>
            <a:ext cx="5162550" cy="910590"/>
            <a:chOff x="0" y="0"/>
            <a:chExt cx="6883400" cy="1214120"/>
          </a:xfrm>
        </p:grpSpPr>
        <p:sp>
          <p:nvSpPr>
            <p:cNvPr name="Freeform 58" id="58"/>
            <p:cNvSpPr/>
            <p:nvPr/>
          </p:nvSpPr>
          <p:spPr>
            <a:xfrm flipH="false" flipV="false" rot="0">
              <a:off x="0" y="0"/>
              <a:ext cx="6883400" cy="1214120"/>
            </a:xfrm>
            <a:custGeom>
              <a:avLst/>
              <a:gdLst/>
              <a:ahLst/>
              <a:cxnLst/>
              <a:rect r="r" b="b" t="t" l="l"/>
              <a:pathLst>
                <a:path h="1214120" w="6883400">
                  <a:moveTo>
                    <a:pt x="0" y="168148"/>
                  </a:moveTo>
                  <a:cubicBezTo>
                    <a:pt x="0" y="75311"/>
                    <a:pt x="75311" y="0"/>
                    <a:pt x="168148" y="0"/>
                  </a:cubicBezTo>
                  <a:lnTo>
                    <a:pt x="6715252" y="0"/>
                  </a:lnTo>
                  <a:cubicBezTo>
                    <a:pt x="6808089" y="0"/>
                    <a:pt x="6883400" y="75311"/>
                    <a:pt x="6883400" y="168148"/>
                  </a:cubicBezTo>
                  <a:lnTo>
                    <a:pt x="6883400" y="1045972"/>
                  </a:lnTo>
                  <a:cubicBezTo>
                    <a:pt x="6883400" y="1138809"/>
                    <a:pt x="6808089" y="1214120"/>
                    <a:pt x="6715252" y="1214120"/>
                  </a:cubicBezTo>
                  <a:lnTo>
                    <a:pt x="168148" y="1214120"/>
                  </a:lnTo>
                  <a:cubicBezTo>
                    <a:pt x="75311" y="1214120"/>
                    <a:pt x="0" y="1138809"/>
                    <a:pt x="0" y="1045972"/>
                  </a:cubicBezTo>
                  <a:close/>
                </a:path>
              </a:pathLst>
            </a:custGeom>
            <a:solidFill>
              <a:srgbClr val="F4F7FC"/>
            </a:solidFill>
            <a:ln w="19050" cap="sq">
              <a:solidFill>
                <a:srgbClr val="D7DCEC"/>
              </a:solidFill>
              <a:prstDash val="solid"/>
              <a:miter/>
            </a:ln>
          </p:spPr>
        </p:sp>
      </p:grpSp>
      <p:grpSp>
        <p:nvGrpSpPr>
          <p:cNvPr name="Group 59" id="59"/>
          <p:cNvGrpSpPr/>
          <p:nvPr/>
        </p:nvGrpSpPr>
        <p:grpSpPr>
          <a:xfrm rot="0">
            <a:off x="12124944" y="8366760"/>
            <a:ext cx="5143500" cy="589788"/>
            <a:chOff x="0" y="0"/>
            <a:chExt cx="6858000" cy="786384"/>
          </a:xfrm>
        </p:grpSpPr>
        <p:sp>
          <p:nvSpPr>
            <p:cNvPr name="Freeform 60" id="60"/>
            <p:cNvSpPr/>
            <p:nvPr/>
          </p:nvSpPr>
          <p:spPr>
            <a:xfrm flipH="false" flipV="false" rot="0">
              <a:off x="0" y="0"/>
              <a:ext cx="6858000" cy="786384"/>
            </a:xfrm>
            <a:custGeom>
              <a:avLst/>
              <a:gdLst/>
              <a:ahLst/>
              <a:cxnLst/>
              <a:rect r="r" b="b" t="t" l="l"/>
              <a:pathLst>
                <a:path h="786384" w="6858000">
                  <a:moveTo>
                    <a:pt x="0" y="0"/>
                  </a:moveTo>
                  <a:lnTo>
                    <a:pt x="6858000" y="0"/>
                  </a:lnTo>
                  <a:lnTo>
                    <a:pt x="6858000" y="786384"/>
                  </a:lnTo>
                  <a:lnTo>
                    <a:pt x="0" y="786384"/>
                  </a:lnTo>
                  <a:close/>
                </a:path>
              </a:pathLst>
            </a:custGeom>
            <a:blipFill>
              <a:blip r:embed="rId2">
                <a:alphaModFix amt="0"/>
              </a:blip>
              <a:stretch>
                <a:fillRect l="0" t="-119927" r="0" b="-119927"/>
              </a:stretch>
            </a:blipFill>
          </p:spPr>
        </p:sp>
        <p:sp>
          <p:nvSpPr>
            <p:cNvPr name="TextBox 61" id="61"/>
            <p:cNvSpPr txBox="true"/>
            <p:nvPr/>
          </p:nvSpPr>
          <p:spPr>
            <a:xfrm>
              <a:off x="0" y="-38100"/>
              <a:ext cx="6858000" cy="824484"/>
            </a:xfrm>
            <a:prstGeom prst="rect">
              <a:avLst/>
            </a:prstGeom>
          </p:spPr>
          <p:txBody>
            <a:bodyPr anchor="ctr" rtlCol="false" tIns="0" lIns="0" bIns="0" rIns="0"/>
            <a:lstStyle/>
            <a:p>
              <a:pPr algn="ctr">
                <a:lnSpc>
                  <a:spcPts val="2430"/>
                </a:lnSpc>
              </a:pPr>
              <a:r>
                <a:rPr lang="en-US" sz="2025">
                  <a:solidFill>
                    <a:srgbClr val="6B7280"/>
                  </a:solidFill>
                  <a:latin typeface="Calibri (MS)"/>
                  <a:ea typeface="Calibri (MS)"/>
                  <a:cs typeface="Calibri (MS)"/>
                  <a:sym typeface="Calibri (MS)"/>
                </a:rPr>
                <a:t>Recover</a:t>
              </a:r>
            </a:p>
          </p:txBody>
        </p:sp>
      </p:grpSp>
      <p:grpSp>
        <p:nvGrpSpPr>
          <p:cNvPr name="Group 62" id="62"/>
          <p:cNvGrpSpPr/>
          <p:nvPr/>
        </p:nvGrpSpPr>
        <p:grpSpPr>
          <a:xfrm rot="0">
            <a:off x="12124944" y="8805672"/>
            <a:ext cx="5143500" cy="329184"/>
            <a:chOff x="0" y="0"/>
            <a:chExt cx="6858000" cy="438912"/>
          </a:xfrm>
        </p:grpSpPr>
        <p:sp>
          <p:nvSpPr>
            <p:cNvPr name="Freeform 63" id="63"/>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64" id="64"/>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9AA3B8"/>
                  </a:solidFill>
                  <a:latin typeface="Arimo"/>
                  <a:ea typeface="Arimo"/>
                  <a:cs typeface="Arimo"/>
                  <a:sym typeface="Arimo"/>
                </a:rPr>
                <a:t>RC</a:t>
              </a:r>
            </a:p>
          </p:txBody>
        </p:sp>
      </p:grpSp>
      <p:grpSp>
        <p:nvGrpSpPr>
          <p:cNvPr name="Group 65" id="65"/>
          <p:cNvGrpSpPr/>
          <p:nvPr/>
        </p:nvGrpSpPr>
        <p:grpSpPr>
          <a:xfrm rot="0">
            <a:off x="685800" y="9710928"/>
            <a:ext cx="10972800" cy="411480"/>
            <a:chOff x="0" y="0"/>
            <a:chExt cx="14630400" cy="548640"/>
          </a:xfrm>
        </p:grpSpPr>
        <p:sp>
          <p:nvSpPr>
            <p:cNvPr name="Freeform 66" id="66"/>
            <p:cNvSpPr/>
            <p:nvPr/>
          </p:nvSpPr>
          <p:spPr>
            <a:xfrm flipH="false" flipV="false" rot="0">
              <a:off x="0" y="0"/>
              <a:ext cx="14630400" cy="548640"/>
            </a:xfrm>
            <a:custGeom>
              <a:avLst/>
              <a:gdLst/>
              <a:ahLst/>
              <a:cxnLst/>
              <a:rect r="r" b="b" t="t" l="l"/>
              <a:pathLst>
                <a:path h="548640" w="14630400">
                  <a:moveTo>
                    <a:pt x="0" y="0"/>
                  </a:moveTo>
                  <a:lnTo>
                    <a:pt x="14630400" y="0"/>
                  </a:lnTo>
                  <a:lnTo>
                    <a:pt x="14630400" y="548640"/>
                  </a:lnTo>
                  <a:lnTo>
                    <a:pt x="0" y="548640"/>
                  </a:lnTo>
                  <a:close/>
                </a:path>
              </a:pathLst>
            </a:custGeom>
            <a:blipFill>
              <a:blip r:embed="rId2">
                <a:alphaModFix amt="0"/>
              </a:blip>
              <a:stretch>
                <a:fillRect l="0" t="-469601" r="0" b="-469601"/>
              </a:stretch>
            </a:blipFill>
          </p:spPr>
        </p:sp>
        <p:sp>
          <p:nvSpPr>
            <p:cNvPr name="TextBox 67" id="67"/>
            <p:cNvSpPr txBox="true"/>
            <p:nvPr/>
          </p:nvSpPr>
          <p:spPr>
            <a:xfrm>
              <a:off x="0" y="-38100"/>
              <a:ext cx="14630400" cy="586740"/>
            </a:xfrm>
            <a:prstGeom prst="rect">
              <a:avLst/>
            </a:prstGeom>
          </p:spPr>
          <p:txBody>
            <a:bodyPr anchor="ctr" rtlCol="false" tIns="0" lIns="0" bIns="0" rIns="0"/>
            <a:lstStyle/>
            <a:p>
              <a:pPr algn="l">
                <a:lnSpc>
                  <a:spcPts val="1800"/>
                </a:lnSpc>
              </a:pPr>
              <a:r>
                <a:rPr lang="en-US" sz="1500">
                  <a:solidFill>
                    <a:srgbClr val="6B7280"/>
                  </a:solidFill>
                  <a:latin typeface="Calibri (MS)"/>
                  <a:ea typeface="Calibri (MS)"/>
                  <a:cs typeface="Calibri (MS)"/>
                  <a:sym typeface="Calibri (MS)"/>
                </a:rPr>
                <a:t>Davao del Norte Provincial Government — Cybersecurity Seminar</a:t>
              </a:r>
            </a:p>
          </p:txBody>
        </p:sp>
      </p:grpSp>
      <p:grpSp>
        <p:nvGrpSpPr>
          <p:cNvPr name="Group 68" id="68"/>
          <p:cNvGrpSpPr/>
          <p:nvPr/>
        </p:nvGrpSpPr>
        <p:grpSpPr>
          <a:xfrm rot="0">
            <a:off x="16911828" y="9710928"/>
            <a:ext cx="685800" cy="411480"/>
            <a:chOff x="0" y="0"/>
            <a:chExt cx="914400" cy="548640"/>
          </a:xfrm>
        </p:grpSpPr>
        <p:sp>
          <p:nvSpPr>
            <p:cNvPr name="Freeform 69" id="69"/>
            <p:cNvSpPr/>
            <p:nvPr/>
          </p:nvSpPr>
          <p:spPr>
            <a:xfrm flipH="false" flipV="false" rot="0">
              <a:off x="0" y="0"/>
              <a:ext cx="914400" cy="548640"/>
            </a:xfrm>
            <a:custGeom>
              <a:avLst/>
              <a:gdLst/>
              <a:ahLst/>
              <a:cxnLst/>
              <a:rect r="r" b="b" t="t" l="l"/>
              <a:pathLst>
                <a:path h="548640" w="914400">
                  <a:moveTo>
                    <a:pt x="0" y="0"/>
                  </a:moveTo>
                  <a:lnTo>
                    <a:pt x="914400" y="0"/>
                  </a:lnTo>
                  <a:lnTo>
                    <a:pt x="914400" y="548640"/>
                  </a:lnTo>
                  <a:lnTo>
                    <a:pt x="0" y="548640"/>
                  </a:lnTo>
                  <a:close/>
                </a:path>
              </a:pathLst>
            </a:custGeom>
            <a:blipFill>
              <a:blip r:embed="rId2">
                <a:alphaModFix amt="0"/>
              </a:blip>
              <a:stretch>
                <a:fillRect l="-26982" t="0" r="-26982" b="0"/>
              </a:stretch>
            </a:blipFill>
          </p:spPr>
        </p:sp>
        <p:sp>
          <p:nvSpPr>
            <p:cNvPr name="TextBox 70" id="70"/>
            <p:cNvSpPr txBox="true"/>
            <p:nvPr/>
          </p:nvSpPr>
          <p:spPr>
            <a:xfrm>
              <a:off x="0" y="-38100"/>
              <a:ext cx="914400" cy="586740"/>
            </a:xfrm>
            <a:prstGeom prst="rect">
              <a:avLst/>
            </a:prstGeom>
          </p:spPr>
          <p:txBody>
            <a:bodyPr anchor="ctr" rtlCol="false" tIns="0" lIns="0" bIns="0" rIns="0"/>
            <a:lstStyle/>
            <a:p>
              <a:pPr algn="r">
                <a:lnSpc>
                  <a:spcPts val="1800"/>
                </a:lnSpc>
              </a:pPr>
              <a:r>
                <a:rPr lang="en-US" sz="1500">
                  <a:solidFill>
                    <a:srgbClr val="6B7280"/>
                  </a:solidFill>
                  <a:latin typeface="Calibri (MS)"/>
                  <a:ea typeface="Calibri (MS)"/>
                  <a:cs typeface="Calibri (MS)"/>
                  <a:sym typeface="Calibri (MS)"/>
                </a:rPr>
                <a:t>19</a:t>
              </a:r>
            </a:p>
          </p:txBody>
        </p:sp>
      </p:grpSp>
    </p:spTree>
  </p:cSld>
  <p:clrMapOvr>
    <a:masterClrMapping/>
  </p:clrMapOvr>
</p:sld>
</file>

<file path=ppt/slides/slide8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60120" y="685800"/>
            <a:ext cx="13716000" cy="411480"/>
            <a:chOff x="0" y="0"/>
            <a:chExt cx="18288000" cy="548640"/>
          </a:xfrm>
        </p:grpSpPr>
        <p:sp>
          <p:nvSpPr>
            <p:cNvPr name="Freeform 3" id="3"/>
            <p:cNvSpPr/>
            <p:nvPr/>
          </p:nvSpPr>
          <p:spPr>
            <a:xfrm flipH="false" flipV="false" rot="0">
              <a:off x="0" y="0"/>
              <a:ext cx="18288000" cy="548640"/>
            </a:xfrm>
            <a:custGeom>
              <a:avLst/>
              <a:gdLst/>
              <a:ahLst/>
              <a:cxnLst/>
              <a:rect r="r" b="b" t="t" l="l"/>
              <a:pathLst>
                <a:path h="548640" w="18288000">
                  <a:moveTo>
                    <a:pt x="0" y="0"/>
                  </a:moveTo>
                  <a:lnTo>
                    <a:pt x="18288000" y="0"/>
                  </a:lnTo>
                  <a:lnTo>
                    <a:pt x="18288000" y="548640"/>
                  </a:lnTo>
                  <a:lnTo>
                    <a:pt x="0" y="548640"/>
                  </a:lnTo>
                  <a:close/>
                </a:path>
              </a:pathLst>
            </a:custGeom>
            <a:blipFill>
              <a:blip r:embed="rId2">
                <a:alphaModFix amt="0"/>
              </a:blip>
              <a:stretch>
                <a:fillRect l="0" t="-599501" r="0" b="-599501"/>
              </a:stretch>
            </a:blipFill>
          </p:spPr>
        </p:sp>
        <p:sp>
          <p:nvSpPr>
            <p:cNvPr name="TextBox 4" id="4"/>
            <p:cNvSpPr txBox="true"/>
            <p:nvPr/>
          </p:nvSpPr>
          <p:spPr>
            <a:xfrm>
              <a:off x="0" y="-38100"/>
              <a:ext cx="18288000" cy="586740"/>
            </a:xfrm>
            <a:prstGeom prst="rect">
              <a:avLst/>
            </a:prstGeom>
          </p:spPr>
          <p:txBody>
            <a:bodyPr anchor="ctr" rtlCol="false" tIns="0" lIns="0" bIns="0" rIns="0"/>
            <a:lstStyle/>
            <a:p>
              <a:pPr algn="l">
                <a:lnSpc>
                  <a:spcPts val="2160"/>
                </a:lnSpc>
              </a:pPr>
              <a:r>
                <a:rPr lang="en-US" b="true" sz="1800" spc="225">
                  <a:solidFill>
                    <a:srgbClr val="00B4D8"/>
                  </a:solidFill>
                  <a:latin typeface="Calibri (MS) Bold"/>
                  <a:ea typeface="Calibri (MS) Bold"/>
                  <a:cs typeface="Calibri (MS) Bold"/>
                  <a:sym typeface="Calibri (MS) Bold"/>
                </a:rPr>
                <a:t>NIST CSF SORT · ANSWER</a:t>
              </a:r>
            </a:p>
          </p:txBody>
        </p:sp>
      </p:grpSp>
      <p:grpSp>
        <p:nvGrpSpPr>
          <p:cNvPr name="Group 5" id="5"/>
          <p:cNvGrpSpPr/>
          <p:nvPr/>
        </p:nvGrpSpPr>
        <p:grpSpPr>
          <a:xfrm rot="0">
            <a:off x="960120" y="1069848"/>
            <a:ext cx="10972800" cy="822960"/>
            <a:chOff x="0" y="0"/>
            <a:chExt cx="14630400" cy="1097280"/>
          </a:xfrm>
        </p:grpSpPr>
        <p:sp>
          <p:nvSpPr>
            <p:cNvPr name="Freeform 6" id="6"/>
            <p:cNvSpPr/>
            <p:nvPr/>
          </p:nvSpPr>
          <p:spPr>
            <a:xfrm flipH="false" flipV="false" rot="0">
              <a:off x="0" y="0"/>
              <a:ext cx="14630400" cy="1097280"/>
            </a:xfrm>
            <a:custGeom>
              <a:avLst/>
              <a:gdLst/>
              <a:ahLst/>
              <a:cxnLst/>
              <a:rect r="r" b="b" t="t" l="l"/>
              <a:pathLst>
                <a:path h="1097280" w="14630400">
                  <a:moveTo>
                    <a:pt x="0" y="0"/>
                  </a:moveTo>
                  <a:lnTo>
                    <a:pt x="14630400" y="0"/>
                  </a:lnTo>
                  <a:lnTo>
                    <a:pt x="14630400" y="1097280"/>
                  </a:lnTo>
                  <a:lnTo>
                    <a:pt x="0" y="1097280"/>
                  </a:lnTo>
                  <a:close/>
                </a:path>
              </a:pathLst>
            </a:custGeom>
            <a:blipFill>
              <a:blip r:embed="rId2">
                <a:alphaModFix amt="0"/>
              </a:blip>
              <a:stretch>
                <a:fillRect l="0" t="-209800" r="0" b="-209800"/>
              </a:stretch>
            </a:blipFill>
          </p:spPr>
        </p:sp>
        <p:sp>
          <p:nvSpPr>
            <p:cNvPr name="TextBox 7" id="7"/>
            <p:cNvSpPr txBox="true"/>
            <p:nvPr/>
          </p:nvSpPr>
          <p:spPr>
            <a:xfrm>
              <a:off x="0" y="0"/>
              <a:ext cx="14630400" cy="1097280"/>
            </a:xfrm>
            <a:prstGeom prst="rect">
              <a:avLst/>
            </a:prstGeom>
          </p:spPr>
          <p:txBody>
            <a:bodyPr anchor="ctr" rtlCol="false" tIns="0" lIns="0" bIns="0" rIns="0"/>
            <a:lstStyle/>
            <a:p>
              <a:pPr algn="l">
                <a:lnSpc>
                  <a:spcPts val="4680"/>
                </a:lnSpc>
              </a:pPr>
              <a:r>
                <a:rPr lang="en-US" sz="3900" b="true">
                  <a:solidFill>
                    <a:srgbClr val="1E2761"/>
                  </a:solidFill>
                  <a:latin typeface="Cambria Bold"/>
                  <a:ea typeface="Cambria Bold"/>
                  <a:cs typeface="Cambria Bold"/>
                  <a:sym typeface="Cambria Bold"/>
                </a:rPr>
                <a:t>Scenario 5 — Answer</a:t>
              </a:r>
            </a:p>
          </p:txBody>
        </p:sp>
      </p:grpSp>
      <p:grpSp>
        <p:nvGrpSpPr>
          <p:cNvPr name="Group 8" id="8"/>
          <p:cNvGrpSpPr/>
          <p:nvPr/>
        </p:nvGrpSpPr>
        <p:grpSpPr>
          <a:xfrm rot="0">
            <a:off x="960120" y="1810512"/>
            <a:ext cx="8229600" cy="411480"/>
            <a:chOff x="0" y="0"/>
            <a:chExt cx="10972800" cy="548640"/>
          </a:xfrm>
        </p:grpSpPr>
        <p:sp>
          <p:nvSpPr>
            <p:cNvPr name="Freeform 9" id="9"/>
            <p:cNvSpPr/>
            <p:nvPr/>
          </p:nvSpPr>
          <p:spPr>
            <a:xfrm flipH="false" flipV="false" rot="0">
              <a:off x="0" y="0"/>
              <a:ext cx="10972800" cy="548640"/>
            </a:xfrm>
            <a:custGeom>
              <a:avLst/>
              <a:gdLst/>
              <a:ahLst/>
              <a:cxnLst/>
              <a:rect r="r" b="b" t="t" l="l"/>
              <a:pathLst>
                <a:path h="548640" w="10972800">
                  <a:moveTo>
                    <a:pt x="0" y="0"/>
                  </a:moveTo>
                  <a:lnTo>
                    <a:pt x="10972800" y="0"/>
                  </a:lnTo>
                  <a:lnTo>
                    <a:pt x="10972800" y="548640"/>
                  </a:lnTo>
                  <a:lnTo>
                    <a:pt x="0" y="548640"/>
                  </a:lnTo>
                  <a:close/>
                </a:path>
              </a:pathLst>
            </a:custGeom>
            <a:blipFill>
              <a:blip r:embed="rId2">
                <a:alphaModFix amt="0"/>
              </a:blip>
              <a:stretch>
                <a:fillRect l="0" t="-339700" r="0" b="-339700"/>
              </a:stretch>
            </a:blipFill>
          </p:spPr>
        </p:sp>
        <p:sp>
          <p:nvSpPr>
            <p:cNvPr name="TextBox 10" id="10"/>
            <p:cNvSpPr txBox="true"/>
            <p:nvPr/>
          </p:nvSpPr>
          <p:spPr>
            <a:xfrm>
              <a:off x="0" y="-28575"/>
              <a:ext cx="10972800" cy="577215"/>
            </a:xfrm>
            <a:prstGeom prst="rect">
              <a:avLst/>
            </a:prstGeom>
          </p:spPr>
          <p:txBody>
            <a:bodyPr anchor="ctr" rtlCol="false" tIns="0" lIns="0" bIns="0" rIns="0"/>
            <a:lstStyle/>
            <a:p>
              <a:pPr algn="l">
                <a:lnSpc>
                  <a:spcPts val="1980"/>
                </a:lnSpc>
              </a:pPr>
              <a:r>
                <a:rPr lang="en-US" sz="1650">
                  <a:solidFill>
                    <a:srgbClr val="6B7280"/>
                  </a:solidFill>
                  <a:latin typeface="Calibri (MS)"/>
                  <a:ea typeface="Calibri (MS)"/>
                  <a:cs typeface="Calibri (MS)"/>
                  <a:sym typeface="Calibri (MS)"/>
                </a:rPr>
                <a:t>5 of 20</a:t>
              </a:r>
            </a:p>
          </p:txBody>
        </p:sp>
      </p:grpSp>
      <p:grpSp>
        <p:nvGrpSpPr>
          <p:cNvPr name="Group 11" id="11"/>
          <p:cNvGrpSpPr/>
          <p:nvPr/>
        </p:nvGrpSpPr>
        <p:grpSpPr>
          <a:xfrm rot="0">
            <a:off x="960120" y="2537460"/>
            <a:ext cx="16322040" cy="2194560"/>
            <a:chOff x="0" y="0"/>
            <a:chExt cx="21762720" cy="2926080"/>
          </a:xfrm>
        </p:grpSpPr>
        <p:sp>
          <p:nvSpPr>
            <p:cNvPr name="Freeform 12" id="12"/>
            <p:cNvSpPr/>
            <p:nvPr/>
          </p:nvSpPr>
          <p:spPr>
            <a:xfrm flipH="false" flipV="false" rot="0">
              <a:off x="0" y="0"/>
              <a:ext cx="21762720" cy="2926080"/>
            </a:xfrm>
            <a:custGeom>
              <a:avLst/>
              <a:gdLst/>
              <a:ahLst/>
              <a:cxnLst/>
              <a:rect r="r" b="b" t="t" l="l"/>
              <a:pathLst>
                <a:path h="2926080" w="21762720">
                  <a:moveTo>
                    <a:pt x="0" y="182880"/>
                  </a:moveTo>
                  <a:cubicBezTo>
                    <a:pt x="0" y="81915"/>
                    <a:pt x="81915" y="0"/>
                    <a:pt x="182880" y="0"/>
                  </a:cubicBezTo>
                  <a:lnTo>
                    <a:pt x="21579839" y="0"/>
                  </a:lnTo>
                  <a:cubicBezTo>
                    <a:pt x="21680804" y="0"/>
                    <a:pt x="21762720" y="81915"/>
                    <a:pt x="21762720" y="182880"/>
                  </a:cubicBezTo>
                  <a:lnTo>
                    <a:pt x="21762720" y="2743200"/>
                  </a:lnTo>
                  <a:cubicBezTo>
                    <a:pt x="21762720" y="2844165"/>
                    <a:pt x="21680804" y="2926080"/>
                    <a:pt x="21579839" y="2926080"/>
                  </a:cubicBezTo>
                  <a:lnTo>
                    <a:pt x="182880" y="2926080"/>
                  </a:lnTo>
                  <a:cubicBezTo>
                    <a:pt x="81915" y="2926080"/>
                    <a:pt x="0" y="2844165"/>
                    <a:pt x="0" y="2743200"/>
                  </a:cubicBezTo>
                  <a:close/>
                </a:path>
              </a:pathLst>
            </a:custGeom>
            <a:solidFill>
              <a:srgbClr val="F4F7FC"/>
            </a:solidFill>
          </p:spPr>
        </p:sp>
      </p:grpSp>
      <p:grpSp>
        <p:nvGrpSpPr>
          <p:cNvPr name="Group 13" id="13"/>
          <p:cNvGrpSpPr/>
          <p:nvPr/>
        </p:nvGrpSpPr>
        <p:grpSpPr>
          <a:xfrm rot="0">
            <a:off x="1440180" y="2770632"/>
            <a:ext cx="15361920" cy="1714500"/>
            <a:chOff x="0" y="0"/>
            <a:chExt cx="20482560" cy="2286000"/>
          </a:xfrm>
        </p:grpSpPr>
        <p:sp>
          <p:nvSpPr>
            <p:cNvPr name="Freeform 14" id="14"/>
            <p:cNvSpPr/>
            <p:nvPr/>
          </p:nvSpPr>
          <p:spPr>
            <a:xfrm flipH="false" flipV="false" rot="0">
              <a:off x="0" y="0"/>
              <a:ext cx="20482561" cy="2286000"/>
            </a:xfrm>
            <a:custGeom>
              <a:avLst/>
              <a:gdLst/>
              <a:ahLst/>
              <a:cxnLst/>
              <a:rect r="r" b="b" t="t" l="l"/>
              <a:pathLst>
                <a:path h="2286000" w="20482561">
                  <a:moveTo>
                    <a:pt x="0" y="0"/>
                  </a:moveTo>
                  <a:lnTo>
                    <a:pt x="20482561" y="0"/>
                  </a:lnTo>
                  <a:lnTo>
                    <a:pt x="20482561" y="2286000"/>
                  </a:lnTo>
                  <a:lnTo>
                    <a:pt x="0" y="2286000"/>
                  </a:lnTo>
                  <a:close/>
                </a:path>
              </a:pathLst>
            </a:custGeom>
            <a:blipFill>
              <a:blip r:embed="rId2">
                <a:alphaModFix amt="0"/>
              </a:blip>
              <a:stretch>
                <a:fillRect l="0" t="-124585" r="0" b="-124585"/>
              </a:stretch>
            </a:blipFill>
          </p:spPr>
        </p:sp>
        <p:sp>
          <p:nvSpPr>
            <p:cNvPr name="TextBox 15" id="15"/>
            <p:cNvSpPr txBox="true"/>
            <p:nvPr/>
          </p:nvSpPr>
          <p:spPr>
            <a:xfrm>
              <a:off x="0" y="-85725"/>
              <a:ext cx="20482560" cy="2371725"/>
            </a:xfrm>
            <a:prstGeom prst="rect">
              <a:avLst/>
            </a:prstGeom>
          </p:spPr>
          <p:txBody>
            <a:bodyPr anchor="ctr" rtlCol="false" tIns="0" lIns="0" bIns="0" rIns="0"/>
            <a:lstStyle/>
            <a:p>
              <a:pPr algn="l">
                <a:lnSpc>
                  <a:spcPts val="3600"/>
                </a:lnSpc>
              </a:pPr>
              <a:r>
                <a:rPr lang="en-US" sz="2400" i="true">
                  <a:solidFill>
                    <a:srgbClr val="23262F"/>
                  </a:solidFill>
                  <a:latin typeface="Cambria Italics"/>
                  <a:ea typeface="Cambria Italics"/>
                  <a:cs typeface="Cambria Italics"/>
                  <a:sym typeface="Cambria Italics"/>
                </a:rPr>
                <a:t>"The moment ransomware is discovered, the IT team disconnects the infected computers from the network within the hour."</a:t>
              </a:r>
            </a:p>
          </p:txBody>
        </p:sp>
      </p:grpSp>
      <p:grpSp>
        <p:nvGrpSpPr>
          <p:cNvPr name="Group 16" id="16"/>
          <p:cNvGrpSpPr/>
          <p:nvPr/>
        </p:nvGrpSpPr>
        <p:grpSpPr>
          <a:xfrm rot="0">
            <a:off x="950595" y="5065395"/>
            <a:ext cx="5162550" cy="842010"/>
            <a:chOff x="0" y="0"/>
            <a:chExt cx="6883400" cy="1122680"/>
          </a:xfrm>
        </p:grpSpPr>
        <p:sp>
          <p:nvSpPr>
            <p:cNvPr name="Freeform 17" id="17"/>
            <p:cNvSpPr/>
            <p:nvPr/>
          </p:nvSpPr>
          <p:spPr>
            <a:xfrm flipH="false" flipV="false" rot="0">
              <a:off x="0" y="0"/>
              <a:ext cx="6883400" cy="1122680"/>
            </a:xfrm>
            <a:custGeom>
              <a:avLst/>
              <a:gdLst/>
              <a:ahLst/>
              <a:cxnLst/>
              <a:rect r="r" b="b" t="t" l="l"/>
              <a:pathLst>
                <a:path h="1122680" w="6883400">
                  <a:moveTo>
                    <a:pt x="0" y="168402"/>
                  </a:moveTo>
                  <a:cubicBezTo>
                    <a:pt x="0" y="75438"/>
                    <a:pt x="75438" y="0"/>
                    <a:pt x="168402" y="0"/>
                  </a:cubicBezTo>
                  <a:lnTo>
                    <a:pt x="6714998" y="0"/>
                  </a:lnTo>
                  <a:cubicBezTo>
                    <a:pt x="6807962" y="0"/>
                    <a:pt x="6883400" y="75438"/>
                    <a:pt x="6883400" y="168402"/>
                  </a:cubicBezTo>
                  <a:lnTo>
                    <a:pt x="6883400" y="954278"/>
                  </a:lnTo>
                  <a:cubicBezTo>
                    <a:pt x="6883400" y="1047242"/>
                    <a:pt x="6807962" y="1122680"/>
                    <a:pt x="6714998" y="1122680"/>
                  </a:cubicBezTo>
                  <a:lnTo>
                    <a:pt x="168402" y="1122680"/>
                  </a:lnTo>
                  <a:cubicBezTo>
                    <a:pt x="75438" y="1122680"/>
                    <a:pt x="0" y="1047242"/>
                    <a:pt x="0" y="954278"/>
                  </a:cubicBezTo>
                  <a:close/>
                </a:path>
              </a:pathLst>
            </a:custGeom>
            <a:solidFill>
              <a:srgbClr val="F4F7FC"/>
            </a:solidFill>
            <a:ln w="19050" cap="sq">
              <a:solidFill>
                <a:srgbClr val="D7DCEC"/>
              </a:solidFill>
              <a:prstDash val="solid"/>
              <a:miter/>
            </a:ln>
          </p:spPr>
        </p:sp>
      </p:grpSp>
      <p:grpSp>
        <p:nvGrpSpPr>
          <p:cNvPr name="Group 18" id="18"/>
          <p:cNvGrpSpPr/>
          <p:nvPr/>
        </p:nvGrpSpPr>
        <p:grpSpPr>
          <a:xfrm rot="0">
            <a:off x="960120" y="5143500"/>
            <a:ext cx="5143500" cy="521208"/>
            <a:chOff x="0" y="0"/>
            <a:chExt cx="6858000" cy="694944"/>
          </a:xfrm>
        </p:grpSpPr>
        <p:sp>
          <p:nvSpPr>
            <p:cNvPr name="Freeform 19" id="19"/>
            <p:cNvSpPr/>
            <p:nvPr/>
          </p:nvSpPr>
          <p:spPr>
            <a:xfrm flipH="false" flipV="false" rot="0">
              <a:off x="0" y="0"/>
              <a:ext cx="6858000" cy="694944"/>
            </a:xfrm>
            <a:custGeom>
              <a:avLst/>
              <a:gdLst/>
              <a:ahLst/>
              <a:cxnLst/>
              <a:rect r="r" b="b" t="t" l="l"/>
              <a:pathLst>
                <a:path h="694944" w="6858000">
                  <a:moveTo>
                    <a:pt x="0" y="0"/>
                  </a:moveTo>
                  <a:lnTo>
                    <a:pt x="6858000" y="0"/>
                  </a:lnTo>
                  <a:lnTo>
                    <a:pt x="6858000" y="694944"/>
                  </a:lnTo>
                  <a:lnTo>
                    <a:pt x="0" y="694944"/>
                  </a:lnTo>
                  <a:close/>
                </a:path>
              </a:pathLst>
            </a:custGeom>
            <a:blipFill>
              <a:blip r:embed="rId2">
                <a:alphaModFix amt="0"/>
              </a:blip>
              <a:stretch>
                <a:fillRect l="0" t="-142286" r="0" b="-142286"/>
              </a:stretch>
            </a:blipFill>
          </p:spPr>
        </p:sp>
        <p:sp>
          <p:nvSpPr>
            <p:cNvPr name="TextBox 20" id="20"/>
            <p:cNvSpPr txBox="true"/>
            <p:nvPr/>
          </p:nvSpPr>
          <p:spPr>
            <a:xfrm>
              <a:off x="0" y="-38100"/>
              <a:ext cx="6858000" cy="733044"/>
            </a:xfrm>
            <a:prstGeom prst="rect">
              <a:avLst/>
            </a:prstGeom>
          </p:spPr>
          <p:txBody>
            <a:bodyPr anchor="ctr" rtlCol="false" tIns="0" lIns="0" bIns="0" rIns="0"/>
            <a:lstStyle/>
            <a:p>
              <a:pPr algn="ctr">
                <a:lnSpc>
                  <a:spcPts val="2430"/>
                </a:lnSpc>
              </a:pPr>
              <a:r>
                <a:rPr lang="en-US" sz="2025">
                  <a:solidFill>
                    <a:srgbClr val="6B7280"/>
                  </a:solidFill>
                  <a:latin typeface="Calibri (MS)"/>
                  <a:ea typeface="Calibri (MS)"/>
                  <a:cs typeface="Calibri (MS)"/>
                  <a:sym typeface="Calibri (MS)"/>
                </a:rPr>
                <a:t>Govern</a:t>
              </a:r>
            </a:p>
          </p:txBody>
        </p:sp>
      </p:grpSp>
      <p:grpSp>
        <p:nvGrpSpPr>
          <p:cNvPr name="Group 21" id="21"/>
          <p:cNvGrpSpPr/>
          <p:nvPr/>
        </p:nvGrpSpPr>
        <p:grpSpPr>
          <a:xfrm rot="0">
            <a:off x="960120" y="5513832"/>
            <a:ext cx="5143500" cy="329184"/>
            <a:chOff x="0" y="0"/>
            <a:chExt cx="6858000" cy="438912"/>
          </a:xfrm>
        </p:grpSpPr>
        <p:sp>
          <p:nvSpPr>
            <p:cNvPr name="Freeform 22" id="22"/>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23" id="23"/>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9AA3B8"/>
                  </a:solidFill>
                  <a:latin typeface="Arimo"/>
                  <a:ea typeface="Arimo"/>
                  <a:cs typeface="Arimo"/>
                  <a:sym typeface="Arimo"/>
                </a:rPr>
                <a:t>GV</a:t>
              </a:r>
            </a:p>
          </p:txBody>
        </p:sp>
      </p:grpSp>
      <p:grpSp>
        <p:nvGrpSpPr>
          <p:cNvPr name="Group 24" id="24"/>
          <p:cNvGrpSpPr/>
          <p:nvPr/>
        </p:nvGrpSpPr>
        <p:grpSpPr>
          <a:xfrm rot="0">
            <a:off x="6533007" y="5065395"/>
            <a:ext cx="5162550" cy="842010"/>
            <a:chOff x="0" y="0"/>
            <a:chExt cx="6883400" cy="1122680"/>
          </a:xfrm>
        </p:grpSpPr>
        <p:sp>
          <p:nvSpPr>
            <p:cNvPr name="Freeform 25" id="25"/>
            <p:cNvSpPr/>
            <p:nvPr/>
          </p:nvSpPr>
          <p:spPr>
            <a:xfrm flipH="false" flipV="false" rot="0">
              <a:off x="0" y="0"/>
              <a:ext cx="6883400" cy="1122680"/>
            </a:xfrm>
            <a:custGeom>
              <a:avLst/>
              <a:gdLst/>
              <a:ahLst/>
              <a:cxnLst/>
              <a:rect r="r" b="b" t="t" l="l"/>
              <a:pathLst>
                <a:path h="1122680" w="6883400">
                  <a:moveTo>
                    <a:pt x="0" y="168402"/>
                  </a:moveTo>
                  <a:cubicBezTo>
                    <a:pt x="0" y="75438"/>
                    <a:pt x="75438" y="0"/>
                    <a:pt x="168402" y="0"/>
                  </a:cubicBezTo>
                  <a:lnTo>
                    <a:pt x="6714998" y="0"/>
                  </a:lnTo>
                  <a:cubicBezTo>
                    <a:pt x="6807962" y="0"/>
                    <a:pt x="6883400" y="75438"/>
                    <a:pt x="6883400" y="168402"/>
                  </a:cubicBezTo>
                  <a:lnTo>
                    <a:pt x="6883400" y="954278"/>
                  </a:lnTo>
                  <a:cubicBezTo>
                    <a:pt x="6883400" y="1047242"/>
                    <a:pt x="6807962" y="1122680"/>
                    <a:pt x="6714998" y="1122680"/>
                  </a:cubicBezTo>
                  <a:lnTo>
                    <a:pt x="168402" y="1122680"/>
                  </a:lnTo>
                  <a:cubicBezTo>
                    <a:pt x="75438" y="1122680"/>
                    <a:pt x="0" y="1047242"/>
                    <a:pt x="0" y="954278"/>
                  </a:cubicBezTo>
                  <a:close/>
                </a:path>
              </a:pathLst>
            </a:custGeom>
            <a:solidFill>
              <a:srgbClr val="F4F7FC"/>
            </a:solidFill>
            <a:ln w="19050" cap="sq">
              <a:solidFill>
                <a:srgbClr val="D7DCEC"/>
              </a:solidFill>
              <a:prstDash val="solid"/>
              <a:miter/>
            </a:ln>
          </p:spPr>
        </p:sp>
      </p:grpSp>
      <p:grpSp>
        <p:nvGrpSpPr>
          <p:cNvPr name="Group 26" id="26"/>
          <p:cNvGrpSpPr/>
          <p:nvPr/>
        </p:nvGrpSpPr>
        <p:grpSpPr>
          <a:xfrm rot="0">
            <a:off x="6542532" y="5143500"/>
            <a:ext cx="5143500" cy="521208"/>
            <a:chOff x="0" y="0"/>
            <a:chExt cx="6858000" cy="694944"/>
          </a:xfrm>
        </p:grpSpPr>
        <p:sp>
          <p:nvSpPr>
            <p:cNvPr name="Freeform 27" id="27"/>
            <p:cNvSpPr/>
            <p:nvPr/>
          </p:nvSpPr>
          <p:spPr>
            <a:xfrm flipH="false" flipV="false" rot="0">
              <a:off x="0" y="0"/>
              <a:ext cx="6858000" cy="694944"/>
            </a:xfrm>
            <a:custGeom>
              <a:avLst/>
              <a:gdLst/>
              <a:ahLst/>
              <a:cxnLst/>
              <a:rect r="r" b="b" t="t" l="l"/>
              <a:pathLst>
                <a:path h="694944" w="6858000">
                  <a:moveTo>
                    <a:pt x="0" y="0"/>
                  </a:moveTo>
                  <a:lnTo>
                    <a:pt x="6858000" y="0"/>
                  </a:lnTo>
                  <a:lnTo>
                    <a:pt x="6858000" y="694944"/>
                  </a:lnTo>
                  <a:lnTo>
                    <a:pt x="0" y="694944"/>
                  </a:lnTo>
                  <a:close/>
                </a:path>
              </a:pathLst>
            </a:custGeom>
            <a:blipFill>
              <a:blip r:embed="rId2">
                <a:alphaModFix amt="0"/>
              </a:blip>
              <a:stretch>
                <a:fillRect l="0" t="-142286" r="0" b="-142286"/>
              </a:stretch>
            </a:blipFill>
          </p:spPr>
        </p:sp>
        <p:sp>
          <p:nvSpPr>
            <p:cNvPr name="TextBox 28" id="28"/>
            <p:cNvSpPr txBox="true"/>
            <p:nvPr/>
          </p:nvSpPr>
          <p:spPr>
            <a:xfrm>
              <a:off x="0" y="-38100"/>
              <a:ext cx="6858000" cy="733044"/>
            </a:xfrm>
            <a:prstGeom prst="rect">
              <a:avLst/>
            </a:prstGeom>
          </p:spPr>
          <p:txBody>
            <a:bodyPr anchor="ctr" rtlCol="false" tIns="0" lIns="0" bIns="0" rIns="0"/>
            <a:lstStyle/>
            <a:p>
              <a:pPr algn="ctr">
                <a:lnSpc>
                  <a:spcPts val="2430"/>
                </a:lnSpc>
              </a:pPr>
              <a:r>
                <a:rPr lang="en-US" sz="2025">
                  <a:solidFill>
                    <a:srgbClr val="6B7280"/>
                  </a:solidFill>
                  <a:latin typeface="Calibri (MS)"/>
                  <a:ea typeface="Calibri (MS)"/>
                  <a:cs typeface="Calibri (MS)"/>
                  <a:sym typeface="Calibri (MS)"/>
                </a:rPr>
                <a:t>Identify</a:t>
              </a:r>
            </a:p>
          </p:txBody>
        </p:sp>
      </p:grpSp>
      <p:grpSp>
        <p:nvGrpSpPr>
          <p:cNvPr name="Group 29" id="29"/>
          <p:cNvGrpSpPr/>
          <p:nvPr/>
        </p:nvGrpSpPr>
        <p:grpSpPr>
          <a:xfrm rot="0">
            <a:off x="6542532" y="5513832"/>
            <a:ext cx="5143500" cy="329184"/>
            <a:chOff x="0" y="0"/>
            <a:chExt cx="6858000" cy="438912"/>
          </a:xfrm>
        </p:grpSpPr>
        <p:sp>
          <p:nvSpPr>
            <p:cNvPr name="Freeform 30" id="30"/>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31" id="31"/>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9AA3B8"/>
                  </a:solidFill>
                  <a:latin typeface="Arimo"/>
                  <a:ea typeface="Arimo"/>
                  <a:cs typeface="Arimo"/>
                  <a:sym typeface="Arimo"/>
                </a:rPr>
                <a:t>ID</a:t>
              </a:r>
            </a:p>
          </p:txBody>
        </p:sp>
      </p:grpSp>
      <p:grpSp>
        <p:nvGrpSpPr>
          <p:cNvPr name="Group 32" id="32"/>
          <p:cNvGrpSpPr/>
          <p:nvPr/>
        </p:nvGrpSpPr>
        <p:grpSpPr>
          <a:xfrm rot="0">
            <a:off x="12115419" y="5065395"/>
            <a:ext cx="5162550" cy="842010"/>
            <a:chOff x="0" y="0"/>
            <a:chExt cx="6883400" cy="1122680"/>
          </a:xfrm>
        </p:grpSpPr>
        <p:sp>
          <p:nvSpPr>
            <p:cNvPr name="Freeform 33" id="33"/>
            <p:cNvSpPr/>
            <p:nvPr/>
          </p:nvSpPr>
          <p:spPr>
            <a:xfrm flipH="false" flipV="false" rot="0">
              <a:off x="0" y="0"/>
              <a:ext cx="6883400" cy="1122680"/>
            </a:xfrm>
            <a:custGeom>
              <a:avLst/>
              <a:gdLst/>
              <a:ahLst/>
              <a:cxnLst/>
              <a:rect r="r" b="b" t="t" l="l"/>
              <a:pathLst>
                <a:path h="1122680" w="6883400">
                  <a:moveTo>
                    <a:pt x="0" y="168402"/>
                  </a:moveTo>
                  <a:cubicBezTo>
                    <a:pt x="0" y="75438"/>
                    <a:pt x="75438" y="0"/>
                    <a:pt x="168402" y="0"/>
                  </a:cubicBezTo>
                  <a:lnTo>
                    <a:pt x="6714998" y="0"/>
                  </a:lnTo>
                  <a:cubicBezTo>
                    <a:pt x="6807962" y="0"/>
                    <a:pt x="6883400" y="75438"/>
                    <a:pt x="6883400" y="168402"/>
                  </a:cubicBezTo>
                  <a:lnTo>
                    <a:pt x="6883400" y="954278"/>
                  </a:lnTo>
                  <a:cubicBezTo>
                    <a:pt x="6883400" y="1047242"/>
                    <a:pt x="6807962" y="1122680"/>
                    <a:pt x="6714998" y="1122680"/>
                  </a:cubicBezTo>
                  <a:lnTo>
                    <a:pt x="168402" y="1122680"/>
                  </a:lnTo>
                  <a:cubicBezTo>
                    <a:pt x="75438" y="1122680"/>
                    <a:pt x="0" y="1047242"/>
                    <a:pt x="0" y="954278"/>
                  </a:cubicBezTo>
                  <a:close/>
                </a:path>
              </a:pathLst>
            </a:custGeom>
            <a:solidFill>
              <a:srgbClr val="F4F7FC"/>
            </a:solidFill>
            <a:ln w="19050" cap="sq">
              <a:solidFill>
                <a:srgbClr val="D7DCEC"/>
              </a:solidFill>
              <a:prstDash val="solid"/>
              <a:miter/>
            </a:ln>
          </p:spPr>
        </p:sp>
      </p:grpSp>
      <p:grpSp>
        <p:nvGrpSpPr>
          <p:cNvPr name="Group 34" id="34"/>
          <p:cNvGrpSpPr/>
          <p:nvPr/>
        </p:nvGrpSpPr>
        <p:grpSpPr>
          <a:xfrm rot="0">
            <a:off x="12124944" y="5143500"/>
            <a:ext cx="5143500" cy="521208"/>
            <a:chOff x="0" y="0"/>
            <a:chExt cx="6858000" cy="694944"/>
          </a:xfrm>
        </p:grpSpPr>
        <p:sp>
          <p:nvSpPr>
            <p:cNvPr name="Freeform 35" id="35"/>
            <p:cNvSpPr/>
            <p:nvPr/>
          </p:nvSpPr>
          <p:spPr>
            <a:xfrm flipH="false" flipV="false" rot="0">
              <a:off x="0" y="0"/>
              <a:ext cx="6858000" cy="694944"/>
            </a:xfrm>
            <a:custGeom>
              <a:avLst/>
              <a:gdLst/>
              <a:ahLst/>
              <a:cxnLst/>
              <a:rect r="r" b="b" t="t" l="l"/>
              <a:pathLst>
                <a:path h="694944" w="6858000">
                  <a:moveTo>
                    <a:pt x="0" y="0"/>
                  </a:moveTo>
                  <a:lnTo>
                    <a:pt x="6858000" y="0"/>
                  </a:lnTo>
                  <a:lnTo>
                    <a:pt x="6858000" y="694944"/>
                  </a:lnTo>
                  <a:lnTo>
                    <a:pt x="0" y="694944"/>
                  </a:lnTo>
                  <a:close/>
                </a:path>
              </a:pathLst>
            </a:custGeom>
            <a:blipFill>
              <a:blip r:embed="rId2">
                <a:alphaModFix amt="0"/>
              </a:blip>
              <a:stretch>
                <a:fillRect l="0" t="-142286" r="0" b="-142286"/>
              </a:stretch>
            </a:blipFill>
          </p:spPr>
        </p:sp>
        <p:sp>
          <p:nvSpPr>
            <p:cNvPr name="TextBox 36" id="36"/>
            <p:cNvSpPr txBox="true"/>
            <p:nvPr/>
          </p:nvSpPr>
          <p:spPr>
            <a:xfrm>
              <a:off x="0" y="-38100"/>
              <a:ext cx="6858000" cy="733044"/>
            </a:xfrm>
            <a:prstGeom prst="rect">
              <a:avLst/>
            </a:prstGeom>
          </p:spPr>
          <p:txBody>
            <a:bodyPr anchor="ctr" rtlCol="false" tIns="0" lIns="0" bIns="0" rIns="0"/>
            <a:lstStyle/>
            <a:p>
              <a:pPr algn="ctr">
                <a:lnSpc>
                  <a:spcPts val="2430"/>
                </a:lnSpc>
              </a:pPr>
              <a:r>
                <a:rPr lang="en-US" sz="2025">
                  <a:solidFill>
                    <a:srgbClr val="6B7280"/>
                  </a:solidFill>
                  <a:latin typeface="Calibri (MS)"/>
                  <a:ea typeface="Calibri (MS)"/>
                  <a:cs typeface="Calibri (MS)"/>
                  <a:sym typeface="Calibri (MS)"/>
                </a:rPr>
                <a:t>Protect</a:t>
              </a:r>
            </a:p>
          </p:txBody>
        </p:sp>
      </p:grpSp>
      <p:grpSp>
        <p:nvGrpSpPr>
          <p:cNvPr name="Group 37" id="37"/>
          <p:cNvGrpSpPr/>
          <p:nvPr/>
        </p:nvGrpSpPr>
        <p:grpSpPr>
          <a:xfrm rot="0">
            <a:off x="12124944" y="5513832"/>
            <a:ext cx="5143500" cy="329184"/>
            <a:chOff x="0" y="0"/>
            <a:chExt cx="6858000" cy="438912"/>
          </a:xfrm>
        </p:grpSpPr>
        <p:sp>
          <p:nvSpPr>
            <p:cNvPr name="Freeform 38" id="38"/>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39" id="39"/>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9AA3B8"/>
                  </a:solidFill>
                  <a:latin typeface="Arimo"/>
                  <a:ea typeface="Arimo"/>
                  <a:cs typeface="Arimo"/>
                  <a:sym typeface="Arimo"/>
                </a:rPr>
                <a:t>PR</a:t>
              </a:r>
            </a:p>
          </p:txBody>
        </p:sp>
      </p:grpSp>
      <p:grpSp>
        <p:nvGrpSpPr>
          <p:cNvPr name="Group 40" id="40"/>
          <p:cNvGrpSpPr/>
          <p:nvPr/>
        </p:nvGrpSpPr>
        <p:grpSpPr>
          <a:xfrm rot="0">
            <a:off x="950595" y="6135243"/>
            <a:ext cx="5162550" cy="842010"/>
            <a:chOff x="0" y="0"/>
            <a:chExt cx="6883400" cy="1122680"/>
          </a:xfrm>
        </p:grpSpPr>
        <p:sp>
          <p:nvSpPr>
            <p:cNvPr name="Freeform 41" id="41"/>
            <p:cNvSpPr/>
            <p:nvPr/>
          </p:nvSpPr>
          <p:spPr>
            <a:xfrm flipH="false" flipV="false" rot="0">
              <a:off x="0" y="0"/>
              <a:ext cx="6883400" cy="1122680"/>
            </a:xfrm>
            <a:custGeom>
              <a:avLst/>
              <a:gdLst/>
              <a:ahLst/>
              <a:cxnLst/>
              <a:rect r="r" b="b" t="t" l="l"/>
              <a:pathLst>
                <a:path h="1122680" w="6883400">
                  <a:moveTo>
                    <a:pt x="0" y="168402"/>
                  </a:moveTo>
                  <a:cubicBezTo>
                    <a:pt x="0" y="75438"/>
                    <a:pt x="75438" y="0"/>
                    <a:pt x="168402" y="0"/>
                  </a:cubicBezTo>
                  <a:lnTo>
                    <a:pt x="6714998" y="0"/>
                  </a:lnTo>
                  <a:cubicBezTo>
                    <a:pt x="6807962" y="0"/>
                    <a:pt x="6883400" y="75438"/>
                    <a:pt x="6883400" y="168402"/>
                  </a:cubicBezTo>
                  <a:lnTo>
                    <a:pt x="6883400" y="954278"/>
                  </a:lnTo>
                  <a:cubicBezTo>
                    <a:pt x="6883400" y="1047242"/>
                    <a:pt x="6807962" y="1122680"/>
                    <a:pt x="6714998" y="1122680"/>
                  </a:cubicBezTo>
                  <a:lnTo>
                    <a:pt x="168402" y="1122680"/>
                  </a:lnTo>
                  <a:cubicBezTo>
                    <a:pt x="75438" y="1122680"/>
                    <a:pt x="0" y="1047242"/>
                    <a:pt x="0" y="954278"/>
                  </a:cubicBezTo>
                  <a:close/>
                </a:path>
              </a:pathLst>
            </a:custGeom>
            <a:solidFill>
              <a:srgbClr val="F4F7FC"/>
            </a:solidFill>
            <a:ln w="19050" cap="sq">
              <a:solidFill>
                <a:srgbClr val="D7DCEC"/>
              </a:solidFill>
              <a:prstDash val="solid"/>
              <a:miter/>
            </a:ln>
          </p:spPr>
        </p:sp>
      </p:grpSp>
      <p:grpSp>
        <p:nvGrpSpPr>
          <p:cNvPr name="Group 42" id="42"/>
          <p:cNvGrpSpPr/>
          <p:nvPr/>
        </p:nvGrpSpPr>
        <p:grpSpPr>
          <a:xfrm rot="0">
            <a:off x="960120" y="6213348"/>
            <a:ext cx="5143500" cy="521208"/>
            <a:chOff x="0" y="0"/>
            <a:chExt cx="6858000" cy="694944"/>
          </a:xfrm>
        </p:grpSpPr>
        <p:sp>
          <p:nvSpPr>
            <p:cNvPr name="Freeform 43" id="43"/>
            <p:cNvSpPr/>
            <p:nvPr/>
          </p:nvSpPr>
          <p:spPr>
            <a:xfrm flipH="false" flipV="false" rot="0">
              <a:off x="0" y="0"/>
              <a:ext cx="6858000" cy="694944"/>
            </a:xfrm>
            <a:custGeom>
              <a:avLst/>
              <a:gdLst/>
              <a:ahLst/>
              <a:cxnLst/>
              <a:rect r="r" b="b" t="t" l="l"/>
              <a:pathLst>
                <a:path h="694944" w="6858000">
                  <a:moveTo>
                    <a:pt x="0" y="0"/>
                  </a:moveTo>
                  <a:lnTo>
                    <a:pt x="6858000" y="0"/>
                  </a:lnTo>
                  <a:lnTo>
                    <a:pt x="6858000" y="694944"/>
                  </a:lnTo>
                  <a:lnTo>
                    <a:pt x="0" y="694944"/>
                  </a:lnTo>
                  <a:close/>
                </a:path>
              </a:pathLst>
            </a:custGeom>
            <a:blipFill>
              <a:blip r:embed="rId2">
                <a:alphaModFix amt="0"/>
              </a:blip>
              <a:stretch>
                <a:fillRect l="0" t="-142286" r="0" b="-142286"/>
              </a:stretch>
            </a:blipFill>
          </p:spPr>
        </p:sp>
        <p:sp>
          <p:nvSpPr>
            <p:cNvPr name="TextBox 44" id="44"/>
            <p:cNvSpPr txBox="true"/>
            <p:nvPr/>
          </p:nvSpPr>
          <p:spPr>
            <a:xfrm>
              <a:off x="0" y="-38100"/>
              <a:ext cx="6858000" cy="733044"/>
            </a:xfrm>
            <a:prstGeom prst="rect">
              <a:avLst/>
            </a:prstGeom>
          </p:spPr>
          <p:txBody>
            <a:bodyPr anchor="ctr" rtlCol="false" tIns="0" lIns="0" bIns="0" rIns="0"/>
            <a:lstStyle/>
            <a:p>
              <a:pPr algn="ctr">
                <a:lnSpc>
                  <a:spcPts val="2430"/>
                </a:lnSpc>
              </a:pPr>
              <a:r>
                <a:rPr lang="en-US" sz="2025">
                  <a:solidFill>
                    <a:srgbClr val="6B7280"/>
                  </a:solidFill>
                  <a:latin typeface="Calibri (MS)"/>
                  <a:ea typeface="Calibri (MS)"/>
                  <a:cs typeface="Calibri (MS)"/>
                  <a:sym typeface="Calibri (MS)"/>
                </a:rPr>
                <a:t>Detect</a:t>
              </a:r>
            </a:p>
          </p:txBody>
        </p:sp>
      </p:grpSp>
      <p:grpSp>
        <p:nvGrpSpPr>
          <p:cNvPr name="Group 45" id="45"/>
          <p:cNvGrpSpPr/>
          <p:nvPr/>
        </p:nvGrpSpPr>
        <p:grpSpPr>
          <a:xfrm rot="0">
            <a:off x="960120" y="6583680"/>
            <a:ext cx="5143500" cy="329184"/>
            <a:chOff x="0" y="0"/>
            <a:chExt cx="6858000" cy="438912"/>
          </a:xfrm>
        </p:grpSpPr>
        <p:sp>
          <p:nvSpPr>
            <p:cNvPr name="Freeform 46" id="46"/>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47" id="47"/>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9AA3B8"/>
                  </a:solidFill>
                  <a:latin typeface="Arimo"/>
                  <a:ea typeface="Arimo"/>
                  <a:cs typeface="Arimo"/>
                  <a:sym typeface="Arimo"/>
                </a:rPr>
                <a:t>DE</a:t>
              </a:r>
            </a:p>
          </p:txBody>
        </p:sp>
      </p:grpSp>
      <p:grpSp>
        <p:nvGrpSpPr>
          <p:cNvPr name="Group 48" id="48"/>
          <p:cNvGrpSpPr/>
          <p:nvPr/>
        </p:nvGrpSpPr>
        <p:grpSpPr>
          <a:xfrm rot="0">
            <a:off x="6533007" y="6135243"/>
            <a:ext cx="5162550" cy="842010"/>
            <a:chOff x="0" y="0"/>
            <a:chExt cx="6883400" cy="1122680"/>
          </a:xfrm>
        </p:grpSpPr>
        <p:sp>
          <p:nvSpPr>
            <p:cNvPr name="Freeform 49" id="49"/>
            <p:cNvSpPr/>
            <p:nvPr/>
          </p:nvSpPr>
          <p:spPr>
            <a:xfrm flipH="false" flipV="false" rot="0">
              <a:off x="0" y="0"/>
              <a:ext cx="6883400" cy="1122680"/>
            </a:xfrm>
            <a:custGeom>
              <a:avLst/>
              <a:gdLst/>
              <a:ahLst/>
              <a:cxnLst/>
              <a:rect r="r" b="b" t="t" l="l"/>
              <a:pathLst>
                <a:path h="1122680" w="6883400">
                  <a:moveTo>
                    <a:pt x="0" y="168402"/>
                  </a:moveTo>
                  <a:cubicBezTo>
                    <a:pt x="0" y="75438"/>
                    <a:pt x="75438" y="0"/>
                    <a:pt x="168402" y="0"/>
                  </a:cubicBezTo>
                  <a:lnTo>
                    <a:pt x="6714998" y="0"/>
                  </a:lnTo>
                  <a:cubicBezTo>
                    <a:pt x="6807962" y="0"/>
                    <a:pt x="6883400" y="75438"/>
                    <a:pt x="6883400" y="168402"/>
                  </a:cubicBezTo>
                  <a:lnTo>
                    <a:pt x="6883400" y="954278"/>
                  </a:lnTo>
                  <a:cubicBezTo>
                    <a:pt x="6883400" y="1047242"/>
                    <a:pt x="6807962" y="1122680"/>
                    <a:pt x="6714998" y="1122680"/>
                  </a:cubicBezTo>
                  <a:lnTo>
                    <a:pt x="168402" y="1122680"/>
                  </a:lnTo>
                  <a:cubicBezTo>
                    <a:pt x="75438" y="1122680"/>
                    <a:pt x="0" y="1047242"/>
                    <a:pt x="0" y="954278"/>
                  </a:cubicBezTo>
                  <a:close/>
                </a:path>
              </a:pathLst>
            </a:custGeom>
            <a:solidFill>
              <a:srgbClr val="D9631E"/>
            </a:solidFill>
            <a:ln w="19050" cap="sq">
              <a:solidFill>
                <a:srgbClr val="D9631E"/>
              </a:solidFill>
              <a:prstDash val="solid"/>
              <a:miter/>
            </a:ln>
          </p:spPr>
        </p:sp>
      </p:grpSp>
      <p:grpSp>
        <p:nvGrpSpPr>
          <p:cNvPr name="Group 50" id="50"/>
          <p:cNvGrpSpPr/>
          <p:nvPr/>
        </p:nvGrpSpPr>
        <p:grpSpPr>
          <a:xfrm rot="0">
            <a:off x="6542532" y="6213348"/>
            <a:ext cx="5143500" cy="521208"/>
            <a:chOff x="0" y="0"/>
            <a:chExt cx="6858000" cy="694944"/>
          </a:xfrm>
        </p:grpSpPr>
        <p:sp>
          <p:nvSpPr>
            <p:cNvPr name="Freeform 51" id="51"/>
            <p:cNvSpPr/>
            <p:nvPr/>
          </p:nvSpPr>
          <p:spPr>
            <a:xfrm flipH="false" flipV="false" rot="0">
              <a:off x="0" y="0"/>
              <a:ext cx="6858000" cy="694944"/>
            </a:xfrm>
            <a:custGeom>
              <a:avLst/>
              <a:gdLst/>
              <a:ahLst/>
              <a:cxnLst/>
              <a:rect r="r" b="b" t="t" l="l"/>
              <a:pathLst>
                <a:path h="694944" w="6858000">
                  <a:moveTo>
                    <a:pt x="0" y="0"/>
                  </a:moveTo>
                  <a:lnTo>
                    <a:pt x="6858000" y="0"/>
                  </a:lnTo>
                  <a:lnTo>
                    <a:pt x="6858000" y="694944"/>
                  </a:lnTo>
                  <a:lnTo>
                    <a:pt x="0" y="694944"/>
                  </a:lnTo>
                  <a:close/>
                </a:path>
              </a:pathLst>
            </a:custGeom>
            <a:blipFill>
              <a:blip r:embed="rId2">
                <a:alphaModFix amt="0"/>
              </a:blip>
              <a:stretch>
                <a:fillRect l="0" t="-142286" r="0" b="-142286"/>
              </a:stretch>
            </a:blipFill>
          </p:spPr>
        </p:sp>
        <p:sp>
          <p:nvSpPr>
            <p:cNvPr name="TextBox 52" id="52"/>
            <p:cNvSpPr txBox="true"/>
            <p:nvPr/>
          </p:nvSpPr>
          <p:spPr>
            <a:xfrm>
              <a:off x="0" y="-38100"/>
              <a:ext cx="6858000" cy="733044"/>
            </a:xfrm>
            <a:prstGeom prst="rect">
              <a:avLst/>
            </a:prstGeom>
          </p:spPr>
          <p:txBody>
            <a:bodyPr anchor="ctr" rtlCol="false" tIns="0" lIns="0" bIns="0" rIns="0"/>
            <a:lstStyle/>
            <a:p>
              <a:pPr algn="ctr">
                <a:lnSpc>
                  <a:spcPts val="2430"/>
                </a:lnSpc>
              </a:pPr>
              <a:r>
                <a:rPr lang="en-US" sz="2025" b="true">
                  <a:solidFill>
                    <a:srgbClr val="FFFFFF"/>
                  </a:solidFill>
                  <a:latin typeface="Calibri (MS) Bold"/>
                  <a:ea typeface="Calibri (MS) Bold"/>
                  <a:cs typeface="Calibri (MS) Bold"/>
                  <a:sym typeface="Calibri (MS) Bold"/>
                </a:rPr>
                <a:t>✓  Respond</a:t>
              </a:r>
            </a:p>
          </p:txBody>
        </p:sp>
      </p:grpSp>
      <p:grpSp>
        <p:nvGrpSpPr>
          <p:cNvPr name="Group 53" id="53"/>
          <p:cNvGrpSpPr/>
          <p:nvPr/>
        </p:nvGrpSpPr>
        <p:grpSpPr>
          <a:xfrm rot="0">
            <a:off x="6542532" y="6583680"/>
            <a:ext cx="5143500" cy="329184"/>
            <a:chOff x="0" y="0"/>
            <a:chExt cx="6858000" cy="438912"/>
          </a:xfrm>
        </p:grpSpPr>
        <p:sp>
          <p:nvSpPr>
            <p:cNvPr name="Freeform 54" id="54"/>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55" id="55"/>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FFFFFF"/>
                  </a:solidFill>
                  <a:latin typeface="Arimo"/>
                  <a:ea typeface="Arimo"/>
                  <a:cs typeface="Arimo"/>
                  <a:sym typeface="Arimo"/>
                </a:rPr>
                <a:t>RS</a:t>
              </a:r>
            </a:p>
          </p:txBody>
        </p:sp>
      </p:grpSp>
      <p:grpSp>
        <p:nvGrpSpPr>
          <p:cNvPr name="Group 56" id="56"/>
          <p:cNvGrpSpPr/>
          <p:nvPr/>
        </p:nvGrpSpPr>
        <p:grpSpPr>
          <a:xfrm rot="0">
            <a:off x="12115419" y="6135243"/>
            <a:ext cx="5162550" cy="842010"/>
            <a:chOff x="0" y="0"/>
            <a:chExt cx="6883400" cy="1122680"/>
          </a:xfrm>
        </p:grpSpPr>
        <p:sp>
          <p:nvSpPr>
            <p:cNvPr name="Freeform 57" id="57"/>
            <p:cNvSpPr/>
            <p:nvPr/>
          </p:nvSpPr>
          <p:spPr>
            <a:xfrm flipH="false" flipV="false" rot="0">
              <a:off x="0" y="0"/>
              <a:ext cx="6883400" cy="1122680"/>
            </a:xfrm>
            <a:custGeom>
              <a:avLst/>
              <a:gdLst/>
              <a:ahLst/>
              <a:cxnLst/>
              <a:rect r="r" b="b" t="t" l="l"/>
              <a:pathLst>
                <a:path h="1122680" w="6883400">
                  <a:moveTo>
                    <a:pt x="0" y="168402"/>
                  </a:moveTo>
                  <a:cubicBezTo>
                    <a:pt x="0" y="75438"/>
                    <a:pt x="75438" y="0"/>
                    <a:pt x="168402" y="0"/>
                  </a:cubicBezTo>
                  <a:lnTo>
                    <a:pt x="6714998" y="0"/>
                  </a:lnTo>
                  <a:cubicBezTo>
                    <a:pt x="6807962" y="0"/>
                    <a:pt x="6883400" y="75438"/>
                    <a:pt x="6883400" y="168402"/>
                  </a:cubicBezTo>
                  <a:lnTo>
                    <a:pt x="6883400" y="954278"/>
                  </a:lnTo>
                  <a:cubicBezTo>
                    <a:pt x="6883400" y="1047242"/>
                    <a:pt x="6807962" y="1122680"/>
                    <a:pt x="6714998" y="1122680"/>
                  </a:cubicBezTo>
                  <a:lnTo>
                    <a:pt x="168402" y="1122680"/>
                  </a:lnTo>
                  <a:cubicBezTo>
                    <a:pt x="75438" y="1122680"/>
                    <a:pt x="0" y="1047242"/>
                    <a:pt x="0" y="954278"/>
                  </a:cubicBezTo>
                  <a:close/>
                </a:path>
              </a:pathLst>
            </a:custGeom>
            <a:solidFill>
              <a:srgbClr val="F4F7FC"/>
            </a:solidFill>
            <a:ln w="19050" cap="sq">
              <a:solidFill>
                <a:srgbClr val="D7DCEC"/>
              </a:solidFill>
              <a:prstDash val="solid"/>
              <a:miter/>
            </a:ln>
          </p:spPr>
        </p:sp>
      </p:grpSp>
      <p:grpSp>
        <p:nvGrpSpPr>
          <p:cNvPr name="Group 58" id="58"/>
          <p:cNvGrpSpPr/>
          <p:nvPr/>
        </p:nvGrpSpPr>
        <p:grpSpPr>
          <a:xfrm rot="0">
            <a:off x="12124944" y="6213348"/>
            <a:ext cx="5143500" cy="521208"/>
            <a:chOff x="0" y="0"/>
            <a:chExt cx="6858000" cy="694944"/>
          </a:xfrm>
        </p:grpSpPr>
        <p:sp>
          <p:nvSpPr>
            <p:cNvPr name="Freeform 59" id="59"/>
            <p:cNvSpPr/>
            <p:nvPr/>
          </p:nvSpPr>
          <p:spPr>
            <a:xfrm flipH="false" flipV="false" rot="0">
              <a:off x="0" y="0"/>
              <a:ext cx="6858000" cy="694944"/>
            </a:xfrm>
            <a:custGeom>
              <a:avLst/>
              <a:gdLst/>
              <a:ahLst/>
              <a:cxnLst/>
              <a:rect r="r" b="b" t="t" l="l"/>
              <a:pathLst>
                <a:path h="694944" w="6858000">
                  <a:moveTo>
                    <a:pt x="0" y="0"/>
                  </a:moveTo>
                  <a:lnTo>
                    <a:pt x="6858000" y="0"/>
                  </a:lnTo>
                  <a:lnTo>
                    <a:pt x="6858000" y="694944"/>
                  </a:lnTo>
                  <a:lnTo>
                    <a:pt x="0" y="694944"/>
                  </a:lnTo>
                  <a:close/>
                </a:path>
              </a:pathLst>
            </a:custGeom>
            <a:blipFill>
              <a:blip r:embed="rId2">
                <a:alphaModFix amt="0"/>
              </a:blip>
              <a:stretch>
                <a:fillRect l="0" t="-142286" r="0" b="-142286"/>
              </a:stretch>
            </a:blipFill>
          </p:spPr>
        </p:sp>
        <p:sp>
          <p:nvSpPr>
            <p:cNvPr name="TextBox 60" id="60"/>
            <p:cNvSpPr txBox="true"/>
            <p:nvPr/>
          </p:nvSpPr>
          <p:spPr>
            <a:xfrm>
              <a:off x="0" y="-38100"/>
              <a:ext cx="6858000" cy="733044"/>
            </a:xfrm>
            <a:prstGeom prst="rect">
              <a:avLst/>
            </a:prstGeom>
          </p:spPr>
          <p:txBody>
            <a:bodyPr anchor="ctr" rtlCol="false" tIns="0" lIns="0" bIns="0" rIns="0"/>
            <a:lstStyle/>
            <a:p>
              <a:pPr algn="ctr">
                <a:lnSpc>
                  <a:spcPts val="2430"/>
                </a:lnSpc>
              </a:pPr>
              <a:r>
                <a:rPr lang="en-US" sz="2025">
                  <a:solidFill>
                    <a:srgbClr val="6B7280"/>
                  </a:solidFill>
                  <a:latin typeface="Calibri (MS)"/>
                  <a:ea typeface="Calibri (MS)"/>
                  <a:cs typeface="Calibri (MS)"/>
                  <a:sym typeface="Calibri (MS)"/>
                </a:rPr>
                <a:t>Recover</a:t>
              </a:r>
            </a:p>
          </p:txBody>
        </p:sp>
      </p:grpSp>
      <p:grpSp>
        <p:nvGrpSpPr>
          <p:cNvPr name="Group 61" id="61"/>
          <p:cNvGrpSpPr/>
          <p:nvPr/>
        </p:nvGrpSpPr>
        <p:grpSpPr>
          <a:xfrm rot="0">
            <a:off x="12124944" y="6583680"/>
            <a:ext cx="5143500" cy="329184"/>
            <a:chOff x="0" y="0"/>
            <a:chExt cx="6858000" cy="438912"/>
          </a:xfrm>
        </p:grpSpPr>
        <p:sp>
          <p:nvSpPr>
            <p:cNvPr name="Freeform 62" id="62"/>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63" id="63"/>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9AA3B8"/>
                  </a:solidFill>
                  <a:latin typeface="Arimo"/>
                  <a:ea typeface="Arimo"/>
                  <a:cs typeface="Arimo"/>
                  <a:sym typeface="Arimo"/>
                </a:rPr>
                <a:t>RC</a:t>
              </a:r>
            </a:p>
          </p:txBody>
        </p:sp>
      </p:grpSp>
      <p:grpSp>
        <p:nvGrpSpPr>
          <p:cNvPr name="Group 64" id="64"/>
          <p:cNvGrpSpPr/>
          <p:nvPr/>
        </p:nvGrpSpPr>
        <p:grpSpPr>
          <a:xfrm rot="0">
            <a:off x="950595" y="7328535"/>
            <a:ext cx="16341090" cy="1596390"/>
            <a:chOff x="0" y="0"/>
            <a:chExt cx="21788120" cy="2128520"/>
          </a:xfrm>
        </p:grpSpPr>
        <p:sp>
          <p:nvSpPr>
            <p:cNvPr name="Freeform 65" id="65"/>
            <p:cNvSpPr/>
            <p:nvPr/>
          </p:nvSpPr>
          <p:spPr>
            <a:xfrm flipH="false" flipV="false" rot="0">
              <a:off x="0" y="0"/>
              <a:ext cx="21788120" cy="2128520"/>
            </a:xfrm>
            <a:custGeom>
              <a:avLst/>
              <a:gdLst/>
              <a:ahLst/>
              <a:cxnLst/>
              <a:rect r="r" b="b" t="t" l="l"/>
              <a:pathLst>
                <a:path h="2128520" w="21788120">
                  <a:moveTo>
                    <a:pt x="0" y="185039"/>
                  </a:moveTo>
                  <a:cubicBezTo>
                    <a:pt x="0" y="82931"/>
                    <a:pt x="82931" y="0"/>
                    <a:pt x="185039" y="0"/>
                  </a:cubicBezTo>
                  <a:lnTo>
                    <a:pt x="21603081" y="0"/>
                  </a:lnTo>
                  <a:cubicBezTo>
                    <a:pt x="21705317" y="0"/>
                    <a:pt x="21788120" y="82931"/>
                    <a:pt x="21788120" y="185039"/>
                  </a:cubicBezTo>
                  <a:lnTo>
                    <a:pt x="21788120" y="1943481"/>
                  </a:lnTo>
                  <a:cubicBezTo>
                    <a:pt x="21788120" y="2045716"/>
                    <a:pt x="21705190" y="2128520"/>
                    <a:pt x="21603081" y="2128520"/>
                  </a:cubicBezTo>
                  <a:lnTo>
                    <a:pt x="185039" y="2128520"/>
                  </a:lnTo>
                  <a:cubicBezTo>
                    <a:pt x="82931" y="2128520"/>
                    <a:pt x="0" y="2045589"/>
                    <a:pt x="0" y="1943481"/>
                  </a:cubicBezTo>
                  <a:close/>
                </a:path>
              </a:pathLst>
            </a:custGeom>
            <a:solidFill>
              <a:srgbClr val="FBF9F4"/>
            </a:solidFill>
            <a:ln w="19050" cap="sq">
              <a:solidFill>
                <a:srgbClr val="EFE6D2"/>
              </a:solidFill>
              <a:prstDash val="solid"/>
              <a:miter/>
            </a:ln>
          </p:spPr>
        </p:sp>
      </p:grpSp>
      <p:sp>
        <p:nvSpPr>
          <p:cNvPr name="TextBox 66" id="66"/>
          <p:cNvSpPr txBox="true"/>
          <p:nvPr/>
        </p:nvSpPr>
        <p:spPr>
          <a:xfrm rot="0">
            <a:off x="1463040" y="7494270"/>
            <a:ext cx="15316200" cy="1238250"/>
          </a:xfrm>
          <a:prstGeom prst="rect">
            <a:avLst/>
          </a:prstGeom>
        </p:spPr>
        <p:txBody>
          <a:bodyPr anchor="t" rtlCol="false" tIns="0" lIns="0" bIns="0" rIns="0">
            <a:spAutoFit/>
          </a:bodyPr>
          <a:lstStyle/>
          <a:p>
            <a:pPr algn="l">
              <a:lnSpc>
                <a:spcPts val="2880"/>
              </a:lnSpc>
            </a:pPr>
            <a:r>
              <a:rPr lang="en-US" sz="1875">
                <a:solidFill>
                  <a:srgbClr val="23262F"/>
                </a:solidFill>
                <a:latin typeface="Calibri (MS)"/>
                <a:ea typeface="Calibri (MS)"/>
                <a:cs typeface="Calibri (MS)"/>
                <a:sym typeface="Calibri (MS)"/>
              </a:rPr>
              <a:t>This is action taken on an already-detected incident — containing it before it spreads. That's Respond.</a:t>
            </a:r>
          </a:p>
        </p:txBody>
      </p:sp>
      <p:grpSp>
        <p:nvGrpSpPr>
          <p:cNvPr name="Group 67" id="67"/>
          <p:cNvGrpSpPr/>
          <p:nvPr/>
        </p:nvGrpSpPr>
        <p:grpSpPr>
          <a:xfrm rot="0">
            <a:off x="685800" y="9710928"/>
            <a:ext cx="10972800" cy="411480"/>
            <a:chOff x="0" y="0"/>
            <a:chExt cx="14630400" cy="548640"/>
          </a:xfrm>
        </p:grpSpPr>
        <p:sp>
          <p:nvSpPr>
            <p:cNvPr name="Freeform 68" id="68"/>
            <p:cNvSpPr/>
            <p:nvPr/>
          </p:nvSpPr>
          <p:spPr>
            <a:xfrm flipH="false" flipV="false" rot="0">
              <a:off x="0" y="0"/>
              <a:ext cx="14630400" cy="548640"/>
            </a:xfrm>
            <a:custGeom>
              <a:avLst/>
              <a:gdLst/>
              <a:ahLst/>
              <a:cxnLst/>
              <a:rect r="r" b="b" t="t" l="l"/>
              <a:pathLst>
                <a:path h="548640" w="14630400">
                  <a:moveTo>
                    <a:pt x="0" y="0"/>
                  </a:moveTo>
                  <a:lnTo>
                    <a:pt x="14630400" y="0"/>
                  </a:lnTo>
                  <a:lnTo>
                    <a:pt x="14630400" y="548640"/>
                  </a:lnTo>
                  <a:lnTo>
                    <a:pt x="0" y="548640"/>
                  </a:lnTo>
                  <a:close/>
                </a:path>
              </a:pathLst>
            </a:custGeom>
            <a:blipFill>
              <a:blip r:embed="rId2">
                <a:alphaModFix amt="0"/>
              </a:blip>
              <a:stretch>
                <a:fillRect l="0" t="-469601" r="0" b="-469601"/>
              </a:stretch>
            </a:blipFill>
          </p:spPr>
        </p:sp>
        <p:sp>
          <p:nvSpPr>
            <p:cNvPr name="TextBox 69" id="69"/>
            <p:cNvSpPr txBox="true"/>
            <p:nvPr/>
          </p:nvSpPr>
          <p:spPr>
            <a:xfrm>
              <a:off x="0" y="-38100"/>
              <a:ext cx="14630400" cy="586740"/>
            </a:xfrm>
            <a:prstGeom prst="rect">
              <a:avLst/>
            </a:prstGeom>
          </p:spPr>
          <p:txBody>
            <a:bodyPr anchor="ctr" rtlCol="false" tIns="0" lIns="0" bIns="0" rIns="0"/>
            <a:lstStyle/>
            <a:p>
              <a:pPr algn="l">
                <a:lnSpc>
                  <a:spcPts val="1800"/>
                </a:lnSpc>
              </a:pPr>
              <a:r>
                <a:rPr lang="en-US" sz="1500">
                  <a:solidFill>
                    <a:srgbClr val="6B7280"/>
                  </a:solidFill>
                  <a:latin typeface="Calibri (MS)"/>
                  <a:ea typeface="Calibri (MS)"/>
                  <a:cs typeface="Calibri (MS)"/>
                  <a:sym typeface="Calibri (MS)"/>
                </a:rPr>
                <a:t>Davao del Norte Provincial Government — Cybersecurity Seminar</a:t>
              </a:r>
            </a:p>
          </p:txBody>
        </p:sp>
      </p:grpSp>
      <p:grpSp>
        <p:nvGrpSpPr>
          <p:cNvPr name="Group 70" id="70"/>
          <p:cNvGrpSpPr/>
          <p:nvPr/>
        </p:nvGrpSpPr>
        <p:grpSpPr>
          <a:xfrm rot="0">
            <a:off x="16911828" y="9710928"/>
            <a:ext cx="685800" cy="411480"/>
            <a:chOff x="0" y="0"/>
            <a:chExt cx="914400" cy="548640"/>
          </a:xfrm>
        </p:grpSpPr>
        <p:sp>
          <p:nvSpPr>
            <p:cNvPr name="Freeform 71" id="71"/>
            <p:cNvSpPr/>
            <p:nvPr/>
          </p:nvSpPr>
          <p:spPr>
            <a:xfrm flipH="false" flipV="false" rot="0">
              <a:off x="0" y="0"/>
              <a:ext cx="914400" cy="548640"/>
            </a:xfrm>
            <a:custGeom>
              <a:avLst/>
              <a:gdLst/>
              <a:ahLst/>
              <a:cxnLst/>
              <a:rect r="r" b="b" t="t" l="l"/>
              <a:pathLst>
                <a:path h="548640" w="914400">
                  <a:moveTo>
                    <a:pt x="0" y="0"/>
                  </a:moveTo>
                  <a:lnTo>
                    <a:pt x="914400" y="0"/>
                  </a:lnTo>
                  <a:lnTo>
                    <a:pt x="914400" y="548640"/>
                  </a:lnTo>
                  <a:lnTo>
                    <a:pt x="0" y="548640"/>
                  </a:lnTo>
                  <a:close/>
                </a:path>
              </a:pathLst>
            </a:custGeom>
            <a:blipFill>
              <a:blip r:embed="rId2">
                <a:alphaModFix amt="0"/>
              </a:blip>
              <a:stretch>
                <a:fillRect l="-26982" t="0" r="-26982" b="0"/>
              </a:stretch>
            </a:blipFill>
          </p:spPr>
        </p:sp>
        <p:sp>
          <p:nvSpPr>
            <p:cNvPr name="TextBox 72" id="72"/>
            <p:cNvSpPr txBox="true"/>
            <p:nvPr/>
          </p:nvSpPr>
          <p:spPr>
            <a:xfrm>
              <a:off x="0" y="-38100"/>
              <a:ext cx="914400" cy="586740"/>
            </a:xfrm>
            <a:prstGeom prst="rect">
              <a:avLst/>
            </a:prstGeom>
          </p:spPr>
          <p:txBody>
            <a:bodyPr anchor="ctr" rtlCol="false" tIns="0" lIns="0" bIns="0" rIns="0"/>
            <a:lstStyle/>
            <a:p>
              <a:pPr algn="r">
                <a:lnSpc>
                  <a:spcPts val="1800"/>
                </a:lnSpc>
              </a:pPr>
              <a:r>
                <a:rPr lang="en-US" sz="1500">
                  <a:solidFill>
                    <a:srgbClr val="6B7280"/>
                  </a:solidFill>
                  <a:latin typeface="Calibri (MS)"/>
                  <a:ea typeface="Calibri (MS)"/>
                  <a:cs typeface="Calibri (MS)"/>
                  <a:sym typeface="Calibri (MS)"/>
                </a:rPr>
                <a:t>20</a:t>
              </a:r>
            </a:p>
          </p:txBody>
        </p:sp>
      </p:grpSp>
    </p:spTree>
  </p:cSld>
  <p:clrMapOvr>
    <a:masterClrMapping/>
  </p:clrMapOvr>
</p:sld>
</file>

<file path=ppt/slides/slide8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60120" y="685800"/>
            <a:ext cx="13716000" cy="411480"/>
            <a:chOff x="0" y="0"/>
            <a:chExt cx="18288000" cy="548640"/>
          </a:xfrm>
        </p:grpSpPr>
        <p:sp>
          <p:nvSpPr>
            <p:cNvPr name="Freeform 3" id="3"/>
            <p:cNvSpPr/>
            <p:nvPr/>
          </p:nvSpPr>
          <p:spPr>
            <a:xfrm flipH="false" flipV="false" rot="0">
              <a:off x="0" y="0"/>
              <a:ext cx="18288000" cy="548640"/>
            </a:xfrm>
            <a:custGeom>
              <a:avLst/>
              <a:gdLst/>
              <a:ahLst/>
              <a:cxnLst/>
              <a:rect r="r" b="b" t="t" l="l"/>
              <a:pathLst>
                <a:path h="548640" w="18288000">
                  <a:moveTo>
                    <a:pt x="0" y="0"/>
                  </a:moveTo>
                  <a:lnTo>
                    <a:pt x="18288000" y="0"/>
                  </a:lnTo>
                  <a:lnTo>
                    <a:pt x="18288000" y="548640"/>
                  </a:lnTo>
                  <a:lnTo>
                    <a:pt x="0" y="548640"/>
                  </a:lnTo>
                  <a:close/>
                </a:path>
              </a:pathLst>
            </a:custGeom>
            <a:blipFill>
              <a:blip r:embed="rId2">
                <a:alphaModFix amt="0"/>
              </a:blip>
              <a:stretch>
                <a:fillRect l="0" t="-599501" r="0" b="-599501"/>
              </a:stretch>
            </a:blipFill>
          </p:spPr>
        </p:sp>
        <p:sp>
          <p:nvSpPr>
            <p:cNvPr name="TextBox 4" id="4"/>
            <p:cNvSpPr txBox="true"/>
            <p:nvPr/>
          </p:nvSpPr>
          <p:spPr>
            <a:xfrm>
              <a:off x="0" y="-38100"/>
              <a:ext cx="18288000" cy="586740"/>
            </a:xfrm>
            <a:prstGeom prst="rect">
              <a:avLst/>
            </a:prstGeom>
          </p:spPr>
          <p:txBody>
            <a:bodyPr anchor="ctr" rtlCol="false" tIns="0" lIns="0" bIns="0" rIns="0"/>
            <a:lstStyle/>
            <a:p>
              <a:pPr algn="l">
                <a:lnSpc>
                  <a:spcPts val="2160"/>
                </a:lnSpc>
              </a:pPr>
              <a:r>
                <a:rPr lang="en-US" b="true" sz="1800" spc="225">
                  <a:solidFill>
                    <a:srgbClr val="00B4D8"/>
                  </a:solidFill>
                  <a:latin typeface="Calibri (MS) Bold"/>
                  <a:ea typeface="Calibri (MS) Bold"/>
                  <a:cs typeface="Calibri (MS) Bold"/>
                  <a:sym typeface="Calibri (MS) Bold"/>
                </a:rPr>
                <a:t>NIST CSF SORT · SCENARIO</a:t>
              </a:r>
            </a:p>
          </p:txBody>
        </p:sp>
      </p:grpSp>
      <p:grpSp>
        <p:nvGrpSpPr>
          <p:cNvPr name="Group 5" id="5"/>
          <p:cNvGrpSpPr/>
          <p:nvPr/>
        </p:nvGrpSpPr>
        <p:grpSpPr>
          <a:xfrm rot="0">
            <a:off x="960120" y="1069848"/>
            <a:ext cx="10972800" cy="822960"/>
            <a:chOff x="0" y="0"/>
            <a:chExt cx="14630400" cy="1097280"/>
          </a:xfrm>
        </p:grpSpPr>
        <p:sp>
          <p:nvSpPr>
            <p:cNvPr name="Freeform 6" id="6"/>
            <p:cNvSpPr/>
            <p:nvPr/>
          </p:nvSpPr>
          <p:spPr>
            <a:xfrm flipH="false" flipV="false" rot="0">
              <a:off x="0" y="0"/>
              <a:ext cx="14630400" cy="1097280"/>
            </a:xfrm>
            <a:custGeom>
              <a:avLst/>
              <a:gdLst/>
              <a:ahLst/>
              <a:cxnLst/>
              <a:rect r="r" b="b" t="t" l="l"/>
              <a:pathLst>
                <a:path h="1097280" w="14630400">
                  <a:moveTo>
                    <a:pt x="0" y="0"/>
                  </a:moveTo>
                  <a:lnTo>
                    <a:pt x="14630400" y="0"/>
                  </a:lnTo>
                  <a:lnTo>
                    <a:pt x="14630400" y="1097280"/>
                  </a:lnTo>
                  <a:lnTo>
                    <a:pt x="0" y="1097280"/>
                  </a:lnTo>
                  <a:close/>
                </a:path>
              </a:pathLst>
            </a:custGeom>
            <a:blipFill>
              <a:blip r:embed="rId2">
                <a:alphaModFix amt="0"/>
              </a:blip>
              <a:stretch>
                <a:fillRect l="0" t="-209800" r="0" b="-209800"/>
              </a:stretch>
            </a:blipFill>
          </p:spPr>
        </p:sp>
        <p:sp>
          <p:nvSpPr>
            <p:cNvPr name="TextBox 7" id="7"/>
            <p:cNvSpPr txBox="true"/>
            <p:nvPr/>
          </p:nvSpPr>
          <p:spPr>
            <a:xfrm>
              <a:off x="0" y="0"/>
              <a:ext cx="14630400" cy="1097280"/>
            </a:xfrm>
            <a:prstGeom prst="rect">
              <a:avLst/>
            </a:prstGeom>
          </p:spPr>
          <p:txBody>
            <a:bodyPr anchor="ctr" rtlCol="false" tIns="0" lIns="0" bIns="0" rIns="0"/>
            <a:lstStyle/>
            <a:p>
              <a:pPr algn="l">
                <a:lnSpc>
                  <a:spcPts val="4680"/>
                </a:lnSpc>
              </a:pPr>
              <a:r>
                <a:rPr lang="en-US" sz="3900" b="true">
                  <a:solidFill>
                    <a:srgbClr val="1E2761"/>
                  </a:solidFill>
                  <a:latin typeface="Cambria Bold"/>
                  <a:ea typeface="Cambria Bold"/>
                  <a:cs typeface="Cambria Bold"/>
                  <a:sym typeface="Cambria Bold"/>
                </a:rPr>
                <a:t>Scenario 6</a:t>
              </a:r>
            </a:p>
          </p:txBody>
        </p:sp>
      </p:grpSp>
      <p:grpSp>
        <p:nvGrpSpPr>
          <p:cNvPr name="Group 8" id="8"/>
          <p:cNvGrpSpPr/>
          <p:nvPr/>
        </p:nvGrpSpPr>
        <p:grpSpPr>
          <a:xfrm rot="0">
            <a:off x="960120" y="1810512"/>
            <a:ext cx="8229600" cy="411480"/>
            <a:chOff x="0" y="0"/>
            <a:chExt cx="10972800" cy="548640"/>
          </a:xfrm>
        </p:grpSpPr>
        <p:sp>
          <p:nvSpPr>
            <p:cNvPr name="Freeform 9" id="9"/>
            <p:cNvSpPr/>
            <p:nvPr/>
          </p:nvSpPr>
          <p:spPr>
            <a:xfrm flipH="false" flipV="false" rot="0">
              <a:off x="0" y="0"/>
              <a:ext cx="10972800" cy="548640"/>
            </a:xfrm>
            <a:custGeom>
              <a:avLst/>
              <a:gdLst/>
              <a:ahLst/>
              <a:cxnLst/>
              <a:rect r="r" b="b" t="t" l="l"/>
              <a:pathLst>
                <a:path h="548640" w="10972800">
                  <a:moveTo>
                    <a:pt x="0" y="0"/>
                  </a:moveTo>
                  <a:lnTo>
                    <a:pt x="10972800" y="0"/>
                  </a:lnTo>
                  <a:lnTo>
                    <a:pt x="10972800" y="548640"/>
                  </a:lnTo>
                  <a:lnTo>
                    <a:pt x="0" y="548640"/>
                  </a:lnTo>
                  <a:close/>
                </a:path>
              </a:pathLst>
            </a:custGeom>
            <a:blipFill>
              <a:blip r:embed="rId2">
                <a:alphaModFix amt="0"/>
              </a:blip>
              <a:stretch>
                <a:fillRect l="0" t="-339700" r="0" b="-339700"/>
              </a:stretch>
            </a:blipFill>
          </p:spPr>
        </p:sp>
        <p:sp>
          <p:nvSpPr>
            <p:cNvPr name="TextBox 10" id="10"/>
            <p:cNvSpPr txBox="true"/>
            <p:nvPr/>
          </p:nvSpPr>
          <p:spPr>
            <a:xfrm>
              <a:off x="0" y="-28575"/>
              <a:ext cx="10972800" cy="577215"/>
            </a:xfrm>
            <a:prstGeom prst="rect">
              <a:avLst/>
            </a:prstGeom>
          </p:spPr>
          <p:txBody>
            <a:bodyPr anchor="ctr" rtlCol="false" tIns="0" lIns="0" bIns="0" rIns="0"/>
            <a:lstStyle/>
            <a:p>
              <a:pPr algn="l">
                <a:lnSpc>
                  <a:spcPts val="1980"/>
                </a:lnSpc>
              </a:pPr>
              <a:r>
                <a:rPr lang="en-US" sz="1650">
                  <a:solidFill>
                    <a:srgbClr val="6B7280"/>
                  </a:solidFill>
                  <a:latin typeface="Calibri (MS)"/>
                  <a:ea typeface="Calibri (MS)"/>
                  <a:cs typeface="Calibri (MS)"/>
                  <a:sym typeface="Calibri (MS)"/>
                </a:rPr>
                <a:t>6 of 20</a:t>
              </a:r>
            </a:p>
          </p:txBody>
        </p:sp>
      </p:grpSp>
      <p:grpSp>
        <p:nvGrpSpPr>
          <p:cNvPr name="Group 11" id="11"/>
          <p:cNvGrpSpPr/>
          <p:nvPr/>
        </p:nvGrpSpPr>
        <p:grpSpPr>
          <a:xfrm rot="0">
            <a:off x="960120" y="2537460"/>
            <a:ext cx="16322040" cy="2811780"/>
            <a:chOff x="0" y="0"/>
            <a:chExt cx="21762720" cy="3749040"/>
          </a:xfrm>
        </p:grpSpPr>
        <p:sp>
          <p:nvSpPr>
            <p:cNvPr name="Freeform 12" id="12"/>
            <p:cNvSpPr/>
            <p:nvPr/>
          </p:nvSpPr>
          <p:spPr>
            <a:xfrm flipH="false" flipV="false" rot="0">
              <a:off x="0" y="0"/>
              <a:ext cx="21762720" cy="3749040"/>
            </a:xfrm>
            <a:custGeom>
              <a:avLst/>
              <a:gdLst/>
              <a:ahLst/>
              <a:cxnLst/>
              <a:rect r="r" b="b" t="t" l="l"/>
              <a:pathLst>
                <a:path h="3749040" w="21762720">
                  <a:moveTo>
                    <a:pt x="0" y="182880"/>
                  </a:moveTo>
                  <a:cubicBezTo>
                    <a:pt x="0" y="81915"/>
                    <a:pt x="81915" y="0"/>
                    <a:pt x="182880" y="0"/>
                  </a:cubicBezTo>
                  <a:lnTo>
                    <a:pt x="21579839" y="0"/>
                  </a:lnTo>
                  <a:cubicBezTo>
                    <a:pt x="21680804" y="0"/>
                    <a:pt x="21762720" y="81915"/>
                    <a:pt x="21762720" y="182880"/>
                  </a:cubicBezTo>
                  <a:lnTo>
                    <a:pt x="21762720" y="3566160"/>
                  </a:lnTo>
                  <a:cubicBezTo>
                    <a:pt x="21762720" y="3667125"/>
                    <a:pt x="21680804" y="3749040"/>
                    <a:pt x="21579839" y="3749040"/>
                  </a:cubicBezTo>
                  <a:lnTo>
                    <a:pt x="182880" y="3749040"/>
                  </a:lnTo>
                  <a:cubicBezTo>
                    <a:pt x="81915" y="3749040"/>
                    <a:pt x="0" y="3667125"/>
                    <a:pt x="0" y="3566160"/>
                  </a:cubicBezTo>
                  <a:close/>
                </a:path>
              </a:pathLst>
            </a:custGeom>
            <a:solidFill>
              <a:srgbClr val="F4F7FC"/>
            </a:solidFill>
          </p:spPr>
        </p:sp>
      </p:grpSp>
      <p:grpSp>
        <p:nvGrpSpPr>
          <p:cNvPr name="Group 13" id="13"/>
          <p:cNvGrpSpPr/>
          <p:nvPr/>
        </p:nvGrpSpPr>
        <p:grpSpPr>
          <a:xfrm rot="0">
            <a:off x="1440180" y="2811780"/>
            <a:ext cx="15361920" cy="2263140"/>
            <a:chOff x="0" y="0"/>
            <a:chExt cx="20482560" cy="3017520"/>
          </a:xfrm>
        </p:grpSpPr>
        <p:sp>
          <p:nvSpPr>
            <p:cNvPr name="Freeform 14" id="14"/>
            <p:cNvSpPr/>
            <p:nvPr/>
          </p:nvSpPr>
          <p:spPr>
            <a:xfrm flipH="false" flipV="false" rot="0">
              <a:off x="0" y="0"/>
              <a:ext cx="20482561" cy="3017520"/>
            </a:xfrm>
            <a:custGeom>
              <a:avLst/>
              <a:gdLst/>
              <a:ahLst/>
              <a:cxnLst/>
              <a:rect r="r" b="b" t="t" l="l"/>
              <a:pathLst>
                <a:path h="3017520" w="20482561">
                  <a:moveTo>
                    <a:pt x="0" y="0"/>
                  </a:moveTo>
                  <a:lnTo>
                    <a:pt x="20482561" y="0"/>
                  </a:lnTo>
                  <a:lnTo>
                    <a:pt x="20482561" y="3017520"/>
                  </a:lnTo>
                  <a:lnTo>
                    <a:pt x="0" y="3017520"/>
                  </a:lnTo>
                  <a:close/>
                </a:path>
              </a:pathLst>
            </a:custGeom>
            <a:blipFill>
              <a:blip r:embed="rId2">
                <a:alphaModFix amt="0"/>
              </a:blip>
              <a:stretch>
                <a:fillRect l="0" t="-82262" r="0" b="-82262"/>
              </a:stretch>
            </a:blipFill>
          </p:spPr>
        </p:sp>
        <p:sp>
          <p:nvSpPr>
            <p:cNvPr name="TextBox 15" id="15"/>
            <p:cNvSpPr txBox="true"/>
            <p:nvPr/>
          </p:nvSpPr>
          <p:spPr>
            <a:xfrm>
              <a:off x="0" y="-104775"/>
              <a:ext cx="20482560" cy="3122295"/>
            </a:xfrm>
            <a:prstGeom prst="rect">
              <a:avLst/>
            </a:prstGeom>
          </p:spPr>
          <p:txBody>
            <a:bodyPr anchor="ctr" rtlCol="false" tIns="0" lIns="0" bIns="0" rIns="0"/>
            <a:lstStyle/>
            <a:p>
              <a:pPr algn="l">
                <a:lnSpc>
                  <a:spcPts val="4147"/>
                </a:lnSpc>
              </a:pPr>
              <a:r>
                <a:rPr lang="en-US" sz="2700" i="true">
                  <a:solidFill>
                    <a:srgbClr val="23262F"/>
                  </a:solidFill>
                  <a:latin typeface="Cambria Italics"/>
                  <a:ea typeface="Cambria Italics"/>
                  <a:cs typeface="Cambria Italics"/>
                  <a:sym typeface="Cambria Italics"/>
                </a:rPr>
                <a:t>"A week after the ransomware attack, the province restores the permit database from backup and resumes normal operations."</a:t>
              </a:r>
            </a:p>
          </p:txBody>
        </p:sp>
      </p:grpSp>
      <p:sp>
        <p:nvSpPr>
          <p:cNvPr name="TextBox 16" id="16"/>
          <p:cNvSpPr txBox="true"/>
          <p:nvPr/>
        </p:nvSpPr>
        <p:spPr>
          <a:xfrm rot="0">
            <a:off x="1051560" y="5604510"/>
            <a:ext cx="16139160" cy="1276350"/>
          </a:xfrm>
          <a:prstGeom prst="rect">
            <a:avLst/>
          </a:prstGeom>
        </p:spPr>
        <p:txBody>
          <a:bodyPr anchor="t" rtlCol="false" tIns="0" lIns="0" bIns="0" rIns="0">
            <a:spAutoFit/>
          </a:bodyPr>
          <a:lstStyle/>
          <a:p>
            <a:pPr algn="ctr">
              <a:lnSpc>
                <a:spcPts val="3402"/>
              </a:lnSpc>
            </a:pPr>
            <a:r>
              <a:rPr lang="en-US" sz="2100" i="true">
                <a:solidFill>
                  <a:srgbClr val="6B7280"/>
                </a:solidFill>
                <a:latin typeface="Calibri (MS) Italics"/>
                <a:ea typeface="Calibri (MS) Italics"/>
                <a:cs typeface="Calibri (MS) Italics"/>
                <a:sym typeface="Calibri (MS) Italics"/>
              </a:rPr>
              <a:t>Which Function does this belong to — Govern, Identify, Protect, Detect, Respond, or Recover?</a:t>
            </a:r>
          </a:p>
          <a:p>
            <a:pPr algn="ctr">
              <a:lnSpc>
                <a:spcPts val="3402"/>
              </a:lnSpc>
            </a:pPr>
            <a:r>
              <a:rPr lang="en-US" sz="2100" i="true">
                <a:solidFill>
                  <a:srgbClr val="6B7280"/>
                </a:solidFill>
                <a:latin typeface="Calibri (MS) Italics"/>
                <a:ea typeface="Calibri (MS) Italics"/>
                <a:cs typeface="Calibri (MS) Italics"/>
                <a:sym typeface="Calibri (MS) Italics"/>
              </a:rPr>
              <a:t>Some belong to more than one. Discuss, then we'll reveal the answer.</a:t>
            </a:r>
          </a:p>
        </p:txBody>
      </p:sp>
      <p:grpSp>
        <p:nvGrpSpPr>
          <p:cNvPr name="Group 17" id="17"/>
          <p:cNvGrpSpPr/>
          <p:nvPr/>
        </p:nvGrpSpPr>
        <p:grpSpPr>
          <a:xfrm rot="0">
            <a:off x="950595" y="7122795"/>
            <a:ext cx="5162550" cy="910590"/>
            <a:chOff x="0" y="0"/>
            <a:chExt cx="6883400" cy="1214120"/>
          </a:xfrm>
        </p:grpSpPr>
        <p:sp>
          <p:nvSpPr>
            <p:cNvPr name="Freeform 18" id="18"/>
            <p:cNvSpPr/>
            <p:nvPr/>
          </p:nvSpPr>
          <p:spPr>
            <a:xfrm flipH="false" flipV="false" rot="0">
              <a:off x="0" y="0"/>
              <a:ext cx="6883400" cy="1214120"/>
            </a:xfrm>
            <a:custGeom>
              <a:avLst/>
              <a:gdLst/>
              <a:ahLst/>
              <a:cxnLst/>
              <a:rect r="r" b="b" t="t" l="l"/>
              <a:pathLst>
                <a:path h="1214120" w="6883400">
                  <a:moveTo>
                    <a:pt x="0" y="168148"/>
                  </a:moveTo>
                  <a:cubicBezTo>
                    <a:pt x="0" y="75311"/>
                    <a:pt x="75311" y="0"/>
                    <a:pt x="168148" y="0"/>
                  </a:cubicBezTo>
                  <a:lnTo>
                    <a:pt x="6715252" y="0"/>
                  </a:lnTo>
                  <a:cubicBezTo>
                    <a:pt x="6808089" y="0"/>
                    <a:pt x="6883400" y="75311"/>
                    <a:pt x="6883400" y="168148"/>
                  </a:cubicBezTo>
                  <a:lnTo>
                    <a:pt x="6883400" y="1045972"/>
                  </a:lnTo>
                  <a:cubicBezTo>
                    <a:pt x="6883400" y="1138809"/>
                    <a:pt x="6808089" y="1214120"/>
                    <a:pt x="6715252" y="1214120"/>
                  </a:cubicBezTo>
                  <a:lnTo>
                    <a:pt x="168148" y="1214120"/>
                  </a:lnTo>
                  <a:cubicBezTo>
                    <a:pt x="75311" y="1214120"/>
                    <a:pt x="0" y="1138809"/>
                    <a:pt x="0" y="1045972"/>
                  </a:cubicBezTo>
                  <a:close/>
                </a:path>
              </a:pathLst>
            </a:custGeom>
            <a:solidFill>
              <a:srgbClr val="F4F7FC"/>
            </a:solidFill>
            <a:ln w="19050" cap="sq">
              <a:solidFill>
                <a:srgbClr val="D7DCEC"/>
              </a:solidFill>
              <a:prstDash val="solid"/>
              <a:miter/>
            </a:ln>
          </p:spPr>
        </p:sp>
      </p:grpSp>
      <p:grpSp>
        <p:nvGrpSpPr>
          <p:cNvPr name="Group 19" id="19"/>
          <p:cNvGrpSpPr/>
          <p:nvPr/>
        </p:nvGrpSpPr>
        <p:grpSpPr>
          <a:xfrm rot="0">
            <a:off x="960120" y="7200900"/>
            <a:ext cx="5143500" cy="589788"/>
            <a:chOff x="0" y="0"/>
            <a:chExt cx="6858000" cy="786384"/>
          </a:xfrm>
        </p:grpSpPr>
        <p:sp>
          <p:nvSpPr>
            <p:cNvPr name="Freeform 20" id="20"/>
            <p:cNvSpPr/>
            <p:nvPr/>
          </p:nvSpPr>
          <p:spPr>
            <a:xfrm flipH="false" flipV="false" rot="0">
              <a:off x="0" y="0"/>
              <a:ext cx="6858000" cy="786384"/>
            </a:xfrm>
            <a:custGeom>
              <a:avLst/>
              <a:gdLst/>
              <a:ahLst/>
              <a:cxnLst/>
              <a:rect r="r" b="b" t="t" l="l"/>
              <a:pathLst>
                <a:path h="786384" w="6858000">
                  <a:moveTo>
                    <a:pt x="0" y="0"/>
                  </a:moveTo>
                  <a:lnTo>
                    <a:pt x="6858000" y="0"/>
                  </a:lnTo>
                  <a:lnTo>
                    <a:pt x="6858000" y="786384"/>
                  </a:lnTo>
                  <a:lnTo>
                    <a:pt x="0" y="786384"/>
                  </a:lnTo>
                  <a:close/>
                </a:path>
              </a:pathLst>
            </a:custGeom>
            <a:blipFill>
              <a:blip r:embed="rId2">
                <a:alphaModFix amt="0"/>
              </a:blip>
              <a:stretch>
                <a:fillRect l="0" t="-119927" r="0" b="-119927"/>
              </a:stretch>
            </a:blipFill>
          </p:spPr>
        </p:sp>
        <p:sp>
          <p:nvSpPr>
            <p:cNvPr name="TextBox 21" id="21"/>
            <p:cNvSpPr txBox="true"/>
            <p:nvPr/>
          </p:nvSpPr>
          <p:spPr>
            <a:xfrm>
              <a:off x="0" y="-38100"/>
              <a:ext cx="6858000" cy="824484"/>
            </a:xfrm>
            <a:prstGeom prst="rect">
              <a:avLst/>
            </a:prstGeom>
          </p:spPr>
          <p:txBody>
            <a:bodyPr anchor="ctr" rtlCol="false" tIns="0" lIns="0" bIns="0" rIns="0"/>
            <a:lstStyle/>
            <a:p>
              <a:pPr algn="ctr">
                <a:lnSpc>
                  <a:spcPts val="2430"/>
                </a:lnSpc>
              </a:pPr>
              <a:r>
                <a:rPr lang="en-US" sz="2025">
                  <a:solidFill>
                    <a:srgbClr val="6B7280"/>
                  </a:solidFill>
                  <a:latin typeface="Calibri (MS)"/>
                  <a:ea typeface="Calibri (MS)"/>
                  <a:cs typeface="Calibri (MS)"/>
                  <a:sym typeface="Calibri (MS)"/>
                </a:rPr>
                <a:t>Govern</a:t>
              </a:r>
            </a:p>
          </p:txBody>
        </p:sp>
      </p:grpSp>
      <p:grpSp>
        <p:nvGrpSpPr>
          <p:cNvPr name="Group 22" id="22"/>
          <p:cNvGrpSpPr/>
          <p:nvPr/>
        </p:nvGrpSpPr>
        <p:grpSpPr>
          <a:xfrm rot="0">
            <a:off x="960120" y="7639812"/>
            <a:ext cx="5143500" cy="329184"/>
            <a:chOff x="0" y="0"/>
            <a:chExt cx="6858000" cy="438912"/>
          </a:xfrm>
        </p:grpSpPr>
        <p:sp>
          <p:nvSpPr>
            <p:cNvPr name="Freeform 23" id="23"/>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24" id="24"/>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9AA3B8"/>
                  </a:solidFill>
                  <a:latin typeface="Arimo"/>
                  <a:ea typeface="Arimo"/>
                  <a:cs typeface="Arimo"/>
                  <a:sym typeface="Arimo"/>
                </a:rPr>
                <a:t>GV</a:t>
              </a:r>
            </a:p>
          </p:txBody>
        </p:sp>
      </p:grpSp>
      <p:grpSp>
        <p:nvGrpSpPr>
          <p:cNvPr name="Group 25" id="25"/>
          <p:cNvGrpSpPr/>
          <p:nvPr/>
        </p:nvGrpSpPr>
        <p:grpSpPr>
          <a:xfrm rot="0">
            <a:off x="6533007" y="7122795"/>
            <a:ext cx="5162550" cy="910590"/>
            <a:chOff x="0" y="0"/>
            <a:chExt cx="6883400" cy="1214120"/>
          </a:xfrm>
        </p:grpSpPr>
        <p:sp>
          <p:nvSpPr>
            <p:cNvPr name="Freeform 26" id="26"/>
            <p:cNvSpPr/>
            <p:nvPr/>
          </p:nvSpPr>
          <p:spPr>
            <a:xfrm flipH="false" flipV="false" rot="0">
              <a:off x="0" y="0"/>
              <a:ext cx="6883400" cy="1214120"/>
            </a:xfrm>
            <a:custGeom>
              <a:avLst/>
              <a:gdLst/>
              <a:ahLst/>
              <a:cxnLst/>
              <a:rect r="r" b="b" t="t" l="l"/>
              <a:pathLst>
                <a:path h="1214120" w="6883400">
                  <a:moveTo>
                    <a:pt x="0" y="168148"/>
                  </a:moveTo>
                  <a:cubicBezTo>
                    <a:pt x="0" y="75311"/>
                    <a:pt x="75311" y="0"/>
                    <a:pt x="168148" y="0"/>
                  </a:cubicBezTo>
                  <a:lnTo>
                    <a:pt x="6715252" y="0"/>
                  </a:lnTo>
                  <a:cubicBezTo>
                    <a:pt x="6808089" y="0"/>
                    <a:pt x="6883400" y="75311"/>
                    <a:pt x="6883400" y="168148"/>
                  </a:cubicBezTo>
                  <a:lnTo>
                    <a:pt x="6883400" y="1045972"/>
                  </a:lnTo>
                  <a:cubicBezTo>
                    <a:pt x="6883400" y="1138809"/>
                    <a:pt x="6808089" y="1214120"/>
                    <a:pt x="6715252" y="1214120"/>
                  </a:cubicBezTo>
                  <a:lnTo>
                    <a:pt x="168148" y="1214120"/>
                  </a:lnTo>
                  <a:cubicBezTo>
                    <a:pt x="75311" y="1214120"/>
                    <a:pt x="0" y="1138809"/>
                    <a:pt x="0" y="1045972"/>
                  </a:cubicBezTo>
                  <a:close/>
                </a:path>
              </a:pathLst>
            </a:custGeom>
            <a:solidFill>
              <a:srgbClr val="F4F7FC"/>
            </a:solidFill>
            <a:ln w="19050" cap="sq">
              <a:solidFill>
                <a:srgbClr val="D7DCEC"/>
              </a:solidFill>
              <a:prstDash val="solid"/>
              <a:miter/>
            </a:ln>
          </p:spPr>
        </p:sp>
      </p:grpSp>
      <p:grpSp>
        <p:nvGrpSpPr>
          <p:cNvPr name="Group 27" id="27"/>
          <p:cNvGrpSpPr/>
          <p:nvPr/>
        </p:nvGrpSpPr>
        <p:grpSpPr>
          <a:xfrm rot="0">
            <a:off x="6542532" y="7200900"/>
            <a:ext cx="5143500" cy="589788"/>
            <a:chOff x="0" y="0"/>
            <a:chExt cx="6858000" cy="786384"/>
          </a:xfrm>
        </p:grpSpPr>
        <p:sp>
          <p:nvSpPr>
            <p:cNvPr name="Freeform 28" id="28"/>
            <p:cNvSpPr/>
            <p:nvPr/>
          </p:nvSpPr>
          <p:spPr>
            <a:xfrm flipH="false" flipV="false" rot="0">
              <a:off x="0" y="0"/>
              <a:ext cx="6858000" cy="786384"/>
            </a:xfrm>
            <a:custGeom>
              <a:avLst/>
              <a:gdLst/>
              <a:ahLst/>
              <a:cxnLst/>
              <a:rect r="r" b="b" t="t" l="l"/>
              <a:pathLst>
                <a:path h="786384" w="6858000">
                  <a:moveTo>
                    <a:pt x="0" y="0"/>
                  </a:moveTo>
                  <a:lnTo>
                    <a:pt x="6858000" y="0"/>
                  </a:lnTo>
                  <a:lnTo>
                    <a:pt x="6858000" y="786384"/>
                  </a:lnTo>
                  <a:lnTo>
                    <a:pt x="0" y="786384"/>
                  </a:lnTo>
                  <a:close/>
                </a:path>
              </a:pathLst>
            </a:custGeom>
            <a:blipFill>
              <a:blip r:embed="rId2">
                <a:alphaModFix amt="0"/>
              </a:blip>
              <a:stretch>
                <a:fillRect l="0" t="-119927" r="0" b="-119927"/>
              </a:stretch>
            </a:blipFill>
          </p:spPr>
        </p:sp>
        <p:sp>
          <p:nvSpPr>
            <p:cNvPr name="TextBox 29" id="29"/>
            <p:cNvSpPr txBox="true"/>
            <p:nvPr/>
          </p:nvSpPr>
          <p:spPr>
            <a:xfrm>
              <a:off x="0" y="-38100"/>
              <a:ext cx="6858000" cy="824484"/>
            </a:xfrm>
            <a:prstGeom prst="rect">
              <a:avLst/>
            </a:prstGeom>
          </p:spPr>
          <p:txBody>
            <a:bodyPr anchor="ctr" rtlCol="false" tIns="0" lIns="0" bIns="0" rIns="0"/>
            <a:lstStyle/>
            <a:p>
              <a:pPr algn="ctr">
                <a:lnSpc>
                  <a:spcPts val="2430"/>
                </a:lnSpc>
              </a:pPr>
              <a:r>
                <a:rPr lang="en-US" sz="2025">
                  <a:solidFill>
                    <a:srgbClr val="6B7280"/>
                  </a:solidFill>
                  <a:latin typeface="Calibri (MS)"/>
                  <a:ea typeface="Calibri (MS)"/>
                  <a:cs typeface="Calibri (MS)"/>
                  <a:sym typeface="Calibri (MS)"/>
                </a:rPr>
                <a:t>Identify</a:t>
              </a:r>
            </a:p>
          </p:txBody>
        </p:sp>
      </p:grpSp>
      <p:grpSp>
        <p:nvGrpSpPr>
          <p:cNvPr name="Group 30" id="30"/>
          <p:cNvGrpSpPr/>
          <p:nvPr/>
        </p:nvGrpSpPr>
        <p:grpSpPr>
          <a:xfrm rot="0">
            <a:off x="6542532" y="7639812"/>
            <a:ext cx="5143500" cy="329184"/>
            <a:chOff x="0" y="0"/>
            <a:chExt cx="6858000" cy="438912"/>
          </a:xfrm>
        </p:grpSpPr>
        <p:sp>
          <p:nvSpPr>
            <p:cNvPr name="Freeform 31" id="31"/>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32" id="32"/>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9AA3B8"/>
                  </a:solidFill>
                  <a:latin typeface="Arimo"/>
                  <a:ea typeface="Arimo"/>
                  <a:cs typeface="Arimo"/>
                  <a:sym typeface="Arimo"/>
                </a:rPr>
                <a:t>ID</a:t>
              </a:r>
            </a:p>
          </p:txBody>
        </p:sp>
      </p:grpSp>
      <p:grpSp>
        <p:nvGrpSpPr>
          <p:cNvPr name="Group 33" id="33"/>
          <p:cNvGrpSpPr/>
          <p:nvPr/>
        </p:nvGrpSpPr>
        <p:grpSpPr>
          <a:xfrm rot="0">
            <a:off x="12115419" y="7122795"/>
            <a:ext cx="5162550" cy="910590"/>
            <a:chOff x="0" y="0"/>
            <a:chExt cx="6883400" cy="1214120"/>
          </a:xfrm>
        </p:grpSpPr>
        <p:sp>
          <p:nvSpPr>
            <p:cNvPr name="Freeform 34" id="34"/>
            <p:cNvSpPr/>
            <p:nvPr/>
          </p:nvSpPr>
          <p:spPr>
            <a:xfrm flipH="false" flipV="false" rot="0">
              <a:off x="0" y="0"/>
              <a:ext cx="6883400" cy="1214120"/>
            </a:xfrm>
            <a:custGeom>
              <a:avLst/>
              <a:gdLst/>
              <a:ahLst/>
              <a:cxnLst/>
              <a:rect r="r" b="b" t="t" l="l"/>
              <a:pathLst>
                <a:path h="1214120" w="6883400">
                  <a:moveTo>
                    <a:pt x="0" y="168148"/>
                  </a:moveTo>
                  <a:cubicBezTo>
                    <a:pt x="0" y="75311"/>
                    <a:pt x="75311" y="0"/>
                    <a:pt x="168148" y="0"/>
                  </a:cubicBezTo>
                  <a:lnTo>
                    <a:pt x="6715252" y="0"/>
                  </a:lnTo>
                  <a:cubicBezTo>
                    <a:pt x="6808089" y="0"/>
                    <a:pt x="6883400" y="75311"/>
                    <a:pt x="6883400" y="168148"/>
                  </a:cubicBezTo>
                  <a:lnTo>
                    <a:pt x="6883400" y="1045972"/>
                  </a:lnTo>
                  <a:cubicBezTo>
                    <a:pt x="6883400" y="1138809"/>
                    <a:pt x="6808089" y="1214120"/>
                    <a:pt x="6715252" y="1214120"/>
                  </a:cubicBezTo>
                  <a:lnTo>
                    <a:pt x="168148" y="1214120"/>
                  </a:lnTo>
                  <a:cubicBezTo>
                    <a:pt x="75311" y="1214120"/>
                    <a:pt x="0" y="1138809"/>
                    <a:pt x="0" y="1045972"/>
                  </a:cubicBezTo>
                  <a:close/>
                </a:path>
              </a:pathLst>
            </a:custGeom>
            <a:solidFill>
              <a:srgbClr val="F4F7FC"/>
            </a:solidFill>
            <a:ln w="19050" cap="sq">
              <a:solidFill>
                <a:srgbClr val="D7DCEC"/>
              </a:solidFill>
              <a:prstDash val="solid"/>
              <a:miter/>
            </a:ln>
          </p:spPr>
        </p:sp>
      </p:grpSp>
      <p:grpSp>
        <p:nvGrpSpPr>
          <p:cNvPr name="Group 35" id="35"/>
          <p:cNvGrpSpPr/>
          <p:nvPr/>
        </p:nvGrpSpPr>
        <p:grpSpPr>
          <a:xfrm rot="0">
            <a:off x="12124944" y="7200900"/>
            <a:ext cx="5143500" cy="589788"/>
            <a:chOff x="0" y="0"/>
            <a:chExt cx="6858000" cy="786384"/>
          </a:xfrm>
        </p:grpSpPr>
        <p:sp>
          <p:nvSpPr>
            <p:cNvPr name="Freeform 36" id="36"/>
            <p:cNvSpPr/>
            <p:nvPr/>
          </p:nvSpPr>
          <p:spPr>
            <a:xfrm flipH="false" flipV="false" rot="0">
              <a:off x="0" y="0"/>
              <a:ext cx="6858000" cy="786384"/>
            </a:xfrm>
            <a:custGeom>
              <a:avLst/>
              <a:gdLst/>
              <a:ahLst/>
              <a:cxnLst/>
              <a:rect r="r" b="b" t="t" l="l"/>
              <a:pathLst>
                <a:path h="786384" w="6858000">
                  <a:moveTo>
                    <a:pt x="0" y="0"/>
                  </a:moveTo>
                  <a:lnTo>
                    <a:pt x="6858000" y="0"/>
                  </a:lnTo>
                  <a:lnTo>
                    <a:pt x="6858000" y="786384"/>
                  </a:lnTo>
                  <a:lnTo>
                    <a:pt x="0" y="786384"/>
                  </a:lnTo>
                  <a:close/>
                </a:path>
              </a:pathLst>
            </a:custGeom>
            <a:blipFill>
              <a:blip r:embed="rId2">
                <a:alphaModFix amt="0"/>
              </a:blip>
              <a:stretch>
                <a:fillRect l="0" t="-119927" r="0" b="-119927"/>
              </a:stretch>
            </a:blipFill>
          </p:spPr>
        </p:sp>
        <p:sp>
          <p:nvSpPr>
            <p:cNvPr name="TextBox 37" id="37"/>
            <p:cNvSpPr txBox="true"/>
            <p:nvPr/>
          </p:nvSpPr>
          <p:spPr>
            <a:xfrm>
              <a:off x="0" y="-38100"/>
              <a:ext cx="6858000" cy="824484"/>
            </a:xfrm>
            <a:prstGeom prst="rect">
              <a:avLst/>
            </a:prstGeom>
          </p:spPr>
          <p:txBody>
            <a:bodyPr anchor="ctr" rtlCol="false" tIns="0" lIns="0" bIns="0" rIns="0"/>
            <a:lstStyle/>
            <a:p>
              <a:pPr algn="ctr">
                <a:lnSpc>
                  <a:spcPts val="2430"/>
                </a:lnSpc>
              </a:pPr>
              <a:r>
                <a:rPr lang="en-US" sz="2025">
                  <a:solidFill>
                    <a:srgbClr val="6B7280"/>
                  </a:solidFill>
                  <a:latin typeface="Calibri (MS)"/>
                  <a:ea typeface="Calibri (MS)"/>
                  <a:cs typeface="Calibri (MS)"/>
                  <a:sym typeface="Calibri (MS)"/>
                </a:rPr>
                <a:t>Protect</a:t>
              </a:r>
            </a:p>
          </p:txBody>
        </p:sp>
      </p:grpSp>
      <p:grpSp>
        <p:nvGrpSpPr>
          <p:cNvPr name="Group 38" id="38"/>
          <p:cNvGrpSpPr/>
          <p:nvPr/>
        </p:nvGrpSpPr>
        <p:grpSpPr>
          <a:xfrm rot="0">
            <a:off x="12124944" y="7639812"/>
            <a:ext cx="5143500" cy="329184"/>
            <a:chOff x="0" y="0"/>
            <a:chExt cx="6858000" cy="438912"/>
          </a:xfrm>
        </p:grpSpPr>
        <p:sp>
          <p:nvSpPr>
            <p:cNvPr name="Freeform 39" id="39"/>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40" id="40"/>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9AA3B8"/>
                  </a:solidFill>
                  <a:latin typeface="Arimo"/>
                  <a:ea typeface="Arimo"/>
                  <a:cs typeface="Arimo"/>
                  <a:sym typeface="Arimo"/>
                </a:rPr>
                <a:t>PR</a:t>
              </a:r>
            </a:p>
          </p:txBody>
        </p:sp>
      </p:grpSp>
      <p:grpSp>
        <p:nvGrpSpPr>
          <p:cNvPr name="Group 41" id="41"/>
          <p:cNvGrpSpPr/>
          <p:nvPr/>
        </p:nvGrpSpPr>
        <p:grpSpPr>
          <a:xfrm rot="0">
            <a:off x="950595" y="8288655"/>
            <a:ext cx="5162550" cy="910590"/>
            <a:chOff x="0" y="0"/>
            <a:chExt cx="6883400" cy="1214120"/>
          </a:xfrm>
        </p:grpSpPr>
        <p:sp>
          <p:nvSpPr>
            <p:cNvPr name="Freeform 42" id="42"/>
            <p:cNvSpPr/>
            <p:nvPr/>
          </p:nvSpPr>
          <p:spPr>
            <a:xfrm flipH="false" flipV="false" rot="0">
              <a:off x="0" y="0"/>
              <a:ext cx="6883400" cy="1214120"/>
            </a:xfrm>
            <a:custGeom>
              <a:avLst/>
              <a:gdLst/>
              <a:ahLst/>
              <a:cxnLst/>
              <a:rect r="r" b="b" t="t" l="l"/>
              <a:pathLst>
                <a:path h="1214120" w="6883400">
                  <a:moveTo>
                    <a:pt x="0" y="168148"/>
                  </a:moveTo>
                  <a:cubicBezTo>
                    <a:pt x="0" y="75311"/>
                    <a:pt x="75311" y="0"/>
                    <a:pt x="168148" y="0"/>
                  </a:cubicBezTo>
                  <a:lnTo>
                    <a:pt x="6715252" y="0"/>
                  </a:lnTo>
                  <a:cubicBezTo>
                    <a:pt x="6808089" y="0"/>
                    <a:pt x="6883400" y="75311"/>
                    <a:pt x="6883400" y="168148"/>
                  </a:cubicBezTo>
                  <a:lnTo>
                    <a:pt x="6883400" y="1045972"/>
                  </a:lnTo>
                  <a:cubicBezTo>
                    <a:pt x="6883400" y="1138809"/>
                    <a:pt x="6808089" y="1214120"/>
                    <a:pt x="6715252" y="1214120"/>
                  </a:cubicBezTo>
                  <a:lnTo>
                    <a:pt x="168148" y="1214120"/>
                  </a:lnTo>
                  <a:cubicBezTo>
                    <a:pt x="75311" y="1214120"/>
                    <a:pt x="0" y="1138809"/>
                    <a:pt x="0" y="1045972"/>
                  </a:cubicBezTo>
                  <a:close/>
                </a:path>
              </a:pathLst>
            </a:custGeom>
            <a:solidFill>
              <a:srgbClr val="F4F7FC"/>
            </a:solidFill>
            <a:ln w="19050" cap="sq">
              <a:solidFill>
                <a:srgbClr val="D7DCEC"/>
              </a:solidFill>
              <a:prstDash val="solid"/>
              <a:miter/>
            </a:ln>
          </p:spPr>
        </p:sp>
      </p:grpSp>
      <p:grpSp>
        <p:nvGrpSpPr>
          <p:cNvPr name="Group 43" id="43"/>
          <p:cNvGrpSpPr/>
          <p:nvPr/>
        </p:nvGrpSpPr>
        <p:grpSpPr>
          <a:xfrm rot="0">
            <a:off x="960120" y="8366760"/>
            <a:ext cx="5143500" cy="589788"/>
            <a:chOff x="0" y="0"/>
            <a:chExt cx="6858000" cy="786384"/>
          </a:xfrm>
        </p:grpSpPr>
        <p:sp>
          <p:nvSpPr>
            <p:cNvPr name="Freeform 44" id="44"/>
            <p:cNvSpPr/>
            <p:nvPr/>
          </p:nvSpPr>
          <p:spPr>
            <a:xfrm flipH="false" flipV="false" rot="0">
              <a:off x="0" y="0"/>
              <a:ext cx="6858000" cy="786384"/>
            </a:xfrm>
            <a:custGeom>
              <a:avLst/>
              <a:gdLst/>
              <a:ahLst/>
              <a:cxnLst/>
              <a:rect r="r" b="b" t="t" l="l"/>
              <a:pathLst>
                <a:path h="786384" w="6858000">
                  <a:moveTo>
                    <a:pt x="0" y="0"/>
                  </a:moveTo>
                  <a:lnTo>
                    <a:pt x="6858000" y="0"/>
                  </a:lnTo>
                  <a:lnTo>
                    <a:pt x="6858000" y="786384"/>
                  </a:lnTo>
                  <a:lnTo>
                    <a:pt x="0" y="786384"/>
                  </a:lnTo>
                  <a:close/>
                </a:path>
              </a:pathLst>
            </a:custGeom>
            <a:blipFill>
              <a:blip r:embed="rId2">
                <a:alphaModFix amt="0"/>
              </a:blip>
              <a:stretch>
                <a:fillRect l="0" t="-119927" r="0" b="-119927"/>
              </a:stretch>
            </a:blipFill>
          </p:spPr>
        </p:sp>
        <p:sp>
          <p:nvSpPr>
            <p:cNvPr name="TextBox 45" id="45"/>
            <p:cNvSpPr txBox="true"/>
            <p:nvPr/>
          </p:nvSpPr>
          <p:spPr>
            <a:xfrm>
              <a:off x="0" y="-38100"/>
              <a:ext cx="6858000" cy="824484"/>
            </a:xfrm>
            <a:prstGeom prst="rect">
              <a:avLst/>
            </a:prstGeom>
          </p:spPr>
          <p:txBody>
            <a:bodyPr anchor="ctr" rtlCol="false" tIns="0" lIns="0" bIns="0" rIns="0"/>
            <a:lstStyle/>
            <a:p>
              <a:pPr algn="ctr">
                <a:lnSpc>
                  <a:spcPts val="2430"/>
                </a:lnSpc>
              </a:pPr>
              <a:r>
                <a:rPr lang="en-US" sz="2025">
                  <a:solidFill>
                    <a:srgbClr val="6B7280"/>
                  </a:solidFill>
                  <a:latin typeface="Calibri (MS)"/>
                  <a:ea typeface="Calibri (MS)"/>
                  <a:cs typeface="Calibri (MS)"/>
                  <a:sym typeface="Calibri (MS)"/>
                </a:rPr>
                <a:t>Detect</a:t>
              </a:r>
            </a:p>
          </p:txBody>
        </p:sp>
      </p:grpSp>
      <p:grpSp>
        <p:nvGrpSpPr>
          <p:cNvPr name="Group 46" id="46"/>
          <p:cNvGrpSpPr/>
          <p:nvPr/>
        </p:nvGrpSpPr>
        <p:grpSpPr>
          <a:xfrm rot="0">
            <a:off x="960120" y="8805672"/>
            <a:ext cx="5143500" cy="329184"/>
            <a:chOff x="0" y="0"/>
            <a:chExt cx="6858000" cy="438912"/>
          </a:xfrm>
        </p:grpSpPr>
        <p:sp>
          <p:nvSpPr>
            <p:cNvPr name="Freeform 47" id="47"/>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48" id="48"/>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9AA3B8"/>
                  </a:solidFill>
                  <a:latin typeface="Arimo"/>
                  <a:ea typeface="Arimo"/>
                  <a:cs typeface="Arimo"/>
                  <a:sym typeface="Arimo"/>
                </a:rPr>
                <a:t>DE</a:t>
              </a:r>
            </a:p>
          </p:txBody>
        </p:sp>
      </p:grpSp>
      <p:grpSp>
        <p:nvGrpSpPr>
          <p:cNvPr name="Group 49" id="49"/>
          <p:cNvGrpSpPr/>
          <p:nvPr/>
        </p:nvGrpSpPr>
        <p:grpSpPr>
          <a:xfrm rot="0">
            <a:off x="6533007" y="8288655"/>
            <a:ext cx="5162550" cy="910590"/>
            <a:chOff x="0" y="0"/>
            <a:chExt cx="6883400" cy="1214120"/>
          </a:xfrm>
        </p:grpSpPr>
        <p:sp>
          <p:nvSpPr>
            <p:cNvPr name="Freeform 50" id="50"/>
            <p:cNvSpPr/>
            <p:nvPr/>
          </p:nvSpPr>
          <p:spPr>
            <a:xfrm flipH="false" flipV="false" rot="0">
              <a:off x="0" y="0"/>
              <a:ext cx="6883400" cy="1214120"/>
            </a:xfrm>
            <a:custGeom>
              <a:avLst/>
              <a:gdLst/>
              <a:ahLst/>
              <a:cxnLst/>
              <a:rect r="r" b="b" t="t" l="l"/>
              <a:pathLst>
                <a:path h="1214120" w="6883400">
                  <a:moveTo>
                    <a:pt x="0" y="168148"/>
                  </a:moveTo>
                  <a:cubicBezTo>
                    <a:pt x="0" y="75311"/>
                    <a:pt x="75311" y="0"/>
                    <a:pt x="168148" y="0"/>
                  </a:cubicBezTo>
                  <a:lnTo>
                    <a:pt x="6715252" y="0"/>
                  </a:lnTo>
                  <a:cubicBezTo>
                    <a:pt x="6808089" y="0"/>
                    <a:pt x="6883400" y="75311"/>
                    <a:pt x="6883400" y="168148"/>
                  </a:cubicBezTo>
                  <a:lnTo>
                    <a:pt x="6883400" y="1045972"/>
                  </a:lnTo>
                  <a:cubicBezTo>
                    <a:pt x="6883400" y="1138809"/>
                    <a:pt x="6808089" y="1214120"/>
                    <a:pt x="6715252" y="1214120"/>
                  </a:cubicBezTo>
                  <a:lnTo>
                    <a:pt x="168148" y="1214120"/>
                  </a:lnTo>
                  <a:cubicBezTo>
                    <a:pt x="75311" y="1214120"/>
                    <a:pt x="0" y="1138809"/>
                    <a:pt x="0" y="1045972"/>
                  </a:cubicBezTo>
                  <a:close/>
                </a:path>
              </a:pathLst>
            </a:custGeom>
            <a:solidFill>
              <a:srgbClr val="F4F7FC"/>
            </a:solidFill>
            <a:ln w="19050" cap="sq">
              <a:solidFill>
                <a:srgbClr val="D7DCEC"/>
              </a:solidFill>
              <a:prstDash val="solid"/>
              <a:miter/>
            </a:ln>
          </p:spPr>
        </p:sp>
      </p:grpSp>
      <p:grpSp>
        <p:nvGrpSpPr>
          <p:cNvPr name="Group 51" id="51"/>
          <p:cNvGrpSpPr/>
          <p:nvPr/>
        </p:nvGrpSpPr>
        <p:grpSpPr>
          <a:xfrm rot="0">
            <a:off x="6542532" y="8366760"/>
            <a:ext cx="5143500" cy="589788"/>
            <a:chOff x="0" y="0"/>
            <a:chExt cx="6858000" cy="786384"/>
          </a:xfrm>
        </p:grpSpPr>
        <p:sp>
          <p:nvSpPr>
            <p:cNvPr name="Freeform 52" id="52"/>
            <p:cNvSpPr/>
            <p:nvPr/>
          </p:nvSpPr>
          <p:spPr>
            <a:xfrm flipH="false" flipV="false" rot="0">
              <a:off x="0" y="0"/>
              <a:ext cx="6858000" cy="786384"/>
            </a:xfrm>
            <a:custGeom>
              <a:avLst/>
              <a:gdLst/>
              <a:ahLst/>
              <a:cxnLst/>
              <a:rect r="r" b="b" t="t" l="l"/>
              <a:pathLst>
                <a:path h="786384" w="6858000">
                  <a:moveTo>
                    <a:pt x="0" y="0"/>
                  </a:moveTo>
                  <a:lnTo>
                    <a:pt x="6858000" y="0"/>
                  </a:lnTo>
                  <a:lnTo>
                    <a:pt x="6858000" y="786384"/>
                  </a:lnTo>
                  <a:lnTo>
                    <a:pt x="0" y="786384"/>
                  </a:lnTo>
                  <a:close/>
                </a:path>
              </a:pathLst>
            </a:custGeom>
            <a:blipFill>
              <a:blip r:embed="rId2">
                <a:alphaModFix amt="0"/>
              </a:blip>
              <a:stretch>
                <a:fillRect l="0" t="-119927" r="0" b="-119927"/>
              </a:stretch>
            </a:blipFill>
          </p:spPr>
        </p:sp>
        <p:sp>
          <p:nvSpPr>
            <p:cNvPr name="TextBox 53" id="53"/>
            <p:cNvSpPr txBox="true"/>
            <p:nvPr/>
          </p:nvSpPr>
          <p:spPr>
            <a:xfrm>
              <a:off x="0" y="-38100"/>
              <a:ext cx="6858000" cy="824484"/>
            </a:xfrm>
            <a:prstGeom prst="rect">
              <a:avLst/>
            </a:prstGeom>
          </p:spPr>
          <p:txBody>
            <a:bodyPr anchor="ctr" rtlCol="false" tIns="0" lIns="0" bIns="0" rIns="0"/>
            <a:lstStyle/>
            <a:p>
              <a:pPr algn="ctr">
                <a:lnSpc>
                  <a:spcPts val="2430"/>
                </a:lnSpc>
              </a:pPr>
              <a:r>
                <a:rPr lang="en-US" sz="2025">
                  <a:solidFill>
                    <a:srgbClr val="6B7280"/>
                  </a:solidFill>
                  <a:latin typeface="Calibri (MS)"/>
                  <a:ea typeface="Calibri (MS)"/>
                  <a:cs typeface="Calibri (MS)"/>
                  <a:sym typeface="Calibri (MS)"/>
                </a:rPr>
                <a:t>Respond</a:t>
              </a:r>
            </a:p>
          </p:txBody>
        </p:sp>
      </p:grpSp>
      <p:grpSp>
        <p:nvGrpSpPr>
          <p:cNvPr name="Group 54" id="54"/>
          <p:cNvGrpSpPr/>
          <p:nvPr/>
        </p:nvGrpSpPr>
        <p:grpSpPr>
          <a:xfrm rot="0">
            <a:off x="6542532" y="8805672"/>
            <a:ext cx="5143500" cy="329184"/>
            <a:chOff x="0" y="0"/>
            <a:chExt cx="6858000" cy="438912"/>
          </a:xfrm>
        </p:grpSpPr>
        <p:sp>
          <p:nvSpPr>
            <p:cNvPr name="Freeform 55" id="55"/>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56" id="56"/>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9AA3B8"/>
                  </a:solidFill>
                  <a:latin typeface="Arimo"/>
                  <a:ea typeface="Arimo"/>
                  <a:cs typeface="Arimo"/>
                  <a:sym typeface="Arimo"/>
                </a:rPr>
                <a:t>RS</a:t>
              </a:r>
            </a:p>
          </p:txBody>
        </p:sp>
      </p:grpSp>
      <p:grpSp>
        <p:nvGrpSpPr>
          <p:cNvPr name="Group 57" id="57"/>
          <p:cNvGrpSpPr/>
          <p:nvPr/>
        </p:nvGrpSpPr>
        <p:grpSpPr>
          <a:xfrm rot="0">
            <a:off x="12115419" y="8288655"/>
            <a:ext cx="5162550" cy="910590"/>
            <a:chOff x="0" y="0"/>
            <a:chExt cx="6883400" cy="1214120"/>
          </a:xfrm>
        </p:grpSpPr>
        <p:sp>
          <p:nvSpPr>
            <p:cNvPr name="Freeform 58" id="58"/>
            <p:cNvSpPr/>
            <p:nvPr/>
          </p:nvSpPr>
          <p:spPr>
            <a:xfrm flipH="false" flipV="false" rot="0">
              <a:off x="0" y="0"/>
              <a:ext cx="6883400" cy="1214120"/>
            </a:xfrm>
            <a:custGeom>
              <a:avLst/>
              <a:gdLst/>
              <a:ahLst/>
              <a:cxnLst/>
              <a:rect r="r" b="b" t="t" l="l"/>
              <a:pathLst>
                <a:path h="1214120" w="6883400">
                  <a:moveTo>
                    <a:pt x="0" y="168148"/>
                  </a:moveTo>
                  <a:cubicBezTo>
                    <a:pt x="0" y="75311"/>
                    <a:pt x="75311" y="0"/>
                    <a:pt x="168148" y="0"/>
                  </a:cubicBezTo>
                  <a:lnTo>
                    <a:pt x="6715252" y="0"/>
                  </a:lnTo>
                  <a:cubicBezTo>
                    <a:pt x="6808089" y="0"/>
                    <a:pt x="6883400" y="75311"/>
                    <a:pt x="6883400" y="168148"/>
                  </a:cubicBezTo>
                  <a:lnTo>
                    <a:pt x="6883400" y="1045972"/>
                  </a:lnTo>
                  <a:cubicBezTo>
                    <a:pt x="6883400" y="1138809"/>
                    <a:pt x="6808089" y="1214120"/>
                    <a:pt x="6715252" y="1214120"/>
                  </a:cubicBezTo>
                  <a:lnTo>
                    <a:pt x="168148" y="1214120"/>
                  </a:lnTo>
                  <a:cubicBezTo>
                    <a:pt x="75311" y="1214120"/>
                    <a:pt x="0" y="1138809"/>
                    <a:pt x="0" y="1045972"/>
                  </a:cubicBezTo>
                  <a:close/>
                </a:path>
              </a:pathLst>
            </a:custGeom>
            <a:solidFill>
              <a:srgbClr val="F4F7FC"/>
            </a:solidFill>
            <a:ln w="19050" cap="sq">
              <a:solidFill>
                <a:srgbClr val="D7DCEC"/>
              </a:solidFill>
              <a:prstDash val="solid"/>
              <a:miter/>
            </a:ln>
          </p:spPr>
        </p:sp>
      </p:grpSp>
      <p:grpSp>
        <p:nvGrpSpPr>
          <p:cNvPr name="Group 59" id="59"/>
          <p:cNvGrpSpPr/>
          <p:nvPr/>
        </p:nvGrpSpPr>
        <p:grpSpPr>
          <a:xfrm rot="0">
            <a:off x="12124944" y="8366760"/>
            <a:ext cx="5143500" cy="589788"/>
            <a:chOff x="0" y="0"/>
            <a:chExt cx="6858000" cy="786384"/>
          </a:xfrm>
        </p:grpSpPr>
        <p:sp>
          <p:nvSpPr>
            <p:cNvPr name="Freeform 60" id="60"/>
            <p:cNvSpPr/>
            <p:nvPr/>
          </p:nvSpPr>
          <p:spPr>
            <a:xfrm flipH="false" flipV="false" rot="0">
              <a:off x="0" y="0"/>
              <a:ext cx="6858000" cy="786384"/>
            </a:xfrm>
            <a:custGeom>
              <a:avLst/>
              <a:gdLst/>
              <a:ahLst/>
              <a:cxnLst/>
              <a:rect r="r" b="b" t="t" l="l"/>
              <a:pathLst>
                <a:path h="786384" w="6858000">
                  <a:moveTo>
                    <a:pt x="0" y="0"/>
                  </a:moveTo>
                  <a:lnTo>
                    <a:pt x="6858000" y="0"/>
                  </a:lnTo>
                  <a:lnTo>
                    <a:pt x="6858000" y="786384"/>
                  </a:lnTo>
                  <a:lnTo>
                    <a:pt x="0" y="786384"/>
                  </a:lnTo>
                  <a:close/>
                </a:path>
              </a:pathLst>
            </a:custGeom>
            <a:blipFill>
              <a:blip r:embed="rId2">
                <a:alphaModFix amt="0"/>
              </a:blip>
              <a:stretch>
                <a:fillRect l="0" t="-119927" r="0" b="-119927"/>
              </a:stretch>
            </a:blipFill>
          </p:spPr>
        </p:sp>
        <p:sp>
          <p:nvSpPr>
            <p:cNvPr name="TextBox 61" id="61"/>
            <p:cNvSpPr txBox="true"/>
            <p:nvPr/>
          </p:nvSpPr>
          <p:spPr>
            <a:xfrm>
              <a:off x="0" y="-38100"/>
              <a:ext cx="6858000" cy="824484"/>
            </a:xfrm>
            <a:prstGeom prst="rect">
              <a:avLst/>
            </a:prstGeom>
          </p:spPr>
          <p:txBody>
            <a:bodyPr anchor="ctr" rtlCol="false" tIns="0" lIns="0" bIns="0" rIns="0"/>
            <a:lstStyle/>
            <a:p>
              <a:pPr algn="ctr">
                <a:lnSpc>
                  <a:spcPts val="2430"/>
                </a:lnSpc>
              </a:pPr>
              <a:r>
                <a:rPr lang="en-US" sz="2025">
                  <a:solidFill>
                    <a:srgbClr val="6B7280"/>
                  </a:solidFill>
                  <a:latin typeface="Calibri (MS)"/>
                  <a:ea typeface="Calibri (MS)"/>
                  <a:cs typeface="Calibri (MS)"/>
                  <a:sym typeface="Calibri (MS)"/>
                </a:rPr>
                <a:t>Recover</a:t>
              </a:r>
            </a:p>
          </p:txBody>
        </p:sp>
      </p:grpSp>
      <p:grpSp>
        <p:nvGrpSpPr>
          <p:cNvPr name="Group 62" id="62"/>
          <p:cNvGrpSpPr/>
          <p:nvPr/>
        </p:nvGrpSpPr>
        <p:grpSpPr>
          <a:xfrm rot="0">
            <a:off x="12124944" y="8805672"/>
            <a:ext cx="5143500" cy="329184"/>
            <a:chOff x="0" y="0"/>
            <a:chExt cx="6858000" cy="438912"/>
          </a:xfrm>
        </p:grpSpPr>
        <p:sp>
          <p:nvSpPr>
            <p:cNvPr name="Freeform 63" id="63"/>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64" id="64"/>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9AA3B8"/>
                  </a:solidFill>
                  <a:latin typeface="Arimo"/>
                  <a:ea typeface="Arimo"/>
                  <a:cs typeface="Arimo"/>
                  <a:sym typeface="Arimo"/>
                </a:rPr>
                <a:t>RC</a:t>
              </a:r>
            </a:p>
          </p:txBody>
        </p:sp>
      </p:grpSp>
      <p:grpSp>
        <p:nvGrpSpPr>
          <p:cNvPr name="Group 65" id="65"/>
          <p:cNvGrpSpPr/>
          <p:nvPr/>
        </p:nvGrpSpPr>
        <p:grpSpPr>
          <a:xfrm rot="0">
            <a:off x="685800" y="9710928"/>
            <a:ext cx="10972800" cy="411480"/>
            <a:chOff x="0" y="0"/>
            <a:chExt cx="14630400" cy="548640"/>
          </a:xfrm>
        </p:grpSpPr>
        <p:sp>
          <p:nvSpPr>
            <p:cNvPr name="Freeform 66" id="66"/>
            <p:cNvSpPr/>
            <p:nvPr/>
          </p:nvSpPr>
          <p:spPr>
            <a:xfrm flipH="false" flipV="false" rot="0">
              <a:off x="0" y="0"/>
              <a:ext cx="14630400" cy="548640"/>
            </a:xfrm>
            <a:custGeom>
              <a:avLst/>
              <a:gdLst/>
              <a:ahLst/>
              <a:cxnLst/>
              <a:rect r="r" b="b" t="t" l="l"/>
              <a:pathLst>
                <a:path h="548640" w="14630400">
                  <a:moveTo>
                    <a:pt x="0" y="0"/>
                  </a:moveTo>
                  <a:lnTo>
                    <a:pt x="14630400" y="0"/>
                  </a:lnTo>
                  <a:lnTo>
                    <a:pt x="14630400" y="548640"/>
                  </a:lnTo>
                  <a:lnTo>
                    <a:pt x="0" y="548640"/>
                  </a:lnTo>
                  <a:close/>
                </a:path>
              </a:pathLst>
            </a:custGeom>
            <a:blipFill>
              <a:blip r:embed="rId2">
                <a:alphaModFix amt="0"/>
              </a:blip>
              <a:stretch>
                <a:fillRect l="0" t="-469601" r="0" b="-469601"/>
              </a:stretch>
            </a:blipFill>
          </p:spPr>
        </p:sp>
        <p:sp>
          <p:nvSpPr>
            <p:cNvPr name="TextBox 67" id="67"/>
            <p:cNvSpPr txBox="true"/>
            <p:nvPr/>
          </p:nvSpPr>
          <p:spPr>
            <a:xfrm>
              <a:off x="0" y="-38100"/>
              <a:ext cx="14630400" cy="586740"/>
            </a:xfrm>
            <a:prstGeom prst="rect">
              <a:avLst/>
            </a:prstGeom>
          </p:spPr>
          <p:txBody>
            <a:bodyPr anchor="ctr" rtlCol="false" tIns="0" lIns="0" bIns="0" rIns="0"/>
            <a:lstStyle/>
            <a:p>
              <a:pPr algn="l">
                <a:lnSpc>
                  <a:spcPts val="1800"/>
                </a:lnSpc>
              </a:pPr>
              <a:r>
                <a:rPr lang="en-US" sz="1500">
                  <a:solidFill>
                    <a:srgbClr val="6B7280"/>
                  </a:solidFill>
                  <a:latin typeface="Calibri (MS)"/>
                  <a:ea typeface="Calibri (MS)"/>
                  <a:cs typeface="Calibri (MS)"/>
                  <a:sym typeface="Calibri (MS)"/>
                </a:rPr>
                <a:t>Davao del Norte Provincial Government — Cybersecurity Seminar</a:t>
              </a:r>
            </a:p>
          </p:txBody>
        </p:sp>
      </p:grpSp>
      <p:grpSp>
        <p:nvGrpSpPr>
          <p:cNvPr name="Group 68" id="68"/>
          <p:cNvGrpSpPr/>
          <p:nvPr/>
        </p:nvGrpSpPr>
        <p:grpSpPr>
          <a:xfrm rot="0">
            <a:off x="16911828" y="9710928"/>
            <a:ext cx="685800" cy="411480"/>
            <a:chOff x="0" y="0"/>
            <a:chExt cx="914400" cy="548640"/>
          </a:xfrm>
        </p:grpSpPr>
        <p:sp>
          <p:nvSpPr>
            <p:cNvPr name="Freeform 69" id="69"/>
            <p:cNvSpPr/>
            <p:nvPr/>
          </p:nvSpPr>
          <p:spPr>
            <a:xfrm flipH="false" flipV="false" rot="0">
              <a:off x="0" y="0"/>
              <a:ext cx="914400" cy="548640"/>
            </a:xfrm>
            <a:custGeom>
              <a:avLst/>
              <a:gdLst/>
              <a:ahLst/>
              <a:cxnLst/>
              <a:rect r="r" b="b" t="t" l="l"/>
              <a:pathLst>
                <a:path h="548640" w="914400">
                  <a:moveTo>
                    <a:pt x="0" y="0"/>
                  </a:moveTo>
                  <a:lnTo>
                    <a:pt x="914400" y="0"/>
                  </a:lnTo>
                  <a:lnTo>
                    <a:pt x="914400" y="548640"/>
                  </a:lnTo>
                  <a:lnTo>
                    <a:pt x="0" y="548640"/>
                  </a:lnTo>
                  <a:close/>
                </a:path>
              </a:pathLst>
            </a:custGeom>
            <a:blipFill>
              <a:blip r:embed="rId2">
                <a:alphaModFix amt="0"/>
              </a:blip>
              <a:stretch>
                <a:fillRect l="-26982" t="0" r="-26982" b="0"/>
              </a:stretch>
            </a:blipFill>
          </p:spPr>
        </p:sp>
        <p:sp>
          <p:nvSpPr>
            <p:cNvPr name="TextBox 70" id="70"/>
            <p:cNvSpPr txBox="true"/>
            <p:nvPr/>
          </p:nvSpPr>
          <p:spPr>
            <a:xfrm>
              <a:off x="0" y="-38100"/>
              <a:ext cx="914400" cy="586740"/>
            </a:xfrm>
            <a:prstGeom prst="rect">
              <a:avLst/>
            </a:prstGeom>
          </p:spPr>
          <p:txBody>
            <a:bodyPr anchor="ctr" rtlCol="false" tIns="0" lIns="0" bIns="0" rIns="0"/>
            <a:lstStyle/>
            <a:p>
              <a:pPr algn="r">
                <a:lnSpc>
                  <a:spcPts val="1800"/>
                </a:lnSpc>
              </a:pPr>
              <a:r>
                <a:rPr lang="en-US" sz="1500">
                  <a:solidFill>
                    <a:srgbClr val="6B7280"/>
                  </a:solidFill>
                  <a:latin typeface="Calibri (MS)"/>
                  <a:ea typeface="Calibri (MS)"/>
                  <a:cs typeface="Calibri (MS)"/>
                  <a:sym typeface="Calibri (MS)"/>
                </a:rPr>
                <a:t>21</a:t>
              </a:r>
            </a:p>
          </p:txBody>
        </p:sp>
      </p:grpSp>
    </p:spTree>
  </p:cSld>
  <p:clrMapOvr>
    <a:masterClrMapping/>
  </p:clrMapOvr>
</p:sld>
</file>

<file path=ppt/slides/slide8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60120" y="685800"/>
            <a:ext cx="13716000" cy="411480"/>
            <a:chOff x="0" y="0"/>
            <a:chExt cx="18288000" cy="548640"/>
          </a:xfrm>
        </p:grpSpPr>
        <p:sp>
          <p:nvSpPr>
            <p:cNvPr name="Freeform 3" id="3"/>
            <p:cNvSpPr/>
            <p:nvPr/>
          </p:nvSpPr>
          <p:spPr>
            <a:xfrm flipH="false" flipV="false" rot="0">
              <a:off x="0" y="0"/>
              <a:ext cx="18288000" cy="548640"/>
            </a:xfrm>
            <a:custGeom>
              <a:avLst/>
              <a:gdLst/>
              <a:ahLst/>
              <a:cxnLst/>
              <a:rect r="r" b="b" t="t" l="l"/>
              <a:pathLst>
                <a:path h="548640" w="18288000">
                  <a:moveTo>
                    <a:pt x="0" y="0"/>
                  </a:moveTo>
                  <a:lnTo>
                    <a:pt x="18288000" y="0"/>
                  </a:lnTo>
                  <a:lnTo>
                    <a:pt x="18288000" y="548640"/>
                  </a:lnTo>
                  <a:lnTo>
                    <a:pt x="0" y="548640"/>
                  </a:lnTo>
                  <a:close/>
                </a:path>
              </a:pathLst>
            </a:custGeom>
            <a:blipFill>
              <a:blip r:embed="rId2">
                <a:alphaModFix amt="0"/>
              </a:blip>
              <a:stretch>
                <a:fillRect l="0" t="-599501" r="0" b="-599501"/>
              </a:stretch>
            </a:blipFill>
          </p:spPr>
        </p:sp>
        <p:sp>
          <p:nvSpPr>
            <p:cNvPr name="TextBox 4" id="4"/>
            <p:cNvSpPr txBox="true"/>
            <p:nvPr/>
          </p:nvSpPr>
          <p:spPr>
            <a:xfrm>
              <a:off x="0" y="-38100"/>
              <a:ext cx="18288000" cy="586740"/>
            </a:xfrm>
            <a:prstGeom prst="rect">
              <a:avLst/>
            </a:prstGeom>
          </p:spPr>
          <p:txBody>
            <a:bodyPr anchor="ctr" rtlCol="false" tIns="0" lIns="0" bIns="0" rIns="0"/>
            <a:lstStyle/>
            <a:p>
              <a:pPr algn="l">
                <a:lnSpc>
                  <a:spcPts val="2160"/>
                </a:lnSpc>
              </a:pPr>
              <a:r>
                <a:rPr lang="en-US" b="true" sz="1800" spc="225">
                  <a:solidFill>
                    <a:srgbClr val="00B4D8"/>
                  </a:solidFill>
                  <a:latin typeface="Calibri (MS) Bold"/>
                  <a:ea typeface="Calibri (MS) Bold"/>
                  <a:cs typeface="Calibri (MS) Bold"/>
                  <a:sym typeface="Calibri (MS) Bold"/>
                </a:rPr>
                <a:t>NIST CSF SORT · ANSWER</a:t>
              </a:r>
            </a:p>
          </p:txBody>
        </p:sp>
      </p:grpSp>
      <p:grpSp>
        <p:nvGrpSpPr>
          <p:cNvPr name="Group 5" id="5"/>
          <p:cNvGrpSpPr/>
          <p:nvPr/>
        </p:nvGrpSpPr>
        <p:grpSpPr>
          <a:xfrm rot="0">
            <a:off x="960120" y="1069848"/>
            <a:ext cx="10972800" cy="822960"/>
            <a:chOff x="0" y="0"/>
            <a:chExt cx="14630400" cy="1097280"/>
          </a:xfrm>
        </p:grpSpPr>
        <p:sp>
          <p:nvSpPr>
            <p:cNvPr name="Freeform 6" id="6"/>
            <p:cNvSpPr/>
            <p:nvPr/>
          </p:nvSpPr>
          <p:spPr>
            <a:xfrm flipH="false" flipV="false" rot="0">
              <a:off x="0" y="0"/>
              <a:ext cx="14630400" cy="1097280"/>
            </a:xfrm>
            <a:custGeom>
              <a:avLst/>
              <a:gdLst/>
              <a:ahLst/>
              <a:cxnLst/>
              <a:rect r="r" b="b" t="t" l="l"/>
              <a:pathLst>
                <a:path h="1097280" w="14630400">
                  <a:moveTo>
                    <a:pt x="0" y="0"/>
                  </a:moveTo>
                  <a:lnTo>
                    <a:pt x="14630400" y="0"/>
                  </a:lnTo>
                  <a:lnTo>
                    <a:pt x="14630400" y="1097280"/>
                  </a:lnTo>
                  <a:lnTo>
                    <a:pt x="0" y="1097280"/>
                  </a:lnTo>
                  <a:close/>
                </a:path>
              </a:pathLst>
            </a:custGeom>
            <a:blipFill>
              <a:blip r:embed="rId2">
                <a:alphaModFix amt="0"/>
              </a:blip>
              <a:stretch>
                <a:fillRect l="0" t="-209800" r="0" b="-209800"/>
              </a:stretch>
            </a:blipFill>
          </p:spPr>
        </p:sp>
        <p:sp>
          <p:nvSpPr>
            <p:cNvPr name="TextBox 7" id="7"/>
            <p:cNvSpPr txBox="true"/>
            <p:nvPr/>
          </p:nvSpPr>
          <p:spPr>
            <a:xfrm>
              <a:off x="0" y="0"/>
              <a:ext cx="14630400" cy="1097280"/>
            </a:xfrm>
            <a:prstGeom prst="rect">
              <a:avLst/>
            </a:prstGeom>
          </p:spPr>
          <p:txBody>
            <a:bodyPr anchor="ctr" rtlCol="false" tIns="0" lIns="0" bIns="0" rIns="0"/>
            <a:lstStyle/>
            <a:p>
              <a:pPr algn="l">
                <a:lnSpc>
                  <a:spcPts val="4680"/>
                </a:lnSpc>
              </a:pPr>
              <a:r>
                <a:rPr lang="en-US" sz="3900" b="true">
                  <a:solidFill>
                    <a:srgbClr val="1E2761"/>
                  </a:solidFill>
                  <a:latin typeface="Cambria Bold"/>
                  <a:ea typeface="Cambria Bold"/>
                  <a:cs typeface="Cambria Bold"/>
                  <a:sym typeface="Cambria Bold"/>
                </a:rPr>
                <a:t>Scenario 6 — Answer</a:t>
              </a:r>
            </a:p>
          </p:txBody>
        </p:sp>
      </p:grpSp>
      <p:grpSp>
        <p:nvGrpSpPr>
          <p:cNvPr name="Group 8" id="8"/>
          <p:cNvGrpSpPr/>
          <p:nvPr/>
        </p:nvGrpSpPr>
        <p:grpSpPr>
          <a:xfrm rot="0">
            <a:off x="960120" y="1810512"/>
            <a:ext cx="8229600" cy="411480"/>
            <a:chOff x="0" y="0"/>
            <a:chExt cx="10972800" cy="548640"/>
          </a:xfrm>
        </p:grpSpPr>
        <p:sp>
          <p:nvSpPr>
            <p:cNvPr name="Freeform 9" id="9"/>
            <p:cNvSpPr/>
            <p:nvPr/>
          </p:nvSpPr>
          <p:spPr>
            <a:xfrm flipH="false" flipV="false" rot="0">
              <a:off x="0" y="0"/>
              <a:ext cx="10972800" cy="548640"/>
            </a:xfrm>
            <a:custGeom>
              <a:avLst/>
              <a:gdLst/>
              <a:ahLst/>
              <a:cxnLst/>
              <a:rect r="r" b="b" t="t" l="l"/>
              <a:pathLst>
                <a:path h="548640" w="10972800">
                  <a:moveTo>
                    <a:pt x="0" y="0"/>
                  </a:moveTo>
                  <a:lnTo>
                    <a:pt x="10972800" y="0"/>
                  </a:lnTo>
                  <a:lnTo>
                    <a:pt x="10972800" y="548640"/>
                  </a:lnTo>
                  <a:lnTo>
                    <a:pt x="0" y="548640"/>
                  </a:lnTo>
                  <a:close/>
                </a:path>
              </a:pathLst>
            </a:custGeom>
            <a:blipFill>
              <a:blip r:embed="rId2">
                <a:alphaModFix amt="0"/>
              </a:blip>
              <a:stretch>
                <a:fillRect l="0" t="-339700" r="0" b="-339700"/>
              </a:stretch>
            </a:blipFill>
          </p:spPr>
        </p:sp>
        <p:sp>
          <p:nvSpPr>
            <p:cNvPr name="TextBox 10" id="10"/>
            <p:cNvSpPr txBox="true"/>
            <p:nvPr/>
          </p:nvSpPr>
          <p:spPr>
            <a:xfrm>
              <a:off x="0" y="-28575"/>
              <a:ext cx="10972800" cy="577215"/>
            </a:xfrm>
            <a:prstGeom prst="rect">
              <a:avLst/>
            </a:prstGeom>
          </p:spPr>
          <p:txBody>
            <a:bodyPr anchor="ctr" rtlCol="false" tIns="0" lIns="0" bIns="0" rIns="0"/>
            <a:lstStyle/>
            <a:p>
              <a:pPr algn="l">
                <a:lnSpc>
                  <a:spcPts val="1980"/>
                </a:lnSpc>
              </a:pPr>
              <a:r>
                <a:rPr lang="en-US" sz="1650">
                  <a:solidFill>
                    <a:srgbClr val="6B7280"/>
                  </a:solidFill>
                  <a:latin typeface="Calibri (MS)"/>
                  <a:ea typeface="Calibri (MS)"/>
                  <a:cs typeface="Calibri (MS)"/>
                  <a:sym typeface="Calibri (MS)"/>
                </a:rPr>
                <a:t>6 of 20</a:t>
              </a:r>
            </a:p>
          </p:txBody>
        </p:sp>
      </p:grpSp>
      <p:grpSp>
        <p:nvGrpSpPr>
          <p:cNvPr name="Group 11" id="11"/>
          <p:cNvGrpSpPr/>
          <p:nvPr/>
        </p:nvGrpSpPr>
        <p:grpSpPr>
          <a:xfrm rot="0">
            <a:off x="960120" y="2537460"/>
            <a:ext cx="16322040" cy="2194560"/>
            <a:chOff x="0" y="0"/>
            <a:chExt cx="21762720" cy="2926080"/>
          </a:xfrm>
        </p:grpSpPr>
        <p:sp>
          <p:nvSpPr>
            <p:cNvPr name="Freeform 12" id="12"/>
            <p:cNvSpPr/>
            <p:nvPr/>
          </p:nvSpPr>
          <p:spPr>
            <a:xfrm flipH="false" flipV="false" rot="0">
              <a:off x="0" y="0"/>
              <a:ext cx="21762720" cy="2926080"/>
            </a:xfrm>
            <a:custGeom>
              <a:avLst/>
              <a:gdLst/>
              <a:ahLst/>
              <a:cxnLst/>
              <a:rect r="r" b="b" t="t" l="l"/>
              <a:pathLst>
                <a:path h="2926080" w="21762720">
                  <a:moveTo>
                    <a:pt x="0" y="182880"/>
                  </a:moveTo>
                  <a:cubicBezTo>
                    <a:pt x="0" y="81915"/>
                    <a:pt x="81915" y="0"/>
                    <a:pt x="182880" y="0"/>
                  </a:cubicBezTo>
                  <a:lnTo>
                    <a:pt x="21579839" y="0"/>
                  </a:lnTo>
                  <a:cubicBezTo>
                    <a:pt x="21680804" y="0"/>
                    <a:pt x="21762720" y="81915"/>
                    <a:pt x="21762720" y="182880"/>
                  </a:cubicBezTo>
                  <a:lnTo>
                    <a:pt x="21762720" y="2743200"/>
                  </a:lnTo>
                  <a:cubicBezTo>
                    <a:pt x="21762720" y="2844165"/>
                    <a:pt x="21680804" y="2926080"/>
                    <a:pt x="21579839" y="2926080"/>
                  </a:cubicBezTo>
                  <a:lnTo>
                    <a:pt x="182880" y="2926080"/>
                  </a:lnTo>
                  <a:cubicBezTo>
                    <a:pt x="81915" y="2926080"/>
                    <a:pt x="0" y="2844165"/>
                    <a:pt x="0" y="2743200"/>
                  </a:cubicBezTo>
                  <a:close/>
                </a:path>
              </a:pathLst>
            </a:custGeom>
            <a:solidFill>
              <a:srgbClr val="F4F7FC"/>
            </a:solidFill>
          </p:spPr>
        </p:sp>
      </p:grpSp>
      <p:grpSp>
        <p:nvGrpSpPr>
          <p:cNvPr name="Group 13" id="13"/>
          <p:cNvGrpSpPr/>
          <p:nvPr/>
        </p:nvGrpSpPr>
        <p:grpSpPr>
          <a:xfrm rot="0">
            <a:off x="1440180" y="2770632"/>
            <a:ext cx="15361920" cy="1714500"/>
            <a:chOff x="0" y="0"/>
            <a:chExt cx="20482560" cy="2286000"/>
          </a:xfrm>
        </p:grpSpPr>
        <p:sp>
          <p:nvSpPr>
            <p:cNvPr name="Freeform 14" id="14"/>
            <p:cNvSpPr/>
            <p:nvPr/>
          </p:nvSpPr>
          <p:spPr>
            <a:xfrm flipH="false" flipV="false" rot="0">
              <a:off x="0" y="0"/>
              <a:ext cx="20482561" cy="2286000"/>
            </a:xfrm>
            <a:custGeom>
              <a:avLst/>
              <a:gdLst/>
              <a:ahLst/>
              <a:cxnLst/>
              <a:rect r="r" b="b" t="t" l="l"/>
              <a:pathLst>
                <a:path h="2286000" w="20482561">
                  <a:moveTo>
                    <a:pt x="0" y="0"/>
                  </a:moveTo>
                  <a:lnTo>
                    <a:pt x="20482561" y="0"/>
                  </a:lnTo>
                  <a:lnTo>
                    <a:pt x="20482561" y="2286000"/>
                  </a:lnTo>
                  <a:lnTo>
                    <a:pt x="0" y="2286000"/>
                  </a:lnTo>
                  <a:close/>
                </a:path>
              </a:pathLst>
            </a:custGeom>
            <a:blipFill>
              <a:blip r:embed="rId2">
                <a:alphaModFix amt="0"/>
              </a:blip>
              <a:stretch>
                <a:fillRect l="0" t="-124585" r="0" b="-124585"/>
              </a:stretch>
            </a:blipFill>
          </p:spPr>
        </p:sp>
        <p:sp>
          <p:nvSpPr>
            <p:cNvPr name="TextBox 15" id="15"/>
            <p:cNvSpPr txBox="true"/>
            <p:nvPr/>
          </p:nvSpPr>
          <p:spPr>
            <a:xfrm>
              <a:off x="0" y="-85725"/>
              <a:ext cx="20482560" cy="2371725"/>
            </a:xfrm>
            <a:prstGeom prst="rect">
              <a:avLst/>
            </a:prstGeom>
          </p:spPr>
          <p:txBody>
            <a:bodyPr anchor="ctr" rtlCol="false" tIns="0" lIns="0" bIns="0" rIns="0"/>
            <a:lstStyle/>
            <a:p>
              <a:pPr algn="l">
                <a:lnSpc>
                  <a:spcPts val="3600"/>
                </a:lnSpc>
              </a:pPr>
              <a:r>
                <a:rPr lang="en-US" sz="2400" i="true">
                  <a:solidFill>
                    <a:srgbClr val="23262F"/>
                  </a:solidFill>
                  <a:latin typeface="Cambria Italics"/>
                  <a:ea typeface="Cambria Italics"/>
                  <a:cs typeface="Cambria Italics"/>
                  <a:sym typeface="Cambria Italics"/>
                </a:rPr>
                <a:t>"A week after the ransomware attack, the province restores the permit database from backup and resumes normal operations."</a:t>
              </a:r>
            </a:p>
          </p:txBody>
        </p:sp>
      </p:grpSp>
      <p:grpSp>
        <p:nvGrpSpPr>
          <p:cNvPr name="Group 16" id="16"/>
          <p:cNvGrpSpPr/>
          <p:nvPr/>
        </p:nvGrpSpPr>
        <p:grpSpPr>
          <a:xfrm rot="0">
            <a:off x="950595" y="5065395"/>
            <a:ext cx="5162550" cy="842010"/>
            <a:chOff x="0" y="0"/>
            <a:chExt cx="6883400" cy="1122680"/>
          </a:xfrm>
        </p:grpSpPr>
        <p:sp>
          <p:nvSpPr>
            <p:cNvPr name="Freeform 17" id="17"/>
            <p:cNvSpPr/>
            <p:nvPr/>
          </p:nvSpPr>
          <p:spPr>
            <a:xfrm flipH="false" flipV="false" rot="0">
              <a:off x="0" y="0"/>
              <a:ext cx="6883400" cy="1122680"/>
            </a:xfrm>
            <a:custGeom>
              <a:avLst/>
              <a:gdLst/>
              <a:ahLst/>
              <a:cxnLst/>
              <a:rect r="r" b="b" t="t" l="l"/>
              <a:pathLst>
                <a:path h="1122680" w="6883400">
                  <a:moveTo>
                    <a:pt x="0" y="168402"/>
                  </a:moveTo>
                  <a:cubicBezTo>
                    <a:pt x="0" y="75438"/>
                    <a:pt x="75438" y="0"/>
                    <a:pt x="168402" y="0"/>
                  </a:cubicBezTo>
                  <a:lnTo>
                    <a:pt x="6714998" y="0"/>
                  </a:lnTo>
                  <a:cubicBezTo>
                    <a:pt x="6807962" y="0"/>
                    <a:pt x="6883400" y="75438"/>
                    <a:pt x="6883400" y="168402"/>
                  </a:cubicBezTo>
                  <a:lnTo>
                    <a:pt x="6883400" y="954278"/>
                  </a:lnTo>
                  <a:cubicBezTo>
                    <a:pt x="6883400" y="1047242"/>
                    <a:pt x="6807962" y="1122680"/>
                    <a:pt x="6714998" y="1122680"/>
                  </a:cubicBezTo>
                  <a:lnTo>
                    <a:pt x="168402" y="1122680"/>
                  </a:lnTo>
                  <a:cubicBezTo>
                    <a:pt x="75438" y="1122680"/>
                    <a:pt x="0" y="1047242"/>
                    <a:pt x="0" y="954278"/>
                  </a:cubicBezTo>
                  <a:close/>
                </a:path>
              </a:pathLst>
            </a:custGeom>
            <a:solidFill>
              <a:srgbClr val="F4F7FC"/>
            </a:solidFill>
            <a:ln w="19050" cap="sq">
              <a:solidFill>
                <a:srgbClr val="D7DCEC"/>
              </a:solidFill>
              <a:prstDash val="solid"/>
              <a:miter/>
            </a:ln>
          </p:spPr>
        </p:sp>
      </p:grpSp>
      <p:grpSp>
        <p:nvGrpSpPr>
          <p:cNvPr name="Group 18" id="18"/>
          <p:cNvGrpSpPr/>
          <p:nvPr/>
        </p:nvGrpSpPr>
        <p:grpSpPr>
          <a:xfrm rot="0">
            <a:off x="960120" y="5143500"/>
            <a:ext cx="5143500" cy="521208"/>
            <a:chOff x="0" y="0"/>
            <a:chExt cx="6858000" cy="694944"/>
          </a:xfrm>
        </p:grpSpPr>
        <p:sp>
          <p:nvSpPr>
            <p:cNvPr name="Freeform 19" id="19"/>
            <p:cNvSpPr/>
            <p:nvPr/>
          </p:nvSpPr>
          <p:spPr>
            <a:xfrm flipH="false" flipV="false" rot="0">
              <a:off x="0" y="0"/>
              <a:ext cx="6858000" cy="694944"/>
            </a:xfrm>
            <a:custGeom>
              <a:avLst/>
              <a:gdLst/>
              <a:ahLst/>
              <a:cxnLst/>
              <a:rect r="r" b="b" t="t" l="l"/>
              <a:pathLst>
                <a:path h="694944" w="6858000">
                  <a:moveTo>
                    <a:pt x="0" y="0"/>
                  </a:moveTo>
                  <a:lnTo>
                    <a:pt x="6858000" y="0"/>
                  </a:lnTo>
                  <a:lnTo>
                    <a:pt x="6858000" y="694944"/>
                  </a:lnTo>
                  <a:lnTo>
                    <a:pt x="0" y="694944"/>
                  </a:lnTo>
                  <a:close/>
                </a:path>
              </a:pathLst>
            </a:custGeom>
            <a:blipFill>
              <a:blip r:embed="rId2">
                <a:alphaModFix amt="0"/>
              </a:blip>
              <a:stretch>
                <a:fillRect l="0" t="-142286" r="0" b="-142286"/>
              </a:stretch>
            </a:blipFill>
          </p:spPr>
        </p:sp>
        <p:sp>
          <p:nvSpPr>
            <p:cNvPr name="TextBox 20" id="20"/>
            <p:cNvSpPr txBox="true"/>
            <p:nvPr/>
          </p:nvSpPr>
          <p:spPr>
            <a:xfrm>
              <a:off x="0" y="-38100"/>
              <a:ext cx="6858000" cy="733044"/>
            </a:xfrm>
            <a:prstGeom prst="rect">
              <a:avLst/>
            </a:prstGeom>
          </p:spPr>
          <p:txBody>
            <a:bodyPr anchor="ctr" rtlCol="false" tIns="0" lIns="0" bIns="0" rIns="0"/>
            <a:lstStyle/>
            <a:p>
              <a:pPr algn="ctr">
                <a:lnSpc>
                  <a:spcPts val="2430"/>
                </a:lnSpc>
              </a:pPr>
              <a:r>
                <a:rPr lang="en-US" sz="2025">
                  <a:solidFill>
                    <a:srgbClr val="6B7280"/>
                  </a:solidFill>
                  <a:latin typeface="Calibri (MS)"/>
                  <a:ea typeface="Calibri (MS)"/>
                  <a:cs typeface="Calibri (MS)"/>
                  <a:sym typeface="Calibri (MS)"/>
                </a:rPr>
                <a:t>Govern</a:t>
              </a:r>
            </a:p>
          </p:txBody>
        </p:sp>
      </p:grpSp>
      <p:grpSp>
        <p:nvGrpSpPr>
          <p:cNvPr name="Group 21" id="21"/>
          <p:cNvGrpSpPr/>
          <p:nvPr/>
        </p:nvGrpSpPr>
        <p:grpSpPr>
          <a:xfrm rot="0">
            <a:off x="960120" y="5513832"/>
            <a:ext cx="5143500" cy="329184"/>
            <a:chOff x="0" y="0"/>
            <a:chExt cx="6858000" cy="438912"/>
          </a:xfrm>
        </p:grpSpPr>
        <p:sp>
          <p:nvSpPr>
            <p:cNvPr name="Freeform 22" id="22"/>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23" id="23"/>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9AA3B8"/>
                  </a:solidFill>
                  <a:latin typeface="Arimo"/>
                  <a:ea typeface="Arimo"/>
                  <a:cs typeface="Arimo"/>
                  <a:sym typeface="Arimo"/>
                </a:rPr>
                <a:t>GV</a:t>
              </a:r>
            </a:p>
          </p:txBody>
        </p:sp>
      </p:grpSp>
      <p:grpSp>
        <p:nvGrpSpPr>
          <p:cNvPr name="Group 24" id="24"/>
          <p:cNvGrpSpPr/>
          <p:nvPr/>
        </p:nvGrpSpPr>
        <p:grpSpPr>
          <a:xfrm rot="0">
            <a:off x="6533007" y="5065395"/>
            <a:ext cx="5162550" cy="842010"/>
            <a:chOff x="0" y="0"/>
            <a:chExt cx="6883400" cy="1122680"/>
          </a:xfrm>
        </p:grpSpPr>
        <p:sp>
          <p:nvSpPr>
            <p:cNvPr name="Freeform 25" id="25"/>
            <p:cNvSpPr/>
            <p:nvPr/>
          </p:nvSpPr>
          <p:spPr>
            <a:xfrm flipH="false" flipV="false" rot="0">
              <a:off x="0" y="0"/>
              <a:ext cx="6883400" cy="1122680"/>
            </a:xfrm>
            <a:custGeom>
              <a:avLst/>
              <a:gdLst/>
              <a:ahLst/>
              <a:cxnLst/>
              <a:rect r="r" b="b" t="t" l="l"/>
              <a:pathLst>
                <a:path h="1122680" w="6883400">
                  <a:moveTo>
                    <a:pt x="0" y="168402"/>
                  </a:moveTo>
                  <a:cubicBezTo>
                    <a:pt x="0" y="75438"/>
                    <a:pt x="75438" y="0"/>
                    <a:pt x="168402" y="0"/>
                  </a:cubicBezTo>
                  <a:lnTo>
                    <a:pt x="6714998" y="0"/>
                  </a:lnTo>
                  <a:cubicBezTo>
                    <a:pt x="6807962" y="0"/>
                    <a:pt x="6883400" y="75438"/>
                    <a:pt x="6883400" y="168402"/>
                  </a:cubicBezTo>
                  <a:lnTo>
                    <a:pt x="6883400" y="954278"/>
                  </a:lnTo>
                  <a:cubicBezTo>
                    <a:pt x="6883400" y="1047242"/>
                    <a:pt x="6807962" y="1122680"/>
                    <a:pt x="6714998" y="1122680"/>
                  </a:cubicBezTo>
                  <a:lnTo>
                    <a:pt x="168402" y="1122680"/>
                  </a:lnTo>
                  <a:cubicBezTo>
                    <a:pt x="75438" y="1122680"/>
                    <a:pt x="0" y="1047242"/>
                    <a:pt x="0" y="954278"/>
                  </a:cubicBezTo>
                  <a:close/>
                </a:path>
              </a:pathLst>
            </a:custGeom>
            <a:solidFill>
              <a:srgbClr val="F4F7FC"/>
            </a:solidFill>
            <a:ln w="19050" cap="sq">
              <a:solidFill>
                <a:srgbClr val="D7DCEC"/>
              </a:solidFill>
              <a:prstDash val="solid"/>
              <a:miter/>
            </a:ln>
          </p:spPr>
        </p:sp>
      </p:grpSp>
      <p:grpSp>
        <p:nvGrpSpPr>
          <p:cNvPr name="Group 26" id="26"/>
          <p:cNvGrpSpPr/>
          <p:nvPr/>
        </p:nvGrpSpPr>
        <p:grpSpPr>
          <a:xfrm rot="0">
            <a:off x="6542532" y="5143500"/>
            <a:ext cx="5143500" cy="521208"/>
            <a:chOff x="0" y="0"/>
            <a:chExt cx="6858000" cy="694944"/>
          </a:xfrm>
        </p:grpSpPr>
        <p:sp>
          <p:nvSpPr>
            <p:cNvPr name="Freeform 27" id="27"/>
            <p:cNvSpPr/>
            <p:nvPr/>
          </p:nvSpPr>
          <p:spPr>
            <a:xfrm flipH="false" flipV="false" rot="0">
              <a:off x="0" y="0"/>
              <a:ext cx="6858000" cy="694944"/>
            </a:xfrm>
            <a:custGeom>
              <a:avLst/>
              <a:gdLst/>
              <a:ahLst/>
              <a:cxnLst/>
              <a:rect r="r" b="b" t="t" l="l"/>
              <a:pathLst>
                <a:path h="694944" w="6858000">
                  <a:moveTo>
                    <a:pt x="0" y="0"/>
                  </a:moveTo>
                  <a:lnTo>
                    <a:pt x="6858000" y="0"/>
                  </a:lnTo>
                  <a:lnTo>
                    <a:pt x="6858000" y="694944"/>
                  </a:lnTo>
                  <a:lnTo>
                    <a:pt x="0" y="694944"/>
                  </a:lnTo>
                  <a:close/>
                </a:path>
              </a:pathLst>
            </a:custGeom>
            <a:blipFill>
              <a:blip r:embed="rId2">
                <a:alphaModFix amt="0"/>
              </a:blip>
              <a:stretch>
                <a:fillRect l="0" t="-142286" r="0" b="-142286"/>
              </a:stretch>
            </a:blipFill>
          </p:spPr>
        </p:sp>
        <p:sp>
          <p:nvSpPr>
            <p:cNvPr name="TextBox 28" id="28"/>
            <p:cNvSpPr txBox="true"/>
            <p:nvPr/>
          </p:nvSpPr>
          <p:spPr>
            <a:xfrm>
              <a:off x="0" y="-38100"/>
              <a:ext cx="6858000" cy="733044"/>
            </a:xfrm>
            <a:prstGeom prst="rect">
              <a:avLst/>
            </a:prstGeom>
          </p:spPr>
          <p:txBody>
            <a:bodyPr anchor="ctr" rtlCol="false" tIns="0" lIns="0" bIns="0" rIns="0"/>
            <a:lstStyle/>
            <a:p>
              <a:pPr algn="ctr">
                <a:lnSpc>
                  <a:spcPts val="2430"/>
                </a:lnSpc>
              </a:pPr>
              <a:r>
                <a:rPr lang="en-US" sz="2025">
                  <a:solidFill>
                    <a:srgbClr val="6B7280"/>
                  </a:solidFill>
                  <a:latin typeface="Calibri (MS)"/>
                  <a:ea typeface="Calibri (MS)"/>
                  <a:cs typeface="Calibri (MS)"/>
                  <a:sym typeface="Calibri (MS)"/>
                </a:rPr>
                <a:t>Identify</a:t>
              </a:r>
            </a:p>
          </p:txBody>
        </p:sp>
      </p:grpSp>
      <p:grpSp>
        <p:nvGrpSpPr>
          <p:cNvPr name="Group 29" id="29"/>
          <p:cNvGrpSpPr/>
          <p:nvPr/>
        </p:nvGrpSpPr>
        <p:grpSpPr>
          <a:xfrm rot="0">
            <a:off x="6542532" y="5513832"/>
            <a:ext cx="5143500" cy="329184"/>
            <a:chOff x="0" y="0"/>
            <a:chExt cx="6858000" cy="438912"/>
          </a:xfrm>
        </p:grpSpPr>
        <p:sp>
          <p:nvSpPr>
            <p:cNvPr name="Freeform 30" id="30"/>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31" id="31"/>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9AA3B8"/>
                  </a:solidFill>
                  <a:latin typeface="Arimo"/>
                  <a:ea typeface="Arimo"/>
                  <a:cs typeface="Arimo"/>
                  <a:sym typeface="Arimo"/>
                </a:rPr>
                <a:t>ID</a:t>
              </a:r>
            </a:p>
          </p:txBody>
        </p:sp>
      </p:grpSp>
      <p:grpSp>
        <p:nvGrpSpPr>
          <p:cNvPr name="Group 32" id="32"/>
          <p:cNvGrpSpPr/>
          <p:nvPr/>
        </p:nvGrpSpPr>
        <p:grpSpPr>
          <a:xfrm rot="0">
            <a:off x="12115419" y="5065395"/>
            <a:ext cx="5162550" cy="842010"/>
            <a:chOff x="0" y="0"/>
            <a:chExt cx="6883400" cy="1122680"/>
          </a:xfrm>
        </p:grpSpPr>
        <p:sp>
          <p:nvSpPr>
            <p:cNvPr name="Freeform 33" id="33"/>
            <p:cNvSpPr/>
            <p:nvPr/>
          </p:nvSpPr>
          <p:spPr>
            <a:xfrm flipH="false" flipV="false" rot="0">
              <a:off x="0" y="0"/>
              <a:ext cx="6883400" cy="1122680"/>
            </a:xfrm>
            <a:custGeom>
              <a:avLst/>
              <a:gdLst/>
              <a:ahLst/>
              <a:cxnLst/>
              <a:rect r="r" b="b" t="t" l="l"/>
              <a:pathLst>
                <a:path h="1122680" w="6883400">
                  <a:moveTo>
                    <a:pt x="0" y="168402"/>
                  </a:moveTo>
                  <a:cubicBezTo>
                    <a:pt x="0" y="75438"/>
                    <a:pt x="75438" y="0"/>
                    <a:pt x="168402" y="0"/>
                  </a:cubicBezTo>
                  <a:lnTo>
                    <a:pt x="6714998" y="0"/>
                  </a:lnTo>
                  <a:cubicBezTo>
                    <a:pt x="6807962" y="0"/>
                    <a:pt x="6883400" y="75438"/>
                    <a:pt x="6883400" y="168402"/>
                  </a:cubicBezTo>
                  <a:lnTo>
                    <a:pt x="6883400" y="954278"/>
                  </a:lnTo>
                  <a:cubicBezTo>
                    <a:pt x="6883400" y="1047242"/>
                    <a:pt x="6807962" y="1122680"/>
                    <a:pt x="6714998" y="1122680"/>
                  </a:cubicBezTo>
                  <a:lnTo>
                    <a:pt x="168402" y="1122680"/>
                  </a:lnTo>
                  <a:cubicBezTo>
                    <a:pt x="75438" y="1122680"/>
                    <a:pt x="0" y="1047242"/>
                    <a:pt x="0" y="954278"/>
                  </a:cubicBezTo>
                  <a:close/>
                </a:path>
              </a:pathLst>
            </a:custGeom>
            <a:solidFill>
              <a:srgbClr val="F4F7FC"/>
            </a:solidFill>
            <a:ln w="19050" cap="sq">
              <a:solidFill>
                <a:srgbClr val="D7DCEC"/>
              </a:solidFill>
              <a:prstDash val="solid"/>
              <a:miter/>
            </a:ln>
          </p:spPr>
        </p:sp>
      </p:grpSp>
      <p:grpSp>
        <p:nvGrpSpPr>
          <p:cNvPr name="Group 34" id="34"/>
          <p:cNvGrpSpPr/>
          <p:nvPr/>
        </p:nvGrpSpPr>
        <p:grpSpPr>
          <a:xfrm rot="0">
            <a:off x="12124944" y="5143500"/>
            <a:ext cx="5143500" cy="521208"/>
            <a:chOff x="0" y="0"/>
            <a:chExt cx="6858000" cy="694944"/>
          </a:xfrm>
        </p:grpSpPr>
        <p:sp>
          <p:nvSpPr>
            <p:cNvPr name="Freeform 35" id="35"/>
            <p:cNvSpPr/>
            <p:nvPr/>
          </p:nvSpPr>
          <p:spPr>
            <a:xfrm flipH="false" flipV="false" rot="0">
              <a:off x="0" y="0"/>
              <a:ext cx="6858000" cy="694944"/>
            </a:xfrm>
            <a:custGeom>
              <a:avLst/>
              <a:gdLst/>
              <a:ahLst/>
              <a:cxnLst/>
              <a:rect r="r" b="b" t="t" l="l"/>
              <a:pathLst>
                <a:path h="694944" w="6858000">
                  <a:moveTo>
                    <a:pt x="0" y="0"/>
                  </a:moveTo>
                  <a:lnTo>
                    <a:pt x="6858000" y="0"/>
                  </a:lnTo>
                  <a:lnTo>
                    <a:pt x="6858000" y="694944"/>
                  </a:lnTo>
                  <a:lnTo>
                    <a:pt x="0" y="694944"/>
                  </a:lnTo>
                  <a:close/>
                </a:path>
              </a:pathLst>
            </a:custGeom>
            <a:blipFill>
              <a:blip r:embed="rId2">
                <a:alphaModFix amt="0"/>
              </a:blip>
              <a:stretch>
                <a:fillRect l="0" t="-142286" r="0" b="-142286"/>
              </a:stretch>
            </a:blipFill>
          </p:spPr>
        </p:sp>
        <p:sp>
          <p:nvSpPr>
            <p:cNvPr name="TextBox 36" id="36"/>
            <p:cNvSpPr txBox="true"/>
            <p:nvPr/>
          </p:nvSpPr>
          <p:spPr>
            <a:xfrm>
              <a:off x="0" y="-38100"/>
              <a:ext cx="6858000" cy="733044"/>
            </a:xfrm>
            <a:prstGeom prst="rect">
              <a:avLst/>
            </a:prstGeom>
          </p:spPr>
          <p:txBody>
            <a:bodyPr anchor="ctr" rtlCol="false" tIns="0" lIns="0" bIns="0" rIns="0"/>
            <a:lstStyle/>
            <a:p>
              <a:pPr algn="ctr">
                <a:lnSpc>
                  <a:spcPts val="2430"/>
                </a:lnSpc>
              </a:pPr>
              <a:r>
                <a:rPr lang="en-US" sz="2025">
                  <a:solidFill>
                    <a:srgbClr val="6B7280"/>
                  </a:solidFill>
                  <a:latin typeface="Calibri (MS)"/>
                  <a:ea typeface="Calibri (MS)"/>
                  <a:cs typeface="Calibri (MS)"/>
                  <a:sym typeface="Calibri (MS)"/>
                </a:rPr>
                <a:t>Protect</a:t>
              </a:r>
            </a:p>
          </p:txBody>
        </p:sp>
      </p:grpSp>
      <p:grpSp>
        <p:nvGrpSpPr>
          <p:cNvPr name="Group 37" id="37"/>
          <p:cNvGrpSpPr/>
          <p:nvPr/>
        </p:nvGrpSpPr>
        <p:grpSpPr>
          <a:xfrm rot="0">
            <a:off x="12124944" y="5513832"/>
            <a:ext cx="5143500" cy="329184"/>
            <a:chOff x="0" y="0"/>
            <a:chExt cx="6858000" cy="438912"/>
          </a:xfrm>
        </p:grpSpPr>
        <p:sp>
          <p:nvSpPr>
            <p:cNvPr name="Freeform 38" id="38"/>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39" id="39"/>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9AA3B8"/>
                  </a:solidFill>
                  <a:latin typeface="Arimo"/>
                  <a:ea typeface="Arimo"/>
                  <a:cs typeface="Arimo"/>
                  <a:sym typeface="Arimo"/>
                </a:rPr>
                <a:t>PR</a:t>
              </a:r>
            </a:p>
          </p:txBody>
        </p:sp>
      </p:grpSp>
      <p:grpSp>
        <p:nvGrpSpPr>
          <p:cNvPr name="Group 40" id="40"/>
          <p:cNvGrpSpPr/>
          <p:nvPr/>
        </p:nvGrpSpPr>
        <p:grpSpPr>
          <a:xfrm rot="0">
            <a:off x="950595" y="6135243"/>
            <a:ext cx="5162550" cy="842010"/>
            <a:chOff x="0" y="0"/>
            <a:chExt cx="6883400" cy="1122680"/>
          </a:xfrm>
        </p:grpSpPr>
        <p:sp>
          <p:nvSpPr>
            <p:cNvPr name="Freeform 41" id="41"/>
            <p:cNvSpPr/>
            <p:nvPr/>
          </p:nvSpPr>
          <p:spPr>
            <a:xfrm flipH="false" flipV="false" rot="0">
              <a:off x="0" y="0"/>
              <a:ext cx="6883400" cy="1122680"/>
            </a:xfrm>
            <a:custGeom>
              <a:avLst/>
              <a:gdLst/>
              <a:ahLst/>
              <a:cxnLst/>
              <a:rect r="r" b="b" t="t" l="l"/>
              <a:pathLst>
                <a:path h="1122680" w="6883400">
                  <a:moveTo>
                    <a:pt x="0" y="168402"/>
                  </a:moveTo>
                  <a:cubicBezTo>
                    <a:pt x="0" y="75438"/>
                    <a:pt x="75438" y="0"/>
                    <a:pt x="168402" y="0"/>
                  </a:cubicBezTo>
                  <a:lnTo>
                    <a:pt x="6714998" y="0"/>
                  </a:lnTo>
                  <a:cubicBezTo>
                    <a:pt x="6807962" y="0"/>
                    <a:pt x="6883400" y="75438"/>
                    <a:pt x="6883400" y="168402"/>
                  </a:cubicBezTo>
                  <a:lnTo>
                    <a:pt x="6883400" y="954278"/>
                  </a:lnTo>
                  <a:cubicBezTo>
                    <a:pt x="6883400" y="1047242"/>
                    <a:pt x="6807962" y="1122680"/>
                    <a:pt x="6714998" y="1122680"/>
                  </a:cubicBezTo>
                  <a:lnTo>
                    <a:pt x="168402" y="1122680"/>
                  </a:lnTo>
                  <a:cubicBezTo>
                    <a:pt x="75438" y="1122680"/>
                    <a:pt x="0" y="1047242"/>
                    <a:pt x="0" y="954278"/>
                  </a:cubicBezTo>
                  <a:close/>
                </a:path>
              </a:pathLst>
            </a:custGeom>
            <a:solidFill>
              <a:srgbClr val="F4F7FC"/>
            </a:solidFill>
            <a:ln w="19050" cap="sq">
              <a:solidFill>
                <a:srgbClr val="D7DCEC"/>
              </a:solidFill>
              <a:prstDash val="solid"/>
              <a:miter/>
            </a:ln>
          </p:spPr>
        </p:sp>
      </p:grpSp>
      <p:grpSp>
        <p:nvGrpSpPr>
          <p:cNvPr name="Group 42" id="42"/>
          <p:cNvGrpSpPr/>
          <p:nvPr/>
        </p:nvGrpSpPr>
        <p:grpSpPr>
          <a:xfrm rot="0">
            <a:off x="960120" y="6213348"/>
            <a:ext cx="5143500" cy="521208"/>
            <a:chOff x="0" y="0"/>
            <a:chExt cx="6858000" cy="694944"/>
          </a:xfrm>
        </p:grpSpPr>
        <p:sp>
          <p:nvSpPr>
            <p:cNvPr name="Freeform 43" id="43"/>
            <p:cNvSpPr/>
            <p:nvPr/>
          </p:nvSpPr>
          <p:spPr>
            <a:xfrm flipH="false" flipV="false" rot="0">
              <a:off x="0" y="0"/>
              <a:ext cx="6858000" cy="694944"/>
            </a:xfrm>
            <a:custGeom>
              <a:avLst/>
              <a:gdLst/>
              <a:ahLst/>
              <a:cxnLst/>
              <a:rect r="r" b="b" t="t" l="l"/>
              <a:pathLst>
                <a:path h="694944" w="6858000">
                  <a:moveTo>
                    <a:pt x="0" y="0"/>
                  </a:moveTo>
                  <a:lnTo>
                    <a:pt x="6858000" y="0"/>
                  </a:lnTo>
                  <a:lnTo>
                    <a:pt x="6858000" y="694944"/>
                  </a:lnTo>
                  <a:lnTo>
                    <a:pt x="0" y="694944"/>
                  </a:lnTo>
                  <a:close/>
                </a:path>
              </a:pathLst>
            </a:custGeom>
            <a:blipFill>
              <a:blip r:embed="rId2">
                <a:alphaModFix amt="0"/>
              </a:blip>
              <a:stretch>
                <a:fillRect l="0" t="-142286" r="0" b="-142286"/>
              </a:stretch>
            </a:blipFill>
          </p:spPr>
        </p:sp>
        <p:sp>
          <p:nvSpPr>
            <p:cNvPr name="TextBox 44" id="44"/>
            <p:cNvSpPr txBox="true"/>
            <p:nvPr/>
          </p:nvSpPr>
          <p:spPr>
            <a:xfrm>
              <a:off x="0" y="-38100"/>
              <a:ext cx="6858000" cy="733044"/>
            </a:xfrm>
            <a:prstGeom prst="rect">
              <a:avLst/>
            </a:prstGeom>
          </p:spPr>
          <p:txBody>
            <a:bodyPr anchor="ctr" rtlCol="false" tIns="0" lIns="0" bIns="0" rIns="0"/>
            <a:lstStyle/>
            <a:p>
              <a:pPr algn="ctr">
                <a:lnSpc>
                  <a:spcPts val="2430"/>
                </a:lnSpc>
              </a:pPr>
              <a:r>
                <a:rPr lang="en-US" sz="2025">
                  <a:solidFill>
                    <a:srgbClr val="6B7280"/>
                  </a:solidFill>
                  <a:latin typeface="Calibri (MS)"/>
                  <a:ea typeface="Calibri (MS)"/>
                  <a:cs typeface="Calibri (MS)"/>
                  <a:sym typeface="Calibri (MS)"/>
                </a:rPr>
                <a:t>Detect</a:t>
              </a:r>
            </a:p>
          </p:txBody>
        </p:sp>
      </p:grpSp>
      <p:grpSp>
        <p:nvGrpSpPr>
          <p:cNvPr name="Group 45" id="45"/>
          <p:cNvGrpSpPr/>
          <p:nvPr/>
        </p:nvGrpSpPr>
        <p:grpSpPr>
          <a:xfrm rot="0">
            <a:off x="960120" y="6583680"/>
            <a:ext cx="5143500" cy="329184"/>
            <a:chOff x="0" y="0"/>
            <a:chExt cx="6858000" cy="438912"/>
          </a:xfrm>
        </p:grpSpPr>
        <p:sp>
          <p:nvSpPr>
            <p:cNvPr name="Freeform 46" id="46"/>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47" id="47"/>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9AA3B8"/>
                  </a:solidFill>
                  <a:latin typeface="Arimo"/>
                  <a:ea typeface="Arimo"/>
                  <a:cs typeface="Arimo"/>
                  <a:sym typeface="Arimo"/>
                </a:rPr>
                <a:t>DE</a:t>
              </a:r>
            </a:p>
          </p:txBody>
        </p:sp>
      </p:grpSp>
      <p:grpSp>
        <p:nvGrpSpPr>
          <p:cNvPr name="Group 48" id="48"/>
          <p:cNvGrpSpPr/>
          <p:nvPr/>
        </p:nvGrpSpPr>
        <p:grpSpPr>
          <a:xfrm rot="0">
            <a:off x="6533007" y="6135243"/>
            <a:ext cx="5162550" cy="842010"/>
            <a:chOff x="0" y="0"/>
            <a:chExt cx="6883400" cy="1122680"/>
          </a:xfrm>
        </p:grpSpPr>
        <p:sp>
          <p:nvSpPr>
            <p:cNvPr name="Freeform 49" id="49"/>
            <p:cNvSpPr/>
            <p:nvPr/>
          </p:nvSpPr>
          <p:spPr>
            <a:xfrm flipH="false" flipV="false" rot="0">
              <a:off x="0" y="0"/>
              <a:ext cx="6883400" cy="1122680"/>
            </a:xfrm>
            <a:custGeom>
              <a:avLst/>
              <a:gdLst/>
              <a:ahLst/>
              <a:cxnLst/>
              <a:rect r="r" b="b" t="t" l="l"/>
              <a:pathLst>
                <a:path h="1122680" w="6883400">
                  <a:moveTo>
                    <a:pt x="0" y="168402"/>
                  </a:moveTo>
                  <a:cubicBezTo>
                    <a:pt x="0" y="75438"/>
                    <a:pt x="75438" y="0"/>
                    <a:pt x="168402" y="0"/>
                  </a:cubicBezTo>
                  <a:lnTo>
                    <a:pt x="6714998" y="0"/>
                  </a:lnTo>
                  <a:cubicBezTo>
                    <a:pt x="6807962" y="0"/>
                    <a:pt x="6883400" y="75438"/>
                    <a:pt x="6883400" y="168402"/>
                  </a:cubicBezTo>
                  <a:lnTo>
                    <a:pt x="6883400" y="954278"/>
                  </a:lnTo>
                  <a:cubicBezTo>
                    <a:pt x="6883400" y="1047242"/>
                    <a:pt x="6807962" y="1122680"/>
                    <a:pt x="6714998" y="1122680"/>
                  </a:cubicBezTo>
                  <a:lnTo>
                    <a:pt x="168402" y="1122680"/>
                  </a:lnTo>
                  <a:cubicBezTo>
                    <a:pt x="75438" y="1122680"/>
                    <a:pt x="0" y="1047242"/>
                    <a:pt x="0" y="954278"/>
                  </a:cubicBezTo>
                  <a:close/>
                </a:path>
              </a:pathLst>
            </a:custGeom>
            <a:solidFill>
              <a:srgbClr val="F4F7FC"/>
            </a:solidFill>
            <a:ln w="19050" cap="sq">
              <a:solidFill>
                <a:srgbClr val="D7DCEC"/>
              </a:solidFill>
              <a:prstDash val="solid"/>
              <a:miter/>
            </a:ln>
          </p:spPr>
        </p:sp>
      </p:grpSp>
      <p:grpSp>
        <p:nvGrpSpPr>
          <p:cNvPr name="Group 50" id="50"/>
          <p:cNvGrpSpPr/>
          <p:nvPr/>
        </p:nvGrpSpPr>
        <p:grpSpPr>
          <a:xfrm rot="0">
            <a:off x="6542532" y="6213348"/>
            <a:ext cx="5143500" cy="521208"/>
            <a:chOff x="0" y="0"/>
            <a:chExt cx="6858000" cy="694944"/>
          </a:xfrm>
        </p:grpSpPr>
        <p:sp>
          <p:nvSpPr>
            <p:cNvPr name="Freeform 51" id="51"/>
            <p:cNvSpPr/>
            <p:nvPr/>
          </p:nvSpPr>
          <p:spPr>
            <a:xfrm flipH="false" flipV="false" rot="0">
              <a:off x="0" y="0"/>
              <a:ext cx="6858000" cy="694944"/>
            </a:xfrm>
            <a:custGeom>
              <a:avLst/>
              <a:gdLst/>
              <a:ahLst/>
              <a:cxnLst/>
              <a:rect r="r" b="b" t="t" l="l"/>
              <a:pathLst>
                <a:path h="694944" w="6858000">
                  <a:moveTo>
                    <a:pt x="0" y="0"/>
                  </a:moveTo>
                  <a:lnTo>
                    <a:pt x="6858000" y="0"/>
                  </a:lnTo>
                  <a:lnTo>
                    <a:pt x="6858000" y="694944"/>
                  </a:lnTo>
                  <a:lnTo>
                    <a:pt x="0" y="694944"/>
                  </a:lnTo>
                  <a:close/>
                </a:path>
              </a:pathLst>
            </a:custGeom>
            <a:blipFill>
              <a:blip r:embed="rId2">
                <a:alphaModFix amt="0"/>
              </a:blip>
              <a:stretch>
                <a:fillRect l="0" t="-142286" r="0" b="-142286"/>
              </a:stretch>
            </a:blipFill>
          </p:spPr>
        </p:sp>
        <p:sp>
          <p:nvSpPr>
            <p:cNvPr name="TextBox 52" id="52"/>
            <p:cNvSpPr txBox="true"/>
            <p:nvPr/>
          </p:nvSpPr>
          <p:spPr>
            <a:xfrm>
              <a:off x="0" y="-38100"/>
              <a:ext cx="6858000" cy="733044"/>
            </a:xfrm>
            <a:prstGeom prst="rect">
              <a:avLst/>
            </a:prstGeom>
          </p:spPr>
          <p:txBody>
            <a:bodyPr anchor="ctr" rtlCol="false" tIns="0" lIns="0" bIns="0" rIns="0"/>
            <a:lstStyle/>
            <a:p>
              <a:pPr algn="ctr">
                <a:lnSpc>
                  <a:spcPts val="2430"/>
                </a:lnSpc>
              </a:pPr>
              <a:r>
                <a:rPr lang="en-US" sz="2025">
                  <a:solidFill>
                    <a:srgbClr val="6B7280"/>
                  </a:solidFill>
                  <a:latin typeface="Calibri (MS)"/>
                  <a:ea typeface="Calibri (MS)"/>
                  <a:cs typeface="Calibri (MS)"/>
                  <a:sym typeface="Calibri (MS)"/>
                </a:rPr>
                <a:t>Respond</a:t>
              </a:r>
            </a:p>
          </p:txBody>
        </p:sp>
      </p:grpSp>
      <p:grpSp>
        <p:nvGrpSpPr>
          <p:cNvPr name="Group 53" id="53"/>
          <p:cNvGrpSpPr/>
          <p:nvPr/>
        </p:nvGrpSpPr>
        <p:grpSpPr>
          <a:xfrm rot="0">
            <a:off x="6542532" y="6583680"/>
            <a:ext cx="5143500" cy="329184"/>
            <a:chOff x="0" y="0"/>
            <a:chExt cx="6858000" cy="438912"/>
          </a:xfrm>
        </p:grpSpPr>
        <p:sp>
          <p:nvSpPr>
            <p:cNvPr name="Freeform 54" id="54"/>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55" id="55"/>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9AA3B8"/>
                  </a:solidFill>
                  <a:latin typeface="Arimo"/>
                  <a:ea typeface="Arimo"/>
                  <a:cs typeface="Arimo"/>
                  <a:sym typeface="Arimo"/>
                </a:rPr>
                <a:t>RS</a:t>
              </a:r>
            </a:p>
          </p:txBody>
        </p:sp>
      </p:grpSp>
      <p:grpSp>
        <p:nvGrpSpPr>
          <p:cNvPr name="Group 56" id="56"/>
          <p:cNvGrpSpPr/>
          <p:nvPr/>
        </p:nvGrpSpPr>
        <p:grpSpPr>
          <a:xfrm rot="0">
            <a:off x="12115419" y="6135243"/>
            <a:ext cx="5162550" cy="842010"/>
            <a:chOff x="0" y="0"/>
            <a:chExt cx="6883400" cy="1122680"/>
          </a:xfrm>
        </p:grpSpPr>
        <p:sp>
          <p:nvSpPr>
            <p:cNvPr name="Freeform 57" id="57"/>
            <p:cNvSpPr/>
            <p:nvPr/>
          </p:nvSpPr>
          <p:spPr>
            <a:xfrm flipH="false" flipV="false" rot="0">
              <a:off x="0" y="0"/>
              <a:ext cx="6883400" cy="1122680"/>
            </a:xfrm>
            <a:custGeom>
              <a:avLst/>
              <a:gdLst/>
              <a:ahLst/>
              <a:cxnLst/>
              <a:rect r="r" b="b" t="t" l="l"/>
              <a:pathLst>
                <a:path h="1122680" w="6883400">
                  <a:moveTo>
                    <a:pt x="0" y="168402"/>
                  </a:moveTo>
                  <a:cubicBezTo>
                    <a:pt x="0" y="75438"/>
                    <a:pt x="75438" y="0"/>
                    <a:pt x="168402" y="0"/>
                  </a:cubicBezTo>
                  <a:lnTo>
                    <a:pt x="6714998" y="0"/>
                  </a:lnTo>
                  <a:cubicBezTo>
                    <a:pt x="6807962" y="0"/>
                    <a:pt x="6883400" y="75438"/>
                    <a:pt x="6883400" y="168402"/>
                  </a:cubicBezTo>
                  <a:lnTo>
                    <a:pt x="6883400" y="954278"/>
                  </a:lnTo>
                  <a:cubicBezTo>
                    <a:pt x="6883400" y="1047242"/>
                    <a:pt x="6807962" y="1122680"/>
                    <a:pt x="6714998" y="1122680"/>
                  </a:cubicBezTo>
                  <a:lnTo>
                    <a:pt x="168402" y="1122680"/>
                  </a:lnTo>
                  <a:cubicBezTo>
                    <a:pt x="75438" y="1122680"/>
                    <a:pt x="0" y="1047242"/>
                    <a:pt x="0" y="954278"/>
                  </a:cubicBezTo>
                  <a:close/>
                </a:path>
              </a:pathLst>
            </a:custGeom>
            <a:solidFill>
              <a:srgbClr val="2E9E6B"/>
            </a:solidFill>
            <a:ln w="19050" cap="sq">
              <a:solidFill>
                <a:srgbClr val="2E9E6B"/>
              </a:solidFill>
              <a:prstDash val="solid"/>
              <a:miter/>
            </a:ln>
          </p:spPr>
        </p:sp>
      </p:grpSp>
      <p:grpSp>
        <p:nvGrpSpPr>
          <p:cNvPr name="Group 58" id="58"/>
          <p:cNvGrpSpPr/>
          <p:nvPr/>
        </p:nvGrpSpPr>
        <p:grpSpPr>
          <a:xfrm rot="0">
            <a:off x="12124944" y="6213348"/>
            <a:ext cx="5143500" cy="521208"/>
            <a:chOff x="0" y="0"/>
            <a:chExt cx="6858000" cy="694944"/>
          </a:xfrm>
        </p:grpSpPr>
        <p:sp>
          <p:nvSpPr>
            <p:cNvPr name="Freeform 59" id="59"/>
            <p:cNvSpPr/>
            <p:nvPr/>
          </p:nvSpPr>
          <p:spPr>
            <a:xfrm flipH="false" flipV="false" rot="0">
              <a:off x="0" y="0"/>
              <a:ext cx="6858000" cy="694944"/>
            </a:xfrm>
            <a:custGeom>
              <a:avLst/>
              <a:gdLst/>
              <a:ahLst/>
              <a:cxnLst/>
              <a:rect r="r" b="b" t="t" l="l"/>
              <a:pathLst>
                <a:path h="694944" w="6858000">
                  <a:moveTo>
                    <a:pt x="0" y="0"/>
                  </a:moveTo>
                  <a:lnTo>
                    <a:pt x="6858000" y="0"/>
                  </a:lnTo>
                  <a:lnTo>
                    <a:pt x="6858000" y="694944"/>
                  </a:lnTo>
                  <a:lnTo>
                    <a:pt x="0" y="694944"/>
                  </a:lnTo>
                  <a:close/>
                </a:path>
              </a:pathLst>
            </a:custGeom>
            <a:blipFill>
              <a:blip r:embed="rId2">
                <a:alphaModFix amt="0"/>
              </a:blip>
              <a:stretch>
                <a:fillRect l="0" t="-142286" r="0" b="-142286"/>
              </a:stretch>
            </a:blipFill>
          </p:spPr>
        </p:sp>
        <p:sp>
          <p:nvSpPr>
            <p:cNvPr name="TextBox 60" id="60"/>
            <p:cNvSpPr txBox="true"/>
            <p:nvPr/>
          </p:nvSpPr>
          <p:spPr>
            <a:xfrm>
              <a:off x="0" y="-38100"/>
              <a:ext cx="6858000" cy="733044"/>
            </a:xfrm>
            <a:prstGeom prst="rect">
              <a:avLst/>
            </a:prstGeom>
          </p:spPr>
          <p:txBody>
            <a:bodyPr anchor="ctr" rtlCol="false" tIns="0" lIns="0" bIns="0" rIns="0"/>
            <a:lstStyle/>
            <a:p>
              <a:pPr algn="ctr">
                <a:lnSpc>
                  <a:spcPts val="2430"/>
                </a:lnSpc>
              </a:pPr>
              <a:r>
                <a:rPr lang="en-US" sz="2025" b="true">
                  <a:solidFill>
                    <a:srgbClr val="FFFFFF"/>
                  </a:solidFill>
                  <a:latin typeface="Calibri (MS) Bold"/>
                  <a:ea typeface="Calibri (MS) Bold"/>
                  <a:cs typeface="Calibri (MS) Bold"/>
                  <a:sym typeface="Calibri (MS) Bold"/>
                </a:rPr>
                <a:t>✓  Recover</a:t>
              </a:r>
            </a:p>
          </p:txBody>
        </p:sp>
      </p:grpSp>
      <p:grpSp>
        <p:nvGrpSpPr>
          <p:cNvPr name="Group 61" id="61"/>
          <p:cNvGrpSpPr/>
          <p:nvPr/>
        </p:nvGrpSpPr>
        <p:grpSpPr>
          <a:xfrm rot="0">
            <a:off x="12124944" y="6583680"/>
            <a:ext cx="5143500" cy="329184"/>
            <a:chOff x="0" y="0"/>
            <a:chExt cx="6858000" cy="438912"/>
          </a:xfrm>
        </p:grpSpPr>
        <p:sp>
          <p:nvSpPr>
            <p:cNvPr name="Freeform 62" id="62"/>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63" id="63"/>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FFFFFF"/>
                  </a:solidFill>
                  <a:latin typeface="Arimo"/>
                  <a:ea typeface="Arimo"/>
                  <a:cs typeface="Arimo"/>
                  <a:sym typeface="Arimo"/>
                </a:rPr>
                <a:t>RC</a:t>
              </a:r>
            </a:p>
          </p:txBody>
        </p:sp>
      </p:grpSp>
      <p:grpSp>
        <p:nvGrpSpPr>
          <p:cNvPr name="Group 64" id="64"/>
          <p:cNvGrpSpPr/>
          <p:nvPr/>
        </p:nvGrpSpPr>
        <p:grpSpPr>
          <a:xfrm rot="0">
            <a:off x="950595" y="7328535"/>
            <a:ext cx="16341090" cy="1596390"/>
            <a:chOff x="0" y="0"/>
            <a:chExt cx="21788120" cy="2128520"/>
          </a:xfrm>
        </p:grpSpPr>
        <p:sp>
          <p:nvSpPr>
            <p:cNvPr name="Freeform 65" id="65"/>
            <p:cNvSpPr/>
            <p:nvPr/>
          </p:nvSpPr>
          <p:spPr>
            <a:xfrm flipH="false" flipV="false" rot="0">
              <a:off x="0" y="0"/>
              <a:ext cx="21788120" cy="2128520"/>
            </a:xfrm>
            <a:custGeom>
              <a:avLst/>
              <a:gdLst/>
              <a:ahLst/>
              <a:cxnLst/>
              <a:rect r="r" b="b" t="t" l="l"/>
              <a:pathLst>
                <a:path h="2128520" w="21788120">
                  <a:moveTo>
                    <a:pt x="0" y="185039"/>
                  </a:moveTo>
                  <a:cubicBezTo>
                    <a:pt x="0" y="82931"/>
                    <a:pt x="82931" y="0"/>
                    <a:pt x="185039" y="0"/>
                  </a:cubicBezTo>
                  <a:lnTo>
                    <a:pt x="21603081" y="0"/>
                  </a:lnTo>
                  <a:cubicBezTo>
                    <a:pt x="21705317" y="0"/>
                    <a:pt x="21788120" y="82931"/>
                    <a:pt x="21788120" y="185039"/>
                  </a:cubicBezTo>
                  <a:lnTo>
                    <a:pt x="21788120" y="1943481"/>
                  </a:lnTo>
                  <a:cubicBezTo>
                    <a:pt x="21788120" y="2045716"/>
                    <a:pt x="21705190" y="2128520"/>
                    <a:pt x="21603081" y="2128520"/>
                  </a:cubicBezTo>
                  <a:lnTo>
                    <a:pt x="185039" y="2128520"/>
                  </a:lnTo>
                  <a:cubicBezTo>
                    <a:pt x="82931" y="2128520"/>
                    <a:pt x="0" y="2045589"/>
                    <a:pt x="0" y="1943481"/>
                  </a:cubicBezTo>
                  <a:close/>
                </a:path>
              </a:pathLst>
            </a:custGeom>
            <a:solidFill>
              <a:srgbClr val="FBF9F4"/>
            </a:solidFill>
            <a:ln w="19050" cap="sq">
              <a:solidFill>
                <a:srgbClr val="EFE6D2"/>
              </a:solidFill>
              <a:prstDash val="solid"/>
              <a:miter/>
            </a:ln>
          </p:spPr>
        </p:sp>
      </p:grpSp>
      <p:sp>
        <p:nvSpPr>
          <p:cNvPr name="TextBox 66" id="66"/>
          <p:cNvSpPr txBox="true"/>
          <p:nvPr/>
        </p:nvSpPr>
        <p:spPr>
          <a:xfrm rot="0">
            <a:off x="1463040" y="7494270"/>
            <a:ext cx="15316200" cy="1238250"/>
          </a:xfrm>
          <a:prstGeom prst="rect">
            <a:avLst/>
          </a:prstGeom>
        </p:spPr>
        <p:txBody>
          <a:bodyPr anchor="t" rtlCol="false" tIns="0" lIns="0" bIns="0" rIns="0">
            <a:spAutoFit/>
          </a:bodyPr>
          <a:lstStyle/>
          <a:p>
            <a:pPr algn="l">
              <a:lnSpc>
                <a:spcPts val="2880"/>
              </a:lnSpc>
            </a:pPr>
            <a:r>
              <a:rPr lang="en-US" sz="1875">
                <a:solidFill>
                  <a:srgbClr val="23262F"/>
                </a:solidFill>
                <a:latin typeface="Calibri (MS)"/>
                <a:ea typeface="Calibri (MS)"/>
                <a:cs typeface="Calibri (MS)"/>
                <a:sym typeface="Calibri (MS)"/>
              </a:rPr>
              <a:t>The incident is over; this is about getting operations back to normal. That's Recover.</a:t>
            </a:r>
          </a:p>
        </p:txBody>
      </p:sp>
      <p:grpSp>
        <p:nvGrpSpPr>
          <p:cNvPr name="Group 67" id="67"/>
          <p:cNvGrpSpPr/>
          <p:nvPr/>
        </p:nvGrpSpPr>
        <p:grpSpPr>
          <a:xfrm rot="0">
            <a:off x="685800" y="9710928"/>
            <a:ext cx="10972800" cy="411480"/>
            <a:chOff x="0" y="0"/>
            <a:chExt cx="14630400" cy="548640"/>
          </a:xfrm>
        </p:grpSpPr>
        <p:sp>
          <p:nvSpPr>
            <p:cNvPr name="Freeform 68" id="68"/>
            <p:cNvSpPr/>
            <p:nvPr/>
          </p:nvSpPr>
          <p:spPr>
            <a:xfrm flipH="false" flipV="false" rot="0">
              <a:off x="0" y="0"/>
              <a:ext cx="14630400" cy="548640"/>
            </a:xfrm>
            <a:custGeom>
              <a:avLst/>
              <a:gdLst/>
              <a:ahLst/>
              <a:cxnLst/>
              <a:rect r="r" b="b" t="t" l="l"/>
              <a:pathLst>
                <a:path h="548640" w="14630400">
                  <a:moveTo>
                    <a:pt x="0" y="0"/>
                  </a:moveTo>
                  <a:lnTo>
                    <a:pt x="14630400" y="0"/>
                  </a:lnTo>
                  <a:lnTo>
                    <a:pt x="14630400" y="548640"/>
                  </a:lnTo>
                  <a:lnTo>
                    <a:pt x="0" y="548640"/>
                  </a:lnTo>
                  <a:close/>
                </a:path>
              </a:pathLst>
            </a:custGeom>
            <a:blipFill>
              <a:blip r:embed="rId2">
                <a:alphaModFix amt="0"/>
              </a:blip>
              <a:stretch>
                <a:fillRect l="0" t="-469601" r="0" b="-469601"/>
              </a:stretch>
            </a:blipFill>
          </p:spPr>
        </p:sp>
        <p:sp>
          <p:nvSpPr>
            <p:cNvPr name="TextBox 69" id="69"/>
            <p:cNvSpPr txBox="true"/>
            <p:nvPr/>
          </p:nvSpPr>
          <p:spPr>
            <a:xfrm>
              <a:off x="0" y="-38100"/>
              <a:ext cx="14630400" cy="586740"/>
            </a:xfrm>
            <a:prstGeom prst="rect">
              <a:avLst/>
            </a:prstGeom>
          </p:spPr>
          <p:txBody>
            <a:bodyPr anchor="ctr" rtlCol="false" tIns="0" lIns="0" bIns="0" rIns="0"/>
            <a:lstStyle/>
            <a:p>
              <a:pPr algn="l">
                <a:lnSpc>
                  <a:spcPts val="1800"/>
                </a:lnSpc>
              </a:pPr>
              <a:r>
                <a:rPr lang="en-US" sz="1500">
                  <a:solidFill>
                    <a:srgbClr val="6B7280"/>
                  </a:solidFill>
                  <a:latin typeface="Calibri (MS)"/>
                  <a:ea typeface="Calibri (MS)"/>
                  <a:cs typeface="Calibri (MS)"/>
                  <a:sym typeface="Calibri (MS)"/>
                </a:rPr>
                <a:t>Davao del Norte Provincial Government — Cybersecurity Seminar</a:t>
              </a:r>
            </a:p>
          </p:txBody>
        </p:sp>
      </p:grpSp>
      <p:grpSp>
        <p:nvGrpSpPr>
          <p:cNvPr name="Group 70" id="70"/>
          <p:cNvGrpSpPr/>
          <p:nvPr/>
        </p:nvGrpSpPr>
        <p:grpSpPr>
          <a:xfrm rot="0">
            <a:off x="16911828" y="9710928"/>
            <a:ext cx="685800" cy="411480"/>
            <a:chOff x="0" y="0"/>
            <a:chExt cx="914400" cy="548640"/>
          </a:xfrm>
        </p:grpSpPr>
        <p:sp>
          <p:nvSpPr>
            <p:cNvPr name="Freeform 71" id="71"/>
            <p:cNvSpPr/>
            <p:nvPr/>
          </p:nvSpPr>
          <p:spPr>
            <a:xfrm flipH="false" flipV="false" rot="0">
              <a:off x="0" y="0"/>
              <a:ext cx="914400" cy="548640"/>
            </a:xfrm>
            <a:custGeom>
              <a:avLst/>
              <a:gdLst/>
              <a:ahLst/>
              <a:cxnLst/>
              <a:rect r="r" b="b" t="t" l="l"/>
              <a:pathLst>
                <a:path h="548640" w="914400">
                  <a:moveTo>
                    <a:pt x="0" y="0"/>
                  </a:moveTo>
                  <a:lnTo>
                    <a:pt x="914400" y="0"/>
                  </a:lnTo>
                  <a:lnTo>
                    <a:pt x="914400" y="548640"/>
                  </a:lnTo>
                  <a:lnTo>
                    <a:pt x="0" y="548640"/>
                  </a:lnTo>
                  <a:close/>
                </a:path>
              </a:pathLst>
            </a:custGeom>
            <a:blipFill>
              <a:blip r:embed="rId2">
                <a:alphaModFix amt="0"/>
              </a:blip>
              <a:stretch>
                <a:fillRect l="-26982" t="0" r="-26982" b="0"/>
              </a:stretch>
            </a:blipFill>
          </p:spPr>
        </p:sp>
        <p:sp>
          <p:nvSpPr>
            <p:cNvPr name="TextBox 72" id="72"/>
            <p:cNvSpPr txBox="true"/>
            <p:nvPr/>
          </p:nvSpPr>
          <p:spPr>
            <a:xfrm>
              <a:off x="0" y="-38100"/>
              <a:ext cx="914400" cy="586740"/>
            </a:xfrm>
            <a:prstGeom prst="rect">
              <a:avLst/>
            </a:prstGeom>
          </p:spPr>
          <p:txBody>
            <a:bodyPr anchor="ctr" rtlCol="false" tIns="0" lIns="0" bIns="0" rIns="0"/>
            <a:lstStyle/>
            <a:p>
              <a:pPr algn="r">
                <a:lnSpc>
                  <a:spcPts val="1800"/>
                </a:lnSpc>
              </a:pPr>
              <a:r>
                <a:rPr lang="en-US" sz="1500">
                  <a:solidFill>
                    <a:srgbClr val="6B7280"/>
                  </a:solidFill>
                  <a:latin typeface="Calibri (MS)"/>
                  <a:ea typeface="Calibri (MS)"/>
                  <a:cs typeface="Calibri (MS)"/>
                  <a:sym typeface="Calibri (MS)"/>
                </a:rPr>
                <a:t>22</a:t>
              </a:r>
            </a:p>
          </p:txBody>
        </p:sp>
      </p:grpSp>
    </p:spTree>
  </p:cSld>
  <p:clrMapOvr>
    <a:masterClrMapping/>
  </p:clrMapOvr>
</p:sld>
</file>

<file path=ppt/slides/slide8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60120" y="685800"/>
            <a:ext cx="13716000" cy="411480"/>
            <a:chOff x="0" y="0"/>
            <a:chExt cx="18288000" cy="548640"/>
          </a:xfrm>
        </p:grpSpPr>
        <p:sp>
          <p:nvSpPr>
            <p:cNvPr name="Freeform 3" id="3"/>
            <p:cNvSpPr/>
            <p:nvPr/>
          </p:nvSpPr>
          <p:spPr>
            <a:xfrm flipH="false" flipV="false" rot="0">
              <a:off x="0" y="0"/>
              <a:ext cx="18288000" cy="548640"/>
            </a:xfrm>
            <a:custGeom>
              <a:avLst/>
              <a:gdLst/>
              <a:ahLst/>
              <a:cxnLst/>
              <a:rect r="r" b="b" t="t" l="l"/>
              <a:pathLst>
                <a:path h="548640" w="18288000">
                  <a:moveTo>
                    <a:pt x="0" y="0"/>
                  </a:moveTo>
                  <a:lnTo>
                    <a:pt x="18288000" y="0"/>
                  </a:lnTo>
                  <a:lnTo>
                    <a:pt x="18288000" y="548640"/>
                  </a:lnTo>
                  <a:lnTo>
                    <a:pt x="0" y="548640"/>
                  </a:lnTo>
                  <a:close/>
                </a:path>
              </a:pathLst>
            </a:custGeom>
            <a:blipFill>
              <a:blip r:embed="rId2">
                <a:alphaModFix amt="0"/>
              </a:blip>
              <a:stretch>
                <a:fillRect l="0" t="-599501" r="0" b="-599501"/>
              </a:stretch>
            </a:blipFill>
          </p:spPr>
        </p:sp>
        <p:sp>
          <p:nvSpPr>
            <p:cNvPr name="TextBox 4" id="4"/>
            <p:cNvSpPr txBox="true"/>
            <p:nvPr/>
          </p:nvSpPr>
          <p:spPr>
            <a:xfrm>
              <a:off x="0" y="-38100"/>
              <a:ext cx="18288000" cy="586740"/>
            </a:xfrm>
            <a:prstGeom prst="rect">
              <a:avLst/>
            </a:prstGeom>
          </p:spPr>
          <p:txBody>
            <a:bodyPr anchor="ctr" rtlCol="false" tIns="0" lIns="0" bIns="0" rIns="0"/>
            <a:lstStyle/>
            <a:p>
              <a:pPr algn="l">
                <a:lnSpc>
                  <a:spcPts val="2160"/>
                </a:lnSpc>
              </a:pPr>
              <a:r>
                <a:rPr lang="en-US" b="true" sz="1800" spc="225">
                  <a:solidFill>
                    <a:srgbClr val="00B4D8"/>
                  </a:solidFill>
                  <a:latin typeface="Calibri (MS) Bold"/>
                  <a:ea typeface="Calibri (MS) Bold"/>
                  <a:cs typeface="Calibri (MS) Bold"/>
                  <a:sym typeface="Calibri (MS) Bold"/>
                </a:rPr>
                <a:t>NIST CSF SORT · SCENARIO</a:t>
              </a:r>
            </a:p>
          </p:txBody>
        </p:sp>
      </p:grpSp>
      <p:grpSp>
        <p:nvGrpSpPr>
          <p:cNvPr name="Group 5" id="5"/>
          <p:cNvGrpSpPr/>
          <p:nvPr/>
        </p:nvGrpSpPr>
        <p:grpSpPr>
          <a:xfrm rot="0">
            <a:off x="960120" y="1069848"/>
            <a:ext cx="10972800" cy="822960"/>
            <a:chOff x="0" y="0"/>
            <a:chExt cx="14630400" cy="1097280"/>
          </a:xfrm>
        </p:grpSpPr>
        <p:sp>
          <p:nvSpPr>
            <p:cNvPr name="Freeform 6" id="6"/>
            <p:cNvSpPr/>
            <p:nvPr/>
          </p:nvSpPr>
          <p:spPr>
            <a:xfrm flipH="false" flipV="false" rot="0">
              <a:off x="0" y="0"/>
              <a:ext cx="14630400" cy="1097280"/>
            </a:xfrm>
            <a:custGeom>
              <a:avLst/>
              <a:gdLst/>
              <a:ahLst/>
              <a:cxnLst/>
              <a:rect r="r" b="b" t="t" l="l"/>
              <a:pathLst>
                <a:path h="1097280" w="14630400">
                  <a:moveTo>
                    <a:pt x="0" y="0"/>
                  </a:moveTo>
                  <a:lnTo>
                    <a:pt x="14630400" y="0"/>
                  </a:lnTo>
                  <a:lnTo>
                    <a:pt x="14630400" y="1097280"/>
                  </a:lnTo>
                  <a:lnTo>
                    <a:pt x="0" y="1097280"/>
                  </a:lnTo>
                  <a:close/>
                </a:path>
              </a:pathLst>
            </a:custGeom>
            <a:blipFill>
              <a:blip r:embed="rId2">
                <a:alphaModFix amt="0"/>
              </a:blip>
              <a:stretch>
                <a:fillRect l="0" t="-209800" r="0" b="-209800"/>
              </a:stretch>
            </a:blipFill>
          </p:spPr>
        </p:sp>
        <p:sp>
          <p:nvSpPr>
            <p:cNvPr name="TextBox 7" id="7"/>
            <p:cNvSpPr txBox="true"/>
            <p:nvPr/>
          </p:nvSpPr>
          <p:spPr>
            <a:xfrm>
              <a:off x="0" y="0"/>
              <a:ext cx="14630400" cy="1097280"/>
            </a:xfrm>
            <a:prstGeom prst="rect">
              <a:avLst/>
            </a:prstGeom>
          </p:spPr>
          <p:txBody>
            <a:bodyPr anchor="ctr" rtlCol="false" tIns="0" lIns="0" bIns="0" rIns="0"/>
            <a:lstStyle/>
            <a:p>
              <a:pPr algn="l">
                <a:lnSpc>
                  <a:spcPts val="4680"/>
                </a:lnSpc>
              </a:pPr>
              <a:r>
                <a:rPr lang="en-US" sz="3900" b="true">
                  <a:solidFill>
                    <a:srgbClr val="1E2761"/>
                  </a:solidFill>
                  <a:latin typeface="Cambria Bold"/>
                  <a:ea typeface="Cambria Bold"/>
                  <a:cs typeface="Cambria Bold"/>
                  <a:sym typeface="Cambria Bold"/>
                </a:rPr>
                <a:t>Scenario 7</a:t>
              </a:r>
            </a:p>
          </p:txBody>
        </p:sp>
      </p:grpSp>
      <p:grpSp>
        <p:nvGrpSpPr>
          <p:cNvPr name="Group 8" id="8"/>
          <p:cNvGrpSpPr/>
          <p:nvPr/>
        </p:nvGrpSpPr>
        <p:grpSpPr>
          <a:xfrm rot="0">
            <a:off x="960120" y="1810512"/>
            <a:ext cx="8229600" cy="411480"/>
            <a:chOff x="0" y="0"/>
            <a:chExt cx="10972800" cy="548640"/>
          </a:xfrm>
        </p:grpSpPr>
        <p:sp>
          <p:nvSpPr>
            <p:cNvPr name="Freeform 9" id="9"/>
            <p:cNvSpPr/>
            <p:nvPr/>
          </p:nvSpPr>
          <p:spPr>
            <a:xfrm flipH="false" flipV="false" rot="0">
              <a:off x="0" y="0"/>
              <a:ext cx="10972800" cy="548640"/>
            </a:xfrm>
            <a:custGeom>
              <a:avLst/>
              <a:gdLst/>
              <a:ahLst/>
              <a:cxnLst/>
              <a:rect r="r" b="b" t="t" l="l"/>
              <a:pathLst>
                <a:path h="548640" w="10972800">
                  <a:moveTo>
                    <a:pt x="0" y="0"/>
                  </a:moveTo>
                  <a:lnTo>
                    <a:pt x="10972800" y="0"/>
                  </a:lnTo>
                  <a:lnTo>
                    <a:pt x="10972800" y="548640"/>
                  </a:lnTo>
                  <a:lnTo>
                    <a:pt x="0" y="548640"/>
                  </a:lnTo>
                  <a:close/>
                </a:path>
              </a:pathLst>
            </a:custGeom>
            <a:blipFill>
              <a:blip r:embed="rId2">
                <a:alphaModFix amt="0"/>
              </a:blip>
              <a:stretch>
                <a:fillRect l="0" t="-339700" r="0" b="-339700"/>
              </a:stretch>
            </a:blipFill>
          </p:spPr>
        </p:sp>
        <p:sp>
          <p:nvSpPr>
            <p:cNvPr name="TextBox 10" id="10"/>
            <p:cNvSpPr txBox="true"/>
            <p:nvPr/>
          </p:nvSpPr>
          <p:spPr>
            <a:xfrm>
              <a:off x="0" y="-28575"/>
              <a:ext cx="10972800" cy="577215"/>
            </a:xfrm>
            <a:prstGeom prst="rect">
              <a:avLst/>
            </a:prstGeom>
          </p:spPr>
          <p:txBody>
            <a:bodyPr anchor="ctr" rtlCol="false" tIns="0" lIns="0" bIns="0" rIns="0"/>
            <a:lstStyle/>
            <a:p>
              <a:pPr algn="l">
                <a:lnSpc>
                  <a:spcPts val="1980"/>
                </a:lnSpc>
              </a:pPr>
              <a:r>
                <a:rPr lang="en-US" sz="1650">
                  <a:solidFill>
                    <a:srgbClr val="6B7280"/>
                  </a:solidFill>
                  <a:latin typeface="Calibri (MS)"/>
                  <a:ea typeface="Calibri (MS)"/>
                  <a:cs typeface="Calibri (MS)"/>
                  <a:sym typeface="Calibri (MS)"/>
                </a:rPr>
                <a:t>7 of 20</a:t>
              </a:r>
            </a:p>
          </p:txBody>
        </p:sp>
      </p:grpSp>
      <p:grpSp>
        <p:nvGrpSpPr>
          <p:cNvPr name="Group 11" id="11"/>
          <p:cNvGrpSpPr/>
          <p:nvPr/>
        </p:nvGrpSpPr>
        <p:grpSpPr>
          <a:xfrm rot="0">
            <a:off x="960120" y="2537460"/>
            <a:ext cx="16322040" cy="2811780"/>
            <a:chOff x="0" y="0"/>
            <a:chExt cx="21762720" cy="3749040"/>
          </a:xfrm>
        </p:grpSpPr>
        <p:sp>
          <p:nvSpPr>
            <p:cNvPr name="Freeform 12" id="12"/>
            <p:cNvSpPr/>
            <p:nvPr/>
          </p:nvSpPr>
          <p:spPr>
            <a:xfrm flipH="false" flipV="false" rot="0">
              <a:off x="0" y="0"/>
              <a:ext cx="21762720" cy="3749040"/>
            </a:xfrm>
            <a:custGeom>
              <a:avLst/>
              <a:gdLst/>
              <a:ahLst/>
              <a:cxnLst/>
              <a:rect r="r" b="b" t="t" l="l"/>
              <a:pathLst>
                <a:path h="3749040" w="21762720">
                  <a:moveTo>
                    <a:pt x="0" y="182880"/>
                  </a:moveTo>
                  <a:cubicBezTo>
                    <a:pt x="0" y="81915"/>
                    <a:pt x="81915" y="0"/>
                    <a:pt x="182880" y="0"/>
                  </a:cubicBezTo>
                  <a:lnTo>
                    <a:pt x="21579839" y="0"/>
                  </a:lnTo>
                  <a:cubicBezTo>
                    <a:pt x="21680804" y="0"/>
                    <a:pt x="21762720" y="81915"/>
                    <a:pt x="21762720" y="182880"/>
                  </a:cubicBezTo>
                  <a:lnTo>
                    <a:pt x="21762720" y="3566160"/>
                  </a:lnTo>
                  <a:cubicBezTo>
                    <a:pt x="21762720" y="3667125"/>
                    <a:pt x="21680804" y="3749040"/>
                    <a:pt x="21579839" y="3749040"/>
                  </a:cubicBezTo>
                  <a:lnTo>
                    <a:pt x="182880" y="3749040"/>
                  </a:lnTo>
                  <a:cubicBezTo>
                    <a:pt x="81915" y="3749040"/>
                    <a:pt x="0" y="3667125"/>
                    <a:pt x="0" y="3566160"/>
                  </a:cubicBezTo>
                  <a:close/>
                </a:path>
              </a:pathLst>
            </a:custGeom>
            <a:solidFill>
              <a:srgbClr val="F4F7FC"/>
            </a:solidFill>
          </p:spPr>
        </p:sp>
      </p:grpSp>
      <p:grpSp>
        <p:nvGrpSpPr>
          <p:cNvPr name="Group 13" id="13"/>
          <p:cNvGrpSpPr/>
          <p:nvPr/>
        </p:nvGrpSpPr>
        <p:grpSpPr>
          <a:xfrm rot="0">
            <a:off x="1440180" y="2811780"/>
            <a:ext cx="15361920" cy="2263140"/>
            <a:chOff x="0" y="0"/>
            <a:chExt cx="20482560" cy="3017520"/>
          </a:xfrm>
        </p:grpSpPr>
        <p:sp>
          <p:nvSpPr>
            <p:cNvPr name="Freeform 14" id="14"/>
            <p:cNvSpPr/>
            <p:nvPr/>
          </p:nvSpPr>
          <p:spPr>
            <a:xfrm flipH="false" flipV="false" rot="0">
              <a:off x="0" y="0"/>
              <a:ext cx="20482561" cy="3017520"/>
            </a:xfrm>
            <a:custGeom>
              <a:avLst/>
              <a:gdLst/>
              <a:ahLst/>
              <a:cxnLst/>
              <a:rect r="r" b="b" t="t" l="l"/>
              <a:pathLst>
                <a:path h="3017520" w="20482561">
                  <a:moveTo>
                    <a:pt x="0" y="0"/>
                  </a:moveTo>
                  <a:lnTo>
                    <a:pt x="20482561" y="0"/>
                  </a:lnTo>
                  <a:lnTo>
                    <a:pt x="20482561" y="3017520"/>
                  </a:lnTo>
                  <a:lnTo>
                    <a:pt x="0" y="3017520"/>
                  </a:lnTo>
                  <a:close/>
                </a:path>
              </a:pathLst>
            </a:custGeom>
            <a:blipFill>
              <a:blip r:embed="rId2">
                <a:alphaModFix amt="0"/>
              </a:blip>
              <a:stretch>
                <a:fillRect l="0" t="-82262" r="0" b="-82262"/>
              </a:stretch>
            </a:blipFill>
          </p:spPr>
        </p:sp>
        <p:sp>
          <p:nvSpPr>
            <p:cNvPr name="TextBox 15" id="15"/>
            <p:cNvSpPr txBox="true"/>
            <p:nvPr/>
          </p:nvSpPr>
          <p:spPr>
            <a:xfrm>
              <a:off x="0" y="-104775"/>
              <a:ext cx="20482560" cy="3122295"/>
            </a:xfrm>
            <a:prstGeom prst="rect">
              <a:avLst/>
            </a:prstGeom>
          </p:spPr>
          <p:txBody>
            <a:bodyPr anchor="ctr" rtlCol="false" tIns="0" lIns="0" bIns="0" rIns="0"/>
            <a:lstStyle/>
            <a:p>
              <a:pPr algn="l">
                <a:lnSpc>
                  <a:spcPts val="4147"/>
                </a:lnSpc>
              </a:pPr>
              <a:r>
                <a:rPr lang="en-US" sz="2700" i="true">
                  <a:solidFill>
                    <a:srgbClr val="23262F"/>
                  </a:solidFill>
                  <a:latin typeface="Cambria Italics"/>
                  <a:ea typeface="Cambria Italics"/>
                  <a:cs typeface="Cambria Italics"/>
                  <a:sym typeface="Cambria Italics"/>
                </a:rPr>
                <a:t>"The governor's office designates a specific staff member as the office's cybersecurity risk owner, who must report to the governor every quarter."</a:t>
              </a:r>
            </a:p>
          </p:txBody>
        </p:sp>
      </p:grpSp>
      <p:sp>
        <p:nvSpPr>
          <p:cNvPr name="TextBox 16" id="16"/>
          <p:cNvSpPr txBox="true"/>
          <p:nvPr/>
        </p:nvSpPr>
        <p:spPr>
          <a:xfrm rot="0">
            <a:off x="1051560" y="5604510"/>
            <a:ext cx="16139160" cy="1276350"/>
          </a:xfrm>
          <a:prstGeom prst="rect">
            <a:avLst/>
          </a:prstGeom>
        </p:spPr>
        <p:txBody>
          <a:bodyPr anchor="t" rtlCol="false" tIns="0" lIns="0" bIns="0" rIns="0">
            <a:spAutoFit/>
          </a:bodyPr>
          <a:lstStyle/>
          <a:p>
            <a:pPr algn="ctr">
              <a:lnSpc>
                <a:spcPts val="3402"/>
              </a:lnSpc>
            </a:pPr>
            <a:r>
              <a:rPr lang="en-US" sz="2100" i="true">
                <a:solidFill>
                  <a:srgbClr val="6B7280"/>
                </a:solidFill>
                <a:latin typeface="Calibri (MS) Italics"/>
                <a:ea typeface="Calibri (MS) Italics"/>
                <a:cs typeface="Calibri (MS) Italics"/>
                <a:sym typeface="Calibri (MS) Italics"/>
              </a:rPr>
              <a:t>Which Function does this belong to — Govern, Identify, Protect, Detect, Respond, or Recover?</a:t>
            </a:r>
          </a:p>
          <a:p>
            <a:pPr algn="ctr">
              <a:lnSpc>
                <a:spcPts val="3402"/>
              </a:lnSpc>
            </a:pPr>
            <a:r>
              <a:rPr lang="en-US" sz="2100" i="true">
                <a:solidFill>
                  <a:srgbClr val="6B7280"/>
                </a:solidFill>
                <a:latin typeface="Calibri (MS) Italics"/>
                <a:ea typeface="Calibri (MS) Italics"/>
                <a:cs typeface="Calibri (MS) Italics"/>
                <a:sym typeface="Calibri (MS) Italics"/>
              </a:rPr>
              <a:t>Some belong to more than one. Discuss, then we'll reveal the answer.</a:t>
            </a:r>
          </a:p>
        </p:txBody>
      </p:sp>
      <p:grpSp>
        <p:nvGrpSpPr>
          <p:cNvPr name="Group 17" id="17"/>
          <p:cNvGrpSpPr/>
          <p:nvPr/>
        </p:nvGrpSpPr>
        <p:grpSpPr>
          <a:xfrm rot="0">
            <a:off x="950595" y="7122795"/>
            <a:ext cx="5162550" cy="910590"/>
            <a:chOff x="0" y="0"/>
            <a:chExt cx="6883400" cy="1214120"/>
          </a:xfrm>
        </p:grpSpPr>
        <p:sp>
          <p:nvSpPr>
            <p:cNvPr name="Freeform 18" id="18"/>
            <p:cNvSpPr/>
            <p:nvPr/>
          </p:nvSpPr>
          <p:spPr>
            <a:xfrm flipH="false" flipV="false" rot="0">
              <a:off x="0" y="0"/>
              <a:ext cx="6883400" cy="1214120"/>
            </a:xfrm>
            <a:custGeom>
              <a:avLst/>
              <a:gdLst/>
              <a:ahLst/>
              <a:cxnLst/>
              <a:rect r="r" b="b" t="t" l="l"/>
              <a:pathLst>
                <a:path h="1214120" w="6883400">
                  <a:moveTo>
                    <a:pt x="0" y="168148"/>
                  </a:moveTo>
                  <a:cubicBezTo>
                    <a:pt x="0" y="75311"/>
                    <a:pt x="75311" y="0"/>
                    <a:pt x="168148" y="0"/>
                  </a:cubicBezTo>
                  <a:lnTo>
                    <a:pt x="6715252" y="0"/>
                  </a:lnTo>
                  <a:cubicBezTo>
                    <a:pt x="6808089" y="0"/>
                    <a:pt x="6883400" y="75311"/>
                    <a:pt x="6883400" y="168148"/>
                  </a:cubicBezTo>
                  <a:lnTo>
                    <a:pt x="6883400" y="1045972"/>
                  </a:lnTo>
                  <a:cubicBezTo>
                    <a:pt x="6883400" y="1138809"/>
                    <a:pt x="6808089" y="1214120"/>
                    <a:pt x="6715252" y="1214120"/>
                  </a:cubicBezTo>
                  <a:lnTo>
                    <a:pt x="168148" y="1214120"/>
                  </a:lnTo>
                  <a:cubicBezTo>
                    <a:pt x="75311" y="1214120"/>
                    <a:pt x="0" y="1138809"/>
                    <a:pt x="0" y="1045972"/>
                  </a:cubicBezTo>
                  <a:close/>
                </a:path>
              </a:pathLst>
            </a:custGeom>
            <a:solidFill>
              <a:srgbClr val="F4F7FC"/>
            </a:solidFill>
            <a:ln w="19050" cap="sq">
              <a:solidFill>
                <a:srgbClr val="D7DCEC"/>
              </a:solidFill>
              <a:prstDash val="solid"/>
              <a:miter/>
            </a:ln>
          </p:spPr>
        </p:sp>
      </p:grpSp>
      <p:grpSp>
        <p:nvGrpSpPr>
          <p:cNvPr name="Group 19" id="19"/>
          <p:cNvGrpSpPr/>
          <p:nvPr/>
        </p:nvGrpSpPr>
        <p:grpSpPr>
          <a:xfrm rot="0">
            <a:off x="960120" y="7200900"/>
            <a:ext cx="5143500" cy="589788"/>
            <a:chOff x="0" y="0"/>
            <a:chExt cx="6858000" cy="786384"/>
          </a:xfrm>
        </p:grpSpPr>
        <p:sp>
          <p:nvSpPr>
            <p:cNvPr name="Freeform 20" id="20"/>
            <p:cNvSpPr/>
            <p:nvPr/>
          </p:nvSpPr>
          <p:spPr>
            <a:xfrm flipH="false" flipV="false" rot="0">
              <a:off x="0" y="0"/>
              <a:ext cx="6858000" cy="786384"/>
            </a:xfrm>
            <a:custGeom>
              <a:avLst/>
              <a:gdLst/>
              <a:ahLst/>
              <a:cxnLst/>
              <a:rect r="r" b="b" t="t" l="l"/>
              <a:pathLst>
                <a:path h="786384" w="6858000">
                  <a:moveTo>
                    <a:pt x="0" y="0"/>
                  </a:moveTo>
                  <a:lnTo>
                    <a:pt x="6858000" y="0"/>
                  </a:lnTo>
                  <a:lnTo>
                    <a:pt x="6858000" y="786384"/>
                  </a:lnTo>
                  <a:lnTo>
                    <a:pt x="0" y="786384"/>
                  </a:lnTo>
                  <a:close/>
                </a:path>
              </a:pathLst>
            </a:custGeom>
            <a:blipFill>
              <a:blip r:embed="rId2">
                <a:alphaModFix amt="0"/>
              </a:blip>
              <a:stretch>
                <a:fillRect l="0" t="-119927" r="0" b="-119927"/>
              </a:stretch>
            </a:blipFill>
          </p:spPr>
        </p:sp>
        <p:sp>
          <p:nvSpPr>
            <p:cNvPr name="TextBox 21" id="21"/>
            <p:cNvSpPr txBox="true"/>
            <p:nvPr/>
          </p:nvSpPr>
          <p:spPr>
            <a:xfrm>
              <a:off x="0" y="-38100"/>
              <a:ext cx="6858000" cy="824484"/>
            </a:xfrm>
            <a:prstGeom prst="rect">
              <a:avLst/>
            </a:prstGeom>
          </p:spPr>
          <p:txBody>
            <a:bodyPr anchor="ctr" rtlCol="false" tIns="0" lIns="0" bIns="0" rIns="0"/>
            <a:lstStyle/>
            <a:p>
              <a:pPr algn="ctr">
                <a:lnSpc>
                  <a:spcPts val="2430"/>
                </a:lnSpc>
              </a:pPr>
              <a:r>
                <a:rPr lang="en-US" sz="2025">
                  <a:solidFill>
                    <a:srgbClr val="6B7280"/>
                  </a:solidFill>
                  <a:latin typeface="Calibri (MS)"/>
                  <a:ea typeface="Calibri (MS)"/>
                  <a:cs typeface="Calibri (MS)"/>
                  <a:sym typeface="Calibri (MS)"/>
                </a:rPr>
                <a:t>Govern</a:t>
              </a:r>
            </a:p>
          </p:txBody>
        </p:sp>
      </p:grpSp>
      <p:grpSp>
        <p:nvGrpSpPr>
          <p:cNvPr name="Group 22" id="22"/>
          <p:cNvGrpSpPr/>
          <p:nvPr/>
        </p:nvGrpSpPr>
        <p:grpSpPr>
          <a:xfrm rot="0">
            <a:off x="960120" y="7639812"/>
            <a:ext cx="5143500" cy="329184"/>
            <a:chOff x="0" y="0"/>
            <a:chExt cx="6858000" cy="438912"/>
          </a:xfrm>
        </p:grpSpPr>
        <p:sp>
          <p:nvSpPr>
            <p:cNvPr name="Freeform 23" id="23"/>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24" id="24"/>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9AA3B8"/>
                  </a:solidFill>
                  <a:latin typeface="Arimo"/>
                  <a:ea typeface="Arimo"/>
                  <a:cs typeface="Arimo"/>
                  <a:sym typeface="Arimo"/>
                </a:rPr>
                <a:t>GV</a:t>
              </a:r>
            </a:p>
          </p:txBody>
        </p:sp>
      </p:grpSp>
      <p:grpSp>
        <p:nvGrpSpPr>
          <p:cNvPr name="Group 25" id="25"/>
          <p:cNvGrpSpPr/>
          <p:nvPr/>
        </p:nvGrpSpPr>
        <p:grpSpPr>
          <a:xfrm rot="0">
            <a:off x="6533007" y="7122795"/>
            <a:ext cx="5162550" cy="910590"/>
            <a:chOff x="0" y="0"/>
            <a:chExt cx="6883400" cy="1214120"/>
          </a:xfrm>
        </p:grpSpPr>
        <p:sp>
          <p:nvSpPr>
            <p:cNvPr name="Freeform 26" id="26"/>
            <p:cNvSpPr/>
            <p:nvPr/>
          </p:nvSpPr>
          <p:spPr>
            <a:xfrm flipH="false" flipV="false" rot="0">
              <a:off x="0" y="0"/>
              <a:ext cx="6883400" cy="1214120"/>
            </a:xfrm>
            <a:custGeom>
              <a:avLst/>
              <a:gdLst/>
              <a:ahLst/>
              <a:cxnLst/>
              <a:rect r="r" b="b" t="t" l="l"/>
              <a:pathLst>
                <a:path h="1214120" w="6883400">
                  <a:moveTo>
                    <a:pt x="0" y="168148"/>
                  </a:moveTo>
                  <a:cubicBezTo>
                    <a:pt x="0" y="75311"/>
                    <a:pt x="75311" y="0"/>
                    <a:pt x="168148" y="0"/>
                  </a:cubicBezTo>
                  <a:lnTo>
                    <a:pt x="6715252" y="0"/>
                  </a:lnTo>
                  <a:cubicBezTo>
                    <a:pt x="6808089" y="0"/>
                    <a:pt x="6883400" y="75311"/>
                    <a:pt x="6883400" y="168148"/>
                  </a:cubicBezTo>
                  <a:lnTo>
                    <a:pt x="6883400" y="1045972"/>
                  </a:lnTo>
                  <a:cubicBezTo>
                    <a:pt x="6883400" y="1138809"/>
                    <a:pt x="6808089" y="1214120"/>
                    <a:pt x="6715252" y="1214120"/>
                  </a:cubicBezTo>
                  <a:lnTo>
                    <a:pt x="168148" y="1214120"/>
                  </a:lnTo>
                  <a:cubicBezTo>
                    <a:pt x="75311" y="1214120"/>
                    <a:pt x="0" y="1138809"/>
                    <a:pt x="0" y="1045972"/>
                  </a:cubicBezTo>
                  <a:close/>
                </a:path>
              </a:pathLst>
            </a:custGeom>
            <a:solidFill>
              <a:srgbClr val="F4F7FC"/>
            </a:solidFill>
            <a:ln w="19050" cap="sq">
              <a:solidFill>
                <a:srgbClr val="D7DCEC"/>
              </a:solidFill>
              <a:prstDash val="solid"/>
              <a:miter/>
            </a:ln>
          </p:spPr>
        </p:sp>
      </p:grpSp>
      <p:grpSp>
        <p:nvGrpSpPr>
          <p:cNvPr name="Group 27" id="27"/>
          <p:cNvGrpSpPr/>
          <p:nvPr/>
        </p:nvGrpSpPr>
        <p:grpSpPr>
          <a:xfrm rot="0">
            <a:off x="6542532" y="7200900"/>
            <a:ext cx="5143500" cy="589788"/>
            <a:chOff x="0" y="0"/>
            <a:chExt cx="6858000" cy="786384"/>
          </a:xfrm>
        </p:grpSpPr>
        <p:sp>
          <p:nvSpPr>
            <p:cNvPr name="Freeform 28" id="28"/>
            <p:cNvSpPr/>
            <p:nvPr/>
          </p:nvSpPr>
          <p:spPr>
            <a:xfrm flipH="false" flipV="false" rot="0">
              <a:off x="0" y="0"/>
              <a:ext cx="6858000" cy="786384"/>
            </a:xfrm>
            <a:custGeom>
              <a:avLst/>
              <a:gdLst/>
              <a:ahLst/>
              <a:cxnLst/>
              <a:rect r="r" b="b" t="t" l="l"/>
              <a:pathLst>
                <a:path h="786384" w="6858000">
                  <a:moveTo>
                    <a:pt x="0" y="0"/>
                  </a:moveTo>
                  <a:lnTo>
                    <a:pt x="6858000" y="0"/>
                  </a:lnTo>
                  <a:lnTo>
                    <a:pt x="6858000" y="786384"/>
                  </a:lnTo>
                  <a:lnTo>
                    <a:pt x="0" y="786384"/>
                  </a:lnTo>
                  <a:close/>
                </a:path>
              </a:pathLst>
            </a:custGeom>
            <a:blipFill>
              <a:blip r:embed="rId2">
                <a:alphaModFix amt="0"/>
              </a:blip>
              <a:stretch>
                <a:fillRect l="0" t="-119927" r="0" b="-119927"/>
              </a:stretch>
            </a:blipFill>
          </p:spPr>
        </p:sp>
        <p:sp>
          <p:nvSpPr>
            <p:cNvPr name="TextBox 29" id="29"/>
            <p:cNvSpPr txBox="true"/>
            <p:nvPr/>
          </p:nvSpPr>
          <p:spPr>
            <a:xfrm>
              <a:off x="0" y="-38100"/>
              <a:ext cx="6858000" cy="824484"/>
            </a:xfrm>
            <a:prstGeom prst="rect">
              <a:avLst/>
            </a:prstGeom>
          </p:spPr>
          <p:txBody>
            <a:bodyPr anchor="ctr" rtlCol="false" tIns="0" lIns="0" bIns="0" rIns="0"/>
            <a:lstStyle/>
            <a:p>
              <a:pPr algn="ctr">
                <a:lnSpc>
                  <a:spcPts val="2430"/>
                </a:lnSpc>
              </a:pPr>
              <a:r>
                <a:rPr lang="en-US" sz="2025">
                  <a:solidFill>
                    <a:srgbClr val="6B7280"/>
                  </a:solidFill>
                  <a:latin typeface="Calibri (MS)"/>
                  <a:ea typeface="Calibri (MS)"/>
                  <a:cs typeface="Calibri (MS)"/>
                  <a:sym typeface="Calibri (MS)"/>
                </a:rPr>
                <a:t>Identify</a:t>
              </a:r>
            </a:p>
          </p:txBody>
        </p:sp>
      </p:grpSp>
      <p:grpSp>
        <p:nvGrpSpPr>
          <p:cNvPr name="Group 30" id="30"/>
          <p:cNvGrpSpPr/>
          <p:nvPr/>
        </p:nvGrpSpPr>
        <p:grpSpPr>
          <a:xfrm rot="0">
            <a:off x="6542532" y="7639812"/>
            <a:ext cx="5143500" cy="329184"/>
            <a:chOff x="0" y="0"/>
            <a:chExt cx="6858000" cy="438912"/>
          </a:xfrm>
        </p:grpSpPr>
        <p:sp>
          <p:nvSpPr>
            <p:cNvPr name="Freeform 31" id="31"/>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32" id="32"/>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9AA3B8"/>
                  </a:solidFill>
                  <a:latin typeface="Arimo"/>
                  <a:ea typeface="Arimo"/>
                  <a:cs typeface="Arimo"/>
                  <a:sym typeface="Arimo"/>
                </a:rPr>
                <a:t>ID</a:t>
              </a:r>
            </a:p>
          </p:txBody>
        </p:sp>
      </p:grpSp>
      <p:grpSp>
        <p:nvGrpSpPr>
          <p:cNvPr name="Group 33" id="33"/>
          <p:cNvGrpSpPr/>
          <p:nvPr/>
        </p:nvGrpSpPr>
        <p:grpSpPr>
          <a:xfrm rot="0">
            <a:off x="12115419" y="7122795"/>
            <a:ext cx="5162550" cy="910590"/>
            <a:chOff x="0" y="0"/>
            <a:chExt cx="6883400" cy="1214120"/>
          </a:xfrm>
        </p:grpSpPr>
        <p:sp>
          <p:nvSpPr>
            <p:cNvPr name="Freeform 34" id="34"/>
            <p:cNvSpPr/>
            <p:nvPr/>
          </p:nvSpPr>
          <p:spPr>
            <a:xfrm flipH="false" flipV="false" rot="0">
              <a:off x="0" y="0"/>
              <a:ext cx="6883400" cy="1214120"/>
            </a:xfrm>
            <a:custGeom>
              <a:avLst/>
              <a:gdLst/>
              <a:ahLst/>
              <a:cxnLst/>
              <a:rect r="r" b="b" t="t" l="l"/>
              <a:pathLst>
                <a:path h="1214120" w="6883400">
                  <a:moveTo>
                    <a:pt x="0" y="168148"/>
                  </a:moveTo>
                  <a:cubicBezTo>
                    <a:pt x="0" y="75311"/>
                    <a:pt x="75311" y="0"/>
                    <a:pt x="168148" y="0"/>
                  </a:cubicBezTo>
                  <a:lnTo>
                    <a:pt x="6715252" y="0"/>
                  </a:lnTo>
                  <a:cubicBezTo>
                    <a:pt x="6808089" y="0"/>
                    <a:pt x="6883400" y="75311"/>
                    <a:pt x="6883400" y="168148"/>
                  </a:cubicBezTo>
                  <a:lnTo>
                    <a:pt x="6883400" y="1045972"/>
                  </a:lnTo>
                  <a:cubicBezTo>
                    <a:pt x="6883400" y="1138809"/>
                    <a:pt x="6808089" y="1214120"/>
                    <a:pt x="6715252" y="1214120"/>
                  </a:cubicBezTo>
                  <a:lnTo>
                    <a:pt x="168148" y="1214120"/>
                  </a:lnTo>
                  <a:cubicBezTo>
                    <a:pt x="75311" y="1214120"/>
                    <a:pt x="0" y="1138809"/>
                    <a:pt x="0" y="1045972"/>
                  </a:cubicBezTo>
                  <a:close/>
                </a:path>
              </a:pathLst>
            </a:custGeom>
            <a:solidFill>
              <a:srgbClr val="F4F7FC"/>
            </a:solidFill>
            <a:ln w="19050" cap="sq">
              <a:solidFill>
                <a:srgbClr val="D7DCEC"/>
              </a:solidFill>
              <a:prstDash val="solid"/>
              <a:miter/>
            </a:ln>
          </p:spPr>
        </p:sp>
      </p:grpSp>
      <p:grpSp>
        <p:nvGrpSpPr>
          <p:cNvPr name="Group 35" id="35"/>
          <p:cNvGrpSpPr/>
          <p:nvPr/>
        </p:nvGrpSpPr>
        <p:grpSpPr>
          <a:xfrm rot="0">
            <a:off x="12124944" y="7200900"/>
            <a:ext cx="5143500" cy="589788"/>
            <a:chOff x="0" y="0"/>
            <a:chExt cx="6858000" cy="786384"/>
          </a:xfrm>
        </p:grpSpPr>
        <p:sp>
          <p:nvSpPr>
            <p:cNvPr name="Freeform 36" id="36"/>
            <p:cNvSpPr/>
            <p:nvPr/>
          </p:nvSpPr>
          <p:spPr>
            <a:xfrm flipH="false" flipV="false" rot="0">
              <a:off x="0" y="0"/>
              <a:ext cx="6858000" cy="786384"/>
            </a:xfrm>
            <a:custGeom>
              <a:avLst/>
              <a:gdLst/>
              <a:ahLst/>
              <a:cxnLst/>
              <a:rect r="r" b="b" t="t" l="l"/>
              <a:pathLst>
                <a:path h="786384" w="6858000">
                  <a:moveTo>
                    <a:pt x="0" y="0"/>
                  </a:moveTo>
                  <a:lnTo>
                    <a:pt x="6858000" y="0"/>
                  </a:lnTo>
                  <a:lnTo>
                    <a:pt x="6858000" y="786384"/>
                  </a:lnTo>
                  <a:lnTo>
                    <a:pt x="0" y="786384"/>
                  </a:lnTo>
                  <a:close/>
                </a:path>
              </a:pathLst>
            </a:custGeom>
            <a:blipFill>
              <a:blip r:embed="rId2">
                <a:alphaModFix amt="0"/>
              </a:blip>
              <a:stretch>
                <a:fillRect l="0" t="-119927" r="0" b="-119927"/>
              </a:stretch>
            </a:blipFill>
          </p:spPr>
        </p:sp>
        <p:sp>
          <p:nvSpPr>
            <p:cNvPr name="TextBox 37" id="37"/>
            <p:cNvSpPr txBox="true"/>
            <p:nvPr/>
          </p:nvSpPr>
          <p:spPr>
            <a:xfrm>
              <a:off x="0" y="-38100"/>
              <a:ext cx="6858000" cy="824484"/>
            </a:xfrm>
            <a:prstGeom prst="rect">
              <a:avLst/>
            </a:prstGeom>
          </p:spPr>
          <p:txBody>
            <a:bodyPr anchor="ctr" rtlCol="false" tIns="0" lIns="0" bIns="0" rIns="0"/>
            <a:lstStyle/>
            <a:p>
              <a:pPr algn="ctr">
                <a:lnSpc>
                  <a:spcPts val="2430"/>
                </a:lnSpc>
              </a:pPr>
              <a:r>
                <a:rPr lang="en-US" sz="2025">
                  <a:solidFill>
                    <a:srgbClr val="6B7280"/>
                  </a:solidFill>
                  <a:latin typeface="Calibri (MS)"/>
                  <a:ea typeface="Calibri (MS)"/>
                  <a:cs typeface="Calibri (MS)"/>
                  <a:sym typeface="Calibri (MS)"/>
                </a:rPr>
                <a:t>Protect</a:t>
              </a:r>
            </a:p>
          </p:txBody>
        </p:sp>
      </p:grpSp>
      <p:grpSp>
        <p:nvGrpSpPr>
          <p:cNvPr name="Group 38" id="38"/>
          <p:cNvGrpSpPr/>
          <p:nvPr/>
        </p:nvGrpSpPr>
        <p:grpSpPr>
          <a:xfrm rot="0">
            <a:off x="12124944" y="7639812"/>
            <a:ext cx="5143500" cy="329184"/>
            <a:chOff x="0" y="0"/>
            <a:chExt cx="6858000" cy="438912"/>
          </a:xfrm>
        </p:grpSpPr>
        <p:sp>
          <p:nvSpPr>
            <p:cNvPr name="Freeform 39" id="39"/>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40" id="40"/>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9AA3B8"/>
                  </a:solidFill>
                  <a:latin typeface="Arimo"/>
                  <a:ea typeface="Arimo"/>
                  <a:cs typeface="Arimo"/>
                  <a:sym typeface="Arimo"/>
                </a:rPr>
                <a:t>PR</a:t>
              </a:r>
            </a:p>
          </p:txBody>
        </p:sp>
      </p:grpSp>
      <p:grpSp>
        <p:nvGrpSpPr>
          <p:cNvPr name="Group 41" id="41"/>
          <p:cNvGrpSpPr/>
          <p:nvPr/>
        </p:nvGrpSpPr>
        <p:grpSpPr>
          <a:xfrm rot="0">
            <a:off x="950595" y="8288655"/>
            <a:ext cx="5162550" cy="910590"/>
            <a:chOff x="0" y="0"/>
            <a:chExt cx="6883400" cy="1214120"/>
          </a:xfrm>
        </p:grpSpPr>
        <p:sp>
          <p:nvSpPr>
            <p:cNvPr name="Freeform 42" id="42"/>
            <p:cNvSpPr/>
            <p:nvPr/>
          </p:nvSpPr>
          <p:spPr>
            <a:xfrm flipH="false" flipV="false" rot="0">
              <a:off x="0" y="0"/>
              <a:ext cx="6883400" cy="1214120"/>
            </a:xfrm>
            <a:custGeom>
              <a:avLst/>
              <a:gdLst/>
              <a:ahLst/>
              <a:cxnLst/>
              <a:rect r="r" b="b" t="t" l="l"/>
              <a:pathLst>
                <a:path h="1214120" w="6883400">
                  <a:moveTo>
                    <a:pt x="0" y="168148"/>
                  </a:moveTo>
                  <a:cubicBezTo>
                    <a:pt x="0" y="75311"/>
                    <a:pt x="75311" y="0"/>
                    <a:pt x="168148" y="0"/>
                  </a:cubicBezTo>
                  <a:lnTo>
                    <a:pt x="6715252" y="0"/>
                  </a:lnTo>
                  <a:cubicBezTo>
                    <a:pt x="6808089" y="0"/>
                    <a:pt x="6883400" y="75311"/>
                    <a:pt x="6883400" y="168148"/>
                  </a:cubicBezTo>
                  <a:lnTo>
                    <a:pt x="6883400" y="1045972"/>
                  </a:lnTo>
                  <a:cubicBezTo>
                    <a:pt x="6883400" y="1138809"/>
                    <a:pt x="6808089" y="1214120"/>
                    <a:pt x="6715252" y="1214120"/>
                  </a:cubicBezTo>
                  <a:lnTo>
                    <a:pt x="168148" y="1214120"/>
                  </a:lnTo>
                  <a:cubicBezTo>
                    <a:pt x="75311" y="1214120"/>
                    <a:pt x="0" y="1138809"/>
                    <a:pt x="0" y="1045972"/>
                  </a:cubicBezTo>
                  <a:close/>
                </a:path>
              </a:pathLst>
            </a:custGeom>
            <a:solidFill>
              <a:srgbClr val="F4F7FC"/>
            </a:solidFill>
            <a:ln w="19050" cap="sq">
              <a:solidFill>
                <a:srgbClr val="D7DCEC"/>
              </a:solidFill>
              <a:prstDash val="solid"/>
              <a:miter/>
            </a:ln>
          </p:spPr>
        </p:sp>
      </p:grpSp>
      <p:grpSp>
        <p:nvGrpSpPr>
          <p:cNvPr name="Group 43" id="43"/>
          <p:cNvGrpSpPr/>
          <p:nvPr/>
        </p:nvGrpSpPr>
        <p:grpSpPr>
          <a:xfrm rot="0">
            <a:off x="960120" y="8366760"/>
            <a:ext cx="5143500" cy="589788"/>
            <a:chOff x="0" y="0"/>
            <a:chExt cx="6858000" cy="786384"/>
          </a:xfrm>
        </p:grpSpPr>
        <p:sp>
          <p:nvSpPr>
            <p:cNvPr name="Freeform 44" id="44"/>
            <p:cNvSpPr/>
            <p:nvPr/>
          </p:nvSpPr>
          <p:spPr>
            <a:xfrm flipH="false" flipV="false" rot="0">
              <a:off x="0" y="0"/>
              <a:ext cx="6858000" cy="786384"/>
            </a:xfrm>
            <a:custGeom>
              <a:avLst/>
              <a:gdLst/>
              <a:ahLst/>
              <a:cxnLst/>
              <a:rect r="r" b="b" t="t" l="l"/>
              <a:pathLst>
                <a:path h="786384" w="6858000">
                  <a:moveTo>
                    <a:pt x="0" y="0"/>
                  </a:moveTo>
                  <a:lnTo>
                    <a:pt x="6858000" y="0"/>
                  </a:lnTo>
                  <a:lnTo>
                    <a:pt x="6858000" y="786384"/>
                  </a:lnTo>
                  <a:lnTo>
                    <a:pt x="0" y="786384"/>
                  </a:lnTo>
                  <a:close/>
                </a:path>
              </a:pathLst>
            </a:custGeom>
            <a:blipFill>
              <a:blip r:embed="rId2">
                <a:alphaModFix amt="0"/>
              </a:blip>
              <a:stretch>
                <a:fillRect l="0" t="-119927" r="0" b="-119927"/>
              </a:stretch>
            </a:blipFill>
          </p:spPr>
        </p:sp>
        <p:sp>
          <p:nvSpPr>
            <p:cNvPr name="TextBox 45" id="45"/>
            <p:cNvSpPr txBox="true"/>
            <p:nvPr/>
          </p:nvSpPr>
          <p:spPr>
            <a:xfrm>
              <a:off x="0" y="-38100"/>
              <a:ext cx="6858000" cy="824484"/>
            </a:xfrm>
            <a:prstGeom prst="rect">
              <a:avLst/>
            </a:prstGeom>
          </p:spPr>
          <p:txBody>
            <a:bodyPr anchor="ctr" rtlCol="false" tIns="0" lIns="0" bIns="0" rIns="0"/>
            <a:lstStyle/>
            <a:p>
              <a:pPr algn="ctr">
                <a:lnSpc>
                  <a:spcPts val="2430"/>
                </a:lnSpc>
              </a:pPr>
              <a:r>
                <a:rPr lang="en-US" sz="2025">
                  <a:solidFill>
                    <a:srgbClr val="6B7280"/>
                  </a:solidFill>
                  <a:latin typeface="Calibri (MS)"/>
                  <a:ea typeface="Calibri (MS)"/>
                  <a:cs typeface="Calibri (MS)"/>
                  <a:sym typeface="Calibri (MS)"/>
                </a:rPr>
                <a:t>Detect</a:t>
              </a:r>
            </a:p>
          </p:txBody>
        </p:sp>
      </p:grpSp>
      <p:grpSp>
        <p:nvGrpSpPr>
          <p:cNvPr name="Group 46" id="46"/>
          <p:cNvGrpSpPr/>
          <p:nvPr/>
        </p:nvGrpSpPr>
        <p:grpSpPr>
          <a:xfrm rot="0">
            <a:off x="960120" y="8805672"/>
            <a:ext cx="5143500" cy="329184"/>
            <a:chOff x="0" y="0"/>
            <a:chExt cx="6858000" cy="438912"/>
          </a:xfrm>
        </p:grpSpPr>
        <p:sp>
          <p:nvSpPr>
            <p:cNvPr name="Freeform 47" id="47"/>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48" id="48"/>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9AA3B8"/>
                  </a:solidFill>
                  <a:latin typeface="Arimo"/>
                  <a:ea typeface="Arimo"/>
                  <a:cs typeface="Arimo"/>
                  <a:sym typeface="Arimo"/>
                </a:rPr>
                <a:t>DE</a:t>
              </a:r>
            </a:p>
          </p:txBody>
        </p:sp>
      </p:grpSp>
      <p:grpSp>
        <p:nvGrpSpPr>
          <p:cNvPr name="Group 49" id="49"/>
          <p:cNvGrpSpPr/>
          <p:nvPr/>
        </p:nvGrpSpPr>
        <p:grpSpPr>
          <a:xfrm rot="0">
            <a:off x="6533007" y="8288655"/>
            <a:ext cx="5162550" cy="910590"/>
            <a:chOff x="0" y="0"/>
            <a:chExt cx="6883400" cy="1214120"/>
          </a:xfrm>
        </p:grpSpPr>
        <p:sp>
          <p:nvSpPr>
            <p:cNvPr name="Freeform 50" id="50"/>
            <p:cNvSpPr/>
            <p:nvPr/>
          </p:nvSpPr>
          <p:spPr>
            <a:xfrm flipH="false" flipV="false" rot="0">
              <a:off x="0" y="0"/>
              <a:ext cx="6883400" cy="1214120"/>
            </a:xfrm>
            <a:custGeom>
              <a:avLst/>
              <a:gdLst/>
              <a:ahLst/>
              <a:cxnLst/>
              <a:rect r="r" b="b" t="t" l="l"/>
              <a:pathLst>
                <a:path h="1214120" w="6883400">
                  <a:moveTo>
                    <a:pt x="0" y="168148"/>
                  </a:moveTo>
                  <a:cubicBezTo>
                    <a:pt x="0" y="75311"/>
                    <a:pt x="75311" y="0"/>
                    <a:pt x="168148" y="0"/>
                  </a:cubicBezTo>
                  <a:lnTo>
                    <a:pt x="6715252" y="0"/>
                  </a:lnTo>
                  <a:cubicBezTo>
                    <a:pt x="6808089" y="0"/>
                    <a:pt x="6883400" y="75311"/>
                    <a:pt x="6883400" y="168148"/>
                  </a:cubicBezTo>
                  <a:lnTo>
                    <a:pt x="6883400" y="1045972"/>
                  </a:lnTo>
                  <a:cubicBezTo>
                    <a:pt x="6883400" y="1138809"/>
                    <a:pt x="6808089" y="1214120"/>
                    <a:pt x="6715252" y="1214120"/>
                  </a:cubicBezTo>
                  <a:lnTo>
                    <a:pt x="168148" y="1214120"/>
                  </a:lnTo>
                  <a:cubicBezTo>
                    <a:pt x="75311" y="1214120"/>
                    <a:pt x="0" y="1138809"/>
                    <a:pt x="0" y="1045972"/>
                  </a:cubicBezTo>
                  <a:close/>
                </a:path>
              </a:pathLst>
            </a:custGeom>
            <a:solidFill>
              <a:srgbClr val="F4F7FC"/>
            </a:solidFill>
            <a:ln w="19050" cap="sq">
              <a:solidFill>
                <a:srgbClr val="D7DCEC"/>
              </a:solidFill>
              <a:prstDash val="solid"/>
              <a:miter/>
            </a:ln>
          </p:spPr>
        </p:sp>
      </p:grpSp>
      <p:grpSp>
        <p:nvGrpSpPr>
          <p:cNvPr name="Group 51" id="51"/>
          <p:cNvGrpSpPr/>
          <p:nvPr/>
        </p:nvGrpSpPr>
        <p:grpSpPr>
          <a:xfrm rot="0">
            <a:off x="6542532" y="8366760"/>
            <a:ext cx="5143500" cy="589788"/>
            <a:chOff x="0" y="0"/>
            <a:chExt cx="6858000" cy="786384"/>
          </a:xfrm>
        </p:grpSpPr>
        <p:sp>
          <p:nvSpPr>
            <p:cNvPr name="Freeform 52" id="52"/>
            <p:cNvSpPr/>
            <p:nvPr/>
          </p:nvSpPr>
          <p:spPr>
            <a:xfrm flipH="false" flipV="false" rot="0">
              <a:off x="0" y="0"/>
              <a:ext cx="6858000" cy="786384"/>
            </a:xfrm>
            <a:custGeom>
              <a:avLst/>
              <a:gdLst/>
              <a:ahLst/>
              <a:cxnLst/>
              <a:rect r="r" b="b" t="t" l="l"/>
              <a:pathLst>
                <a:path h="786384" w="6858000">
                  <a:moveTo>
                    <a:pt x="0" y="0"/>
                  </a:moveTo>
                  <a:lnTo>
                    <a:pt x="6858000" y="0"/>
                  </a:lnTo>
                  <a:lnTo>
                    <a:pt x="6858000" y="786384"/>
                  </a:lnTo>
                  <a:lnTo>
                    <a:pt x="0" y="786384"/>
                  </a:lnTo>
                  <a:close/>
                </a:path>
              </a:pathLst>
            </a:custGeom>
            <a:blipFill>
              <a:blip r:embed="rId2">
                <a:alphaModFix amt="0"/>
              </a:blip>
              <a:stretch>
                <a:fillRect l="0" t="-119927" r="0" b="-119927"/>
              </a:stretch>
            </a:blipFill>
          </p:spPr>
        </p:sp>
        <p:sp>
          <p:nvSpPr>
            <p:cNvPr name="TextBox 53" id="53"/>
            <p:cNvSpPr txBox="true"/>
            <p:nvPr/>
          </p:nvSpPr>
          <p:spPr>
            <a:xfrm>
              <a:off x="0" y="-38100"/>
              <a:ext cx="6858000" cy="824484"/>
            </a:xfrm>
            <a:prstGeom prst="rect">
              <a:avLst/>
            </a:prstGeom>
          </p:spPr>
          <p:txBody>
            <a:bodyPr anchor="ctr" rtlCol="false" tIns="0" lIns="0" bIns="0" rIns="0"/>
            <a:lstStyle/>
            <a:p>
              <a:pPr algn="ctr">
                <a:lnSpc>
                  <a:spcPts val="2430"/>
                </a:lnSpc>
              </a:pPr>
              <a:r>
                <a:rPr lang="en-US" sz="2025">
                  <a:solidFill>
                    <a:srgbClr val="6B7280"/>
                  </a:solidFill>
                  <a:latin typeface="Calibri (MS)"/>
                  <a:ea typeface="Calibri (MS)"/>
                  <a:cs typeface="Calibri (MS)"/>
                  <a:sym typeface="Calibri (MS)"/>
                </a:rPr>
                <a:t>Respond</a:t>
              </a:r>
            </a:p>
          </p:txBody>
        </p:sp>
      </p:grpSp>
      <p:grpSp>
        <p:nvGrpSpPr>
          <p:cNvPr name="Group 54" id="54"/>
          <p:cNvGrpSpPr/>
          <p:nvPr/>
        </p:nvGrpSpPr>
        <p:grpSpPr>
          <a:xfrm rot="0">
            <a:off x="6542532" y="8805672"/>
            <a:ext cx="5143500" cy="329184"/>
            <a:chOff x="0" y="0"/>
            <a:chExt cx="6858000" cy="438912"/>
          </a:xfrm>
        </p:grpSpPr>
        <p:sp>
          <p:nvSpPr>
            <p:cNvPr name="Freeform 55" id="55"/>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56" id="56"/>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9AA3B8"/>
                  </a:solidFill>
                  <a:latin typeface="Arimo"/>
                  <a:ea typeface="Arimo"/>
                  <a:cs typeface="Arimo"/>
                  <a:sym typeface="Arimo"/>
                </a:rPr>
                <a:t>RS</a:t>
              </a:r>
            </a:p>
          </p:txBody>
        </p:sp>
      </p:grpSp>
      <p:grpSp>
        <p:nvGrpSpPr>
          <p:cNvPr name="Group 57" id="57"/>
          <p:cNvGrpSpPr/>
          <p:nvPr/>
        </p:nvGrpSpPr>
        <p:grpSpPr>
          <a:xfrm rot="0">
            <a:off x="12115419" y="8288655"/>
            <a:ext cx="5162550" cy="910590"/>
            <a:chOff x="0" y="0"/>
            <a:chExt cx="6883400" cy="1214120"/>
          </a:xfrm>
        </p:grpSpPr>
        <p:sp>
          <p:nvSpPr>
            <p:cNvPr name="Freeform 58" id="58"/>
            <p:cNvSpPr/>
            <p:nvPr/>
          </p:nvSpPr>
          <p:spPr>
            <a:xfrm flipH="false" flipV="false" rot="0">
              <a:off x="0" y="0"/>
              <a:ext cx="6883400" cy="1214120"/>
            </a:xfrm>
            <a:custGeom>
              <a:avLst/>
              <a:gdLst/>
              <a:ahLst/>
              <a:cxnLst/>
              <a:rect r="r" b="b" t="t" l="l"/>
              <a:pathLst>
                <a:path h="1214120" w="6883400">
                  <a:moveTo>
                    <a:pt x="0" y="168148"/>
                  </a:moveTo>
                  <a:cubicBezTo>
                    <a:pt x="0" y="75311"/>
                    <a:pt x="75311" y="0"/>
                    <a:pt x="168148" y="0"/>
                  </a:cubicBezTo>
                  <a:lnTo>
                    <a:pt x="6715252" y="0"/>
                  </a:lnTo>
                  <a:cubicBezTo>
                    <a:pt x="6808089" y="0"/>
                    <a:pt x="6883400" y="75311"/>
                    <a:pt x="6883400" y="168148"/>
                  </a:cubicBezTo>
                  <a:lnTo>
                    <a:pt x="6883400" y="1045972"/>
                  </a:lnTo>
                  <a:cubicBezTo>
                    <a:pt x="6883400" y="1138809"/>
                    <a:pt x="6808089" y="1214120"/>
                    <a:pt x="6715252" y="1214120"/>
                  </a:cubicBezTo>
                  <a:lnTo>
                    <a:pt x="168148" y="1214120"/>
                  </a:lnTo>
                  <a:cubicBezTo>
                    <a:pt x="75311" y="1214120"/>
                    <a:pt x="0" y="1138809"/>
                    <a:pt x="0" y="1045972"/>
                  </a:cubicBezTo>
                  <a:close/>
                </a:path>
              </a:pathLst>
            </a:custGeom>
            <a:solidFill>
              <a:srgbClr val="F4F7FC"/>
            </a:solidFill>
            <a:ln w="19050" cap="sq">
              <a:solidFill>
                <a:srgbClr val="D7DCEC"/>
              </a:solidFill>
              <a:prstDash val="solid"/>
              <a:miter/>
            </a:ln>
          </p:spPr>
        </p:sp>
      </p:grpSp>
      <p:grpSp>
        <p:nvGrpSpPr>
          <p:cNvPr name="Group 59" id="59"/>
          <p:cNvGrpSpPr/>
          <p:nvPr/>
        </p:nvGrpSpPr>
        <p:grpSpPr>
          <a:xfrm rot="0">
            <a:off x="12124944" y="8366760"/>
            <a:ext cx="5143500" cy="589788"/>
            <a:chOff x="0" y="0"/>
            <a:chExt cx="6858000" cy="786384"/>
          </a:xfrm>
        </p:grpSpPr>
        <p:sp>
          <p:nvSpPr>
            <p:cNvPr name="Freeform 60" id="60"/>
            <p:cNvSpPr/>
            <p:nvPr/>
          </p:nvSpPr>
          <p:spPr>
            <a:xfrm flipH="false" flipV="false" rot="0">
              <a:off x="0" y="0"/>
              <a:ext cx="6858000" cy="786384"/>
            </a:xfrm>
            <a:custGeom>
              <a:avLst/>
              <a:gdLst/>
              <a:ahLst/>
              <a:cxnLst/>
              <a:rect r="r" b="b" t="t" l="l"/>
              <a:pathLst>
                <a:path h="786384" w="6858000">
                  <a:moveTo>
                    <a:pt x="0" y="0"/>
                  </a:moveTo>
                  <a:lnTo>
                    <a:pt x="6858000" y="0"/>
                  </a:lnTo>
                  <a:lnTo>
                    <a:pt x="6858000" y="786384"/>
                  </a:lnTo>
                  <a:lnTo>
                    <a:pt x="0" y="786384"/>
                  </a:lnTo>
                  <a:close/>
                </a:path>
              </a:pathLst>
            </a:custGeom>
            <a:blipFill>
              <a:blip r:embed="rId2">
                <a:alphaModFix amt="0"/>
              </a:blip>
              <a:stretch>
                <a:fillRect l="0" t="-119927" r="0" b="-119927"/>
              </a:stretch>
            </a:blipFill>
          </p:spPr>
        </p:sp>
        <p:sp>
          <p:nvSpPr>
            <p:cNvPr name="TextBox 61" id="61"/>
            <p:cNvSpPr txBox="true"/>
            <p:nvPr/>
          </p:nvSpPr>
          <p:spPr>
            <a:xfrm>
              <a:off x="0" y="-38100"/>
              <a:ext cx="6858000" cy="824484"/>
            </a:xfrm>
            <a:prstGeom prst="rect">
              <a:avLst/>
            </a:prstGeom>
          </p:spPr>
          <p:txBody>
            <a:bodyPr anchor="ctr" rtlCol="false" tIns="0" lIns="0" bIns="0" rIns="0"/>
            <a:lstStyle/>
            <a:p>
              <a:pPr algn="ctr">
                <a:lnSpc>
                  <a:spcPts val="2430"/>
                </a:lnSpc>
              </a:pPr>
              <a:r>
                <a:rPr lang="en-US" sz="2025">
                  <a:solidFill>
                    <a:srgbClr val="6B7280"/>
                  </a:solidFill>
                  <a:latin typeface="Calibri (MS)"/>
                  <a:ea typeface="Calibri (MS)"/>
                  <a:cs typeface="Calibri (MS)"/>
                  <a:sym typeface="Calibri (MS)"/>
                </a:rPr>
                <a:t>Recover</a:t>
              </a:r>
            </a:p>
          </p:txBody>
        </p:sp>
      </p:grpSp>
      <p:grpSp>
        <p:nvGrpSpPr>
          <p:cNvPr name="Group 62" id="62"/>
          <p:cNvGrpSpPr/>
          <p:nvPr/>
        </p:nvGrpSpPr>
        <p:grpSpPr>
          <a:xfrm rot="0">
            <a:off x="12124944" y="8805672"/>
            <a:ext cx="5143500" cy="329184"/>
            <a:chOff x="0" y="0"/>
            <a:chExt cx="6858000" cy="438912"/>
          </a:xfrm>
        </p:grpSpPr>
        <p:sp>
          <p:nvSpPr>
            <p:cNvPr name="Freeform 63" id="63"/>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64" id="64"/>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9AA3B8"/>
                  </a:solidFill>
                  <a:latin typeface="Arimo"/>
                  <a:ea typeface="Arimo"/>
                  <a:cs typeface="Arimo"/>
                  <a:sym typeface="Arimo"/>
                </a:rPr>
                <a:t>RC</a:t>
              </a:r>
            </a:p>
          </p:txBody>
        </p:sp>
      </p:grpSp>
      <p:grpSp>
        <p:nvGrpSpPr>
          <p:cNvPr name="Group 65" id="65"/>
          <p:cNvGrpSpPr/>
          <p:nvPr/>
        </p:nvGrpSpPr>
        <p:grpSpPr>
          <a:xfrm rot="0">
            <a:off x="685800" y="9710928"/>
            <a:ext cx="10972800" cy="411480"/>
            <a:chOff x="0" y="0"/>
            <a:chExt cx="14630400" cy="548640"/>
          </a:xfrm>
        </p:grpSpPr>
        <p:sp>
          <p:nvSpPr>
            <p:cNvPr name="Freeform 66" id="66"/>
            <p:cNvSpPr/>
            <p:nvPr/>
          </p:nvSpPr>
          <p:spPr>
            <a:xfrm flipH="false" flipV="false" rot="0">
              <a:off x="0" y="0"/>
              <a:ext cx="14630400" cy="548640"/>
            </a:xfrm>
            <a:custGeom>
              <a:avLst/>
              <a:gdLst/>
              <a:ahLst/>
              <a:cxnLst/>
              <a:rect r="r" b="b" t="t" l="l"/>
              <a:pathLst>
                <a:path h="548640" w="14630400">
                  <a:moveTo>
                    <a:pt x="0" y="0"/>
                  </a:moveTo>
                  <a:lnTo>
                    <a:pt x="14630400" y="0"/>
                  </a:lnTo>
                  <a:lnTo>
                    <a:pt x="14630400" y="548640"/>
                  </a:lnTo>
                  <a:lnTo>
                    <a:pt x="0" y="548640"/>
                  </a:lnTo>
                  <a:close/>
                </a:path>
              </a:pathLst>
            </a:custGeom>
            <a:blipFill>
              <a:blip r:embed="rId2">
                <a:alphaModFix amt="0"/>
              </a:blip>
              <a:stretch>
                <a:fillRect l="0" t="-469601" r="0" b="-469601"/>
              </a:stretch>
            </a:blipFill>
          </p:spPr>
        </p:sp>
        <p:sp>
          <p:nvSpPr>
            <p:cNvPr name="TextBox 67" id="67"/>
            <p:cNvSpPr txBox="true"/>
            <p:nvPr/>
          </p:nvSpPr>
          <p:spPr>
            <a:xfrm>
              <a:off x="0" y="-38100"/>
              <a:ext cx="14630400" cy="586740"/>
            </a:xfrm>
            <a:prstGeom prst="rect">
              <a:avLst/>
            </a:prstGeom>
          </p:spPr>
          <p:txBody>
            <a:bodyPr anchor="ctr" rtlCol="false" tIns="0" lIns="0" bIns="0" rIns="0"/>
            <a:lstStyle/>
            <a:p>
              <a:pPr algn="l">
                <a:lnSpc>
                  <a:spcPts val="1800"/>
                </a:lnSpc>
              </a:pPr>
              <a:r>
                <a:rPr lang="en-US" sz="1500">
                  <a:solidFill>
                    <a:srgbClr val="6B7280"/>
                  </a:solidFill>
                  <a:latin typeface="Calibri (MS)"/>
                  <a:ea typeface="Calibri (MS)"/>
                  <a:cs typeface="Calibri (MS)"/>
                  <a:sym typeface="Calibri (MS)"/>
                </a:rPr>
                <a:t>Davao del Norte Provincial Government — Cybersecurity Seminar</a:t>
              </a:r>
            </a:p>
          </p:txBody>
        </p:sp>
      </p:grpSp>
      <p:grpSp>
        <p:nvGrpSpPr>
          <p:cNvPr name="Group 68" id="68"/>
          <p:cNvGrpSpPr/>
          <p:nvPr/>
        </p:nvGrpSpPr>
        <p:grpSpPr>
          <a:xfrm rot="0">
            <a:off x="16911828" y="9710928"/>
            <a:ext cx="685800" cy="411480"/>
            <a:chOff x="0" y="0"/>
            <a:chExt cx="914400" cy="548640"/>
          </a:xfrm>
        </p:grpSpPr>
        <p:sp>
          <p:nvSpPr>
            <p:cNvPr name="Freeform 69" id="69"/>
            <p:cNvSpPr/>
            <p:nvPr/>
          </p:nvSpPr>
          <p:spPr>
            <a:xfrm flipH="false" flipV="false" rot="0">
              <a:off x="0" y="0"/>
              <a:ext cx="914400" cy="548640"/>
            </a:xfrm>
            <a:custGeom>
              <a:avLst/>
              <a:gdLst/>
              <a:ahLst/>
              <a:cxnLst/>
              <a:rect r="r" b="b" t="t" l="l"/>
              <a:pathLst>
                <a:path h="548640" w="914400">
                  <a:moveTo>
                    <a:pt x="0" y="0"/>
                  </a:moveTo>
                  <a:lnTo>
                    <a:pt x="914400" y="0"/>
                  </a:lnTo>
                  <a:lnTo>
                    <a:pt x="914400" y="548640"/>
                  </a:lnTo>
                  <a:lnTo>
                    <a:pt x="0" y="548640"/>
                  </a:lnTo>
                  <a:close/>
                </a:path>
              </a:pathLst>
            </a:custGeom>
            <a:blipFill>
              <a:blip r:embed="rId2">
                <a:alphaModFix amt="0"/>
              </a:blip>
              <a:stretch>
                <a:fillRect l="-26982" t="0" r="-26982" b="0"/>
              </a:stretch>
            </a:blipFill>
          </p:spPr>
        </p:sp>
        <p:sp>
          <p:nvSpPr>
            <p:cNvPr name="TextBox 70" id="70"/>
            <p:cNvSpPr txBox="true"/>
            <p:nvPr/>
          </p:nvSpPr>
          <p:spPr>
            <a:xfrm>
              <a:off x="0" y="-38100"/>
              <a:ext cx="914400" cy="586740"/>
            </a:xfrm>
            <a:prstGeom prst="rect">
              <a:avLst/>
            </a:prstGeom>
          </p:spPr>
          <p:txBody>
            <a:bodyPr anchor="ctr" rtlCol="false" tIns="0" lIns="0" bIns="0" rIns="0"/>
            <a:lstStyle/>
            <a:p>
              <a:pPr algn="r">
                <a:lnSpc>
                  <a:spcPts val="1800"/>
                </a:lnSpc>
              </a:pPr>
              <a:r>
                <a:rPr lang="en-US" sz="1500">
                  <a:solidFill>
                    <a:srgbClr val="6B7280"/>
                  </a:solidFill>
                  <a:latin typeface="Calibri (MS)"/>
                  <a:ea typeface="Calibri (MS)"/>
                  <a:cs typeface="Calibri (MS)"/>
                  <a:sym typeface="Calibri (MS)"/>
                </a:rPr>
                <a:t>23</a:t>
              </a:r>
            </a:p>
          </p:txBody>
        </p:sp>
      </p:grpSp>
    </p:spTree>
  </p:cSld>
  <p:clrMapOvr>
    <a:masterClrMapping/>
  </p:clrMapOvr>
</p:sld>
</file>

<file path=ppt/slides/slide9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60120" y="685800"/>
            <a:ext cx="13716000" cy="411480"/>
            <a:chOff x="0" y="0"/>
            <a:chExt cx="18288000" cy="548640"/>
          </a:xfrm>
        </p:grpSpPr>
        <p:sp>
          <p:nvSpPr>
            <p:cNvPr name="Freeform 3" id="3"/>
            <p:cNvSpPr/>
            <p:nvPr/>
          </p:nvSpPr>
          <p:spPr>
            <a:xfrm flipH="false" flipV="false" rot="0">
              <a:off x="0" y="0"/>
              <a:ext cx="18288000" cy="548640"/>
            </a:xfrm>
            <a:custGeom>
              <a:avLst/>
              <a:gdLst/>
              <a:ahLst/>
              <a:cxnLst/>
              <a:rect r="r" b="b" t="t" l="l"/>
              <a:pathLst>
                <a:path h="548640" w="18288000">
                  <a:moveTo>
                    <a:pt x="0" y="0"/>
                  </a:moveTo>
                  <a:lnTo>
                    <a:pt x="18288000" y="0"/>
                  </a:lnTo>
                  <a:lnTo>
                    <a:pt x="18288000" y="548640"/>
                  </a:lnTo>
                  <a:lnTo>
                    <a:pt x="0" y="548640"/>
                  </a:lnTo>
                  <a:close/>
                </a:path>
              </a:pathLst>
            </a:custGeom>
            <a:blipFill>
              <a:blip r:embed="rId2">
                <a:alphaModFix amt="0"/>
              </a:blip>
              <a:stretch>
                <a:fillRect l="0" t="-599501" r="0" b="-599501"/>
              </a:stretch>
            </a:blipFill>
          </p:spPr>
        </p:sp>
        <p:sp>
          <p:nvSpPr>
            <p:cNvPr name="TextBox 4" id="4"/>
            <p:cNvSpPr txBox="true"/>
            <p:nvPr/>
          </p:nvSpPr>
          <p:spPr>
            <a:xfrm>
              <a:off x="0" y="-38100"/>
              <a:ext cx="18288000" cy="586740"/>
            </a:xfrm>
            <a:prstGeom prst="rect">
              <a:avLst/>
            </a:prstGeom>
          </p:spPr>
          <p:txBody>
            <a:bodyPr anchor="ctr" rtlCol="false" tIns="0" lIns="0" bIns="0" rIns="0"/>
            <a:lstStyle/>
            <a:p>
              <a:pPr algn="l">
                <a:lnSpc>
                  <a:spcPts val="2160"/>
                </a:lnSpc>
              </a:pPr>
              <a:r>
                <a:rPr lang="en-US" b="true" sz="1800" spc="225">
                  <a:solidFill>
                    <a:srgbClr val="00B4D8"/>
                  </a:solidFill>
                  <a:latin typeface="Calibri (MS) Bold"/>
                  <a:ea typeface="Calibri (MS) Bold"/>
                  <a:cs typeface="Calibri (MS) Bold"/>
                  <a:sym typeface="Calibri (MS) Bold"/>
                </a:rPr>
                <a:t>NIST CSF SORT · ANSWER</a:t>
              </a:r>
            </a:p>
          </p:txBody>
        </p:sp>
      </p:grpSp>
      <p:grpSp>
        <p:nvGrpSpPr>
          <p:cNvPr name="Group 5" id="5"/>
          <p:cNvGrpSpPr/>
          <p:nvPr/>
        </p:nvGrpSpPr>
        <p:grpSpPr>
          <a:xfrm rot="0">
            <a:off x="960120" y="1069848"/>
            <a:ext cx="10972800" cy="822960"/>
            <a:chOff x="0" y="0"/>
            <a:chExt cx="14630400" cy="1097280"/>
          </a:xfrm>
        </p:grpSpPr>
        <p:sp>
          <p:nvSpPr>
            <p:cNvPr name="Freeform 6" id="6"/>
            <p:cNvSpPr/>
            <p:nvPr/>
          </p:nvSpPr>
          <p:spPr>
            <a:xfrm flipH="false" flipV="false" rot="0">
              <a:off x="0" y="0"/>
              <a:ext cx="14630400" cy="1097280"/>
            </a:xfrm>
            <a:custGeom>
              <a:avLst/>
              <a:gdLst/>
              <a:ahLst/>
              <a:cxnLst/>
              <a:rect r="r" b="b" t="t" l="l"/>
              <a:pathLst>
                <a:path h="1097280" w="14630400">
                  <a:moveTo>
                    <a:pt x="0" y="0"/>
                  </a:moveTo>
                  <a:lnTo>
                    <a:pt x="14630400" y="0"/>
                  </a:lnTo>
                  <a:lnTo>
                    <a:pt x="14630400" y="1097280"/>
                  </a:lnTo>
                  <a:lnTo>
                    <a:pt x="0" y="1097280"/>
                  </a:lnTo>
                  <a:close/>
                </a:path>
              </a:pathLst>
            </a:custGeom>
            <a:blipFill>
              <a:blip r:embed="rId2">
                <a:alphaModFix amt="0"/>
              </a:blip>
              <a:stretch>
                <a:fillRect l="0" t="-209800" r="0" b="-209800"/>
              </a:stretch>
            </a:blipFill>
          </p:spPr>
        </p:sp>
        <p:sp>
          <p:nvSpPr>
            <p:cNvPr name="TextBox 7" id="7"/>
            <p:cNvSpPr txBox="true"/>
            <p:nvPr/>
          </p:nvSpPr>
          <p:spPr>
            <a:xfrm>
              <a:off x="0" y="0"/>
              <a:ext cx="14630400" cy="1097280"/>
            </a:xfrm>
            <a:prstGeom prst="rect">
              <a:avLst/>
            </a:prstGeom>
          </p:spPr>
          <p:txBody>
            <a:bodyPr anchor="ctr" rtlCol="false" tIns="0" lIns="0" bIns="0" rIns="0"/>
            <a:lstStyle/>
            <a:p>
              <a:pPr algn="l">
                <a:lnSpc>
                  <a:spcPts val="4680"/>
                </a:lnSpc>
              </a:pPr>
              <a:r>
                <a:rPr lang="en-US" sz="3900" b="true">
                  <a:solidFill>
                    <a:srgbClr val="1E2761"/>
                  </a:solidFill>
                  <a:latin typeface="Cambria Bold"/>
                  <a:ea typeface="Cambria Bold"/>
                  <a:cs typeface="Cambria Bold"/>
                  <a:sym typeface="Cambria Bold"/>
                </a:rPr>
                <a:t>Scenario 7 — Answer</a:t>
              </a:r>
            </a:p>
          </p:txBody>
        </p:sp>
      </p:grpSp>
      <p:grpSp>
        <p:nvGrpSpPr>
          <p:cNvPr name="Group 8" id="8"/>
          <p:cNvGrpSpPr/>
          <p:nvPr/>
        </p:nvGrpSpPr>
        <p:grpSpPr>
          <a:xfrm rot="0">
            <a:off x="960120" y="1810512"/>
            <a:ext cx="8229600" cy="411480"/>
            <a:chOff x="0" y="0"/>
            <a:chExt cx="10972800" cy="548640"/>
          </a:xfrm>
        </p:grpSpPr>
        <p:sp>
          <p:nvSpPr>
            <p:cNvPr name="Freeform 9" id="9"/>
            <p:cNvSpPr/>
            <p:nvPr/>
          </p:nvSpPr>
          <p:spPr>
            <a:xfrm flipH="false" flipV="false" rot="0">
              <a:off x="0" y="0"/>
              <a:ext cx="10972800" cy="548640"/>
            </a:xfrm>
            <a:custGeom>
              <a:avLst/>
              <a:gdLst/>
              <a:ahLst/>
              <a:cxnLst/>
              <a:rect r="r" b="b" t="t" l="l"/>
              <a:pathLst>
                <a:path h="548640" w="10972800">
                  <a:moveTo>
                    <a:pt x="0" y="0"/>
                  </a:moveTo>
                  <a:lnTo>
                    <a:pt x="10972800" y="0"/>
                  </a:lnTo>
                  <a:lnTo>
                    <a:pt x="10972800" y="548640"/>
                  </a:lnTo>
                  <a:lnTo>
                    <a:pt x="0" y="548640"/>
                  </a:lnTo>
                  <a:close/>
                </a:path>
              </a:pathLst>
            </a:custGeom>
            <a:blipFill>
              <a:blip r:embed="rId2">
                <a:alphaModFix amt="0"/>
              </a:blip>
              <a:stretch>
                <a:fillRect l="0" t="-339700" r="0" b="-339700"/>
              </a:stretch>
            </a:blipFill>
          </p:spPr>
        </p:sp>
        <p:sp>
          <p:nvSpPr>
            <p:cNvPr name="TextBox 10" id="10"/>
            <p:cNvSpPr txBox="true"/>
            <p:nvPr/>
          </p:nvSpPr>
          <p:spPr>
            <a:xfrm>
              <a:off x="0" y="-28575"/>
              <a:ext cx="10972800" cy="577215"/>
            </a:xfrm>
            <a:prstGeom prst="rect">
              <a:avLst/>
            </a:prstGeom>
          </p:spPr>
          <p:txBody>
            <a:bodyPr anchor="ctr" rtlCol="false" tIns="0" lIns="0" bIns="0" rIns="0"/>
            <a:lstStyle/>
            <a:p>
              <a:pPr algn="l">
                <a:lnSpc>
                  <a:spcPts val="1980"/>
                </a:lnSpc>
              </a:pPr>
              <a:r>
                <a:rPr lang="en-US" sz="1650">
                  <a:solidFill>
                    <a:srgbClr val="6B7280"/>
                  </a:solidFill>
                  <a:latin typeface="Calibri (MS)"/>
                  <a:ea typeface="Calibri (MS)"/>
                  <a:cs typeface="Calibri (MS)"/>
                  <a:sym typeface="Calibri (MS)"/>
                </a:rPr>
                <a:t>7 of 20</a:t>
              </a:r>
            </a:p>
          </p:txBody>
        </p:sp>
      </p:grpSp>
      <p:grpSp>
        <p:nvGrpSpPr>
          <p:cNvPr name="Group 11" id="11"/>
          <p:cNvGrpSpPr/>
          <p:nvPr/>
        </p:nvGrpSpPr>
        <p:grpSpPr>
          <a:xfrm rot="0">
            <a:off x="960120" y="2537460"/>
            <a:ext cx="16322040" cy="2194560"/>
            <a:chOff x="0" y="0"/>
            <a:chExt cx="21762720" cy="2926080"/>
          </a:xfrm>
        </p:grpSpPr>
        <p:sp>
          <p:nvSpPr>
            <p:cNvPr name="Freeform 12" id="12"/>
            <p:cNvSpPr/>
            <p:nvPr/>
          </p:nvSpPr>
          <p:spPr>
            <a:xfrm flipH="false" flipV="false" rot="0">
              <a:off x="0" y="0"/>
              <a:ext cx="21762720" cy="2926080"/>
            </a:xfrm>
            <a:custGeom>
              <a:avLst/>
              <a:gdLst/>
              <a:ahLst/>
              <a:cxnLst/>
              <a:rect r="r" b="b" t="t" l="l"/>
              <a:pathLst>
                <a:path h="2926080" w="21762720">
                  <a:moveTo>
                    <a:pt x="0" y="182880"/>
                  </a:moveTo>
                  <a:cubicBezTo>
                    <a:pt x="0" y="81915"/>
                    <a:pt x="81915" y="0"/>
                    <a:pt x="182880" y="0"/>
                  </a:cubicBezTo>
                  <a:lnTo>
                    <a:pt x="21579839" y="0"/>
                  </a:lnTo>
                  <a:cubicBezTo>
                    <a:pt x="21680804" y="0"/>
                    <a:pt x="21762720" y="81915"/>
                    <a:pt x="21762720" y="182880"/>
                  </a:cubicBezTo>
                  <a:lnTo>
                    <a:pt x="21762720" y="2743200"/>
                  </a:lnTo>
                  <a:cubicBezTo>
                    <a:pt x="21762720" y="2844165"/>
                    <a:pt x="21680804" y="2926080"/>
                    <a:pt x="21579839" y="2926080"/>
                  </a:cubicBezTo>
                  <a:lnTo>
                    <a:pt x="182880" y="2926080"/>
                  </a:lnTo>
                  <a:cubicBezTo>
                    <a:pt x="81915" y="2926080"/>
                    <a:pt x="0" y="2844165"/>
                    <a:pt x="0" y="2743200"/>
                  </a:cubicBezTo>
                  <a:close/>
                </a:path>
              </a:pathLst>
            </a:custGeom>
            <a:solidFill>
              <a:srgbClr val="F4F7FC"/>
            </a:solidFill>
          </p:spPr>
        </p:sp>
      </p:grpSp>
      <p:grpSp>
        <p:nvGrpSpPr>
          <p:cNvPr name="Group 13" id="13"/>
          <p:cNvGrpSpPr/>
          <p:nvPr/>
        </p:nvGrpSpPr>
        <p:grpSpPr>
          <a:xfrm rot="0">
            <a:off x="1440180" y="2770632"/>
            <a:ext cx="15361920" cy="1714500"/>
            <a:chOff x="0" y="0"/>
            <a:chExt cx="20482560" cy="2286000"/>
          </a:xfrm>
        </p:grpSpPr>
        <p:sp>
          <p:nvSpPr>
            <p:cNvPr name="Freeform 14" id="14"/>
            <p:cNvSpPr/>
            <p:nvPr/>
          </p:nvSpPr>
          <p:spPr>
            <a:xfrm flipH="false" flipV="false" rot="0">
              <a:off x="0" y="0"/>
              <a:ext cx="20482561" cy="2286000"/>
            </a:xfrm>
            <a:custGeom>
              <a:avLst/>
              <a:gdLst/>
              <a:ahLst/>
              <a:cxnLst/>
              <a:rect r="r" b="b" t="t" l="l"/>
              <a:pathLst>
                <a:path h="2286000" w="20482561">
                  <a:moveTo>
                    <a:pt x="0" y="0"/>
                  </a:moveTo>
                  <a:lnTo>
                    <a:pt x="20482561" y="0"/>
                  </a:lnTo>
                  <a:lnTo>
                    <a:pt x="20482561" y="2286000"/>
                  </a:lnTo>
                  <a:lnTo>
                    <a:pt x="0" y="2286000"/>
                  </a:lnTo>
                  <a:close/>
                </a:path>
              </a:pathLst>
            </a:custGeom>
            <a:blipFill>
              <a:blip r:embed="rId2">
                <a:alphaModFix amt="0"/>
              </a:blip>
              <a:stretch>
                <a:fillRect l="0" t="-124585" r="0" b="-124585"/>
              </a:stretch>
            </a:blipFill>
          </p:spPr>
        </p:sp>
        <p:sp>
          <p:nvSpPr>
            <p:cNvPr name="TextBox 15" id="15"/>
            <p:cNvSpPr txBox="true"/>
            <p:nvPr/>
          </p:nvSpPr>
          <p:spPr>
            <a:xfrm>
              <a:off x="0" y="-85725"/>
              <a:ext cx="20482560" cy="2371725"/>
            </a:xfrm>
            <a:prstGeom prst="rect">
              <a:avLst/>
            </a:prstGeom>
          </p:spPr>
          <p:txBody>
            <a:bodyPr anchor="ctr" rtlCol="false" tIns="0" lIns="0" bIns="0" rIns="0"/>
            <a:lstStyle/>
            <a:p>
              <a:pPr algn="l">
                <a:lnSpc>
                  <a:spcPts val="3600"/>
                </a:lnSpc>
              </a:pPr>
              <a:r>
                <a:rPr lang="en-US" sz="2400" i="true">
                  <a:solidFill>
                    <a:srgbClr val="23262F"/>
                  </a:solidFill>
                  <a:latin typeface="Cambria Italics"/>
                  <a:ea typeface="Cambria Italics"/>
                  <a:cs typeface="Cambria Italics"/>
                  <a:sym typeface="Cambria Italics"/>
                </a:rPr>
                <a:t>"The governor's office designates a specific staff member as the office's cybersecurity risk owner, who must report to the governor every quarter."</a:t>
              </a:r>
            </a:p>
          </p:txBody>
        </p:sp>
      </p:grpSp>
      <p:grpSp>
        <p:nvGrpSpPr>
          <p:cNvPr name="Group 16" id="16"/>
          <p:cNvGrpSpPr/>
          <p:nvPr/>
        </p:nvGrpSpPr>
        <p:grpSpPr>
          <a:xfrm rot="0">
            <a:off x="950595" y="5065395"/>
            <a:ext cx="5162550" cy="842010"/>
            <a:chOff x="0" y="0"/>
            <a:chExt cx="6883400" cy="1122680"/>
          </a:xfrm>
        </p:grpSpPr>
        <p:sp>
          <p:nvSpPr>
            <p:cNvPr name="Freeform 17" id="17"/>
            <p:cNvSpPr/>
            <p:nvPr/>
          </p:nvSpPr>
          <p:spPr>
            <a:xfrm flipH="false" flipV="false" rot="0">
              <a:off x="0" y="0"/>
              <a:ext cx="6883400" cy="1122680"/>
            </a:xfrm>
            <a:custGeom>
              <a:avLst/>
              <a:gdLst/>
              <a:ahLst/>
              <a:cxnLst/>
              <a:rect r="r" b="b" t="t" l="l"/>
              <a:pathLst>
                <a:path h="1122680" w="6883400">
                  <a:moveTo>
                    <a:pt x="0" y="168402"/>
                  </a:moveTo>
                  <a:cubicBezTo>
                    <a:pt x="0" y="75438"/>
                    <a:pt x="75438" y="0"/>
                    <a:pt x="168402" y="0"/>
                  </a:cubicBezTo>
                  <a:lnTo>
                    <a:pt x="6714998" y="0"/>
                  </a:lnTo>
                  <a:cubicBezTo>
                    <a:pt x="6807962" y="0"/>
                    <a:pt x="6883400" y="75438"/>
                    <a:pt x="6883400" y="168402"/>
                  </a:cubicBezTo>
                  <a:lnTo>
                    <a:pt x="6883400" y="954278"/>
                  </a:lnTo>
                  <a:cubicBezTo>
                    <a:pt x="6883400" y="1047242"/>
                    <a:pt x="6807962" y="1122680"/>
                    <a:pt x="6714998" y="1122680"/>
                  </a:cubicBezTo>
                  <a:lnTo>
                    <a:pt x="168402" y="1122680"/>
                  </a:lnTo>
                  <a:cubicBezTo>
                    <a:pt x="75438" y="1122680"/>
                    <a:pt x="0" y="1047242"/>
                    <a:pt x="0" y="954278"/>
                  </a:cubicBezTo>
                  <a:close/>
                </a:path>
              </a:pathLst>
            </a:custGeom>
            <a:solidFill>
              <a:srgbClr val="6C4FD1"/>
            </a:solidFill>
            <a:ln w="19050" cap="sq">
              <a:solidFill>
                <a:srgbClr val="6C4FD1"/>
              </a:solidFill>
              <a:prstDash val="solid"/>
              <a:miter/>
            </a:ln>
          </p:spPr>
        </p:sp>
      </p:grpSp>
      <p:grpSp>
        <p:nvGrpSpPr>
          <p:cNvPr name="Group 18" id="18"/>
          <p:cNvGrpSpPr/>
          <p:nvPr/>
        </p:nvGrpSpPr>
        <p:grpSpPr>
          <a:xfrm rot="0">
            <a:off x="960120" y="5143500"/>
            <a:ext cx="5143500" cy="521208"/>
            <a:chOff x="0" y="0"/>
            <a:chExt cx="6858000" cy="694944"/>
          </a:xfrm>
        </p:grpSpPr>
        <p:sp>
          <p:nvSpPr>
            <p:cNvPr name="Freeform 19" id="19"/>
            <p:cNvSpPr/>
            <p:nvPr/>
          </p:nvSpPr>
          <p:spPr>
            <a:xfrm flipH="false" flipV="false" rot="0">
              <a:off x="0" y="0"/>
              <a:ext cx="6858000" cy="694944"/>
            </a:xfrm>
            <a:custGeom>
              <a:avLst/>
              <a:gdLst/>
              <a:ahLst/>
              <a:cxnLst/>
              <a:rect r="r" b="b" t="t" l="l"/>
              <a:pathLst>
                <a:path h="694944" w="6858000">
                  <a:moveTo>
                    <a:pt x="0" y="0"/>
                  </a:moveTo>
                  <a:lnTo>
                    <a:pt x="6858000" y="0"/>
                  </a:lnTo>
                  <a:lnTo>
                    <a:pt x="6858000" y="694944"/>
                  </a:lnTo>
                  <a:lnTo>
                    <a:pt x="0" y="694944"/>
                  </a:lnTo>
                  <a:close/>
                </a:path>
              </a:pathLst>
            </a:custGeom>
            <a:blipFill>
              <a:blip r:embed="rId2">
                <a:alphaModFix amt="0"/>
              </a:blip>
              <a:stretch>
                <a:fillRect l="0" t="-142286" r="0" b="-142286"/>
              </a:stretch>
            </a:blipFill>
          </p:spPr>
        </p:sp>
        <p:sp>
          <p:nvSpPr>
            <p:cNvPr name="TextBox 20" id="20"/>
            <p:cNvSpPr txBox="true"/>
            <p:nvPr/>
          </p:nvSpPr>
          <p:spPr>
            <a:xfrm>
              <a:off x="0" y="-38100"/>
              <a:ext cx="6858000" cy="733044"/>
            </a:xfrm>
            <a:prstGeom prst="rect">
              <a:avLst/>
            </a:prstGeom>
          </p:spPr>
          <p:txBody>
            <a:bodyPr anchor="ctr" rtlCol="false" tIns="0" lIns="0" bIns="0" rIns="0"/>
            <a:lstStyle/>
            <a:p>
              <a:pPr algn="ctr">
                <a:lnSpc>
                  <a:spcPts val="2430"/>
                </a:lnSpc>
              </a:pPr>
              <a:r>
                <a:rPr lang="en-US" sz="2025" b="true">
                  <a:solidFill>
                    <a:srgbClr val="FFFFFF"/>
                  </a:solidFill>
                  <a:latin typeface="Calibri (MS) Bold"/>
                  <a:ea typeface="Calibri (MS) Bold"/>
                  <a:cs typeface="Calibri (MS) Bold"/>
                  <a:sym typeface="Calibri (MS) Bold"/>
                </a:rPr>
                <a:t>✓  Govern</a:t>
              </a:r>
            </a:p>
          </p:txBody>
        </p:sp>
      </p:grpSp>
      <p:grpSp>
        <p:nvGrpSpPr>
          <p:cNvPr name="Group 21" id="21"/>
          <p:cNvGrpSpPr/>
          <p:nvPr/>
        </p:nvGrpSpPr>
        <p:grpSpPr>
          <a:xfrm rot="0">
            <a:off x="960120" y="5513832"/>
            <a:ext cx="5143500" cy="329184"/>
            <a:chOff x="0" y="0"/>
            <a:chExt cx="6858000" cy="438912"/>
          </a:xfrm>
        </p:grpSpPr>
        <p:sp>
          <p:nvSpPr>
            <p:cNvPr name="Freeform 22" id="22"/>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23" id="23"/>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FFFFFF"/>
                  </a:solidFill>
                  <a:latin typeface="Arimo"/>
                  <a:ea typeface="Arimo"/>
                  <a:cs typeface="Arimo"/>
                  <a:sym typeface="Arimo"/>
                </a:rPr>
                <a:t>GV</a:t>
              </a:r>
            </a:p>
          </p:txBody>
        </p:sp>
      </p:grpSp>
      <p:grpSp>
        <p:nvGrpSpPr>
          <p:cNvPr name="Group 24" id="24"/>
          <p:cNvGrpSpPr/>
          <p:nvPr/>
        </p:nvGrpSpPr>
        <p:grpSpPr>
          <a:xfrm rot="0">
            <a:off x="6533007" y="5065395"/>
            <a:ext cx="5162550" cy="842010"/>
            <a:chOff x="0" y="0"/>
            <a:chExt cx="6883400" cy="1122680"/>
          </a:xfrm>
        </p:grpSpPr>
        <p:sp>
          <p:nvSpPr>
            <p:cNvPr name="Freeform 25" id="25"/>
            <p:cNvSpPr/>
            <p:nvPr/>
          </p:nvSpPr>
          <p:spPr>
            <a:xfrm flipH="false" flipV="false" rot="0">
              <a:off x="0" y="0"/>
              <a:ext cx="6883400" cy="1122680"/>
            </a:xfrm>
            <a:custGeom>
              <a:avLst/>
              <a:gdLst/>
              <a:ahLst/>
              <a:cxnLst/>
              <a:rect r="r" b="b" t="t" l="l"/>
              <a:pathLst>
                <a:path h="1122680" w="6883400">
                  <a:moveTo>
                    <a:pt x="0" y="168402"/>
                  </a:moveTo>
                  <a:cubicBezTo>
                    <a:pt x="0" y="75438"/>
                    <a:pt x="75438" y="0"/>
                    <a:pt x="168402" y="0"/>
                  </a:cubicBezTo>
                  <a:lnTo>
                    <a:pt x="6714998" y="0"/>
                  </a:lnTo>
                  <a:cubicBezTo>
                    <a:pt x="6807962" y="0"/>
                    <a:pt x="6883400" y="75438"/>
                    <a:pt x="6883400" y="168402"/>
                  </a:cubicBezTo>
                  <a:lnTo>
                    <a:pt x="6883400" y="954278"/>
                  </a:lnTo>
                  <a:cubicBezTo>
                    <a:pt x="6883400" y="1047242"/>
                    <a:pt x="6807962" y="1122680"/>
                    <a:pt x="6714998" y="1122680"/>
                  </a:cubicBezTo>
                  <a:lnTo>
                    <a:pt x="168402" y="1122680"/>
                  </a:lnTo>
                  <a:cubicBezTo>
                    <a:pt x="75438" y="1122680"/>
                    <a:pt x="0" y="1047242"/>
                    <a:pt x="0" y="954278"/>
                  </a:cubicBezTo>
                  <a:close/>
                </a:path>
              </a:pathLst>
            </a:custGeom>
            <a:solidFill>
              <a:srgbClr val="F4F7FC"/>
            </a:solidFill>
            <a:ln w="19050" cap="sq">
              <a:solidFill>
                <a:srgbClr val="D7DCEC"/>
              </a:solidFill>
              <a:prstDash val="solid"/>
              <a:miter/>
            </a:ln>
          </p:spPr>
        </p:sp>
      </p:grpSp>
      <p:grpSp>
        <p:nvGrpSpPr>
          <p:cNvPr name="Group 26" id="26"/>
          <p:cNvGrpSpPr/>
          <p:nvPr/>
        </p:nvGrpSpPr>
        <p:grpSpPr>
          <a:xfrm rot="0">
            <a:off x="6542532" y="5143500"/>
            <a:ext cx="5143500" cy="521208"/>
            <a:chOff x="0" y="0"/>
            <a:chExt cx="6858000" cy="694944"/>
          </a:xfrm>
        </p:grpSpPr>
        <p:sp>
          <p:nvSpPr>
            <p:cNvPr name="Freeform 27" id="27"/>
            <p:cNvSpPr/>
            <p:nvPr/>
          </p:nvSpPr>
          <p:spPr>
            <a:xfrm flipH="false" flipV="false" rot="0">
              <a:off x="0" y="0"/>
              <a:ext cx="6858000" cy="694944"/>
            </a:xfrm>
            <a:custGeom>
              <a:avLst/>
              <a:gdLst/>
              <a:ahLst/>
              <a:cxnLst/>
              <a:rect r="r" b="b" t="t" l="l"/>
              <a:pathLst>
                <a:path h="694944" w="6858000">
                  <a:moveTo>
                    <a:pt x="0" y="0"/>
                  </a:moveTo>
                  <a:lnTo>
                    <a:pt x="6858000" y="0"/>
                  </a:lnTo>
                  <a:lnTo>
                    <a:pt x="6858000" y="694944"/>
                  </a:lnTo>
                  <a:lnTo>
                    <a:pt x="0" y="694944"/>
                  </a:lnTo>
                  <a:close/>
                </a:path>
              </a:pathLst>
            </a:custGeom>
            <a:blipFill>
              <a:blip r:embed="rId2">
                <a:alphaModFix amt="0"/>
              </a:blip>
              <a:stretch>
                <a:fillRect l="0" t="-142286" r="0" b="-142286"/>
              </a:stretch>
            </a:blipFill>
          </p:spPr>
        </p:sp>
        <p:sp>
          <p:nvSpPr>
            <p:cNvPr name="TextBox 28" id="28"/>
            <p:cNvSpPr txBox="true"/>
            <p:nvPr/>
          </p:nvSpPr>
          <p:spPr>
            <a:xfrm>
              <a:off x="0" y="-38100"/>
              <a:ext cx="6858000" cy="733044"/>
            </a:xfrm>
            <a:prstGeom prst="rect">
              <a:avLst/>
            </a:prstGeom>
          </p:spPr>
          <p:txBody>
            <a:bodyPr anchor="ctr" rtlCol="false" tIns="0" lIns="0" bIns="0" rIns="0"/>
            <a:lstStyle/>
            <a:p>
              <a:pPr algn="ctr">
                <a:lnSpc>
                  <a:spcPts val="2430"/>
                </a:lnSpc>
              </a:pPr>
              <a:r>
                <a:rPr lang="en-US" sz="2025">
                  <a:solidFill>
                    <a:srgbClr val="6B7280"/>
                  </a:solidFill>
                  <a:latin typeface="Calibri (MS)"/>
                  <a:ea typeface="Calibri (MS)"/>
                  <a:cs typeface="Calibri (MS)"/>
                  <a:sym typeface="Calibri (MS)"/>
                </a:rPr>
                <a:t>Identify</a:t>
              </a:r>
            </a:p>
          </p:txBody>
        </p:sp>
      </p:grpSp>
      <p:grpSp>
        <p:nvGrpSpPr>
          <p:cNvPr name="Group 29" id="29"/>
          <p:cNvGrpSpPr/>
          <p:nvPr/>
        </p:nvGrpSpPr>
        <p:grpSpPr>
          <a:xfrm rot="0">
            <a:off x="6542532" y="5513832"/>
            <a:ext cx="5143500" cy="329184"/>
            <a:chOff x="0" y="0"/>
            <a:chExt cx="6858000" cy="438912"/>
          </a:xfrm>
        </p:grpSpPr>
        <p:sp>
          <p:nvSpPr>
            <p:cNvPr name="Freeform 30" id="30"/>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31" id="31"/>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9AA3B8"/>
                  </a:solidFill>
                  <a:latin typeface="Arimo"/>
                  <a:ea typeface="Arimo"/>
                  <a:cs typeface="Arimo"/>
                  <a:sym typeface="Arimo"/>
                </a:rPr>
                <a:t>ID</a:t>
              </a:r>
            </a:p>
          </p:txBody>
        </p:sp>
      </p:grpSp>
      <p:grpSp>
        <p:nvGrpSpPr>
          <p:cNvPr name="Group 32" id="32"/>
          <p:cNvGrpSpPr/>
          <p:nvPr/>
        </p:nvGrpSpPr>
        <p:grpSpPr>
          <a:xfrm rot="0">
            <a:off x="12115419" y="5065395"/>
            <a:ext cx="5162550" cy="842010"/>
            <a:chOff x="0" y="0"/>
            <a:chExt cx="6883400" cy="1122680"/>
          </a:xfrm>
        </p:grpSpPr>
        <p:sp>
          <p:nvSpPr>
            <p:cNvPr name="Freeform 33" id="33"/>
            <p:cNvSpPr/>
            <p:nvPr/>
          </p:nvSpPr>
          <p:spPr>
            <a:xfrm flipH="false" flipV="false" rot="0">
              <a:off x="0" y="0"/>
              <a:ext cx="6883400" cy="1122680"/>
            </a:xfrm>
            <a:custGeom>
              <a:avLst/>
              <a:gdLst/>
              <a:ahLst/>
              <a:cxnLst/>
              <a:rect r="r" b="b" t="t" l="l"/>
              <a:pathLst>
                <a:path h="1122680" w="6883400">
                  <a:moveTo>
                    <a:pt x="0" y="168402"/>
                  </a:moveTo>
                  <a:cubicBezTo>
                    <a:pt x="0" y="75438"/>
                    <a:pt x="75438" y="0"/>
                    <a:pt x="168402" y="0"/>
                  </a:cubicBezTo>
                  <a:lnTo>
                    <a:pt x="6714998" y="0"/>
                  </a:lnTo>
                  <a:cubicBezTo>
                    <a:pt x="6807962" y="0"/>
                    <a:pt x="6883400" y="75438"/>
                    <a:pt x="6883400" y="168402"/>
                  </a:cubicBezTo>
                  <a:lnTo>
                    <a:pt x="6883400" y="954278"/>
                  </a:lnTo>
                  <a:cubicBezTo>
                    <a:pt x="6883400" y="1047242"/>
                    <a:pt x="6807962" y="1122680"/>
                    <a:pt x="6714998" y="1122680"/>
                  </a:cubicBezTo>
                  <a:lnTo>
                    <a:pt x="168402" y="1122680"/>
                  </a:lnTo>
                  <a:cubicBezTo>
                    <a:pt x="75438" y="1122680"/>
                    <a:pt x="0" y="1047242"/>
                    <a:pt x="0" y="954278"/>
                  </a:cubicBezTo>
                  <a:close/>
                </a:path>
              </a:pathLst>
            </a:custGeom>
            <a:solidFill>
              <a:srgbClr val="F4F7FC"/>
            </a:solidFill>
            <a:ln w="19050" cap="sq">
              <a:solidFill>
                <a:srgbClr val="D7DCEC"/>
              </a:solidFill>
              <a:prstDash val="solid"/>
              <a:miter/>
            </a:ln>
          </p:spPr>
        </p:sp>
      </p:grpSp>
      <p:grpSp>
        <p:nvGrpSpPr>
          <p:cNvPr name="Group 34" id="34"/>
          <p:cNvGrpSpPr/>
          <p:nvPr/>
        </p:nvGrpSpPr>
        <p:grpSpPr>
          <a:xfrm rot="0">
            <a:off x="12124944" y="5143500"/>
            <a:ext cx="5143500" cy="521208"/>
            <a:chOff x="0" y="0"/>
            <a:chExt cx="6858000" cy="694944"/>
          </a:xfrm>
        </p:grpSpPr>
        <p:sp>
          <p:nvSpPr>
            <p:cNvPr name="Freeform 35" id="35"/>
            <p:cNvSpPr/>
            <p:nvPr/>
          </p:nvSpPr>
          <p:spPr>
            <a:xfrm flipH="false" flipV="false" rot="0">
              <a:off x="0" y="0"/>
              <a:ext cx="6858000" cy="694944"/>
            </a:xfrm>
            <a:custGeom>
              <a:avLst/>
              <a:gdLst/>
              <a:ahLst/>
              <a:cxnLst/>
              <a:rect r="r" b="b" t="t" l="l"/>
              <a:pathLst>
                <a:path h="694944" w="6858000">
                  <a:moveTo>
                    <a:pt x="0" y="0"/>
                  </a:moveTo>
                  <a:lnTo>
                    <a:pt x="6858000" y="0"/>
                  </a:lnTo>
                  <a:lnTo>
                    <a:pt x="6858000" y="694944"/>
                  </a:lnTo>
                  <a:lnTo>
                    <a:pt x="0" y="694944"/>
                  </a:lnTo>
                  <a:close/>
                </a:path>
              </a:pathLst>
            </a:custGeom>
            <a:blipFill>
              <a:blip r:embed="rId2">
                <a:alphaModFix amt="0"/>
              </a:blip>
              <a:stretch>
                <a:fillRect l="0" t="-142286" r="0" b="-142286"/>
              </a:stretch>
            </a:blipFill>
          </p:spPr>
        </p:sp>
        <p:sp>
          <p:nvSpPr>
            <p:cNvPr name="TextBox 36" id="36"/>
            <p:cNvSpPr txBox="true"/>
            <p:nvPr/>
          </p:nvSpPr>
          <p:spPr>
            <a:xfrm>
              <a:off x="0" y="-38100"/>
              <a:ext cx="6858000" cy="733044"/>
            </a:xfrm>
            <a:prstGeom prst="rect">
              <a:avLst/>
            </a:prstGeom>
          </p:spPr>
          <p:txBody>
            <a:bodyPr anchor="ctr" rtlCol="false" tIns="0" lIns="0" bIns="0" rIns="0"/>
            <a:lstStyle/>
            <a:p>
              <a:pPr algn="ctr">
                <a:lnSpc>
                  <a:spcPts val="2430"/>
                </a:lnSpc>
              </a:pPr>
              <a:r>
                <a:rPr lang="en-US" sz="2025">
                  <a:solidFill>
                    <a:srgbClr val="6B7280"/>
                  </a:solidFill>
                  <a:latin typeface="Calibri (MS)"/>
                  <a:ea typeface="Calibri (MS)"/>
                  <a:cs typeface="Calibri (MS)"/>
                  <a:sym typeface="Calibri (MS)"/>
                </a:rPr>
                <a:t>Protect</a:t>
              </a:r>
            </a:p>
          </p:txBody>
        </p:sp>
      </p:grpSp>
      <p:grpSp>
        <p:nvGrpSpPr>
          <p:cNvPr name="Group 37" id="37"/>
          <p:cNvGrpSpPr/>
          <p:nvPr/>
        </p:nvGrpSpPr>
        <p:grpSpPr>
          <a:xfrm rot="0">
            <a:off x="12124944" y="5513832"/>
            <a:ext cx="5143500" cy="329184"/>
            <a:chOff x="0" y="0"/>
            <a:chExt cx="6858000" cy="438912"/>
          </a:xfrm>
        </p:grpSpPr>
        <p:sp>
          <p:nvSpPr>
            <p:cNvPr name="Freeform 38" id="38"/>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39" id="39"/>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9AA3B8"/>
                  </a:solidFill>
                  <a:latin typeface="Arimo"/>
                  <a:ea typeface="Arimo"/>
                  <a:cs typeface="Arimo"/>
                  <a:sym typeface="Arimo"/>
                </a:rPr>
                <a:t>PR</a:t>
              </a:r>
            </a:p>
          </p:txBody>
        </p:sp>
      </p:grpSp>
      <p:grpSp>
        <p:nvGrpSpPr>
          <p:cNvPr name="Group 40" id="40"/>
          <p:cNvGrpSpPr/>
          <p:nvPr/>
        </p:nvGrpSpPr>
        <p:grpSpPr>
          <a:xfrm rot="0">
            <a:off x="950595" y="6135243"/>
            <a:ext cx="5162550" cy="842010"/>
            <a:chOff x="0" y="0"/>
            <a:chExt cx="6883400" cy="1122680"/>
          </a:xfrm>
        </p:grpSpPr>
        <p:sp>
          <p:nvSpPr>
            <p:cNvPr name="Freeform 41" id="41"/>
            <p:cNvSpPr/>
            <p:nvPr/>
          </p:nvSpPr>
          <p:spPr>
            <a:xfrm flipH="false" flipV="false" rot="0">
              <a:off x="0" y="0"/>
              <a:ext cx="6883400" cy="1122680"/>
            </a:xfrm>
            <a:custGeom>
              <a:avLst/>
              <a:gdLst/>
              <a:ahLst/>
              <a:cxnLst/>
              <a:rect r="r" b="b" t="t" l="l"/>
              <a:pathLst>
                <a:path h="1122680" w="6883400">
                  <a:moveTo>
                    <a:pt x="0" y="168402"/>
                  </a:moveTo>
                  <a:cubicBezTo>
                    <a:pt x="0" y="75438"/>
                    <a:pt x="75438" y="0"/>
                    <a:pt x="168402" y="0"/>
                  </a:cubicBezTo>
                  <a:lnTo>
                    <a:pt x="6714998" y="0"/>
                  </a:lnTo>
                  <a:cubicBezTo>
                    <a:pt x="6807962" y="0"/>
                    <a:pt x="6883400" y="75438"/>
                    <a:pt x="6883400" y="168402"/>
                  </a:cubicBezTo>
                  <a:lnTo>
                    <a:pt x="6883400" y="954278"/>
                  </a:lnTo>
                  <a:cubicBezTo>
                    <a:pt x="6883400" y="1047242"/>
                    <a:pt x="6807962" y="1122680"/>
                    <a:pt x="6714998" y="1122680"/>
                  </a:cubicBezTo>
                  <a:lnTo>
                    <a:pt x="168402" y="1122680"/>
                  </a:lnTo>
                  <a:cubicBezTo>
                    <a:pt x="75438" y="1122680"/>
                    <a:pt x="0" y="1047242"/>
                    <a:pt x="0" y="954278"/>
                  </a:cubicBezTo>
                  <a:close/>
                </a:path>
              </a:pathLst>
            </a:custGeom>
            <a:solidFill>
              <a:srgbClr val="F4F7FC"/>
            </a:solidFill>
            <a:ln w="19050" cap="sq">
              <a:solidFill>
                <a:srgbClr val="D7DCEC"/>
              </a:solidFill>
              <a:prstDash val="solid"/>
              <a:miter/>
            </a:ln>
          </p:spPr>
        </p:sp>
      </p:grpSp>
      <p:grpSp>
        <p:nvGrpSpPr>
          <p:cNvPr name="Group 42" id="42"/>
          <p:cNvGrpSpPr/>
          <p:nvPr/>
        </p:nvGrpSpPr>
        <p:grpSpPr>
          <a:xfrm rot="0">
            <a:off x="960120" y="6213348"/>
            <a:ext cx="5143500" cy="521208"/>
            <a:chOff x="0" y="0"/>
            <a:chExt cx="6858000" cy="694944"/>
          </a:xfrm>
        </p:grpSpPr>
        <p:sp>
          <p:nvSpPr>
            <p:cNvPr name="Freeform 43" id="43"/>
            <p:cNvSpPr/>
            <p:nvPr/>
          </p:nvSpPr>
          <p:spPr>
            <a:xfrm flipH="false" flipV="false" rot="0">
              <a:off x="0" y="0"/>
              <a:ext cx="6858000" cy="694944"/>
            </a:xfrm>
            <a:custGeom>
              <a:avLst/>
              <a:gdLst/>
              <a:ahLst/>
              <a:cxnLst/>
              <a:rect r="r" b="b" t="t" l="l"/>
              <a:pathLst>
                <a:path h="694944" w="6858000">
                  <a:moveTo>
                    <a:pt x="0" y="0"/>
                  </a:moveTo>
                  <a:lnTo>
                    <a:pt x="6858000" y="0"/>
                  </a:lnTo>
                  <a:lnTo>
                    <a:pt x="6858000" y="694944"/>
                  </a:lnTo>
                  <a:lnTo>
                    <a:pt x="0" y="694944"/>
                  </a:lnTo>
                  <a:close/>
                </a:path>
              </a:pathLst>
            </a:custGeom>
            <a:blipFill>
              <a:blip r:embed="rId2">
                <a:alphaModFix amt="0"/>
              </a:blip>
              <a:stretch>
                <a:fillRect l="0" t="-142286" r="0" b="-142286"/>
              </a:stretch>
            </a:blipFill>
          </p:spPr>
        </p:sp>
        <p:sp>
          <p:nvSpPr>
            <p:cNvPr name="TextBox 44" id="44"/>
            <p:cNvSpPr txBox="true"/>
            <p:nvPr/>
          </p:nvSpPr>
          <p:spPr>
            <a:xfrm>
              <a:off x="0" y="-38100"/>
              <a:ext cx="6858000" cy="733044"/>
            </a:xfrm>
            <a:prstGeom prst="rect">
              <a:avLst/>
            </a:prstGeom>
          </p:spPr>
          <p:txBody>
            <a:bodyPr anchor="ctr" rtlCol="false" tIns="0" lIns="0" bIns="0" rIns="0"/>
            <a:lstStyle/>
            <a:p>
              <a:pPr algn="ctr">
                <a:lnSpc>
                  <a:spcPts val="2430"/>
                </a:lnSpc>
              </a:pPr>
              <a:r>
                <a:rPr lang="en-US" sz="2025">
                  <a:solidFill>
                    <a:srgbClr val="6B7280"/>
                  </a:solidFill>
                  <a:latin typeface="Calibri (MS)"/>
                  <a:ea typeface="Calibri (MS)"/>
                  <a:cs typeface="Calibri (MS)"/>
                  <a:sym typeface="Calibri (MS)"/>
                </a:rPr>
                <a:t>Detect</a:t>
              </a:r>
            </a:p>
          </p:txBody>
        </p:sp>
      </p:grpSp>
      <p:grpSp>
        <p:nvGrpSpPr>
          <p:cNvPr name="Group 45" id="45"/>
          <p:cNvGrpSpPr/>
          <p:nvPr/>
        </p:nvGrpSpPr>
        <p:grpSpPr>
          <a:xfrm rot="0">
            <a:off x="960120" y="6583680"/>
            <a:ext cx="5143500" cy="329184"/>
            <a:chOff x="0" y="0"/>
            <a:chExt cx="6858000" cy="438912"/>
          </a:xfrm>
        </p:grpSpPr>
        <p:sp>
          <p:nvSpPr>
            <p:cNvPr name="Freeform 46" id="46"/>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47" id="47"/>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9AA3B8"/>
                  </a:solidFill>
                  <a:latin typeface="Arimo"/>
                  <a:ea typeface="Arimo"/>
                  <a:cs typeface="Arimo"/>
                  <a:sym typeface="Arimo"/>
                </a:rPr>
                <a:t>DE</a:t>
              </a:r>
            </a:p>
          </p:txBody>
        </p:sp>
      </p:grpSp>
      <p:grpSp>
        <p:nvGrpSpPr>
          <p:cNvPr name="Group 48" id="48"/>
          <p:cNvGrpSpPr/>
          <p:nvPr/>
        </p:nvGrpSpPr>
        <p:grpSpPr>
          <a:xfrm rot="0">
            <a:off x="6533007" y="6135243"/>
            <a:ext cx="5162550" cy="842010"/>
            <a:chOff x="0" y="0"/>
            <a:chExt cx="6883400" cy="1122680"/>
          </a:xfrm>
        </p:grpSpPr>
        <p:sp>
          <p:nvSpPr>
            <p:cNvPr name="Freeform 49" id="49"/>
            <p:cNvSpPr/>
            <p:nvPr/>
          </p:nvSpPr>
          <p:spPr>
            <a:xfrm flipH="false" flipV="false" rot="0">
              <a:off x="0" y="0"/>
              <a:ext cx="6883400" cy="1122680"/>
            </a:xfrm>
            <a:custGeom>
              <a:avLst/>
              <a:gdLst/>
              <a:ahLst/>
              <a:cxnLst/>
              <a:rect r="r" b="b" t="t" l="l"/>
              <a:pathLst>
                <a:path h="1122680" w="6883400">
                  <a:moveTo>
                    <a:pt x="0" y="168402"/>
                  </a:moveTo>
                  <a:cubicBezTo>
                    <a:pt x="0" y="75438"/>
                    <a:pt x="75438" y="0"/>
                    <a:pt x="168402" y="0"/>
                  </a:cubicBezTo>
                  <a:lnTo>
                    <a:pt x="6714998" y="0"/>
                  </a:lnTo>
                  <a:cubicBezTo>
                    <a:pt x="6807962" y="0"/>
                    <a:pt x="6883400" y="75438"/>
                    <a:pt x="6883400" y="168402"/>
                  </a:cubicBezTo>
                  <a:lnTo>
                    <a:pt x="6883400" y="954278"/>
                  </a:lnTo>
                  <a:cubicBezTo>
                    <a:pt x="6883400" y="1047242"/>
                    <a:pt x="6807962" y="1122680"/>
                    <a:pt x="6714998" y="1122680"/>
                  </a:cubicBezTo>
                  <a:lnTo>
                    <a:pt x="168402" y="1122680"/>
                  </a:lnTo>
                  <a:cubicBezTo>
                    <a:pt x="75438" y="1122680"/>
                    <a:pt x="0" y="1047242"/>
                    <a:pt x="0" y="954278"/>
                  </a:cubicBezTo>
                  <a:close/>
                </a:path>
              </a:pathLst>
            </a:custGeom>
            <a:solidFill>
              <a:srgbClr val="F4F7FC"/>
            </a:solidFill>
            <a:ln w="19050" cap="sq">
              <a:solidFill>
                <a:srgbClr val="D7DCEC"/>
              </a:solidFill>
              <a:prstDash val="solid"/>
              <a:miter/>
            </a:ln>
          </p:spPr>
        </p:sp>
      </p:grpSp>
      <p:grpSp>
        <p:nvGrpSpPr>
          <p:cNvPr name="Group 50" id="50"/>
          <p:cNvGrpSpPr/>
          <p:nvPr/>
        </p:nvGrpSpPr>
        <p:grpSpPr>
          <a:xfrm rot="0">
            <a:off x="6542532" y="6213348"/>
            <a:ext cx="5143500" cy="521208"/>
            <a:chOff x="0" y="0"/>
            <a:chExt cx="6858000" cy="694944"/>
          </a:xfrm>
        </p:grpSpPr>
        <p:sp>
          <p:nvSpPr>
            <p:cNvPr name="Freeform 51" id="51"/>
            <p:cNvSpPr/>
            <p:nvPr/>
          </p:nvSpPr>
          <p:spPr>
            <a:xfrm flipH="false" flipV="false" rot="0">
              <a:off x="0" y="0"/>
              <a:ext cx="6858000" cy="694944"/>
            </a:xfrm>
            <a:custGeom>
              <a:avLst/>
              <a:gdLst/>
              <a:ahLst/>
              <a:cxnLst/>
              <a:rect r="r" b="b" t="t" l="l"/>
              <a:pathLst>
                <a:path h="694944" w="6858000">
                  <a:moveTo>
                    <a:pt x="0" y="0"/>
                  </a:moveTo>
                  <a:lnTo>
                    <a:pt x="6858000" y="0"/>
                  </a:lnTo>
                  <a:lnTo>
                    <a:pt x="6858000" y="694944"/>
                  </a:lnTo>
                  <a:lnTo>
                    <a:pt x="0" y="694944"/>
                  </a:lnTo>
                  <a:close/>
                </a:path>
              </a:pathLst>
            </a:custGeom>
            <a:blipFill>
              <a:blip r:embed="rId2">
                <a:alphaModFix amt="0"/>
              </a:blip>
              <a:stretch>
                <a:fillRect l="0" t="-142286" r="0" b="-142286"/>
              </a:stretch>
            </a:blipFill>
          </p:spPr>
        </p:sp>
        <p:sp>
          <p:nvSpPr>
            <p:cNvPr name="TextBox 52" id="52"/>
            <p:cNvSpPr txBox="true"/>
            <p:nvPr/>
          </p:nvSpPr>
          <p:spPr>
            <a:xfrm>
              <a:off x="0" y="-38100"/>
              <a:ext cx="6858000" cy="733044"/>
            </a:xfrm>
            <a:prstGeom prst="rect">
              <a:avLst/>
            </a:prstGeom>
          </p:spPr>
          <p:txBody>
            <a:bodyPr anchor="ctr" rtlCol="false" tIns="0" lIns="0" bIns="0" rIns="0"/>
            <a:lstStyle/>
            <a:p>
              <a:pPr algn="ctr">
                <a:lnSpc>
                  <a:spcPts val="2430"/>
                </a:lnSpc>
              </a:pPr>
              <a:r>
                <a:rPr lang="en-US" sz="2025">
                  <a:solidFill>
                    <a:srgbClr val="6B7280"/>
                  </a:solidFill>
                  <a:latin typeface="Calibri (MS)"/>
                  <a:ea typeface="Calibri (MS)"/>
                  <a:cs typeface="Calibri (MS)"/>
                  <a:sym typeface="Calibri (MS)"/>
                </a:rPr>
                <a:t>Respond</a:t>
              </a:r>
            </a:p>
          </p:txBody>
        </p:sp>
      </p:grpSp>
      <p:grpSp>
        <p:nvGrpSpPr>
          <p:cNvPr name="Group 53" id="53"/>
          <p:cNvGrpSpPr/>
          <p:nvPr/>
        </p:nvGrpSpPr>
        <p:grpSpPr>
          <a:xfrm rot="0">
            <a:off x="6542532" y="6583680"/>
            <a:ext cx="5143500" cy="329184"/>
            <a:chOff x="0" y="0"/>
            <a:chExt cx="6858000" cy="438912"/>
          </a:xfrm>
        </p:grpSpPr>
        <p:sp>
          <p:nvSpPr>
            <p:cNvPr name="Freeform 54" id="54"/>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55" id="55"/>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9AA3B8"/>
                  </a:solidFill>
                  <a:latin typeface="Arimo"/>
                  <a:ea typeface="Arimo"/>
                  <a:cs typeface="Arimo"/>
                  <a:sym typeface="Arimo"/>
                </a:rPr>
                <a:t>RS</a:t>
              </a:r>
            </a:p>
          </p:txBody>
        </p:sp>
      </p:grpSp>
      <p:grpSp>
        <p:nvGrpSpPr>
          <p:cNvPr name="Group 56" id="56"/>
          <p:cNvGrpSpPr/>
          <p:nvPr/>
        </p:nvGrpSpPr>
        <p:grpSpPr>
          <a:xfrm rot="0">
            <a:off x="12115419" y="6135243"/>
            <a:ext cx="5162550" cy="842010"/>
            <a:chOff x="0" y="0"/>
            <a:chExt cx="6883400" cy="1122680"/>
          </a:xfrm>
        </p:grpSpPr>
        <p:sp>
          <p:nvSpPr>
            <p:cNvPr name="Freeform 57" id="57"/>
            <p:cNvSpPr/>
            <p:nvPr/>
          </p:nvSpPr>
          <p:spPr>
            <a:xfrm flipH="false" flipV="false" rot="0">
              <a:off x="0" y="0"/>
              <a:ext cx="6883400" cy="1122680"/>
            </a:xfrm>
            <a:custGeom>
              <a:avLst/>
              <a:gdLst/>
              <a:ahLst/>
              <a:cxnLst/>
              <a:rect r="r" b="b" t="t" l="l"/>
              <a:pathLst>
                <a:path h="1122680" w="6883400">
                  <a:moveTo>
                    <a:pt x="0" y="168402"/>
                  </a:moveTo>
                  <a:cubicBezTo>
                    <a:pt x="0" y="75438"/>
                    <a:pt x="75438" y="0"/>
                    <a:pt x="168402" y="0"/>
                  </a:cubicBezTo>
                  <a:lnTo>
                    <a:pt x="6714998" y="0"/>
                  </a:lnTo>
                  <a:cubicBezTo>
                    <a:pt x="6807962" y="0"/>
                    <a:pt x="6883400" y="75438"/>
                    <a:pt x="6883400" y="168402"/>
                  </a:cubicBezTo>
                  <a:lnTo>
                    <a:pt x="6883400" y="954278"/>
                  </a:lnTo>
                  <a:cubicBezTo>
                    <a:pt x="6883400" y="1047242"/>
                    <a:pt x="6807962" y="1122680"/>
                    <a:pt x="6714998" y="1122680"/>
                  </a:cubicBezTo>
                  <a:lnTo>
                    <a:pt x="168402" y="1122680"/>
                  </a:lnTo>
                  <a:cubicBezTo>
                    <a:pt x="75438" y="1122680"/>
                    <a:pt x="0" y="1047242"/>
                    <a:pt x="0" y="954278"/>
                  </a:cubicBezTo>
                  <a:close/>
                </a:path>
              </a:pathLst>
            </a:custGeom>
            <a:solidFill>
              <a:srgbClr val="F4F7FC"/>
            </a:solidFill>
            <a:ln w="19050" cap="sq">
              <a:solidFill>
                <a:srgbClr val="D7DCEC"/>
              </a:solidFill>
              <a:prstDash val="solid"/>
              <a:miter/>
            </a:ln>
          </p:spPr>
        </p:sp>
      </p:grpSp>
      <p:grpSp>
        <p:nvGrpSpPr>
          <p:cNvPr name="Group 58" id="58"/>
          <p:cNvGrpSpPr/>
          <p:nvPr/>
        </p:nvGrpSpPr>
        <p:grpSpPr>
          <a:xfrm rot="0">
            <a:off x="12124944" y="6213348"/>
            <a:ext cx="5143500" cy="521208"/>
            <a:chOff x="0" y="0"/>
            <a:chExt cx="6858000" cy="694944"/>
          </a:xfrm>
        </p:grpSpPr>
        <p:sp>
          <p:nvSpPr>
            <p:cNvPr name="Freeform 59" id="59"/>
            <p:cNvSpPr/>
            <p:nvPr/>
          </p:nvSpPr>
          <p:spPr>
            <a:xfrm flipH="false" flipV="false" rot="0">
              <a:off x="0" y="0"/>
              <a:ext cx="6858000" cy="694944"/>
            </a:xfrm>
            <a:custGeom>
              <a:avLst/>
              <a:gdLst/>
              <a:ahLst/>
              <a:cxnLst/>
              <a:rect r="r" b="b" t="t" l="l"/>
              <a:pathLst>
                <a:path h="694944" w="6858000">
                  <a:moveTo>
                    <a:pt x="0" y="0"/>
                  </a:moveTo>
                  <a:lnTo>
                    <a:pt x="6858000" y="0"/>
                  </a:lnTo>
                  <a:lnTo>
                    <a:pt x="6858000" y="694944"/>
                  </a:lnTo>
                  <a:lnTo>
                    <a:pt x="0" y="694944"/>
                  </a:lnTo>
                  <a:close/>
                </a:path>
              </a:pathLst>
            </a:custGeom>
            <a:blipFill>
              <a:blip r:embed="rId2">
                <a:alphaModFix amt="0"/>
              </a:blip>
              <a:stretch>
                <a:fillRect l="0" t="-142286" r="0" b="-142286"/>
              </a:stretch>
            </a:blipFill>
          </p:spPr>
        </p:sp>
        <p:sp>
          <p:nvSpPr>
            <p:cNvPr name="TextBox 60" id="60"/>
            <p:cNvSpPr txBox="true"/>
            <p:nvPr/>
          </p:nvSpPr>
          <p:spPr>
            <a:xfrm>
              <a:off x="0" y="-38100"/>
              <a:ext cx="6858000" cy="733044"/>
            </a:xfrm>
            <a:prstGeom prst="rect">
              <a:avLst/>
            </a:prstGeom>
          </p:spPr>
          <p:txBody>
            <a:bodyPr anchor="ctr" rtlCol="false" tIns="0" lIns="0" bIns="0" rIns="0"/>
            <a:lstStyle/>
            <a:p>
              <a:pPr algn="ctr">
                <a:lnSpc>
                  <a:spcPts val="2430"/>
                </a:lnSpc>
              </a:pPr>
              <a:r>
                <a:rPr lang="en-US" sz="2025">
                  <a:solidFill>
                    <a:srgbClr val="6B7280"/>
                  </a:solidFill>
                  <a:latin typeface="Calibri (MS)"/>
                  <a:ea typeface="Calibri (MS)"/>
                  <a:cs typeface="Calibri (MS)"/>
                  <a:sym typeface="Calibri (MS)"/>
                </a:rPr>
                <a:t>Recover</a:t>
              </a:r>
            </a:p>
          </p:txBody>
        </p:sp>
      </p:grpSp>
      <p:grpSp>
        <p:nvGrpSpPr>
          <p:cNvPr name="Group 61" id="61"/>
          <p:cNvGrpSpPr/>
          <p:nvPr/>
        </p:nvGrpSpPr>
        <p:grpSpPr>
          <a:xfrm rot="0">
            <a:off x="12124944" y="6583680"/>
            <a:ext cx="5143500" cy="329184"/>
            <a:chOff x="0" y="0"/>
            <a:chExt cx="6858000" cy="438912"/>
          </a:xfrm>
        </p:grpSpPr>
        <p:sp>
          <p:nvSpPr>
            <p:cNvPr name="Freeform 62" id="62"/>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63" id="63"/>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9AA3B8"/>
                  </a:solidFill>
                  <a:latin typeface="Arimo"/>
                  <a:ea typeface="Arimo"/>
                  <a:cs typeface="Arimo"/>
                  <a:sym typeface="Arimo"/>
                </a:rPr>
                <a:t>RC</a:t>
              </a:r>
            </a:p>
          </p:txBody>
        </p:sp>
      </p:grpSp>
      <p:grpSp>
        <p:nvGrpSpPr>
          <p:cNvPr name="Group 64" id="64"/>
          <p:cNvGrpSpPr/>
          <p:nvPr/>
        </p:nvGrpSpPr>
        <p:grpSpPr>
          <a:xfrm rot="0">
            <a:off x="950595" y="7328535"/>
            <a:ext cx="16341090" cy="1596390"/>
            <a:chOff x="0" y="0"/>
            <a:chExt cx="21788120" cy="2128520"/>
          </a:xfrm>
        </p:grpSpPr>
        <p:sp>
          <p:nvSpPr>
            <p:cNvPr name="Freeform 65" id="65"/>
            <p:cNvSpPr/>
            <p:nvPr/>
          </p:nvSpPr>
          <p:spPr>
            <a:xfrm flipH="false" flipV="false" rot="0">
              <a:off x="0" y="0"/>
              <a:ext cx="21788120" cy="2128520"/>
            </a:xfrm>
            <a:custGeom>
              <a:avLst/>
              <a:gdLst/>
              <a:ahLst/>
              <a:cxnLst/>
              <a:rect r="r" b="b" t="t" l="l"/>
              <a:pathLst>
                <a:path h="2128520" w="21788120">
                  <a:moveTo>
                    <a:pt x="0" y="185039"/>
                  </a:moveTo>
                  <a:cubicBezTo>
                    <a:pt x="0" y="82931"/>
                    <a:pt x="82931" y="0"/>
                    <a:pt x="185039" y="0"/>
                  </a:cubicBezTo>
                  <a:lnTo>
                    <a:pt x="21603081" y="0"/>
                  </a:lnTo>
                  <a:cubicBezTo>
                    <a:pt x="21705317" y="0"/>
                    <a:pt x="21788120" y="82931"/>
                    <a:pt x="21788120" y="185039"/>
                  </a:cubicBezTo>
                  <a:lnTo>
                    <a:pt x="21788120" y="1943481"/>
                  </a:lnTo>
                  <a:cubicBezTo>
                    <a:pt x="21788120" y="2045716"/>
                    <a:pt x="21705190" y="2128520"/>
                    <a:pt x="21603081" y="2128520"/>
                  </a:cubicBezTo>
                  <a:lnTo>
                    <a:pt x="185039" y="2128520"/>
                  </a:lnTo>
                  <a:cubicBezTo>
                    <a:pt x="82931" y="2128520"/>
                    <a:pt x="0" y="2045589"/>
                    <a:pt x="0" y="1943481"/>
                  </a:cubicBezTo>
                  <a:close/>
                </a:path>
              </a:pathLst>
            </a:custGeom>
            <a:solidFill>
              <a:srgbClr val="FBF9F4"/>
            </a:solidFill>
            <a:ln w="19050" cap="sq">
              <a:solidFill>
                <a:srgbClr val="EFE6D2"/>
              </a:solidFill>
              <a:prstDash val="solid"/>
              <a:miter/>
            </a:ln>
          </p:spPr>
        </p:sp>
      </p:grpSp>
      <p:sp>
        <p:nvSpPr>
          <p:cNvPr name="TextBox 66" id="66"/>
          <p:cNvSpPr txBox="true"/>
          <p:nvPr/>
        </p:nvSpPr>
        <p:spPr>
          <a:xfrm rot="0">
            <a:off x="1463040" y="7494270"/>
            <a:ext cx="15316200" cy="1238250"/>
          </a:xfrm>
          <a:prstGeom prst="rect">
            <a:avLst/>
          </a:prstGeom>
        </p:spPr>
        <p:txBody>
          <a:bodyPr anchor="t" rtlCol="false" tIns="0" lIns="0" bIns="0" rIns="0">
            <a:spAutoFit/>
          </a:bodyPr>
          <a:lstStyle/>
          <a:p>
            <a:pPr algn="l">
              <a:lnSpc>
                <a:spcPts val="2880"/>
              </a:lnSpc>
            </a:pPr>
            <a:r>
              <a:rPr lang="en-US" sz="1875">
                <a:solidFill>
                  <a:srgbClr val="23262F"/>
                </a:solidFill>
                <a:latin typeface="Calibri (MS)"/>
                <a:ea typeface="Calibri (MS)"/>
                <a:cs typeface="Calibri (MS)"/>
                <a:sym typeface="Calibri (MS)"/>
              </a:rPr>
              <a:t>This is about assigning accountability and building oversight into leadership's routine. That's Govern.</a:t>
            </a:r>
          </a:p>
        </p:txBody>
      </p:sp>
      <p:grpSp>
        <p:nvGrpSpPr>
          <p:cNvPr name="Group 67" id="67"/>
          <p:cNvGrpSpPr/>
          <p:nvPr/>
        </p:nvGrpSpPr>
        <p:grpSpPr>
          <a:xfrm rot="0">
            <a:off x="685800" y="9710928"/>
            <a:ext cx="10972800" cy="411480"/>
            <a:chOff x="0" y="0"/>
            <a:chExt cx="14630400" cy="548640"/>
          </a:xfrm>
        </p:grpSpPr>
        <p:sp>
          <p:nvSpPr>
            <p:cNvPr name="Freeform 68" id="68"/>
            <p:cNvSpPr/>
            <p:nvPr/>
          </p:nvSpPr>
          <p:spPr>
            <a:xfrm flipH="false" flipV="false" rot="0">
              <a:off x="0" y="0"/>
              <a:ext cx="14630400" cy="548640"/>
            </a:xfrm>
            <a:custGeom>
              <a:avLst/>
              <a:gdLst/>
              <a:ahLst/>
              <a:cxnLst/>
              <a:rect r="r" b="b" t="t" l="l"/>
              <a:pathLst>
                <a:path h="548640" w="14630400">
                  <a:moveTo>
                    <a:pt x="0" y="0"/>
                  </a:moveTo>
                  <a:lnTo>
                    <a:pt x="14630400" y="0"/>
                  </a:lnTo>
                  <a:lnTo>
                    <a:pt x="14630400" y="548640"/>
                  </a:lnTo>
                  <a:lnTo>
                    <a:pt x="0" y="548640"/>
                  </a:lnTo>
                  <a:close/>
                </a:path>
              </a:pathLst>
            </a:custGeom>
            <a:blipFill>
              <a:blip r:embed="rId2">
                <a:alphaModFix amt="0"/>
              </a:blip>
              <a:stretch>
                <a:fillRect l="0" t="-469601" r="0" b="-469601"/>
              </a:stretch>
            </a:blipFill>
          </p:spPr>
        </p:sp>
        <p:sp>
          <p:nvSpPr>
            <p:cNvPr name="TextBox 69" id="69"/>
            <p:cNvSpPr txBox="true"/>
            <p:nvPr/>
          </p:nvSpPr>
          <p:spPr>
            <a:xfrm>
              <a:off x="0" y="-38100"/>
              <a:ext cx="14630400" cy="586740"/>
            </a:xfrm>
            <a:prstGeom prst="rect">
              <a:avLst/>
            </a:prstGeom>
          </p:spPr>
          <p:txBody>
            <a:bodyPr anchor="ctr" rtlCol="false" tIns="0" lIns="0" bIns="0" rIns="0"/>
            <a:lstStyle/>
            <a:p>
              <a:pPr algn="l">
                <a:lnSpc>
                  <a:spcPts val="1800"/>
                </a:lnSpc>
              </a:pPr>
              <a:r>
                <a:rPr lang="en-US" sz="1500">
                  <a:solidFill>
                    <a:srgbClr val="6B7280"/>
                  </a:solidFill>
                  <a:latin typeface="Calibri (MS)"/>
                  <a:ea typeface="Calibri (MS)"/>
                  <a:cs typeface="Calibri (MS)"/>
                  <a:sym typeface="Calibri (MS)"/>
                </a:rPr>
                <a:t>Davao del Norte Provincial Government — Cybersecurity Seminar</a:t>
              </a:r>
            </a:p>
          </p:txBody>
        </p:sp>
      </p:grpSp>
      <p:grpSp>
        <p:nvGrpSpPr>
          <p:cNvPr name="Group 70" id="70"/>
          <p:cNvGrpSpPr/>
          <p:nvPr/>
        </p:nvGrpSpPr>
        <p:grpSpPr>
          <a:xfrm rot="0">
            <a:off x="16911828" y="9710928"/>
            <a:ext cx="685800" cy="411480"/>
            <a:chOff x="0" y="0"/>
            <a:chExt cx="914400" cy="548640"/>
          </a:xfrm>
        </p:grpSpPr>
        <p:sp>
          <p:nvSpPr>
            <p:cNvPr name="Freeform 71" id="71"/>
            <p:cNvSpPr/>
            <p:nvPr/>
          </p:nvSpPr>
          <p:spPr>
            <a:xfrm flipH="false" flipV="false" rot="0">
              <a:off x="0" y="0"/>
              <a:ext cx="914400" cy="548640"/>
            </a:xfrm>
            <a:custGeom>
              <a:avLst/>
              <a:gdLst/>
              <a:ahLst/>
              <a:cxnLst/>
              <a:rect r="r" b="b" t="t" l="l"/>
              <a:pathLst>
                <a:path h="548640" w="914400">
                  <a:moveTo>
                    <a:pt x="0" y="0"/>
                  </a:moveTo>
                  <a:lnTo>
                    <a:pt x="914400" y="0"/>
                  </a:lnTo>
                  <a:lnTo>
                    <a:pt x="914400" y="548640"/>
                  </a:lnTo>
                  <a:lnTo>
                    <a:pt x="0" y="548640"/>
                  </a:lnTo>
                  <a:close/>
                </a:path>
              </a:pathLst>
            </a:custGeom>
            <a:blipFill>
              <a:blip r:embed="rId2">
                <a:alphaModFix amt="0"/>
              </a:blip>
              <a:stretch>
                <a:fillRect l="-26982" t="0" r="-26982" b="0"/>
              </a:stretch>
            </a:blipFill>
          </p:spPr>
        </p:sp>
        <p:sp>
          <p:nvSpPr>
            <p:cNvPr name="TextBox 72" id="72"/>
            <p:cNvSpPr txBox="true"/>
            <p:nvPr/>
          </p:nvSpPr>
          <p:spPr>
            <a:xfrm>
              <a:off x="0" y="-38100"/>
              <a:ext cx="914400" cy="586740"/>
            </a:xfrm>
            <a:prstGeom prst="rect">
              <a:avLst/>
            </a:prstGeom>
          </p:spPr>
          <p:txBody>
            <a:bodyPr anchor="ctr" rtlCol="false" tIns="0" lIns="0" bIns="0" rIns="0"/>
            <a:lstStyle/>
            <a:p>
              <a:pPr algn="r">
                <a:lnSpc>
                  <a:spcPts val="1800"/>
                </a:lnSpc>
              </a:pPr>
              <a:r>
                <a:rPr lang="en-US" sz="1500">
                  <a:solidFill>
                    <a:srgbClr val="6B7280"/>
                  </a:solidFill>
                  <a:latin typeface="Calibri (MS)"/>
                  <a:ea typeface="Calibri (MS)"/>
                  <a:cs typeface="Calibri (MS)"/>
                  <a:sym typeface="Calibri (MS)"/>
                </a:rPr>
                <a:t>24</a:t>
              </a:r>
            </a:p>
          </p:txBody>
        </p:sp>
      </p:grpSp>
    </p:spTree>
  </p:cSld>
  <p:clrMapOvr>
    <a:masterClrMapping/>
  </p:clrMapOvr>
</p:sld>
</file>

<file path=ppt/slides/slide9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60120" y="685800"/>
            <a:ext cx="13716000" cy="411480"/>
            <a:chOff x="0" y="0"/>
            <a:chExt cx="18288000" cy="548640"/>
          </a:xfrm>
        </p:grpSpPr>
        <p:sp>
          <p:nvSpPr>
            <p:cNvPr name="Freeform 3" id="3"/>
            <p:cNvSpPr/>
            <p:nvPr/>
          </p:nvSpPr>
          <p:spPr>
            <a:xfrm flipH="false" flipV="false" rot="0">
              <a:off x="0" y="0"/>
              <a:ext cx="18288000" cy="548640"/>
            </a:xfrm>
            <a:custGeom>
              <a:avLst/>
              <a:gdLst/>
              <a:ahLst/>
              <a:cxnLst/>
              <a:rect r="r" b="b" t="t" l="l"/>
              <a:pathLst>
                <a:path h="548640" w="18288000">
                  <a:moveTo>
                    <a:pt x="0" y="0"/>
                  </a:moveTo>
                  <a:lnTo>
                    <a:pt x="18288000" y="0"/>
                  </a:lnTo>
                  <a:lnTo>
                    <a:pt x="18288000" y="548640"/>
                  </a:lnTo>
                  <a:lnTo>
                    <a:pt x="0" y="548640"/>
                  </a:lnTo>
                  <a:close/>
                </a:path>
              </a:pathLst>
            </a:custGeom>
            <a:blipFill>
              <a:blip r:embed="rId2">
                <a:alphaModFix amt="0"/>
              </a:blip>
              <a:stretch>
                <a:fillRect l="0" t="-599501" r="0" b="-599501"/>
              </a:stretch>
            </a:blipFill>
          </p:spPr>
        </p:sp>
        <p:sp>
          <p:nvSpPr>
            <p:cNvPr name="TextBox 4" id="4"/>
            <p:cNvSpPr txBox="true"/>
            <p:nvPr/>
          </p:nvSpPr>
          <p:spPr>
            <a:xfrm>
              <a:off x="0" y="-38100"/>
              <a:ext cx="18288000" cy="586740"/>
            </a:xfrm>
            <a:prstGeom prst="rect">
              <a:avLst/>
            </a:prstGeom>
          </p:spPr>
          <p:txBody>
            <a:bodyPr anchor="ctr" rtlCol="false" tIns="0" lIns="0" bIns="0" rIns="0"/>
            <a:lstStyle/>
            <a:p>
              <a:pPr algn="l">
                <a:lnSpc>
                  <a:spcPts val="2160"/>
                </a:lnSpc>
              </a:pPr>
              <a:r>
                <a:rPr lang="en-US" b="true" sz="1800" spc="225">
                  <a:solidFill>
                    <a:srgbClr val="00B4D8"/>
                  </a:solidFill>
                  <a:latin typeface="Calibri (MS) Bold"/>
                  <a:ea typeface="Calibri (MS) Bold"/>
                  <a:cs typeface="Calibri (MS) Bold"/>
                  <a:sym typeface="Calibri (MS) Bold"/>
                </a:rPr>
                <a:t>NIST CSF SORT · SCENARIO</a:t>
              </a:r>
            </a:p>
          </p:txBody>
        </p:sp>
      </p:grpSp>
      <p:grpSp>
        <p:nvGrpSpPr>
          <p:cNvPr name="Group 5" id="5"/>
          <p:cNvGrpSpPr/>
          <p:nvPr/>
        </p:nvGrpSpPr>
        <p:grpSpPr>
          <a:xfrm rot="0">
            <a:off x="960120" y="1069848"/>
            <a:ext cx="10972800" cy="822960"/>
            <a:chOff x="0" y="0"/>
            <a:chExt cx="14630400" cy="1097280"/>
          </a:xfrm>
        </p:grpSpPr>
        <p:sp>
          <p:nvSpPr>
            <p:cNvPr name="Freeform 6" id="6"/>
            <p:cNvSpPr/>
            <p:nvPr/>
          </p:nvSpPr>
          <p:spPr>
            <a:xfrm flipH="false" flipV="false" rot="0">
              <a:off x="0" y="0"/>
              <a:ext cx="14630400" cy="1097280"/>
            </a:xfrm>
            <a:custGeom>
              <a:avLst/>
              <a:gdLst/>
              <a:ahLst/>
              <a:cxnLst/>
              <a:rect r="r" b="b" t="t" l="l"/>
              <a:pathLst>
                <a:path h="1097280" w="14630400">
                  <a:moveTo>
                    <a:pt x="0" y="0"/>
                  </a:moveTo>
                  <a:lnTo>
                    <a:pt x="14630400" y="0"/>
                  </a:lnTo>
                  <a:lnTo>
                    <a:pt x="14630400" y="1097280"/>
                  </a:lnTo>
                  <a:lnTo>
                    <a:pt x="0" y="1097280"/>
                  </a:lnTo>
                  <a:close/>
                </a:path>
              </a:pathLst>
            </a:custGeom>
            <a:blipFill>
              <a:blip r:embed="rId2">
                <a:alphaModFix amt="0"/>
              </a:blip>
              <a:stretch>
                <a:fillRect l="0" t="-209800" r="0" b="-209800"/>
              </a:stretch>
            </a:blipFill>
          </p:spPr>
        </p:sp>
        <p:sp>
          <p:nvSpPr>
            <p:cNvPr name="TextBox 7" id="7"/>
            <p:cNvSpPr txBox="true"/>
            <p:nvPr/>
          </p:nvSpPr>
          <p:spPr>
            <a:xfrm>
              <a:off x="0" y="0"/>
              <a:ext cx="14630400" cy="1097280"/>
            </a:xfrm>
            <a:prstGeom prst="rect">
              <a:avLst/>
            </a:prstGeom>
          </p:spPr>
          <p:txBody>
            <a:bodyPr anchor="ctr" rtlCol="false" tIns="0" lIns="0" bIns="0" rIns="0"/>
            <a:lstStyle/>
            <a:p>
              <a:pPr algn="l">
                <a:lnSpc>
                  <a:spcPts val="4680"/>
                </a:lnSpc>
              </a:pPr>
              <a:r>
                <a:rPr lang="en-US" sz="3900" b="true">
                  <a:solidFill>
                    <a:srgbClr val="1E2761"/>
                  </a:solidFill>
                  <a:latin typeface="Cambria Bold"/>
                  <a:ea typeface="Cambria Bold"/>
                  <a:cs typeface="Cambria Bold"/>
                  <a:sym typeface="Cambria Bold"/>
                </a:rPr>
                <a:t>Scenario 8</a:t>
              </a:r>
            </a:p>
          </p:txBody>
        </p:sp>
      </p:grpSp>
      <p:grpSp>
        <p:nvGrpSpPr>
          <p:cNvPr name="Group 8" id="8"/>
          <p:cNvGrpSpPr/>
          <p:nvPr/>
        </p:nvGrpSpPr>
        <p:grpSpPr>
          <a:xfrm rot="0">
            <a:off x="960120" y="1810512"/>
            <a:ext cx="8229600" cy="411480"/>
            <a:chOff x="0" y="0"/>
            <a:chExt cx="10972800" cy="548640"/>
          </a:xfrm>
        </p:grpSpPr>
        <p:sp>
          <p:nvSpPr>
            <p:cNvPr name="Freeform 9" id="9"/>
            <p:cNvSpPr/>
            <p:nvPr/>
          </p:nvSpPr>
          <p:spPr>
            <a:xfrm flipH="false" flipV="false" rot="0">
              <a:off x="0" y="0"/>
              <a:ext cx="10972800" cy="548640"/>
            </a:xfrm>
            <a:custGeom>
              <a:avLst/>
              <a:gdLst/>
              <a:ahLst/>
              <a:cxnLst/>
              <a:rect r="r" b="b" t="t" l="l"/>
              <a:pathLst>
                <a:path h="548640" w="10972800">
                  <a:moveTo>
                    <a:pt x="0" y="0"/>
                  </a:moveTo>
                  <a:lnTo>
                    <a:pt x="10972800" y="0"/>
                  </a:lnTo>
                  <a:lnTo>
                    <a:pt x="10972800" y="548640"/>
                  </a:lnTo>
                  <a:lnTo>
                    <a:pt x="0" y="548640"/>
                  </a:lnTo>
                  <a:close/>
                </a:path>
              </a:pathLst>
            </a:custGeom>
            <a:blipFill>
              <a:blip r:embed="rId2">
                <a:alphaModFix amt="0"/>
              </a:blip>
              <a:stretch>
                <a:fillRect l="0" t="-339700" r="0" b="-339700"/>
              </a:stretch>
            </a:blipFill>
          </p:spPr>
        </p:sp>
        <p:sp>
          <p:nvSpPr>
            <p:cNvPr name="TextBox 10" id="10"/>
            <p:cNvSpPr txBox="true"/>
            <p:nvPr/>
          </p:nvSpPr>
          <p:spPr>
            <a:xfrm>
              <a:off x="0" y="-28575"/>
              <a:ext cx="10972800" cy="577215"/>
            </a:xfrm>
            <a:prstGeom prst="rect">
              <a:avLst/>
            </a:prstGeom>
          </p:spPr>
          <p:txBody>
            <a:bodyPr anchor="ctr" rtlCol="false" tIns="0" lIns="0" bIns="0" rIns="0"/>
            <a:lstStyle/>
            <a:p>
              <a:pPr algn="l">
                <a:lnSpc>
                  <a:spcPts val="1980"/>
                </a:lnSpc>
              </a:pPr>
              <a:r>
                <a:rPr lang="en-US" sz="1650">
                  <a:solidFill>
                    <a:srgbClr val="6B7280"/>
                  </a:solidFill>
                  <a:latin typeface="Calibri (MS)"/>
                  <a:ea typeface="Calibri (MS)"/>
                  <a:cs typeface="Calibri (MS)"/>
                  <a:sym typeface="Calibri (MS)"/>
                </a:rPr>
                <a:t>8 of 20</a:t>
              </a:r>
            </a:p>
          </p:txBody>
        </p:sp>
      </p:grpSp>
      <p:grpSp>
        <p:nvGrpSpPr>
          <p:cNvPr name="Group 11" id="11"/>
          <p:cNvGrpSpPr/>
          <p:nvPr/>
        </p:nvGrpSpPr>
        <p:grpSpPr>
          <a:xfrm rot="0">
            <a:off x="960120" y="2537460"/>
            <a:ext cx="16322040" cy="2811780"/>
            <a:chOff x="0" y="0"/>
            <a:chExt cx="21762720" cy="3749040"/>
          </a:xfrm>
        </p:grpSpPr>
        <p:sp>
          <p:nvSpPr>
            <p:cNvPr name="Freeform 12" id="12"/>
            <p:cNvSpPr/>
            <p:nvPr/>
          </p:nvSpPr>
          <p:spPr>
            <a:xfrm flipH="false" flipV="false" rot="0">
              <a:off x="0" y="0"/>
              <a:ext cx="21762720" cy="3749040"/>
            </a:xfrm>
            <a:custGeom>
              <a:avLst/>
              <a:gdLst/>
              <a:ahLst/>
              <a:cxnLst/>
              <a:rect r="r" b="b" t="t" l="l"/>
              <a:pathLst>
                <a:path h="3749040" w="21762720">
                  <a:moveTo>
                    <a:pt x="0" y="182880"/>
                  </a:moveTo>
                  <a:cubicBezTo>
                    <a:pt x="0" y="81915"/>
                    <a:pt x="81915" y="0"/>
                    <a:pt x="182880" y="0"/>
                  </a:cubicBezTo>
                  <a:lnTo>
                    <a:pt x="21579839" y="0"/>
                  </a:lnTo>
                  <a:cubicBezTo>
                    <a:pt x="21680804" y="0"/>
                    <a:pt x="21762720" y="81915"/>
                    <a:pt x="21762720" y="182880"/>
                  </a:cubicBezTo>
                  <a:lnTo>
                    <a:pt x="21762720" y="3566160"/>
                  </a:lnTo>
                  <a:cubicBezTo>
                    <a:pt x="21762720" y="3667125"/>
                    <a:pt x="21680804" y="3749040"/>
                    <a:pt x="21579839" y="3749040"/>
                  </a:cubicBezTo>
                  <a:lnTo>
                    <a:pt x="182880" y="3749040"/>
                  </a:lnTo>
                  <a:cubicBezTo>
                    <a:pt x="81915" y="3749040"/>
                    <a:pt x="0" y="3667125"/>
                    <a:pt x="0" y="3566160"/>
                  </a:cubicBezTo>
                  <a:close/>
                </a:path>
              </a:pathLst>
            </a:custGeom>
            <a:solidFill>
              <a:srgbClr val="F4F7FC"/>
            </a:solidFill>
          </p:spPr>
        </p:sp>
      </p:grpSp>
      <p:grpSp>
        <p:nvGrpSpPr>
          <p:cNvPr name="Group 13" id="13"/>
          <p:cNvGrpSpPr/>
          <p:nvPr/>
        </p:nvGrpSpPr>
        <p:grpSpPr>
          <a:xfrm rot="0">
            <a:off x="1440180" y="2811780"/>
            <a:ext cx="15361920" cy="2263140"/>
            <a:chOff x="0" y="0"/>
            <a:chExt cx="20482560" cy="3017520"/>
          </a:xfrm>
        </p:grpSpPr>
        <p:sp>
          <p:nvSpPr>
            <p:cNvPr name="Freeform 14" id="14"/>
            <p:cNvSpPr/>
            <p:nvPr/>
          </p:nvSpPr>
          <p:spPr>
            <a:xfrm flipH="false" flipV="false" rot="0">
              <a:off x="0" y="0"/>
              <a:ext cx="20482561" cy="3017520"/>
            </a:xfrm>
            <a:custGeom>
              <a:avLst/>
              <a:gdLst/>
              <a:ahLst/>
              <a:cxnLst/>
              <a:rect r="r" b="b" t="t" l="l"/>
              <a:pathLst>
                <a:path h="3017520" w="20482561">
                  <a:moveTo>
                    <a:pt x="0" y="0"/>
                  </a:moveTo>
                  <a:lnTo>
                    <a:pt x="20482561" y="0"/>
                  </a:lnTo>
                  <a:lnTo>
                    <a:pt x="20482561" y="3017520"/>
                  </a:lnTo>
                  <a:lnTo>
                    <a:pt x="0" y="3017520"/>
                  </a:lnTo>
                  <a:close/>
                </a:path>
              </a:pathLst>
            </a:custGeom>
            <a:blipFill>
              <a:blip r:embed="rId2">
                <a:alphaModFix amt="0"/>
              </a:blip>
              <a:stretch>
                <a:fillRect l="0" t="-82262" r="0" b="-82262"/>
              </a:stretch>
            </a:blipFill>
          </p:spPr>
        </p:sp>
        <p:sp>
          <p:nvSpPr>
            <p:cNvPr name="TextBox 15" id="15"/>
            <p:cNvSpPr txBox="true"/>
            <p:nvPr/>
          </p:nvSpPr>
          <p:spPr>
            <a:xfrm>
              <a:off x="0" y="-104775"/>
              <a:ext cx="20482560" cy="3122295"/>
            </a:xfrm>
            <a:prstGeom prst="rect">
              <a:avLst/>
            </a:prstGeom>
          </p:spPr>
          <p:txBody>
            <a:bodyPr anchor="ctr" rtlCol="false" tIns="0" lIns="0" bIns="0" rIns="0"/>
            <a:lstStyle/>
            <a:p>
              <a:pPr algn="l">
                <a:lnSpc>
                  <a:spcPts val="4147"/>
                </a:lnSpc>
              </a:pPr>
              <a:r>
                <a:rPr lang="en-US" sz="2700" i="true">
                  <a:solidFill>
                    <a:srgbClr val="23262F"/>
                  </a:solidFill>
                  <a:latin typeface="Cambria Italics"/>
                  <a:ea typeface="Cambria Italics"/>
                  <a:cs typeface="Cambria Italics"/>
                  <a:sym typeface="Cambria Italics"/>
                </a:rPr>
                <a:t>"After isolating the infected servers, the IT team later restores the affected files from backup once the malware is fully removed."</a:t>
              </a:r>
            </a:p>
          </p:txBody>
        </p:sp>
      </p:grpSp>
      <p:sp>
        <p:nvSpPr>
          <p:cNvPr name="TextBox 16" id="16"/>
          <p:cNvSpPr txBox="true"/>
          <p:nvPr/>
        </p:nvSpPr>
        <p:spPr>
          <a:xfrm rot="0">
            <a:off x="1051560" y="5604510"/>
            <a:ext cx="16139160" cy="1276350"/>
          </a:xfrm>
          <a:prstGeom prst="rect">
            <a:avLst/>
          </a:prstGeom>
        </p:spPr>
        <p:txBody>
          <a:bodyPr anchor="t" rtlCol="false" tIns="0" lIns="0" bIns="0" rIns="0">
            <a:spAutoFit/>
          </a:bodyPr>
          <a:lstStyle/>
          <a:p>
            <a:pPr algn="ctr">
              <a:lnSpc>
                <a:spcPts val="3402"/>
              </a:lnSpc>
            </a:pPr>
            <a:r>
              <a:rPr lang="en-US" sz="2100" i="true">
                <a:solidFill>
                  <a:srgbClr val="6B7280"/>
                </a:solidFill>
                <a:latin typeface="Calibri (MS) Italics"/>
                <a:ea typeface="Calibri (MS) Italics"/>
                <a:cs typeface="Calibri (MS) Italics"/>
                <a:sym typeface="Calibri (MS) Italics"/>
              </a:rPr>
              <a:t>Which Function does this belong to — Govern, Identify, Protect, Detect, Respond, or Recover?</a:t>
            </a:r>
          </a:p>
          <a:p>
            <a:pPr algn="ctr">
              <a:lnSpc>
                <a:spcPts val="3402"/>
              </a:lnSpc>
            </a:pPr>
            <a:r>
              <a:rPr lang="en-US" sz="2100" i="true">
                <a:solidFill>
                  <a:srgbClr val="6B7280"/>
                </a:solidFill>
                <a:latin typeface="Calibri (MS) Italics"/>
                <a:ea typeface="Calibri (MS) Italics"/>
                <a:cs typeface="Calibri (MS) Italics"/>
                <a:sym typeface="Calibri (MS) Italics"/>
              </a:rPr>
              <a:t>Some belong to more than one. Discuss, then we'll reveal the answer.</a:t>
            </a:r>
          </a:p>
        </p:txBody>
      </p:sp>
      <p:grpSp>
        <p:nvGrpSpPr>
          <p:cNvPr name="Group 17" id="17"/>
          <p:cNvGrpSpPr/>
          <p:nvPr/>
        </p:nvGrpSpPr>
        <p:grpSpPr>
          <a:xfrm rot="0">
            <a:off x="950595" y="7122795"/>
            <a:ext cx="5162550" cy="910590"/>
            <a:chOff x="0" y="0"/>
            <a:chExt cx="6883400" cy="1214120"/>
          </a:xfrm>
        </p:grpSpPr>
        <p:sp>
          <p:nvSpPr>
            <p:cNvPr name="Freeform 18" id="18"/>
            <p:cNvSpPr/>
            <p:nvPr/>
          </p:nvSpPr>
          <p:spPr>
            <a:xfrm flipH="false" flipV="false" rot="0">
              <a:off x="0" y="0"/>
              <a:ext cx="6883400" cy="1214120"/>
            </a:xfrm>
            <a:custGeom>
              <a:avLst/>
              <a:gdLst/>
              <a:ahLst/>
              <a:cxnLst/>
              <a:rect r="r" b="b" t="t" l="l"/>
              <a:pathLst>
                <a:path h="1214120" w="6883400">
                  <a:moveTo>
                    <a:pt x="0" y="168148"/>
                  </a:moveTo>
                  <a:cubicBezTo>
                    <a:pt x="0" y="75311"/>
                    <a:pt x="75311" y="0"/>
                    <a:pt x="168148" y="0"/>
                  </a:cubicBezTo>
                  <a:lnTo>
                    <a:pt x="6715252" y="0"/>
                  </a:lnTo>
                  <a:cubicBezTo>
                    <a:pt x="6808089" y="0"/>
                    <a:pt x="6883400" y="75311"/>
                    <a:pt x="6883400" y="168148"/>
                  </a:cubicBezTo>
                  <a:lnTo>
                    <a:pt x="6883400" y="1045972"/>
                  </a:lnTo>
                  <a:cubicBezTo>
                    <a:pt x="6883400" y="1138809"/>
                    <a:pt x="6808089" y="1214120"/>
                    <a:pt x="6715252" y="1214120"/>
                  </a:cubicBezTo>
                  <a:lnTo>
                    <a:pt x="168148" y="1214120"/>
                  </a:lnTo>
                  <a:cubicBezTo>
                    <a:pt x="75311" y="1214120"/>
                    <a:pt x="0" y="1138809"/>
                    <a:pt x="0" y="1045972"/>
                  </a:cubicBezTo>
                  <a:close/>
                </a:path>
              </a:pathLst>
            </a:custGeom>
            <a:solidFill>
              <a:srgbClr val="F4F7FC"/>
            </a:solidFill>
            <a:ln w="19050" cap="sq">
              <a:solidFill>
                <a:srgbClr val="D7DCEC"/>
              </a:solidFill>
              <a:prstDash val="solid"/>
              <a:miter/>
            </a:ln>
          </p:spPr>
        </p:sp>
      </p:grpSp>
      <p:grpSp>
        <p:nvGrpSpPr>
          <p:cNvPr name="Group 19" id="19"/>
          <p:cNvGrpSpPr/>
          <p:nvPr/>
        </p:nvGrpSpPr>
        <p:grpSpPr>
          <a:xfrm rot="0">
            <a:off x="960120" y="7200900"/>
            <a:ext cx="5143500" cy="589788"/>
            <a:chOff x="0" y="0"/>
            <a:chExt cx="6858000" cy="786384"/>
          </a:xfrm>
        </p:grpSpPr>
        <p:sp>
          <p:nvSpPr>
            <p:cNvPr name="Freeform 20" id="20"/>
            <p:cNvSpPr/>
            <p:nvPr/>
          </p:nvSpPr>
          <p:spPr>
            <a:xfrm flipH="false" flipV="false" rot="0">
              <a:off x="0" y="0"/>
              <a:ext cx="6858000" cy="786384"/>
            </a:xfrm>
            <a:custGeom>
              <a:avLst/>
              <a:gdLst/>
              <a:ahLst/>
              <a:cxnLst/>
              <a:rect r="r" b="b" t="t" l="l"/>
              <a:pathLst>
                <a:path h="786384" w="6858000">
                  <a:moveTo>
                    <a:pt x="0" y="0"/>
                  </a:moveTo>
                  <a:lnTo>
                    <a:pt x="6858000" y="0"/>
                  </a:lnTo>
                  <a:lnTo>
                    <a:pt x="6858000" y="786384"/>
                  </a:lnTo>
                  <a:lnTo>
                    <a:pt x="0" y="786384"/>
                  </a:lnTo>
                  <a:close/>
                </a:path>
              </a:pathLst>
            </a:custGeom>
            <a:blipFill>
              <a:blip r:embed="rId2">
                <a:alphaModFix amt="0"/>
              </a:blip>
              <a:stretch>
                <a:fillRect l="0" t="-119927" r="0" b="-119927"/>
              </a:stretch>
            </a:blipFill>
          </p:spPr>
        </p:sp>
        <p:sp>
          <p:nvSpPr>
            <p:cNvPr name="TextBox 21" id="21"/>
            <p:cNvSpPr txBox="true"/>
            <p:nvPr/>
          </p:nvSpPr>
          <p:spPr>
            <a:xfrm>
              <a:off x="0" y="-38100"/>
              <a:ext cx="6858000" cy="824484"/>
            </a:xfrm>
            <a:prstGeom prst="rect">
              <a:avLst/>
            </a:prstGeom>
          </p:spPr>
          <p:txBody>
            <a:bodyPr anchor="ctr" rtlCol="false" tIns="0" lIns="0" bIns="0" rIns="0"/>
            <a:lstStyle/>
            <a:p>
              <a:pPr algn="ctr">
                <a:lnSpc>
                  <a:spcPts val="2430"/>
                </a:lnSpc>
              </a:pPr>
              <a:r>
                <a:rPr lang="en-US" sz="2025">
                  <a:solidFill>
                    <a:srgbClr val="6B7280"/>
                  </a:solidFill>
                  <a:latin typeface="Calibri (MS)"/>
                  <a:ea typeface="Calibri (MS)"/>
                  <a:cs typeface="Calibri (MS)"/>
                  <a:sym typeface="Calibri (MS)"/>
                </a:rPr>
                <a:t>Govern</a:t>
              </a:r>
            </a:p>
          </p:txBody>
        </p:sp>
      </p:grpSp>
      <p:grpSp>
        <p:nvGrpSpPr>
          <p:cNvPr name="Group 22" id="22"/>
          <p:cNvGrpSpPr/>
          <p:nvPr/>
        </p:nvGrpSpPr>
        <p:grpSpPr>
          <a:xfrm rot="0">
            <a:off x="960120" y="7639812"/>
            <a:ext cx="5143500" cy="329184"/>
            <a:chOff x="0" y="0"/>
            <a:chExt cx="6858000" cy="438912"/>
          </a:xfrm>
        </p:grpSpPr>
        <p:sp>
          <p:nvSpPr>
            <p:cNvPr name="Freeform 23" id="23"/>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24" id="24"/>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9AA3B8"/>
                  </a:solidFill>
                  <a:latin typeface="Arimo"/>
                  <a:ea typeface="Arimo"/>
                  <a:cs typeface="Arimo"/>
                  <a:sym typeface="Arimo"/>
                </a:rPr>
                <a:t>GV</a:t>
              </a:r>
            </a:p>
          </p:txBody>
        </p:sp>
      </p:grpSp>
      <p:grpSp>
        <p:nvGrpSpPr>
          <p:cNvPr name="Group 25" id="25"/>
          <p:cNvGrpSpPr/>
          <p:nvPr/>
        </p:nvGrpSpPr>
        <p:grpSpPr>
          <a:xfrm rot="0">
            <a:off x="6533007" y="7122795"/>
            <a:ext cx="5162550" cy="910590"/>
            <a:chOff x="0" y="0"/>
            <a:chExt cx="6883400" cy="1214120"/>
          </a:xfrm>
        </p:grpSpPr>
        <p:sp>
          <p:nvSpPr>
            <p:cNvPr name="Freeform 26" id="26"/>
            <p:cNvSpPr/>
            <p:nvPr/>
          </p:nvSpPr>
          <p:spPr>
            <a:xfrm flipH="false" flipV="false" rot="0">
              <a:off x="0" y="0"/>
              <a:ext cx="6883400" cy="1214120"/>
            </a:xfrm>
            <a:custGeom>
              <a:avLst/>
              <a:gdLst/>
              <a:ahLst/>
              <a:cxnLst/>
              <a:rect r="r" b="b" t="t" l="l"/>
              <a:pathLst>
                <a:path h="1214120" w="6883400">
                  <a:moveTo>
                    <a:pt x="0" y="168148"/>
                  </a:moveTo>
                  <a:cubicBezTo>
                    <a:pt x="0" y="75311"/>
                    <a:pt x="75311" y="0"/>
                    <a:pt x="168148" y="0"/>
                  </a:cubicBezTo>
                  <a:lnTo>
                    <a:pt x="6715252" y="0"/>
                  </a:lnTo>
                  <a:cubicBezTo>
                    <a:pt x="6808089" y="0"/>
                    <a:pt x="6883400" y="75311"/>
                    <a:pt x="6883400" y="168148"/>
                  </a:cubicBezTo>
                  <a:lnTo>
                    <a:pt x="6883400" y="1045972"/>
                  </a:lnTo>
                  <a:cubicBezTo>
                    <a:pt x="6883400" y="1138809"/>
                    <a:pt x="6808089" y="1214120"/>
                    <a:pt x="6715252" y="1214120"/>
                  </a:cubicBezTo>
                  <a:lnTo>
                    <a:pt x="168148" y="1214120"/>
                  </a:lnTo>
                  <a:cubicBezTo>
                    <a:pt x="75311" y="1214120"/>
                    <a:pt x="0" y="1138809"/>
                    <a:pt x="0" y="1045972"/>
                  </a:cubicBezTo>
                  <a:close/>
                </a:path>
              </a:pathLst>
            </a:custGeom>
            <a:solidFill>
              <a:srgbClr val="F4F7FC"/>
            </a:solidFill>
            <a:ln w="19050" cap="sq">
              <a:solidFill>
                <a:srgbClr val="D7DCEC"/>
              </a:solidFill>
              <a:prstDash val="solid"/>
              <a:miter/>
            </a:ln>
          </p:spPr>
        </p:sp>
      </p:grpSp>
      <p:grpSp>
        <p:nvGrpSpPr>
          <p:cNvPr name="Group 27" id="27"/>
          <p:cNvGrpSpPr/>
          <p:nvPr/>
        </p:nvGrpSpPr>
        <p:grpSpPr>
          <a:xfrm rot="0">
            <a:off x="6542532" y="7200900"/>
            <a:ext cx="5143500" cy="589788"/>
            <a:chOff x="0" y="0"/>
            <a:chExt cx="6858000" cy="786384"/>
          </a:xfrm>
        </p:grpSpPr>
        <p:sp>
          <p:nvSpPr>
            <p:cNvPr name="Freeform 28" id="28"/>
            <p:cNvSpPr/>
            <p:nvPr/>
          </p:nvSpPr>
          <p:spPr>
            <a:xfrm flipH="false" flipV="false" rot="0">
              <a:off x="0" y="0"/>
              <a:ext cx="6858000" cy="786384"/>
            </a:xfrm>
            <a:custGeom>
              <a:avLst/>
              <a:gdLst/>
              <a:ahLst/>
              <a:cxnLst/>
              <a:rect r="r" b="b" t="t" l="l"/>
              <a:pathLst>
                <a:path h="786384" w="6858000">
                  <a:moveTo>
                    <a:pt x="0" y="0"/>
                  </a:moveTo>
                  <a:lnTo>
                    <a:pt x="6858000" y="0"/>
                  </a:lnTo>
                  <a:lnTo>
                    <a:pt x="6858000" y="786384"/>
                  </a:lnTo>
                  <a:lnTo>
                    <a:pt x="0" y="786384"/>
                  </a:lnTo>
                  <a:close/>
                </a:path>
              </a:pathLst>
            </a:custGeom>
            <a:blipFill>
              <a:blip r:embed="rId2">
                <a:alphaModFix amt="0"/>
              </a:blip>
              <a:stretch>
                <a:fillRect l="0" t="-119927" r="0" b="-119927"/>
              </a:stretch>
            </a:blipFill>
          </p:spPr>
        </p:sp>
        <p:sp>
          <p:nvSpPr>
            <p:cNvPr name="TextBox 29" id="29"/>
            <p:cNvSpPr txBox="true"/>
            <p:nvPr/>
          </p:nvSpPr>
          <p:spPr>
            <a:xfrm>
              <a:off x="0" y="-38100"/>
              <a:ext cx="6858000" cy="824484"/>
            </a:xfrm>
            <a:prstGeom prst="rect">
              <a:avLst/>
            </a:prstGeom>
          </p:spPr>
          <p:txBody>
            <a:bodyPr anchor="ctr" rtlCol="false" tIns="0" lIns="0" bIns="0" rIns="0"/>
            <a:lstStyle/>
            <a:p>
              <a:pPr algn="ctr">
                <a:lnSpc>
                  <a:spcPts val="2430"/>
                </a:lnSpc>
              </a:pPr>
              <a:r>
                <a:rPr lang="en-US" sz="2025">
                  <a:solidFill>
                    <a:srgbClr val="6B7280"/>
                  </a:solidFill>
                  <a:latin typeface="Calibri (MS)"/>
                  <a:ea typeface="Calibri (MS)"/>
                  <a:cs typeface="Calibri (MS)"/>
                  <a:sym typeface="Calibri (MS)"/>
                </a:rPr>
                <a:t>Identify</a:t>
              </a:r>
            </a:p>
          </p:txBody>
        </p:sp>
      </p:grpSp>
      <p:grpSp>
        <p:nvGrpSpPr>
          <p:cNvPr name="Group 30" id="30"/>
          <p:cNvGrpSpPr/>
          <p:nvPr/>
        </p:nvGrpSpPr>
        <p:grpSpPr>
          <a:xfrm rot="0">
            <a:off x="6542532" y="7639812"/>
            <a:ext cx="5143500" cy="329184"/>
            <a:chOff x="0" y="0"/>
            <a:chExt cx="6858000" cy="438912"/>
          </a:xfrm>
        </p:grpSpPr>
        <p:sp>
          <p:nvSpPr>
            <p:cNvPr name="Freeform 31" id="31"/>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32" id="32"/>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9AA3B8"/>
                  </a:solidFill>
                  <a:latin typeface="Arimo"/>
                  <a:ea typeface="Arimo"/>
                  <a:cs typeface="Arimo"/>
                  <a:sym typeface="Arimo"/>
                </a:rPr>
                <a:t>ID</a:t>
              </a:r>
            </a:p>
          </p:txBody>
        </p:sp>
      </p:grpSp>
      <p:grpSp>
        <p:nvGrpSpPr>
          <p:cNvPr name="Group 33" id="33"/>
          <p:cNvGrpSpPr/>
          <p:nvPr/>
        </p:nvGrpSpPr>
        <p:grpSpPr>
          <a:xfrm rot="0">
            <a:off x="12115419" y="7122795"/>
            <a:ext cx="5162550" cy="910590"/>
            <a:chOff x="0" y="0"/>
            <a:chExt cx="6883400" cy="1214120"/>
          </a:xfrm>
        </p:grpSpPr>
        <p:sp>
          <p:nvSpPr>
            <p:cNvPr name="Freeform 34" id="34"/>
            <p:cNvSpPr/>
            <p:nvPr/>
          </p:nvSpPr>
          <p:spPr>
            <a:xfrm flipH="false" flipV="false" rot="0">
              <a:off x="0" y="0"/>
              <a:ext cx="6883400" cy="1214120"/>
            </a:xfrm>
            <a:custGeom>
              <a:avLst/>
              <a:gdLst/>
              <a:ahLst/>
              <a:cxnLst/>
              <a:rect r="r" b="b" t="t" l="l"/>
              <a:pathLst>
                <a:path h="1214120" w="6883400">
                  <a:moveTo>
                    <a:pt x="0" y="168148"/>
                  </a:moveTo>
                  <a:cubicBezTo>
                    <a:pt x="0" y="75311"/>
                    <a:pt x="75311" y="0"/>
                    <a:pt x="168148" y="0"/>
                  </a:cubicBezTo>
                  <a:lnTo>
                    <a:pt x="6715252" y="0"/>
                  </a:lnTo>
                  <a:cubicBezTo>
                    <a:pt x="6808089" y="0"/>
                    <a:pt x="6883400" y="75311"/>
                    <a:pt x="6883400" y="168148"/>
                  </a:cubicBezTo>
                  <a:lnTo>
                    <a:pt x="6883400" y="1045972"/>
                  </a:lnTo>
                  <a:cubicBezTo>
                    <a:pt x="6883400" y="1138809"/>
                    <a:pt x="6808089" y="1214120"/>
                    <a:pt x="6715252" y="1214120"/>
                  </a:cubicBezTo>
                  <a:lnTo>
                    <a:pt x="168148" y="1214120"/>
                  </a:lnTo>
                  <a:cubicBezTo>
                    <a:pt x="75311" y="1214120"/>
                    <a:pt x="0" y="1138809"/>
                    <a:pt x="0" y="1045972"/>
                  </a:cubicBezTo>
                  <a:close/>
                </a:path>
              </a:pathLst>
            </a:custGeom>
            <a:solidFill>
              <a:srgbClr val="F4F7FC"/>
            </a:solidFill>
            <a:ln w="19050" cap="sq">
              <a:solidFill>
                <a:srgbClr val="D7DCEC"/>
              </a:solidFill>
              <a:prstDash val="solid"/>
              <a:miter/>
            </a:ln>
          </p:spPr>
        </p:sp>
      </p:grpSp>
      <p:grpSp>
        <p:nvGrpSpPr>
          <p:cNvPr name="Group 35" id="35"/>
          <p:cNvGrpSpPr/>
          <p:nvPr/>
        </p:nvGrpSpPr>
        <p:grpSpPr>
          <a:xfrm rot="0">
            <a:off x="12124944" y="7200900"/>
            <a:ext cx="5143500" cy="589788"/>
            <a:chOff x="0" y="0"/>
            <a:chExt cx="6858000" cy="786384"/>
          </a:xfrm>
        </p:grpSpPr>
        <p:sp>
          <p:nvSpPr>
            <p:cNvPr name="Freeform 36" id="36"/>
            <p:cNvSpPr/>
            <p:nvPr/>
          </p:nvSpPr>
          <p:spPr>
            <a:xfrm flipH="false" flipV="false" rot="0">
              <a:off x="0" y="0"/>
              <a:ext cx="6858000" cy="786384"/>
            </a:xfrm>
            <a:custGeom>
              <a:avLst/>
              <a:gdLst/>
              <a:ahLst/>
              <a:cxnLst/>
              <a:rect r="r" b="b" t="t" l="l"/>
              <a:pathLst>
                <a:path h="786384" w="6858000">
                  <a:moveTo>
                    <a:pt x="0" y="0"/>
                  </a:moveTo>
                  <a:lnTo>
                    <a:pt x="6858000" y="0"/>
                  </a:lnTo>
                  <a:lnTo>
                    <a:pt x="6858000" y="786384"/>
                  </a:lnTo>
                  <a:lnTo>
                    <a:pt x="0" y="786384"/>
                  </a:lnTo>
                  <a:close/>
                </a:path>
              </a:pathLst>
            </a:custGeom>
            <a:blipFill>
              <a:blip r:embed="rId2">
                <a:alphaModFix amt="0"/>
              </a:blip>
              <a:stretch>
                <a:fillRect l="0" t="-119927" r="0" b="-119927"/>
              </a:stretch>
            </a:blipFill>
          </p:spPr>
        </p:sp>
        <p:sp>
          <p:nvSpPr>
            <p:cNvPr name="TextBox 37" id="37"/>
            <p:cNvSpPr txBox="true"/>
            <p:nvPr/>
          </p:nvSpPr>
          <p:spPr>
            <a:xfrm>
              <a:off x="0" y="-38100"/>
              <a:ext cx="6858000" cy="824484"/>
            </a:xfrm>
            <a:prstGeom prst="rect">
              <a:avLst/>
            </a:prstGeom>
          </p:spPr>
          <p:txBody>
            <a:bodyPr anchor="ctr" rtlCol="false" tIns="0" lIns="0" bIns="0" rIns="0"/>
            <a:lstStyle/>
            <a:p>
              <a:pPr algn="ctr">
                <a:lnSpc>
                  <a:spcPts val="2430"/>
                </a:lnSpc>
              </a:pPr>
              <a:r>
                <a:rPr lang="en-US" sz="2025">
                  <a:solidFill>
                    <a:srgbClr val="6B7280"/>
                  </a:solidFill>
                  <a:latin typeface="Calibri (MS)"/>
                  <a:ea typeface="Calibri (MS)"/>
                  <a:cs typeface="Calibri (MS)"/>
                  <a:sym typeface="Calibri (MS)"/>
                </a:rPr>
                <a:t>Protect</a:t>
              </a:r>
            </a:p>
          </p:txBody>
        </p:sp>
      </p:grpSp>
      <p:grpSp>
        <p:nvGrpSpPr>
          <p:cNvPr name="Group 38" id="38"/>
          <p:cNvGrpSpPr/>
          <p:nvPr/>
        </p:nvGrpSpPr>
        <p:grpSpPr>
          <a:xfrm rot="0">
            <a:off x="12124944" y="7639812"/>
            <a:ext cx="5143500" cy="329184"/>
            <a:chOff x="0" y="0"/>
            <a:chExt cx="6858000" cy="438912"/>
          </a:xfrm>
        </p:grpSpPr>
        <p:sp>
          <p:nvSpPr>
            <p:cNvPr name="Freeform 39" id="39"/>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40" id="40"/>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9AA3B8"/>
                  </a:solidFill>
                  <a:latin typeface="Arimo"/>
                  <a:ea typeface="Arimo"/>
                  <a:cs typeface="Arimo"/>
                  <a:sym typeface="Arimo"/>
                </a:rPr>
                <a:t>PR</a:t>
              </a:r>
            </a:p>
          </p:txBody>
        </p:sp>
      </p:grpSp>
      <p:grpSp>
        <p:nvGrpSpPr>
          <p:cNvPr name="Group 41" id="41"/>
          <p:cNvGrpSpPr/>
          <p:nvPr/>
        </p:nvGrpSpPr>
        <p:grpSpPr>
          <a:xfrm rot="0">
            <a:off x="950595" y="8288655"/>
            <a:ext cx="5162550" cy="910590"/>
            <a:chOff x="0" y="0"/>
            <a:chExt cx="6883400" cy="1214120"/>
          </a:xfrm>
        </p:grpSpPr>
        <p:sp>
          <p:nvSpPr>
            <p:cNvPr name="Freeform 42" id="42"/>
            <p:cNvSpPr/>
            <p:nvPr/>
          </p:nvSpPr>
          <p:spPr>
            <a:xfrm flipH="false" flipV="false" rot="0">
              <a:off x="0" y="0"/>
              <a:ext cx="6883400" cy="1214120"/>
            </a:xfrm>
            <a:custGeom>
              <a:avLst/>
              <a:gdLst/>
              <a:ahLst/>
              <a:cxnLst/>
              <a:rect r="r" b="b" t="t" l="l"/>
              <a:pathLst>
                <a:path h="1214120" w="6883400">
                  <a:moveTo>
                    <a:pt x="0" y="168148"/>
                  </a:moveTo>
                  <a:cubicBezTo>
                    <a:pt x="0" y="75311"/>
                    <a:pt x="75311" y="0"/>
                    <a:pt x="168148" y="0"/>
                  </a:cubicBezTo>
                  <a:lnTo>
                    <a:pt x="6715252" y="0"/>
                  </a:lnTo>
                  <a:cubicBezTo>
                    <a:pt x="6808089" y="0"/>
                    <a:pt x="6883400" y="75311"/>
                    <a:pt x="6883400" y="168148"/>
                  </a:cubicBezTo>
                  <a:lnTo>
                    <a:pt x="6883400" y="1045972"/>
                  </a:lnTo>
                  <a:cubicBezTo>
                    <a:pt x="6883400" y="1138809"/>
                    <a:pt x="6808089" y="1214120"/>
                    <a:pt x="6715252" y="1214120"/>
                  </a:cubicBezTo>
                  <a:lnTo>
                    <a:pt x="168148" y="1214120"/>
                  </a:lnTo>
                  <a:cubicBezTo>
                    <a:pt x="75311" y="1214120"/>
                    <a:pt x="0" y="1138809"/>
                    <a:pt x="0" y="1045972"/>
                  </a:cubicBezTo>
                  <a:close/>
                </a:path>
              </a:pathLst>
            </a:custGeom>
            <a:solidFill>
              <a:srgbClr val="F4F7FC"/>
            </a:solidFill>
            <a:ln w="19050" cap="sq">
              <a:solidFill>
                <a:srgbClr val="D7DCEC"/>
              </a:solidFill>
              <a:prstDash val="solid"/>
              <a:miter/>
            </a:ln>
          </p:spPr>
        </p:sp>
      </p:grpSp>
      <p:grpSp>
        <p:nvGrpSpPr>
          <p:cNvPr name="Group 43" id="43"/>
          <p:cNvGrpSpPr/>
          <p:nvPr/>
        </p:nvGrpSpPr>
        <p:grpSpPr>
          <a:xfrm rot="0">
            <a:off x="960120" y="8366760"/>
            <a:ext cx="5143500" cy="589788"/>
            <a:chOff x="0" y="0"/>
            <a:chExt cx="6858000" cy="786384"/>
          </a:xfrm>
        </p:grpSpPr>
        <p:sp>
          <p:nvSpPr>
            <p:cNvPr name="Freeform 44" id="44"/>
            <p:cNvSpPr/>
            <p:nvPr/>
          </p:nvSpPr>
          <p:spPr>
            <a:xfrm flipH="false" flipV="false" rot="0">
              <a:off x="0" y="0"/>
              <a:ext cx="6858000" cy="786384"/>
            </a:xfrm>
            <a:custGeom>
              <a:avLst/>
              <a:gdLst/>
              <a:ahLst/>
              <a:cxnLst/>
              <a:rect r="r" b="b" t="t" l="l"/>
              <a:pathLst>
                <a:path h="786384" w="6858000">
                  <a:moveTo>
                    <a:pt x="0" y="0"/>
                  </a:moveTo>
                  <a:lnTo>
                    <a:pt x="6858000" y="0"/>
                  </a:lnTo>
                  <a:lnTo>
                    <a:pt x="6858000" y="786384"/>
                  </a:lnTo>
                  <a:lnTo>
                    <a:pt x="0" y="786384"/>
                  </a:lnTo>
                  <a:close/>
                </a:path>
              </a:pathLst>
            </a:custGeom>
            <a:blipFill>
              <a:blip r:embed="rId2">
                <a:alphaModFix amt="0"/>
              </a:blip>
              <a:stretch>
                <a:fillRect l="0" t="-119927" r="0" b="-119927"/>
              </a:stretch>
            </a:blipFill>
          </p:spPr>
        </p:sp>
        <p:sp>
          <p:nvSpPr>
            <p:cNvPr name="TextBox 45" id="45"/>
            <p:cNvSpPr txBox="true"/>
            <p:nvPr/>
          </p:nvSpPr>
          <p:spPr>
            <a:xfrm>
              <a:off x="0" y="-38100"/>
              <a:ext cx="6858000" cy="824484"/>
            </a:xfrm>
            <a:prstGeom prst="rect">
              <a:avLst/>
            </a:prstGeom>
          </p:spPr>
          <p:txBody>
            <a:bodyPr anchor="ctr" rtlCol="false" tIns="0" lIns="0" bIns="0" rIns="0"/>
            <a:lstStyle/>
            <a:p>
              <a:pPr algn="ctr">
                <a:lnSpc>
                  <a:spcPts val="2430"/>
                </a:lnSpc>
              </a:pPr>
              <a:r>
                <a:rPr lang="en-US" sz="2025">
                  <a:solidFill>
                    <a:srgbClr val="6B7280"/>
                  </a:solidFill>
                  <a:latin typeface="Calibri (MS)"/>
                  <a:ea typeface="Calibri (MS)"/>
                  <a:cs typeface="Calibri (MS)"/>
                  <a:sym typeface="Calibri (MS)"/>
                </a:rPr>
                <a:t>Detect</a:t>
              </a:r>
            </a:p>
          </p:txBody>
        </p:sp>
      </p:grpSp>
      <p:grpSp>
        <p:nvGrpSpPr>
          <p:cNvPr name="Group 46" id="46"/>
          <p:cNvGrpSpPr/>
          <p:nvPr/>
        </p:nvGrpSpPr>
        <p:grpSpPr>
          <a:xfrm rot="0">
            <a:off x="960120" y="8805672"/>
            <a:ext cx="5143500" cy="329184"/>
            <a:chOff x="0" y="0"/>
            <a:chExt cx="6858000" cy="438912"/>
          </a:xfrm>
        </p:grpSpPr>
        <p:sp>
          <p:nvSpPr>
            <p:cNvPr name="Freeform 47" id="47"/>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48" id="48"/>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9AA3B8"/>
                  </a:solidFill>
                  <a:latin typeface="Arimo"/>
                  <a:ea typeface="Arimo"/>
                  <a:cs typeface="Arimo"/>
                  <a:sym typeface="Arimo"/>
                </a:rPr>
                <a:t>DE</a:t>
              </a:r>
            </a:p>
          </p:txBody>
        </p:sp>
      </p:grpSp>
      <p:grpSp>
        <p:nvGrpSpPr>
          <p:cNvPr name="Group 49" id="49"/>
          <p:cNvGrpSpPr/>
          <p:nvPr/>
        </p:nvGrpSpPr>
        <p:grpSpPr>
          <a:xfrm rot="0">
            <a:off x="6533007" y="8288655"/>
            <a:ext cx="5162550" cy="910590"/>
            <a:chOff x="0" y="0"/>
            <a:chExt cx="6883400" cy="1214120"/>
          </a:xfrm>
        </p:grpSpPr>
        <p:sp>
          <p:nvSpPr>
            <p:cNvPr name="Freeform 50" id="50"/>
            <p:cNvSpPr/>
            <p:nvPr/>
          </p:nvSpPr>
          <p:spPr>
            <a:xfrm flipH="false" flipV="false" rot="0">
              <a:off x="0" y="0"/>
              <a:ext cx="6883400" cy="1214120"/>
            </a:xfrm>
            <a:custGeom>
              <a:avLst/>
              <a:gdLst/>
              <a:ahLst/>
              <a:cxnLst/>
              <a:rect r="r" b="b" t="t" l="l"/>
              <a:pathLst>
                <a:path h="1214120" w="6883400">
                  <a:moveTo>
                    <a:pt x="0" y="168148"/>
                  </a:moveTo>
                  <a:cubicBezTo>
                    <a:pt x="0" y="75311"/>
                    <a:pt x="75311" y="0"/>
                    <a:pt x="168148" y="0"/>
                  </a:cubicBezTo>
                  <a:lnTo>
                    <a:pt x="6715252" y="0"/>
                  </a:lnTo>
                  <a:cubicBezTo>
                    <a:pt x="6808089" y="0"/>
                    <a:pt x="6883400" y="75311"/>
                    <a:pt x="6883400" y="168148"/>
                  </a:cubicBezTo>
                  <a:lnTo>
                    <a:pt x="6883400" y="1045972"/>
                  </a:lnTo>
                  <a:cubicBezTo>
                    <a:pt x="6883400" y="1138809"/>
                    <a:pt x="6808089" y="1214120"/>
                    <a:pt x="6715252" y="1214120"/>
                  </a:cubicBezTo>
                  <a:lnTo>
                    <a:pt x="168148" y="1214120"/>
                  </a:lnTo>
                  <a:cubicBezTo>
                    <a:pt x="75311" y="1214120"/>
                    <a:pt x="0" y="1138809"/>
                    <a:pt x="0" y="1045972"/>
                  </a:cubicBezTo>
                  <a:close/>
                </a:path>
              </a:pathLst>
            </a:custGeom>
            <a:solidFill>
              <a:srgbClr val="F4F7FC"/>
            </a:solidFill>
            <a:ln w="19050" cap="sq">
              <a:solidFill>
                <a:srgbClr val="D7DCEC"/>
              </a:solidFill>
              <a:prstDash val="solid"/>
              <a:miter/>
            </a:ln>
          </p:spPr>
        </p:sp>
      </p:grpSp>
      <p:grpSp>
        <p:nvGrpSpPr>
          <p:cNvPr name="Group 51" id="51"/>
          <p:cNvGrpSpPr/>
          <p:nvPr/>
        </p:nvGrpSpPr>
        <p:grpSpPr>
          <a:xfrm rot="0">
            <a:off x="6542532" y="8366760"/>
            <a:ext cx="5143500" cy="589788"/>
            <a:chOff x="0" y="0"/>
            <a:chExt cx="6858000" cy="786384"/>
          </a:xfrm>
        </p:grpSpPr>
        <p:sp>
          <p:nvSpPr>
            <p:cNvPr name="Freeform 52" id="52"/>
            <p:cNvSpPr/>
            <p:nvPr/>
          </p:nvSpPr>
          <p:spPr>
            <a:xfrm flipH="false" flipV="false" rot="0">
              <a:off x="0" y="0"/>
              <a:ext cx="6858000" cy="786384"/>
            </a:xfrm>
            <a:custGeom>
              <a:avLst/>
              <a:gdLst/>
              <a:ahLst/>
              <a:cxnLst/>
              <a:rect r="r" b="b" t="t" l="l"/>
              <a:pathLst>
                <a:path h="786384" w="6858000">
                  <a:moveTo>
                    <a:pt x="0" y="0"/>
                  </a:moveTo>
                  <a:lnTo>
                    <a:pt x="6858000" y="0"/>
                  </a:lnTo>
                  <a:lnTo>
                    <a:pt x="6858000" y="786384"/>
                  </a:lnTo>
                  <a:lnTo>
                    <a:pt x="0" y="786384"/>
                  </a:lnTo>
                  <a:close/>
                </a:path>
              </a:pathLst>
            </a:custGeom>
            <a:blipFill>
              <a:blip r:embed="rId2">
                <a:alphaModFix amt="0"/>
              </a:blip>
              <a:stretch>
                <a:fillRect l="0" t="-119927" r="0" b="-119927"/>
              </a:stretch>
            </a:blipFill>
          </p:spPr>
        </p:sp>
        <p:sp>
          <p:nvSpPr>
            <p:cNvPr name="TextBox 53" id="53"/>
            <p:cNvSpPr txBox="true"/>
            <p:nvPr/>
          </p:nvSpPr>
          <p:spPr>
            <a:xfrm>
              <a:off x="0" y="-38100"/>
              <a:ext cx="6858000" cy="824484"/>
            </a:xfrm>
            <a:prstGeom prst="rect">
              <a:avLst/>
            </a:prstGeom>
          </p:spPr>
          <p:txBody>
            <a:bodyPr anchor="ctr" rtlCol="false" tIns="0" lIns="0" bIns="0" rIns="0"/>
            <a:lstStyle/>
            <a:p>
              <a:pPr algn="ctr">
                <a:lnSpc>
                  <a:spcPts val="2430"/>
                </a:lnSpc>
              </a:pPr>
              <a:r>
                <a:rPr lang="en-US" sz="2025">
                  <a:solidFill>
                    <a:srgbClr val="6B7280"/>
                  </a:solidFill>
                  <a:latin typeface="Calibri (MS)"/>
                  <a:ea typeface="Calibri (MS)"/>
                  <a:cs typeface="Calibri (MS)"/>
                  <a:sym typeface="Calibri (MS)"/>
                </a:rPr>
                <a:t>Respond</a:t>
              </a:r>
            </a:p>
          </p:txBody>
        </p:sp>
      </p:grpSp>
      <p:grpSp>
        <p:nvGrpSpPr>
          <p:cNvPr name="Group 54" id="54"/>
          <p:cNvGrpSpPr/>
          <p:nvPr/>
        </p:nvGrpSpPr>
        <p:grpSpPr>
          <a:xfrm rot="0">
            <a:off x="6542532" y="8805672"/>
            <a:ext cx="5143500" cy="329184"/>
            <a:chOff x="0" y="0"/>
            <a:chExt cx="6858000" cy="438912"/>
          </a:xfrm>
        </p:grpSpPr>
        <p:sp>
          <p:nvSpPr>
            <p:cNvPr name="Freeform 55" id="55"/>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56" id="56"/>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9AA3B8"/>
                  </a:solidFill>
                  <a:latin typeface="Arimo"/>
                  <a:ea typeface="Arimo"/>
                  <a:cs typeface="Arimo"/>
                  <a:sym typeface="Arimo"/>
                </a:rPr>
                <a:t>RS</a:t>
              </a:r>
            </a:p>
          </p:txBody>
        </p:sp>
      </p:grpSp>
      <p:grpSp>
        <p:nvGrpSpPr>
          <p:cNvPr name="Group 57" id="57"/>
          <p:cNvGrpSpPr/>
          <p:nvPr/>
        </p:nvGrpSpPr>
        <p:grpSpPr>
          <a:xfrm rot="0">
            <a:off x="12115419" y="8288655"/>
            <a:ext cx="5162550" cy="910590"/>
            <a:chOff x="0" y="0"/>
            <a:chExt cx="6883400" cy="1214120"/>
          </a:xfrm>
        </p:grpSpPr>
        <p:sp>
          <p:nvSpPr>
            <p:cNvPr name="Freeform 58" id="58"/>
            <p:cNvSpPr/>
            <p:nvPr/>
          </p:nvSpPr>
          <p:spPr>
            <a:xfrm flipH="false" flipV="false" rot="0">
              <a:off x="0" y="0"/>
              <a:ext cx="6883400" cy="1214120"/>
            </a:xfrm>
            <a:custGeom>
              <a:avLst/>
              <a:gdLst/>
              <a:ahLst/>
              <a:cxnLst/>
              <a:rect r="r" b="b" t="t" l="l"/>
              <a:pathLst>
                <a:path h="1214120" w="6883400">
                  <a:moveTo>
                    <a:pt x="0" y="168148"/>
                  </a:moveTo>
                  <a:cubicBezTo>
                    <a:pt x="0" y="75311"/>
                    <a:pt x="75311" y="0"/>
                    <a:pt x="168148" y="0"/>
                  </a:cubicBezTo>
                  <a:lnTo>
                    <a:pt x="6715252" y="0"/>
                  </a:lnTo>
                  <a:cubicBezTo>
                    <a:pt x="6808089" y="0"/>
                    <a:pt x="6883400" y="75311"/>
                    <a:pt x="6883400" y="168148"/>
                  </a:cubicBezTo>
                  <a:lnTo>
                    <a:pt x="6883400" y="1045972"/>
                  </a:lnTo>
                  <a:cubicBezTo>
                    <a:pt x="6883400" y="1138809"/>
                    <a:pt x="6808089" y="1214120"/>
                    <a:pt x="6715252" y="1214120"/>
                  </a:cubicBezTo>
                  <a:lnTo>
                    <a:pt x="168148" y="1214120"/>
                  </a:lnTo>
                  <a:cubicBezTo>
                    <a:pt x="75311" y="1214120"/>
                    <a:pt x="0" y="1138809"/>
                    <a:pt x="0" y="1045972"/>
                  </a:cubicBezTo>
                  <a:close/>
                </a:path>
              </a:pathLst>
            </a:custGeom>
            <a:solidFill>
              <a:srgbClr val="F4F7FC"/>
            </a:solidFill>
            <a:ln w="19050" cap="sq">
              <a:solidFill>
                <a:srgbClr val="D7DCEC"/>
              </a:solidFill>
              <a:prstDash val="solid"/>
              <a:miter/>
            </a:ln>
          </p:spPr>
        </p:sp>
      </p:grpSp>
      <p:grpSp>
        <p:nvGrpSpPr>
          <p:cNvPr name="Group 59" id="59"/>
          <p:cNvGrpSpPr/>
          <p:nvPr/>
        </p:nvGrpSpPr>
        <p:grpSpPr>
          <a:xfrm rot="0">
            <a:off x="12124944" y="8366760"/>
            <a:ext cx="5143500" cy="589788"/>
            <a:chOff x="0" y="0"/>
            <a:chExt cx="6858000" cy="786384"/>
          </a:xfrm>
        </p:grpSpPr>
        <p:sp>
          <p:nvSpPr>
            <p:cNvPr name="Freeform 60" id="60"/>
            <p:cNvSpPr/>
            <p:nvPr/>
          </p:nvSpPr>
          <p:spPr>
            <a:xfrm flipH="false" flipV="false" rot="0">
              <a:off x="0" y="0"/>
              <a:ext cx="6858000" cy="786384"/>
            </a:xfrm>
            <a:custGeom>
              <a:avLst/>
              <a:gdLst/>
              <a:ahLst/>
              <a:cxnLst/>
              <a:rect r="r" b="b" t="t" l="l"/>
              <a:pathLst>
                <a:path h="786384" w="6858000">
                  <a:moveTo>
                    <a:pt x="0" y="0"/>
                  </a:moveTo>
                  <a:lnTo>
                    <a:pt x="6858000" y="0"/>
                  </a:lnTo>
                  <a:lnTo>
                    <a:pt x="6858000" y="786384"/>
                  </a:lnTo>
                  <a:lnTo>
                    <a:pt x="0" y="786384"/>
                  </a:lnTo>
                  <a:close/>
                </a:path>
              </a:pathLst>
            </a:custGeom>
            <a:blipFill>
              <a:blip r:embed="rId2">
                <a:alphaModFix amt="0"/>
              </a:blip>
              <a:stretch>
                <a:fillRect l="0" t="-119927" r="0" b="-119927"/>
              </a:stretch>
            </a:blipFill>
          </p:spPr>
        </p:sp>
        <p:sp>
          <p:nvSpPr>
            <p:cNvPr name="TextBox 61" id="61"/>
            <p:cNvSpPr txBox="true"/>
            <p:nvPr/>
          </p:nvSpPr>
          <p:spPr>
            <a:xfrm>
              <a:off x="0" y="-38100"/>
              <a:ext cx="6858000" cy="824484"/>
            </a:xfrm>
            <a:prstGeom prst="rect">
              <a:avLst/>
            </a:prstGeom>
          </p:spPr>
          <p:txBody>
            <a:bodyPr anchor="ctr" rtlCol="false" tIns="0" lIns="0" bIns="0" rIns="0"/>
            <a:lstStyle/>
            <a:p>
              <a:pPr algn="ctr">
                <a:lnSpc>
                  <a:spcPts val="2430"/>
                </a:lnSpc>
              </a:pPr>
              <a:r>
                <a:rPr lang="en-US" sz="2025">
                  <a:solidFill>
                    <a:srgbClr val="6B7280"/>
                  </a:solidFill>
                  <a:latin typeface="Calibri (MS)"/>
                  <a:ea typeface="Calibri (MS)"/>
                  <a:cs typeface="Calibri (MS)"/>
                  <a:sym typeface="Calibri (MS)"/>
                </a:rPr>
                <a:t>Recover</a:t>
              </a:r>
            </a:p>
          </p:txBody>
        </p:sp>
      </p:grpSp>
      <p:grpSp>
        <p:nvGrpSpPr>
          <p:cNvPr name="Group 62" id="62"/>
          <p:cNvGrpSpPr/>
          <p:nvPr/>
        </p:nvGrpSpPr>
        <p:grpSpPr>
          <a:xfrm rot="0">
            <a:off x="12124944" y="8805672"/>
            <a:ext cx="5143500" cy="329184"/>
            <a:chOff x="0" y="0"/>
            <a:chExt cx="6858000" cy="438912"/>
          </a:xfrm>
        </p:grpSpPr>
        <p:sp>
          <p:nvSpPr>
            <p:cNvPr name="Freeform 63" id="63"/>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64" id="64"/>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9AA3B8"/>
                  </a:solidFill>
                  <a:latin typeface="Arimo"/>
                  <a:ea typeface="Arimo"/>
                  <a:cs typeface="Arimo"/>
                  <a:sym typeface="Arimo"/>
                </a:rPr>
                <a:t>RC</a:t>
              </a:r>
            </a:p>
          </p:txBody>
        </p:sp>
      </p:grpSp>
      <p:grpSp>
        <p:nvGrpSpPr>
          <p:cNvPr name="Group 65" id="65"/>
          <p:cNvGrpSpPr/>
          <p:nvPr/>
        </p:nvGrpSpPr>
        <p:grpSpPr>
          <a:xfrm rot="0">
            <a:off x="685800" y="9710928"/>
            <a:ext cx="10972800" cy="411480"/>
            <a:chOff x="0" y="0"/>
            <a:chExt cx="14630400" cy="548640"/>
          </a:xfrm>
        </p:grpSpPr>
        <p:sp>
          <p:nvSpPr>
            <p:cNvPr name="Freeform 66" id="66"/>
            <p:cNvSpPr/>
            <p:nvPr/>
          </p:nvSpPr>
          <p:spPr>
            <a:xfrm flipH="false" flipV="false" rot="0">
              <a:off x="0" y="0"/>
              <a:ext cx="14630400" cy="548640"/>
            </a:xfrm>
            <a:custGeom>
              <a:avLst/>
              <a:gdLst/>
              <a:ahLst/>
              <a:cxnLst/>
              <a:rect r="r" b="b" t="t" l="l"/>
              <a:pathLst>
                <a:path h="548640" w="14630400">
                  <a:moveTo>
                    <a:pt x="0" y="0"/>
                  </a:moveTo>
                  <a:lnTo>
                    <a:pt x="14630400" y="0"/>
                  </a:lnTo>
                  <a:lnTo>
                    <a:pt x="14630400" y="548640"/>
                  </a:lnTo>
                  <a:lnTo>
                    <a:pt x="0" y="548640"/>
                  </a:lnTo>
                  <a:close/>
                </a:path>
              </a:pathLst>
            </a:custGeom>
            <a:blipFill>
              <a:blip r:embed="rId2">
                <a:alphaModFix amt="0"/>
              </a:blip>
              <a:stretch>
                <a:fillRect l="0" t="-469601" r="0" b="-469601"/>
              </a:stretch>
            </a:blipFill>
          </p:spPr>
        </p:sp>
        <p:sp>
          <p:nvSpPr>
            <p:cNvPr name="TextBox 67" id="67"/>
            <p:cNvSpPr txBox="true"/>
            <p:nvPr/>
          </p:nvSpPr>
          <p:spPr>
            <a:xfrm>
              <a:off x="0" y="-38100"/>
              <a:ext cx="14630400" cy="586740"/>
            </a:xfrm>
            <a:prstGeom prst="rect">
              <a:avLst/>
            </a:prstGeom>
          </p:spPr>
          <p:txBody>
            <a:bodyPr anchor="ctr" rtlCol="false" tIns="0" lIns="0" bIns="0" rIns="0"/>
            <a:lstStyle/>
            <a:p>
              <a:pPr algn="l">
                <a:lnSpc>
                  <a:spcPts val="1800"/>
                </a:lnSpc>
              </a:pPr>
              <a:r>
                <a:rPr lang="en-US" sz="1500">
                  <a:solidFill>
                    <a:srgbClr val="6B7280"/>
                  </a:solidFill>
                  <a:latin typeface="Calibri (MS)"/>
                  <a:ea typeface="Calibri (MS)"/>
                  <a:cs typeface="Calibri (MS)"/>
                  <a:sym typeface="Calibri (MS)"/>
                </a:rPr>
                <a:t>Davao del Norte Provincial Government — Cybersecurity Seminar</a:t>
              </a:r>
            </a:p>
          </p:txBody>
        </p:sp>
      </p:grpSp>
      <p:grpSp>
        <p:nvGrpSpPr>
          <p:cNvPr name="Group 68" id="68"/>
          <p:cNvGrpSpPr/>
          <p:nvPr/>
        </p:nvGrpSpPr>
        <p:grpSpPr>
          <a:xfrm rot="0">
            <a:off x="16911828" y="9710928"/>
            <a:ext cx="685800" cy="411480"/>
            <a:chOff x="0" y="0"/>
            <a:chExt cx="914400" cy="548640"/>
          </a:xfrm>
        </p:grpSpPr>
        <p:sp>
          <p:nvSpPr>
            <p:cNvPr name="Freeform 69" id="69"/>
            <p:cNvSpPr/>
            <p:nvPr/>
          </p:nvSpPr>
          <p:spPr>
            <a:xfrm flipH="false" flipV="false" rot="0">
              <a:off x="0" y="0"/>
              <a:ext cx="914400" cy="548640"/>
            </a:xfrm>
            <a:custGeom>
              <a:avLst/>
              <a:gdLst/>
              <a:ahLst/>
              <a:cxnLst/>
              <a:rect r="r" b="b" t="t" l="l"/>
              <a:pathLst>
                <a:path h="548640" w="914400">
                  <a:moveTo>
                    <a:pt x="0" y="0"/>
                  </a:moveTo>
                  <a:lnTo>
                    <a:pt x="914400" y="0"/>
                  </a:lnTo>
                  <a:lnTo>
                    <a:pt x="914400" y="548640"/>
                  </a:lnTo>
                  <a:lnTo>
                    <a:pt x="0" y="548640"/>
                  </a:lnTo>
                  <a:close/>
                </a:path>
              </a:pathLst>
            </a:custGeom>
            <a:blipFill>
              <a:blip r:embed="rId2">
                <a:alphaModFix amt="0"/>
              </a:blip>
              <a:stretch>
                <a:fillRect l="-26982" t="0" r="-26982" b="0"/>
              </a:stretch>
            </a:blipFill>
          </p:spPr>
        </p:sp>
        <p:sp>
          <p:nvSpPr>
            <p:cNvPr name="TextBox 70" id="70"/>
            <p:cNvSpPr txBox="true"/>
            <p:nvPr/>
          </p:nvSpPr>
          <p:spPr>
            <a:xfrm>
              <a:off x="0" y="-38100"/>
              <a:ext cx="914400" cy="586740"/>
            </a:xfrm>
            <a:prstGeom prst="rect">
              <a:avLst/>
            </a:prstGeom>
          </p:spPr>
          <p:txBody>
            <a:bodyPr anchor="ctr" rtlCol="false" tIns="0" lIns="0" bIns="0" rIns="0"/>
            <a:lstStyle/>
            <a:p>
              <a:pPr algn="r">
                <a:lnSpc>
                  <a:spcPts val="1800"/>
                </a:lnSpc>
              </a:pPr>
              <a:r>
                <a:rPr lang="en-US" sz="1500">
                  <a:solidFill>
                    <a:srgbClr val="6B7280"/>
                  </a:solidFill>
                  <a:latin typeface="Calibri (MS)"/>
                  <a:ea typeface="Calibri (MS)"/>
                  <a:cs typeface="Calibri (MS)"/>
                  <a:sym typeface="Calibri (MS)"/>
                </a:rPr>
                <a:t>25</a:t>
              </a:r>
            </a:p>
          </p:txBody>
        </p:sp>
      </p:grpSp>
    </p:spTree>
  </p:cSld>
  <p:clrMapOvr>
    <a:masterClrMapping/>
  </p:clrMapOvr>
</p:sld>
</file>

<file path=ppt/slides/slide9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60120" y="685800"/>
            <a:ext cx="13716000" cy="411480"/>
            <a:chOff x="0" y="0"/>
            <a:chExt cx="18288000" cy="548640"/>
          </a:xfrm>
        </p:grpSpPr>
        <p:sp>
          <p:nvSpPr>
            <p:cNvPr name="Freeform 3" id="3"/>
            <p:cNvSpPr/>
            <p:nvPr/>
          </p:nvSpPr>
          <p:spPr>
            <a:xfrm flipH="false" flipV="false" rot="0">
              <a:off x="0" y="0"/>
              <a:ext cx="18288000" cy="548640"/>
            </a:xfrm>
            <a:custGeom>
              <a:avLst/>
              <a:gdLst/>
              <a:ahLst/>
              <a:cxnLst/>
              <a:rect r="r" b="b" t="t" l="l"/>
              <a:pathLst>
                <a:path h="548640" w="18288000">
                  <a:moveTo>
                    <a:pt x="0" y="0"/>
                  </a:moveTo>
                  <a:lnTo>
                    <a:pt x="18288000" y="0"/>
                  </a:lnTo>
                  <a:lnTo>
                    <a:pt x="18288000" y="548640"/>
                  </a:lnTo>
                  <a:lnTo>
                    <a:pt x="0" y="548640"/>
                  </a:lnTo>
                  <a:close/>
                </a:path>
              </a:pathLst>
            </a:custGeom>
            <a:blipFill>
              <a:blip r:embed="rId2">
                <a:alphaModFix amt="0"/>
              </a:blip>
              <a:stretch>
                <a:fillRect l="0" t="-599501" r="0" b="-599501"/>
              </a:stretch>
            </a:blipFill>
          </p:spPr>
        </p:sp>
        <p:sp>
          <p:nvSpPr>
            <p:cNvPr name="TextBox 4" id="4"/>
            <p:cNvSpPr txBox="true"/>
            <p:nvPr/>
          </p:nvSpPr>
          <p:spPr>
            <a:xfrm>
              <a:off x="0" y="-38100"/>
              <a:ext cx="18288000" cy="586740"/>
            </a:xfrm>
            <a:prstGeom prst="rect">
              <a:avLst/>
            </a:prstGeom>
          </p:spPr>
          <p:txBody>
            <a:bodyPr anchor="ctr" rtlCol="false" tIns="0" lIns="0" bIns="0" rIns="0"/>
            <a:lstStyle/>
            <a:p>
              <a:pPr algn="l">
                <a:lnSpc>
                  <a:spcPts val="2160"/>
                </a:lnSpc>
              </a:pPr>
              <a:r>
                <a:rPr lang="en-US" b="true" sz="1800" spc="225">
                  <a:solidFill>
                    <a:srgbClr val="00B4D8"/>
                  </a:solidFill>
                  <a:latin typeface="Calibri (MS) Bold"/>
                  <a:ea typeface="Calibri (MS) Bold"/>
                  <a:cs typeface="Calibri (MS) Bold"/>
                  <a:sym typeface="Calibri (MS) Bold"/>
                </a:rPr>
                <a:t>NIST CSF SORT · ANSWER</a:t>
              </a:r>
            </a:p>
          </p:txBody>
        </p:sp>
      </p:grpSp>
      <p:grpSp>
        <p:nvGrpSpPr>
          <p:cNvPr name="Group 5" id="5"/>
          <p:cNvGrpSpPr/>
          <p:nvPr/>
        </p:nvGrpSpPr>
        <p:grpSpPr>
          <a:xfrm rot="0">
            <a:off x="960120" y="1069848"/>
            <a:ext cx="10972800" cy="822960"/>
            <a:chOff x="0" y="0"/>
            <a:chExt cx="14630400" cy="1097280"/>
          </a:xfrm>
        </p:grpSpPr>
        <p:sp>
          <p:nvSpPr>
            <p:cNvPr name="Freeform 6" id="6"/>
            <p:cNvSpPr/>
            <p:nvPr/>
          </p:nvSpPr>
          <p:spPr>
            <a:xfrm flipH="false" flipV="false" rot="0">
              <a:off x="0" y="0"/>
              <a:ext cx="14630400" cy="1097280"/>
            </a:xfrm>
            <a:custGeom>
              <a:avLst/>
              <a:gdLst/>
              <a:ahLst/>
              <a:cxnLst/>
              <a:rect r="r" b="b" t="t" l="l"/>
              <a:pathLst>
                <a:path h="1097280" w="14630400">
                  <a:moveTo>
                    <a:pt x="0" y="0"/>
                  </a:moveTo>
                  <a:lnTo>
                    <a:pt x="14630400" y="0"/>
                  </a:lnTo>
                  <a:lnTo>
                    <a:pt x="14630400" y="1097280"/>
                  </a:lnTo>
                  <a:lnTo>
                    <a:pt x="0" y="1097280"/>
                  </a:lnTo>
                  <a:close/>
                </a:path>
              </a:pathLst>
            </a:custGeom>
            <a:blipFill>
              <a:blip r:embed="rId2">
                <a:alphaModFix amt="0"/>
              </a:blip>
              <a:stretch>
                <a:fillRect l="0" t="-209800" r="0" b="-209800"/>
              </a:stretch>
            </a:blipFill>
          </p:spPr>
        </p:sp>
        <p:sp>
          <p:nvSpPr>
            <p:cNvPr name="TextBox 7" id="7"/>
            <p:cNvSpPr txBox="true"/>
            <p:nvPr/>
          </p:nvSpPr>
          <p:spPr>
            <a:xfrm>
              <a:off x="0" y="0"/>
              <a:ext cx="14630400" cy="1097280"/>
            </a:xfrm>
            <a:prstGeom prst="rect">
              <a:avLst/>
            </a:prstGeom>
          </p:spPr>
          <p:txBody>
            <a:bodyPr anchor="ctr" rtlCol="false" tIns="0" lIns="0" bIns="0" rIns="0"/>
            <a:lstStyle/>
            <a:p>
              <a:pPr algn="l">
                <a:lnSpc>
                  <a:spcPts val="4680"/>
                </a:lnSpc>
              </a:pPr>
              <a:r>
                <a:rPr lang="en-US" sz="3900" b="true">
                  <a:solidFill>
                    <a:srgbClr val="1E2761"/>
                  </a:solidFill>
                  <a:latin typeface="Cambria Bold"/>
                  <a:ea typeface="Cambria Bold"/>
                  <a:cs typeface="Cambria Bold"/>
                  <a:sym typeface="Cambria Bold"/>
                </a:rPr>
                <a:t>Scenario 8 — Answer</a:t>
              </a:r>
            </a:p>
          </p:txBody>
        </p:sp>
      </p:grpSp>
      <p:grpSp>
        <p:nvGrpSpPr>
          <p:cNvPr name="Group 8" id="8"/>
          <p:cNvGrpSpPr/>
          <p:nvPr/>
        </p:nvGrpSpPr>
        <p:grpSpPr>
          <a:xfrm rot="0">
            <a:off x="960120" y="1810512"/>
            <a:ext cx="8229600" cy="411480"/>
            <a:chOff x="0" y="0"/>
            <a:chExt cx="10972800" cy="548640"/>
          </a:xfrm>
        </p:grpSpPr>
        <p:sp>
          <p:nvSpPr>
            <p:cNvPr name="Freeform 9" id="9"/>
            <p:cNvSpPr/>
            <p:nvPr/>
          </p:nvSpPr>
          <p:spPr>
            <a:xfrm flipH="false" flipV="false" rot="0">
              <a:off x="0" y="0"/>
              <a:ext cx="10972800" cy="548640"/>
            </a:xfrm>
            <a:custGeom>
              <a:avLst/>
              <a:gdLst/>
              <a:ahLst/>
              <a:cxnLst/>
              <a:rect r="r" b="b" t="t" l="l"/>
              <a:pathLst>
                <a:path h="548640" w="10972800">
                  <a:moveTo>
                    <a:pt x="0" y="0"/>
                  </a:moveTo>
                  <a:lnTo>
                    <a:pt x="10972800" y="0"/>
                  </a:lnTo>
                  <a:lnTo>
                    <a:pt x="10972800" y="548640"/>
                  </a:lnTo>
                  <a:lnTo>
                    <a:pt x="0" y="548640"/>
                  </a:lnTo>
                  <a:close/>
                </a:path>
              </a:pathLst>
            </a:custGeom>
            <a:blipFill>
              <a:blip r:embed="rId2">
                <a:alphaModFix amt="0"/>
              </a:blip>
              <a:stretch>
                <a:fillRect l="0" t="-339700" r="0" b="-339700"/>
              </a:stretch>
            </a:blipFill>
          </p:spPr>
        </p:sp>
        <p:sp>
          <p:nvSpPr>
            <p:cNvPr name="TextBox 10" id="10"/>
            <p:cNvSpPr txBox="true"/>
            <p:nvPr/>
          </p:nvSpPr>
          <p:spPr>
            <a:xfrm>
              <a:off x="0" y="-28575"/>
              <a:ext cx="10972800" cy="577215"/>
            </a:xfrm>
            <a:prstGeom prst="rect">
              <a:avLst/>
            </a:prstGeom>
          </p:spPr>
          <p:txBody>
            <a:bodyPr anchor="ctr" rtlCol="false" tIns="0" lIns="0" bIns="0" rIns="0"/>
            <a:lstStyle/>
            <a:p>
              <a:pPr algn="l">
                <a:lnSpc>
                  <a:spcPts val="1980"/>
                </a:lnSpc>
              </a:pPr>
              <a:r>
                <a:rPr lang="en-US" sz="1650">
                  <a:solidFill>
                    <a:srgbClr val="6B7280"/>
                  </a:solidFill>
                  <a:latin typeface="Calibri (MS)"/>
                  <a:ea typeface="Calibri (MS)"/>
                  <a:cs typeface="Calibri (MS)"/>
                  <a:sym typeface="Calibri (MS)"/>
                </a:rPr>
                <a:t>8 of 20</a:t>
              </a:r>
            </a:p>
          </p:txBody>
        </p:sp>
      </p:grpSp>
      <p:grpSp>
        <p:nvGrpSpPr>
          <p:cNvPr name="Group 11" id="11"/>
          <p:cNvGrpSpPr/>
          <p:nvPr/>
        </p:nvGrpSpPr>
        <p:grpSpPr>
          <a:xfrm rot="0">
            <a:off x="960120" y="2537460"/>
            <a:ext cx="16322040" cy="2194560"/>
            <a:chOff x="0" y="0"/>
            <a:chExt cx="21762720" cy="2926080"/>
          </a:xfrm>
        </p:grpSpPr>
        <p:sp>
          <p:nvSpPr>
            <p:cNvPr name="Freeform 12" id="12"/>
            <p:cNvSpPr/>
            <p:nvPr/>
          </p:nvSpPr>
          <p:spPr>
            <a:xfrm flipH="false" flipV="false" rot="0">
              <a:off x="0" y="0"/>
              <a:ext cx="21762720" cy="2926080"/>
            </a:xfrm>
            <a:custGeom>
              <a:avLst/>
              <a:gdLst/>
              <a:ahLst/>
              <a:cxnLst/>
              <a:rect r="r" b="b" t="t" l="l"/>
              <a:pathLst>
                <a:path h="2926080" w="21762720">
                  <a:moveTo>
                    <a:pt x="0" y="182880"/>
                  </a:moveTo>
                  <a:cubicBezTo>
                    <a:pt x="0" y="81915"/>
                    <a:pt x="81915" y="0"/>
                    <a:pt x="182880" y="0"/>
                  </a:cubicBezTo>
                  <a:lnTo>
                    <a:pt x="21579839" y="0"/>
                  </a:lnTo>
                  <a:cubicBezTo>
                    <a:pt x="21680804" y="0"/>
                    <a:pt x="21762720" y="81915"/>
                    <a:pt x="21762720" y="182880"/>
                  </a:cubicBezTo>
                  <a:lnTo>
                    <a:pt x="21762720" y="2743200"/>
                  </a:lnTo>
                  <a:cubicBezTo>
                    <a:pt x="21762720" y="2844165"/>
                    <a:pt x="21680804" y="2926080"/>
                    <a:pt x="21579839" y="2926080"/>
                  </a:cubicBezTo>
                  <a:lnTo>
                    <a:pt x="182880" y="2926080"/>
                  </a:lnTo>
                  <a:cubicBezTo>
                    <a:pt x="81915" y="2926080"/>
                    <a:pt x="0" y="2844165"/>
                    <a:pt x="0" y="2743200"/>
                  </a:cubicBezTo>
                  <a:close/>
                </a:path>
              </a:pathLst>
            </a:custGeom>
            <a:solidFill>
              <a:srgbClr val="F4F7FC"/>
            </a:solidFill>
          </p:spPr>
        </p:sp>
      </p:grpSp>
      <p:grpSp>
        <p:nvGrpSpPr>
          <p:cNvPr name="Group 13" id="13"/>
          <p:cNvGrpSpPr/>
          <p:nvPr/>
        </p:nvGrpSpPr>
        <p:grpSpPr>
          <a:xfrm rot="0">
            <a:off x="1440180" y="2770632"/>
            <a:ext cx="15361920" cy="1714500"/>
            <a:chOff x="0" y="0"/>
            <a:chExt cx="20482560" cy="2286000"/>
          </a:xfrm>
        </p:grpSpPr>
        <p:sp>
          <p:nvSpPr>
            <p:cNvPr name="Freeform 14" id="14"/>
            <p:cNvSpPr/>
            <p:nvPr/>
          </p:nvSpPr>
          <p:spPr>
            <a:xfrm flipH="false" flipV="false" rot="0">
              <a:off x="0" y="0"/>
              <a:ext cx="20482561" cy="2286000"/>
            </a:xfrm>
            <a:custGeom>
              <a:avLst/>
              <a:gdLst/>
              <a:ahLst/>
              <a:cxnLst/>
              <a:rect r="r" b="b" t="t" l="l"/>
              <a:pathLst>
                <a:path h="2286000" w="20482561">
                  <a:moveTo>
                    <a:pt x="0" y="0"/>
                  </a:moveTo>
                  <a:lnTo>
                    <a:pt x="20482561" y="0"/>
                  </a:lnTo>
                  <a:lnTo>
                    <a:pt x="20482561" y="2286000"/>
                  </a:lnTo>
                  <a:lnTo>
                    <a:pt x="0" y="2286000"/>
                  </a:lnTo>
                  <a:close/>
                </a:path>
              </a:pathLst>
            </a:custGeom>
            <a:blipFill>
              <a:blip r:embed="rId2">
                <a:alphaModFix amt="0"/>
              </a:blip>
              <a:stretch>
                <a:fillRect l="0" t="-124585" r="0" b="-124585"/>
              </a:stretch>
            </a:blipFill>
          </p:spPr>
        </p:sp>
        <p:sp>
          <p:nvSpPr>
            <p:cNvPr name="TextBox 15" id="15"/>
            <p:cNvSpPr txBox="true"/>
            <p:nvPr/>
          </p:nvSpPr>
          <p:spPr>
            <a:xfrm>
              <a:off x="0" y="-85725"/>
              <a:ext cx="20482560" cy="2371725"/>
            </a:xfrm>
            <a:prstGeom prst="rect">
              <a:avLst/>
            </a:prstGeom>
          </p:spPr>
          <p:txBody>
            <a:bodyPr anchor="ctr" rtlCol="false" tIns="0" lIns="0" bIns="0" rIns="0"/>
            <a:lstStyle/>
            <a:p>
              <a:pPr algn="l">
                <a:lnSpc>
                  <a:spcPts val="3600"/>
                </a:lnSpc>
              </a:pPr>
              <a:r>
                <a:rPr lang="en-US" sz="2400" i="true">
                  <a:solidFill>
                    <a:srgbClr val="23262F"/>
                  </a:solidFill>
                  <a:latin typeface="Cambria Italics"/>
                  <a:ea typeface="Cambria Italics"/>
                  <a:cs typeface="Cambria Italics"/>
                  <a:sym typeface="Cambria Italics"/>
                </a:rPr>
                <a:t>"After isolating the infected servers, the IT team later restores the affected files from backup once the malware is fully removed."</a:t>
              </a:r>
            </a:p>
          </p:txBody>
        </p:sp>
      </p:grpSp>
      <p:grpSp>
        <p:nvGrpSpPr>
          <p:cNvPr name="Group 16" id="16"/>
          <p:cNvGrpSpPr/>
          <p:nvPr/>
        </p:nvGrpSpPr>
        <p:grpSpPr>
          <a:xfrm rot="0">
            <a:off x="950595" y="5065395"/>
            <a:ext cx="5162550" cy="842010"/>
            <a:chOff x="0" y="0"/>
            <a:chExt cx="6883400" cy="1122680"/>
          </a:xfrm>
        </p:grpSpPr>
        <p:sp>
          <p:nvSpPr>
            <p:cNvPr name="Freeform 17" id="17"/>
            <p:cNvSpPr/>
            <p:nvPr/>
          </p:nvSpPr>
          <p:spPr>
            <a:xfrm flipH="false" flipV="false" rot="0">
              <a:off x="0" y="0"/>
              <a:ext cx="6883400" cy="1122680"/>
            </a:xfrm>
            <a:custGeom>
              <a:avLst/>
              <a:gdLst/>
              <a:ahLst/>
              <a:cxnLst/>
              <a:rect r="r" b="b" t="t" l="l"/>
              <a:pathLst>
                <a:path h="1122680" w="6883400">
                  <a:moveTo>
                    <a:pt x="0" y="168402"/>
                  </a:moveTo>
                  <a:cubicBezTo>
                    <a:pt x="0" y="75438"/>
                    <a:pt x="75438" y="0"/>
                    <a:pt x="168402" y="0"/>
                  </a:cubicBezTo>
                  <a:lnTo>
                    <a:pt x="6714998" y="0"/>
                  </a:lnTo>
                  <a:cubicBezTo>
                    <a:pt x="6807962" y="0"/>
                    <a:pt x="6883400" y="75438"/>
                    <a:pt x="6883400" y="168402"/>
                  </a:cubicBezTo>
                  <a:lnTo>
                    <a:pt x="6883400" y="954278"/>
                  </a:lnTo>
                  <a:cubicBezTo>
                    <a:pt x="6883400" y="1047242"/>
                    <a:pt x="6807962" y="1122680"/>
                    <a:pt x="6714998" y="1122680"/>
                  </a:cubicBezTo>
                  <a:lnTo>
                    <a:pt x="168402" y="1122680"/>
                  </a:lnTo>
                  <a:cubicBezTo>
                    <a:pt x="75438" y="1122680"/>
                    <a:pt x="0" y="1047242"/>
                    <a:pt x="0" y="954278"/>
                  </a:cubicBezTo>
                  <a:close/>
                </a:path>
              </a:pathLst>
            </a:custGeom>
            <a:solidFill>
              <a:srgbClr val="F4F7FC"/>
            </a:solidFill>
            <a:ln w="19050" cap="sq">
              <a:solidFill>
                <a:srgbClr val="D7DCEC"/>
              </a:solidFill>
              <a:prstDash val="solid"/>
              <a:miter/>
            </a:ln>
          </p:spPr>
        </p:sp>
      </p:grpSp>
      <p:grpSp>
        <p:nvGrpSpPr>
          <p:cNvPr name="Group 18" id="18"/>
          <p:cNvGrpSpPr/>
          <p:nvPr/>
        </p:nvGrpSpPr>
        <p:grpSpPr>
          <a:xfrm rot="0">
            <a:off x="960120" y="5143500"/>
            <a:ext cx="5143500" cy="521208"/>
            <a:chOff x="0" y="0"/>
            <a:chExt cx="6858000" cy="694944"/>
          </a:xfrm>
        </p:grpSpPr>
        <p:sp>
          <p:nvSpPr>
            <p:cNvPr name="Freeform 19" id="19"/>
            <p:cNvSpPr/>
            <p:nvPr/>
          </p:nvSpPr>
          <p:spPr>
            <a:xfrm flipH="false" flipV="false" rot="0">
              <a:off x="0" y="0"/>
              <a:ext cx="6858000" cy="694944"/>
            </a:xfrm>
            <a:custGeom>
              <a:avLst/>
              <a:gdLst/>
              <a:ahLst/>
              <a:cxnLst/>
              <a:rect r="r" b="b" t="t" l="l"/>
              <a:pathLst>
                <a:path h="694944" w="6858000">
                  <a:moveTo>
                    <a:pt x="0" y="0"/>
                  </a:moveTo>
                  <a:lnTo>
                    <a:pt x="6858000" y="0"/>
                  </a:lnTo>
                  <a:lnTo>
                    <a:pt x="6858000" y="694944"/>
                  </a:lnTo>
                  <a:lnTo>
                    <a:pt x="0" y="694944"/>
                  </a:lnTo>
                  <a:close/>
                </a:path>
              </a:pathLst>
            </a:custGeom>
            <a:blipFill>
              <a:blip r:embed="rId2">
                <a:alphaModFix amt="0"/>
              </a:blip>
              <a:stretch>
                <a:fillRect l="0" t="-142286" r="0" b="-142286"/>
              </a:stretch>
            </a:blipFill>
          </p:spPr>
        </p:sp>
        <p:sp>
          <p:nvSpPr>
            <p:cNvPr name="TextBox 20" id="20"/>
            <p:cNvSpPr txBox="true"/>
            <p:nvPr/>
          </p:nvSpPr>
          <p:spPr>
            <a:xfrm>
              <a:off x="0" y="-38100"/>
              <a:ext cx="6858000" cy="733044"/>
            </a:xfrm>
            <a:prstGeom prst="rect">
              <a:avLst/>
            </a:prstGeom>
          </p:spPr>
          <p:txBody>
            <a:bodyPr anchor="ctr" rtlCol="false" tIns="0" lIns="0" bIns="0" rIns="0"/>
            <a:lstStyle/>
            <a:p>
              <a:pPr algn="ctr">
                <a:lnSpc>
                  <a:spcPts val="2430"/>
                </a:lnSpc>
              </a:pPr>
              <a:r>
                <a:rPr lang="en-US" sz="2025">
                  <a:solidFill>
                    <a:srgbClr val="6B7280"/>
                  </a:solidFill>
                  <a:latin typeface="Calibri (MS)"/>
                  <a:ea typeface="Calibri (MS)"/>
                  <a:cs typeface="Calibri (MS)"/>
                  <a:sym typeface="Calibri (MS)"/>
                </a:rPr>
                <a:t>Govern</a:t>
              </a:r>
            </a:p>
          </p:txBody>
        </p:sp>
      </p:grpSp>
      <p:grpSp>
        <p:nvGrpSpPr>
          <p:cNvPr name="Group 21" id="21"/>
          <p:cNvGrpSpPr/>
          <p:nvPr/>
        </p:nvGrpSpPr>
        <p:grpSpPr>
          <a:xfrm rot="0">
            <a:off x="960120" y="5513832"/>
            <a:ext cx="5143500" cy="329184"/>
            <a:chOff x="0" y="0"/>
            <a:chExt cx="6858000" cy="438912"/>
          </a:xfrm>
        </p:grpSpPr>
        <p:sp>
          <p:nvSpPr>
            <p:cNvPr name="Freeform 22" id="22"/>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23" id="23"/>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9AA3B8"/>
                  </a:solidFill>
                  <a:latin typeface="Arimo"/>
                  <a:ea typeface="Arimo"/>
                  <a:cs typeface="Arimo"/>
                  <a:sym typeface="Arimo"/>
                </a:rPr>
                <a:t>GV</a:t>
              </a:r>
            </a:p>
          </p:txBody>
        </p:sp>
      </p:grpSp>
      <p:grpSp>
        <p:nvGrpSpPr>
          <p:cNvPr name="Group 24" id="24"/>
          <p:cNvGrpSpPr/>
          <p:nvPr/>
        </p:nvGrpSpPr>
        <p:grpSpPr>
          <a:xfrm rot="0">
            <a:off x="6533007" y="5065395"/>
            <a:ext cx="5162550" cy="842010"/>
            <a:chOff x="0" y="0"/>
            <a:chExt cx="6883400" cy="1122680"/>
          </a:xfrm>
        </p:grpSpPr>
        <p:sp>
          <p:nvSpPr>
            <p:cNvPr name="Freeform 25" id="25"/>
            <p:cNvSpPr/>
            <p:nvPr/>
          </p:nvSpPr>
          <p:spPr>
            <a:xfrm flipH="false" flipV="false" rot="0">
              <a:off x="0" y="0"/>
              <a:ext cx="6883400" cy="1122680"/>
            </a:xfrm>
            <a:custGeom>
              <a:avLst/>
              <a:gdLst/>
              <a:ahLst/>
              <a:cxnLst/>
              <a:rect r="r" b="b" t="t" l="l"/>
              <a:pathLst>
                <a:path h="1122680" w="6883400">
                  <a:moveTo>
                    <a:pt x="0" y="168402"/>
                  </a:moveTo>
                  <a:cubicBezTo>
                    <a:pt x="0" y="75438"/>
                    <a:pt x="75438" y="0"/>
                    <a:pt x="168402" y="0"/>
                  </a:cubicBezTo>
                  <a:lnTo>
                    <a:pt x="6714998" y="0"/>
                  </a:lnTo>
                  <a:cubicBezTo>
                    <a:pt x="6807962" y="0"/>
                    <a:pt x="6883400" y="75438"/>
                    <a:pt x="6883400" y="168402"/>
                  </a:cubicBezTo>
                  <a:lnTo>
                    <a:pt x="6883400" y="954278"/>
                  </a:lnTo>
                  <a:cubicBezTo>
                    <a:pt x="6883400" y="1047242"/>
                    <a:pt x="6807962" y="1122680"/>
                    <a:pt x="6714998" y="1122680"/>
                  </a:cubicBezTo>
                  <a:lnTo>
                    <a:pt x="168402" y="1122680"/>
                  </a:lnTo>
                  <a:cubicBezTo>
                    <a:pt x="75438" y="1122680"/>
                    <a:pt x="0" y="1047242"/>
                    <a:pt x="0" y="954278"/>
                  </a:cubicBezTo>
                  <a:close/>
                </a:path>
              </a:pathLst>
            </a:custGeom>
            <a:solidFill>
              <a:srgbClr val="F4F7FC"/>
            </a:solidFill>
            <a:ln w="19050" cap="sq">
              <a:solidFill>
                <a:srgbClr val="D7DCEC"/>
              </a:solidFill>
              <a:prstDash val="solid"/>
              <a:miter/>
            </a:ln>
          </p:spPr>
        </p:sp>
      </p:grpSp>
      <p:grpSp>
        <p:nvGrpSpPr>
          <p:cNvPr name="Group 26" id="26"/>
          <p:cNvGrpSpPr/>
          <p:nvPr/>
        </p:nvGrpSpPr>
        <p:grpSpPr>
          <a:xfrm rot="0">
            <a:off x="6542532" y="5143500"/>
            <a:ext cx="5143500" cy="521208"/>
            <a:chOff x="0" y="0"/>
            <a:chExt cx="6858000" cy="694944"/>
          </a:xfrm>
        </p:grpSpPr>
        <p:sp>
          <p:nvSpPr>
            <p:cNvPr name="Freeform 27" id="27"/>
            <p:cNvSpPr/>
            <p:nvPr/>
          </p:nvSpPr>
          <p:spPr>
            <a:xfrm flipH="false" flipV="false" rot="0">
              <a:off x="0" y="0"/>
              <a:ext cx="6858000" cy="694944"/>
            </a:xfrm>
            <a:custGeom>
              <a:avLst/>
              <a:gdLst/>
              <a:ahLst/>
              <a:cxnLst/>
              <a:rect r="r" b="b" t="t" l="l"/>
              <a:pathLst>
                <a:path h="694944" w="6858000">
                  <a:moveTo>
                    <a:pt x="0" y="0"/>
                  </a:moveTo>
                  <a:lnTo>
                    <a:pt x="6858000" y="0"/>
                  </a:lnTo>
                  <a:lnTo>
                    <a:pt x="6858000" y="694944"/>
                  </a:lnTo>
                  <a:lnTo>
                    <a:pt x="0" y="694944"/>
                  </a:lnTo>
                  <a:close/>
                </a:path>
              </a:pathLst>
            </a:custGeom>
            <a:blipFill>
              <a:blip r:embed="rId2">
                <a:alphaModFix amt="0"/>
              </a:blip>
              <a:stretch>
                <a:fillRect l="0" t="-142286" r="0" b="-142286"/>
              </a:stretch>
            </a:blipFill>
          </p:spPr>
        </p:sp>
        <p:sp>
          <p:nvSpPr>
            <p:cNvPr name="TextBox 28" id="28"/>
            <p:cNvSpPr txBox="true"/>
            <p:nvPr/>
          </p:nvSpPr>
          <p:spPr>
            <a:xfrm>
              <a:off x="0" y="-38100"/>
              <a:ext cx="6858000" cy="733044"/>
            </a:xfrm>
            <a:prstGeom prst="rect">
              <a:avLst/>
            </a:prstGeom>
          </p:spPr>
          <p:txBody>
            <a:bodyPr anchor="ctr" rtlCol="false" tIns="0" lIns="0" bIns="0" rIns="0"/>
            <a:lstStyle/>
            <a:p>
              <a:pPr algn="ctr">
                <a:lnSpc>
                  <a:spcPts val="2430"/>
                </a:lnSpc>
              </a:pPr>
              <a:r>
                <a:rPr lang="en-US" sz="2025">
                  <a:solidFill>
                    <a:srgbClr val="6B7280"/>
                  </a:solidFill>
                  <a:latin typeface="Calibri (MS)"/>
                  <a:ea typeface="Calibri (MS)"/>
                  <a:cs typeface="Calibri (MS)"/>
                  <a:sym typeface="Calibri (MS)"/>
                </a:rPr>
                <a:t>Identify</a:t>
              </a:r>
            </a:p>
          </p:txBody>
        </p:sp>
      </p:grpSp>
      <p:grpSp>
        <p:nvGrpSpPr>
          <p:cNvPr name="Group 29" id="29"/>
          <p:cNvGrpSpPr/>
          <p:nvPr/>
        </p:nvGrpSpPr>
        <p:grpSpPr>
          <a:xfrm rot="0">
            <a:off x="6542532" y="5513832"/>
            <a:ext cx="5143500" cy="329184"/>
            <a:chOff x="0" y="0"/>
            <a:chExt cx="6858000" cy="438912"/>
          </a:xfrm>
        </p:grpSpPr>
        <p:sp>
          <p:nvSpPr>
            <p:cNvPr name="Freeform 30" id="30"/>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31" id="31"/>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9AA3B8"/>
                  </a:solidFill>
                  <a:latin typeface="Arimo"/>
                  <a:ea typeface="Arimo"/>
                  <a:cs typeface="Arimo"/>
                  <a:sym typeface="Arimo"/>
                </a:rPr>
                <a:t>ID</a:t>
              </a:r>
            </a:p>
          </p:txBody>
        </p:sp>
      </p:grpSp>
      <p:grpSp>
        <p:nvGrpSpPr>
          <p:cNvPr name="Group 32" id="32"/>
          <p:cNvGrpSpPr/>
          <p:nvPr/>
        </p:nvGrpSpPr>
        <p:grpSpPr>
          <a:xfrm rot="0">
            <a:off x="12115419" y="5065395"/>
            <a:ext cx="5162550" cy="842010"/>
            <a:chOff x="0" y="0"/>
            <a:chExt cx="6883400" cy="1122680"/>
          </a:xfrm>
        </p:grpSpPr>
        <p:sp>
          <p:nvSpPr>
            <p:cNvPr name="Freeform 33" id="33"/>
            <p:cNvSpPr/>
            <p:nvPr/>
          </p:nvSpPr>
          <p:spPr>
            <a:xfrm flipH="false" flipV="false" rot="0">
              <a:off x="0" y="0"/>
              <a:ext cx="6883400" cy="1122680"/>
            </a:xfrm>
            <a:custGeom>
              <a:avLst/>
              <a:gdLst/>
              <a:ahLst/>
              <a:cxnLst/>
              <a:rect r="r" b="b" t="t" l="l"/>
              <a:pathLst>
                <a:path h="1122680" w="6883400">
                  <a:moveTo>
                    <a:pt x="0" y="168402"/>
                  </a:moveTo>
                  <a:cubicBezTo>
                    <a:pt x="0" y="75438"/>
                    <a:pt x="75438" y="0"/>
                    <a:pt x="168402" y="0"/>
                  </a:cubicBezTo>
                  <a:lnTo>
                    <a:pt x="6714998" y="0"/>
                  </a:lnTo>
                  <a:cubicBezTo>
                    <a:pt x="6807962" y="0"/>
                    <a:pt x="6883400" y="75438"/>
                    <a:pt x="6883400" y="168402"/>
                  </a:cubicBezTo>
                  <a:lnTo>
                    <a:pt x="6883400" y="954278"/>
                  </a:lnTo>
                  <a:cubicBezTo>
                    <a:pt x="6883400" y="1047242"/>
                    <a:pt x="6807962" y="1122680"/>
                    <a:pt x="6714998" y="1122680"/>
                  </a:cubicBezTo>
                  <a:lnTo>
                    <a:pt x="168402" y="1122680"/>
                  </a:lnTo>
                  <a:cubicBezTo>
                    <a:pt x="75438" y="1122680"/>
                    <a:pt x="0" y="1047242"/>
                    <a:pt x="0" y="954278"/>
                  </a:cubicBezTo>
                  <a:close/>
                </a:path>
              </a:pathLst>
            </a:custGeom>
            <a:solidFill>
              <a:srgbClr val="F4F7FC"/>
            </a:solidFill>
            <a:ln w="19050" cap="sq">
              <a:solidFill>
                <a:srgbClr val="D7DCEC"/>
              </a:solidFill>
              <a:prstDash val="solid"/>
              <a:miter/>
            </a:ln>
          </p:spPr>
        </p:sp>
      </p:grpSp>
      <p:grpSp>
        <p:nvGrpSpPr>
          <p:cNvPr name="Group 34" id="34"/>
          <p:cNvGrpSpPr/>
          <p:nvPr/>
        </p:nvGrpSpPr>
        <p:grpSpPr>
          <a:xfrm rot="0">
            <a:off x="12124944" y="5143500"/>
            <a:ext cx="5143500" cy="521208"/>
            <a:chOff x="0" y="0"/>
            <a:chExt cx="6858000" cy="694944"/>
          </a:xfrm>
        </p:grpSpPr>
        <p:sp>
          <p:nvSpPr>
            <p:cNvPr name="Freeform 35" id="35"/>
            <p:cNvSpPr/>
            <p:nvPr/>
          </p:nvSpPr>
          <p:spPr>
            <a:xfrm flipH="false" flipV="false" rot="0">
              <a:off x="0" y="0"/>
              <a:ext cx="6858000" cy="694944"/>
            </a:xfrm>
            <a:custGeom>
              <a:avLst/>
              <a:gdLst/>
              <a:ahLst/>
              <a:cxnLst/>
              <a:rect r="r" b="b" t="t" l="l"/>
              <a:pathLst>
                <a:path h="694944" w="6858000">
                  <a:moveTo>
                    <a:pt x="0" y="0"/>
                  </a:moveTo>
                  <a:lnTo>
                    <a:pt x="6858000" y="0"/>
                  </a:lnTo>
                  <a:lnTo>
                    <a:pt x="6858000" y="694944"/>
                  </a:lnTo>
                  <a:lnTo>
                    <a:pt x="0" y="694944"/>
                  </a:lnTo>
                  <a:close/>
                </a:path>
              </a:pathLst>
            </a:custGeom>
            <a:blipFill>
              <a:blip r:embed="rId2">
                <a:alphaModFix amt="0"/>
              </a:blip>
              <a:stretch>
                <a:fillRect l="0" t="-142286" r="0" b="-142286"/>
              </a:stretch>
            </a:blipFill>
          </p:spPr>
        </p:sp>
        <p:sp>
          <p:nvSpPr>
            <p:cNvPr name="TextBox 36" id="36"/>
            <p:cNvSpPr txBox="true"/>
            <p:nvPr/>
          </p:nvSpPr>
          <p:spPr>
            <a:xfrm>
              <a:off x="0" y="-38100"/>
              <a:ext cx="6858000" cy="733044"/>
            </a:xfrm>
            <a:prstGeom prst="rect">
              <a:avLst/>
            </a:prstGeom>
          </p:spPr>
          <p:txBody>
            <a:bodyPr anchor="ctr" rtlCol="false" tIns="0" lIns="0" bIns="0" rIns="0"/>
            <a:lstStyle/>
            <a:p>
              <a:pPr algn="ctr">
                <a:lnSpc>
                  <a:spcPts val="2430"/>
                </a:lnSpc>
              </a:pPr>
              <a:r>
                <a:rPr lang="en-US" sz="2025">
                  <a:solidFill>
                    <a:srgbClr val="6B7280"/>
                  </a:solidFill>
                  <a:latin typeface="Calibri (MS)"/>
                  <a:ea typeface="Calibri (MS)"/>
                  <a:cs typeface="Calibri (MS)"/>
                  <a:sym typeface="Calibri (MS)"/>
                </a:rPr>
                <a:t>Protect</a:t>
              </a:r>
            </a:p>
          </p:txBody>
        </p:sp>
      </p:grpSp>
      <p:grpSp>
        <p:nvGrpSpPr>
          <p:cNvPr name="Group 37" id="37"/>
          <p:cNvGrpSpPr/>
          <p:nvPr/>
        </p:nvGrpSpPr>
        <p:grpSpPr>
          <a:xfrm rot="0">
            <a:off x="12124944" y="5513832"/>
            <a:ext cx="5143500" cy="329184"/>
            <a:chOff x="0" y="0"/>
            <a:chExt cx="6858000" cy="438912"/>
          </a:xfrm>
        </p:grpSpPr>
        <p:sp>
          <p:nvSpPr>
            <p:cNvPr name="Freeform 38" id="38"/>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39" id="39"/>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9AA3B8"/>
                  </a:solidFill>
                  <a:latin typeface="Arimo"/>
                  <a:ea typeface="Arimo"/>
                  <a:cs typeface="Arimo"/>
                  <a:sym typeface="Arimo"/>
                </a:rPr>
                <a:t>PR</a:t>
              </a:r>
            </a:p>
          </p:txBody>
        </p:sp>
      </p:grpSp>
      <p:grpSp>
        <p:nvGrpSpPr>
          <p:cNvPr name="Group 40" id="40"/>
          <p:cNvGrpSpPr/>
          <p:nvPr/>
        </p:nvGrpSpPr>
        <p:grpSpPr>
          <a:xfrm rot="0">
            <a:off x="950595" y="6135243"/>
            <a:ext cx="5162550" cy="842010"/>
            <a:chOff x="0" y="0"/>
            <a:chExt cx="6883400" cy="1122680"/>
          </a:xfrm>
        </p:grpSpPr>
        <p:sp>
          <p:nvSpPr>
            <p:cNvPr name="Freeform 41" id="41"/>
            <p:cNvSpPr/>
            <p:nvPr/>
          </p:nvSpPr>
          <p:spPr>
            <a:xfrm flipH="false" flipV="false" rot="0">
              <a:off x="0" y="0"/>
              <a:ext cx="6883400" cy="1122680"/>
            </a:xfrm>
            <a:custGeom>
              <a:avLst/>
              <a:gdLst/>
              <a:ahLst/>
              <a:cxnLst/>
              <a:rect r="r" b="b" t="t" l="l"/>
              <a:pathLst>
                <a:path h="1122680" w="6883400">
                  <a:moveTo>
                    <a:pt x="0" y="168402"/>
                  </a:moveTo>
                  <a:cubicBezTo>
                    <a:pt x="0" y="75438"/>
                    <a:pt x="75438" y="0"/>
                    <a:pt x="168402" y="0"/>
                  </a:cubicBezTo>
                  <a:lnTo>
                    <a:pt x="6714998" y="0"/>
                  </a:lnTo>
                  <a:cubicBezTo>
                    <a:pt x="6807962" y="0"/>
                    <a:pt x="6883400" y="75438"/>
                    <a:pt x="6883400" y="168402"/>
                  </a:cubicBezTo>
                  <a:lnTo>
                    <a:pt x="6883400" y="954278"/>
                  </a:lnTo>
                  <a:cubicBezTo>
                    <a:pt x="6883400" y="1047242"/>
                    <a:pt x="6807962" y="1122680"/>
                    <a:pt x="6714998" y="1122680"/>
                  </a:cubicBezTo>
                  <a:lnTo>
                    <a:pt x="168402" y="1122680"/>
                  </a:lnTo>
                  <a:cubicBezTo>
                    <a:pt x="75438" y="1122680"/>
                    <a:pt x="0" y="1047242"/>
                    <a:pt x="0" y="954278"/>
                  </a:cubicBezTo>
                  <a:close/>
                </a:path>
              </a:pathLst>
            </a:custGeom>
            <a:solidFill>
              <a:srgbClr val="F4F7FC"/>
            </a:solidFill>
            <a:ln w="19050" cap="sq">
              <a:solidFill>
                <a:srgbClr val="D7DCEC"/>
              </a:solidFill>
              <a:prstDash val="solid"/>
              <a:miter/>
            </a:ln>
          </p:spPr>
        </p:sp>
      </p:grpSp>
      <p:grpSp>
        <p:nvGrpSpPr>
          <p:cNvPr name="Group 42" id="42"/>
          <p:cNvGrpSpPr/>
          <p:nvPr/>
        </p:nvGrpSpPr>
        <p:grpSpPr>
          <a:xfrm rot="0">
            <a:off x="960120" y="6213348"/>
            <a:ext cx="5143500" cy="521208"/>
            <a:chOff x="0" y="0"/>
            <a:chExt cx="6858000" cy="694944"/>
          </a:xfrm>
        </p:grpSpPr>
        <p:sp>
          <p:nvSpPr>
            <p:cNvPr name="Freeform 43" id="43"/>
            <p:cNvSpPr/>
            <p:nvPr/>
          </p:nvSpPr>
          <p:spPr>
            <a:xfrm flipH="false" flipV="false" rot="0">
              <a:off x="0" y="0"/>
              <a:ext cx="6858000" cy="694944"/>
            </a:xfrm>
            <a:custGeom>
              <a:avLst/>
              <a:gdLst/>
              <a:ahLst/>
              <a:cxnLst/>
              <a:rect r="r" b="b" t="t" l="l"/>
              <a:pathLst>
                <a:path h="694944" w="6858000">
                  <a:moveTo>
                    <a:pt x="0" y="0"/>
                  </a:moveTo>
                  <a:lnTo>
                    <a:pt x="6858000" y="0"/>
                  </a:lnTo>
                  <a:lnTo>
                    <a:pt x="6858000" y="694944"/>
                  </a:lnTo>
                  <a:lnTo>
                    <a:pt x="0" y="694944"/>
                  </a:lnTo>
                  <a:close/>
                </a:path>
              </a:pathLst>
            </a:custGeom>
            <a:blipFill>
              <a:blip r:embed="rId2">
                <a:alphaModFix amt="0"/>
              </a:blip>
              <a:stretch>
                <a:fillRect l="0" t="-142286" r="0" b="-142286"/>
              </a:stretch>
            </a:blipFill>
          </p:spPr>
        </p:sp>
        <p:sp>
          <p:nvSpPr>
            <p:cNvPr name="TextBox 44" id="44"/>
            <p:cNvSpPr txBox="true"/>
            <p:nvPr/>
          </p:nvSpPr>
          <p:spPr>
            <a:xfrm>
              <a:off x="0" y="-38100"/>
              <a:ext cx="6858000" cy="733044"/>
            </a:xfrm>
            <a:prstGeom prst="rect">
              <a:avLst/>
            </a:prstGeom>
          </p:spPr>
          <p:txBody>
            <a:bodyPr anchor="ctr" rtlCol="false" tIns="0" lIns="0" bIns="0" rIns="0"/>
            <a:lstStyle/>
            <a:p>
              <a:pPr algn="ctr">
                <a:lnSpc>
                  <a:spcPts val="2430"/>
                </a:lnSpc>
              </a:pPr>
              <a:r>
                <a:rPr lang="en-US" sz="2025">
                  <a:solidFill>
                    <a:srgbClr val="6B7280"/>
                  </a:solidFill>
                  <a:latin typeface="Calibri (MS)"/>
                  <a:ea typeface="Calibri (MS)"/>
                  <a:cs typeface="Calibri (MS)"/>
                  <a:sym typeface="Calibri (MS)"/>
                </a:rPr>
                <a:t>Detect</a:t>
              </a:r>
            </a:p>
          </p:txBody>
        </p:sp>
      </p:grpSp>
      <p:grpSp>
        <p:nvGrpSpPr>
          <p:cNvPr name="Group 45" id="45"/>
          <p:cNvGrpSpPr/>
          <p:nvPr/>
        </p:nvGrpSpPr>
        <p:grpSpPr>
          <a:xfrm rot="0">
            <a:off x="960120" y="6583680"/>
            <a:ext cx="5143500" cy="329184"/>
            <a:chOff x="0" y="0"/>
            <a:chExt cx="6858000" cy="438912"/>
          </a:xfrm>
        </p:grpSpPr>
        <p:sp>
          <p:nvSpPr>
            <p:cNvPr name="Freeform 46" id="46"/>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47" id="47"/>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9AA3B8"/>
                  </a:solidFill>
                  <a:latin typeface="Arimo"/>
                  <a:ea typeface="Arimo"/>
                  <a:cs typeface="Arimo"/>
                  <a:sym typeface="Arimo"/>
                </a:rPr>
                <a:t>DE</a:t>
              </a:r>
            </a:p>
          </p:txBody>
        </p:sp>
      </p:grpSp>
      <p:grpSp>
        <p:nvGrpSpPr>
          <p:cNvPr name="Group 48" id="48"/>
          <p:cNvGrpSpPr/>
          <p:nvPr/>
        </p:nvGrpSpPr>
        <p:grpSpPr>
          <a:xfrm rot="0">
            <a:off x="6533007" y="6135243"/>
            <a:ext cx="5162550" cy="842010"/>
            <a:chOff x="0" y="0"/>
            <a:chExt cx="6883400" cy="1122680"/>
          </a:xfrm>
        </p:grpSpPr>
        <p:sp>
          <p:nvSpPr>
            <p:cNvPr name="Freeform 49" id="49"/>
            <p:cNvSpPr/>
            <p:nvPr/>
          </p:nvSpPr>
          <p:spPr>
            <a:xfrm flipH="false" flipV="false" rot="0">
              <a:off x="0" y="0"/>
              <a:ext cx="6883400" cy="1122680"/>
            </a:xfrm>
            <a:custGeom>
              <a:avLst/>
              <a:gdLst/>
              <a:ahLst/>
              <a:cxnLst/>
              <a:rect r="r" b="b" t="t" l="l"/>
              <a:pathLst>
                <a:path h="1122680" w="6883400">
                  <a:moveTo>
                    <a:pt x="0" y="168402"/>
                  </a:moveTo>
                  <a:cubicBezTo>
                    <a:pt x="0" y="75438"/>
                    <a:pt x="75438" y="0"/>
                    <a:pt x="168402" y="0"/>
                  </a:cubicBezTo>
                  <a:lnTo>
                    <a:pt x="6714998" y="0"/>
                  </a:lnTo>
                  <a:cubicBezTo>
                    <a:pt x="6807962" y="0"/>
                    <a:pt x="6883400" y="75438"/>
                    <a:pt x="6883400" y="168402"/>
                  </a:cubicBezTo>
                  <a:lnTo>
                    <a:pt x="6883400" y="954278"/>
                  </a:lnTo>
                  <a:cubicBezTo>
                    <a:pt x="6883400" y="1047242"/>
                    <a:pt x="6807962" y="1122680"/>
                    <a:pt x="6714998" y="1122680"/>
                  </a:cubicBezTo>
                  <a:lnTo>
                    <a:pt x="168402" y="1122680"/>
                  </a:lnTo>
                  <a:cubicBezTo>
                    <a:pt x="75438" y="1122680"/>
                    <a:pt x="0" y="1047242"/>
                    <a:pt x="0" y="954278"/>
                  </a:cubicBezTo>
                  <a:close/>
                </a:path>
              </a:pathLst>
            </a:custGeom>
            <a:solidFill>
              <a:srgbClr val="D9631E"/>
            </a:solidFill>
            <a:ln w="19050" cap="sq">
              <a:solidFill>
                <a:srgbClr val="D9631E"/>
              </a:solidFill>
              <a:prstDash val="solid"/>
              <a:miter/>
            </a:ln>
          </p:spPr>
        </p:sp>
      </p:grpSp>
      <p:grpSp>
        <p:nvGrpSpPr>
          <p:cNvPr name="Group 50" id="50"/>
          <p:cNvGrpSpPr/>
          <p:nvPr/>
        </p:nvGrpSpPr>
        <p:grpSpPr>
          <a:xfrm rot="0">
            <a:off x="6542532" y="6213348"/>
            <a:ext cx="5143500" cy="521208"/>
            <a:chOff x="0" y="0"/>
            <a:chExt cx="6858000" cy="694944"/>
          </a:xfrm>
        </p:grpSpPr>
        <p:sp>
          <p:nvSpPr>
            <p:cNvPr name="Freeform 51" id="51"/>
            <p:cNvSpPr/>
            <p:nvPr/>
          </p:nvSpPr>
          <p:spPr>
            <a:xfrm flipH="false" flipV="false" rot="0">
              <a:off x="0" y="0"/>
              <a:ext cx="6858000" cy="694944"/>
            </a:xfrm>
            <a:custGeom>
              <a:avLst/>
              <a:gdLst/>
              <a:ahLst/>
              <a:cxnLst/>
              <a:rect r="r" b="b" t="t" l="l"/>
              <a:pathLst>
                <a:path h="694944" w="6858000">
                  <a:moveTo>
                    <a:pt x="0" y="0"/>
                  </a:moveTo>
                  <a:lnTo>
                    <a:pt x="6858000" y="0"/>
                  </a:lnTo>
                  <a:lnTo>
                    <a:pt x="6858000" y="694944"/>
                  </a:lnTo>
                  <a:lnTo>
                    <a:pt x="0" y="694944"/>
                  </a:lnTo>
                  <a:close/>
                </a:path>
              </a:pathLst>
            </a:custGeom>
            <a:blipFill>
              <a:blip r:embed="rId2">
                <a:alphaModFix amt="0"/>
              </a:blip>
              <a:stretch>
                <a:fillRect l="0" t="-142286" r="0" b="-142286"/>
              </a:stretch>
            </a:blipFill>
          </p:spPr>
        </p:sp>
        <p:sp>
          <p:nvSpPr>
            <p:cNvPr name="TextBox 52" id="52"/>
            <p:cNvSpPr txBox="true"/>
            <p:nvPr/>
          </p:nvSpPr>
          <p:spPr>
            <a:xfrm>
              <a:off x="0" y="-38100"/>
              <a:ext cx="6858000" cy="733044"/>
            </a:xfrm>
            <a:prstGeom prst="rect">
              <a:avLst/>
            </a:prstGeom>
          </p:spPr>
          <p:txBody>
            <a:bodyPr anchor="ctr" rtlCol="false" tIns="0" lIns="0" bIns="0" rIns="0"/>
            <a:lstStyle/>
            <a:p>
              <a:pPr algn="ctr">
                <a:lnSpc>
                  <a:spcPts val="2430"/>
                </a:lnSpc>
              </a:pPr>
              <a:r>
                <a:rPr lang="en-US" sz="2025" b="true">
                  <a:solidFill>
                    <a:srgbClr val="FFFFFF"/>
                  </a:solidFill>
                  <a:latin typeface="Calibri (MS) Bold"/>
                  <a:ea typeface="Calibri (MS) Bold"/>
                  <a:cs typeface="Calibri (MS) Bold"/>
                  <a:sym typeface="Calibri (MS) Bold"/>
                </a:rPr>
                <a:t>✓  Respond</a:t>
              </a:r>
            </a:p>
          </p:txBody>
        </p:sp>
      </p:grpSp>
      <p:grpSp>
        <p:nvGrpSpPr>
          <p:cNvPr name="Group 53" id="53"/>
          <p:cNvGrpSpPr/>
          <p:nvPr/>
        </p:nvGrpSpPr>
        <p:grpSpPr>
          <a:xfrm rot="0">
            <a:off x="6542532" y="6583680"/>
            <a:ext cx="5143500" cy="329184"/>
            <a:chOff x="0" y="0"/>
            <a:chExt cx="6858000" cy="438912"/>
          </a:xfrm>
        </p:grpSpPr>
        <p:sp>
          <p:nvSpPr>
            <p:cNvPr name="Freeform 54" id="54"/>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55" id="55"/>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FFFFFF"/>
                  </a:solidFill>
                  <a:latin typeface="Arimo"/>
                  <a:ea typeface="Arimo"/>
                  <a:cs typeface="Arimo"/>
                  <a:sym typeface="Arimo"/>
                </a:rPr>
                <a:t>RS</a:t>
              </a:r>
            </a:p>
          </p:txBody>
        </p:sp>
      </p:grpSp>
      <p:grpSp>
        <p:nvGrpSpPr>
          <p:cNvPr name="Group 56" id="56"/>
          <p:cNvGrpSpPr/>
          <p:nvPr/>
        </p:nvGrpSpPr>
        <p:grpSpPr>
          <a:xfrm rot="0">
            <a:off x="12115419" y="6135243"/>
            <a:ext cx="5162550" cy="842010"/>
            <a:chOff x="0" y="0"/>
            <a:chExt cx="6883400" cy="1122680"/>
          </a:xfrm>
        </p:grpSpPr>
        <p:sp>
          <p:nvSpPr>
            <p:cNvPr name="Freeform 57" id="57"/>
            <p:cNvSpPr/>
            <p:nvPr/>
          </p:nvSpPr>
          <p:spPr>
            <a:xfrm flipH="false" flipV="false" rot="0">
              <a:off x="0" y="0"/>
              <a:ext cx="6883400" cy="1122680"/>
            </a:xfrm>
            <a:custGeom>
              <a:avLst/>
              <a:gdLst/>
              <a:ahLst/>
              <a:cxnLst/>
              <a:rect r="r" b="b" t="t" l="l"/>
              <a:pathLst>
                <a:path h="1122680" w="6883400">
                  <a:moveTo>
                    <a:pt x="0" y="168402"/>
                  </a:moveTo>
                  <a:cubicBezTo>
                    <a:pt x="0" y="75438"/>
                    <a:pt x="75438" y="0"/>
                    <a:pt x="168402" y="0"/>
                  </a:cubicBezTo>
                  <a:lnTo>
                    <a:pt x="6714998" y="0"/>
                  </a:lnTo>
                  <a:cubicBezTo>
                    <a:pt x="6807962" y="0"/>
                    <a:pt x="6883400" y="75438"/>
                    <a:pt x="6883400" y="168402"/>
                  </a:cubicBezTo>
                  <a:lnTo>
                    <a:pt x="6883400" y="954278"/>
                  </a:lnTo>
                  <a:cubicBezTo>
                    <a:pt x="6883400" y="1047242"/>
                    <a:pt x="6807962" y="1122680"/>
                    <a:pt x="6714998" y="1122680"/>
                  </a:cubicBezTo>
                  <a:lnTo>
                    <a:pt x="168402" y="1122680"/>
                  </a:lnTo>
                  <a:cubicBezTo>
                    <a:pt x="75438" y="1122680"/>
                    <a:pt x="0" y="1047242"/>
                    <a:pt x="0" y="954278"/>
                  </a:cubicBezTo>
                  <a:close/>
                </a:path>
              </a:pathLst>
            </a:custGeom>
            <a:solidFill>
              <a:srgbClr val="2E9E6B"/>
            </a:solidFill>
            <a:ln w="19050" cap="sq">
              <a:solidFill>
                <a:srgbClr val="2E9E6B"/>
              </a:solidFill>
              <a:prstDash val="solid"/>
              <a:miter/>
            </a:ln>
          </p:spPr>
        </p:sp>
      </p:grpSp>
      <p:grpSp>
        <p:nvGrpSpPr>
          <p:cNvPr name="Group 58" id="58"/>
          <p:cNvGrpSpPr/>
          <p:nvPr/>
        </p:nvGrpSpPr>
        <p:grpSpPr>
          <a:xfrm rot="0">
            <a:off x="12124944" y="6213348"/>
            <a:ext cx="5143500" cy="521208"/>
            <a:chOff x="0" y="0"/>
            <a:chExt cx="6858000" cy="694944"/>
          </a:xfrm>
        </p:grpSpPr>
        <p:sp>
          <p:nvSpPr>
            <p:cNvPr name="Freeform 59" id="59"/>
            <p:cNvSpPr/>
            <p:nvPr/>
          </p:nvSpPr>
          <p:spPr>
            <a:xfrm flipH="false" flipV="false" rot="0">
              <a:off x="0" y="0"/>
              <a:ext cx="6858000" cy="694944"/>
            </a:xfrm>
            <a:custGeom>
              <a:avLst/>
              <a:gdLst/>
              <a:ahLst/>
              <a:cxnLst/>
              <a:rect r="r" b="b" t="t" l="l"/>
              <a:pathLst>
                <a:path h="694944" w="6858000">
                  <a:moveTo>
                    <a:pt x="0" y="0"/>
                  </a:moveTo>
                  <a:lnTo>
                    <a:pt x="6858000" y="0"/>
                  </a:lnTo>
                  <a:lnTo>
                    <a:pt x="6858000" y="694944"/>
                  </a:lnTo>
                  <a:lnTo>
                    <a:pt x="0" y="694944"/>
                  </a:lnTo>
                  <a:close/>
                </a:path>
              </a:pathLst>
            </a:custGeom>
            <a:blipFill>
              <a:blip r:embed="rId2">
                <a:alphaModFix amt="0"/>
              </a:blip>
              <a:stretch>
                <a:fillRect l="0" t="-142286" r="0" b="-142286"/>
              </a:stretch>
            </a:blipFill>
          </p:spPr>
        </p:sp>
        <p:sp>
          <p:nvSpPr>
            <p:cNvPr name="TextBox 60" id="60"/>
            <p:cNvSpPr txBox="true"/>
            <p:nvPr/>
          </p:nvSpPr>
          <p:spPr>
            <a:xfrm>
              <a:off x="0" y="-38100"/>
              <a:ext cx="6858000" cy="733044"/>
            </a:xfrm>
            <a:prstGeom prst="rect">
              <a:avLst/>
            </a:prstGeom>
          </p:spPr>
          <p:txBody>
            <a:bodyPr anchor="ctr" rtlCol="false" tIns="0" lIns="0" bIns="0" rIns="0"/>
            <a:lstStyle/>
            <a:p>
              <a:pPr algn="ctr">
                <a:lnSpc>
                  <a:spcPts val="2430"/>
                </a:lnSpc>
              </a:pPr>
              <a:r>
                <a:rPr lang="en-US" sz="2025" b="true">
                  <a:solidFill>
                    <a:srgbClr val="FFFFFF"/>
                  </a:solidFill>
                  <a:latin typeface="Calibri (MS) Bold"/>
                  <a:ea typeface="Calibri (MS) Bold"/>
                  <a:cs typeface="Calibri (MS) Bold"/>
                  <a:sym typeface="Calibri (MS) Bold"/>
                </a:rPr>
                <a:t>✓  Recover</a:t>
              </a:r>
            </a:p>
          </p:txBody>
        </p:sp>
      </p:grpSp>
      <p:grpSp>
        <p:nvGrpSpPr>
          <p:cNvPr name="Group 61" id="61"/>
          <p:cNvGrpSpPr/>
          <p:nvPr/>
        </p:nvGrpSpPr>
        <p:grpSpPr>
          <a:xfrm rot="0">
            <a:off x="12124944" y="6583680"/>
            <a:ext cx="5143500" cy="329184"/>
            <a:chOff x="0" y="0"/>
            <a:chExt cx="6858000" cy="438912"/>
          </a:xfrm>
        </p:grpSpPr>
        <p:sp>
          <p:nvSpPr>
            <p:cNvPr name="Freeform 62" id="62"/>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63" id="63"/>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FFFFFF"/>
                  </a:solidFill>
                  <a:latin typeface="Arimo"/>
                  <a:ea typeface="Arimo"/>
                  <a:cs typeface="Arimo"/>
                  <a:sym typeface="Arimo"/>
                </a:rPr>
                <a:t>RC</a:t>
              </a:r>
            </a:p>
          </p:txBody>
        </p:sp>
      </p:grpSp>
      <p:grpSp>
        <p:nvGrpSpPr>
          <p:cNvPr name="Group 64" id="64"/>
          <p:cNvGrpSpPr/>
          <p:nvPr/>
        </p:nvGrpSpPr>
        <p:grpSpPr>
          <a:xfrm rot="0">
            <a:off x="950595" y="7328535"/>
            <a:ext cx="16341090" cy="1596390"/>
            <a:chOff x="0" y="0"/>
            <a:chExt cx="21788120" cy="2128520"/>
          </a:xfrm>
        </p:grpSpPr>
        <p:sp>
          <p:nvSpPr>
            <p:cNvPr name="Freeform 65" id="65"/>
            <p:cNvSpPr/>
            <p:nvPr/>
          </p:nvSpPr>
          <p:spPr>
            <a:xfrm flipH="false" flipV="false" rot="0">
              <a:off x="0" y="0"/>
              <a:ext cx="21788120" cy="2128520"/>
            </a:xfrm>
            <a:custGeom>
              <a:avLst/>
              <a:gdLst/>
              <a:ahLst/>
              <a:cxnLst/>
              <a:rect r="r" b="b" t="t" l="l"/>
              <a:pathLst>
                <a:path h="2128520" w="21788120">
                  <a:moveTo>
                    <a:pt x="0" y="185039"/>
                  </a:moveTo>
                  <a:cubicBezTo>
                    <a:pt x="0" y="82931"/>
                    <a:pt x="82931" y="0"/>
                    <a:pt x="185039" y="0"/>
                  </a:cubicBezTo>
                  <a:lnTo>
                    <a:pt x="21603081" y="0"/>
                  </a:lnTo>
                  <a:cubicBezTo>
                    <a:pt x="21705317" y="0"/>
                    <a:pt x="21788120" y="82931"/>
                    <a:pt x="21788120" y="185039"/>
                  </a:cubicBezTo>
                  <a:lnTo>
                    <a:pt x="21788120" y="1943481"/>
                  </a:lnTo>
                  <a:cubicBezTo>
                    <a:pt x="21788120" y="2045716"/>
                    <a:pt x="21705190" y="2128520"/>
                    <a:pt x="21603081" y="2128520"/>
                  </a:cubicBezTo>
                  <a:lnTo>
                    <a:pt x="185039" y="2128520"/>
                  </a:lnTo>
                  <a:cubicBezTo>
                    <a:pt x="82931" y="2128520"/>
                    <a:pt x="0" y="2045589"/>
                    <a:pt x="0" y="1943481"/>
                  </a:cubicBezTo>
                  <a:close/>
                </a:path>
              </a:pathLst>
            </a:custGeom>
            <a:solidFill>
              <a:srgbClr val="FBF9F4"/>
            </a:solidFill>
            <a:ln w="19050" cap="sq">
              <a:solidFill>
                <a:srgbClr val="EFE6D2"/>
              </a:solidFill>
              <a:prstDash val="solid"/>
              <a:miter/>
            </a:ln>
          </p:spPr>
        </p:sp>
      </p:grpSp>
      <p:sp>
        <p:nvSpPr>
          <p:cNvPr name="TextBox 66" id="66"/>
          <p:cNvSpPr txBox="true"/>
          <p:nvPr/>
        </p:nvSpPr>
        <p:spPr>
          <a:xfrm rot="0">
            <a:off x="1463040" y="7494270"/>
            <a:ext cx="15316200" cy="1238250"/>
          </a:xfrm>
          <a:prstGeom prst="rect">
            <a:avLst/>
          </a:prstGeom>
        </p:spPr>
        <p:txBody>
          <a:bodyPr anchor="t" rtlCol="false" tIns="0" lIns="0" bIns="0" rIns="0">
            <a:spAutoFit/>
          </a:bodyPr>
          <a:lstStyle/>
          <a:p>
            <a:pPr algn="l">
              <a:lnSpc>
                <a:spcPts val="2880"/>
              </a:lnSpc>
            </a:pPr>
            <a:r>
              <a:rPr lang="en-US" sz="1875">
                <a:solidFill>
                  <a:srgbClr val="23262F"/>
                </a:solidFill>
                <a:latin typeface="Calibri (MS)"/>
                <a:ea typeface="Calibri (MS)"/>
                <a:cs typeface="Calibri (MS)"/>
                <a:sym typeface="Calibri (MS)"/>
              </a:rPr>
              <a:t>This one spans two functions on purpose: isolating the servers is Respond (acting on the detected incident), while restoring the files afterward is Recover (returning to normal). They often run back-to-back, but they're distinct functions with different goals — contain vs. restore.</a:t>
            </a:r>
          </a:p>
        </p:txBody>
      </p:sp>
      <p:grpSp>
        <p:nvGrpSpPr>
          <p:cNvPr name="Group 67" id="67"/>
          <p:cNvGrpSpPr/>
          <p:nvPr/>
        </p:nvGrpSpPr>
        <p:grpSpPr>
          <a:xfrm rot="0">
            <a:off x="685800" y="9710928"/>
            <a:ext cx="10972800" cy="411480"/>
            <a:chOff x="0" y="0"/>
            <a:chExt cx="14630400" cy="548640"/>
          </a:xfrm>
        </p:grpSpPr>
        <p:sp>
          <p:nvSpPr>
            <p:cNvPr name="Freeform 68" id="68"/>
            <p:cNvSpPr/>
            <p:nvPr/>
          </p:nvSpPr>
          <p:spPr>
            <a:xfrm flipH="false" flipV="false" rot="0">
              <a:off x="0" y="0"/>
              <a:ext cx="14630400" cy="548640"/>
            </a:xfrm>
            <a:custGeom>
              <a:avLst/>
              <a:gdLst/>
              <a:ahLst/>
              <a:cxnLst/>
              <a:rect r="r" b="b" t="t" l="l"/>
              <a:pathLst>
                <a:path h="548640" w="14630400">
                  <a:moveTo>
                    <a:pt x="0" y="0"/>
                  </a:moveTo>
                  <a:lnTo>
                    <a:pt x="14630400" y="0"/>
                  </a:lnTo>
                  <a:lnTo>
                    <a:pt x="14630400" y="548640"/>
                  </a:lnTo>
                  <a:lnTo>
                    <a:pt x="0" y="548640"/>
                  </a:lnTo>
                  <a:close/>
                </a:path>
              </a:pathLst>
            </a:custGeom>
            <a:blipFill>
              <a:blip r:embed="rId2">
                <a:alphaModFix amt="0"/>
              </a:blip>
              <a:stretch>
                <a:fillRect l="0" t="-469601" r="0" b="-469601"/>
              </a:stretch>
            </a:blipFill>
          </p:spPr>
        </p:sp>
        <p:sp>
          <p:nvSpPr>
            <p:cNvPr name="TextBox 69" id="69"/>
            <p:cNvSpPr txBox="true"/>
            <p:nvPr/>
          </p:nvSpPr>
          <p:spPr>
            <a:xfrm>
              <a:off x="0" y="-38100"/>
              <a:ext cx="14630400" cy="586740"/>
            </a:xfrm>
            <a:prstGeom prst="rect">
              <a:avLst/>
            </a:prstGeom>
          </p:spPr>
          <p:txBody>
            <a:bodyPr anchor="ctr" rtlCol="false" tIns="0" lIns="0" bIns="0" rIns="0"/>
            <a:lstStyle/>
            <a:p>
              <a:pPr algn="l">
                <a:lnSpc>
                  <a:spcPts val="1800"/>
                </a:lnSpc>
              </a:pPr>
              <a:r>
                <a:rPr lang="en-US" sz="1500">
                  <a:solidFill>
                    <a:srgbClr val="6B7280"/>
                  </a:solidFill>
                  <a:latin typeface="Calibri (MS)"/>
                  <a:ea typeface="Calibri (MS)"/>
                  <a:cs typeface="Calibri (MS)"/>
                  <a:sym typeface="Calibri (MS)"/>
                </a:rPr>
                <a:t>Davao del Norte Provincial Government — Cybersecurity Seminar</a:t>
              </a:r>
            </a:p>
          </p:txBody>
        </p:sp>
      </p:grpSp>
      <p:grpSp>
        <p:nvGrpSpPr>
          <p:cNvPr name="Group 70" id="70"/>
          <p:cNvGrpSpPr/>
          <p:nvPr/>
        </p:nvGrpSpPr>
        <p:grpSpPr>
          <a:xfrm rot="0">
            <a:off x="16911828" y="9710928"/>
            <a:ext cx="685800" cy="411480"/>
            <a:chOff x="0" y="0"/>
            <a:chExt cx="914400" cy="548640"/>
          </a:xfrm>
        </p:grpSpPr>
        <p:sp>
          <p:nvSpPr>
            <p:cNvPr name="Freeform 71" id="71"/>
            <p:cNvSpPr/>
            <p:nvPr/>
          </p:nvSpPr>
          <p:spPr>
            <a:xfrm flipH="false" flipV="false" rot="0">
              <a:off x="0" y="0"/>
              <a:ext cx="914400" cy="548640"/>
            </a:xfrm>
            <a:custGeom>
              <a:avLst/>
              <a:gdLst/>
              <a:ahLst/>
              <a:cxnLst/>
              <a:rect r="r" b="b" t="t" l="l"/>
              <a:pathLst>
                <a:path h="548640" w="914400">
                  <a:moveTo>
                    <a:pt x="0" y="0"/>
                  </a:moveTo>
                  <a:lnTo>
                    <a:pt x="914400" y="0"/>
                  </a:lnTo>
                  <a:lnTo>
                    <a:pt x="914400" y="548640"/>
                  </a:lnTo>
                  <a:lnTo>
                    <a:pt x="0" y="548640"/>
                  </a:lnTo>
                  <a:close/>
                </a:path>
              </a:pathLst>
            </a:custGeom>
            <a:blipFill>
              <a:blip r:embed="rId2">
                <a:alphaModFix amt="0"/>
              </a:blip>
              <a:stretch>
                <a:fillRect l="-26982" t="0" r="-26982" b="0"/>
              </a:stretch>
            </a:blipFill>
          </p:spPr>
        </p:sp>
        <p:sp>
          <p:nvSpPr>
            <p:cNvPr name="TextBox 72" id="72"/>
            <p:cNvSpPr txBox="true"/>
            <p:nvPr/>
          </p:nvSpPr>
          <p:spPr>
            <a:xfrm>
              <a:off x="0" y="-38100"/>
              <a:ext cx="914400" cy="586740"/>
            </a:xfrm>
            <a:prstGeom prst="rect">
              <a:avLst/>
            </a:prstGeom>
          </p:spPr>
          <p:txBody>
            <a:bodyPr anchor="ctr" rtlCol="false" tIns="0" lIns="0" bIns="0" rIns="0"/>
            <a:lstStyle/>
            <a:p>
              <a:pPr algn="r">
                <a:lnSpc>
                  <a:spcPts val="1800"/>
                </a:lnSpc>
              </a:pPr>
              <a:r>
                <a:rPr lang="en-US" sz="1500">
                  <a:solidFill>
                    <a:srgbClr val="6B7280"/>
                  </a:solidFill>
                  <a:latin typeface="Calibri (MS)"/>
                  <a:ea typeface="Calibri (MS)"/>
                  <a:cs typeface="Calibri (MS)"/>
                  <a:sym typeface="Calibri (MS)"/>
                </a:rPr>
                <a:t>26</a:t>
              </a:r>
            </a:p>
          </p:txBody>
        </p:sp>
      </p:grpSp>
    </p:spTree>
  </p:cSld>
  <p:clrMapOvr>
    <a:masterClrMapping/>
  </p:clrMapOvr>
</p:sld>
</file>

<file path=ppt/slides/slide9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60120" y="685800"/>
            <a:ext cx="13716000" cy="411480"/>
            <a:chOff x="0" y="0"/>
            <a:chExt cx="18288000" cy="548640"/>
          </a:xfrm>
        </p:grpSpPr>
        <p:sp>
          <p:nvSpPr>
            <p:cNvPr name="Freeform 3" id="3"/>
            <p:cNvSpPr/>
            <p:nvPr/>
          </p:nvSpPr>
          <p:spPr>
            <a:xfrm flipH="false" flipV="false" rot="0">
              <a:off x="0" y="0"/>
              <a:ext cx="18288000" cy="548640"/>
            </a:xfrm>
            <a:custGeom>
              <a:avLst/>
              <a:gdLst/>
              <a:ahLst/>
              <a:cxnLst/>
              <a:rect r="r" b="b" t="t" l="l"/>
              <a:pathLst>
                <a:path h="548640" w="18288000">
                  <a:moveTo>
                    <a:pt x="0" y="0"/>
                  </a:moveTo>
                  <a:lnTo>
                    <a:pt x="18288000" y="0"/>
                  </a:lnTo>
                  <a:lnTo>
                    <a:pt x="18288000" y="548640"/>
                  </a:lnTo>
                  <a:lnTo>
                    <a:pt x="0" y="548640"/>
                  </a:lnTo>
                  <a:close/>
                </a:path>
              </a:pathLst>
            </a:custGeom>
            <a:blipFill>
              <a:blip r:embed="rId2">
                <a:alphaModFix amt="0"/>
              </a:blip>
              <a:stretch>
                <a:fillRect l="0" t="-599501" r="0" b="-599501"/>
              </a:stretch>
            </a:blipFill>
          </p:spPr>
        </p:sp>
        <p:sp>
          <p:nvSpPr>
            <p:cNvPr name="TextBox 4" id="4"/>
            <p:cNvSpPr txBox="true"/>
            <p:nvPr/>
          </p:nvSpPr>
          <p:spPr>
            <a:xfrm>
              <a:off x="0" y="-38100"/>
              <a:ext cx="18288000" cy="586740"/>
            </a:xfrm>
            <a:prstGeom prst="rect">
              <a:avLst/>
            </a:prstGeom>
          </p:spPr>
          <p:txBody>
            <a:bodyPr anchor="ctr" rtlCol="false" tIns="0" lIns="0" bIns="0" rIns="0"/>
            <a:lstStyle/>
            <a:p>
              <a:pPr algn="l">
                <a:lnSpc>
                  <a:spcPts val="2160"/>
                </a:lnSpc>
              </a:pPr>
              <a:r>
                <a:rPr lang="en-US" b="true" sz="1800" spc="225">
                  <a:solidFill>
                    <a:srgbClr val="00B4D8"/>
                  </a:solidFill>
                  <a:latin typeface="Calibri (MS) Bold"/>
                  <a:ea typeface="Calibri (MS) Bold"/>
                  <a:cs typeface="Calibri (MS) Bold"/>
                  <a:sym typeface="Calibri (MS) Bold"/>
                </a:rPr>
                <a:t>NIST CSF SORT · SCENARIO</a:t>
              </a:r>
            </a:p>
          </p:txBody>
        </p:sp>
      </p:grpSp>
      <p:grpSp>
        <p:nvGrpSpPr>
          <p:cNvPr name="Group 5" id="5"/>
          <p:cNvGrpSpPr/>
          <p:nvPr/>
        </p:nvGrpSpPr>
        <p:grpSpPr>
          <a:xfrm rot="0">
            <a:off x="960120" y="1069848"/>
            <a:ext cx="10972800" cy="822960"/>
            <a:chOff x="0" y="0"/>
            <a:chExt cx="14630400" cy="1097280"/>
          </a:xfrm>
        </p:grpSpPr>
        <p:sp>
          <p:nvSpPr>
            <p:cNvPr name="Freeform 6" id="6"/>
            <p:cNvSpPr/>
            <p:nvPr/>
          </p:nvSpPr>
          <p:spPr>
            <a:xfrm flipH="false" flipV="false" rot="0">
              <a:off x="0" y="0"/>
              <a:ext cx="14630400" cy="1097280"/>
            </a:xfrm>
            <a:custGeom>
              <a:avLst/>
              <a:gdLst/>
              <a:ahLst/>
              <a:cxnLst/>
              <a:rect r="r" b="b" t="t" l="l"/>
              <a:pathLst>
                <a:path h="1097280" w="14630400">
                  <a:moveTo>
                    <a:pt x="0" y="0"/>
                  </a:moveTo>
                  <a:lnTo>
                    <a:pt x="14630400" y="0"/>
                  </a:lnTo>
                  <a:lnTo>
                    <a:pt x="14630400" y="1097280"/>
                  </a:lnTo>
                  <a:lnTo>
                    <a:pt x="0" y="1097280"/>
                  </a:lnTo>
                  <a:close/>
                </a:path>
              </a:pathLst>
            </a:custGeom>
            <a:blipFill>
              <a:blip r:embed="rId2">
                <a:alphaModFix amt="0"/>
              </a:blip>
              <a:stretch>
                <a:fillRect l="0" t="-209800" r="0" b="-209800"/>
              </a:stretch>
            </a:blipFill>
          </p:spPr>
        </p:sp>
        <p:sp>
          <p:nvSpPr>
            <p:cNvPr name="TextBox 7" id="7"/>
            <p:cNvSpPr txBox="true"/>
            <p:nvPr/>
          </p:nvSpPr>
          <p:spPr>
            <a:xfrm>
              <a:off x="0" y="0"/>
              <a:ext cx="14630400" cy="1097280"/>
            </a:xfrm>
            <a:prstGeom prst="rect">
              <a:avLst/>
            </a:prstGeom>
          </p:spPr>
          <p:txBody>
            <a:bodyPr anchor="ctr" rtlCol="false" tIns="0" lIns="0" bIns="0" rIns="0"/>
            <a:lstStyle/>
            <a:p>
              <a:pPr algn="l">
                <a:lnSpc>
                  <a:spcPts val="4680"/>
                </a:lnSpc>
              </a:pPr>
              <a:r>
                <a:rPr lang="en-US" sz="3900" b="true">
                  <a:solidFill>
                    <a:srgbClr val="1E2761"/>
                  </a:solidFill>
                  <a:latin typeface="Cambria Bold"/>
                  <a:ea typeface="Cambria Bold"/>
                  <a:cs typeface="Cambria Bold"/>
                  <a:sym typeface="Cambria Bold"/>
                </a:rPr>
                <a:t>Scenario 9</a:t>
              </a:r>
            </a:p>
          </p:txBody>
        </p:sp>
      </p:grpSp>
      <p:grpSp>
        <p:nvGrpSpPr>
          <p:cNvPr name="Group 8" id="8"/>
          <p:cNvGrpSpPr/>
          <p:nvPr/>
        </p:nvGrpSpPr>
        <p:grpSpPr>
          <a:xfrm rot="0">
            <a:off x="960120" y="1810512"/>
            <a:ext cx="8229600" cy="411480"/>
            <a:chOff x="0" y="0"/>
            <a:chExt cx="10972800" cy="548640"/>
          </a:xfrm>
        </p:grpSpPr>
        <p:sp>
          <p:nvSpPr>
            <p:cNvPr name="Freeform 9" id="9"/>
            <p:cNvSpPr/>
            <p:nvPr/>
          </p:nvSpPr>
          <p:spPr>
            <a:xfrm flipH="false" flipV="false" rot="0">
              <a:off x="0" y="0"/>
              <a:ext cx="10972800" cy="548640"/>
            </a:xfrm>
            <a:custGeom>
              <a:avLst/>
              <a:gdLst/>
              <a:ahLst/>
              <a:cxnLst/>
              <a:rect r="r" b="b" t="t" l="l"/>
              <a:pathLst>
                <a:path h="548640" w="10972800">
                  <a:moveTo>
                    <a:pt x="0" y="0"/>
                  </a:moveTo>
                  <a:lnTo>
                    <a:pt x="10972800" y="0"/>
                  </a:lnTo>
                  <a:lnTo>
                    <a:pt x="10972800" y="548640"/>
                  </a:lnTo>
                  <a:lnTo>
                    <a:pt x="0" y="548640"/>
                  </a:lnTo>
                  <a:close/>
                </a:path>
              </a:pathLst>
            </a:custGeom>
            <a:blipFill>
              <a:blip r:embed="rId2">
                <a:alphaModFix amt="0"/>
              </a:blip>
              <a:stretch>
                <a:fillRect l="0" t="-339700" r="0" b="-339700"/>
              </a:stretch>
            </a:blipFill>
          </p:spPr>
        </p:sp>
        <p:sp>
          <p:nvSpPr>
            <p:cNvPr name="TextBox 10" id="10"/>
            <p:cNvSpPr txBox="true"/>
            <p:nvPr/>
          </p:nvSpPr>
          <p:spPr>
            <a:xfrm>
              <a:off x="0" y="-28575"/>
              <a:ext cx="10972800" cy="577215"/>
            </a:xfrm>
            <a:prstGeom prst="rect">
              <a:avLst/>
            </a:prstGeom>
          </p:spPr>
          <p:txBody>
            <a:bodyPr anchor="ctr" rtlCol="false" tIns="0" lIns="0" bIns="0" rIns="0"/>
            <a:lstStyle/>
            <a:p>
              <a:pPr algn="l">
                <a:lnSpc>
                  <a:spcPts val="1980"/>
                </a:lnSpc>
              </a:pPr>
              <a:r>
                <a:rPr lang="en-US" sz="1650">
                  <a:solidFill>
                    <a:srgbClr val="6B7280"/>
                  </a:solidFill>
                  <a:latin typeface="Calibri (MS)"/>
                  <a:ea typeface="Calibri (MS)"/>
                  <a:cs typeface="Calibri (MS)"/>
                  <a:sym typeface="Calibri (MS)"/>
                </a:rPr>
                <a:t>9 of 20</a:t>
              </a:r>
            </a:p>
          </p:txBody>
        </p:sp>
      </p:grpSp>
      <p:grpSp>
        <p:nvGrpSpPr>
          <p:cNvPr name="Group 11" id="11"/>
          <p:cNvGrpSpPr/>
          <p:nvPr/>
        </p:nvGrpSpPr>
        <p:grpSpPr>
          <a:xfrm rot="0">
            <a:off x="960120" y="2537460"/>
            <a:ext cx="16322040" cy="2811780"/>
            <a:chOff x="0" y="0"/>
            <a:chExt cx="21762720" cy="3749040"/>
          </a:xfrm>
        </p:grpSpPr>
        <p:sp>
          <p:nvSpPr>
            <p:cNvPr name="Freeform 12" id="12"/>
            <p:cNvSpPr/>
            <p:nvPr/>
          </p:nvSpPr>
          <p:spPr>
            <a:xfrm flipH="false" flipV="false" rot="0">
              <a:off x="0" y="0"/>
              <a:ext cx="21762720" cy="3749040"/>
            </a:xfrm>
            <a:custGeom>
              <a:avLst/>
              <a:gdLst/>
              <a:ahLst/>
              <a:cxnLst/>
              <a:rect r="r" b="b" t="t" l="l"/>
              <a:pathLst>
                <a:path h="3749040" w="21762720">
                  <a:moveTo>
                    <a:pt x="0" y="182880"/>
                  </a:moveTo>
                  <a:cubicBezTo>
                    <a:pt x="0" y="81915"/>
                    <a:pt x="81915" y="0"/>
                    <a:pt x="182880" y="0"/>
                  </a:cubicBezTo>
                  <a:lnTo>
                    <a:pt x="21579839" y="0"/>
                  </a:lnTo>
                  <a:cubicBezTo>
                    <a:pt x="21680804" y="0"/>
                    <a:pt x="21762720" y="81915"/>
                    <a:pt x="21762720" y="182880"/>
                  </a:cubicBezTo>
                  <a:lnTo>
                    <a:pt x="21762720" y="3566160"/>
                  </a:lnTo>
                  <a:cubicBezTo>
                    <a:pt x="21762720" y="3667125"/>
                    <a:pt x="21680804" y="3749040"/>
                    <a:pt x="21579839" y="3749040"/>
                  </a:cubicBezTo>
                  <a:lnTo>
                    <a:pt x="182880" y="3749040"/>
                  </a:lnTo>
                  <a:cubicBezTo>
                    <a:pt x="81915" y="3749040"/>
                    <a:pt x="0" y="3667125"/>
                    <a:pt x="0" y="3566160"/>
                  </a:cubicBezTo>
                  <a:close/>
                </a:path>
              </a:pathLst>
            </a:custGeom>
            <a:solidFill>
              <a:srgbClr val="F4F7FC"/>
            </a:solidFill>
          </p:spPr>
        </p:sp>
      </p:grpSp>
      <p:grpSp>
        <p:nvGrpSpPr>
          <p:cNvPr name="Group 13" id="13"/>
          <p:cNvGrpSpPr/>
          <p:nvPr/>
        </p:nvGrpSpPr>
        <p:grpSpPr>
          <a:xfrm rot="0">
            <a:off x="1440180" y="2811780"/>
            <a:ext cx="15361920" cy="2263140"/>
            <a:chOff x="0" y="0"/>
            <a:chExt cx="20482560" cy="3017520"/>
          </a:xfrm>
        </p:grpSpPr>
        <p:sp>
          <p:nvSpPr>
            <p:cNvPr name="Freeform 14" id="14"/>
            <p:cNvSpPr/>
            <p:nvPr/>
          </p:nvSpPr>
          <p:spPr>
            <a:xfrm flipH="false" flipV="false" rot="0">
              <a:off x="0" y="0"/>
              <a:ext cx="20482561" cy="3017520"/>
            </a:xfrm>
            <a:custGeom>
              <a:avLst/>
              <a:gdLst/>
              <a:ahLst/>
              <a:cxnLst/>
              <a:rect r="r" b="b" t="t" l="l"/>
              <a:pathLst>
                <a:path h="3017520" w="20482561">
                  <a:moveTo>
                    <a:pt x="0" y="0"/>
                  </a:moveTo>
                  <a:lnTo>
                    <a:pt x="20482561" y="0"/>
                  </a:lnTo>
                  <a:lnTo>
                    <a:pt x="20482561" y="3017520"/>
                  </a:lnTo>
                  <a:lnTo>
                    <a:pt x="0" y="3017520"/>
                  </a:lnTo>
                  <a:close/>
                </a:path>
              </a:pathLst>
            </a:custGeom>
            <a:blipFill>
              <a:blip r:embed="rId2">
                <a:alphaModFix amt="0"/>
              </a:blip>
              <a:stretch>
                <a:fillRect l="0" t="-82262" r="0" b="-82262"/>
              </a:stretch>
            </a:blipFill>
          </p:spPr>
        </p:sp>
        <p:sp>
          <p:nvSpPr>
            <p:cNvPr name="TextBox 15" id="15"/>
            <p:cNvSpPr txBox="true"/>
            <p:nvPr/>
          </p:nvSpPr>
          <p:spPr>
            <a:xfrm>
              <a:off x="0" y="-104775"/>
              <a:ext cx="20482560" cy="3122295"/>
            </a:xfrm>
            <a:prstGeom prst="rect">
              <a:avLst/>
            </a:prstGeom>
          </p:spPr>
          <p:txBody>
            <a:bodyPr anchor="ctr" rtlCol="false" tIns="0" lIns="0" bIns="0" rIns="0"/>
            <a:lstStyle/>
            <a:p>
              <a:pPr algn="l">
                <a:lnSpc>
                  <a:spcPts val="4147"/>
                </a:lnSpc>
              </a:pPr>
              <a:r>
                <a:rPr lang="en-US" sz="2700" i="true">
                  <a:solidFill>
                    <a:srgbClr val="23262F"/>
                  </a:solidFill>
                  <a:latin typeface="Cambria Italics"/>
                  <a:ea typeface="Cambria Italics"/>
                  <a:cs typeface="Cambria Italics"/>
                  <a:sym typeface="Cambria Italics"/>
                </a:rPr>
                <a:t>"During an asset inventory audit, IT discovers a cloud file-sharing tool three departments have been using for months that was never procured or approved."</a:t>
              </a:r>
            </a:p>
          </p:txBody>
        </p:sp>
      </p:grpSp>
      <p:sp>
        <p:nvSpPr>
          <p:cNvPr name="TextBox 16" id="16"/>
          <p:cNvSpPr txBox="true"/>
          <p:nvPr/>
        </p:nvSpPr>
        <p:spPr>
          <a:xfrm rot="0">
            <a:off x="1051560" y="5604510"/>
            <a:ext cx="16139160" cy="1276350"/>
          </a:xfrm>
          <a:prstGeom prst="rect">
            <a:avLst/>
          </a:prstGeom>
        </p:spPr>
        <p:txBody>
          <a:bodyPr anchor="t" rtlCol="false" tIns="0" lIns="0" bIns="0" rIns="0">
            <a:spAutoFit/>
          </a:bodyPr>
          <a:lstStyle/>
          <a:p>
            <a:pPr algn="ctr">
              <a:lnSpc>
                <a:spcPts val="3402"/>
              </a:lnSpc>
            </a:pPr>
            <a:r>
              <a:rPr lang="en-US" sz="2100" i="true">
                <a:solidFill>
                  <a:srgbClr val="6B7280"/>
                </a:solidFill>
                <a:latin typeface="Calibri (MS) Italics"/>
                <a:ea typeface="Calibri (MS) Italics"/>
                <a:cs typeface="Calibri (MS) Italics"/>
                <a:sym typeface="Calibri (MS) Italics"/>
              </a:rPr>
              <a:t>Which Function does this belong to — Govern, Identify, Protect, Detect, Respond, or Recover?</a:t>
            </a:r>
          </a:p>
          <a:p>
            <a:pPr algn="ctr">
              <a:lnSpc>
                <a:spcPts val="3402"/>
              </a:lnSpc>
            </a:pPr>
            <a:r>
              <a:rPr lang="en-US" sz="2100" i="true">
                <a:solidFill>
                  <a:srgbClr val="6B7280"/>
                </a:solidFill>
                <a:latin typeface="Calibri (MS) Italics"/>
                <a:ea typeface="Calibri (MS) Italics"/>
                <a:cs typeface="Calibri (MS) Italics"/>
                <a:sym typeface="Calibri (MS) Italics"/>
              </a:rPr>
              <a:t>Some belong to more than one. Discuss, then we'll reveal the answer.</a:t>
            </a:r>
          </a:p>
        </p:txBody>
      </p:sp>
      <p:grpSp>
        <p:nvGrpSpPr>
          <p:cNvPr name="Group 17" id="17"/>
          <p:cNvGrpSpPr/>
          <p:nvPr/>
        </p:nvGrpSpPr>
        <p:grpSpPr>
          <a:xfrm rot="0">
            <a:off x="950595" y="7122795"/>
            <a:ext cx="5162550" cy="910590"/>
            <a:chOff x="0" y="0"/>
            <a:chExt cx="6883400" cy="1214120"/>
          </a:xfrm>
        </p:grpSpPr>
        <p:sp>
          <p:nvSpPr>
            <p:cNvPr name="Freeform 18" id="18"/>
            <p:cNvSpPr/>
            <p:nvPr/>
          </p:nvSpPr>
          <p:spPr>
            <a:xfrm flipH="false" flipV="false" rot="0">
              <a:off x="0" y="0"/>
              <a:ext cx="6883400" cy="1214120"/>
            </a:xfrm>
            <a:custGeom>
              <a:avLst/>
              <a:gdLst/>
              <a:ahLst/>
              <a:cxnLst/>
              <a:rect r="r" b="b" t="t" l="l"/>
              <a:pathLst>
                <a:path h="1214120" w="6883400">
                  <a:moveTo>
                    <a:pt x="0" y="168148"/>
                  </a:moveTo>
                  <a:cubicBezTo>
                    <a:pt x="0" y="75311"/>
                    <a:pt x="75311" y="0"/>
                    <a:pt x="168148" y="0"/>
                  </a:cubicBezTo>
                  <a:lnTo>
                    <a:pt x="6715252" y="0"/>
                  </a:lnTo>
                  <a:cubicBezTo>
                    <a:pt x="6808089" y="0"/>
                    <a:pt x="6883400" y="75311"/>
                    <a:pt x="6883400" y="168148"/>
                  </a:cubicBezTo>
                  <a:lnTo>
                    <a:pt x="6883400" y="1045972"/>
                  </a:lnTo>
                  <a:cubicBezTo>
                    <a:pt x="6883400" y="1138809"/>
                    <a:pt x="6808089" y="1214120"/>
                    <a:pt x="6715252" y="1214120"/>
                  </a:cubicBezTo>
                  <a:lnTo>
                    <a:pt x="168148" y="1214120"/>
                  </a:lnTo>
                  <a:cubicBezTo>
                    <a:pt x="75311" y="1214120"/>
                    <a:pt x="0" y="1138809"/>
                    <a:pt x="0" y="1045972"/>
                  </a:cubicBezTo>
                  <a:close/>
                </a:path>
              </a:pathLst>
            </a:custGeom>
            <a:solidFill>
              <a:srgbClr val="F4F7FC"/>
            </a:solidFill>
            <a:ln w="19050" cap="sq">
              <a:solidFill>
                <a:srgbClr val="D7DCEC"/>
              </a:solidFill>
              <a:prstDash val="solid"/>
              <a:miter/>
            </a:ln>
          </p:spPr>
        </p:sp>
      </p:grpSp>
      <p:grpSp>
        <p:nvGrpSpPr>
          <p:cNvPr name="Group 19" id="19"/>
          <p:cNvGrpSpPr/>
          <p:nvPr/>
        </p:nvGrpSpPr>
        <p:grpSpPr>
          <a:xfrm rot="0">
            <a:off x="960120" y="7200900"/>
            <a:ext cx="5143500" cy="589788"/>
            <a:chOff x="0" y="0"/>
            <a:chExt cx="6858000" cy="786384"/>
          </a:xfrm>
        </p:grpSpPr>
        <p:sp>
          <p:nvSpPr>
            <p:cNvPr name="Freeform 20" id="20"/>
            <p:cNvSpPr/>
            <p:nvPr/>
          </p:nvSpPr>
          <p:spPr>
            <a:xfrm flipH="false" flipV="false" rot="0">
              <a:off x="0" y="0"/>
              <a:ext cx="6858000" cy="786384"/>
            </a:xfrm>
            <a:custGeom>
              <a:avLst/>
              <a:gdLst/>
              <a:ahLst/>
              <a:cxnLst/>
              <a:rect r="r" b="b" t="t" l="l"/>
              <a:pathLst>
                <a:path h="786384" w="6858000">
                  <a:moveTo>
                    <a:pt x="0" y="0"/>
                  </a:moveTo>
                  <a:lnTo>
                    <a:pt x="6858000" y="0"/>
                  </a:lnTo>
                  <a:lnTo>
                    <a:pt x="6858000" y="786384"/>
                  </a:lnTo>
                  <a:lnTo>
                    <a:pt x="0" y="786384"/>
                  </a:lnTo>
                  <a:close/>
                </a:path>
              </a:pathLst>
            </a:custGeom>
            <a:blipFill>
              <a:blip r:embed="rId2">
                <a:alphaModFix amt="0"/>
              </a:blip>
              <a:stretch>
                <a:fillRect l="0" t="-119927" r="0" b="-119927"/>
              </a:stretch>
            </a:blipFill>
          </p:spPr>
        </p:sp>
        <p:sp>
          <p:nvSpPr>
            <p:cNvPr name="TextBox 21" id="21"/>
            <p:cNvSpPr txBox="true"/>
            <p:nvPr/>
          </p:nvSpPr>
          <p:spPr>
            <a:xfrm>
              <a:off x="0" y="-38100"/>
              <a:ext cx="6858000" cy="824484"/>
            </a:xfrm>
            <a:prstGeom prst="rect">
              <a:avLst/>
            </a:prstGeom>
          </p:spPr>
          <p:txBody>
            <a:bodyPr anchor="ctr" rtlCol="false" tIns="0" lIns="0" bIns="0" rIns="0"/>
            <a:lstStyle/>
            <a:p>
              <a:pPr algn="ctr">
                <a:lnSpc>
                  <a:spcPts val="2430"/>
                </a:lnSpc>
              </a:pPr>
              <a:r>
                <a:rPr lang="en-US" sz="2025">
                  <a:solidFill>
                    <a:srgbClr val="6B7280"/>
                  </a:solidFill>
                  <a:latin typeface="Calibri (MS)"/>
                  <a:ea typeface="Calibri (MS)"/>
                  <a:cs typeface="Calibri (MS)"/>
                  <a:sym typeface="Calibri (MS)"/>
                </a:rPr>
                <a:t>Govern</a:t>
              </a:r>
            </a:p>
          </p:txBody>
        </p:sp>
      </p:grpSp>
      <p:grpSp>
        <p:nvGrpSpPr>
          <p:cNvPr name="Group 22" id="22"/>
          <p:cNvGrpSpPr/>
          <p:nvPr/>
        </p:nvGrpSpPr>
        <p:grpSpPr>
          <a:xfrm rot="0">
            <a:off x="960120" y="7639812"/>
            <a:ext cx="5143500" cy="329184"/>
            <a:chOff x="0" y="0"/>
            <a:chExt cx="6858000" cy="438912"/>
          </a:xfrm>
        </p:grpSpPr>
        <p:sp>
          <p:nvSpPr>
            <p:cNvPr name="Freeform 23" id="23"/>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24" id="24"/>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9AA3B8"/>
                  </a:solidFill>
                  <a:latin typeface="Arimo"/>
                  <a:ea typeface="Arimo"/>
                  <a:cs typeface="Arimo"/>
                  <a:sym typeface="Arimo"/>
                </a:rPr>
                <a:t>GV</a:t>
              </a:r>
            </a:p>
          </p:txBody>
        </p:sp>
      </p:grpSp>
      <p:grpSp>
        <p:nvGrpSpPr>
          <p:cNvPr name="Group 25" id="25"/>
          <p:cNvGrpSpPr/>
          <p:nvPr/>
        </p:nvGrpSpPr>
        <p:grpSpPr>
          <a:xfrm rot="0">
            <a:off x="6533007" y="7122795"/>
            <a:ext cx="5162550" cy="910590"/>
            <a:chOff x="0" y="0"/>
            <a:chExt cx="6883400" cy="1214120"/>
          </a:xfrm>
        </p:grpSpPr>
        <p:sp>
          <p:nvSpPr>
            <p:cNvPr name="Freeform 26" id="26"/>
            <p:cNvSpPr/>
            <p:nvPr/>
          </p:nvSpPr>
          <p:spPr>
            <a:xfrm flipH="false" flipV="false" rot="0">
              <a:off x="0" y="0"/>
              <a:ext cx="6883400" cy="1214120"/>
            </a:xfrm>
            <a:custGeom>
              <a:avLst/>
              <a:gdLst/>
              <a:ahLst/>
              <a:cxnLst/>
              <a:rect r="r" b="b" t="t" l="l"/>
              <a:pathLst>
                <a:path h="1214120" w="6883400">
                  <a:moveTo>
                    <a:pt x="0" y="168148"/>
                  </a:moveTo>
                  <a:cubicBezTo>
                    <a:pt x="0" y="75311"/>
                    <a:pt x="75311" y="0"/>
                    <a:pt x="168148" y="0"/>
                  </a:cubicBezTo>
                  <a:lnTo>
                    <a:pt x="6715252" y="0"/>
                  </a:lnTo>
                  <a:cubicBezTo>
                    <a:pt x="6808089" y="0"/>
                    <a:pt x="6883400" y="75311"/>
                    <a:pt x="6883400" y="168148"/>
                  </a:cubicBezTo>
                  <a:lnTo>
                    <a:pt x="6883400" y="1045972"/>
                  </a:lnTo>
                  <a:cubicBezTo>
                    <a:pt x="6883400" y="1138809"/>
                    <a:pt x="6808089" y="1214120"/>
                    <a:pt x="6715252" y="1214120"/>
                  </a:cubicBezTo>
                  <a:lnTo>
                    <a:pt x="168148" y="1214120"/>
                  </a:lnTo>
                  <a:cubicBezTo>
                    <a:pt x="75311" y="1214120"/>
                    <a:pt x="0" y="1138809"/>
                    <a:pt x="0" y="1045972"/>
                  </a:cubicBezTo>
                  <a:close/>
                </a:path>
              </a:pathLst>
            </a:custGeom>
            <a:solidFill>
              <a:srgbClr val="F4F7FC"/>
            </a:solidFill>
            <a:ln w="19050" cap="sq">
              <a:solidFill>
                <a:srgbClr val="D7DCEC"/>
              </a:solidFill>
              <a:prstDash val="solid"/>
              <a:miter/>
            </a:ln>
          </p:spPr>
        </p:sp>
      </p:grpSp>
      <p:grpSp>
        <p:nvGrpSpPr>
          <p:cNvPr name="Group 27" id="27"/>
          <p:cNvGrpSpPr/>
          <p:nvPr/>
        </p:nvGrpSpPr>
        <p:grpSpPr>
          <a:xfrm rot="0">
            <a:off x="6542532" y="7200900"/>
            <a:ext cx="5143500" cy="589788"/>
            <a:chOff x="0" y="0"/>
            <a:chExt cx="6858000" cy="786384"/>
          </a:xfrm>
        </p:grpSpPr>
        <p:sp>
          <p:nvSpPr>
            <p:cNvPr name="Freeform 28" id="28"/>
            <p:cNvSpPr/>
            <p:nvPr/>
          </p:nvSpPr>
          <p:spPr>
            <a:xfrm flipH="false" flipV="false" rot="0">
              <a:off x="0" y="0"/>
              <a:ext cx="6858000" cy="786384"/>
            </a:xfrm>
            <a:custGeom>
              <a:avLst/>
              <a:gdLst/>
              <a:ahLst/>
              <a:cxnLst/>
              <a:rect r="r" b="b" t="t" l="l"/>
              <a:pathLst>
                <a:path h="786384" w="6858000">
                  <a:moveTo>
                    <a:pt x="0" y="0"/>
                  </a:moveTo>
                  <a:lnTo>
                    <a:pt x="6858000" y="0"/>
                  </a:lnTo>
                  <a:lnTo>
                    <a:pt x="6858000" y="786384"/>
                  </a:lnTo>
                  <a:lnTo>
                    <a:pt x="0" y="786384"/>
                  </a:lnTo>
                  <a:close/>
                </a:path>
              </a:pathLst>
            </a:custGeom>
            <a:blipFill>
              <a:blip r:embed="rId2">
                <a:alphaModFix amt="0"/>
              </a:blip>
              <a:stretch>
                <a:fillRect l="0" t="-119927" r="0" b="-119927"/>
              </a:stretch>
            </a:blipFill>
          </p:spPr>
        </p:sp>
        <p:sp>
          <p:nvSpPr>
            <p:cNvPr name="TextBox 29" id="29"/>
            <p:cNvSpPr txBox="true"/>
            <p:nvPr/>
          </p:nvSpPr>
          <p:spPr>
            <a:xfrm>
              <a:off x="0" y="-38100"/>
              <a:ext cx="6858000" cy="824484"/>
            </a:xfrm>
            <a:prstGeom prst="rect">
              <a:avLst/>
            </a:prstGeom>
          </p:spPr>
          <p:txBody>
            <a:bodyPr anchor="ctr" rtlCol="false" tIns="0" lIns="0" bIns="0" rIns="0"/>
            <a:lstStyle/>
            <a:p>
              <a:pPr algn="ctr">
                <a:lnSpc>
                  <a:spcPts val="2430"/>
                </a:lnSpc>
              </a:pPr>
              <a:r>
                <a:rPr lang="en-US" sz="2025">
                  <a:solidFill>
                    <a:srgbClr val="6B7280"/>
                  </a:solidFill>
                  <a:latin typeface="Calibri (MS)"/>
                  <a:ea typeface="Calibri (MS)"/>
                  <a:cs typeface="Calibri (MS)"/>
                  <a:sym typeface="Calibri (MS)"/>
                </a:rPr>
                <a:t>Identify</a:t>
              </a:r>
            </a:p>
          </p:txBody>
        </p:sp>
      </p:grpSp>
      <p:grpSp>
        <p:nvGrpSpPr>
          <p:cNvPr name="Group 30" id="30"/>
          <p:cNvGrpSpPr/>
          <p:nvPr/>
        </p:nvGrpSpPr>
        <p:grpSpPr>
          <a:xfrm rot="0">
            <a:off x="6542532" y="7639812"/>
            <a:ext cx="5143500" cy="329184"/>
            <a:chOff x="0" y="0"/>
            <a:chExt cx="6858000" cy="438912"/>
          </a:xfrm>
        </p:grpSpPr>
        <p:sp>
          <p:nvSpPr>
            <p:cNvPr name="Freeform 31" id="31"/>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32" id="32"/>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9AA3B8"/>
                  </a:solidFill>
                  <a:latin typeface="Arimo"/>
                  <a:ea typeface="Arimo"/>
                  <a:cs typeface="Arimo"/>
                  <a:sym typeface="Arimo"/>
                </a:rPr>
                <a:t>ID</a:t>
              </a:r>
            </a:p>
          </p:txBody>
        </p:sp>
      </p:grpSp>
      <p:grpSp>
        <p:nvGrpSpPr>
          <p:cNvPr name="Group 33" id="33"/>
          <p:cNvGrpSpPr/>
          <p:nvPr/>
        </p:nvGrpSpPr>
        <p:grpSpPr>
          <a:xfrm rot="0">
            <a:off x="12115419" y="7122795"/>
            <a:ext cx="5162550" cy="910590"/>
            <a:chOff x="0" y="0"/>
            <a:chExt cx="6883400" cy="1214120"/>
          </a:xfrm>
        </p:grpSpPr>
        <p:sp>
          <p:nvSpPr>
            <p:cNvPr name="Freeform 34" id="34"/>
            <p:cNvSpPr/>
            <p:nvPr/>
          </p:nvSpPr>
          <p:spPr>
            <a:xfrm flipH="false" flipV="false" rot="0">
              <a:off x="0" y="0"/>
              <a:ext cx="6883400" cy="1214120"/>
            </a:xfrm>
            <a:custGeom>
              <a:avLst/>
              <a:gdLst/>
              <a:ahLst/>
              <a:cxnLst/>
              <a:rect r="r" b="b" t="t" l="l"/>
              <a:pathLst>
                <a:path h="1214120" w="6883400">
                  <a:moveTo>
                    <a:pt x="0" y="168148"/>
                  </a:moveTo>
                  <a:cubicBezTo>
                    <a:pt x="0" y="75311"/>
                    <a:pt x="75311" y="0"/>
                    <a:pt x="168148" y="0"/>
                  </a:cubicBezTo>
                  <a:lnTo>
                    <a:pt x="6715252" y="0"/>
                  </a:lnTo>
                  <a:cubicBezTo>
                    <a:pt x="6808089" y="0"/>
                    <a:pt x="6883400" y="75311"/>
                    <a:pt x="6883400" y="168148"/>
                  </a:cubicBezTo>
                  <a:lnTo>
                    <a:pt x="6883400" y="1045972"/>
                  </a:lnTo>
                  <a:cubicBezTo>
                    <a:pt x="6883400" y="1138809"/>
                    <a:pt x="6808089" y="1214120"/>
                    <a:pt x="6715252" y="1214120"/>
                  </a:cubicBezTo>
                  <a:lnTo>
                    <a:pt x="168148" y="1214120"/>
                  </a:lnTo>
                  <a:cubicBezTo>
                    <a:pt x="75311" y="1214120"/>
                    <a:pt x="0" y="1138809"/>
                    <a:pt x="0" y="1045972"/>
                  </a:cubicBezTo>
                  <a:close/>
                </a:path>
              </a:pathLst>
            </a:custGeom>
            <a:solidFill>
              <a:srgbClr val="F4F7FC"/>
            </a:solidFill>
            <a:ln w="19050" cap="sq">
              <a:solidFill>
                <a:srgbClr val="D7DCEC"/>
              </a:solidFill>
              <a:prstDash val="solid"/>
              <a:miter/>
            </a:ln>
          </p:spPr>
        </p:sp>
      </p:grpSp>
      <p:grpSp>
        <p:nvGrpSpPr>
          <p:cNvPr name="Group 35" id="35"/>
          <p:cNvGrpSpPr/>
          <p:nvPr/>
        </p:nvGrpSpPr>
        <p:grpSpPr>
          <a:xfrm rot="0">
            <a:off x="12124944" y="7200900"/>
            <a:ext cx="5143500" cy="589788"/>
            <a:chOff x="0" y="0"/>
            <a:chExt cx="6858000" cy="786384"/>
          </a:xfrm>
        </p:grpSpPr>
        <p:sp>
          <p:nvSpPr>
            <p:cNvPr name="Freeform 36" id="36"/>
            <p:cNvSpPr/>
            <p:nvPr/>
          </p:nvSpPr>
          <p:spPr>
            <a:xfrm flipH="false" flipV="false" rot="0">
              <a:off x="0" y="0"/>
              <a:ext cx="6858000" cy="786384"/>
            </a:xfrm>
            <a:custGeom>
              <a:avLst/>
              <a:gdLst/>
              <a:ahLst/>
              <a:cxnLst/>
              <a:rect r="r" b="b" t="t" l="l"/>
              <a:pathLst>
                <a:path h="786384" w="6858000">
                  <a:moveTo>
                    <a:pt x="0" y="0"/>
                  </a:moveTo>
                  <a:lnTo>
                    <a:pt x="6858000" y="0"/>
                  </a:lnTo>
                  <a:lnTo>
                    <a:pt x="6858000" y="786384"/>
                  </a:lnTo>
                  <a:lnTo>
                    <a:pt x="0" y="786384"/>
                  </a:lnTo>
                  <a:close/>
                </a:path>
              </a:pathLst>
            </a:custGeom>
            <a:blipFill>
              <a:blip r:embed="rId2">
                <a:alphaModFix amt="0"/>
              </a:blip>
              <a:stretch>
                <a:fillRect l="0" t="-119927" r="0" b="-119927"/>
              </a:stretch>
            </a:blipFill>
          </p:spPr>
        </p:sp>
        <p:sp>
          <p:nvSpPr>
            <p:cNvPr name="TextBox 37" id="37"/>
            <p:cNvSpPr txBox="true"/>
            <p:nvPr/>
          </p:nvSpPr>
          <p:spPr>
            <a:xfrm>
              <a:off x="0" y="-38100"/>
              <a:ext cx="6858000" cy="824484"/>
            </a:xfrm>
            <a:prstGeom prst="rect">
              <a:avLst/>
            </a:prstGeom>
          </p:spPr>
          <p:txBody>
            <a:bodyPr anchor="ctr" rtlCol="false" tIns="0" lIns="0" bIns="0" rIns="0"/>
            <a:lstStyle/>
            <a:p>
              <a:pPr algn="ctr">
                <a:lnSpc>
                  <a:spcPts val="2430"/>
                </a:lnSpc>
              </a:pPr>
              <a:r>
                <a:rPr lang="en-US" sz="2025">
                  <a:solidFill>
                    <a:srgbClr val="6B7280"/>
                  </a:solidFill>
                  <a:latin typeface="Calibri (MS)"/>
                  <a:ea typeface="Calibri (MS)"/>
                  <a:cs typeface="Calibri (MS)"/>
                  <a:sym typeface="Calibri (MS)"/>
                </a:rPr>
                <a:t>Protect</a:t>
              </a:r>
            </a:p>
          </p:txBody>
        </p:sp>
      </p:grpSp>
      <p:grpSp>
        <p:nvGrpSpPr>
          <p:cNvPr name="Group 38" id="38"/>
          <p:cNvGrpSpPr/>
          <p:nvPr/>
        </p:nvGrpSpPr>
        <p:grpSpPr>
          <a:xfrm rot="0">
            <a:off x="12124944" y="7639812"/>
            <a:ext cx="5143500" cy="329184"/>
            <a:chOff x="0" y="0"/>
            <a:chExt cx="6858000" cy="438912"/>
          </a:xfrm>
        </p:grpSpPr>
        <p:sp>
          <p:nvSpPr>
            <p:cNvPr name="Freeform 39" id="39"/>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40" id="40"/>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9AA3B8"/>
                  </a:solidFill>
                  <a:latin typeface="Arimo"/>
                  <a:ea typeface="Arimo"/>
                  <a:cs typeface="Arimo"/>
                  <a:sym typeface="Arimo"/>
                </a:rPr>
                <a:t>PR</a:t>
              </a:r>
            </a:p>
          </p:txBody>
        </p:sp>
      </p:grpSp>
      <p:grpSp>
        <p:nvGrpSpPr>
          <p:cNvPr name="Group 41" id="41"/>
          <p:cNvGrpSpPr/>
          <p:nvPr/>
        </p:nvGrpSpPr>
        <p:grpSpPr>
          <a:xfrm rot="0">
            <a:off x="950595" y="8288655"/>
            <a:ext cx="5162550" cy="910590"/>
            <a:chOff x="0" y="0"/>
            <a:chExt cx="6883400" cy="1214120"/>
          </a:xfrm>
        </p:grpSpPr>
        <p:sp>
          <p:nvSpPr>
            <p:cNvPr name="Freeform 42" id="42"/>
            <p:cNvSpPr/>
            <p:nvPr/>
          </p:nvSpPr>
          <p:spPr>
            <a:xfrm flipH="false" flipV="false" rot="0">
              <a:off x="0" y="0"/>
              <a:ext cx="6883400" cy="1214120"/>
            </a:xfrm>
            <a:custGeom>
              <a:avLst/>
              <a:gdLst/>
              <a:ahLst/>
              <a:cxnLst/>
              <a:rect r="r" b="b" t="t" l="l"/>
              <a:pathLst>
                <a:path h="1214120" w="6883400">
                  <a:moveTo>
                    <a:pt x="0" y="168148"/>
                  </a:moveTo>
                  <a:cubicBezTo>
                    <a:pt x="0" y="75311"/>
                    <a:pt x="75311" y="0"/>
                    <a:pt x="168148" y="0"/>
                  </a:cubicBezTo>
                  <a:lnTo>
                    <a:pt x="6715252" y="0"/>
                  </a:lnTo>
                  <a:cubicBezTo>
                    <a:pt x="6808089" y="0"/>
                    <a:pt x="6883400" y="75311"/>
                    <a:pt x="6883400" y="168148"/>
                  </a:cubicBezTo>
                  <a:lnTo>
                    <a:pt x="6883400" y="1045972"/>
                  </a:lnTo>
                  <a:cubicBezTo>
                    <a:pt x="6883400" y="1138809"/>
                    <a:pt x="6808089" y="1214120"/>
                    <a:pt x="6715252" y="1214120"/>
                  </a:cubicBezTo>
                  <a:lnTo>
                    <a:pt x="168148" y="1214120"/>
                  </a:lnTo>
                  <a:cubicBezTo>
                    <a:pt x="75311" y="1214120"/>
                    <a:pt x="0" y="1138809"/>
                    <a:pt x="0" y="1045972"/>
                  </a:cubicBezTo>
                  <a:close/>
                </a:path>
              </a:pathLst>
            </a:custGeom>
            <a:solidFill>
              <a:srgbClr val="F4F7FC"/>
            </a:solidFill>
            <a:ln w="19050" cap="sq">
              <a:solidFill>
                <a:srgbClr val="D7DCEC"/>
              </a:solidFill>
              <a:prstDash val="solid"/>
              <a:miter/>
            </a:ln>
          </p:spPr>
        </p:sp>
      </p:grpSp>
      <p:grpSp>
        <p:nvGrpSpPr>
          <p:cNvPr name="Group 43" id="43"/>
          <p:cNvGrpSpPr/>
          <p:nvPr/>
        </p:nvGrpSpPr>
        <p:grpSpPr>
          <a:xfrm rot="0">
            <a:off x="960120" y="8366760"/>
            <a:ext cx="5143500" cy="589788"/>
            <a:chOff x="0" y="0"/>
            <a:chExt cx="6858000" cy="786384"/>
          </a:xfrm>
        </p:grpSpPr>
        <p:sp>
          <p:nvSpPr>
            <p:cNvPr name="Freeform 44" id="44"/>
            <p:cNvSpPr/>
            <p:nvPr/>
          </p:nvSpPr>
          <p:spPr>
            <a:xfrm flipH="false" flipV="false" rot="0">
              <a:off x="0" y="0"/>
              <a:ext cx="6858000" cy="786384"/>
            </a:xfrm>
            <a:custGeom>
              <a:avLst/>
              <a:gdLst/>
              <a:ahLst/>
              <a:cxnLst/>
              <a:rect r="r" b="b" t="t" l="l"/>
              <a:pathLst>
                <a:path h="786384" w="6858000">
                  <a:moveTo>
                    <a:pt x="0" y="0"/>
                  </a:moveTo>
                  <a:lnTo>
                    <a:pt x="6858000" y="0"/>
                  </a:lnTo>
                  <a:lnTo>
                    <a:pt x="6858000" y="786384"/>
                  </a:lnTo>
                  <a:lnTo>
                    <a:pt x="0" y="786384"/>
                  </a:lnTo>
                  <a:close/>
                </a:path>
              </a:pathLst>
            </a:custGeom>
            <a:blipFill>
              <a:blip r:embed="rId2">
                <a:alphaModFix amt="0"/>
              </a:blip>
              <a:stretch>
                <a:fillRect l="0" t="-119927" r="0" b="-119927"/>
              </a:stretch>
            </a:blipFill>
          </p:spPr>
        </p:sp>
        <p:sp>
          <p:nvSpPr>
            <p:cNvPr name="TextBox 45" id="45"/>
            <p:cNvSpPr txBox="true"/>
            <p:nvPr/>
          </p:nvSpPr>
          <p:spPr>
            <a:xfrm>
              <a:off x="0" y="-38100"/>
              <a:ext cx="6858000" cy="824484"/>
            </a:xfrm>
            <a:prstGeom prst="rect">
              <a:avLst/>
            </a:prstGeom>
          </p:spPr>
          <p:txBody>
            <a:bodyPr anchor="ctr" rtlCol="false" tIns="0" lIns="0" bIns="0" rIns="0"/>
            <a:lstStyle/>
            <a:p>
              <a:pPr algn="ctr">
                <a:lnSpc>
                  <a:spcPts val="2430"/>
                </a:lnSpc>
              </a:pPr>
              <a:r>
                <a:rPr lang="en-US" sz="2025">
                  <a:solidFill>
                    <a:srgbClr val="6B7280"/>
                  </a:solidFill>
                  <a:latin typeface="Calibri (MS)"/>
                  <a:ea typeface="Calibri (MS)"/>
                  <a:cs typeface="Calibri (MS)"/>
                  <a:sym typeface="Calibri (MS)"/>
                </a:rPr>
                <a:t>Detect</a:t>
              </a:r>
            </a:p>
          </p:txBody>
        </p:sp>
      </p:grpSp>
      <p:grpSp>
        <p:nvGrpSpPr>
          <p:cNvPr name="Group 46" id="46"/>
          <p:cNvGrpSpPr/>
          <p:nvPr/>
        </p:nvGrpSpPr>
        <p:grpSpPr>
          <a:xfrm rot="0">
            <a:off x="960120" y="8805672"/>
            <a:ext cx="5143500" cy="329184"/>
            <a:chOff x="0" y="0"/>
            <a:chExt cx="6858000" cy="438912"/>
          </a:xfrm>
        </p:grpSpPr>
        <p:sp>
          <p:nvSpPr>
            <p:cNvPr name="Freeform 47" id="47"/>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48" id="48"/>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9AA3B8"/>
                  </a:solidFill>
                  <a:latin typeface="Arimo"/>
                  <a:ea typeface="Arimo"/>
                  <a:cs typeface="Arimo"/>
                  <a:sym typeface="Arimo"/>
                </a:rPr>
                <a:t>DE</a:t>
              </a:r>
            </a:p>
          </p:txBody>
        </p:sp>
      </p:grpSp>
      <p:grpSp>
        <p:nvGrpSpPr>
          <p:cNvPr name="Group 49" id="49"/>
          <p:cNvGrpSpPr/>
          <p:nvPr/>
        </p:nvGrpSpPr>
        <p:grpSpPr>
          <a:xfrm rot="0">
            <a:off x="6533007" y="8288655"/>
            <a:ext cx="5162550" cy="910590"/>
            <a:chOff x="0" y="0"/>
            <a:chExt cx="6883400" cy="1214120"/>
          </a:xfrm>
        </p:grpSpPr>
        <p:sp>
          <p:nvSpPr>
            <p:cNvPr name="Freeform 50" id="50"/>
            <p:cNvSpPr/>
            <p:nvPr/>
          </p:nvSpPr>
          <p:spPr>
            <a:xfrm flipH="false" flipV="false" rot="0">
              <a:off x="0" y="0"/>
              <a:ext cx="6883400" cy="1214120"/>
            </a:xfrm>
            <a:custGeom>
              <a:avLst/>
              <a:gdLst/>
              <a:ahLst/>
              <a:cxnLst/>
              <a:rect r="r" b="b" t="t" l="l"/>
              <a:pathLst>
                <a:path h="1214120" w="6883400">
                  <a:moveTo>
                    <a:pt x="0" y="168148"/>
                  </a:moveTo>
                  <a:cubicBezTo>
                    <a:pt x="0" y="75311"/>
                    <a:pt x="75311" y="0"/>
                    <a:pt x="168148" y="0"/>
                  </a:cubicBezTo>
                  <a:lnTo>
                    <a:pt x="6715252" y="0"/>
                  </a:lnTo>
                  <a:cubicBezTo>
                    <a:pt x="6808089" y="0"/>
                    <a:pt x="6883400" y="75311"/>
                    <a:pt x="6883400" y="168148"/>
                  </a:cubicBezTo>
                  <a:lnTo>
                    <a:pt x="6883400" y="1045972"/>
                  </a:lnTo>
                  <a:cubicBezTo>
                    <a:pt x="6883400" y="1138809"/>
                    <a:pt x="6808089" y="1214120"/>
                    <a:pt x="6715252" y="1214120"/>
                  </a:cubicBezTo>
                  <a:lnTo>
                    <a:pt x="168148" y="1214120"/>
                  </a:lnTo>
                  <a:cubicBezTo>
                    <a:pt x="75311" y="1214120"/>
                    <a:pt x="0" y="1138809"/>
                    <a:pt x="0" y="1045972"/>
                  </a:cubicBezTo>
                  <a:close/>
                </a:path>
              </a:pathLst>
            </a:custGeom>
            <a:solidFill>
              <a:srgbClr val="F4F7FC"/>
            </a:solidFill>
            <a:ln w="19050" cap="sq">
              <a:solidFill>
                <a:srgbClr val="D7DCEC"/>
              </a:solidFill>
              <a:prstDash val="solid"/>
              <a:miter/>
            </a:ln>
          </p:spPr>
        </p:sp>
      </p:grpSp>
      <p:grpSp>
        <p:nvGrpSpPr>
          <p:cNvPr name="Group 51" id="51"/>
          <p:cNvGrpSpPr/>
          <p:nvPr/>
        </p:nvGrpSpPr>
        <p:grpSpPr>
          <a:xfrm rot="0">
            <a:off x="6542532" y="8366760"/>
            <a:ext cx="5143500" cy="589788"/>
            <a:chOff x="0" y="0"/>
            <a:chExt cx="6858000" cy="786384"/>
          </a:xfrm>
        </p:grpSpPr>
        <p:sp>
          <p:nvSpPr>
            <p:cNvPr name="Freeform 52" id="52"/>
            <p:cNvSpPr/>
            <p:nvPr/>
          </p:nvSpPr>
          <p:spPr>
            <a:xfrm flipH="false" flipV="false" rot="0">
              <a:off x="0" y="0"/>
              <a:ext cx="6858000" cy="786384"/>
            </a:xfrm>
            <a:custGeom>
              <a:avLst/>
              <a:gdLst/>
              <a:ahLst/>
              <a:cxnLst/>
              <a:rect r="r" b="b" t="t" l="l"/>
              <a:pathLst>
                <a:path h="786384" w="6858000">
                  <a:moveTo>
                    <a:pt x="0" y="0"/>
                  </a:moveTo>
                  <a:lnTo>
                    <a:pt x="6858000" y="0"/>
                  </a:lnTo>
                  <a:lnTo>
                    <a:pt x="6858000" y="786384"/>
                  </a:lnTo>
                  <a:lnTo>
                    <a:pt x="0" y="786384"/>
                  </a:lnTo>
                  <a:close/>
                </a:path>
              </a:pathLst>
            </a:custGeom>
            <a:blipFill>
              <a:blip r:embed="rId2">
                <a:alphaModFix amt="0"/>
              </a:blip>
              <a:stretch>
                <a:fillRect l="0" t="-119927" r="0" b="-119927"/>
              </a:stretch>
            </a:blipFill>
          </p:spPr>
        </p:sp>
        <p:sp>
          <p:nvSpPr>
            <p:cNvPr name="TextBox 53" id="53"/>
            <p:cNvSpPr txBox="true"/>
            <p:nvPr/>
          </p:nvSpPr>
          <p:spPr>
            <a:xfrm>
              <a:off x="0" y="-38100"/>
              <a:ext cx="6858000" cy="824484"/>
            </a:xfrm>
            <a:prstGeom prst="rect">
              <a:avLst/>
            </a:prstGeom>
          </p:spPr>
          <p:txBody>
            <a:bodyPr anchor="ctr" rtlCol="false" tIns="0" lIns="0" bIns="0" rIns="0"/>
            <a:lstStyle/>
            <a:p>
              <a:pPr algn="ctr">
                <a:lnSpc>
                  <a:spcPts val="2430"/>
                </a:lnSpc>
              </a:pPr>
              <a:r>
                <a:rPr lang="en-US" sz="2025">
                  <a:solidFill>
                    <a:srgbClr val="6B7280"/>
                  </a:solidFill>
                  <a:latin typeface="Calibri (MS)"/>
                  <a:ea typeface="Calibri (MS)"/>
                  <a:cs typeface="Calibri (MS)"/>
                  <a:sym typeface="Calibri (MS)"/>
                </a:rPr>
                <a:t>Respond</a:t>
              </a:r>
            </a:p>
          </p:txBody>
        </p:sp>
      </p:grpSp>
      <p:grpSp>
        <p:nvGrpSpPr>
          <p:cNvPr name="Group 54" id="54"/>
          <p:cNvGrpSpPr/>
          <p:nvPr/>
        </p:nvGrpSpPr>
        <p:grpSpPr>
          <a:xfrm rot="0">
            <a:off x="6542532" y="8805672"/>
            <a:ext cx="5143500" cy="329184"/>
            <a:chOff x="0" y="0"/>
            <a:chExt cx="6858000" cy="438912"/>
          </a:xfrm>
        </p:grpSpPr>
        <p:sp>
          <p:nvSpPr>
            <p:cNvPr name="Freeform 55" id="55"/>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56" id="56"/>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9AA3B8"/>
                  </a:solidFill>
                  <a:latin typeface="Arimo"/>
                  <a:ea typeface="Arimo"/>
                  <a:cs typeface="Arimo"/>
                  <a:sym typeface="Arimo"/>
                </a:rPr>
                <a:t>RS</a:t>
              </a:r>
            </a:p>
          </p:txBody>
        </p:sp>
      </p:grpSp>
      <p:grpSp>
        <p:nvGrpSpPr>
          <p:cNvPr name="Group 57" id="57"/>
          <p:cNvGrpSpPr/>
          <p:nvPr/>
        </p:nvGrpSpPr>
        <p:grpSpPr>
          <a:xfrm rot="0">
            <a:off x="12115419" y="8288655"/>
            <a:ext cx="5162550" cy="910590"/>
            <a:chOff x="0" y="0"/>
            <a:chExt cx="6883400" cy="1214120"/>
          </a:xfrm>
        </p:grpSpPr>
        <p:sp>
          <p:nvSpPr>
            <p:cNvPr name="Freeform 58" id="58"/>
            <p:cNvSpPr/>
            <p:nvPr/>
          </p:nvSpPr>
          <p:spPr>
            <a:xfrm flipH="false" flipV="false" rot="0">
              <a:off x="0" y="0"/>
              <a:ext cx="6883400" cy="1214120"/>
            </a:xfrm>
            <a:custGeom>
              <a:avLst/>
              <a:gdLst/>
              <a:ahLst/>
              <a:cxnLst/>
              <a:rect r="r" b="b" t="t" l="l"/>
              <a:pathLst>
                <a:path h="1214120" w="6883400">
                  <a:moveTo>
                    <a:pt x="0" y="168148"/>
                  </a:moveTo>
                  <a:cubicBezTo>
                    <a:pt x="0" y="75311"/>
                    <a:pt x="75311" y="0"/>
                    <a:pt x="168148" y="0"/>
                  </a:cubicBezTo>
                  <a:lnTo>
                    <a:pt x="6715252" y="0"/>
                  </a:lnTo>
                  <a:cubicBezTo>
                    <a:pt x="6808089" y="0"/>
                    <a:pt x="6883400" y="75311"/>
                    <a:pt x="6883400" y="168148"/>
                  </a:cubicBezTo>
                  <a:lnTo>
                    <a:pt x="6883400" y="1045972"/>
                  </a:lnTo>
                  <a:cubicBezTo>
                    <a:pt x="6883400" y="1138809"/>
                    <a:pt x="6808089" y="1214120"/>
                    <a:pt x="6715252" y="1214120"/>
                  </a:cubicBezTo>
                  <a:lnTo>
                    <a:pt x="168148" y="1214120"/>
                  </a:lnTo>
                  <a:cubicBezTo>
                    <a:pt x="75311" y="1214120"/>
                    <a:pt x="0" y="1138809"/>
                    <a:pt x="0" y="1045972"/>
                  </a:cubicBezTo>
                  <a:close/>
                </a:path>
              </a:pathLst>
            </a:custGeom>
            <a:solidFill>
              <a:srgbClr val="F4F7FC"/>
            </a:solidFill>
            <a:ln w="19050" cap="sq">
              <a:solidFill>
                <a:srgbClr val="D7DCEC"/>
              </a:solidFill>
              <a:prstDash val="solid"/>
              <a:miter/>
            </a:ln>
          </p:spPr>
        </p:sp>
      </p:grpSp>
      <p:grpSp>
        <p:nvGrpSpPr>
          <p:cNvPr name="Group 59" id="59"/>
          <p:cNvGrpSpPr/>
          <p:nvPr/>
        </p:nvGrpSpPr>
        <p:grpSpPr>
          <a:xfrm rot="0">
            <a:off x="12124944" y="8366760"/>
            <a:ext cx="5143500" cy="589788"/>
            <a:chOff x="0" y="0"/>
            <a:chExt cx="6858000" cy="786384"/>
          </a:xfrm>
        </p:grpSpPr>
        <p:sp>
          <p:nvSpPr>
            <p:cNvPr name="Freeform 60" id="60"/>
            <p:cNvSpPr/>
            <p:nvPr/>
          </p:nvSpPr>
          <p:spPr>
            <a:xfrm flipH="false" flipV="false" rot="0">
              <a:off x="0" y="0"/>
              <a:ext cx="6858000" cy="786384"/>
            </a:xfrm>
            <a:custGeom>
              <a:avLst/>
              <a:gdLst/>
              <a:ahLst/>
              <a:cxnLst/>
              <a:rect r="r" b="b" t="t" l="l"/>
              <a:pathLst>
                <a:path h="786384" w="6858000">
                  <a:moveTo>
                    <a:pt x="0" y="0"/>
                  </a:moveTo>
                  <a:lnTo>
                    <a:pt x="6858000" y="0"/>
                  </a:lnTo>
                  <a:lnTo>
                    <a:pt x="6858000" y="786384"/>
                  </a:lnTo>
                  <a:lnTo>
                    <a:pt x="0" y="786384"/>
                  </a:lnTo>
                  <a:close/>
                </a:path>
              </a:pathLst>
            </a:custGeom>
            <a:blipFill>
              <a:blip r:embed="rId2">
                <a:alphaModFix amt="0"/>
              </a:blip>
              <a:stretch>
                <a:fillRect l="0" t="-119927" r="0" b="-119927"/>
              </a:stretch>
            </a:blipFill>
          </p:spPr>
        </p:sp>
        <p:sp>
          <p:nvSpPr>
            <p:cNvPr name="TextBox 61" id="61"/>
            <p:cNvSpPr txBox="true"/>
            <p:nvPr/>
          </p:nvSpPr>
          <p:spPr>
            <a:xfrm>
              <a:off x="0" y="-38100"/>
              <a:ext cx="6858000" cy="824484"/>
            </a:xfrm>
            <a:prstGeom prst="rect">
              <a:avLst/>
            </a:prstGeom>
          </p:spPr>
          <p:txBody>
            <a:bodyPr anchor="ctr" rtlCol="false" tIns="0" lIns="0" bIns="0" rIns="0"/>
            <a:lstStyle/>
            <a:p>
              <a:pPr algn="ctr">
                <a:lnSpc>
                  <a:spcPts val="2430"/>
                </a:lnSpc>
              </a:pPr>
              <a:r>
                <a:rPr lang="en-US" sz="2025">
                  <a:solidFill>
                    <a:srgbClr val="6B7280"/>
                  </a:solidFill>
                  <a:latin typeface="Calibri (MS)"/>
                  <a:ea typeface="Calibri (MS)"/>
                  <a:cs typeface="Calibri (MS)"/>
                  <a:sym typeface="Calibri (MS)"/>
                </a:rPr>
                <a:t>Recover</a:t>
              </a:r>
            </a:p>
          </p:txBody>
        </p:sp>
      </p:grpSp>
      <p:grpSp>
        <p:nvGrpSpPr>
          <p:cNvPr name="Group 62" id="62"/>
          <p:cNvGrpSpPr/>
          <p:nvPr/>
        </p:nvGrpSpPr>
        <p:grpSpPr>
          <a:xfrm rot="0">
            <a:off x="12124944" y="8805672"/>
            <a:ext cx="5143500" cy="329184"/>
            <a:chOff x="0" y="0"/>
            <a:chExt cx="6858000" cy="438912"/>
          </a:xfrm>
        </p:grpSpPr>
        <p:sp>
          <p:nvSpPr>
            <p:cNvPr name="Freeform 63" id="63"/>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64" id="64"/>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9AA3B8"/>
                  </a:solidFill>
                  <a:latin typeface="Arimo"/>
                  <a:ea typeface="Arimo"/>
                  <a:cs typeface="Arimo"/>
                  <a:sym typeface="Arimo"/>
                </a:rPr>
                <a:t>RC</a:t>
              </a:r>
            </a:p>
          </p:txBody>
        </p:sp>
      </p:grpSp>
      <p:grpSp>
        <p:nvGrpSpPr>
          <p:cNvPr name="Group 65" id="65"/>
          <p:cNvGrpSpPr/>
          <p:nvPr/>
        </p:nvGrpSpPr>
        <p:grpSpPr>
          <a:xfrm rot="0">
            <a:off x="685800" y="9710928"/>
            <a:ext cx="10972800" cy="411480"/>
            <a:chOff x="0" y="0"/>
            <a:chExt cx="14630400" cy="548640"/>
          </a:xfrm>
        </p:grpSpPr>
        <p:sp>
          <p:nvSpPr>
            <p:cNvPr name="Freeform 66" id="66"/>
            <p:cNvSpPr/>
            <p:nvPr/>
          </p:nvSpPr>
          <p:spPr>
            <a:xfrm flipH="false" flipV="false" rot="0">
              <a:off x="0" y="0"/>
              <a:ext cx="14630400" cy="548640"/>
            </a:xfrm>
            <a:custGeom>
              <a:avLst/>
              <a:gdLst/>
              <a:ahLst/>
              <a:cxnLst/>
              <a:rect r="r" b="b" t="t" l="l"/>
              <a:pathLst>
                <a:path h="548640" w="14630400">
                  <a:moveTo>
                    <a:pt x="0" y="0"/>
                  </a:moveTo>
                  <a:lnTo>
                    <a:pt x="14630400" y="0"/>
                  </a:lnTo>
                  <a:lnTo>
                    <a:pt x="14630400" y="548640"/>
                  </a:lnTo>
                  <a:lnTo>
                    <a:pt x="0" y="548640"/>
                  </a:lnTo>
                  <a:close/>
                </a:path>
              </a:pathLst>
            </a:custGeom>
            <a:blipFill>
              <a:blip r:embed="rId2">
                <a:alphaModFix amt="0"/>
              </a:blip>
              <a:stretch>
                <a:fillRect l="0" t="-469601" r="0" b="-469601"/>
              </a:stretch>
            </a:blipFill>
          </p:spPr>
        </p:sp>
        <p:sp>
          <p:nvSpPr>
            <p:cNvPr name="TextBox 67" id="67"/>
            <p:cNvSpPr txBox="true"/>
            <p:nvPr/>
          </p:nvSpPr>
          <p:spPr>
            <a:xfrm>
              <a:off x="0" y="-38100"/>
              <a:ext cx="14630400" cy="586740"/>
            </a:xfrm>
            <a:prstGeom prst="rect">
              <a:avLst/>
            </a:prstGeom>
          </p:spPr>
          <p:txBody>
            <a:bodyPr anchor="ctr" rtlCol="false" tIns="0" lIns="0" bIns="0" rIns="0"/>
            <a:lstStyle/>
            <a:p>
              <a:pPr algn="l">
                <a:lnSpc>
                  <a:spcPts val="1800"/>
                </a:lnSpc>
              </a:pPr>
              <a:r>
                <a:rPr lang="en-US" sz="1500">
                  <a:solidFill>
                    <a:srgbClr val="6B7280"/>
                  </a:solidFill>
                  <a:latin typeface="Calibri (MS)"/>
                  <a:ea typeface="Calibri (MS)"/>
                  <a:cs typeface="Calibri (MS)"/>
                  <a:sym typeface="Calibri (MS)"/>
                </a:rPr>
                <a:t>Davao del Norte Provincial Government — Cybersecurity Seminar</a:t>
              </a:r>
            </a:p>
          </p:txBody>
        </p:sp>
      </p:grpSp>
      <p:grpSp>
        <p:nvGrpSpPr>
          <p:cNvPr name="Group 68" id="68"/>
          <p:cNvGrpSpPr/>
          <p:nvPr/>
        </p:nvGrpSpPr>
        <p:grpSpPr>
          <a:xfrm rot="0">
            <a:off x="16911828" y="9710928"/>
            <a:ext cx="685800" cy="411480"/>
            <a:chOff x="0" y="0"/>
            <a:chExt cx="914400" cy="548640"/>
          </a:xfrm>
        </p:grpSpPr>
        <p:sp>
          <p:nvSpPr>
            <p:cNvPr name="Freeform 69" id="69"/>
            <p:cNvSpPr/>
            <p:nvPr/>
          </p:nvSpPr>
          <p:spPr>
            <a:xfrm flipH="false" flipV="false" rot="0">
              <a:off x="0" y="0"/>
              <a:ext cx="914400" cy="548640"/>
            </a:xfrm>
            <a:custGeom>
              <a:avLst/>
              <a:gdLst/>
              <a:ahLst/>
              <a:cxnLst/>
              <a:rect r="r" b="b" t="t" l="l"/>
              <a:pathLst>
                <a:path h="548640" w="914400">
                  <a:moveTo>
                    <a:pt x="0" y="0"/>
                  </a:moveTo>
                  <a:lnTo>
                    <a:pt x="914400" y="0"/>
                  </a:lnTo>
                  <a:lnTo>
                    <a:pt x="914400" y="548640"/>
                  </a:lnTo>
                  <a:lnTo>
                    <a:pt x="0" y="548640"/>
                  </a:lnTo>
                  <a:close/>
                </a:path>
              </a:pathLst>
            </a:custGeom>
            <a:blipFill>
              <a:blip r:embed="rId2">
                <a:alphaModFix amt="0"/>
              </a:blip>
              <a:stretch>
                <a:fillRect l="-26982" t="0" r="-26982" b="0"/>
              </a:stretch>
            </a:blipFill>
          </p:spPr>
        </p:sp>
        <p:sp>
          <p:nvSpPr>
            <p:cNvPr name="TextBox 70" id="70"/>
            <p:cNvSpPr txBox="true"/>
            <p:nvPr/>
          </p:nvSpPr>
          <p:spPr>
            <a:xfrm>
              <a:off x="0" y="-38100"/>
              <a:ext cx="914400" cy="586740"/>
            </a:xfrm>
            <a:prstGeom prst="rect">
              <a:avLst/>
            </a:prstGeom>
          </p:spPr>
          <p:txBody>
            <a:bodyPr anchor="ctr" rtlCol="false" tIns="0" lIns="0" bIns="0" rIns="0"/>
            <a:lstStyle/>
            <a:p>
              <a:pPr algn="r">
                <a:lnSpc>
                  <a:spcPts val="1800"/>
                </a:lnSpc>
              </a:pPr>
              <a:r>
                <a:rPr lang="en-US" sz="1500">
                  <a:solidFill>
                    <a:srgbClr val="6B7280"/>
                  </a:solidFill>
                  <a:latin typeface="Calibri (MS)"/>
                  <a:ea typeface="Calibri (MS)"/>
                  <a:cs typeface="Calibri (MS)"/>
                  <a:sym typeface="Calibri (MS)"/>
                </a:rPr>
                <a:t>27</a:t>
              </a:r>
            </a:p>
          </p:txBody>
        </p:sp>
      </p:grpSp>
    </p:spTree>
  </p:cSld>
  <p:clrMapOvr>
    <a:masterClrMapping/>
  </p:clrMapOvr>
</p:sld>
</file>

<file path=ppt/slides/slide9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60120" y="685800"/>
            <a:ext cx="13716000" cy="411480"/>
            <a:chOff x="0" y="0"/>
            <a:chExt cx="18288000" cy="548640"/>
          </a:xfrm>
        </p:grpSpPr>
        <p:sp>
          <p:nvSpPr>
            <p:cNvPr name="Freeform 3" id="3"/>
            <p:cNvSpPr/>
            <p:nvPr/>
          </p:nvSpPr>
          <p:spPr>
            <a:xfrm flipH="false" flipV="false" rot="0">
              <a:off x="0" y="0"/>
              <a:ext cx="18288000" cy="548640"/>
            </a:xfrm>
            <a:custGeom>
              <a:avLst/>
              <a:gdLst/>
              <a:ahLst/>
              <a:cxnLst/>
              <a:rect r="r" b="b" t="t" l="l"/>
              <a:pathLst>
                <a:path h="548640" w="18288000">
                  <a:moveTo>
                    <a:pt x="0" y="0"/>
                  </a:moveTo>
                  <a:lnTo>
                    <a:pt x="18288000" y="0"/>
                  </a:lnTo>
                  <a:lnTo>
                    <a:pt x="18288000" y="548640"/>
                  </a:lnTo>
                  <a:lnTo>
                    <a:pt x="0" y="548640"/>
                  </a:lnTo>
                  <a:close/>
                </a:path>
              </a:pathLst>
            </a:custGeom>
            <a:blipFill>
              <a:blip r:embed="rId2">
                <a:alphaModFix amt="0"/>
              </a:blip>
              <a:stretch>
                <a:fillRect l="0" t="-599501" r="0" b="-599501"/>
              </a:stretch>
            </a:blipFill>
          </p:spPr>
        </p:sp>
        <p:sp>
          <p:nvSpPr>
            <p:cNvPr name="TextBox 4" id="4"/>
            <p:cNvSpPr txBox="true"/>
            <p:nvPr/>
          </p:nvSpPr>
          <p:spPr>
            <a:xfrm>
              <a:off x="0" y="-38100"/>
              <a:ext cx="18288000" cy="586740"/>
            </a:xfrm>
            <a:prstGeom prst="rect">
              <a:avLst/>
            </a:prstGeom>
          </p:spPr>
          <p:txBody>
            <a:bodyPr anchor="ctr" rtlCol="false" tIns="0" lIns="0" bIns="0" rIns="0"/>
            <a:lstStyle/>
            <a:p>
              <a:pPr algn="l">
                <a:lnSpc>
                  <a:spcPts val="2160"/>
                </a:lnSpc>
              </a:pPr>
              <a:r>
                <a:rPr lang="en-US" b="true" sz="1800" spc="225">
                  <a:solidFill>
                    <a:srgbClr val="00B4D8"/>
                  </a:solidFill>
                  <a:latin typeface="Calibri (MS) Bold"/>
                  <a:ea typeface="Calibri (MS) Bold"/>
                  <a:cs typeface="Calibri (MS) Bold"/>
                  <a:sym typeface="Calibri (MS) Bold"/>
                </a:rPr>
                <a:t>NIST CSF SORT · ANSWER</a:t>
              </a:r>
            </a:p>
          </p:txBody>
        </p:sp>
      </p:grpSp>
      <p:grpSp>
        <p:nvGrpSpPr>
          <p:cNvPr name="Group 5" id="5"/>
          <p:cNvGrpSpPr/>
          <p:nvPr/>
        </p:nvGrpSpPr>
        <p:grpSpPr>
          <a:xfrm rot="0">
            <a:off x="960120" y="1069848"/>
            <a:ext cx="10972800" cy="822960"/>
            <a:chOff x="0" y="0"/>
            <a:chExt cx="14630400" cy="1097280"/>
          </a:xfrm>
        </p:grpSpPr>
        <p:sp>
          <p:nvSpPr>
            <p:cNvPr name="Freeform 6" id="6"/>
            <p:cNvSpPr/>
            <p:nvPr/>
          </p:nvSpPr>
          <p:spPr>
            <a:xfrm flipH="false" flipV="false" rot="0">
              <a:off x="0" y="0"/>
              <a:ext cx="14630400" cy="1097280"/>
            </a:xfrm>
            <a:custGeom>
              <a:avLst/>
              <a:gdLst/>
              <a:ahLst/>
              <a:cxnLst/>
              <a:rect r="r" b="b" t="t" l="l"/>
              <a:pathLst>
                <a:path h="1097280" w="14630400">
                  <a:moveTo>
                    <a:pt x="0" y="0"/>
                  </a:moveTo>
                  <a:lnTo>
                    <a:pt x="14630400" y="0"/>
                  </a:lnTo>
                  <a:lnTo>
                    <a:pt x="14630400" y="1097280"/>
                  </a:lnTo>
                  <a:lnTo>
                    <a:pt x="0" y="1097280"/>
                  </a:lnTo>
                  <a:close/>
                </a:path>
              </a:pathLst>
            </a:custGeom>
            <a:blipFill>
              <a:blip r:embed="rId2">
                <a:alphaModFix amt="0"/>
              </a:blip>
              <a:stretch>
                <a:fillRect l="0" t="-209800" r="0" b="-209800"/>
              </a:stretch>
            </a:blipFill>
          </p:spPr>
        </p:sp>
        <p:sp>
          <p:nvSpPr>
            <p:cNvPr name="TextBox 7" id="7"/>
            <p:cNvSpPr txBox="true"/>
            <p:nvPr/>
          </p:nvSpPr>
          <p:spPr>
            <a:xfrm>
              <a:off x="0" y="0"/>
              <a:ext cx="14630400" cy="1097280"/>
            </a:xfrm>
            <a:prstGeom prst="rect">
              <a:avLst/>
            </a:prstGeom>
          </p:spPr>
          <p:txBody>
            <a:bodyPr anchor="ctr" rtlCol="false" tIns="0" lIns="0" bIns="0" rIns="0"/>
            <a:lstStyle/>
            <a:p>
              <a:pPr algn="l">
                <a:lnSpc>
                  <a:spcPts val="4680"/>
                </a:lnSpc>
              </a:pPr>
              <a:r>
                <a:rPr lang="en-US" sz="3900" b="true">
                  <a:solidFill>
                    <a:srgbClr val="1E2761"/>
                  </a:solidFill>
                  <a:latin typeface="Cambria Bold"/>
                  <a:ea typeface="Cambria Bold"/>
                  <a:cs typeface="Cambria Bold"/>
                  <a:sym typeface="Cambria Bold"/>
                </a:rPr>
                <a:t>Scenario 9 — Answer</a:t>
              </a:r>
            </a:p>
          </p:txBody>
        </p:sp>
      </p:grpSp>
      <p:grpSp>
        <p:nvGrpSpPr>
          <p:cNvPr name="Group 8" id="8"/>
          <p:cNvGrpSpPr/>
          <p:nvPr/>
        </p:nvGrpSpPr>
        <p:grpSpPr>
          <a:xfrm rot="0">
            <a:off x="960120" y="1810512"/>
            <a:ext cx="8229600" cy="411480"/>
            <a:chOff x="0" y="0"/>
            <a:chExt cx="10972800" cy="548640"/>
          </a:xfrm>
        </p:grpSpPr>
        <p:sp>
          <p:nvSpPr>
            <p:cNvPr name="Freeform 9" id="9"/>
            <p:cNvSpPr/>
            <p:nvPr/>
          </p:nvSpPr>
          <p:spPr>
            <a:xfrm flipH="false" flipV="false" rot="0">
              <a:off x="0" y="0"/>
              <a:ext cx="10972800" cy="548640"/>
            </a:xfrm>
            <a:custGeom>
              <a:avLst/>
              <a:gdLst/>
              <a:ahLst/>
              <a:cxnLst/>
              <a:rect r="r" b="b" t="t" l="l"/>
              <a:pathLst>
                <a:path h="548640" w="10972800">
                  <a:moveTo>
                    <a:pt x="0" y="0"/>
                  </a:moveTo>
                  <a:lnTo>
                    <a:pt x="10972800" y="0"/>
                  </a:lnTo>
                  <a:lnTo>
                    <a:pt x="10972800" y="548640"/>
                  </a:lnTo>
                  <a:lnTo>
                    <a:pt x="0" y="548640"/>
                  </a:lnTo>
                  <a:close/>
                </a:path>
              </a:pathLst>
            </a:custGeom>
            <a:blipFill>
              <a:blip r:embed="rId2">
                <a:alphaModFix amt="0"/>
              </a:blip>
              <a:stretch>
                <a:fillRect l="0" t="-339700" r="0" b="-339700"/>
              </a:stretch>
            </a:blipFill>
          </p:spPr>
        </p:sp>
        <p:sp>
          <p:nvSpPr>
            <p:cNvPr name="TextBox 10" id="10"/>
            <p:cNvSpPr txBox="true"/>
            <p:nvPr/>
          </p:nvSpPr>
          <p:spPr>
            <a:xfrm>
              <a:off x="0" y="-28575"/>
              <a:ext cx="10972800" cy="577215"/>
            </a:xfrm>
            <a:prstGeom prst="rect">
              <a:avLst/>
            </a:prstGeom>
          </p:spPr>
          <p:txBody>
            <a:bodyPr anchor="ctr" rtlCol="false" tIns="0" lIns="0" bIns="0" rIns="0"/>
            <a:lstStyle/>
            <a:p>
              <a:pPr algn="l">
                <a:lnSpc>
                  <a:spcPts val="1980"/>
                </a:lnSpc>
              </a:pPr>
              <a:r>
                <a:rPr lang="en-US" sz="1650">
                  <a:solidFill>
                    <a:srgbClr val="6B7280"/>
                  </a:solidFill>
                  <a:latin typeface="Calibri (MS)"/>
                  <a:ea typeface="Calibri (MS)"/>
                  <a:cs typeface="Calibri (MS)"/>
                  <a:sym typeface="Calibri (MS)"/>
                </a:rPr>
                <a:t>9 of 20</a:t>
              </a:r>
            </a:p>
          </p:txBody>
        </p:sp>
      </p:grpSp>
      <p:grpSp>
        <p:nvGrpSpPr>
          <p:cNvPr name="Group 11" id="11"/>
          <p:cNvGrpSpPr/>
          <p:nvPr/>
        </p:nvGrpSpPr>
        <p:grpSpPr>
          <a:xfrm rot="0">
            <a:off x="960120" y="2537460"/>
            <a:ext cx="16322040" cy="2194560"/>
            <a:chOff x="0" y="0"/>
            <a:chExt cx="21762720" cy="2926080"/>
          </a:xfrm>
        </p:grpSpPr>
        <p:sp>
          <p:nvSpPr>
            <p:cNvPr name="Freeform 12" id="12"/>
            <p:cNvSpPr/>
            <p:nvPr/>
          </p:nvSpPr>
          <p:spPr>
            <a:xfrm flipH="false" flipV="false" rot="0">
              <a:off x="0" y="0"/>
              <a:ext cx="21762720" cy="2926080"/>
            </a:xfrm>
            <a:custGeom>
              <a:avLst/>
              <a:gdLst/>
              <a:ahLst/>
              <a:cxnLst/>
              <a:rect r="r" b="b" t="t" l="l"/>
              <a:pathLst>
                <a:path h="2926080" w="21762720">
                  <a:moveTo>
                    <a:pt x="0" y="182880"/>
                  </a:moveTo>
                  <a:cubicBezTo>
                    <a:pt x="0" y="81915"/>
                    <a:pt x="81915" y="0"/>
                    <a:pt x="182880" y="0"/>
                  </a:cubicBezTo>
                  <a:lnTo>
                    <a:pt x="21579839" y="0"/>
                  </a:lnTo>
                  <a:cubicBezTo>
                    <a:pt x="21680804" y="0"/>
                    <a:pt x="21762720" y="81915"/>
                    <a:pt x="21762720" y="182880"/>
                  </a:cubicBezTo>
                  <a:lnTo>
                    <a:pt x="21762720" y="2743200"/>
                  </a:lnTo>
                  <a:cubicBezTo>
                    <a:pt x="21762720" y="2844165"/>
                    <a:pt x="21680804" y="2926080"/>
                    <a:pt x="21579839" y="2926080"/>
                  </a:cubicBezTo>
                  <a:lnTo>
                    <a:pt x="182880" y="2926080"/>
                  </a:lnTo>
                  <a:cubicBezTo>
                    <a:pt x="81915" y="2926080"/>
                    <a:pt x="0" y="2844165"/>
                    <a:pt x="0" y="2743200"/>
                  </a:cubicBezTo>
                  <a:close/>
                </a:path>
              </a:pathLst>
            </a:custGeom>
            <a:solidFill>
              <a:srgbClr val="F4F7FC"/>
            </a:solidFill>
          </p:spPr>
        </p:sp>
      </p:grpSp>
      <p:grpSp>
        <p:nvGrpSpPr>
          <p:cNvPr name="Group 13" id="13"/>
          <p:cNvGrpSpPr/>
          <p:nvPr/>
        </p:nvGrpSpPr>
        <p:grpSpPr>
          <a:xfrm rot="0">
            <a:off x="1440180" y="2770632"/>
            <a:ext cx="15361920" cy="1714500"/>
            <a:chOff x="0" y="0"/>
            <a:chExt cx="20482560" cy="2286000"/>
          </a:xfrm>
        </p:grpSpPr>
        <p:sp>
          <p:nvSpPr>
            <p:cNvPr name="Freeform 14" id="14"/>
            <p:cNvSpPr/>
            <p:nvPr/>
          </p:nvSpPr>
          <p:spPr>
            <a:xfrm flipH="false" flipV="false" rot="0">
              <a:off x="0" y="0"/>
              <a:ext cx="20482561" cy="2286000"/>
            </a:xfrm>
            <a:custGeom>
              <a:avLst/>
              <a:gdLst/>
              <a:ahLst/>
              <a:cxnLst/>
              <a:rect r="r" b="b" t="t" l="l"/>
              <a:pathLst>
                <a:path h="2286000" w="20482561">
                  <a:moveTo>
                    <a:pt x="0" y="0"/>
                  </a:moveTo>
                  <a:lnTo>
                    <a:pt x="20482561" y="0"/>
                  </a:lnTo>
                  <a:lnTo>
                    <a:pt x="20482561" y="2286000"/>
                  </a:lnTo>
                  <a:lnTo>
                    <a:pt x="0" y="2286000"/>
                  </a:lnTo>
                  <a:close/>
                </a:path>
              </a:pathLst>
            </a:custGeom>
            <a:blipFill>
              <a:blip r:embed="rId2">
                <a:alphaModFix amt="0"/>
              </a:blip>
              <a:stretch>
                <a:fillRect l="0" t="-124585" r="0" b="-124585"/>
              </a:stretch>
            </a:blipFill>
          </p:spPr>
        </p:sp>
        <p:sp>
          <p:nvSpPr>
            <p:cNvPr name="TextBox 15" id="15"/>
            <p:cNvSpPr txBox="true"/>
            <p:nvPr/>
          </p:nvSpPr>
          <p:spPr>
            <a:xfrm>
              <a:off x="0" y="-85725"/>
              <a:ext cx="20482560" cy="2371725"/>
            </a:xfrm>
            <a:prstGeom prst="rect">
              <a:avLst/>
            </a:prstGeom>
          </p:spPr>
          <p:txBody>
            <a:bodyPr anchor="ctr" rtlCol="false" tIns="0" lIns="0" bIns="0" rIns="0"/>
            <a:lstStyle/>
            <a:p>
              <a:pPr algn="l">
                <a:lnSpc>
                  <a:spcPts val="3600"/>
                </a:lnSpc>
              </a:pPr>
              <a:r>
                <a:rPr lang="en-US" sz="2400" i="true">
                  <a:solidFill>
                    <a:srgbClr val="23262F"/>
                  </a:solidFill>
                  <a:latin typeface="Cambria Italics"/>
                  <a:ea typeface="Cambria Italics"/>
                  <a:cs typeface="Cambria Italics"/>
                  <a:sym typeface="Cambria Italics"/>
                </a:rPr>
                <a:t>"During an asset inventory audit, IT discovers a cloud file-sharing tool three departments have been using for months that was never procured or approved."</a:t>
              </a:r>
            </a:p>
          </p:txBody>
        </p:sp>
      </p:grpSp>
      <p:grpSp>
        <p:nvGrpSpPr>
          <p:cNvPr name="Group 16" id="16"/>
          <p:cNvGrpSpPr/>
          <p:nvPr/>
        </p:nvGrpSpPr>
        <p:grpSpPr>
          <a:xfrm rot="0">
            <a:off x="950595" y="5065395"/>
            <a:ext cx="5162550" cy="842010"/>
            <a:chOff x="0" y="0"/>
            <a:chExt cx="6883400" cy="1122680"/>
          </a:xfrm>
        </p:grpSpPr>
        <p:sp>
          <p:nvSpPr>
            <p:cNvPr name="Freeform 17" id="17"/>
            <p:cNvSpPr/>
            <p:nvPr/>
          </p:nvSpPr>
          <p:spPr>
            <a:xfrm flipH="false" flipV="false" rot="0">
              <a:off x="0" y="0"/>
              <a:ext cx="6883400" cy="1122680"/>
            </a:xfrm>
            <a:custGeom>
              <a:avLst/>
              <a:gdLst/>
              <a:ahLst/>
              <a:cxnLst/>
              <a:rect r="r" b="b" t="t" l="l"/>
              <a:pathLst>
                <a:path h="1122680" w="6883400">
                  <a:moveTo>
                    <a:pt x="0" y="168402"/>
                  </a:moveTo>
                  <a:cubicBezTo>
                    <a:pt x="0" y="75438"/>
                    <a:pt x="75438" y="0"/>
                    <a:pt x="168402" y="0"/>
                  </a:cubicBezTo>
                  <a:lnTo>
                    <a:pt x="6714998" y="0"/>
                  </a:lnTo>
                  <a:cubicBezTo>
                    <a:pt x="6807962" y="0"/>
                    <a:pt x="6883400" y="75438"/>
                    <a:pt x="6883400" y="168402"/>
                  </a:cubicBezTo>
                  <a:lnTo>
                    <a:pt x="6883400" y="954278"/>
                  </a:lnTo>
                  <a:cubicBezTo>
                    <a:pt x="6883400" y="1047242"/>
                    <a:pt x="6807962" y="1122680"/>
                    <a:pt x="6714998" y="1122680"/>
                  </a:cubicBezTo>
                  <a:lnTo>
                    <a:pt x="168402" y="1122680"/>
                  </a:lnTo>
                  <a:cubicBezTo>
                    <a:pt x="75438" y="1122680"/>
                    <a:pt x="0" y="1047242"/>
                    <a:pt x="0" y="954278"/>
                  </a:cubicBezTo>
                  <a:close/>
                </a:path>
              </a:pathLst>
            </a:custGeom>
            <a:solidFill>
              <a:srgbClr val="F4F7FC"/>
            </a:solidFill>
            <a:ln w="19050" cap="sq">
              <a:solidFill>
                <a:srgbClr val="D7DCEC"/>
              </a:solidFill>
              <a:prstDash val="solid"/>
              <a:miter/>
            </a:ln>
          </p:spPr>
        </p:sp>
      </p:grpSp>
      <p:grpSp>
        <p:nvGrpSpPr>
          <p:cNvPr name="Group 18" id="18"/>
          <p:cNvGrpSpPr/>
          <p:nvPr/>
        </p:nvGrpSpPr>
        <p:grpSpPr>
          <a:xfrm rot="0">
            <a:off x="960120" y="5143500"/>
            <a:ext cx="5143500" cy="521208"/>
            <a:chOff x="0" y="0"/>
            <a:chExt cx="6858000" cy="694944"/>
          </a:xfrm>
        </p:grpSpPr>
        <p:sp>
          <p:nvSpPr>
            <p:cNvPr name="Freeform 19" id="19"/>
            <p:cNvSpPr/>
            <p:nvPr/>
          </p:nvSpPr>
          <p:spPr>
            <a:xfrm flipH="false" flipV="false" rot="0">
              <a:off x="0" y="0"/>
              <a:ext cx="6858000" cy="694944"/>
            </a:xfrm>
            <a:custGeom>
              <a:avLst/>
              <a:gdLst/>
              <a:ahLst/>
              <a:cxnLst/>
              <a:rect r="r" b="b" t="t" l="l"/>
              <a:pathLst>
                <a:path h="694944" w="6858000">
                  <a:moveTo>
                    <a:pt x="0" y="0"/>
                  </a:moveTo>
                  <a:lnTo>
                    <a:pt x="6858000" y="0"/>
                  </a:lnTo>
                  <a:lnTo>
                    <a:pt x="6858000" y="694944"/>
                  </a:lnTo>
                  <a:lnTo>
                    <a:pt x="0" y="694944"/>
                  </a:lnTo>
                  <a:close/>
                </a:path>
              </a:pathLst>
            </a:custGeom>
            <a:blipFill>
              <a:blip r:embed="rId2">
                <a:alphaModFix amt="0"/>
              </a:blip>
              <a:stretch>
                <a:fillRect l="0" t="-142286" r="0" b="-142286"/>
              </a:stretch>
            </a:blipFill>
          </p:spPr>
        </p:sp>
        <p:sp>
          <p:nvSpPr>
            <p:cNvPr name="TextBox 20" id="20"/>
            <p:cNvSpPr txBox="true"/>
            <p:nvPr/>
          </p:nvSpPr>
          <p:spPr>
            <a:xfrm>
              <a:off x="0" y="-38100"/>
              <a:ext cx="6858000" cy="733044"/>
            </a:xfrm>
            <a:prstGeom prst="rect">
              <a:avLst/>
            </a:prstGeom>
          </p:spPr>
          <p:txBody>
            <a:bodyPr anchor="ctr" rtlCol="false" tIns="0" lIns="0" bIns="0" rIns="0"/>
            <a:lstStyle/>
            <a:p>
              <a:pPr algn="ctr">
                <a:lnSpc>
                  <a:spcPts val="2430"/>
                </a:lnSpc>
              </a:pPr>
              <a:r>
                <a:rPr lang="en-US" sz="2025">
                  <a:solidFill>
                    <a:srgbClr val="6B7280"/>
                  </a:solidFill>
                  <a:latin typeface="Calibri (MS)"/>
                  <a:ea typeface="Calibri (MS)"/>
                  <a:cs typeface="Calibri (MS)"/>
                  <a:sym typeface="Calibri (MS)"/>
                </a:rPr>
                <a:t>Govern</a:t>
              </a:r>
            </a:p>
          </p:txBody>
        </p:sp>
      </p:grpSp>
      <p:grpSp>
        <p:nvGrpSpPr>
          <p:cNvPr name="Group 21" id="21"/>
          <p:cNvGrpSpPr/>
          <p:nvPr/>
        </p:nvGrpSpPr>
        <p:grpSpPr>
          <a:xfrm rot="0">
            <a:off x="960120" y="5513832"/>
            <a:ext cx="5143500" cy="329184"/>
            <a:chOff x="0" y="0"/>
            <a:chExt cx="6858000" cy="438912"/>
          </a:xfrm>
        </p:grpSpPr>
        <p:sp>
          <p:nvSpPr>
            <p:cNvPr name="Freeform 22" id="22"/>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23" id="23"/>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9AA3B8"/>
                  </a:solidFill>
                  <a:latin typeface="Arimo"/>
                  <a:ea typeface="Arimo"/>
                  <a:cs typeface="Arimo"/>
                  <a:sym typeface="Arimo"/>
                </a:rPr>
                <a:t>GV</a:t>
              </a:r>
            </a:p>
          </p:txBody>
        </p:sp>
      </p:grpSp>
      <p:grpSp>
        <p:nvGrpSpPr>
          <p:cNvPr name="Group 24" id="24"/>
          <p:cNvGrpSpPr/>
          <p:nvPr/>
        </p:nvGrpSpPr>
        <p:grpSpPr>
          <a:xfrm rot="0">
            <a:off x="6533007" y="5065395"/>
            <a:ext cx="5162550" cy="842010"/>
            <a:chOff x="0" y="0"/>
            <a:chExt cx="6883400" cy="1122680"/>
          </a:xfrm>
        </p:grpSpPr>
        <p:sp>
          <p:nvSpPr>
            <p:cNvPr name="Freeform 25" id="25"/>
            <p:cNvSpPr/>
            <p:nvPr/>
          </p:nvSpPr>
          <p:spPr>
            <a:xfrm flipH="false" flipV="false" rot="0">
              <a:off x="0" y="0"/>
              <a:ext cx="6883400" cy="1122680"/>
            </a:xfrm>
            <a:custGeom>
              <a:avLst/>
              <a:gdLst/>
              <a:ahLst/>
              <a:cxnLst/>
              <a:rect r="r" b="b" t="t" l="l"/>
              <a:pathLst>
                <a:path h="1122680" w="6883400">
                  <a:moveTo>
                    <a:pt x="0" y="168402"/>
                  </a:moveTo>
                  <a:cubicBezTo>
                    <a:pt x="0" y="75438"/>
                    <a:pt x="75438" y="0"/>
                    <a:pt x="168402" y="0"/>
                  </a:cubicBezTo>
                  <a:lnTo>
                    <a:pt x="6714998" y="0"/>
                  </a:lnTo>
                  <a:cubicBezTo>
                    <a:pt x="6807962" y="0"/>
                    <a:pt x="6883400" y="75438"/>
                    <a:pt x="6883400" y="168402"/>
                  </a:cubicBezTo>
                  <a:lnTo>
                    <a:pt x="6883400" y="954278"/>
                  </a:lnTo>
                  <a:cubicBezTo>
                    <a:pt x="6883400" y="1047242"/>
                    <a:pt x="6807962" y="1122680"/>
                    <a:pt x="6714998" y="1122680"/>
                  </a:cubicBezTo>
                  <a:lnTo>
                    <a:pt x="168402" y="1122680"/>
                  </a:lnTo>
                  <a:cubicBezTo>
                    <a:pt x="75438" y="1122680"/>
                    <a:pt x="0" y="1047242"/>
                    <a:pt x="0" y="954278"/>
                  </a:cubicBezTo>
                  <a:close/>
                </a:path>
              </a:pathLst>
            </a:custGeom>
            <a:solidFill>
              <a:srgbClr val="0F8A6E"/>
            </a:solidFill>
            <a:ln w="19050" cap="sq">
              <a:solidFill>
                <a:srgbClr val="0F8A6E"/>
              </a:solidFill>
              <a:prstDash val="solid"/>
              <a:miter/>
            </a:ln>
          </p:spPr>
        </p:sp>
      </p:grpSp>
      <p:grpSp>
        <p:nvGrpSpPr>
          <p:cNvPr name="Group 26" id="26"/>
          <p:cNvGrpSpPr/>
          <p:nvPr/>
        </p:nvGrpSpPr>
        <p:grpSpPr>
          <a:xfrm rot="0">
            <a:off x="6542532" y="5143500"/>
            <a:ext cx="5143500" cy="521208"/>
            <a:chOff x="0" y="0"/>
            <a:chExt cx="6858000" cy="694944"/>
          </a:xfrm>
        </p:grpSpPr>
        <p:sp>
          <p:nvSpPr>
            <p:cNvPr name="Freeform 27" id="27"/>
            <p:cNvSpPr/>
            <p:nvPr/>
          </p:nvSpPr>
          <p:spPr>
            <a:xfrm flipH="false" flipV="false" rot="0">
              <a:off x="0" y="0"/>
              <a:ext cx="6858000" cy="694944"/>
            </a:xfrm>
            <a:custGeom>
              <a:avLst/>
              <a:gdLst/>
              <a:ahLst/>
              <a:cxnLst/>
              <a:rect r="r" b="b" t="t" l="l"/>
              <a:pathLst>
                <a:path h="694944" w="6858000">
                  <a:moveTo>
                    <a:pt x="0" y="0"/>
                  </a:moveTo>
                  <a:lnTo>
                    <a:pt x="6858000" y="0"/>
                  </a:lnTo>
                  <a:lnTo>
                    <a:pt x="6858000" y="694944"/>
                  </a:lnTo>
                  <a:lnTo>
                    <a:pt x="0" y="694944"/>
                  </a:lnTo>
                  <a:close/>
                </a:path>
              </a:pathLst>
            </a:custGeom>
            <a:blipFill>
              <a:blip r:embed="rId2">
                <a:alphaModFix amt="0"/>
              </a:blip>
              <a:stretch>
                <a:fillRect l="0" t="-142286" r="0" b="-142286"/>
              </a:stretch>
            </a:blipFill>
          </p:spPr>
        </p:sp>
        <p:sp>
          <p:nvSpPr>
            <p:cNvPr name="TextBox 28" id="28"/>
            <p:cNvSpPr txBox="true"/>
            <p:nvPr/>
          </p:nvSpPr>
          <p:spPr>
            <a:xfrm>
              <a:off x="0" y="-38100"/>
              <a:ext cx="6858000" cy="733044"/>
            </a:xfrm>
            <a:prstGeom prst="rect">
              <a:avLst/>
            </a:prstGeom>
          </p:spPr>
          <p:txBody>
            <a:bodyPr anchor="ctr" rtlCol="false" tIns="0" lIns="0" bIns="0" rIns="0"/>
            <a:lstStyle/>
            <a:p>
              <a:pPr algn="ctr">
                <a:lnSpc>
                  <a:spcPts val="2430"/>
                </a:lnSpc>
              </a:pPr>
              <a:r>
                <a:rPr lang="en-US" sz="2025" b="true">
                  <a:solidFill>
                    <a:srgbClr val="FFFFFF"/>
                  </a:solidFill>
                  <a:latin typeface="Calibri (MS) Bold"/>
                  <a:ea typeface="Calibri (MS) Bold"/>
                  <a:cs typeface="Calibri (MS) Bold"/>
                  <a:sym typeface="Calibri (MS) Bold"/>
                </a:rPr>
                <a:t>✓  Identify</a:t>
              </a:r>
            </a:p>
          </p:txBody>
        </p:sp>
      </p:grpSp>
      <p:grpSp>
        <p:nvGrpSpPr>
          <p:cNvPr name="Group 29" id="29"/>
          <p:cNvGrpSpPr/>
          <p:nvPr/>
        </p:nvGrpSpPr>
        <p:grpSpPr>
          <a:xfrm rot="0">
            <a:off x="6542532" y="5513832"/>
            <a:ext cx="5143500" cy="329184"/>
            <a:chOff x="0" y="0"/>
            <a:chExt cx="6858000" cy="438912"/>
          </a:xfrm>
        </p:grpSpPr>
        <p:sp>
          <p:nvSpPr>
            <p:cNvPr name="Freeform 30" id="30"/>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31" id="31"/>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FFFFFF"/>
                  </a:solidFill>
                  <a:latin typeface="Arimo"/>
                  <a:ea typeface="Arimo"/>
                  <a:cs typeface="Arimo"/>
                  <a:sym typeface="Arimo"/>
                </a:rPr>
                <a:t>ID</a:t>
              </a:r>
            </a:p>
          </p:txBody>
        </p:sp>
      </p:grpSp>
      <p:grpSp>
        <p:nvGrpSpPr>
          <p:cNvPr name="Group 32" id="32"/>
          <p:cNvGrpSpPr/>
          <p:nvPr/>
        </p:nvGrpSpPr>
        <p:grpSpPr>
          <a:xfrm rot="0">
            <a:off x="12115419" y="5065395"/>
            <a:ext cx="5162550" cy="842010"/>
            <a:chOff x="0" y="0"/>
            <a:chExt cx="6883400" cy="1122680"/>
          </a:xfrm>
        </p:grpSpPr>
        <p:sp>
          <p:nvSpPr>
            <p:cNvPr name="Freeform 33" id="33"/>
            <p:cNvSpPr/>
            <p:nvPr/>
          </p:nvSpPr>
          <p:spPr>
            <a:xfrm flipH="false" flipV="false" rot="0">
              <a:off x="0" y="0"/>
              <a:ext cx="6883400" cy="1122680"/>
            </a:xfrm>
            <a:custGeom>
              <a:avLst/>
              <a:gdLst/>
              <a:ahLst/>
              <a:cxnLst/>
              <a:rect r="r" b="b" t="t" l="l"/>
              <a:pathLst>
                <a:path h="1122680" w="6883400">
                  <a:moveTo>
                    <a:pt x="0" y="168402"/>
                  </a:moveTo>
                  <a:cubicBezTo>
                    <a:pt x="0" y="75438"/>
                    <a:pt x="75438" y="0"/>
                    <a:pt x="168402" y="0"/>
                  </a:cubicBezTo>
                  <a:lnTo>
                    <a:pt x="6714998" y="0"/>
                  </a:lnTo>
                  <a:cubicBezTo>
                    <a:pt x="6807962" y="0"/>
                    <a:pt x="6883400" y="75438"/>
                    <a:pt x="6883400" y="168402"/>
                  </a:cubicBezTo>
                  <a:lnTo>
                    <a:pt x="6883400" y="954278"/>
                  </a:lnTo>
                  <a:cubicBezTo>
                    <a:pt x="6883400" y="1047242"/>
                    <a:pt x="6807962" y="1122680"/>
                    <a:pt x="6714998" y="1122680"/>
                  </a:cubicBezTo>
                  <a:lnTo>
                    <a:pt x="168402" y="1122680"/>
                  </a:lnTo>
                  <a:cubicBezTo>
                    <a:pt x="75438" y="1122680"/>
                    <a:pt x="0" y="1047242"/>
                    <a:pt x="0" y="954278"/>
                  </a:cubicBezTo>
                  <a:close/>
                </a:path>
              </a:pathLst>
            </a:custGeom>
            <a:solidFill>
              <a:srgbClr val="F4F7FC"/>
            </a:solidFill>
            <a:ln w="19050" cap="sq">
              <a:solidFill>
                <a:srgbClr val="D7DCEC"/>
              </a:solidFill>
              <a:prstDash val="solid"/>
              <a:miter/>
            </a:ln>
          </p:spPr>
        </p:sp>
      </p:grpSp>
      <p:grpSp>
        <p:nvGrpSpPr>
          <p:cNvPr name="Group 34" id="34"/>
          <p:cNvGrpSpPr/>
          <p:nvPr/>
        </p:nvGrpSpPr>
        <p:grpSpPr>
          <a:xfrm rot="0">
            <a:off x="12124944" y="5143500"/>
            <a:ext cx="5143500" cy="521208"/>
            <a:chOff x="0" y="0"/>
            <a:chExt cx="6858000" cy="694944"/>
          </a:xfrm>
        </p:grpSpPr>
        <p:sp>
          <p:nvSpPr>
            <p:cNvPr name="Freeform 35" id="35"/>
            <p:cNvSpPr/>
            <p:nvPr/>
          </p:nvSpPr>
          <p:spPr>
            <a:xfrm flipH="false" flipV="false" rot="0">
              <a:off x="0" y="0"/>
              <a:ext cx="6858000" cy="694944"/>
            </a:xfrm>
            <a:custGeom>
              <a:avLst/>
              <a:gdLst/>
              <a:ahLst/>
              <a:cxnLst/>
              <a:rect r="r" b="b" t="t" l="l"/>
              <a:pathLst>
                <a:path h="694944" w="6858000">
                  <a:moveTo>
                    <a:pt x="0" y="0"/>
                  </a:moveTo>
                  <a:lnTo>
                    <a:pt x="6858000" y="0"/>
                  </a:lnTo>
                  <a:lnTo>
                    <a:pt x="6858000" y="694944"/>
                  </a:lnTo>
                  <a:lnTo>
                    <a:pt x="0" y="694944"/>
                  </a:lnTo>
                  <a:close/>
                </a:path>
              </a:pathLst>
            </a:custGeom>
            <a:blipFill>
              <a:blip r:embed="rId2">
                <a:alphaModFix amt="0"/>
              </a:blip>
              <a:stretch>
                <a:fillRect l="0" t="-142286" r="0" b="-142286"/>
              </a:stretch>
            </a:blipFill>
          </p:spPr>
        </p:sp>
        <p:sp>
          <p:nvSpPr>
            <p:cNvPr name="TextBox 36" id="36"/>
            <p:cNvSpPr txBox="true"/>
            <p:nvPr/>
          </p:nvSpPr>
          <p:spPr>
            <a:xfrm>
              <a:off x="0" y="-38100"/>
              <a:ext cx="6858000" cy="733044"/>
            </a:xfrm>
            <a:prstGeom prst="rect">
              <a:avLst/>
            </a:prstGeom>
          </p:spPr>
          <p:txBody>
            <a:bodyPr anchor="ctr" rtlCol="false" tIns="0" lIns="0" bIns="0" rIns="0"/>
            <a:lstStyle/>
            <a:p>
              <a:pPr algn="ctr">
                <a:lnSpc>
                  <a:spcPts val="2430"/>
                </a:lnSpc>
              </a:pPr>
              <a:r>
                <a:rPr lang="en-US" sz="2025">
                  <a:solidFill>
                    <a:srgbClr val="6B7280"/>
                  </a:solidFill>
                  <a:latin typeface="Calibri (MS)"/>
                  <a:ea typeface="Calibri (MS)"/>
                  <a:cs typeface="Calibri (MS)"/>
                  <a:sym typeface="Calibri (MS)"/>
                </a:rPr>
                <a:t>Protect</a:t>
              </a:r>
            </a:p>
          </p:txBody>
        </p:sp>
      </p:grpSp>
      <p:grpSp>
        <p:nvGrpSpPr>
          <p:cNvPr name="Group 37" id="37"/>
          <p:cNvGrpSpPr/>
          <p:nvPr/>
        </p:nvGrpSpPr>
        <p:grpSpPr>
          <a:xfrm rot="0">
            <a:off x="12124944" y="5513832"/>
            <a:ext cx="5143500" cy="329184"/>
            <a:chOff x="0" y="0"/>
            <a:chExt cx="6858000" cy="438912"/>
          </a:xfrm>
        </p:grpSpPr>
        <p:sp>
          <p:nvSpPr>
            <p:cNvPr name="Freeform 38" id="38"/>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39" id="39"/>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9AA3B8"/>
                  </a:solidFill>
                  <a:latin typeface="Arimo"/>
                  <a:ea typeface="Arimo"/>
                  <a:cs typeface="Arimo"/>
                  <a:sym typeface="Arimo"/>
                </a:rPr>
                <a:t>PR</a:t>
              </a:r>
            </a:p>
          </p:txBody>
        </p:sp>
      </p:grpSp>
      <p:grpSp>
        <p:nvGrpSpPr>
          <p:cNvPr name="Group 40" id="40"/>
          <p:cNvGrpSpPr/>
          <p:nvPr/>
        </p:nvGrpSpPr>
        <p:grpSpPr>
          <a:xfrm rot="0">
            <a:off x="950595" y="6135243"/>
            <a:ext cx="5162550" cy="842010"/>
            <a:chOff x="0" y="0"/>
            <a:chExt cx="6883400" cy="1122680"/>
          </a:xfrm>
        </p:grpSpPr>
        <p:sp>
          <p:nvSpPr>
            <p:cNvPr name="Freeform 41" id="41"/>
            <p:cNvSpPr/>
            <p:nvPr/>
          </p:nvSpPr>
          <p:spPr>
            <a:xfrm flipH="false" flipV="false" rot="0">
              <a:off x="0" y="0"/>
              <a:ext cx="6883400" cy="1122680"/>
            </a:xfrm>
            <a:custGeom>
              <a:avLst/>
              <a:gdLst/>
              <a:ahLst/>
              <a:cxnLst/>
              <a:rect r="r" b="b" t="t" l="l"/>
              <a:pathLst>
                <a:path h="1122680" w="6883400">
                  <a:moveTo>
                    <a:pt x="0" y="168402"/>
                  </a:moveTo>
                  <a:cubicBezTo>
                    <a:pt x="0" y="75438"/>
                    <a:pt x="75438" y="0"/>
                    <a:pt x="168402" y="0"/>
                  </a:cubicBezTo>
                  <a:lnTo>
                    <a:pt x="6714998" y="0"/>
                  </a:lnTo>
                  <a:cubicBezTo>
                    <a:pt x="6807962" y="0"/>
                    <a:pt x="6883400" y="75438"/>
                    <a:pt x="6883400" y="168402"/>
                  </a:cubicBezTo>
                  <a:lnTo>
                    <a:pt x="6883400" y="954278"/>
                  </a:lnTo>
                  <a:cubicBezTo>
                    <a:pt x="6883400" y="1047242"/>
                    <a:pt x="6807962" y="1122680"/>
                    <a:pt x="6714998" y="1122680"/>
                  </a:cubicBezTo>
                  <a:lnTo>
                    <a:pt x="168402" y="1122680"/>
                  </a:lnTo>
                  <a:cubicBezTo>
                    <a:pt x="75438" y="1122680"/>
                    <a:pt x="0" y="1047242"/>
                    <a:pt x="0" y="954278"/>
                  </a:cubicBezTo>
                  <a:close/>
                </a:path>
              </a:pathLst>
            </a:custGeom>
            <a:solidFill>
              <a:srgbClr val="F4F7FC"/>
            </a:solidFill>
            <a:ln w="19050" cap="sq">
              <a:solidFill>
                <a:srgbClr val="D7DCEC"/>
              </a:solidFill>
              <a:prstDash val="solid"/>
              <a:miter/>
            </a:ln>
          </p:spPr>
        </p:sp>
      </p:grpSp>
      <p:grpSp>
        <p:nvGrpSpPr>
          <p:cNvPr name="Group 42" id="42"/>
          <p:cNvGrpSpPr/>
          <p:nvPr/>
        </p:nvGrpSpPr>
        <p:grpSpPr>
          <a:xfrm rot="0">
            <a:off x="960120" y="6213348"/>
            <a:ext cx="5143500" cy="521208"/>
            <a:chOff x="0" y="0"/>
            <a:chExt cx="6858000" cy="694944"/>
          </a:xfrm>
        </p:grpSpPr>
        <p:sp>
          <p:nvSpPr>
            <p:cNvPr name="Freeform 43" id="43"/>
            <p:cNvSpPr/>
            <p:nvPr/>
          </p:nvSpPr>
          <p:spPr>
            <a:xfrm flipH="false" flipV="false" rot="0">
              <a:off x="0" y="0"/>
              <a:ext cx="6858000" cy="694944"/>
            </a:xfrm>
            <a:custGeom>
              <a:avLst/>
              <a:gdLst/>
              <a:ahLst/>
              <a:cxnLst/>
              <a:rect r="r" b="b" t="t" l="l"/>
              <a:pathLst>
                <a:path h="694944" w="6858000">
                  <a:moveTo>
                    <a:pt x="0" y="0"/>
                  </a:moveTo>
                  <a:lnTo>
                    <a:pt x="6858000" y="0"/>
                  </a:lnTo>
                  <a:lnTo>
                    <a:pt x="6858000" y="694944"/>
                  </a:lnTo>
                  <a:lnTo>
                    <a:pt x="0" y="694944"/>
                  </a:lnTo>
                  <a:close/>
                </a:path>
              </a:pathLst>
            </a:custGeom>
            <a:blipFill>
              <a:blip r:embed="rId2">
                <a:alphaModFix amt="0"/>
              </a:blip>
              <a:stretch>
                <a:fillRect l="0" t="-142286" r="0" b="-142286"/>
              </a:stretch>
            </a:blipFill>
          </p:spPr>
        </p:sp>
        <p:sp>
          <p:nvSpPr>
            <p:cNvPr name="TextBox 44" id="44"/>
            <p:cNvSpPr txBox="true"/>
            <p:nvPr/>
          </p:nvSpPr>
          <p:spPr>
            <a:xfrm>
              <a:off x="0" y="-38100"/>
              <a:ext cx="6858000" cy="733044"/>
            </a:xfrm>
            <a:prstGeom prst="rect">
              <a:avLst/>
            </a:prstGeom>
          </p:spPr>
          <p:txBody>
            <a:bodyPr anchor="ctr" rtlCol="false" tIns="0" lIns="0" bIns="0" rIns="0"/>
            <a:lstStyle/>
            <a:p>
              <a:pPr algn="ctr">
                <a:lnSpc>
                  <a:spcPts val="2430"/>
                </a:lnSpc>
              </a:pPr>
              <a:r>
                <a:rPr lang="en-US" sz="2025">
                  <a:solidFill>
                    <a:srgbClr val="6B7280"/>
                  </a:solidFill>
                  <a:latin typeface="Calibri (MS)"/>
                  <a:ea typeface="Calibri (MS)"/>
                  <a:cs typeface="Calibri (MS)"/>
                  <a:sym typeface="Calibri (MS)"/>
                </a:rPr>
                <a:t>Detect</a:t>
              </a:r>
            </a:p>
          </p:txBody>
        </p:sp>
      </p:grpSp>
      <p:grpSp>
        <p:nvGrpSpPr>
          <p:cNvPr name="Group 45" id="45"/>
          <p:cNvGrpSpPr/>
          <p:nvPr/>
        </p:nvGrpSpPr>
        <p:grpSpPr>
          <a:xfrm rot="0">
            <a:off x="960120" y="6583680"/>
            <a:ext cx="5143500" cy="329184"/>
            <a:chOff x="0" y="0"/>
            <a:chExt cx="6858000" cy="438912"/>
          </a:xfrm>
        </p:grpSpPr>
        <p:sp>
          <p:nvSpPr>
            <p:cNvPr name="Freeform 46" id="46"/>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47" id="47"/>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9AA3B8"/>
                  </a:solidFill>
                  <a:latin typeface="Arimo"/>
                  <a:ea typeface="Arimo"/>
                  <a:cs typeface="Arimo"/>
                  <a:sym typeface="Arimo"/>
                </a:rPr>
                <a:t>DE</a:t>
              </a:r>
            </a:p>
          </p:txBody>
        </p:sp>
      </p:grpSp>
      <p:grpSp>
        <p:nvGrpSpPr>
          <p:cNvPr name="Group 48" id="48"/>
          <p:cNvGrpSpPr/>
          <p:nvPr/>
        </p:nvGrpSpPr>
        <p:grpSpPr>
          <a:xfrm rot="0">
            <a:off x="6533007" y="6135243"/>
            <a:ext cx="5162550" cy="842010"/>
            <a:chOff x="0" y="0"/>
            <a:chExt cx="6883400" cy="1122680"/>
          </a:xfrm>
        </p:grpSpPr>
        <p:sp>
          <p:nvSpPr>
            <p:cNvPr name="Freeform 49" id="49"/>
            <p:cNvSpPr/>
            <p:nvPr/>
          </p:nvSpPr>
          <p:spPr>
            <a:xfrm flipH="false" flipV="false" rot="0">
              <a:off x="0" y="0"/>
              <a:ext cx="6883400" cy="1122680"/>
            </a:xfrm>
            <a:custGeom>
              <a:avLst/>
              <a:gdLst/>
              <a:ahLst/>
              <a:cxnLst/>
              <a:rect r="r" b="b" t="t" l="l"/>
              <a:pathLst>
                <a:path h="1122680" w="6883400">
                  <a:moveTo>
                    <a:pt x="0" y="168402"/>
                  </a:moveTo>
                  <a:cubicBezTo>
                    <a:pt x="0" y="75438"/>
                    <a:pt x="75438" y="0"/>
                    <a:pt x="168402" y="0"/>
                  </a:cubicBezTo>
                  <a:lnTo>
                    <a:pt x="6714998" y="0"/>
                  </a:lnTo>
                  <a:cubicBezTo>
                    <a:pt x="6807962" y="0"/>
                    <a:pt x="6883400" y="75438"/>
                    <a:pt x="6883400" y="168402"/>
                  </a:cubicBezTo>
                  <a:lnTo>
                    <a:pt x="6883400" y="954278"/>
                  </a:lnTo>
                  <a:cubicBezTo>
                    <a:pt x="6883400" y="1047242"/>
                    <a:pt x="6807962" y="1122680"/>
                    <a:pt x="6714998" y="1122680"/>
                  </a:cubicBezTo>
                  <a:lnTo>
                    <a:pt x="168402" y="1122680"/>
                  </a:lnTo>
                  <a:cubicBezTo>
                    <a:pt x="75438" y="1122680"/>
                    <a:pt x="0" y="1047242"/>
                    <a:pt x="0" y="954278"/>
                  </a:cubicBezTo>
                  <a:close/>
                </a:path>
              </a:pathLst>
            </a:custGeom>
            <a:solidFill>
              <a:srgbClr val="F4F7FC"/>
            </a:solidFill>
            <a:ln w="19050" cap="sq">
              <a:solidFill>
                <a:srgbClr val="D7DCEC"/>
              </a:solidFill>
              <a:prstDash val="solid"/>
              <a:miter/>
            </a:ln>
          </p:spPr>
        </p:sp>
      </p:grpSp>
      <p:grpSp>
        <p:nvGrpSpPr>
          <p:cNvPr name="Group 50" id="50"/>
          <p:cNvGrpSpPr/>
          <p:nvPr/>
        </p:nvGrpSpPr>
        <p:grpSpPr>
          <a:xfrm rot="0">
            <a:off x="6542532" y="6213348"/>
            <a:ext cx="5143500" cy="521208"/>
            <a:chOff x="0" y="0"/>
            <a:chExt cx="6858000" cy="694944"/>
          </a:xfrm>
        </p:grpSpPr>
        <p:sp>
          <p:nvSpPr>
            <p:cNvPr name="Freeform 51" id="51"/>
            <p:cNvSpPr/>
            <p:nvPr/>
          </p:nvSpPr>
          <p:spPr>
            <a:xfrm flipH="false" flipV="false" rot="0">
              <a:off x="0" y="0"/>
              <a:ext cx="6858000" cy="694944"/>
            </a:xfrm>
            <a:custGeom>
              <a:avLst/>
              <a:gdLst/>
              <a:ahLst/>
              <a:cxnLst/>
              <a:rect r="r" b="b" t="t" l="l"/>
              <a:pathLst>
                <a:path h="694944" w="6858000">
                  <a:moveTo>
                    <a:pt x="0" y="0"/>
                  </a:moveTo>
                  <a:lnTo>
                    <a:pt x="6858000" y="0"/>
                  </a:lnTo>
                  <a:lnTo>
                    <a:pt x="6858000" y="694944"/>
                  </a:lnTo>
                  <a:lnTo>
                    <a:pt x="0" y="694944"/>
                  </a:lnTo>
                  <a:close/>
                </a:path>
              </a:pathLst>
            </a:custGeom>
            <a:blipFill>
              <a:blip r:embed="rId2">
                <a:alphaModFix amt="0"/>
              </a:blip>
              <a:stretch>
                <a:fillRect l="0" t="-142286" r="0" b="-142286"/>
              </a:stretch>
            </a:blipFill>
          </p:spPr>
        </p:sp>
        <p:sp>
          <p:nvSpPr>
            <p:cNvPr name="TextBox 52" id="52"/>
            <p:cNvSpPr txBox="true"/>
            <p:nvPr/>
          </p:nvSpPr>
          <p:spPr>
            <a:xfrm>
              <a:off x="0" y="-38100"/>
              <a:ext cx="6858000" cy="733044"/>
            </a:xfrm>
            <a:prstGeom prst="rect">
              <a:avLst/>
            </a:prstGeom>
          </p:spPr>
          <p:txBody>
            <a:bodyPr anchor="ctr" rtlCol="false" tIns="0" lIns="0" bIns="0" rIns="0"/>
            <a:lstStyle/>
            <a:p>
              <a:pPr algn="ctr">
                <a:lnSpc>
                  <a:spcPts val="2430"/>
                </a:lnSpc>
              </a:pPr>
              <a:r>
                <a:rPr lang="en-US" sz="2025">
                  <a:solidFill>
                    <a:srgbClr val="6B7280"/>
                  </a:solidFill>
                  <a:latin typeface="Calibri (MS)"/>
                  <a:ea typeface="Calibri (MS)"/>
                  <a:cs typeface="Calibri (MS)"/>
                  <a:sym typeface="Calibri (MS)"/>
                </a:rPr>
                <a:t>Respond</a:t>
              </a:r>
            </a:p>
          </p:txBody>
        </p:sp>
      </p:grpSp>
      <p:grpSp>
        <p:nvGrpSpPr>
          <p:cNvPr name="Group 53" id="53"/>
          <p:cNvGrpSpPr/>
          <p:nvPr/>
        </p:nvGrpSpPr>
        <p:grpSpPr>
          <a:xfrm rot="0">
            <a:off x="6542532" y="6583680"/>
            <a:ext cx="5143500" cy="329184"/>
            <a:chOff x="0" y="0"/>
            <a:chExt cx="6858000" cy="438912"/>
          </a:xfrm>
        </p:grpSpPr>
        <p:sp>
          <p:nvSpPr>
            <p:cNvPr name="Freeform 54" id="54"/>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55" id="55"/>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9AA3B8"/>
                  </a:solidFill>
                  <a:latin typeface="Arimo"/>
                  <a:ea typeface="Arimo"/>
                  <a:cs typeface="Arimo"/>
                  <a:sym typeface="Arimo"/>
                </a:rPr>
                <a:t>RS</a:t>
              </a:r>
            </a:p>
          </p:txBody>
        </p:sp>
      </p:grpSp>
      <p:grpSp>
        <p:nvGrpSpPr>
          <p:cNvPr name="Group 56" id="56"/>
          <p:cNvGrpSpPr/>
          <p:nvPr/>
        </p:nvGrpSpPr>
        <p:grpSpPr>
          <a:xfrm rot="0">
            <a:off x="12115419" y="6135243"/>
            <a:ext cx="5162550" cy="842010"/>
            <a:chOff x="0" y="0"/>
            <a:chExt cx="6883400" cy="1122680"/>
          </a:xfrm>
        </p:grpSpPr>
        <p:sp>
          <p:nvSpPr>
            <p:cNvPr name="Freeform 57" id="57"/>
            <p:cNvSpPr/>
            <p:nvPr/>
          </p:nvSpPr>
          <p:spPr>
            <a:xfrm flipH="false" flipV="false" rot="0">
              <a:off x="0" y="0"/>
              <a:ext cx="6883400" cy="1122680"/>
            </a:xfrm>
            <a:custGeom>
              <a:avLst/>
              <a:gdLst/>
              <a:ahLst/>
              <a:cxnLst/>
              <a:rect r="r" b="b" t="t" l="l"/>
              <a:pathLst>
                <a:path h="1122680" w="6883400">
                  <a:moveTo>
                    <a:pt x="0" y="168402"/>
                  </a:moveTo>
                  <a:cubicBezTo>
                    <a:pt x="0" y="75438"/>
                    <a:pt x="75438" y="0"/>
                    <a:pt x="168402" y="0"/>
                  </a:cubicBezTo>
                  <a:lnTo>
                    <a:pt x="6714998" y="0"/>
                  </a:lnTo>
                  <a:cubicBezTo>
                    <a:pt x="6807962" y="0"/>
                    <a:pt x="6883400" y="75438"/>
                    <a:pt x="6883400" y="168402"/>
                  </a:cubicBezTo>
                  <a:lnTo>
                    <a:pt x="6883400" y="954278"/>
                  </a:lnTo>
                  <a:cubicBezTo>
                    <a:pt x="6883400" y="1047242"/>
                    <a:pt x="6807962" y="1122680"/>
                    <a:pt x="6714998" y="1122680"/>
                  </a:cubicBezTo>
                  <a:lnTo>
                    <a:pt x="168402" y="1122680"/>
                  </a:lnTo>
                  <a:cubicBezTo>
                    <a:pt x="75438" y="1122680"/>
                    <a:pt x="0" y="1047242"/>
                    <a:pt x="0" y="954278"/>
                  </a:cubicBezTo>
                  <a:close/>
                </a:path>
              </a:pathLst>
            </a:custGeom>
            <a:solidFill>
              <a:srgbClr val="F4F7FC"/>
            </a:solidFill>
            <a:ln w="19050" cap="sq">
              <a:solidFill>
                <a:srgbClr val="D7DCEC"/>
              </a:solidFill>
              <a:prstDash val="solid"/>
              <a:miter/>
            </a:ln>
          </p:spPr>
        </p:sp>
      </p:grpSp>
      <p:grpSp>
        <p:nvGrpSpPr>
          <p:cNvPr name="Group 58" id="58"/>
          <p:cNvGrpSpPr/>
          <p:nvPr/>
        </p:nvGrpSpPr>
        <p:grpSpPr>
          <a:xfrm rot="0">
            <a:off x="12124944" y="6213348"/>
            <a:ext cx="5143500" cy="521208"/>
            <a:chOff x="0" y="0"/>
            <a:chExt cx="6858000" cy="694944"/>
          </a:xfrm>
        </p:grpSpPr>
        <p:sp>
          <p:nvSpPr>
            <p:cNvPr name="Freeform 59" id="59"/>
            <p:cNvSpPr/>
            <p:nvPr/>
          </p:nvSpPr>
          <p:spPr>
            <a:xfrm flipH="false" flipV="false" rot="0">
              <a:off x="0" y="0"/>
              <a:ext cx="6858000" cy="694944"/>
            </a:xfrm>
            <a:custGeom>
              <a:avLst/>
              <a:gdLst/>
              <a:ahLst/>
              <a:cxnLst/>
              <a:rect r="r" b="b" t="t" l="l"/>
              <a:pathLst>
                <a:path h="694944" w="6858000">
                  <a:moveTo>
                    <a:pt x="0" y="0"/>
                  </a:moveTo>
                  <a:lnTo>
                    <a:pt x="6858000" y="0"/>
                  </a:lnTo>
                  <a:lnTo>
                    <a:pt x="6858000" y="694944"/>
                  </a:lnTo>
                  <a:lnTo>
                    <a:pt x="0" y="694944"/>
                  </a:lnTo>
                  <a:close/>
                </a:path>
              </a:pathLst>
            </a:custGeom>
            <a:blipFill>
              <a:blip r:embed="rId2">
                <a:alphaModFix amt="0"/>
              </a:blip>
              <a:stretch>
                <a:fillRect l="0" t="-142286" r="0" b="-142286"/>
              </a:stretch>
            </a:blipFill>
          </p:spPr>
        </p:sp>
        <p:sp>
          <p:nvSpPr>
            <p:cNvPr name="TextBox 60" id="60"/>
            <p:cNvSpPr txBox="true"/>
            <p:nvPr/>
          </p:nvSpPr>
          <p:spPr>
            <a:xfrm>
              <a:off x="0" y="-38100"/>
              <a:ext cx="6858000" cy="733044"/>
            </a:xfrm>
            <a:prstGeom prst="rect">
              <a:avLst/>
            </a:prstGeom>
          </p:spPr>
          <p:txBody>
            <a:bodyPr anchor="ctr" rtlCol="false" tIns="0" lIns="0" bIns="0" rIns="0"/>
            <a:lstStyle/>
            <a:p>
              <a:pPr algn="ctr">
                <a:lnSpc>
                  <a:spcPts val="2430"/>
                </a:lnSpc>
              </a:pPr>
              <a:r>
                <a:rPr lang="en-US" sz="2025">
                  <a:solidFill>
                    <a:srgbClr val="6B7280"/>
                  </a:solidFill>
                  <a:latin typeface="Calibri (MS)"/>
                  <a:ea typeface="Calibri (MS)"/>
                  <a:cs typeface="Calibri (MS)"/>
                  <a:sym typeface="Calibri (MS)"/>
                </a:rPr>
                <a:t>Recover</a:t>
              </a:r>
            </a:p>
          </p:txBody>
        </p:sp>
      </p:grpSp>
      <p:grpSp>
        <p:nvGrpSpPr>
          <p:cNvPr name="Group 61" id="61"/>
          <p:cNvGrpSpPr/>
          <p:nvPr/>
        </p:nvGrpSpPr>
        <p:grpSpPr>
          <a:xfrm rot="0">
            <a:off x="12124944" y="6583680"/>
            <a:ext cx="5143500" cy="329184"/>
            <a:chOff x="0" y="0"/>
            <a:chExt cx="6858000" cy="438912"/>
          </a:xfrm>
        </p:grpSpPr>
        <p:sp>
          <p:nvSpPr>
            <p:cNvPr name="Freeform 62" id="62"/>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63" id="63"/>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9AA3B8"/>
                  </a:solidFill>
                  <a:latin typeface="Arimo"/>
                  <a:ea typeface="Arimo"/>
                  <a:cs typeface="Arimo"/>
                  <a:sym typeface="Arimo"/>
                </a:rPr>
                <a:t>RC</a:t>
              </a:r>
            </a:p>
          </p:txBody>
        </p:sp>
      </p:grpSp>
      <p:grpSp>
        <p:nvGrpSpPr>
          <p:cNvPr name="Group 64" id="64"/>
          <p:cNvGrpSpPr/>
          <p:nvPr/>
        </p:nvGrpSpPr>
        <p:grpSpPr>
          <a:xfrm rot="0">
            <a:off x="950595" y="7328535"/>
            <a:ext cx="16341090" cy="1596390"/>
            <a:chOff x="0" y="0"/>
            <a:chExt cx="21788120" cy="2128520"/>
          </a:xfrm>
        </p:grpSpPr>
        <p:sp>
          <p:nvSpPr>
            <p:cNvPr name="Freeform 65" id="65"/>
            <p:cNvSpPr/>
            <p:nvPr/>
          </p:nvSpPr>
          <p:spPr>
            <a:xfrm flipH="false" flipV="false" rot="0">
              <a:off x="0" y="0"/>
              <a:ext cx="21788120" cy="2128520"/>
            </a:xfrm>
            <a:custGeom>
              <a:avLst/>
              <a:gdLst/>
              <a:ahLst/>
              <a:cxnLst/>
              <a:rect r="r" b="b" t="t" l="l"/>
              <a:pathLst>
                <a:path h="2128520" w="21788120">
                  <a:moveTo>
                    <a:pt x="0" y="185039"/>
                  </a:moveTo>
                  <a:cubicBezTo>
                    <a:pt x="0" y="82931"/>
                    <a:pt x="82931" y="0"/>
                    <a:pt x="185039" y="0"/>
                  </a:cubicBezTo>
                  <a:lnTo>
                    <a:pt x="21603081" y="0"/>
                  </a:lnTo>
                  <a:cubicBezTo>
                    <a:pt x="21705317" y="0"/>
                    <a:pt x="21788120" y="82931"/>
                    <a:pt x="21788120" y="185039"/>
                  </a:cubicBezTo>
                  <a:lnTo>
                    <a:pt x="21788120" y="1943481"/>
                  </a:lnTo>
                  <a:cubicBezTo>
                    <a:pt x="21788120" y="2045716"/>
                    <a:pt x="21705190" y="2128520"/>
                    <a:pt x="21603081" y="2128520"/>
                  </a:cubicBezTo>
                  <a:lnTo>
                    <a:pt x="185039" y="2128520"/>
                  </a:lnTo>
                  <a:cubicBezTo>
                    <a:pt x="82931" y="2128520"/>
                    <a:pt x="0" y="2045589"/>
                    <a:pt x="0" y="1943481"/>
                  </a:cubicBezTo>
                  <a:close/>
                </a:path>
              </a:pathLst>
            </a:custGeom>
            <a:solidFill>
              <a:srgbClr val="FBF9F4"/>
            </a:solidFill>
            <a:ln w="19050" cap="sq">
              <a:solidFill>
                <a:srgbClr val="EFE6D2"/>
              </a:solidFill>
              <a:prstDash val="solid"/>
              <a:miter/>
            </a:ln>
          </p:spPr>
        </p:sp>
      </p:grpSp>
      <p:sp>
        <p:nvSpPr>
          <p:cNvPr name="TextBox 66" id="66"/>
          <p:cNvSpPr txBox="true"/>
          <p:nvPr/>
        </p:nvSpPr>
        <p:spPr>
          <a:xfrm rot="0">
            <a:off x="1463040" y="7494270"/>
            <a:ext cx="15316200" cy="1238250"/>
          </a:xfrm>
          <a:prstGeom prst="rect">
            <a:avLst/>
          </a:prstGeom>
        </p:spPr>
        <p:txBody>
          <a:bodyPr anchor="t" rtlCol="false" tIns="0" lIns="0" bIns="0" rIns="0">
            <a:spAutoFit/>
          </a:bodyPr>
          <a:lstStyle/>
          <a:p>
            <a:pPr algn="l">
              <a:lnSpc>
                <a:spcPts val="2880"/>
              </a:lnSpc>
            </a:pPr>
            <a:r>
              <a:rPr lang="en-US" sz="1875">
                <a:solidFill>
                  <a:srgbClr val="23262F"/>
                </a:solidFill>
                <a:latin typeface="Calibri (MS)"/>
                <a:ea typeface="Calibri (MS)"/>
                <a:cs typeface="Calibri (MS)"/>
                <a:sym typeface="Calibri (MS)"/>
              </a:rPr>
              <a:t>This is “shadow IT” — a system in use that the office didn't know it had. Finding it is Identify: you can't manage the risk of an asset you don't know exists.</a:t>
            </a:r>
          </a:p>
        </p:txBody>
      </p:sp>
      <p:grpSp>
        <p:nvGrpSpPr>
          <p:cNvPr name="Group 67" id="67"/>
          <p:cNvGrpSpPr/>
          <p:nvPr/>
        </p:nvGrpSpPr>
        <p:grpSpPr>
          <a:xfrm rot="0">
            <a:off x="685800" y="9710928"/>
            <a:ext cx="10972800" cy="411480"/>
            <a:chOff x="0" y="0"/>
            <a:chExt cx="14630400" cy="548640"/>
          </a:xfrm>
        </p:grpSpPr>
        <p:sp>
          <p:nvSpPr>
            <p:cNvPr name="Freeform 68" id="68"/>
            <p:cNvSpPr/>
            <p:nvPr/>
          </p:nvSpPr>
          <p:spPr>
            <a:xfrm flipH="false" flipV="false" rot="0">
              <a:off x="0" y="0"/>
              <a:ext cx="14630400" cy="548640"/>
            </a:xfrm>
            <a:custGeom>
              <a:avLst/>
              <a:gdLst/>
              <a:ahLst/>
              <a:cxnLst/>
              <a:rect r="r" b="b" t="t" l="l"/>
              <a:pathLst>
                <a:path h="548640" w="14630400">
                  <a:moveTo>
                    <a:pt x="0" y="0"/>
                  </a:moveTo>
                  <a:lnTo>
                    <a:pt x="14630400" y="0"/>
                  </a:lnTo>
                  <a:lnTo>
                    <a:pt x="14630400" y="548640"/>
                  </a:lnTo>
                  <a:lnTo>
                    <a:pt x="0" y="548640"/>
                  </a:lnTo>
                  <a:close/>
                </a:path>
              </a:pathLst>
            </a:custGeom>
            <a:blipFill>
              <a:blip r:embed="rId2">
                <a:alphaModFix amt="0"/>
              </a:blip>
              <a:stretch>
                <a:fillRect l="0" t="-469601" r="0" b="-469601"/>
              </a:stretch>
            </a:blipFill>
          </p:spPr>
        </p:sp>
        <p:sp>
          <p:nvSpPr>
            <p:cNvPr name="TextBox 69" id="69"/>
            <p:cNvSpPr txBox="true"/>
            <p:nvPr/>
          </p:nvSpPr>
          <p:spPr>
            <a:xfrm>
              <a:off x="0" y="-38100"/>
              <a:ext cx="14630400" cy="586740"/>
            </a:xfrm>
            <a:prstGeom prst="rect">
              <a:avLst/>
            </a:prstGeom>
          </p:spPr>
          <p:txBody>
            <a:bodyPr anchor="ctr" rtlCol="false" tIns="0" lIns="0" bIns="0" rIns="0"/>
            <a:lstStyle/>
            <a:p>
              <a:pPr algn="l">
                <a:lnSpc>
                  <a:spcPts val="1800"/>
                </a:lnSpc>
              </a:pPr>
              <a:r>
                <a:rPr lang="en-US" sz="1500">
                  <a:solidFill>
                    <a:srgbClr val="6B7280"/>
                  </a:solidFill>
                  <a:latin typeface="Calibri (MS)"/>
                  <a:ea typeface="Calibri (MS)"/>
                  <a:cs typeface="Calibri (MS)"/>
                  <a:sym typeface="Calibri (MS)"/>
                </a:rPr>
                <a:t>Davao del Norte Provincial Government — Cybersecurity Seminar</a:t>
              </a:r>
            </a:p>
          </p:txBody>
        </p:sp>
      </p:grpSp>
      <p:grpSp>
        <p:nvGrpSpPr>
          <p:cNvPr name="Group 70" id="70"/>
          <p:cNvGrpSpPr/>
          <p:nvPr/>
        </p:nvGrpSpPr>
        <p:grpSpPr>
          <a:xfrm rot="0">
            <a:off x="16911828" y="9710928"/>
            <a:ext cx="685800" cy="411480"/>
            <a:chOff x="0" y="0"/>
            <a:chExt cx="914400" cy="548640"/>
          </a:xfrm>
        </p:grpSpPr>
        <p:sp>
          <p:nvSpPr>
            <p:cNvPr name="Freeform 71" id="71"/>
            <p:cNvSpPr/>
            <p:nvPr/>
          </p:nvSpPr>
          <p:spPr>
            <a:xfrm flipH="false" flipV="false" rot="0">
              <a:off x="0" y="0"/>
              <a:ext cx="914400" cy="548640"/>
            </a:xfrm>
            <a:custGeom>
              <a:avLst/>
              <a:gdLst/>
              <a:ahLst/>
              <a:cxnLst/>
              <a:rect r="r" b="b" t="t" l="l"/>
              <a:pathLst>
                <a:path h="548640" w="914400">
                  <a:moveTo>
                    <a:pt x="0" y="0"/>
                  </a:moveTo>
                  <a:lnTo>
                    <a:pt x="914400" y="0"/>
                  </a:lnTo>
                  <a:lnTo>
                    <a:pt x="914400" y="548640"/>
                  </a:lnTo>
                  <a:lnTo>
                    <a:pt x="0" y="548640"/>
                  </a:lnTo>
                  <a:close/>
                </a:path>
              </a:pathLst>
            </a:custGeom>
            <a:blipFill>
              <a:blip r:embed="rId2">
                <a:alphaModFix amt="0"/>
              </a:blip>
              <a:stretch>
                <a:fillRect l="-26982" t="0" r="-26982" b="0"/>
              </a:stretch>
            </a:blipFill>
          </p:spPr>
        </p:sp>
        <p:sp>
          <p:nvSpPr>
            <p:cNvPr name="TextBox 72" id="72"/>
            <p:cNvSpPr txBox="true"/>
            <p:nvPr/>
          </p:nvSpPr>
          <p:spPr>
            <a:xfrm>
              <a:off x="0" y="-38100"/>
              <a:ext cx="914400" cy="586740"/>
            </a:xfrm>
            <a:prstGeom prst="rect">
              <a:avLst/>
            </a:prstGeom>
          </p:spPr>
          <p:txBody>
            <a:bodyPr anchor="ctr" rtlCol="false" tIns="0" lIns="0" bIns="0" rIns="0"/>
            <a:lstStyle/>
            <a:p>
              <a:pPr algn="r">
                <a:lnSpc>
                  <a:spcPts val="1800"/>
                </a:lnSpc>
              </a:pPr>
              <a:r>
                <a:rPr lang="en-US" sz="1500">
                  <a:solidFill>
                    <a:srgbClr val="6B7280"/>
                  </a:solidFill>
                  <a:latin typeface="Calibri (MS)"/>
                  <a:ea typeface="Calibri (MS)"/>
                  <a:cs typeface="Calibri (MS)"/>
                  <a:sym typeface="Calibri (MS)"/>
                </a:rPr>
                <a:t>28</a:t>
              </a:r>
            </a:p>
          </p:txBody>
        </p:sp>
      </p:grpSp>
    </p:spTree>
  </p:cSld>
  <p:clrMapOvr>
    <a:masterClrMapping/>
  </p:clrMapOvr>
</p:sld>
</file>

<file path=ppt/slides/slide9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60120" y="685800"/>
            <a:ext cx="13716000" cy="411480"/>
            <a:chOff x="0" y="0"/>
            <a:chExt cx="18288000" cy="548640"/>
          </a:xfrm>
        </p:grpSpPr>
        <p:sp>
          <p:nvSpPr>
            <p:cNvPr name="Freeform 3" id="3"/>
            <p:cNvSpPr/>
            <p:nvPr/>
          </p:nvSpPr>
          <p:spPr>
            <a:xfrm flipH="false" flipV="false" rot="0">
              <a:off x="0" y="0"/>
              <a:ext cx="18288000" cy="548640"/>
            </a:xfrm>
            <a:custGeom>
              <a:avLst/>
              <a:gdLst/>
              <a:ahLst/>
              <a:cxnLst/>
              <a:rect r="r" b="b" t="t" l="l"/>
              <a:pathLst>
                <a:path h="548640" w="18288000">
                  <a:moveTo>
                    <a:pt x="0" y="0"/>
                  </a:moveTo>
                  <a:lnTo>
                    <a:pt x="18288000" y="0"/>
                  </a:lnTo>
                  <a:lnTo>
                    <a:pt x="18288000" y="548640"/>
                  </a:lnTo>
                  <a:lnTo>
                    <a:pt x="0" y="548640"/>
                  </a:lnTo>
                  <a:close/>
                </a:path>
              </a:pathLst>
            </a:custGeom>
            <a:blipFill>
              <a:blip r:embed="rId2">
                <a:alphaModFix amt="0"/>
              </a:blip>
              <a:stretch>
                <a:fillRect l="0" t="-599501" r="0" b="-599501"/>
              </a:stretch>
            </a:blipFill>
          </p:spPr>
        </p:sp>
        <p:sp>
          <p:nvSpPr>
            <p:cNvPr name="TextBox 4" id="4"/>
            <p:cNvSpPr txBox="true"/>
            <p:nvPr/>
          </p:nvSpPr>
          <p:spPr>
            <a:xfrm>
              <a:off x="0" y="-38100"/>
              <a:ext cx="18288000" cy="586740"/>
            </a:xfrm>
            <a:prstGeom prst="rect">
              <a:avLst/>
            </a:prstGeom>
          </p:spPr>
          <p:txBody>
            <a:bodyPr anchor="ctr" rtlCol="false" tIns="0" lIns="0" bIns="0" rIns="0"/>
            <a:lstStyle/>
            <a:p>
              <a:pPr algn="l">
                <a:lnSpc>
                  <a:spcPts val="2160"/>
                </a:lnSpc>
              </a:pPr>
              <a:r>
                <a:rPr lang="en-US" b="true" sz="1800" spc="225">
                  <a:solidFill>
                    <a:srgbClr val="00B4D8"/>
                  </a:solidFill>
                  <a:latin typeface="Calibri (MS) Bold"/>
                  <a:ea typeface="Calibri (MS) Bold"/>
                  <a:cs typeface="Calibri (MS) Bold"/>
                  <a:sym typeface="Calibri (MS) Bold"/>
                </a:rPr>
                <a:t>NIST CSF SORT · SCENARIO</a:t>
              </a:r>
            </a:p>
          </p:txBody>
        </p:sp>
      </p:grpSp>
      <p:grpSp>
        <p:nvGrpSpPr>
          <p:cNvPr name="Group 5" id="5"/>
          <p:cNvGrpSpPr/>
          <p:nvPr/>
        </p:nvGrpSpPr>
        <p:grpSpPr>
          <a:xfrm rot="0">
            <a:off x="960120" y="1069848"/>
            <a:ext cx="10972800" cy="822960"/>
            <a:chOff x="0" y="0"/>
            <a:chExt cx="14630400" cy="1097280"/>
          </a:xfrm>
        </p:grpSpPr>
        <p:sp>
          <p:nvSpPr>
            <p:cNvPr name="Freeform 6" id="6"/>
            <p:cNvSpPr/>
            <p:nvPr/>
          </p:nvSpPr>
          <p:spPr>
            <a:xfrm flipH="false" flipV="false" rot="0">
              <a:off x="0" y="0"/>
              <a:ext cx="14630400" cy="1097280"/>
            </a:xfrm>
            <a:custGeom>
              <a:avLst/>
              <a:gdLst/>
              <a:ahLst/>
              <a:cxnLst/>
              <a:rect r="r" b="b" t="t" l="l"/>
              <a:pathLst>
                <a:path h="1097280" w="14630400">
                  <a:moveTo>
                    <a:pt x="0" y="0"/>
                  </a:moveTo>
                  <a:lnTo>
                    <a:pt x="14630400" y="0"/>
                  </a:lnTo>
                  <a:lnTo>
                    <a:pt x="14630400" y="1097280"/>
                  </a:lnTo>
                  <a:lnTo>
                    <a:pt x="0" y="1097280"/>
                  </a:lnTo>
                  <a:close/>
                </a:path>
              </a:pathLst>
            </a:custGeom>
            <a:blipFill>
              <a:blip r:embed="rId2">
                <a:alphaModFix amt="0"/>
              </a:blip>
              <a:stretch>
                <a:fillRect l="0" t="-209800" r="0" b="-209800"/>
              </a:stretch>
            </a:blipFill>
          </p:spPr>
        </p:sp>
        <p:sp>
          <p:nvSpPr>
            <p:cNvPr name="TextBox 7" id="7"/>
            <p:cNvSpPr txBox="true"/>
            <p:nvPr/>
          </p:nvSpPr>
          <p:spPr>
            <a:xfrm>
              <a:off x="0" y="0"/>
              <a:ext cx="14630400" cy="1097280"/>
            </a:xfrm>
            <a:prstGeom prst="rect">
              <a:avLst/>
            </a:prstGeom>
          </p:spPr>
          <p:txBody>
            <a:bodyPr anchor="ctr" rtlCol="false" tIns="0" lIns="0" bIns="0" rIns="0"/>
            <a:lstStyle/>
            <a:p>
              <a:pPr algn="l">
                <a:lnSpc>
                  <a:spcPts val="4680"/>
                </a:lnSpc>
              </a:pPr>
              <a:r>
                <a:rPr lang="en-US" sz="3900" b="true">
                  <a:solidFill>
                    <a:srgbClr val="1E2761"/>
                  </a:solidFill>
                  <a:latin typeface="Cambria Bold"/>
                  <a:ea typeface="Cambria Bold"/>
                  <a:cs typeface="Cambria Bold"/>
                  <a:sym typeface="Cambria Bold"/>
                </a:rPr>
                <a:t>Scenario 10</a:t>
              </a:r>
            </a:p>
          </p:txBody>
        </p:sp>
      </p:grpSp>
      <p:grpSp>
        <p:nvGrpSpPr>
          <p:cNvPr name="Group 8" id="8"/>
          <p:cNvGrpSpPr/>
          <p:nvPr/>
        </p:nvGrpSpPr>
        <p:grpSpPr>
          <a:xfrm rot="0">
            <a:off x="960120" y="1810512"/>
            <a:ext cx="8229600" cy="411480"/>
            <a:chOff x="0" y="0"/>
            <a:chExt cx="10972800" cy="548640"/>
          </a:xfrm>
        </p:grpSpPr>
        <p:sp>
          <p:nvSpPr>
            <p:cNvPr name="Freeform 9" id="9"/>
            <p:cNvSpPr/>
            <p:nvPr/>
          </p:nvSpPr>
          <p:spPr>
            <a:xfrm flipH="false" flipV="false" rot="0">
              <a:off x="0" y="0"/>
              <a:ext cx="10972800" cy="548640"/>
            </a:xfrm>
            <a:custGeom>
              <a:avLst/>
              <a:gdLst/>
              <a:ahLst/>
              <a:cxnLst/>
              <a:rect r="r" b="b" t="t" l="l"/>
              <a:pathLst>
                <a:path h="548640" w="10972800">
                  <a:moveTo>
                    <a:pt x="0" y="0"/>
                  </a:moveTo>
                  <a:lnTo>
                    <a:pt x="10972800" y="0"/>
                  </a:lnTo>
                  <a:lnTo>
                    <a:pt x="10972800" y="548640"/>
                  </a:lnTo>
                  <a:lnTo>
                    <a:pt x="0" y="548640"/>
                  </a:lnTo>
                  <a:close/>
                </a:path>
              </a:pathLst>
            </a:custGeom>
            <a:blipFill>
              <a:blip r:embed="rId2">
                <a:alphaModFix amt="0"/>
              </a:blip>
              <a:stretch>
                <a:fillRect l="0" t="-339700" r="0" b="-339700"/>
              </a:stretch>
            </a:blipFill>
          </p:spPr>
        </p:sp>
        <p:sp>
          <p:nvSpPr>
            <p:cNvPr name="TextBox 10" id="10"/>
            <p:cNvSpPr txBox="true"/>
            <p:nvPr/>
          </p:nvSpPr>
          <p:spPr>
            <a:xfrm>
              <a:off x="0" y="-28575"/>
              <a:ext cx="10972800" cy="577215"/>
            </a:xfrm>
            <a:prstGeom prst="rect">
              <a:avLst/>
            </a:prstGeom>
          </p:spPr>
          <p:txBody>
            <a:bodyPr anchor="ctr" rtlCol="false" tIns="0" lIns="0" bIns="0" rIns="0"/>
            <a:lstStyle/>
            <a:p>
              <a:pPr algn="l">
                <a:lnSpc>
                  <a:spcPts val="1980"/>
                </a:lnSpc>
              </a:pPr>
              <a:r>
                <a:rPr lang="en-US" sz="1650">
                  <a:solidFill>
                    <a:srgbClr val="6B7280"/>
                  </a:solidFill>
                  <a:latin typeface="Calibri (MS)"/>
                  <a:ea typeface="Calibri (MS)"/>
                  <a:cs typeface="Calibri (MS)"/>
                  <a:sym typeface="Calibri (MS)"/>
                </a:rPr>
                <a:t>10 of 20</a:t>
              </a:r>
            </a:p>
          </p:txBody>
        </p:sp>
      </p:grpSp>
      <p:grpSp>
        <p:nvGrpSpPr>
          <p:cNvPr name="Group 11" id="11"/>
          <p:cNvGrpSpPr/>
          <p:nvPr/>
        </p:nvGrpSpPr>
        <p:grpSpPr>
          <a:xfrm rot="0">
            <a:off x="960120" y="2537460"/>
            <a:ext cx="16322040" cy="2811780"/>
            <a:chOff x="0" y="0"/>
            <a:chExt cx="21762720" cy="3749040"/>
          </a:xfrm>
        </p:grpSpPr>
        <p:sp>
          <p:nvSpPr>
            <p:cNvPr name="Freeform 12" id="12"/>
            <p:cNvSpPr/>
            <p:nvPr/>
          </p:nvSpPr>
          <p:spPr>
            <a:xfrm flipH="false" flipV="false" rot="0">
              <a:off x="0" y="0"/>
              <a:ext cx="21762720" cy="3749040"/>
            </a:xfrm>
            <a:custGeom>
              <a:avLst/>
              <a:gdLst/>
              <a:ahLst/>
              <a:cxnLst/>
              <a:rect r="r" b="b" t="t" l="l"/>
              <a:pathLst>
                <a:path h="3749040" w="21762720">
                  <a:moveTo>
                    <a:pt x="0" y="182880"/>
                  </a:moveTo>
                  <a:cubicBezTo>
                    <a:pt x="0" y="81915"/>
                    <a:pt x="81915" y="0"/>
                    <a:pt x="182880" y="0"/>
                  </a:cubicBezTo>
                  <a:lnTo>
                    <a:pt x="21579839" y="0"/>
                  </a:lnTo>
                  <a:cubicBezTo>
                    <a:pt x="21680804" y="0"/>
                    <a:pt x="21762720" y="81915"/>
                    <a:pt x="21762720" y="182880"/>
                  </a:cubicBezTo>
                  <a:lnTo>
                    <a:pt x="21762720" y="3566160"/>
                  </a:lnTo>
                  <a:cubicBezTo>
                    <a:pt x="21762720" y="3667125"/>
                    <a:pt x="21680804" y="3749040"/>
                    <a:pt x="21579839" y="3749040"/>
                  </a:cubicBezTo>
                  <a:lnTo>
                    <a:pt x="182880" y="3749040"/>
                  </a:lnTo>
                  <a:cubicBezTo>
                    <a:pt x="81915" y="3749040"/>
                    <a:pt x="0" y="3667125"/>
                    <a:pt x="0" y="3566160"/>
                  </a:cubicBezTo>
                  <a:close/>
                </a:path>
              </a:pathLst>
            </a:custGeom>
            <a:solidFill>
              <a:srgbClr val="F4F7FC"/>
            </a:solidFill>
          </p:spPr>
        </p:sp>
      </p:grpSp>
      <p:grpSp>
        <p:nvGrpSpPr>
          <p:cNvPr name="Group 13" id="13"/>
          <p:cNvGrpSpPr/>
          <p:nvPr/>
        </p:nvGrpSpPr>
        <p:grpSpPr>
          <a:xfrm rot="0">
            <a:off x="1440180" y="2811780"/>
            <a:ext cx="15361920" cy="2263140"/>
            <a:chOff x="0" y="0"/>
            <a:chExt cx="20482560" cy="3017520"/>
          </a:xfrm>
        </p:grpSpPr>
        <p:sp>
          <p:nvSpPr>
            <p:cNvPr name="Freeform 14" id="14"/>
            <p:cNvSpPr/>
            <p:nvPr/>
          </p:nvSpPr>
          <p:spPr>
            <a:xfrm flipH="false" flipV="false" rot="0">
              <a:off x="0" y="0"/>
              <a:ext cx="20482561" cy="3017520"/>
            </a:xfrm>
            <a:custGeom>
              <a:avLst/>
              <a:gdLst/>
              <a:ahLst/>
              <a:cxnLst/>
              <a:rect r="r" b="b" t="t" l="l"/>
              <a:pathLst>
                <a:path h="3017520" w="20482561">
                  <a:moveTo>
                    <a:pt x="0" y="0"/>
                  </a:moveTo>
                  <a:lnTo>
                    <a:pt x="20482561" y="0"/>
                  </a:lnTo>
                  <a:lnTo>
                    <a:pt x="20482561" y="3017520"/>
                  </a:lnTo>
                  <a:lnTo>
                    <a:pt x="0" y="3017520"/>
                  </a:lnTo>
                  <a:close/>
                </a:path>
              </a:pathLst>
            </a:custGeom>
            <a:blipFill>
              <a:blip r:embed="rId2">
                <a:alphaModFix amt="0"/>
              </a:blip>
              <a:stretch>
                <a:fillRect l="0" t="-82262" r="0" b="-82262"/>
              </a:stretch>
            </a:blipFill>
          </p:spPr>
        </p:sp>
        <p:sp>
          <p:nvSpPr>
            <p:cNvPr name="TextBox 15" id="15"/>
            <p:cNvSpPr txBox="true"/>
            <p:nvPr/>
          </p:nvSpPr>
          <p:spPr>
            <a:xfrm>
              <a:off x="0" y="-104775"/>
              <a:ext cx="20482560" cy="3122295"/>
            </a:xfrm>
            <a:prstGeom prst="rect">
              <a:avLst/>
            </a:prstGeom>
          </p:spPr>
          <p:txBody>
            <a:bodyPr anchor="ctr" rtlCol="false" tIns="0" lIns="0" bIns="0" rIns="0"/>
            <a:lstStyle/>
            <a:p>
              <a:pPr algn="l">
                <a:lnSpc>
                  <a:spcPts val="4147"/>
                </a:lnSpc>
              </a:pPr>
              <a:r>
                <a:rPr lang="en-US" sz="2700" i="true">
                  <a:solidFill>
                    <a:srgbClr val="23262F"/>
                  </a:solidFill>
                  <a:latin typeface="Cambria Italics"/>
                  <a:ea typeface="Cambria Italics"/>
                  <a:cs typeface="Cambria Italics"/>
                  <a:sym typeface="Cambria Italics"/>
                </a:rPr>
                <a:t>"Every new hire must complete a cybersecurity awareness module before their network account is activated."</a:t>
              </a:r>
            </a:p>
          </p:txBody>
        </p:sp>
      </p:grpSp>
      <p:sp>
        <p:nvSpPr>
          <p:cNvPr name="TextBox 16" id="16"/>
          <p:cNvSpPr txBox="true"/>
          <p:nvPr/>
        </p:nvSpPr>
        <p:spPr>
          <a:xfrm rot="0">
            <a:off x="1051560" y="5604510"/>
            <a:ext cx="16139160" cy="1276350"/>
          </a:xfrm>
          <a:prstGeom prst="rect">
            <a:avLst/>
          </a:prstGeom>
        </p:spPr>
        <p:txBody>
          <a:bodyPr anchor="t" rtlCol="false" tIns="0" lIns="0" bIns="0" rIns="0">
            <a:spAutoFit/>
          </a:bodyPr>
          <a:lstStyle/>
          <a:p>
            <a:pPr algn="ctr">
              <a:lnSpc>
                <a:spcPts val="3402"/>
              </a:lnSpc>
            </a:pPr>
            <a:r>
              <a:rPr lang="en-US" sz="2100" i="true">
                <a:solidFill>
                  <a:srgbClr val="6B7280"/>
                </a:solidFill>
                <a:latin typeface="Calibri (MS) Italics"/>
                <a:ea typeface="Calibri (MS) Italics"/>
                <a:cs typeface="Calibri (MS) Italics"/>
                <a:sym typeface="Calibri (MS) Italics"/>
              </a:rPr>
              <a:t>Which Function does this belong to — Govern, Identify, Protect, Detect, Respond, or Recover?</a:t>
            </a:r>
          </a:p>
          <a:p>
            <a:pPr algn="ctr">
              <a:lnSpc>
                <a:spcPts val="3402"/>
              </a:lnSpc>
            </a:pPr>
            <a:r>
              <a:rPr lang="en-US" sz="2100" i="true">
                <a:solidFill>
                  <a:srgbClr val="6B7280"/>
                </a:solidFill>
                <a:latin typeface="Calibri (MS) Italics"/>
                <a:ea typeface="Calibri (MS) Italics"/>
                <a:cs typeface="Calibri (MS) Italics"/>
                <a:sym typeface="Calibri (MS) Italics"/>
              </a:rPr>
              <a:t>Some belong to more than one. Discuss, then we'll reveal the answer.</a:t>
            </a:r>
          </a:p>
        </p:txBody>
      </p:sp>
      <p:grpSp>
        <p:nvGrpSpPr>
          <p:cNvPr name="Group 17" id="17"/>
          <p:cNvGrpSpPr/>
          <p:nvPr/>
        </p:nvGrpSpPr>
        <p:grpSpPr>
          <a:xfrm rot="0">
            <a:off x="950595" y="7122795"/>
            <a:ext cx="5162550" cy="910590"/>
            <a:chOff x="0" y="0"/>
            <a:chExt cx="6883400" cy="1214120"/>
          </a:xfrm>
        </p:grpSpPr>
        <p:sp>
          <p:nvSpPr>
            <p:cNvPr name="Freeform 18" id="18"/>
            <p:cNvSpPr/>
            <p:nvPr/>
          </p:nvSpPr>
          <p:spPr>
            <a:xfrm flipH="false" flipV="false" rot="0">
              <a:off x="0" y="0"/>
              <a:ext cx="6883400" cy="1214120"/>
            </a:xfrm>
            <a:custGeom>
              <a:avLst/>
              <a:gdLst/>
              <a:ahLst/>
              <a:cxnLst/>
              <a:rect r="r" b="b" t="t" l="l"/>
              <a:pathLst>
                <a:path h="1214120" w="6883400">
                  <a:moveTo>
                    <a:pt x="0" y="168148"/>
                  </a:moveTo>
                  <a:cubicBezTo>
                    <a:pt x="0" y="75311"/>
                    <a:pt x="75311" y="0"/>
                    <a:pt x="168148" y="0"/>
                  </a:cubicBezTo>
                  <a:lnTo>
                    <a:pt x="6715252" y="0"/>
                  </a:lnTo>
                  <a:cubicBezTo>
                    <a:pt x="6808089" y="0"/>
                    <a:pt x="6883400" y="75311"/>
                    <a:pt x="6883400" y="168148"/>
                  </a:cubicBezTo>
                  <a:lnTo>
                    <a:pt x="6883400" y="1045972"/>
                  </a:lnTo>
                  <a:cubicBezTo>
                    <a:pt x="6883400" y="1138809"/>
                    <a:pt x="6808089" y="1214120"/>
                    <a:pt x="6715252" y="1214120"/>
                  </a:cubicBezTo>
                  <a:lnTo>
                    <a:pt x="168148" y="1214120"/>
                  </a:lnTo>
                  <a:cubicBezTo>
                    <a:pt x="75311" y="1214120"/>
                    <a:pt x="0" y="1138809"/>
                    <a:pt x="0" y="1045972"/>
                  </a:cubicBezTo>
                  <a:close/>
                </a:path>
              </a:pathLst>
            </a:custGeom>
            <a:solidFill>
              <a:srgbClr val="F4F7FC"/>
            </a:solidFill>
            <a:ln w="19050" cap="sq">
              <a:solidFill>
                <a:srgbClr val="D7DCEC"/>
              </a:solidFill>
              <a:prstDash val="solid"/>
              <a:miter/>
            </a:ln>
          </p:spPr>
        </p:sp>
      </p:grpSp>
      <p:grpSp>
        <p:nvGrpSpPr>
          <p:cNvPr name="Group 19" id="19"/>
          <p:cNvGrpSpPr/>
          <p:nvPr/>
        </p:nvGrpSpPr>
        <p:grpSpPr>
          <a:xfrm rot="0">
            <a:off x="960120" y="7200900"/>
            <a:ext cx="5143500" cy="589788"/>
            <a:chOff x="0" y="0"/>
            <a:chExt cx="6858000" cy="786384"/>
          </a:xfrm>
        </p:grpSpPr>
        <p:sp>
          <p:nvSpPr>
            <p:cNvPr name="Freeform 20" id="20"/>
            <p:cNvSpPr/>
            <p:nvPr/>
          </p:nvSpPr>
          <p:spPr>
            <a:xfrm flipH="false" flipV="false" rot="0">
              <a:off x="0" y="0"/>
              <a:ext cx="6858000" cy="786384"/>
            </a:xfrm>
            <a:custGeom>
              <a:avLst/>
              <a:gdLst/>
              <a:ahLst/>
              <a:cxnLst/>
              <a:rect r="r" b="b" t="t" l="l"/>
              <a:pathLst>
                <a:path h="786384" w="6858000">
                  <a:moveTo>
                    <a:pt x="0" y="0"/>
                  </a:moveTo>
                  <a:lnTo>
                    <a:pt x="6858000" y="0"/>
                  </a:lnTo>
                  <a:lnTo>
                    <a:pt x="6858000" y="786384"/>
                  </a:lnTo>
                  <a:lnTo>
                    <a:pt x="0" y="786384"/>
                  </a:lnTo>
                  <a:close/>
                </a:path>
              </a:pathLst>
            </a:custGeom>
            <a:blipFill>
              <a:blip r:embed="rId2">
                <a:alphaModFix amt="0"/>
              </a:blip>
              <a:stretch>
                <a:fillRect l="0" t="-119927" r="0" b="-119927"/>
              </a:stretch>
            </a:blipFill>
          </p:spPr>
        </p:sp>
        <p:sp>
          <p:nvSpPr>
            <p:cNvPr name="TextBox 21" id="21"/>
            <p:cNvSpPr txBox="true"/>
            <p:nvPr/>
          </p:nvSpPr>
          <p:spPr>
            <a:xfrm>
              <a:off x="0" y="-38100"/>
              <a:ext cx="6858000" cy="824484"/>
            </a:xfrm>
            <a:prstGeom prst="rect">
              <a:avLst/>
            </a:prstGeom>
          </p:spPr>
          <p:txBody>
            <a:bodyPr anchor="ctr" rtlCol="false" tIns="0" lIns="0" bIns="0" rIns="0"/>
            <a:lstStyle/>
            <a:p>
              <a:pPr algn="ctr">
                <a:lnSpc>
                  <a:spcPts val="2430"/>
                </a:lnSpc>
              </a:pPr>
              <a:r>
                <a:rPr lang="en-US" sz="2025">
                  <a:solidFill>
                    <a:srgbClr val="6B7280"/>
                  </a:solidFill>
                  <a:latin typeface="Calibri (MS)"/>
                  <a:ea typeface="Calibri (MS)"/>
                  <a:cs typeface="Calibri (MS)"/>
                  <a:sym typeface="Calibri (MS)"/>
                </a:rPr>
                <a:t>Govern</a:t>
              </a:r>
            </a:p>
          </p:txBody>
        </p:sp>
      </p:grpSp>
      <p:grpSp>
        <p:nvGrpSpPr>
          <p:cNvPr name="Group 22" id="22"/>
          <p:cNvGrpSpPr/>
          <p:nvPr/>
        </p:nvGrpSpPr>
        <p:grpSpPr>
          <a:xfrm rot="0">
            <a:off x="960120" y="7639812"/>
            <a:ext cx="5143500" cy="329184"/>
            <a:chOff x="0" y="0"/>
            <a:chExt cx="6858000" cy="438912"/>
          </a:xfrm>
        </p:grpSpPr>
        <p:sp>
          <p:nvSpPr>
            <p:cNvPr name="Freeform 23" id="23"/>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24" id="24"/>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9AA3B8"/>
                  </a:solidFill>
                  <a:latin typeface="Arimo"/>
                  <a:ea typeface="Arimo"/>
                  <a:cs typeface="Arimo"/>
                  <a:sym typeface="Arimo"/>
                </a:rPr>
                <a:t>GV</a:t>
              </a:r>
            </a:p>
          </p:txBody>
        </p:sp>
      </p:grpSp>
      <p:grpSp>
        <p:nvGrpSpPr>
          <p:cNvPr name="Group 25" id="25"/>
          <p:cNvGrpSpPr/>
          <p:nvPr/>
        </p:nvGrpSpPr>
        <p:grpSpPr>
          <a:xfrm rot="0">
            <a:off x="6533007" y="7122795"/>
            <a:ext cx="5162550" cy="910590"/>
            <a:chOff x="0" y="0"/>
            <a:chExt cx="6883400" cy="1214120"/>
          </a:xfrm>
        </p:grpSpPr>
        <p:sp>
          <p:nvSpPr>
            <p:cNvPr name="Freeform 26" id="26"/>
            <p:cNvSpPr/>
            <p:nvPr/>
          </p:nvSpPr>
          <p:spPr>
            <a:xfrm flipH="false" flipV="false" rot="0">
              <a:off x="0" y="0"/>
              <a:ext cx="6883400" cy="1214120"/>
            </a:xfrm>
            <a:custGeom>
              <a:avLst/>
              <a:gdLst/>
              <a:ahLst/>
              <a:cxnLst/>
              <a:rect r="r" b="b" t="t" l="l"/>
              <a:pathLst>
                <a:path h="1214120" w="6883400">
                  <a:moveTo>
                    <a:pt x="0" y="168148"/>
                  </a:moveTo>
                  <a:cubicBezTo>
                    <a:pt x="0" y="75311"/>
                    <a:pt x="75311" y="0"/>
                    <a:pt x="168148" y="0"/>
                  </a:cubicBezTo>
                  <a:lnTo>
                    <a:pt x="6715252" y="0"/>
                  </a:lnTo>
                  <a:cubicBezTo>
                    <a:pt x="6808089" y="0"/>
                    <a:pt x="6883400" y="75311"/>
                    <a:pt x="6883400" y="168148"/>
                  </a:cubicBezTo>
                  <a:lnTo>
                    <a:pt x="6883400" y="1045972"/>
                  </a:lnTo>
                  <a:cubicBezTo>
                    <a:pt x="6883400" y="1138809"/>
                    <a:pt x="6808089" y="1214120"/>
                    <a:pt x="6715252" y="1214120"/>
                  </a:cubicBezTo>
                  <a:lnTo>
                    <a:pt x="168148" y="1214120"/>
                  </a:lnTo>
                  <a:cubicBezTo>
                    <a:pt x="75311" y="1214120"/>
                    <a:pt x="0" y="1138809"/>
                    <a:pt x="0" y="1045972"/>
                  </a:cubicBezTo>
                  <a:close/>
                </a:path>
              </a:pathLst>
            </a:custGeom>
            <a:solidFill>
              <a:srgbClr val="F4F7FC"/>
            </a:solidFill>
            <a:ln w="19050" cap="sq">
              <a:solidFill>
                <a:srgbClr val="D7DCEC"/>
              </a:solidFill>
              <a:prstDash val="solid"/>
              <a:miter/>
            </a:ln>
          </p:spPr>
        </p:sp>
      </p:grpSp>
      <p:grpSp>
        <p:nvGrpSpPr>
          <p:cNvPr name="Group 27" id="27"/>
          <p:cNvGrpSpPr/>
          <p:nvPr/>
        </p:nvGrpSpPr>
        <p:grpSpPr>
          <a:xfrm rot="0">
            <a:off x="6542532" y="7200900"/>
            <a:ext cx="5143500" cy="589788"/>
            <a:chOff x="0" y="0"/>
            <a:chExt cx="6858000" cy="786384"/>
          </a:xfrm>
        </p:grpSpPr>
        <p:sp>
          <p:nvSpPr>
            <p:cNvPr name="Freeform 28" id="28"/>
            <p:cNvSpPr/>
            <p:nvPr/>
          </p:nvSpPr>
          <p:spPr>
            <a:xfrm flipH="false" flipV="false" rot="0">
              <a:off x="0" y="0"/>
              <a:ext cx="6858000" cy="786384"/>
            </a:xfrm>
            <a:custGeom>
              <a:avLst/>
              <a:gdLst/>
              <a:ahLst/>
              <a:cxnLst/>
              <a:rect r="r" b="b" t="t" l="l"/>
              <a:pathLst>
                <a:path h="786384" w="6858000">
                  <a:moveTo>
                    <a:pt x="0" y="0"/>
                  </a:moveTo>
                  <a:lnTo>
                    <a:pt x="6858000" y="0"/>
                  </a:lnTo>
                  <a:lnTo>
                    <a:pt x="6858000" y="786384"/>
                  </a:lnTo>
                  <a:lnTo>
                    <a:pt x="0" y="786384"/>
                  </a:lnTo>
                  <a:close/>
                </a:path>
              </a:pathLst>
            </a:custGeom>
            <a:blipFill>
              <a:blip r:embed="rId2">
                <a:alphaModFix amt="0"/>
              </a:blip>
              <a:stretch>
                <a:fillRect l="0" t="-119927" r="0" b="-119927"/>
              </a:stretch>
            </a:blipFill>
          </p:spPr>
        </p:sp>
        <p:sp>
          <p:nvSpPr>
            <p:cNvPr name="TextBox 29" id="29"/>
            <p:cNvSpPr txBox="true"/>
            <p:nvPr/>
          </p:nvSpPr>
          <p:spPr>
            <a:xfrm>
              <a:off x="0" y="-38100"/>
              <a:ext cx="6858000" cy="824484"/>
            </a:xfrm>
            <a:prstGeom prst="rect">
              <a:avLst/>
            </a:prstGeom>
          </p:spPr>
          <p:txBody>
            <a:bodyPr anchor="ctr" rtlCol="false" tIns="0" lIns="0" bIns="0" rIns="0"/>
            <a:lstStyle/>
            <a:p>
              <a:pPr algn="ctr">
                <a:lnSpc>
                  <a:spcPts val="2430"/>
                </a:lnSpc>
              </a:pPr>
              <a:r>
                <a:rPr lang="en-US" sz="2025">
                  <a:solidFill>
                    <a:srgbClr val="6B7280"/>
                  </a:solidFill>
                  <a:latin typeface="Calibri (MS)"/>
                  <a:ea typeface="Calibri (MS)"/>
                  <a:cs typeface="Calibri (MS)"/>
                  <a:sym typeface="Calibri (MS)"/>
                </a:rPr>
                <a:t>Identify</a:t>
              </a:r>
            </a:p>
          </p:txBody>
        </p:sp>
      </p:grpSp>
      <p:grpSp>
        <p:nvGrpSpPr>
          <p:cNvPr name="Group 30" id="30"/>
          <p:cNvGrpSpPr/>
          <p:nvPr/>
        </p:nvGrpSpPr>
        <p:grpSpPr>
          <a:xfrm rot="0">
            <a:off x="6542532" y="7639812"/>
            <a:ext cx="5143500" cy="329184"/>
            <a:chOff x="0" y="0"/>
            <a:chExt cx="6858000" cy="438912"/>
          </a:xfrm>
        </p:grpSpPr>
        <p:sp>
          <p:nvSpPr>
            <p:cNvPr name="Freeform 31" id="31"/>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32" id="32"/>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9AA3B8"/>
                  </a:solidFill>
                  <a:latin typeface="Arimo"/>
                  <a:ea typeface="Arimo"/>
                  <a:cs typeface="Arimo"/>
                  <a:sym typeface="Arimo"/>
                </a:rPr>
                <a:t>ID</a:t>
              </a:r>
            </a:p>
          </p:txBody>
        </p:sp>
      </p:grpSp>
      <p:grpSp>
        <p:nvGrpSpPr>
          <p:cNvPr name="Group 33" id="33"/>
          <p:cNvGrpSpPr/>
          <p:nvPr/>
        </p:nvGrpSpPr>
        <p:grpSpPr>
          <a:xfrm rot="0">
            <a:off x="12115419" y="7122795"/>
            <a:ext cx="5162550" cy="910590"/>
            <a:chOff x="0" y="0"/>
            <a:chExt cx="6883400" cy="1214120"/>
          </a:xfrm>
        </p:grpSpPr>
        <p:sp>
          <p:nvSpPr>
            <p:cNvPr name="Freeform 34" id="34"/>
            <p:cNvSpPr/>
            <p:nvPr/>
          </p:nvSpPr>
          <p:spPr>
            <a:xfrm flipH="false" flipV="false" rot="0">
              <a:off x="0" y="0"/>
              <a:ext cx="6883400" cy="1214120"/>
            </a:xfrm>
            <a:custGeom>
              <a:avLst/>
              <a:gdLst/>
              <a:ahLst/>
              <a:cxnLst/>
              <a:rect r="r" b="b" t="t" l="l"/>
              <a:pathLst>
                <a:path h="1214120" w="6883400">
                  <a:moveTo>
                    <a:pt x="0" y="168148"/>
                  </a:moveTo>
                  <a:cubicBezTo>
                    <a:pt x="0" y="75311"/>
                    <a:pt x="75311" y="0"/>
                    <a:pt x="168148" y="0"/>
                  </a:cubicBezTo>
                  <a:lnTo>
                    <a:pt x="6715252" y="0"/>
                  </a:lnTo>
                  <a:cubicBezTo>
                    <a:pt x="6808089" y="0"/>
                    <a:pt x="6883400" y="75311"/>
                    <a:pt x="6883400" y="168148"/>
                  </a:cubicBezTo>
                  <a:lnTo>
                    <a:pt x="6883400" y="1045972"/>
                  </a:lnTo>
                  <a:cubicBezTo>
                    <a:pt x="6883400" y="1138809"/>
                    <a:pt x="6808089" y="1214120"/>
                    <a:pt x="6715252" y="1214120"/>
                  </a:cubicBezTo>
                  <a:lnTo>
                    <a:pt x="168148" y="1214120"/>
                  </a:lnTo>
                  <a:cubicBezTo>
                    <a:pt x="75311" y="1214120"/>
                    <a:pt x="0" y="1138809"/>
                    <a:pt x="0" y="1045972"/>
                  </a:cubicBezTo>
                  <a:close/>
                </a:path>
              </a:pathLst>
            </a:custGeom>
            <a:solidFill>
              <a:srgbClr val="F4F7FC"/>
            </a:solidFill>
            <a:ln w="19050" cap="sq">
              <a:solidFill>
                <a:srgbClr val="D7DCEC"/>
              </a:solidFill>
              <a:prstDash val="solid"/>
              <a:miter/>
            </a:ln>
          </p:spPr>
        </p:sp>
      </p:grpSp>
      <p:grpSp>
        <p:nvGrpSpPr>
          <p:cNvPr name="Group 35" id="35"/>
          <p:cNvGrpSpPr/>
          <p:nvPr/>
        </p:nvGrpSpPr>
        <p:grpSpPr>
          <a:xfrm rot="0">
            <a:off x="12124944" y="7200900"/>
            <a:ext cx="5143500" cy="589788"/>
            <a:chOff x="0" y="0"/>
            <a:chExt cx="6858000" cy="786384"/>
          </a:xfrm>
        </p:grpSpPr>
        <p:sp>
          <p:nvSpPr>
            <p:cNvPr name="Freeform 36" id="36"/>
            <p:cNvSpPr/>
            <p:nvPr/>
          </p:nvSpPr>
          <p:spPr>
            <a:xfrm flipH="false" flipV="false" rot="0">
              <a:off x="0" y="0"/>
              <a:ext cx="6858000" cy="786384"/>
            </a:xfrm>
            <a:custGeom>
              <a:avLst/>
              <a:gdLst/>
              <a:ahLst/>
              <a:cxnLst/>
              <a:rect r="r" b="b" t="t" l="l"/>
              <a:pathLst>
                <a:path h="786384" w="6858000">
                  <a:moveTo>
                    <a:pt x="0" y="0"/>
                  </a:moveTo>
                  <a:lnTo>
                    <a:pt x="6858000" y="0"/>
                  </a:lnTo>
                  <a:lnTo>
                    <a:pt x="6858000" y="786384"/>
                  </a:lnTo>
                  <a:lnTo>
                    <a:pt x="0" y="786384"/>
                  </a:lnTo>
                  <a:close/>
                </a:path>
              </a:pathLst>
            </a:custGeom>
            <a:blipFill>
              <a:blip r:embed="rId2">
                <a:alphaModFix amt="0"/>
              </a:blip>
              <a:stretch>
                <a:fillRect l="0" t="-119927" r="0" b="-119927"/>
              </a:stretch>
            </a:blipFill>
          </p:spPr>
        </p:sp>
        <p:sp>
          <p:nvSpPr>
            <p:cNvPr name="TextBox 37" id="37"/>
            <p:cNvSpPr txBox="true"/>
            <p:nvPr/>
          </p:nvSpPr>
          <p:spPr>
            <a:xfrm>
              <a:off x="0" y="-38100"/>
              <a:ext cx="6858000" cy="824484"/>
            </a:xfrm>
            <a:prstGeom prst="rect">
              <a:avLst/>
            </a:prstGeom>
          </p:spPr>
          <p:txBody>
            <a:bodyPr anchor="ctr" rtlCol="false" tIns="0" lIns="0" bIns="0" rIns="0"/>
            <a:lstStyle/>
            <a:p>
              <a:pPr algn="ctr">
                <a:lnSpc>
                  <a:spcPts val="2430"/>
                </a:lnSpc>
              </a:pPr>
              <a:r>
                <a:rPr lang="en-US" sz="2025">
                  <a:solidFill>
                    <a:srgbClr val="6B7280"/>
                  </a:solidFill>
                  <a:latin typeface="Calibri (MS)"/>
                  <a:ea typeface="Calibri (MS)"/>
                  <a:cs typeface="Calibri (MS)"/>
                  <a:sym typeface="Calibri (MS)"/>
                </a:rPr>
                <a:t>Protect</a:t>
              </a:r>
            </a:p>
          </p:txBody>
        </p:sp>
      </p:grpSp>
      <p:grpSp>
        <p:nvGrpSpPr>
          <p:cNvPr name="Group 38" id="38"/>
          <p:cNvGrpSpPr/>
          <p:nvPr/>
        </p:nvGrpSpPr>
        <p:grpSpPr>
          <a:xfrm rot="0">
            <a:off x="12124944" y="7639812"/>
            <a:ext cx="5143500" cy="329184"/>
            <a:chOff x="0" y="0"/>
            <a:chExt cx="6858000" cy="438912"/>
          </a:xfrm>
        </p:grpSpPr>
        <p:sp>
          <p:nvSpPr>
            <p:cNvPr name="Freeform 39" id="39"/>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40" id="40"/>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9AA3B8"/>
                  </a:solidFill>
                  <a:latin typeface="Arimo"/>
                  <a:ea typeface="Arimo"/>
                  <a:cs typeface="Arimo"/>
                  <a:sym typeface="Arimo"/>
                </a:rPr>
                <a:t>PR</a:t>
              </a:r>
            </a:p>
          </p:txBody>
        </p:sp>
      </p:grpSp>
      <p:grpSp>
        <p:nvGrpSpPr>
          <p:cNvPr name="Group 41" id="41"/>
          <p:cNvGrpSpPr/>
          <p:nvPr/>
        </p:nvGrpSpPr>
        <p:grpSpPr>
          <a:xfrm rot="0">
            <a:off x="950595" y="8288655"/>
            <a:ext cx="5162550" cy="910590"/>
            <a:chOff x="0" y="0"/>
            <a:chExt cx="6883400" cy="1214120"/>
          </a:xfrm>
        </p:grpSpPr>
        <p:sp>
          <p:nvSpPr>
            <p:cNvPr name="Freeform 42" id="42"/>
            <p:cNvSpPr/>
            <p:nvPr/>
          </p:nvSpPr>
          <p:spPr>
            <a:xfrm flipH="false" flipV="false" rot="0">
              <a:off x="0" y="0"/>
              <a:ext cx="6883400" cy="1214120"/>
            </a:xfrm>
            <a:custGeom>
              <a:avLst/>
              <a:gdLst/>
              <a:ahLst/>
              <a:cxnLst/>
              <a:rect r="r" b="b" t="t" l="l"/>
              <a:pathLst>
                <a:path h="1214120" w="6883400">
                  <a:moveTo>
                    <a:pt x="0" y="168148"/>
                  </a:moveTo>
                  <a:cubicBezTo>
                    <a:pt x="0" y="75311"/>
                    <a:pt x="75311" y="0"/>
                    <a:pt x="168148" y="0"/>
                  </a:cubicBezTo>
                  <a:lnTo>
                    <a:pt x="6715252" y="0"/>
                  </a:lnTo>
                  <a:cubicBezTo>
                    <a:pt x="6808089" y="0"/>
                    <a:pt x="6883400" y="75311"/>
                    <a:pt x="6883400" y="168148"/>
                  </a:cubicBezTo>
                  <a:lnTo>
                    <a:pt x="6883400" y="1045972"/>
                  </a:lnTo>
                  <a:cubicBezTo>
                    <a:pt x="6883400" y="1138809"/>
                    <a:pt x="6808089" y="1214120"/>
                    <a:pt x="6715252" y="1214120"/>
                  </a:cubicBezTo>
                  <a:lnTo>
                    <a:pt x="168148" y="1214120"/>
                  </a:lnTo>
                  <a:cubicBezTo>
                    <a:pt x="75311" y="1214120"/>
                    <a:pt x="0" y="1138809"/>
                    <a:pt x="0" y="1045972"/>
                  </a:cubicBezTo>
                  <a:close/>
                </a:path>
              </a:pathLst>
            </a:custGeom>
            <a:solidFill>
              <a:srgbClr val="F4F7FC"/>
            </a:solidFill>
            <a:ln w="19050" cap="sq">
              <a:solidFill>
                <a:srgbClr val="D7DCEC"/>
              </a:solidFill>
              <a:prstDash val="solid"/>
              <a:miter/>
            </a:ln>
          </p:spPr>
        </p:sp>
      </p:grpSp>
      <p:grpSp>
        <p:nvGrpSpPr>
          <p:cNvPr name="Group 43" id="43"/>
          <p:cNvGrpSpPr/>
          <p:nvPr/>
        </p:nvGrpSpPr>
        <p:grpSpPr>
          <a:xfrm rot="0">
            <a:off x="960120" y="8366760"/>
            <a:ext cx="5143500" cy="589788"/>
            <a:chOff x="0" y="0"/>
            <a:chExt cx="6858000" cy="786384"/>
          </a:xfrm>
        </p:grpSpPr>
        <p:sp>
          <p:nvSpPr>
            <p:cNvPr name="Freeform 44" id="44"/>
            <p:cNvSpPr/>
            <p:nvPr/>
          </p:nvSpPr>
          <p:spPr>
            <a:xfrm flipH="false" flipV="false" rot="0">
              <a:off x="0" y="0"/>
              <a:ext cx="6858000" cy="786384"/>
            </a:xfrm>
            <a:custGeom>
              <a:avLst/>
              <a:gdLst/>
              <a:ahLst/>
              <a:cxnLst/>
              <a:rect r="r" b="b" t="t" l="l"/>
              <a:pathLst>
                <a:path h="786384" w="6858000">
                  <a:moveTo>
                    <a:pt x="0" y="0"/>
                  </a:moveTo>
                  <a:lnTo>
                    <a:pt x="6858000" y="0"/>
                  </a:lnTo>
                  <a:lnTo>
                    <a:pt x="6858000" y="786384"/>
                  </a:lnTo>
                  <a:lnTo>
                    <a:pt x="0" y="786384"/>
                  </a:lnTo>
                  <a:close/>
                </a:path>
              </a:pathLst>
            </a:custGeom>
            <a:blipFill>
              <a:blip r:embed="rId2">
                <a:alphaModFix amt="0"/>
              </a:blip>
              <a:stretch>
                <a:fillRect l="0" t="-119927" r="0" b="-119927"/>
              </a:stretch>
            </a:blipFill>
          </p:spPr>
        </p:sp>
        <p:sp>
          <p:nvSpPr>
            <p:cNvPr name="TextBox 45" id="45"/>
            <p:cNvSpPr txBox="true"/>
            <p:nvPr/>
          </p:nvSpPr>
          <p:spPr>
            <a:xfrm>
              <a:off x="0" y="-38100"/>
              <a:ext cx="6858000" cy="824484"/>
            </a:xfrm>
            <a:prstGeom prst="rect">
              <a:avLst/>
            </a:prstGeom>
          </p:spPr>
          <p:txBody>
            <a:bodyPr anchor="ctr" rtlCol="false" tIns="0" lIns="0" bIns="0" rIns="0"/>
            <a:lstStyle/>
            <a:p>
              <a:pPr algn="ctr">
                <a:lnSpc>
                  <a:spcPts val="2430"/>
                </a:lnSpc>
              </a:pPr>
              <a:r>
                <a:rPr lang="en-US" sz="2025">
                  <a:solidFill>
                    <a:srgbClr val="6B7280"/>
                  </a:solidFill>
                  <a:latin typeface="Calibri (MS)"/>
                  <a:ea typeface="Calibri (MS)"/>
                  <a:cs typeface="Calibri (MS)"/>
                  <a:sym typeface="Calibri (MS)"/>
                </a:rPr>
                <a:t>Detect</a:t>
              </a:r>
            </a:p>
          </p:txBody>
        </p:sp>
      </p:grpSp>
      <p:grpSp>
        <p:nvGrpSpPr>
          <p:cNvPr name="Group 46" id="46"/>
          <p:cNvGrpSpPr/>
          <p:nvPr/>
        </p:nvGrpSpPr>
        <p:grpSpPr>
          <a:xfrm rot="0">
            <a:off x="960120" y="8805672"/>
            <a:ext cx="5143500" cy="329184"/>
            <a:chOff x="0" y="0"/>
            <a:chExt cx="6858000" cy="438912"/>
          </a:xfrm>
        </p:grpSpPr>
        <p:sp>
          <p:nvSpPr>
            <p:cNvPr name="Freeform 47" id="47"/>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48" id="48"/>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9AA3B8"/>
                  </a:solidFill>
                  <a:latin typeface="Arimo"/>
                  <a:ea typeface="Arimo"/>
                  <a:cs typeface="Arimo"/>
                  <a:sym typeface="Arimo"/>
                </a:rPr>
                <a:t>DE</a:t>
              </a:r>
            </a:p>
          </p:txBody>
        </p:sp>
      </p:grpSp>
      <p:grpSp>
        <p:nvGrpSpPr>
          <p:cNvPr name="Group 49" id="49"/>
          <p:cNvGrpSpPr/>
          <p:nvPr/>
        </p:nvGrpSpPr>
        <p:grpSpPr>
          <a:xfrm rot="0">
            <a:off x="6533007" y="8288655"/>
            <a:ext cx="5162550" cy="910590"/>
            <a:chOff x="0" y="0"/>
            <a:chExt cx="6883400" cy="1214120"/>
          </a:xfrm>
        </p:grpSpPr>
        <p:sp>
          <p:nvSpPr>
            <p:cNvPr name="Freeform 50" id="50"/>
            <p:cNvSpPr/>
            <p:nvPr/>
          </p:nvSpPr>
          <p:spPr>
            <a:xfrm flipH="false" flipV="false" rot="0">
              <a:off x="0" y="0"/>
              <a:ext cx="6883400" cy="1214120"/>
            </a:xfrm>
            <a:custGeom>
              <a:avLst/>
              <a:gdLst/>
              <a:ahLst/>
              <a:cxnLst/>
              <a:rect r="r" b="b" t="t" l="l"/>
              <a:pathLst>
                <a:path h="1214120" w="6883400">
                  <a:moveTo>
                    <a:pt x="0" y="168148"/>
                  </a:moveTo>
                  <a:cubicBezTo>
                    <a:pt x="0" y="75311"/>
                    <a:pt x="75311" y="0"/>
                    <a:pt x="168148" y="0"/>
                  </a:cubicBezTo>
                  <a:lnTo>
                    <a:pt x="6715252" y="0"/>
                  </a:lnTo>
                  <a:cubicBezTo>
                    <a:pt x="6808089" y="0"/>
                    <a:pt x="6883400" y="75311"/>
                    <a:pt x="6883400" y="168148"/>
                  </a:cubicBezTo>
                  <a:lnTo>
                    <a:pt x="6883400" y="1045972"/>
                  </a:lnTo>
                  <a:cubicBezTo>
                    <a:pt x="6883400" y="1138809"/>
                    <a:pt x="6808089" y="1214120"/>
                    <a:pt x="6715252" y="1214120"/>
                  </a:cubicBezTo>
                  <a:lnTo>
                    <a:pt x="168148" y="1214120"/>
                  </a:lnTo>
                  <a:cubicBezTo>
                    <a:pt x="75311" y="1214120"/>
                    <a:pt x="0" y="1138809"/>
                    <a:pt x="0" y="1045972"/>
                  </a:cubicBezTo>
                  <a:close/>
                </a:path>
              </a:pathLst>
            </a:custGeom>
            <a:solidFill>
              <a:srgbClr val="F4F7FC"/>
            </a:solidFill>
            <a:ln w="19050" cap="sq">
              <a:solidFill>
                <a:srgbClr val="D7DCEC"/>
              </a:solidFill>
              <a:prstDash val="solid"/>
              <a:miter/>
            </a:ln>
          </p:spPr>
        </p:sp>
      </p:grpSp>
      <p:grpSp>
        <p:nvGrpSpPr>
          <p:cNvPr name="Group 51" id="51"/>
          <p:cNvGrpSpPr/>
          <p:nvPr/>
        </p:nvGrpSpPr>
        <p:grpSpPr>
          <a:xfrm rot="0">
            <a:off x="6542532" y="8366760"/>
            <a:ext cx="5143500" cy="589788"/>
            <a:chOff x="0" y="0"/>
            <a:chExt cx="6858000" cy="786384"/>
          </a:xfrm>
        </p:grpSpPr>
        <p:sp>
          <p:nvSpPr>
            <p:cNvPr name="Freeform 52" id="52"/>
            <p:cNvSpPr/>
            <p:nvPr/>
          </p:nvSpPr>
          <p:spPr>
            <a:xfrm flipH="false" flipV="false" rot="0">
              <a:off x="0" y="0"/>
              <a:ext cx="6858000" cy="786384"/>
            </a:xfrm>
            <a:custGeom>
              <a:avLst/>
              <a:gdLst/>
              <a:ahLst/>
              <a:cxnLst/>
              <a:rect r="r" b="b" t="t" l="l"/>
              <a:pathLst>
                <a:path h="786384" w="6858000">
                  <a:moveTo>
                    <a:pt x="0" y="0"/>
                  </a:moveTo>
                  <a:lnTo>
                    <a:pt x="6858000" y="0"/>
                  </a:lnTo>
                  <a:lnTo>
                    <a:pt x="6858000" y="786384"/>
                  </a:lnTo>
                  <a:lnTo>
                    <a:pt x="0" y="786384"/>
                  </a:lnTo>
                  <a:close/>
                </a:path>
              </a:pathLst>
            </a:custGeom>
            <a:blipFill>
              <a:blip r:embed="rId2">
                <a:alphaModFix amt="0"/>
              </a:blip>
              <a:stretch>
                <a:fillRect l="0" t="-119927" r="0" b="-119927"/>
              </a:stretch>
            </a:blipFill>
          </p:spPr>
        </p:sp>
        <p:sp>
          <p:nvSpPr>
            <p:cNvPr name="TextBox 53" id="53"/>
            <p:cNvSpPr txBox="true"/>
            <p:nvPr/>
          </p:nvSpPr>
          <p:spPr>
            <a:xfrm>
              <a:off x="0" y="-38100"/>
              <a:ext cx="6858000" cy="824484"/>
            </a:xfrm>
            <a:prstGeom prst="rect">
              <a:avLst/>
            </a:prstGeom>
          </p:spPr>
          <p:txBody>
            <a:bodyPr anchor="ctr" rtlCol="false" tIns="0" lIns="0" bIns="0" rIns="0"/>
            <a:lstStyle/>
            <a:p>
              <a:pPr algn="ctr">
                <a:lnSpc>
                  <a:spcPts val="2430"/>
                </a:lnSpc>
              </a:pPr>
              <a:r>
                <a:rPr lang="en-US" sz="2025">
                  <a:solidFill>
                    <a:srgbClr val="6B7280"/>
                  </a:solidFill>
                  <a:latin typeface="Calibri (MS)"/>
                  <a:ea typeface="Calibri (MS)"/>
                  <a:cs typeface="Calibri (MS)"/>
                  <a:sym typeface="Calibri (MS)"/>
                </a:rPr>
                <a:t>Respond</a:t>
              </a:r>
            </a:p>
          </p:txBody>
        </p:sp>
      </p:grpSp>
      <p:grpSp>
        <p:nvGrpSpPr>
          <p:cNvPr name="Group 54" id="54"/>
          <p:cNvGrpSpPr/>
          <p:nvPr/>
        </p:nvGrpSpPr>
        <p:grpSpPr>
          <a:xfrm rot="0">
            <a:off x="6542532" y="8805672"/>
            <a:ext cx="5143500" cy="329184"/>
            <a:chOff x="0" y="0"/>
            <a:chExt cx="6858000" cy="438912"/>
          </a:xfrm>
        </p:grpSpPr>
        <p:sp>
          <p:nvSpPr>
            <p:cNvPr name="Freeform 55" id="55"/>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56" id="56"/>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9AA3B8"/>
                  </a:solidFill>
                  <a:latin typeface="Arimo"/>
                  <a:ea typeface="Arimo"/>
                  <a:cs typeface="Arimo"/>
                  <a:sym typeface="Arimo"/>
                </a:rPr>
                <a:t>RS</a:t>
              </a:r>
            </a:p>
          </p:txBody>
        </p:sp>
      </p:grpSp>
      <p:grpSp>
        <p:nvGrpSpPr>
          <p:cNvPr name="Group 57" id="57"/>
          <p:cNvGrpSpPr/>
          <p:nvPr/>
        </p:nvGrpSpPr>
        <p:grpSpPr>
          <a:xfrm rot="0">
            <a:off x="12115419" y="8288655"/>
            <a:ext cx="5162550" cy="910590"/>
            <a:chOff x="0" y="0"/>
            <a:chExt cx="6883400" cy="1214120"/>
          </a:xfrm>
        </p:grpSpPr>
        <p:sp>
          <p:nvSpPr>
            <p:cNvPr name="Freeform 58" id="58"/>
            <p:cNvSpPr/>
            <p:nvPr/>
          </p:nvSpPr>
          <p:spPr>
            <a:xfrm flipH="false" flipV="false" rot="0">
              <a:off x="0" y="0"/>
              <a:ext cx="6883400" cy="1214120"/>
            </a:xfrm>
            <a:custGeom>
              <a:avLst/>
              <a:gdLst/>
              <a:ahLst/>
              <a:cxnLst/>
              <a:rect r="r" b="b" t="t" l="l"/>
              <a:pathLst>
                <a:path h="1214120" w="6883400">
                  <a:moveTo>
                    <a:pt x="0" y="168148"/>
                  </a:moveTo>
                  <a:cubicBezTo>
                    <a:pt x="0" y="75311"/>
                    <a:pt x="75311" y="0"/>
                    <a:pt x="168148" y="0"/>
                  </a:cubicBezTo>
                  <a:lnTo>
                    <a:pt x="6715252" y="0"/>
                  </a:lnTo>
                  <a:cubicBezTo>
                    <a:pt x="6808089" y="0"/>
                    <a:pt x="6883400" y="75311"/>
                    <a:pt x="6883400" y="168148"/>
                  </a:cubicBezTo>
                  <a:lnTo>
                    <a:pt x="6883400" y="1045972"/>
                  </a:lnTo>
                  <a:cubicBezTo>
                    <a:pt x="6883400" y="1138809"/>
                    <a:pt x="6808089" y="1214120"/>
                    <a:pt x="6715252" y="1214120"/>
                  </a:cubicBezTo>
                  <a:lnTo>
                    <a:pt x="168148" y="1214120"/>
                  </a:lnTo>
                  <a:cubicBezTo>
                    <a:pt x="75311" y="1214120"/>
                    <a:pt x="0" y="1138809"/>
                    <a:pt x="0" y="1045972"/>
                  </a:cubicBezTo>
                  <a:close/>
                </a:path>
              </a:pathLst>
            </a:custGeom>
            <a:solidFill>
              <a:srgbClr val="F4F7FC"/>
            </a:solidFill>
            <a:ln w="19050" cap="sq">
              <a:solidFill>
                <a:srgbClr val="D7DCEC"/>
              </a:solidFill>
              <a:prstDash val="solid"/>
              <a:miter/>
            </a:ln>
          </p:spPr>
        </p:sp>
      </p:grpSp>
      <p:grpSp>
        <p:nvGrpSpPr>
          <p:cNvPr name="Group 59" id="59"/>
          <p:cNvGrpSpPr/>
          <p:nvPr/>
        </p:nvGrpSpPr>
        <p:grpSpPr>
          <a:xfrm rot="0">
            <a:off x="12124944" y="8366760"/>
            <a:ext cx="5143500" cy="589788"/>
            <a:chOff x="0" y="0"/>
            <a:chExt cx="6858000" cy="786384"/>
          </a:xfrm>
        </p:grpSpPr>
        <p:sp>
          <p:nvSpPr>
            <p:cNvPr name="Freeform 60" id="60"/>
            <p:cNvSpPr/>
            <p:nvPr/>
          </p:nvSpPr>
          <p:spPr>
            <a:xfrm flipH="false" flipV="false" rot="0">
              <a:off x="0" y="0"/>
              <a:ext cx="6858000" cy="786384"/>
            </a:xfrm>
            <a:custGeom>
              <a:avLst/>
              <a:gdLst/>
              <a:ahLst/>
              <a:cxnLst/>
              <a:rect r="r" b="b" t="t" l="l"/>
              <a:pathLst>
                <a:path h="786384" w="6858000">
                  <a:moveTo>
                    <a:pt x="0" y="0"/>
                  </a:moveTo>
                  <a:lnTo>
                    <a:pt x="6858000" y="0"/>
                  </a:lnTo>
                  <a:lnTo>
                    <a:pt x="6858000" y="786384"/>
                  </a:lnTo>
                  <a:lnTo>
                    <a:pt x="0" y="786384"/>
                  </a:lnTo>
                  <a:close/>
                </a:path>
              </a:pathLst>
            </a:custGeom>
            <a:blipFill>
              <a:blip r:embed="rId2">
                <a:alphaModFix amt="0"/>
              </a:blip>
              <a:stretch>
                <a:fillRect l="0" t="-119927" r="0" b="-119927"/>
              </a:stretch>
            </a:blipFill>
          </p:spPr>
        </p:sp>
        <p:sp>
          <p:nvSpPr>
            <p:cNvPr name="TextBox 61" id="61"/>
            <p:cNvSpPr txBox="true"/>
            <p:nvPr/>
          </p:nvSpPr>
          <p:spPr>
            <a:xfrm>
              <a:off x="0" y="-38100"/>
              <a:ext cx="6858000" cy="824484"/>
            </a:xfrm>
            <a:prstGeom prst="rect">
              <a:avLst/>
            </a:prstGeom>
          </p:spPr>
          <p:txBody>
            <a:bodyPr anchor="ctr" rtlCol="false" tIns="0" lIns="0" bIns="0" rIns="0"/>
            <a:lstStyle/>
            <a:p>
              <a:pPr algn="ctr">
                <a:lnSpc>
                  <a:spcPts val="2430"/>
                </a:lnSpc>
              </a:pPr>
              <a:r>
                <a:rPr lang="en-US" sz="2025">
                  <a:solidFill>
                    <a:srgbClr val="6B7280"/>
                  </a:solidFill>
                  <a:latin typeface="Calibri (MS)"/>
                  <a:ea typeface="Calibri (MS)"/>
                  <a:cs typeface="Calibri (MS)"/>
                  <a:sym typeface="Calibri (MS)"/>
                </a:rPr>
                <a:t>Recover</a:t>
              </a:r>
            </a:p>
          </p:txBody>
        </p:sp>
      </p:grpSp>
      <p:grpSp>
        <p:nvGrpSpPr>
          <p:cNvPr name="Group 62" id="62"/>
          <p:cNvGrpSpPr/>
          <p:nvPr/>
        </p:nvGrpSpPr>
        <p:grpSpPr>
          <a:xfrm rot="0">
            <a:off x="12124944" y="8805672"/>
            <a:ext cx="5143500" cy="329184"/>
            <a:chOff x="0" y="0"/>
            <a:chExt cx="6858000" cy="438912"/>
          </a:xfrm>
        </p:grpSpPr>
        <p:sp>
          <p:nvSpPr>
            <p:cNvPr name="Freeform 63" id="63"/>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64" id="64"/>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9AA3B8"/>
                  </a:solidFill>
                  <a:latin typeface="Arimo"/>
                  <a:ea typeface="Arimo"/>
                  <a:cs typeface="Arimo"/>
                  <a:sym typeface="Arimo"/>
                </a:rPr>
                <a:t>RC</a:t>
              </a:r>
            </a:p>
          </p:txBody>
        </p:sp>
      </p:grpSp>
      <p:grpSp>
        <p:nvGrpSpPr>
          <p:cNvPr name="Group 65" id="65"/>
          <p:cNvGrpSpPr/>
          <p:nvPr/>
        </p:nvGrpSpPr>
        <p:grpSpPr>
          <a:xfrm rot="0">
            <a:off x="685800" y="9710928"/>
            <a:ext cx="10972800" cy="411480"/>
            <a:chOff x="0" y="0"/>
            <a:chExt cx="14630400" cy="548640"/>
          </a:xfrm>
        </p:grpSpPr>
        <p:sp>
          <p:nvSpPr>
            <p:cNvPr name="Freeform 66" id="66"/>
            <p:cNvSpPr/>
            <p:nvPr/>
          </p:nvSpPr>
          <p:spPr>
            <a:xfrm flipH="false" flipV="false" rot="0">
              <a:off x="0" y="0"/>
              <a:ext cx="14630400" cy="548640"/>
            </a:xfrm>
            <a:custGeom>
              <a:avLst/>
              <a:gdLst/>
              <a:ahLst/>
              <a:cxnLst/>
              <a:rect r="r" b="b" t="t" l="l"/>
              <a:pathLst>
                <a:path h="548640" w="14630400">
                  <a:moveTo>
                    <a:pt x="0" y="0"/>
                  </a:moveTo>
                  <a:lnTo>
                    <a:pt x="14630400" y="0"/>
                  </a:lnTo>
                  <a:lnTo>
                    <a:pt x="14630400" y="548640"/>
                  </a:lnTo>
                  <a:lnTo>
                    <a:pt x="0" y="548640"/>
                  </a:lnTo>
                  <a:close/>
                </a:path>
              </a:pathLst>
            </a:custGeom>
            <a:blipFill>
              <a:blip r:embed="rId2">
                <a:alphaModFix amt="0"/>
              </a:blip>
              <a:stretch>
                <a:fillRect l="0" t="-469601" r="0" b="-469601"/>
              </a:stretch>
            </a:blipFill>
          </p:spPr>
        </p:sp>
        <p:sp>
          <p:nvSpPr>
            <p:cNvPr name="TextBox 67" id="67"/>
            <p:cNvSpPr txBox="true"/>
            <p:nvPr/>
          </p:nvSpPr>
          <p:spPr>
            <a:xfrm>
              <a:off x="0" y="-38100"/>
              <a:ext cx="14630400" cy="586740"/>
            </a:xfrm>
            <a:prstGeom prst="rect">
              <a:avLst/>
            </a:prstGeom>
          </p:spPr>
          <p:txBody>
            <a:bodyPr anchor="ctr" rtlCol="false" tIns="0" lIns="0" bIns="0" rIns="0"/>
            <a:lstStyle/>
            <a:p>
              <a:pPr algn="l">
                <a:lnSpc>
                  <a:spcPts val="1800"/>
                </a:lnSpc>
              </a:pPr>
              <a:r>
                <a:rPr lang="en-US" sz="1500">
                  <a:solidFill>
                    <a:srgbClr val="6B7280"/>
                  </a:solidFill>
                  <a:latin typeface="Calibri (MS)"/>
                  <a:ea typeface="Calibri (MS)"/>
                  <a:cs typeface="Calibri (MS)"/>
                  <a:sym typeface="Calibri (MS)"/>
                </a:rPr>
                <a:t>Davao del Norte Provincial Government — Cybersecurity Seminar</a:t>
              </a:r>
            </a:p>
          </p:txBody>
        </p:sp>
      </p:grpSp>
      <p:grpSp>
        <p:nvGrpSpPr>
          <p:cNvPr name="Group 68" id="68"/>
          <p:cNvGrpSpPr/>
          <p:nvPr/>
        </p:nvGrpSpPr>
        <p:grpSpPr>
          <a:xfrm rot="0">
            <a:off x="16911828" y="9710928"/>
            <a:ext cx="685800" cy="411480"/>
            <a:chOff x="0" y="0"/>
            <a:chExt cx="914400" cy="548640"/>
          </a:xfrm>
        </p:grpSpPr>
        <p:sp>
          <p:nvSpPr>
            <p:cNvPr name="Freeform 69" id="69"/>
            <p:cNvSpPr/>
            <p:nvPr/>
          </p:nvSpPr>
          <p:spPr>
            <a:xfrm flipH="false" flipV="false" rot="0">
              <a:off x="0" y="0"/>
              <a:ext cx="914400" cy="548640"/>
            </a:xfrm>
            <a:custGeom>
              <a:avLst/>
              <a:gdLst/>
              <a:ahLst/>
              <a:cxnLst/>
              <a:rect r="r" b="b" t="t" l="l"/>
              <a:pathLst>
                <a:path h="548640" w="914400">
                  <a:moveTo>
                    <a:pt x="0" y="0"/>
                  </a:moveTo>
                  <a:lnTo>
                    <a:pt x="914400" y="0"/>
                  </a:lnTo>
                  <a:lnTo>
                    <a:pt x="914400" y="548640"/>
                  </a:lnTo>
                  <a:lnTo>
                    <a:pt x="0" y="548640"/>
                  </a:lnTo>
                  <a:close/>
                </a:path>
              </a:pathLst>
            </a:custGeom>
            <a:blipFill>
              <a:blip r:embed="rId2">
                <a:alphaModFix amt="0"/>
              </a:blip>
              <a:stretch>
                <a:fillRect l="-26982" t="0" r="-26982" b="0"/>
              </a:stretch>
            </a:blipFill>
          </p:spPr>
        </p:sp>
        <p:sp>
          <p:nvSpPr>
            <p:cNvPr name="TextBox 70" id="70"/>
            <p:cNvSpPr txBox="true"/>
            <p:nvPr/>
          </p:nvSpPr>
          <p:spPr>
            <a:xfrm>
              <a:off x="0" y="-38100"/>
              <a:ext cx="914400" cy="586740"/>
            </a:xfrm>
            <a:prstGeom prst="rect">
              <a:avLst/>
            </a:prstGeom>
          </p:spPr>
          <p:txBody>
            <a:bodyPr anchor="ctr" rtlCol="false" tIns="0" lIns="0" bIns="0" rIns="0"/>
            <a:lstStyle/>
            <a:p>
              <a:pPr algn="r">
                <a:lnSpc>
                  <a:spcPts val="1800"/>
                </a:lnSpc>
              </a:pPr>
              <a:r>
                <a:rPr lang="en-US" sz="1500">
                  <a:solidFill>
                    <a:srgbClr val="6B7280"/>
                  </a:solidFill>
                  <a:latin typeface="Calibri (MS)"/>
                  <a:ea typeface="Calibri (MS)"/>
                  <a:cs typeface="Calibri (MS)"/>
                  <a:sym typeface="Calibri (MS)"/>
                </a:rPr>
                <a:t>29</a:t>
              </a:r>
            </a:p>
          </p:txBody>
        </p:sp>
      </p:grpSp>
    </p:spTree>
  </p:cSld>
  <p:clrMapOvr>
    <a:masterClrMapping/>
  </p:clrMapOvr>
</p:sld>
</file>

<file path=ppt/slides/slide9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60120" y="685800"/>
            <a:ext cx="13716000" cy="411480"/>
            <a:chOff x="0" y="0"/>
            <a:chExt cx="18288000" cy="548640"/>
          </a:xfrm>
        </p:grpSpPr>
        <p:sp>
          <p:nvSpPr>
            <p:cNvPr name="Freeform 3" id="3"/>
            <p:cNvSpPr/>
            <p:nvPr/>
          </p:nvSpPr>
          <p:spPr>
            <a:xfrm flipH="false" flipV="false" rot="0">
              <a:off x="0" y="0"/>
              <a:ext cx="18288000" cy="548640"/>
            </a:xfrm>
            <a:custGeom>
              <a:avLst/>
              <a:gdLst/>
              <a:ahLst/>
              <a:cxnLst/>
              <a:rect r="r" b="b" t="t" l="l"/>
              <a:pathLst>
                <a:path h="548640" w="18288000">
                  <a:moveTo>
                    <a:pt x="0" y="0"/>
                  </a:moveTo>
                  <a:lnTo>
                    <a:pt x="18288000" y="0"/>
                  </a:lnTo>
                  <a:lnTo>
                    <a:pt x="18288000" y="548640"/>
                  </a:lnTo>
                  <a:lnTo>
                    <a:pt x="0" y="548640"/>
                  </a:lnTo>
                  <a:close/>
                </a:path>
              </a:pathLst>
            </a:custGeom>
            <a:blipFill>
              <a:blip r:embed="rId2">
                <a:alphaModFix amt="0"/>
              </a:blip>
              <a:stretch>
                <a:fillRect l="0" t="-599501" r="0" b="-599501"/>
              </a:stretch>
            </a:blipFill>
          </p:spPr>
        </p:sp>
        <p:sp>
          <p:nvSpPr>
            <p:cNvPr name="TextBox 4" id="4"/>
            <p:cNvSpPr txBox="true"/>
            <p:nvPr/>
          </p:nvSpPr>
          <p:spPr>
            <a:xfrm>
              <a:off x="0" y="-38100"/>
              <a:ext cx="18288000" cy="586740"/>
            </a:xfrm>
            <a:prstGeom prst="rect">
              <a:avLst/>
            </a:prstGeom>
          </p:spPr>
          <p:txBody>
            <a:bodyPr anchor="ctr" rtlCol="false" tIns="0" lIns="0" bIns="0" rIns="0"/>
            <a:lstStyle/>
            <a:p>
              <a:pPr algn="l">
                <a:lnSpc>
                  <a:spcPts val="2160"/>
                </a:lnSpc>
              </a:pPr>
              <a:r>
                <a:rPr lang="en-US" b="true" sz="1800" spc="225">
                  <a:solidFill>
                    <a:srgbClr val="00B4D8"/>
                  </a:solidFill>
                  <a:latin typeface="Calibri (MS) Bold"/>
                  <a:ea typeface="Calibri (MS) Bold"/>
                  <a:cs typeface="Calibri (MS) Bold"/>
                  <a:sym typeface="Calibri (MS) Bold"/>
                </a:rPr>
                <a:t>NIST CSF SORT · ANSWER</a:t>
              </a:r>
            </a:p>
          </p:txBody>
        </p:sp>
      </p:grpSp>
      <p:grpSp>
        <p:nvGrpSpPr>
          <p:cNvPr name="Group 5" id="5"/>
          <p:cNvGrpSpPr/>
          <p:nvPr/>
        </p:nvGrpSpPr>
        <p:grpSpPr>
          <a:xfrm rot="0">
            <a:off x="960120" y="1069848"/>
            <a:ext cx="10972800" cy="822960"/>
            <a:chOff x="0" y="0"/>
            <a:chExt cx="14630400" cy="1097280"/>
          </a:xfrm>
        </p:grpSpPr>
        <p:sp>
          <p:nvSpPr>
            <p:cNvPr name="Freeform 6" id="6"/>
            <p:cNvSpPr/>
            <p:nvPr/>
          </p:nvSpPr>
          <p:spPr>
            <a:xfrm flipH="false" flipV="false" rot="0">
              <a:off x="0" y="0"/>
              <a:ext cx="14630400" cy="1097280"/>
            </a:xfrm>
            <a:custGeom>
              <a:avLst/>
              <a:gdLst/>
              <a:ahLst/>
              <a:cxnLst/>
              <a:rect r="r" b="b" t="t" l="l"/>
              <a:pathLst>
                <a:path h="1097280" w="14630400">
                  <a:moveTo>
                    <a:pt x="0" y="0"/>
                  </a:moveTo>
                  <a:lnTo>
                    <a:pt x="14630400" y="0"/>
                  </a:lnTo>
                  <a:lnTo>
                    <a:pt x="14630400" y="1097280"/>
                  </a:lnTo>
                  <a:lnTo>
                    <a:pt x="0" y="1097280"/>
                  </a:lnTo>
                  <a:close/>
                </a:path>
              </a:pathLst>
            </a:custGeom>
            <a:blipFill>
              <a:blip r:embed="rId2">
                <a:alphaModFix amt="0"/>
              </a:blip>
              <a:stretch>
                <a:fillRect l="0" t="-209800" r="0" b="-209800"/>
              </a:stretch>
            </a:blipFill>
          </p:spPr>
        </p:sp>
        <p:sp>
          <p:nvSpPr>
            <p:cNvPr name="TextBox 7" id="7"/>
            <p:cNvSpPr txBox="true"/>
            <p:nvPr/>
          </p:nvSpPr>
          <p:spPr>
            <a:xfrm>
              <a:off x="0" y="0"/>
              <a:ext cx="14630400" cy="1097280"/>
            </a:xfrm>
            <a:prstGeom prst="rect">
              <a:avLst/>
            </a:prstGeom>
          </p:spPr>
          <p:txBody>
            <a:bodyPr anchor="ctr" rtlCol="false" tIns="0" lIns="0" bIns="0" rIns="0"/>
            <a:lstStyle/>
            <a:p>
              <a:pPr algn="l">
                <a:lnSpc>
                  <a:spcPts val="4680"/>
                </a:lnSpc>
              </a:pPr>
              <a:r>
                <a:rPr lang="en-US" sz="3900" b="true">
                  <a:solidFill>
                    <a:srgbClr val="1E2761"/>
                  </a:solidFill>
                  <a:latin typeface="Cambria Bold"/>
                  <a:ea typeface="Cambria Bold"/>
                  <a:cs typeface="Cambria Bold"/>
                  <a:sym typeface="Cambria Bold"/>
                </a:rPr>
                <a:t>Scenario 10 — Answer</a:t>
              </a:r>
            </a:p>
          </p:txBody>
        </p:sp>
      </p:grpSp>
      <p:grpSp>
        <p:nvGrpSpPr>
          <p:cNvPr name="Group 8" id="8"/>
          <p:cNvGrpSpPr/>
          <p:nvPr/>
        </p:nvGrpSpPr>
        <p:grpSpPr>
          <a:xfrm rot="0">
            <a:off x="960120" y="1810512"/>
            <a:ext cx="8229600" cy="411480"/>
            <a:chOff x="0" y="0"/>
            <a:chExt cx="10972800" cy="548640"/>
          </a:xfrm>
        </p:grpSpPr>
        <p:sp>
          <p:nvSpPr>
            <p:cNvPr name="Freeform 9" id="9"/>
            <p:cNvSpPr/>
            <p:nvPr/>
          </p:nvSpPr>
          <p:spPr>
            <a:xfrm flipH="false" flipV="false" rot="0">
              <a:off x="0" y="0"/>
              <a:ext cx="10972800" cy="548640"/>
            </a:xfrm>
            <a:custGeom>
              <a:avLst/>
              <a:gdLst/>
              <a:ahLst/>
              <a:cxnLst/>
              <a:rect r="r" b="b" t="t" l="l"/>
              <a:pathLst>
                <a:path h="548640" w="10972800">
                  <a:moveTo>
                    <a:pt x="0" y="0"/>
                  </a:moveTo>
                  <a:lnTo>
                    <a:pt x="10972800" y="0"/>
                  </a:lnTo>
                  <a:lnTo>
                    <a:pt x="10972800" y="548640"/>
                  </a:lnTo>
                  <a:lnTo>
                    <a:pt x="0" y="548640"/>
                  </a:lnTo>
                  <a:close/>
                </a:path>
              </a:pathLst>
            </a:custGeom>
            <a:blipFill>
              <a:blip r:embed="rId2">
                <a:alphaModFix amt="0"/>
              </a:blip>
              <a:stretch>
                <a:fillRect l="0" t="-339700" r="0" b="-339700"/>
              </a:stretch>
            </a:blipFill>
          </p:spPr>
        </p:sp>
        <p:sp>
          <p:nvSpPr>
            <p:cNvPr name="TextBox 10" id="10"/>
            <p:cNvSpPr txBox="true"/>
            <p:nvPr/>
          </p:nvSpPr>
          <p:spPr>
            <a:xfrm>
              <a:off x="0" y="-28575"/>
              <a:ext cx="10972800" cy="577215"/>
            </a:xfrm>
            <a:prstGeom prst="rect">
              <a:avLst/>
            </a:prstGeom>
          </p:spPr>
          <p:txBody>
            <a:bodyPr anchor="ctr" rtlCol="false" tIns="0" lIns="0" bIns="0" rIns="0"/>
            <a:lstStyle/>
            <a:p>
              <a:pPr algn="l">
                <a:lnSpc>
                  <a:spcPts val="1980"/>
                </a:lnSpc>
              </a:pPr>
              <a:r>
                <a:rPr lang="en-US" sz="1650">
                  <a:solidFill>
                    <a:srgbClr val="6B7280"/>
                  </a:solidFill>
                  <a:latin typeface="Calibri (MS)"/>
                  <a:ea typeface="Calibri (MS)"/>
                  <a:cs typeface="Calibri (MS)"/>
                  <a:sym typeface="Calibri (MS)"/>
                </a:rPr>
                <a:t>10 of 20</a:t>
              </a:r>
            </a:p>
          </p:txBody>
        </p:sp>
      </p:grpSp>
      <p:grpSp>
        <p:nvGrpSpPr>
          <p:cNvPr name="Group 11" id="11"/>
          <p:cNvGrpSpPr/>
          <p:nvPr/>
        </p:nvGrpSpPr>
        <p:grpSpPr>
          <a:xfrm rot="0">
            <a:off x="960120" y="2537460"/>
            <a:ext cx="16322040" cy="2194560"/>
            <a:chOff x="0" y="0"/>
            <a:chExt cx="21762720" cy="2926080"/>
          </a:xfrm>
        </p:grpSpPr>
        <p:sp>
          <p:nvSpPr>
            <p:cNvPr name="Freeform 12" id="12"/>
            <p:cNvSpPr/>
            <p:nvPr/>
          </p:nvSpPr>
          <p:spPr>
            <a:xfrm flipH="false" flipV="false" rot="0">
              <a:off x="0" y="0"/>
              <a:ext cx="21762720" cy="2926080"/>
            </a:xfrm>
            <a:custGeom>
              <a:avLst/>
              <a:gdLst/>
              <a:ahLst/>
              <a:cxnLst/>
              <a:rect r="r" b="b" t="t" l="l"/>
              <a:pathLst>
                <a:path h="2926080" w="21762720">
                  <a:moveTo>
                    <a:pt x="0" y="182880"/>
                  </a:moveTo>
                  <a:cubicBezTo>
                    <a:pt x="0" y="81915"/>
                    <a:pt x="81915" y="0"/>
                    <a:pt x="182880" y="0"/>
                  </a:cubicBezTo>
                  <a:lnTo>
                    <a:pt x="21579839" y="0"/>
                  </a:lnTo>
                  <a:cubicBezTo>
                    <a:pt x="21680804" y="0"/>
                    <a:pt x="21762720" y="81915"/>
                    <a:pt x="21762720" y="182880"/>
                  </a:cubicBezTo>
                  <a:lnTo>
                    <a:pt x="21762720" y="2743200"/>
                  </a:lnTo>
                  <a:cubicBezTo>
                    <a:pt x="21762720" y="2844165"/>
                    <a:pt x="21680804" y="2926080"/>
                    <a:pt x="21579839" y="2926080"/>
                  </a:cubicBezTo>
                  <a:lnTo>
                    <a:pt x="182880" y="2926080"/>
                  </a:lnTo>
                  <a:cubicBezTo>
                    <a:pt x="81915" y="2926080"/>
                    <a:pt x="0" y="2844165"/>
                    <a:pt x="0" y="2743200"/>
                  </a:cubicBezTo>
                  <a:close/>
                </a:path>
              </a:pathLst>
            </a:custGeom>
            <a:solidFill>
              <a:srgbClr val="F4F7FC"/>
            </a:solidFill>
          </p:spPr>
        </p:sp>
      </p:grpSp>
      <p:grpSp>
        <p:nvGrpSpPr>
          <p:cNvPr name="Group 13" id="13"/>
          <p:cNvGrpSpPr/>
          <p:nvPr/>
        </p:nvGrpSpPr>
        <p:grpSpPr>
          <a:xfrm rot="0">
            <a:off x="1440180" y="2770632"/>
            <a:ext cx="15361920" cy="1714500"/>
            <a:chOff x="0" y="0"/>
            <a:chExt cx="20482560" cy="2286000"/>
          </a:xfrm>
        </p:grpSpPr>
        <p:sp>
          <p:nvSpPr>
            <p:cNvPr name="Freeform 14" id="14"/>
            <p:cNvSpPr/>
            <p:nvPr/>
          </p:nvSpPr>
          <p:spPr>
            <a:xfrm flipH="false" flipV="false" rot="0">
              <a:off x="0" y="0"/>
              <a:ext cx="20482561" cy="2286000"/>
            </a:xfrm>
            <a:custGeom>
              <a:avLst/>
              <a:gdLst/>
              <a:ahLst/>
              <a:cxnLst/>
              <a:rect r="r" b="b" t="t" l="l"/>
              <a:pathLst>
                <a:path h="2286000" w="20482561">
                  <a:moveTo>
                    <a:pt x="0" y="0"/>
                  </a:moveTo>
                  <a:lnTo>
                    <a:pt x="20482561" y="0"/>
                  </a:lnTo>
                  <a:lnTo>
                    <a:pt x="20482561" y="2286000"/>
                  </a:lnTo>
                  <a:lnTo>
                    <a:pt x="0" y="2286000"/>
                  </a:lnTo>
                  <a:close/>
                </a:path>
              </a:pathLst>
            </a:custGeom>
            <a:blipFill>
              <a:blip r:embed="rId2">
                <a:alphaModFix amt="0"/>
              </a:blip>
              <a:stretch>
                <a:fillRect l="0" t="-124585" r="0" b="-124585"/>
              </a:stretch>
            </a:blipFill>
          </p:spPr>
        </p:sp>
        <p:sp>
          <p:nvSpPr>
            <p:cNvPr name="TextBox 15" id="15"/>
            <p:cNvSpPr txBox="true"/>
            <p:nvPr/>
          </p:nvSpPr>
          <p:spPr>
            <a:xfrm>
              <a:off x="0" y="-85725"/>
              <a:ext cx="20482560" cy="2371725"/>
            </a:xfrm>
            <a:prstGeom prst="rect">
              <a:avLst/>
            </a:prstGeom>
          </p:spPr>
          <p:txBody>
            <a:bodyPr anchor="ctr" rtlCol="false" tIns="0" lIns="0" bIns="0" rIns="0"/>
            <a:lstStyle/>
            <a:p>
              <a:pPr algn="l">
                <a:lnSpc>
                  <a:spcPts val="3600"/>
                </a:lnSpc>
              </a:pPr>
              <a:r>
                <a:rPr lang="en-US" sz="2400" i="true">
                  <a:solidFill>
                    <a:srgbClr val="23262F"/>
                  </a:solidFill>
                  <a:latin typeface="Cambria Italics"/>
                  <a:ea typeface="Cambria Italics"/>
                  <a:cs typeface="Cambria Italics"/>
                  <a:sym typeface="Cambria Italics"/>
                </a:rPr>
                <a:t>"Every new hire must complete a cybersecurity awareness module before their network account is activated."</a:t>
              </a:r>
            </a:p>
          </p:txBody>
        </p:sp>
      </p:grpSp>
      <p:grpSp>
        <p:nvGrpSpPr>
          <p:cNvPr name="Group 16" id="16"/>
          <p:cNvGrpSpPr/>
          <p:nvPr/>
        </p:nvGrpSpPr>
        <p:grpSpPr>
          <a:xfrm rot="0">
            <a:off x="950595" y="5065395"/>
            <a:ext cx="5162550" cy="842010"/>
            <a:chOff x="0" y="0"/>
            <a:chExt cx="6883400" cy="1122680"/>
          </a:xfrm>
        </p:grpSpPr>
        <p:sp>
          <p:nvSpPr>
            <p:cNvPr name="Freeform 17" id="17"/>
            <p:cNvSpPr/>
            <p:nvPr/>
          </p:nvSpPr>
          <p:spPr>
            <a:xfrm flipH="false" flipV="false" rot="0">
              <a:off x="0" y="0"/>
              <a:ext cx="6883400" cy="1122680"/>
            </a:xfrm>
            <a:custGeom>
              <a:avLst/>
              <a:gdLst/>
              <a:ahLst/>
              <a:cxnLst/>
              <a:rect r="r" b="b" t="t" l="l"/>
              <a:pathLst>
                <a:path h="1122680" w="6883400">
                  <a:moveTo>
                    <a:pt x="0" y="168402"/>
                  </a:moveTo>
                  <a:cubicBezTo>
                    <a:pt x="0" y="75438"/>
                    <a:pt x="75438" y="0"/>
                    <a:pt x="168402" y="0"/>
                  </a:cubicBezTo>
                  <a:lnTo>
                    <a:pt x="6714998" y="0"/>
                  </a:lnTo>
                  <a:cubicBezTo>
                    <a:pt x="6807962" y="0"/>
                    <a:pt x="6883400" y="75438"/>
                    <a:pt x="6883400" y="168402"/>
                  </a:cubicBezTo>
                  <a:lnTo>
                    <a:pt x="6883400" y="954278"/>
                  </a:lnTo>
                  <a:cubicBezTo>
                    <a:pt x="6883400" y="1047242"/>
                    <a:pt x="6807962" y="1122680"/>
                    <a:pt x="6714998" y="1122680"/>
                  </a:cubicBezTo>
                  <a:lnTo>
                    <a:pt x="168402" y="1122680"/>
                  </a:lnTo>
                  <a:cubicBezTo>
                    <a:pt x="75438" y="1122680"/>
                    <a:pt x="0" y="1047242"/>
                    <a:pt x="0" y="954278"/>
                  </a:cubicBezTo>
                  <a:close/>
                </a:path>
              </a:pathLst>
            </a:custGeom>
            <a:solidFill>
              <a:srgbClr val="F4F7FC"/>
            </a:solidFill>
            <a:ln w="19050" cap="sq">
              <a:solidFill>
                <a:srgbClr val="D7DCEC"/>
              </a:solidFill>
              <a:prstDash val="solid"/>
              <a:miter/>
            </a:ln>
          </p:spPr>
        </p:sp>
      </p:grpSp>
      <p:grpSp>
        <p:nvGrpSpPr>
          <p:cNvPr name="Group 18" id="18"/>
          <p:cNvGrpSpPr/>
          <p:nvPr/>
        </p:nvGrpSpPr>
        <p:grpSpPr>
          <a:xfrm rot="0">
            <a:off x="960120" y="5143500"/>
            <a:ext cx="5143500" cy="521208"/>
            <a:chOff x="0" y="0"/>
            <a:chExt cx="6858000" cy="694944"/>
          </a:xfrm>
        </p:grpSpPr>
        <p:sp>
          <p:nvSpPr>
            <p:cNvPr name="Freeform 19" id="19"/>
            <p:cNvSpPr/>
            <p:nvPr/>
          </p:nvSpPr>
          <p:spPr>
            <a:xfrm flipH="false" flipV="false" rot="0">
              <a:off x="0" y="0"/>
              <a:ext cx="6858000" cy="694944"/>
            </a:xfrm>
            <a:custGeom>
              <a:avLst/>
              <a:gdLst/>
              <a:ahLst/>
              <a:cxnLst/>
              <a:rect r="r" b="b" t="t" l="l"/>
              <a:pathLst>
                <a:path h="694944" w="6858000">
                  <a:moveTo>
                    <a:pt x="0" y="0"/>
                  </a:moveTo>
                  <a:lnTo>
                    <a:pt x="6858000" y="0"/>
                  </a:lnTo>
                  <a:lnTo>
                    <a:pt x="6858000" y="694944"/>
                  </a:lnTo>
                  <a:lnTo>
                    <a:pt x="0" y="694944"/>
                  </a:lnTo>
                  <a:close/>
                </a:path>
              </a:pathLst>
            </a:custGeom>
            <a:blipFill>
              <a:blip r:embed="rId2">
                <a:alphaModFix amt="0"/>
              </a:blip>
              <a:stretch>
                <a:fillRect l="0" t="-142286" r="0" b="-142286"/>
              </a:stretch>
            </a:blipFill>
          </p:spPr>
        </p:sp>
        <p:sp>
          <p:nvSpPr>
            <p:cNvPr name="TextBox 20" id="20"/>
            <p:cNvSpPr txBox="true"/>
            <p:nvPr/>
          </p:nvSpPr>
          <p:spPr>
            <a:xfrm>
              <a:off x="0" y="-38100"/>
              <a:ext cx="6858000" cy="733044"/>
            </a:xfrm>
            <a:prstGeom prst="rect">
              <a:avLst/>
            </a:prstGeom>
          </p:spPr>
          <p:txBody>
            <a:bodyPr anchor="ctr" rtlCol="false" tIns="0" lIns="0" bIns="0" rIns="0"/>
            <a:lstStyle/>
            <a:p>
              <a:pPr algn="ctr">
                <a:lnSpc>
                  <a:spcPts val="2430"/>
                </a:lnSpc>
              </a:pPr>
              <a:r>
                <a:rPr lang="en-US" sz="2025">
                  <a:solidFill>
                    <a:srgbClr val="6B7280"/>
                  </a:solidFill>
                  <a:latin typeface="Calibri (MS)"/>
                  <a:ea typeface="Calibri (MS)"/>
                  <a:cs typeface="Calibri (MS)"/>
                  <a:sym typeface="Calibri (MS)"/>
                </a:rPr>
                <a:t>Govern</a:t>
              </a:r>
            </a:p>
          </p:txBody>
        </p:sp>
      </p:grpSp>
      <p:grpSp>
        <p:nvGrpSpPr>
          <p:cNvPr name="Group 21" id="21"/>
          <p:cNvGrpSpPr/>
          <p:nvPr/>
        </p:nvGrpSpPr>
        <p:grpSpPr>
          <a:xfrm rot="0">
            <a:off x="960120" y="5513832"/>
            <a:ext cx="5143500" cy="329184"/>
            <a:chOff x="0" y="0"/>
            <a:chExt cx="6858000" cy="438912"/>
          </a:xfrm>
        </p:grpSpPr>
        <p:sp>
          <p:nvSpPr>
            <p:cNvPr name="Freeform 22" id="22"/>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23" id="23"/>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9AA3B8"/>
                  </a:solidFill>
                  <a:latin typeface="Arimo"/>
                  <a:ea typeface="Arimo"/>
                  <a:cs typeface="Arimo"/>
                  <a:sym typeface="Arimo"/>
                </a:rPr>
                <a:t>GV</a:t>
              </a:r>
            </a:p>
          </p:txBody>
        </p:sp>
      </p:grpSp>
      <p:grpSp>
        <p:nvGrpSpPr>
          <p:cNvPr name="Group 24" id="24"/>
          <p:cNvGrpSpPr/>
          <p:nvPr/>
        </p:nvGrpSpPr>
        <p:grpSpPr>
          <a:xfrm rot="0">
            <a:off x="6533007" y="5065395"/>
            <a:ext cx="5162550" cy="842010"/>
            <a:chOff x="0" y="0"/>
            <a:chExt cx="6883400" cy="1122680"/>
          </a:xfrm>
        </p:grpSpPr>
        <p:sp>
          <p:nvSpPr>
            <p:cNvPr name="Freeform 25" id="25"/>
            <p:cNvSpPr/>
            <p:nvPr/>
          </p:nvSpPr>
          <p:spPr>
            <a:xfrm flipH="false" flipV="false" rot="0">
              <a:off x="0" y="0"/>
              <a:ext cx="6883400" cy="1122680"/>
            </a:xfrm>
            <a:custGeom>
              <a:avLst/>
              <a:gdLst/>
              <a:ahLst/>
              <a:cxnLst/>
              <a:rect r="r" b="b" t="t" l="l"/>
              <a:pathLst>
                <a:path h="1122680" w="6883400">
                  <a:moveTo>
                    <a:pt x="0" y="168402"/>
                  </a:moveTo>
                  <a:cubicBezTo>
                    <a:pt x="0" y="75438"/>
                    <a:pt x="75438" y="0"/>
                    <a:pt x="168402" y="0"/>
                  </a:cubicBezTo>
                  <a:lnTo>
                    <a:pt x="6714998" y="0"/>
                  </a:lnTo>
                  <a:cubicBezTo>
                    <a:pt x="6807962" y="0"/>
                    <a:pt x="6883400" y="75438"/>
                    <a:pt x="6883400" y="168402"/>
                  </a:cubicBezTo>
                  <a:lnTo>
                    <a:pt x="6883400" y="954278"/>
                  </a:lnTo>
                  <a:cubicBezTo>
                    <a:pt x="6883400" y="1047242"/>
                    <a:pt x="6807962" y="1122680"/>
                    <a:pt x="6714998" y="1122680"/>
                  </a:cubicBezTo>
                  <a:lnTo>
                    <a:pt x="168402" y="1122680"/>
                  </a:lnTo>
                  <a:cubicBezTo>
                    <a:pt x="75438" y="1122680"/>
                    <a:pt x="0" y="1047242"/>
                    <a:pt x="0" y="954278"/>
                  </a:cubicBezTo>
                  <a:close/>
                </a:path>
              </a:pathLst>
            </a:custGeom>
            <a:solidFill>
              <a:srgbClr val="F4F7FC"/>
            </a:solidFill>
            <a:ln w="19050" cap="sq">
              <a:solidFill>
                <a:srgbClr val="D7DCEC"/>
              </a:solidFill>
              <a:prstDash val="solid"/>
              <a:miter/>
            </a:ln>
          </p:spPr>
        </p:sp>
      </p:grpSp>
      <p:grpSp>
        <p:nvGrpSpPr>
          <p:cNvPr name="Group 26" id="26"/>
          <p:cNvGrpSpPr/>
          <p:nvPr/>
        </p:nvGrpSpPr>
        <p:grpSpPr>
          <a:xfrm rot="0">
            <a:off x="6542532" y="5143500"/>
            <a:ext cx="5143500" cy="521208"/>
            <a:chOff x="0" y="0"/>
            <a:chExt cx="6858000" cy="694944"/>
          </a:xfrm>
        </p:grpSpPr>
        <p:sp>
          <p:nvSpPr>
            <p:cNvPr name="Freeform 27" id="27"/>
            <p:cNvSpPr/>
            <p:nvPr/>
          </p:nvSpPr>
          <p:spPr>
            <a:xfrm flipH="false" flipV="false" rot="0">
              <a:off x="0" y="0"/>
              <a:ext cx="6858000" cy="694944"/>
            </a:xfrm>
            <a:custGeom>
              <a:avLst/>
              <a:gdLst/>
              <a:ahLst/>
              <a:cxnLst/>
              <a:rect r="r" b="b" t="t" l="l"/>
              <a:pathLst>
                <a:path h="694944" w="6858000">
                  <a:moveTo>
                    <a:pt x="0" y="0"/>
                  </a:moveTo>
                  <a:lnTo>
                    <a:pt x="6858000" y="0"/>
                  </a:lnTo>
                  <a:lnTo>
                    <a:pt x="6858000" y="694944"/>
                  </a:lnTo>
                  <a:lnTo>
                    <a:pt x="0" y="694944"/>
                  </a:lnTo>
                  <a:close/>
                </a:path>
              </a:pathLst>
            </a:custGeom>
            <a:blipFill>
              <a:blip r:embed="rId2">
                <a:alphaModFix amt="0"/>
              </a:blip>
              <a:stretch>
                <a:fillRect l="0" t="-142286" r="0" b="-142286"/>
              </a:stretch>
            </a:blipFill>
          </p:spPr>
        </p:sp>
        <p:sp>
          <p:nvSpPr>
            <p:cNvPr name="TextBox 28" id="28"/>
            <p:cNvSpPr txBox="true"/>
            <p:nvPr/>
          </p:nvSpPr>
          <p:spPr>
            <a:xfrm>
              <a:off x="0" y="-38100"/>
              <a:ext cx="6858000" cy="733044"/>
            </a:xfrm>
            <a:prstGeom prst="rect">
              <a:avLst/>
            </a:prstGeom>
          </p:spPr>
          <p:txBody>
            <a:bodyPr anchor="ctr" rtlCol="false" tIns="0" lIns="0" bIns="0" rIns="0"/>
            <a:lstStyle/>
            <a:p>
              <a:pPr algn="ctr">
                <a:lnSpc>
                  <a:spcPts val="2430"/>
                </a:lnSpc>
              </a:pPr>
              <a:r>
                <a:rPr lang="en-US" sz="2025">
                  <a:solidFill>
                    <a:srgbClr val="6B7280"/>
                  </a:solidFill>
                  <a:latin typeface="Calibri (MS)"/>
                  <a:ea typeface="Calibri (MS)"/>
                  <a:cs typeface="Calibri (MS)"/>
                  <a:sym typeface="Calibri (MS)"/>
                </a:rPr>
                <a:t>Identify</a:t>
              </a:r>
            </a:p>
          </p:txBody>
        </p:sp>
      </p:grpSp>
      <p:grpSp>
        <p:nvGrpSpPr>
          <p:cNvPr name="Group 29" id="29"/>
          <p:cNvGrpSpPr/>
          <p:nvPr/>
        </p:nvGrpSpPr>
        <p:grpSpPr>
          <a:xfrm rot="0">
            <a:off x="6542532" y="5513832"/>
            <a:ext cx="5143500" cy="329184"/>
            <a:chOff x="0" y="0"/>
            <a:chExt cx="6858000" cy="438912"/>
          </a:xfrm>
        </p:grpSpPr>
        <p:sp>
          <p:nvSpPr>
            <p:cNvPr name="Freeform 30" id="30"/>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31" id="31"/>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9AA3B8"/>
                  </a:solidFill>
                  <a:latin typeface="Arimo"/>
                  <a:ea typeface="Arimo"/>
                  <a:cs typeface="Arimo"/>
                  <a:sym typeface="Arimo"/>
                </a:rPr>
                <a:t>ID</a:t>
              </a:r>
            </a:p>
          </p:txBody>
        </p:sp>
      </p:grpSp>
      <p:grpSp>
        <p:nvGrpSpPr>
          <p:cNvPr name="Group 32" id="32"/>
          <p:cNvGrpSpPr/>
          <p:nvPr/>
        </p:nvGrpSpPr>
        <p:grpSpPr>
          <a:xfrm rot="0">
            <a:off x="12115419" y="5065395"/>
            <a:ext cx="5162550" cy="842010"/>
            <a:chOff x="0" y="0"/>
            <a:chExt cx="6883400" cy="1122680"/>
          </a:xfrm>
        </p:grpSpPr>
        <p:sp>
          <p:nvSpPr>
            <p:cNvPr name="Freeform 33" id="33"/>
            <p:cNvSpPr/>
            <p:nvPr/>
          </p:nvSpPr>
          <p:spPr>
            <a:xfrm flipH="false" flipV="false" rot="0">
              <a:off x="0" y="0"/>
              <a:ext cx="6883400" cy="1122680"/>
            </a:xfrm>
            <a:custGeom>
              <a:avLst/>
              <a:gdLst/>
              <a:ahLst/>
              <a:cxnLst/>
              <a:rect r="r" b="b" t="t" l="l"/>
              <a:pathLst>
                <a:path h="1122680" w="6883400">
                  <a:moveTo>
                    <a:pt x="0" y="168402"/>
                  </a:moveTo>
                  <a:cubicBezTo>
                    <a:pt x="0" y="75438"/>
                    <a:pt x="75438" y="0"/>
                    <a:pt x="168402" y="0"/>
                  </a:cubicBezTo>
                  <a:lnTo>
                    <a:pt x="6714998" y="0"/>
                  </a:lnTo>
                  <a:cubicBezTo>
                    <a:pt x="6807962" y="0"/>
                    <a:pt x="6883400" y="75438"/>
                    <a:pt x="6883400" y="168402"/>
                  </a:cubicBezTo>
                  <a:lnTo>
                    <a:pt x="6883400" y="954278"/>
                  </a:lnTo>
                  <a:cubicBezTo>
                    <a:pt x="6883400" y="1047242"/>
                    <a:pt x="6807962" y="1122680"/>
                    <a:pt x="6714998" y="1122680"/>
                  </a:cubicBezTo>
                  <a:lnTo>
                    <a:pt x="168402" y="1122680"/>
                  </a:lnTo>
                  <a:cubicBezTo>
                    <a:pt x="75438" y="1122680"/>
                    <a:pt x="0" y="1047242"/>
                    <a:pt x="0" y="954278"/>
                  </a:cubicBezTo>
                  <a:close/>
                </a:path>
              </a:pathLst>
            </a:custGeom>
            <a:solidFill>
              <a:srgbClr val="1F6FEB"/>
            </a:solidFill>
            <a:ln w="19050" cap="sq">
              <a:solidFill>
                <a:srgbClr val="1F6FEB"/>
              </a:solidFill>
              <a:prstDash val="solid"/>
              <a:miter/>
            </a:ln>
          </p:spPr>
        </p:sp>
      </p:grpSp>
      <p:grpSp>
        <p:nvGrpSpPr>
          <p:cNvPr name="Group 34" id="34"/>
          <p:cNvGrpSpPr/>
          <p:nvPr/>
        </p:nvGrpSpPr>
        <p:grpSpPr>
          <a:xfrm rot="0">
            <a:off x="12124944" y="5143500"/>
            <a:ext cx="5143500" cy="521208"/>
            <a:chOff x="0" y="0"/>
            <a:chExt cx="6858000" cy="694944"/>
          </a:xfrm>
        </p:grpSpPr>
        <p:sp>
          <p:nvSpPr>
            <p:cNvPr name="Freeform 35" id="35"/>
            <p:cNvSpPr/>
            <p:nvPr/>
          </p:nvSpPr>
          <p:spPr>
            <a:xfrm flipH="false" flipV="false" rot="0">
              <a:off x="0" y="0"/>
              <a:ext cx="6858000" cy="694944"/>
            </a:xfrm>
            <a:custGeom>
              <a:avLst/>
              <a:gdLst/>
              <a:ahLst/>
              <a:cxnLst/>
              <a:rect r="r" b="b" t="t" l="l"/>
              <a:pathLst>
                <a:path h="694944" w="6858000">
                  <a:moveTo>
                    <a:pt x="0" y="0"/>
                  </a:moveTo>
                  <a:lnTo>
                    <a:pt x="6858000" y="0"/>
                  </a:lnTo>
                  <a:lnTo>
                    <a:pt x="6858000" y="694944"/>
                  </a:lnTo>
                  <a:lnTo>
                    <a:pt x="0" y="694944"/>
                  </a:lnTo>
                  <a:close/>
                </a:path>
              </a:pathLst>
            </a:custGeom>
            <a:blipFill>
              <a:blip r:embed="rId2">
                <a:alphaModFix amt="0"/>
              </a:blip>
              <a:stretch>
                <a:fillRect l="0" t="-142286" r="0" b="-142286"/>
              </a:stretch>
            </a:blipFill>
          </p:spPr>
        </p:sp>
        <p:sp>
          <p:nvSpPr>
            <p:cNvPr name="TextBox 36" id="36"/>
            <p:cNvSpPr txBox="true"/>
            <p:nvPr/>
          </p:nvSpPr>
          <p:spPr>
            <a:xfrm>
              <a:off x="0" y="-38100"/>
              <a:ext cx="6858000" cy="733044"/>
            </a:xfrm>
            <a:prstGeom prst="rect">
              <a:avLst/>
            </a:prstGeom>
          </p:spPr>
          <p:txBody>
            <a:bodyPr anchor="ctr" rtlCol="false" tIns="0" lIns="0" bIns="0" rIns="0"/>
            <a:lstStyle/>
            <a:p>
              <a:pPr algn="ctr">
                <a:lnSpc>
                  <a:spcPts val="2430"/>
                </a:lnSpc>
              </a:pPr>
              <a:r>
                <a:rPr lang="en-US" sz="2025" b="true">
                  <a:solidFill>
                    <a:srgbClr val="FFFFFF"/>
                  </a:solidFill>
                  <a:latin typeface="Calibri (MS) Bold"/>
                  <a:ea typeface="Calibri (MS) Bold"/>
                  <a:cs typeface="Calibri (MS) Bold"/>
                  <a:sym typeface="Calibri (MS) Bold"/>
                </a:rPr>
                <a:t>✓  Protect</a:t>
              </a:r>
            </a:p>
          </p:txBody>
        </p:sp>
      </p:grpSp>
      <p:grpSp>
        <p:nvGrpSpPr>
          <p:cNvPr name="Group 37" id="37"/>
          <p:cNvGrpSpPr/>
          <p:nvPr/>
        </p:nvGrpSpPr>
        <p:grpSpPr>
          <a:xfrm rot="0">
            <a:off x="12124944" y="5513832"/>
            <a:ext cx="5143500" cy="329184"/>
            <a:chOff x="0" y="0"/>
            <a:chExt cx="6858000" cy="438912"/>
          </a:xfrm>
        </p:grpSpPr>
        <p:sp>
          <p:nvSpPr>
            <p:cNvPr name="Freeform 38" id="38"/>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39" id="39"/>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FFFFFF"/>
                  </a:solidFill>
                  <a:latin typeface="Arimo"/>
                  <a:ea typeface="Arimo"/>
                  <a:cs typeface="Arimo"/>
                  <a:sym typeface="Arimo"/>
                </a:rPr>
                <a:t>PR</a:t>
              </a:r>
            </a:p>
          </p:txBody>
        </p:sp>
      </p:grpSp>
      <p:grpSp>
        <p:nvGrpSpPr>
          <p:cNvPr name="Group 40" id="40"/>
          <p:cNvGrpSpPr/>
          <p:nvPr/>
        </p:nvGrpSpPr>
        <p:grpSpPr>
          <a:xfrm rot="0">
            <a:off x="950595" y="6135243"/>
            <a:ext cx="5162550" cy="842010"/>
            <a:chOff x="0" y="0"/>
            <a:chExt cx="6883400" cy="1122680"/>
          </a:xfrm>
        </p:grpSpPr>
        <p:sp>
          <p:nvSpPr>
            <p:cNvPr name="Freeform 41" id="41"/>
            <p:cNvSpPr/>
            <p:nvPr/>
          </p:nvSpPr>
          <p:spPr>
            <a:xfrm flipH="false" flipV="false" rot="0">
              <a:off x="0" y="0"/>
              <a:ext cx="6883400" cy="1122680"/>
            </a:xfrm>
            <a:custGeom>
              <a:avLst/>
              <a:gdLst/>
              <a:ahLst/>
              <a:cxnLst/>
              <a:rect r="r" b="b" t="t" l="l"/>
              <a:pathLst>
                <a:path h="1122680" w="6883400">
                  <a:moveTo>
                    <a:pt x="0" y="168402"/>
                  </a:moveTo>
                  <a:cubicBezTo>
                    <a:pt x="0" y="75438"/>
                    <a:pt x="75438" y="0"/>
                    <a:pt x="168402" y="0"/>
                  </a:cubicBezTo>
                  <a:lnTo>
                    <a:pt x="6714998" y="0"/>
                  </a:lnTo>
                  <a:cubicBezTo>
                    <a:pt x="6807962" y="0"/>
                    <a:pt x="6883400" y="75438"/>
                    <a:pt x="6883400" y="168402"/>
                  </a:cubicBezTo>
                  <a:lnTo>
                    <a:pt x="6883400" y="954278"/>
                  </a:lnTo>
                  <a:cubicBezTo>
                    <a:pt x="6883400" y="1047242"/>
                    <a:pt x="6807962" y="1122680"/>
                    <a:pt x="6714998" y="1122680"/>
                  </a:cubicBezTo>
                  <a:lnTo>
                    <a:pt x="168402" y="1122680"/>
                  </a:lnTo>
                  <a:cubicBezTo>
                    <a:pt x="75438" y="1122680"/>
                    <a:pt x="0" y="1047242"/>
                    <a:pt x="0" y="954278"/>
                  </a:cubicBezTo>
                  <a:close/>
                </a:path>
              </a:pathLst>
            </a:custGeom>
            <a:solidFill>
              <a:srgbClr val="F4F7FC"/>
            </a:solidFill>
            <a:ln w="19050" cap="sq">
              <a:solidFill>
                <a:srgbClr val="D7DCEC"/>
              </a:solidFill>
              <a:prstDash val="solid"/>
              <a:miter/>
            </a:ln>
          </p:spPr>
        </p:sp>
      </p:grpSp>
      <p:grpSp>
        <p:nvGrpSpPr>
          <p:cNvPr name="Group 42" id="42"/>
          <p:cNvGrpSpPr/>
          <p:nvPr/>
        </p:nvGrpSpPr>
        <p:grpSpPr>
          <a:xfrm rot="0">
            <a:off x="960120" y="6213348"/>
            <a:ext cx="5143500" cy="521208"/>
            <a:chOff x="0" y="0"/>
            <a:chExt cx="6858000" cy="694944"/>
          </a:xfrm>
        </p:grpSpPr>
        <p:sp>
          <p:nvSpPr>
            <p:cNvPr name="Freeform 43" id="43"/>
            <p:cNvSpPr/>
            <p:nvPr/>
          </p:nvSpPr>
          <p:spPr>
            <a:xfrm flipH="false" flipV="false" rot="0">
              <a:off x="0" y="0"/>
              <a:ext cx="6858000" cy="694944"/>
            </a:xfrm>
            <a:custGeom>
              <a:avLst/>
              <a:gdLst/>
              <a:ahLst/>
              <a:cxnLst/>
              <a:rect r="r" b="b" t="t" l="l"/>
              <a:pathLst>
                <a:path h="694944" w="6858000">
                  <a:moveTo>
                    <a:pt x="0" y="0"/>
                  </a:moveTo>
                  <a:lnTo>
                    <a:pt x="6858000" y="0"/>
                  </a:lnTo>
                  <a:lnTo>
                    <a:pt x="6858000" y="694944"/>
                  </a:lnTo>
                  <a:lnTo>
                    <a:pt x="0" y="694944"/>
                  </a:lnTo>
                  <a:close/>
                </a:path>
              </a:pathLst>
            </a:custGeom>
            <a:blipFill>
              <a:blip r:embed="rId2">
                <a:alphaModFix amt="0"/>
              </a:blip>
              <a:stretch>
                <a:fillRect l="0" t="-142286" r="0" b="-142286"/>
              </a:stretch>
            </a:blipFill>
          </p:spPr>
        </p:sp>
        <p:sp>
          <p:nvSpPr>
            <p:cNvPr name="TextBox 44" id="44"/>
            <p:cNvSpPr txBox="true"/>
            <p:nvPr/>
          </p:nvSpPr>
          <p:spPr>
            <a:xfrm>
              <a:off x="0" y="-38100"/>
              <a:ext cx="6858000" cy="733044"/>
            </a:xfrm>
            <a:prstGeom prst="rect">
              <a:avLst/>
            </a:prstGeom>
          </p:spPr>
          <p:txBody>
            <a:bodyPr anchor="ctr" rtlCol="false" tIns="0" lIns="0" bIns="0" rIns="0"/>
            <a:lstStyle/>
            <a:p>
              <a:pPr algn="ctr">
                <a:lnSpc>
                  <a:spcPts val="2430"/>
                </a:lnSpc>
              </a:pPr>
              <a:r>
                <a:rPr lang="en-US" sz="2025">
                  <a:solidFill>
                    <a:srgbClr val="6B7280"/>
                  </a:solidFill>
                  <a:latin typeface="Calibri (MS)"/>
                  <a:ea typeface="Calibri (MS)"/>
                  <a:cs typeface="Calibri (MS)"/>
                  <a:sym typeface="Calibri (MS)"/>
                </a:rPr>
                <a:t>Detect</a:t>
              </a:r>
            </a:p>
          </p:txBody>
        </p:sp>
      </p:grpSp>
      <p:grpSp>
        <p:nvGrpSpPr>
          <p:cNvPr name="Group 45" id="45"/>
          <p:cNvGrpSpPr/>
          <p:nvPr/>
        </p:nvGrpSpPr>
        <p:grpSpPr>
          <a:xfrm rot="0">
            <a:off x="960120" y="6583680"/>
            <a:ext cx="5143500" cy="329184"/>
            <a:chOff x="0" y="0"/>
            <a:chExt cx="6858000" cy="438912"/>
          </a:xfrm>
        </p:grpSpPr>
        <p:sp>
          <p:nvSpPr>
            <p:cNvPr name="Freeform 46" id="46"/>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47" id="47"/>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9AA3B8"/>
                  </a:solidFill>
                  <a:latin typeface="Arimo"/>
                  <a:ea typeface="Arimo"/>
                  <a:cs typeface="Arimo"/>
                  <a:sym typeface="Arimo"/>
                </a:rPr>
                <a:t>DE</a:t>
              </a:r>
            </a:p>
          </p:txBody>
        </p:sp>
      </p:grpSp>
      <p:grpSp>
        <p:nvGrpSpPr>
          <p:cNvPr name="Group 48" id="48"/>
          <p:cNvGrpSpPr/>
          <p:nvPr/>
        </p:nvGrpSpPr>
        <p:grpSpPr>
          <a:xfrm rot="0">
            <a:off x="6533007" y="6135243"/>
            <a:ext cx="5162550" cy="842010"/>
            <a:chOff x="0" y="0"/>
            <a:chExt cx="6883400" cy="1122680"/>
          </a:xfrm>
        </p:grpSpPr>
        <p:sp>
          <p:nvSpPr>
            <p:cNvPr name="Freeform 49" id="49"/>
            <p:cNvSpPr/>
            <p:nvPr/>
          </p:nvSpPr>
          <p:spPr>
            <a:xfrm flipH="false" flipV="false" rot="0">
              <a:off x="0" y="0"/>
              <a:ext cx="6883400" cy="1122680"/>
            </a:xfrm>
            <a:custGeom>
              <a:avLst/>
              <a:gdLst/>
              <a:ahLst/>
              <a:cxnLst/>
              <a:rect r="r" b="b" t="t" l="l"/>
              <a:pathLst>
                <a:path h="1122680" w="6883400">
                  <a:moveTo>
                    <a:pt x="0" y="168402"/>
                  </a:moveTo>
                  <a:cubicBezTo>
                    <a:pt x="0" y="75438"/>
                    <a:pt x="75438" y="0"/>
                    <a:pt x="168402" y="0"/>
                  </a:cubicBezTo>
                  <a:lnTo>
                    <a:pt x="6714998" y="0"/>
                  </a:lnTo>
                  <a:cubicBezTo>
                    <a:pt x="6807962" y="0"/>
                    <a:pt x="6883400" y="75438"/>
                    <a:pt x="6883400" y="168402"/>
                  </a:cubicBezTo>
                  <a:lnTo>
                    <a:pt x="6883400" y="954278"/>
                  </a:lnTo>
                  <a:cubicBezTo>
                    <a:pt x="6883400" y="1047242"/>
                    <a:pt x="6807962" y="1122680"/>
                    <a:pt x="6714998" y="1122680"/>
                  </a:cubicBezTo>
                  <a:lnTo>
                    <a:pt x="168402" y="1122680"/>
                  </a:lnTo>
                  <a:cubicBezTo>
                    <a:pt x="75438" y="1122680"/>
                    <a:pt x="0" y="1047242"/>
                    <a:pt x="0" y="954278"/>
                  </a:cubicBezTo>
                  <a:close/>
                </a:path>
              </a:pathLst>
            </a:custGeom>
            <a:solidFill>
              <a:srgbClr val="F4F7FC"/>
            </a:solidFill>
            <a:ln w="19050" cap="sq">
              <a:solidFill>
                <a:srgbClr val="D7DCEC"/>
              </a:solidFill>
              <a:prstDash val="solid"/>
              <a:miter/>
            </a:ln>
          </p:spPr>
        </p:sp>
      </p:grpSp>
      <p:grpSp>
        <p:nvGrpSpPr>
          <p:cNvPr name="Group 50" id="50"/>
          <p:cNvGrpSpPr/>
          <p:nvPr/>
        </p:nvGrpSpPr>
        <p:grpSpPr>
          <a:xfrm rot="0">
            <a:off x="6542532" y="6213348"/>
            <a:ext cx="5143500" cy="521208"/>
            <a:chOff x="0" y="0"/>
            <a:chExt cx="6858000" cy="694944"/>
          </a:xfrm>
        </p:grpSpPr>
        <p:sp>
          <p:nvSpPr>
            <p:cNvPr name="Freeform 51" id="51"/>
            <p:cNvSpPr/>
            <p:nvPr/>
          </p:nvSpPr>
          <p:spPr>
            <a:xfrm flipH="false" flipV="false" rot="0">
              <a:off x="0" y="0"/>
              <a:ext cx="6858000" cy="694944"/>
            </a:xfrm>
            <a:custGeom>
              <a:avLst/>
              <a:gdLst/>
              <a:ahLst/>
              <a:cxnLst/>
              <a:rect r="r" b="b" t="t" l="l"/>
              <a:pathLst>
                <a:path h="694944" w="6858000">
                  <a:moveTo>
                    <a:pt x="0" y="0"/>
                  </a:moveTo>
                  <a:lnTo>
                    <a:pt x="6858000" y="0"/>
                  </a:lnTo>
                  <a:lnTo>
                    <a:pt x="6858000" y="694944"/>
                  </a:lnTo>
                  <a:lnTo>
                    <a:pt x="0" y="694944"/>
                  </a:lnTo>
                  <a:close/>
                </a:path>
              </a:pathLst>
            </a:custGeom>
            <a:blipFill>
              <a:blip r:embed="rId2">
                <a:alphaModFix amt="0"/>
              </a:blip>
              <a:stretch>
                <a:fillRect l="0" t="-142286" r="0" b="-142286"/>
              </a:stretch>
            </a:blipFill>
          </p:spPr>
        </p:sp>
        <p:sp>
          <p:nvSpPr>
            <p:cNvPr name="TextBox 52" id="52"/>
            <p:cNvSpPr txBox="true"/>
            <p:nvPr/>
          </p:nvSpPr>
          <p:spPr>
            <a:xfrm>
              <a:off x="0" y="-38100"/>
              <a:ext cx="6858000" cy="733044"/>
            </a:xfrm>
            <a:prstGeom prst="rect">
              <a:avLst/>
            </a:prstGeom>
          </p:spPr>
          <p:txBody>
            <a:bodyPr anchor="ctr" rtlCol="false" tIns="0" lIns="0" bIns="0" rIns="0"/>
            <a:lstStyle/>
            <a:p>
              <a:pPr algn="ctr">
                <a:lnSpc>
                  <a:spcPts val="2430"/>
                </a:lnSpc>
              </a:pPr>
              <a:r>
                <a:rPr lang="en-US" sz="2025">
                  <a:solidFill>
                    <a:srgbClr val="6B7280"/>
                  </a:solidFill>
                  <a:latin typeface="Calibri (MS)"/>
                  <a:ea typeface="Calibri (MS)"/>
                  <a:cs typeface="Calibri (MS)"/>
                  <a:sym typeface="Calibri (MS)"/>
                </a:rPr>
                <a:t>Respond</a:t>
              </a:r>
            </a:p>
          </p:txBody>
        </p:sp>
      </p:grpSp>
      <p:grpSp>
        <p:nvGrpSpPr>
          <p:cNvPr name="Group 53" id="53"/>
          <p:cNvGrpSpPr/>
          <p:nvPr/>
        </p:nvGrpSpPr>
        <p:grpSpPr>
          <a:xfrm rot="0">
            <a:off x="6542532" y="6583680"/>
            <a:ext cx="5143500" cy="329184"/>
            <a:chOff x="0" y="0"/>
            <a:chExt cx="6858000" cy="438912"/>
          </a:xfrm>
        </p:grpSpPr>
        <p:sp>
          <p:nvSpPr>
            <p:cNvPr name="Freeform 54" id="54"/>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55" id="55"/>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9AA3B8"/>
                  </a:solidFill>
                  <a:latin typeface="Arimo"/>
                  <a:ea typeface="Arimo"/>
                  <a:cs typeface="Arimo"/>
                  <a:sym typeface="Arimo"/>
                </a:rPr>
                <a:t>RS</a:t>
              </a:r>
            </a:p>
          </p:txBody>
        </p:sp>
      </p:grpSp>
      <p:grpSp>
        <p:nvGrpSpPr>
          <p:cNvPr name="Group 56" id="56"/>
          <p:cNvGrpSpPr/>
          <p:nvPr/>
        </p:nvGrpSpPr>
        <p:grpSpPr>
          <a:xfrm rot="0">
            <a:off x="12115419" y="6135243"/>
            <a:ext cx="5162550" cy="842010"/>
            <a:chOff x="0" y="0"/>
            <a:chExt cx="6883400" cy="1122680"/>
          </a:xfrm>
        </p:grpSpPr>
        <p:sp>
          <p:nvSpPr>
            <p:cNvPr name="Freeform 57" id="57"/>
            <p:cNvSpPr/>
            <p:nvPr/>
          </p:nvSpPr>
          <p:spPr>
            <a:xfrm flipH="false" flipV="false" rot="0">
              <a:off x="0" y="0"/>
              <a:ext cx="6883400" cy="1122680"/>
            </a:xfrm>
            <a:custGeom>
              <a:avLst/>
              <a:gdLst/>
              <a:ahLst/>
              <a:cxnLst/>
              <a:rect r="r" b="b" t="t" l="l"/>
              <a:pathLst>
                <a:path h="1122680" w="6883400">
                  <a:moveTo>
                    <a:pt x="0" y="168402"/>
                  </a:moveTo>
                  <a:cubicBezTo>
                    <a:pt x="0" y="75438"/>
                    <a:pt x="75438" y="0"/>
                    <a:pt x="168402" y="0"/>
                  </a:cubicBezTo>
                  <a:lnTo>
                    <a:pt x="6714998" y="0"/>
                  </a:lnTo>
                  <a:cubicBezTo>
                    <a:pt x="6807962" y="0"/>
                    <a:pt x="6883400" y="75438"/>
                    <a:pt x="6883400" y="168402"/>
                  </a:cubicBezTo>
                  <a:lnTo>
                    <a:pt x="6883400" y="954278"/>
                  </a:lnTo>
                  <a:cubicBezTo>
                    <a:pt x="6883400" y="1047242"/>
                    <a:pt x="6807962" y="1122680"/>
                    <a:pt x="6714998" y="1122680"/>
                  </a:cubicBezTo>
                  <a:lnTo>
                    <a:pt x="168402" y="1122680"/>
                  </a:lnTo>
                  <a:cubicBezTo>
                    <a:pt x="75438" y="1122680"/>
                    <a:pt x="0" y="1047242"/>
                    <a:pt x="0" y="954278"/>
                  </a:cubicBezTo>
                  <a:close/>
                </a:path>
              </a:pathLst>
            </a:custGeom>
            <a:solidFill>
              <a:srgbClr val="F4F7FC"/>
            </a:solidFill>
            <a:ln w="19050" cap="sq">
              <a:solidFill>
                <a:srgbClr val="D7DCEC"/>
              </a:solidFill>
              <a:prstDash val="solid"/>
              <a:miter/>
            </a:ln>
          </p:spPr>
        </p:sp>
      </p:grpSp>
      <p:grpSp>
        <p:nvGrpSpPr>
          <p:cNvPr name="Group 58" id="58"/>
          <p:cNvGrpSpPr/>
          <p:nvPr/>
        </p:nvGrpSpPr>
        <p:grpSpPr>
          <a:xfrm rot="0">
            <a:off x="12124944" y="6213348"/>
            <a:ext cx="5143500" cy="521208"/>
            <a:chOff x="0" y="0"/>
            <a:chExt cx="6858000" cy="694944"/>
          </a:xfrm>
        </p:grpSpPr>
        <p:sp>
          <p:nvSpPr>
            <p:cNvPr name="Freeform 59" id="59"/>
            <p:cNvSpPr/>
            <p:nvPr/>
          </p:nvSpPr>
          <p:spPr>
            <a:xfrm flipH="false" flipV="false" rot="0">
              <a:off x="0" y="0"/>
              <a:ext cx="6858000" cy="694944"/>
            </a:xfrm>
            <a:custGeom>
              <a:avLst/>
              <a:gdLst/>
              <a:ahLst/>
              <a:cxnLst/>
              <a:rect r="r" b="b" t="t" l="l"/>
              <a:pathLst>
                <a:path h="694944" w="6858000">
                  <a:moveTo>
                    <a:pt x="0" y="0"/>
                  </a:moveTo>
                  <a:lnTo>
                    <a:pt x="6858000" y="0"/>
                  </a:lnTo>
                  <a:lnTo>
                    <a:pt x="6858000" y="694944"/>
                  </a:lnTo>
                  <a:lnTo>
                    <a:pt x="0" y="694944"/>
                  </a:lnTo>
                  <a:close/>
                </a:path>
              </a:pathLst>
            </a:custGeom>
            <a:blipFill>
              <a:blip r:embed="rId2">
                <a:alphaModFix amt="0"/>
              </a:blip>
              <a:stretch>
                <a:fillRect l="0" t="-142286" r="0" b="-142286"/>
              </a:stretch>
            </a:blipFill>
          </p:spPr>
        </p:sp>
        <p:sp>
          <p:nvSpPr>
            <p:cNvPr name="TextBox 60" id="60"/>
            <p:cNvSpPr txBox="true"/>
            <p:nvPr/>
          </p:nvSpPr>
          <p:spPr>
            <a:xfrm>
              <a:off x="0" y="-38100"/>
              <a:ext cx="6858000" cy="733044"/>
            </a:xfrm>
            <a:prstGeom prst="rect">
              <a:avLst/>
            </a:prstGeom>
          </p:spPr>
          <p:txBody>
            <a:bodyPr anchor="ctr" rtlCol="false" tIns="0" lIns="0" bIns="0" rIns="0"/>
            <a:lstStyle/>
            <a:p>
              <a:pPr algn="ctr">
                <a:lnSpc>
                  <a:spcPts val="2430"/>
                </a:lnSpc>
              </a:pPr>
              <a:r>
                <a:rPr lang="en-US" sz="2025">
                  <a:solidFill>
                    <a:srgbClr val="6B7280"/>
                  </a:solidFill>
                  <a:latin typeface="Calibri (MS)"/>
                  <a:ea typeface="Calibri (MS)"/>
                  <a:cs typeface="Calibri (MS)"/>
                  <a:sym typeface="Calibri (MS)"/>
                </a:rPr>
                <a:t>Recover</a:t>
              </a:r>
            </a:p>
          </p:txBody>
        </p:sp>
      </p:grpSp>
      <p:grpSp>
        <p:nvGrpSpPr>
          <p:cNvPr name="Group 61" id="61"/>
          <p:cNvGrpSpPr/>
          <p:nvPr/>
        </p:nvGrpSpPr>
        <p:grpSpPr>
          <a:xfrm rot="0">
            <a:off x="12124944" y="6583680"/>
            <a:ext cx="5143500" cy="329184"/>
            <a:chOff x="0" y="0"/>
            <a:chExt cx="6858000" cy="438912"/>
          </a:xfrm>
        </p:grpSpPr>
        <p:sp>
          <p:nvSpPr>
            <p:cNvPr name="Freeform 62" id="62"/>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63" id="63"/>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9AA3B8"/>
                  </a:solidFill>
                  <a:latin typeface="Arimo"/>
                  <a:ea typeface="Arimo"/>
                  <a:cs typeface="Arimo"/>
                  <a:sym typeface="Arimo"/>
                </a:rPr>
                <a:t>RC</a:t>
              </a:r>
            </a:p>
          </p:txBody>
        </p:sp>
      </p:grpSp>
      <p:grpSp>
        <p:nvGrpSpPr>
          <p:cNvPr name="Group 64" id="64"/>
          <p:cNvGrpSpPr/>
          <p:nvPr/>
        </p:nvGrpSpPr>
        <p:grpSpPr>
          <a:xfrm rot="0">
            <a:off x="950595" y="7328535"/>
            <a:ext cx="16341090" cy="1596390"/>
            <a:chOff x="0" y="0"/>
            <a:chExt cx="21788120" cy="2128520"/>
          </a:xfrm>
        </p:grpSpPr>
        <p:sp>
          <p:nvSpPr>
            <p:cNvPr name="Freeform 65" id="65"/>
            <p:cNvSpPr/>
            <p:nvPr/>
          </p:nvSpPr>
          <p:spPr>
            <a:xfrm flipH="false" flipV="false" rot="0">
              <a:off x="0" y="0"/>
              <a:ext cx="21788120" cy="2128520"/>
            </a:xfrm>
            <a:custGeom>
              <a:avLst/>
              <a:gdLst/>
              <a:ahLst/>
              <a:cxnLst/>
              <a:rect r="r" b="b" t="t" l="l"/>
              <a:pathLst>
                <a:path h="2128520" w="21788120">
                  <a:moveTo>
                    <a:pt x="0" y="185039"/>
                  </a:moveTo>
                  <a:cubicBezTo>
                    <a:pt x="0" y="82931"/>
                    <a:pt x="82931" y="0"/>
                    <a:pt x="185039" y="0"/>
                  </a:cubicBezTo>
                  <a:lnTo>
                    <a:pt x="21603081" y="0"/>
                  </a:lnTo>
                  <a:cubicBezTo>
                    <a:pt x="21705317" y="0"/>
                    <a:pt x="21788120" y="82931"/>
                    <a:pt x="21788120" y="185039"/>
                  </a:cubicBezTo>
                  <a:lnTo>
                    <a:pt x="21788120" y="1943481"/>
                  </a:lnTo>
                  <a:cubicBezTo>
                    <a:pt x="21788120" y="2045716"/>
                    <a:pt x="21705190" y="2128520"/>
                    <a:pt x="21603081" y="2128520"/>
                  </a:cubicBezTo>
                  <a:lnTo>
                    <a:pt x="185039" y="2128520"/>
                  </a:lnTo>
                  <a:cubicBezTo>
                    <a:pt x="82931" y="2128520"/>
                    <a:pt x="0" y="2045589"/>
                    <a:pt x="0" y="1943481"/>
                  </a:cubicBezTo>
                  <a:close/>
                </a:path>
              </a:pathLst>
            </a:custGeom>
            <a:solidFill>
              <a:srgbClr val="FBF9F4"/>
            </a:solidFill>
            <a:ln w="19050" cap="sq">
              <a:solidFill>
                <a:srgbClr val="EFE6D2"/>
              </a:solidFill>
              <a:prstDash val="solid"/>
              <a:miter/>
            </a:ln>
          </p:spPr>
        </p:sp>
      </p:grpSp>
      <p:sp>
        <p:nvSpPr>
          <p:cNvPr name="TextBox 66" id="66"/>
          <p:cNvSpPr txBox="true"/>
          <p:nvPr/>
        </p:nvSpPr>
        <p:spPr>
          <a:xfrm rot="0">
            <a:off x="1463040" y="7494270"/>
            <a:ext cx="15316200" cy="1238250"/>
          </a:xfrm>
          <a:prstGeom prst="rect">
            <a:avLst/>
          </a:prstGeom>
        </p:spPr>
        <p:txBody>
          <a:bodyPr anchor="t" rtlCol="false" tIns="0" lIns="0" bIns="0" rIns="0">
            <a:spAutoFit/>
          </a:bodyPr>
          <a:lstStyle/>
          <a:p>
            <a:pPr algn="l">
              <a:lnSpc>
                <a:spcPts val="2880"/>
              </a:lnSpc>
            </a:pPr>
            <a:r>
              <a:rPr lang="en-US" sz="1875">
                <a:solidFill>
                  <a:srgbClr val="23262F"/>
                </a:solidFill>
                <a:latin typeface="Calibri (MS)"/>
                <a:ea typeface="Calibri (MS)"/>
                <a:cs typeface="Calibri (MS)"/>
                <a:sym typeface="Calibri (MS)"/>
              </a:rPr>
              <a:t>This is a safeguard built into the onboarding process itself — training people before they touch a system reduces the office's risk. That's Protect.</a:t>
            </a:r>
          </a:p>
        </p:txBody>
      </p:sp>
      <p:grpSp>
        <p:nvGrpSpPr>
          <p:cNvPr name="Group 67" id="67"/>
          <p:cNvGrpSpPr/>
          <p:nvPr/>
        </p:nvGrpSpPr>
        <p:grpSpPr>
          <a:xfrm rot="0">
            <a:off x="685800" y="9710928"/>
            <a:ext cx="10972800" cy="411480"/>
            <a:chOff x="0" y="0"/>
            <a:chExt cx="14630400" cy="548640"/>
          </a:xfrm>
        </p:grpSpPr>
        <p:sp>
          <p:nvSpPr>
            <p:cNvPr name="Freeform 68" id="68"/>
            <p:cNvSpPr/>
            <p:nvPr/>
          </p:nvSpPr>
          <p:spPr>
            <a:xfrm flipH="false" flipV="false" rot="0">
              <a:off x="0" y="0"/>
              <a:ext cx="14630400" cy="548640"/>
            </a:xfrm>
            <a:custGeom>
              <a:avLst/>
              <a:gdLst/>
              <a:ahLst/>
              <a:cxnLst/>
              <a:rect r="r" b="b" t="t" l="l"/>
              <a:pathLst>
                <a:path h="548640" w="14630400">
                  <a:moveTo>
                    <a:pt x="0" y="0"/>
                  </a:moveTo>
                  <a:lnTo>
                    <a:pt x="14630400" y="0"/>
                  </a:lnTo>
                  <a:lnTo>
                    <a:pt x="14630400" y="548640"/>
                  </a:lnTo>
                  <a:lnTo>
                    <a:pt x="0" y="548640"/>
                  </a:lnTo>
                  <a:close/>
                </a:path>
              </a:pathLst>
            </a:custGeom>
            <a:blipFill>
              <a:blip r:embed="rId2">
                <a:alphaModFix amt="0"/>
              </a:blip>
              <a:stretch>
                <a:fillRect l="0" t="-469601" r="0" b="-469601"/>
              </a:stretch>
            </a:blipFill>
          </p:spPr>
        </p:sp>
        <p:sp>
          <p:nvSpPr>
            <p:cNvPr name="TextBox 69" id="69"/>
            <p:cNvSpPr txBox="true"/>
            <p:nvPr/>
          </p:nvSpPr>
          <p:spPr>
            <a:xfrm>
              <a:off x="0" y="-38100"/>
              <a:ext cx="14630400" cy="586740"/>
            </a:xfrm>
            <a:prstGeom prst="rect">
              <a:avLst/>
            </a:prstGeom>
          </p:spPr>
          <p:txBody>
            <a:bodyPr anchor="ctr" rtlCol="false" tIns="0" lIns="0" bIns="0" rIns="0"/>
            <a:lstStyle/>
            <a:p>
              <a:pPr algn="l">
                <a:lnSpc>
                  <a:spcPts val="1800"/>
                </a:lnSpc>
              </a:pPr>
              <a:r>
                <a:rPr lang="en-US" sz="1500">
                  <a:solidFill>
                    <a:srgbClr val="6B7280"/>
                  </a:solidFill>
                  <a:latin typeface="Calibri (MS)"/>
                  <a:ea typeface="Calibri (MS)"/>
                  <a:cs typeface="Calibri (MS)"/>
                  <a:sym typeface="Calibri (MS)"/>
                </a:rPr>
                <a:t>Davao del Norte Provincial Government — Cybersecurity Seminar</a:t>
              </a:r>
            </a:p>
          </p:txBody>
        </p:sp>
      </p:grpSp>
      <p:grpSp>
        <p:nvGrpSpPr>
          <p:cNvPr name="Group 70" id="70"/>
          <p:cNvGrpSpPr/>
          <p:nvPr/>
        </p:nvGrpSpPr>
        <p:grpSpPr>
          <a:xfrm rot="0">
            <a:off x="16911828" y="9710928"/>
            <a:ext cx="685800" cy="411480"/>
            <a:chOff x="0" y="0"/>
            <a:chExt cx="914400" cy="548640"/>
          </a:xfrm>
        </p:grpSpPr>
        <p:sp>
          <p:nvSpPr>
            <p:cNvPr name="Freeform 71" id="71"/>
            <p:cNvSpPr/>
            <p:nvPr/>
          </p:nvSpPr>
          <p:spPr>
            <a:xfrm flipH="false" flipV="false" rot="0">
              <a:off x="0" y="0"/>
              <a:ext cx="914400" cy="548640"/>
            </a:xfrm>
            <a:custGeom>
              <a:avLst/>
              <a:gdLst/>
              <a:ahLst/>
              <a:cxnLst/>
              <a:rect r="r" b="b" t="t" l="l"/>
              <a:pathLst>
                <a:path h="548640" w="914400">
                  <a:moveTo>
                    <a:pt x="0" y="0"/>
                  </a:moveTo>
                  <a:lnTo>
                    <a:pt x="914400" y="0"/>
                  </a:lnTo>
                  <a:lnTo>
                    <a:pt x="914400" y="548640"/>
                  </a:lnTo>
                  <a:lnTo>
                    <a:pt x="0" y="548640"/>
                  </a:lnTo>
                  <a:close/>
                </a:path>
              </a:pathLst>
            </a:custGeom>
            <a:blipFill>
              <a:blip r:embed="rId2">
                <a:alphaModFix amt="0"/>
              </a:blip>
              <a:stretch>
                <a:fillRect l="-26982" t="0" r="-26982" b="0"/>
              </a:stretch>
            </a:blipFill>
          </p:spPr>
        </p:sp>
        <p:sp>
          <p:nvSpPr>
            <p:cNvPr name="TextBox 72" id="72"/>
            <p:cNvSpPr txBox="true"/>
            <p:nvPr/>
          </p:nvSpPr>
          <p:spPr>
            <a:xfrm>
              <a:off x="0" y="-38100"/>
              <a:ext cx="914400" cy="586740"/>
            </a:xfrm>
            <a:prstGeom prst="rect">
              <a:avLst/>
            </a:prstGeom>
          </p:spPr>
          <p:txBody>
            <a:bodyPr anchor="ctr" rtlCol="false" tIns="0" lIns="0" bIns="0" rIns="0"/>
            <a:lstStyle/>
            <a:p>
              <a:pPr algn="r">
                <a:lnSpc>
                  <a:spcPts val="1800"/>
                </a:lnSpc>
              </a:pPr>
              <a:r>
                <a:rPr lang="en-US" sz="1500">
                  <a:solidFill>
                    <a:srgbClr val="6B7280"/>
                  </a:solidFill>
                  <a:latin typeface="Calibri (MS)"/>
                  <a:ea typeface="Calibri (MS)"/>
                  <a:cs typeface="Calibri (MS)"/>
                  <a:sym typeface="Calibri (MS)"/>
                </a:rPr>
                <a:t>30</a:t>
              </a:r>
            </a:p>
          </p:txBody>
        </p:sp>
      </p:grpSp>
    </p:spTree>
  </p:cSld>
  <p:clrMapOvr>
    <a:masterClrMapping/>
  </p:clrMapOvr>
</p:sld>
</file>

<file path=ppt/slides/slide9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60120" y="685800"/>
            <a:ext cx="13716000" cy="411480"/>
            <a:chOff x="0" y="0"/>
            <a:chExt cx="18288000" cy="548640"/>
          </a:xfrm>
        </p:grpSpPr>
        <p:sp>
          <p:nvSpPr>
            <p:cNvPr name="Freeform 3" id="3"/>
            <p:cNvSpPr/>
            <p:nvPr/>
          </p:nvSpPr>
          <p:spPr>
            <a:xfrm flipH="false" flipV="false" rot="0">
              <a:off x="0" y="0"/>
              <a:ext cx="18288000" cy="548640"/>
            </a:xfrm>
            <a:custGeom>
              <a:avLst/>
              <a:gdLst/>
              <a:ahLst/>
              <a:cxnLst/>
              <a:rect r="r" b="b" t="t" l="l"/>
              <a:pathLst>
                <a:path h="548640" w="18288000">
                  <a:moveTo>
                    <a:pt x="0" y="0"/>
                  </a:moveTo>
                  <a:lnTo>
                    <a:pt x="18288000" y="0"/>
                  </a:lnTo>
                  <a:lnTo>
                    <a:pt x="18288000" y="548640"/>
                  </a:lnTo>
                  <a:lnTo>
                    <a:pt x="0" y="548640"/>
                  </a:lnTo>
                  <a:close/>
                </a:path>
              </a:pathLst>
            </a:custGeom>
            <a:blipFill>
              <a:blip r:embed="rId2">
                <a:alphaModFix amt="0"/>
              </a:blip>
              <a:stretch>
                <a:fillRect l="0" t="-599501" r="0" b="-599501"/>
              </a:stretch>
            </a:blipFill>
          </p:spPr>
        </p:sp>
        <p:sp>
          <p:nvSpPr>
            <p:cNvPr name="TextBox 4" id="4"/>
            <p:cNvSpPr txBox="true"/>
            <p:nvPr/>
          </p:nvSpPr>
          <p:spPr>
            <a:xfrm>
              <a:off x="0" y="-38100"/>
              <a:ext cx="18288000" cy="586740"/>
            </a:xfrm>
            <a:prstGeom prst="rect">
              <a:avLst/>
            </a:prstGeom>
          </p:spPr>
          <p:txBody>
            <a:bodyPr anchor="ctr" rtlCol="false" tIns="0" lIns="0" bIns="0" rIns="0"/>
            <a:lstStyle/>
            <a:p>
              <a:pPr algn="l">
                <a:lnSpc>
                  <a:spcPts val="2160"/>
                </a:lnSpc>
              </a:pPr>
              <a:r>
                <a:rPr lang="en-US" b="true" sz="1800" spc="225">
                  <a:solidFill>
                    <a:srgbClr val="00B4D8"/>
                  </a:solidFill>
                  <a:latin typeface="Calibri (MS) Bold"/>
                  <a:ea typeface="Calibri (MS) Bold"/>
                  <a:cs typeface="Calibri (MS) Bold"/>
                  <a:sym typeface="Calibri (MS) Bold"/>
                </a:rPr>
                <a:t>NIST CSF SORT · SCENARIO</a:t>
              </a:r>
            </a:p>
          </p:txBody>
        </p:sp>
      </p:grpSp>
      <p:grpSp>
        <p:nvGrpSpPr>
          <p:cNvPr name="Group 5" id="5"/>
          <p:cNvGrpSpPr/>
          <p:nvPr/>
        </p:nvGrpSpPr>
        <p:grpSpPr>
          <a:xfrm rot="0">
            <a:off x="960120" y="1069848"/>
            <a:ext cx="10972800" cy="822960"/>
            <a:chOff x="0" y="0"/>
            <a:chExt cx="14630400" cy="1097280"/>
          </a:xfrm>
        </p:grpSpPr>
        <p:sp>
          <p:nvSpPr>
            <p:cNvPr name="Freeform 6" id="6"/>
            <p:cNvSpPr/>
            <p:nvPr/>
          </p:nvSpPr>
          <p:spPr>
            <a:xfrm flipH="false" flipV="false" rot="0">
              <a:off x="0" y="0"/>
              <a:ext cx="14630400" cy="1097280"/>
            </a:xfrm>
            <a:custGeom>
              <a:avLst/>
              <a:gdLst/>
              <a:ahLst/>
              <a:cxnLst/>
              <a:rect r="r" b="b" t="t" l="l"/>
              <a:pathLst>
                <a:path h="1097280" w="14630400">
                  <a:moveTo>
                    <a:pt x="0" y="0"/>
                  </a:moveTo>
                  <a:lnTo>
                    <a:pt x="14630400" y="0"/>
                  </a:lnTo>
                  <a:lnTo>
                    <a:pt x="14630400" y="1097280"/>
                  </a:lnTo>
                  <a:lnTo>
                    <a:pt x="0" y="1097280"/>
                  </a:lnTo>
                  <a:close/>
                </a:path>
              </a:pathLst>
            </a:custGeom>
            <a:blipFill>
              <a:blip r:embed="rId2">
                <a:alphaModFix amt="0"/>
              </a:blip>
              <a:stretch>
                <a:fillRect l="0" t="-209800" r="0" b="-209800"/>
              </a:stretch>
            </a:blipFill>
          </p:spPr>
        </p:sp>
        <p:sp>
          <p:nvSpPr>
            <p:cNvPr name="TextBox 7" id="7"/>
            <p:cNvSpPr txBox="true"/>
            <p:nvPr/>
          </p:nvSpPr>
          <p:spPr>
            <a:xfrm>
              <a:off x="0" y="0"/>
              <a:ext cx="14630400" cy="1097280"/>
            </a:xfrm>
            <a:prstGeom prst="rect">
              <a:avLst/>
            </a:prstGeom>
          </p:spPr>
          <p:txBody>
            <a:bodyPr anchor="ctr" rtlCol="false" tIns="0" lIns="0" bIns="0" rIns="0"/>
            <a:lstStyle/>
            <a:p>
              <a:pPr algn="l">
                <a:lnSpc>
                  <a:spcPts val="4680"/>
                </a:lnSpc>
              </a:pPr>
              <a:r>
                <a:rPr lang="en-US" sz="3900" b="true">
                  <a:solidFill>
                    <a:srgbClr val="1E2761"/>
                  </a:solidFill>
                  <a:latin typeface="Cambria Bold"/>
                  <a:ea typeface="Cambria Bold"/>
                  <a:cs typeface="Cambria Bold"/>
                  <a:sym typeface="Cambria Bold"/>
                </a:rPr>
                <a:t>Scenario 11</a:t>
              </a:r>
            </a:p>
          </p:txBody>
        </p:sp>
      </p:grpSp>
      <p:grpSp>
        <p:nvGrpSpPr>
          <p:cNvPr name="Group 8" id="8"/>
          <p:cNvGrpSpPr/>
          <p:nvPr/>
        </p:nvGrpSpPr>
        <p:grpSpPr>
          <a:xfrm rot="0">
            <a:off x="960120" y="1810512"/>
            <a:ext cx="8229600" cy="411480"/>
            <a:chOff x="0" y="0"/>
            <a:chExt cx="10972800" cy="548640"/>
          </a:xfrm>
        </p:grpSpPr>
        <p:sp>
          <p:nvSpPr>
            <p:cNvPr name="Freeform 9" id="9"/>
            <p:cNvSpPr/>
            <p:nvPr/>
          </p:nvSpPr>
          <p:spPr>
            <a:xfrm flipH="false" flipV="false" rot="0">
              <a:off x="0" y="0"/>
              <a:ext cx="10972800" cy="548640"/>
            </a:xfrm>
            <a:custGeom>
              <a:avLst/>
              <a:gdLst/>
              <a:ahLst/>
              <a:cxnLst/>
              <a:rect r="r" b="b" t="t" l="l"/>
              <a:pathLst>
                <a:path h="548640" w="10972800">
                  <a:moveTo>
                    <a:pt x="0" y="0"/>
                  </a:moveTo>
                  <a:lnTo>
                    <a:pt x="10972800" y="0"/>
                  </a:lnTo>
                  <a:lnTo>
                    <a:pt x="10972800" y="548640"/>
                  </a:lnTo>
                  <a:lnTo>
                    <a:pt x="0" y="548640"/>
                  </a:lnTo>
                  <a:close/>
                </a:path>
              </a:pathLst>
            </a:custGeom>
            <a:blipFill>
              <a:blip r:embed="rId2">
                <a:alphaModFix amt="0"/>
              </a:blip>
              <a:stretch>
                <a:fillRect l="0" t="-339700" r="0" b="-339700"/>
              </a:stretch>
            </a:blipFill>
          </p:spPr>
        </p:sp>
        <p:sp>
          <p:nvSpPr>
            <p:cNvPr name="TextBox 10" id="10"/>
            <p:cNvSpPr txBox="true"/>
            <p:nvPr/>
          </p:nvSpPr>
          <p:spPr>
            <a:xfrm>
              <a:off x="0" y="-28575"/>
              <a:ext cx="10972800" cy="577215"/>
            </a:xfrm>
            <a:prstGeom prst="rect">
              <a:avLst/>
            </a:prstGeom>
          </p:spPr>
          <p:txBody>
            <a:bodyPr anchor="ctr" rtlCol="false" tIns="0" lIns="0" bIns="0" rIns="0"/>
            <a:lstStyle/>
            <a:p>
              <a:pPr algn="l">
                <a:lnSpc>
                  <a:spcPts val="1980"/>
                </a:lnSpc>
              </a:pPr>
              <a:r>
                <a:rPr lang="en-US" sz="1650">
                  <a:solidFill>
                    <a:srgbClr val="6B7280"/>
                  </a:solidFill>
                  <a:latin typeface="Calibri (MS)"/>
                  <a:ea typeface="Calibri (MS)"/>
                  <a:cs typeface="Calibri (MS)"/>
                  <a:sym typeface="Calibri (MS)"/>
                </a:rPr>
                <a:t>11 of 20</a:t>
              </a:r>
            </a:p>
          </p:txBody>
        </p:sp>
      </p:grpSp>
      <p:grpSp>
        <p:nvGrpSpPr>
          <p:cNvPr name="Group 11" id="11"/>
          <p:cNvGrpSpPr/>
          <p:nvPr/>
        </p:nvGrpSpPr>
        <p:grpSpPr>
          <a:xfrm rot="0">
            <a:off x="960120" y="2537460"/>
            <a:ext cx="16322040" cy="2811780"/>
            <a:chOff x="0" y="0"/>
            <a:chExt cx="21762720" cy="3749040"/>
          </a:xfrm>
        </p:grpSpPr>
        <p:sp>
          <p:nvSpPr>
            <p:cNvPr name="Freeform 12" id="12"/>
            <p:cNvSpPr/>
            <p:nvPr/>
          </p:nvSpPr>
          <p:spPr>
            <a:xfrm flipH="false" flipV="false" rot="0">
              <a:off x="0" y="0"/>
              <a:ext cx="21762720" cy="3749040"/>
            </a:xfrm>
            <a:custGeom>
              <a:avLst/>
              <a:gdLst/>
              <a:ahLst/>
              <a:cxnLst/>
              <a:rect r="r" b="b" t="t" l="l"/>
              <a:pathLst>
                <a:path h="3749040" w="21762720">
                  <a:moveTo>
                    <a:pt x="0" y="182880"/>
                  </a:moveTo>
                  <a:cubicBezTo>
                    <a:pt x="0" y="81915"/>
                    <a:pt x="81915" y="0"/>
                    <a:pt x="182880" y="0"/>
                  </a:cubicBezTo>
                  <a:lnTo>
                    <a:pt x="21579839" y="0"/>
                  </a:lnTo>
                  <a:cubicBezTo>
                    <a:pt x="21680804" y="0"/>
                    <a:pt x="21762720" y="81915"/>
                    <a:pt x="21762720" y="182880"/>
                  </a:cubicBezTo>
                  <a:lnTo>
                    <a:pt x="21762720" y="3566160"/>
                  </a:lnTo>
                  <a:cubicBezTo>
                    <a:pt x="21762720" y="3667125"/>
                    <a:pt x="21680804" y="3749040"/>
                    <a:pt x="21579839" y="3749040"/>
                  </a:cubicBezTo>
                  <a:lnTo>
                    <a:pt x="182880" y="3749040"/>
                  </a:lnTo>
                  <a:cubicBezTo>
                    <a:pt x="81915" y="3749040"/>
                    <a:pt x="0" y="3667125"/>
                    <a:pt x="0" y="3566160"/>
                  </a:cubicBezTo>
                  <a:close/>
                </a:path>
              </a:pathLst>
            </a:custGeom>
            <a:solidFill>
              <a:srgbClr val="F4F7FC"/>
            </a:solidFill>
          </p:spPr>
        </p:sp>
      </p:grpSp>
      <p:grpSp>
        <p:nvGrpSpPr>
          <p:cNvPr name="Group 13" id="13"/>
          <p:cNvGrpSpPr/>
          <p:nvPr/>
        </p:nvGrpSpPr>
        <p:grpSpPr>
          <a:xfrm rot="0">
            <a:off x="1440180" y="2811780"/>
            <a:ext cx="15361920" cy="2263140"/>
            <a:chOff x="0" y="0"/>
            <a:chExt cx="20482560" cy="3017520"/>
          </a:xfrm>
        </p:grpSpPr>
        <p:sp>
          <p:nvSpPr>
            <p:cNvPr name="Freeform 14" id="14"/>
            <p:cNvSpPr/>
            <p:nvPr/>
          </p:nvSpPr>
          <p:spPr>
            <a:xfrm flipH="false" flipV="false" rot="0">
              <a:off x="0" y="0"/>
              <a:ext cx="20482561" cy="3017520"/>
            </a:xfrm>
            <a:custGeom>
              <a:avLst/>
              <a:gdLst/>
              <a:ahLst/>
              <a:cxnLst/>
              <a:rect r="r" b="b" t="t" l="l"/>
              <a:pathLst>
                <a:path h="3017520" w="20482561">
                  <a:moveTo>
                    <a:pt x="0" y="0"/>
                  </a:moveTo>
                  <a:lnTo>
                    <a:pt x="20482561" y="0"/>
                  </a:lnTo>
                  <a:lnTo>
                    <a:pt x="20482561" y="3017520"/>
                  </a:lnTo>
                  <a:lnTo>
                    <a:pt x="0" y="3017520"/>
                  </a:lnTo>
                  <a:close/>
                </a:path>
              </a:pathLst>
            </a:custGeom>
            <a:blipFill>
              <a:blip r:embed="rId2">
                <a:alphaModFix amt="0"/>
              </a:blip>
              <a:stretch>
                <a:fillRect l="0" t="-82262" r="0" b="-82262"/>
              </a:stretch>
            </a:blipFill>
          </p:spPr>
        </p:sp>
        <p:sp>
          <p:nvSpPr>
            <p:cNvPr name="TextBox 15" id="15"/>
            <p:cNvSpPr txBox="true"/>
            <p:nvPr/>
          </p:nvSpPr>
          <p:spPr>
            <a:xfrm>
              <a:off x="0" y="-104775"/>
              <a:ext cx="20482560" cy="3122295"/>
            </a:xfrm>
            <a:prstGeom prst="rect">
              <a:avLst/>
            </a:prstGeom>
          </p:spPr>
          <p:txBody>
            <a:bodyPr anchor="ctr" rtlCol="false" tIns="0" lIns="0" bIns="0" rIns="0"/>
            <a:lstStyle/>
            <a:p>
              <a:pPr algn="l">
                <a:lnSpc>
                  <a:spcPts val="4147"/>
                </a:lnSpc>
              </a:pPr>
              <a:r>
                <a:rPr lang="en-US" sz="2700" i="true">
                  <a:solidFill>
                    <a:srgbClr val="23262F"/>
                  </a:solidFill>
                  <a:latin typeface="Cambria Italics"/>
                  <a:ea typeface="Cambria Italics"/>
                  <a:cs typeface="Cambria Italics"/>
                  <a:sym typeface="Cambria Italics"/>
                </a:rPr>
                <a:t>"Antivirus software automatically quarantines a malicious attachment from a phishing email before the employee can open it."</a:t>
              </a:r>
            </a:p>
          </p:txBody>
        </p:sp>
      </p:grpSp>
      <p:sp>
        <p:nvSpPr>
          <p:cNvPr name="TextBox 16" id="16"/>
          <p:cNvSpPr txBox="true"/>
          <p:nvPr/>
        </p:nvSpPr>
        <p:spPr>
          <a:xfrm rot="0">
            <a:off x="1051560" y="5604510"/>
            <a:ext cx="16139160" cy="1276350"/>
          </a:xfrm>
          <a:prstGeom prst="rect">
            <a:avLst/>
          </a:prstGeom>
        </p:spPr>
        <p:txBody>
          <a:bodyPr anchor="t" rtlCol="false" tIns="0" lIns="0" bIns="0" rIns="0">
            <a:spAutoFit/>
          </a:bodyPr>
          <a:lstStyle/>
          <a:p>
            <a:pPr algn="ctr">
              <a:lnSpc>
                <a:spcPts val="3402"/>
              </a:lnSpc>
            </a:pPr>
            <a:r>
              <a:rPr lang="en-US" sz="2100" i="true">
                <a:solidFill>
                  <a:srgbClr val="6B7280"/>
                </a:solidFill>
                <a:latin typeface="Calibri (MS) Italics"/>
                <a:ea typeface="Calibri (MS) Italics"/>
                <a:cs typeface="Calibri (MS) Italics"/>
                <a:sym typeface="Calibri (MS) Italics"/>
              </a:rPr>
              <a:t>Which Function does this belong to — Govern, Identify, Protect, Detect, Respond, or Recover?</a:t>
            </a:r>
          </a:p>
          <a:p>
            <a:pPr algn="ctr">
              <a:lnSpc>
                <a:spcPts val="3402"/>
              </a:lnSpc>
            </a:pPr>
            <a:r>
              <a:rPr lang="en-US" sz="2100" i="true">
                <a:solidFill>
                  <a:srgbClr val="6B7280"/>
                </a:solidFill>
                <a:latin typeface="Calibri (MS) Italics"/>
                <a:ea typeface="Calibri (MS) Italics"/>
                <a:cs typeface="Calibri (MS) Italics"/>
                <a:sym typeface="Calibri (MS) Italics"/>
              </a:rPr>
              <a:t>Some belong to more than one. Discuss, then we'll reveal the answer.</a:t>
            </a:r>
          </a:p>
        </p:txBody>
      </p:sp>
      <p:grpSp>
        <p:nvGrpSpPr>
          <p:cNvPr name="Group 17" id="17"/>
          <p:cNvGrpSpPr/>
          <p:nvPr/>
        </p:nvGrpSpPr>
        <p:grpSpPr>
          <a:xfrm rot="0">
            <a:off x="950595" y="7122795"/>
            <a:ext cx="5162550" cy="910590"/>
            <a:chOff x="0" y="0"/>
            <a:chExt cx="6883400" cy="1214120"/>
          </a:xfrm>
        </p:grpSpPr>
        <p:sp>
          <p:nvSpPr>
            <p:cNvPr name="Freeform 18" id="18"/>
            <p:cNvSpPr/>
            <p:nvPr/>
          </p:nvSpPr>
          <p:spPr>
            <a:xfrm flipH="false" flipV="false" rot="0">
              <a:off x="0" y="0"/>
              <a:ext cx="6883400" cy="1214120"/>
            </a:xfrm>
            <a:custGeom>
              <a:avLst/>
              <a:gdLst/>
              <a:ahLst/>
              <a:cxnLst/>
              <a:rect r="r" b="b" t="t" l="l"/>
              <a:pathLst>
                <a:path h="1214120" w="6883400">
                  <a:moveTo>
                    <a:pt x="0" y="168148"/>
                  </a:moveTo>
                  <a:cubicBezTo>
                    <a:pt x="0" y="75311"/>
                    <a:pt x="75311" y="0"/>
                    <a:pt x="168148" y="0"/>
                  </a:cubicBezTo>
                  <a:lnTo>
                    <a:pt x="6715252" y="0"/>
                  </a:lnTo>
                  <a:cubicBezTo>
                    <a:pt x="6808089" y="0"/>
                    <a:pt x="6883400" y="75311"/>
                    <a:pt x="6883400" y="168148"/>
                  </a:cubicBezTo>
                  <a:lnTo>
                    <a:pt x="6883400" y="1045972"/>
                  </a:lnTo>
                  <a:cubicBezTo>
                    <a:pt x="6883400" y="1138809"/>
                    <a:pt x="6808089" y="1214120"/>
                    <a:pt x="6715252" y="1214120"/>
                  </a:cubicBezTo>
                  <a:lnTo>
                    <a:pt x="168148" y="1214120"/>
                  </a:lnTo>
                  <a:cubicBezTo>
                    <a:pt x="75311" y="1214120"/>
                    <a:pt x="0" y="1138809"/>
                    <a:pt x="0" y="1045972"/>
                  </a:cubicBezTo>
                  <a:close/>
                </a:path>
              </a:pathLst>
            </a:custGeom>
            <a:solidFill>
              <a:srgbClr val="F4F7FC"/>
            </a:solidFill>
            <a:ln w="19050" cap="sq">
              <a:solidFill>
                <a:srgbClr val="D7DCEC"/>
              </a:solidFill>
              <a:prstDash val="solid"/>
              <a:miter/>
            </a:ln>
          </p:spPr>
        </p:sp>
      </p:grpSp>
      <p:grpSp>
        <p:nvGrpSpPr>
          <p:cNvPr name="Group 19" id="19"/>
          <p:cNvGrpSpPr/>
          <p:nvPr/>
        </p:nvGrpSpPr>
        <p:grpSpPr>
          <a:xfrm rot="0">
            <a:off x="960120" y="7200900"/>
            <a:ext cx="5143500" cy="589788"/>
            <a:chOff x="0" y="0"/>
            <a:chExt cx="6858000" cy="786384"/>
          </a:xfrm>
        </p:grpSpPr>
        <p:sp>
          <p:nvSpPr>
            <p:cNvPr name="Freeform 20" id="20"/>
            <p:cNvSpPr/>
            <p:nvPr/>
          </p:nvSpPr>
          <p:spPr>
            <a:xfrm flipH="false" flipV="false" rot="0">
              <a:off x="0" y="0"/>
              <a:ext cx="6858000" cy="786384"/>
            </a:xfrm>
            <a:custGeom>
              <a:avLst/>
              <a:gdLst/>
              <a:ahLst/>
              <a:cxnLst/>
              <a:rect r="r" b="b" t="t" l="l"/>
              <a:pathLst>
                <a:path h="786384" w="6858000">
                  <a:moveTo>
                    <a:pt x="0" y="0"/>
                  </a:moveTo>
                  <a:lnTo>
                    <a:pt x="6858000" y="0"/>
                  </a:lnTo>
                  <a:lnTo>
                    <a:pt x="6858000" y="786384"/>
                  </a:lnTo>
                  <a:lnTo>
                    <a:pt x="0" y="786384"/>
                  </a:lnTo>
                  <a:close/>
                </a:path>
              </a:pathLst>
            </a:custGeom>
            <a:blipFill>
              <a:blip r:embed="rId2">
                <a:alphaModFix amt="0"/>
              </a:blip>
              <a:stretch>
                <a:fillRect l="0" t="-119927" r="0" b="-119927"/>
              </a:stretch>
            </a:blipFill>
          </p:spPr>
        </p:sp>
        <p:sp>
          <p:nvSpPr>
            <p:cNvPr name="TextBox 21" id="21"/>
            <p:cNvSpPr txBox="true"/>
            <p:nvPr/>
          </p:nvSpPr>
          <p:spPr>
            <a:xfrm>
              <a:off x="0" y="-38100"/>
              <a:ext cx="6858000" cy="824484"/>
            </a:xfrm>
            <a:prstGeom prst="rect">
              <a:avLst/>
            </a:prstGeom>
          </p:spPr>
          <p:txBody>
            <a:bodyPr anchor="ctr" rtlCol="false" tIns="0" lIns="0" bIns="0" rIns="0"/>
            <a:lstStyle/>
            <a:p>
              <a:pPr algn="ctr">
                <a:lnSpc>
                  <a:spcPts val="2430"/>
                </a:lnSpc>
              </a:pPr>
              <a:r>
                <a:rPr lang="en-US" sz="2025">
                  <a:solidFill>
                    <a:srgbClr val="6B7280"/>
                  </a:solidFill>
                  <a:latin typeface="Calibri (MS)"/>
                  <a:ea typeface="Calibri (MS)"/>
                  <a:cs typeface="Calibri (MS)"/>
                  <a:sym typeface="Calibri (MS)"/>
                </a:rPr>
                <a:t>Govern</a:t>
              </a:r>
            </a:p>
          </p:txBody>
        </p:sp>
      </p:grpSp>
      <p:grpSp>
        <p:nvGrpSpPr>
          <p:cNvPr name="Group 22" id="22"/>
          <p:cNvGrpSpPr/>
          <p:nvPr/>
        </p:nvGrpSpPr>
        <p:grpSpPr>
          <a:xfrm rot="0">
            <a:off x="960120" y="7639812"/>
            <a:ext cx="5143500" cy="329184"/>
            <a:chOff x="0" y="0"/>
            <a:chExt cx="6858000" cy="438912"/>
          </a:xfrm>
        </p:grpSpPr>
        <p:sp>
          <p:nvSpPr>
            <p:cNvPr name="Freeform 23" id="23"/>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24" id="24"/>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9AA3B8"/>
                  </a:solidFill>
                  <a:latin typeface="Arimo"/>
                  <a:ea typeface="Arimo"/>
                  <a:cs typeface="Arimo"/>
                  <a:sym typeface="Arimo"/>
                </a:rPr>
                <a:t>GV</a:t>
              </a:r>
            </a:p>
          </p:txBody>
        </p:sp>
      </p:grpSp>
      <p:grpSp>
        <p:nvGrpSpPr>
          <p:cNvPr name="Group 25" id="25"/>
          <p:cNvGrpSpPr/>
          <p:nvPr/>
        </p:nvGrpSpPr>
        <p:grpSpPr>
          <a:xfrm rot="0">
            <a:off x="6533007" y="7122795"/>
            <a:ext cx="5162550" cy="910590"/>
            <a:chOff x="0" y="0"/>
            <a:chExt cx="6883400" cy="1214120"/>
          </a:xfrm>
        </p:grpSpPr>
        <p:sp>
          <p:nvSpPr>
            <p:cNvPr name="Freeform 26" id="26"/>
            <p:cNvSpPr/>
            <p:nvPr/>
          </p:nvSpPr>
          <p:spPr>
            <a:xfrm flipH="false" flipV="false" rot="0">
              <a:off x="0" y="0"/>
              <a:ext cx="6883400" cy="1214120"/>
            </a:xfrm>
            <a:custGeom>
              <a:avLst/>
              <a:gdLst/>
              <a:ahLst/>
              <a:cxnLst/>
              <a:rect r="r" b="b" t="t" l="l"/>
              <a:pathLst>
                <a:path h="1214120" w="6883400">
                  <a:moveTo>
                    <a:pt x="0" y="168148"/>
                  </a:moveTo>
                  <a:cubicBezTo>
                    <a:pt x="0" y="75311"/>
                    <a:pt x="75311" y="0"/>
                    <a:pt x="168148" y="0"/>
                  </a:cubicBezTo>
                  <a:lnTo>
                    <a:pt x="6715252" y="0"/>
                  </a:lnTo>
                  <a:cubicBezTo>
                    <a:pt x="6808089" y="0"/>
                    <a:pt x="6883400" y="75311"/>
                    <a:pt x="6883400" y="168148"/>
                  </a:cubicBezTo>
                  <a:lnTo>
                    <a:pt x="6883400" y="1045972"/>
                  </a:lnTo>
                  <a:cubicBezTo>
                    <a:pt x="6883400" y="1138809"/>
                    <a:pt x="6808089" y="1214120"/>
                    <a:pt x="6715252" y="1214120"/>
                  </a:cubicBezTo>
                  <a:lnTo>
                    <a:pt x="168148" y="1214120"/>
                  </a:lnTo>
                  <a:cubicBezTo>
                    <a:pt x="75311" y="1214120"/>
                    <a:pt x="0" y="1138809"/>
                    <a:pt x="0" y="1045972"/>
                  </a:cubicBezTo>
                  <a:close/>
                </a:path>
              </a:pathLst>
            </a:custGeom>
            <a:solidFill>
              <a:srgbClr val="F4F7FC"/>
            </a:solidFill>
            <a:ln w="19050" cap="sq">
              <a:solidFill>
                <a:srgbClr val="D7DCEC"/>
              </a:solidFill>
              <a:prstDash val="solid"/>
              <a:miter/>
            </a:ln>
          </p:spPr>
        </p:sp>
      </p:grpSp>
      <p:grpSp>
        <p:nvGrpSpPr>
          <p:cNvPr name="Group 27" id="27"/>
          <p:cNvGrpSpPr/>
          <p:nvPr/>
        </p:nvGrpSpPr>
        <p:grpSpPr>
          <a:xfrm rot="0">
            <a:off x="6542532" y="7200900"/>
            <a:ext cx="5143500" cy="589788"/>
            <a:chOff x="0" y="0"/>
            <a:chExt cx="6858000" cy="786384"/>
          </a:xfrm>
        </p:grpSpPr>
        <p:sp>
          <p:nvSpPr>
            <p:cNvPr name="Freeform 28" id="28"/>
            <p:cNvSpPr/>
            <p:nvPr/>
          </p:nvSpPr>
          <p:spPr>
            <a:xfrm flipH="false" flipV="false" rot="0">
              <a:off x="0" y="0"/>
              <a:ext cx="6858000" cy="786384"/>
            </a:xfrm>
            <a:custGeom>
              <a:avLst/>
              <a:gdLst/>
              <a:ahLst/>
              <a:cxnLst/>
              <a:rect r="r" b="b" t="t" l="l"/>
              <a:pathLst>
                <a:path h="786384" w="6858000">
                  <a:moveTo>
                    <a:pt x="0" y="0"/>
                  </a:moveTo>
                  <a:lnTo>
                    <a:pt x="6858000" y="0"/>
                  </a:lnTo>
                  <a:lnTo>
                    <a:pt x="6858000" y="786384"/>
                  </a:lnTo>
                  <a:lnTo>
                    <a:pt x="0" y="786384"/>
                  </a:lnTo>
                  <a:close/>
                </a:path>
              </a:pathLst>
            </a:custGeom>
            <a:blipFill>
              <a:blip r:embed="rId2">
                <a:alphaModFix amt="0"/>
              </a:blip>
              <a:stretch>
                <a:fillRect l="0" t="-119927" r="0" b="-119927"/>
              </a:stretch>
            </a:blipFill>
          </p:spPr>
        </p:sp>
        <p:sp>
          <p:nvSpPr>
            <p:cNvPr name="TextBox 29" id="29"/>
            <p:cNvSpPr txBox="true"/>
            <p:nvPr/>
          </p:nvSpPr>
          <p:spPr>
            <a:xfrm>
              <a:off x="0" y="-38100"/>
              <a:ext cx="6858000" cy="824484"/>
            </a:xfrm>
            <a:prstGeom prst="rect">
              <a:avLst/>
            </a:prstGeom>
          </p:spPr>
          <p:txBody>
            <a:bodyPr anchor="ctr" rtlCol="false" tIns="0" lIns="0" bIns="0" rIns="0"/>
            <a:lstStyle/>
            <a:p>
              <a:pPr algn="ctr">
                <a:lnSpc>
                  <a:spcPts val="2430"/>
                </a:lnSpc>
              </a:pPr>
              <a:r>
                <a:rPr lang="en-US" sz="2025">
                  <a:solidFill>
                    <a:srgbClr val="6B7280"/>
                  </a:solidFill>
                  <a:latin typeface="Calibri (MS)"/>
                  <a:ea typeface="Calibri (MS)"/>
                  <a:cs typeface="Calibri (MS)"/>
                  <a:sym typeface="Calibri (MS)"/>
                </a:rPr>
                <a:t>Identify</a:t>
              </a:r>
            </a:p>
          </p:txBody>
        </p:sp>
      </p:grpSp>
      <p:grpSp>
        <p:nvGrpSpPr>
          <p:cNvPr name="Group 30" id="30"/>
          <p:cNvGrpSpPr/>
          <p:nvPr/>
        </p:nvGrpSpPr>
        <p:grpSpPr>
          <a:xfrm rot="0">
            <a:off x="6542532" y="7639812"/>
            <a:ext cx="5143500" cy="329184"/>
            <a:chOff x="0" y="0"/>
            <a:chExt cx="6858000" cy="438912"/>
          </a:xfrm>
        </p:grpSpPr>
        <p:sp>
          <p:nvSpPr>
            <p:cNvPr name="Freeform 31" id="31"/>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32" id="32"/>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9AA3B8"/>
                  </a:solidFill>
                  <a:latin typeface="Arimo"/>
                  <a:ea typeface="Arimo"/>
                  <a:cs typeface="Arimo"/>
                  <a:sym typeface="Arimo"/>
                </a:rPr>
                <a:t>ID</a:t>
              </a:r>
            </a:p>
          </p:txBody>
        </p:sp>
      </p:grpSp>
      <p:grpSp>
        <p:nvGrpSpPr>
          <p:cNvPr name="Group 33" id="33"/>
          <p:cNvGrpSpPr/>
          <p:nvPr/>
        </p:nvGrpSpPr>
        <p:grpSpPr>
          <a:xfrm rot="0">
            <a:off x="12115419" y="7122795"/>
            <a:ext cx="5162550" cy="910590"/>
            <a:chOff x="0" y="0"/>
            <a:chExt cx="6883400" cy="1214120"/>
          </a:xfrm>
        </p:grpSpPr>
        <p:sp>
          <p:nvSpPr>
            <p:cNvPr name="Freeform 34" id="34"/>
            <p:cNvSpPr/>
            <p:nvPr/>
          </p:nvSpPr>
          <p:spPr>
            <a:xfrm flipH="false" flipV="false" rot="0">
              <a:off x="0" y="0"/>
              <a:ext cx="6883400" cy="1214120"/>
            </a:xfrm>
            <a:custGeom>
              <a:avLst/>
              <a:gdLst/>
              <a:ahLst/>
              <a:cxnLst/>
              <a:rect r="r" b="b" t="t" l="l"/>
              <a:pathLst>
                <a:path h="1214120" w="6883400">
                  <a:moveTo>
                    <a:pt x="0" y="168148"/>
                  </a:moveTo>
                  <a:cubicBezTo>
                    <a:pt x="0" y="75311"/>
                    <a:pt x="75311" y="0"/>
                    <a:pt x="168148" y="0"/>
                  </a:cubicBezTo>
                  <a:lnTo>
                    <a:pt x="6715252" y="0"/>
                  </a:lnTo>
                  <a:cubicBezTo>
                    <a:pt x="6808089" y="0"/>
                    <a:pt x="6883400" y="75311"/>
                    <a:pt x="6883400" y="168148"/>
                  </a:cubicBezTo>
                  <a:lnTo>
                    <a:pt x="6883400" y="1045972"/>
                  </a:lnTo>
                  <a:cubicBezTo>
                    <a:pt x="6883400" y="1138809"/>
                    <a:pt x="6808089" y="1214120"/>
                    <a:pt x="6715252" y="1214120"/>
                  </a:cubicBezTo>
                  <a:lnTo>
                    <a:pt x="168148" y="1214120"/>
                  </a:lnTo>
                  <a:cubicBezTo>
                    <a:pt x="75311" y="1214120"/>
                    <a:pt x="0" y="1138809"/>
                    <a:pt x="0" y="1045972"/>
                  </a:cubicBezTo>
                  <a:close/>
                </a:path>
              </a:pathLst>
            </a:custGeom>
            <a:solidFill>
              <a:srgbClr val="F4F7FC"/>
            </a:solidFill>
            <a:ln w="19050" cap="sq">
              <a:solidFill>
                <a:srgbClr val="D7DCEC"/>
              </a:solidFill>
              <a:prstDash val="solid"/>
              <a:miter/>
            </a:ln>
          </p:spPr>
        </p:sp>
      </p:grpSp>
      <p:grpSp>
        <p:nvGrpSpPr>
          <p:cNvPr name="Group 35" id="35"/>
          <p:cNvGrpSpPr/>
          <p:nvPr/>
        </p:nvGrpSpPr>
        <p:grpSpPr>
          <a:xfrm rot="0">
            <a:off x="12124944" y="7200900"/>
            <a:ext cx="5143500" cy="589788"/>
            <a:chOff x="0" y="0"/>
            <a:chExt cx="6858000" cy="786384"/>
          </a:xfrm>
        </p:grpSpPr>
        <p:sp>
          <p:nvSpPr>
            <p:cNvPr name="Freeform 36" id="36"/>
            <p:cNvSpPr/>
            <p:nvPr/>
          </p:nvSpPr>
          <p:spPr>
            <a:xfrm flipH="false" flipV="false" rot="0">
              <a:off x="0" y="0"/>
              <a:ext cx="6858000" cy="786384"/>
            </a:xfrm>
            <a:custGeom>
              <a:avLst/>
              <a:gdLst/>
              <a:ahLst/>
              <a:cxnLst/>
              <a:rect r="r" b="b" t="t" l="l"/>
              <a:pathLst>
                <a:path h="786384" w="6858000">
                  <a:moveTo>
                    <a:pt x="0" y="0"/>
                  </a:moveTo>
                  <a:lnTo>
                    <a:pt x="6858000" y="0"/>
                  </a:lnTo>
                  <a:lnTo>
                    <a:pt x="6858000" y="786384"/>
                  </a:lnTo>
                  <a:lnTo>
                    <a:pt x="0" y="786384"/>
                  </a:lnTo>
                  <a:close/>
                </a:path>
              </a:pathLst>
            </a:custGeom>
            <a:blipFill>
              <a:blip r:embed="rId2">
                <a:alphaModFix amt="0"/>
              </a:blip>
              <a:stretch>
                <a:fillRect l="0" t="-119927" r="0" b="-119927"/>
              </a:stretch>
            </a:blipFill>
          </p:spPr>
        </p:sp>
        <p:sp>
          <p:nvSpPr>
            <p:cNvPr name="TextBox 37" id="37"/>
            <p:cNvSpPr txBox="true"/>
            <p:nvPr/>
          </p:nvSpPr>
          <p:spPr>
            <a:xfrm>
              <a:off x="0" y="-38100"/>
              <a:ext cx="6858000" cy="824484"/>
            </a:xfrm>
            <a:prstGeom prst="rect">
              <a:avLst/>
            </a:prstGeom>
          </p:spPr>
          <p:txBody>
            <a:bodyPr anchor="ctr" rtlCol="false" tIns="0" lIns="0" bIns="0" rIns="0"/>
            <a:lstStyle/>
            <a:p>
              <a:pPr algn="ctr">
                <a:lnSpc>
                  <a:spcPts val="2430"/>
                </a:lnSpc>
              </a:pPr>
              <a:r>
                <a:rPr lang="en-US" sz="2025">
                  <a:solidFill>
                    <a:srgbClr val="6B7280"/>
                  </a:solidFill>
                  <a:latin typeface="Calibri (MS)"/>
                  <a:ea typeface="Calibri (MS)"/>
                  <a:cs typeface="Calibri (MS)"/>
                  <a:sym typeface="Calibri (MS)"/>
                </a:rPr>
                <a:t>Protect</a:t>
              </a:r>
            </a:p>
          </p:txBody>
        </p:sp>
      </p:grpSp>
      <p:grpSp>
        <p:nvGrpSpPr>
          <p:cNvPr name="Group 38" id="38"/>
          <p:cNvGrpSpPr/>
          <p:nvPr/>
        </p:nvGrpSpPr>
        <p:grpSpPr>
          <a:xfrm rot="0">
            <a:off x="12124944" y="7639812"/>
            <a:ext cx="5143500" cy="329184"/>
            <a:chOff x="0" y="0"/>
            <a:chExt cx="6858000" cy="438912"/>
          </a:xfrm>
        </p:grpSpPr>
        <p:sp>
          <p:nvSpPr>
            <p:cNvPr name="Freeform 39" id="39"/>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40" id="40"/>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9AA3B8"/>
                  </a:solidFill>
                  <a:latin typeface="Arimo"/>
                  <a:ea typeface="Arimo"/>
                  <a:cs typeface="Arimo"/>
                  <a:sym typeface="Arimo"/>
                </a:rPr>
                <a:t>PR</a:t>
              </a:r>
            </a:p>
          </p:txBody>
        </p:sp>
      </p:grpSp>
      <p:grpSp>
        <p:nvGrpSpPr>
          <p:cNvPr name="Group 41" id="41"/>
          <p:cNvGrpSpPr/>
          <p:nvPr/>
        </p:nvGrpSpPr>
        <p:grpSpPr>
          <a:xfrm rot="0">
            <a:off x="950595" y="8288655"/>
            <a:ext cx="5162550" cy="910590"/>
            <a:chOff x="0" y="0"/>
            <a:chExt cx="6883400" cy="1214120"/>
          </a:xfrm>
        </p:grpSpPr>
        <p:sp>
          <p:nvSpPr>
            <p:cNvPr name="Freeform 42" id="42"/>
            <p:cNvSpPr/>
            <p:nvPr/>
          </p:nvSpPr>
          <p:spPr>
            <a:xfrm flipH="false" flipV="false" rot="0">
              <a:off x="0" y="0"/>
              <a:ext cx="6883400" cy="1214120"/>
            </a:xfrm>
            <a:custGeom>
              <a:avLst/>
              <a:gdLst/>
              <a:ahLst/>
              <a:cxnLst/>
              <a:rect r="r" b="b" t="t" l="l"/>
              <a:pathLst>
                <a:path h="1214120" w="6883400">
                  <a:moveTo>
                    <a:pt x="0" y="168148"/>
                  </a:moveTo>
                  <a:cubicBezTo>
                    <a:pt x="0" y="75311"/>
                    <a:pt x="75311" y="0"/>
                    <a:pt x="168148" y="0"/>
                  </a:cubicBezTo>
                  <a:lnTo>
                    <a:pt x="6715252" y="0"/>
                  </a:lnTo>
                  <a:cubicBezTo>
                    <a:pt x="6808089" y="0"/>
                    <a:pt x="6883400" y="75311"/>
                    <a:pt x="6883400" y="168148"/>
                  </a:cubicBezTo>
                  <a:lnTo>
                    <a:pt x="6883400" y="1045972"/>
                  </a:lnTo>
                  <a:cubicBezTo>
                    <a:pt x="6883400" y="1138809"/>
                    <a:pt x="6808089" y="1214120"/>
                    <a:pt x="6715252" y="1214120"/>
                  </a:cubicBezTo>
                  <a:lnTo>
                    <a:pt x="168148" y="1214120"/>
                  </a:lnTo>
                  <a:cubicBezTo>
                    <a:pt x="75311" y="1214120"/>
                    <a:pt x="0" y="1138809"/>
                    <a:pt x="0" y="1045972"/>
                  </a:cubicBezTo>
                  <a:close/>
                </a:path>
              </a:pathLst>
            </a:custGeom>
            <a:solidFill>
              <a:srgbClr val="F4F7FC"/>
            </a:solidFill>
            <a:ln w="19050" cap="sq">
              <a:solidFill>
                <a:srgbClr val="D7DCEC"/>
              </a:solidFill>
              <a:prstDash val="solid"/>
              <a:miter/>
            </a:ln>
          </p:spPr>
        </p:sp>
      </p:grpSp>
      <p:grpSp>
        <p:nvGrpSpPr>
          <p:cNvPr name="Group 43" id="43"/>
          <p:cNvGrpSpPr/>
          <p:nvPr/>
        </p:nvGrpSpPr>
        <p:grpSpPr>
          <a:xfrm rot="0">
            <a:off x="960120" y="8366760"/>
            <a:ext cx="5143500" cy="589788"/>
            <a:chOff x="0" y="0"/>
            <a:chExt cx="6858000" cy="786384"/>
          </a:xfrm>
        </p:grpSpPr>
        <p:sp>
          <p:nvSpPr>
            <p:cNvPr name="Freeform 44" id="44"/>
            <p:cNvSpPr/>
            <p:nvPr/>
          </p:nvSpPr>
          <p:spPr>
            <a:xfrm flipH="false" flipV="false" rot="0">
              <a:off x="0" y="0"/>
              <a:ext cx="6858000" cy="786384"/>
            </a:xfrm>
            <a:custGeom>
              <a:avLst/>
              <a:gdLst/>
              <a:ahLst/>
              <a:cxnLst/>
              <a:rect r="r" b="b" t="t" l="l"/>
              <a:pathLst>
                <a:path h="786384" w="6858000">
                  <a:moveTo>
                    <a:pt x="0" y="0"/>
                  </a:moveTo>
                  <a:lnTo>
                    <a:pt x="6858000" y="0"/>
                  </a:lnTo>
                  <a:lnTo>
                    <a:pt x="6858000" y="786384"/>
                  </a:lnTo>
                  <a:lnTo>
                    <a:pt x="0" y="786384"/>
                  </a:lnTo>
                  <a:close/>
                </a:path>
              </a:pathLst>
            </a:custGeom>
            <a:blipFill>
              <a:blip r:embed="rId2">
                <a:alphaModFix amt="0"/>
              </a:blip>
              <a:stretch>
                <a:fillRect l="0" t="-119927" r="0" b="-119927"/>
              </a:stretch>
            </a:blipFill>
          </p:spPr>
        </p:sp>
        <p:sp>
          <p:nvSpPr>
            <p:cNvPr name="TextBox 45" id="45"/>
            <p:cNvSpPr txBox="true"/>
            <p:nvPr/>
          </p:nvSpPr>
          <p:spPr>
            <a:xfrm>
              <a:off x="0" y="-38100"/>
              <a:ext cx="6858000" cy="824484"/>
            </a:xfrm>
            <a:prstGeom prst="rect">
              <a:avLst/>
            </a:prstGeom>
          </p:spPr>
          <p:txBody>
            <a:bodyPr anchor="ctr" rtlCol="false" tIns="0" lIns="0" bIns="0" rIns="0"/>
            <a:lstStyle/>
            <a:p>
              <a:pPr algn="ctr">
                <a:lnSpc>
                  <a:spcPts val="2430"/>
                </a:lnSpc>
              </a:pPr>
              <a:r>
                <a:rPr lang="en-US" sz="2025">
                  <a:solidFill>
                    <a:srgbClr val="6B7280"/>
                  </a:solidFill>
                  <a:latin typeface="Calibri (MS)"/>
                  <a:ea typeface="Calibri (MS)"/>
                  <a:cs typeface="Calibri (MS)"/>
                  <a:sym typeface="Calibri (MS)"/>
                </a:rPr>
                <a:t>Detect</a:t>
              </a:r>
            </a:p>
          </p:txBody>
        </p:sp>
      </p:grpSp>
      <p:grpSp>
        <p:nvGrpSpPr>
          <p:cNvPr name="Group 46" id="46"/>
          <p:cNvGrpSpPr/>
          <p:nvPr/>
        </p:nvGrpSpPr>
        <p:grpSpPr>
          <a:xfrm rot="0">
            <a:off x="960120" y="8805672"/>
            <a:ext cx="5143500" cy="329184"/>
            <a:chOff x="0" y="0"/>
            <a:chExt cx="6858000" cy="438912"/>
          </a:xfrm>
        </p:grpSpPr>
        <p:sp>
          <p:nvSpPr>
            <p:cNvPr name="Freeform 47" id="47"/>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48" id="48"/>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9AA3B8"/>
                  </a:solidFill>
                  <a:latin typeface="Arimo"/>
                  <a:ea typeface="Arimo"/>
                  <a:cs typeface="Arimo"/>
                  <a:sym typeface="Arimo"/>
                </a:rPr>
                <a:t>DE</a:t>
              </a:r>
            </a:p>
          </p:txBody>
        </p:sp>
      </p:grpSp>
      <p:grpSp>
        <p:nvGrpSpPr>
          <p:cNvPr name="Group 49" id="49"/>
          <p:cNvGrpSpPr/>
          <p:nvPr/>
        </p:nvGrpSpPr>
        <p:grpSpPr>
          <a:xfrm rot="0">
            <a:off x="6533007" y="8288655"/>
            <a:ext cx="5162550" cy="910590"/>
            <a:chOff x="0" y="0"/>
            <a:chExt cx="6883400" cy="1214120"/>
          </a:xfrm>
        </p:grpSpPr>
        <p:sp>
          <p:nvSpPr>
            <p:cNvPr name="Freeform 50" id="50"/>
            <p:cNvSpPr/>
            <p:nvPr/>
          </p:nvSpPr>
          <p:spPr>
            <a:xfrm flipH="false" flipV="false" rot="0">
              <a:off x="0" y="0"/>
              <a:ext cx="6883400" cy="1214120"/>
            </a:xfrm>
            <a:custGeom>
              <a:avLst/>
              <a:gdLst/>
              <a:ahLst/>
              <a:cxnLst/>
              <a:rect r="r" b="b" t="t" l="l"/>
              <a:pathLst>
                <a:path h="1214120" w="6883400">
                  <a:moveTo>
                    <a:pt x="0" y="168148"/>
                  </a:moveTo>
                  <a:cubicBezTo>
                    <a:pt x="0" y="75311"/>
                    <a:pt x="75311" y="0"/>
                    <a:pt x="168148" y="0"/>
                  </a:cubicBezTo>
                  <a:lnTo>
                    <a:pt x="6715252" y="0"/>
                  </a:lnTo>
                  <a:cubicBezTo>
                    <a:pt x="6808089" y="0"/>
                    <a:pt x="6883400" y="75311"/>
                    <a:pt x="6883400" y="168148"/>
                  </a:cubicBezTo>
                  <a:lnTo>
                    <a:pt x="6883400" y="1045972"/>
                  </a:lnTo>
                  <a:cubicBezTo>
                    <a:pt x="6883400" y="1138809"/>
                    <a:pt x="6808089" y="1214120"/>
                    <a:pt x="6715252" y="1214120"/>
                  </a:cubicBezTo>
                  <a:lnTo>
                    <a:pt x="168148" y="1214120"/>
                  </a:lnTo>
                  <a:cubicBezTo>
                    <a:pt x="75311" y="1214120"/>
                    <a:pt x="0" y="1138809"/>
                    <a:pt x="0" y="1045972"/>
                  </a:cubicBezTo>
                  <a:close/>
                </a:path>
              </a:pathLst>
            </a:custGeom>
            <a:solidFill>
              <a:srgbClr val="F4F7FC"/>
            </a:solidFill>
            <a:ln w="19050" cap="sq">
              <a:solidFill>
                <a:srgbClr val="D7DCEC"/>
              </a:solidFill>
              <a:prstDash val="solid"/>
              <a:miter/>
            </a:ln>
          </p:spPr>
        </p:sp>
      </p:grpSp>
      <p:grpSp>
        <p:nvGrpSpPr>
          <p:cNvPr name="Group 51" id="51"/>
          <p:cNvGrpSpPr/>
          <p:nvPr/>
        </p:nvGrpSpPr>
        <p:grpSpPr>
          <a:xfrm rot="0">
            <a:off x="6542532" y="8366760"/>
            <a:ext cx="5143500" cy="589788"/>
            <a:chOff x="0" y="0"/>
            <a:chExt cx="6858000" cy="786384"/>
          </a:xfrm>
        </p:grpSpPr>
        <p:sp>
          <p:nvSpPr>
            <p:cNvPr name="Freeform 52" id="52"/>
            <p:cNvSpPr/>
            <p:nvPr/>
          </p:nvSpPr>
          <p:spPr>
            <a:xfrm flipH="false" flipV="false" rot="0">
              <a:off x="0" y="0"/>
              <a:ext cx="6858000" cy="786384"/>
            </a:xfrm>
            <a:custGeom>
              <a:avLst/>
              <a:gdLst/>
              <a:ahLst/>
              <a:cxnLst/>
              <a:rect r="r" b="b" t="t" l="l"/>
              <a:pathLst>
                <a:path h="786384" w="6858000">
                  <a:moveTo>
                    <a:pt x="0" y="0"/>
                  </a:moveTo>
                  <a:lnTo>
                    <a:pt x="6858000" y="0"/>
                  </a:lnTo>
                  <a:lnTo>
                    <a:pt x="6858000" y="786384"/>
                  </a:lnTo>
                  <a:lnTo>
                    <a:pt x="0" y="786384"/>
                  </a:lnTo>
                  <a:close/>
                </a:path>
              </a:pathLst>
            </a:custGeom>
            <a:blipFill>
              <a:blip r:embed="rId2">
                <a:alphaModFix amt="0"/>
              </a:blip>
              <a:stretch>
                <a:fillRect l="0" t="-119927" r="0" b="-119927"/>
              </a:stretch>
            </a:blipFill>
          </p:spPr>
        </p:sp>
        <p:sp>
          <p:nvSpPr>
            <p:cNvPr name="TextBox 53" id="53"/>
            <p:cNvSpPr txBox="true"/>
            <p:nvPr/>
          </p:nvSpPr>
          <p:spPr>
            <a:xfrm>
              <a:off x="0" y="-38100"/>
              <a:ext cx="6858000" cy="824484"/>
            </a:xfrm>
            <a:prstGeom prst="rect">
              <a:avLst/>
            </a:prstGeom>
          </p:spPr>
          <p:txBody>
            <a:bodyPr anchor="ctr" rtlCol="false" tIns="0" lIns="0" bIns="0" rIns="0"/>
            <a:lstStyle/>
            <a:p>
              <a:pPr algn="ctr">
                <a:lnSpc>
                  <a:spcPts val="2430"/>
                </a:lnSpc>
              </a:pPr>
              <a:r>
                <a:rPr lang="en-US" sz="2025">
                  <a:solidFill>
                    <a:srgbClr val="6B7280"/>
                  </a:solidFill>
                  <a:latin typeface="Calibri (MS)"/>
                  <a:ea typeface="Calibri (MS)"/>
                  <a:cs typeface="Calibri (MS)"/>
                  <a:sym typeface="Calibri (MS)"/>
                </a:rPr>
                <a:t>Respond</a:t>
              </a:r>
            </a:p>
          </p:txBody>
        </p:sp>
      </p:grpSp>
      <p:grpSp>
        <p:nvGrpSpPr>
          <p:cNvPr name="Group 54" id="54"/>
          <p:cNvGrpSpPr/>
          <p:nvPr/>
        </p:nvGrpSpPr>
        <p:grpSpPr>
          <a:xfrm rot="0">
            <a:off x="6542532" y="8805672"/>
            <a:ext cx="5143500" cy="329184"/>
            <a:chOff x="0" y="0"/>
            <a:chExt cx="6858000" cy="438912"/>
          </a:xfrm>
        </p:grpSpPr>
        <p:sp>
          <p:nvSpPr>
            <p:cNvPr name="Freeform 55" id="55"/>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56" id="56"/>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9AA3B8"/>
                  </a:solidFill>
                  <a:latin typeface="Arimo"/>
                  <a:ea typeface="Arimo"/>
                  <a:cs typeface="Arimo"/>
                  <a:sym typeface="Arimo"/>
                </a:rPr>
                <a:t>RS</a:t>
              </a:r>
            </a:p>
          </p:txBody>
        </p:sp>
      </p:grpSp>
      <p:grpSp>
        <p:nvGrpSpPr>
          <p:cNvPr name="Group 57" id="57"/>
          <p:cNvGrpSpPr/>
          <p:nvPr/>
        </p:nvGrpSpPr>
        <p:grpSpPr>
          <a:xfrm rot="0">
            <a:off x="12115419" y="8288655"/>
            <a:ext cx="5162550" cy="910590"/>
            <a:chOff x="0" y="0"/>
            <a:chExt cx="6883400" cy="1214120"/>
          </a:xfrm>
        </p:grpSpPr>
        <p:sp>
          <p:nvSpPr>
            <p:cNvPr name="Freeform 58" id="58"/>
            <p:cNvSpPr/>
            <p:nvPr/>
          </p:nvSpPr>
          <p:spPr>
            <a:xfrm flipH="false" flipV="false" rot="0">
              <a:off x="0" y="0"/>
              <a:ext cx="6883400" cy="1214120"/>
            </a:xfrm>
            <a:custGeom>
              <a:avLst/>
              <a:gdLst/>
              <a:ahLst/>
              <a:cxnLst/>
              <a:rect r="r" b="b" t="t" l="l"/>
              <a:pathLst>
                <a:path h="1214120" w="6883400">
                  <a:moveTo>
                    <a:pt x="0" y="168148"/>
                  </a:moveTo>
                  <a:cubicBezTo>
                    <a:pt x="0" y="75311"/>
                    <a:pt x="75311" y="0"/>
                    <a:pt x="168148" y="0"/>
                  </a:cubicBezTo>
                  <a:lnTo>
                    <a:pt x="6715252" y="0"/>
                  </a:lnTo>
                  <a:cubicBezTo>
                    <a:pt x="6808089" y="0"/>
                    <a:pt x="6883400" y="75311"/>
                    <a:pt x="6883400" y="168148"/>
                  </a:cubicBezTo>
                  <a:lnTo>
                    <a:pt x="6883400" y="1045972"/>
                  </a:lnTo>
                  <a:cubicBezTo>
                    <a:pt x="6883400" y="1138809"/>
                    <a:pt x="6808089" y="1214120"/>
                    <a:pt x="6715252" y="1214120"/>
                  </a:cubicBezTo>
                  <a:lnTo>
                    <a:pt x="168148" y="1214120"/>
                  </a:lnTo>
                  <a:cubicBezTo>
                    <a:pt x="75311" y="1214120"/>
                    <a:pt x="0" y="1138809"/>
                    <a:pt x="0" y="1045972"/>
                  </a:cubicBezTo>
                  <a:close/>
                </a:path>
              </a:pathLst>
            </a:custGeom>
            <a:solidFill>
              <a:srgbClr val="F4F7FC"/>
            </a:solidFill>
            <a:ln w="19050" cap="sq">
              <a:solidFill>
                <a:srgbClr val="D7DCEC"/>
              </a:solidFill>
              <a:prstDash val="solid"/>
              <a:miter/>
            </a:ln>
          </p:spPr>
        </p:sp>
      </p:grpSp>
      <p:grpSp>
        <p:nvGrpSpPr>
          <p:cNvPr name="Group 59" id="59"/>
          <p:cNvGrpSpPr/>
          <p:nvPr/>
        </p:nvGrpSpPr>
        <p:grpSpPr>
          <a:xfrm rot="0">
            <a:off x="12124944" y="8366760"/>
            <a:ext cx="5143500" cy="589788"/>
            <a:chOff x="0" y="0"/>
            <a:chExt cx="6858000" cy="786384"/>
          </a:xfrm>
        </p:grpSpPr>
        <p:sp>
          <p:nvSpPr>
            <p:cNvPr name="Freeform 60" id="60"/>
            <p:cNvSpPr/>
            <p:nvPr/>
          </p:nvSpPr>
          <p:spPr>
            <a:xfrm flipH="false" flipV="false" rot="0">
              <a:off x="0" y="0"/>
              <a:ext cx="6858000" cy="786384"/>
            </a:xfrm>
            <a:custGeom>
              <a:avLst/>
              <a:gdLst/>
              <a:ahLst/>
              <a:cxnLst/>
              <a:rect r="r" b="b" t="t" l="l"/>
              <a:pathLst>
                <a:path h="786384" w="6858000">
                  <a:moveTo>
                    <a:pt x="0" y="0"/>
                  </a:moveTo>
                  <a:lnTo>
                    <a:pt x="6858000" y="0"/>
                  </a:lnTo>
                  <a:lnTo>
                    <a:pt x="6858000" y="786384"/>
                  </a:lnTo>
                  <a:lnTo>
                    <a:pt x="0" y="786384"/>
                  </a:lnTo>
                  <a:close/>
                </a:path>
              </a:pathLst>
            </a:custGeom>
            <a:blipFill>
              <a:blip r:embed="rId2">
                <a:alphaModFix amt="0"/>
              </a:blip>
              <a:stretch>
                <a:fillRect l="0" t="-119927" r="0" b="-119927"/>
              </a:stretch>
            </a:blipFill>
          </p:spPr>
        </p:sp>
        <p:sp>
          <p:nvSpPr>
            <p:cNvPr name="TextBox 61" id="61"/>
            <p:cNvSpPr txBox="true"/>
            <p:nvPr/>
          </p:nvSpPr>
          <p:spPr>
            <a:xfrm>
              <a:off x="0" y="-38100"/>
              <a:ext cx="6858000" cy="824484"/>
            </a:xfrm>
            <a:prstGeom prst="rect">
              <a:avLst/>
            </a:prstGeom>
          </p:spPr>
          <p:txBody>
            <a:bodyPr anchor="ctr" rtlCol="false" tIns="0" lIns="0" bIns="0" rIns="0"/>
            <a:lstStyle/>
            <a:p>
              <a:pPr algn="ctr">
                <a:lnSpc>
                  <a:spcPts val="2430"/>
                </a:lnSpc>
              </a:pPr>
              <a:r>
                <a:rPr lang="en-US" sz="2025">
                  <a:solidFill>
                    <a:srgbClr val="6B7280"/>
                  </a:solidFill>
                  <a:latin typeface="Calibri (MS)"/>
                  <a:ea typeface="Calibri (MS)"/>
                  <a:cs typeface="Calibri (MS)"/>
                  <a:sym typeface="Calibri (MS)"/>
                </a:rPr>
                <a:t>Recover</a:t>
              </a:r>
            </a:p>
          </p:txBody>
        </p:sp>
      </p:grpSp>
      <p:grpSp>
        <p:nvGrpSpPr>
          <p:cNvPr name="Group 62" id="62"/>
          <p:cNvGrpSpPr/>
          <p:nvPr/>
        </p:nvGrpSpPr>
        <p:grpSpPr>
          <a:xfrm rot="0">
            <a:off x="12124944" y="8805672"/>
            <a:ext cx="5143500" cy="329184"/>
            <a:chOff x="0" y="0"/>
            <a:chExt cx="6858000" cy="438912"/>
          </a:xfrm>
        </p:grpSpPr>
        <p:sp>
          <p:nvSpPr>
            <p:cNvPr name="Freeform 63" id="63"/>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64" id="64"/>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9AA3B8"/>
                  </a:solidFill>
                  <a:latin typeface="Arimo"/>
                  <a:ea typeface="Arimo"/>
                  <a:cs typeface="Arimo"/>
                  <a:sym typeface="Arimo"/>
                </a:rPr>
                <a:t>RC</a:t>
              </a:r>
            </a:p>
          </p:txBody>
        </p:sp>
      </p:grpSp>
      <p:grpSp>
        <p:nvGrpSpPr>
          <p:cNvPr name="Group 65" id="65"/>
          <p:cNvGrpSpPr/>
          <p:nvPr/>
        </p:nvGrpSpPr>
        <p:grpSpPr>
          <a:xfrm rot="0">
            <a:off x="685800" y="9710928"/>
            <a:ext cx="10972800" cy="411480"/>
            <a:chOff x="0" y="0"/>
            <a:chExt cx="14630400" cy="548640"/>
          </a:xfrm>
        </p:grpSpPr>
        <p:sp>
          <p:nvSpPr>
            <p:cNvPr name="Freeform 66" id="66"/>
            <p:cNvSpPr/>
            <p:nvPr/>
          </p:nvSpPr>
          <p:spPr>
            <a:xfrm flipH="false" flipV="false" rot="0">
              <a:off x="0" y="0"/>
              <a:ext cx="14630400" cy="548640"/>
            </a:xfrm>
            <a:custGeom>
              <a:avLst/>
              <a:gdLst/>
              <a:ahLst/>
              <a:cxnLst/>
              <a:rect r="r" b="b" t="t" l="l"/>
              <a:pathLst>
                <a:path h="548640" w="14630400">
                  <a:moveTo>
                    <a:pt x="0" y="0"/>
                  </a:moveTo>
                  <a:lnTo>
                    <a:pt x="14630400" y="0"/>
                  </a:lnTo>
                  <a:lnTo>
                    <a:pt x="14630400" y="548640"/>
                  </a:lnTo>
                  <a:lnTo>
                    <a:pt x="0" y="548640"/>
                  </a:lnTo>
                  <a:close/>
                </a:path>
              </a:pathLst>
            </a:custGeom>
            <a:blipFill>
              <a:blip r:embed="rId2">
                <a:alphaModFix amt="0"/>
              </a:blip>
              <a:stretch>
                <a:fillRect l="0" t="-469601" r="0" b="-469601"/>
              </a:stretch>
            </a:blipFill>
          </p:spPr>
        </p:sp>
        <p:sp>
          <p:nvSpPr>
            <p:cNvPr name="TextBox 67" id="67"/>
            <p:cNvSpPr txBox="true"/>
            <p:nvPr/>
          </p:nvSpPr>
          <p:spPr>
            <a:xfrm>
              <a:off x="0" y="-38100"/>
              <a:ext cx="14630400" cy="586740"/>
            </a:xfrm>
            <a:prstGeom prst="rect">
              <a:avLst/>
            </a:prstGeom>
          </p:spPr>
          <p:txBody>
            <a:bodyPr anchor="ctr" rtlCol="false" tIns="0" lIns="0" bIns="0" rIns="0"/>
            <a:lstStyle/>
            <a:p>
              <a:pPr algn="l">
                <a:lnSpc>
                  <a:spcPts val="1800"/>
                </a:lnSpc>
              </a:pPr>
              <a:r>
                <a:rPr lang="en-US" sz="1500">
                  <a:solidFill>
                    <a:srgbClr val="6B7280"/>
                  </a:solidFill>
                  <a:latin typeface="Calibri (MS)"/>
                  <a:ea typeface="Calibri (MS)"/>
                  <a:cs typeface="Calibri (MS)"/>
                  <a:sym typeface="Calibri (MS)"/>
                </a:rPr>
                <a:t>Davao del Norte Provincial Government — Cybersecurity Seminar</a:t>
              </a:r>
            </a:p>
          </p:txBody>
        </p:sp>
      </p:grpSp>
      <p:grpSp>
        <p:nvGrpSpPr>
          <p:cNvPr name="Group 68" id="68"/>
          <p:cNvGrpSpPr/>
          <p:nvPr/>
        </p:nvGrpSpPr>
        <p:grpSpPr>
          <a:xfrm rot="0">
            <a:off x="16911828" y="9710928"/>
            <a:ext cx="685800" cy="411480"/>
            <a:chOff x="0" y="0"/>
            <a:chExt cx="914400" cy="548640"/>
          </a:xfrm>
        </p:grpSpPr>
        <p:sp>
          <p:nvSpPr>
            <p:cNvPr name="Freeform 69" id="69"/>
            <p:cNvSpPr/>
            <p:nvPr/>
          </p:nvSpPr>
          <p:spPr>
            <a:xfrm flipH="false" flipV="false" rot="0">
              <a:off x="0" y="0"/>
              <a:ext cx="914400" cy="548640"/>
            </a:xfrm>
            <a:custGeom>
              <a:avLst/>
              <a:gdLst/>
              <a:ahLst/>
              <a:cxnLst/>
              <a:rect r="r" b="b" t="t" l="l"/>
              <a:pathLst>
                <a:path h="548640" w="914400">
                  <a:moveTo>
                    <a:pt x="0" y="0"/>
                  </a:moveTo>
                  <a:lnTo>
                    <a:pt x="914400" y="0"/>
                  </a:lnTo>
                  <a:lnTo>
                    <a:pt x="914400" y="548640"/>
                  </a:lnTo>
                  <a:lnTo>
                    <a:pt x="0" y="548640"/>
                  </a:lnTo>
                  <a:close/>
                </a:path>
              </a:pathLst>
            </a:custGeom>
            <a:blipFill>
              <a:blip r:embed="rId2">
                <a:alphaModFix amt="0"/>
              </a:blip>
              <a:stretch>
                <a:fillRect l="-26982" t="0" r="-26982" b="0"/>
              </a:stretch>
            </a:blipFill>
          </p:spPr>
        </p:sp>
        <p:sp>
          <p:nvSpPr>
            <p:cNvPr name="TextBox 70" id="70"/>
            <p:cNvSpPr txBox="true"/>
            <p:nvPr/>
          </p:nvSpPr>
          <p:spPr>
            <a:xfrm>
              <a:off x="0" y="-38100"/>
              <a:ext cx="914400" cy="586740"/>
            </a:xfrm>
            <a:prstGeom prst="rect">
              <a:avLst/>
            </a:prstGeom>
          </p:spPr>
          <p:txBody>
            <a:bodyPr anchor="ctr" rtlCol="false" tIns="0" lIns="0" bIns="0" rIns="0"/>
            <a:lstStyle/>
            <a:p>
              <a:pPr algn="r">
                <a:lnSpc>
                  <a:spcPts val="1800"/>
                </a:lnSpc>
              </a:pPr>
              <a:r>
                <a:rPr lang="en-US" sz="1500">
                  <a:solidFill>
                    <a:srgbClr val="6B7280"/>
                  </a:solidFill>
                  <a:latin typeface="Calibri (MS)"/>
                  <a:ea typeface="Calibri (MS)"/>
                  <a:cs typeface="Calibri (MS)"/>
                  <a:sym typeface="Calibri (MS)"/>
                </a:rPr>
                <a:t>31</a:t>
              </a:r>
            </a:p>
          </p:txBody>
        </p:sp>
      </p:grpSp>
    </p:spTree>
  </p:cSld>
  <p:clrMapOvr>
    <a:masterClrMapping/>
  </p:clrMapOvr>
</p:sld>
</file>

<file path=ppt/slides/slide9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60120" y="685800"/>
            <a:ext cx="13716000" cy="411480"/>
            <a:chOff x="0" y="0"/>
            <a:chExt cx="18288000" cy="548640"/>
          </a:xfrm>
        </p:grpSpPr>
        <p:sp>
          <p:nvSpPr>
            <p:cNvPr name="Freeform 3" id="3"/>
            <p:cNvSpPr/>
            <p:nvPr/>
          </p:nvSpPr>
          <p:spPr>
            <a:xfrm flipH="false" flipV="false" rot="0">
              <a:off x="0" y="0"/>
              <a:ext cx="18288000" cy="548640"/>
            </a:xfrm>
            <a:custGeom>
              <a:avLst/>
              <a:gdLst/>
              <a:ahLst/>
              <a:cxnLst/>
              <a:rect r="r" b="b" t="t" l="l"/>
              <a:pathLst>
                <a:path h="548640" w="18288000">
                  <a:moveTo>
                    <a:pt x="0" y="0"/>
                  </a:moveTo>
                  <a:lnTo>
                    <a:pt x="18288000" y="0"/>
                  </a:lnTo>
                  <a:lnTo>
                    <a:pt x="18288000" y="548640"/>
                  </a:lnTo>
                  <a:lnTo>
                    <a:pt x="0" y="548640"/>
                  </a:lnTo>
                  <a:close/>
                </a:path>
              </a:pathLst>
            </a:custGeom>
            <a:blipFill>
              <a:blip r:embed="rId2">
                <a:alphaModFix amt="0"/>
              </a:blip>
              <a:stretch>
                <a:fillRect l="0" t="-599501" r="0" b="-599501"/>
              </a:stretch>
            </a:blipFill>
          </p:spPr>
        </p:sp>
        <p:sp>
          <p:nvSpPr>
            <p:cNvPr name="TextBox 4" id="4"/>
            <p:cNvSpPr txBox="true"/>
            <p:nvPr/>
          </p:nvSpPr>
          <p:spPr>
            <a:xfrm>
              <a:off x="0" y="-38100"/>
              <a:ext cx="18288000" cy="586740"/>
            </a:xfrm>
            <a:prstGeom prst="rect">
              <a:avLst/>
            </a:prstGeom>
          </p:spPr>
          <p:txBody>
            <a:bodyPr anchor="ctr" rtlCol="false" tIns="0" lIns="0" bIns="0" rIns="0"/>
            <a:lstStyle/>
            <a:p>
              <a:pPr algn="l">
                <a:lnSpc>
                  <a:spcPts val="2160"/>
                </a:lnSpc>
              </a:pPr>
              <a:r>
                <a:rPr lang="en-US" b="true" sz="1800" spc="225">
                  <a:solidFill>
                    <a:srgbClr val="00B4D8"/>
                  </a:solidFill>
                  <a:latin typeface="Calibri (MS) Bold"/>
                  <a:ea typeface="Calibri (MS) Bold"/>
                  <a:cs typeface="Calibri (MS) Bold"/>
                  <a:sym typeface="Calibri (MS) Bold"/>
                </a:rPr>
                <a:t>NIST CSF SORT · ANSWER</a:t>
              </a:r>
            </a:p>
          </p:txBody>
        </p:sp>
      </p:grpSp>
      <p:grpSp>
        <p:nvGrpSpPr>
          <p:cNvPr name="Group 5" id="5"/>
          <p:cNvGrpSpPr/>
          <p:nvPr/>
        </p:nvGrpSpPr>
        <p:grpSpPr>
          <a:xfrm rot="0">
            <a:off x="960120" y="1069848"/>
            <a:ext cx="10972800" cy="822960"/>
            <a:chOff x="0" y="0"/>
            <a:chExt cx="14630400" cy="1097280"/>
          </a:xfrm>
        </p:grpSpPr>
        <p:sp>
          <p:nvSpPr>
            <p:cNvPr name="Freeform 6" id="6"/>
            <p:cNvSpPr/>
            <p:nvPr/>
          </p:nvSpPr>
          <p:spPr>
            <a:xfrm flipH="false" flipV="false" rot="0">
              <a:off x="0" y="0"/>
              <a:ext cx="14630400" cy="1097280"/>
            </a:xfrm>
            <a:custGeom>
              <a:avLst/>
              <a:gdLst/>
              <a:ahLst/>
              <a:cxnLst/>
              <a:rect r="r" b="b" t="t" l="l"/>
              <a:pathLst>
                <a:path h="1097280" w="14630400">
                  <a:moveTo>
                    <a:pt x="0" y="0"/>
                  </a:moveTo>
                  <a:lnTo>
                    <a:pt x="14630400" y="0"/>
                  </a:lnTo>
                  <a:lnTo>
                    <a:pt x="14630400" y="1097280"/>
                  </a:lnTo>
                  <a:lnTo>
                    <a:pt x="0" y="1097280"/>
                  </a:lnTo>
                  <a:close/>
                </a:path>
              </a:pathLst>
            </a:custGeom>
            <a:blipFill>
              <a:blip r:embed="rId2">
                <a:alphaModFix amt="0"/>
              </a:blip>
              <a:stretch>
                <a:fillRect l="0" t="-209800" r="0" b="-209800"/>
              </a:stretch>
            </a:blipFill>
          </p:spPr>
        </p:sp>
        <p:sp>
          <p:nvSpPr>
            <p:cNvPr name="TextBox 7" id="7"/>
            <p:cNvSpPr txBox="true"/>
            <p:nvPr/>
          </p:nvSpPr>
          <p:spPr>
            <a:xfrm>
              <a:off x="0" y="0"/>
              <a:ext cx="14630400" cy="1097280"/>
            </a:xfrm>
            <a:prstGeom prst="rect">
              <a:avLst/>
            </a:prstGeom>
          </p:spPr>
          <p:txBody>
            <a:bodyPr anchor="ctr" rtlCol="false" tIns="0" lIns="0" bIns="0" rIns="0"/>
            <a:lstStyle/>
            <a:p>
              <a:pPr algn="l">
                <a:lnSpc>
                  <a:spcPts val="4680"/>
                </a:lnSpc>
              </a:pPr>
              <a:r>
                <a:rPr lang="en-US" sz="3900" b="true">
                  <a:solidFill>
                    <a:srgbClr val="1E2761"/>
                  </a:solidFill>
                  <a:latin typeface="Cambria Bold"/>
                  <a:ea typeface="Cambria Bold"/>
                  <a:cs typeface="Cambria Bold"/>
                  <a:sym typeface="Cambria Bold"/>
                </a:rPr>
                <a:t>Scenario 11 — Answer</a:t>
              </a:r>
            </a:p>
          </p:txBody>
        </p:sp>
      </p:grpSp>
      <p:grpSp>
        <p:nvGrpSpPr>
          <p:cNvPr name="Group 8" id="8"/>
          <p:cNvGrpSpPr/>
          <p:nvPr/>
        </p:nvGrpSpPr>
        <p:grpSpPr>
          <a:xfrm rot="0">
            <a:off x="960120" y="1810512"/>
            <a:ext cx="8229600" cy="411480"/>
            <a:chOff x="0" y="0"/>
            <a:chExt cx="10972800" cy="548640"/>
          </a:xfrm>
        </p:grpSpPr>
        <p:sp>
          <p:nvSpPr>
            <p:cNvPr name="Freeform 9" id="9"/>
            <p:cNvSpPr/>
            <p:nvPr/>
          </p:nvSpPr>
          <p:spPr>
            <a:xfrm flipH="false" flipV="false" rot="0">
              <a:off x="0" y="0"/>
              <a:ext cx="10972800" cy="548640"/>
            </a:xfrm>
            <a:custGeom>
              <a:avLst/>
              <a:gdLst/>
              <a:ahLst/>
              <a:cxnLst/>
              <a:rect r="r" b="b" t="t" l="l"/>
              <a:pathLst>
                <a:path h="548640" w="10972800">
                  <a:moveTo>
                    <a:pt x="0" y="0"/>
                  </a:moveTo>
                  <a:lnTo>
                    <a:pt x="10972800" y="0"/>
                  </a:lnTo>
                  <a:lnTo>
                    <a:pt x="10972800" y="548640"/>
                  </a:lnTo>
                  <a:lnTo>
                    <a:pt x="0" y="548640"/>
                  </a:lnTo>
                  <a:close/>
                </a:path>
              </a:pathLst>
            </a:custGeom>
            <a:blipFill>
              <a:blip r:embed="rId2">
                <a:alphaModFix amt="0"/>
              </a:blip>
              <a:stretch>
                <a:fillRect l="0" t="-339700" r="0" b="-339700"/>
              </a:stretch>
            </a:blipFill>
          </p:spPr>
        </p:sp>
        <p:sp>
          <p:nvSpPr>
            <p:cNvPr name="TextBox 10" id="10"/>
            <p:cNvSpPr txBox="true"/>
            <p:nvPr/>
          </p:nvSpPr>
          <p:spPr>
            <a:xfrm>
              <a:off x="0" y="-28575"/>
              <a:ext cx="10972800" cy="577215"/>
            </a:xfrm>
            <a:prstGeom prst="rect">
              <a:avLst/>
            </a:prstGeom>
          </p:spPr>
          <p:txBody>
            <a:bodyPr anchor="ctr" rtlCol="false" tIns="0" lIns="0" bIns="0" rIns="0"/>
            <a:lstStyle/>
            <a:p>
              <a:pPr algn="l">
                <a:lnSpc>
                  <a:spcPts val="1980"/>
                </a:lnSpc>
              </a:pPr>
              <a:r>
                <a:rPr lang="en-US" sz="1650">
                  <a:solidFill>
                    <a:srgbClr val="6B7280"/>
                  </a:solidFill>
                  <a:latin typeface="Calibri (MS)"/>
                  <a:ea typeface="Calibri (MS)"/>
                  <a:cs typeface="Calibri (MS)"/>
                  <a:sym typeface="Calibri (MS)"/>
                </a:rPr>
                <a:t>11 of 20</a:t>
              </a:r>
            </a:p>
          </p:txBody>
        </p:sp>
      </p:grpSp>
      <p:grpSp>
        <p:nvGrpSpPr>
          <p:cNvPr name="Group 11" id="11"/>
          <p:cNvGrpSpPr/>
          <p:nvPr/>
        </p:nvGrpSpPr>
        <p:grpSpPr>
          <a:xfrm rot="0">
            <a:off x="960120" y="2537460"/>
            <a:ext cx="16322040" cy="2194560"/>
            <a:chOff x="0" y="0"/>
            <a:chExt cx="21762720" cy="2926080"/>
          </a:xfrm>
        </p:grpSpPr>
        <p:sp>
          <p:nvSpPr>
            <p:cNvPr name="Freeform 12" id="12"/>
            <p:cNvSpPr/>
            <p:nvPr/>
          </p:nvSpPr>
          <p:spPr>
            <a:xfrm flipH="false" flipV="false" rot="0">
              <a:off x="0" y="0"/>
              <a:ext cx="21762720" cy="2926080"/>
            </a:xfrm>
            <a:custGeom>
              <a:avLst/>
              <a:gdLst/>
              <a:ahLst/>
              <a:cxnLst/>
              <a:rect r="r" b="b" t="t" l="l"/>
              <a:pathLst>
                <a:path h="2926080" w="21762720">
                  <a:moveTo>
                    <a:pt x="0" y="182880"/>
                  </a:moveTo>
                  <a:cubicBezTo>
                    <a:pt x="0" y="81915"/>
                    <a:pt x="81915" y="0"/>
                    <a:pt x="182880" y="0"/>
                  </a:cubicBezTo>
                  <a:lnTo>
                    <a:pt x="21579839" y="0"/>
                  </a:lnTo>
                  <a:cubicBezTo>
                    <a:pt x="21680804" y="0"/>
                    <a:pt x="21762720" y="81915"/>
                    <a:pt x="21762720" y="182880"/>
                  </a:cubicBezTo>
                  <a:lnTo>
                    <a:pt x="21762720" y="2743200"/>
                  </a:lnTo>
                  <a:cubicBezTo>
                    <a:pt x="21762720" y="2844165"/>
                    <a:pt x="21680804" y="2926080"/>
                    <a:pt x="21579839" y="2926080"/>
                  </a:cubicBezTo>
                  <a:lnTo>
                    <a:pt x="182880" y="2926080"/>
                  </a:lnTo>
                  <a:cubicBezTo>
                    <a:pt x="81915" y="2926080"/>
                    <a:pt x="0" y="2844165"/>
                    <a:pt x="0" y="2743200"/>
                  </a:cubicBezTo>
                  <a:close/>
                </a:path>
              </a:pathLst>
            </a:custGeom>
            <a:solidFill>
              <a:srgbClr val="F4F7FC"/>
            </a:solidFill>
          </p:spPr>
        </p:sp>
      </p:grpSp>
      <p:grpSp>
        <p:nvGrpSpPr>
          <p:cNvPr name="Group 13" id="13"/>
          <p:cNvGrpSpPr/>
          <p:nvPr/>
        </p:nvGrpSpPr>
        <p:grpSpPr>
          <a:xfrm rot="0">
            <a:off x="1440180" y="2770632"/>
            <a:ext cx="15361920" cy="1714500"/>
            <a:chOff x="0" y="0"/>
            <a:chExt cx="20482560" cy="2286000"/>
          </a:xfrm>
        </p:grpSpPr>
        <p:sp>
          <p:nvSpPr>
            <p:cNvPr name="Freeform 14" id="14"/>
            <p:cNvSpPr/>
            <p:nvPr/>
          </p:nvSpPr>
          <p:spPr>
            <a:xfrm flipH="false" flipV="false" rot="0">
              <a:off x="0" y="0"/>
              <a:ext cx="20482561" cy="2286000"/>
            </a:xfrm>
            <a:custGeom>
              <a:avLst/>
              <a:gdLst/>
              <a:ahLst/>
              <a:cxnLst/>
              <a:rect r="r" b="b" t="t" l="l"/>
              <a:pathLst>
                <a:path h="2286000" w="20482561">
                  <a:moveTo>
                    <a:pt x="0" y="0"/>
                  </a:moveTo>
                  <a:lnTo>
                    <a:pt x="20482561" y="0"/>
                  </a:lnTo>
                  <a:lnTo>
                    <a:pt x="20482561" y="2286000"/>
                  </a:lnTo>
                  <a:lnTo>
                    <a:pt x="0" y="2286000"/>
                  </a:lnTo>
                  <a:close/>
                </a:path>
              </a:pathLst>
            </a:custGeom>
            <a:blipFill>
              <a:blip r:embed="rId2">
                <a:alphaModFix amt="0"/>
              </a:blip>
              <a:stretch>
                <a:fillRect l="0" t="-124585" r="0" b="-124585"/>
              </a:stretch>
            </a:blipFill>
          </p:spPr>
        </p:sp>
        <p:sp>
          <p:nvSpPr>
            <p:cNvPr name="TextBox 15" id="15"/>
            <p:cNvSpPr txBox="true"/>
            <p:nvPr/>
          </p:nvSpPr>
          <p:spPr>
            <a:xfrm>
              <a:off x="0" y="-85725"/>
              <a:ext cx="20482560" cy="2371725"/>
            </a:xfrm>
            <a:prstGeom prst="rect">
              <a:avLst/>
            </a:prstGeom>
          </p:spPr>
          <p:txBody>
            <a:bodyPr anchor="ctr" rtlCol="false" tIns="0" lIns="0" bIns="0" rIns="0"/>
            <a:lstStyle/>
            <a:p>
              <a:pPr algn="l">
                <a:lnSpc>
                  <a:spcPts val="3600"/>
                </a:lnSpc>
              </a:pPr>
              <a:r>
                <a:rPr lang="en-US" sz="2400" i="true">
                  <a:solidFill>
                    <a:srgbClr val="23262F"/>
                  </a:solidFill>
                  <a:latin typeface="Cambria Italics"/>
                  <a:ea typeface="Cambria Italics"/>
                  <a:cs typeface="Cambria Italics"/>
                  <a:sym typeface="Cambria Italics"/>
                </a:rPr>
                <a:t>"Antivirus software automatically quarantines a malicious attachment from a phishing email before the employee can open it."</a:t>
              </a:r>
            </a:p>
          </p:txBody>
        </p:sp>
      </p:grpSp>
      <p:grpSp>
        <p:nvGrpSpPr>
          <p:cNvPr name="Group 16" id="16"/>
          <p:cNvGrpSpPr/>
          <p:nvPr/>
        </p:nvGrpSpPr>
        <p:grpSpPr>
          <a:xfrm rot="0">
            <a:off x="950595" y="5065395"/>
            <a:ext cx="5162550" cy="842010"/>
            <a:chOff x="0" y="0"/>
            <a:chExt cx="6883400" cy="1122680"/>
          </a:xfrm>
        </p:grpSpPr>
        <p:sp>
          <p:nvSpPr>
            <p:cNvPr name="Freeform 17" id="17"/>
            <p:cNvSpPr/>
            <p:nvPr/>
          </p:nvSpPr>
          <p:spPr>
            <a:xfrm flipH="false" flipV="false" rot="0">
              <a:off x="0" y="0"/>
              <a:ext cx="6883400" cy="1122680"/>
            </a:xfrm>
            <a:custGeom>
              <a:avLst/>
              <a:gdLst/>
              <a:ahLst/>
              <a:cxnLst/>
              <a:rect r="r" b="b" t="t" l="l"/>
              <a:pathLst>
                <a:path h="1122680" w="6883400">
                  <a:moveTo>
                    <a:pt x="0" y="168402"/>
                  </a:moveTo>
                  <a:cubicBezTo>
                    <a:pt x="0" y="75438"/>
                    <a:pt x="75438" y="0"/>
                    <a:pt x="168402" y="0"/>
                  </a:cubicBezTo>
                  <a:lnTo>
                    <a:pt x="6714998" y="0"/>
                  </a:lnTo>
                  <a:cubicBezTo>
                    <a:pt x="6807962" y="0"/>
                    <a:pt x="6883400" y="75438"/>
                    <a:pt x="6883400" y="168402"/>
                  </a:cubicBezTo>
                  <a:lnTo>
                    <a:pt x="6883400" y="954278"/>
                  </a:lnTo>
                  <a:cubicBezTo>
                    <a:pt x="6883400" y="1047242"/>
                    <a:pt x="6807962" y="1122680"/>
                    <a:pt x="6714998" y="1122680"/>
                  </a:cubicBezTo>
                  <a:lnTo>
                    <a:pt x="168402" y="1122680"/>
                  </a:lnTo>
                  <a:cubicBezTo>
                    <a:pt x="75438" y="1122680"/>
                    <a:pt x="0" y="1047242"/>
                    <a:pt x="0" y="954278"/>
                  </a:cubicBezTo>
                  <a:close/>
                </a:path>
              </a:pathLst>
            </a:custGeom>
            <a:solidFill>
              <a:srgbClr val="F4F7FC"/>
            </a:solidFill>
            <a:ln w="19050" cap="sq">
              <a:solidFill>
                <a:srgbClr val="D7DCEC"/>
              </a:solidFill>
              <a:prstDash val="solid"/>
              <a:miter/>
            </a:ln>
          </p:spPr>
        </p:sp>
      </p:grpSp>
      <p:grpSp>
        <p:nvGrpSpPr>
          <p:cNvPr name="Group 18" id="18"/>
          <p:cNvGrpSpPr/>
          <p:nvPr/>
        </p:nvGrpSpPr>
        <p:grpSpPr>
          <a:xfrm rot="0">
            <a:off x="960120" y="5143500"/>
            <a:ext cx="5143500" cy="521208"/>
            <a:chOff x="0" y="0"/>
            <a:chExt cx="6858000" cy="694944"/>
          </a:xfrm>
        </p:grpSpPr>
        <p:sp>
          <p:nvSpPr>
            <p:cNvPr name="Freeform 19" id="19"/>
            <p:cNvSpPr/>
            <p:nvPr/>
          </p:nvSpPr>
          <p:spPr>
            <a:xfrm flipH="false" flipV="false" rot="0">
              <a:off x="0" y="0"/>
              <a:ext cx="6858000" cy="694944"/>
            </a:xfrm>
            <a:custGeom>
              <a:avLst/>
              <a:gdLst/>
              <a:ahLst/>
              <a:cxnLst/>
              <a:rect r="r" b="b" t="t" l="l"/>
              <a:pathLst>
                <a:path h="694944" w="6858000">
                  <a:moveTo>
                    <a:pt x="0" y="0"/>
                  </a:moveTo>
                  <a:lnTo>
                    <a:pt x="6858000" y="0"/>
                  </a:lnTo>
                  <a:lnTo>
                    <a:pt x="6858000" y="694944"/>
                  </a:lnTo>
                  <a:lnTo>
                    <a:pt x="0" y="694944"/>
                  </a:lnTo>
                  <a:close/>
                </a:path>
              </a:pathLst>
            </a:custGeom>
            <a:blipFill>
              <a:blip r:embed="rId2">
                <a:alphaModFix amt="0"/>
              </a:blip>
              <a:stretch>
                <a:fillRect l="0" t="-142286" r="0" b="-142286"/>
              </a:stretch>
            </a:blipFill>
          </p:spPr>
        </p:sp>
        <p:sp>
          <p:nvSpPr>
            <p:cNvPr name="TextBox 20" id="20"/>
            <p:cNvSpPr txBox="true"/>
            <p:nvPr/>
          </p:nvSpPr>
          <p:spPr>
            <a:xfrm>
              <a:off x="0" y="-38100"/>
              <a:ext cx="6858000" cy="733044"/>
            </a:xfrm>
            <a:prstGeom prst="rect">
              <a:avLst/>
            </a:prstGeom>
          </p:spPr>
          <p:txBody>
            <a:bodyPr anchor="ctr" rtlCol="false" tIns="0" lIns="0" bIns="0" rIns="0"/>
            <a:lstStyle/>
            <a:p>
              <a:pPr algn="ctr">
                <a:lnSpc>
                  <a:spcPts val="2430"/>
                </a:lnSpc>
              </a:pPr>
              <a:r>
                <a:rPr lang="en-US" sz="2025">
                  <a:solidFill>
                    <a:srgbClr val="6B7280"/>
                  </a:solidFill>
                  <a:latin typeface="Calibri (MS)"/>
                  <a:ea typeface="Calibri (MS)"/>
                  <a:cs typeface="Calibri (MS)"/>
                  <a:sym typeface="Calibri (MS)"/>
                </a:rPr>
                <a:t>Govern</a:t>
              </a:r>
            </a:p>
          </p:txBody>
        </p:sp>
      </p:grpSp>
      <p:grpSp>
        <p:nvGrpSpPr>
          <p:cNvPr name="Group 21" id="21"/>
          <p:cNvGrpSpPr/>
          <p:nvPr/>
        </p:nvGrpSpPr>
        <p:grpSpPr>
          <a:xfrm rot="0">
            <a:off x="960120" y="5513832"/>
            <a:ext cx="5143500" cy="329184"/>
            <a:chOff x="0" y="0"/>
            <a:chExt cx="6858000" cy="438912"/>
          </a:xfrm>
        </p:grpSpPr>
        <p:sp>
          <p:nvSpPr>
            <p:cNvPr name="Freeform 22" id="22"/>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23" id="23"/>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9AA3B8"/>
                  </a:solidFill>
                  <a:latin typeface="Arimo"/>
                  <a:ea typeface="Arimo"/>
                  <a:cs typeface="Arimo"/>
                  <a:sym typeface="Arimo"/>
                </a:rPr>
                <a:t>GV</a:t>
              </a:r>
            </a:p>
          </p:txBody>
        </p:sp>
      </p:grpSp>
      <p:grpSp>
        <p:nvGrpSpPr>
          <p:cNvPr name="Group 24" id="24"/>
          <p:cNvGrpSpPr/>
          <p:nvPr/>
        </p:nvGrpSpPr>
        <p:grpSpPr>
          <a:xfrm rot="0">
            <a:off x="6533007" y="5065395"/>
            <a:ext cx="5162550" cy="842010"/>
            <a:chOff x="0" y="0"/>
            <a:chExt cx="6883400" cy="1122680"/>
          </a:xfrm>
        </p:grpSpPr>
        <p:sp>
          <p:nvSpPr>
            <p:cNvPr name="Freeform 25" id="25"/>
            <p:cNvSpPr/>
            <p:nvPr/>
          </p:nvSpPr>
          <p:spPr>
            <a:xfrm flipH="false" flipV="false" rot="0">
              <a:off x="0" y="0"/>
              <a:ext cx="6883400" cy="1122680"/>
            </a:xfrm>
            <a:custGeom>
              <a:avLst/>
              <a:gdLst/>
              <a:ahLst/>
              <a:cxnLst/>
              <a:rect r="r" b="b" t="t" l="l"/>
              <a:pathLst>
                <a:path h="1122680" w="6883400">
                  <a:moveTo>
                    <a:pt x="0" y="168402"/>
                  </a:moveTo>
                  <a:cubicBezTo>
                    <a:pt x="0" y="75438"/>
                    <a:pt x="75438" y="0"/>
                    <a:pt x="168402" y="0"/>
                  </a:cubicBezTo>
                  <a:lnTo>
                    <a:pt x="6714998" y="0"/>
                  </a:lnTo>
                  <a:cubicBezTo>
                    <a:pt x="6807962" y="0"/>
                    <a:pt x="6883400" y="75438"/>
                    <a:pt x="6883400" y="168402"/>
                  </a:cubicBezTo>
                  <a:lnTo>
                    <a:pt x="6883400" y="954278"/>
                  </a:lnTo>
                  <a:cubicBezTo>
                    <a:pt x="6883400" y="1047242"/>
                    <a:pt x="6807962" y="1122680"/>
                    <a:pt x="6714998" y="1122680"/>
                  </a:cubicBezTo>
                  <a:lnTo>
                    <a:pt x="168402" y="1122680"/>
                  </a:lnTo>
                  <a:cubicBezTo>
                    <a:pt x="75438" y="1122680"/>
                    <a:pt x="0" y="1047242"/>
                    <a:pt x="0" y="954278"/>
                  </a:cubicBezTo>
                  <a:close/>
                </a:path>
              </a:pathLst>
            </a:custGeom>
            <a:solidFill>
              <a:srgbClr val="F4F7FC"/>
            </a:solidFill>
            <a:ln w="19050" cap="sq">
              <a:solidFill>
                <a:srgbClr val="D7DCEC"/>
              </a:solidFill>
              <a:prstDash val="solid"/>
              <a:miter/>
            </a:ln>
          </p:spPr>
        </p:sp>
      </p:grpSp>
      <p:grpSp>
        <p:nvGrpSpPr>
          <p:cNvPr name="Group 26" id="26"/>
          <p:cNvGrpSpPr/>
          <p:nvPr/>
        </p:nvGrpSpPr>
        <p:grpSpPr>
          <a:xfrm rot="0">
            <a:off x="6542532" y="5143500"/>
            <a:ext cx="5143500" cy="521208"/>
            <a:chOff x="0" y="0"/>
            <a:chExt cx="6858000" cy="694944"/>
          </a:xfrm>
        </p:grpSpPr>
        <p:sp>
          <p:nvSpPr>
            <p:cNvPr name="Freeform 27" id="27"/>
            <p:cNvSpPr/>
            <p:nvPr/>
          </p:nvSpPr>
          <p:spPr>
            <a:xfrm flipH="false" flipV="false" rot="0">
              <a:off x="0" y="0"/>
              <a:ext cx="6858000" cy="694944"/>
            </a:xfrm>
            <a:custGeom>
              <a:avLst/>
              <a:gdLst/>
              <a:ahLst/>
              <a:cxnLst/>
              <a:rect r="r" b="b" t="t" l="l"/>
              <a:pathLst>
                <a:path h="694944" w="6858000">
                  <a:moveTo>
                    <a:pt x="0" y="0"/>
                  </a:moveTo>
                  <a:lnTo>
                    <a:pt x="6858000" y="0"/>
                  </a:lnTo>
                  <a:lnTo>
                    <a:pt x="6858000" y="694944"/>
                  </a:lnTo>
                  <a:lnTo>
                    <a:pt x="0" y="694944"/>
                  </a:lnTo>
                  <a:close/>
                </a:path>
              </a:pathLst>
            </a:custGeom>
            <a:blipFill>
              <a:blip r:embed="rId2">
                <a:alphaModFix amt="0"/>
              </a:blip>
              <a:stretch>
                <a:fillRect l="0" t="-142286" r="0" b="-142286"/>
              </a:stretch>
            </a:blipFill>
          </p:spPr>
        </p:sp>
        <p:sp>
          <p:nvSpPr>
            <p:cNvPr name="TextBox 28" id="28"/>
            <p:cNvSpPr txBox="true"/>
            <p:nvPr/>
          </p:nvSpPr>
          <p:spPr>
            <a:xfrm>
              <a:off x="0" y="-38100"/>
              <a:ext cx="6858000" cy="733044"/>
            </a:xfrm>
            <a:prstGeom prst="rect">
              <a:avLst/>
            </a:prstGeom>
          </p:spPr>
          <p:txBody>
            <a:bodyPr anchor="ctr" rtlCol="false" tIns="0" lIns="0" bIns="0" rIns="0"/>
            <a:lstStyle/>
            <a:p>
              <a:pPr algn="ctr">
                <a:lnSpc>
                  <a:spcPts val="2430"/>
                </a:lnSpc>
              </a:pPr>
              <a:r>
                <a:rPr lang="en-US" sz="2025">
                  <a:solidFill>
                    <a:srgbClr val="6B7280"/>
                  </a:solidFill>
                  <a:latin typeface="Calibri (MS)"/>
                  <a:ea typeface="Calibri (MS)"/>
                  <a:cs typeface="Calibri (MS)"/>
                  <a:sym typeface="Calibri (MS)"/>
                </a:rPr>
                <a:t>Identify</a:t>
              </a:r>
            </a:p>
          </p:txBody>
        </p:sp>
      </p:grpSp>
      <p:grpSp>
        <p:nvGrpSpPr>
          <p:cNvPr name="Group 29" id="29"/>
          <p:cNvGrpSpPr/>
          <p:nvPr/>
        </p:nvGrpSpPr>
        <p:grpSpPr>
          <a:xfrm rot="0">
            <a:off x="6542532" y="5513832"/>
            <a:ext cx="5143500" cy="329184"/>
            <a:chOff x="0" y="0"/>
            <a:chExt cx="6858000" cy="438912"/>
          </a:xfrm>
        </p:grpSpPr>
        <p:sp>
          <p:nvSpPr>
            <p:cNvPr name="Freeform 30" id="30"/>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31" id="31"/>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9AA3B8"/>
                  </a:solidFill>
                  <a:latin typeface="Arimo"/>
                  <a:ea typeface="Arimo"/>
                  <a:cs typeface="Arimo"/>
                  <a:sym typeface="Arimo"/>
                </a:rPr>
                <a:t>ID</a:t>
              </a:r>
            </a:p>
          </p:txBody>
        </p:sp>
      </p:grpSp>
      <p:grpSp>
        <p:nvGrpSpPr>
          <p:cNvPr name="Group 32" id="32"/>
          <p:cNvGrpSpPr/>
          <p:nvPr/>
        </p:nvGrpSpPr>
        <p:grpSpPr>
          <a:xfrm rot="0">
            <a:off x="12115419" y="5065395"/>
            <a:ext cx="5162550" cy="842010"/>
            <a:chOff x="0" y="0"/>
            <a:chExt cx="6883400" cy="1122680"/>
          </a:xfrm>
        </p:grpSpPr>
        <p:sp>
          <p:nvSpPr>
            <p:cNvPr name="Freeform 33" id="33"/>
            <p:cNvSpPr/>
            <p:nvPr/>
          </p:nvSpPr>
          <p:spPr>
            <a:xfrm flipH="false" flipV="false" rot="0">
              <a:off x="0" y="0"/>
              <a:ext cx="6883400" cy="1122680"/>
            </a:xfrm>
            <a:custGeom>
              <a:avLst/>
              <a:gdLst/>
              <a:ahLst/>
              <a:cxnLst/>
              <a:rect r="r" b="b" t="t" l="l"/>
              <a:pathLst>
                <a:path h="1122680" w="6883400">
                  <a:moveTo>
                    <a:pt x="0" y="168402"/>
                  </a:moveTo>
                  <a:cubicBezTo>
                    <a:pt x="0" y="75438"/>
                    <a:pt x="75438" y="0"/>
                    <a:pt x="168402" y="0"/>
                  </a:cubicBezTo>
                  <a:lnTo>
                    <a:pt x="6714998" y="0"/>
                  </a:lnTo>
                  <a:cubicBezTo>
                    <a:pt x="6807962" y="0"/>
                    <a:pt x="6883400" y="75438"/>
                    <a:pt x="6883400" y="168402"/>
                  </a:cubicBezTo>
                  <a:lnTo>
                    <a:pt x="6883400" y="954278"/>
                  </a:lnTo>
                  <a:cubicBezTo>
                    <a:pt x="6883400" y="1047242"/>
                    <a:pt x="6807962" y="1122680"/>
                    <a:pt x="6714998" y="1122680"/>
                  </a:cubicBezTo>
                  <a:lnTo>
                    <a:pt x="168402" y="1122680"/>
                  </a:lnTo>
                  <a:cubicBezTo>
                    <a:pt x="75438" y="1122680"/>
                    <a:pt x="0" y="1047242"/>
                    <a:pt x="0" y="954278"/>
                  </a:cubicBezTo>
                  <a:close/>
                </a:path>
              </a:pathLst>
            </a:custGeom>
            <a:solidFill>
              <a:srgbClr val="F4F7FC"/>
            </a:solidFill>
            <a:ln w="19050" cap="sq">
              <a:solidFill>
                <a:srgbClr val="D7DCEC"/>
              </a:solidFill>
              <a:prstDash val="solid"/>
              <a:miter/>
            </a:ln>
          </p:spPr>
        </p:sp>
      </p:grpSp>
      <p:grpSp>
        <p:nvGrpSpPr>
          <p:cNvPr name="Group 34" id="34"/>
          <p:cNvGrpSpPr/>
          <p:nvPr/>
        </p:nvGrpSpPr>
        <p:grpSpPr>
          <a:xfrm rot="0">
            <a:off x="12124944" y="5143500"/>
            <a:ext cx="5143500" cy="521208"/>
            <a:chOff x="0" y="0"/>
            <a:chExt cx="6858000" cy="694944"/>
          </a:xfrm>
        </p:grpSpPr>
        <p:sp>
          <p:nvSpPr>
            <p:cNvPr name="Freeform 35" id="35"/>
            <p:cNvSpPr/>
            <p:nvPr/>
          </p:nvSpPr>
          <p:spPr>
            <a:xfrm flipH="false" flipV="false" rot="0">
              <a:off x="0" y="0"/>
              <a:ext cx="6858000" cy="694944"/>
            </a:xfrm>
            <a:custGeom>
              <a:avLst/>
              <a:gdLst/>
              <a:ahLst/>
              <a:cxnLst/>
              <a:rect r="r" b="b" t="t" l="l"/>
              <a:pathLst>
                <a:path h="694944" w="6858000">
                  <a:moveTo>
                    <a:pt x="0" y="0"/>
                  </a:moveTo>
                  <a:lnTo>
                    <a:pt x="6858000" y="0"/>
                  </a:lnTo>
                  <a:lnTo>
                    <a:pt x="6858000" y="694944"/>
                  </a:lnTo>
                  <a:lnTo>
                    <a:pt x="0" y="694944"/>
                  </a:lnTo>
                  <a:close/>
                </a:path>
              </a:pathLst>
            </a:custGeom>
            <a:blipFill>
              <a:blip r:embed="rId2">
                <a:alphaModFix amt="0"/>
              </a:blip>
              <a:stretch>
                <a:fillRect l="0" t="-142286" r="0" b="-142286"/>
              </a:stretch>
            </a:blipFill>
          </p:spPr>
        </p:sp>
        <p:sp>
          <p:nvSpPr>
            <p:cNvPr name="TextBox 36" id="36"/>
            <p:cNvSpPr txBox="true"/>
            <p:nvPr/>
          </p:nvSpPr>
          <p:spPr>
            <a:xfrm>
              <a:off x="0" y="-38100"/>
              <a:ext cx="6858000" cy="733044"/>
            </a:xfrm>
            <a:prstGeom prst="rect">
              <a:avLst/>
            </a:prstGeom>
          </p:spPr>
          <p:txBody>
            <a:bodyPr anchor="ctr" rtlCol="false" tIns="0" lIns="0" bIns="0" rIns="0"/>
            <a:lstStyle/>
            <a:p>
              <a:pPr algn="ctr">
                <a:lnSpc>
                  <a:spcPts val="2430"/>
                </a:lnSpc>
              </a:pPr>
              <a:r>
                <a:rPr lang="en-US" sz="2025">
                  <a:solidFill>
                    <a:srgbClr val="6B7280"/>
                  </a:solidFill>
                  <a:latin typeface="Calibri (MS)"/>
                  <a:ea typeface="Calibri (MS)"/>
                  <a:cs typeface="Calibri (MS)"/>
                  <a:sym typeface="Calibri (MS)"/>
                </a:rPr>
                <a:t>Protect</a:t>
              </a:r>
            </a:p>
          </p:txBody>
        </p:sp>
      </p:grpSp>
      <p:grpSp>
        <p:nvGrpSpPr>
          <p:cNvPr name="Group 37" id="37"/>
          <p:cNvGrpSpPr/>
          <p:nvPr/>
        </p:nvGrpSpPr>
        <p:grpSpPr>
          <a:xfrm rot="0">
            <a:off x="12124944" y="5513832"/>
            <a:ext cx="5143500" cy="329184"/>
            <a:chOff x="0" y="0"/>
            <a:chExt cx="6858000" cy="438912"/>
          </a:xfrm>
        </p:grpSpPr>
        <p:sp>
          <p:nvSpPr>
            <p:cNvPr name="Freeform 38" id="38"/>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39" id="39"/>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9AA3B8"/>
                  </a:solidFill>
                  <a:latin typeface="Arimo"/>
                  <a:ea typeface="Arimo"/>
                  <a:cs typeface="Arimo"/>
                  <a:sym typeface="Arimo"/>
                </a:rPr>
                <a:t>PR</a:t>
              </a:r>
            </a:p>
          </p:txBody>
        </p:sp>
      </p:grpSp>
      <p:grpSp>
        <p:nvGrpSpPr>
          <p:cNvPr name="Group 40" id="40"/>
          <p:cNvGrpSpPr/>
          <p:nvPr/>
        </p:nvGrpSpPr>
        <p:grpSpPr>
          <a:xfrm rot="0">
            <a:off x="950595" y="6135243"/>
            <a:ext cx="5162550" cy="842010"/>
            <a:chOff x="0" y="0"/>
            <a:chExt cx="6883400" cy="1122680"/>
          </a:xfrm>
        </p:grpSpPr>
        <p:sp>
          <p:nvSpPr>
            <p:cNvPr name="Freeform 41" id="41"/>
            <p:cNvSpPr/>
            <p:nvPr/>
          </p:nvSpPr>
          <p:spPr>
            <a:xfrm flipH="false" flipV="false" rot="0">
              <a:off x="0" y="0"/>
              <a:ext cx="6883400" cy="1122680"/>
            </a:xfrm>
            <a:custGeom>
              <a:avLst/>
              <a:gdLst/>
              <a:ahLst/>
              <a:cxnLst/>
              <a:rect r="r" b="b" t="t" l="l"/>
              <a:pathLst>
                <a:path h="1122680" w="6883400">
                  <a:moveTo>
                    <a:pt x="0" y="168402"/>
                  </a:moveTo>
                  <a:cubicBezTo>
                    <a:pt x="0" y="75438"/>
                    <a:pt x="75438" y="0"/>
                    <a:pt x="168402" y="0"/>
                  </a:cubicBezTo>
                  <a:lnTo>
                    <a:pt x="6714998" y="0"/>
                  </a:lnTo>
                  <a:cubicBezTo>
                    <a:pt x="6807962" y="0"/>
                    <a:pt x="6883400" y="75438"/>
                    <a:pt x="6883400" y="168402"/>
                  </a:cubicBezTo>
                  <a:lnTo>
                    <a:pt x="6883400" y="954278"/>
                  </a:lnTo>
                  <a:cubicBezTo>
                    <a:pt x="6883400" y="1047242"/>
                    <a:pt x="6807962" y="1122680"/>
                    <a:pt x="6714998" y="1122680"/>
                  </a:cubicBezTo>
                  <a:lnTo>
                    <a:pt x="168402" y="1122680"/>
                  </a:lnTo>
                  <a:cubicBezTo>
                    <a:pt x="75438" y="1122680"/>
                    <a:pt x="0" y="1047242"/>
                    <a:pt x="0" y="954278"/>
                  </a:cubicBezTo>
                  <a:close/>
                </a:path>
              </a:pathLst>
            </a:custGeom>
            <a:solidFill>
              <a:srgbClr val="C98A12"/>
            </a:solidFill>
            <a:ln w="19050" cap="sq">
              <a:solidFill>
                <a:srgbClr val="C98A12"/>
              </a:solidFill>
              <a:prstDash val="solid"/>
              <a:miter/>
            </a:ln>
          </p:spPr>
        </p:sp>
      </p:grpSp>
      <p:grpSp>
        <p:nvGrpSpPr>
          <p:cNvPr name="Group 42" id="42"/>
          <p:cNvGrpSpPr/>
          <p:nvPr/>
        </p:nvGrpSpPr>
        <p:grpSpPr>
          <a:xfrm rot="0">
            <a:off x="960120" y="6213348"/>
            <a:ext cx="5143500" cy="521208"/>
            <a:chOff x="0" y="0"/>
            <a:chExt cx="6858000" cy="694944"/>
          </a:xfrm>
        </p:grpSpPr>
        <p:sp>
          <p:nvSpPr>
            <p:cNvPr name="Freeform 43" id="43"/>
            <p:cNvSpPr/>
            <p:nvPr/>
          </p:nvSpPr>
          <p:spPr>
            <a:xfrm flipH="false" flipV="false" rot="0">
              <a:off x="0" y="0"/>
              <a:ext cx="6858000" cy="694944"/>
            </a:xfrm>
            <a:custGeom>
              <a:avLst/>
              <a:gdLst/>
              <a:ahLst/>
              <a:cxnLst/>
              <a:rect r="r" b="b" t="t" l="l"/>
              <a:pathLst>
                <a:path h="694944" w="6858000">
                  <a:moveTo>
                    <a:pt x="0" y="0"/>
                  </a:moveTo>
                  <a:lnTo>
                    <a:pt x="6858000" y="0"/>
                  </a:lnTo>
                  <a:lnTo>
                    <a:pt x="6858000" y="694944"/>
                  </a:lnTo>
                  <a:lnTo>
                    <a:pt x="0" y="694944"/>
                  </a:lnTo>
                  <a:close/>
                </a:path>
              </a:pathLst>
            </a:custGeom>
            <a:blipFill>
              <a:blip r:embed="rId2">
                <a:alphaModFix amt="0"/>
              </a:blip>
              <a:stretch>
                <a:fillRect l="0" t="-142286" r="0" b="-142286"/>
              </a:stretch>
            </a:blipFill>
          </p:spPr>
        </p:sp>
        <p:sp>
          <p:nvSpPr>
            <p:cNvPr name="TextBox 44" id="44"/>
            <p:cNvSpPr txBox="true"/>
            <p:nvPr/>
          </p:nvSpPr>
          <p:spPr>
            <a:xfrm>
              <a:off x="0" y="-38100"/>
              <a:ext cx="6858000" cy="733044"/>
            </a:xfrm>
            <a:prstGeom prst="rect">
              <a:avLst/>
            </a:prstGeom>
          </p:spPr>
          <p:txBody>
            <a:bodyPr anchor="ctr" rtlCol="false" tIns="0" lIns="0" bIns="0" rIns="0"/>
            <a:lstStyle/>
            <a:p>
              <a:pPr algn="ctr">
                <a:lnSpc>
                  <a:spcPts val="2430"/>
                </a:lnSpc>
              </a:pPr>
              <a:r>
                <a:rPr lang="en-US" sz="2025" b="true">
                  <a:solidFill>
                    <a:srgbClr val="FFFFFF"/>
                  </a:solidFill>
                  <a:latin typeface="Calibri (MS) Bold"/>
                  <a:ea typeface="Calibri (MS) Bold"/>
                  <a:cs typeface="Calibri (MS) Bold"/>
                  <a:sym typeface="Calibri (MS) Bold"/>
                </a:rPr>
                <a:t>✓  Detect</a:t>
              </a:r>
            </a:p>
          </p:txBody>
        </p:sp>
      </p:grpSp>
      <p:grpSp>
        <p:nvGrpSpPr>
          <p:cNvPr name="Group 45" id="45"/>
          <p:cNvGrpSpPr/>
          <p:nvPr/>
        </p:nvGrpSpPr>
        <p:grpSpPr>
          <a:xfrm rot="0">
            <a:off x="960120" y="6583680"/>
            <a:ext cx="5143500" cy="329184"/>
            <a:chOff x="0" y="0"/>
            <a:chExt cx="6858000" cy="438912"/>
          </a:xfrm>
        </p:grpSpPr>
        <p:sp>
          <p:nvSpPr>
            <p:cNvPr name="Freeform 46" id="46"/>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47" id="47"/>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FFFFFF"/>
                  </a:solidFill>
                  <a:latin typeface="Arimo"/>
                  <a:ea typeface="Arimo"/>
                  <a:cs typeface="Arimo"/>
                  <a:sym typeface="Arimo"/>
                </a:rPr>
                <a:t>DE</a:t>
              </a:r>
            </a:p>
          </p:txBody>
        </p:sp>
      </p:grpSp>
      <p:grpSp>
        <p:nvGrpSpPr>
          <p:cNvPr name="Group 48" id="48"/>
          <p:cNvGrpSpPr/>
          <p:nvPr/>
        </p:nvGrpSpPr>
        <p:grpSpPr>
          <a:xfrm rot="0">
            <a:off x="6533007" y="6135243"/>
            <a:ext cx="5162550" cy="842010"/>
            <a:chOff x="0" y="0"/>
            <a:chExt cx="6883400" cy="1122680"/>
          </a:xfrm>
        </p:grpSpPr>
        <p:sp>
          <p:nvSpPr>
            <p:cNvPr name="Freeform 49" id="49"/>
            <p:cNvSpPr/>
            <p:nvPr/>
          </p:nvSpPr>
          <p:spPr>
            <a:xfrm flipH="false" flipV="false" rot="0">
              <a:off x="0" y="0"/>
              <a:ext cx="6883400" cy="1122680"/>
            </a:xfrm>
            <a:custGeom>
              <a:avLst/>
              <a:gdLst/>
              <a:ahLst/>
              <a:cxnLst/>
              <a:rect r="r" b="b" t="t" l="l"/>
              <a:pathLst>
                <a:path h="1122680" w="6883400">
                  <a:moveTo>
                    <a:pt x="0" y="168402"/>
                  </a:moveTo>
                  <a:cubicBezTo>
                    <a:pt x="0" y="75438"/>
                    <a:pt x="75438" y="0"/>
                    <a:pt x="168402" y="0"/>
                  </a:cubicBezTo>
                  <a:lnTo>
                    <a:pt x="6714998" y="0"/>
                  </a:lnTo>
                  <a:cubicBezTo>
                    <a:pt x="6807962" y="0"/>
                    <a:pt x="6883400" y="75438"/>
                    <a:pt x="6883400" y="168402"/>
                  </a:cubicBezTo>
                  <a:lnTo>
                    <a:pt x="6883400" y="954278"/>
                  </a:lnTo>
                  <a:cubicBezTo>
                    <a:pt x="6883400" y="1047242"/>
                    <a:pt x="6807962" y="1122680"/>
                    <a:pt x="6714998" y="1122680"/>
                  </a:cubicBezTo>
                  <a:lnTo>
                    <a:pt x="168402" y="1122680"/>
                  </a:lnTo>
                  <a:cubicBezTo>
                    <a:pt x="75438" y="1122680"/>
                    <a:pt x="0" y="1047242"/>
                    <a:pt x="0" y="954278"/>
                  </a:cubicBezTo>
                  <a:close/>
                </a:path>
              </a:pathLst>
            </a:custGeom>
            <a:solidFill>
              <a:srgbClr val="F4F7FC"/>
            </a:solidFill>
            <a:ln w="19050" cap="sq">
              <a:solidFill>
                <a:srgbClr val="D7DCEC"/>
              </a:solidFill>
              <a:prstDash val="solid"/>
              <a:miter/>
            </a:ln>
          </p:spPr>
        </p:sp>
      </p:grpSp>
      <p:grpSp>
        <p:nvGrpSpPr>
          <p:cNvPr name="Group 50" id="50"/>
          <p:cNvGrpSpPr/>
          <p:nvPr/>
        </p:nvGrpSpPr>
        <p:grpSpPr>
          <a:xfrm rot="0">
            <a:off x="6542532" y="6213348"/>
            <a:ext cx="5143500" cy="521208"/>
            <a:chOff x="0" y="0"/>
            <a:chExt cx="6858000" cy="694944"/>
          </a:xfrm>
        </p:grpSpPr>
        <p:sp>
          <p:nvSpPr>
            <p:cNvPr name="Freeform 51" id="51"/>
            <p:cNvSpPr/>
            <p:nvPr/>
          </p:nvSpPr>
          <p:spPr>
            <a:xfrm flipH="false" flipV="false" rot="0">
              <a:off x="0" y="0"/>
              <a:ext cx="6858000" cy="694944"/>
            </a:xfrm>
            <a:custGeom>
              <a:avLst/>
              <a:gdLst/>
              <a:ahLst/>
              <a:cxnLst/>
              <a:rect r="r" b="b" t="t" l="l"/>
              <a:pathLst>
                <a:path h="694944" w="6858000">
                  <a:moveTo>
                    <a:pt x="0" y="0"/>
                  </a:moveTo>
                  <a:lnTo>
                    <a:pt x="6858000" y="0"/>
                  </a:lnTo>
                  <a:lnTo>
                    <a:pt x="6858000" y="694944"/>
                  </a:lnTo>
                  <a:lnTo>
                    <a:pt x="0" y="694944"/>
                  </a:lnTo>
                  <a:close/>
                </a:path>
              </a:pathLst>
            </a:custGeom>
            <a:blipFill>
              <a:blip r:embed="rId2">
                <a:alphaModFix amt="0"/>
              </a:blip>
              <a:stretch>
                <a:fillRect l="0" t="-142286" r="0" b="-142286"/>
              </a:stretch>
            </a:blipFill>
          </p:spPr>
        </p:sp>
        <p:sp>
          <p:nvSpPr>
            <p:cNvPr name="TextBox 52" id="52"/>
            <p:cNvSpPr txBox="true"/>
            <p:nvPr/>
          </p:nvSpPr>
          <p:spPr>
            <a:xfrm>
              <a:off x="0" y="-38100"/>
              <a:ext cx="6858000" cy="733044"/>
            </a:xfrm>
            <a:prstGeom prst="rect">
              <a:avLst/>
            </a:prstGeom>
          </p:spPr>
          <p:txBody>
            <a:bodyPr anchor="ctr" rtlCol="false" tIns="0" lIns="0" bIns="0" rIns="0"/>
            <a:lstStyle/>
            <a:p>
              <a:pPr algn="ctr">
                <a:lnSpc>
                  <a:spcPts val="2430"/>
                </a:lnSpc>
              </a:pPr>
              <a:r>
                <a:rPr lang="en-US" sz="2025">
                  <a:solidFill>
                    <a:srgbClr val="6B7280"/>
                  </a:solidFill>
                  <a:latin typeface="Calibri (MS)"/>
                  <a:ea typeface="Calibri (MS)"/>
                  <a:cs typeface="Calibri (MS)"/>
                  <a:sym typeface="Calibri (MS)"/>
                </a:rPr>
                <a:t>Respond</a:t>
              </a:r>
            </a:p>
          </p:txBody>
        </p:sp>
      </p:grpSp>
      <p:grpSp>
        <p:nvGrpSpPr>
          <p:cNvPr name="Group 53" id="53"/>
          <p:cNvGrpSpPr/>
          <p:nvPr/>
        </p:nvGrpSpPr>
        <p:grpSpPr>
          <a:xfrm rot="0">
            <a:off x="6542532" y="6583680"/>
            <a:ext cx="5143500" cy="329184"/>
            <a:chOff x="0" y="0"/>
            <a:chExt cx="6858000" cy="438912"/>
          </a:xfrm>
        </p:grpSpPr>
        <p:sp>
          <p:nvSpPr>
            <p:cNvPr name="Freeform 54" id="54"/>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55" id="55"/>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9AA3B8"/>
                  </a:solidFill>
                  <a:latin typeface="Arimo"/>
                  <a:ea typeface="Arimo"/>
                  <a:cs typeface="Arimo"/>
                  <a:sym typeface="Arimo"/>
                </a:rPr>
                <a:t>RS</a:t>
              </a:r>
            </a:p>
          </p:txBody>
        </p:sp>
      </p:grpSp>
      <p:grpSp>
        <p:nvGrpSpPr>
          <p:cNvPr name="Group 56" id="56"/>
          <p:cNvGrpSpPr/>
          <p:nvPr/>
        </p:nvGrpSpPr>
        <p:grpSpPr>
          <a:xfrm rot="0">
            <a:off x="12115419" y="6135243"/>
            <a:ext cx="5162550" cy="842010"/>
            <a:chOff x="0" y="0"/>
            <a:chExt cx="6883400" cy="1122680"/>
          </a:xfrm>
        </p:grpSpPr>
        <p:sp>
          <p:nvSpPr>
            <p:cNvPr name="Freeform 57" id="57"/>
            <p:cNvSpPr/>
            <p:nvPr/>
          </p:nvSpPr>
          <p:spPr>
            <a:xfrm flipH="false" flipV="false" rot="0">
              <a:off x="0" y="0"/>
              <a:ext cx="6883400" cy="1122680"/>
            </a:xfrm>
            <a:custGeom>
              <a:avLst/>
              <a:gdLst/>
              <a:ahLst/>
              <a:cxnLst/>
              <a:rect r="r" b="b" t="t" l="l"/>
              <a:pathLst>
                <a:path h="1122680" w="6883400">
                  <a:moveTo>
                    <a:pt x="0" y="168402"/>
                  </a:moveTo>
                  <a:cubicBezTo>
                    <a:pt x="0" y="75438"/>
                    <a:pt x="75438" y="0"/>
                    <a:pt x="168402" y="0"/>
                  </a:cubicBezTo>
                  <a:lnTo>
                    <a:pt x="6714998" y="0"/>
                  </a:lnTo>
                  <a:cubicBezTo>
                    <a:pt x="6807962" y="0"/>
                    <a:pt x="6883400" y="75438"/>
                    <a:pt x="6883400" y="168402"/>
                  </a:cubicBezTo>
                  <a:lnTo>
                    <a:pt x="6883400" y="954278"/>
                  </a:lnTo>
                  <a:cubicBezTo>
                    <a:pt x="6883400" y="1047242"/>
                    <a:pt x="6807962" y="1122680"/>
                    <a:pt x="6714998" y="1122680"/>
                  </a:cubicBezTo>
                  <a:lnTo>
                    <a:pt x="168402" y="1122680"/>
                  </a:lnTo>
                  <a:cubicBezTo>
                    <a:pt x="75438" y="1122680"/>
                    <a:pt x="0" y="1047242"/>
                    <a:pt x="0" y="954278"/>
                  </a:cubicBezTo>
                  <a:close/>
                </a:path>
              </a:pathLst>
            </a:custGeom>
            <a:solidFill>
              <a:srgbClr val="F4F7FC"/>
            </a:solidFill>
            <a:ln w="19050" cap="sq">
              <a:solidFill>
                <a:srgbClr val="D7DCEC"/>
              </a:solidFill>
              <a:prstDash val="solid"/>
              <a:miter/>
            </a:ln>
          </p:spPr>
        </p:sp>
      </p:grpSp>
      <p:grpSp>
        <p:nvGrpSpPr>
          <p:cNvPr name="Group 58" id="58"/>
          <p:cNvGrpSpPr/>
          <p:nvPr/>
        </p:nvGrpSpPr>
        <p:grpSpPr>
          <a:xfrm rot="0">
            <a:off x="12124944" y="6213348"/>
            <a:ext cx="5143500" cy="521208"/>
            <a:chOff x="0" y="0"/>
            <a:chExt cx="6858000" cy="694944"/>
          </a:xfrm>
        </p:grpSpPr>
        <p:sp>
          <p:nvSpPr>
            <p:cNvPr name="Freeform 59" id="59"/>
            <p:cNvSpPr/>
            <p:nvPr/>
          </p:nvSpPr>
          <p:spPr>
            <a:xfrm flipH="false" flipV="false" rot="0">
              <a:off x="0" y="0"/>
              <a:ext cx="6858000" cy="694944"/>
            </a:xfrm>
            <a:custGeom>
              <a:avLst/>
              <a:gdLst/>
              <a:ahLst/>
              <a:cxnLst/>
              <a:rect r="r" b="b" t="t" l="l"/>
              <a:pathLst>
                <a:path h="694944" w="6858000">
                  <a:moveTo>
                    <a:pt x="0" y="0"/>
                  </a:moveTo>
                  <a:lnTo>
                    <a:pt x="6858000" y="0"/>
                  </a:lnTo>
                  <a:lnTo>
                    <a:pt x="6858000" y="694944"/>
                  </a:lnTo>
                  <a:lnTo>
                    <a:pt x="0" y="694944"/>
                  </a:lnTo>
                  <a:close/>
                </a:path>
              </a:pathLst>
            </a:custGeom>
            <a:blipFill>
              <a:blip r:embed="rId2">
                <a:alphaModFix amt="0"/>
              </a:blip>
              <a:stretch>
                <a:fillRect l="0" t="-142286" r="0" b="-142286"/>
              </a:stretch>
            </a:blipFill>
          </p:spPr>
        </p:sp>
        <p:sp>
          <p:nvSpPr>
            <p:cNvPr name="TextBox 60" id="60"/>
            <p:cNvSpPr txBox="true"/>
            <p:nvPr/>
          </p:nvSpPr>
          <p:spPr>
            <a:xfrm>
              <a:off x="0" y="-38100"/>
              <a:ext cx="6858000" cy="733044"/>
            </a:xfrm>
            <a:prstGeom prst="rect">
              <a:avLst/>
            </a:prstGeom>
          </p:spPr>
          <p:txBody>
            <a:bodyPr anchor="ctr" rtlCol="false" tIns="0" lIns="0" bIns="0" rIns="0"/>
            <a:lstStyle/>
            <a:p>
              <a:pPr algn="ctr">
                <a:lnSpc>
                  <a:spcPts val="2430"/>
                </a:lnSpc>
              </a:pPr>
              <a:r>
                <a:rPr lang="en-US" sz="2025">
                  <a:solidFill>
                    <a:srgbClr val="6B7280"/>
                  </a:solidFill>
                  <a:latin typeface="Calibri (MS)"/>
                  <a:ea typeface="Calibri (MS)"/>
                  <a:cs typeface="Calibri (MS)"/>
                  <a:sym typeface="Calibri (MS)"/>
                </a:rPr>
                <a:t>Recover</a:t>
              </a:r>
            </a:p>
          </p:txBody>
        </p:sp>
      </p:grpSp>
      <p:grpSp>
        <p:nvGrpSpPr>
          <p:cNvPr name="Group 61" id="61"/>
          <p:cNvGrpSpPr/>
          <p:nvPr/>
        </p:nvGrpSpPr>
        <p:grpSpPr>
          <a:xfrm rot="0">
            <a:off x="12124944" y="6583680"/>
            <a:ext cx="5143500" cy="329184"/>
            <a:chOff x="0" y="0"/>
            <a:chExt cx="6858000" cy="438912"/>
          </a:xfrm>
        </p:grpSpPr>
        <p:sp>
          <p:nvSpPr>
            <p:cNvPr name="Freeform 62" id="62"/>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63" id="63"/>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9AA3B8"/>
                  </a:solidFill>
                  <a:latin typeface="Arimo"/>
                  <a:ea typeface="Arimo"/>
                  <a:cs typeface="Arimo"/>
                  <a:sym typeface="Arimo"/>
                </a:rPr>
                <a:t>RC</a:t>
              </a:r>
            </a:p>
          </p:txBody>
        </p:sp>
      </p:grpSp>
      <p:grpSp>
        <p:nvGrpSpPr>
          <p:cNvPr name="Group 64" id="64"/>
          <p:cNvGrpSpPr/>
          <p:nvPr/>
        </p:nvGrpSpPr>
        <p:grpSpPr>
          <a:xfrm rot="0">
            <a:off x="950595" y="7328535"/>
            <a:ext cx="16341090" cy="1596390"/>
            <a:chOff x="0" y="0"/>
            <a:chExt cx="21788120" cy="2128520"/>
          </a:xfrm>
        </p:grpSpPr>
        <p:sp>
          <p:nvSpPr>
            <p:cNvPr name="Freeform 65" id="65"/>
            <p:cNvSpPr/>
            <p:nvPr/>
          </p:nvSpPr>
          <p:spPr>
            <a:xfrm flipH="false" flipV="false" rot="0">
              <a:off x="0" y="0"/>
              <a:ext cx="21788120" cy="2128520"/>
            </a:xfrm>
            <a:custGeom>
              <a:avLst/>
              <a:gdLst/>
              <a:ahLst/>
              <a:cxnLst/>
              <a:rect r="r" b="b" t="t" l="l"/>
              <a:pathLst>
                <a:path h="2128520" w="21788120">
                  <a:moveTo>
                    <a:pt x="0" y="185039"/>
                  </a:moveTo>
                  <a:cubicBezTo>
                    <a:pt x="0" y="82931"/>
                    <a:pt x="82931" y="0"/>
                    <a:pt x="185039" y="0"/>
                  </a:cubicBezTo>
                  <a:lnTo>
                    <a:pt x="21603081" y="0"/>
                  </a:lnTo>
                  <a:cubicBezTo>
                    <a:pt x="21705317" y="0"/>
                    <a:pt x="21788120" y="82931"/>
                    <a:pt x="21788120" y="185039"/>
                  </a:cubicBezTo>
                  <a:lnTo>
                    <a:pt x="21788120" y="1943481"/>
                  </a:lnTo>
                  <a:cubicBezTo>
                    <a:pt x="21788120" y="2045716"/>
                    <a:pt x="21705190" y="2128520"/>
                    <a:pt x="21603081" y="2128520"/>
                  </a:cubicBezTo>
                  <a:lnTo>
                    <a:pt x="185039" y="2128520"/>
                  </a:lnTo>
                  <a:cubicBezTo>
                    <a:pt x="82931" y="2128520"/>
                    <a:pt x="0" y="2045589"/>
                    <a:pt x="0" y="1943481"/>
                  </a:cubicBezTo>
                  <a:close/>
                </a:path>
              </a:pathLst>
            </a:custGeom>
            <a:solidFill>
              <a:srgbClr val="FBF9F4"/>
            </a:solidFill>
            <a:ln w="19050" cap="sq">
              <a:solidFill>
                <a:srgbClr val="EFE6D2"/>
              </a:solidFill>
              <a:prstDash val="solid"/>
              <a:miter/>
            </a:ln>
          </p:spPr>
        </p:sp>
      </p:grpSp>
      <p:sp>
        <p:nvSpPr>
          <p:cNvPr name="TextBox 66" id="66"/>
          <p:cNvSpPr txBox="true"/>
          <p:nvPr/>
        </p:nvSpPr>
        <p:spPr>
          <a:xfrm rot="0">
            <a:off x="1463040" y="7494270"/>
            <a:ext cx="15316200" cy="1238250"/>
          </a:xfrm>
          <a:prstGeom prst="rect">
            <a:avLst/>
          </a:prstGeom>
        </p:spPr>
        <p:txBody>
          <a:bodyPr anchor="t" rtlCol="false" tIns="0" lIns="0" bIns="0" rIns="0">
            <a:spAutoFit/>
          </a:bodyPr>
          <a:lstStyle/>
          <a:p>
            <a:pPr algn="l">
              <a:lnSpc>
                <a:spcPts val="2880"/>
              </a:lnSpc>
            </a:pPr>
            <a:r>
              <a:rPr lang="en-US" sz="1875">
                <a:solidFill>
                  <a:srgbClr val="23262F"/>
                </a:solidFill>
                <a:latin typeface="Calibri (MS)"/>
                <a:ea typeface="Calibri (MS)"/>
                <a:cs typeface="Calibri (MS)"/>
                <a:sym typeface="Calibri (MS)"/>
              </a:rPr>
              <a:t>The tool found and flagged something abnormal on its own, before anyone acted on it — the classic Detect scenario, even though the software also blocked it in the same motion.</a:t>
            </a:r>
          </a:p>
        </p:txBody>
      </p:sp>
      <p:grpSp>
        <p:nvGrpSpPr>
          <p:cNvPr name="Group 67" id="67"/>
          <p:cNvGrpSpPr/>
          <p:nvPr/>
        </p:nvGrpSpPr>
        <p:grpSpPr>
          <a:xfrm rot="0">
            <a:off x="685800" y="9710928"/>
            <a:ext cx="10972800" cy="411480"/>
            <a:chOff x="0" y="0"/>
            <a:chExt cx="14630400" cy="548640"/>
          </a:xfrm>
        </p:grpSpPr>
        <p:sp>
          <p:nvSpPr>
            <p:cNvPr name="Freeform 68" id="68"/>
            <p:cNvSpPr/>
            <p:nvPr/>
          </p:nvSpPr>
          <p:spPr>
            <a:xfrm flipH="false" flipV="false" rot="0">
              <a:off x="0" y="0"/>
              <a:ext cx="14630400" cy="548640"/>
            </a:xfrm>
            <a:custGeom>
              <a:avLst/>
              <a:gdLst/>
              <a:ahLst/>
              <a:cxnLst/>
              <a:rect r="r" b="b" t="t" l="l"/>
              <a:pathLst>
                <a:path h="548640" w="14630400">
                  <a:moveTo>
                    <a:pt x="0" y="0"/>
                  </a:moveTo>
                  <a:lnTo>
                    <a:pt x="14630400" y="0"/>
                  </a:lnTo>
                  <a:lnTo>
                    <a:pt x="14630400" y="548640"/>
                  </a:lnTo>
                  <a:lnTo>
                    <a:pt x="0" y="548640"/>
                  </a:lnTo>
                  <a:close/>
                </a:path>
              </a:pathLst>
            </a:custGeom>
            <a:blipFill>
              <a:blip r:embed="rId2">
                <a:alphaModFix amt="0"/>
              </a:blip>
              <a:stretch>
                <a:fillRect l="0" t="-469601" r="0" b="-469601"/>
              </a:stretch>
            </a:blipFill>
          </p:spPr>
        </p:sp>
        <p:sp>
          <p:nvSpPr>
            <p:cNvPr name="TextBox 69" id="69"/>
            <p:cNvSpPr txBox="true"/>
            <p:nvPr/>
          </p:nvSpPr>
          <p:spPr>
            <a:xfrm>
              <a:off x="0" y="-38100"/>
              <a:ext cx="14630400" cy="586740"/>
            </a:xfrm>
            <a:prstGeom prst="rect">
              <a:avLst/>
            </a:prstGeom>
          </p:spPr>
          <p:txBody>
            <a:bodyPr anchor="ctr" rtlCol="false" tIns="0" lIns="0" bIns="0" rIns="0"/>
            <a:lstStyle/>
            <a:p>
              <a:pPr algn="l">
                <a:lnSpc>
                  <a:spcPts val="1800"/>
                </a:lnSpc>
              </a:pPr>
              <a:r>
                <a:rPr lang="en-US" sz="1500">
                  <a:solidFill>
                    <a:srgbClr val="6B7280"/>
                  </a:solidFill>
                  <a:latin typeface="Calibri (MS)"/>
                  <a:ea typeface="Calibri (MS)"/>
                  <a:cs typeface="Calibri (MS)"/>
                  <a:sym typeface="Calibri (MS)"/>
                </a:rPr>
                <a:t>Davao del Norte Provincial Government — Cybersecurity Seminar</a:t>
              </a:r>
            </a:p>
          </p:txBody>
        </p:sp>
      </p:grpSp>
      <p:grpSp>
        <p:nvGrpSpPr>
          <p:cNvPr name="Group 70" id="70"/>
          <p:cNvGrpSpPr/>
          <p:nvPr/>
        </p:nvGrpSpPr>
        <p:grpSpPr>
          <a:xfrm rot="0">
            <a:off x="16911828" y="9710928"/>
            <a:ext cx="685800" cy="411480"/>
            <a:chOff x="0" y="0"/>
            <a:chExt cx="914400" cy="548640"/>
          </a:xfrm>
        </p:grpSpPr>
        <p:sp>
          <p:nvSpPr>
            <p:cNvPr name="Freeform 71" id="71"/>
            <p:cNvSpPr/>
            <p:nvPr/>
          </p:nvSpPr>
          <p:spPr>
            <a:xfrm flipH="false" flipV="false" rot="0">
              <a:off x="0" y="0"/>
              <a:ext cx="914400" cy="548640"/>
            </a:xfrm>
            <a:custGeom>
              <a:avLst/>
              <a:gdLst/>
              <a:ahLst/>
              <a:cxnLst/>
              <a:rect r="r" b="b" t="t" l="l"/>
              <a:pathLst>
                <a:path h="548640" w="914400">
                  <a:moveTo>
                    <a:pt x="0" y="0"/>
                  </a:moveTo>
                  <a:lnTo>
                    <a:pt x="914400" y="0"/>
                  </a:lnTo>
                  <a:lnTo>
                    <a:pt x="914400" y="548640"/>
                  </a:lnTo>
                  <a:lnTo>
                    <a:pt x="0" y="548640"/>
                  </a:lnTo>
                  <a:close/>
                </a:path>
              </a:pathLst>
            </a:custGeom>
            <a:blipFill>
              <a:blip r:embed="rId2">
                <a:alphaModFix amt="0"/>
              </a:blip>
              <a:stretch>
                <a:fillRect l="-26982" t="0" r="-26982" b="0"/>
              </a:stretch>
            </a:blipFill>
          </p:spPr>
        </p:sp>
        <p:sp>
          <p:nvSpPr>
            <p:cNvPr name="TextBox 72" id="72"/>
            <p:cNvSpPr txBox="true"/>
            <p:nvPr/>
          </p:nvSpPr>
          <p:spPr>
            <a:xfrm>
              <a:off x="0" y="-38100"/>
              <a:ext cx="914400" cy="586740"/>
            </a:xfrm>
            <a:prstGeom prst="rect">
              <a:avLst/>
            </a:prstGeom>
          </p:spPr>
          <p:txBody>
            <a:bodyPr anchor="ctr" rtlCol="false" tIns="0" lIns="0" bIns="0" rIns="0"/>
            <a:lstStyle/>
            <a:p>
              <a:pPr algn="r">
                <a:lnSpc>
                  <a:spcPts val="1800"/>
                </a:lnSpc>
              </a:pPr>
              <a:r>
                <a:rPr lang="en-US" sz="1500">
                  <a:solidFill>
                    <a:srgbClr val="6B7280"/>
                  </a:solidFill>
                  <a:latin typeface="Calibri (MS)"/>
                  <a:ea typeface="Calibri (MS)"/>
                  <a:cs typeface="Calibri (MS)"/>
                  <a:sym typeface="Calibri (MS)"/>
                </a:rPr>
                <a:t>32</a:t>
              </a:r>
            </a:p>
          </p:txBody>
        </p:sp>
      </p:grpSp>
    </p:spTree>
  </p:cSld>
  <p:clrMapOvr>
    <a:masterClrMapping/>
  </p:clrMapOvr>
</p:sld>
</file>

<file path=ppt/slides/slide9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60120" y="685800"/>
            <a:ext cx="13716000" cy="411480"/>
            <a:chOff x="0" y="0"/>
            <a:chExt cx="18288000" cy="548640"/>
          </a:xfrm>
        </p:grpSpPr>
        <p:sp>
          <p:nvSpPr>
            <p:cNvPr name="Freeform 3" id="3"/>
            <p:cNvSpPr/>
            <p:nvPr/>
          </p:nvSpPr>
          <p:spPr>
            <a:xfrm flipH="false" flipV="false" rot="0">
              <a:off x="0" y="0"/>
              <a:ext cx="18288000" cy="548640"/>
            </a:xfrm>
            <a:custGeom>
              <a:avLst/>
              <a:gdLst/>
              <a:ahLst/>
              <a:cxnLst/>
              <a:rect r="r" b="b" t="t" l="l"/>
              <a:pathLst>
                <a:path h="548640" w="18288000">
                  <a:moveTo>
                    <a:pt x="0" y="0"/>
                  </a:moveTo>
                  <a:lnTo>
                    <a:pt x="18288000" y="0"/>
                  </a:lnTo>
                  <a:lnTo>
                    <a:pt x="18288000" y="548640"/>
                  </a:lnTo>
                  <a:lnTo>
                    <a:pt x="0" y="548640"/>
                  </a:lnTo>
                  <a:close/>
                </a:path>
              </a:pathLst>
            </a:custGeom>
            <a:blipFill>
              <a:blip r:embed="rId2">
                <a:alphaModFix amt="0"/>
              </a:blip>
              <a:stretch>
                <a:fillRect l="0" t="-599501" r="0" b="-599501"/>
              </a:stretch>
            </a:blipFill>
          </p:spPr>
        </p:sp>
        <p:sp>
          <p:nvSpPr>
            <p:cNvPr name="TextBox 4" id="4"/>
            <p:cNvSpPr txBox="true"/>
            <p:nvPr/>
          </p:nvSpPr>
          <p:spPr>
            <a:xfrm>
              <a:off x="0" y="-38100"/>
              <a:ext cx="18288000" cy="586740"/>
            </a:xfrm>
            <a:prstGeom prst="rect">
              <a:avLst/>
            </a:prstGeom>
          </p:spPr>
          <p:txBody>
            <a:bodyPr anchor="ctr" rtlCol="false" tIns="0" lIns="0" bIns="0" rIns="0"/>
            <a:lstStyle/>
            <a:p>
              <a:pPr algn="l">
                <a:lnSpc>
                  <a:spcPts val="2160"/>
                </a:lnSpc>
              </a:pPr>
              <a:r>
                <a:rPr lang="en-US" b="true" sz="1800" spc="225">
                  <a:solidFill>
                    <a:srgbClr val="00B4D8"/>
                  </a:solidFill>
                  <a:latin typeface="Calibri (MS) Bold"/>
                  <a:ea typeface="Calibri (MS) Bold"/>
                  <a:cs typeface="Calibri (MS) Bold"/>
                  <a:sym typeface="Calibri (MS) Bold"/>
                </a:rPr>
                <a:t>NIST CSF SORT · SCENARIO</a:t>
              </a:r>
            </a:p>
          </p:txBody>
        </p:sp>
      </p:grpSp>
      <p:grpSp>
        <p:nvGrpSpPr>
          <p:cNvPr name="Group 5" id="5"/>
          <p:cNvGrpSpPr/>
          <p:nvPr/>
        </p:nvGrpSpPr>
        <p:grpSpPr>
          <a:xfrm rot="0">
            <a:off x="960120" y="1069848"/>
            <a:ext cx="10972800" cy="822960"/>
            <a:chOff x="0" y="0"/>
            <a:chExt cx="14630400" cy="1097280"/>
          </a:xfrm>
        </p:grpSpPr>
        <p:sp>
          <p:nvSpPr>
            <p:cNvPr name="Freeform 6" id="6"/>
            <p:cNvSpPr/>
            <p:nvPr/>
          </p:nvSpPr>
          <p:spPr>
            <a:xfrm flipH="false" flipV="false" rot="0">
              <a:off x="0" y="0"/>
              <a:ext cx="14630400" cy="1097280"/>
            </a:xfrm>
            <a:custGeom>
              <a:avLst/>
              <a:gdLst/>
              <a:ahLst/>
              <a:cxnLst/>
              <a:rect r="r" b="b" t="t" l="l"/>
              <a:pathLst>
                <a:path h="1097280" w="14630400">
                  <a:moveTo>
                    <a:pt x="0" y="0"/>
                  </a:moveTo>
                  <a:lnTo>
                    <a:pt x="14630400" y="0"/>
                  </a:lnTo>
                  <a:lnTo>
                    <a:pt x="14630400" y="1097280"/>
                  </a:lnTo>
                  <a:lnTo>
                    <a:pt x="0" y="1097280"/>
                  </a:lnTo>
                  <a:close/>
                </a:path>
              </a:pathLst>
            </a:custGeom>
            <a:blipFill>
              <a:blip r:embed="rId2">
                <a:alphaModFix amt="0"/>
              </a:blip>
              <a:stretch>
                <a:fillRect l="0" t="-209800" r="0" b="-209800"/>
              </a:stretch>
            </a:blipFill>
          </p:spPr>
        </p:sp>
        <p:sp>
          <p:nvSpPr>
            <p:cNvPr name="TextBox 7" id="7"/>
            <p:cNvSpPr txBox="true"/>
            <p:nvPr/>
          </p:nvSpPr>
          <p:spPr>
            <a:xfrm>
              <a:off x="0" y="0"/>
              <a:ext cx="14630400" cy="1097280"/>
            </a:xfrm>
            <a:prstGeom prst="rect">
              <a:avLst/>
            </a:prstGeom>
          </p:spPr>
          <p:txBody>
            <a:bodyPr anchor="ctr" rtlCol="false" tIns="0" lIns="0" bIns="0" rIns="0"/>
            <a:lstStyle/>
            <a:p>
              <a:pPr algn="l">
                <a:lnSpc>
                  <a:spcPts val="4680"/>
                </a:lnSpc>
              </a:pPr>
              <a:r>
                <a:rPr lang="en-US" sz="3900" b="true">
                  <a:solidFill>
                    <a:srgbClr val="1E2761"/>
                  </a:solidFill>
                  <a:latin typeface="Cambria Bold"/>
                  <a:ea typeface="Cambria Bold"/>
                  <a:cs typeface="Cambria Bold"/>
                  <a:sym typeface="Cambria Bold"/>
                </a:rPr>
                <a:t>Scenario 12</a:t>
              </a:r>
            </a:p>
          </p:txBody>
        </p:sp>
      </p:grpSp>
      <p:grpSp>
        <p:nvGrpSpPr>
          <p:cNvPr name="Group 8" id="8"/>
          <p:cNvGrpSpPr/>
          <p:nvPr/>
        </p:nvGrpSpPr>
        <p:grpSpPr>
          <a:xfrm rot="0">
            <a:off x="960120" y="1810512"/>
            <a:ext cx="8229600" cy="411480"/>
            <a:chOff x="0" y="0"/>
            <a:chExt cx="10972800" cy="548640"/>
          </a:xfrm>
        </p:grpSpPr>
        <p:sp>
          <p:nvSpPr>
            <p:cNvPr name="Freeform 9" id="9"/>
            <p:cNvSpPr/>
            <p:nvPr/>
          </p:nvSpPr>
          <p:spPr>
            <a:xfrm flipH="false" flipV="false" rot="0">
              <a:off x="0" y="0"/>
              <a:ext cx="10972800" cy="548640"/>
            </a:xfrm>
            <a:custGeom>
              <a:avLst/>
              <a:gdLst/>
              <a:ahLst/>
              <a:cxnLst/>
              <a:rect r="r" b="b" t="t" l="l"/>
              <a:pathLst>
                <a:path h="548640" w="10972800">
                  <a:moveTo>
                    <a:pt x="0" y="0"/>
                  </a:moveTo>
                  <a:lnTo>
                    <a:pt x="10972800" y="0"/>
                  </a:lnTo>
                  <a:lnTo>
                    <a:pt x="10972800" y="548640"/>
                  </a:lnTo>
                  <a:lnTo>
                    <a:pt x="0" y="548640"/>
                  </a:lnTo>
                  <a:close/>
                </a:path>
              </a:pathLst>
            </a:custGeom>
            <a:blipFill>
              <a:blip r:embed="rId2">
                <a:alphaModFix amt="0"/>
              </a:blip>
              <a:stretch>
                <a:fillRect l="0" t="-339700" r="0" b="-339700"/>
              </a:stretch>
            </a:blipFill>
          </p:spPr>
        </p:sp>
        <p:sp>
          <p:nvSpPr>
            <p:cNvPr name="TextBox 10" id="10"/>
            <p:cNvSpPr txBox="true"/>
            <p:nvPr/>
          </p:nvSpPr>
          <p:spPr>
            <a:xfrm>
              <a:off x="0" y="-28575"/>
              <a:ext cx="10972800" cy="577215"/>
            </a:xfrm>
            <a:prstGeom prst="rect">
              <a:avLst/>
            </a:prstGeom>
          </p:spPr>
          <p:txBody>
            <a:bodyPr anchor="ctr" rtlCol="false" tIns="0" lIns="0" bIns="0" rIns="0"/>
            <a:lstStyle/>
            <a:p>
              <a:pPr algn="l">
                <a:lnSpc>
                  <a:spcPts val="1980"/>
                </a:lnSpc>
              </a:pPr>
              <a:r>
                <a:rPr lang="en-US" sz="1650">
                  <a:solidFill>
                    <a:srgbClr val="6B7280"/>
                  </a:solidFill>
                  <a:latin typeface="Calibri (MS)"/>
                  <a:ea typeface="Calibri (MS)"/>
                  <a:cs typeface="Calibri (MS)"/>
                  <a:sym typeface="Calibri (MS)"/>
                </a:rPr>
                <a:t>12 of 20</a:t>
              </a:r>
            </a:p>
          </p:txBody>
        </p:sp>
      </p:grpSp>
      <p:grpSp>
        <p:nvGrpSpPr>
          <p:cNvPr name="Group 11" id="11"/>
          <p:cNvGrpSpPr/>
          <p:nvPr/>
        </p:nvGrpSpPr>
        <p:grpSpPr>
          <a:xfrm rot="0">
            <a:off x="960120" y="2537460"/>
            <a:ext cx="16322040" cy="2811780"/>
            <a:chOff x="0" y="0"/>
            <a:chExt cx="21762720" cy="3749040"/>
          </a:xfrm>
        </p:grpSpPr>
        <p:sp>
          <p:nvSpPr>
            <p:cNvPr name="Freeform 12" id="12"/>
            <p:cNvSpPr/>
            <p:nvPr/>
          </p:nvSpPr>
          <p:spPr>
            <a:xfrm flipH="false" flipV="false" rot="0">
              <a:off x="0" y="0"/>
              <a:ext cx="21762720" cy="3749040"/>
            </a:xfrm>
            <a:custGeom>
              <a:avLst/>
              <a:gdLst/>
              <a:ahLst/>
              <a:cxnLst/>
              <a:rect r="r" b="b" t="t" l="l"/>
              <a:pathLst>
                <a:path h="3749040" w="21762720">
                  <a:moveTo>
                    <a:pt x="0" y="182880"/>
                  </a:moveTo>
                  <a:cubicBezTo>
                    <a:pt x="0" y="81915"/>
                    <a:pt x="81915" y="0"/>
                    <a:pt x="182880" y="0"/>
                  </a:cubicBezTo>
                  <a:lnTo>
                    <a:pt x="21579839" y="0"/>
                  </a:lnTo>
                  <a:cubicBezTo>
                    <a:pt x="21680804" y="0"/>
                    <a:pt x="21762720" y="81915"/>
                    <a:pt x="21762720" y="182880"/>
                  </a:cubicBezTo>
                  <a:lnTo>
                    <a:pt x="21762720" y="3566160"/>
                  </a:lnTo>
                  <a:cubicBezTo>
                    <a:pt x="21762720" y="3667125"/>
                    <a:pt x="21680804" y="3749040"/>
                    <a:pt x="21579839" y="3749040"/>
                  </a:cubicBezTo>
                  <a:lnTo>
                    <a:pt x="182880" y="3749040"/>
                  </a:lnTo>
                  <a:cubicBezTo>
                    <a:pt x="81915" y="3749040"/>
                    <a:pt x="0" y="3667125"/>
                    <a:pt x="0" y="3566160"/>
                  </a:cubicBezTo>
                  <a:close/>
                </a:path>
              </a:pathLst>
            </a:custGeom>
            <a:solidFill>
              <a:srgbClr val="F4F7FC"/>
            </a:solidFill>
          </p:spPr>
        </p:sp>
      </p:grpSp>
      <p:grpSp>
        <p:nvGrpSpPr>
          <p:cNvPr name="Group 13" id="13"/>
          <p:cNvGrpSpPr/>
          <p:nvPr/>
        </p:nvGrpSpPr>
        <p:grpSpPr>
          <a:xfrm rot="0">
            <a:off x="1440180" y="2811780"/>
            <a:ext cx="15361920" cy="2263140"/>
            <a:chOff x="0" y="0"/>
            <a:chExt cx="20482560" cy="3017520"/>
          </a:xfrm>
        </p:grpSpPr>
        <p:sp>
          <p:nvSpPr>
            <p:cNvPr name="Freeform 14" id="14"/>
            <p:cNvSpPr/>
            <p:nvPr/>
          </p:nvSpPr>
          <p:spPr>
            <a:xfrm flipH="false" flipV="false" rot="0">
              <a:off x="0" y="0"/>
              <a:ext cx="20482561" cy="3017520"/>
            </a:xfrm>
            <a:custGeom>
              <a:avLst/>
              <a:gdLst/>
              <a:ahLst/>
              <a:cxnLst/>
              <a:rect r="r" b="b" t="t" l="l"/>
              <a:pathLst>
                <a:path h="3017520" w="20482561">
                  <a:moveTo>
                    <a:pt x="0" y="0"/>
                  </a:moveTo>
                  <a:lnTo>
                    <a:pt x="20482561" y="0"/>
                  </a:lnTo>
                  <a:lnTo>
                    <a:pt x="20482561" y="3017520"/>
                  </a:lnTo>
                  <a:lnTo>
                    <a:pt x="0" y="3017520"/>
                  </a:lnTo>
                  <a:close/>
                </a:path>
              </a:pathLst>
            </a:custGeom>
            <a:blipFill>
              <a:blip r:embed="rId2">
                <a:alphaModFix amt="0"/>
              </a:blip>
              <a:stretch>
                <a:fillRect l="0" t="-82262" r="0" b="-82262"/>
              </a:stretch>
            </a:blipFill>
          </p:spPr>
        </p:sp>
        <p:sp>
          <p:nvSpPr>
            <p:cNvPr name="TextBox 15" id="15"/>
            <p:cNvSpPr txBox="true"/>
            <p:nvPr/>
          </p:nvSpPr>
          <p:spPr>
            <a:xfrm>
              <a:off x="0" y="-104775"/>
              <a:ext cx="20482560" cy="3122295"/>
            </a:xfrm>
            <a:prstGeom prst="rect">
              <a:avLst/>
            </a:prstGeom>
          </p:spPr>
          <p:txBody>
            <a:bodyPr anchor="ctr" rtlCol="false" tIns="0" lIns="0" bIns="0" rIns="0"/>
            <a:lstStyle/>
            <a:p>
              <a:pPr algn="l">
                <a:lnSpc>
                  <a:spcPts val="4147"/>
                </a:lnSpc>
              </a:pPr>
              <a:r>
                <a:rPr lang="en-US" sz="2700" i="true">
                  <a:solidFill>
                    <a:srgbClr val="23262F"/>
                  </a:solidFill>
                  <a:latin typeface="Cambria Italics"/>
                  <a:ea typeface="Cambria Italics"/>
                  <a:cs typeface="Cambria Italics"/>
                  <a:sym typeface="Cambria Italics"/>
                </a:rPr>
                <a:t>"After a server crash wipes recent changes, the assessor's office rebuilds the lost property records from the most recent verified backup and confirms the data is accurate before reopening public access."</a:t>
              </a:r>
            </a:p>
          </p:txBody>
        </p:sp>
      </p:grpSp>
      <p:sp>
        <p:nvSpPr>
          <p:cNvPr name="TextBox 16" id="16"/>
          <p:cNvSpPr txBox="true"/>
          <p:nvPr/>
        </p:nvSpPr>
        <p:spPr>
          <a:xfrm rot="0">
            <a:off x="1051560" y="5604510"/>
            <a:ext cx="16139160" cy="1276350"/>
          </a:xfrm>
          <a:prstGeom prst="rect">
            <a:avLst/>
          </a:prstGeom>
        </p:spPr>
        <p:txBody>
          <a:bodyPr anchor="t" rtlCol="false" tIns="0" lIns="0" bIns="0" rIns="0">
            <a:spAutoFit/>
          </a:bodyPr>
          <a:lstStyle/>
          <a:p>
            <a:pPr algn="ctr">
              <a:lnSpc>
                <a:spcPts val="3402"/>
              </a:lnSpc>
            </a:pPr>
            <a:r>
              <a:rPr lang="en-US" sz="2100" i="true">
                <a:solidFill>
                  <a:srgbClr val="6B7280"/>
                </a:solidFill>
                <a:latin typeface="Calibri (MS) Italics"/>
                <a:ea typeface="Calibri (MS) Italics"/>
                <a:cs typeface="Calibri (MS) Italics"/>
                <a:sym typeface="Calibri (MS) Italics"/>
              </a:rPr>
              <a:t>Which Function does this belong to — Govern, Identify, Protect, Detect, Respond, or Recover?</a:t>
            </a:r>
          </a:p>
          <a:p>
            <a:pPr algn="ctr">
              <a:lnSpc>
                <a:spcPts val="3402"/>
              </a:lnSpc>
            </a:pPr>
            <a:r>
              <a:rPr lang="en-US" sz="2100" i="true">
                <a:solidFill>
                  <a:srgbClr val="6B7280"/>
                </a:solidFill>
                <a:latin typeface="Calibri (MS) Italics"/>
                <a:ea typeface="Calibri (MS) Italics"/>
                <a:cs typeface="Calibri (MS) Italics"/>
                <a:sym typeface="Calibri (MS) Italics"/>
              </a:rPr>
              <a:t>Some belong to more than one. Discuss, then we'll reveal the answer.</a:t>
            </a:r>
          </a:p>
        </p:txBody>
      </p:sp>
      <p:grpSp>
        <p:nvGrpSpPr>
          <p:cNvPr name="Group 17" id="17"/>
          <p:cNvGrpSpPr/>
          <p:nvPr/>
        </p:nvGrpSpPr>
        <p:grpSpPr>
          <a:xfrm rot="0">
            <a:off x="950595" y="7122795"/>
            <a:ext cx="5162550" cy="910590"/>
            <a:chOff x="0" y="0"/>
            <a:chExt cx="6883400" cy="1214120"/>
          </a:xfrm>
        </p:grpSpPr>
        <p:sp>
          <p:nvSpPr>
            <p:cNvPr name="Freeform 18" id="18"/>
            <p:cNvSpPr/>
            <p:nvPr/>
          </p:nvSpPr>
          <p:spPr>
            <a:xfrm flipH="false" flipV="false" rot="0">
              <a:off x="0" y="0"/>
              <a:ext cx="6883400" cy="1214120"/>
            </a:xfrm>
            <a:custGeom>
              <a:avLst/>
              <a:gdLst/>
              <a:ahLst/>
              <a:cxnLst/>
              <a:rect r="r" b="b" t="t" l="l"/>
              <a:pathLst>
                <a:path h="1214120" w="6883400">
                  <a:moveTo>
                    <a:pt x="0" y="168148"/>
                  </a:moveTo>
                  <a:cubicBezTo>
                    <a:pt x="0" y="75311"/>
                    <a:pt x="75311" y="0"/>
                    <a:pt x="168148" y="0"/>
                  </a:cubicBezTo>
                  <a:lnTo>
                    <a:pt x="6715252" y="0"/>
                  </a:lnTo>
                  <a:cubicBezTo>
                    <a:pt x="6808089" y="0"/>
                    <a:pt x="6883400" y="75311"/>
                    <a:pt x="6883400" y="168148"/>
                  </a:cubicBezTo>
                  <a:lnTo>
                    <a:pt x="6883400" y="1045972"/>
                  </a:lnTo>
                  <a:cubicBezTo>
                    <a:pt x="6883400" y="1138809"/>
                    <a:pt x="6808089" y="1214120"/>
                    <a:pt x="6715252" y="1214120"/>
                  </a:cubicBezTo>
                  <a:lnTo>
                    <a:pt x="168148" y="1214120"/>
                  </a:lnTo>
                  <a:cubicBezTo>
                    <a:pt x="75311" y="1214120"/>
                    <a:pt x="0" y="1138809"/>
                    <a:pt x="0" y="1045972"/>
                  </a:cubicBezTo>
                  <a:close/>
                </a:path>
              </a:pathLst>
            </a:custGeom>
            <a:solidFill>
              <a:srgbClr val="F4F7FC"/>
            </a:solidFill>
            <a:ln w="19050" cap="sq">
              <a:solidFill>
                <a:srgbClr val="D7DCEC"/>
              </a:solidFill>
              <a:prstDash val="solid"/>
              <a:miter/>
            </a:ln>
          </p:spPr>
        </p:sp>
      </p:grpSp>
      <p:grpSp>
        <p:nvGrpSpPr>
          <p:cNvPr name="Group 19" id="19"/>
          <p:cNvGrpSpPr/>
          <p:nvPr/>
        </p:nvGrpSpPr>
        <p:grpSpPr>
          <a:xfrm rot="0">
            <a:off x="960120" y="7200900"/>
            <a:ext cx="5143500" cy="589788"/>
            <a:chOff x="0" y="0"/>
            <a:chExt cx="6858000" cy="786384"/>
          </a:xfrm>
        </p:grpSpPr>
        <p:sp>
          <p:nvSpPr>
            <p:cNvPr name="Freeform 20" id="20"/>
            <p:cNvSpPr/>
            <p:nvPr/>
          </p:nvSpPr>
          <p:spPr>
            <a:xfrm flipH="false" flipV="false" rot="0">
              <a:off x="0" y="0"/>
              <a:ext cx="6858000" cy="786384"/>
            </a:xfrm>
            <a:custGeom>
              <a:avLst/>
              <a:gdLst/>
              <a:ahLst/>
              <a:cxnLst/>
              <a:rect r="r" b="b" t="t" l="l"/>
              <a:pathLst>
                <a:path h="786384" w="6858000">
                  <a:moveTo>
                    <a:pt x="0" y="0"/>
                  </a:moveTo>
                  <a:lnTo>
                    <a:pt x="6858000" y="0"/>
                  </a:lnTo>
                  <a:lnTo>
                    <a:pt x="6858000" y="786384"/>
                  </a:lnTo>
                  <a:lnTo>
                    <a:pt x="0" y="786384"/>
                  </a:lnTo>
                  <a:close/>
                </a:path>
              </a:pathLst>
            </a:custGeom>
            <a:blipFill>
              <a:blip r:embed="rId2">
                <a:alphaModFix amt="0"/>
              </a:blip>
              <a:stretch>
                <a:fillRect l="0" t="-119927" r="0" b="-119927"/>
              </a:stretch>
            </a:blipFill>
          </p:spPr>
        </p:sp>
        <p:sp>
          <p:nvSpPr>
            <p:cNvPr name="TextBox 21" id="21"/>
            <p:cNvSpPr txBox="true"/>
            <p:nvPr/>
          </p:nvSpPr>
          <p:spPr>
            <a:xfrm>
              <a:off x="0" y="-38100"/>
              <a:ext cx="6858000" cy="824484"/>
            </a:xfrm>
            <a:prstGeom prst="rect">
              <a:avLst/>
            </a:prstGeom>
          </p:spPr>
          <p:txBody>
            <a:bodyPr anchor="ctr" rtlCol="false" tIns="0" lIns="0" bIns="0" rIns="0"/>
            <a:lstStyle/>
            <a:p>
              <a:pPr algn="ctr">
                <a:lnSpc>
                  <a:spcPts val="2430"/>
                </a:lnSpc>
              </a:pPr>
              <a:r>
                <a:rPr lang="en-US" sz="2025">
                  <a:solidFill>
                    <a:srgbClr val="6B7280"/>
                  </a:solidFill>
                  <a:latin typeface="Calibri (MS)"/>
                  <a:ea typeface="Calibri (MS)"/>
                  <a:cs typeface="Calibri (MS)"/>
                  <a:sym typeface="Calibri (MS)"/>
                </a:rPr>
                <a:t>Govern</a:t>
              </a:r>
            </a:p>
          </p:txBody>
        </p:sp>
      </p:grpSp>
      <p:grpSp>
        <p:nvGrpSpPr>
          <p:cNvPr name="Group 22" id="22"/>
          <p:cNvGrpSpPr/>
          <p:nvPr/>
        </p:nvGrpSpPr>
        <p:grpSpPr>
          <a:xfrm rot="0">
            <a:off x="960120" y="7639812"/>
            <a:ext cx="5143500" cy="329184"/>
            <a:chOff x="0" y="0"/>
            <a:chExt cx="6858000" cy="438912"/>
          </a:xfrm>
        </p:grpSpPr>
        <p:sp>
          <p:nvSpPr>
            <p:cNvPr name="Freeform 23" id="23"/>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24" id="24"/>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9AA3B8"/>
                  </a:solidFill>
                  <a:latin typeface="Arimo"/>
                  <a:ea typeface="Arimo"/>
                  <a:cs typeface="Arimo"/>
                  <a:sym typeface="Arimo"/>
                </a:rPr>
                <a:t>GV</a:t>
              </a:r>
            </a:p>
          </p:txBody>
        </p:sp>
      </p:grpSp>
      <p:grpSp>
        <p:nvGrpSpPr>
          <p:cNvPr name="Group 25" id="25"/>
          <p:cNvGrpSpPr/>
          <p:nvPr/>
        </p:nvGrpSpPr>
        <p:grpSpPr>
          <a:xfrm rot="0">
            <a:off x="6533007" y="7122795"/>
            <a:ext cx="5162550" cy="910590"/>
            <a:chOff x="0" y="0"/>
            <a:chExt cx="6883400" cy="1214120"/>
          </a:xfrm>
        </p:grpSpPr>
        <p:sp>
          <p:nvSpPr>
            <p:cNvPr name="Freeform 26" id="26"/>
            <p:cNvSpPr/>
            <p:nvPr/>
          </p:nvSpPr>
          <p:spPr>
            <a:xfrm flipH="false" flipV="false" rot="0">
              <a:off x="0" y="0"/>
              <a:ext cx="6883400" cy="1214120"/>
            </a:xfrm>
            <a:custGeom>
              <a:avLst/>
              <a:gdLst/>
              <a:ahLst/>
              <a:cxnLst/>
              <a:rect r="r" b="b" t="t" l="l"/>
              <a:pathLst>
                <a:path h="1214120" w="6883400">
                  <a:moveTo>
                    <a:pt x="0" y="168148"/>
                  </a:moveTo>
                  <a:cubicBezTo>
                    <a:pt x="0" y="75311"/>
                    <a:pt x="75311" y="0"/>
                    <a:pt x="168148" y="0"/>
                  </a:cubicBezTo>
                  <a:lnTo>
                    <a:pt x="6715252" y="0"/>
                  </a:lnTo>
                  <a:cubicBezTo>
                    <a:pt x="6808089" y="0"/>
                    <a:pt x="6883400" y="75311"/>
                    <a:pt x="6883400" y="168148"/>
                  </a:cubicBezTo>
                  <a:lnTo>
                    <a:pt x="6883400" y="1045972"/>
                  </a:lnTo>
                  <a:cubicBezTo>
                    <a:pt x="6883400" y="1138809"/>
                    <a:pt x="6808089" y="1214120"/>
                    <a:pt x="6715252" y="1214120"/>
                  </a:cubicBezTo>
                  <a:lnTo>
                    <a:pt x="168148" y="1214120"/>
                  </a:lnTo>
                  <a:cubicBezTo>
                    <a:pt x="75311" y="1214120"/>
                    <a:pt x="0" y="1138809"/>
                    <a:pt x="0" y="1045972"/>
                  </a:cubicBezTo>
                  <a:close/>
                </a:path>
              </a:pathLst>
            </a:custGeom>
            <a:solidFill>
              <a:srgbClr val="F4F7FC"/>
            </a:solidFill>
            <a:ln w="19050" cap="sq">
              <a:solidFill>
                <a:srgbClr val="D7DCEC"/>
              </a:solidFill>
              <a:prstDash val="solid"/>
              <a:miter/>
            </a:ln>
          </p:spPr>
        </p:sp>
      </p:grpSp>
      <p:grpSp>
        <p:nvGrpSpPr>
          <p:cNvPr name="Group 27" id="27"/>
          <p:cNvGrpSpPr/>
          <p:nvPr/>
        </p:nvGrpSpPr>
        <p:grpSpPr>
          <a:xfrm rot="0">
            <a:off x="6542532" y="7200900"/>
            <a:ext cx="5143500" cy="589788"/>
            <a:chOff x="0" y="0"/>
            <a:chExt cx="6858000" cy="786384"/>
          </a:xfrm>
        </p:grpSpPr>
        <p:sp>
          <p:nvSpPr>
            <p:cNvPr name="Freeform 28" id="28"/>
            <p:cNvSpPr/>
            <p:nvPr/>
          </p:nvSpPr>
          <p:spPr>
            <a:xfrm flipH="false" flipV="false" rot="0">
              <a:off x="0" y="0"/>
              <a:ext cx="6858000" cy="786384"/>
            </a:xfrm>
            <a:custGeom>
              <a:avLst/>
              <a:gdLst/>
              <a:ahLst/>
              <a:cxnLst/>
              <a:rect r="r" b="b" t="t" l="l"/>
              <a:pathLst>
                <a:path h="786384" w="6858000">
                  <a:moveTo>
                    <a:pt x="0" y="0"/>
                  </a:moveTo>
                  <a:lnTo>
                    <a:pt x="6858000" y="0"/>
                  </a:lnTo>
                  <a:lnTo>
                    <a:pt x="6858000" y="786384"/>
                  </a:lnTo>
                  <a:lnTo>
                    <a:pt x="0" y="786384"/>
                  </a:lnTo>
                  <a:close/>
                </a:path>
              </a:pathLst>
            </a:custGeom>
            <a:blipFill>
              <a:blip r:embed="rId2">
                <a:alphaModFix amt="0"/>
              </a:blip>
              <a:stretch>
                <a:fillRect l="0" t="-119927" r="0" b="-119927"/>
              </a:stretch>
            </a:blipFill>
          </p:spPr>
        </p:sp>
        <p:sp>
          <p:nvSpPr>
            <p:cNvPr name="TextBox 29" id="29"/>
            <p:cNvSpPr txBox="true"/>
            <p:nvPr/>
          </p:nvSpPr>
          <p:spPr>
            <a:xfrm>
              <a:off x="0" y="-38100"/>
              <a:ext cx="6858000" cy="824484"/>
            </a:xfrm>
            <a:prstGeom prst="rect">
              <a:avLst/>
            </a:prstGeom>
          </p:spPr>
          <p:txBody>
            <a:bodyPr anchor="ctr" rtlCol="false" tIns="0" lIns="0" bIns="0" rIns="0"/>
            <a:lstStyle/>
            <a:p>
              <a:pPr algn="ctr">
                <a:lnSpc>
                  <a:spcPts val="2430"/>
                </a:lnSpc>
              </a:pPr>
              <a:r>
                <a:rPr lang="en-US" sz="2025">
                  <a:solidFill>
                    <a:srgbClr val="6B7280"/>
                  </a:solidFill>
                  <a:latin typeface="Calibri (MS)"/>
                  <a:ea typeface="Calibri (MS)"/>
                  <a:cs typeface="Calibri (MS)"/>
                  <a:sym typeface="Calibri (MS)"/>
                </a:rPr>
                <a:t>Identify</a:t>
              </a:r>
            </a:p>
          </p:txBody>
        </p:sp>
      </p:grpSp>
      <p:grpSp>
        <p:nvGrpSpPr>
          <p:cNvPr name="Group 30" id="30"/>
          <p:cNvGrpSpPr/>
          <p:nvPr/>
        </p:nvGrpSpPr>
        <p:grpSpPr>
          <a:xfrm rot="0">
            <a:off x="6542532" y="7639812"/>
            <a:ext cx="5143500" cy="329184"/>
            <a:chOff x="0" y="0"/>
            <a:chExt cx="6858000" cy="438912"/>
          </a:xfrm>
        </p:grpSpPr>
        <p:sp>
          <p:nvSpPr>
            <p:cNvPr name="Freeform 31" id="31"/>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32" id="32"/>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9AA3B8"/>
                  </a:solidFill>
                  <a:latin typeface="Arimo"/>
                  <a:ea typeface="Arimo"/>
                  <a:cs typeface="Arimo"/>
                  <a:sym typeface="Arimo"/>
                </a:rPr>
                <a:t>ID</a:t>
              </a:r>
            </a:p>
          </p:txBody>
        </p:sp>
      </p:grpSp>
      <p:grpSp>
        <p:nvGrpSpPr>
          <p:cNvPr name="Group 33" id="33"/>
          <p:cNvGrpSpPr/>
          <p:nvPr/>
        </p:nvGrpSpPr>
        <p:grpSpPr>
          <a:xfrm rot="0">
            <a:off x="12115419" y="7122795"/>
            <a:ext cx="5162550" cy="910590"/>
            <a:chOff x="0" y="0"/>
            <a:chExt cx="6883400" cy="1214120"/>
          </a:xfrm>
        </p:grpSpPr>
        <p:sp>
          <p:nvSpPr>
            <p:cNvPr name="Freeform 34" id="34"/>
            <p:cNvSpPr/>
            <p:nvPr/>
          </p:nvSpPr>
          <p:spPr>
            <a:xfrm flipH="false" flipV="false" rot="0">
              <a:off x="0" y="0"/>
              <a:ext cx="6883400" cy="1214120"/>
            </a:xfrm>
            <a:custGeom>
              <a:avLst/>
              <a:gdLst/>
              <a:ahLst/>
              <a:cxnLst/>
              <a:rect r="r" b="b" t="t" l="l"/>
              <a:pathLst>
                <a:path h="1214120" w="6883400">
                  <a:moveTo>
                    <a:pt x="0" y="168148"/>
                  </a:moveTo>
                  <a:cubicBezTo>
                    <a:pt x="0" y="75311"/>
                    <a:pt x="75311" y="0"/>
                    <a:pt x="168148" y="0"/>
                  </a:cubicBezTo>
                  <a:lnTo>
                    <a:pt x="6715252" y="0"/>
                  </a:lnTo>
                  <a:cubicBezTo>
                    <a:pt x="6808089" y="0"/>
                    <a:pt x="6883400" y="75311"/>
                    <a:pt x="6883400" y="168148"/>
                  </a:cubicBezTo>
                  <a:lnTo>
                    <a:pt x="6883400" y="1045972"/>
                  </a:lnTo>
                  <a:cubicBezTo>
                    <a:pt x="6883400" y="1138809"/>
                    <a:pt x="6808089" y="1214120"/>
                    <a:pt x="6715252" y="1214120"/>
                  </a:cubicBezTo>
                  <a:lnTo>
                    <a:pt x="168148" y="1214120"/>
                  </a:lnTo>
                  <a:cubicBezTo>
                    <a:pt x="75311" y="1214120"/>
                    <a:pt x="0" y="1138809"/>
                    <a:pt x="0" y="1045972"/>
                  </a:cubicBezTo>
                  <a:close/>
                </a:path>
              </a:pathLst>
            </a:custGeom>
            <a:solidFill>
              <a:srgbClr val="F4F7FC"/>
            </a:solidFill>
            <a:ln w="19050" cap="sq">
              <a:solidFill>
                <a:srgbClr val="D7DCEC"/>
              </a:solidFill>
              <a:prstDash val="solid"/>
              <a:miter/>
            </a:ln>
          </p:spPr>
        </p:sp>
      </p:grpSp>
      <p:grpSp>
        <p:nvGrpSpPr>
          <p:cNvPr name="Group 35" id="35"/>
          <p:cNvGrpSpPr/>
          <p:nvPr/>
        </p:nvGrpSpPr>
        <p:grpSpPr>
          <a:xfrm rot="0">
            <a:off x="12124944" y="7200900"/>
            <a:ext cx="5143500" cy="589788"/>
            <a:chOff x="0" y="0"/>
            <a:chExt cx="6858000" cy="786384"/>
          </a:xfrm>
        </p:grpSpPr>
        <p:sp>
          <p:nvSpPr>
            <p:cNvPr name="Freeform 36" id="36"/>
            <p:cNvSpPr/>
            <p:nvPr/>
          </p:nvSpPr>
          <p:spPr>
            <a:xfrm flipH="false" flipV="false" rot="0">
              <a:off x="0" y="0"/>
              <a:ext cx="6858000" cy="786384"/>
            </a:xfrm>
            <a:custGeom>
              <a:avLst/>
              <a:gdLst/>
              <a:ahLst/>
              <a:cxnLst/>
              <a:rect r="r" b="b" t="t" l="l"/>
              <a:pathLst>
                <a:path h="786384" w="6858000">
                  <a:moveTo>
                    <a:pt x="0" y="0"/>
                  </a:moveTo>
                  <a:lnTo>
                    <a:pt x="6858000" y="0"/>
                  </a:lnTo>
                  <a:lnTo>
                    <a:pt x="6858000" y="786384"/>
                  </a:lnTo>
                  <a:lnTo>
                    <a:pt x="0" y="786384"/>
                  </a:lnTo>
                  <a:close/>
                </a:path>
              </a:pathLst>
            </a:custGeom>
            <a:blipFill>
              <a:blip r:embed="rId2">
                <a:alphaModFix amt="0"/>
              </a:blip>
              <a:stretch>
                <a:fillRect l="0" t="-119927" r="0" b="-119927"/>
              </a:stretch>
            </a:blipFill>
          </p:spPr>
        </p:sp>
        <p:sp>
          <p:nvSpPr>
            <p:cNvPr name="TextBox 37" id="37"/>
            <p:cNvSpPr txBox="true"/>
            <p:nvPr/>
          </p:nvSpPr>
          <p:spPr>
            <a:xfrm>
              <a:off x="0" y="-38100"/>
              <a:ext cx="6858000" cy="824484"/>
            </a:xfrm>
            <a:prstGeom prst="rect">
              <a:avLst/>
            </a:prstGeom>
          </p:spPr>
          <p:txBody>
            <a:bodyPr anchor="ctr" rtlCol="false" tIns="0" lIns="0" bIns="0" rIns="0"/>
            <a:lstStyle/>
            <a:p>
              <a:pPr algn="ctr">
                <a:lnSpc>
                  <a:spcPts val="2430"/>
                </a:lnSpc>
              </a:pPr>
              <a:r>
                <a:rPr lang="en-US" sz="2025">
                  <a:solidFill>
                    <a:srgbClr val="6B7280"/>
                  </a:solidFill>
                  <a:latin typeface="Calibri (MS)"/>
                  <a:ea typeface="Calibri (MS)"/>
                  <a:cs typeface="Calibri (MS)"/>
                  <a:sym typeface="Calibri (MS)"/>
                </a:rPr>
                <a:t>Protect</a:t>
              </a:r>
            </a:p>
          </p:txBody>
        </p:sp>
      </p:grpSp>
      <p:grpSp>
        <p:nvGrpSpPr>
          <p:cNvPr name="Group 38" id="38"/>
          <p:cNvGrpSpPr/>
          <p:nvPr/>
        </p:nvGrpSpPr>
        <p:grpSpPr>
          <a:xfrm rot="0">
            <a:off x="12124944" y="7639812"/>
            <a:ext cx="5143500" cy="329184"/>
            <a:chOff x="0" y="0"/>
            <a:chExt cx="6858000" cy="438912"/>
          </a:xfrm>
        </p:grpSpPr>
        <p:sp>
          <p:nvSpPr>
            <p:cNvPr name="Freeform 39" id="39"/>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40" id="40"/>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9AA3B8"/>
                  </a:solidFill>
                  <a:latin typeface="Arimo"/>
                  <a:ea typeface="Arimo"/>
                  <a:cs typeface="Arimo"/>
                  <a:sym typeface="Arimo"/>
                </a:rPr>
                <a:t>PR</a:t>
              </a:r>
            </a:p>
          </p:txBody>
        </p:sp>
      </p:grpSp>
      <p:grpSp>
        <p:nvGrpSpPr>
          <p:cNvPr name="Group 41" id="41"/>
          <p:cNvGrpSpPr/>
          <p:nvPr/>
        </p:nvGrpSpPr>
        <p:grpSpPr>
          <a:xfrm rot="0">
            <a:off x="950595" y="8288655"/>
            <a:ext cx="5162550" cy="910590"/>
            <a:chOff x="0" y="0"/>
            <a:chExt cx="6883400" cy="1214120"/>
          </a:xfrm>
        </p:grpSpPr>
        <p:sp>
          <p:nvSpPr>
            <p:cNvPr name="Freeform 42" id="42"/>
            <p:cNvSpPr/>
            <p:nvPr/>
          </p:nvSpPr>
          <p:spPr>
            <a:xfrm flipH="false" flipV="false" rot="0">
              <a:off x="0" y="0"/>
              <a:ext cx="6883400" cy="1214120"/>
            </a:xfrm>
            <a:custGeom>
              <a:avLst/>
              <a:gdLst/>
              <a:ahLst/>
              <a:cxnLst/>
              <a:rect r="r" b="b" t="t" l="l"/>
              <a:pathLst>
                <a:path h="1214120" w="6883400">
                  <a:moveTo>
                    <a:pt x="0" y="168148"/>
                  </a:moveTo>
                  <a:cubicBezTo>
                    <a:pt x="0" y="75311"/>
                    <a:pt x="75311" y="0"/>
                    <a:pt x="168148" y="0"/>
                  </a:cubicBezTo>
                  <a:lnTo>
                    <a:pt x="6715252" y="0"/>
                  </a:lnTo>
                  <a:cubicBezTo>
                    <a:pt x="6808089" y="0"/>
                    <a:pt x="6883400" y="75311"/>
                    <a:pt x="6883400" y="168148"/>
                  </a:cubicBezTo>
                  <a:lnTo>
                    <a:pt x="6883400" y="1045972"/>
                  </a:lnTo>
                  <a:cubicBezTo>
                    <a:pt x="6883400" y="1138809"/>
                    <a:pt x="6808089" y="1214120"/>
                    <a:pt x="6715252" y="1214120"/>
                  </a:cubicBezTo>
                  <a:lnTo>
                    <a:pt x="168148" y="1214120"/>
                  </a:lnTo>
                  <a:cubicBezTo>
                    <a:pt x="75311" y="1214120"/>
                    <a:pt x="0" y="1138809"/>
                    <a:pt x="0" y="1045972"/>
                  </a:cubicBezTo>
                  <a:close/>
                </a:path>
              </a:pathLst>
            </a:custGeom>
            <a:solidFill>
              <a:srgbClr val="F4F7FC"/>
            </a:solidFill>
            <a:ln w="19050" cap="sq">
              <a:solidFill>
                <a:srgbClr val="D7DCEC"/>
              </a:solidFill>
              <a:prstDash val="solid"/>
              <a:miter/>
            </a:ln>
          </p:spPr>
        </p:sp>
      </p:grpSp>
      <p:grpSp>
        <p:nvGrpSpPr>
          <p:cNvPr name="Group 43" id="43"/>
          <p:cNvGrpSpPr/>
          <p:nvPr/>
        </p:nvGrpSpPr>
        <p:grpSpPr>
          <a:xfrm rot="0">
            <a:off x="960120" y="8366760"/>
            <a:ext cx="5143500" cy="589788"/>
            <a:chOff x="0" y="0"/>
            <a:chExt cx="6858000" cy="786384"/>
          </a:xfrm>
        </p:grpSpPr>
        <p:sp>
          <p:nvSpPr>
            <p:cNvPr name="Freeform 44" id="44"/>
            <p:cNvSpPr/>
            <p:nvPr/>
          </p:nvSpPr>
          <p:spPr>
            <a:xfrm flipH="false" flipV="false" rot="0">
              <a:off x="0" y="0"/>
              <a:ext cx="6858000" cy="786384"/>
            </a:xfrm>
            <a:custGeom>
              <a:avLst/>
              <a:gdLst/>
              <a:ahLst/>
              <a:cxnLst/>
              <a:rect r="r" b="b" t="t" l="l"/>
              <a:pathLst>
                <a:path h="786384" w="6858000">
                  <a:moveTo>
                    <a:pt x="0" y="0"/>
                  </a:moveTo>
                  <a:lnTo>
                    <a:pt x="6858000" y="0"/>
                  </a:lnTo>
                  <a:lnTo>
                    <a:pt x="6858000" y="786384"/>
                  </a:lnTo>
                  <a:lnTo>
                    <a:pt x="0" y="786384"/>
                  </a:lnTo>
                  <a:close/>
                </a:path>
              </a:pathLst>
            </a:custGeom>
            <a:blipFill>
              <a:blip r:embed="rId2">
                <a:alphaModFix amt="0"/>
              </a:blip>
              <a:stretch>
                <a:fillRect l="0" t="-119927" r="0" b="-119927"/>
              </a:stretch>
            </a:blipFill>
          </p:spPr>
        </p:sp>
        <p:sp>
          <p:nvSpPr>
            <p:cNvPr name="TextBox 45" id="45"/>
            <p:cNvSpPr txBox="true"/>
            <p:nvPr/>
          </p:nvSpPr>
          <p:spPr>
            <a:xfrm>
              <a:off x="0" y="-38100"/>
              <a:ext cx="6858000" cy="824484"/>
            </a:xfrm>
            <a:prstGeom prst="rect">
              <a:avLst/>
            </a:prstGeom>
          </p:spPr>
          <p:txBody>
            <a:bodyPr anchor="ctr" rtlCol="false" tIns="0" lIns="0" bIns="0" rIns="0"/>
            <a:lstStyle/>
            <a:p>
              <a:pPr algn="ctr">
                <a:lnSpc>
                  <a:spcPts val="2430"/>
                </a:lnSpc>
              </a:pPr>
              <a:r>
                <a:rPr lang="en-US" sz="2025">
                  <a:solidFill>
                    <a:srgbClr val="6B7280"/>
                  </a:solidFill>
                  <a:latin typeface="Calibri (MS)"/>
                  <a:ea typeface="Calibri (MS)"/>
                  <a:cs typeface="Calibri (MS)"/>
                  <a:sym typeface="Calibri (MS)"/>
                </a:rPr>
                <a:t>Detect</a:t>
              </a:r>
            </a:p>
          </p:txBody>
        </p:sp>
      </p:grpSp>
      <p:grpSp>
        <p:nvGrpSpPr>
          <p:cNvPr name="Group 46" id="46"/>
          <p:cNvGrpSpPr/>
          <p:nvPr/>
        </p:nvGrpSpPr>
        <p:grpSpPr>
          <a:xfrm rot="0">
            <a:off x="960120" y="8805672"/>
            <a:ext cx="5143500" cy="329184"/>
            <a:chOff x="0" y="0"/>
            <a:chExt cx="6858000" cy="438912"/>
          </a:xfrm>
        </p:grpSpPr>
        <p:sp>
          <p:nvSpPr>
            <p:cNvPr name="Freeform 47" id="47"/>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48" id="48"/>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9AA3B8"/>
                  </a:solidFill>
                  <a:latin typeface="Arimo"/>
                  <a:ea typeface="Arimo"/>
                  <a:cs typeface="Arimo"/>
                  <a:sym typeface="Arimo"/>
                </a:rPr>
                <a:t>DE</a:t>
              </a:r>
            </a:p>
          </p:txBody>
        </p:sp>
      </p:grpSp>
      <p:grpSp>
        <p:nvGrpSpPr>
          <p:cNvPr name="Group 49" id="49"/>
          <p:cNvGrpSpPr/>
          <p:nvPr/>
        </p:nvGrpSpPr>
        <p:grpSpPr>
          <a:xfrm rot="0">
            <a:off x="6533007" y="8288655"/>
            <a:ext cx="5162550" cy="910590"/>
            <a:chOff x="0" y="0"/>
            <a:chExt cx="6883400" cy="1214120"/>
          </a:xfrm>
        </p:grpSpPr>
        <p:sp>
          <p:nvSpPr>
            <p:cNvPr name="Freeform 50" id="50"/>
            <p:cNvSpPr/>
            <p:nvPr/>
          </p:nvSpPr>
          <p:spPr>
            <a:xfrm flipH="false" flipV="false" rot="0">
              <a:off x="0" y="0"/>
              <a:ext cx="6883400" cy="1214120"/>
            </a:xfrm>
            <a:custGeom>
              <a:avLst/>
              <a:gdLst/>
              <a:ahLst/>
              <a:cxnLst/>
              <a:rect r="r" b="b" t="t" l="l"/>
              <a:pathLst>
                <a:path h="1214120" w="6883400">
                  <a:moveTo>
                    <a:pt x="0" y="168148"/>
                  </a:moveTo>
                  <a:cubicBezTo>
                    <a:pt x="0" y="75311"/>
                    <a:pt x="75311" y="0"/>
                    <a:pt x="168148" y="0"/>
                  </a:cubicBezTo>
                  <a:lnTo>
                    <a:pt x="6715252" y="0"/>
                  </a:lnTo>
                  <a:cubicBezTo>
                    <a:pt x="6808089" y="0"/>
                    <a:pt x="6883400" y="75311"/>
                    <a:pt x="6883400" y="168148"/>
                  </a:cubicBezTo>
                  <a:lnTo>
                    <a:pt x="6883400" y="1045972"/>
                  </a:lnTo>
                  <a:cubicBezTo>
                    <a:pt x="6883400" y="1138809"/>
                    <a:pt x="6808089" y="1214120"/>
                    <a:pt x="6715252" y="1214120"/>
                  </a:cubicBezTo>
                  <a:lnTo>
                    <a:pt x="168148" y="1214120"/>
                  </a:lnTo>
                  <a:cubicBezTo>
                    <a:pt x="75311" y="1214120"/>
                    <a:pt x="0" y="1138809"/>
                    <a:pt x="0" y="1045972"/>
                  </a:cubicBezTo>
                  <a:close/>
                </a:path>
              </a:pathLst>
            </a:custGeom>
            <a:solidFill>
              <a:srgbClr val="F4F7FC"/>
            </a:solidFill>
            <a:ln w="19050" cap="sq">
              <a:solidFill>
                <a:srgbClr val="D7DCEC"/>
              </a:solidFill>
              <a:prstDash val="solid"/>
              <a:miter/>
            </a:ln>
          </p:spPr>
        </p:sp>
      </p:grpSp>
      <p:grpSp>
        <p:nvGrpSpPr>
          <p:cNvPr name="Group 51" id="51"/>
          <p:cNvGrpSpPr/>
          <p:nvPr/>
        </p:nvGrpSpPr>
        <p:grpSpPr>
          <a:xfrm rot="0">
            <a:off x="6542532" y="8366760"/>
            <a:ext cx="5143500" cy="589788"/>
            <a:chOff x="0" y="0"/>
            <a:chExt cx="6858000" cy="786384"/>
          </a:xfrm>
        </p:grpSpPr>
        <p:sp>
          <p:nvSpPr>
            <p:cNvPr name="Freeform 52" id="52"/>
            <p:cNvSpPr/>
            <p:nvPr/>
          </p:nvSpPr>
          <p:spPr>
            <a:xfrm flipH="false" flipV="false" rot="0">
              <a:off x="0" y="0"/>
              <a:ext cx="6858000" cy="786384"/>
            </a:xfrm>
            <a:custGeom>
              <a:avLst/>
              <a:gdLst/>
              <a:ahLst/>
              <a:cxnLst/>
              <a:rect r="r" b="b" t="t" l="l"/>
              <a:pathLst>
                <a:path h="786384" w="6858000">
                  <a:moveTo>
                    <a:pt x="0" y="0"/>
                  </a:moveTo>
                  <a:lnTo>
                    <a:pt x="6858000" y="0"/>
                  </a:lnTo>
                  <a:lnTo>
                    <a:pt x="6858000" y="786384"/>
                  </a:lnTo>
                  <a:lnTo>
                    <a:pt x="0" y="786384"/>
                  </a:lnTo>
                  <a:close/>
                </a:path>
              </a:pathLst>
            </a:custGeom>
            <a:blipFill>
              <a:blip r:embed="rId2">
                <a:alphaModFix amt="0"/>
              </a:blip>
              <a:stretch>
                <a:fillRect l="0" t="-119927" r="0" b="-119927"/>
              </a:stretch>
            </a:blipFill>
          </p:spPr>
        </p:sp>
        <p:sp>
          <p:nvSpPr>
            <p:cNvPr name="TextBox 53" id="53"/>
            <p:cNvSpPr txBox="true"/>
            <p:nvPr/>
          </p:nvSpPr>
          <p:spPr>
            <a:xfrm>
              <a:off x="0" y="-38100"/>
              <a:ext cx="6858000" cy="824484"/>
            </a:xfrm>
            <a:prstGeom prst="rect">
              <a:avLst/>
            </a:prstGeom>
          </p:spPr>
          <p:txBody>
            <a:bodyPr anchor="ctr" rtlCol="false" tIns="0" lIns="0" bIns="0" rIns="0"/>
            <a:lstStyle/>
            <a:p>
              <a:pPr algn="ctr">
                <a:lnSpc>
                  <a:spcPts val="2430"/>
                </a:lnSpc>
              </a:pPr>
              <a:r>
                <a:rPr lang="en-US" sz="2025">
                  <a:solidFill>
                    <a:srgbClr val="6B7280"/>
                  </a:solidFill>
                  <a:latin typeface="Calibri (MS)"/>
                  <a:ea typeface="Calibri (MS)"/>
                  <a:cs typeface="Calibri (MS)"/>
                  <a:sym typeface="Calibri (MS)"/>
                </a:rPr>
                <a:t>Respond</a:t>
              </a:r>
            </a:p>
          </p:txBody>
        </p:sp>
      </p:grpSp>
      <p:grpSp>
        <p:nvGrpSpPr>
          <p:cNvPr name="Group 54" id="54"/>
          <p:cNvGrpSpPr/>
          <p:nvPr/>
        </p:nvGrpSpPr>
        <p:grpSpPr>
          <a:xfrm rot="0">
            <a:off x="6542532" y="8805672"/>
            <a:ext cx="5143500" cy="329184"/>
            <a:chOff x="0" y="0"/>
            <a:chExt cx="6858000" cy="438912"/>
          </a:xfrm>
        </p:grpSpPr>
        <p:sp>
          <p:nvSpPr>
            <p:cNvPr name="Freeform 55" id="55"/>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56" id="56"/>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9AA3B8"/>
                  </a:solidFill>
                  <a:latin typeface="Arimo"/>
                  <a:ea typeface="Arimo"/>
                  <a:cs typeface="Arimo"/>
                  <a:sym typeface="Arimo"/>
                </a:rPr>
                <a:t>RS</a:t>
              </a:r>
            </a:p>
          </p:txBody>
        </p:sp>
      </p:grpSp>
      <p:grpSp>
        <p:nvGrpSpPr>
          <p:cNvPr name="Group 57" id="57"/>
          <p:cNvGrpSpPr/>
          <p:nvPr/>
        </p:nvGrpSpPr>
        <p:grpSpPr>
          <a:xfrm rot="0">
            <a:off x="12115419" y="8288655"/>
            <a:ext cx="5162550" cy="910590"/>
            <a:chOff x="0" y="0"/>
            <a:chExt cx="6883400" cy="1214120"/>
          </a:xfrm>
        </p:grpSpPr>
        <p:sp>
          <p:nvSpPr>
            <p:cNvPr name="Freeform 58" id="58"/>
            <p:cNvSpPr/>
            <p:nvPr/>
          </p:nvSpPr>
          <p:spPr>
            <a:xfrm flipH="false" flipV="false" rot="0">
              <a:off x="0" y="0"/>
              <a:ext cx="6883400" cy="1214120"/>
            </a:xfrm>
            <a:custGeom>
              <a:avLst/>
              <a:gdLst/>
              <a:ahLst/>
              <a:cxnLst/>
              <a:rect r="r" b="b" t="t" l="l"/>
              <a:pathLst>
                <a:path h="1214120" w="6883400">
                  <a:moveTo>
                    <a:pt x="0" y="168148"/>
                  </a:moveTo>
                  <a:cubicBezTo>
                    <a:pt x="0" y="75311"/>
                    <a:pt x="75311" y="0"/>
                    <a:pt x="168148" y="0"/>
                  </a:cubicBezTo>
                  <a:lnTo>
                    <a:pt x="6715252" y="0"/>
                  </a:lnTo>
                  <a:cubicBezTo>
                    <a:pt x="6808089" y="0"/>
                    <a:pt x="6883400" y="75311"/>
                    <a:pt x="6883400" y="168148"/>
                  </a:cubicBezTo>
                  <a:lnTo>
                    <a:pt x="6883400" y="1045972"/>
                  </a:lnTo>
                  <a:cubicBezTo>
                    <a:pt x="6883400" y="1138809"/>
                    <a:pt x="6808089" y="1214120"/>
                    <a:pt x="6715252" y="1214120"/>
                  </a:cubicBezTo>
                  <a:lnTo>
                    <a:pt x="168148" y="1214120"/>
                  </a:lnTo>
                  <a:cubicBezTo>
                    <a:pt x="75311" y="1214120"/>
                    <a:pt x="0" y="1138809"/>
                    <a:pt x="0" y="1045972"/>
                  </a:cubicBezTo>
                  <a:close/>
                </a:path>
              </a:pathLst>
            </a:custGeom>
            <a:solidFill>
              <a:srgbClr val="F4F7FC"/>
            </a:solidFill>
            <a:ln w="19050" cap="sq">
              <a:solidFill>
                <a:srgbClr val="D7DCEC"/>
              </a:solidFill>
              <a:prstDash val="solid"/>
              <a:miter/>
            </a:ln>
          </p:spPr>
        </p:sp>
      </p:grpSp>
      <p:grpSp>
        <p:nvGrpSpPr>
          <p:cNvPr name="Group 59" id="59"/>
          <p:cNvGrpSpPr/>
          <p:nvPr/>
        </p:nvGrpSpPr>
        <p:grpSpPr>
          <a:xfrm rot="0">
            <a:off x="12124944" y="8366760"/>
            <a:ext cx="5143500" cy="589788"/>
            <a:chOff x="0" y="0"/>
            <a:chExt cx="6858000" cy="786384"/>
          </a:xfrm>
        </p:grpSpPr>
        <p:sp>
          <p:nvSpPr>
            <p:cNvPr name="Freeform 60" id="60"/>
            <p:cNvSpPr/>
            <p:nvPr/>
          </p:nvSpPr>
          <p:spPr>
            <a:xfrm flipH="false" flipV="false" rot="0">
              <a:off x="0" y="0"/>
              <a:ext cx="6858000" cy="786384"/>
            </a:xfrm>
            <a:custGeom>
              <a:avLst/>
              <a:gdLst/>
              <a:ahLst/>
              <a:cxnLst/>
              <a:rect r="r" b="b" t="t" l="l"/>
              <a:pathLst>
                <a:path h="786384" w="6858000">
                  <a:moveTo>
                    <a:pt x="0" y="0"/>
                  </a:moveTo>
                  <a:lnTo>
                    <a:pt x="6858000" y="0"/>
                  </a:lnTo>
                  <a:lnTo>
                    <a:pt x="6858000" y="786384"/>
                  </a:lnTo>
                  <a:lnTo>
                    <a:pt x="0" y="786384"/>
                  </a:lnTo>
                  <a:close/>
                </a:path>
              </a:pathLst>
            </a:custGeom>
            <a:blipFill>
              <a:blip r:embed="rId2">
                <a:alphaModFix amt="0"/>
              </a:blip>
              <a:stretch>
                <a:fillRect l="0" t="-119927" r="0" b="-119927"/>
              </a:stretch>
            </a:blipFill>
          </p:spPr>
        </p:sp>
        <p:sp>
          <p:nvSpPr>
            <p:cNvPr name="TextBox 61" id="61"/>
            <p:cNvSpPr txBox="true"/>
            <p:nvPr/>
          </p:nvSpPr>
          <p:spPr>
            <a:xfrm>
              <a:off x="0" y="-38100"/>
              <a:ext cx="6858000" cy="824484"/>
            </a:xfrm>
            <a:prstGeom prst="rect">
              <a:avLst/>
            </a:prstGeom>
          </p:spPr>
          <p:txBody>
            <a:bodyPr anchor="ctr" rtlCol="false" tIns="0" lIns="0" bIns="0" rIns="0"/>
            <a:lstStyle/>
            <a:p>
              <a:pPr algn="ctr">
                <a:lnSpc>
                  <a:spcPts val="2430"/>
                </a:lnSpc>
              </a:pPr>
              <a:r>
                <a:rPr lang="en-US" sz="2025">
                  <a:solidFill>
                    <a:srgbClr val="6B7280"/>
                  </a:solidFill>
                  <a:latin typeface="Calibri (MS)"/>
                  <a:ea typeface="Calibri (MS)"/>
                  <a:cs typeface="Calibri (MS)"/>
                  <a:sym typeface="Calibri (MS)"/>
                </a:rPr>
                <a:t>Recover</a:t>
              </a:r>
            </a:p>
          </p:txBody>
        </p:sp>
      </p:grpSp>
      <p:grpSp>
        <p:nvGrpSpPr>
          <p:cNvPr name="Group 62" id="62"/>
          <p:cNvGrpSpPr/>
          <p:nvPr/>
        </p:nvGrpSpPr>
        <p:grpSpPr>
          <a:xfrm rot="0">
            <a:off x="12124944" y="8805672"/>
            <a:ext cx="5143500" cy="329184"/>
            <a:chOff x="0" y="0"/>
            <a:chExt cx="6858000" cy="438912"/>
          </a:xfrm>
        </p:grpSpPr>
        <p:sp>
          <p:nvSpPr>
            <p:cNvPr name="Freeform 63" id="63"/>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64" id="64"/>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9AA3B8"/>
                  </a:solidFill>
                  <a:latin typeface="Arimo"/>
                  <a:ea typeface="Arimo"/>
                  <a:cs typeface="Arimo"/>
                  <a:sym typeface="Arimo"/>
                </a:rPr>
                <a:t>RC</a:t>
              </a:r>
            </a:p>
          </p:txBody>
        </p:sp>
      </p:grpSp>
      <p:grpSp>
        <p:nvGrpSpPr>
          <p:cNvPr name="Group 65" id="65"/>
          <p:cNvGrpSpPr/>
          <p:nvPr/>
        </p:nvGrpSpPr>
        <p:grpSpPr>
          <a:xfrm rot="0">
            <a:off x="685800" y="9710928"/>
            <a:ext cx="10972800" cy="411480"/>
            <a:chOff x="0" y="0"/>
            <a:chExt cx="14630400" cy="548640"/>
          </a:xfrm>
        </p:grpSpPr>
        <p:sp>
          <p:nvSpPr>
            <p:cNvPr name="Freeform 66" id="66"/>
            <p:cNvSpPr/>
            <p:nvPr/>
          </p:nvSpPr>
          <p:spPr>
            <a:xfrm flipH="false" flipV="false" rot="0">
              <a:off x="0" y="0"/>
              <a:ext cx="14630400" cy="548640"/>
            </a:xfrm>
            <a:custGeom>
              <a:avLst/>
              <a:gdLst/>
              <a:ahLst/>
              <a:cxnLst/>
              <a:rect r="r" b="b" t="t" l="l"/>
              <a:pathLst>
                <a:path h="548640" w="14630400">
                  <a:moveTo>
                    <a:pt x="0" y="0"/>
                  </a:moveTo>
                  <a:lnTo>
                    <a:pt x="14630400" y="0"/>
                  </a:lnTo>
                  <a:lnTo>
                    <a:pt x="14630400" y="548640"/>
                  </a:lnTo>
                  <a:lnTo>
                    <a:pt x="0" y="548640"/>
                  </a:lnTo>
                  <a:close/>
                </a:path>
              </a:pathLst>
            </a:custGeom>
            <a:blipFill>
              <a:blip r:embed="rId2">
                <a:alphaModFix amt="0"/>
              </a:blip>
              <a:stretch>
                <a:fillRect l="0" t="-469601" r="0" b="-469601"/>
              </a:stretch>
            </a:blipFill>
          </p:spPr>
        </p:sp>
        <p:sp>
          <p:nvSpPr>
            <p:cNvPr name="TextBox 67" id="67"/>
            <p:cNvSpPr txBox="true"/>
            <p:nvPr/>
          </p:nvSpPr>
          <p:spPr>
            <a:xfrm>
              <a:off x="0" y="-38100"/>
              <a:ext cx="14630400" cy="586740"/>
            </a:xfrm>
            <a:prstGeom prst="rect">
              <a:avLst/>
            </a:prstGeom>
          </p:spPr>
          <p:txBody>
            <a:bodyPr anchor="ctr" rtlCol="false" tIns="0" lIns="0" bIns="0" rIns="0"/>
            <a:lstStyle/>
            <a:p>
              <a:pPr algn="l">
                <a:lnSpc>
                  <a:spcPts val="1800"/>
                </a:lnSpc>
              </a:pPr>
              <a:r>
                <a:rPr lang="en-US" sz="1500">
                  <a:solidFill>
                    <a:srgbClr val="6B7280"/>
                  </a:solidFill>
                  <a:latin typeface="Calibri (MS)"/>
                  <a:ea typeface="Calibri (MS)"/>
                  <a:cs typeface="Calibri (MS)"/>
                  <a:sym typeface="Calibri (MS)"/>
                </a:rPr>
                <a:t>Davao del Norte Provincial Government — Cybersecurity Seminar</a:t>
              </a:r>
            </a:p>
          </p:txBody>
        </p:sp>
      </p:grpSp>
      <p:grpSp>
        <p:nvGrpSpPr>
          <p:cNvPr name="Group 68" id="68"/>
          <p:cNvGrpSpPr/>
          <p:nvPr/>
        </p:nvGrpSpPr>
        <p:grpSpPr>
          <a:xfrm rot="0">
            <a:off x="16911828" y="9710928"/>
            <a:ext cx="685800" cy="411480"/>
            <a:chOff x="0" y="0"/>
            <a:chExt cx="914400" cy="548640"/>
          </a:xfrm>
        </p:grpSpPr>
        <p:sp>
          <p:nvSpPr>
            <p:cNvPr name="Freeform 69" id="69"/>
            <p:cNvSpPr/>
            <p:nvPr/>
          </p:nvSpPr>
          <p:spPr>
            <a:xfrm flipH="false" flipV="false" rot="0">
              <a:off x="0" y="0"/>
              <a:ext cx="914400" cy="548640"/>
            </a:xfrm>
            <a:custGeom>
              <a:avLst/>
              <a:gdLst/>
              <a:ahLst/>
              <a:cxnLst/>
              <a:rect r="r" b="b" t="t" l="l"/>
              <a:pathLst>
                <a:path h="548640" w="914400">
                  <a:moveTo>
                    <a:pt x="0" y="0"/>
                  </a:moveTo>
                  <a:lnTo>
                    <a:pt x="914400" y="0"/>
                  </a:lnTo>
                  <a:lnTo>
                    <a:pt x="914400" y="548640"/>
                  </a:lnTo>
                  <a:lnTo>
                    <a:pt x="0" y="548640"/>
                  </a:lnTo>
                  <a:close/>
                </a:path>
              </a:pathLst>
            </a:custGeom>
            <a:blipFill>
              <a:blip r:embed="rId2">
                <a:alphaModFix amt="0"/>
              </a:blip>
              <a:stretch>
                <a:fillRect l="-26982" t="0" r="-26982" b="0"/>
              </a:stretch>
            </a:blipFill>
          </p:spPr>
        </p:sp>
        <p:sp>
          <p:nvSpPr>
            <p:cNvPr name="TextBox 70" id="70"/>
            <p:cNvSpPr txBox="true"/>
            <p:nvPr/>
          </p:nvSpPr>
          <p:spPr>
            <a:xfrm>
              <a:off x="0" y="-38100"/>
              <a:ext cx="914400" cy="586740"/>
            </a:xfrm>
            <a:prstGeom prst="rect">
              <a:avLst/>
            </a:prstGeom>
          </p:spPr>
          <p:txBody>
            <a:bodyPr anchor="ctr" rtlCol="false" tIns="0" lIns="0" bIns="0" rIns="0"/>
            <a:lstStyle/>
            <a:p>
              <a:pPr algn="r">
                <a:lnSpc>
                  <a:spcPts val="1800"/>
                </a:lnSpc>
              </a:pPr>
              <a:r>
                <a:rPr lang="en-US" sz="1500">
                  <a:solidFill>
                    <a:srgbClr val="6B7280"/>
                  </a:solidFill>
                  <a:latin typeface="Calibri (MS)"/>
                  <a:ea typeface="Calibri (MS)"/>
                  <a:cs typeface="Calibri (MS)"/>
                  <a:sym typeface="Calibri (MS)"/>
                </a:rPr>
                <a:t>33</a:t>
              </a:r>
            </a:p>
          </p:txBody>
        </p:sp>
      </p:grpSp>
    </p:spTree>
  </p:cSld>
  <p:clrMapOvr>
    <a:masterClrMapping/>
  </p:clrMapOvr>
</p:sld>
</file>

<file path=ppt/slides/slide10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60120" y="685800"/>
            <a:ext cx="13716000" cy="411480"/>
            <a:chOff x="0" y="0"/>
            <a:chExt cx="18288000" cy="548640"/>
          </a:xfrm>
        </p:grpSpPr>
        <p:sp>
          <p:nvSpPr>
            <p:cNvPr name="Freeform 3" id="3"/>
            <p:cNvSpPr/>
            <p:nvPr/>
          </p:nvSpPr>
          <p:spPr>
            <a:xfrm flipH="false" flipV="false" rot="0">
              <a:off x="0" y="0"/>
              <a:ext cx="18288000" cy="548640"/>
            </a:xfrm>
            <a:custGeom>
              <a:avLst/>
              <a:gdLst/>
              <a:ahLst/>
              <a:cxnLst/>
              <a:rect r="r" b="b" t="t" l="l"/>
              <a:pathLst>
                <a:path h="548640" w="18288000">
                  <a:moveTo>
                    <a:pt x="0" y="0"/>
                  </a:moveTo>
                  <a:lnTo>
                    <a:pt x="18288000" y="0"/>
                  </a:lnTo>
                  <a:lnTo>
                    <a:pt x="18288000" y="548640"/>
                  </a:lnTo>
                  <a:lnTo>
                    <a:pt x="0" y="548640"/>
                  </a:lnTo>
                  <a:close/>
                </a:path>
              </a:pathLst>
            </a:custGeom>
            <a:blipFill>
              <a:blip r:embed="rId2">
                <a:alphaModFix amt="0"/>
              </a:blip>
              <a:stretch>
                <a:fillRect l="0" t="-599501" r="0" b="-599501"/>
              </a:stretch>
            </a:blipFill>
          </p:spPr>
        </p:sp>
        <p:sp>
          <p:nvSpPr>
            <p:cNvPr name="TextBox 4" id="4"/>
            <p:cNvSpPr txBox="true"/>
            <p:nvPr/>
          </p:nvSpPr>
          <p:spPr>
            <a:xfrm>
              <a:off x="0" y="-38100"/>
              <a:ext cx="18288000" cy="586740"/>
            </a:xfrm>
            <a:prstGeom prst="rect">
              <a:avLst/>
            </a:prstGeom>
          </p:spPr>
          <p:txBody>
            <a:bodyPr anchor="ctr" rtlCol="false" tIns="0" lIns="0" bIns="0" rIns="0"/>
            <a:lstStyle/>
            <a:p>
              <a:pPr algn="l">
                <a:lnSpc>
                  <a:spcPts val="2160"/>
                </a:lnSpc>
              </a:pPr>
              <a:r>
                <a:rPr lang="en-US" b="true" sz="1800" spc="225">
                  <a:solidFill>
                    <a:srgbClr val="00B4D8"/>
                  </a:solidFill>
                  <a:latin typeface="Calibri (MS) Bold"/>
                  <a:ea typeface="Calibri (MS) Bold"/>
                  <a:cs typeface="Calibri (MS) Bold"/>
                  <a:sym typeface="Calibri (MS) Bold"/>
                </a:rPr>
                <a:t>NIST CSF SORT · ANSWER</a:t>
              </a:r>
            </a:p>
          </p:txBody>
        </p:sp>
      </p:grpSp>
      <p:grpSp>
        <p:nvGrpSpPr>
          <p:cNvPr name="Group 5" id="5"/>
          <p:cNvGrpSpPr/>
          <p:nvPr/>
        </p:nvGrpSpPr>
        <p:grpSpPr>
          <a:xfrm rot="0">
            <a:off x="960120" y="1069848"/>
            <a:ext cx="10972800" cy="822960"/>
            <a:chOff x="0" y="0"/>
            <a:chExt cx="14630400" cy="1097280"/>
          </a:xfrm>
        </p:grpSpPr>
        <p:sp>
          <p:nvSpPr>
            <p:cNvPr name="Freeform 6" id="6"/>
            <p:cNvSpPr/>
            <p:nvPr/>
          </p:nvSpPr>
          <p:spPr>
            <a:xfrm flipH="false" flipV="false" rot="0">
              <a:off x="0" y="0"/>
              <a:ext cx="14630400" cy="1097280"/>
            </a:xfrm>
            <a:custGeom>
              <a:avLst/>
              <a:gdLst/>
              <a:ahLst/>
              <a:cxnLst/>
              <a:rect r="r" b="b" t="t" l="l"/>
              <a:pathLst>
                <a:path h="1097280" w="14630400">
                  <a:moveTo>
                    <a:pt x="0" y="0"/>
                  </a:moveTo>
                  <a:lnTo>
                    <a:pt x="14630400" y="0"/>
                  </a:lnTo>
                  <a:lnTo>
                    <a:pt x="14630400" y="1097280"/>
                  </a:lnTo>
                  <a:lnTo>
                    <a:pt x="0" y="1097280"/>
                  </a:lnTo>
                  <a:close/>
                </a:path>
              </a:pathLst>
            </a:custGeom>
            <a:blipFill>
              <a:blip r:embed="rId2">
                <a:alphaModFix amt="0"/>
              </a:blip>
              <a:stretch>
                <a:fillRect l="0" t="-209800" r="0" b="-209800"/>
              </a:stretch>
            </a:blipFill>
          </p:spPr>
        </p:sp>
        <p:sp>
          <p:nvSpPr>
            <p:cNvPr name="TextBox 7" id="7"/>
            <p:cNvSpPr txBox="true"/>
            <p:nvPr/>
          </p:nvSpPr>
          <p:spPr>
            <a:xfrm>
              <a:off x="0" y="0"/>
              <a:ext cx="14630400" cy="1097280"/>
            </a:xfrm>
            <a:prstGeom prst="rect">
              <a:avLst/>
            </a:prstGeom>
          </p:spPr>
          <p:txBody>
            <a:bodyPr anchor="ctr" rtlCol="false" tIns="0" lIns="0" bIns="0" rIns="0"/>
            <a:lstStyle/>
            <a:p>
              <a:pPr algn="l">
                <a:lnSpc>
                  <a:spcPts val="4680"/>
                </a:lnSpc>
              </a:pPr>
              <a:r>
                <a:rPr lang="en-US" sz="3900" b="true">
                  <a:solidFill>
                    <a:srgbClr val="1E2761"/>
                  </a:solidFill>
                  <a:latin typeface="Cambria Bold"/>
                  <a:ea typeface="Cambria Bold"/>
                  <a:cs typeface="Cambria Bold"/>
                  <a:sym typeface="Cambria Bold"/>
                </a:rPr>
                <a:t>Scenario 12 — Answer</a:t>
              </a:r>
            </a:p>
          </p:txBody>
        </p:sp>
      </p:grpSp>
      <p:grpSp>
        <p:nvGrpSpPr>
          <p:cNvPr name="Group 8" id="8"/>
          <p:cNvGrpSpPr/>
          <p:nvPr/>
        </p:nvGrpSpPr>
        <p:grpSpPr>
          <a:xfrm rot="0">
            <a:off x="960120" y="1810512"/>
            <a:ext cx="8229600" cy="411480"/>
            <a:chOff x="0" y="0"/>
            <a:chExt cx="10972800" cy="548640"/>
          </a:xfrm>
        </p:grpSpPr>
        <p:sp>
          <p:nvSpPr>
            <p:cNvPr name="Freeform 9" id="9"/>
            <p:cNvSpPr/>
            <p:nvPr/>
          </p:nvSpPr>
          <p:spPr>
            <a:xfrm flipH="false" flipV="false" rot="0">
              <a:off x="0" y="0"/>
              <a:ext cx="10972800" cy="548640"/>
            </a:xfrm>
            <a:custGeom>
              <a:avLst/>
              <a:gdLst/>
              <a:ahLst/>
              <a:cxnLst/>
              <a:rect r="r" b="b" t="t" l="l"/>
              <a:pathLst>
                <a:path h="548640" w="10972800">
                  <a:moveTo>
                    <a:pt x="0" y="0"/>
                  </a:moveTo>
                  <a:lnTo>
                    <a:pt x="10972800" y="0"/>
                  </a:lnTo>
                  <a:lnTo>
                    <a:pt x="10972800" y="548640"/>
                  </a:lnTo>
                  <a:lnTo>
                    <a:pt x="0" y="548640"/>
                  </a:lnTo>
                  <a:close/>
                </a:path>
              </a:pathLst>
            </a:custGeom>
            <a:blipFill>
              <a:blip r:embed="rId2">
                <a:alphaModFix amt="0"/>
              </a:blip>
              <a:stretch>
                <a:fillRect l="0" t="-339700" r="0" b="-339700"/>
              </a:stretch>
            </a:blipFill>
          </p:spPr>
        </p:sp>
        <p:sp>
          <p:nvSpPr>
            <p:cNvPr name="TextBox 10" id="10"/>
            <p:cNvSpPr txBox="true"/>
            <p:nvPr/>
          </p:nvSpPr>
          <p:spPr>
            <a:xfrm>
              <a:off x="0" y="-28575"/>
              <a:ext cx="10972800" cy="577215"/>
            </a:xfrm>
            <a:prstGeom prst="rect">
              <a:avLst/>
            </a:prstGeom>
          </p:spPr>
          <p:txBody>
            <a:bodyPr anchor="ctr" rtlCol="false" tIns="0" lIns="0" bIns="0" rIns="0"/>
            <a:lstStyle/>
            <a:p>
              <a:pPr algn="l">
                <a:lnSpc>
                  <a:spcPts val="1980"/>
                </a:lnSpc>
              </a:pPr>
              <a:r>
                <a:rPr lang="en-US" sz="1650">
                  <a:solidFill>
                    <a:srgbClr val="6B7280"/>
                  </a:solidFill>
                  <a:latin typeface="Calibri (MS)"/>
                  <a:ea typeface="Calibri (MS)"/>
                  <a:cs typeface="Calibri (MS)"/>
                  <a:sym typeface="Calibri (MS)"/>
                </a:rPr>
                <a:t>12 of 20</a:t>
              </a:r>
            </a:p>
          </p:txBody>
        </p:sp>
      </p:grpSp>
      <p:grpSp>
        <p:nvGrpSpPr>
          <p:cNvPr name="Group 11" id="11"/>
          <p:cNvGrpSpPr/>
          <p:nvPr/>
        </p:nvGrpSpPr>
        <p:grpSpPr>
          <a:xfrm rot="0">
            <a:off x="960120" y="2537460"/>
            <a:ext cx="16322040" cy="2194560"/>
            <a:chOff x="0" y="0"/>
            <a:chExt cx="21762720" cy="2926080"/>
          </a:xfrm>
        </p:grpSpPr>
        <p:sp>
          <p:nvSpPr>
            <p:cNvPr name="Freeform 12" id="12"/>
            <p:cNvSpPr/>
            <p:nvPr/>
          </p:nvSpPr>
          <p:spPr>
            <a:xfrm flipH="false" flipV="false" rot="0">
              <a:off x="0" y="0"/>
              <a:ext cx="21762720" cy="2926080"/>
            </a:xfrm>
            <a:custGeom>
              <a:avLst/>
              <a:gdLst/>
              <a:ahLst/>
              <a:cxnLst/>
              <a:rect r="r" b="b" t="t" l="l"/>
              <a:pathLst>
                <a:path h="2926080" w="21762720">
                  <a:moveTo>
                    <a:pt x="0" y="182880"/>
                  </a:moveTo>
                  <a:cubicBezTo>
                    <a:pt x="0" y="81915"/>
                    <a:pt x="81915" y="0"/>
                    <a:pt x="182880" y="0"/>
                  </a:cubicBezTo>
                  <a:lnTo>
                    <a:pt x="21579839" y="0"/>
                  </a:lnTo>
                  <a:cubicBezTo>
                    <a:pt x="21680804" y="0"/>
                    <a:pt x="21762720" y="81915"/>
                    <a:pt x="21762720" y="182880"/>
                  </a:cubicBezTo>
                  <a:lnTo>
                    <a:pt x="21762720" y="2743200"/>
                  </a:lnTo>
                  <a:cubicBezTo>
                    <a:pt x="21762720" y="2844165"/>
                    <a:pt x="21680804" y="2926080"/>
                    <a:pt x="21579839" y="2926080"/>
                  </a:cubicBezTo>
                  <a:lnTo>
                    <a:pt x="182880" y="2926080"/>
                  </a:lnTo>
                  <a:cubicBezTo>
                    <a:pt x="81915" y="2926080"/>
                    <a:pt x="0" y="2844165"/>
                    <a:pt x="0" y="2743200"/>
                  </a:cubicBezTo>
                  <a:close/>
                </a:path>
              </a:pathLst>
            </a:custGeom>
            <a:solidFill>
              <a:srgbClr val="F4F7FC"/>
            </a:solidFill>
          </p:spPr>
        </p:sp>
      </p:grpSp>
      <p:grpSp>
        <p:nvGrpSpPr>
          <p:cNvPr name="Group 13" id="13"/>
          <p:cNvGrpSpPr/>
          <p:nvPr/>
        </p:nvGrpSpPr>
        <p:grpSpPr>
          <a:xfrm rot="0">
            <a:off x="1440180" y="2770632"/>
            <a:ext cx="15361920" cy="1714500"/>
            <a:chOff x="0" y="0"/>
            <a:chExt cx="20482560" cy="2286000"/>
          </a:xfrm>
        </p:grpSpPr>
        <p:sp>
          <p:nvSpPr>
            <p:cNvPr name="Freeform 14" id="14"/>
            <p:cNvSpPr/>
            <p:nvPr/>
          </p:nvSpPr>
          <p:spPr>
            <a:xfrm flipH="false" flipV="false" rot="0">
              <a:off x="0" y="0"/>
              <a:ext cx="20482561" cy="2286000"/>
            </a:xfrm>
            <a:custGeom>
              <a:avLst/>
              <a:gdLst/>
              <a:ahLst/>
              <a:cxnLst/>
              <a:rect r="r" b="b" t="t" l="l"/>
              <a:pathLst>
                <a:path h="2286000" w="20482561">
                  <a:moveTo>
                    <a:pt x="0" y="0"/>
                  </a:moveTo>
                  <a:lnTo>
                    <a:pt x="20482561" y="0"/>
                  </a:lnTo>
                  <a:lnTo>
                    <a:pt x="20482561" y="2286000"/>
                  </a:lnTo>
                  <a:lnTo>
                    <a:pt x="0" y="2286000"/>
                  </a:lnTo>
                  <a:close/>
                </a:path>
              </a:pathLst>
            </a:custGeom>
            <a:blipFill>
              <a:blip r:embed="rId2">
                <a:alphaModFix amt="0"/>
              </a:blip>
              <a:stretch>
                <a:fillRect l="0" t="-124585" r="0" b="-124585"/>
              </a:stretch>
            </a:blipFill>
          </p:spPr>
        </p:sp>
        <p:sp>
          <p:nvSpPr>
            <p:cNvPr name="TextBox 15" id="15"/>
            <p:cNvSpPr txBox="true"/>
            <p:nvPr/>
          </p:nvSpPr>
          <p:spPr>
            <a:xfrm>
              <a:off x="0" y="-85725"/>
              <a:ext cx="20482560" cy="2371725"/>
            </a:xfrm>
            <a:prstGeom prst="rect">
              <a:avLst/>
            </a:prstGeom>
          </p:spPr>
          <p:txBody>
            <a:bodyPr anchor="ctr" rtlCol="false" tIns="0" lIns="0" bIns="0" rIns="0"/>
            <a:lstStyle/>
            <a:p>
              <a:pPr algn="l">
                <a:lnSpc>
                  <a:spcPts val="3600"/>
                </a:lnSpc>
              </a:pPr>
              <a:r>
                <a:rPr lang="en-US" sz="2400" i="true">
                  <a:solidFill>
                    <a:srgbClr val="23262F"/>
                  </a:solidFill>
                  <a:latin typeface="Cambria Italics"/>
                  <a:ea typeface="Cambria Italics"/>
                  <a:cs typeface="Cambria Italics"/>
                  <a:sym typeface="Cambria Italics"/>
                </a:rPr>
                <a:t>"After a server crash wipes recent changes, the assessor's office rebuilds the lost property records from the most recent verified backup and confirms the data is accurate before reopening public access."</a:t>
              </a:r>
            </a:p>
          </p:txBody>
        </p:sp>
      </p:grpSp>
      <p:grpSp>
        <p:nvGrpSpPr>
          <p:cNvPr name="Group 16" id="16"/>
          <p:cNvGrpSpPr/>
          <p:nvPr/>
        </p:nvGrpSpPr>
        <p:grpSpPr>
          <a:xfrm rot="0">
            <a:off x="950595" y="5065395"/>
            <a:ext cx="5162550" cy="842010"/>
            <a:chOff x="0" y="0"/>
            <a:chExt cx="6883400" cy="1122680"/>
          </a:xfrm>
        </p:grpSpPr>
        <p:sp>
          <p:nvSpPr>
            <p:cNvPr name="Freeform 17" id="17"/>
            <p:cNvSpPr/>
            <p:nvPr/>
          </p:nvSpPr>
          <p:spPr>
            <a:xfrm flipH="false" flipV="false" rot="0">
              <a:off x="0" y="0"/>
              <a:ext cx="6883400" cy="1122680"/>
            </a:xfrm>
            <a:custGeom>
              <a:avLst/>
              <a:gdLst/>
              <a:ahLst/>
              <a:cxnLst/>
              <a:rect r="r" b="b" t="t" l="l"/>
              <a:pathLst>
                <a:path h="1122680" w="6883400">
                  <a:moveTo>
                    <a:pt x="0" y="168402"/>
                  </a:moveTo>
                  <a:cubicBezTo>
                    <a:pt x="0" y="75438"/>
                    <a:pt x="75438" y="0"/>
                    <a:pt x="168402" y="0"/>
                  </a:cubicBezTo>
                  <a:lnTo>
                    <a:pt x="6714998" y="0"/>
                  </a:lnTo>
                  <a:cubicBezTo>
                    <a:pt x="6807962" y="0"/>
                    <a:pt x="6883400" y="75438"/>
                    <a:pt x="6883400" y="168402"/>
                  </a:cubicBezTo>
                  <a:lnTo>
                    <a:pt x="6883400" y="954278"/>
                  </a:lnTo>
                  <a:cubicBezTo>
                    <a:pt x="6883400" y="1047242"/>
                    <a:pt x="6807962" y="1122680"/>
                    <a:pt x="6714998" y="1122680"/>
                  </a:cubicBezTo>
                  <a:lnTo>
                    <a:pt x="168402" y="1122680"/>
                  </a:lnTo>
                  <a:cubicBezTo>
                    <a:pt x="75438" y="1122680"/>
                    <a:pt x="0" y="1047242"/>
                    <a:pt x="0" y="954278"/>
                  </a:cubicBezTo>
                  <a:close/>
                </a:path>
              </a:pathLst>
            </a:custGeom>
            <a:solidFill>
              <a:srgbClr val="F4F7FC"/>
            </a:solidFill>
            <a:ln w="19050" cap="sq">
              <a:solidFill>
                <a:srgbClr val="D7DCEC"/>
              </a:solidFill>
              <a:prstDash val="solid"/>
              <a:miter/>
            </a:ln>
          </p:spPr>
        </p:sp>
      </p:grpSp>
      <p:grpSp>
        <p:nvGrpSpPr>
          <p:cNvPr name="Group 18" id="18"/>
          <p:cNvGrpSpPr/>
          <p:nvPr/>
        </p:nvGrpSpPr>
        <p:grpSpPr>
          <a:xfrm rot="0">
            <a:off x="960120" y="5143500"/>
            <a:ext cx="5143500" cy="521208"/>
            <a:chOff x="0" y="0"/>
            <a:chExt cx="6858000" cy="694944"/>
          </a:xfrm>
        </p:grpSpPr>
        <p:sp>
          <p:nvSpPr>
            <p:cNvPr name="Freeform 19" id="19"/>
            <p:cNvSpPr/>
            <p:nvPr/>
          </p:nvSpPr>
          <p:spPr>
            <a:xfrm flipH="false" flipV="false" rot="0">
              <a:off x="0" y="0"/>
              <a:ext cx="6858000" cy="694944"/>
            </a:xfrm>
            <a:custGeom>
              <a:avLst/>
              <a:gdLst/>
              <a:ahLst/>
              <a:cxnLst/>
              <a:rect r="r" b="b" t="t" l="l"/>
              <a:pathLst>
                <a:path h="694944" w="6858000">
                  <a:moveTo>
                    <a:pt x="0" y="0"/>
                  </a:moveTo>
                  <a:lnTo>
                    <a:pt x="6858000" y="0"/>
                  </a:lnTo>
                  <a:lnTo>
                    <a:pt x="6858000" y="694944"/>
                  </a:lnTo>
                  <a:lnTo>
                    <a:pt x="0" y="694944"/>
                  </a:lnTo>
                  <a:close/>
                </a:path>
              </a:pathLst>
            </a:custGeom>
            <a:blipFill>
              <a:blip r:embed="rId2">
                <a:alphaModFix amt="0"/>
              </a:blip>
              <a:stretch>
                <a:fillRect l="0" t="-142286" r="0" b="-142286"/>
              </a:stretch>
            </a:blipFill>
          </p:spPr>
        </p:sp>
        <p:sp>
          <p:nvSpPr>
            <p:cNvPr name="TextBox 20" id="20"/>
            <p:cNvSpPr txBox="true"/>
            <p:nvPr/>
          </p:nvSpPr>
          <p:spPr>
            <a:xfrm>
              <a:off x="0" y="-38100"/>
              <a:ext cx="6858000" cy="733044"/>
            </a:xfrm>
            <a:prstGeom prst="rect">
              <a:avLst/>
            </a:prstGeom>
          </p:spPr>
          <p:txBody>
            <a:bodyPr anchor="ctr" rtlCol="false" tIns="0" lIns="0" bIns="0" rIns="0"/>
            <a:lstStyle/>
            <a:p>
              <a:pPr algn="ctr">
                <a:lnSpc>
                  <a:spcPts val="2430"/>
                </a:lnSpc>
              </a:pPr>
              <a:r>
                <a:rPr lang="en-US" sz="2025">
                  <a:solidFill>
                    <a:srgbClr val="6B7280"/>
                  </a:solidFill>
                  <a:latin typeface="Calibri (MS)"/>
                  <a:ea typeface="Calibri (MS)"/>
                  <a:cs typeface="Calibri (MS)"/>
                  <a:sym typeface="Calibri (MS)"/>
                </a:rPr>
                <a:t>Govern</a:t>
              </a:r>
            </a:p>
          </p:txBody>
        </p:sp>
      </p:grpSp>
      <p:grpSp>
        <p:nvGrpSpPr>
          <p:cNvPr name="Group 21" id="21"/>
          <p:cNvGrpSpPr/>
          <p:nvPr/>
        </p:nvGrpSpPr>
        <p:grpSpPr>
          <a:xfrm rot="0">
            <a:off x="960120" y="5513832"/>
            <a:ext cx="5143500" cy="329184"/>
            <a:chOff x="0" y="0"/>
            <a:chExt cx="6858000" cy="438912"/>
          </a:xfrm>
        </p:grpSpPr>
        <p:sp>
          <p:nvSpPr>
            <p:cNvPr name="Freeform 22" id="22"/>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23" id="23"/>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9AA3B8"/>
                  </a:solidFill>
                  <a:latin typeface="Arimo"/>
                  <a:ea typeface="Arimo"/>
                  <a:cs typeface="Arimo"/>
                  <a:sym typeface="Arimo"/>
                </a:rPr>
                <a:t>GV</a:t>
              </a:r>
            </a:p>
          </p:txBody>
        </p:sp>
      </p:grpSp>
      <p:grpSp>
        <p:nvGrpSpPr>
          <p:cNvPr name="Group 24" id="24"/>
          <p:cNvGrpSpPr/>
          <p:nvPr/>
        </p:nvGrpSpPr>
        <p:grpSpPr>
          <a:xfrm rot="0">
            <a:off x="6533007" y="5065395"/>
            <a:ext cx="5162550" cy="842010"/>
            <a:chOff x="0" y="0"/>
            <a:chExt cx="6883400" cy="1122680"/>
          </a:xfrm>
        </p:grpSpPr>
        <p:sp>
          <p:nvSpPr>
            <p:cNvPr name="Freeform 25" id="25"/>
            <p:cNvSpPr/>
            <p:nvPr/>
          </p:nvSpPr>
          <p:spPr>
            <a:xfrm flipH="false" flipV="false" rot="0">
              <a:off x="0" y="0"/>
              <a:ext cx="6883400" cy="1122680"/>
            </a:xfrm>
            <a:custGeom>
              <a:avLst/>
              <a:gdLst/>
              <a:ahLst/>
              <a:cxnLst/>
              <a:rect r="r" b="b" t="t" l="l"/>
              <a:pathLst>
                <a:path h="1122680" w="6883400">
                  <a:moveTo>
                    <a:pt x="0" y="168402"/>
                  </a:moveTo>
                  <a:cubicBezTo>
                    <a:pt x="0" y="75438"/>
                    <a:pt x="75438" y="0"/>
                    <a:pt x="168402" y="0"/>
                  </a:cubicBezTo>
                  <a:lnTo>
                    <a:pt x="6714998" y="0"/>
                  </a:lnTo>
                  <a:cubicBezTo>
                    <a:pt x="6807962" y="0"/>
                    <a:pt x="6883400" y="75438"/>
                    <a:pt x="6883400" y="168402"/>
                  </a:cubicBezTo>
                  <a:lnTo>
                    <a:pt x="6883400" y="954278"/>
                  </a:lnTo>
                  <a:cubicBezTo>
                    <a:pt x="6883400" y="1047242"/>
                    <a:pt x="6807962" y="1122680"/>
                    <a:pt x="6714998" y="1122680"/>
                  </a:cubicBezTo>
                  <a:lnTo>
                    <a:pt x="168402" y="1122680"/>
                  </a:lnTo>
                  <a:cubicBezTo>
                    <a:pt x="75438" y="1122680"/>
                    <a:pt x="0" y="1047242"/>
                    <a:pt x="0" y="954278"/>
                  </a:cubicBezTo>
                  <a:close/>
                </a:path>
              </a:pathLst>
            </a:custGeom>
            <a:solidFill>
              <a:srgbClr val="F4F7FC"/>
            </a:solidFill>
            <a:ln w="19050" cap="sq">
              <a:solidFill>
                <a:srgbClr val="D7DCEC"/>
              </a:solidFill>
              <a:prstDash val="solid"/>
              <a:miter/>
            </a:ln>
          </p:spPr>
        </p:sp>
      </p:grpSp>
      <p:grpSp>
        <p:nvGrpSpPr>
          <p:cNvPr name="Group 26" id="26"/>
          <p:cNvGrpSpPr/>
          <p:nvPr/>
        </p:nvGrpSpPr>
        <p:grpSpPr>
          <a:xfrm rot="0">
            <a:off x="6542532" y="5143500"/>
            <a:ext cx="5143500" cy="521208"/>
            <a:chOff x="0" y="0"/>
            <a:chExt cx="6858000" cy="694944"/>
          </a:xfrm>
        </p:grpSpPr>
        <p:sp>
          <p:nvSpPr>
            <p:cNvPr name="Freeform 27" id="27"/>
            <p:cNvSpPr/>
            <p:nvPr/>
          </p:nvSpPr>
          <p:spPr>
            <a:xfrm flipH="false" flipV="false" rot="0">
              <a:off x="0" y="0"/>
              <a:ext cx="6858000" cy="694944"/>
            </a:xfrm>
            <a:custGeom>
              <a:avLst/>
              <a:gdLst/>
              <a:ahLst/>
              <a:cxnLst/>
              <a:rect r="r" b="b" t="t" l="l"/>
              <a:pathLst>
                <a:path h="694944" w="6858000">
                  <a:moveTo>
                    <a:pt x="0" y="0"/>
                  </a:moveTo>
                  <a:lnTo>
                    <a:pt x="6858000" y="0"/>
                  </a:lnTo>
                  <a:lnTo>
                    <a:pt x="6858000" y="694944"/>
                  </a:lnTo>
                  <a:lnTo>
                    <a:pt x="0" y="694944"/>
                  </a:lnTo>
                  <a:close/>
                </a:path>
              </a:pathLst>
            </a:custGeom>
            <a:blipFill>
              <a:blip r:embed="rId2">
                <a:alphaModFix amt="0"/>
              </a:blip>
              <a:stretch>
                <a:fillRect l="0" t="-142286" r="0" b="-142286"/>
              </a:stretch>
            </a:blipFill>
          </p:spPr>
        </p:sp>
        <p:sp>
          <p:nvSpPr>
            <p:cNvPr name="TextBox 28" id="28"/>
            <p:cNvSpPr txBox="true"/>
            <p:nvPr/>
          </p:nvSpPr>
          <p:spPr>
            <a:xfrm>
              <a:off x="0" y="-38100"/>
              <a:ext cx="6858000" cy="733044"/>
            </a:xfrm>
            <a:prstGeom prst="rect">
              <a:avLst/>
            </a:prstGeom>
          </p:spPr>
          <p:txBody>
            <a:bodyPr anchor="ctr" rtlCol="false" tIns="0" lIns="0" bIns="0" rIns="0"/>
            <a:lstStyle/>
            <a:p>
              <a:pPr algn="ctr">
                <a:lnSpc>
                  <a:spcPts val="2430"/>
                </a:lnSpc>
              </a:pPr>
              <a:r>
                <a:rPr lang="en-US" sz="2025">
                  <a:solidFill>
                    <a:srgbClr val="6B7280"/>
                  </a:solidFill>
                  <a:latin typeface="Calibri (MS)"/>
                  <a:ea typeface="Calibri (MS)"/>
                  <a:cs typeface="Calibri (MS)"/>
                  <a:sym typeface="Calibri (MS)"/>
                </a:rPr>
                <a:t>Identify</a:t>
              </a:r>
            </a:p>
          </p:txBody>
        </p:sp>
      </p:grpSp>
      <p:grpSp>
        <p:nvGrpSpPr>
          <p:cNvPr name="Group 29" id="29"/>
          <p:cNvGrpSpPr/>
          <p:nvPr/>
        </p:nvGrpSpPr>
        <p:grpSpPr>
          <a:xfrm rot="0">
            <a:off x="6542532" y="5513832"/>
            <a:ext cx="5143500" cy="329184"/>
            <a:chOff x="0" y="0"/>
            <a:chExt cx="6858000" cy="438912"/>
          </a:xfrm>
        </p:grpSpPr>
        <p:sp>
          <p:nvSpPr>
            <p:cNvPr name="Freeform 30" id="30"/>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31" id="31"/>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9AA3B8"/>
                  </a:solidFill>
                  <a:latin typeface="Arimo"/>
                  <a:ea typeface="Arimo"/>
                  <a:cs typeface="Arimo"/>
                  <a:sym typeface="Arimo"/>
                </a:rPr>
                <a:t>ID</a:t>
              </a:r>
            </a:p>
          </p:txBody>
        </p:sp>
      </p:grpSp>
      <p:grpSp>
        <p:nvGrpSpPr>
          <p:cNvPr name="Group 32" id="32"/>
          <p:cNvGrpSpPr/>
          <p:nvPr/>
        </p:nvGrpSpPr>
        <p:grpSpPr>
          <a:xfrm rot="0">
            <a:off x="12115419" y="5065395"/>
            <a:ext cx="5162550" cy="842010"/>
            <a:chOff x="0" y="0"/>
            <a:chExt cx="6883400" cy="1122680"/>
          </a:xfrm>
        </p:grpSpPr>
        <p:sp>
          <p:nvSpPr>
            <p:cNvPr name="Freeform 33" id="33"/>
            <p:cNvSpPr/>
            <p:nvPr/>
          </p:nvSpPr>
          <p:spPr>
            <a:xfrm flipH="false" flipV="false" rot="0">
              <a:off x="0" y="0"/>
              <a:ext cx="6883400" cy="1122680"/>
            </a:xfrm>
            <a:custGeom>
              <a:avLst/>
              <a:gdLst/>
              <a:ahLst/>
              <a:cxnLst/>
              <a:rect r="r" b="b" t="t" l="l"/>
              <a:pathLst>
                <a:path h="1122680" w="6883400">
                  <a:moveTo>
                    <a:pt x="0" y="168402"/>
                  </a:moveTo>
                  <a:cubicBezTo>
                    <a:pt x="0" y="75438"/>
                    <a:pt x="75438" y="0"/>
                    <a:pt x="168402" y="0"/>
                  </a:cubicBezTo>
                  <a:lnTo>
                    <a:pt x="6714998" y="0"/>
                  </a:lnTo>
                  <a:cubicBezTo>
                    <a:pt x="6807962" y="0"/>
                    <a:pt x="6883400" y="75438"/>
                    <a:pt x="6883400" y="168402"/>
                  </a:cubicBezTo>
                  <a:lnTo>
                    <a:pt x="6883400" y="954278"/>
                  </a:lnTo>
                  <a:cubicBezTo>
                    <a:pt x="6883400" y="1047242"/>
                    <a:pt x="6807962" y="1122680"/>
                    <a:pt x="6714998" y="1122680"/>
                  </a:cubicBezTo>
                  <a:lnTo>
                    <a:pt x="168402" y="1122680"/>
                  </a:lnTo>
                  <a:cubicBezTo>
                    <a:pt x="75438" y="1122680"/>
                    <a:pt x="0" y="1047242"/>
                    <a:pt x="0" y="954278"/>
                  </a:cubicBezTo>
                  <a:close/>
                </a:path>
              </a:pathLst>
            </a:custGeom>
            <a:solidFill>
              <a:srgbClr val="F4F7FC"/>
            </a:solidFill>
            <a:ln w="19050" cap="sq">
              <a:solidFill>
                <a:srgbClr val="D7DCEC"/>
              </a:solidFill>
              <a:prstDash val="solid"/>
              <a:miter/>
            </a:ln>
          </p:spPr>
        </p:sp>
      </p:grpSp>
      <p:grpSp>
        <p:nvGrpSpPr>
          <p:cNvPr name="Group 34" id="34"/>
          <p:cNvGrpSpPr/>
          <p:nvPr/>
        </p:nvGrpSpPr>
        <p:grpSpPr>
          <a:xfrm rot="0">
            <a:off x="12124944" y="5143500"/>
            <a:ext cx="5143500" cy="521208"/>
            <a:chOff x="0" y="0"/>
            <a:chExt cx="6858000" cy="694944"/>
          </a:xfrm>
        </p:grpSpPr>
        <p:sp>
          <p:nvSpPr>
            <p:cNvPr name="Freeform 35" id="35"/>
            <p:cNvSpPr/>
            <p:nvPr/>
          </p:nvSpPr>
          <p:spPr>
            <a:xfrm flipH="false" flipV="false" rot="0">
              <a:off x="0" y="0"/>
              <a:ext cx="6858000" cy="694944"/>
            </a:xfrm>
            <a:custGeom>
              <a:avLst/>
              <a:gdLst/>
              <a:ahLst/>
              <a:cxnLst/>
              <a:rect r="r" b="b" t="t" l="l"/>
              <a:pathLst>
                <a:path h="694944" w="6858000">
                  <a:moveTo>
                    <a:pt x="0" y="0"/>
                  </a:moveTo>
                  <a:lnTo>
                    <a:pt x="6858000" y="0"/>
                  </a:lnTo>
                  <a:lnTo>
                    <a:pt x="6858000" y="694944"/>
                  </a:lnTo>
                  <a:lnTo>
                    <a:pt x="0" y="694944"/>
                  </a:lnTo>
                  <a:close/>
                </a:path>
              </a:pathLst>
            </a:custGeom>
            <a:blipFill>
              <a:blip r:embed="rId2">
                <a:alphaModFix amt="0"/>
              </a:blip>
              <a:stretch>
                <a:fillRect l="0" t="-142286" r="0" b="-142286"/>
              </a:stretch>
            </a:blipFill>
          </p:spPr>
        </p:sp>
        <p:sp>
          <p:nvSpPr>
            <p:cNvPr name="TextBox 36" id="36"/>
            <p:cNvSpPr txBox="true"/>
            <p:nvPr/>
          </p:nvSpPr>
          <p:spPr>
            <a:xfrm>
              <a:off x="0" y="-38100"/>
              <a:ext cx="6858000" cy="733044"/>
            </a:xfrm>
            <a:prstGeom prst="rect">
              <a:avLst/>
            </a:prstGeom>
          </p:spPr>
          <p:txBody>
            <a:bodyPr anchor="ctr" rtlCol="false" tIns="0" lIns="0" bIns="0" rIns="0"/>
            <a:lstStyle/>
            <a:p>
              <a:pPr algn="ctr">
                <a:lnSpc>
                  <a:spcPts val="2430"/>
                </a:lnSpc>
              </a:pPr>
              <a:r>
                <a:rPr lang="en-US" sz="2025">
                  <a:solidFill>
                    <a:srgbClr val="6B7280"/>
                  </a:solidFill>
                  <a:latin typeface="Calibri (MS)"/>
                  <a:ea typeface="Calibri (MS)"/>
                  <a:cs typeface="Calibri (MS)"/>
                  <a:sym typeface="Calibri (MS)"/>
                </a:rPr>
                <a:t>Protect</a:t>
              </a:r>
            </a:p>
          </p:txBody>
        </p:sp>
      </p:grpSp>
      <p:grpSp>
        <p:nvGrpSpPr>
          <p:cNvPr name="Group 37" id="37"/>
          <p:cNvGrpSpPr/>
          <p:nvPr/>
        </p:nvGrpSpPr>
        <p:grpSpPr>
          <a:xfrm rot="0">
            <a:off x="12124944" y="5513832"/>
            <a:ext cx="5143500" cy="329184"/>
            <a:chOff x="0" y="0"/>
            <a:chExt cx="6858000" cy="438912"/>
          </a:xfrm>
        </p:grpSpPr>
        <p:sp>
          <p:nvSpPr>
            <p:cNvPr name="Freeform 38" id="38"/>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39" id="39"/>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9AA3B8"/>
                  </a:solidFill>
                  <a:latin typeface="Arimo"/>
                  <a:ea typeface="Arimo"/>
                  <a:cs typeface="Arimo"/>
                  <a:sym typeface="Arimo"/>
                </a:rPr>
                <a:t>PR</a:t>
              </a:r>
            </a:p>
          </p:txBody>
        </p:sp>
      </p:grpSp>
      <p:grpSp>
        <p:nvGrpSpPr>
          <p:cNvPr name="Group 40" id="40"/>
          <p:cNvGrpSpPr/>
          <p:nvPr/>
        </p:nvGrpSpPr>
        <p:grpSpPr>
          <a:xfrm rot="0">
            <a:off x="950595" y="6135243"/>
            <a:ext cx="5162550" cy="842010"/>
            <a:chOff x="0" y="0"/>
            <a:chExt cx="6883400" cy="1122680"/>
          </a:xfrm>
        </p:grpSpPr>
        <p:sp>
          <p:nvSpPr>
            <p:cNvPr name="Freeform 41" id="41"/>
            <p:cNvSpPr/>
            <p:nvPr/>
          </p:nvSpPr>
          <p:spPr>
            <a:xfrm flipH="false" flipV="false" rot="0">
              <a:off x="0" y="0"/>
              <a:ext cx="6883400" cy="1122680"/>
            </a:xfrm>
            <a:custGeom>
              <a:avLst/>
              <a:gdLst/>
              <a:ahLst/>
              <a:cxnLst/>
              <a:rect r="r" b="b" t="t" l="l"/>
              <a:pathLst>
                <a:path h="1122680" w="6883400">
                  <a:moveTo>
                    <a:pt x="0" y="168402"/>
                  </a:moveTo>
                  <a:cubicBezTo>
                    <a:pt x="0" y="75438"/>
                    <a:pt x="75438" y="0"/>
                    <a:pt x="168402" y="0"/>
                  </a:cubicBezTo>
                  <a:lnTo>
                    <a:pt x="6714998" y="0"/>
                  </a:lnTo>
                  <a:cubicBezTo>
                    <a:pt x="6807962" y="0"/>
                    <a:pt x="6883400" y="75438"/>
                    <a:pt x="6883400" y="168402"/>
                  </a:cubicBezTo>
                  <a:lnTo>
                    <a:pt x="6883400" y="954278"/>
                  </a:lnTo>
                  <a:cubicBezTo>
                    <a:pt x="6883400" y="1047242"/>
                    <a:pt x="6807962" y="1122680"/>
                    <a:pt x="6714998" y="1122680"/>
                  </a:cubicBezTo>
                  <a:lnTo>
                    <a:pt x="168402" y="1122680"/>
                  </a:lnTo>
                  <a:cubicBezTo>
                    <a:pt x="75438" y="1122680"/>
                    <a:pt x="0" y="1047242"/>
                    <a:pt x="0" y="954278"/>
                  </a:cubicBezTo>
                  <a:close/>
                </a:path>
              </a:pathLst>
            </a:custGeom>
            <a:solidFill>
              <a:srgbClr val="F4F7FC"/>
            </a:solidFill>
            <a:ln w="19050" cap="sq">
              <a:solidFill>
                <a:srgbClr val="D7DCEC"/>
              </a:solidFill>
              <a:prstDash val="solid"/>
              <a:miter/>
            </a:ln>
          </p:spPr>
        </p:sp>
      </p:grpSp>
      <p:grpSp>
        <p:nvGrpSpPr>
          <p:cNvPr name="Group 42" id="42"/>
          <p:cNvGrpSpPr/>
          <p:nvPr/>
        </p:nvGrpSpPr>
        <p:grpSpPr>
          <a:xfrm rot="0">
            <a:off x="960120" y="6213348"/>
            <a:ext cx="5143500" cy="521208"/>
            <a:chOff x="0" y="0"/>
            <a:chExt cx="6858000" cy="694944"/>
          </a:xfrm>
        </p:grpSpPr>
        <p:sp>
          <p:nvSpPr>
            <p:cNvPr name="Freeform 43" id="43"/>
            <p:cNvSpPr/>
            <p:nvPr/>
          </p:nvSpPr>
          <p:spPr>
            <a:xfrm flipH="false" flipV="false" rot="0">
              <a:off x="0" y="0"/>
              <a:ext cx="6858000" cy="694944"/>
            </a:xfrm>
            <a:custGeom>
              <a:avLst/>
              <a:gdLst/>
              <a:ahLst/>
              <a:cxnLst/>
              <a:rect r="r" b="b" t="t" l="l"/>
              <a:pathLst>
                <a:path h="694944" w="6858000">
                  <a:moveTo>
                    <a:pt x="0" y="0"/>
                  </a:moveTo>
                  <a:lnTo>
                    <a:pt x="6858000" y="0"/>
                  </a:lnTo>
                  <a:lnTo>
                    <a:pt x="6858000" y="694944"/>
                  </a:lnTo>
                  <a:lnTo>
                    <a:pt x="0" y="694944"/>
                  </a:lnTo>
                  <a:close/>
                </a:path>
              </a:pathLst>
            </a:custGeom>
            <a:blipFill>
              <a:blip r:embed="rId2">
                <a:alphaModFix amt="0"/>
              </a:blip>
              <a:stretch>
                <a:fillRect l="0" t="-142286" r="0" b="-142286"/>
              </a:stretch>
            </a:blipFill>
          </p:spPr>
        </p:sp>
        <p:sp>
          <p:nvSpPr>
            <p:cNvPr name="TextBox 44" id="44"/>
            <p:cNvSpPr txBox="true"/>
            <p:nvPr/>
          </p:nvSpPr>
          <p:spPr>
            <a:xfrm>
              <a:off x="0" y="-38100"/>
              <a:ext cx="6858000" cy="733044"/>
            </a:xfrm>
            <a:prstGeom prst="rect">
              <a:avLst/>
            </a:prstGeom>
          </p:spPr>
          <p:txBody>
            <a:bodyPr anchor="ctr" rtlCol="false" tIns="0" lIns="0" bIns="0" rIns="0"/>
            <a:lstStyle/>
            <a:p>
              <a:pPr algn="ctr">
                <a:lnSpc>
                  <a:spcPts val="2430"/>
                </a:lnSpc>
              </a:pPr>
              <a:r>
                <a:rPr lang="en-US" sz="2025">
                  <a:solidFill>
                    <a:srgbClr val="6B7280"/>
                  </a:solidFill>
                  <a:latin typeface="Calibri (MS)"/>
                  <a:ea typeface="Calibri (MS)"/>
                  <a:cs typeface="Calibri (MS)"/>
                  <a:sym typeface="Calibri (MS)"/>
                </a:rPr>
                <a:t>Detect</a:t>
              </a:r>
            </a:p>
          </p:txBody>
        </p:sp>
      </p:grpSp>
      <p:grpSp>
        <p:nvGrpSpPr>
          <p:cNvPr name="Group 45" id="45"/>
          <p:cNvGrpSpPr/>
          <p:nvPr/>
        </p:nvGrpSpPr>
        <p:grpSpPr>
          <a:xfrm rot="0">
            <a:off x="960120" y="6583680"/>
            <a:ext cx="5143500" cy="329184"/>
            <a:chOff x="0" y="0"/>
            <a:chExt cx="6858000" cy="438912"/>
          </a:xfrm>
        </p:grpSpPr>
        <p:sp>
          <p:nvSpPr>
            <p:cNvPr name="Freeform 46" id="46"/>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47" id="47"/>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9AA3B8"/>
                  </a:solidFill>
                  <a:latin typeface="Arimo"/>
                  <a:ea typeface="Arimo"/>
                  <a:cs typeface="Arimo"/>
                  <a:sym typeface="Arimo"/>
                </a:rPr>
                <a:t>DE</a:t>
              </a:r>
            </a:p>
          </p:txBody>
        </p:sp>
      </p:grpSp>
      <p:grpSp>
        <p:nvGrpSpPr>
          <p:cNvPr name="Group 48" id="48"/>
          <p:cNvGrpSpPr/>
          <p:nvPr/>
        </p:nvGrpSpPr>
        <p:grpSpPr>
          <a:xfrm rot="0">
            <a:off x="6533007" y="6135243"/>
            <a:ext cx="5162550" cy="842010"/>
            <a:chOff x="0" y="0"/>
            <a:chExt cx="6883400" cy="1122680"/>
          </a:xfrm>
        </p:grpSpPr>
        <p:sp>
          <p:nvSpPr>
            <p:cNvPr name="Freeform 49" id="49"/>
            <p:cNvSpPr/>
            <p:nvPr/>
          </p:nvSpPr>
          <p:spPr>
            <a:xfrm flipH="false" flipV="false" rot="0">
              <a:off x="0" y="0"/>
              <a:ext cx="6883400" cy="1122680"/>
            </a:xfrm>
            <a:custGeom>
              <a:avLst/>
              <a:gdLst/>
              <a:ahLst/>
              <a:cxnLst/>
              <a:rect r="r" b="b" t="t" l="l"/>
              <a:pathLst>
                <a:path h="1122680" w="6883400">
                  <a:moveTo>
                    <a:pt x="0" y="168402"/>
                  </a:moveTo>
                  <a:cubicBezTo>
                    <a:pt x="0" y="75438"/>
                    <a:pt x="75438" y="0"/>
                    <a:pt x="168402" y="0"/>
                  </a:cubicBezTo>
                  <a:lnTo>
                    <a:pt x="6714998" y="0"/>
                  </a:lnTo>
                  <a:cubicBezTo>
                    <a:pt x="6807962" y="0"/>
                    <a:pt x="6883400" y="75438"/>
                    <a:pt x="6883400" y="168402"/>
                  </a:cubicBezTo>
                  <a:lnTo>
                    <a:pt x="6883400" y="954278"/>
                  </a:lnTo>
                  <a:cubicBezTo>
                    <a:pt x="6883400" y="1047242"/>
                    <a:pt x="6807962" y="1122680"/>
                    <a:pt x="6714998" y="1122680"/>
                  </a:cubicBezTo>
                  <a:lnTo>
                    <a:pt x="168402" y="1122680"/>
                  </a:lnTo>
                  <a:cubicBezTo>
                    <a:pt x="75438" y="1122680"/>
                    <a:pt x="0" y="1047242"/>
                    <a:pt x="0" y="954278"/>
                  </a:cubicBezTo>
                  <a:close/>
                </a:path>
              </a:pathLst>
            </a:custGeom>
            <a:solidFill>
              <a:srgbClr val="F4F7FC"/>
            </a:solidFill>
            <a:ln w="19050" cap="sq">
              <a:solidFill>
                <a:srgbClr val="D7DCEC"/>
              </a:solidFill>
              <a:prstDash val="solid"/>
              <a:miter/>
            </a:ln>
          </p:spPr>
        </p:sp>
      </p:grpSp>
      <p:grpSp>
        <p:nvGrpSpPr>
          <p:cNvPr name="Group 50" id="50"/>
          <p:cNvGrpSpPr/>
          <p:nvPr/>
        </p:nvGrpSpPr>
        <p:grpSpPr>
          <a:xfrm rot="0">
            <a:off x="6542532" y="6213348"/>
            <a:ext cx="5143500" cy="521208"/>
            <a:chOff x="0" y="0"/>
            <a:chExt cx="6858000" cy="694944"/>
          </a:xfrm>
        </p:grpSpPr>
        <p:sp>
          <p:nvSpPr>
            <p:cNvPr name="Freeform 51" id="51"/>
            <p:cNvSpPr/>
            <p:nvPr/>
          </p:nvSpPr>
          <p:spPr>
            <a:xfrm flipH="false" flipV="false" rot="0">
              <a:off x="0" y="0"/>
              <a:ext cx="6858000" cy="694944"/>
            </a:xfrm>
            <a:custGeom>
              <a:avLst/>
              <a:gdLst/>
              <a:ahLst/>
              <a:cxnLst/>
              <a:rect r="r" b="b" t="t" l="l"/>
              <a:pathLst>
                <a:path h="694944" w="6858000">
                  <a:moveTo>
                    <a:pt x="0" y="0"/>
                  </a:moveTo>
                  <a:lnTo>
                    <a:pt x="6858000" y="0"/>
                  </a:lnTo>
                  <a:lnTo>
                    <a:pt x="6858000" y="694944"/>
                  </a:lnTo>
                  <a:lnTo>
                    <a:pt x="0" y="694944"/>
                  </a:lnTo>
                  <a:close/>
                </a:path>
              </a:pathLst>
            </a:custGeom>
            <a:blipFill>
              <a:blip r:embed="rId2">
                <a:alphaModFix amt="0"/>
              </a:blip>
              <a:stretch>
                <a:fillRect l="0" t="-142286" r="0" b="-142286"/>
              </a:stretch>
            </a:blipFill>
          </p:spPr>
        </p:sp>
        <p:sp>
          <p:nvSpPr>
            <p:cNvPr name="TextBox 52" id="52"/>
            <p:cNvSpPr txBox="true"/>
            <p:nvPr/>
          </p:nvSpPr>
          <p:spPr>
            <a:xfrm>
              <a:off x="0" y="-38100"/>
              <a:ext cx="6858000" cy="733044"/>
            </a:xfrm>
            <a:prstGeom prst="rect">
              <a:avLst/>
            </a:prstGeom>
          </p:spPr>
          <p:txBody>
            <a:bodyPr anchor="ctr" rtlCol="false" tIns="0" lIns="0" bIns="0" rIns="0"/>
            <a:lstStyle/>
            <a:p>
              <a:pPr algn="ctr">
                <a:lnSpc>
                  <a:spcPts val="2430"/>
                </a:lnSpc>
              </a:pPr>
              <a:r>
                <a:rPr lang="en-US" sz="2025">
                  <a:solidFill>
                    <a:srgbClr val="6B7280"/>
                  </a:solidFill>
                  <a:latin typeface="Calibri (MS)"/>
                  <a:ea typeface="Calibri (MS)"/>
                  <a:cs typeface="Calibri (MS)"/>
                  <a:sym typeface="Calibri (MS)"/>
                </a:rPr>
                <a:t>Respond</a:t>
              </a:r>
            </a:p>
          </p:txBody>
        </p:sp>
      </p:grpSp>
      <p:grpSp>
        <p:nvGrpSpPr>
          <p:cNvPr name="Group 53" id="53"/>
          <p:cNvGrpSpPr/>
          <p:nvPr/>
        </p:nvGrpSpPr>
        <p:grpSpPr>
          <a:xfrm rot="0">
            <a:off x="6542532" y="6583680"/>
            <a:ext cx="5143500" cy="329184"/>
            <a:chOff x="0" y="0"/>
            <a:chExt cx="6858000" cy="438912"/>
          </a:xfrm>
        </p:grpSpPr>
        <p:sp>
          <p:nvSpPr>
            <p:cNvPr name="Freeform 54" id="54"/>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55" id="55"/>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9AA3B8"/>
                  </a:solidFill>
                  <a:latin typeface="Arimo"/>
                  <a:ea typeface="Arimo"/>
                  <a:cs typeface="Arimo"/>
                  <a:sym typeface="Arimo"/>
                </a:rPr>
                <a:t>RS</a:t>
              </a:r>
            </a:p>
          </p:txBody>
        </p:sp>
      </p:grpSp>
      <p:grpSp>
        <p:nvGrpSpPr>
          <p:cNvPr name="Group 56" id="56"/>
          <p:cNvGrpSpPr/>
          <p:nvPr/>
        </p:nvGrpSpPr>
        <p:grpSpPr>
          <a:xfrm rot="0">
            <a:off x="12115419" y="6135243"/>
            <a:ext cx="5162550" cy="842010"/>
            <a:chOff x="0" y="0"/>
            <a:chExt cx="6883400" cy="1122680"/>
          </a:xfrm>
        </p:grpSpPr>
        <p:sp>
          <p:nvSpPr>
            <p:cNvPr name="Freeform 57" id="57"/>
            <p:cNvSpPr/>
            <p:nvPr/>
          </p:nvSpPr>
          <p:spPr>
            <a:xfrm flipH="false" flipV="false" rot="0">
              <a:off x="0" y="0"/>
              <a:ext cx="6883400" cy="1122680"/>
            </a:xfrm>
            <a:custGeom>
              <a:avLst/>
              <a:gdLst/>
              <a:ahLst/>
              <a:cxnLst/>
              <a:rect r="r" b="b" t="t" l="l"/>
              <a:pathLst>
                <a:path h="1122680" w="6883400">
                  <a:moveTo>
                    <a:pt x="0" y="168402"/>
                  </a:moveTo>
                  <a:cubicBezTo>
                    <a:pt x="0" y="75438"/>
                    <a:pt x="75438" y="0"/>
                    <a:pt x="168402" y="0"/>
                  </a:cubicBezTo>
                  <a:lnTo>
                    <a:pt x="6714998" y="0"/>
                  </a:lnTo>
                  <a:cubicBezTo>
                    <a:pt x="6807962" y="0"/>
                    <a:pt x="6883400" y="75438"/>
                    <a:pt x="6883400" y="168402"/>
                  </a:cubicBezTo>
                  <a:lnTo>
                    <a:pt x="6883400" y="954278"/>
                  </a:lnTo>
                  <a:cubicBezTo>
                    <a:pt x="6883400" y="1047242"/>
                    <a:pt x="6807962" y="1122680"/>
                    <a:pt x="6714998" y="1122680"/>
                  </a:cubicBezTo>
                  <a:lnTo>
                    <a:pt x="168402" y="1122680"/>
                  </a:lnTo>
                  <a:cubicBezTo>
                    <a:pt x="75438" y="1122680"/>
                    <a:pt x="0" y="1047242"/>
                    <a:pt x="0" y="954278"/>
                  </a:cubicBezTo>
                  <a:close/>
                </a:path>
              </a:pathLst>
            </a:custGeom>
            <a:solidFill>
              <a:srgbClr val="2E9E6B"/>
            </a:solidFill>
            <a:ln w="19050" cap="sq">
              <a:solidFill>
                <a:srgbClr val="2E9E6B"/>
              </a:solidFill>
              <a:prstDash val="solid"/>
              <a:miter/>
            </a:ln>
          </p:spPr>
        </p:sp>
      </p:grpSp>
      <p:grpSp>
        <p:nvGrpSpPr>
          <p:cNvPr name="Group 58" id="58"/>
          <p:cNvGrpSpPr/>
          <p:nvPr/>
        </p:nvGrpSpPr>
        <p:grpSpPr>
          <a:xfrm rot="0">
            <a:off x="12124944" y="6213348"/>
            <a:ext cx="5143500" cy="521208"/>
            <a:chOff x="0" y="0"/>
            <a:chExt cx="6858000" cy="694944"/>
          </a:xfrm>
        </p:grpSpPr>
        <p:sp>
          <p:nvSpPr>
            <p:cNvPr name="Freeform 59" id="59"/>
            <p:cNvSpPr/>
            <p:nvPr/>
          </p:nvSpPr>
          <p:spPr>
            <a:xfrm flipH="false" flipV="false" rot="0">
              <a:off x="0" y="0"/>
              <a:ext cx="6858000" cy="694944"/>
            </a:xfrm>
            <a:custGeom>
              <a:avLst/>
              <a:gdLst/>
              <a:ahLst/>
              <a:cxnLst/>
              <a:rect r="r" b="b" t="t" l="l"/>
              <a:pathLst>
                <a:path h="694944" w="6858000">
                  <a:moveTo>
                    <a:pt x="0" y="0"/>
                  </a:moveTo>
                  <a:lnTo>
                    <a:pt x="6858000" y="0"/>
                  </a:lnTo>
                  <a:lnTo>
                    <a:pt x="6858000" y="694944"/>
                  </a:lnTo>
                  <a:lnTo>
                    <a:pt x="0" y="694944"/>
                  </a:lnTo>
                  <a:close/>
                </a:path>
              </a:pathLst>
            </a:custGeom>
            <a:blipFill>
              <a:blip r:embed="rId2">
                <a:alphaModFix amt="0"/>
              </a:blip>
              <a:stretch>
                <a:fillRect l="0" t="-142286" r="0" b="-142286"/>
              </a:stretch>
            </a:blipFill>
          </p:spPr>
        </p:sp>
        <p:sp>
          <p:nvSpPr>
            <p:cNvPr name="TextBox 60" id="60"/>
            <p:cNvSpPr txBox="true"/>
            <p:nvPr/>
          </p:nvSpPr>
          <p:spPr>
            <a:xfrm>
              <a:off x="0" y="-38100"/>
              <a:ext cx="6858000" cy="733044"/>
            </a:xfrm>
            <a:prstGeom prst="rect">
              <a:avLst/>
            </a:prstGeom>
          </p:spPr>
          <p:txBody>
            <a:bodyPr anchor="ctr" rtlCol="false" tIns="0" lIns="0" bIns="0" rIns="0"/>
            <a:lstStyle/>
            <a:p>
              <a:pPr algn="ctr">
                <a:lnSpc>
                  <a:spcPts val="2430"/>
                </a:lnSpc>
              </a:pPr>
              <a:r>
                <a:rPr lang="en-US" sz="2025" b="true">
                  <a:solidFill>
                    <a:srgbClr val="FFFFFF"/>
                  </a:solidFill>
                  <a:latin typeface="Calibri (MS) Bold"/>
                  <a:ea typeface="Calibri (MS) Bold"/>
                  <a:cs typeface="Calibri (MS) Bold"/>
                  <a:sym typeface="Calibri (MS) Bold"/>
                </a:rPr>
                <a:t>✓  Recover</a:t>
              </a:r>
            </a:p>
          </p:txBody>
        </p:sp>
      </p:grpSp>
      <p:grpSp>
        <p:nvGrpSpPr>
          <p:cNvPr name="Group 61" id="61"/>
          <p:cNvGrpSpPr/>
          <p:nvPr/>
        </p:nvGrpSpPr>
        <p:grpSpPr>
          <a:xfrm rot="0">
            <a:off x="12124944" y="6583680"/>
            <a:ext cx="5143500" cy="329184"/>
            <a:chOff x="0" y="0"/>
            <a:chExt cx="6858000" cy="438912"/>
          </a:xfrm>
        </p:grpSpPr>
        <p:sp>
          <p:nvSpPr>
            <p:cNvPr name="Freeform 62" id="62"/>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63" id="63"/>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FFFFFF"/>
                  </a:solidFill>
                  <a:latin typeface="Arimo"/>
                  <a:ea typeface="Arimo"/>
                  <a:cs typeface="Arimo"/>
                  <a:sym typeface="Arimo"/>
                </a:rPr>
                <a:t>RC</a:t>
              </a:r>
            </a:p>
          </p:txBody>
        </p:sp>
      </p:grpSp>
      <p:grpSp>
        <p:nvGrpSpPr>
          <p:cNvPr name="Group 64" id="64"/>
          <p:cNvGrpSpPr/>
          <p:nvPr/>
        </p:nvGrpSpPr>
        <p:grpSpPr>
          <a:xfrm rot="0">
            <a:off x="950595" y="7328535"/>
            <a:ext cx="16341090" cy="1596390"/>
            <a:chOff x="0" y="0"/>
            <a:chExt cx="21788120" cy="2128520"/>
          </a:xfrm>
        </p:grpSpPr>
        <p:sp>
          <p:nvSpPr>
            <p:cNvPr name="Freeform 65" id="65"/>
            <p:cNvSpPr/>
            <p:nvPr/>
          </p:nvSpPr>
          <p:spPr>
            <a:xfrm flipH="false" flipV="false" rot="0">
              <a:off x="0" y="0"/>
              <a:ext cx="21788120" cy="2128520"/>
            </a:xfrm>
            <a:custGeom>
              <a:avLst/>
              <a:gdLst/>
              <a:ahLst/>
              <a:cxnLst/>
              <a:rect r="r" b="b" t="t" l="l"/>
              <a:pathLst>
                <a:path h="2128520" w="21788120">
                  <a:moveTo>
                    <a:pt x="0" y="185039"/>
                  </a:moveTo>
                  <a:cubicBezTo>
                    <a:pt x="0" y="82931"/>
                    <a:pt x="82931" y="0"/>
                    <a:pt x="185039" y="0"/>
                  </a:cubicBezTo>
                  <a:lnTo>
                    <a:pt x="21603081" y="0"/>
                  </a:lnTo>
                  <a:cubicBezTo>
                    <a:pt x="21705317" y="0"/>
                    <a:pt x="21788120" y="82931"/>
                    <a:pt x="21788120" y="185039"/>
                  </a:cubicBezTo>
                  <a:lnTo>
                    <a:pt x="21788120" y="1943481"/>
                  </a:lnTo>
                  <a:cubicBezTo>
                    <a:pt x="21788120" y="2045716"/>
                    <a:pt x="21705190" y="2128520"/>
                    <a:pt x="21603081" y="2128520"/>
                  </a:cubicBezTo>
                  <a:lnTo>
                    <a:pt x="185039" y="2128520"/>
                  </a:lnTo>
                  <a:cubicBezTo>
                    <a:pt x="82931" y="2128520"/>
                    <a:pt x="0" y="2045589"/>
                    <a:pt x="0" y="1943481"/>
                  </a:cubicBezTo>
                  <a:close/>
                </a:path>
              </a:pathLst>
            </a:custGeom>
            <a:solidFill>
              <a:srgbClr val="FBF9F4"/>
            </a:solidFill>
            <a:ln w="19050" cap="sq">
              <a:solidFill>
                <a:srgbClr val="EFE6D2"/>
              </a:solidFill>
              <a:prstDash val="solid"/>
              <a:miter/>
            </a:ln>
          </p:spPr>
        </p:sp>
      </p:grpSp>
      <p:sp>
        <p:nvSpPr>
          <p:cNvPr name="TextBox 66" id="66"/>
          <p:cNvSpPr txBox="true"/>
          <p:nvPr/>
        </p:nvSpPr>
        <p:spPr>
          <a:xfrm rot="0">
            <a:off x="1463040" y="7494270"/>
            <a:ext cx="15316200" cy="1238250"/>
          </a:xfrm>
          <a:prstGeom prst="rect">
            <a:avLst/>
          </a:prstGeom>
        </p:spPr>
        <p:txBody>
          <a:bodyPr anchor="t" rtlCol="false" tIns="0" lIns="0" bIns="0" rIns="0">
            <a:spAutoFit/>
          </a:bodyPr>
          <a:lstStyle/>
          <a:p>
            <a:pPr algn="l">
              <a:lnSpc>
                <a:spcPts val="2880"/>
              </a:lnSpc>
            </a:pPr>
            <a:r>
              <a:rPr lang="en-US" sz="1875">
                <a:solidFill>
                  <a:srgbClr val="23262F"/>
                </a:solidFill>
                <a:latin typeface="Calibri (MS)"/>
                <a:ea typeface="Calibri (MS)"/>
                <a:cs typeface="Calibri (MS)"/>
                <a:sym typeface="Calibri (MS)"/>
              </a:rPr>
              <a:t>The incident (data loss) is over — this is entirely about restoring what was affected and getting the service back to a trustworthy state. That's Recover.</a:t>
            </a:r>
          </a:p>
        </p:txBody>
      </p:sp>
      <p:grpSp>
        <p:nvGrpSpPr>
          <p:cNvPr name="Group 67" id="67"/>
          <p:cNvGrpSpPr/>
          <p:nvPr/>
        </p:nvGrpSpPr>
        <p:grpSpPr>
          <a:xfrm rot="0">
            <a:off x="685800" y="9710928"/>
            <a:ext cx="10972800" cy="411480"/>
            <a:chOff x="0" y="0"/>
            <a:chExt cx="14630400" cy="548640"/>
          </a:xfrm>
        </p:grpSpPr>
        <p:sp>
          <p:nvSpPr>
            <p:cNvPr name="Freeform 68" id="68"/>
            <p:cNvSpPr/>
            <p:nvPr/>
          </p:nvSpPr>
          <p:spPr>
            <a:xfrm flipH="false" flipV="false" rot="0">
              <a:off x="0" y="0"/>
              <a:ext cx="14630400" cy="548640"/>
            </a:xfrm>
            <a:custGeom>
              <a:avLst/>
              <a:gdLst/>
              <a:ahLst/>
              <a:cxnLst/>
              <a:rect r="r" b="b" t="t" l="l"/>
              <a:pathLst>
                <a:path h="548640" w="14630400">
                  <a:moveTo>
                    <a:pt x="0" y="0"/>
                  </a:moveTo>
                  <a:lnTo>
                    <a:pt x="14630400" y="0"/>
                  </a:lnTo>
                  <a:lnTo>
                    <a:pt x="14630400" y="548640"/>
                  </a:lnTo>
                  <a:lnTo>
                    <a:pt x="0" y="548640"/>
                  </a:lnTo>
                  <a:close/>
                </a:path>
              </a:pathLst>
            </a:custGeom>
            <a:blipFill>
              <a:blip r:embed="rId2">
                <a:alphaModFix amt="0"/>
              </a:blip>
              <a:stretch>
                <a:fillRect l="0" t="-469601" r="0" b="-469601"/>
              </a:stretch>
            </a:blipFill>
          </p:spPr>
        </p:sp>
        <p:sp>
          <p:nvSpPr>
            <p:cNvPr name="TextBox 69" id="69"/>
            <p:cNvSpPr txBox="true"/>
            <p:nvPr/>
          </p:nvSpPr>
          <p:spPr>
            <a:xfrm>
              <a:off x="0" y="-38100"/>
              <a:ext cx="14630400" cy="586740"/>
            </a:xfrm>
            <a:prstGeom prst="rect">
              <a:avLst/>
            </a:prstGeom>
          </p:spPr>
          <p:txBody>
            <a:bodyPr anchor="ctr" rtlCol="false" tIns="0" lIns="0" bIns="0" rIns="0"/>
            <a:lstStyle/>
            <a:p>
              <a:pPr algn="l">
                <a:lnSpc>
                  <a:spcPts val="1800"/>
                </a:lnSpc>
              </a:pPr>
              <a:r>
                <a:rPr lang="en-US" sz="1500">
                  <a:solidFill>
                    <a:srgbClr val="6B7280"/>
                  </a:solidFill>
                  <a:latin typeface="Calibri (MS)"/>
                  <a:ea typeface="Calibri (MS)"/>
                  <a:cs typeface="Calibri (MS)"/>
                  <a:sym typeface="Calibri (MS)"/>
                </a:rPr>
                <a:t>Davao del Norte Provincial Government — Cybersecurity Seminar</a:t>
              </a:r>
            </a:p>
          </p:txBody>
        </p:sp>
      </p:grpSp>
      <p:grpSp>
        <p:nvGrpSpPr>
          <p:cNvPr name="Group 70" id="70"/>
          <p:cNvGrpSpPr/>
          <p:nvPr/>
        </p:nvGrpSpPr>
        <p:grpSpPr>
          <a:xfrm rot="0">
            <a:off x="16911828" y="9710928"/>
            <a:ext cx="685800" cy="411480"/>
            <a:chOff x="0" y="0"/>
            <a:chExt cx="914400" cy="548640"/>
          </a:xfrm>
        </p:grpSpPr>
        <p:sp>
          <p:nvSpPr>
            <p:cNvPr name="Freeform 71" id="71"/>
            <p:cNvSpPr/>
            <p:nvPr/>
          </p:nvSpPr>
          <p:spPr>
            <a:xfrm flipH="false" flipV="false" rot="0">
              <a:off x="0" y="0"/>
              <a:ext cx="914400" cy="548640"/>
            </a:xfrm>
            <a:custGeom>
              <a:avLst/>
              <a:gdLst/>
              <a:ahLst/>
              <a:cxnLst/>
              <a:rect r="r" b="b" t="t" l="l"/>
              <a:pathLst>
                <a:path h="548640" w="914400">
                  <a:moveTo>
                    <a:pt x="0" y="0"/>
                  </a:moveTo>
                  <a:lnTo>
                    <a:pt x="914400" y="0"/>
                  </a:lnTo>
                  <a:lnTo>
                    <a:pt x="914400" y="548640"/>
                  </a:lnTo>
                  <a:lnTo>
                    <a:pt x="0" y="548640"/>
                  </a:lnTo>
                  <a:close/>
                </a:path>
              </a:pathLst>
            </a:custGeom>
            <a:blipFill>
              <a:blip r:embed="rId2">
                <a:alphaModFix amt="0"/>
              </a:blip>
              <a:stretch>
                <a:fillRect l="-26982" t="0" r="-26982" b="0"/>
              </a:stretch>
            </a:blipFill>
          </p:spPr>
        </p:sp>
        <p:sp>
          <p:nvSpPr>
            <p:cNvPr name="TextBox 72" id="72"/>
            <p:cNvSpPr txBox="true"/>
            <p:nvPr/>
          </p:nvSpPr>
          <p:spPr>
            <a:xfrm>
              <a:off x="0" y="-38100"/>
              <a:ext cx="914400" cy="586740"/>
            </a:xfrm>
            <a:prstGeom prst="rect">
              <a:avLst/>
            </a:prstGeom>
          </p:spPr>
          <p:txBody>
            <a:bodyPr anchor="ctr" rtlCol="false" tIns="0" lIns="0" bIns="0" rIns="0"/>
            <a:lstStyle/>
            <a:p>
              <a:pPr algn="r">
                <a:lnSpc>
                  <a:spcPts val="1800"/>
                </a:lnSpc>
              </a:pPr>
              <a:r>
                <a:rPr lang="en-US" sz="1500">
                  <a:solidFill>
                    <a:srgbClr val="6B7280"/>
                  </a:solidFill>
                  <a:latin typeface="Calibri (MS)"/>
                  <a:ea typeface="Calibri (MS)"/>
                  <a:cs typeface="Calibri (MS)"/>
                  <a:sym typeface="Calibri (MS)"/>
                </a:rPr>
                <a:t>34</a:t>
              </a:r>
            </a:p>
          </p:txBody>
        </p:sp>
      </p:grpSp>
    </p:spTree>
  </p:cSld>
  <p:clrMapOvr>
    <a:masterClrMapping/>
  </p:clrMapOvr>
</p:sld>
</file>

<file path=ppt/slides/slide10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60120" y="685800"/>
            <a:ext cx="13716000" cy="411480"/>
            <a:chOff x="0" y="0"/>
            <a:chExt cx="18288000" cy="548640"/>
          </a:xfrm>
        </p:grpSpPr>
        <p:sp>
          <p:nvSpPr>
            <p:cNvPr name="Freeform 3" id="3"/>
            <p:cNvSpPr/>
            <p:nvPr/>
          </p:nvSpPr>
          <p:spPr>
            <a:xfrm flipH="false" flipV="false" rot="0">
              <a:off x="0" y="0"/>
              <a:ext cx="18288000" cy="548640"/>
            </a:xfrm>
            <a:custGeom>
              <a:avLst/>
              <a:gdLst/>
              <a:ahLst/>
              <a:cxnLst/>
              <a:rect r="r" b="b" t="t" l="l"/>
              <a:pathLst>
                <a:path h="548640" w="18288000">
                  <a:moveTo>
                    <a:pt x="0" y="0"/>
                  </a:moveTo>
                  <a:lnTo>
                    <a:pt x="18288000" y="0"/>
                  </a:lnTo>
                  <a:lnTo>
                    <a:pt x="18288000" y="548640"/>
                  </a:lnTo>
                  <a:lnTo>
                    <a:pt x="0" y="548640"/>
                  </a:lnTo>
                  <a:close/>
                </a:path>
              </a:pathLst>
            </a:custGeom>
            <a:blipFill>
              <a:blip r:embed="rId2">
                <a:alphaModFix amt="0"/>
              </a:blip>
              <a:stretch>
                <a:fillRect l="0" t="-599501" r="0" b="-599501"/>
              </a:stretch>
            </a:blipFill>
          </p:spPr>
        </p:sp>
        <p:sp>
          <p:nvSpPr>
            <p:cNvPr name="TextBox 4" id="4"/>
            <p:cNvSpPr txBox="true"/>
            <p:nvPr/>
          </p:nvSpPr>
          <p:spPr>
            <a:xfrm>
              <a:off x="0" y="-38100"/>
              <a:ext cx="18288000" cy="586740"/>
            </a:xfrm>
            <a:prstGeom prst="rect">
              <a:avLst/>
            </a:prstGeom>
          </p:spPr>
          <p:txBody>
            <a:bodyPr anchor="ctr" rtlCol="false" tIns="0" lIns="0" bIns="0" rIns="0"/>
            <a:lstStyle/>
            <a:p>
              <a:pPr algn="l">
                <a:lnSpc>
                  <a:spcPts val="2160"/>
                </a:lnSpc>
              </a:pPr>
              <a:r>
                <a:rPr lang="en-US" b="true" sz="1800" spc="225">
                  <a:solidFill>
                    <a:srgbClr val="00B4D8"/>
                  </a:solidFill>
                  <a:latin typeface="Calibri (MS) Bold"/>
                  <a:ea typeface="Calibri (MS) Bold"/>
                  <a:cs typeface="Calibri (MS) Bold"/>
                  <a:sym typeface="Calibri (MS) Bold"/>
                </a:rPr>
                <a:t>NIST CSF SORT · SCENARIO</a:t>
              </a:r>
            </a:p>
          </p:txBody>
        </p:sp>
      </p:grpSp>
      <p:grpSp>
        <p:nvGrpSpPr>
          <p:cNvPr name="Group 5" id="5"/>
          <p:cNvGrpSpPr/>
          <p:nvPr/>
        </p:nvGrpSpPr>
        <p:grpSpPr>
          <a:xfrm rot="0">
            <a:off x="960120" y="1069848"/>
            <a:ext cx="10972800" cy="822960"/>
            <a:chOff x="0" y="0"/>
            <a:chExt cx="14630400" cy="1097280"/>
          </a:xfrm>
        </p:grpSpPr>
        <p:sp>
          <p:nvSpPr>
            <p:cNvPr name="Freeform 6" id="6"/>
            <p:cNvSpPr/>
            <p:nvPr/>
          </p:nvSpPr>
          <p:spPr>
            <a:xfrm flipH="false" flipV="false" rot="0">
              <a:off x="0" y="0"/>
              <a:ext cx="14630400" cy="1097280"/>
            </a:xfrm>
            <a:custGeom>
              <a:avLst/>
              <a:gdLst/>
              <a:ahLst/>
              <a:cxnLst/>
              <a:rect r="r" b="b" t="t" l="l"/>
              <a:pathLst>
                <a:path h="1097280" w="14630400">
                  <a:moveTo>
                    <a:pt x="0" y="0"/>
                  </a:moveTo>
                  <a:lnTo>
                    <a:pt x="14630400" y="0"/>
                  </a:lnTo>
                  <a:lnTo>
                    <a:pt x="14630400" y="1097280"/>
                  </a:lnTo>
                  <a:lnTo>
                    <a:pt x="0" y="1097280"/>
                  </a:lnTo>
                  <a:close/>
                </a:path>
              </a:pathLst>
            </a:custGeom>
            <a:blipFill>
              <a:blip r:embed="rId2">
                <a:alphaModFix amt="0"/>
              </a:blip>
              <a:stretch>
                <a:fillRect l="0" t="-209800" r="0" b="-209800"/>
              </a:stretch>
            </a:blipFill>
          </p:spPr>
        </p:sp>
        <p:sp>
          <p:nvSpPr>
            <p:cNvPr name="TextBox 7" id="7"/>
            <p:cNvSpPr txBox="true"/>
            <p:nvPr/>
          </p:nvSpPr>
          <p:spPr>
            <a:xfrm>
              <a:off x="0" y="0"/>
              <a:ext cx="14630400" cy="1097280"/>
            </a:xfrm>
            <a:prstGeom prst="rect">
              <a:avLst/>
            </a:prstGeom>
          </p:spPr>
          <p:txBody>
            <a:bodyPr anchor="ctr" rtlCol="false" tIns="0" lIns="0" bIns="0" rIns="0"/>
            <a:lstStyle/>
            <a:p>
              <a:pPr algn="l">
                <a:lnSpc>
                  <a:spcPts val="4680"/>
                </a:lnSpc>
              </a:pPr>
              <a:r>
                <a:rPr lang="en-US" sz="3900" b="true">
                  <a:solidFill>
                    <a:srgbClr val="1E2761"/>
                  </a:solidFill>
                  <a:latin typeface="Cambria Bold"/>
                  <a:ea typeface="Cambria Bold"/>
                  <a:cs typeface="Cambria Bold"/>
                  <a:sym typeface="Cambria Bold"/>
                </a:rPr>
                <a:t>Scenario 13</a:t>
              </a:r>
            </a:p>
          </p:txBody>
        </p:sp>
      </p:grpSp>
      <p:grpSp>
        <p:nvGrpSpPr>
          <p:cNvPr name="Group 8" id="8"/>
          <p:cNvGrpSpPr/>
          <p:nvPr/>
        </p:nvGrpSpPr>
        <p:grpSpPr>
          <a:xfrm rot="0">
            <a:off x="960120" y="1810512"/>
            <a:ext cx="8229600" cy="411480"/>
            <a:chOff x="0" y="0"/>
            <a:chExt cx="10972800" cy="548640"/>
          </a:xfrm>
        </p:grpSpPr>
        <p:sp>
          <p:nvSpPr>
            <p:cNvPr name="Freeform 9" id="9"/>
            <p:cNvSpPr/>
            <p:nvPr/>
          </p:nvSpPr>
          <p:spPr>
            <a:xfrm flipH="false" flipV="false" rot="0">
              <a:off x="0" y="0"/>
              <a:ext cx="10972800" cy="548640"/>
            </a:xfrm>
            <a:custGeom>
              <a:avLst/>
              <a:gdLst/>
              <a:ahLst/>
              <a:cxnLst/>
              <a:rect r="r" b="b" t="t" l="l"/>
              <a:pathLst>
                <a:path h="548640" w="10972800">
                  <a:moveTo>
                    <a:pt x="0" y="0"/>
                  </a:moveTo>
                  <a:lnTo>
                    <a:pt x="10972800" y="0"/>
                  </a:lnTo>
                  <a:lnTo>
                    <a:pt x="10972800" y="548640"/>
                  </a:lnTo>
                  <a:lnTo>
                    <a:pt x="0" y="548640"/>
                  </a:lnTo>
                  <a:close/>
                </a:path>
              </a:pathLst>
            </a:custGeom>
            <a:blipFill>
              <a:blip r:embed="rId2">
                <a:alphaModFix amt="0"/>
              </a:blip>
              <a:stretch>
                <a:fillRect l="0" t="-339700" r="0" b="-339700"/>
              </a:stretch>
            </a:blipFill>
          </p:spPr>
        </p:sp>
        <p:sp>
          <p:nvSpPr>
            <p:cNvPr name="TextBox 10" id="10"/>
            <p:cNvSpPr txBox="true"/>
            <p:nvPr/>
          </p:nvSpPr>
          <p:spPr>
            <a:xfrm>
              <a:off x="0" y="-28575"/>
              <a:ext cx="10972800" cy="577215"/>
            </a:xfrm>
            <a:prstGeom prst="rect">
              <a:avLst/>
            </a:prstGeom>
          </p:spPr>
          <p:txBody>
            <a:bodyPr anchor="ctr" rtlCol="false" tIns="0" lIns="0" bIns="0" rIns="0"/>
            <a:lstStyle/>
            <a:p>
              <a:pPr algn="l">
                <a:lnSpc>
                  <a:spcPts val="1980"/>
                </a:lnSpc>
              </a:pPr>
              <a:r>
                <a:rPr lang="en-US" sz="1650">
                  <a:solidFill>
                    <a:srgbClr val="6B7280"/>
                  </a:solidFill>
                  <a:latin typeface="Calibri (MS)"/>
                  <a:ea typeface="Calibri (MS)"/>
                  <a:cs typeface="Calibri (MS)"/>
                  <a:sym typeface="Calibri (MS)"/>
                </a:rPr>
                <a:t>13 of 20</a:t>
              </a:r>
            </a:p>
          </p:txBody>
        </p:sp>
      </p:grpSp>
      <p:grpSp>
        <p:nvGrpSpPr>
          <p:cNvPr name="Group 11" id="11"/>
          <p:cNvGrpSpPr/>
          <p:nvPr/>
        </p:nvGrpSpPr>
        <p:grpSpPr>
          <a:xfrm rot="0">
            <a:off x="960120" y="2537460"/>
            <a:ext cx="16322040" cy="2811780"/>
            <a:chOff x="0" y="0"/>
            <a:chExt cx="21762720" cy="3749040"/>
          </a:xfrm>
        </p:grpSpPr>
        <p:sp>
          <p:nvSpPr>
            <p:cNvPr name="Freeform 12" id="12"/>
            <p:cNvSpPr/>
            <p:nvPr/>
          </p:nvSpPr>
          <p:spPr>
            <a:xfrm flipH="false" flipV="false" rot="0">
              <a:off x="0" y="0"/>
              <a:ext cx="21762720" cy="3749040"/>
            </a:xfrm>
            <a:custGeom>
              <a:avLst/>
              <a:gdLst/>
              <a:ahLst/>
              <a:cxnLst/>
              <a:rect r="r" b="b" t="t" l="l"/>
              <a:pathLst>
                <a:path h="3749040" w="21762720">
                  <a:moveTo>
                    <a:pt x="0" y="182880"/>
                  </a:moveTo>
                  <a:cubicBezTo>
                    <a:pt x="0" y="81915"/>
                    <a:pt x="81915" y="0"/>
                    <a:pt x="182880" y="0"/>
                  </a:cubicBezTo>
                  <a:lnTo>
                    <a:pt x="21579839" y="0"/>
                  </a:lnTo>
                  <a:cubicBezTo>
                    <a:pt x="21680804" y="0"/>
                    <a:pt x="21762720" y="81915"/>
                    <a:pt x="21762720" y="182880"/>
                  </a:cubicBezTo>
                  <a:lnTo>
                    <a:pt x="21762720" y="3566160"/>
                  </a:lnTo>
                  <a:cubicBezTo>
                    <a:pt x="21762720" y="3667125"/>
                    <a:pt x="21680804" y="3749040"/>
                    <a:pt x="21579839" y="3749040"/>
                  </a:cubicBezTo>
                  <a:lnTo>
                    <a:pt x="182880" y="3749040"/>
                  </a:lnTo>
                  <a:cubicBezTo>
                    <a:pt x="81915" y="3749040"/>
                    <a:pt x="0" y="3667125"/>
                    <a:pt x="0" y="3566160"/>
                  </a:cubicBezTo>
                  <a:close/>
                </a:path>
              </a:pathLst>
            </a:custGeom>
            <a:solidFill>
              <a:srgbClr val="F4F7FC"/>
            </a:solidFill>
          </p:spPr>
        </p:sp>
      </p:grpSp>
      <p:grpSp>
        <p:nvGrpSpPr>
          <p:cNvPr name="Group 13" id="13"/>
          <p:cNvGrpSpPr/>
          <p:nvPr/>
        </p:nvGrpSpPr>
        <p:grpSpPr>
          <a:xfrm rot="0">
            <a:off x="1440180" y="2811780"/>
            <a:ext cx="15361920" cy="2263140"/>
            <a:chOff x="0" y="0"/>
            <a:chExt cx="20482560" cy="3017520"/>
          </a:xfrm>
        </p:grpSpPr>
        <p:sp>
          <p:nvSpPr>
            <p:cNvPr name="Freeform 14" id="14"/>
            <p:cNvSpPr/>
            <p:nvPr/>
          </p:nvSpPr>
          <p:spPr>
            <a:xfrm flipH="false" flipV="false" rot="0">
              <a:off x="0" y="0"/>
              <a:ext cx="20482561" cy="3017520"/>
            </a:xfrm>
            <a:custGeom>
              <a:avLst/>
              <a:gdLst/>
              <a:ahLst/>
              <a:cxnLst/>
              <a:rect r="r" b="b" t="t" l="l"/>
              <a:pathLst>
                <a:path h="3017520" w="20482561">
                  <a:moveTo>
                    <a:pt x="0" y="0"/>
                  </a:moveTo>
                  <a:lnTo>
                    <a:pt x="20482561" y="0"/>
                  </a:lnTo>
                  <a:lnTo>
                    <a:pt x="20482561" y="3017520"/>
                  </a:lnTo>
                  <a:lnTo>
                    <a:pt x="0" y="3017520"/>
                  </a:lnTo>
                  <a:close/>
                </a:path>
              </a:pathLst>
            </a:custGeom>
            <a:blipFill>
              <a:blip r:embed="rId2">
                <a:alphaModFix amt="0"/>
              </a:blip>
              <a:stretch>
                <a:fillRect l="0" t="-82262" r="0" b="-82262"/>
              </a:stretch>
            </a:blipFill>
          </p:spPr>
        </p:sp>
        <p:sp>
          <p:nvSpPr>
            <p:cNvPr name="TextBox 15" id="15"/>
            <p:cNvSpPr txBox="true"/>
            <p:nvPr/>
          </p:nvSpPr>
          <p:spPr>
            <a:xfrm>
              <a:off x="0" y="-104775"/>
              <a:ext cx="20482560" cy="3122295"/>
            </a:xfrm>
            <a:prstGeom prst="rect">
              <a:avLst/>
            </a:prstGeom>
          </p:spPr>
          <p:txBody>
            <a:bodyPr anchor="ctr" rtlCol="false" tIns="0" lIns="0" bIns="0" rIns="0"/>
            <a:lstStyle/>
            <a:p>
              <a:pPr algn="l">
                <a:lnSpc>
                  <a:spcPts val="4147"/>
                </a:lnSpc>
              </a:pPr>
              <a:r>
                <a:rPr lang="en-US" sz="2700" i="true">
                  <a:solidFill>
                    <a:srgbClr val="23262F"/>
                  </a:solidFill>
                  <a:latin typeface="Cambria Italics"/>
                  <a:ea typeface="Cambria Italics"/>
                  <a:cs typeface="Cambria Italics"/>
                  <a:sym typeface="Cambria Italics"/>
                </a:rPr>
                <a:t>"The provincial council approves a dedicated annual budget line for cybersecurity, instead of pulling funds ad hoc whenever something breaks."</a:t>
              </a:r>
            </a:p>
          </p:txBody>
        </p:sp>
      </p:grpSp>
      <p:sp>
        <p:nvSpPr>
          <p:cNvPr name="TextBox 16" id="16"/>
          <p:cNvSpPr txBox="true"/>
          <p:nvPr/>
        </p:nvSpPr>
        <p:spPr>
          <a:xfrm rot="0">
            <a:off x="1051560" y="5604510"/>
            <a:ext cx="16139160" cy="1276350"/>
          </a:xfrm>
          <a:prstGeom prst="rect">
            <a:avLst/>
          </a:prstGeom>
        </p:spPr>
        <p:txBody>
          <a:bodyPr anchor="t" rtlCol="false" tIns="0" lIns="0" bIns="0" rIns="0">
            <a:spAutoFit/>
          </a:bodyPr>
          <a:lstStyle/>
          <a:p>
            <a:pPr algn="ctr">
              <a:lnSpc>
                <a:spcPts val="3402"/>
              </a:lnSpc>
            </a:pPr>
            <a:r>
              <a:rPr lang="en-US" sz="2100" i="true">
                <a:solidFill>
                  <a:srgbClr val="6B7280"/>
                </a:solidFill>
                <a:latin typeface="Calibri (MS) Italics"/>
                <a:ea typeface="Calibri (MS) Italics"/>
                <a:cs typeface="Calibri (MS) Italics"/>
                <a:sym typeface="Calibri (MS) Italics"/>
              </a:rPr>
              <a:t>Which Function does this belong to — Govern, Identify, Protect, Detect, Respond, or Recover?</a:t>
            </a:r>
          </a:p>
          <a:p>
            <a:pPr algn="ctr">
              <a:lnSpc>
                <a:spcPts val="3402"/>
              </a:lnSpc>
            </a:pPr>
            <a:r>
              <a:rPr lang="en-US" sz="2100" i="true">
                <a:solidFill>
                  <a:srgbClr val="6B7280"/>
                </a:solidFill>
                <a:latin typeface="Calibri (MS) Italics"/>
                <a:ea typeface="Calibri (MS) Italics"/>
                <a:cs typeface="Calibri (MS) Italics"/>
                <a:sym typeface="Calibri (MS) Italics"/>
              </a:rPr>
              <a:t>Some belong to more than one. Discuss, then we'll reveal the answer.</a:t>
            </a:r>
          </a:p>
        </p:txBody>
      </p:sp>
      <p:grpSp>
        <p:nvGrpSpPr>
          <p:cNvPr name="Group 17" id="17"/>
          <p:cNvGrpSpPr/>
          <p:nvPr/>
        </p:nvGrpSpPr>
        <p:grpSpPr>
          <a:xfrm rot="0">
            <a:off x="950595" y="7122795"/>
            <a:ext cx="5162550" cy="910590"/>
            <a:chOff x="0" y="0"/>
            <a:chExt cx="6883400" cy="1214120"/>
          </a:xfrm>
        </p:grpSpPr>
        <p:sp>
          <p:nvSpPr>
            <p:cNvPr name="Freeform 18" id="18"/>
            <p:cNvSpPr/>
            <p:nvPr/>
          </p:nvSpPr>
          <p:spPr>
            <a:xfrm flipH="false" flipV="false" rot="0">
              <a:off x="0" y="0"/>
              <a:ext cx="6883400" cy="1214120"/>
            </a:xfrm>
            <a:custGeom>
              <a:avLst/>
              <a:gdLst/>
              <a:ahLst/>
              <a:cxnLst/>
              <a:rect r="r" b="b" t="t" l="l"/>
              <a:pathLst>
                <a:path h="1214120" w="6883400">
                  <a:moveTo>
                    <a:pt x="0" y="168148"/>
                  </a:moveTo>
                  <a:cubicBezTo>
                    <a:pt x="0" y="75311"/>
                    <a:pt x="75311" y="0"/>
                    <a:pt x="168148" y="0"/>
                  </a:cubicBezTo>
                  <a:lnTo>
                    <a:pt x="6715252" y="0"/>
                  </a:lnTo>
                  <a:cubicBezTo>
                    <a:pt x="6808089" y="0"/>
                    <a:pt x="6883400" y="75311"/>
                    <a:pt x="6883400" y="168148"/>
                  </a:cubicBezTo>
                  <a:lnTo>
                    <a:pt x="6883400" y="1045972"/>
                  </a:lnTo>
                  <a:cubicBezTo>
                    <a:pt x="6883400" y="1138809"/>
                    <a:pt x="6808089" y="1214120"/>
                    <a:pt x="6715252" y="1214120"/>
                  </a:cubicBezTo>
                  <a:lnTo>
                    <a:pt x="168148" y="1214120"/>
                  </a:lnTo>
                  <a:cubicBezTo>
                    <a:pt x="75311" y="1214120"/>
                    <a:pt x="0" y="1138809"/>
                    <a:pt x="0" y="1045972"/>
                  </a:cubicBezTo>
                  <a:close/>
                </a:path>
              </a:pathLst>
            </a:custGeom>
            <a:solidFill>
              <a:srgbClr val="F4F7FC"/>
            </a:solidFill>
            <a:ln w="19050" cap="sq">
              <a:solidFill>
                <a:srgbClr val="D7DCEC"/>
              </a:solidFill>
              <a:prstDash val="solid"/>
              <a:miter/>
            </a:ln>
          </p:spPr>
        </p:sp>
      </p:grpSp>
      <p:grpSp>
        <p:nvGrpSpPr>
          <p:cNvPr name="Group 19" id="19"/>
          <p:cNvGrpSpPr/>
          <p:nvPr/>
        </p:nvGrpSpPr>
        <p:grpSpPr>
          <a:xfrm rot="0">
            <a:off x="960120" y="7200900"/>
            <a:ext cx="5143500" cy="589788"/>
            <a:chOff x="0" y="0"/>
            <a:chExt cx="6858000" cy="786384"/>
          </a:xfrm>
        </p:grpSpPr>
        <p:sp>
          <p:nvSpPr>
            <p:cNvPr name="Freeform 20" id="20"/>
            <p:cNvSpPr/>
            <p:nvPr/>
          </p:nvSpPr>
          <p:spPr>
            <a:xfrm flipH="false" flipV="false" rot="0">
              <a:off x="0" y="0"/>
              <a:ext cx="6858000" cy="786384"/>
            </a:xfrm>
            <a:custGeom>
              <a:avLst/>
              <a:gdLst/>
              <a:ahLst/>
              <a:cxnLst/>
              <a:rect r="r" b="b" t="t" l="l"/>
              <a:pathLst>
                <a:path h="786384" w="6858000">
                  <a:moveTo>
                    <a:pt x="0" y="0"/>
                  </a:moveTo>
                  <a:lnTo>
                    <a:pt x="6858000" y="0"/>
                  </a:lnTo>
                  <a:lnTo>
                    <a:pt x="6858000" y="786384"/>
                  </a:lnTo>
                  <a:lnTo>
                    <a:pt x="0" y="786384"/>
                  </a:lnTo>
                  <a:close/>
                </a:path>
              </a:pathLst>
            </a:custGeom>
            <a:blipFill>
              <a:blip r:embed="rId2">
                <a:alphaModFix amt="0"/>
              </a:blip>
              <a:stretch>
                <a:fillRect l="0" t="-119927" r="0" b="-119927"/>
              </a:stretch>
            </a:blipFill>
          </p:spPr>
        </p:sp>
        <p:sp>
          <p:nvSpPr>
            <p:cNvPr name="TextBox 21" id="21"/>
            <p:cNvSpPr txBox="true"/>
            <p:nvPr/>
          </p:nvSpPr>
          <p:spPr>
            <a:xfrm>
              <a:off x="0" y="-38100"/>
              <a:ext cx="6858000" cy="824484"/>
            </a:xfrm>
            <a:prstGeom prst="rect">
              <a:avLst/>
            </a:prstGeom>
          </p:spPr>
          <p:txBody>
            <a:bodyPr anchor="ctr" rtlCol="false" tIns="0" lIns="0" bIns="0" rIns="0"/>
            <a:lstStyle/>
            <a:p>
              <a:pPr algn="ctr">
                <a:lnSpc>
                  <a:spcPts val="2430"/>
                </a:lnSpc>
              </a:pPr>
              <a:r>
                <a:rPr lang="en-US" sz="2025">
                  <a:solidFill>
                    <a:srgbClr val="6B7280"/>
                  </a:solidFill>
                  <a:latin typeface="Calibri (MS)"/>
                  <a:ea typeface="Calibri (MS)"/>
                  <a:cs typeface="Calibri (MS)"/>
                  <a:sym typeface="Calibri (MS)"/>
                </a:rPr>
                <a:t>Govern</a:t>
              </a:r>
            </a:p>
          </p:txBody>
        </p:sp>
      </p:grpSp>
      <p:grpSp>
        <p:nvGrpSpPr>
          <p:cNvPr name="Group 22" id="22"/>
          <p:cNvGrpSpPr/>
          <p:nvPr/>
        </p:nvGrpSpPr>
        <p:grpSpPr>
          <a:xfrm rot="0">
            <a:off x="960120" y="7639812"/>
            <a:ext cx="5143500" cy="329184"/>
            <a:chOff x="0" y="0"/>
            <a:chExt cx="6858000" cy="438912"/>
          </a:xfrm>
        </p:grpSpPr>
        <p:sp>
          <p:nvSpPr>
            <p:cNvPr name="Freeform 23" id="23"/>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24" id="24"/>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9AA3B8"/>
                  </a:solidFill>
                  <a:latin typeface="Arimo"/>
                  <a:ea typeface="Arimo"/>
                  <a:cs typeface="Arimo"/>
                  <a:sym typeface="Arimo"/>
                </a:rPr>
                <a:t>GV</a:t>
              </a:r>
            </a:p>
          </p:txBody>
        </p:sp>
      </p:grpSp>
      <p:grpSp>
        <p:nvGrpSpPr>
          <p:cNvPr name="Group 25" id="25"/>
          <p:cNvGrpSpPr/>
          <p:nvPr/>
        </p:nvGrpSpPr>
        <p:grpSpPr>
          <a:xfrm rot="0">
            <a:off x="6533007" y="7122795"/>
            <a:ext cx="5162550" cy="910590"/>
            <a:chOff x="0" y="0"/>
            <a:chExt cx="6883400" cy="1214120"/>
          </a:xfrm>
        </p:grpSpPr>
        <p:sp>
          <p:nvSpPr>
            <p:cNvPr name="Freeform 26" id="26"/>
            <p:cNvSpPr/>
            <p:nvPr/>
          </p:nvSpPr>
          <p:spPr>
            <a:xfrm flipH="false" flipV="false" rot="0">
              <a:off x="0" y="0"/>
              <a:ext cx="6883400" cy="1214120"/>
            </a:xfrm>
            <a:custGeom>
              <a:avLst/>
              <a:gdLst/>
              <a:ahLst/>
              <a:cxnLst/>
              <a:rect r="r" b="b" t="t" l="l"/>
              <a:pathLst>
                <a:path h="1214120" w="6883400">
                  <a:moveTo>
                    <a:pt x="0" y="168148"/>
                  </a:moveTo>
                  <a:cubicBezTo>
                    <a:pt x="0" y="75311"/>
                    <a:pt x="75311" y="0"/>
                    <a:pt x="168148" y="0"/>
                  </a:cubicBezTo>
                  <a:lnTo>
                    <a:pt x="6715252" y="0"/>
                  </a:lnTo>
                  <a:cubicBezTo>
                    <a:pt x="6808089" y="0"/>
                    <a:pt x="6883400" y="75311"/>
                    <a:pt x="6883400" y="168148"/>
                  </a:cubicBezTo>
                  <a:lnTo>
                    <a:pt x="6883400" y="1045972"/>
                  </a:lnTo>
                  <a:cubicBezTo>
                    <a:pt x="6883400" y="1138809"/>
                    <a:pt x="6808089" y="1214120"/>
                    <a:pt x="6715252" y="1214120"/>
                  </a:cubicBezTo>
                  <a:lnTo>
                    <a:pt x="168148" y="1214120"/>
                  </a:lnTo>
                  <a:cubicBezTo>
                    <a:pt x="75311" y="1214120"/>
                    <a:pt x="0" y="1138809"/>
                    <a:pt x="0" y="1045972"/>
                  </a:cubicBezTo>
                  <a:close/>
                </a:path>
              </a:pathLst>
            </a:custGeom>
            <a:solidFill>
              <a:srgbClr val="F4F7FC"/>
            </a:solidFill>
            <a:ln w="19050" cap="sq">
              <a:solidFill>
                <a:srgbClr val="D7DCEC"/>
              </a:solidFill>
              <a:prstDash val="solid"/>
              <a:miter/>
            </a:ln>
          </p:spPr>
        </p:sp>
      </p:grpSp>
      <p:grpSp>
        <p:nvGrpSpPr>
          <p:cNvPr name="Group 27" id="27"/>
          <p:cNvGrpSpPr/>
          <p:nvPr/>
        </p:nvGrpSpPr>
        <p:grpSpPr>
          <a:xfrm rot="0">
            <a:off x="6542532" y="7200900"/>
            <a:ext cx="5143500" cy="589788"/>
            <a:chOff x="0" y="0"/>
            <a:chExt cx="6858000" cy="786384"/>
          </a:xfrm>
        </p:grpSpPr>
        <p:sp>
          <p:nvSpPr>
            <p:cNvPr name="Freeform 28" id="28"/>
            <p:cNvSpPr/>
            <p:nvPr/>
          </p:nvSpPr>
          <p:spPr>
            <a:xfrm flipH="false" flipV="false" rot="0">
              <a:off x="0" y="0"/>
              <a:ext cx="6858000" cy="786384"/>
            </a:xfrm>
            <a:custGeom>
              <a:avLst/>
              <a:gdLst/>
              <a:ahLst/>
              <a:cxnLst/>
              <a:rect r="r" b="b" t="t" l="l"/>
              <a:pathLst>
                <a:path h="786384" w="6858000">
                  <a:moveTo>
                    <a:pt x="0" y="0"/>
                  </a:moveTo>
                  <a:lnTo>
                    <a:pt x="6858000" y="0"/>
                  </a:lnTo>
                  <a:lnTo>
                    <a:pt x="6858000" y="786384"/>
                  </a:lnTo>
                  <a:lnTo>
                    <a:pt x="0" y="786384"/>
                  </a:lnTo>
                  <a:close/>
                </a:path>
              </a:pathLst>
            </a:custGeom>
            <a:blipFill>
              <a:blip r:embed="rId2">
                <a:alphaModFix amt="0"/>
              </a:blip>
              <a:stretch>
                <a:fillRect l="0" t="-119927" r="0" b="-119927"/>
              </a:stretch>
            </a:blipFill>
          </p:spPr>
        </p:sp>
        <p:sp>
          <p:nvSpPr>
            <p:cNvPr name="TextBox 29" id="29"/>
            <p:cNvSpPr txBox="true"/>
            <p:nvPr/>
          </p:nvSpPr>
          <p:spPr>
            <a:xfrm>
              <a:off x="0" y="-38100"/>
              <a:ext cx="6858000" cy="824484"/>
            </a:xfrm>
            <a:prstGeom prst="rect">
              <a:avLst/>
            </a:prstGeom>
          </p:spPr>
          <p:txBody>
            <a:bodyPr anchor="ctr" rtlCol="false" tIns="0" lIns="0" bIns="0" rIns="0"/>
            <a:lstStyle/>
            <a:p>
              <a:pPr algn="ctr">
                <a:lnSpc>
                  <a:spcPts val="2430"/>
                </a:lnSpc>
              </a:pPr>
              <a:r>
                <a:rPr lang="en-US" sz="2025">
                  <a:solidFill>
                    <a:srgbClr val="6B7280"/>
                  </a:solidFill>
                  <a:latin typeface="Calibri (MS)"/>
                  <a:ea typeface="Calibri (MS)"/>
                  <a:cs typeface="Calibri (MS)"/>
                  <a:sym typeface="Calibri (MS)"/>
                </a:rPr>
                <a:t>Identify</a:t>
              </a:r>
            </a:p>
          </p:txBody>
        </p:sp>
      </p:grpSp>
      <p:grpSp>
        <p:nvGrpSpPr>
          <p:cNvPr name="Group 30" id="30"/>
          <p:cNvGrpSpPr/>
          <p:nvPr/>
        </p:nvGrpSpPr>
        <p:grpSpPr>
          <a:xfrm rot="0">
            <a:off x="6542532" y="7639812"/>
            <a:ext cx="5143500" cy="329184"/>
            <a:chOff x="0" y="0"/>
            <a:chExt cx="6858000" cy="438912"/>
          </a:xfrm>
        </p:grpSpPr>
        <p:sp>
          <p:nvSpPr>
            <p:cNvPr name="Freeform 31" id="31"/>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32" id="32"/>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9AA3B8"/>
                  </a:solidFill>
                  <a:latin typeface="Arimo"/>
                  <a:ea typeface="Arimo"/>
                  <a:cs typeface="Arimo"/>
                  <a:sym typeface="Arimo"/>
                </a:rPr>
                <a:t>ID</a:t>
              </a:r>
            </a:p>
          </p:txBody>
        </p:sp>
      </p:grpSp>
      <p:grpSp>
        <p:nvGrpSpPr>
          <p:cNvPr name="Group 33" id="33"/>
          <p:cNvGrpSpPr/>
          <p:nvPr/>
        </p:nvGrpSpPr>
        <p:grpSpPr>
          <a:xfrm rot="0">
            <a:off x="12115419" y="7122795"/>
            <a:ext cx="5162550" cy="910590"/>
            <a:chOff x="0" y="0"/>
            <a:chExt cx="6883400" cy="1214120"/>
          </a:xfrm>
        </p:grpSpPr>
        <p:sp>
          <p:nvSpPr>
            <p:cNvPr name="Freeform 34" id="34"/>
            <p:cNvSpPr/>
            <p:nvPr/>
          </p:nvSpPr>
          <p:spPr>
            <a:xfrm flipH="false" flipV="false" rot="0">
              <a:off x="0" y="0"/>
              <a:ext cx="6883400" cy="1214120"/>
            </a:xfrm>
            <a:custGeom>
              <a:avLst/>
              <a:gdLst/>
              <a:ahLst/>
              <a:cxnLst/>
              <a:rect r="r" b="b" t="t" l="l"/>
              <a:pathLst>
                <a:path h="1214120" w="6883400">
                  <a:moveTo>
                    <a:pt x="0" y="168148"/>
                  </a:moveTo>
                  <a:cubicBezTo>
                    <a:pt x="0" y="75311"/>
                    <a:pt x="75311" y="0"/>
                    <a:pt x="168148" y="0"/>
                  </a:cubicBezTo>
                  <a:lnTo>
                    <a:pt x="6715252" y="0"/>
                  </a:lnTo>
                  <a:cubicBezTo>
                    <a:pt x="6808089" y="0"/>
                    <a:pt x="6883400" y="75311"/>
                    <a:pt x="6883400" y="168148"/>
                  </a:cubicBezTo>
                  <a:lnTo>
                    <a:pt x="6883400" y="1045972"/>
                  </a:lnTo>
                  <a:cubicBezTo>
                    <a:pt x="6883400" y="1138809"/>
                    <a:pt x="6808089" y="1214120"/>
                    <a:pt x="6715252" y="1214120"/>
                  </a:cubicBezTo>
                  <a:lnTo>
                    <a:pt x="168148" y="1214120"/>
                  </a:lnTo>
                  <a:cubicBezTo>
                    <a:pt x="75311" y="1214120"/>
                    <a:pt x="0" y="1138809"/>
                    <a:pt x="0" y="1045972"/>
                  </a:cubicBezTo>
                  <a:close/>
                </a:path>
              </a:pathLst>
            </a:custGeom>
            <a:solidFill>
              <a:srgbClr val="F4F7FC"/>
            </a:solidFill>
            <a:ln w="19050" cap="sq">
              <a:solidFill>
                <a:srgbClr val="D7DCEC"/>
              </a:solidFill>
              <a:prstDash val="solid"/>
              <a:miter/>
            </a:ln>
          </p:spPr>
        </p:sp>
      </p:grpSp>
      <p:grpSp>
        <p:nvGrpSpPr>
          <p:cNvPr name="Group 35" id="35"/>
          <p:cNvGrpSpPr/>
          <p:nvPr/>
        </p:nvGrpSpPr>
        <p:grpSpPr>
          <a:xfrm rot="0">
            <a:off x="12124944" y="7200900"/>
            <a:ext cx="5143500" cy="589788"/>
            <a:chOff x="0" y="0"/>
            <a:chExt cx="6858000" cy="786384"/>
          </a:xfrm>
        </p:grpSpPr>
        <p:sp>
          <p:nvSpPr>
            <p:cNvPr name="Freeform 36" id="36"/>
            <p:cNvSpPr/>
            <p:nvPr/>
          </p:nvSpPr>
          <p:spPr>
            <a:xfrm flipH="false" flipV="false" rot="0">
              <a:off x="0" y="0"/>
              <a:ext cx="6858000" cy="786384"/>
            </a:xfrm>
            <a:custGeom>
              <a:avLst/>
              <a:gdLst/>
              <a:ahLst/>
              <a:cxnLst/>
              <a:rect r="r" b="b" t="t" l="l"/>
              <a:pathLst>
                <a:path h="786384" w="6858000">
                  <a:moveTo>
                    <a:pt x="0" y="0"/>
                  </a:moveTo>
                  <a:lnTo>
                    <a:pt x="6858000" y="0"/>
                  </a:lnTo>
                  <a:lnTo>
                    <a:pt x="6858000" y="786384"/>
                  </a:lnTo>
                  <a:lnTo>
                    <a:pt x="0" y="786384"/>
                  </a:lnTo>
                  <a:close/>
                </a:path>
              </a:pathLst>
            </a:custGeom>
            <a:blipFill>
              <a:blip r:embed="rId2">
                <a:alphaModFix amt="0"/>
              </a:blip>
              <a:stretch>
                <a:fillRect l="0" t="-119927" r="0" b="-119927"/>
              </a:stretch>
            </a:blipFill>
          </p:spPr>
        </p:sp>
        <p:sp>
          <p:nvSpPr>
            <p:cNvPr name="TextBox 37" id="37"/>
            <p:cNvSpPr txBox="true"/>
            <p:nvPr/>
          </p:nvSpPr>
          <p:spPr>
            <a:xfrm>
              <a:off x="0" y="-38100"/>
              <a:ext cx="6858000" cy="824484"/>
            </a:xfrm>
            <a:prstGeom prst="rect">
              <a:avLst/>
            </a:prstGeom>
          </p:spPr>
          <p:txBody>
            <a:bodyPr anchor="ctr" rtlCol="false" tIns="0" lIns="0" bIns="0" rIns="0"/>
            <a:lstStyle/>
            <a:p>
              <a:pPr algn="ctr">
                <a:lnSpc>
                  <a:spcPts val="2430"/>
                </a:lnSpc>
              </a:pPr>
              <a:r>
                <a:rPr lang="en-US" sz="2025">
                  <a:solidFill>
                    <a:srgbClr val="6B7280"/>
                  </a:solidFill>
                  <a:latin typeface="Calibri (MS)"/>
                  <a:ea typeface="Calibri (MS)"/>
                  <a:cs typeface="Calibri (MS)"/>
                  <a:sym typeface="Calibri (MS)"/>
                </a:rPr>
                <a:t>Protect</a:t>
              </a:r>
            </a:p>
          </p:txBody>
        </p:sp>
      </p:grpSp>
      <p:grpSp>
        <p:nvGrpSpPr>
          <p:cNvPr name="Group 38" id="38"/>
          <p:cNvGrpSpPr/>
          <p:nvPr/>
        </p:nvGrpSpPr>
        <p:grpSpPr>
          <a:xfrm rot="0">
            <a:off x="12124944" y="7639812"/>
            <a:ext cx="5143500" cy="329184"/>
            <a:chOff x="0" y="0"/>
            <a:chExt cx="6858000" cy="438912"/>
          </a:xfrm>
        </p:grpSpPr>
        <p:sp>
          <p:nvSpPr>
            <p:cNvPr name="Freeform 39" id="39"/>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40" id="40"/>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9AA3B8"/>
                  </a:solidFill>
                  <a:latin typeface="Arimo"/>
                  <a:ea typeface="Arimo"/>
                  <a:cs typeface="Arimo"/>
                  <a:sym typeface="Arimo"/>
                </a:rPr>
                <a:t>PR</a:t>
              </a:r>
            </a:p>
          </p:txBody>
        </p:sp>
      </p:grpSp>
      <p:grpSp>
        <p:nvGrpSpPr>
          <p:cNvPr name="Group 41" id="41"/>
          <p:cNvGrpSpPr/>
          <p:nvPr/>
        </p:nvGrpSpPr>
        <p:grpSpPr>
          <a:xfrm rot="0">
            <a:off x="950595" y="8288655"/>
            <a:ext cx="5162550" cy="910590"/>
            <a:chOff x="0" y="0"/>
            <a:chExt cx="6883400" cy="1214120"/>
          </a:xfrm>
        </p:grpSpPr>
        <p:sp>
          <p:nvSpPr>
            <p:cNvPr name="Freeform 42" id="42"/>
            <p:cNvSpPr/>
            <p:nvPr/>
          </p:nvSpPr>
          <p:spPr>
            <a:xfrm flipH="false" flipV="false" rot="0">
              <a:off x="0" y="0"/>
              <a:ext cx="6883400" cy="1214120"/>
            </a:xfrm>
            <a:custGeom>
              <a:avLst/>
              <a:gdLst/>
              <a:ahLst/>
              <a:cxnLst/>
              <a:rect r="r" b="b" t="t" l="l"/>
              <a:pathLst>
                <a:path h="1214120" w="6883400">
                  <a:moveTo>
                    <a:pt x="0" y="168148"/>
                  </a:moveTo>
                  <a:cubicBezTo>
                    <a:pt x="0" y="75311"/>
                    <a:pt x="75311" y="0"/>
                    <a:pt x="168148" y="0"/>
                  </a:cubicBezTo>
                  <a:lnTo>
                    <a:pt x="6715252" y="0"/>
                  </a:lnTo>
                  <a:cubicBezTo>
                    <a:pt x="6808089" y="0"/>
                    <a:pt x="6883400" y="75311"/>
                    <a:pt x="6883400" y="168148"/>
                  </a:cubicBezTo>
                  <a:lnTo>
                    <a:pt x="6883400" y="1045972"/>
                  </a:lnTo>
                  <a:cubicBezTo>
                    <a:pt x="6883400" y="1138809"/>
                    <a:pt x="6808089" y="1214120"/>
                    <a:pt x="6715252" y="1214120"/>
                  </a:cubicBezTo>
                  <a:lnTo>
                    <a:pt x="168148" y="1214120"/>
                  </a:lnTo>
                  <a:cubicBezTo>
                    <a:pt x="75311" y="1214120"/>
                    <a:pt x="0" y="1138809"/>
                    <a:pt x="0" y="1045972"/>
                  </a:cubicBezTo>
                  <a:close/>
                </a:path>
              </a:pathLst>
            </a:custGeom>
            <a:solidFill>
              <a:srgbClr val="F4F7FC"/>
            </a:solidFill>
            <a:ln w="19050" cap="sq">
              <a:solidFill>
                <a:srgbClr val="D7DCEC"/>
              </a:solidFill>
              <a:prstDash val="solid"/>
              <a:miter/>
            </a:ln>
          </p:spPr>
        </p:sp>
      </p:grpSp>
      <p:grpSp>
        <p:nvGrpSpPr>
          <p:cNvPr name="Group 43" id="43"/>
          <p:cNvGrpSpPr/>
          <p:nvPr/>
        </p:nvGrpSpPr>
        <p:grpSpPr>
          <a:xfrm rot="0">
            <a:off x="960120" y="8366760"/>
            <a:ext cx="5143500" cy="589788"/>
            <a:chOff x="0" y="0"/>
            <a:chExt cx="6858000" cy="786384"/>
          </a:xfrm>
        </p:grpSpPr>
        <p:sp>
          <p:nvSpPr>
            <p:cNvPr name="Freeform 44" id="44"/>
            <p:cNvSpPr/>
            <p:nvPr/>
          </p:nvSpPr>
          <p:spPr>
            <a:xfrm flipH="false" flipV="false" rot="0">
              <a:off x="0" y="0"/>
              <a:ext cx="6858000" cy="786384"/>
            </a:xfrm>
            <a:custGeom>
              <a:avLst/>
              <a:gdLst/>
              <a:ahLst/>
              <a:cxnLst/>
              <a:rect r="r" b="b" t="t" l="l"/>
              <a:pathLst>
                <a:path h="786384" w="6858000">
                  <a:moveTo>
                    <a:pt x="0" y="0"/>
                  </a:moveTo>
                  <a:lnTo>
                    <a:pt x="6858000" y="0"/>
                  </a:lnTo>
                  <a:lnTo>
                    <a:pt x="6858000" y="786384"/>
                  </a:lnTo>
                  <a:lnTo>
                    <a:pt x="0" y="786384"/>
                  </a:lnTo>
                  <a:close/>
                </a:path>
              </a:pathLst>
            </a:custGeom>
            <a:blipFill>
              <a:blip r:embed="rId2">
                <a:alphaModFix amt="0"/>
              </a:blip>
              <a:stretch>
                <a:fillRect l="0" t="-119927" r="0" b="-119927"/>
              </a:stretch>
            </a:blipFill>
          </p:spPr>
        </p:sp>
        <p:sp>
          <p:nvSpPr>
            <p:cNvPr name="TextBox 45" id="45"/>
            <p:cNvSpPr txBox="true"/>
            <p:nvPr/>
          </p:nvSpPr>
          <p:spPr>
            <a:xfrm>
              <a:off x="0" y="-38100"/>
              <a:ext cx="6858000" cy="824484"/>
            </a:xfrm>
            <a:prstGeom prst="rect">
              <a:avLst/>
            </a:prstGeom>
          </p:spPr>
          <p:txBody>
            <a:bodyPr anchor="ctr" rtlCol="false" tIns="0" lIns="0" bIns="0" rIns="0"/>
            <a:lstStyle/>
            <a:p>
              <a:pPr algn="ctr">
                <a:lnSpc>
                  <a:spcPts val="2430"/>
                </a:lnSpc>
              </a:pPr>
              <a:r>
                <a:rPr lang="en-US" sz="2025">
                  <a:solidFill>
                    <a:srgbClr val="6B7280"/>
                  </a:solidFill>
                  <a:latin typeface="Calibri (MS)"/>
                  <a:ea typeface="Calibri (MS)"/>
                  <a:cs typeface="Calibri (MS)"/>
                  <a:sym typeface="Calibri (MS)"/>
                </a:rPr>
                <a:t>Detect</a:t>
              </a:r>
            </a:p>
          </p:txBody>
        </p:sp>
      </p:grpSp>
      <p:grpSp>
        <p:nvGrpSpPr>
          <p:cNvPr name="Group 46" id="46"/>
          <p:cNvGrpSpPr/>
          <p:nvPr/>
        </p:nvGrpSpPr>
        <p:grpSpPr>
          <a:xfrm rot="0">
            <a:off x="960120" y="8805672"/>
            <a:ext cx="5143500" cy="329184"/>
            <a:chOff x="0" y="0"/>
            <a:chExt cx="6858000" cy="438912"/>
          </a:xfrm>
        </p:grpSpPr>
        <p:sp>
          <p:nvSpPr>
            <p:cNvPr name="Freeform 47" id="47"/>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48" id="48"/>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9AA3B8"/>
                  </a:solidFill>
                  <a:latin typeface="Arimo"/>
                  <a:ea typeface="Arimo"/>
                  <a:cs typeface="Arimo"/>
                  <a:sym typeface="Arimo"/>
                </a:rPr>
                <a:t>DE</a:t>
              </a:r>
            </a:p>
          </p:txBody>
        </p:sp>
      </p:grpSp>
      <p:grpSp>
        <p:nvGrpSpPr>
          <p:cNvPr name="Group 49" id="49"/>
          <p:cNvGrpSpPr/>
          <p:nvPr/>
        </p:nvGrpSpPr>
        <p:grpSpPr>
          <a:xfrm rot="0">
            <a:off x="6533007" y="8288655"/>
            <a:ext cx="5162550" cy="910590"/>
            <a:chOff x="0" y="0"/>
            <a:chExt cx="6883400" cy="1214120"/>
          </a:xfrm>
        </p:grpSpPr>
        <p:sp>
          <p:nvSpPr>
            <p:cNvPr name="Freeform 50" id="50"/>
            <p:cNvSpPr/>
            <p:nvPr/>
          </p:nvSpPr>
          <p:spPr>
            <a:xfrm flipH="false" flipV="false" rot="0">
              <a:off x="0" y="0"/>
              <a:ext cx="6883400" cy="1214120"/>
            </a:xfrm>
            <a:custGeom>
              <a:avLst/>
              <a:gdLst/>
              <a:ahLst/>
              <a:cxnLst/>
              <a:rect r="r" b="b" t="t" l="l"/>
              <a:pathLst>
                <a:path h="1214120" w="6883400">
                  <a:moveTo>
                    <a:pt x="0" y="168148"/>
                  </a:moveTo>
                  <a:cubicBezTo>
                    <a:pt x="0" y="75311"/>
                    <a:pt x="75311" y="0"/>
                    <a:pt x="168148" y="0"/>
                  </a:cubicBezTo>
                  <a:lnTo>
                    <a:pt x="6715252" y="0"/>
                  </a:lnTo>
                  <a:cubicBezTo>
                    <a:pt x="6808089" y="0"/>
                    <a:pt x="6883400" y="75311"/>
                    <a:pt x="6883400" y="168148"/>
                  </a:cubicBezTo>
                  <a:lnTo>
                    <a:pt x="6883400" y="1045972"/>
                  </a:lnTo>
                  <a:cubicBezTo>
                    <a:pt x="6883400" y="1138809"/>
                    <a:pt x="6808089" y="1214120"/>
                    <a:pt x="6715252" y="1214120"/>
                  </a:cubicBezTo>
                  <a:lnTo>
                    <a:pt x="168148" y="1214120"/>
                  </a:lnTo>
                  <a:cubicBezTo>
                    <a:pt x="75311" y="1214120"/>
                    <a:pt x="0" y="1138809"/>
                    <a:pt x="0" y="1045972"/>
                  </a:cubicBezTo>
                  <a:close/>
                </a:path>
              </a:pathLst>
            </a:custGeom>
            <a:solidFill>
              <a:srgbClr val="F4F7FC"/>
            </a:solidFill>
            <a:ln w="19050" cap="sq">
              <a:solidFill>
                <a:srgbClr val="D7DCEC"/>
              </a:solidFill>
              <a:prstDash val="solid"/>
              <a:miter/>
            </a:ln>
          </p:spPr>
        </p:sp>
      </p:grpSp>
      <p:grpSp>
        <p:nvGrpSpPr>
          <p:cNvPr name="Group 51" id="51"/>
          <p:cNvGrpSpPr/>
          <p:nvPr/>
        </p:nvGrpSpPr>
        <p:grpSpPr>
          <a:xfrm rot="0">
            <a:off x="6542532" y="8366760"/>
            <a:ext cx="5143500" cy="589788"/>
            <a:chOff x="0" y="0"/>
            <a:chExt cx="6858000" cy="786384"/>
          </a:xfrm>
        </p:grpSpPr>
        <p:sp>
          <p:nvSpPr>
            <p:cNvPr name="Freeform 52" id="52"/>
            <p:cNvSpPr/>
            <p:nvPr/>
          </p:nvSpPr>
          <p:spPr>
            <a:xfrm flipH="false" flipV="false" rot="0">
              <a:off x="0" y="0"/>
              <a:ext cx="6858000" cy="786384"/>
            </a:xfrm>
            <a:custGeom>
              <a:avLst/>
              <a:gdLst/>
              <a:ahLst/>
              <a:cxnLst/>
              <a:rect r="r" b="b" t="t" l="l"/>
              <a:pathLst>
                <a:path h="786384" w="6858000">
                  <a:moveTo>
                    <a:pt x="0" y="0"/>
                  </a:moveTo>
                  <a:lnTo>
                    <a:pt x="6858000" y="0"/>
                  </a:lnTo>
                  <a:lnTo>
                    <a:pt x="6858000" y="786384"/>
                  </a:lnTo>
                  <a:lnTo>
                    <a:pt x="0" y="786384"/>
                  </a:lnTo>
                  <a:close/>
                </a:path>
              </a:pathLst>
            </a:custGeom>
            <a:blipFill>
              <a:blip r:embed="rId2">
                <a:alphaModFix amt="0"/>
              </a:blip>
              <a:stretch>
                <a:fillRect l="0" t="-119927" r="0" b="-119927"/>
              </a:stretch>
            </a:blipFill>
          </p:spPr>
        </p:sp>
        <p:sp>
          <p:nvSpPr>
            <p:cNvPr name="TextBox 53" id="53"/>
            <p:cNvSpPr txBox="true"/>
            <p:nvPr/>
          </p:nvSpPr>
          <p:spPr>
            <a:xfrm>
              <a:off x="0" y="-38100"/>
              <a:ext cx="6858000" cy="824484"/>
            </a:xfrm>
            <a:prstGeom prst="rect">
              <a:avLst/>
            </a:prstGeom>
          </p:spPr>
          <p:txBody>
            <a:bodyPr anchor="ctr" rtlCol="false" tIns="0" lIns="0" bIns="0" rIns="0"/>
            <a:lstStyle/>
            <a:p>
              <a:pPr algn="ctr">
                <a:lnSpc>
                  <a:spcPts val="2430"/>
                </a:lnSpc>
              </a:pPr>
              <a:r>
                <a:rPr lang="en-US" sz="2025">
                  <a:solidFill>
                    <a:srgbClr val="6B7280"/>
                  </a:solidFill>
                  <a:latin typeface="Calibri (MS)"/>
                  <a:ea typeface="Calibri (MS)"/>
                  <a:cs typeface="Calibri (MS)"/>
                  <a:sym typeface="Calibri (MS)"/>
                </a:rPr>
                <a:t>Respond</a:t>
              </a:r>
            </a:p>
          </p:txBody>
        </p:sp>
      </p:grpSp>
      <p:grpSp>
        <p:nvGrpSpPr>
          <p:cNvPr name="Group 54" id="54"/>
          <p:cNvGrpSpPr/>
          <p:nvPr/>
        </p:nvGrpSpPr>
        <p:grpSpPr>
          <a:xfrm rot="0">
            <a:off x="6542532" y="8805672"/>
            <a:ext cx="5143500" cy="329184"/>
            <a:chOff x="0" y="0"/>
            <a:chExt cx="6858000" cy="438912"/>
          </a:xfrm>
        </p:grpSpPr>
        <p:sp>
          <p:nvSpPr>
            <p:cNvPr name="Freeform 55" id="55"/>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56" id="56"/>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9AA3B8"/>
                  </a:solidFill>
                  <a:latin typeface="Arimo"/>
                  <a:ea typeface="Arimo"/>
                  <a:cs typeface="Arimo"/>
                  <a:sym typeface="Arimo"/>
                </a:rPr>
                <a:t>RS</a:t>
              </a:r>
            </a:p>
          </p:txBody>
        </p:sp>
      </p:grpSp>
      <p:grpSp>
        <p:nvGrpSpPr>
          <p:cNvPr name="Group 57" id="57"/>
          <p:cNvGrpSpPr/>
          <p:nvPr/>
        </p:nvGrpSpPr>
        <p:grpSpPr>
          <a:xfrm rot="0">
            <a:off x="12115419" y="8288655"/>
            <a:ext cx="5162550" cy="910590"/>
            <a:chOff x="0" y="0"/>
            <a:chExt cx="6883400" cy="1214120"/>
          </a:xfrm>
        </p:grpSpPr>
        <p:sp>
          <p:nvSpPr>
            <p:cNvPr name="Freeform 58" id="58"/>
            <p:cNvSpPr/>
            <p:nvPr/>
          </p:nvSpPr>
          <p:spPr>
            <a:xfrm flipH="false" flipV="false" rot="0">
              <a:off x="0" y="0"/>
              <a:ext cx="6883400" cy="1214120"/>
            </a:xfrm>
            <a:custGeom>
              <a:avLst/>
              <a:gdLst/>
              <a:ahLst/>
              <a:cxnLst/>
              <a:rect r="r" b="b" t="t" l="l"/>
              <a:pathLst>
                <a:path h="1214120" w="6883400">
                  <a:moveTo>
                    <a:pt x="0" y="168148"/>
                  </a:moveTo>
                  <a:cubicBezTo>
                    <a:pt x="0" y="75311"/>
                    <a:pt x="75311" y="0"/>
                    <a:pt x="168148" y="0"/>
                  </a:cubicBezTo>
                  <a:lnTo>
                    <a:pt x="6715252" y="0"/>
                  </a:lnTo>
                  <a:cubicBezTo>
                    <a:pt x="6808089" y="0"/>
                    <a:pt x="6883400" y="75311"/>
                    <a:pt x="6883400" y="168148"/>
                  </a:cubicBezTo>
                  <a:lnTo>
                    <a:pt x="6883400" y="1045972"/>
                  </a:lnTo>
                  <a:cubicBezTo>
                    <a:pt x="6883400" y="1138809"/>
                    <a:pt x="6808089" y="1214120"/>
                    <a:pt x="6715252" y="1214120"/>
                  </a:cubicBezTo>
                  <a:lnTo>
                    <a:pt x="168148" y="1214120"/>
                  </a:lnTo>
                  <a:cubicBezTo>
                    <a:pt x="75311" y="1214120"/>
                    <a:pt x="0" y="1138809"/>
                    <a:pt x="0" y="1045972"/>
                  </a:cubicBezTo>
                  <a:close/>
                </a:path>
              </a:pathLst>
            </a:custGeom>
            <a:solidFill>
              <a:srgbClr val="F4F7FC"/>
            </a:solidFill>
            <a:ln w="19050" cap="sq">
              <a:solidFill>
                <a:srgbClr val="D7DCEC"/>
              </a:solidFill>
              <a:prstDash val="solid"/>
              <a:miter/>
            </a:ln>
          </p:spPr>
        </p:sp>
      </p:grpSp>
      <p:grpSp>
        <p:nvGrpSpPr>
          <p:cNvPr name="Group 59" id="59"/>
          <p:cNvGrpSpPr/>
          <p:nvPr/>
        </p:nvGrpSpPr>
        <p:grpSpPr>
          <a:xfrm rot="0">
            <a:off x="12124944" y="8366760"/>
            <a:ext cx="5143500" cy="589788"/>
            <a:chOff x="0" y="0"/>
            <a:chExt cx="6858000" cy="786384"/>
          </a:xfrm>
        </p:grpSpPr>
        <p:sp>
          <p:nvSpPr>
            <p:cNvPr name="Freeform 60" id="60"/>
            <p:cNvSpPr/>
            <p:nvPr/>
          </p:nvSpPr>
          <p:spPr>
            <a:xfrm flipH="false" flipV="false" rot="0">
              <a:off x="0" y="0"/>
              <a:ext cx="6858000" cy="786384"/>
            </a:xfrm>
            <a:custGeom>
              <a:avLst/>
              <a:gdLst/>
              <a:ahLst/>
              <a:cxnLst/>
              <a:rect r="r" b="b" t="t" l="l"/>
              <a:pathLst>
                <a:path h="786384" w="6858000">
                  <a:moveTo>
                    <a:pt x="0" y="0"/>
                  </a:moveTo>
                  <a:lnTo>
                    <a:pt x="6858000" y="0"/>
                  </a:lnTo>
                  <a:lnTo>
                    <a:pt x="6858000" y="786384"/>
                  </a:lnTo>
                  <a:lnTo>
                    <a:pt x="0" y="786384"/>
                  </a:lnTo>
                  <a:close/>
                </a:path>
              </a:pathLst>
            </a:custGeom>
            <a:blipFill>
              <a:blip r:embed="rId2">
                <a:alphaModFix amt="0"/>
              </a:blip>
              <a:stretch>
                <a:fillRect l="0" t="-119927" r="0" b="-119927"/>
              </a:stretch>
            </a:blipFill>
          </p:spPr>
        </p:sp>
        <p:sp>
          <p:nvSpPr>
            <p:cNvPr name="TextBox 61" id="61"/>
            <p:cNvSpPr txBox="true"/>
            <p:nvPr/>
          </p:nvSpPr>
          <p:spPr>
            <a:xfrm>
              <a:off x="0" y="-38100"/>
              <a:ext cx="6858000" cy="824484"/>
            </a:xfrm>
            <a:prstGeom prst="rect">
              <a:avLst/>
            </a:prstGeom>
          </p:spPr>
          <p:txBody>
            <a:bodyPr anchor="ctr" rtlCol="false" tIns="0" lIns="0" bIns="0" rIns="0"/>
            <a:lstStyle/>
            <a:p>
              <a:pPr algn="ctr">
                <a:lnSpc>
                  <a:spcPts val="2430"/>
                </a:lnSpc>
              </a:pPr>
              <a:r>
                <a:rPr lang="en-US" sz="2025">
                  <a:solidFill>
                    <a:srgbClr val="6B7280"/>
                  </a:solidFill>
                  <a:latin typeface="Calibri (MS)"/>
                  <a:ea typeface="Calibri (MS)"/>
                  <a:cs typeface="Calibri (MS)"/>
                  <a:sym typeface="Calibri (MS)"/>
                </a:rPr>
                <a:t>Recover</a:t>
              </a:r>
            </a:p>
          </p:txBody>
        </p:sp>
      </p:grpSp>
      <p:grpSp>
        <p:nvGrpSpPr>
          <p:cNvPr name="Group 62" id="62"/>
          <p:cNvGrpSpPr/>
          <p:nvPr/>
        </p:nvGrpSpPr>
        <p:grpSpPr>
          <a:xfrm rot="0">
            <a:off x="12124944" y="8805672"/>
            <a:ext cx="5143500" cy="329184"/>
            <a:chOff x="0" y="0"/>
            <a:chExt cx="6858000" cy="438912"/>
          </a:xfrm>
        </p:grpSpPr>
        <p:sp>
          <p:nvSpPr>
            <p:cNvPr name="Freeform 63" id="63"/>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64" id="64"/>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9AA3B8"/>
                  </a:solidFill>
                  <a:latin typeface="Arimo"/>
                  <a:ea typeface="Arimo"/>
                  <a:cs typeface="Arimo"/>
                  <a:sym typeface="Arimo"/>
                </a:rPr>
                <a:t>RC</a:t>
              </a:r>
            </a:p>
          </p:txBody>
        </p:sp>
      </p:grpSp>
      <p:grpSp>
        <p:nvGrpSpPr>
          <p:cNvPr name="Group 65" id="65"/>
          <p:cNvGrpSpPr/>
          <p:nvPr/>
        </p:nvGrpSpPr>
        <p:grpSpPr>
          <a:xfrm rot="0">
            <a:off x="685800" y="9710928"/>
            <a:ext cx="10972800" cy="411480"/>
            <a:chOff x="0" y="0"/>
            <a:chExt cx="14630400" cy="548640"/>
          </a:xfrm>
        </p:grpSpPr>
        <p:sp>
          <p:nvSpPr>
            <p:cNvPr name="Freeform 66" id="66"/>
            <p:cNvSpPr/>
            <p:nvPr/>
          </p:nvSpPr>
          <p:spPr>
            <a:xfrm flipH="false" flipV="false" rot="0">
              <a:off x="0" y="0"/>
              <a:ext cx="14630400" cy="548640"/>
            </a:xfrm>
            <a:custGeom>
              <a:avLst/>
              <a:gdLst/>
              <a:ahLst/>
              <a:cxnLst/>
              <a:rect r="r" b="b" t="t" l="l"/>
              <a:pathLst>
                <a:path h="548640" w="14630400">
                  <a:moveTo>
                    <a:pt x="0" y="0"/>
                  </a:moveTo>
                  <a:lnTo>
                    <a:pt x="14630400" y="0"/>
                  </a:lnTo>
                  <a:lnTo>
                    <a:pt x="14630400" y="548640"/>
                  </a:lnTo>
                  <a:lnTo>
                    <a:pt x="0" y="548640"/>
                  </a:lnTo>
                  <a:close/>
                </a:path>
              </a:pathLst>
            </a:custGeom>
            <a:blipFill>
              <a:blip r:embed="rId2">
                <a:alphaModFix amt="0"/>
              </a:blip>
              <a:stretch>
                <a:fillRect l="0" t="-469601" r="0" b="-469601"/>
              </a:stretch>
            </a:blipFill>
          </p:spPr>
        </p:sp>
        <p:sp>
          <p:nvSpPr>
            <p:cNvPr name="TextBox 67" id="67"/>
            <p:cNvSpPr txBox="true"/>
            <p:nvPr/>
          </p:nvSpPr>
          <p:spPr>
            <a:xfrm>
              <a:off x="0" y="-38100"/>
              <a:ext cx="14630400" cy="586740"/>
            </a:xfrm>
            <a:prstGeom prst="rect">
              <a:avLst/>
            </a:prstGeom>
          </p:spPr>
          <p:txBody>
            <a:bodyPr anchor="ctr" rtlCol="false" tIns="0" lIns="0" bIns="0" rIns="0"/>
            <a:lstStyle/>
            <a:p>
              <a:pPr algn="l">
                <a:lnSpc>
                  <a:spcPts val="1800"/>
                </a:lnSpc>
              </a:pPr>
              <a:r>
                <a:rPr lang="en-US" sz="1500">
                  <a:solidFill>
                    <a:srgbClr val="6B7280"/>
                  </a:solidFill>
                  <a:latin typeface="Calibri (MS)"/>
                  <a:ea typeface="Calibri (MS)"/>
                  <a:cs typeface="Calibri (MS)"/>
                  <a:sym typeface="Calibri (MS)"/>
                </a:rPr>
                <a:t>Davao del Norte Provincial Government — Cybersecurity Seminar</a:t>
              </a:r>
            </a:p>
          </p:txBody>
        </p:sp>
      </p:grpSp>
      <p:grpSp>
        <p:nvGrpSpPr>
          <p:cNvPr name="Group 68" id="68"/>
          <p:cNvGrpSpPr/>
          <p:nvPr/>
        </p:nvGrpSpPr>
        <p:grpSpPr>
          <a:xfrm rot="0">
            <a:off x="16911828" y="9710928"/>
            <a:ext cx="685800" cy="411480"/>
            <a:chOff x="0" y="0"/>
            <a:chExt cx="914400" cy="548640"/>
          </a:xfrm>
        </p:grpSpPr>
        <p:sp>
          <p:nvSpPr>
            <p:cNvPr name="Freeform 69" id="69"/>
            <p:cNvSpPr/>
            <p:nvPr/>
          </p:nvSpPr>
          <p:spPr>
            <a:xfrm flipH="false" flipV="false" rot="0">
              <a:off x="0" y="0"/>
              <a:ext cx="914400" cy="548640"/>
            </a:xfrm>
            <a:custGeom>
              <a:avLst/>
              <a:gdLst/>
              <a:ahLst/>
              <a:cxnLst/>
              <a:rect r="r" b="b" t="t" l="l"/>
              <a:pathLst>
                <a:path h="548640" w="914400">
                  <a:moveTo>
                    <a:pt x="0" y="0"/>
                  </a:moveTo>
                  <a:lnTo>
                    <a:pt x="914400" y="0"/>
                  </a:lnTo>
                  <a:lnTo>
                    <a:pt x="914400" y="548640"/>
                  </a:lnTo>
                  <a:lnTo>
                    <a:pt x="0" y="548640"/>
                  </a:lnTo>
                  <a:close/>
                </a:path>
              </a:pathLst>
            </a:custGeom>
            <a:blipFill>
              <a:blip r:embed="rId2">
                <a:alphaModFix amt="0"/>
              </a:blip>
              <a:stretch>
                <a:fillRect l="-26982" t="0" r="-26982" b="0"/>
              </a:stretch>
            </a:blipFill>
          </p:spPr>
        </p:sp>
        <p:sp>
          <p:nvSpPr>
            <p:cNvPr name="TextBox 70" id="70"/>
            <p:cNvSpPr txBox="true"/>
            <p:nvPr/>
          </p:nvSpPr>
          <p:spPr>
            <a:xfrm>
              <a:off x="0" y="-38100"/>
              <a:ext cx="914400" cy="586740"/>
            </a:xfrm>
            <a:prstGeom prst="rect">
              <a:avLst/>
            </a:prstGeom>
          </p:spPr>
          <p:txBody>
            <a:bodyPr anchor="ctr" rtlCol="false" tIns="0" lIns="0" bIns="0" rIns="0"/>
            <a:lstStyle/>
            <a:p>
              <a:pPr algn="r">
                <a:lnSpc>
                  <a:spcPts val="1800"/>
                </a:lnSpc>
              </a:pPr>
              <a:r>
                <a:rPr lang="en-US" sz="1500">
                  <a:solidFill>
                    <a:srgbClr val="6B7280"/>
                  </a:solidFill>
                  <a:latin typeface="Calibri (MS)"/>
                  <a:ea typeface="Calibri (MS)"/>
                  <a:cs typeface="Calibri (MS)"/>
                  <a:sym typeface="Calibri (MS)"/>
                </a:rPr>
                <a:t>35</a:t>
              </a:r>
            </a:p>
          </p:txBody>
        </p:sp>
      </p:grpSp>
    </p:spTree>
  </p:cSld>
  <p:clrMapOvr>
    <a:masterClrMapping/>
  </p:clrMapOvr>
</p:sld>
</file>

<file path=ppt/slides/slide10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60120" y="685800"/>
            <a:ext cx="13716000" cy="411480"/>
            <a:chOff x="0" y="0"/>
            <a:chExt cx="18288000" cy="548640"/>
          </a:xfrm>
        </p:grpSpPr>
        <p:sp>
          <p:nvSpPr>
            <p:cNvPr name="Freeform 3" id="3"/>
            <p:cNvSpPr/>
            <p:nvPr/>
          </p:nvSpPr>
          <p:spPr>
            <a:xfrm flipH="false" flipV="false" rot="0">
              <a:off x="0" y="0"/>
              <a:ext cx="18288000" cy="548640"/>
            </a:xfrm>
            <a:custGeom>
              <a:avLst/>
              <a:gdLst/>
              <a:ahLst/>
              <a:cxnLst/>
              <a:rect r="r" b="b" t="t" l="l"/>
              <a:pathLst>
                <a:path h="548640" w="18288000">
                  <a:moveTo>
                    <a:pt x="0" y="0"/>
                  </a:moveTo>
                  <a:lnTo>
                    <a:pt x="18288000" y="0"/>
                  </a:lnTo>
                  <a:lnTo>
                    <a:pt x="18288000" y="548640"/>
                  </a:lnTo>
                  <a:lnTo>
                    <a:pt x="0" y="548640"/>
                  </a:lnTo>
                  <a:close/>
                </a:path>
              </a:pathLst>
            </a:custGeom>
            <a:blipFill>
              <a:blip r:embed="rId2">
                <a:alphaModFix amt="0"/>
              </a:blip>
              <a:stretch>
                <a:fillRect l="0" t="-599501" r="0" b="-599501"/>
              </a:stretch>
            </a:blipFill>
          </p:spPr>
        </p:sp>
        <p:sp>
          <p:nvSpPr>
            <p:cNvPr name="TextBox 4" id="4"/>
            <p:cNvSpPr txBox="true"/>
            <p:nvPr/>
          </p:nvSpPr>
          <p:spPr>
            <a:xfrm>
              <a:off x="0" y="-38100"/>
              <a:ext cx="18288000" cy="586740"/>
            </a:xfrm>
            <a:prstGeom prst="rect">
              <a:avLst/>
            </a:prstGeom>
          </p:spPr>
          <p:txBody>
            <a:bodyPr anchor="ctr" rtlCol="false" tIns="0" lIns="0" bIns="0" rIns="0"/>
            <a:lstStyle/>
            <a:p>
              <a:pPr algn="l">
                <a:lnSpc>
                  <a:spcPts val="2160"/>
                </a:lnSpc>
              </a:pPr>
              <a:r>
                <a:rPr lang="en-US" b="true" sz="1800" spc="225">
                  <a:solidFill>
                    <a:srgbClr val="00B4D8"/>
                  </a:solidFill>
                  <a:latin typeface="Calibri (MS) Bold"/>
                  <a:ea typeface="Calibri (MS) Bold"/>
                  <a:cs typeface="Calibri (MS) Bold"/>
                  <a:sym typeface="Calibri (MS) Bold"/>
                </a:rPr>
                <a:t>NIST CSF SORT · ANSWER</a:t>
              </a:r>
            </a:p>
          </p:txBody>
        </p:sp>
      </p:grpSp>
      <p:grpSp>
        <p:nvGrpSpPr>
          <p:cNvPr name="Group 5" id="5"/>
          <p:cNvGrpSpPr/>
          <p:nvPr/>
        </p:nvGrpSpPr>
        <p:grpSpPr>
          <a:xfrm rot="0">
            <a:off x="960120" y="1069848"/>
            <a:ext cx="10972800" cy="822960"/>
            <a:chOff x="0" y="0"/>
            <a:chExt cx="14630400" cy="1097280"/>
          </a:xfrm>
        </p:grpSpPr>
        <p:sp>
          <p:nvSpPr>
            <p:cNvPr name="Freeform 6" id="6"/>
            <p:cNvSpPr/>
            <p:nvPr/>
          </p:nvSpPr>
          <p:spPr>
            <a:xfrm flipH="false" flipV="false" rot="0">
              <a:off x="0" y="0"/>
              <a:ext cx="14630400" cy="1097280"/>
            </a:xfrm>
            <a:custGeom>
              <a:avLst/>
              <a:gdLst/>
              <a:ahLst/>
              <a:cxnLst/>
              <a:rect r="r" b="b" t="t" l="l"/>
              <a:pathLst>
                <a:path h="1097280" w="14630400">
                  <a:moveTo>
                    <a:pt x="0" y="0"/>
                  </a:moveTo>
                  <a:lnTo>
                    <a:pt x="14630400" y="0"/>
                  </a:lnTo>
                  <a:lnTo>
                    <a:pt x="14630400" y="1097280"/>
                  </a:lnTo>
                  <a:lnTo>
                    <a:pt x="0" y="1097280"/>
                  </a:lnTo>
                  <a:close/>
                </a:path>
              </a:pathLst>
            </a:custGeom>
            <a:blipFill>
              <a:blip r:embed="rId2">
                <a:alphaModFix amt="0"/>
              </a:blip>
              <a:stretch>
                <a:fillRect l="0" t="-209800" r="0" b="-209800"/>
              </a:stretch>
            </a:blipFill>
          </p:spPr>
        </p:sp>
        <p:sp>
          <p:nvSpPr>
            <p:cNvPr name="TextBox 7" id="7"/>
            <p:cNvSpPr txBox="true"/>
            <p:nvPr/>
          </p:nvSpPr>
          <p:spPr>
            <a:xfrm>
              <a:off x="0" y="0"/>
              <a:ext cx="14630400" cy="1097280"/>
            </a:xfrm>
            <a:prstGeom prst="rect">
              <a:avLst/>
            </a:prstGeom>
          </p:spPr>
          <p:txBody>
            <a:bodyPr anchor="ctr" rtlCol="false" tIns="0" lIns="0" bIns="0" rIns="0"/>
            <a:lstStyle/>
            <a:p>
              <a:pPr algn="l">
                <a:lnSpc>
                  <a:spcPts val="4680"/>
                </a:lnSpc>
              </a:pPr>
              <a:r>
                <a:rPr lang="en-US" sz="3900" b="true">
                  <a:solidFill>
                    <a:srgbClr val="1E2761"/>
                  </a:solidFill>
                  <a:latin typeface="Cambria Bold"/>
                  <a:ea typeface="Cambria Bold"/>
                  <a:cs typeface="Cambria Bold"/>
                  <a:sym typeface="Cambria Bold"/>
                </a:rPr>
                <a:t>Scenario 13 — Answer</a:t>
              </a:r>
            </a:p>
          </p:txBody>
        </p:sp>
      </p:grpSp>
      <p:grpSp>
        <p:nvGrpSpPr>
          <p:cNvPr name="Group 8" id="8"/>
          <p:cNvGrpSpPr/>
          <p:nvPr/>
        </p:nvGrpSpPr>
        <p:grpSpPr>
          <a:xfrm rot="0">
            <a:off x="960120" y="1810512"/>
            <a:ext cx="8229600" cy="411480"/>
            <a:chOff x="0" y="0"/>
            <a:chExt cx="10972800" cy="548640"/>
          </a:xfrm>
        </p:grpSpPr>
        <p:sp>
          <p:nvSpPr>
            <p:cNvPr name="Freeform 9" id="9"/>
            <p:cNvSpPr/>
            <p:nvPr/>
          </p:nvSpPr>
          <p:spPr>
            <a:xfrm flipH="false" flipV="false" rot="0">
              <a:off x="0" y="0"/>
              <a:ext cx="10972800" cy="548640"/>
            </a:xfrm>
            <a:custGeom>
              <a:avLst/>
              <a:gdLst/>
              <a:ahLst/>
              <a:cxnLst/>
              <a:rect r="r" b="b" t="t" l="l"/>
              <a:pathLst>
                <a:path h="548640" w="10972800">
                  <a:moveTo>
                    <a:pt x="0" y="0"/>
                  </a:moveTo>
                  <a:lnTo>
                    <a:pt x="10972800" y="0"/>
                  </a:lnTo>
                  <a:lnTo>
                    <a:pt x="10972800" y="548640"/>
                  </a:lnTo>
                  <a:lnTo>
                    <a:pt x="0" y="548640"/>
                  </a:lnTo>
                  <a:close/>
                </a:path>
              </a:pathLst>
            </a:custGeom>
            <a:blipFill>
              <a:blip r:embed="rId2">
                <a:alphaModFix amt="0"/>
              </a:blip>
              <a:stretch>
                <a:fillRect l="0" t="-339700" r="0" b="-339700"/>
              </a:stretch>
            </a:blipFill>
          </p:spPr>
        </p:sp>
        <p:sp>
          <p:nvSpPr>
            <p:cNvPr name="TextBox 10" id="10"/>
            <p:cNvSpPr txBox="true"/>
            <p:nvPr/>
          </p:nvSpPr>
          <p:spPr>
            <a:xfrm>
              <a:off x="0" y="-28575"/>
              <a:ext cx="10972800" cy="577215"/>
            </a:xfrm>
            <a:prstGeom prst="rect">
              <a:avLst/>
            </a:prstGeom>
          </p:spPr>
          <p:txBody>
            <a:bodyPr anchor="ctr" rtlCol="false" tIns="0" lIns="0" bIns="0" rIns="0"/>
            <a:lstStyle/>
            <a:p>
              <a:pPr algn="l">
                <a:lnSpc>
                  <a:spcPts val="1980"/>
                </a:lnSpc>
              </a:pPr>
              <a:r>
                <a:rPr lang="en-US" sz="1650">
                  <a:solidFill>
                    <a:srgbClr val="6B7280"/>
                  </a:solidFill>
                  <a:latin typeface="Calibri (MS)"/>
                  <a:ea typeface="Calibri (MS)"/>
                  <a:cs typeface="Calibri (MS)"/>
                  <a:sym typeface="Calibri (MS)"/>
                </a:rPr>
                <a:t>13 of 20</a:t>
              </a:r>
            </a:p>
          </p:txBody>
        </p:sp>
      </p:grpSp>
      <p:grpSp>
        <p:nvGrpSpPr>
          <p:cNvPr name="Group 11" id="11"/>
          <p:cNvGrpSpPr/>
          <p:nvPr/>
        </p:nvGrpSpPr>
        <p:grpSpPr>
          <a:xfrm rot="0">
            <a:off x="960120" y="2537460"/>
            <a:ext cx="16322040" cy="2194560"/>
            <a:chOff x="0" y="0"/>
            <a:chExt cx="21762720" cy="2926080"/>
          </a:xfrm>
        </p:grpSpPr>
        <p:sp>
          <p:nvSpPr>
            <p:cNvPr name="Freeform 12" id="12"/>
            <p:cNvSpPr/>
            <p:nvPr/>
          </p:nvSpPr>
          <p:spPr>
            <a:xfrm flipH="false" flipV="false" rot="0">
              <a:off x="0" y="0"/>
              <a:ext cx="21762720" cy="2926080"/>
            </a:xfrm>
            <a:custGeom>
              <a:avLst/>
              <a:gdLst/>
              <a:ahLst/>
              <a:cxnLst/>
              <a:rect r="r" b="b" t="t" l="l"/>
              <a:pathLst>
                <a:path h="2926080" w="21762720">
                  <a:moveTo>
                    <a:pt x="0" y="182880"/>
                  </a:moveTo>
                  <a:cubicBezTo>
                    <a:pt x="0" y="81915"/>
                    <a:pt x="81915" y="0"/>
                    <a:pt x="182880" y="0"/>
                  </a:cubicBezTo>
                  <a:lnTo>
                    <a:pt x="21579839" y="0"/>
                  </a:lnTo>
                  <a:cubicBezTo>
                    <a:pt x="21680804" y="0"/>
                    <a:pt x="21762720" y="81915"/>
                    <a:pt x="21762720" y="182880"/>
                  </a:cubicBezTo>
                  <a:lnTo>
                    <a:pt x="21762720" y="2743200"/>
                  </a:lnTo>
                  <a:cubicBezTo>
                    <a:pt x="21762720" y="2844165"/>
                    <a:pt x="21680804" y="2926080"/>
                    <a:pt x="21579839" y="2926080"/>
                  </a:cubicBezTo>
                  <a:lnTo>
                    <a:pt x="182880" y="2926080"/>
                  </a:lnTo>
                  <a:cubicBezTo>
                    <a:pt x="81915" y="2926080"/>
                    <a:pt x="0" y="2844165"/>
                    <a:pt x="0" y="2743200"/>
                  </a:cubicBezTo>
                  <a:close/>
                </a:path>
              </a:pathLst>
            </a:custGeom>
            <a:solidFill>
              <a:srgbClr val="F4F7FC"/>
            </a:solidFill>
          </p:spPr>
        </p:sp>
      </p:grpSp>
      <p:grpSp>
        <p:nvGrpSpPr>
          <p:cNvPr name="Group 13" id="13"/>
          <p:cNvGrpSpPr/>
          <p:nvPr/>
        </p:nvGrpSpPr>
        <p:grpSpPr>
          <a:xfrm rot="0">
            <a:off x="1440180" y="2770632"/>
            <a:ext cx="15361920" cy="1714500"/>
            <a:chOff x="0" y="0"/>
            <a:chExt cx="20482560" cy="2286000"/>
          </a:xfrm>
        </p:grpSpPr>
        <p:sp>
          <p:nvSpPr>
            <p:cNvPr name="Freeform 14" id="14"/>
            <p:cNvSpPr/>
            <p:nvPr/>
          </p:nvSpPr>
          <p:spPr>
            <a:xfrm flipH="false" flipV="false" rot="0">
              <a:off x="0" y="0"/>
              <a:ext cx="20482561" cy="2286000"/>
            </a:xfrm>
            <a:custGeom>
              <a:avLst/>
              <a:gdLst/>
              <a:ahLst/>
              <a:cxnLst/>
              <a:rect r="r" b="b" t="t" l="l"/>
              <a:pathLst>
                <a:path h="2286000" w="20482561">
                  <a:moveTo>
                    <a:pt x="0" y="0"/>
                  </a:moveTo>
                  <a:lnTo>
                    <a:pt x="20482561" y="0"/>
                  </a:lnTo>
                  <a:lnTo>
                    <a:pt x="20482561" y="2286000"/>
                  </a:lnTo>
                  <a:lnTo>
                    <a:pt x="0" y="2286000"/>
                  </a:lnTo>
                  <a:close/>
                </a:path>
              </a:pathLst>
            </a:custGeom>
            <a:blipFill>
              <a:blip r:embed="rId2">
                <a:alphaModFix amt="0"/>
              </a:blip>
              <a:stretch>
                <a:fillRect l="0" t="-124585" r="0" b="-124585"/>
              </a:stretch>
            </a:blipFill>
          </p:spPr>
        </p:sp>
        <p:sp>
          <p:nvSpPr>
            <p:cNvPr name="TextBox 15" id="15"/>
            <p:cNvSpPr txBox="true"/>
            <p:nvPr/>
          </p:nvSpPr>
          <p:spPr>
            <a:xfrm>
              <a:off x="0" y="-85725"/>
              <a:ext cx="20482560" cy="2371725"/>
            </a:xfrm>
            <a:prstGeom prst="rect">
              <a:avLst/>
            </a:prstGeom>
          </p:spPr>
          <p:txBody>
            <a:bodyPr anchor="ctr" rtlCol="false" tIns="0" lIns="0" bIns="0" rIns="0"/>
            <a:lstStyle/>
            <a:p>
              <a:pPr algn="l">
                <a:lnSpc>
                  <a:spcPts val="3600"/>
                </a:lnSpc>
              </a:pPr>
              <a:r>
                <a:rPr lang="en-US" sz="2400" i="true">
                  <a:solidFill>
                    <a:srgbClr val="23262F"/>
                  </a:solidFill>
                  <a:latin typeface="Cambria Italics"/>
                  <a:ea typeface="Cambria Italics"/>
                  <a:cs typeface="Cambria Italics"/>
                  <a:sym typeface="Cambria Italics"/>
                </a:rPr>
                <a:t>"The provincial council approves a dedicated annual budget line for cybersecurity, instead of pulling funds ad hoc whenever something breaks."</a:t>
              </a:r>
            </a:p>
          </p:txBody>
        </p:sp>
      </p:grpSp>
      <p:grpSp>
        <p:nvGrpSpPr>
          <p:cNvPr name="Group 16" id="16"/>
          <p:cNvGrpSpPr/>
          <p:nvPr/>
        </p:nvGrpSpPr>
        <p:grpSpPr>
          <a:xfrm rot="0">
            <a:off x="950595" y="5065395"/>
            <a:ext cx="5162550" cy="842010"/>
            <a:chOff x="0" y="0"/>
            <a:chExt cx="6883400" cy="1122680"/>
          </a:xfrm>
        </p:grpSpPr>
        <p:sp>
          <p:nvSpPr>
            <p:cNvPr name="Freeform 17" id="17"/>
            <p:cNvSpPr/>
            <p:nvPr/>
          </p:nvSpPr>
          <p:spPr>
            <a:xfrm flipH="false" flipV="false" rot="0">
              <a:off x="0" y="0"/>
              <a:ext cx="6883400" cy="1122680"/>
            </a:xfrm>
            <a:custGeom>
              <a:avLst/>
              <a:gdLst/>
              <a:ahLst/>
              <a:cxnLst/>
              <a:rect r="r" b="b" t="t" l="l"/>
              <a:pathLst>
                <a:path h="1122680" w="6883400">
                  <a:moveTo>
                    <a:pt x="0" y="168402"/>
                  </a:moveTo>
                  <a:cubicBezTo>
                    <a:pt x="0" y="75438"/>
                    <a:pt x="75438" y="0"/>
                    <a:pt x="168402" y="0"/>
                  </a:cubicBezTo>
                  <a:lnTo>
                    <a:pt x="6714998" y="0"/>
                  </a:lnTo>
                  <a:cubicBezTo>
                    <a:pt x="6807962" y="0"/>
                    <a:pt x="6883400" y="75438"/>
                    <a:pt x="6883400" y="168402"/>
                  </a:cubicBezTo>
                  <a:lnTo>
                    <a:pt x="6883400" y="954278"/>
                  </a:lnTo>
                  <a:cubicBezTo>
                    <a:pt x="6883400" y="1047242"/>
                    <a:pt x="6807962" y="1122680"/>
                    <a:pt x="6714998" y="1122680"/>
                  </a:cubicBezTo>
                  <a:lnTo>
                    <a:pt x="168402" y="1122680"/>
                  </a:lnTo>
                  <a:cubicBezTo>
                    <a:pt x="75438" y="1122680"/>
                    <a:pt x="0" y="1047242"/>
                    <a:pt x="0" y="954278"/>
                  </a:cubicBezTo>
                  <a:close/>
                </a:path>
              </a:pathLst>
            </a:custGeom>
            <a:solidFill>
              <a:srgbClr val="6C4FD1"/>
            </a:solidFill>
            <a:ln w="19050" cap="sq">
              <a:solidFill>
                <a:srgbClr val="6C4FD1"/>
              </a:solidFill>
              <a:prstDash val="solid"/>
              <a:miter/>
            </a:ln>
          </p:spPr>
        </p:sp>
      </p:grpSp>
      <p:grpSp>
        <p:nvGrpSpPr>
          <p:cNvPr name="Group 18" id="18"/>
          <p:cNvGrpSpPr/>
          <p:nvPr/>
        </p:nvGrpSpPr>
        <p:grpSpPr>
          <a:xfrm rot="0">
            <a:off x="960120" y="5143500"/>
            <a:ext cx="5143500" cy="521208"/>
            <a:chOff x="0" y="0"/>
            <a:chExt cx="6858000" cy="694944"/>
          </a:xfrm>
        </p:grpSpPr>
        <p:sp>
          <p:nvSpPr>
            <p:cNvPr name="Freeform 19" id="19"/>
            <p:cNvSpPr/>
            <p:nvPr/>
          </p:nvSpPr>
          <p:spPr>
            <a:xfrm flipH="false" flipV="false" rot="0">
              <a:off x="0" y="0"/>
              <a:ext cx="6858000" cy="694944"/>
            </a:xfrm>
            <a:custGeom>
              <a:avLst/>
              <a:gdLst/>
              <a:ahLst/>
              <a:cxnLst/>
              <a:rect r="r" b="b" t="t" l="l"/>
              <a:pathLst>
                <a:path h="694944" w="6858000">
                  <a:moveTo>
                    <a:pt x="0" y="0"/>
                  </a:moveTo>
                  <a:lnTo>
                    <a:pt x="6858000" y="0"/>
                  </a:lnTo>
                  <a:lnTo>
                    <a:pt x="6858000" y="694944"/>
                  </a:lnTo>
                  <a:lnTo>
                    <a:pt x="0" y="694944"/>
                  </a:lnTo>
                  <a:close/>
                </a:path>
              </a:pathLst>
            </a:custGeom>
            <a:blipFill>
              <a:blip r:embed="rId2">
                <a:alphaModFix amt="0"/>
              </a:blip>
              <a:stretch>
                <a:fillRect l="0" t="-142286" r="0" b="-142286"/>
              </a:stretch>
            </a:blipFill>
          </p:spPr>
        </p:sp>
        <p:sp>
          <p:nvSpPr>
            <p:cNvPr name="TextBox 20" id="20"/>
            <p:cNvSpPr txBox="true"/>
            <p:nvPr/>
          </p:nvSpPr>
          <p:spPr>
            <a:xfrm>
              <a:off x="0" y="-38100"/>
              <a:ext cx="6858000" cy="733044"/>
            </a:xfrm>
            <a:prstGeom prst="rect">
              <a:avLst/>
            </a:prstGeom>
          </p:spPr>
          <p:txBody>
            <a:bodyPr anchor="ctr" rtlCol="false" tIns="0" lIns="0" bIns="0" rIns="0"/>
            <a:lstStyle/>
            <a:p>
              <a:pPr algn="ctr">
                <a:lnSpc>
                  <a:spcPts val="2430"/>
                </a:lnSpc>
              </a:pPr>
              <a:r>
                <a:rPr lang="en-US" sz="2025" b="true">
                  <a:solidFill>
                    <a:srgbClr val="FFFFFF"/>
                  </a:solidFill>
                  <a:latin typeface="Calibri (MS) Bold"/>
                  <a:ea typeface="Calibri (MS) Bold"/>
                  <a:cs typeface="Calibri (MS) Bold"/>
                  <a:sym typeface="Calibri (MS) Bold"/>
                </a:rPr>
                <a:t>✓  Govern</a:t>
              </a:r>
            </a:p>
          </p:txBody>
        </p:sp>
      </p:grpSp>
      <p:grpSp>
        <p:nvGrpSpPr>
          <p:cNvPr name="Group 21" id="21"/>
          <p:cNvGrpSpPr/>
          <p:nvPr/>
        </p:nvGrpSpPr>
        <p:grpSpPr>
          <a:xfrm rot="0">
            <a:off x="960120" y="5513832"/>
            <a:ext cx="5143500" cy="329184"/>
            <a:chOff x="0" y="0"/>
            <a:chExt cx="6858000" cy="438912"/>
          </a:xfrm>
        </p:grpSpPr>
        <p:sp>
          <p:nvSpPr>
            <p:cNvPr name="Freeform 22" id="22"/>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23" id="23"/>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FFFFFF"/>
                  </a:solidFill>
                  <a:latin typeface="Arimo"/>
                  <a:ea typeface="Arimo"/>
                  <a:cs typeface="Arimo"/>
                  <a:sym typeface="Arimo"/>
                </a:rPr>
                <a:t>GV</a:t>
              </a:r>
            </a:p>
          </p:txBody>
        </p:sp>
      </p:grpSp>
      <p:grpSp>
        <p:nvGrpSpPr>
          <p:cNvPr name="Group 24" id="24"/>
          <p:cNvGrpSpPr/>
          <p:nvPr/>
        </p:nvGrpSpPr>
        <p:grpSpPr>
          <a:xfrm rot="0">
            <a:off x="6533007" y="5065395"/>
            <a:ext cx="5162550" cy="842010"/>
            <a:chOff x="0" y="0"/>
            <a:chExt cx="6883400" cy="1122680"/>
          </a:xfrm>
        </p:grpSpPr>
        <p:sp>
          <p:nvSpPr>
            <p:cNvPr name="Freeform 25" id="25"/>
            <p:cNvSpPr/>
            <p:nvPr/>
          </p:nvSpPr>
          <p:spPr>
            <a:xfrm flipH="false" flipV="false" rot="0">
              <a:off x="0" y="0"/>
              <a:ext cx="6883400" cy="1122680"/>
            </a:xfrm>
            <a:custGeom>
              <a:avLst/>
              <a:gdLst/>
              <a:ahLst/>
              <a:cxnLst/>
              <a:rect r="r" b="b" t="t" l="l"/>
              <a:pathLst>
                <a:path h="1122680" w="6883400">
                  <a:moveTo>
                    <a:pt x="0" y="168402"/>
                  </a:moveTo>
                  <a:cubicBezTo>
                    <a:pt x="0" y="75438"/>
                    <a:pt x="75438" y="0"/>
                    <a:pt x="168402" y="0"/>
                  </a:cubicBezTo>
                  <a:lnTo>
                    <a:pt x="6714998" y="0"/>
                  </a:lnTo>
                  <a:cubicBezTo>
                    <a:pt x="6807962" y="0"/>
                    <a:pt x="6883400" y="75438"/>
                    <a:pt x="6883400" y="168402"/>
                  </a:cubicBezTo>
                  <a:lnTo>
                    <a:pt x="6883400" y="954278"/>
                  </a:lnTo>
                  <a:cubicBezTo>
                    <a:pt x="6883400" y="1047242"/>
                    <a:pt x="6807962" y="1122680"/>
                    <a:pt x="6714998" y="1122680"/>
                  </a:cubicBezTo>
                  <a:lnTo>
                    <a:pt x="168402" y="1122680"/>
                  </a:lnTo>
                  <a:cubicBezTo>
                    <a:pt x="75438" y="1122680"/>
                    <a:pt x="0" y="1047242"/>
                    <a:pt x="0" y="954278"/>
                  </a:cubicBezTo>
                  <a:close/>
                </a:path>
              </a:pathLst>
            </a:custGeom>
            <a:solidFill>
              <a:srgbClr val="F4F7FC"/>
            </a:solidFill>
            <a:ln w="19050" cap="sq">
              <a:solidFill>
                <a:srgbClr val="D7DCEC"/>
              </a:solidFill>
              <a:prstDash val="solid"/>
              <a:miter/>
            </a:ln>
          </p:spPr>
        </p:sp>
      </p:grpSp>
      <p:grpSp>
        <p:nvGrpSpPr>
          <p:cNvPr name="Group 26" id="26"/>
          <p:cNvGrpSpPr/>
          <p:nvPr/>
        </p:nvGrpSpPr>
        <p:grpSpPr>
          <a:xfrm rot="0">
            <a:off x="6542532" y="5143500"/>
            <a:ext cx="5143500" cy="521208"/>
            <a:chOff x="0" y="0"/>
            <a:chExt cx="6858000" cy="694944"/>
          </a:xfrm>
        </p:grpSpPr>
        <p:sp>
          <p:nvSpPr>
            <p:cNvPr name="Freeform 27" id="27"/>
            <p:cNvSpPr/>
            <p:nvPr/>
          </p:nvSpPr>
          <p:spPr>
            <a:xfrm flipH="false" flipV="false" rot="0">
              <a:off x="0" y="0"/>
              <a:ext cx="6858000" cy="694944"/>
            </a:xfrm>
            <a:custGeom>
              <a:avLst/>
              <a:gdLst/>
              <a:ahLst/>
              <a:cxnLst/>
              <a:rect r="r" b="b" t="t" l="l"/>
              <a:pathLst>
                <a:path h="694944" w="6858000">
                  <a:moveTo>
                    <a:pt x="0" y="0"/>
                  </a:moveTo>
                  <a:lnTo>
                    <a:pt x="6858000" y="0"/>
                  </a:lnTo>
                  <a:lnTo>
                    <a:pt x="6858000" y="694944"/>
                  </a:lnTo>
                  <a:lnTo>
                    <a:pt x="0" y="694944"/>
                  </a:lnTo>
                  <a:close/>
                </a:path>
              </a:pathLst>
            </a:custGeom>
            <a:blipFill>
              <a:blip r:embed="rId2">
                <a:alphaModFix amt="0"/>
              </a:blip>
              <a:stretch>
                <a:fillRect l="0" t="-142286" r="0" b="-142286"/>
              </a:stretch>
            </a:blipFill>
          </p:spPr>
        </p:sp>
        <p:sp>
          <p:nvSpPr>
            <p:cNvPr name="TextBox 28" id="28"/>
            <p:cNvSpPr txBox="true"/>
            <p:nvPr/>
          </p:nvSpPr>
          <p:spPr>
            <a:xfrm>
              <a:off x="0" y="-38100"/>
              <a:ext cx="6858000" cy="733044"/>
            </a:xfrm>
            <a:prstGeom prst="rect">
              <a:avLst/>
            </a:prstGeom>
          </p:spPr>
          <p:txBody>
            <a:bodyPr anchor="ctr" rtlCol="false" tIns="0" lIns="0" bIns="0" rIns="0"/>
            <a:lstStyle/>
            <a:p>
              <a:pPr algn="ctr">
                <a:lnSpc>
                  <a:spcPts val="2430"/>
                </a:lnSpc>
              </a:pPr>
              <a:r>
                <a:rPr lang="en-US" sz="2025">
                  <a:solidFill>
                    <a:srgbClr val="6B7280"/>
                  </a:solidFill>
                  <a:latin typeface="Calibri (MS)"/>
                  <a:ea typeface="Calibri (MS)"/>
                  <a:cs typeface="Calibri (MS)"/>
                  <a:sym typeface="Calibri (MS)"/>
                </a:rPr>
                <a:t>Identify</a:t>
              </a:r>
            </a:p>
          </p:txBody>
        </p:sp>
      </p:grpSp>
      <p:grpSp>
        <p:nvGrpSpPr>
          <p:cNvPr name="Group 29" id="29"/>
          <p:cNvGrpSpPr/>
          <p:nvPr/>
        </p:nvGrpSpPr>
        <p:grpSpPr>
          <a:xfrm rot="0">
            <a:off x="6542532" y="5513832"/>
            <a:ext cx="5143500" cy="329184"/>
            <a:chOff x="0" y="0"/>
            <a:chExt cx="6858000" cy="438912"/>
          </a:xfrm>
        </p:grpSpPr>
        <p:sp>
          <p:nvSpPr>
            <p:cNvPr name="Freeform 30" id="30"/>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31" id="31"/>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9AA3B8"/>
                  </a:solidFill>
                  <a:latin typeface="Arimo"/>
                  <a:ea typeface="Arimo"/>
                  <a:cs typeface="Arimo"/>
                  <a:sym typeface="Arimo"/>
                </a:rPr>
                <a:t>ID</a:t>
              </a:r>
            </a:p>
          </p:txBody>
        </p:sp>
      </p:grpSp>
      <p:grpSp>
        <p:nvGrpSpPr>
          <p:cNvPr name="Group 32" id="32"/>
          <p:cNvGrpSpPr/>
          <p:nvPr/>
        </p:nvGrpSpPr>
        <p:grpSpPr>
          <a:xfrm rot="0">
            <a:off x="12115419" y="5065395"/>
            <a:ext cx="5162550" cy="842010"/>
            <a:chOff x="0" y="0"/>
            <a:chExt cx="6883400" cy="1122680"/>
          </a:xfrm>
        </p:grpSpPr>
        <p:sp>
          <p:nvSpPr>
            <p:cNvPr name="Freeform 33" id="33"/>
            <p:cNvSpPr/>
            <p:nvPr/>
          </p:nvSpPr>
          <p:spPr>
            <a:xfrm flipH="false" flipV="false" rot="0">
              <a:off x="0" y="0"/>
              <a:ext cx="6883400" cy="1122680"/>
            </a:xfrm>
            <a:custGeom>
              <a:avLst/>
              <a:gdLst/>
              <a:ahLst/>
              <a:cxnLst/>
              <a:rect r="r" b="b" t="t" l="l"/>
              <a:pathLst>
                <a:path h="1122680" w="6883400">
                  <a:moveTo>
                    <a:pt x="0" y="168402"/>
                  </a:moveTo>
                  <a:cubicBezTo>
                    <a:pt x="0" y="75438"/>
                    <a:pt x="75438" y="0"/>
                    <a:pt x="168402" y="0"/>
                  </a:cubicBezTo>
                  <a:lnTo>
                    <a:pt x="6714998" y="0"/>
                  </a:lnTo>
                  <a:cubicBezTo>
                    <a:pt x="6807962" y="0"/>
                    <a:pt x="6883400" y="75438"/>
                    <a:pt x="6883400" y="168402"/>
                  </a:cubicBezTo>
                  <a:lnTo>
                    <a:pt x="6883400" y="954278"/>
                  </a:lnTo>
                  <a:cubicBezTo>
                    <a:pt x="6883400" y="1047242"/>
                    <a:pt x="6807962" y="1122680"/>
                    <a:pt x="6714998" y="1122680"/>
                  </a:cubicBezTo>
                  <a:lnTo>
                    <a:pt x="168402" y="1122680"/>
                  </a:lnTo>
                  <a:cubicBezTo>
                    <a:pt x="75438" y="1122680"/>
                    <a:pt x="0" y="1047242"/>
                    <a:pt x="0" y="954278"/>
                  </a:cubicBezTo>
                  <a:close/>
                </a:path>
              </a:pathLst>
            </a:custGeom>
            <a:solidFill>
              <a:srgbClr val="F4F7FC"/>
            </a:solidFill>
            <a:ln w="19050" cap="sq">
              <a:solidFill>
                <a:srgbClr val="D7DCEC"/>
              </a:solidFill>
              <a:prstDash val="solid"/>
              <a:miter/>
            </a:ln>
          </p:spPr>
        </p:sp>
      </p:grpSp>
      <p:grpSp>
        <p:nvGrpSpPr>
          <p:cNvPr name="Group 34" id="34"/>
          <p:cNvGrpSpPr/>
          <p:nvPr/>
        </p:nvGrpSpPr>
        <p:grpSpPr>
          <a:xfrm rot="0">
            <a:off x="12124944" y="5143500"/>
            <a:ext cx="5143500" cy="521208"/>
            <a:chOff x="0" y="0"/>
            <a:chExt cx="6858000" cy="694944"/>
          </a:xfrm>
        </p:grpSpPr>
        <p:sp>
          <p:nvSpPr>
            <p:cNvPr name="Freeform 35" id="35"/>
            <p:cNvSpPr/>
            <p:nvPr/>
          </p:nvSpPr>
          <p:spPr>
            <a:xfrm flipH="false" flipV="false" rot="0">
              <a:off x="0" y="0"/>
              <a:ext cx="6858000" cy="694944"/>
            </a:xfrm>
            <a:custGeom>
              <a:avLst/>
              <a:gdLst/>
              <a:ahLst/>
              <a:cxnLst/>
              <a:rect r="r" b="b" t="t" l="l"/>
              <a:pathLst>
                <a:path h="694944" w="6858000">
                  <a:moveTo>
                    <a:pt x="0" y="0"/>
                  </a:moveTo>
                  <a:lnTo>
                    <a:pt x="6858000" y="0"/>
                  </a:lnTo>
                  <a:lnTo>
                    <a:pt x="6858000" y="694944"/>
                  </a:lnTo>
                  <a:lnTo>
                    <a:pt x="0" y="694944"/>
                  </a:lnTo>
                  <a:close/>
                </a:path>
              </a:pathLst>
            </a:custGeom>
            <a:blipFill>
              <a:blip r:embed="rId2">
                <a:alphaModFix amt="0"/>
              </a:blip>
              <a:stretch>
                <a:fillRect l="0" t="-142286" r="0" b="-142286"/>
              </a:stretch>
            </a:blipFill>
          </p:spPr>
        </p:sp>
        <p:sp>
          <p:nvSpPr>
            <p:cNvPr name="TextBox 36" id="36"/>
            <p:cNvSpPr txBox="true"/>
            <p:nvPr/>
          </p:nvSpPr>
          <p:spPr>
            <a:xfrm>
              <a:off x="0" y="-38100"/>
              <a:ext cx="6858000" cy="733044"/>
            </a:xfrm>
            <a:prstGeom prst="rect">
              <a:avLst/>
            </a:prstGeom>
          </p:spPr>
          <p:txBody>
            <a:bodyPr anchor="ctr" rtlCol="false" tIns="0" lIns="0" bIns="0" rIns="0"/>
            <a:lstStyle/>
            <a:p>
              <a:pPr algn="ctr">
                <a:lnSpc>
                  <a:spcPts val="2430"/>
                </a:lnSpc>
              </a:pPr>
              <a:r>
                <a:rPr lang="en-US" sz="2025">
                  <a:solidFill>
                    <a:srgbClr val="6B7280"/>
                  </a:solidFill>
                  <a:latin typeface="Calibri (MS)"/>
                  <a:ea typeface="Calibri (MS)"/>
                  <a:cs typeface="Calibri (MS)"/>
                  <a:sym typeface="Calibri (MS)"/>
                </a:rPr>
                <a:t>Protect</a:t>
              </a:r>
            </a:p>
          </p:txBody>
        </p:sp>
      </p:grpSp>
      <p:grpSp>
        <p:nvGrpSpPr>
          <p:cNvPr name="Group 37" id="37"/>
          <p:cNvGrpSpPr/>
          <p:nvPr/>
        </p:nvGrpSpPr>
        <p:grpSpPr>
          <a:xfrm rot="0">
            <a:off x="12124944" y="5513832"/>
            <a:ext cx="5143500" cy="329184"/>
            <a:chOff x="0" y="0"/>
            <a:chExt cx="6858000" cy="438912"/>
          </a:xfrm>
        </p:grpSpPr>
        <p:sp>
          <p:nvSpPr>
            <p:cNvPr name="Freeform 38" id="38"/>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39" id="39"/>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9AA3B8"/>
                  </a:solidFill>
                  <a:latin typeface="Arimo"/>
                  <a:ea typeface="Arimo"/>
                  <a:cs typeface="Arimo"/>
                  <a:sym typeface="Arimo"/>
                </a:rPr>
                <a:t>PR</a:t>
              </a:r>
            </a:p>
          </p:txBody>
        </p:sp>
      </p:grpSp>
      <p:grpSp>
        <p:nvGrpSpPr>
          <p:cNvPr name="Group 40" id="40"/>
          <p:cNvGrpSpPr/>
          <p:nvPr/>
        </p:nvGrpSpPr>
        <p:grpSpPr>
          <a:xfrm rot="0">
            <a:off x="950595" y="6135243"/>
            <a:ext cx="5162550" cy="842010"/>
            <a:chOff x="0" y="0"/>
            <a:chExt cx="6883400" cy="1122680"/>
          </a:xfrm>
        </p:grpSpPr>
        <p:sp>
          <p:nvSpPr>
            <p:cNvPr name="Freeform 41" id="41"/>
            <p:cNvSpPr/>
            <p:nvPr/>
          </p:nvSpPr>
          <p:spPr>
            <a:xfrm flipH="false" flipV="false" rot="0">
              <a:off x="0" y="0"/>
              <a:ext cx="6883400" cy="1122680"/>
            </a:xfrm>
            <a:custGeom>
              <a:avLst/>
              <a:gdLst/>
              <a:ahLst/>
              <a:cxnLst/>
              <a:rect r="r" b="b" t="t" l="l"/>
              <a:pathLst>
                <a:path h="1122680" w="6883400">
                  <a:moveTo>
                    <a:pt x="0" y="168402"/>
                  </a:moveTo>
                  <a:cubicBezTo>
                    <a:pt x="0" y="75438"/>
                    <a:pt x="75438" y="0"/>
                    <a:pt x="168402" y="0"/>
                  </a:cubicBezTo>
                  <a:lnTo>
                    <a:pt x="6714998" y="0"/>
                  </a:lnTo>
                  <a:cubicBezTo>
                    <a:pt x="6807962" y="0"/>
                    <a:pt x="6883400" y="75438"/>
                    <a:pt x="6883400" y="168402"/>
                  </a:cubicBezTo>
                  <a:lnTo>
                    <a:pt x="6883400" y="954278"/>
                  </a:lnTo>
                  <a:cubicBezTo>
                    <a:pt x="6883400" y="1047242"/>
                    <a:pt x="6807962" y="1122680"/>
                    <a:pt x="6714998" y="1122680"/>
                  </a:cubicBezTo>
                  <a:lnTo>
                    <a:pt x="168402" y="1122680"/>
                  </a:lnTo>
                  <a:cubicBezTo>
                    <a:pt x="75438" y="1122680"/>
                    <a:pt x="0" y="1047242"/>
                    <a:pt x="0" y="954278"/>
                  </a:cubicBezTo>
                  <a:close/>
                </a:path>
              </a:pathLst>
            </a:custGeom>
            <a:solidFill>
              <a:srgbClr val="F4F7FC"/>
            </a:solidFill>
            <a:ln w="19050" cap="sq">
              <a:solidFill>
                <a:srgbClr val="D7DCEC"/>
              </a:solidFill>
              <a:prstDash val="solid"/>
              <a:miter/>
            </a:ln>
          </p:spPr>
        </p:sp>
      </p:grpSp>
      <p:grpSp>
        <p:nvGrpSpPr>
          <p:cNvPr name="Group 42" id="42"/>
          <p:cNvGrpSpPr/>
          <p:nvPr/>
        </p:nvGrpSpPr>
        <p:grpSpPr>
          <a:xfrm rot="0">
            <a:off x="960120" y="6213348"/>
            <a:ext cx="5143500" cy="521208"/>
            <a:chOff x="0" y="0"/>
            <a:chExt cx="6858000" cy="694944"/>
          </a:xfrm>
        </p:grpSpPr>
        <p:sp>
          <p:nvSpPr>
            <p:cNvPr name="Freeform 43" id="43"/>
            <p:cNvSpPr/>
            <p:nvPr/>
          </p:nvSpPr>
          <p:spPr>
            <a:xfrm flipH="false" flipV="false" rot="0">
              <a:off x="0" y="0"/>
              <a:ext cx="6858000" cy="694944"/>
            </a:xfrm>
            <a:custGeom>
              <a:avLst/>
              <a:gdLst/>
              <a:ahLst/>
              <a:cxnLst/>
              <a:rect r="r" b="b" t="t" l="l"/>
              <a:pathLst>
                <a:path h="694944" w="6858000">
                  <a:moveTo>
                    <a:pt x="0" y="0"/>
                  </a:moveTo>
                  <a:lnTo>
                    <a:pt x="6858000" y="0"/>
                  </a:lnTo>
                  <a:lnTo>
                    <a:pt x="6858000" y="694944"/>
                  </a:lnTo>
                  <a:lnTo>
                    <a:pt x="0" y="694944"/>
                  </a:lnTo>
                  <a:close/>
                </a:path>
              </a:pathLst>
            </a:custGeom>
            <a:blipFill>
              <a:blip r:embed="rId2">
                <a:alphaModFix amt="0"/>
              </a:blip>
              <a:stretch>
                <a:fillRect l="0" t="-142286" r="0" b="-142286"/>
              </a:stretch>
            </a:blipFill>
          </p:spPr>
        </p:sp>
        <p:sp>
          <p:nvSpPr>
            <p:cNvPr name="TextBox 44" id="44"/>
            <p:cNvSpPr txBox="true"/>
            <p:nvPr/>
          </p:nvSpPr>
          <p:spPr>
            <a:xfrm>
              <a:off x="0" y="-38100"/>
              <a:ext cx="6858000" cy="733044"/>
            </a:xfrm>
            <a:prstGeom prst="rect">
              <a:avLst/>
            </a:prstGeom>
          </p:spPr>
          <p:txBody>
            <a:bodyPr anchor="ctr" rtlCol="false" tIns="0" lIns="0" bIns="0" rIns="0"/>
            <a:lstStyle/>
            <a:p>
              <a:pPr algn="ctr">
                <a:lnSpc>
                  <a:spcPts val="2430"/>
                </a:lnSpc>
              </a:pPr>
              <a:r>
                <a:rPr lang="en-US" sz="2025">
                  <a:solidFill>
                    <a:srgbClr val="6B7280"/>
                  </a:solidFill>
                  <a:latin typeface="Calibri (MS)"/>
                  <a:ea typeface="Calibri (MS)"/>
                  <a:cs typeface="Calibri (MS)"/>
                  <a:sym typeface="Calibri (MS)"/>
                </a:rPr>
                <a:t>Detect</a:t>
              </a:r>
            </a:p>
          </p:txBody>
        </p:sp>
      </p:grpSp>
      <p:grpSp>
        <p:nvGrpSpPr>
          <p:cNvPr name="Group 45" id="45"/>
          <p:cNvGrpSpPr/>
          <p:nvPr/>
        </p:nvGrpSpPr>
        <p:grpSpPr>
          <a:xfrm rot="0">
            <a:off x="960120" y="6583680"/>
            <a:ext cx="5143500" cy="329184"/>
            <a:chOff x="0" y="0"/>
            <a:chExt cx="6858000" cy="438912"/>
          </a:xfrm>
        </p:grpSpPr>
        <p:sp>
          <p:nvSpPr>
            <p:cNvPr name="Freeform 46" id="46"/>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47" id="47"/>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9AA3B8"/>
                  </a:solidFill>
                  <a:latin typeface="Arimo"/>
                  <a:ea typeface="Arimo"/>
                  <a:cs typeface="Arimo"/>
                  <a:sym typeface="Arimo"/>
                </a:rPr>
                <a:t>DE</a:t>
              </a:r>
            </a:p>
          </p:txBody>
        </p:sp>
      </p:grpSp>
      <p:grpSp>
        <p:nvGrpSpPr>
          <p:cNvPr name="Group 48" id="48"/>
          <p:cNvGrpSpPr/>
          <p:nvPr/>
        </p:nvGrpSpPr>
        <p:grpSpPr>
          <a:xfrm rot="0">
            <a:off x="6533007" y="6135243"/>
            <a:ext cx="5162550" cy="842010"/>
            <a:chOff x="0" y="0"/>
            <a:chExt cx="6883400" cy="1122680"/>
          </a:xfrm>
        </p:grpSpPr>
        <p:sp>
          <p:nvSpPr>
            <p:cNvPr name="Freeform 49" id="49"/>
            <p:cNvSpPr/>
            <p:nvPr/>
          </p:nvSpPr>
          <p:spPr>
            <a:xfrm flipH="false" flipV="false" rot="0">
              <a:off x="0" y="0"/>
              <a:ext cx="6883400" cy="1122680"/>
            </a:xfrm>
            <a:custGeom>
              <a:avLst/>
              <a:gdLst/>
              <a:ahLst/>
              <a:cxnLst/>
              <a:rect r="r" b="b" t="t" l="l"/>
              <a:pathLst>
                <a:path h="1122680" w="6883400">
                  <a:moveTo>
                    <a:pt x="0" y="168402"/>
                  </a:moveTo>
                  <a:cubicBezTo>
                    <a:pt x="0" y="75438"/>
                    <a:pt x="75438" y="0"/>
                    <a:pt x="168402" y="0"/>
                  </a:cubicBezTo>
                  <a:lnTo>
                    <a:pt x="6714998" y="0"/>
                  </a:lnTo>
                  <a:cubicBezTo>
                    <a:pt x="6807962" y="0"/>
                    <a:pt x="6883400" y="75438"/>
                    <a:pt x="6883400" y="168402"/>
                  </a:cubicBezTo>
                  <a:lnTo>
                    <a:pt x="6883400" y="954278"/>
                  </a:lnTo>
                  <a:cubicBezTo>
                    <a:pt x="6883400" y="1047242"/>
                    <a:pt x="6807962" y="1122680"/>
                    <a:pt x="6714998" y="1122680"/>
                  </a:cubicBezTo>
                  <a:lnTo>
                    <a:pt x="168402" y="1122680"/>
                  </a:lnTo>
                  <a:cubicBezTo>
                    <a:pt x="75438" y="1122680"/>
                    <a:pt x="0" y="1047242"/>
                    <a:pt x="0" y="954278"/>
                  </a:cubicBezTo>
                  <a:close/>
                </a:path>
              </a:pathLst>
            </a:custGeom>
            <a:solidFill>
              <a:srgbClr val="F4F7FC"/>
            </a:solidFill>
            <a:ln w="19050" cap="sq">
              <a:solidFill>
                <a:srgbClr val="D7DCEC"/>
              </a:solidFill>
              <a:prstDash val="solid"/>
              <a:miter/>
            </a:ln>
          </p:spPr>
        </p:sp>
      </p:grpSp>
      <p:grpSp>
        <p:nvGrpSpPr>
          <p:cNvPr name="Group 50" id="50"/>
          <p:cNvGrpSpPr/>
          <p:nvPr/>
        </p:nvGrpSpPr>
        <p:grpSpPr>
          <a:xfrm rot="0">
            <a:off x="6542532" y="6213348"/>
            <a:ext cx="5143500" cy="521208"/>
            <a:chOff x="0" y="0"/>
            <a:chExt cx="6858000" cy="694944"/>
          </a:xfrm>
        </p:grpSpPr>
        <p:sp>
          <p:nvSpPr>
            <p:cNvPr name="Freeform 51" id="51"/>
            <p:cNvSpPr/>
            <p:nvPr/>
          </p:nvSpPr>
          <p:spPr>
            <a:xfrm flipH="false" flipV="false" rot="0">
              <a:off x="0" y="0"/>
              <a:ext cx="6858000" cy="694944"/>
            </a:xfrm>
            <a:custGeom>
              <a:avLst/>
              <a:gdLst/>
              <a:ahLst/>
              <a:cxnLst/>
              <a:rect r="r" b="b" t="t" l="l"/>
              <a:pathLst>
                <a:path h="694944" w="6858000">
                  <a:moveTo>
                    <a:pt x="0" y="0"/>
                  </a:moveTo>
                  <a:lnTo>
                    <a:pt x="6858000" y="0"/>
                  </a:lnTo>
                  <a:lnTo>
                    <a:pt x="6858000" y="694944"/>
                  </a:lnTo>
                  <a:lnTo>
                    <a:pt x="0" y="694944"/>
                  </a:lnTo>
                  <a:close/>
                </a:path>
              </a:pathLst>
            </a:custGeom>
            <a:blipFill>
              <a:blip r:embed="rId2">
                <a:alphaModFix amt="0"/>
              </a:blip>
              <a:stretch>
                <a:fillRect l="0" t="-142286" r="0" b="-142286"/>
              </a:stretch>
            </a:blipFill>
          </p:spPr>
        </p:sp>
        <p:sp>
          <p:nvSpPr>
            <p:cNvPr name="TextBox 52" id="52"/>
            <p:cNvSpPr txBox="true"/>
            <p:nvPr/>
          </p:nvSpPr>
          <p:spPr>
            <a:xfrm>
              <a:off x="0" y="-38100"/>
              <a:ext cx="6858000" cy="733044"/>
            </a:xfrm>
            <a:prstGeom prst="rect">
              <a:avLst/>
            </a:prstGeom>
          </p:spPr>
          <p:txBody>
            <a:bodyPr anchor="ctr" rtlCol="false" tIns="0" lIns="0" bIns="0" rIns="0"/>
            <a:lstStyle/>
            <a:p>
              <a:pPr algn="ctr">
                <a:lnSpc>
                  <a:spcPts val="2430"/>
                </a:lnSpc>
              </a:pPr>
              <a:r>
                <a:rPr lang="en-US" sz="2025">
                  <a:solidFill>
                    <a:srgbClr val="6B7280"/>
                  </a:solidFill>
                  <a:latin typeface="Calibri (MS)"/>
                  <a:ea typeface="Calibri (MS)"/>
                  <a:cs typeface="Calibri (MS)"/>
                  <a:sym typeface="Calibri (MS)"/>
                </a:rPr>
                <a:t>Respond</a:t>
              </a:r>
            </a:p>
          </p:txBody>
        </p:sp>
      </p:grpSp>
      <p:grpSp>
        <p:nvGrpSpPr>
          <p:cNvPr name="Group 53" id="53"/>
          <p:cNvGrpSpPr/>
          <p:nvPr/>
        </p:nvGrpSpPr>
        <p:grpSpPr>
          <a:xfrm rot="0">
            <a:off x="6542532" y="6583680"/>
            <a:ext cx="5143500" cy="329184"/>
            <a:chOff x="0" y="0"/>
            <a:chExt cx="6858000" cy="438912"/>
          </a:xfrm>
        </p:grpSpPr>
        <p:sp>
          <p:nvSpPr>
            <p:cNvPr name="Freeform 54" id="54"/>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55" id="55"/>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9AA3B8"/>
                  </a:solidFill>
                  <a:latin typeface="Arimo"/>
                  <a:ea typeface="Arimo"/>
                  <a:cs typeface="Arimo"/>
                  <a:sym typeface="Arimo"/>
                </a:rPr>
                <a:t>RS</a:t>
              </a:r>
            </a:p>
          </p:txBody>
        </p:sp>
      </p:grpSp>
      <p:grpSp>
        <p:nvGrpSpPr>
          <p:cNvPr name="Group 56" id="56"/>
          <p:cNvGrpSpPr/>
          <p:nvPr/>
        </p:nvGrpSpPr>
        <p:grpSpPr>
          <a:xfrm rot="0">
            <a:off x="12115419" y="6135243"/>
            <a:ext cx="5162550" cy="842010"/>
            <a:chOff x="0" y="0"/>
            <a:chExt cx="6883400" cy="1122680"/>
          </a:xfrm>
        </p:grpSpPr>
        <p:sp>
          <p:nvSpPr>
            <p:cNvPr name="Freeform 57" id="57"/>
            <p:cNvSpPr/>
            <p:nvPr/>
          </p:nvSpPr>
          <p:spPr>
            <a:xfrm flipH="false" flipV="false" rot="0">
              <a:off x="0" y="0"/>
              <a:ext cx="6883400" cy="1122680"/>
            </a:xfrm>
            <a:custGeom>
              <a:avLst/>
              <a:gdLst/>
              <a:ahLst/>
              <a:cxnLst/>
              <a:rect r="r" b="b" t="t" l="l"/>
              <a:pathLst>
                <a:path h="1122680" w="6883400">
                  <a:moveTo>
                    <a:pt x="0" y="168402"/>
                  </a:moveTo>
                  <a:cubicBezTo>
                    <a:pt x="0" y="75438"/>
                    <a:pt x="75438" y="0"/>
                    <a:pt x="168402" y="0"/>
                  </a:cubicBezTo>
                  <a:lnTo>
                    <a:pt x="6714998" y="0"/>
                  </a:lnTo>
                  <a:cubicBezTo>
                    <a:pt x="6807962" y="0"/>
                    <a:pt x="6883400" y="75438"/>
                    <a:pt x="6883400" y="168402"/>
                  </a:cubicBezTo>
                  <a:lnTo>
                    <a:pt x="6883400" y="954278"/>
                  </a:lnTo>
                  <a:cubicBezTo>
                    <a:pt x="6883400" y="1047242"/>
                    <a:pt x="6807962" y="1122680"/>
                    <a:pt x="6714998" y="1122680"/>
                  </a:cubicBezTo>
                  <a:lnTo>
                    <a:pt x="168402" y="1122680"/>
                  </a:lnTo>
                  <a:cubicBezTo>
                    <a:pt x="75438" y="1122680"/>
                    <a:pt x="0" y="1047242"/>
                    <a:pt x="0" y="954278"/>
                  </a:cubicBezTo>
                  <a:close/>
                </a:path>
              </a:pathLst>
            </a:custGeom>
            <a:solidFill>
              <a:srgbClr val="F4F7FC"/>
            </a:solidFill>
            <a:ln w="19050" cap="sq">
              <a:solidFill>
                <a:srgbClr val="D7DCEC"/>
              </a:solidFill>
              <a:prstDash val="solid"/>
              <a:miter/>
            </a:ln>
          </p:spPr>
        </p:sp>
      </p:grpSp>
      <p:grpSp>
        <p:nvGrpSpPr>
          <p:cNvPr name="Group 58" id="58"/>
          <p:cNvGrpSpPr/>
          <p:nvPr/>
        </p:nvGrpSpPr>
        <p:grpSpPr>
          <a:xfrm rot="0">
            <a:off x="12124944" y="6213348"/>
            <a:ext cx="5143500" cy="521208"/>
            <a:chOff x="0" y="0"/>
            <a:chExt cx="6858000" cy="694944"/>
          </a:xfrm>
        </p:grpSpPr>
        <p:sp>
          <p:nvSpPr>
            <p:cNvPr name="Freeform 59" id="59"/>
            <p:cNvSpPr/>
            <p:nvPr/>
          </p:nvSpPr>
          <p:spPr>
            <a:xfrm flipH="false" flipV="false" rot="0">
              <a:off x="0" y="0"/>
              <a:ext cx="6858000" cy="694944"/>
            </a:xfrm>
            <a:custGeom>
              <a:avLst/>
              <a:gdLst/>
              <a:ahLst/>
              <a:cxnLst/>
              <a:rect r="r" b="b" t="t" l="l"/>
              <a:pathLst>
                <a:path h="694944" w="6858000">
                  <a:moveTo>
                    <a:pt x="0" y="0"/>
                  </a:moveTo>
                  <a:lnTo>
                    <a:pt x="6858000" y="0"/>
                  </a:lnTo>
                  <a:lnTo>
                    <a:pt x="6858000" y="694944"/>
                  </a:lnTo>
                  <a:lnTo>
                    <a:pt x="0" y="694944"/>
                  </a:lnTo>
                  <a:close/>
                </a:path>
              </a:pathLst>
            </a:custGeom>
            <a:blipFill>
              <a:blip r:embed="rId2">
                <a:alphaModFix amt="0"/>
              </a:blip>
              <a:stretch>
                <a:fillRect l="0" t="-142286" r="0" b="-142286"/>
              </a:stretch>
            </a:blipFill>
          </p:spPr>
        </p:sp>
        <p:sp>
          <p:nvSpPr>
            <p:cNvPr name="TextBox 60" id="60"/>
            <p:cNvSpPr txBox="true"/>
            <p:nvPr/>
          </p:nvSpPr>
          <p:spPr>
            <a:xfrm>
              <a:off x="0" y="-38100"/>
              <a:ext cx="6858000" cy="733044"/>
            </a:xfrm>
            <a:prstGeom prst="rect">
              <a:avLst/>
            </a:prstGeom>
          </p:spPr>
          <p:txBody>
            <a:bodyPr anchor="ctr" rtlCol="false" tIns="0" lIns="0" bIns="0" rIns="0"/>
            <a:lstStyle/>
            <a:p>
              <a:pPr algn="ctr">
                <a:lnSpc>
                  <a:spcPts val="2430"/>
                </a:lnSpc>
              </a:pPr>
              <a:r>
                <a:rPr lang="en-US" sz="2025">
                  <a:solidFill>
                    <a:srgbClr val="6B7280"/>
                  </a:solidFill>
                  <a:latin typeface="Calibri (MS)"/>
                  <a:ea typeface="Calibri (MS)"/>
                  <a:cs typeface="Calibri (MS)"/>
                  <a:sym typeface="Calibri (MS)"/>
                </a:rPr>
                <a:t>Recover</a:t>
              </a:r>
            </a:p>
          </p:txBody>
        </p:sp>
      </p:grpSp>
      <p:grpSp>
        <p:nvGrpSpPr>
          <p:cNvPr name="Group 61" id="61"/>
          <p:cNvGrpSpPr/>
          <p:nvPr/>
        </p:nvGrpSpPr>
        <p:grpSpPr>
          <a:xfrm rot="0">
            <a:off x="12124944" y="6583680"/>
            <a:ext cx="5143500" cy="329184"/>
            <a:chOff x="0" y="0"/>
            <a:chExt cx="6858000" cy="438912"/>
          </a:xfrm>
        </p:grpSpPr>
        <p:sp>
          <p:nvSpPr>
            <p:cNvPr name="Freeform 62" id="62"/>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63" id="63"/>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9AA3B8"/>
                  </a:solidFill>
                  <a:latin typeface="Arimo"/>
                  <a:ea typeface="Arimo"/>
                  <a:cs typeface="Arimo"/>
                  <a:sym typeface="Arimo"/>
                </a:rPr>
                <a:t>RC</a:t>
              </a:r>
            </a:p>
          </p:txBody>
        </p:sp>
      </p:grpSp>
      <p:grpSp>
        <p:nvGrpSpPr>
          <p:cNvPr name="Group 64" id="64"/>
          <p:cNvGrpSpPr/>
          <p:nvPr/>
        </p:nvGrpSpPr>
        <p:grpSpPr>
          <a:xfrm rot="0">
            <a:off x="950595" y="7328535"/>
            <a:ext cx="16341090" cy="1596390"/>
            <a:chOff x="0" y="0"/>
            <a:chExt cx="21788120" cy="2128520"/>
          </a:xfrm>
        </p:grpSpPr>
        <p:sp>
          <p:nvSpPr>
            <p:cNvPr name="Freeform 65" id="65"/>
            <p:cNvSpPr/>
            <p:nvPr/>
          </p:nvSpPr>
          <p:spPr>
            <a:xfrm flipH="false" flipV="false" rot="0">
              <a:off x="0" y="0"/>
              <a:ext cx="21788120" cy="2128520"/>
            </a:xfrm>
            <a:custGeom>
              <a:avLst/>
              <a:gdLst/>
              <a:ahLst/>
              <a:cxnLst/>
              <a:rect r="r" b="b" t="t" l="l"/>
              <a:pathLst>
                <a:path h="2128520" w="21788120">
                  <a:moveTo>
                    <a:pt x="0" y="185039"/>
                  </a:moveTo>
                  <a:cubicBezTo>
                    <a:pt x="0" y="82931"/>
                    <a:pt x="82931" y="0"/>
                    <a:pt x="185039" y="0"/>
                  </a:cubicBezTo>
                  <a:lnTo>
                    <a:pt x="21603081" y="0"/>
                  </a:lnTo>
                  <a:cubicBezTo>
                    <a:pt x="21705317" y="0"/>
                    <a:pt x="21788120" y="82931"/>
                    <a:pt x="21788120" y="185039"/>
                  </a:cubicBezTo>
                  <a:lnTo>
                    <a:pt x="21788120" y="1943481"/>
                  </a:lnTo>
                  <a:cubicBezTo>
                    <a:pt x="21788120" y="2045716"/>
                    <a:pt x="21705190" y="2128520"/>
                    <a:pt x="21603081" y="2128520"/>
                  </a:cubicBezTo>
                  <a:lnTo>
                    <a:pt x="185039" y="2128520"/>
                  </a:lnTo>
                  <a:cubicBezTo>
                    <a:pt x="82931" y="2128520"/>
                    <a:pt x="0" y="2045589"/>
                    <a:pt x="0" y="1943481"/>
                  </a:cubicBezTo>
                  <a:close/>
                </a:path>
              </a:pathLst>
            </a:custGeom>
            <a:solidFill>
              <a:srgbClr val="FBF9F4"/>
            </a:solidFill>
            <a:ln w="19050" cap="sq">
              <a:solidFill>
                <a:srgbClr val="EFE6D2"/>
              </a:solidFill>
              <a:prstDash val="solid"/>
              <a:miter/>
            </a:ln>
          </p:spPr>
        </p:sp>
      </p:grpSp>
      <p:sp>
        <p:nvSpPr>
          <p:cNvPr name="TextBox 66" id="66"/>
          <p:cNvSpPr txBox="true"/>
          <p:nvPr/>
        </p:nvSpPr>
        <p:spPr>
          <a:xfrm rot="0">
            <a:off x="1463040" y="7494270"/>
            <a:ext cx="15316200" cy="1238250"/>
          </a:xfrm>
          <a:prstGeom prst="rect">
            <a:avLst/>
          </a:prstGeom>
        </p:spPr>
        <p:txBody>
          <a:bodyPr anchor="t" rtlCol="false" tIns="0" lIns="0" bIns="0" rIns="0">
            <a:spAutoFit/>
          </a:bodyPr>
          <a:lstStyle/>
          <a:p>
            <a:pPr algn="l">
              <a:lnSpc>
                <a:spcPts val="2880"/>
              </a:lnSpc>
            </a:pPr>
            <a:r>
              <a:rPr lang="en-US" sz="1875">
                <a:solidFill>
                  <a:srgbClr val="23262F"/>
                </a:solidFill>
                <a:latin typeface="Calibri (MS)"/>
                <a:ea typeface="Calibri (MS)"/>
                <a:cs typeface="Calibri (MS)"/>
                <a:sym typeface="Calibri (MS)"/>
              </a:rPr>
              <a:t>This is a resourcing and prioritization decision made by leadership — committing to cybersecurity as an ongoing line item rather than a reaction. That's Govern.</a:t>
            </a:r>
          </a:p>
        </p:txBody>
      </p:sp>
      <p:grpSp>
        <p:nvGrpSpPr>
          <p:cNvPr name="Group 67" id="67"/>
          <p:cNvGrpSpPr/>
          <p:nvPr/>
        </p:nvGrpSpPr>
        <p:grpSpPr>
          <a:xfrm rot="0">
            <a:off x="685800" y="9710928"/>
            <a:ext cx="10972800" cy="411480"/>
            <a:chOff x="0" y="0"/>
            <a:chExt cx="14630400" cy="548640"/>
          </a:xfrm>
        </p:grpSpPr>
        <p:sp>
          <p:nvSpPr>
            <p:cNvPr name="Freeform 68" id="68"/>
            <p:cNvSpPr/>
            <p:nvPr/>
          </p:nvSpPr>
          <p:spPr>
            <a:xfrm flipH="false" flipV="false" rot="0">
              <a:off x="0" y="0"/>
              <a:ext cx="14630400" cy="548640"/>
            </a:xfrm>
            <a:custGeom>
              <a:avLst/>
              <a:gdLst/>
              <a:ahLst/>
              <a:cxnLst/>
              <a:rect r="r" b="b" t="t" l="l"/>
              <a:pathLst>
                <a:path h="548640" w="14630400">
                  <a:moveTo>
                    <a:pt x="0" y="0"/>
                  </a:moveTo>
                  <a:lnTo>
                    <a:pt x="14630400" y="0"/>
                  </a:lnTo>
                  <a:lnTo>
                    <a:pt x="14630400" y="548640"/>
                  </a:lnTo>
                  <a:lnTo>
                    <a:pt x="0" y="548640"/>
                  </a:lnTo>
                  <a:close/>
                </a:path>
              </a:pathLst>
            </a:custGeom>
            <a:blipFill>
              <a:blip r:embed="rId2">
                <a:alphaModFix amt="0"/>
              </a:blip>
              <a:stretch>
                <a:fillRect l="0" t="-469601" r="0" b="-469601"/>
              </a:stretch>
            </a:blipFill>
          </p:spPr>
        </p:sp>
        <p:sp>
          <p:nvSpPr>
            <p:cNvPr name="TextBox 69" id="69"/>
            <p:cNvSpPr txBox="true"/>
            <p:nvPr/>
          </p:nvSpPr>
          <p:spPr>
            <a:xfrm>
              <a:off x="0" y="-38100"/>
              <a:ext cx="14630400" cy="586740"/>
            </a:xfrm>
            <a:prstGeom prst="rect">
              <a:avLst/>
            </a:prstGeom>
          </p:spPr>
          <p:txBody>
            <a:bodyPr anchor="ctr" rtlCol="false" tIns="0" lIns="0" bIns="0" rIns="0"/>
            <a:lstStyle/>
            <a:p>
              <a:pPr algn="l">
                <a:lnSpc>
                  <a:spcPts val="1800"/>
                </a:lnSpc>
              </a:pPr>
              <a:r>
                <a:rPr lang="en-US" sz="1500">
                  <a:solidFill>
                    <a:srgbClr val="6B7280"/>
                  </a:solidFill>
                  <a:latin typeface="Calibri (MS)"/>
                  <a:ea typeface="Calibri (MS)"/>
                  <a:cs typeface="Calibri (MS)"/>
                  <a:sym typeface="Calibri (MS)"/>
                </a:rPr>
                <a:t>Davao del Norte Provincial Government — Cybersecurity Seminar</a:t>
              </a:r>
            </a:p>
          </p:txBody>
        </p:sp>
      </p:grpSp>
      <p:grpSp>
        <p:nvGrpSpPr>
          <p:cNvPr name="Group 70" id="70"/>
          <p:cNvGrpSpPr/>
          <p:nvPr/>
        </p:nvGrpSpPr>
        <p:grpSpPr>
          <a:xfrm rot="0">
            <a:off x="16911828" y="9710928"/>
            <a:ext cx="685800" cy="411480"/>
            <a:chOff x="0" y="0"/>
            <a:chExt cx="914400" cy="548640"/>
          </a:xfrm>
        </p:grpSpPr>
        <p:sp>
          <p:nvSpPr>
            <p:cNvPr name="Freeform 71" id="71"/>
            <p:cNvSpPr/>
            <p:nvPr/>
          </p:nvSpPr>
          <p:spPr>
            <a:xfrm flipH="false" flipV="false" rot="0">
              <a:off x="0" y="0"/>
              <a:ext cx="914400" cy="548640"/>
            </a:xfrm>
            <a:custGeom>
              <a:avLst/>
              <a:gdLst/>
              <a:ahLst/>
              <a:cxnLst/>
              <a:rect r="r" b="b" t="t" l="l"/>
              <a:pathLst>
                <a:path h="548640" w="914400">
                  <a:moveTo>
                    <a:pt x="0" y="0"/>
                  </a:moveTo>
                  <a:lnTo>
                    <a:pt x="914400" y="0"/>
                  </a:lnTo>
                  <a:lnTo>
                    <a:pt x="914400" y="548640"/>
                  </a:lnTo>
                  <a:lnTo>
                    <a:pt x="0" y="548640"/>
                  </a:lnTo>
                  <a:close/>
                </a:path>
              </a:pathLst>
            </a:custGeom>
            <a:blipFill>
              <a:blip r:embed="rId2">
                <a:alphaModFix amt="0"/>
              </a:blip>
              <a:stretch>
                <a:fillRect l="-26982" t="0" r="-26982" b="0"/>
              </a:stretch>
            </a:blipFill>
          </p:spPr>
        </p:sp>
        <p:sp>
          <p:nvSpPr>
            <p:cNvPr name="TextBox 72" id="72"/>
            <p:cNvSpPr txBox="true"/>
            <p:nvPr/>
          </p:nvSpPr>
          <p:spPr>
            <a:xfrm>
              <a:off x="0" y="-38100"/>
              <a:ext cx="914400" cy="586740"/>
            </a:xfrm>
            <a:prstGeom prst="rect">
              <a:avLst/>
            </a:prstGeom>
          </p:spPr>
          <p:txBody>
            <a:bodyPr anchor="ctr" rtlCol="false" tIns="0" lIns="0" bIns="0" rIns="0"/>
            <a:lstStyle/>
            <a:p>
              <a:pPr algn="r">
                <a:lnSpc>
                  <a:spcPts val="1800"/>
                </a:lnSpc>
              </a:pPr>
              <a:r>
                <a:rPr lang="en-US" sz="1500">
                  <a:solidFill>
                    <a:srgbClr val="6B7280"/>
                  </a:solidFill>
                  <a:latin typeface="Calibri (MS)"/>
                  <a:ea typeface="Calibri (MS)"/>
                  <a:cs typeface="Calibri (MS)"/>
                  <a:sym typeface="Calibri (MS)"/>
                </a:rPr>
                <a:t>36</a:t>
              </a:r>
            </a:p>
          </p:txBody>
        </p:sp>
      </p:grpSp>
    </p:spTree>
  </p:cSld>
  <p:clrMapOvr>
    <a:masterClrMapping/>
  </p:clrMapOvr>
</p:sld>
</file>

<file path=ppt/slides/slide10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60120" y="685800"/>
            <a:ext cx="13716000" cy="411480"/>
            <a:chOff x="0" y="0"/>
            <a:chExt cx="18288000" cy="548640"/>
          </a:xfrm>
        </p:grpSpPr>
        <p:sp>
          <p:nvSpPr>
            <p:cNvPr name="Freeform 3" id="3"/>
            <p:cNvSpPr/>
            <p:nvPr/>
          </p:nvSpPr>
          <p:spPr>
            <a:xfrm flipH="false" flipV="false" rot="0">
              <a:off x="0" y="0"/>
              <a:ext cx="18288000" cy="548640"/>
            </a:xfrm>
            <a:custGeom>
              <a:avLst/>
              <a:gdLst/>
              <a:ahLst/>
              <a:cxnLst/>
              <a:rect r="r" b="b" t="t" l="l"/>
              <a:pathLst>
                <a:path h="548640" w="18288000">
                  <a:moveTo>
                    <a:pt x="0" y="0"/>
                  </a:moveTo>
                  <a:lnTo>
                    <a:pt x="18288000" y="0"/>
                  </a:lnTo>
                  <a:lnTo>
                    <a:pt x="18288000" y="548640"/>
                  </a:lnTo>
                  <a:lnTo>
                    <a:pt x="0" y="548640"/>
                  </a:lnTo>
                  <a:close/>
                </a:path>
              </a:pathLst>
            </a:custGeom>
            <a:blipFill>
              <a:blip r:embed="rId2">
                <a:alphaModFix amt="0"/>
              </a:blip>
              <a:stretch>
                <a:fillRect l="0" t="-599501" r="0" b="-599501"/>
              </a:stretch>
            </a:blipFill>
          </p:spPr>
        </p:sp>
        <p:sp>
          <p:nvSpPr>
            <p:cNvPr name="TextBox 4" id="4"/>
            <p:cNvSpPr txBox="true"/>
            <p:nvPr/>
          </p:nvSpPr>
          <p:spPr>
            <a:xfrm>
              <a:off x="0" y="-38100"/>
              <a:ext cx="18288000" cy="586740"/>
            </a:xfrm>
            <a:prstGeom prst="rect">
              <a:avLst/>
            </a:prstGeom>
          </p:spPr>
          <p:txBody>
            <a:bodyPr anchor="ctr" rtlCol="false" tIns="0" lIns="0" bIns="0" rIns="0"/>
            <a:lstStyle/>
            <a:p>
              <a:pPr algn="l">
                <a:lnSpc>
                  <a:spcPts val="2160"/>
                </a:lnSpc>
              </a:pPr>
              <a:r>
                <a:rPr lang="en-US" b="true" sz="1800" spc="225">
                  <a:solidFill>
                    <a:srgbClr val="00B4D8"/>
                  </a:solidFill>
                  <a:latin typeface="Calibri (MS) Bold"/>
                  <a:ea typeface="Calibri (MS) Bold"/>
                  <a:cs typeface="Calibri (MS) Bold"/>
                  <a:sym typeface="Calibri (MS) Bold"/>
                </a:rPr>
                <a:t>NIST CSF SORT · SCENARIO</a:t>
              </a:r>
            </a:p>
          </p:txBody>
        </p:sp>
      </p:grpSp>
      <p:grpSp>
        <p:nvGrpSpPr>
          <p:cNvPr name="Group 5" id="5"/>
          <p:cNvGrpSpPr/>
          <p:nvPr/>
        </p:nvGrpSpPr>
        <p:grpSpPr>
          <a:xfrm rot="0">
            <a:off x="960120" y="1069848"/>
            <a:ext cx="10972800" cy="822960"/>
            <a:chOff x="0" y="0"/>
            <a:chExt cx="14630400" cy="1097280"/>
          </a:xfrm>
        </p:grpSpPr>
        <p:sp>
          <p:nvSpPr>
            <p:cNvPr name="Freeform 6" id="6"/>
            <p:cNvSpPr/>
            <p:nvPr/>
          </p:nvSpPr>
          <p:spPr>
            <a:xfrm flipH="false" flipV="false" rot="0">
              <a:off x="0" y="0"/>
              <a:ext cx="14630400" cy="1097280"/>
            </a:xfrm>
            <a:custGeom>
              <a:avLst/>
              <a:gdLst/>
              <a:ahLst/>
              <a:cxnLst/>
              <a:rect r="r" b="b" t="t" l="l"/>
              <a:pathLst>
                <a:path h="1097280" w="14630400">
                  <a:moveTo>
                    <a:pt x="0" y="0"/>
                  </a:moveTo>
                  <a:lnTo>
                    <a:pt x="14630400" y="0"/>
                  </a:lnTo>
                  <a:lnTo>
                    <a:pt x="14630400" y="1097280"/>
                  </a:lnTo>
                  <a:lnTo>
                    <a:pt x="0" y="1097280"/>
                  </a:lnTo>
                  <a:close/>
                </a:path>
              </a:pathLst>
            </a:custGeom>
            <a:blipFill>
              <a:blip r:embed="rId2">
                <a:alphaModFix amt="0"/>
              </a:blip>
              <a:stretch>
                <a:fillRect l="0" t="-209800" r="0" b="-209800"/>
              </a:stretch>
            </a:blipFill>
          </p:spPr>
        </p:sp>
        <p:sp>
          <p:nvSpPr>
            <p:cNvPr name="TextBox 7" id="7"/>
            <p:cNvSpPr txBox="true"/>
            <p:nvPr/>
          </p:nvSpPr>
          <p:spPr>
            <a:xfrm>
              <a:off x="0" y="0"/>
              <a:ext cx="14630400" cy="1097280"/>
            </a:xfrm>
            <a:prstGeom prst="rect">
              <a:avLst/>
            </a:prstGeom>
          </p:spPr>
          <p:txBody>
            <a:bodyPr anchor="ctr" rtlCol="false" tIns="0" lIns="0" bIns="0" rIns="0"/>
            <a:lstStyle/>
            <a:p>
              <a:pPr algn="l">
                <a:lnSpc>
                  <a:spcPts val="4680"/>
                </a:lnSpc>
              </a:pPr>
              <a:r>
                <a:rPr lang="en-US" sz="3900" b="true">
                  <a:solidFill>
                    <a:srgbClr val="1E2761"/>
                  </a:solidFill>
                  <a:latin typeface="Cambria Bold"/>
                  <a:ea typeface="Cambria Bold"/>
                  <a:cs typeface="Cambria Bold"/>
                  <a:sym typeface="Cambria Bold"/>
                </a:rPr>
                <a:t>Scenario 14</a:t>
              </a:r>
            </a:p>
          </p:txBody>
        </p:sp>
      </p:grpSp>
      <p:grpSp>
        <p:nvGrpSpPr>
          <p:cNvPr name="Group 8" id="8"/>
          <p:cNvGrpSpPr/>
          <p:nvPr/>
        </p:nvGrpSpPr>
        <p:grpSpPr>
          <a:xfrm rot="0">
            <a:off x="960120" y="1810512"/>
            <a:ext cx="8229600" cy="411480"/>
            <a:chOff x="0" y="0"/>
            <a:chExt cx="10972800" cy="548640"/>
          </a:xfrm>
        </p:grpSpPr>
        <p:sp>
          <p:nvSpPr>
            <p:cNvPr name="Freeform 9" id="9"/>
            <p:cNvSpPr/>
            <p:nvPr/>
          </p:nvSpPr>
          <p:spPr>
            <a:xfrm flipH="false" flipV="false" rot="0">
              <a:off x="0" y="0"/>
              <a:ext cx="10972800" cy="548640"/>
            </a:xfrm>
            <a:custGeom>
              <a:avLst/>
              <a:gdLst/>
              <a:ahLst/>
              <a:cxnLst/>
              <a:rect r="r" b="b" t="t" l="l"/>
              <a:pathLst>
                <a:path h="548640" w="10972800">
                  <a:moveTo>
                    <a:pt x="0" y="0"/>
                  </a:moveTo>
                  <a:lnTo>
                    <a:pt x="10972800" y="0"/>
                  </a:lnTo>
                  <a:lnTo>
                    <a:pt x="10972800" y="548640"/>
                  </a:lnTo>
                  <a:lnTo>
                    <a:pt x="0" y="548640"/>
                  </a:lnTo>
                  <a:close/>
                </a:path>
              </a:pathLst>
            </a:custGeom>
            <a:blipFill>
              <a:blip r:embed="rId2">
                <a:alphaModFix amt="0"/>
              </a:blip>
              <a:stretch>
                <a:fillRect l="0" t="-339700" r="0" b="-339700"/>
              </a:stretch>
            </a:blipFill>
          </p:spPr>
        </p:sp>
        <p:sp>
          <p:nvSpPr>
            <p:cNvPr name="TextBox 10" id="10"/>
            <p:cNvSpPr txBox="true"/>
            <p:nvPr/>
          </p:nvSpPr>
          <p:spPr>
            <a:xfrm>
              <a:off x="0" y="-28575"/>
              <a:ext cx="10972800" cy="577215"/>
            </a:xfrm>
            <a:prstGeom prst="rect">
              <a:avLst/>
            </a:prstGeom>
          </p:spPr>
          <p:txBody>
            <a:bodyPr anchor="ctr" rtlCol="false" tIns="0" lIns="0" bIns="0" rIns="0"/>
            <a:lstStyle/>
            <a:p>
              <a:pPr algn="l">
                <a:lnSpc>
                  <a:spcPts val="1980"/>
                </a:lnSpc>
              </a:pPr>
              <a:r>
                <a:rPr lang="en-US" sz="1650">
                  <a:solidFill>
                    <a:srgbClr val="6B7280"/>
                  </a:solidFill>
                  <a:latin typeface="Calibri (MS)"/>
                  <a:ea typeface="Calibri (MS)"/>
                  <a:cs typeface="Calibri (MS)"/>
                  <a:sym typeface="Calibri (MS)"/>
                </a:rPr>
                <a:t>14 of 20</a:t>
              </a:r>
            </a:p>
          </p:txBody>
        </p:sp>
      </p:grpSp>
      <p:grpSp>
        <p:nvGrpSpPr>
          <p:cNvPr name="Group 11" id="11"/>
          <p:cNvGrpSpPr/>
          <p:nvPr/>
        </p:nvGrpSpPr>
        <p:grpSpPr>
          <a:xfrm rot="0">
            <a:off x="960120" y="2537460"/>
            <a:ext cx="16322040" cy="2811780"/>
            <a:chOff x="0" y="0"/>
            <a:chExt cx="21762720" cy="3749040"/>
          </a:xfrm>
        </p:grpSpPr>
        <p:sp>
          <p:nvSpPr>
            <p:cNvPr name="Freeform 12" id="12"/>
            <p:cNvSpPr/>
            <p:nvPr/>
          </p:nvSpPr>
          <p:spPr>
            <a:xfrm flipH="false" flipV="false" rot="0">
              <a:off x="0" y="0"/>
              <a:ext cx="21762720" cy="3749040"/>
            </a:xfrm>
            <a:custGeom>
              <a:avLst/>
              <a:gdLst/>
              <a:ahLst/>
              <a:cxnLst/>
              <a:rect r="r" b="b" t="t" l="l"/>
              <a:pathLst>
                <a:path h="3749040" w="21762720">
                  <a:moveTo>
                    <a:pt x="0" y="182880"/>
                  </a:moveTo>
                  <a:cubicBezTo>
                    <a:pt x="0" y="81915"/>
                    <a:pt x="81915" y="0"/>
                    <a:pt x="182880" y="0"/>
                  </a:cubicBezTo>
                  <a:lnTo>
                    <a:pt x="21579839" y="0"/>
                  </a:lnTo>
                  <a:cubicBezTo>
                    <a:pt x="21680804" y="0"/>
                    <a:pt x="21762720" y="81915"/>
                    <a:pt x="21762720" y="182880"/>
                  </a:cubicBezTo>
                  <a:lnTo>
                    <a:pt x="21762720" y="3566160"/>
                  </a:lnTo>
                  <a:cubicBezTo>
                    <a:pt x="21762720" y="3667125"/>
                    <a:pt x="21680804" y="3749040"/>
                    <a:pt x="21579839" y="3749040"/>
                  </a:cubicBezTo>
                  <a:lnTo>
                    <a:pt x="182880" y="3749040"/>
                  </a:lnTo>
                  <a:cubicBezTo>
                    <a:pt x="81915" y="3749040"/>
                    <a:pt x="0" y="3667125"/>
                    <a:pt x="0" y="3566160"/>
                  </a:cubicBezTo>
                  <a:close/>
                </a:path>
              </a:pathLst>
            </a:custGeom>
            <a:solidFill>
              <a:srgbClr val="F4F7FC"/>
            </a:solidFill>
          </p:spPr>
        </p:sp>
      </p:grpSp>
      <p:grpSp>
        <p:nvGrpSpPr>
          <p:cNvPr name="Group 13" id="13"/>
          <p:cNvGrpSpPr/>
          <p:nvPr/>
        </p:nvGrpSpPr>
        <p:grpSpPr>
          <a:xfrm rot="0">
            <a:off x="1440180" y="2811780"/>
            <a:ext cx="15361920" cy="2263140"/>
            <a:chOff x="0" y="0"/>
            <a:chExt cx="20482560" cy="3017520"/>
          </a:xfrm>
        </p:grpSpPr>
        <p:sp>
          <p:nvSpPr>
            <p:cNvPr name="Freeform 14" id="14"/>
            <p:cNvSpPr/>
            <p:nvPr/>
          </p:nvSpPr>
          <p:spPr>
            <a:xfrm flipH="false" flipV="false" rot="0">
              <a:off x="0" y="0"/>
              <a:ext cx="20482561" cy="3017520"/>
            </a:xfrm>
            <a:custGeom>
              <a:avLst/>
              <a:gdLst/>
              <a:ahLst/>
              <a:cxnLst/>
              <a:rect r="r" b="b" t="t" l="l"/>
              <a:pathLst>
                <a:path h="3017520" w="20482561">
                  <a:moveTo>
                    <a:pt x="0" y="0"/>
                  </a:moveTo>
                  <a:lnTo>
                    <a:pt x="20482561" y="0"/>
                  </a:lnTo>
                  <a:lnTo>
                    <a:pt x="20482561" y="3017520"/>
                  </a:lnTo>
                  <a:lnTo>
                    <a:pt x="0" y="3017520"/>
                  </a:lnTo>
                  <a:close/>
                </a:path>
              </a:pathLst>
            </a:custGeom>
            <a:blipFill>
              <a:blip r:embed="rId2">
                <a:alphaModFix amt="0"/>
              </a:blip>
              <a:stretch>
                <a:fillRect l="0" t="-82262" r="0" b="-82262"/>
              </a:stretch>
            </a:blipFill>
          </p:spPr>
        </p:sp>
        <p:sp>
          <p:nvSpPr>
            <p:cNvPr name="TextBox 15" id="15"/>
            <p:cNvSpPr txBox="true"/>
            <p:nvPr/>
          </p:nvSpPr>
          <p:spPr>
            <a:xfrm>
              <a:off x="0" y="-104775"/>
              <a:ext cx="20482560" cy="3122295"/>
            </a:xfrm>
            <a:prstGeom prst="rect">
              <a:avLst/>
            </a:prstGeom>
          </p:spPr>
          <p:txBody>
            <a:bodyPr anchor="ctr" rtlCol="false" tIns="0" lIns="0" bIns="0" rIns="0"/>
            <a:lstStyle/>
            <a:p>
              <a:pPr algn="l">
                <a:lnSpc>
                  <a:spcPts val="4147"/>
                </a:lnSpc>
              </a:pPr>
              <a:r>
                <a:rPr lang="en-US" sz="2700" i="true">
                  <a:solidFill>
                    <a:srgbClr val="23262F"/>
                  </a:solidFill>
                  <a:latin typeface="Cambria Italics"/>
                  <a:ea typeface="Cambria Italics"/>
                  <a:cs typeface="Cambria Italics"/>
                  <a:sym typeface="Cambria Italics"/>
                </a:rPr>
                <a:t>"A risk assessment ranks the payroll system as the single most critical system to protect, based on what would happen if it went down or was compromised."</a:t>
              </a:r>
            </a:p>
          </p:txBody>
        </p:sp>
      </p:grpSp>
      <p:sp>
        <p:nvSpPr>
          <p:cNvPr name="TextBox 16" id="16"/>
          <p:cNvSpPr txBox="true"/>
          <p:nvPr/>
        </p:nvSpPr>
        <p:spPr>
          <a:xfrm rot="0">
            <a:off x="1051560" y="5604510"/>
            <a:ext cx="16139160" cy="1276350"/>
          </a:xfrm>
          <a:prstGeom prst="rect">
            <a:avLst/>
          </a:prstGeom>
        </p:spPr>
        <p:txBody>
          <a:bodyPr anchor="t" rtlCol="false" tIns="0" lIns="0" bIns="0" rIns="0">
            <a:spAutoFit/>
          </a:bodyPr>
          <a:lstStyle/>
          <a:p>
            <a:pPr algn="ctr">
              <a:lnSpc>
                <a:spcPts val="3402"/>
              </a:lnSpc>
            </a:pPr>
            <a:r>
              <a:rPr lang="en-US" sz="2100" i="true">
                <a:solidFill>
                  <a:srgbClr val="6B7280"/>
                </a:solidFill>
                <a:latin typeface="Calibri (MS) Italics"/>
                <a:ea typeface="Calibri (MS) Italics"/>
                <a:cs typeface="Calibri (MS) Italics"/>
                <a:sym typeface="Calibri (MS) Italics"/>
              </a:rPr>
              <a:t>Which Function does this belong to — Govern, Identify, Protect, Detect, Respond, or Recover?</a:t>
            </a:r>
          </a:p>
          <a:p>
            <a:pPr algn="ctr">
              <a:lnSpc>
                <a:spcPts val="3402"/>
              </a:lnSpc>
            </a:pPr>
            <a:r>
              <a:rPr lang="en-US" sz="2100" i="true">
                <a:solidFill>
                  <a:srgbClr val="6B7280"/>
                </a:solidFill>
                <a:latin typeface="Calibri (MS) Italics"/>
                <a:ea typeface="Calibri (MS) Italics"/>
                <a:cs typeface="Calibri (MS) Italics"/>
                <a:sym typeface="Calibri (MS) Italics"/>
              </a:rPr>
              <a:t>Some belong to more than one. Discuss, then we'll reveal the answer.</a:t>
            </a:r>
          </a:p>
        </p:txBody>
      </p:sp>
      <p:grpSp>
        <p:nvGrpSpPr>
          <p:cNvPr name="Group 17" id="17"/>
          <p:cNvGrpSpPr/>
          <p:nvPr/>
        </p:nvGrpSpPr>
        <p:grpSpPr>
          <a:xfrm rot="0">
            <a:off x="950595" y="7122795"/>
            <a:ext cx="5162550" cy="910590"/>
            <a:chOff x="0" y="0"/>
            <a:chExt cx="6883400" cy="1214120"/>
          </a:xfrm>
        </p:grpSpPr>
        <p:sp>
          <p:nvSpPr>
            <p:cNvPr name="Freeform 18" id="18"/>
            <p:cNvSpPr/>
            <p:nvPr/>
          </p:nvSpPr>
          <p:spPr>
            <a:xfrm flipH="false" flipV="false" rot="0">
              <a:off x="0" y="0"/>
              <a:ext cx="6883400" cy="1214120"/>
            </a:xfrm>
            <a:custGeom>
              <a:avLst/>
              <a:gdLst/>
              <a:ahLst/>
              <a:cxnLst/>
              <a:rect r="r" b="b" t="t" l="l"/>
              <a:pathLst>
                <a:path h="1214120" w="6883400">
                  <a:moveTo>
                    <a:pt x="0" y="168148"/>
                  </a:moveTo>
                  <a:cubicBezTo>
                    <a:pt x="0" y="75311"/>
                    <a:pt x="75311" y="0"/>
                    <a:pt x="168148" y="0"/>
                  </a:cubicBezTo>
                  <a:lnTo>
                    <a:pt x="6715252" y="0"/>
                  </a:lnTo>
                  <a:cubicBezTo>
                    <a:pt x="6808089" y="0"/>
                    <a:pt x="6883400" y="75311"/>
                    <a:pt x="6883400" y="168148"/>
                  </a:cubicBezTo>
                  <a:lnTo>
                    <a:pt x="6883400" y="1045972"/>
                  </a:lnTo>
                  <a:cubicBezTo>
                    <a:pt x="6883400" y="1138809"/>
                    <a:pt x="6808089" y="1214120"/>
                    <a:pt x="6715252" y="1214120"/>
                  </a:cubicBezTo>
                  <a:lnTo>
                    <a:pt x="168148" y="1214120"/>
                  </a:lnTo>
                  <a:cubicBezTo>
                    <a:pt x="75311" y="1214120"/>
                    <a:pt x="0" y="1138809"/>
                    <a:pt x="0" y="1045972"/>
                  </a:cubicBezTo>
                  <a:close/>
                </a:path>
              </a:pathLst>
            </a:custGeom>
            <a:solidFill>
              <a:srgbClr val="F4F7FC"/>
            </a:solidFill>
            <a:ln w="19050" cap="sq">
              <a:solidFill>
                <a:srgbClr val="D7DCEC"/>
              </a:solidFill>
              <a:prstDash val="solid"/>
              <a:miter/>
            </a:ln>
          </p:spPr>
        </p:sp>
      </p:grpSp>
      <p:grpSp>
        <p:nvGrpSpPr>
          <p:cNvPr name="Group 19" id="19"/>
          <p:cNvGrpSpPr/>
          <p:nvPr/>
        </p:nvGrpSpPr>
        <p:grpSpPr>
          <a:xfrm rot="0">
            <a:off x="960120" y="7200900"/>
            <a:ext cx="5143500" cy="589788"/>
            <a:chOff x="0" y="0"/>
            <a:chExt cx="6858000" cy="786384"/>
          </a:xfrm>
        </p:grpSpPr>
        <p:sp>
          <p:nvSpPr>
            <p:cNvPr name="Freeform 20" id="20"/>
            <p:cNvSpPr/>
            <p:nvPr/>
          </p:nvSpPr>
          <p:spPr>
            <a:xfrm flipH="false" flipV="false" rot="0">
              <a:off x="0" y="0"/>
              <a:ext cx="6858000" cy="786384"/>
            </a:xfrm>
            <a:custGeom>
              <a:avLst/>
              <a:gdLst/>
              <a:ahLst/>
              <a:cxnLst/>
              <a:rect r="r" b="b" t="t" l="l"/>
              <a:pathLst>
                <a:path h="786384" w="6858000">
                  <a:moveTo>
                    <a:pt x="0" y="0"/>
                  </a:moveTo>
                  <a:lnTo>
                    <a:pt x="6858000" y="0"/>
                  </a:lnTo>
                  <a:lnTo>
                    <a:pt x="6858000" y="786384"/>
                  </a:lnTo>
                  <a:lnTo>
                    <a:pt x="0" y="786384"/>
                  </a:lnTo>
                  <a:close/>
                </a:path>
              </a:pathLst>
            </a:custGeom>
            <a:blipFill>
              <a:blip r:embed="rId2">
                <a:alphaModFix amt="0"/>
              </a:blip>
              <a:stretch>
                <a:fillRect l="0" t="-119927" r="0" b="-119927"/>
              </a:stretch>
            </a:blipFill>
          </p:spPr>
        </p:sp>
        <p:sp>
          <p:nvSpPr>
            <p:cNvPr name="TextBox 21" id="21"/>
            <p:cNvSpPr txBox="true"/>
            <p:nvPr/>
          </p:nvSpPr>
          <p:spPr>
            <a:xfrm>
              <a:off x="0" y="-38100"/>
              <a:ext cx="6858000" cy="824484"/>
            </a:xfrm>
            <a:prstGeom prst="rect">
              <a:avLst/>
            </a:prstGeom>
          </p:spPr>
          <p:txBody>
            <a:bodyPr anchor="ctr" rtlCol="false" tIns="0" lIns="0" bIns="0" rIns="0"/>
            <a:lstStyle/>
            <a:p>
              <a:pPr algn="ctr">
                <a:lnSpc>
                  <a:spcPts val="2430"/>
                </a:lnSpc>
              </a:pPr>
              <a:r>
                <a:rPr lang="en-US" sz="2025">
                  <a:solidFill>
                    <a:srgbClr val="6B7280"/>
                  </a:solidFill>
                  <a:latin typeface="Calibri (MS)"/>
                  <a:ea typeface="Calibri (MS)"/>
                  <a:cs typeface="Calibri (MS)"/>
                  <a:sym typeface="Calibri (MS)"/>
                </a:rPr>
                <a:t>Govern</a:t>
              </a:r>
            </a:p>
          </p:txBody>
        </p:sp>
      </p:grpSp>
      <p:grpSp>
        <p:nvGrpSpPr>
          <p:cNvPr name="Group 22" id="22"/>
          <p:cNvGrpSpPr/>
          <p:nvPr/>
        </p:nvGrpSpPr>
        <p:grpSpPr>
          <a:xfrm rot="0">
            <a:off x="960120" y="7639812"/>
            <a:ext cx="5143500" cy="329184"/>
            <a:chOff x="0" y="0"/>
            <a:chExt cx="6858000" cy="438912"/>
          </a:xfrm>
        </p:grpSpPr>
        <p:sp>
          <p:nvSpPr>
            <p:cNvPr name="Freeform 23" id="23"/>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24" id="24"/>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9AA3B8"/>
                  </a:solidFill>
                  <a:latin typeface="Arimo"/>
                  <a:ea typeface="Arimo"/>
                  <a:cs typeface="Arimo"/>
                  <a:sym typeface="Arimo"/>
                </a:rPr>
                <a:t>GV</a:t>
              </a:r>
            </a:p>
          </p:txBody>
        </p:sp>
      </p:grpSp>
      <p:grpSp>
        <p:nvGrpSpPr>
          <p:cNvPr name="Group 25" id="25"/>
          <p:cNvGrpSpPr/>
          <p:nvPr/>
        </p:nvGrpSpPr>
        <p:grpSpPr>
          <a:xfrm rot="0">
            <a:off x="6533007" y="7122795"/>
            <a:ext cx="5162550" cy="910590"/>
            <a:chOff x="0" y="0"/>
            <a:chExt cx="6883400" cy="1214120"/>
          </a:xfrm>
        </p:grpSpPr>
        <p:sp>
          <p:nvSpPr>
            <p:cNvPr name="Freeform 26" id="26"/>
            <p:cNvSpPr/>
            <p:nvPr/>
          </p:nvSpPr>
          <p:spPr>
            <a:xfrm flipH="false" flipV="false" rot="0">
              <a:off x="0" y="0"/>
              <a:ext cx="6883400" cy="1214120"/>
            </a:xfrm>
            <a:custGeom>
              <a:avLst/>
              <a:gdLst/>
              <a:ahLst/>
              <a:cxnLst/>
              <a:rect r="r" b="b" t="t" l="l"/>
              <a:pathLst>
                <a:path h="1214120" w="6883400">
                  <a:moveTo>
                    <a:pt x="0" y="168148"/>
                  </a:moveTo>
                  <a:cubicBezTo>
                    <a:pt x="0" y="75311"/>
                    <a:pt x="75311" y="0"/>
                    <a:pt x="168148" y="0"/>
                  </a:cubicBezTo>
                  <a:lnTo>
                    <a:pt x="6715252" y="0"/>
                  </a:lnTo>
                  <a:cubicBezTo>
                    <a:pt x="6808089" y="0"/>
                    <a:pt x="6883400" y="75311"/>
                    <a:pt x="6883400" y="168148"/>
                  </a:cubicBezTo>
                  <a:lnTo>
                    <a:pt x="6883400" y="1045972"/>
                  </a:lnTo>
                  <a:cubicBezTo>
                    <a:pt x="6883400" y="1138809"/>
                    <a:pt x="6808089" y="1214120"/>
                    <a:pt x="6715252" y="1214120"/>
                  </a:cubicBezTo>
                  <a:lnTo>
                    <a:pt x="168148" y="1214120"/>
                  </a:lnTo>
                  <a:cubicBezTo>
                    <a:pt x="75311" y="1214120"/>
                    <a:pt x="0" y="1138809"/>
                    <a:pt x="0" y="1045972"/>
                  </a:cubicBezTo>
                  <a:close/>
                </a:path>
              </a:pathLst>
            </a:custGeom>
            <a:solidFill>
              <a:srgbClr val="F4F7FC"/>
            </a:solidFill>
            <a:ln w="19050" cap="sq">
              <a:solidFill>
                <a:srgbClr val="D7DCEC"/>
              </a:solidFill>
              <a:prstDash val="solid"/>
              <a:miter/>
            </a:ln>
          </p:spPr>
        </p:sp>
      </p:grpSp>
      <p:grpSp>
        <p:nvGrpSpPr>
          <p:cNvPr name="Group 27" id="27"/>
          <p:cNvGrpSpPr/>
          <p:nvPr/>
        </p:nvGrpSpPr>
        <p:grpSpPr>
          <a:xfrm rot="0">
            <a:off x="6542532" y="7200900"/>
            <a:ext cx="5143500" cy="589788"/>
            <a:chOff x="0" y="0"/>
            <a:chExt cx="6858000" cy="786384"/>
          </a:xfrm>
        </p:grpSpPr>
        <p:sp>
          <p:nvSpPr>
            <p:cNvPr name="Freeform 28" id="28"/>
            <p:cNvSpPr/>
            <p:nvPr/>
          </p:nvSpPr>
          <p:spPr>
            <a:xfrm flipH="false" flipV="false" rot="0">
              <a:off x="0" y="0"/>
              <a:ext cx="6858000" cy="786384"/>
            </a:xfrm>
            <a:custGeom>
              <a:avLst/>
              <a:gdLst/>
              <a:ahLst/>
              <a:cxnLst/>
              <a:rect r="r" b="b" t="t" l="l"/>
              <a:pathLst>
                <a:path h="786384" w="6858000">
                  <a:moveTo>
                    <a:pt x="0" y="0"/>
                  </a:moveTo>
                  <a:lnTo>
                    <a:pt x="6858000" y="0"/>
                  </a:lnTo>
                  <a:lnTo>
                    <a:pt x="6858000" y="786384"/>
                  </a:lnTo>
                  <a:lnTo>
                    <a:pt x="0" y="786384"/>
                  </a:lnTo>
                  <a:close/>
                </a:path>
              </a:pathLst>
            </a:custGeom>
            <a:blipFill>
              <a:blip r:embed="rId2">
                <a:alphaModFix amt="0"/>
              </a:blip>
              <a:stretch>
                <a:fillRect l="0" t="-119927" r="0" b="-119927"/>
              </a:stretch>
            </a:blipFill>
          </p:spPr>
        </p:sp>
        <p:sp>
          <p:nvSpPr>
            <p:cNvPr name="TextBox 29" id="29"/>
            <p:cNvSpPr txBox="true"/>
            <p:nvPr/>
          </p:nvSpPr>
          <p:spPr>
            <a:xfrm>
              <a:off x="0" y="-38100"/>
              <a:ext cx="6858000" cy="824484"/>
            </a:xfrm>
            <a:prstGeom prst="rect">
              <a:avLst/>
            </a:prstGeom>
          </p:spPr>
          <p:txBody>
            <a:bodyPr anchor="ctr" rtlCol="false" tIns="0" lIns="0" bIns="0" rIns="0"/>
            <a:lstStyle/>
            <a:p>
              <a:pPr algn="ctr">
                <a:lnSpc>
                  <a:spcPts val="2430"/>
                </a:lnSpc>
              </a:pPr>
              <a:r>
                <a:rPr lang="en-US" sz="2025">
                  <a:solidFill>
                    <a:srgbClr val="6B7280"/>
                  </a:solidFill>
                  <a:latin typeface="Calibri (MS)"/>
                  <a:ea typeface="Calibri (MS)"/>
                  <a:cs typeface="Calibri (MS)"/>
                  <a:sym typeface="Calibri (MS)"/>
                </a:rPr>
                <a:t>Identify</a:t>
              </a:r>
            </a:p>
          </p:txBody>
        </p:sp>
      </p:grpSp>
      <p:grpSp>
        <p:nvGrpSpPr>
          <p:cNvPr name="Group 30" id="30"/>
          <p:cNvGrpSpPr/>
          <p:nvPr/>
        </p:nvGrpSpPr>
        <p:grpSpPr>
          <a:xfrm rot="0">
            <a:off x="6542532" y="7639812"/>
            <a:ext cx="5143500" cy="329184"/>
            <a:chOff x="0" y="0"/>
            <a:chExt cx="6858000" cy="438912"/>
          </a:xfrm>
        </p:grpSpPr>
        <p:sp>
          <p:nvSpPr>
            <p:cNvPr name="Freeform 31" id="31"/>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32" id="32"/>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9AA3B8"/>
                  </a:solidFill>
                  <a:latin typeface="Arimo"/>
                  <a:ea typeface="Arimo"/>
                  <a:cs typeface="Arimo"/>
                  <a:sym typeface="Arimo"/>
                </a:rPr>
                <a:t>ID</a:t>
              </a:r>
            </a:p>
          </p:txBody>
        </p:sp>
      </p:grpSp>
      <p:grpSp>
        <p:nvGrpSpPr>
          <p:cNvPr name="Group 33" id="33"/>
          <p:cNvGrpSpPr/>
          <p:nvPr/>
        </p:nvGrpSpPr>
        <p:grpSpPr>
          <a:xfrm rot="0">
            <a:off x="12115419" y="7122795"/>
            <a:ext cx="5162550" cy="910590"/>
            <a:chOff x="0" y="0"/>
            <a:chExt cx="6883400" cy="1214120"/>
          </a:xfrm>
        </p:grpSpPr>
        <p:sp>
          <p:nvSpPr>
            <p:cNvPr name="Freeform 34" id="34"/>
            <p:cNvSpPr/>
            <p:nvPr/>
          </p:nvSpPr>
          <p:spPr>
            <a:xfrm flipH="false" flipV="false" rot="0">
              <a:off x="0" y="0"/>
              <a:ext cx="6883400" cy="1214120"/>
            </a:xfrm>
            <a:custGeom>
              <a:avLst/>
              <a:gdLst/>
              <a:ahLst/>
              <a:cxnLst/>
              <a:rect r="r" b="b" t="t" l="l"/>
              <a:pathLst>
                <a:path h="1214120" w="6883400">
                  <a:moveTo>
                    <a:pt x="0" y="168148"/>
                  </a:moveTo>
                  <a:cubicBezTo>
                    <a:pt x="0" y="75311"/>
                    <a:pt x="75311" y="0"/>
                    <a:pt x="168148" y="0"/>
                  </a:cubicBezTo>
                  <a:lnTo>
                    <a:pt x="6715252" y="0"/>
                  </a:lnTo>
                  <a:cubicBezTo>
                    <a:pt x="6808089" y="0"/>
                    <a:pt x="6883400" y="75311"/>
                    <a:pt x="6883400" y="168148"/>
                  </a:cubicBezTo>
                  <a:lnTo>
                    <a:pt x="6883400" y="1045972"/>
                  </a:lnTo>
                  <a:cubicBezTo>
                    <a:pt x="6883400" y="1138809"/>
                    <a:pt x="6808089" y="1214120"/>
                    <a:pt x="6715252" y="1214120"/>
                  </a:cubicBezTo>
                  <a:lnTo>
                    <a:pt x="168148" y="1214120"/>
                  </a:lnTo>
                  <a:cubicBezTo>
                    <a:pt x="75311" y="1214120"/>
                    <a:pt x="0" y="1138809"/>
                    <a:pt x="0" y="1045972"/>
                  </a:cubicBezTo>
                  <a:close/>
                </a:path>
              </a:pathLst>
            </a:custGeom>
            <a:solidFill>
              <a:srgbClr val="F4F7FC"/>
            </a:solidFill>
            <a:ln w="19050" cap="sq">
              <a:solidFill>
                <a:srgbClr val="D7DCEC"/>
              </a:solidFill>
              <a:prstDash val="solid"/>
              <a:miter/>
            </a:ln>
          </p:spPr>
        </p:sp>
      </p:grpSp>
      <p:grpSp>
        <p:nvGrpSpPr>
          <p:cNvPr name="Group 35" id="35"/>
          <p:cNvGrpSpPr/>
          <p:nvPr/>
        </p:nvGrpSpPr>
        <p:grpSpPr>
          <a:xfrm rot="0">
            <a:off x="12124944" y="7200900"/>
            <a:ext cx="5143500" cy="589788"/>
            <a:chOff x="0" y="0"/>
            <a:chExt cx="6858000" cy="786384"/>
          </a:xfrm>
        </p:grpSpPr>
        <p:sp>
          <p:nvSpPr>
            <p:cNvPr name="Freeform 36" id="36"/>
            <p:cNvSpPr/>
            <p:nvPr/>
          </p:nvSpPr>
          <p:spPr>
            <a:xfrm flipH="false" flipV="false" rot="0">
              <a:off x="0" y="0"/>
              <a:ext cx="6858000" cy="786384"/>
            </a:xfrm>
            <a:custGeom>
              <a:avLst/>
              <a:gdLst/>
              <a:ahLst/>
              <a:cxnLst/>
              <a:rect r="r" b="b" t="t" l="l"/>
              <a:pathLst>
                <a:path h="786384" w="6858000">
                  <a:moveTo>
                    <a:pt x="0" y="0"/>
                  </a:moveTo>
                  <a:lnTo>
                    <a:pt x="6858000" y="0"/>
                  </a:lnTo>
                  <a:lnTo>
                    <a:pt x="6858000" y="786384"/>
                  </a:lnTo>
                  <a:lnTo>
                    <a:pt x="0" y="786384"/>
                  </a:lnTo>
                  <a:close/>
                </a:path>
              </a:pathLst>
            </a:custGeom>
            <a:blipFill>
              <a:blip r:embed="rId2">
                <a:alphaModFix amt="0"/>
              </a:blip>
              <a:stretch>
                <a:fillRect l="0" t="-119927" r="0" b="-119927"/>
              </a:stretch>
            </a:blipFill>
          </p:spPr>
        </p:sp>
        <p:sp>
          <p:nvSpPr>
            <p:cNvPr name="TextBox 37" id="37"/>
            <p:cNvSpPr txBox="true"/>
            <p:nvPr/>
          </p:nvSpPr>
          <p:spPr>
            <a:xfrm>
              <a:off x="0" y="-38100"/>
              <a:ext cx="6858000" cy="824484"/>
            </a:xfrm>
            <a:prstGeom prst="rect">
              <a:avLst/>
            </a:prstGeom>
          </p:spPr>
          <p:txBody>
            <a:bodyPr anchor="ctr" rtlCol="false" tIns="0" lIns="0" bIns="0" rIns="0"/>
            <a:lstStyle/>
            <a:p>
              <a:pPr algn="ctr">
                <a:lnSpc>
                  <a:spcPts val="2430"/>
                </a:lnSpc>
              </a:pPr>
              <a:r>
                <a:rPr lang="en-US" sz="2025">
                  <a:solidFill>
                    <a:srgbClr val="6B7280"/>
                  </a:solidFill>
                  <a:latin typeface="Calibri (MS)"/>
                  <a:ea typeface="Calibri (MS)"/>
                  <a:cs typeface="Calibri (MS)"/>
                  <a:sym typeface="Calibri (MS)"/>
                </a:rPr>
                <a:t>Protect</a:t>
              </a:r>
            </a:p>
          </p:txBody>
        </p:sp>
      </p:grpSp>
      <p:grpSp>
        <p:nvGrpSpPr>
          <p:cNvPr name="Group 38" id="38"/>
          <p:cNvGrpSpPr/>
          <p:nvPr/>
        </p:nvGrpSpPr>
        <p:grpSpPr>
          <a:xfrm rot="0">
            <a:off x="12124944" y="7639812"/>
            <a:ext cx="5143500" cy="329184"/>
            <a:chOff x="0" y="0"/>
            <a:chExt cx="6858000" cy="438912"/>
          </a:xfrm>
        </p:grpSpPr>
        <p:sp>
          <p:nvSpPr>
            <p:cNvPr name="Freeform 39" id="39"/>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40" id="40"/>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9AA3B8"/>
                  </a:solidFill>
                  <a:latin typeface="Arimo"/>
                  <a:ea typeface="Arimo"/>
                  <a:cs typeface="Arimo"/>
                  <a:sym typeface="Arimo"/>
                </a:rPr>
                <a:t>PR</a:t>
              </a:r>
            </a:p>
          </p:txBody>
        </p:sp>
      </p:grpSp>
      <p:grpSp>
        <p:nvGrpSpPr>
          <p:cNvPr name="Group 41" id="41"/>
          <p:cNvGrpSpPr/>
          <p:nvPr/>
        </p:nvGrpSpPr>
        <p:grpSpPr>
          <a:xfrm rot="0">
            <a:off x="950595" y="8288655"/>
            <a:ext cx="5162550" cy="910590"/>
            <a:chOff x="0" y="0"/>
            <a:chExt cx="6883400" cy="1214120"/>
          </a:xfrm>
        </p:grpSpPr>
        <p:sp>
          <p:nvSpPr>
            <p:cNvPr name="Freeform 42" id="42"/>
            <p:cNvSpPr/>
            <p:nvPr/>
          </p:nvSpPr>
          <p:spPr>
            <a:xfrm flipH="false" flipV="false" rot="0">
              <a:off x="0" y="0"/>
              <a:ext cx="6883400" cy="1214120"/>
            </a:xfrm>
            <a:custGeom>
              <a:avLst/>
              <a:gdLst/>
              <a:ahLst/>
              <a:cxnLst/>
              <a:rect r="r" b="b" t="t" l="l"/>
              <a:pathLst>
                <a:path h="1214120" w="6883400">
                  <a:moveTo>
                    <a:pt x="0" y="168148"/>
                  </a:moveTo>
                  <a:cubicBezTo>
                    <a:pt x="0" y="75311"/>
                    <a:pt x="75311" y="0"/>
                    <a:pt x="168148" y="0"/>
                  </a:cubicBezTo>
                  <a:lnTo>
                    <a:pt x="6715252" y="0"/>
                  </a:lnTo>
                  <a:cubicBezTo>
                    <a:pt x="6808089" y="0"/>
                    <a:pt x="6883400" y="75311"/>
                    <a:pt x="6883400" y="168148"/>
                  </a:cubicBezTo>
                  <a:lnTo>
                    <a:pt x="6883400" y="1045972"/>
                  </a:lnTo>
                  <a:cubicBezTo>
                    <a:pt x="6883400" y="1138809"/>
                    <a:pt x="6808089" y="1214120"/>
                    <a:pt x="6715252" y="1214120"/>
                  </a:cubicBezTo>
                  <a:lnTo>
                    <a:pt x="168148" y="1214120"/>
                  </a:lnTo>
                  <a:cubicBezTo>
                    <a:pt x="75311" y="1214120"/>
                    <a:pt x="0" y="1138809"/>
                    <a:pt x="0" y="1045972"/>
                  </a:cubicBezTo>
                  <a:close/>
                </a:path>
              </a:pathLst>
            </a:custGeom>
            <a:solidFill>
              <a:srgbClr val="F4F7FC"/>
            </a:solidFill>
            <a:ln w="19050" cap="sq">
              <a:solidFill>
                <a:srgbClr val="D7DCEC"/>
              </a:solidFill>
              <a:prstDash val="solid"/>
              <a:miter/>
            </a:ln>
          </p:spPr>
        </p:sp>
      </p:grpSp>
      <p:grpSp>
        <p:nvGrpSpPr>
          <p:cNvPr name="Group 43" id="43"/>
          <p:cNvGrpSpPr/>
          <p:nvPr/>
        </p:nvGrpSpPr>
        <p:grpSpPr>
          <a:xfrm rot="0">
            <a:off x="960120" y="8366760"/>
            <a:ext cx="5143500" cy="589788"/>
            <a:chOff x="0" y="0"/>
            <a:chExt cx="6858000" cy="786384"/>
          </a:xfrm>
        </p:grpSpPr>
        <p:sp>
          <p:nvSpPr>
            <p:cNvPr name="Freeform 44" id="44"/>
            <p:cNvSpPr/>
            <p:nvPr/>
          </p:nvSpPr>
          <p:spPr>
            <a:xfrm flipH="false" flipV="false" rot="0">
              <a:off x="0" y="0"/>
              <a:ext cx="6858000" cy="786384"/>
            </a:xfrm>
            <a:custGeom>
              <a:avLst/>
              <a:gdLst/>
              <a:ahLst/>
              <a:cxnLst/>
              <a:rect r="r" b="b" t="t" l="l"/>
              <a:pathLst>
                <a:path h="786384" w="6858000">
                  <a:moveTo>
                    <a:pt x="0" y="0"/>
                  </a:moveTo>
                  <a:lnTo>
                    <a:pt x="6858000" y="0"/>
                  </a:lnTo>
                  <a:lnTo>
                    <a:pt x="6858000" y="786384"/>
                  </a:lnTo>
                  <a:lnTo>
                    <a:pt x="0" y="786384"/>
                  </a:lnTo>
                  <a:close/>
                </a:path>
              </a:pathLst>
            </a:custGeom>
            <a:blipFill>
              <a:blip r:embed="rId2">
                <a:alphaModFix amt="0"/>
              </a:blip>
              <a:stretch>
                <a:fillRect l="0" t="-119927" r="0" b="-119927"/>
              </a:stretch>
            </a:blipFill>
          </p:spPr>
        </p:sp>
        <p:sp>
          <p:nvSpPr>
            <p:cNvPr name="TextBox 45" id="45"/>
            <p:cNvSpPr txBox="true"/>
            <p:nvPr/>
          </p:nvSpPr>
          <p:spPr>
            <a:xfrm>
              <a:off x="0" y="-38100"/>
              <a:ext cx="6858000" cy="824484"/>
            </a:xfrm>
            <a:prstGeom prst="rect">
              <a:avLst/>
            </a:prstGeom>
          </p:spPr>
          <p:txBody>
            <a:bodyPr anchor="ctr" rtlCol="false" tIns="0" lIns="0" bIns="0" rIns="0"/>
            <a:lstStyle/>
            <a:p>
              <a:pPr algn="ctr">
                <a:lnSpc>
                  <a:spcPts val="2430"/>
                </a:lnSpc>
              </a:pPr>
              <a:r>
                <a:rPr lang="en-US" sz="2025">
                  <a:solidFill>
                    <a:srgbClr val="6B7280"/>
                  </a:solidFill>
                  <a:latin typeface="Calibri (MS)"/>
                  <a:ea typeface="Calibri (MS)"/>
                  <a:cs typeface="Calibri (MS)"/>
                  <a:sym typeface="Calibri (MS)"/>
                </a:rPr>
                <a:t>Detect</a:t>
              </a:r>
            </a:p>
          </p:txBody>
        </p:sp>
      </p:grpSp>
      <p:grpSp>
        <p:nvGrpSpPr>
          <p:cNvPr name="Group 46" id="46"/>
          <p:cNvGrpSpPr/>
          <p:nvPr/>
        </p:nvGrpSpPr>
        <p:grpSpPr>
          <a:xfrm rot="0">
            <a:off x="960120" y="8805672"/>
            <a:ext cx="5143500" cy="329184"/>
            <a:chOff x="0" y="0"/>
            <a:chExt cx="6858000" cy="438912"/>
          </a:xfrm>
        </p:grpSpPr>
        <p:sp>
          <p:nvSpPr>
            <p:cNvPr name="Freeform 47" id="47"/>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48" id="48"/>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9AA3B8"/>
                  </a:solidFill>
                  <a:latin typeface="Arimo"/>
                  <a:ea typeface="Arimo"/>
                  <a:cs typeface="Arimo"/>
                  <a:sym typeface="Arimo"/>
                </a:rPr>
                <a:t>DE</a:t>
              </a:r>
            </a:p>
          </p:txBody>
        </p:sp>
      </p:grpSp>
      <p:grpSp>
        <p:nvGrpSpPr>
          <p:cNvPr name="Group 49" id="49"/>
          <p:cNvGrpSpPr/>
          <p:nvPr/>
        </p:nvGrpSpPr>
        <p:grpSpPr>
          <a:xfrm rot="0">
            <a:off x="6533007" y="8288655"/>
            <a:ext cx="5162550" cy="910590"/>
            <a:chOff x="0" y="0"/>
            <a:chExt cx="6883400" cy="1214120"/>
          </a:xfrm>
        </p:grpSpPr>
        <p:sp>
          <p:nvSpPr>
            <p:cNvPr name="Freeform 50" id="50"/>
            <p:cNvSpPr/>
            <p:nvPr/>
          </p:nvSpPr>
          <p:spPr>
            <a:xfrm flipH="false" flipV="false" rot="0">
              <a:off x="0" y="0"/>
              <a:ext cx="6883400" cy="1214120"/>
            </a:xfrm>
            <a:custGeom>
              <a:avLst/>
              <a:gdLst/>
              <a:ahLst/>
              <a:cxnLst/>
              <a:rect r="r" b="b" t="t" l="l"/>
              <a:pathLst>
                <a:path h="1214120" w="6883400">
                  <a:moveTo>
                    <a:pt x="0" y="168148"/>
                  </a:moveTo>
                  <a:cubicBezTo>
                    <a:pt x="0" y="75311"/>
                    <a:pt x="75311" y="0"/>
                    <a:pt x="168148" y="0"/>
                  </a:cubicBezTo>
                  <a:lnTo>
                    <a:pt x="6715252" y="0"/>
                  </a:lnTo>
                  <a:cubicBezTo>
                    <a:pt x="6808089" y="0"/>
                    <a:pt x="6883400" y="75311"/>
                    <a:pt x="6883400" y="168148"/>
                  </a:cubicBezTo>
                  <a:lnTo>
                    <a:pt x="6883400" y="1045972"/>
                  </a:lnTo>
                  <a:cubicBezTo>
                    <a:pt x="6883400" y="1138809"/>
                    <a:pt x="6808089" y="1214120"/>
                    <a:pt x="6715252" y="1214120"/>
                  </a:cubicBezTo>
                  <a:lnTo>
                    <a:pt x="168148" y="1214120"/>
                  </a:lnTo>
                  <a:cubicBezTo>
                    <a:pt x="75311" y="1214120"/>
                    <a:pt x="0" y="1138809"/>
                    <a:pt x="0" y="1045972"/>
                  </a:cubicBezTo>
                  <a:close/>
                </a:path>
              </a:pathLst>
            </a:custGeom>
            <a:solidFill>
              <a:srgbClr val="F4F7FC"/>
            </a:solidFill>
            <a:ln w="19050" cap="sq">
              <a:solidFill>
                <a:srgbClr val="D7DCEC"/>
              </a:solidFill>
              <a:prstDash val="solid"/>
              <a:miter/>
            </a:ln>
          </p:spPr>
        </p:sp>
      </p:grpSp>
      <p:grpSp>
        <p:nvGrpSpPr>
          <p:cNvPr name="Group 51" id="51"/>
          <p:cNvGrpSpPr/>
          <p:nvPr/>
        </p:nvGrpSpPr>
        <p:grpSpPr>
          <a:xfrm rot="0">
            <a:off x="6542532" y="8366760"/>
            <a:ext cx="5143500" cy="589788"/>
            <a:chOff x="0" y="0"/>
            <a:chExt cx="6858000" cy="786384"/>
          </a:xfrm>
        </p:grpSpPr>
        <p:sp>
          <p:nvSpPr>
            <p:cNvPr name="Freeform 52" id="52"/>
            <p:cNvSpPr/>
            <p:nvPr/>
          </p:nvSpPr>
          <p:spPr>
            <a:xfrm flipH="false" flipV="false" rot="0">
              <a:off x="0" y="0"/>
              <a:ext cx="6858000" cy="786384"/>
            </a:xfrm>
            <a:custGeom>
              <a:avLst/>
              <a:gdLst/>
              <a:ahLst/>
              <a:cxnLst/>
              <a:rect r="r" b="b" t="t" l="l"/>
              <a:pathLst>
                <a:path h="786384" w="6858000">
                  <a:moveTo>
                    <a:pt x="0" y="0"/>
                  </a:moveTo>
                  <a:lnTo>
                    <a:pt x="6858000" y="0"/>
                  </a:lnTo>
                  <a:lnTo>
                    <a:pt x="6858000" y="786384"/>
                  </a:lnTo>
                  <a:lnTo>
                    <a:pt x="0" y="786384"/>
                  </a:lnTo>
                  <a:close/>
                </a:path>
              </a:pathLst>
            </a:custGeom>
            <a:blipFill>
              <a:blip r:embed="rId2">
                <a:alphaModFix amt="0"/>
              </a:blip>
              <a:stretch>
                <a:fillRect l="0" t="-119927" r="0" b="-119927"/>
              </a:stretch>
            </a:blipFill>
          </p:spPr>
        </p:sp>
        <p:sp>
          <p:nvSpPr>
            <p:cNvPr name="TextBox 53" id="53"/>
            <p:cNvSpPr txBox="true"/>
            <p:nvPr/>
          </p:nvSpPr>
          <p:spPr>
            <a:xfrm>
              <a:off x="0" y="-38100"/>
              <a:ext cx="6858000" cy="824484"/>
            </a:xfrm>
            <a:prstGeom prst="rect">
              <a:avLst/>
            </a:prstGeom>
          </p:spPr>
          <p:txBody>
            <a:bodyPr anchor="ctr" rtlCol="false" tIns="0" lIns="0" bIns="0" rIns="0"/>
            <a:lstStyle/>
            <a:p>
              <a:pPr algn="ctr">
                <a:lnSpc>
                  <a:spcPts val="2430"/>
                </a:lnSpc>
              </a:pPr>
              <a:r>
                <a:rPr lang="en-US" sz="2025">
                  <a:solidFill>
                    <a:srgbClr val="6B7280"/>
                  </a:solidFill>
                  <a:latin typeface="Calibri (MS)"/>
                  <a:ea typeface="Calibri (MS)"/>
                  <a:cs typeface="Calibri (MS)"/>
                  <a:sym typeface="Calibri (MS)"/>
                </a:rPr>
                <a:t>Respond</a:t>
              </a:r>
            </a:p>
          </p:txBody>
        </p:sp>
      </p:grpSp>
      <p:grpSp>
        <p:nvGrpSpPr>
          <p:cNvPr name="Group 54" id="54"/>
          <p:cNvGrpSpPr/>
          <p:nvPr/>
        </p:nvGrpSpPr>
        <p:grpSpPr>
          <a:xfrm rot="0">
            <a:off x="6542532" y="8805672"/>
            <a:ext cx="5143500" cy="329184"/>
            <a:chOff x="0" y="0"/>
            <a:chExt cx="6858000" cy="438912"/>
          </a:xfrm>
        </p:grpSpPr>
        <p:sp>
          <p:nvSpPr>
            <p:cNvPr name="Freeform 55" id="55"/>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56" id="56"/>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9AA3B8"/>
                  </a:solidFill>
                  <a:latin typeface="Arimo"/>
                  <a:ea typeface="Arimo"/>
                  <a:cs typeface="Arimo"/>
                  <a:sym typeface="Arimo"/>
                </a:rPr>
                <a:t>RS</a:t>
              </a:r>
            </a:p>
          </p:txBody>
        </p:sp>
      </p:grpSp>
      <p:grpSp>
        <p:nvGrpSpPr>
          <p:cNvPr name="Group 57" id="57"/>
          <p:cNvGrpSpPr/>
          <p:nvPr/>
        </p:nvGrpSpPr>
        <p:grpSpPr>
          <a:xfrm rot="0">
            <a:off x="12115419" y="8288655"/>
            <a:ext cx="5162550" cy="910590"/>
            <a:chOff x="0" y="0"/>
            <a:chExt cx="6883400" cy="1214120"/>
          </a:xfrm>
        </p:grpSpPr>
        <p:sp>
          <p:nvSpPr>
            <p:cNvPr name="Freeform 58" id="58"/>
            <p:cNvSpPr/>
            <p:nvPr/>
          </p:nvSpPr>
          <p:spPr>
            <a:xfrm flipH="false" flipV="false" rot="0">
              <a:off x="0" y="0"/>
              <a:ext cx="6883400" cy="1214120"/>
            </a:xfrm>
            <a:custGeom>
              <a:avLst/>
              <a:gdLst/>
              <a:ahLst/>
              <a:cxnLst/>
              <a:rect r="r" b="b" t="t" l="l"/>
              <a:pathLst>
                <a:path h="1214120" w="6883400">
                  <a:moveTo>
                    <a:pt x="0" y="168148"/>
                  </a:moveTo>
                  <a:cubicBezTo>
                    <a:pt x="0" y="75311"/>
                    <a:pt x="75311" y="0"/>
                    <a:pt x="168148" y="0"/>
                  </a:cubicBezTo>
                  <a:lnTo>
                    <a:pt x="6715252" y="0"/>
                  </a:lnTo>
                  <a:cubicBezTo>
                    <a:pt x="6808089" y="0"/>
                    <a:pt x="6883400" y="75311"/>
                    <a:pt x="6883400" y="168148"/>
                  </a:cubicBezTo>
                  <a:lnTo>
                    <a:pt x="6883400" y="1045972"/>
                  </a:lnTo>
                  <a:cubicBezTo>
                    <a:pt x="6883400" y="1138809"/>
                    <a:pt x="6808089" y="1214120"/>
                    <a:pt x="6715252" y="1214120"/>
                  </a:cubicBezTo>
                  <a:lnTo>
                    <a:pt x="168148" y="1214120"/>
                  </a:lnTo>
                  <a:cubicBezTo>
                    <a:pt x="75311" y="1214120"/>
                    <a:pt x="0" y="1138809"/>
                    <a:pt x="0" y="1045972"/>
                  </a:cubicBezTo>
                  <a:close/>
                </a:path>
              </a:pathLst>
            </a:custGeom>
            <a:solidFill>
              <a:srgbClr val="F4F7FC"/>
            </a:solidFill>
            <a:ln w="19050" cap="sq">
              <a:solidFill>
                <a:srgbClr val="D7DCEC"/>
              </a:solidFill>
              <a:prstDash val="solid"/>
              <a:miter/>
            </a:ln>
          </p:spPr>
        </p:sp>
      </p:grpSp>
      <p:grpSp>
        <p:nvGrpSpPr>
          <p:cNvPr name="Group 59" id="59"/>
          <p:cNvGrpSpPr/>
          <p:nvPr/>
        </p:nvGrpSpPr>
        <p:grpSpPr>
          <a:xfrm rot="0">
            <a:off x="12124944" y="8366760"/>
            <a:ext cx="5143500" cy="589788"/>
            <a:chOff x="0" y="0"/>
            <a:chExt cx="6858000" cy="786384"/>
          </a:xfrm>
        </p:grpSpPr>
        <p:sp>
          <p:nvSpPr>
            <p:cNvPr name="Freeform 60" id="60"/>
            <p:cNvSpPr/>
            <p:nvPr/>
          </p:nvSpPr>
          <p:spPr>
            <a:xfrm flipH="false" flipV="false" rot="0">
              <a:off x="0" y="0"/>
              <a:ext cx="6858000" cy="786384"/>
            </a:xfrm>
            <a:custGeom>
              <a:avLst/>
              <a:gdLst/>
              <a:ahLst/>
              <a:cxnLst/>
              <a:rect r="r" b="b" t="t" l="l"/>
              <a:pathLst>
                <a:path h="786384" w="6858000">
                  <a:moveTo>
                    <a:pt x="0" y="0"/>
                  </a:moveTo>
                  <a:lnTo>
                    <a:pt x="6858000" y="0"/>
                  </a:lnTo>
                  <a:lnTo>
                    <a:pt x="6858000" y="786384"/>
                  </a:lnTo>
                  <a:lnTo>
                    <a:pt x="0" y="786384"/>
                  </a:lnTo>
                  <a:close/>
                </a:path>
              </a:pathLst>
            </a:custGeom>
            <a:blipFill>
              <a:blip r:embed="rId2">
                <a:alphaModFix amt="0"/>
              </a:blip>
              <a:stretch>
                <a:fillRect l="0" t="-119927" r="0" b="-119927"/>
              </a:stretch>
            </a:blipFill>
          </p:spPr>
        </p:sp>
        <p:sp>
          <p:nvSpPr>
            <p:cNvPr name="TextBox 61" id="61"/>
            <p:cNvSpPr txBox="true"/>
            <p:nvPr/>
          </p:nvSpPr>
          <p:spPr>
            <a:xfrm>
              <a:off x="0" y="-38100"/>
              <a:ext cx="6858000" cy="824484"/>
            </a:xfrm>
            <a:prstGeom prst="rect">
              <a:avLst/>
            </a:prstGeom>
          </p:spPr>
          <p:txBody>
            <a:bodyPr anchor="ctr" rtlCol="false" tIns="0" lIns="0" bIns="0" rIns="0"/>
            <a:lstStyle/>
            <a:p>
              <a:pPr algn="ctr">
                <a:lnSpc>
                  <a:spcPts val="2430"/>
                </a:lnSpc>
              </a:pPr>
              <a:r>
                <a:rPr lang="en-US" sz="2025">
                  <a:solidFill>
                    <a:srgbClr val="6B7280"/>
                  </a:solidFill>
                  <a:latin typeface="Calibri (MS)"/>
                  <a:ea typeface="Calibri (MS)"/>
                  <a:cs typeface="Calibri (MS)"/>
                  <a:sym typeface="Calibri (MS)"/>
                </a:rPr>
                <a:t>Recover</a:t>
              </a:r>
            </a:p>
          </p:txBody>
        </p:sp>
      </p:grpSp>
      <p:grpSp>
        <p:nvGrpSpPr>
          <p:cNvPr name="Group 62" id="62"/>
          <p:cNvGrpSpPr/>
          <p:nvPr/>
        </p:nvGrpSpPr>
        <p:grpSpPr>
          <a:xfrm rot="0">
            <a:off x="12124944" y="8805672"/>
            <a:ext cx="5143500" cy="329184"/>
            <a:chOff x="0" y="0"/>
            <a:chExt cx="6858000" cy="438912"/>
          </a:xfrm>
        </p:grpSpPr>
        <p:sp>
          <p:nvSpPr>
            <p:cNvPr name="Freeform 63" id="63"/>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64" id="64"/>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9AA3B8"/>
                  </a:solidFill>
                  <a:latin typeface="Arimo"/>
                  <a:ea typeface="Arimo"/>
                  <a:cs typeface="Arimo"/>
                  <a:sym typeface="Arimo"/>
                </a:rPr>
                <a:t>RC</a:t>
              </a:r>
            </a:p>
          </p:txBody>
        </p:sp>
      </p:grpSp>
      <p:grpSp>
        <p:nvGrpSpPr>
          <p:cNvPr name="Group 65" id="65"/>
          <p:cNvGrpSpPr/>
          <p:nvPr/>
        </p:nvGrpSpPr>
        <p:grpSpPr>
          <a:xfrm rot="0">
            <a:off x="685800" y="9710928"/>
            <a:ext cx="10972800" cy="411480"/>
            <a:chOff x="0" y="0"/>
            <a:chExt cx="14630400" cy="548640"/>
          </a:xfrm>
        </p:grpSpPr>
        <p:sp>
          <p:nvSpPr>
            <p:cNvPr name="Freeform 66" id="66"/>
            <p:cNvSpPr/>
            <p:nvPr/>
          </p:nvSpPr>
          <p:spPr>
            <a:xfrm flipH="false" flipV="false" rot="0">
              <a:off x="0" y="0"/>
              <a:ext cx="14630400" cy="548640"/>
            </a:xfrm>
            <a:custGeom>
              <a:avLst/>
              <a:gdLst/>
              <a:ahLst/>
              <a:cxnLst/>
              <a:rect r="r" b="b" t="t" l="l"/>
              <a:pathLst>
                <a:path h="548640" w="14630400">
                  <a:moveTo>
                    <a:pt x="0" y="0"/>
                  </a:moveTo>
                  <a:lnTo>
                    <a:pt x="14630400" y="0"/>
                  </a:lnTo>
                  <a:lnTo>
                    <a:pt x="14630400" y="548640"/>
                  </a:lnTo>
                  <a:lnTo>
                    <a:pt x="0" y="548640"/>
                  </a:lnTo>
                  <a:close/>
                </a:path>
              </a:pathLst>
            </a:custGeom>
            <a:blipFill>
              <a:blip r:embed="rId2">
                <a:alphaModFix amt="0"/>
              </a:blip>
              <a:stretch>
                <a:fillRect l="0" t="-469601" r="0" b="-469601"/>
              </a:stretch>
            </a:blipFill>
          </p:spPr>
        </p:sp>
        <p:sp>
          <p:nvSpPr>
            <p:cNvPr name="TextBox 67" id="67"/>
            <p:cNvSpPr txBox="true"/>
            <p:nvPr/>
          </p:nvSpPr>
          <p:spPr>
            <a:xfrm>
              <a:off x="0" y="-38100"/>
              <a:ext cx="14630400" cy="586740"/>
            </a:xfrm>
            <a:prstGeom prst="rect">
              <a:avLst/>
            </a:prstGeom>
          </p:spPr>
          <p:txBody>
            <a:bodyPr anchor="ctr" rtlCol="false" tIns="0" lIns="0" bIns="0" rIns="0"/>
            <a:lstStyle/>
            <a:p>
              <a:pPr algn="l">
                <a:lnSpc>
                  <a:spcPts val="1800"/>
                </a:lnSpc>
              </a:pPr>
              <a:r>
                <a:rPr lang="en-US" sz="1500">
                  <a:solidFill>
                    <a:srgbClr val="6B7280"/>
                  </a:solidFill>
                  <a:latin typeface="Calibri (MS)"/>
                  <a:ea typeface="Calibri (MS)"/>
                  <a:cs typeface="Calibri (MS)"/>
                  <a:sym typeface="Calibri (MS)"/>
                </a:rPr>
                <a:t>Davao del Norte Provincial Government — Cybersecurity Seminar</a:t>
              </a:r>
            </a:p>
          </p:txBody>
        </p:sp>
      </p:grpSp>
      <p:grpSp>
        <p:nvGrpSpPr>
          <p:cNvPr name="Group 68" id="68"/>
          <p:cNvGrpSpPr/>
          <p:nvPr/>
        </p:nvGrpSpPr>
        <p:grpSpPr>
          <a:xfrm rot="0">
            <a:off x="16911828" y="9710928"/>
            <a:ext cx="685800" cy="411480"/>
            <a:chOff x="0" y="0"/>
            <a:chExt cx="914400" cy="548640"/>
          </a:xfrm>
        </p:grpSpPr>
        <p:sp>
          <p:nvSpPr>
            <p:cNvPr name="Freeform 69" id="69"/>
            <p:cNvSpPr/>
            <p:nvPr/>
          </p:nvSpPr>
          <p:spPr>
            <a:xfrm flipH="false" flipV="false" rot="0">
              <a:off x="0" y="0"/>
              <a:ext cx="914400" cy="548640"/>
            </a:xfrm>
            <a:custGeom>
              <a:avLst/>
              <a:gdLst/>
              <a:ahLst/>
              <a:cxnLst/>
              <a:rect r="r" b="b" t="t" l="l"/>
              <a:pathLst>
                <a:path h="548640" w="914400">
                  <a:moveTo>
                    <a:pt x="0" y="0"/>
                  </a:moveTo>
                  <a:lnTo>
                    <a:pt x="914400" y="0"/>
                  </a:lnTo>
                  <a:lnTo>
                    <a:pt x="914400" y="548640"/>
                  </a:lnTo>
                  <a:lnTo>
                    <a:pt x="0" y="548640"/>
                  </a:lnTo>
                  <a:close/>
                </a:path>
              </a:pathLst>
            </a:custGeom>
            <a:blipFill>
              <a:blip r:embed="rId2">
                <a:alphaModFix amt="0"/>
              </a:blip>
              <a:stretch>
                <a:fillRect l="-26982" t="0" r="-26982" b="0"/>
              </a:stretch>
            </a:blipFill>
          </p:spPr>
        </p:sp>
        <p:sp>
          <p:nvSpPr>
            <p:cNvPr name="TextBox 70" id="70"/>
            <p:cNvSpPr txBox="true"/>
            <p:nvPr/>
          </p:nvSpPr>
          <p:spPr>
            <a:xfrm>
              <a:off x="0" y="-38100"/>
              <a:ext cx="914400" cy="586740"/>
            </a:xfrm>
            <a:prstGeom prst="rect">
              <a:avLst/>
            </a:prstGeom>
          </p:spPr>
          <p:txBody>
            <a:bodyPr anchor="ctr" rtlCol="false" tIns="0" lIns="0" bIns="0" rIns="0"/>
            <a:lstStyle/>
            <a:p>
              <a:pPr algn="r">
                <a:lnSpc>
                  <a:spcPts val="1800"/>
                </a:lnSpc>
              </a:pPr>
              <a:r>
                <a:rPr lang="en-US" sz="1500">
                  <a:solidFill>
                    <a:srgbClr val="6B7280"/>
                  </a:solidFill>
                  <a:latin typeface="Calibri (MS)"/>
                  <a:ea typeface="Calibri (MS)"/>
                  <a:cs typeface="Calibri (MS)"/>
                  <a:sym typeface="Calibri (MS)"/>
                </a:rPr>
                <a:t>37</a:t>
              </a:r>
            </a:p>
          </p:txBody>
        </p:sp>
      </p:grpSp>
    </p:spTree>
  </p:cSld>
  <p:clrMapOvr>
    <a:masterClrMapping/>
  </p:clrMapOvr>
</p:sld>
</file>

<file path=ppt/slides/slide10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60120" y="685800"/>
            <a:ext cx="13716000" cy="411480"/>
            <a:chOff x="0" y="0"/>
            <a:chExt cx="18288000" cy="548640"/>
          </a:xfrm>
        </p:grpSpPr>
        <p:sp>
          <p:nvSpPr>
            <p:cNvPr name="Freeform 3" id="3"/>
            <p:cNvSpPr/>
            <p:nvPr/>
          </p:nvSpPr>
          <p:spPr>
            <a:xfrm flipH="false" flipV="false" rot="0">
              <a:off x="0" y="0"/>
              <a:ext cx="18288000" cy="548640"/>
            </a:xfrm>
            <a:custGeom>
              <a:avLst/>
              <a:gdLst/>
              <a:ahLst/>
              <a:cxnLst/>
              <a:rect r="r" b="b" t="t" l="l"/>
              <a:pathLst>
                <a:path h="548640" w="18288000">
                  <a:moveTo>
                    <a:pt x="0" y="0"/>
                  </a:moveTo>
                  <a:lnTo>
                    <a:pt x="18288000" y="0"/>
                  </a:lnTo>
                  <a:lnTo>
                    <a:pt x="18288000" y="548640"/>
                  </a:lnTo>
                  <a:lnTo>
                    <a:pt x="0" y="548640"/>
                  </a:lnTo>
                  <a:close/>
                </a:path>
              </a:pathLst>
            </a:custGeom>
            <a:blipFill>
              <a:blip r:embed="rId2">
                <a:alphaModFix amt="0"/>
              </a:blip>
              <a:stretch>
                <a:fillRect l="0" t="-599501" r="0" b="-599501"/>
              </a:stretch>
            </a:blipFill>
          </p:spPr>
        </p:sp>
        <p:sp>
          <p:nvSpPr>
            <p:cNvPr name="TextBox 4" id="4"/>
            <p:cNvSpPr txBox="true"/>
            <p:nvPr/>
          </p:nvSpPr>
          <p:spPr>
            <a:xfrm>
              <a:off x="0" y="-38100"/>
              <a:ext cx="18288000" cy="586740"/>
            </a:xfrm>
            <a:prstGeom prst="rect">
              <a:avLst/>
            </a:prstGeom>
          </p:spPr>
          <p:txBody>
            <a:bodyPr anchor="ctr" rtlCol="false" tIns="0" lIns="0" bIns="0" rIns="0"/>
            <a:lstStyle/>
            <a:p>
              <a:pPr algn="l">
                <a:lnSpc>
                  <a:spcPts val="2160"/>
                </a:lnSpc>
              </a:pPr>
              <a:r>
                <a:rPr lang="en-US" b="true" sz="1800" spc="225">
                  <a:solidFill>
                    <a:srgbClr val="00B4D8"/>
                  </a:solidFill>
                  <a:latin typeface="Calibri (MS) Bold"/>
                  <a:ea typeface="Calibri (MS) Bold"/>
                  <a:cs typeface="Calibri (MS) Bold"/>
                  <a:sym typeface="Calibri (MS) Bold"/>
                </a:rPr>
                <a:t>NIST CSF SORT · ANSWER</a:t>
              </a:r>
            </a:p>
          </p:txBody>
        </p:sp>
      </p:grpSp>
      <p:grpSp>
        <p:nvGrpSpPr>
          <p:cNvPr name="Group 5" id="5"/>
          <p:cNvGrpSpPr/>
          <p:nvPr/>
        </p:nvGrpSpPr>
        <p:grpSpPr>
          <a:xfrm rot="0">
            <a:off x="960120" y="1069848"/>
            <a:ext cx="10972800" cy="822960"/>
            <a:chOff x="0" y="0"/>
            <a:chExt cx="14630400" cy="1097280"/>
          </a:xfrm>
        </p:grpSpPr>
        <p:sp>
          <p:nvSpPr>
            <p:cNvPr name="Freeform 6" id="6"/>
            <p:cNvSpPr/>
            <p:nvPr/>
          </p:nvSpPr>
          <p:spPr>
            <a:xfrm flipH="false" flipV="false" rot="0">
              <a:off x="0" y="0"/>
              <a:ext cx="14630400" cy="1097280"/>
            </a:xfrm>
            <a:custGeom>
              <a:avLst/>
              <a:gdLst/>
              <a:ahLst/>
              <a:cxnLst/>
              <a:rect r="r" b="b" t="t" l="l"/>
              <a:pathLst>
                <a:path h="1097280" w="14630400">
                  <a:moveTo>
                    <a:pt x="0" y="0"/>
                  </a:moveTo>
                  <a:lnTo>
                    <a:pt x="14630400" y="0"/>
                  </a:lnTo>
                  <a:lnTo>
                    <a:pt x="14630400" y="1097280"/>
                  </a:lnTo>
                  <a:lnTo>
                    <a:pt x="0" y="1097280"/>
                  </a:lnTo>
                  <a:close/>
                </a:path>
              </a:pathLst>
            </a:custGeom>
            <a:blipFill>
              <a:blip r:embed="rId2">
                <a:alphaModFix amt="0"/>
              </a:blip>
              <a:stretch>
                <a:fillRect l="0" t="-209800" r="0" b="-209800"/>
              </a:stretch>
            </a:blipFill>
          </p:spPr>
        </p:sp>
        <p:sp>
          <p:nvSpPr>
            <p:cNvPr name="TextBox 7" id="7"/>
            <p:cNvSpPr txBox="true"/>
            <p:nvPr/>
          </p:nvSpPr>
          <p:spPr>
            <a:xfrm>
              <a:off x="0" y="0"/>
              <a:ext cx="14630400" cy="1097280"/>
            </a:xfrm>
            <a:prstGeom prst="rect">
              <a:avLst/>
            </a:prstGeom>
          </p:spPr>
          <p:txBody>
            <a:bodyPr anchor="ctr" rtlCol="false" tIns="0" lIns="0" bIns="0" rIns="0"/>
            <a:lstStyle/>
            <a:p>
              <a:pPr algn="l">
                <a:lnSpc>
                  <a:spcPts val="4680"/>
                </a:lnSpc>
              </a:pPr>
              <a:r>
                <a:rPr lang="en-US" sz="3900" b="true">
                  <a:solidFill>
                    <a:srgbClr val="1E2761"/>
                  </a:solidFill>
                  <a:latin typeface="Cambria Bold"/>
                  <a:ea typeface="Cambria Bold"/>
                  <a:cs typeface="Cambria Bold"/>
                  <a:sym typeface="Cambria Bold"/>
                </a:rPr>
                <a:t>Scenario 14 — Answer</a:t>
              </a:r>
            </a:p>
          </p:txBody>
        </p:sp>
      </p:grpSp>
      <p:grpSp>
        <p:nvGrpSpPr>
          <p:cNvPr name="Group 8" id="8"/>
          <p:cNvGrpSpPr/>
          <p:nvPr/>
        </p:nvGrpSpPr>
        <p:grpSpPr>
          <a:xfrm rot="0">
            <a:off x="960120" y="1810512"/>
            <a:ext cx="8229600" cy="411480"/>
            <a:chOff x="0" y="0"/>
            <a:chExt cx="10972800" cy="548640"/>
          </a:xfrm>
        </p:grpSpPr>
        <p:sp>
          <p:nvSpPr>
            <p:cNvPr name="Freeform 9" id="9"/>
            <p:cNvSpPr/>
            <p:nvPr/>
          </p:nvSpPr>
          <p:spPr>
            <a:xfrm flipH="false" flipV="false" rot="0">
              <a:off x="0" y="0"/>
              <a:ext cx="10972800" cy="548640"/>
            </a:xfrm>
            <a:custGeom>
              <a:avLst/>
              <a:gdLst/>
              <a:ahLst/>
              <a:cxnLst/>
              <a:rect r="r" b="b" t="t" l="l"/>
              <a:pathLst>
                <a:path h="548640" w="10972800">
                  <a:moveTo>
                    <a:pt x="0" y="0"/>
                  </a:moveTo>
                  <a:lnTo>
                    <a:pt x="10972800" y="0"/>
                  </a:lnTo>
                  <a:lnTo>
                    <a:pt x="10972800" y="548640"/>
                  </a:lnTo>
                  <a:lnTo>
                    <a:pt x="0" y="548640"/>
                  </a:lnTo>
                  <a:close/>
                </a:path>
              </a:pathLst>
            </a:custGeom>
            <a:blipFill>
              <a:blip r:embed="rId2">
                <a:alphaModFix amt="0"/>
              </a:blip>
              <a:stretch>
                <a:fillRect l="0" t="-339700" r="0" b="-339700"/>
              </a:stretch>
            </a:blipFill>
          </p:spPr>
        </p:sp>
        <p:sp>
          <p:nvSpPr>
            <p:cNvPr name="TextBox 10" id="10"/>
            <p:cNvSpPr txBox="true"/>
            <p:nvPr/>
          </p:nvSpPr>
          <p:spPr>
            <a:xfrm>
              <a:off x="0" y="-28575"/>
              <a:ext cx="10972800" cy="577215"/>
            </a:xfrm>
            <a:prstGeom prst="rect">
              <a:avLst/>
            </a:prstGeom>
          </p:spPr>
          <p:txBody>
            <a:bodyPr anchor="ctr" rtlCol="false" tIns="0" lIns="0" bIns="0" rIns="0"/>
            <a:lstStyle/>
            <a:p>
              <a:pPr algn="l">
                <a:lnSpc>
                  <a:spcPts val="1980"/>
                </a:lnSpc>
              </a:pPr>
              <a:r>
                <a:rPr lang="en-US" sz="1650">
                  <a:solidFill>
                    <a:srgbClr val="6B7280"/>
                  </a:solidFill>
                  <a:latin typeface="Calibri (MS)"/>
                  <a:ea typeface="Calibri (MS)"/>
                  <a:cs typeface="Calibri (MS)"/>
                  <a:sym typeface="Calibri (MS)"/>
                </a:rPr>
                <a:t>14 of 20</a:t>
              </a:r>
            </a:p>
          </p:txBody>
        </p:sp>
      </p:grpSp>
      <p:grpSp>
        <p:nvGrpSpPr>
          <p:cNvPr name="Group 11" id="11"/>
          <p:cNvGrpSpPr/>
          <p:nvPr/>
        </p:nvGrpSpPr>
        <p:grpSpPr>
          <a:xfrm rot="0">
            <a:off x="960120" y="2537460"/>
            <a:ext cx="16322040" cy="2194560"/>
            <a:chOff x="0" y="0"/>
            <a:chExt cx="21762720" cy="2926080"/>
          </a:xfrm>
        </p:grpSpPr>
        <p:sp>
          <p:nvSpPr>
            <p:cNvPr name="Freeform 12" id="12"/>
            <p:cNvSpPr/>
            <p:nvPr/>
          </p:nvSpPr>
          <p:spPr>
            <a:xfrm flipH="false" flipV="false" rot="0">
              <a:off x="0" y="0"/>
              <a:ext cx="21762720" cy="2926080"/>
            </a:xfrm>
            <a:custGeom>
              <a:avLst/>
              <a:gdLst/>
              <a:ahLst/>
              <a:cxnLst/>
              <a:rect r="r" b="b" t="t" l="l"/>
              <a:pathLst>
                <a:path h="2926080" w="21762720">
                  <a:moveTo>
                    <a:pt x="0" y="182880"/>
                  </a:moveTo>
                  <a:cubicBezTo>
                    <a:pt x="0" y="81915"/>
                    <a:pt x="81915" y="0"/>
                    <a:pt x="182880" y="0"/>
                  </a:cubicBezTo>
                  <a:lnTo>
                    <a:pt x="21579839" y="0"/>
                  </a:lnTo>
                  <a:cubicBezTo>
                    <a:pt x="21680804" y="0"/>
                    <a:pt x="21762720" y="81915"/>
                    <a:pt x="21762720" y="182880"/>
                  </a:cubicBezTo>
                  <a:lnTo>
                    <a:pt x="21762720" y="2743200"/>
                  </a:lnTo>
                  <a:cubicBezTo>
                    <a:pt x="21762720" y="2844165"/>
                    <a:pt x="21680804" y="2926080"/>
                    <a:pt x="21579839" y="2926080"/>
                  </a:cubicBezTo>
                  <a:lnTo>
                    <a:pt x="182880" y="2926080"/>
                  </a:lnTo>
                  <a:cubicBezTo>
                    <a:pt x="81915" y="2926080"/>
                    <a:pt x="0" y="2844165"/>
                    <a:pt x="0" y="2743200"/>
                  </a:cubicBezTo>
                  <a:close/>
                </a:path>
              </a:pathLst>
            </a:custGeom>
            <a:solidFill>
              <a:srgbClr val="F4F7FC"/>
            </a:solidFill>
          </p:spPr>
        </p:sp>
      </p:grpSp>
      <p:grpSp>
        <p:nvGrpSpPr>
          <p:cNvPr name="Group 13" id="13"/>
          <p:cNvGrpSpPr/>
          <p:nvPr/>
        </p:nvGrpSpPr>
        <p:grpSpPr>
          <a:xfrm rot="0">
            <a:off x="1440180" y="2770632"/>
            <a:ext cx="15361920" cy="1714500"/>
            <a:chOff x="0" y="0"/>
            <a:chExt cx="20482560" cy="2286000"/>
          </a:xfrm>
        </p:grpSpPr>
        <p:sp>
          <p:nvSpPr>
            <p:cNvPr name="Freeform 14" id="14"/>
            <p:cNvSpPr/>
            <p:nvPr/>
          </p:nvSpPr>
          <p:spPr>
            <a:xfrm flipH="false" flipV="false" rot="0">
              <a:off x="0" y="0"/>
              <a:ext cx="20482561" cy="2286000"/>
            </a:xfrm>
            <a:custGeom>
              <a:avLst/>
              <a:gdLst/>
              <a:ahLst/>
              <a:cxnLst/>
              <a:rect r="r" b="b" t="t" l="l"/>
              <a:pathLst>
                <a:path h="2286000" w="20482561">
                  <a:moveTo>
                    <a:pt x="0" y="0"/>
                  </a:moveTo>
                  <a:lnTo>
                    <a:pt x="20482561" y="0"/>
                  </a:lnTo>
                  <a:lnTo>
                    <a:pt x="20482561" y="2286000"/>
                  </a:lnTo>
                  <a:lnTo>
                    <a:pt x="0" y="2286000"/>
                  </a:lnTo>
                  <a:close/>
                </a:path>
              </a:pathLst>
            </a:custGeom>
            <a:blipFill>
              <a:blip r:embed="rId2">
                <a:alphaModFix amt="0"/>
              </a:blip>
              <a:stretch>
                <a:fillRect l="0" t="-124585" r="0" b="-124585"/>
              </a:stretch>
            </a:blipFill>
          </p:spPr>
        </p:sp>
        <p:sp>
          <p:nvSpPr>
            <p:cNvPr name="TextBox 15" id="15"/>
            <p:cNvSpPr txBox="true"/>
            <p:nvPr/>
          </p:nvSpPr>
          <p:spPr>
            <a:xfrm>
              <a:off x="0" y="-85725"/>
              <a:ext cx="20482560" cy="2371725"/>
            </a:xfrm>
            <a:prstGeom prst="rect">
              <a:avLst/>
            </a:prstGeom>
          </p:spPr>
          <p:txBody>
            <a:bodyPr anchor="ctr" rtlCol="false" tIns="0" lIns="0" bIns="0" rIns="0"/>
            <a:lstStyle/>
            <a:p>
              <a:pPr algn="l">
                <a:lnSpc>
                  <a:spcPts val="3600"/>
                </a:lnSpc>
              </a:pPr>
              <a:r>
                <a:rPr lang="en-US" sz="2400" i="true">
                  <a:solidFill>
                    <a:srgbClr val="23262F"/>
                  </a:solidFill>
                  <a:latin typeface="Cambria Italics"/>
                  <a:ea typeface="Cambria Italics"/>
                  <a:cs typeface="Cambria Italics"/>
                  <a:sym typeface="Cambria Italics"/>
                </a:rPr>
                <a:t>"A risk assessment ranks the payroll system as the single most critical system to protect, based on what would happen if it went down or was compromised."</a:t>
              </a:r>
            </a:p>
          </p:txBody>
        </p:sp>
      </p:grpSp>
      <p:grpSp>
        <p:nvGrpSpPr>
          <p:cNvPr name="Group 16" id="16"/>
          <p:cNvGrpSpPr/>
          <p:nvPr/>
        </p:nvGrpSpPr>
        <p:grpSpPr>
          <a:xfrm rot="0">
            <a:off x="950595" y="5065395"/>
            <a:ext cx="5162550" cy="842010"/>
            <a:chOff x="0" y="0"/>
            <a:chExt cx="6883400" cy="1122680"/>
          </a:xfrm>
        </p:grpSpPr>
        <p:sp>
          <p:nvSpPr>
            <p:cNvPr name="Freeform 17" id="17"/>
            <p:cNvSpPr/>
            <p:nvPr/>
          </p:nvSpPr>
          <p:spPr>
            <a:xfrm flipH="false" flipV="false" rot="0">
              <a:off x="0" y="0"/>
              <a:ext cx="6883400" cy="1122680"/>
            </a:xfrm>
            <a:custGeom>
              <a:avLst/>
              <a:gdLst/>
              <a:ahLst/>
              <a:cxnLst/>
              <a:rect r="r" b="b" t="t" l="l"/>
              <a:pathLst>
                <a:path h="1122680" w="6883400">
                  <a:moveTo>
                    <a:pt x="0" y="168402"/>
                  </a:moveTo>
                  <a:cubicBezTo>
                    <a:pt x="0" y="75438"/>
                    <a:pt x="75438" y="0"/>
                    <a:pt x="168402" y="0"/>
                  </a:cubicBezTo>
                  <a:lnTo>
                    <a:pt x="6714998" y="0"/>
                  </a:lnTo>
                  <a:cubicBezTo>
                    <a:pt x="6807962" y="0"/>
                    <a:pt x="6883400" y="75438"/>
                    <a:pt x="6883400" y="168402"/>
                  </a:cubicBezTo>
                  <a:lnTo>
                    <a:pt x="6883400" y="954278"/>
                  </a:lnTo>
                  <a:cubicBezTo>
                    <a:pt x="6883400" y="1047242"/>
                    <a:pt x="6807962" y="1122680"/>
                    <a:pt x="6714998" y="1122680"/>
                  </a:cubicBezTo>
                  <a:lnTo>
                    <a:pt x="168402" y="1122680"/>
                  </a:lnTo>
                  <a:cubicBezTo>
                    <a:pt x="75438" y="1122680"/>
                    <a:pt x="0" y="1047242"/>
                    <a:pt x="0" y="954278"/>
                  </a:cubicBezTo>
                  <a:close/>
                </a:path>
              </a:pathLst>
            </a:custGeom>
            <a:solidFill>
              <a:srgbClr val="F4F7FC"/>
            </a:solidFill>
            <a:ln w="19050" cap="sq">
              <a:solidFill>
                <a:srgbClr val="D7DCEC"/>
              </a:solidFill>
              <a:prstDash val="solid"/>
              <a:miter/>
            </a:ln>
          </p:spPr>
        </p:sp>
      </p:grpSp>
      <p:grpSp>
        <p:nvGrpSpPr>
          <p:cNvPr name="Group 18" id="18"/>
          <p:cNvGrpSpPr/>
          <p:nvPr/>
        </p:nvGrpSpPr>
        <p:grpSpPr>
          <a:xfrm rot="0">
            <a:off x="960120" y="5143500"/>
            <a:ext cx="5143500" cy="521208"/>
            <a:chOff x="0" y="0"/>
            <a:chExt cx="6858000" cy="694944"/>
          </a:xfrm>
        </p:grpSpPr>
        <p:sp>
          <p:nvSpPr>
            <p:cNvPr name="Freeform 19" id="19"/>
            <p:cNvSpPr/>
            <p:nvPr/>
          </p:nvSpPr>
          <p:spPr>
            <a:xfrm flipH="false" flipV="false" rot="0">
              <a:off x="0" y="0"/>
              <a:ext cx="6858000" cy="694944"/>
            </a:xfrm>
            <a:custGeom>
              <a:avLst/>
              <a:gdLst/>
              <a:ahLst/>
              <a:cxnLst/>
              <a:rect r="r" b="b" t="t" l="l"/>
              <a:pathLst>
                <a:path h="694944" w="6858000">
                  <a:moveTo>
                    <a:pt x="0" y="0"/>
                  </a:moveTo>
                  <a:lnTo>
                    <a:pt x="6858000" y="0"/>
                  </a:lnTo>
                  <a:lnTo>
                    <a:pt x="6858000" y="694944"/>
                  </a:lnTo>
                  <a:lnTo>
                    <a:pt x="0" y="694944"/>
                  </a:lnTo>
                  <a:close/>
                </a:path>
              </a:pathLst>
            </a:custGeom>
            <a:blipFill>
              <a:blip r:embed="rId2">
                <a:alphaModFix amt="0"/>
              </a:blip>
              <a:stretch>
                <a:fillRect l="0" t="-142286" r="0" b="-142286"/>
              </a:stretch>
            </a:blipFill>
          </p:spPr>
        </p:sp>
        <p:sp>
          <p:nvSpPr>
            <p:cNvPr name="TextBox 20" id="20"/>
            <p:cNvSpPr txBox="true"/>
            <p:nvPr/>
          </p:nvSpPr>
          <p:spPr>
            <a:xfrm>
              <a:off x="0" y="-38100"/>
              <a:ext cx="6858000" cy="733044"/>
            </a:xfrm>
            <a:prstGeom prst="rect">
              <a:avLst/>
            </a:prstGeom>
          </p:spPr>
          <p:txBody>
            <a:bodyPr anchor="ctr" rtlCol="false" tIns="0" lIns="0" bIns="0" rIns="0"/>
            <a:lstStyle/>
            <a:p>
              <a:pPr algn="ctr">
                <a:lnSpc>
                  <a:spcPts val="2430"/>
                </a:lnSpc>
              </a:pPr>
              <a:r>
                <a:rPr lang="en-US" sz="2025">
                  <a:solidFill>
                    <a:srgbClr val="6B7280"/>
                  </a:solidFill>
                  <a:latin typeface="Calibri (MS)"/>
                  <a:ea typeface="Calibri (MS)"/>
                  <a:cs typeface="Calibri (MS)"/>
                  <a:sym typeface="Calibri (MS)"/>
                </a:rPr>
                <a:t>Govern</a:t>
              </a:r>
            </a:p>
          </p:txBody>
        </p:sp>
      </p:grpSp>
      <p:grpSp>
        <p:nvGrpSpPr>
          <p:cNvPr name="Group 21" id="21"/>
          <p:cNvGrpSpPr/>
          <p:nvPr/>
        </p:nvGrpSpPr>
        <p:grpSpPr>
          <a:xfrm rot="0">
            <a:off x="960120" y="5513832"/>
            <a:ext cx="5143500" cy="329184"/>
            <a:chOff x="0" y="0"/>
            <a:chExt cx="6858000" cy="438912"/>
          </a:xfrm>
        </p:grpSpPr>
        <p:sp>
          <p:nvSpPr>
            <p:cNvPr name="Freeform 22" id="22"/>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23" id="23"/>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9AA3B8"/>
                  </a:solidFill>
                  <a:latin typeface="Arimo"/>
                  <a:ea typeface="Arimo"/>
                  <a:cs typeface="Arimo"/>
                  <a:sym typeface="Arimo"/>
                </a:rPr>
                <a:t>GV</a:t>
              </a:r>
            </a:p>
          </p:txBody>
        </p:sp>
      </p:grpSp>
      <p:grpSp>
        <p:nvGrpSpPr>
          <p:cNvPr name="Group 24" id="24"/>
          <p:cNvGrpSpPr/>
          <p:nvPr/>
        </p:nvGrpSpPr>
        <p:grpSpPr>
          <a:xfrm rot="0">
            <a:off x="6533007" y="5065395"/>
            <a:ext cx="5162550" cy="842010"/>
            <a:chOff x="0" y="0"/>
            <a:chExt cx="6883400" cy="1122680"/>
          </a:xfrm>
        </p:grpSpPr>
        <p:sp>
          <p:nvSpPr>
            <p:cNvPr name="Freeform 25" id="25"/>
            <p:cNvSpPr/>
            <p:nvPr/>
          </p:nvSpPr>
          <p:spPr>
            <a:xfrm flipH="false" flipV="false" rot="0">
              <a:off x="0" y="0"/>
              <a:ext cx="6883400" cy="1122680"/>
            </a:xfrm>
            <a:custGeom>
              <a:avLst/>
              <a:gdLst/>
              <a:ahLst/>
              <a:cxnLst/>
              <a:rect r="r" b="b" t="t" l="l"/>
              <a:pathLst>
                <a:path h="1122680" w="6883400">
                  <a:moveTo>
                    <a:pt x="0" y="168402"/>
                  </a:moveTo>
                  <a:cubicBezTo>
                    <a:pt x="0" y="75438"/>
                    <a:pt x="75438" y="0"/>
                    <a:pt x="168402" y="0"/>
                  </a:cubicBezTo>
                  <a:lnTo>
                    <a:pt x="6714998" y="0"/>
                  </a:lnTo>
                  <a:cubicBezTo>
                    <a:pt x="6807962" y="0"/>
                    <a:pt x="6883400" y="75438"/>
                    <a:pt x="6883400" y="168402"/>
                  </a:cubicBezTo>
                  <a:lnTo>
                    <a:pt x="6883400" y="954278"/>
                  </a:lnTo>
                  <a:cubicBezTo>
                    <a:pt x="6883400" y="1047242"/>
                    <a:pt x="6807962" y="1122680"/>
                    <a:pt x="6714998" y="1122680"/>
                  </a:cubicBezTo>
                  <a:lnTo>
                    <a:pt x="168402" y="1122680"/>
                  </a:lnTo>
                  <a:cubicBezTo>
                    <a:pt x="75438" y="1122680"/>
                    <a:pt x="0" y="1047242"/>
                    <a:pt x="0" y="954278"/>
                  </a:cubicBezTo>
                  <a:close/>
                </a:path>
              </a:pathLst>
            </a:custGeom>
            <a:solidFill>
              <a:srgbClr val="0F8A6E"/>
            </a:solidFill>
            <a:ln w="19050" cap="sq">
              <a:solidFill>
                <a:srgbClr val="0F8A6E"/>
              </a:solidFill>
              <a:prstDash val="solid"/>
              <a:miter/>
            </a:ln>
          </p:spPr>
        </p:sp>
      </p:grpSp>
      <p:grpSp>
        <p:nvGrpSpPr>
          <p:cNvPr name="Group 26" id="26"/>
          <p:cNvGrpSpPr/>
          <p:nvPr/>
        </p:nvGrpSpPr>
        <p:grpSpPr>
          <a:xfrm rot="0">
            <a:off x="6542532" y="5143500"/>
            <a:ext cx="5143500" cy="521208"/>
            <a:chOff x="0" y="0"/>
            <a:chExt cx="6858000" cy="694944"/>
          </a:xfrm>
        </p:grpSpPr>
        <p:sp>
          <p:nvSpPr>
            <p:cNvPr name="Freeform 27" id="27"/>
            <p:cNvSpPr/>
            <p:nvPr/>
          </p:nvSpPr>
          <p:spPr>
            <a:xfrm flipH="false" flipV="false" rot="0">
              <a:off x="0" y="0"/>
              <a:ext cx="6858000" cy="694944"/>
            </a:xfrm>
            <a:custGeom>
              <a:avLst/>
              <a:gdLst/>
              <a:ahLst/>
              <a:cxnLst/>
              <a:rect r="r" b="b" t="t" l="l"/>
              <a:pathLst>
                <a:path h="694944" w="6858000">
                  <a:moveTo>
                    <a:pt x="0" y="0"/>
                  </a:moveTo>
                  <a:lnTo>
                    <a:pt x="6858000" y="0"/>
                  </a:lnTo>
                  <a:lnTo>
                    <a:pt x="6858000" y="694944"/>
                  </a:lnTo>
                  <a:lnTo>
                    <a:pt x="0" y="694944"/>
                  </a:lnTo>
                  <a:close/>
                </a:path>
              </a:pathLst>
            </a:custGeom>
            <a:blipFill>
              <a:blip r:embed="rId2">
                <a:alphaModFix amt="0"/>
              </a:blip>
              <a:stretch>
                <a:fillRect l="0" t="-142286" r="0" b="-142286"/>
              </a:stretch>
            </a:blipFill>
          </p:spPr>
        </p:sp>
        <p:sp>
          <p:nvSpPr>
            <p:cNvPr name="TextBox 28" id="28"/>
            <p:cNvSpPr txBox="true"/>
            <p:nvPr/>
          </p:nvSpPr>
          <p:spPr>
            <a:xfrm>
              <a:off x="0" y="-38100"/>
              <a:ext cx="6858000" cy="733044"/>
            </a:xfrm>
            <a:prstGeom prst="rect">
              <a:avLst/>
            </a:prstGeom>
          </p:spPr>
          <p:txBody>
            <a:bodyPr anchor="ctr" rtlCol="false" tIns="0" lIns="0" bIns="0" rIns="0"/>
            <a:lstStyle/>
            <a:p>
              <a:pPr algn="ctr">
                <a:lnSpc>
                  <a:spcPts val="2430"/>
                </a:lnSpc>
              </a:pPr>
              <a:r>
                <a:rPr lang="en-US" sz="2025" b="true">
                  <a:solidFill>
                    <a:srgbClr val="FFFFFF"/>
                  </a:solidFill>
                  <a:latin typeface="Calibri (MS) Bold"/>
                  <a:ea typeface="Calibri (MS) Bold"/>
                  <a:cs typeface="Calibri (MS) Bold"/>
                  <a:sym typeface="Calibri (MS) Bold"/>
                </a:rPr>
                <a:t>✓  Identify</a:t>
              </a:r>
            </a:p>
          </p:txBody>
        </p:sp>
      </p:grpSp>
      <p:grpSp>
        <p:nvGrpSpPr>
          <p:cNvPr name="Group 29" id="29"/>
          <p:cNvGrpSpPr/>
          <p:nvPr/>
        </p:nvGrpSpPr>
        <p:grpSpPr>
          <a:xfrm rot="0">
            <a:off x="6542532" y="5513832"/>
            <a:ext cx="5143500" cy="329184"/>
            <a:chOff x="0" y="0"/>
            <a:chExt cx="6858000" cy="438912"/>
          </a:xfrm>
        </p:grpSpPr>
        <p:sp>
          <p:nvSpPr>
            <p:cNvPr name="Freeform 30" id="30"/>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31" id="31"/>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FFFFFF"/>
                  </a:solidFill>
                  <a:latin typeface="Arimo"/>
                  <a:ea typeface="Arimo"/>
                  <a:cs typeface="Arimo"/>
                  <a:sym typeface="Arimo"/>
                </a:rPr>
                <a:t>ID</a:t>
              </a:r>
            </a:p>
          </p:txBody>
        </p:sp>
      </p:grpSp>
      <p:grpSp>
        <p:nvGrpSpPr>
          <p:cNvPr name="Group 32" id="32"/>
          <p:cNvGrpSpPr/>
          <p:nvPr/>
        </p:nvGrpSpPr>
        <p:grpSpPr>
          <a:xfrm rot="0">
            <a:off x="12115419" y="5065395"/>
            <a:ext cx="5162550" cy="842010"/>
            <a:chOff x="0" y="0"/>
            <a:chExt cx="6883400" cy="1122680"/>
          </a:xfrm>
        </p:grpSpPr>
        <p:sp>
          <p:nvSpPr>
            <p:cNvPr name="Freeform 33" id="33"/>
            <p:cNvSpPr/>
            <p:nvPr/>
          </p:nvSpPr>
          <p:spPr>
            <a:xfrm flipH="false" flipV="false" rot="0">
              <a:off x="0" y="0"/>
              <a:ext cx="6883400" cy="1122680"/>
            </a:xfrm>
            <a:custGeom>
              <a:avLst/>
              <a:gdLst/>
              <a:ahLst/>
              <a:cxnLst/>
              <a:rect r="r" b="b" t="t" l="l"/>
              <a:pathLst>
                <a:path h="1122680" w="6883400">
                  <a:moveTo>
                    <a:pt x="0" y="168402"/>
                  </a:moveTo>
                  <a:cubicBezTo>
                    <a:pt x="0" y="75438"/>
                    <a:pt x="75438" y="0"/>
                    <a:pt x="168402" y="0"/>
                  </a:cubicBezTo>
                  <a:lnTo>
                    <a:pt x="6714998" y="0"/>
                  </a:lnTo>
                  <a:cubicBezTo>
                    <a:pt x="6807962" y="0"/>
                    <a:pt x="6883400" y="75438"/>
                    <a:pt x="6883400" y="168402"/>
                  </a:cubicBezTo>
                  <a:lnTo>
                    <a:pt x="6883400" y="954278"/>
                  </a:lnTo>
                  <a:cubicBezTo>
                    <a:pt x="6883400" y="1047242"/>
                    <a:pt x="6807962" y="1122680"/>
                    <a:pt x="6714998" y="1122680"/>
                  </a:cubicBezTo>
                  <a:lnTo>
                    <a:pt x="168402" y="1122680"/>
                  </a:lnTo>
                  <a:cubicBezTo>
                    <a:pt x="75438" y="1122680"/>
                    <a:pt x="0" y="1047242"/>
                    <a:pt x="0" y="954278"/>
                  </a:cubicBezTo>
                  <a:close/>
                </a:path>
              </a:pathLst>
            </a:custGeom>
            <a:solidFill>
              <a:srgbClr val="F4F7FC"/>
            </a:solidFill>
            <a:ln w="19050" cap="sq">
              <a:solidFill>
                <a:srgbClr val="D7DCEC"/>
              </a:solidFill>
              <a:prstDash val="solid"/>
              <a:miter/>
            </a:ln>
          </p:spPr>
        </p:sp>
      </p:grpSp>
      <p:grpSp>
        <p:nvGrpSpPr>
          <p:cNvPr name="Group 34" id="34"/>
          <p:cNvGrpSpPr/>
          <p:nvPr/>
        </p:nvGrpSpPr>
        <p:grpSpPr>
          <a:xfrm rot="0">
            <a:off x="12124944" y="5143500"/>
            <a:ext cx="5143500" cy="521208"/>
            <a:chOff x="0" y="0"/>
            <a:chExt cx="6858000" cy="694944"/>
          </a:xfrm>
        </p:grpSpPr>
        <p:sp>
          <p:nvSpPr>
            <p:cNvPr name="Freeform 35" id="35"/>
            <p:cNvSpPr/>
            <p:nvPr/>
          </p:nvSpPr>
          <p:spPr>
            <a:xfrm flipH="false" flipV="false" rot="0">
              <a:off x="0" y="0"/>
              <a:ext cx="6858000" cy="694944"/>
            </a:xfrm>
            <a:custGeom>
              <a:avLst/>
              <a:gdLst/>
              <a:ahLst/>
              <a:cxnLst/>
              <a:rect r="r" b="b" t="t" l="l"/>
              <a:pathLst>
                <a:path h="694944" w="6858000">
                  <a:moveTo>
                    <a:pt x="0" y="0"/>
                  </a:moveTo>
                  <a:lnTo>
                    <a:pt x="6858000" y="0"/>
                  </a:lnTo>
                  <a:lnTo>
                    <a:pt x="6858000" y="694944"/>
                  </a:lnTo>
                  <a:lnTo>
                    <a:pt x="0" y="694944"/>
                  </a:lnTo>
                  <a:close/>
                </a:path>
              </a:pathLst>
            </a:custGeom>
            <a:blipFill>
              <a:blip r:embed="rId2">
                <a:alphaModFix amt="0"/>
              </a:blip>
              <a:stretch>
                <a:fillRect l="0" t="-142286" r="0" b="-142286"/>
              </a:stretch>
            </a:blipFill>
          </p:spPr>
        </p:sp>
        <p:sp>
          <p:nvSpPr>
            <p:cNvPr name="TextBox 36" id="36"/>
            <p:cNvSpPr txBox="true"/>
            <p:nvPr/>
          </p:nvSpPr>
          <p:spPr>
            <a:xfrm>
              <a:off x="0" y="-38100"/>
              <a:ext cx="6858000" cy="733044"/>
            </a:xfrm>
            <a:prstGeom prst="rect">
              <a:avLst/>
            </a:prstGeom>
          </p:spPr>
          <p:txBody>
            <a:bodyPr anchor="ctr" rtlCol="false" tIns="0" lIns="0" bIns="0" rIns="0"/>
            <a:lstStyle/>
            <a:p>
              <a:pPr algn="ctr">
                <a:lnSpc>
                  <a:spcPts val="2430"/>
                </a:lnSpc>
              </a:pPr>
              <a:r>
                <a:rPr lang="en-US" sz="2025">
                  <a:solidFill>
                    <a:srgbClr val="6B7280"/>
                  </a:solidFill>
                  <a:latin typeface="Calibri (MS)"/>
                  <a:ea typeface="Calibri (MS)"/>
                  <a:cs typeface="Calibri (MS)"/>
                  <a:sym typeface="Calibri (MS)"/>
                </a:rPr>
                <a:t>Protect</a:t>
              </a:r>
            </a:p>
          </p:txBody>
        </p:sp>
      </p:grpSp>
      <p:grpSp>
        <p:nvGrpSpPr>
          <p:cNvPr name="Group 37" id="37"/>
          <p:cNvGrpSpPr/>
          <p:nvPr/>
        </p:nvGrpSpPr>
        <p:grpSpPr>
          <a:xfrm rot="0">
            <a:off x="12124944" y="5513832"/>
            <a:ext cx="5143500" cy="329184"/>
            <a:chOff x="0" y="0"/>
            <a:chExt cx="6858000" cy="438912"/>
          </a:xfrm>
        </p:grpSpPr>
        <p:sp>
          <p:nvSpPr>
            <p:cNvPr name="Freeform 38" id="38"/>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39" id="39"/>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9AA3B8"/>
                  </a:solidFill>
                  <a:latin typeface="Arimo"/>
                  <a:ea typeface="Arimo"/>
                  <a:cs typeface="Arimo"/>
                  <a:sym typeface="Arimo"/>
                </a:rPr>
                <a:t>PR</a:t>
              </a:r>
            </a:p>
          </p:txBody>
        </p:sp>
      </p:grpSp>
      <p:grpSp>
        <p:nvGrpSpPr>
          <p:cNvPr name="Group 40" id="40"/>
          <p:cNvGrpSpPr/>
          <p:nvPr/>
        </p:nvGrpSpPr>
        <p:grpSpPr>
          <a:xfrm rot="0">
            <a:off x="950595" y="6135243"/>
            <a:ext cx="5162550" cy="842010"/>
            <a:chOff x="0" y="0"/>
            <a:chExt cx="6883400" cy="1122680"/>
          </a:xfrm>
        </p:grpSpPr>
        <p:sp>
          <p:nvSpPr>
            <p:cNvPr name="Freeform 41" id="41"/>
            <p:cNvSpPr/>
            <p:nvPr/>
          </p:nvSpPr>
          <p:spPr>
            <a:xfrm flipH="false" flipV="false" rot="0">
              <a:off x="0" y="0"/>
              <a:ext cx="6883400" cy="1122680"/>
            </a:xfrm>
            <a:custGeom>
              <a:avLst/>
              <a:gdLst/>
              <a:ahLst/>
              <a:cxnLst/>
              <a:rect r="r" b="b" t="t" l="l"/>
              <a:pathLst>
                <a:path h="1122680" w="6883400">
                  <a:moveTo>
                    <a:pt x="0" y="168402"/>
                  </a:moveTo>
                  <a:cubicBezTo>
                    <a:pt x="0" y="75438"/>
                    <a:pt x="75438" y="0"/>
                    <a:pt x="168402" y="0"/>
                  </a:cubicBezTo>
                  <a:lnTo>
                    <a:pt x="6714998" y="0"/>
                  </a:lnTo>
                  <a:cubicBezTo>
                    <a:pt x="6807962" y="0"/>
                    <a:pt x="6883400" y="75438"/>
                    <a:pt x="6883400" y="168402"/>
                  </a:cubicBezTo>
                  <a:lnTo>
                    <a:pt x="6883400" y="954278"/>
                  </a:lnTo>
                  <a:cubicBezTo>
                    <a:pt x="6883400" y="1047242"/>
                    <a:pt x="6807962" y="1122680"/>
                    <a:pt x="6714998" y="1122680"/>
                  </a:cubicBezTo>
                  <a:lnTo>
                    <a:pt x="168402" y="1122680"/>
                  </a:lnTo>
                  <a:cubicBezTo>
                    <a:pt x="75438" y="1122680"/>
                    <a:pt x="0" y="1047242"/>
                    <a:pt x="0" y="954278"/>
                  </a:cubicBezTo>
                  <a:close/>
                </a:path>
              </a:pathLst>
            </a:custGeom>
            <a:solidFill>
              <a:srgbClr val="F4F7FC"/>
            </a:solidFill>
            <a:ln w="19050" cap="sq">
              <a:solidFill>
                <a:srgbClr val="D7DCEC"/>
              </a:solidFill>
              <a:prstDash val="solid"/>
              <a:miter/>
            </a:ln>
          </p:spPr>
        </p:sp>
      </p:grpSp>
      <p:grpSp>
        <p:nvGrpSpPr>
          <p:cNvPr name="Group 42" id="42"/>
          <p:cNvGrpSpPr/>
          <p:nvPr/>
        </p:nvGrpSpPr>
        <p:grpSpPr>
          <a:xfrm rot="0">
            <a:off x="960120" y="6213348"/>
            <a:ext cx="5143500" cy="521208"/>
            <a:chOff x="0" y="0"/>
            <a:chExt cx="6858000" cy="694944"/>
          </a:xfrm>
        </p:grpSpPr>
        <p:sp>
          <p:nvSpPr>
            <p:cNvPr name="Freeform 43" id="43"/>
            <p:cNvSpPr/>
            <p:nvPr/>
          </p:nvSpPr>
          <p:spPr>
            <a:xfrm flipH="false" flipV="false" rot="0">
              <a:off x="0" y="0"/>
              <a:ext cx="6858000" cy="694944"/>
            </a:xfrm>
            <a:custGeom>
              <a:avLst/>
              <a:gdLst/>
              <a:ahLst/>
              <a:cxnLst/>
              <a:rect r="r" b="b" t="t" l="l"/>
              <a:pathLst>
                <a:path h="694944" w="6858000">
                  <a:moveTo>
                    <a:pt x="0" y="0"/>
                  </a:moveTo>
                  <a:lnTo>
                    <a:pt x="6858000" y="0"/>
                  </a:lnTo>
                  <a:lnTo>
                    <a:pt x="6858000" y="694944"/>
                  </a:lnTo>
                  <a:lnTo>
                    <a:pt x="0" y="694944"/>
                  </a:lnTo>
                  <a:close/>
                </a:path>
              </a:pathLst>
            </a:custGeom>
            <a:blipFill>
              <a:blip r:embed="rId2">
                <a:alphaModFix amt="0"/>
              </a:blip>
              <a:stretch>
                <a:fillRect l="0" t="-142286" r="0" b="-142286"/>
              </a:stretch>
            </a:blipFill>
          </p:spPr>
        </p:sp>
        <p:sp>
          <p:nvSpPr>
            <p:cNvPr name="TextBox 44" id="44"/>
            <p:cNvSpPr txBox="true"/>
            <p:nvPr/>
          </p:nvSpPr>
          <p:spPr>
            <a:xfrm>
              <a:off x="0" y="-38100"/>
              <a:ext cx="6858000" cy="733044"/>
            </a:xfrm>
            <a:prstGeom prst="rect">
              <a:avLst/>
            </a:prstGeom>
          </p:spPr>
          <p:txBody>
            <a:bodyPr anchor="ctr" rtlCol="false" tIns="0" lIns="0" bIns="0" rIns="0"/>
            <a:lstStyle/>
            <a:p>
              <a:pPr algn="ctr">
                <a:lnSpc>
                  <a:spcPts val="2430"/>
                </a:lnSpc>
              </a:pPr>
              <a:r>
                <a:rPr lang="en-US" sz="2025">
                  <a:solidFill>
                    <a:srgbClr val="6B7280"/>
                  </a:solidFill>
                  <a:latin typeface="Calibri (MS)"/>
                  <a:ea typeface="Calibri (MS)"/>
                  <a:cs typeface="Calibri (MS)"/>
                  <a:sym typeface="Calibri (MS)"/>
                </a:rPr>
                <a:t>Detect</a:t>
              </a:r>
            </a:p>
          </p:txBody>
        </p:sp>
      </p:grpSp>
      <p:grpSp>
        <p:nvGrpSpPr>
          <p:cNvPr name="Group 45" id="45"/>
          <p:cNvGrpSpPr/>
          <p:nvPr/>
        </p:nvGrpSpPr>
        <p:grpSpPr>
          <a:xfrm rot="0">
            <a:off x="960120" y="6583680"/>
            <a:ext cx="5143500" cy="329184"/>
            <a:chOff x="0" y="0"/>
            <a:chExt cx="6858000" cy="438912"/>
          </a:xfrm>
        </p:grpSpPr>
        <p:sp>
          <p:nvSpPr>
            <p:cNvPr name="Freeform 46" id="46"/>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47" id="47"/>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9AA3B8"/>
                  </a:solidFill>
                  <a:latin typeface="Arimo"/>
                  <a:ea typeface="Arimo"/>
                  <a:cs typeface="Arimo"/>
                  <a:sym typeface="Arimo"/>
                </a:rPr>
                <a:t>DE</a:t>
              </a:r>
            </a:p>
          </p:txBody>
        </p:sp>
      </p:grpSp>
      <p:grpSp>
        <p:nvGrpSpPr>
          <p:cNvPr name="Group 48" id="48"/>
          <p:cNvGrpSpPr/>
          <p:nvPr/>
        </p:nvGrpSpPr>
        <p:grpSpPr>
          <a:xfrm rot="0">
            <a:off x="6533007" y="6135243"/>
            <a:ext cx="5162550" cy="842010"/>
            <a:chOff x="0" y="0"/>
            <a:chExt cx="6883400" cy="1122680"/>
          </a:xfrm>
        </p:grpSpPr>
        <p:sp>
          <p:nvSpPr>
            <p:cNvPr name="Freeform 49" id="49"/>
            <p:cNvSpPr/>
            <p:nvPr/>
          </p:nvSpPr>
          <p:spPr>
            <a:xfrm flipH="false" flipV="false" rot="0">
              <a:off x="0" y="0"/>
              <a:ext cx="6883400" cy="1122680"/>
            </a:xfrm>
            <a:custGeom>
              <a:avLst/>
              <a:gdLst/>
              <a:ahLst/>
              <a:cxnLst/>
              <a:rect r="r" b="b" t="t" l="l"/>
              <a:pathLst>
                <a:path h="1122680" w="6883400">
                  <a:moveTo>
                    <a:pt x="0" y="168402"/>
                  </a:moveTo>
                  <a:cubicBezTo>
                    <a:pt x="0" y="75438"/>
                    <a:pt x="75438" y="0"/>
                    <a:pt x="168402" y="0"/>
                  </a:cubicBezTo>
                  <a:lnTo>
                    <a:pt x="6714998" y="0"/>
                  </a:lnTo>
                  <a:cubicBezTo>
                    <a:pt x="6807962" y="0"/>
                    <a:pt x="6883400" y="75438"/>
                    <a:pt x="6883400" y="168402"/>
                  </a:cubicBezTo>
                  <a:lnTo>
                    <a:pt x="6883400" y="954278"/>
                  </a:lnTo>
                  <a:cubicBezTo>
                    <a:pt x="6883400" y="1047242"/>
                    <a:pt x="6807962" y="1122680"/>
                    <a:pt x="6714998" y="1122680"/>
                  </a:cubicBezTo>
                  <a:lnTo>
                    <a:pt x="168402" y="1122680"/>
                  </a:lnTo>
                  <a:cubicBezTo>
                    <a:pt x="75438" y="1122680"/>
                    <a:pt x="0" y="1047242"/>
                    <a:pt x="0" y="954278"/>
                  </a:cubicBezTo>
                  <a:close/>
                </a:path>
              </a:pathLst>
            </a:custGeom>
            <a:solidFill>
              <a:srgbClr val="F4F7FC"/>
            </a:solidFill>
            <a:ln w="19050" cap="sq">
              <a:solidFill>
                <a:srgbClr val="D7DCEC"/>
              </a:solidFill>
              <a:prstDash val="solid"/>
              <a:miter/>
            </a:ln>
          </p:spPr>
        </p:sp>
      </p:grpSp>
      <p:grpSp>
        <p:nvGrpSpPr>
          <p:cNvPr name="Group 50" id="50"/>
          <p:cNvGrpSpPr/>
          <p:nvPr/>
        </p:nvGrpSpPr>
        <p:grpSpPr>
          <a:xfrm rot="0">
            <a:off x="6542532" y="6213348"/>
            <a:ext cx="5143500" cy="521208"/>
            <a:chOff x="0" y="0"/>
            <a:chExt cx="6858000" cy="694944"/>
          </a:xfrm>
        </p:grpSpPr>
        <p:sp>
          <p:nvSpPr>
            <p:cNvPr name="Freeform 51" id="51"/>
            <p:cNvSpPr/>
            <p:nvPr/>
          </p:nvSpPr>
          <p:spPr>
            <a:xfrm flipH="false" flipV="false" rot="0">
              <a:off x="0" y="0"/>
              <a:ext cx="6858000" cy="694944"/>
            </a:xfrm>
            <a:custGeom>
              <a:avLst/>
              <a:gdLst/>
              <a:ahLst/>
              <a:cxnLst/>
              <a:rect r="r" b="b" t="t" l="l"/>
              <a:pathLst>
                <a:path h="694944" w="6858000">
                  <a:moveTo>
                    <a:pt x="0" y="0"/>
                  </a:moveTo>
                  <a:lnTo>
                    <a:pt x="6858000" y="0"/>
                  </a:lnTo>
                  <a:lnTo>
                    <a:pt x="6858000" y="694944"/>
                  </a:lnTo>
                  <a:lnTo>
                    <a:pt x="0" y="694944"/>
                  </a:lnTo>
                  <a:close/>
                </a:path>
              </a:pathLst>
            </a:custGeom>
            <a:blipFill>
              <a:blip r:embed="rId2">
                <a:alphaModFix amt="0"/>
              </a:blip>
              <a:stretch>
                <a:fillRect l="0" t="-142286" r="0" b="-142286"/>
              </a:stretch>
            </a:blipFill>
          </p:spPr>
        </p:sp>
        <p:sp>
          <p:nvSpPr>
            <p:cNvPr name="TextBox 52" id="52"/>
            <p:cNvSpPr txBox="true"/>
            <p:nvPr/>
          </p:nvSpPr>
          <p:spPr>
            <a:xfrm>
              <a:off x="0" y="-38100"/>
              <a:ext cx="6858000" cy="733044"/>
            </a:xfrm>
            <a:prstGeom prst="rect">
              <a:avLst/>
            </a:prstGeom>
          </p:spPr>
          <p:txBody>
            <a:bodyPr anchor="ctr" rtlCol="false" tIns="0" lIns="0" bIns="0" rIns="0"/>
            <a:lstStyle/>
            <a:p>
              <a:pPr algn="ctr">
                <a:lnSpc>
                  <a:spcPts val="2430"/>
                </a:lnSpc>
              </a:pPr>
              <a:r>
                <a:rPr lang="en-US" sz="2025">
                  <a:solidFill>
                    <a:srgbClr val="6B7280"/>
                  </a:solidFill>
                  <a:latin typeface="Calibri (MS)"/>
                  <a:ea typeface="Calibri (MS)"/>
                  <a:cs typeface="Calibri (MS)"/>
                  <a:sym typeface="Calibri (MS)"/>
                </a:rPr>
                <a:t>Respond</a:t>
              </a:r>
            </a:p>
          </p:txBody>
        </p:sp>
      </p:grpSp>
      <p:grpSp>
        <p:nvGrpSpPr>
          <p:cNvPr name="Group 53" id="53"/>
          <p:cNvGrpSpPr/>
          <p:nvPr/>
        </p:nvGrpSpPr>
        <p:grpSpPr>
          <a:xfrm rot="0">
            <a:off x="6542532" y="6583680"/>
            <a:ext cx="5143500" cy="329184"/>
            <a:chOff x="0" y="0"/>
            <a:chExt cx="6858000" cy="438912"/>
          </a:xfrm>
        </p:grpSpPr>
        <p:sp>
          <p:nvSpPr>
            <p:cNvPr name="Freeform 54" id="54"/>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55" id="55"/>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9AA3B8"/>
                  </a:solidFill>
                  <a:latin typeface="Arimo"/>
                  <a:ea typeface="Arimo"/>
                  <a:cs typeface="Arimo"/>
                  <a:sym typeface="Arimo"/>
                </a:rPr>
                <a:t>RS</a:t>
              </a:r>
            </a:p>
          </p:txBody>
        </p:sp>
      </p:grpSp>
      <p:grpSp>
        <p:nvGrpSpPr>
          <p:cNvPr name="Group 56" id="56"/>
          <p:cNvGrpSpPr/>
          <p:nvPr/>
        </p:nvGrpSpPr>
        <p:grpSpPr>
          <a:xfrm rot="0">
            <a:off x="12115419" y="6135243"/>
            <a:ext cx="5162550" cy="842010"/>
            <a:chOff x="0" y="0"/>
            <a:chExt cx="6883400" cy="1122680"/>
          </a:xfrm>
        </p:grpSpPr>
        <p:sp>
          <p:nvSpPr>
            <p:cNvPr name="Freeform 57" id="57"/>
            <p:cNvSpPr/>
            <p:nvPr/>
          </p:nvSpPr>
          <p:spPr>
            <a:xfrm flipH="false" flipV="false" rot="0">
              <a:off x="0" y="0"/>
              <a:ext cx="6883400" cy="1122680"/>
            </a:xfrm>
            <a:custGeom>
              <a:avLst/>
              <a:gdLst/>
              <a:ahLst/>
              <a:cxnLst/>
              <a:rect r="r" b="b" t="t" l="l"/>
              <a:pathLst>
                <a:path h="1122680" w="6883400">
                  <a:moveTo>
                    <a:pt x="0" y="168402"/>
                  </a:moveTo>
                  <a:cubicBezTo>
                    <a:pt x="0" y="75438"/>
                    <a:pt x="75438" y="0"/>
                    <a:pt x="168402" y="0"/>
                  </a:cubicBezTo>
                  <a:lnTo>
                    <a:pt x="6714998" y="0"/>
                  </a:lnTo>
                  <a:cubicBezTo>
                    <a:pt x="6807962" y="0"/>
                    <a:pt x="6883400" y="75438"/>
                    <a:pt x="6883400" y="168402"/>
                  </a:cubicBezTo>
                  <a:lnTo>
                    <a:pt x="6883400" y="954278"/>
                  </a:lnTo>
                  <a:cubicBezTo>
                    <a:pt x="6883400" y="1047242"/>
                    <a:pt x="6807962" y="1122680"/>
                    <a:pt x="6714998" y="1122680"/>
                  </a:cubicBezTo>
                  <a:lnTo>
                    <a:pt x="168402" y="1122680"/>
                  </a:lnTo>
                  <a:cubicBezTo>
                    <a:pt x="75438" y="1122680"/>
                    <a:pt x="0" y="1047242"/>
                    <a:pt x="0" y="954278"/>
                  </a:cubicBezTo>
                  <a:close/>
                </a:path>
              </a:pathLst>
            </a:custGeom>
            <a:solidFill>
              <a:srgbClr val="F4F7FC"/>
            </a:solidFill>
            <a:ln w="19050" cap="sq">
              <a:solidFill>
                <a:srgbClr val="D7DCEC"/>
              </a:solidFill>
              <a:prstDash val="solid"/>
              <a:miter/>
            </a:ln>
          </p:spPr>
        </p:sp>
      </p:grpSp>
      <p:grpSp>
        <p:nvGrpSpPr>
          <p:cNvPr name="Group 58" id="58"/>
          <p:cNvGrpSpPr/>
          <p:nvPr/>
        </p:nvGrpSpPr>
        <p:grpSpPr>
          <a:xfrm rot="0">
            <a:off x="12124944" y="6213348"/>
            <a:ext cx="5143500" cy="521208"/>
            <a:chOff x="0" y="0"/>
            <a:chExt cx="6858000" cy="694944"/>
          </a:xfrm>
        </p:grpSpPr>
        <p:sp>
          <p:nvSpPr>
            <p:cNvPr name="Freeform 59" id="59"/>
            <p:cNvSpPr/>
            <p:nvPr/>
          </p:nvSpPr>
          <p:spPr>
            <a:xfrm flipH="false" flipV="false" rot="0">
              <a:off x="0" y="0"/>
              <a:ext cx="6858000" cy="694944"/>
            </a:xfrm>
            <a:custGeom>
              <a:avLst/>
              <a:gdLst/>
              <a:ahLst/>
              <a:cxnLst/>
              <a:rect r="r" b="b" t="t" l="l"/>
              <a:pathLst>
                <a:path h="694944" w="6858000">
                  <a:moveTo>
                    <a:pt x="0" y="0"/>
                  </a:moveTo>
                  <a:lnTo>
                    <a:pt x="6858000" y="0"/>
                  </a:lnTo>
                  <a:lnTo>
                    <a:pt x="6858000" y="694944"/>
                  </a:lnTo>
                  <a:lnTo>
                    <a:pt x="0" y="694944"/>
                  </a:lnTo>
                  <a:close/>
                </a:path>
              </a:pathLst>
            </a:custGeom>
            <a:blipFill>
              <a:blip r:embed="rId2">
                <a:alphaModFix amt="0"/>
              </a:blip>
              <a:stretch>
                <a:fillRect l="0" t="-142286" r="0" b="-142286"/>
              </a:stretch>
            </a:blipFill>
          </p:spPr>
        </p:sp>
        <p:sp>
          <p:nvSpPr>
            <p:cNvPr name="TextBox 60" id="60"/>
            <p:cNvSpPr txBox="true"/>
            <p:nvPr/>
          </p:nvSpPr>
          <p:spPr>
            <a:xfrm>
              <a:off x="0" y="-38100"/>
              <a:ext cx="6858000" cy="733044"/>
            </a:xfrm>
            <a:prstGeom prst="rect">
              <a:avLst/>
            </a:prstGeom>
          </p:spPr>
          <p:txBody>
            <a:bodyPr anchor="ctr" rtlCol="false" tIns="0" lIns="0" bIns="0" rIns="0"/>
            <a:lstStyle/>
            <a:p>
              <a:pPr algn="ctr">
                <a:lnSpc>
                  <a:spcPts val="2430"/>
                </a:lnSpc>
              </a:pPr>
              <a:r>
                <a:rPr lang="en-US" sz="2025">
                  <a:solidFill>
                    <a:srgbClr val="6B7280"/>
                  </a:solidFill>
                  <a:latin typeface="Calibri (MS)"/>
                  <a:ea typeface="Calibri (MS)"/>
                  <a:cs typeface="Calibri (MS)"/>
                  <a:sym typeface="Calibri (MS)"/>
                </a:rPr>
                <a:t>Recover</a:t>
              </a:r>
            </a:p>
          </p:txBody>
        </p:sp>
      </p:grpSp>
      <p:grpSp>
        <p:nvGrpSpPr>
          <p:cNvPr name="Group 61" id="61"/>
          <p:cNvGrpSpPr/>
          <p:nvPr/>
        </p:nvGrpSpPr>
        <p:grpSpPr>
          <a:xfrm rot="0">
            <a:off x="12124944" y="6583680"/>
            <a:ext cx="5143500" cy="329184"/>
            <a:chOff x="0" y="0"/>
            <a:chExt cx="6858000" cy="438912"/>
          </a:xfrm>
        </p:grpSpPr>
        <p:sp>
          <p:nvSpPr>
            <p:cNvPr name="Freeform 62" id="62"/>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63" id="63"/>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9AA3B8"/>
                  </a:solidFill>
                  <a:latin typeface="Arimo"/>
                  <a:ea typeface="Arimo"/>
                  <a:cs typeface="Arimo"/>
                  <a:sym typeface="Arimo"/>
                </a:rPr>
                <a:t>RC</a:t>
              </a:r>
            </a:p>
          </p:txBody>
        </p:sp>
      </p:grpSp>
      <p:grpSp>
        <p:nvGrpSpPr>
          <p:cNvPr name="Group 64" id="64"/>
          <p:cNvGrpSpPr/>
          <p:nvPr/>
        </p:nvGrpSpPr>
        <p:grpSpPr>
          <a:xfrm rot="0">
            <a:off x="950595" y="7328535"/>
            <a:ext cx="16341090" cy="1596390"/>
            <a:chOff x="0" y="0"/>
            <a:chExt cx="21788120" cy="2128520"/>
          </a:xfrm>
        </p:grpSpPr>
        <p:sp>
          <p:nvSpPr>
            <p:cNvPr name="Freeform 65" id="65"/>
            <p:cNvSpPr/>
            <p:nvPr/>
          </p:nvSpPr>
          <p:spPr>
            <a:xfrm flipH="false" flipV="false" rot="0">
              <a:off x="0" y="0"/>
              <a:ext cx="21788120" cy="2128520"/>
            </a:xfrm>
            <a:custGeom>
              <a:avLst/>
              <a:gdLst/>
              <a:ahLst/>
              <a:cxnLst/>
              <a:rect r="r" b="b" t="t" l="l"/>
              <a:pathLst>
                <a:path h="2128520" w="21788120">
                  <a:moveTo>
                    <a:pt x="0" y="185039"/>
                  </a:moveTo>
                  <a:cubicBezTo>
                    <a:pt x="0" y="82931"/>
                    <a:pt x="82931" y="0"/>
                    <a:pt x="185039" y="0"/>
                  </a:cubicBezTo>
                  <a:lnTo>
                    <a:pt x="21603081" y="0"/>
                  </a:lnTo>
                  <a:cubicBezTo>
                    <a:pt x="21705317" y="0"/>
                    <a:pt x="21788120" y="82931"/>
                    <a:pt x="21788120" y="185039"/>
                  </a:cubicBezTo>
                  <a:lnTo>
                    <a:pt x="21788120" y="1943481"/>
                  </a:lnTo>
                  <a:cubicBezTo>
                    <a:pt x="21788120" y="2045716"/>
                    <a:pt x="21705190" y="2128520"/>
                    <a:pt x="21603081" y="2128520"/>
                  </a:cubicBezTo>
                  <a:lnTo>
                    <a:pt x="185039" y="2128520"/>
                  </a:lnTo>
                  <a:cubicBezTo>
                    <a:pt x="82931" y="2128520"/>
                    <a:pt x="0" y="2045589"/>
                    <a:pt x="0" y="1943481"/>
                  </a:cubicBezTo>
                  <a:close/>
                </a:path>
              </a:pathLst>
            </a:custGeom>
            <a:solidFill>
              <a:srgbClr val="FBF9F4"/>
            </a:solidFill>
            <a:ln w="19050" cap="sq">
              <a:solidFill>
                <a:srgbClr val="EFE6D2"/>
              </a:solidFill>
              <a:prstDash val="solid"/>
              <a:miter/>
            </a:ln>
          </p:spPr>
        </p:sp>
      </p:grpSp>
      <p:sp>
        <p:nvSpPr>
          <p:cNvPr name="TextBox 66" id="66"/>
          <p:cNvSpPr txBox="true"/>
          <p:nvPr/>
        </p:nvSpPr>
        <p:spPr>
          <a:xfrm rot="0">
            <a:off x="1463040" y="7494270"/>
            <a:ext cx="15316200" cy="1238250"/>
          </a:xfrm>
          <a:prstGeom prst="rect">
            <a:avLst/>
          </a:prstGeom>
        </p:spPr>
        <p:txBody>
          <a:bodyPr anchor="t" rtlCol="false" tIns="0" lIns="0" bIns="0" rIns="0">
            <a:spAutoFit/>
          </a:bodyPr>
          <a:lstStyle/>
          <a:p>
            <a:pPr algn="l">
              <a:lnSpc>
                <a:spcPts val="2880"/>
              </a:lnSpc>
            </a:pPr>
            <a:r>
              <a:rPr lang="en-US" sz="1875">
                <a:solidFill>
                  <a:srgbClr val="23262F"/>
                </a:solidFill>
                <a:latin typeface="Calibri (MS)"/>
                <a:ea typeface="Calibri (MS)"/>
                <a:cs typeface="Calibri (MS)"/>
                <a:sym typeface="Calibri (MS)"/>
              </a:rPr>
              <a:t>This is about understanding which assets matter most and why — assessing and prioritizing risk across what you have. That's Identify.</a:t>
            </a:r>
          </a:p>
        </p:txBody>
      </p:sp>
      <p:grpSp>
        <p:nvGrpSpPr>
          <p:cNvPr name="Group 67" id="67"/>
          <p:cNvGrpSpPr/>
          <p:nvPr/>
        </p:nvGrpSpPr>
        <p:grpSpPr>
          <a:xfrm rot="0">
            <a:off x="685800" y="9710928"/>
            <a:ext cx="10972800" cy="411480"/>
            <a:chOff x="0" y="0"/>
            <a:chExt cx="14630400" cy="548640"/>
          </a:xfrm>
        </p:grpSpPr>
        <p:sp>
          <p:nvSpPr>
            <p:cNvPr name="Freeform 68" id="68"/>
            <p:cNvSpPr/>
            <p:nvPr/>
          </p:nvSpPr>
          <p:spPr>
            <a:xfrm flipH="false" flipV="false" rot="0">
              <a:off x="0" y="0"/>
              <a:ext cx="14630400" cy="548640"/>
            </a:xfrm>
            <a:custGeom>
              <a:avLst/>
              <a:gdLst/>
              <a:ahLst/>
              <a:cxnLst/>
              <a:rect r="r" b="b" t="t" l="l"/>
              <a:pathLst>
                <a:path h="548640" w="14630400">
                  <a:moveTo>
                    <a:pt x="0" y="0"/>
                  </a:moveTo>
                  <a:lnTo>
                    <a:pt x="14630400" y="0"/>
                  </a:lnTo>
                  <a:lnTo>
                    <a:pt x="14630400" y="548640"/>
                  </a:lnTo>
                  <a:lnTo>
                    <a:pt x="0" y="548640"/>
                  </a:lnTo>
                  <a:close/>
                </a:path>
              </a:pathLst>
            </a:custGeom>
            <a:blipFill>
              <a:blip r:embed="rId2">
                <a:alphaModFix amt="0"/>
              </a:blip>
              <a:stretch>
                <a:fillRect l="0" t="-469601" r="0" b="-469601"/>
              </a:stretch>
            </a:blipFill>
          </p:spPr>
        </p:sp>
        <p:sp>
          <p:nvSpPr>
            <p:cNvPr name="TextBox 69" id="69"/>
            <p:cNvSpPr txBox="true"/>
            <p:nvPr/>
          </p:nvSpPr>
          <p:spPr>
            <a:xfrm>
              <a:off x="0" y="-38100"/>
              <a:ext cx="14630400" cy="586740"/>
            </a:xfrm>
            <a:prstGeom prst="rect">
              <a:avLst/>
            </a:prstGeom>
          </p:spPr>
          <p:txBody>
            <a:bodyPr anchor="ctr" rtlCol="false" tIns="0" lIns="0" bIns="0" rIns="0"/>
            <a:lstStyle/>
            <a:p>
              <a:pPr algn="l">
                <a:lnSpc>
                  <a:spcPts val="1800"/>
                </a:lnSpc>
              </a:pPr>
              <a:r>
                <a:rPr lang="en-US" sz="1500">
                  <a:solidFill>
                    <a:srgbClr val="6B7280"/>
                  </a:solidFill>
                  <a:latin typeface="Calibri (MS)"/>
                  <a:ea typeface="Calibri (MS)"/>
                  <a:cs typeface="Calibri (MS)"/>
                  <a:sym typeface="Calibri (MS)"/>
                </a:rPr>
                <a:t>Davao del Norte Provincial Government — Cybersecurity Seminar</a:t>
              </a:r>
            </a:p>
          </p:txBody>
        </p:sp>
      </p:grpSp>
      <p:grpSp>
        <p:nvGrpSpPr>
          <p:cNvPr name="Group 70" id="70"/>
          <p:cNvGrpSpPr/>
          <p:nvPr/>
        </p:nvGrpSpPr>
        <p:grpSpPr>
          <a:xfrm rot="0">
            <a:off x="16911828" y="9710928"/>
            <a:ext cx="685800" cy="411480"/>
            <a:chOff x="0" y="0"/>
            <a:chExt cx="914400" cy="548640"/>
          </a:xfrm>
        </p:grpSpPr>
        <p:sp>
          <p:nvSpPr>
            <p:cNvPr name="Freeform 71" id="71"/>
            <p:cNvSpPr/>
            <p:nvPr/>
          </p:nvSpPr>
          <p:spPr>
            <a:xfrm flipH="false" flipV="false" rot="0">
              <a:off x="0" y="0"/>
              <a:ext cx="914400" cy="548640"/>
            </a:xfrm>
            <a:custGeom>
              <a:avLst/>
              <a:gdLst/>
              <a:ahLst/>
              <a:cxnLst/>
              <a:rect r="r" b="b" t="t" l="l"/>
              <a:pathLst>
                <a:path h="548640" w="914400">
                  <a:moveTo>
                    <a:pt x="0" y="0"/>
                  </a:moveTo>
                  <a:lnTo>
                    <a:pt x="914400" y="0"/>
                  </a:lnTo>
                  <a:lnTo>
                    <a:pt x="914400" y="548640"/>
                  </a:lnTo>
                  <a:lnTo>
                    <a:pt x="0" y="548640"/>
                  </a:lnTo>
                  <a:close/>
                </a:path>
              </a:pathLst>
            </a:custGeom>
            <a:blipFill>
              <a:blip r:embed="rId2">
                <a:alphaModFix amt="0"/>
              </a:blip>
              <a:stretch>
                <a:fillRect l="-26982" t="0" r="-26982" b="0"/>
              </a:stretch>
            </a:blipFill>
          </p:spPr>
        </p:sp>
        <p:sp>
          <p:nvSpPr>
            <p:cNvPr name="TextBox 72" id="72"/>
            <p:cNvSpPr txBox="true"/>
            <p:nvPr/>
          </p:nvSpPr>
          <p:spPr>
            <a:xfrm>
              <a:off x="0" y="-38100"/>
              <a:ext cx="914400" cy="586740"/>
            </a:xfrm>
            <a:prstGeom prst="rect">
              <a:avLst/>
            </a:prstGeom>
          </p:spPr>
          <p:txBody>
            <a:bodyPr anchor="ctr" rtlCol="false" tIns="0" lIns="0" bIns="0" rIns="0"/>
            <a:lstStyle/>
            <a:p>
              <a:pPr algn="r">
                <a:lnSpc>
                  <a:spcPts val="1800"/>
                </a:lnSpc>
              </a:pPr>
              <a:r>
                <a:rPr lang="en-US" sz="1500">
                  <a:solidFill>
                    <a:srgbClr val="6B7280"/>
                  </a:solidFill>
                  <a:latin typeface="Calibri (MS)"/>
                  <a:ea typeface="Calibri (MS)"/>
                  <a:cs typeface="Calibri (MS)"/>
                  <a:sym typeface="Calibri (MS)"/>
                </a:rPr>
                <a:t>38</a:t>
              </a:r>
            </a:p>
          </p:txBody>
        </p:sp>
      </p:grpSp>
    </p:spTree>
  </p:cSld>
  <p:clrMapOvr>
    <a:masterClrMapping/>
  </p:clrMapOvr>
</p:sld>
</file>

<file path=ppt/slides/slide10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60120" y="685800"/>
            <a:ext cx="13716000" cy="411480"/>
            <a:chOff x="0" y="0"/>
            <a:chExt cx="18288000" cy="548640"/>
          </a:xfrm>
        </p:grpSpPr>
        <p:sp>
          <p:nvSpPr>
            <p:cNvPr name="Freeform 3" id="3"/>
            <p:cNvSpPr/>
            <p:nvPr/>
          </p:nvSpPr>
          <p:spPr>
            <a:xfrm flipH="false" flipV="false" rot="0">
              <a:off x="0" y="0"/>
              <a:ext cx="18288000" cy="548640"/>
            </a:xfrm>
            <a:custGeom>
              <a:avLst/>
              <a:gdLst/>
              <a:ahLst/>
              <a:cxnLst/>
              <a:rect r="r" b="b" t="t" l="l"/>
              <a:pathLst>
                <a:path h="548640" w="18288000">
                  <a:moveTo>
                    <a:pt x="0" y="0"/>
                  </a:moveTo>
                  <a:lnTo>
                    <a:pt x="18288000" y="0"/>
                  </a:lnTo>
                  <a:lnTo>
                    <a:pt x="18288000" y="548640"/>
                  </a:lnTo>
                  <a:lnTo>
                    <a:pt x="0" y="548640"/>
                  </a:lnTo>
                  <a:close/>
                </a:path>
              </a:pathLst>
            </a:custGeom>
            <a:blipFill>
              <a:blip r:embed="rId2">
                <a:alphaModFix amt="0"/>
              </a:blip>
              <a:stretch>
                <a:fillRect l="0" t="-599501" r="0" b="-599501"/>
              </a:stretch>
            </a:blipFill>
          </p:spPr>
        </p:sp>
        <p:sp>
          <p:nvSpPr>
            <p:cNvPr name="TextBox 4" id="4"/>
            <p:cNvSpPr txBox="true"/>
            <p:nvPr/>
          </p:nvSpPr>
          <p:spPr>
            <a:xfrm>
              <a:off x="0" y="-38100"/>
              <a:ext cx="18288000" cy="586740"/>
            </a:xfrm>
            <a:prstGeom prst="rect">
              <a:avLst/>
            </a:prstGeom>
          </p:spPr>
          <p:txBody>
            <a:bodyPr anchor="ctr" rtlCol="false" tIns="0" lIns="0" bIns="0" rIns="0"/>
            <a:lstStyle/>
            <a:p>
              <a:pPr algn="l">
                <a:lnSpc>
                  <a:spcPts val="2160"/>
                </a:lnSpc>
              </a:pPr>
              <a:r>
                <a:rPr lang="en-US" b="true" sz="1800" spc="225">
                  <a:solidFill>
                    <a:srgbClr val="00B4D8"/>
                  </a:solidFill>
                  <a:latin typeface="Calibri (MS) Bold"/>
                  <a:ea typeface="Calibri (MS) Bold"/>
                  <a:cs typeface="Calibri (MS) Bold"/>
                  <a:sym typeface="Calibri (MS) Bold"/>
                </a:rPr>
                <a:t>NIST CSF SORT · SCENARIO</a:t>
              </a:r>
            </a:p>
          </p:txBody>
        </p:sp>
      </p:grpSp>
      <p:grpSp>
        <p:nvGrpSpPr>
          <p:cNvPr name="Group 5" id="5"/>
          <p:cNvGrpSpPr/>
          <p:nvPr/>
        </p:nvGrpSpPr>
        <p:grpSpPr>
          <a:xfrm rot="0">
            <a:off x="960120" y="1069848"/>
            <a:ext cx="10972800" cy="822960"/>
            <a:chOff x="0" y="0"/>
            <a:chExt cx="14630400" cy="1097280"/>
          </a:xfrm>
        </p:grpSpPr>
        <p:sp>
          <p:nvSpPr>
            <p:cNvPr name="Freeform 6" id="6"/>
            <p:cNvSpPr/>
            <p:nvPr/>
          </p:nvSpPr>
          <p:spPr>
            <a:xfrm flipH="false" flipV="false" rot="0">
              <a:off x="0" y="0"/>
              <a:ext cx="14630400" cy="1097280"/>
            </a:xfrm>
            <a:custGeom>
              <a:avLst/>
              <a:gdLst/>
              <a:ahLst/>
              <a:cxnLst/>
              <a:rect r="r" b="b" t="t" l="l"/>
              <a:pathLst>
                <a:path h="1097280" w="14630400">
                  <a:moveTo>
                    <a:pt x="0" y="0"/>
                  </a:moveTo>
                  <a:lnTo>
                    <a:pt x="14630400" y="0"/>
                  </a:lnTo>
                  <a:lnTo>
                    <a:pt x="14630400" y="1097280"/>
                  </a:lnTo>
                  <a:lnTo>
                    <a:pt x="0" y="1097280"/>
                  </a:lnTo>
                  <a:close/>
                </a:path>
              </a:pathLst>
            </a:custGeom>
            <a:blipFill>
              <a:blip r:embed="rId2">
                <a:alphaModFix amt="0"/>
              </a:blip>
              <a:stretch>
                <a:fillRect l="0" t="-209800" r="0" b="-209800"/>
              </a:stretch>
            </a:blipFill>
          </p:spPr>
        </p:sp>
        <p:sp>
          <p:nvSpPr>
            <p:cNvPr name="TextBox 7" id="7"/>
            <p:cNvSpPr txBox="true"/>
            <p:nvPr/>
          </p:nvSpPr>
          <p:spPr>
            <a:xfrm>
              <a:off x="0" y="0"/>
              <a:ext cx="14630400" cy="1097280"/>
            </a:xfrm>
            <a:prstGeom prst="rect">
              <a:avLst/>
            </a:prstGeom>
          </p:spPr>
          <p:txBody>
            <a:bodyPr anchor="ctr" rtlCol="false" tIns="0" lIns="0" bIns="0" rIns="0"/>
            <a:lstStyle/>
            <a:p>
              <a:pPr algn="l">
                <a:lnSpc>
                  <a:spcPts val="4680"/>
                </a:lnSpc>
              </a:pPr>
              <a:r>
                <a:rPr lang="en-US" sz="3900" b="true">
                  <a:solidFill>
                    <a:srgbClr val="1E2761"/>
                  </a:solidFill>
                  <a:latin typeface="Cambria Bold"/>
                  <a:ea typeface="Cambria Bold"/>
                  <a:cs typeface="Cambria Bold"/>
                  <a:sym typeface="Cambria Bold"/>
                </a:rPr>
                <a:t>Scenario 15</a:t>
              </a:r>
            </a:p>
          </p:txBody>
        </p:sp>
      </p:grpSp>
      <p:grpSp>
        <p:nvGrpSpPr>
          <p:cNvPr name="Group 8" id="8"/>
          <p:cNvGrpSpPr/>
          <p:nvPr/>
        </p:nvGrpSpPr>
        <p:grpSpPr>
          <a:xfrm rot="0">
            <a:off x="960120" y="1810512"/>
            <a:ext cx="8229600" cy="411480"/>
            <a:chOff x="0" y="0"/>
            <a:chExt cx="10972800" cy="548640"/>
          </a:xfrm>
        </p:grpSpPr>
        <p:sp>
          <p:nvSpPr>
            <p:cNvPr name="Freeform 9" id="9"/>
            <p:cNvSpPr/>
            <p:nvPr/>
          </p:nvSpPr>
          <p:spPr>
            <a:xfrm flipH="false" flipV="false" rot="0">
              <a:off x="0" y="0"/>
              <a:ext cx="10972800" cy="548640"/>
            </a:xfrm>
            <a:custGeom>
              <a:avLst/>
              <a:gdLst/>
              <a:ahLst/>
              <a:cxnLst/>
              <a:rect r="r" b="b" t="t" l="l"/>
              <a:pathLst>
                <a:path h="548640" w="10972800">
                  <a:moveTo>
                    <a:pt x="0" y="0"/>
                  </a:moveTo>
                  <a:lnTo>
                    <a:pt x="10972800" y="0"/>
                  </a:lnTo>
                  <a:lnTo>
                    <a:pt x="10972800" y="548640"/>
                  </a:lnTo>
                  <a:lnTo>
                    <a:pt x="0" y="548640"/>
                  </a:lnTo>
                  <a:close/>
                </a:path>
              </a:pathLst>
            </a:custGeom>
            <a:blipFill>
              <a:blip r:embed="rId2">
                <a:alphaModFix amt="0"/>
              </a:blip>
              <a:stretch>
                <a:fillRect l="0" t="-339700" r="0" b="-339700"/>
              </a:stretch>
            </a:blipFill>
          </p:spPr>
        </p:sp>
        <p:sp>
          <p:nvSpPr>
            <p:cNvPr name="TextBox 10" id="10"/>
            <p:cNvSpPr txBox="true"/>
            <p:nvPr/>
          </p:nvSpPr>
          <p:spPr>
            <a:xfrm>
              <a:off x="0" y="-28575"/>
              <a:ext cx="10972800" cy="577215"/>
            </a:xfrm>
            <a:prstGeom prst="rect">
              <a:avLst/>
            </a:prstGeom>
          </p:spPr>
          <p:txBody>
            <a:bodyPr anchor="ctr" rtlCol="false" tIns="0" lIns="0" bIns="0" rIns="0"/>
            <a:lstStyle/>
            <a:p>
              <a:pPr algn="l">
                <a:lnSpc>
                  <a:spcPts val="1980"/>
                </a:lnSpc>
              </a:pPr>
              <a:r>
                <a:rPr lang="en-US" sz="1650">
                  <a:solidFill>
                    <a:srgbClr val="6B7280"/>
                  </a:solidFill>
                  <a:latin typeface="Calibri (MS)"/>
                  <a:ea typeface="Calibri (MS)"/>
                  <a:cs typeface="Calibri (MS)"/>
                  <a:sym typeface="Calibri (MS)"/>
                </a:rPr>
                <a:t>15 of 20</a:t>
              </a:r>
            </a:p>
          </p:txBody>
        </p:sp>
      </p:grpSp>
      <p:grpSp>
        <p:nvGrpSpPr>
          <p:cNvPr name="Group 11" id="11"/>
          <p:cNvGrpSpPr/>
          <p:nvPr/>
        </p:nvGrpSpPr>
        <p:grpSpPr>
          <a:xfrm rot="0">
            <a:off x="960120" y="2537460"/>
            <a:ext cx="16322040" cy="2811780"/>
            <a:chOff x="0" y="0"/>
            <a:chExt cx="21762720" cy="3749040"/>
          </a:xfrm>
        </p:grpSpPr>
        <p:sp>
          <p:nvSpPr>
            <p:cNvPr name="Freeform 12" id="12"/>
            <p:cNvSpPr/>
            <p:nvPr/>
          </p:nvSpPr>
          <p:spPr>
            <a:xfrm flipH="false" flipV="false" rot="0">
              <a:off x="0" y="0"/>
              <a:ext cx="21762720" cy="3749040"/>
            </a:xfrm>
            <a:custGeom>
              <a:avLst/>
              <a:gdLst/>
              <a:ahLst/>
              <a:cxnLst/>
              <a:rect r="r" b="b" t="t" l="l"/>
              <a:pathLst>
                <a:path h="3749040" w="21762720">
                  <a:moveTo>
                    <a:pt x="0" y="182880"/>
                  </a:moveTo>
                  <a:cubicBezTo>
                    <a:pt x="0" y="81915"/>
                    <a:pt x="81915" y="0"/>
                    <a:pt x="182880" y="0"/>
                  </a:cubicBezTo>
                  <a:lnTo>
                    <a:pt x="21579839" y="0"/>
                  </a:lnTo>
                  <a:cubicBezTo>
                    <a:pt x="21680804" y="0"/>
                    <a:pt x="21762720" y="81915"/>
                    <a:pt x="21762720" y="182880"/>
                  </a:cubicBezTo>
                  <a:lnTo>
                    <a:pt x="21762720" y="3566160"/>
                  </a:lnTo>
                  <a:cubicBezTo>
                    <a:pt x="21762720" y="3667125"/>
                    <a:pt x="21680804" y="3749040"/>
                    <a:pt x="21579839" y="3749040"/>
                  </a:cubicBezTo>
                  <a:lnTo>
                    <a:pt x="182880" y="3749040"/>
                  </a:lnTo>
                  <a:cubicBezTo>
                    <a:pt x="81915" y="3749040"/>
                    <a:pt x="0" y="3667125"/>
                    <a:pt x="0" y="3566160"/>
                  </a:cubicBezTo>
                  <a:close/>
                </a:path>
              </a:pathLst>
            </a:custGeom>
            <a:solidFill>
              <a:srgbClr val="F4F7FC"/>
            </a:solidFill>
          </p:spPr>
        </p:sp>
      </p:grpSp>
      <p:grpSp>
        <p:nvGrpSpPr>
          <p:cNvPr name="Group 13" id="13"/>
          <p:cNvGrpSpPr/>
          <p:nvPr/>
        </p:nvGrpSpPr>
        <p:grpSpPr>
          <a:xfrm rot="0">
            <a:off x="1440180" y="2811780"/>
            <a:ext cx="15361920" cy="2263140"/>
            <a:chOff x="0" y="0"/>
            <a:chExt cx="20482560" cy="3017520"/>
          </a:xfrm>
        </p:grpSpPr>
        <p:sp>
          <p:nvSpPr>
            <p:cNvPr name="Freeform 14" id="14"/>
            <p:cNvSpPr/>
            <p:nvPr/>
          </p:nvSpPr>
          <p:spPr>
            <a:xfrm flipH="false" flipV="false" rot="0">
              <a:off x="0" y="0"/>
              <a:ext cx="20482561" cy="3017520"/>
            </a:xfrm>
            <a:custGeom>
              <a:avLst/>
              <a:gdLst/>
              <a:ahLst/>
              <a:cxnLst/>
              <a:rect r="r" b="b" t="t" l="l"/>
              <a:pathLst>
                <a:path h="3017520" w="20482561">
                  <a:moveTo>
                    <a:pt x="0" y="0"/>
                  </a:moveTo>
                  <a:lnTo>
                    <a:pt x="20482561" y="0"/>
                  </a:lnTo>
                  <a:lnTo>
                    <a:pt x="20482561" y="3017520"/>
                  </a:lnTo>
                  <a:lnTo>
                    <a:pt x="0" y="3017520"/>
                  </a:lnTo>
                  <a:close/>
                </a:path>
              </a:pathLst>
            </a:custGeom>
            <a:blipFill>
              <a:blip r:embed="rId2">
                <a:alphaModFix amt="0"/>
              </a:blip>
              <a:stretch>
                <a:fillRect l="0" t="-82262" r="0" b="-82262"/>
              </a:stretch>
            </a:blipFill>
          </p:spPr>
        </p:sp>
        <p:sp>
          <p:nvSpPr>
            <p:cNvPr name="TextBox 15" id="15"/>
            <p:cNvSpPr txBox="true"/>
            <p:nvPr/>
          </p:nvSpPr>
          <p:spPr>
            <a:xfrm>
              <a:off x="0" y="-104775"/>
              <a:ext cx="20482560" cy="3122295"/>
            </a:xfrm>
            <a:prstGeom prst="rect">
              <a:avLst/>
            </a:prstGeom>
          </p:spPr>
          <p:txBody>
            <a:bodyPr anchor="ctr" rtlCol="false" tIns="0" lIns="0" bIns="0" rIns="0"/>
            <a:lstStyle/>
            <a:p>
              <a:pPr algn="l">
                <a:lnSpc>
                  <a:spcPts val="4147"/>
                </a:lnSpc>
              </a:pPr>
              <a:r>
                <a:rPr lang="en-US" sz="2700" i="true">
                  <a:solidFill>
                    <a:srgbClr val="23262F"/>
                  </a:solidFill>
                  <a:latin typeface="Cambria Italics"/>
                  <a:ea typeface="Cambria Italics"/>
                  <a:cs typeface="Cambria Italics"/>
                  <a:sym typeface="Cambria Italics"/>
                </a:rPr>
                <a:t>"IT configures the financial system to require complex passwords and to lock an account after five failed login attempts."</a:t>
              </a:r>
            </a:p>
          </p:txBody>
        </p:sp>
      </p:grpSp>
      <p:sp>
        <p:nvSpPr>
          <p:cNvPr name="TextBox 16" id="16"/>
          <p:cNvSpPr txBox="true"/>
          <p:nvPr/>
        </p:nvSpPr>
        <p:spPr>
          <a:xfrm rot="0">
            <a:off x="1051560" y="5604510"/>
            <a:ext cx="16139160" cy="1276350"/>
          </a:xfrm>
          <a:prstGeom prst="rect">
            <a:avLst/>
          </a:prstGeom>
        </p:spPr>
        <p:txBody>
          <a:bodyPr anchor="t" rtlCol="false" tIns="0" lIns="0" bIns="0" rIns="0">
            <a:spAutoFit/>
          </a:bodyPr>
          <a:lstStyle/>
          <a:p>
            <a:pPr algn="ctr">
              <a:lnSpc>
                <a:spcPts val="3402"/>
              </a:lnSpc>
            </a:pPr>
            <a:r>
              <a:rPr lang="en-US" sz="2100" i="true">
                <a:solidFill>
                  <a:srgbClr val="6B7280"/>
                </a:solidFill>
                <a:latin typeface="Calibri (MS) Italics"/>
                <a:ea typeface="Calibri (MS) Italics"/>
                <a:cs typeface="Calibri (MS) Italics"/>
                <a:sym typeface="Calibri (MS) Italics"/>
              </a:rPr>
              <a:t>Which Function does this belong to — Govern, Identify, Protect, Detect, Respond, or Recover?</a:t>
            </a:r>
          </a:p>
          <a:p>
            <a:pPr algn="ctr">
              <a:lnSpc>
                <a:spcPts val="3402"/>
              </a:lnSpc>
            </a:pPr>
            <a:r>
              <a:rPr lang="en-US" sz="2100" i="true">
                <a:solidFill>
                  <a:srgbClr val="6B7280"/>
                </a:solidFill>
                <a:latin typeface="Calibri (MS) Italics"/>
                <a:ea typeface="Calibri (MS) Italics"/>
                <a:cs typeface="Calibri (MS) Italics"/>
                <a:sym typeface="Calibri (MS) Italics"/>
              </a:rPr>
              <a:t>Some belong to more than one. Discuss, then we'll reveal the answer.</a:t>
            </a:r>
          </a:p>
        </p:txBody>
      </p:sp>
      <p:grpSp>
        <p:nvGrpSpPr>
          <p:cNvPr name="Group 17" id="17"/>
          <p:cNvGrpSpPr/>
          <p:nvPr/>
        </p:nvGrpSpPr>
        <p:grpSpPr>
          <a:xfrm rot="0">
            <a:off x="950595" y="7122795"/>
            <a:ext cx="5162550" cy="910590"/>
            <a:chOff x="0" y="0"/>
            <a:chExt cx="6883400" cy="1214120"/>
          </a:xfrm>
        </p:grpSpPr>
        <p:sp>
          <p:nvSpPr>
            <p:cNvPr name="Freeform 18" id="18"/>
            <p:cNvSpPr/>
            <p:nvPr/>
          </p:nvSpPr>
          <p:spPr>
            <a:xfrm flipH="false" flipV="false" rot="0">
              <a:off x="0" y="0"/>
              <a:ext cx="6883400" cy="1214120"/>
            </a:xfrm>
            <a:custGeom>
              <a:avLst/>
              <a:gdLst/>
              <a:ahLst/>
              <a:cxnLst/>
              <a:rect r="r" b="b" t="t" l="l"/>
              <a:pathLst>
                <a:path h="1214120" w="6883400">
                  <a:moveTo>
                    <a:pt x="0" y="168148"/>
                  </a:moveTo>
                  <a:cubicBezTo>
                    <a:pt x="0" y="75311"/>
                    <a:pt x="75311" y="0"/>
                    <a:pt x="168148" y="0"/>
                  </a:cubicBezTo>
                  <a:lnTo>
                    <a:pt x="6715252" y="0"/>
                  </a:lnTo>
                  <a:cubicBezTo>
                    <a:pt x="6808089" y="0"/>
                    <a:pt x="6883400" y="75311"/>
                    <a:pt x="6883400" y="168148"/>
                  </a:cubicBezTo>
                  <a:lnTo>
                    <a:pt x="6883400" y="1045972"/>
                  </a:lnTo>
                  <a:cubicBezTo>
                    <a:pt x="6883400" y="1138809"/>
                    <a:pt x="6808089" y="1214120"/>
                    <a:pt x="6715252" y="1214120"/>
                  </a:cubicBezTo>
                  <a:lnTo>
                    <a:pt x="168148" y="1214120"/>
                  </a:lnTo>
                  <a:cubicBezTo>
                    <a:pt x="75311" y="1214120"/>
                    <a:pt x="0" y="1138809"/>
                    <a:pt x="0" y="1045972"/>
                  </a:cubicBezTo>
                  <a:close/>
                </a:path>
              </a:pathLst>
            </a:custGeom>
            <a:solidFill>
              <a:srgbClr val="F4F7FC"/>
            </a:solidFill>
            <a:ln w="19050" cap="sq">
              <a:solidFill>
                <a:srgbClr val="D7DCEC"/>
              </a:solidFill>
              <a:prstDash val="solid"/>
              <a:miter/>
            </a:ln>
          </p:spPr>
        </p:sp>
      </p:grpSp>
      <p:grpSp>
        <p:nvGrpSpPr>
          <p:cNvPr name="Group 19" id="19"/>
          <p:cNvGrpSpPr/>
          <p:nvPr/>
        </p:nvGrpSpPr>
        <p:grpSpPr>
          <a:xfrm rot="0">
            <a:off x="960120" y="7200900"/>
            <a:ext cx="5143500" cy="589788"/>
            <a:chOff x="0" y="0"/>
            <a:chExt cx="6858000" cy="786384"/>
          </a:xfrm>
        </p:grpSpPr>
        <p:sp>
          <p:nvSpPr>
            <p:cNvPr name="Freeform 20" id="20"/>
            <p:cNvSpPr/>
            <p:nvPr/>
          </p:nvSpPr>
          <p:spPr>
            <a:xfrm flipH="false" flipV="false" rot="0">
              <a:off x="0" y="0"/>
              <a:ext cx="6858000" cy="786384"/>
            </a:xfrm>
            <a:custGeom>
              <a:avLst/>
              <a:gdLst/>
              <a:ahLst/>
              <a:cxnLst/>
              <a:rect r="r" b="b" t="t" l="l"/>
              <a:pathLst>
                <a:path h="786384" w="6858000">
                  <a:moveTo>
                    <a:pt x="0" y="0"/>
                  </a:moveTo>
                  <a:lnTo>
                    <a:pt x="6858000" y="0"/>
                  </a:lnTo>
                  <a:lnTo>
                    <a:pt x="6858000" y="786384"/>
                  </a:lnTo>
                  <a:lnTo>
                    <a:pt x="0" y="786384"/>
                  </a:lnTo>
                  <a:close/>
                </a:path>
              </a:pathLst>
            </a:custGeom>
            <a:blipFill>
              <a:blip r:embed="rId2">
                <a:alphaModFix amt="0"/>
              </a:blip>
              <a:stretch>
                <a:fillRect l="0" t="-119927" r="0" b="-119927"/>
              </a:stretch>
            </a:blipFill>
          </p:spPr>
        </p:sp>
        <p:sp>
          <p:nvSpPr>
            <p:cNvPr name="TextBox 21" id="21"/>
            <p:cNvSpPr txBox="true"/>
            <p:nvPr/>
          </p:nvSpPr>
          <p:spPr>
            <a:xfrm>
              <a:off x="0" y="-38100"/>
              <a:ext cx="6858000" cy="824484"/>
            </a:xfrm>
            <a:prstGeom prst="rect">
              <a:avLst/>
            </a:prstGeom>
          </p:spPr>
          <p:txBody>
            <a:bodyPr anchor="ctr" rtlCol="false" tIns="0" lIns="0" bIns="0" rIns="0"/>
            <a:lstStyle/>
            <a:p>
              <a:pPr algn="ctr">
                <a:lnSpc>
                  <a:spcPts val="2430"/>
                </a:lnSpc>
              </a:pPr>
              <a:r>
                <a:rPr lang="en-US" sz="2025">
                  <a:solidFill>
                    <a:srgbClr val="6B7280"/>
                  </a:solidFill>
                  <a:latin typeface="Calibri (MS)"/>
                  <a:ea typeface="Calibri (MS)"/>
                  <a:cs typeface="Calibri (MS)"/>
                  <a:sym typeface="Calibri (MS)"/>
                </a:rPr>
                <a:t>Govern</a:t>
              </a:r>
            </a:p>
          </p:txBody>
        </p:sp>
      </p:grpSp>
      <p:grpSp>
        <p:nvGrpSpPr>
          <p:cNvPr name="Group 22" id="22"/>
          <p:cNvGrpSpPr/>
          <p:nvPr/>
        </p:nvGrpSpPr>
        <p:grpSpPr>
          <a:xfrm rot="0">
            <a:off x="960120" y="7639812"/>
            <a:ext cx="5143500" cy="329184"/>
            <a:chOff x="0" y="0"/>
            <a:chExt cx="6858000" cy="438912"/>
          </a:xfrm>
        </p:grpSpPr>
        <p:sp>
          <p:nvSpPr>
            <p:cNvPr name="Freeform 23" id="23"/>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24" id="24"/>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9AA3B8"/>
                  </a:solidFill>
                  <a:latin typeface="Arimo"/>
                  <a:ea typeface="Arimo"/>
                  <a:cs typeface="Arimo"/>
                  <a:sym typeface="Arimo"/>
                </a:rPr>
                <a:t>GV</a:t>
              </a:r>
            </a:p>
          </p:txBody>
        </p:sp>
      </p:grpSp>
      <p:grpSp>
        <p:nvGrpSpPr>
          <p:cNvPr name="Group 25" id="25"/>
          <p:cNvGrpSpPr/>
          <p:nvPr/>
        </p:nvGrpSpPr>
        <p:grpSpPr>
          <a:xfrm rot="0">
            <a:off x="6533007" y="7122795"/>
            <a:ext cx="5162550" cy="910590"/>
            <a:chOff x="0" y="0"/>
            <a:chExt cx="6883400" cy="1214120"/>
          </a:xfrm>
        </p:grpSpPr>
        <p:sp>
          <p:nvSpPr>
            <p:cNvPr name="Freeform 26" id="26"/>
            <p:cNvSpPr/>
            <p:nvPr/>
          </p:nvSpPr>
          <p:spPr>
            <a:xfrm flipH="false" flipV="false" rot="0">
              <a:off x="0" y="0"/>
              <a:ext cx="6883400" cy="1214120"/>
            </a:xfrm>
            <a:custGeom>
              <a:avLst/>
              <a:gdLst/>
              <a:ahLst/>
              <a:cxnLst/>
              <a:rect r="r" b="b" t="t" l="l"/>
              <a:pathLst>
                <a:path h="1214120" w="6883400">
                  <a:moveTo>
                    <a:pt x="0" y="168148"/>
                  </a:moveTo>
                  <a:cubicBezTo>
                    <a:pt x="0" y="75311"/>
                    <a:pt x="75311" y="0"/>
                    <a:pt x="168148" y="0"/>
                  </a:cubicBezTo>
                  <a:lnTo>
                    <a:pt x="6715252" y="0"/>
                  </a:lnTo>
                  <a:cubicBezTo>
                    <a:pt x="6808089" y="0"/>
                    <a:pt x="6883400" y="75311"/>
                    <a:pt x="6883400" y="168148"/>
                  </a:cubicBezTo>
                  <a:lnTo>
                    <a:pt x="6883400" y="1045972"/>
                  </a:lnTo>
                  <a:cubicBezTo>
                    <a:pt x="6883400" y="1138809"/>
                    <a:pt x="6808089" y="1214120"/>
                    <a:pt x="6715252" y="1214120"/>
                  </a:cubicBezTo>
                  <a:lnTo>
                    <a:pt x="168148" y="1214120"/>
                  </a:lnTo>
                  <a:cubicBezTo>
                    <a:pt x="75311" y="1214120"/>
                    <a:pt x="0" y="1138809"/>
                    <a:pt x="0" y="1045972"/>
                  </a:cubicBezTo>
                  <a:close/>
                </a:path>
              </a:pathLst>
            </a:custGeom>
            <a:solidFill>
              <a:srgbClr val="F4F7FC"/>
            </a:solidFill>
            <a:ln w="19050" cap="sq">
              <a:solidFill>
                <a:srgbClr val="D7DCEC"/>
              </a:solidFill>
              <a:prstDash val="solid"/>
              <a:miter/>
            </a:ln>
          </p:spPr>
        </p:sp>
      </p:grpSp>
      <p:grpSp>
        <p:nvGrpSpPr>
          <p:cNvPr name="Group 27" id="27"/>
          <p:cNvGrpSpPr/>
          <p:nvPr/>
        </p:nvGrpSpPr>
        <p:grpSpPr>
          <a:xfrm rot="0">
            <a:off x="6542532" y="7200900"/>
            <a:ext cx="5143500" cy="589788"/>
            <a:chOff x="0" y="0"/>
            <a:chExt cx="6858000" cy="786384"/>
          </a:xfrm>
        </p:grpSpPr>
        <p:sp>
          <p:nvSpPr>
            <p:cNvPr name="Freeform 28" id="28"/>
            <p:cNvSpPr/>
            <p:nvPr/>
          </p:nvSpPr>
          <p:spPr>
            <a:xfrm flipH="false" flipV="false" rot="0">
              <a:off x="0" y="0"/>
              <a:ext cx="6858000" cy="786384"/>
            </a:xfrm>
            <a:custGeom>
              <a:avLst/>
              <a:gdLst/>
              <a:ahLst/>
              <a:cxnLst/>
              <a:rect r="r" b="b" t="t" l="l"/>
              <a:pathLst>
                <a:path h="786384" w="6858000">
                  <a:moveTo>
                    <a:pt x="0" y="0"/>
                  </a:moveTo>
                  <a:lnTo>
                    <a:pt x="6858000" y="0"/>
                  </a:lnTo>
                  <a:lnTo>
                    <a:pt x="6858000" y="786384"/>
                  </a:lnTo>
                  <a:lnTo>
                    <a:pt x="0" y="786384"/>
                  </a:lnTo>
                  <a:close/>
                </a:path>
              </a:pathLst>
            </a:custGeom>
            <a:blipFill>
              <a:blip r:embed="rId2">
                <a:alphaModFix amt="0"/>
              </a:blip>
              <a:stretch>
                <a:fillRect l="0" t="-119927" r="0" b="-119927"/>
              </a:stretch>
            </a:blipFill>
          </p:spPr>
        </p:sp>
        <p:sp>
          <p:nvSpPr>
            <p:cNvPr name="TextBox 29" id="29"/>
            <p:cNvSpPr txBox="true"/>
            <p:nvPr/>
          </p:nvSpPr>
          <p:spPr>
            <a:xfrm>
              <a:off x="0" y="-38100"/>
              <a:ext cx="6858000" cy="824484"/>
            </a:xfrm>
            <a:prstGeom prst="rect">
              <a:avLst/>
            </a:prstGeom>
          </p:spPr>
          <p:txBody>
            <a:bodyPr anchor="ctr" rtlCol="false" tIns="0" lIns="0" bIns="0" rIns="0"/>
            <a:lstStyle/>
            <a:p>
              <a:pPr algn="ctr">
                <a:lnSpc>
                  <a:spcPts val="2430"/>
                </a:lnSpc>
              </a:pPr>
              <a:r>
                <a:rPr lang="en-US" sz="2025">
                  <a:solidFill>
                    <a:srgbClr val="6B7280"/>
                  </a:solidFill>
                  <a:latin typeface="Calibri (MS)"/>
                  <a:ea typeface="Calibri (MS)"/>
                  <a:cs typeface="Calibri (MS)"/>
                  <a:sym typeface="Calibri (MS)"/>
                </a:rPr>
                <a:t>Identify</a:t>
              </a:r>
            </a:p>
          </p:txBody>
        </p:sp>
      </p:grpSp>
      <p:grpSp>
        <p:nvGrpSpPr>
          <p:cNvPr name="Group 30" id="30"/>
          <p:cNvGrpSpPr/>
          <p:nvPr/>
        </p:nvGrpSpPr>
        <p:grpSpPr>
          <a:xfrm rot="0">
            <a:off x="6542532" y="7639812"/>
            <a:ext cx="5143500" cy="329184"/>
            <a:chOff x="0" y="0"/>
            <a:chExt cx="6858000" cy="438912"/>
          </a:xfrm>
        </p:grpSpPr>
        <p:sp>
          <p:nvSpPr>
            <p:cNvPr name="Freeform 31" id="31"/>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32" id="32"/>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9AA3B8"/>
                  </a:solidFill>
                  <a:latin typeface="Arimo"/>
                  <a:ea typeface="Arimo"/>
                  <a:cs typeface="Arimo"/>
                  <a:sym typeface="Arimo"/>
                </a:rPr>
                <a:t>ID</a:t>
              </a:r>
            </a:p>
          </p:txBody>
        </p:sp>
      </p:grpSp>
      <p:grpSp>
        <p:nvGrpSpPr>
          <p:cNvPr name="Group 33" id="33"/>
          <p:cNvGrpSpPr/>
          <p:nvPr/>
        </p:nvGrpSpPr>
        <p:grpSpPr>
          <a:xfrm rot="0">
            <a:off x="12115419" y="7122795"/>
            <a:ext cx="5162550" cy="910590"/>
            <a:chOff x="0" y="0"/>
            <a:chExt cx="6883400" cy="1214120"/>
          </a:xfrm>
        </p:grpSpPr>
        <p:sp>
          <p:nvSpPr>
            <p:cNvPr name="Freeform 34" id="34"/>
            <p:cNvSpPr/>
            <p:nvPr/>
          </p:nvSpPr>
          <p:spPr>
            <a:xfrm flipH="false" flipV="false" rot="0">
              <a:off x="0" y="0"/>
              <a:ext cx="6883400" cy="1214120"/>
            </a:xfrm>
            <a:custGeom>
              <a:avLst/>
              <a:gdLst/>
              <a:ahLst/>
              <a:cxnLst/>
              <a:rect r="r" b="b" t="t" l="l"/>
              <a:pathLst>
                <a:path h="1214120" w="6883400">
                  <a:moveTo>
                    <a:pt x="0" y="168148"/>
                  </a:moveTo>
                  <a:cubicBezTo>
                    <a:pt x="0" y="75311"/>
                    <a:pt x="75311" y="0"/>
                    <a:pt x="168148" y="0"/>
                  </a:cubicBezTo>
                  <a:lnTo>
                    <a:pt x="6715252" y="0"/>
                  </a:lnTo>
                  <a:cubicBezTo>
                    <a:pt x="6808089" y="0"/>
                    <a:pt x="6883400" y="75311"/>
                    <a:pt x="6883400" y="168148"/>
                  </a:cubicBezTo>
                  <a:lnTo>
                    <a:pt x="6883400" y="1045972"/>
                  </a:lnTo>
                  <a:cubicBezTo>
                    <a:pt x="6883400" y="1138809"/>
                    <a:pt x="6808089" y="1214120"/>
                    <a:pt x="6715252" y="1214120"/>
                  </a:cubicBezTo>
                  <a:lnTo>
                    <a:pt x="168148" y="1214120"/>
                  </a:lnTo>
                  <a:cubicBezTo>
                    <a:pt x="75311" y="1214120"/>
                    <a:pt x="0" y="1138809"/>
                    <a:pt x="0" y="1045972"/>
                  </a:cubicBezTo>
                  <a:close/>
                </a:path>
              </a:pathLst>
            </a:custGeom>
            <a:solidFill>
              <a:srgbClr val="F4F7FC"/>
            </a:solidFill>
            <a:ln w="19050" cap="sq">
              <a:solidFill>
                <a:srgbClr val="D7DCEC"/>
              </a:solidFill>
              <a:prstDash val="solid"/>
              <a:miter/>
            </a:ln>
          </p:spPr>
        </p:sp>
      </p:grpSp>
      <p:grpSp>
        <p:nvGrpSpPr>
          <p:cNvPr name="Group 35" id="35"/>
          <p:cNvGrpSpPr/>
          <p:nvPr/>
        </p:nvGrpSpPr>
        <p:grpSpPr>
          <a:xfrm rot="0">
            <a:off x="12124944" y="7200900"/>
            <a:ext cx="5143500" cy="589788"/>
            <a:chOff x="0" y="0"/>
            <a:chExt cx="6858000" cy="786384"/>
          </a:xfrm>
        </p:grpSpPr>
        <p:sp>
          <p:nvSpPr>
            <p:cNvPr name="Freeform 36" id="36"/>
            <p:cNvSpPr/>
            <p:nvPr/>
          </p:nvSpPr>
          <p:spPr>
            <a:xfrm flipH="false" flipV="false" rot="0">
              <a:off x="0" y="0"/>
              <a:ext cx="6858000" cy="786384"/>
            </a:xfrm>
            <a:custGeom>
              <a:avLst/>
              <a:gdLst/>
              <a:ahLst/>
              <a:cxnLst/>
              <a:rect r="r" b="b" t="t" l="l"/>
              <a:pathLst>
                <a:path h="786384" w="6858000">
                  <a:moveTo>
                    <a:pt x="0" y="0"/>
                  </a:moveTo>
                  <a:lnTo>
                    <a:pt x="6858000" y="0"/>
                  </a:lnTo>
                  <a:lnTo>
                    <a:pt x="6858000" y="786384"/>
                  </a:lnTo>
                  <a:lnTo>
                    <a:pt x="0" y="786384"/>
                  </a:lnTo>
                  <a:close/>
                </a:path>
              </a:pathLst>
            </a:custGeom>
            <a:blipFill>
              <a:blip r:embed="rId2">
                <a:alphaModFix amt="0"/>
              </a:blip>
              <a:stretch>
                <a:fillRect l="0" t="-119927" r="0" b="-119927"/>
              </a:stretch>
            </a:blipFill>
          </p:spPr>
        </p:sp>
        <p:sp>
          <p:nvSpPr>
            <p:cNvPr name="TextBox 37" id="37"/>
            <p:cNvSpPr txBox="true"/>
            <p:nvPr/>
          </p:nvSpPr>
          <p:spPr>
            <a:xfrm>
              <a:off x="0" y="-38100"/>
              <a:ext cx="6858000" cy="824484"/>
            </a:xfrm>
            <a:prstGeom prst="rect">
              <a:avLst/>
            </a:prstGeom>
          </p:spPr>
          <p:txBody>
            <a:bodyPr anchor="ctr" rtlCol="false" tIns="0" lIns="0" bIns="0" rIns="0"/>
            <a:lstStyle/>
            <a:p>
              <a:pPr algn="ctr">
                <a:lnSpc>
                  <a:spcPts val="2430"/>
                </a:lnSpc>
              </a:pPr>
              <a:r>
                <a:rPr lang="en-US" sz="2025">
                  <a:solidFill>
                    <a:srgbClr val="6B7280"/>
                  </a:solidFill>
                  <a:latin typeface="Calibri (MS)"/>
                  <a:ea typeface="Calibri (MS)"/>
                  <a:cs typeface="Calibri (MS)"/>
                  <a:sym typeface="Calibri (MS)"/>
                </a:rPr>
                <a:t>Protect</a:t>
              </a:r>
            </a:p>
          </p:txBody>
        </p:sp>
      </p:grpSp>
      <p:grpSp>
        <p:nvGrpSpPr>
          <p:cNvPr name="Group 38" id="38"/>
          <p:cNvGrpSpPr/>
          <p:nvPr/>
        </p:nvGrpSpPr>
        <p:grpSpPr>
          <a:xfrm rot="0">
            <a:off x="12124944" y="7639812"/>
            <a:ext cx="5143500" cy="329184"/>
            <a:chOff x="0" y="0"/>
            <a:chExt cx="6858000" cy="438912"/>
          </a:xfrm>
        </p:grpSpPr>
        <p:sp>
          <p:nvSpPr>
            <p:cNvPr name="Freeform 39" id="39"/>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40" id="40"/>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9AA3B8"/>
                  </a:solidFill>
                  <a:latin typeface="Arimo"/>
                  <a:ea typeface="Arimo"/>
                  <a:cs typeface="Arimo"/>
                  <a:sym typeface="Arimo"/>
                </a:rPr>
                <a:t>PR</a:t>
              </a:r>
            </a:p>
          </p:txBody>
        </p:sp>
      </p:grpSp>
      <p:grpSp>
        <p:nvGrpSpPr>
          <p:cNvPr name="Group 41" id="41"/>
          <p:cNvGrpSpPr/>
          <p:nvPr/>
        </p:nvGrpSpPr>
        <p:grpSpPr>
          <a:xfrm rot="0">
            <a:off x="950595" y="8288655"/>
            <a:ext cx="5162550" cy="910590"/>
            <a:chOff x="0" y="0"/>
            <a:chExt cx="6883400" cy="1214120"/>
          </a:xfrm>
        </p:grpSpPr>
        <p:sp>
          <p:nvSpPr>
            <p:cNvPr name="Freeform 42" id="42"/>
            <p:cNvSpPr/>
            <p:nvPr/>
          </p:nvSpPr>
          <p:spPr>
            <a:xfrm flipH="false" flipV="false" rot="0">
              <a:off x="0" y="0"/>
              <a:ext cx="6883400" cy="1214120"/>
            </a:xfrm>
            <a:custGeom>
              <a:avLst/>
              <a:gdLst/>
              <a:ahLst/>
              <a:cxnLst/>
              <a:rect r="r" b="b" t="t" l="l"/>
              <a:pathLst>
                <a:path h="1214120" w="6883400">
                  <a:moveTo>
                    <a:pt x="0" y="168148"/>
                  </a:moveTo>
                  <a:cubicBezTo>
                    <a:pt x="0" y="75311"/>
                    <a:pt x="75311" y="0"/>
                    <a:pt x="168148" y="0"/>
                  </a:cubicBezTo>
                  <a:lnTo>
                    <a:pt x="6715252" y="0"/>
                  </a:lnTo>
                  <a:cubicBezTo>
                    <a:pt x="6808089" y="0"/>
                    <a:pt x="6883400" y="75311"/>
                    <a:pt x="6883400" y="168148"/>
                  </a:cubicBezTo>
                  <a:lnTo>
                    <a:pt x="6883400" y="1045972"/>
                  </a:lnTo>
                  <a:cubicBezTo>
                    <a:pt x="6883400" y="1138809"/>
                    <a:pt x="6808089" y="1214120"/>
                    <a:pt x="6715252" y="1214120"/>
                  </a:cubicBezTo>
                  <a:lnTo>
                    <a:pt x="168148" y="1214120"/>
                  </a:lnTo>
                  <a:cubicBezTo>
                    <a:pt x="75311" y="1214120"/>
                    <a:pt x="0" y="1138809"/>
                    <a:pt x="0" y="1045972"/>
                  </a:cubicBezTo>
                  <a:close/>
                </a:path>
              </a:pathLst>
            </a:custGeom>
            <a:solidFill>
              <a:srgbClr val="F4F7FC"/>
            </a:solidFill>
            <a:ln w="19050" cap="sq">
              <a:solidFill>
                <a:srgbClr val="D7DCEC"/>
              </a:solidFill>
              <a:prstDash val="solid"/>
              <a:miter/>
            </a:ln>
          </p:spPr>
        </p:sp>
      </p:grpSp>
      <p:grpSp>
        <p:nvGrpSpPr>
          <p:cNvPr name="Group 43" id="43"/>
          <p:cNvGrpSpPr/>
          <p:nvPr/>
        </p:nvGrpSpPr>
        <p:grpSpPr>
          <a:xfrm rot="0">
            <a:off x="960120" y="8366760"/>
            <a:ext cx="5143500" cy="589788"/>
            <a:chOff x="0" y="0"/>
            <a:chExt cx="6858000" cy="786384"/>
          </a:xfrm>
        </p:grpSpPr>
        <p:sp>
          <p:nvSpPr>
            <p:cNvPr name="Freeform 44" id="44"/>
            <p:cNvSpPr/>
            <p:nvPr/>
          </p:nvSpPr>
          <p:spPr>
            <a:xfrm flipH="false" flipV="false" rot="0">
              <a:off x="0" y="0"/>
              <a:ext cx="6858000" cy="786384"/>
            </a:xfrm>
            <a:custGeom>
              <a:avLst/>
              <a:gdLst/>
              <a:ahLst/>
              <a:cxnLst/>
              <a:rect r="r" b="b" t="t" l="l"/>
              <a:pathLst>
                <a:path h="786384" w="6858000">
                  <a:moveTo>
                    <a:pt x="0" y="0"/>
                  </a:moveTo>
                  <a:lnTo>
                    <a:pt x="6858000" y="0"/>
                  </a:lnTo>
                  <a:lnTo>
                    <a:pt x="6858000" y="786384"/>
                  </a:lnTo>
                  <a:lnTo>
                    <a:pt x="0" y="786384"/>
                  </a:lnTo>
                  <a:close/>
                </a:path>
              </a:pathLst>
            </a:custGeom>
            <a:blipFill>
              <a:blip r:embed="rId2">
                <a:alphaModFix amt="0"/>
              </a:blip>
              <a:stretch>
                <a:fillRect l="0" t="-119927" r="0" b="-119927"/>
              </a:stretch>
            </a:blipFill>
          </p:spPr>
        </p:sp>
        <p:sp>
          <p:nvSpPr>
            <p:cNvPr name="TextBox 45" id="45"/>
            <p:cNvSpPr txBox="true"/>
            <p:nvPr/>
          </p:nvSpPr>
          <p:spPr>
            <a:xfrm>
              <a:off x="0" y="-38100"/>
              <a:ext cx="6858000" cy="824484"/>
            </a:xfrm>
            <a:prstGeom prst="rect">
              <a:avLst/>
            </a:prstGeom>
          </p:spPr>
          <p:txBody>
            <a:bodyPr anchor="ctr" rtlCol="false" tIns="0" lIns="0" bIns="0" rIns="0"/>
            <a:lstStyle/>
            <a:p>
              <a:pPr algn="ctr">
                <a:lnSpc>
                  <a:spcPts val="2430"/>
                </a:lnSpc>
              </a:pPr>
              <a:r>
                <a:rPr lang="en-US" sz="2025">
                  <a:solidFill>
                    <a:srgbClr val="6B7280"/>
                  </a:solidFill>
                  <a:latin typeface="Calibri (MS)"/>
                  <a:ea typeface="Calibri (MS)"/>
                  <a:cs typeface="Calibri (MS)"/>
                  <a:sym typeface="Calibri (MS)"/>
                </a:rPr>
                <a:t>Detect</a:t>
              </a:r>
            </a:p>
          </p:txBody>
        </p:sp>
      </p:grpSp>
      <p:grpSp>
        <p:nvGrpSpPr>
          <p:cNvPr name="Group 46" id="46"/>
          <p:cNvGrpSpPr/>
          <p:nvPr/>
        </p:nvGrpSpPr>
        <p:grpSpPr>
          <a:xfrm rot="0">
            <a:off x="960120" y="8805672"/>
            <a:ext cx="5143500" cy="329184"/>
            <a:chOff x="0" y="0"/>
            <a:chExt cx="6858000" cy="438912"/>
          </a:xfrm>
        </p:grpSpPr>
        <p:sp>
          <p:nvSpPr>
            <p:cNvPr name="Freeform 47" id="47"/>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48" id="48"/>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9AA3B8"/>
                  </a:solidFill>
                  <a:latin typeface="Arimo"/>
                  <a:ea typeface="Arimo"/>
                  <a:cs typeface="Arimo"/>
                  <a:sym typeface="Arimo"/>
                </a:rPr>
                <a:t>DE</a:t>
              </a:r>
            </a:p>
          </p:txBody>
        </p:sp>
      </p:grpSp>
      <p:grpSp>
        <p:nvGrpSpPr>
          <p:cNvPr name="Group 49" id="49"/>
          <p:cNvGrpSpPr/>
          <p:nvPr/>
        </p:nvGrpSpPr>
        <p:grpSpPr>
          <a:xfrm rot="0">
            <a:off x="6533007" y="8288655"/>
            <a:ext cx="5162550" cy="910590"/>
            <a:chOff x="0" y="0"/>
            <a:chExt cx="6883400" cy="1214120"/>
          </a:xfrm>
        </p:grpSpPr>
        <p:sp>
          <p:nvSpPr>
            <p:cNvPr name="Freeform 50" id="50"/>
            <p:cNvSpPr/>
            <p:nvPr/>
          </p:nvSpPr>
          <p:spPr>
            <a:xfrm flipH="false" flipV="false" rot="0">
              <a:off x="0" y="0"/>
              <a:ext cx="6883400" cy="1214120"/>
            </a:xfrm>
            <a:custGeom>
              <a:avLst/>
              <a:gdLst/>
              <a:ahLst/>
              <a:cxnLst/>
              <a:rect r="r" b="b" t="t" l="l"/>
              <a:pathLst>
                <a:path h="1214120" w="6883400">
                  <a:moveTo>
                    <a:pt x="0" y="168148"/>
                  </a:moveTo>
                  <a:cubicBezTo>
                    <a:pt x="0" y="75311"/>
                    <a:pt x="75311" y="0"/>
                    <a:pt x="168148" y="0"/>
                  </a:cubicBezTo>
                  <a:lnTo>
                    <a:pt x="6715252" y="0"/>
                  </a:lnTo>
                  <a:cubicBezTo>
                    <a:pt x="6808089" y="0"/>
                    <a:pt x="6883400" y="75311"/>
                    <a:pt x="6883400" y="168148"/>
                  </a:cubicBezTo>
                  <a:lnTo>
                    <a:pt x="6883400" y="1045972"/>
                  </a:lnTo>
                  <a:cubicBezTo>
                    <a:pt x="6883400" y="1138809"/>
                    <a:pt x="6808089" y="1214120"/>
                    <a:pt x="6715252" y="1214120"/>
                  </a:cubicBezTo>
                  <a:lnTo>
                    <a:pt x="168148" y="1214120"/>
                  </a:lnTo>
                  <a:cubicBezTo>
                    <a:pt x="75311" y="1214120"/>
                    <a:pt x="0" y="1138809"/>
                    <a:pt x="0" y="1045972"/>
                  </a:cubicBezTo>
                  <a:close/>
                </a:path>
              </a:pathLst>
            </a:custGeom>
            <a:solidFill>
              <a:srgbClr val="F4F7FC"/>
            </a:solidFill>
            <a:ln w="19050" cap="sq">
              <a:solidFill>
                <a:srgbClr val="D7DCEC"/>
              </a:solidFill>
              <a:prstDash val="solid"/>
              <a:miter/>
            </a:ln>
          </p:spPr>
        </p:sp>
      </p:grpSp>
      <p:grpSp>
        <p:nvGrpSpPr>
          <p:cNvPr name="Group 51" id="51"/>
          <p:cNvGrpSpPr/>
          <p:nvPr/>
        </p:nvGrpSpPr>
        <p:grpSpPr>
          <a:xfrm rot="0">
            <a:off x="6542532" y="8366760"/>
            <a:ext cx="5143500" cy="589788"/>
            <a:chOff x="0" y="0"/>
            <a:chExt cx="6858000" cy="786384"/>
          </a:xfrm>
        </p:grpSpPr>
        <p:sp>
          <p:nvSpPr>
            <p:cNvPr name="Freeform 52" id="52"/>
            <p:cNvSpPr/>
            <p:nvPr/>
          </p:nvSpPr>
          <p:spPr>
            <a:xfrm flipH="false" flipV="false" rot="0">
              <a:off x="0" y="0"/>
              <a:ext cx="6858000" cy="786384"/>
            </a:xfrm>
            <a:custGeom>
              <a:avLst/>
              <a:gdLst/>
              <a:ahLst/>
              <a:cxnLst/>
              <a:rect r="r" b="b" t="t" l="l"/>
              <a:pathLst>
                <a:path h="786384" w="6858000">
                  <a:moveTo>
                    <a:pt x="0" y="0"/>
                  </a:moveTo>
                  <a:lnTo>
                    <a:pt x="6858000" y="0"/>
                  </a:lnTo>
                  <a:lnTo>
                    <a:pt x="6858000" y="786384"/>
                  </a:lnTo>
                  <a:lnTo>
                    <a:pt x="0" y="786384"/>
                  </a:lnTo>
                  <a:close/>
                </a:path>
              </a:pathLst>
            </a:custGeom>
            <a:blipFill>
              <a:blip r:embed="rId2">
                <a:alphaModFix amt="0"/>
              </a:blip>
              <a:stretch>
                <a:fillRect l="0" t="-119927" r="0" b="-119927"/>
              </a:stretch>
            </a:blipFill>
          </p:spPr>
        </p:sp>
        <p:sp>
          <p:nvSpPr>
            <p:cNvPr name="TextBox 53" id="53"/>
            <p:cNvSpPr txBox="true"/>
            <p:nvPr/>
          </p:nvSpPr>
          <p:spPr>
            <a:xfrm>
              <a:off x="0" y="-38100"/>
              <a:ext cx="6858000" cy="824484"/>
            </a:xfrm>
            <a:prstGeom prst="rect">
              <a:avLst/>
            </a:prstGeom>
          </p:spPr>
          <p:txBody>
            <a:bodyPr anchor="ctr" rtlCol="false" tIns="0" lIns="0" bIns="0" rIns="0"/>
            <a:lstStyle/>
            <a:p>
              <a:pPr algn="ctr">
                <a:lnSpc>
                  <a:spcPts val="2430"/>
                </a:lnSpc>
              </a:pPr>
              <a:r>
                <a:rPr lang="en-US" sz="2025">
                  <a:solidFill>
                    <a:srgbClr val="6B7280"/>
                  </a:solidFill>
                  <a:latin typeface="Calibri (MS)"/>
                  <a:ea typeface="Calibri (MS)"/>
                  <a:cs typeface="Calibri (MS)"/>
                  <a:sym typeface="Calibri (MS)"/>
                </a:rPr>
                <a:t>Respond</a:t>
              </a:r>
            </a:p>
          </p:txBody>
        </p:sp>
      </p:grpSp>
      <p:grpSp>
        <p:nvGrpSpPr>
          <p:cNvPr name="Group 54" id="54"/>
          <p:cNvGrpSpPr/>
          <p:nvPr/>
        </p:nvGrpSpPr>
        <p:grpSpPr>
          <a:xfrm rot="0">
            <a:off x="6542532" y="8805672"/>
            <a:ext cx="5143500" cy="329184"/>
            <a:chOff x="0" y="0"/>
            <a:chExt cx="6858000" cy="438912"/>
          </a:xfrm>
        </p:grpSpPr>
        <p:sp>
          <p:nvSpPr>
            <p:cNvPr name="Freeform 55" id="55"/>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56" id="56"/>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9AA3B8"/>
                  </a:solidFill>
                  <a:latin typeface="Arimo"/>
                  <a:ea typeface="Arimo"/>
                  <a:cs typeface="Arimo"/>
                  <a:sym typeface="Arimo"/>
                </a:rPr>
                <a:t>RS</a:t>
              </a:r>
            </a:p>
          </p:txBody>
        </p:sp>
      </p:grpSp>
      <p:grpSp>
        <p:nvGrpSpPr>
          <p:cNvPr name="Group 57" id="57"/>
          <p:cNvGrpSpPr/>
          <p:nvPr/>
        </p:nvGrpSpPr>
        <p:grpSpPr>
          <a:xfrm rot="0">
            <a:off x="12115419" y="8288655"/>
            <a:ext cx="5162550" cy="910590"/>
            <a:chOff x="0" y="0"/>
            <a:chExt cx="6883400" cy="1214120"/>
          </a:xfrm>
        </p:grpSpPr>
        <p:sp>
          <p:nvSpPr>
            <p:cNvPr name="Freeform 58" id="58"/>
            <p:cNvSpPr/>
            <p:nvPr/>
          </p:nvSpPr>
          <p:spPr>
            <a:xfrm flipH="false" flipV="false" rot="0">
              <a:off x="0" y="0"/>
              <a:ext cx="6883400" cy="1214120"/>
            </a:xfrm>
            <a:custGeom>
              <a:avLst/>
              <a:gdLst/>
              <a:ahLst/>
              <a:cxnLst/>
              <a:rect r="r" b="b" t="t" l="l"/>
              <a:pathLst>
                <a:path h="1214120" w="6883400">
                  <a:moveTo>
                    <a:pt x="0" y="168148"/>
                  </a:moveTo>
                  <a:cubicBezTo>
                    <a:pt x="0" y="75311"/>
                    <a:pt x="75311" y="0"/>
                    <a:pt x="168148" y="0"/>
                  </a:cubicBezTo>
                  <a:lnTo>
                    <a:pt x="6715252" y="0"/>
                  </a:lnTo>
                  <a:cubicBezTo>
                    <a:pt x="6808089" y="0"/>
                    <a:pt x="6883400" y="75311"/>
                    <a:pt x="6883400" y="168148"/>
                  </a:cubicBezTo>
                  <a:lnTo>
                    <a:pt x="6883400" y="1045972"/>
                  </a:lnTo>
                  <a:cubicBezTo>
                    <a:pt x="6883400" y="1138809"/>
                    <a:pt x="6808089" y="1214120"/>
                    <a:pt x="6715252" y="1214120"/>
                  </a:cubicBezTo>
                  <a:lnTo>
                    <a:pt x="168148" y="1214120"/>
                  </a:lnTo>
                  <a:cubicBezTo>
                    <a:pt x="75311" y="1214120"/>
                    <a:pt x="0" y="1138809"/>
                    <a:pt x="0" y="1045972"/>
                  </a:cubicBezTo>
                  <a:close/>
                </a:path>
              </a:pathLst>
            </a:custGeom>
            <a:solidFill>
              <a:srgbClr val="F4F7FC"/>
            </a:solidFill>
            <a:ln w="19050" cap="sq">
              <a:solidFill>
                <a:srgbClr val="D7DCEC"/>
              </a:solidFill>
              <a:prstDash val="solid"/>
              <a:miter/>
            </a:ln>
          </p:spPr>
        </p:sp>
      </p:grpSp>
      <p:grpSp>
        <p:nvGrpSpPr>
          <p:cNvPr name="Group 59" id="59"/>
          <p:cNvGrpSpPr/>
          <p:nvPr/>
        </p:nvGrpSpPr>
        <p:grpSpPr>
          <a:xfrm rot="0">
            <a:off x="12124944" y="8366760"/>
            <a:ext cx="5143500" cy="589788"/>
            <a:chOff x="0" y="0"/>
            <a:chExt cx="6858000" cy="786384"/>
          </a:xfrm>
        </p:grpSpPr>
        <p:sp>
          <p:nvSpPr>
            <p:cNvPr name="Freeform 60" id="60"/>
            <p:cNvSpPr/>
            <p:nvPr/>
          </p:nvSpPr>
          <p:spPr>
            <a:xfrm flipH="false" flipV="false" rot="0">
              <a:off x="0" y="0"/>
              <a:ext cx="6858000" cy="786384"/>
            </a:xfrm>
            <a:custGeom>
              <a:avLst/>
              <a:gdLst/>
              <a:ahLst/>
              <a:cxnLst/>
              <a:rect r="r" b="b" t="t" l="l"/>
              <a:pathLst>
                <a:path h="786384" w="6858000">
                  <a:moveTo>
                    <a:pt x="0" y="0"/>
                  </a:moveTo>
                  <a:lnTo>
                    <a:pt x="6858000" y="0"/>
                  </a:lnTo>
                  <a:lnTo>
                    <a:pt x="6858000" y="786384"/>
                  </a:lnTo>
                  <a:lnTo>
                    <a:pt x="0" y="786384"/>
                  </a:lnTo>
                  <a:close/>
                </a:path>
              </a:pathLst>
            </a:custGeom>
            <a:blipFill>
              <a:blip r:embed="rId2">
                <a:alphaModFix amt="0"/>
              </a:blip>
              <a:stretch>
                <a:fillRect l="0" t="-119927" r="0" b="-119927"/>
              </a:stretch>
            </a:blipFill>
          </p:spPr>
        </p:sp>
        <p:sp>
          <p:nvSpPr>
            <p:cNvPr name="TextBox 61" id="61"/>
            <p:cNvSpPr txBox="true"/>
            <p:nvPr/>
          </p:nvSpPr>
          <p:spPr>
            <a:xfrm>
              <a:off x="0" y="-38100"/>
              <a:ext cx="6858000" cy="824484"/>
            </a:xfrm>
            <a:prstGeom prst="rect">
              <a:avLst/>
            </a:prstGeom>
          </p:spPr>
          <p:txBody>
            <a:bodyPr anchor="ctr" rtlCol="false" tIns="0" lIns="0" bIns="0" rIns="0"/>
            <a:lstStyle/>
            <a:p>
              <a:pPr algn="ctr">
                <a:lnSpc>
                  <a:spcPts val="2430"/>
                </a:lnSpc>
              </a:pPr>
              <a:r>
                <a:rPr lang="en-US" sz="2025">
                  <a:solidFill>
                    <a:srgbClr val="6B7280"/>
                  </a:solidFill>
                  <a:latin typeface="Calibri (MS)"/>
                  <a:ea typeface="Calibri (MS)"/>
                  <a:cs typeface="Calibri (MS)"/>
                  <a:sym typeface="Calibri (MS)"/>
                </a:rPr>
                <a:t>Recover</a:t>
              </a:r>
            </a:p>
          </p:txBody>
        </p:sp>
      </p:grpSp>
      <p:grpSp>
        <p:nvGrpSpPr>
          <p:cNvPr name="Group 62" id="62"/>
          <p:cNvGrpSpPr/>
          <p:nvPr/>
        </p:nvGrpSpPr>
        <p:grpSpPr>
          <a:xfrm rot="0">
            <a:off x="12124944" y="8805672"/>
            <a:ext cx="5143500" cy="329184"/>
            <a:chOff x="0" y="0"/>
            <a:chExt cx="6858000" cy="438912"/>
          </a:xfrm>
        </p:grpSpPr>
        <p:sp>
          <p:nvSpPr>
            <p:cNvPr name="Freeform 63" id="63"/>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64" id="64"/>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9AA3B8"/>
                  </a:solidFill>
                  <a:latin typeface="Arimo"/>
                  <a:ea typeface="Arimo"/>
                  <a:cs typeface="Arimo"/>
                  <a:sym typeface="Arimo"/>
                </a:rPr>
                <a:t>RC</a:t>
              </a:r>
            </a:p>
          </p:txBody>
        </p:sp>
      </p:grpSp>
      <p:grpSp>
        <p:nvGrpSpPr>
          <p:cNvPr name="Group 65" id="65"/>
          <p:cNvGrpSpPr/>
          <p:nvPr/>
        </p:nvGrpSpPr>
        <p:grpSpPr>
          <a:xfrm rot="0">
            <a:off x="685800" y="9710928"/>
            <a:ext cx="10972800" cy="411480"/>
            <a:chOff x="0" y="0"/>
            <a:chExt cx="14630400" cy="548640"/>
          </a:xfrm>
        </p:grpSpPr>
        <p:sp>
          <p:nvSpPr>
            <p:cNvPr name="Freeform 66" id="66"/>
            <p:cNvSpPr/>
            <p:nvPr/>
          </p:nvSpPr>
          <p:spPr>
            <a:xfrm flipH="false" flipV="false" rot="0">
              <a:off x="0" y="0"/>
              <a:ext cx="14630400" cy="548640"/>
            </a:xfrm>
            <a:custGeom>
              <a:avLst/>
              <a:gdLst/>
              <a:ahLst/>
              <a:cxnLst/>
              <a:rect r="r" b="b" t="t" l="l"/>
              <a:pathLst>
                <a:path h="548640" w="14630400">
                  <a:moveTo>
                    <a:pt x="0" y="0"/>
                  </a:moveTo>
                  <a:lnTo>
                    <a:pt x="14630400" y="0"/>
                  </a:lnTo>
                  <a:lnTo>
                    <a:pt x="14630400" y="548640"/>
                  </a:lnTo>
                  <a:lnTo>
                    <a:pt x="0" y="548640"/>
                  </a:lnTo>
                  <a:close/>
                </a:path>
              </a:pathLst>
            </a:custGeom>
            <a:blipFill>
              <a:blip r:embed="rId2">
                <a:alphaModFix amt="0"/>
              </a:blip>
              <a:stretch>
                <a:fillRect l="0" t="-469601" r="0" b="-469601"/>
              </a:stretch>
            </a:blipFill>
          </p:spPr>
        </p:sp>
        <p:sp>
          <p:nvSpPr>
            <p:cNvPr name="TextBox 67" id="67"/>
            <p:cNvSpPr txBox="true"/>
            <p:nvPr/>
          </p:nvSpPr>
          <p:spPr>
            <a:xfrm>
              <a:off x="0" y="-38100"/>
              <a:ext cx="14630400" cy="586740"/>
            </a:xfrm>
            <a:prstGeom prst="rect">
              <a:avLst/>
            </a:prstGeom>
          </p:spPr>
          <p:txBody>
            <a:bodyPr anchor="ctr" rtlCol="false" tIns="0" lIns="0" bIns="0" rIns="0"/>
            <a:lstStyle/>
            <a:p>
              <a:pPr algn="l">
                <a:lnSpc>
                  <a:spcPts val="1800"/>
                </a:lnSpc>
              </a:pPr>
              <a:r>
                <a:rPr lang="en-US" sz="1500">
                  <a:solidFill>
                    <a:srgbClr val="6B7280"/>
                  </a:solidFill>
                  <a:latin typeface="Calibri (MS)"/>
                  <a:ea typeface="Calibri (MS)"/>
                  <a:cs typeface="Calibri (MS)"/>
                  <a:sym typeface="Calibri (MS)"/>
                </a:rPr>
                <a:t>Davao del Norte Provincial Government — Cybersecurity Seminar</a:t>
              </a:r>
            </a:p>
          </p:txBody>
        </p:sp>
      </p:grpSp>
      <p:grpSp>
        <p:nvGrpSpPr>
          <p:cNvPr name="Group 68" id="68"/>
          <p:cNvGrpSpPr/>
          <p:nvPr/>
        </p:nvGrpSpPr>
        <p:grpSpPr>
          <a:xfrm rot="0">
            <a:off x="16911828" y="9710928"/>
            <a:ext cx="685800" cy="411480"/>
            <a:chOff x="0" y="0"/>
            <a:chExt cx="914400" cy="548640"/>
          </a:xfrm>
        </p:grpSpPr>
        <p:sp>
          <p:nvSpPr>
            <p:cNvPr name="Freeform 69" id="69"/>
            <p:cNvSpPr/>
            <p:nvPr/>
          </p:nvSpPr>
          <p:spPr>
            <a:xfrm flipH="false" flipV="false" rot="0">
              <a:off x="0" y="0"/>
              <a:ext cx="914400" cy="548640"/>
            </a:xfrm>
            <a:custGeom>
              <a:avLst/>
              <a:gdLst/>
              <a:ahLst/>
              <a:cxnLst/>
              <a:rect r="r" b="b" t="t" l="l"/>
              <a:pathLst>
                <a:path h="548640" w="914400">
                  <a:moveTo>
                    <a:pt x="0" y="0"/>
                  </a:moveTo>
                  <a:lnTo>
                    <a:pt x="914400" y="0"/>
                  </a:lnTo>
                  <a:lnTo>
                    <a:pt x="914400" y="548640"/>
                  </a:lnTo>
                  <a:lnTo>
                    <a:pt x="0" y="548640"/>
                  </a:lnTo>
                  <a:close/>
                </a:path>
              </a:pathLst>
            </a:custGeom>
            <a:blipFill>
              <a:blip r:embed="rId2">
                <a:alphaModFix amt="0"/>
              </a:blip>
              <a:stretch>
                <a:fillRect l="-26982" t="0" r="-26982" b="0"/>
              </a:stretch>
            </a:blipFill>
          </p:spPr>
        </p:sp>
        <p:sp>
          <p:nvSpPr>
            <p:cNvPr name="TextBox 70" id="70"/>
            <p:cNvSpPr txBox="true"/>
            <p:nvPr/>
          </p:nvSpPr>
          <p:spPr>
            <a:xfrm>
              <a:off x="0" y="-38100"/>
              <a:ext cx="914400" cy="586740"/>
            </a:xfrm>
            <a:prstGeom prst="rect">
              <a:avLst/>
            </a:prstGeom>
          </p:spPr>
          <p:txBody>
            <a:bodyPr anchor="ctr" rtlCol="false" tIns="0" lIns="0" bIns="0" rIns="0"/>
            <a:lstStyle/>
            <a:p>
              <a:pPr algn="r">
                <a:lnSpc>
                  <a:spcPts val="1800"/>
                </a:lnSpc>
              </a:pPr>
              <a:r>
                <a:rPr lang="en-US" sz="1500">
                  <a:solidFill>
                    <a:srgbClr val="6B7280"/>
                  </a:solidFill>
                  <a:latin typeface="Calibri (MS)"/>
                  <a:ea typeface="Calibri (MS)"/>
                  <a:cs typeface="Calibri (MS)"/>
                  <a:sym typeface="Calibri (MS)"/>
                </a:rPr>
                <a:t>39</a:t>
              </a:r>
            </a:p>
          </p:txBody>
        </p:sp>
      </p:grpSp>
    </p:spTree>
  </p:cSld>
  <p:clrMapOvr>
    <a:masterClrMapping/>
  </p:clrMapOvr>
</p:sld>
</file>

<file path=ppt/slides/slide10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60120" y="685800"/>
            <a:ext cx="13716000" cy="411480"/>
            <a:chOff x="0" y="0"/>
            <a:chExt cx="18288000" cy="548640"/>
          </a:xfrm>
        </p:grpSpPr>
        <p:sp>
          <p:nvSpPr>
            <p:cNvPr name="Freeform 3" id="3"/>
            <p:cNvSpPr/>
            <p:nvPr/>
          </p:nvSpPr>
          <p:spPr>
            <a:xfrm flipH="false" flipV="false" rot="0">
              <a:off x="0" y="0"/>
              <a:ext cx="18288000" cy="548640"/>
            </a:xfrm>
            <a:custGeom>
              <a:avLst/>
              <a:gdLst/>
              <a:ahLst/>
              <a:cxnLst/>
              <a:rect r="r" b="b" t="t" l="l"/>
              <a:pathLst>
                <a:path h="548640" w="18288000">
                  <a:moveTo>
                    <a:pt x="0" y="0"/>
                  </a:moveTo>
                  <a:lnTo>
                    <a:pt x="18288000" y="0"/>
                  </a:lnTo>
                  <a:lnTo>
                    <a:pt x="18288000" y="548640"/>
                  </a:lnTo>
                  <a:lnTo>
                    <a:pt x="0" y="548640"/>
                  </a:lnTo>
                  <a:close/>
                </a:path>
              </a:pathLst>
            </a:custGeom>
            <a:blipFill>
              <a:blip r:embed="rId2">
                <a:alphaModFix amt="0"/>
              </a:blip>
              <a:stretch>
                <a:fillRect l="0" t="-599501" r="0" b="-599501"/>
              </a:stretch>
            </a:blipFill>
          </p:spPr>
        </p:sp>
        <p:sp>
          <p:nvSpPr>
            <p:cNvPr name="TextBox 4" id="4"/>
            <p:cNvSpPr txBox="true"/>
            <p:nvPr/>
          </p:nvSpPr>
          <p:spPr>
            <a:xfrm>
              <a:off x="0" y="-38100"/>
              <a:ext cx="18288000" cy="586740"/>
            </a:xfrm>
            <a:prstGeom prst="rect">
              <a:avLst/>
            </a:prstGeom>
          </p:spPr>
          <p:txBody>
            <a:bodyPr anchor="ctr" rtlCol="false" tIns="0" lIns="0" bIns="0" rIns="0"/>
            <a:lstStyle/>
            <a:p>
              <a:pPr algn="l">
                <a:lnSpc>
                  <a:spcPts val="2160"/>
                </a:lnSpc>
              </a:pPr>
              <a:r>
                <a:rPr lang="en-US" b="true" sz="1800" spc="225">
                  <a:solidFill>
                    <a:srgbClr val="00B4D8"/>
                  </a:solidFill>
                  <a:latin typeface="Calibri (MS) Bold"/>
                  <a:ea typeface="Calibri (MS) Bold"/>
                  <a:cs typeface="Calibri (MS) Bold"/>
                  <a:sym typeface="Calibri (MS) Bold"/>
                </a:rPr>
                <a:t>NIST CSF SORT · ANSWER</a:t>
              </a:r>
            </a:p>
          </p:txBody>
        </p:sp>
      </p:grpSp>
      <p:grpSp>
        <p:nvGrpSpPr>
          <p:cNvPr name="Group 5" id="5"/>
          <p:cNvGrpSpPr/>
          <p:nvPr/>
        </p:nvGrpSpPr>
        <p:grpSpPr>
          <a:xfrm rot="0">
            <a:off x="960120" y="1069848"/>
            <a:ext cx="10972800" cy="822960"/>
            <a:chOff x="0" y="0"/>
            <a:chExt cx="14630400" cy="1097280"/>
          </a:xfrm>
        </p:grpSpPr>
        <p:sp>
          <p:nvSpPr>
            <p:cNvPr name="Freeform 6" id="6"/>
            <p:cNvSpPr/>
            <p:nvPr/>
          </p:nvSpPr>
          <p:spPr>
            <a:xfrm flipH="false" flipV="false" rot="0">
              <a:off x="0" y="0"/>
              <a:ext cx="14630400" cy="1097280"/>
            </a:xfrm>
            <a:custGeom>
              <a:avLst/>
              <a:gdLst/>
              <a:ahLst/>
              <a:cxnLst/>
              <a:rect r="r" b="b" t="t" l="l"/>
              <a:pathLst>
                <a:path h="1097280" w="14630400">
                  <a:moveTo>
                    <a:pt x="0" y="0"/>
                  </a:moveTo>
                  <a:lnTo>
                    <a:pt x="14630400" y="0"/>
                  </a:lnTo>
                  <a:lnTo>
                    <a:pt x="14630400" y="1097280"/>
                  </a:lnTo>
                  <a:lnTo>
                    <a:pt x="0" y="1097280"/>
                  </a:lnTo>
                  <a:close/>
                </a:path>
              </a:pathLst>
            </a:custGeom>
            <a:blipFill>
              <a:blip r:embed="rId2">
                <a:alphaModFix amt="0"/>
              </a:blip>
              <a:stretch>
                <a:fillRect l="0" t="-209800" r="0" b="-209800"/>
              </a:stretch>
            </a:blipFill>
          </p:spPr>
        </p:sp>
        <p:sp>
          <p:nvSpPr>
            <p:cNvPr name="TextBox 7" id="7"/>
            <p:cNvSpPr txBox="true"/>
            <p:nvPr/>
          </p:nvSpPr>
          <p:spPr>
            <a:xfrm>
              <a:off x="0" y="0"/>
              <a:ext cx="14630400" cy="1097280"/>
            </a:xfrm>
            <a:prstGeom prst="rect">
              <a:avLst/>
            </a:prstGeom>
          </p:spPr>
          <p:txBody>
            <a:bodyPr anchor="ctr" rtlCol="false" tIns="0" lIns="0" bIns="0" rIns="0"/>
            <a:lstStyle/>
            <a:p>
              <a:pPr algn="l">
                <a:lnSpc>
                  <a:spcPts val="4680"/>
                </a:lnSpc>
              </a:pPr>
              <a:r>
                <a:rPr lang="en-US" sz="3900" b="true">
                  <a:solidFill>
                    <a:srgbClr val="1E2761"/>
                  </a:solidFill>
                  <a:latin typeface="Cambria Bold"/>
                  <a:ea typeface="Cambria Bold"/>
                  <a:cs typeface="Cambria Bold"/>
                  <a:sym typeface="Cambria Bold"/>
                </a:rPr>
                <a:t>Scenario 15 — Answer</a:t>
              </a:r>
            </a:p>
          </p:txBody>
        </p:sp>
      </p:grpSp>
      <p:grpSp>
        <p:nvGrpSpPr>
          <p:cNvPr name="Group 8" id="8"/>
          <p:cNvGrpSpPr/>
          <p:nvPr/>
        </p:nvGrpSpPr>
        <p:grpSpPr>
          <a:xfrm rot="0">
            <a:off x="960120" y="1810512"/>
            <a:ext cx="8229600" cy="411480"/>
            <a:chOff x="0" y="0"/>
            <a:chExt cx="10972800" cy="548640"/>
          </a:xfrm>
        </p:grpSpPr>
        <p:sp>
          <p:nvSpPr>
            <p:cNvPr name="Freeform 9" id="9"/>
            <p:cNvSpPr/>
            <p:nvPr/>
          </p:nvSpPr>
          <p:spPr>
            <a:xfrm flipH="false" flipV="false" rot="0">
              <a:off x="0" y="0"/>
              <a:ext cx="10972800" cy="548640"/>
            </a:xfrm>
            <a:custGeom>
              <a:avLst/>
              <a:gdLst/>
              <a:ahLst/>
              <a:cxnLst/>
              <a:rect r="r" b="b" t="t" l="l"/>
              <a:pathLst>
                <a:path h="548640" w="10972800">
                  <a:moveTo>
                    <a:pt x="0" y="0"/>
                  </a:moveTo>
                  <a:lnTo>
                    <a:pt x="10972800" y="0"/>
                  </a:lnTo>
                  <a:lnTo>
                    <a:pt x="10972800" y="548640"/>
                  </a:lnTo>
                  <a:lnTo>
                    <a:pt x="0" y="548640"/>
                  </a:lnTo>
                  <a:close/>
                </a:path>
              </a:pathLst>
            </a:custGeom>
            <a:blipFill>
              <a:blip r:embed="rId2">
                <a:alphaModFix amt="0"/>
              </a:blip>
              <a:stretch>
                <a:fillRect l="0" t="-339700" r="0" b="-339700"/>
              </a:stretch>
            </a:blipFill>
          </p:spPr>
        </p:sp>
        <p:sp>
          <p:nvSpPr>
            <p:cNvPr name="TextBox 10" id="10"/>
            <p:cNvSpPr txBox="true"/>
            <p:nvPr/>
          </p:nvSpPr>
          <p:spPr>
            <a:xfrm>
              <a:off x="0" y="-28575"/>
              <a:ext cx="10972800" cy="577215"/>
            </a:xfrm>
            <a:prstGeom prst="rect">
              <a:avLst/>
            </a:prstGeom>
          </p:spPr>
          <p:txBody>
            <a:bodyPr anchor="ctr" rtlCol="false" tIns="0" lIns="0" bIns="0" rIns="0"/>
            <a:lstStyle/>
            <a:p>
              <a:pPr algn="l">
                <a:lnSpc>
                  <a:spcPts val="1980"/>
                </a:lnSpc>
              </a:pPr>
              <a:r>
                <a:rPr lang="en-US" sz="1650">
                  <a:solidFill>
                    <a:srgbClr val="6B7280"/>
                  </a:solidFill>
                  <a:latin typeface="Calibri (MS)"/>
                  <a:ea typeface="Calibri (MS)"/>
                  <a:cs typeface="Calibri (MS)"/>
                  <a:sym typeface="Calibri (MS)"/>
                </a:rPr>
                <a:t>15 of 20</a:t>
              </a:r>
            </a:p>
          </p:txBody>
        </p:sp>
      </p:grpSp>
      <p:grpSp>
        <p:nvGrpSpPr>
          <p:cNvPr name="Group 11" id="11"/>
          <p:cNvGrpSpPr/>
          <p:nvPr/>
        </p:nvGrpSpPr>
        <p:grpSpPr>
          <a:xfrm rot="0">
            <a:off x="960120" y="2537460"/>
            <a:ext cx="16322040" cy="2194560"/>
            <a:chOff x="0" y="0"/>
            <a:chExt cx="21762720" cy="2926080"/>
          </a:xfrm>
        </p:grpSpPr>
        <p:sp>
          <p:nvSpPr>
            <p:cNvPr name="Freeform 12" id="12"/>
            <p:cNvSpPr/>
            <p:nvPr/>
          </p:nvSpPr>
          <p:spPr>
            <a:xfrm flipH="false" flipV="false" rot="0">
              <a:off x="0" y="0"/>
              <a:ext cx="21762720" cy="2926080"/>
            </a:xfrm>
            <a:custGeom>
              <a:avLst/>
              <a:gdLst/>
              <a:ahLst/>
              <a:cxnLst/>
              <a:rect r="r" b="b" t="t" l="l"/>
              <a:pathLst>
                <a:path h="2926080" w="21762720">
                  <a:moveTo>
                    <a:pt x="0" y="182880"/>
                  </a:moveTo>
                  <a:cubicBezTo>
                    <a:pt x="0" y="81915"/>
                    <a:pt x="81915" y="0"/>
                    <a:pt x="182880" y="0"/>
                  </a:cubicBezTo>
                  <a:lnTo>
                    <a:pt x="21579839" y="0"/>
                  </a:lnTo>
                  <a:cubicBezTo>
                    <a:pt x="21680804" y="0"/>
                    <a:pt x="21762720" y="81915"/>
                    <a:pt x="21762720" y="182880"/>
                  </a:cubicBezTo>
                  <a:lnTo>
                    <a:pt x="21762720" y="2743200"/>
                  </a:lnTo>
                  <a:cubicBezTo>
                    <a:pt x="21762720" y="2844165"/>
                    <a:pt x="21680804" y="2926080"/>
                    <a:pt x="21579839" y="2926080"/>
                  </a:cubicBezTo>
                  <a:lnTo>
                    <a:pt x="182880" y="2926080"/>
                  </a:lnTo>
                  <a:cubicBezTo>
                    <a:pt x="81915" y="2926080"/>
                    <a:pt x="0" y="2844165"/>
                    <a:pt x="0" y="2743200"/>
                  </a:cubicBezTo>
                  <a:close/>
                </a:path>
              </a:pathLst>
            </a:custGeom>
            <a:solidFill>
              <a:srgbClr val="F4F7FC"/>
            </a:solidFill>
          </p:spPr>
        </p:sp>
      </p:grpSp>
      <p:grpSp>
        <p:nvGrpSpPr>
          <p:cNvPr name="Group 13" id="13"/>
          <p:cNvGrpSpPr/>
          <p:nvPr/>
        </p:nvGrpSpPr>
        <p:grpSpPr>
          <a:xfrm rot="0">
            <a:off x="1440180" y="2770632"/>
            <a:ext cx="15361920" cy="1714500"/>
            <a:chOff x="0" y="0"/>
            <a:chExt cx="20482560" cy="2286000"/>
          </a:xfrm>
        </p:grpSpPr>
        <p:sp>
          <p:nvSpPr>
            <p:cNvPr name="Freeform 14" id="14"/>
            <p:cNvSpPr/>
            <p:nvPr/>
          </p:nvSpPr>
          <p:spPr>
            <a:xfrm flipH="false" flipV="false" rot="0">
              <a:off x="0" y="0"/>
              <a:ext cx="20482561" cy="2286000"/>
            </a:xfrm>
            <a:custGeom>
              <a:avLst/>
              <a:gdLst/>
              <a:ahLst/>
              <a:cxnLst/>
              <a:rect r="r" b="b" t="t" l="l"/>
              <a:pathLst>
                <a:path h="2286000" w="20482561">
                  <a:moveTo>
                    <a:pt x="0" y="0"/>
                  </a:moveTo>
                  <a:lnTo>
                    <a:pt x="20482561" y="0"/>
                  </a:lnTo>
                  <a:lnTo>
                    <a:pt x="20482561" y="2286000"/>
                  </a:lnTo>
                  <a:lnTo>
                    <a:pt x="0" y="2286000"/>
                  </a:lnTo>
                  <a:close/>
                </a:path>
              </a:pathLst>
            </a:custGeom>
            <a:blipFill>
              <a:blip r:embed="rId2">
                <a:alphaModFix amt="0"/>
              </a:blip>
              <a:stretch>
                <a:fillRect l="0" t="-124585" r="0" b="-124585"/>
              </a:stretch>
            </a:blipFill>
          </p:spPr>
        </p:sp>
        <p:sp>
          <p:nvSpPr>
            <p:cNvPr name="TextBox 15" id="15"/>
            <p:cNvSpPr txBox="true"/>
            <p:nvPr/>
          </p:nvSpPr>
          <p:spPr>
            <a:xfrm>
              <a:off x="0" y="-85725"/>
              <a:ext cx="20482560" cy="2371725"/>
            </a:xfrm>
            <a:prstGeom prst="rect">
              <a:avLst/>
            </a:prstGeom>
          </p:spPr>
          <p:txBody>
            <a:bodyPr anchor="ctr" rtlCol="false" tIns="0" lIns="0" bIns="0" rIns="0"/>
            <a:lstStyle/>
            <a:p>
              <a:pPr algn="l">
                <a:lnSpc>
                  <a:spcPts val="3600"/>
                </a:lnSpc>
              </a:pPr>
              <a:r>
                <a:rPr lang="en-US" sz="2400" i="true">
                  <a:solidFill>
                    <a:srgbClr val="23262F"/>
                  </a:solidFill>
                  <a:latin typeface="Cambria Italics"/>
                  <a:ea typeface="Cambria Italics"/>
                  <a:cs typeface="Cambria Italics"/>
                  <a:sym typeface="Cambria Italics"/>
                </a:rPr>
                <a:t>"IT configures the financial system to require complex passwords and to lock an account after five failed login attempts."</a:t>
              </a:r>
            </a:p>
          </p:txBody>
        </p:sp>
      </p:grpSp>
      <p:grpSp>
        <p:nvGrpSpPr>
          <p:cNvPr name="Group 16" id="16"/>
          <p:cNvGrpSpPr/>
          <p:nvPr/>
        </p:nvGrpSpPr>
        <p:grpSpPr>
          <a:xfrm rot="0">
            <a:off x="950595" y="5065395"/>
            <a:ext cx="5162550" cy="842010"/>
            <a:chOff x="0" y="0"/>
            <a:chExt cx="6883400" cy="1122680"/>
          </a:xfrm>
        </p:grpSpPr>
        <p:sp>
          <p:nvSpPr>
            <p:cNvPr name="Freeform 17" id="17"/>
            <p:cNvSpPr/>
            <p:nvPr/>
          </p:nvSpPr>
          <p:spPr>
            <a:xfrm flipH="false" flipV="false" rot="0">
              <a:off x="0" y="0"/>
              <a:ext cx="6883400" cy="1122680"/>
            </a:xfrm>
            <a:custGeom>
              <a:avLst/>
              <a:gdLst/>
              <a:ahLst/>
              <a:cxnLst/>
              <a:rect r="r" b="b" t="t" l="l"/>
              <a:pathLst>
                <a:path h="1122680" w="6883400">
                  <a:moveTo>
                    <a:pt x="0" y="168402"/>
                  </a:moveTo>
                  <a:cubicBezTo>
                    <a:pt x="0" y="75438"/>
                    <a:pt x="75438" y="0"/>
                    <a:pt x="168402" y="0"/>
                  </a:cubicBezTo>
                  <a:lnTo>
                    <a:pt x="6714998" y="0"/>
                  </a:lnTo>
                  <a:cubicBezTo>
                    <a:pt x="6807962" y="0"/>
                    <a:pt x="6883400" y="75438"/>
                    <a:pt x="6883400" y="168402"/>
                  </a:cubicBezTo>
                  <a:lnTo>
                    <a:pt x="6883400" y="954278"/>
                  </a:lnTo>
                  <a:cubicBezTo>
                    <a:pt x="6883400" y="1047242"/>
                    <a:pt x="6807962" y="1122680"/>
                    <a:pt x="6714998" y="1122680"/>
                  </a:cubicBezTo>
                  <a:lnTo>
                    <a:pt x="168402" y="1122680"/>
                  </a:lnTo>
                  <a:cubicBezTo>
                    <a:pt x="75438" y="1122680"/>
                    <a:pt x="0" y="1047242"/>
                    <a:pt x="0" y="954278"/>
                  </a:cubicBezTo>
                  <a:close/>
                </a:path>
              </a:pathLst>
            </a:custGeom>
            <a:solidFill>
              <a:srgbClr val="F4F7FC"/>
            </a:solidFill>
            <a:ln w="19050" cap="sq">
              <a:solidFill>
                <a:srgbClr val="D7DCEC"/>
              </a:solidFill>
              <a:prstDash val="solid"/>
              <a:miter/>
            </a:ln>
          </p:spPr>
        </p:sp>
      </p:grpSp>
      <p:grpSp>
        <p:nvGrpSpPr>
          <p:cNvPr name="Group 18" id="18"/>
          <p:cNvGrpSpPr/>
          <p:nvPr/>
        </p:nvGrpSpPr>
        <p:grpSpPr>
          <a:xfrm rot="0">
            <a:off x="960120" y="5143500"/>
            <a:ext cx="5143500" cy="521208"/>
            <a:chOff x="0" y="0"/>
            <a:chExt cx="6858000" cy="694944"/>
          </a:xfrm>
        </p:grpSpPr>
        <p:sp>
          <p:nvSpPr>
            <p:cNvPr name="Freeform 19" id="19"/>
            <p:cNvSpPr/>
            <p:nvPr/>
          </p:nvSpPr>
          <p:spPr>
            <a:xfrm flipH="false" flipV="false" rot="0">
              <a:off x="0" y="0"/>
              <a:ext cx="6858000" cy="694944"/>
            </a:xfrm>
            <a:custGeom>
              <a:avLst/>
              <a:gdLst/>
              <a:ahLst/>
              <a:cxnLst/>
              <a:rect r="r" b="b" t="t" l="l"/>
              <a:pathLst>
                <a:path h="694944" w="6858000">
                  <a:moveTo>
                    <a:pt x="0" y="0"/>
                  </a:moveTo>
                  <a:lnTo>
                    <a:pt x="6858000" y="0"/>
                  </a:lnTo>
                  <a:lnTo>
                    <a:pt x="6858000" y="694944"/>
                  </a:lnTo>
                  <a:lnTo>
                    <a:pt x="0" y="694944"/>
                  </a:lnTo>
                  <a:close/>
                </a:path>
              </a:pathLst>
            </a:custGeom>
            <a:blipFill>
              <a:blip r:embed="rId2">
                <a:alphaModFix amt="0"/>
              </a:blip>
              <a:stretch>
                <a:fillRect l="0" t="-142286" r="0" b="-142286"/>
              </a:stretch>
            </a:blipFill>
          </p:spPr>
        </p:sp>
        <p:sp>
          <p:nvSpPr>
            <p:cNvPr name="TextBox 20" id="20"/>
            <p:cNvSpPr txBox="true"/>
            <p:nvPr/>
          </p:nvSpPr>
          <p:spPr>
            <a:xfrm>
              <a:off x="0" y="-38100"/>
              <a:ext cx="6858000" cy="733044"/>
            </a:xfrm>
            <a:prstGeom prst="rect">
              <a:avLst/>
            </a:prstGeom>
          </p:spPr>
          <p:txBody>
            <a:bodyPr anchor="ctr" rtlCol="false" tIns="0" lIns="0" bIns="0" rIns="0"/>
            <a:lstStyle/>
            <a:p>
              <a:pPr algn="ctr">
                <a:lnSpc>
                  <a:spcPts val="2430"/>
                </a:lnSpc>
              </a:pPr>
              <a:r>
                <a:rPr lang="en-US" sz="2025">
                  <a:solidFill>
                    <a:srgbClr val="6B7280"/>
                  </a:solidFill>
                  <a:latin typeface="Calibri (MS)"/>
                  <a:ea typeface="Calibri (MS)"/>
                  <a:cs typeface="Calibri (MS)"/>
                  <a:sym typeface="Calibri (MS)"/>
                </a:rPr>
                <a:t>Govern</a:t>
              </a:r>
            </a:p>
          </p:txBody>
        </p:sp>
      </p:grpSp>
      <p:grpSp>
        <p:nvGrpSpPr>
          <p:cNvPr name="Group 21" id="21"/>
          <p:cNvGrpSpPr/>
          <p:nvPr/>
        </p:nvGrpSpPr>
        <p:grpSpPr>
          <a:xfrm rot="0">
            <a:off x="960120" y="5513832"/>
            <a:ext cx="5143500" cy="329184"/>
            <a:chOff x="0" y="0"/>
            <a:chExt cx="6858000" cy="438912"/>
          </a:xfrm>
        </p:grpSpPr>
        <p:sp>
          <p:nvSpPr>
            <p:cNvPr name="Freeform 22" id="22"/>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23" id="23"/>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9AA3B8"/>
                  </a:solidFill>
                  <a:latin typeface="Arimo"/>
                  <a:ea typeface="Arimo"/>
                  <a:cs typeface="Arimo"/>
                  <a:sym typeface="Arimo"/>
                </a:rPr>
                <a:t>GV</a:t>
              </a:r>
            </a:p>
          </p:txBody>
        </p:sp>
      </p:grpSp>
      <p:grpSp>
        <p:nvGrpSpPr>
          <p:cNvPr name="Group 24" id="24"/>
          <p:cNvGrpSpPr/>
          <p:nvPr/>
        </p:nvGrpSpPr>
        <p:grpSpPr>
          <a:xfrm rot="0">
            <a:off x="6533007" y="5065395"/>
            <a:ext cx="5162550" cy="842010"/>
            <a:chOff x="0" y="0"/>
            <a:chExt cx="6883400" cy="1122680"/>
          </a:xfrm>
        </p:grpSpPr>
        <p:sp>
          <p:nvSpPr>
            <p:cNvPr name="Freeform 25" id="25"/>
            <p:cNvSpPr/>
            <p:nvPr/>
          </p:nvSpPr>
          <p:spPr>
            <a:xfrm flipH="false" flipV="false" rot="0">
              <a:off x="0" y="0"/>
              <a:ext cx="6883400" cy="1122680"/>
            </a:xfrm>
            <a:custGeom>
              <a:avLst/>
              <a:gdLst/>
              <a:ahLst/>
              <a:cxnLst/>
              <a:rect r="r" b="b" t="t" l="l"/>
              <a:pathLst>
                <a:path h="1122680" w="6883400">
                  <a:moveTo>
                    <a:pt x="0" y="168402"/>
                  </a:moveTo>
                  <a:cubicBezTo>
                    <a:pt x="0" y="75438"/>
                    <a:pt x="75438" y="0"/>
                    <a:pt x="168402" y="0"/>
                  </a:cubicBezTo>
                  <a:lnTo>
                    <a:pt x="6714998" y="0"/>
                  </a:lnTo>
                  <a:cubicBezTo>
                    <a:pt x="6807962" y="0"/>
                    <a:pt x="6883400" y="75438"/>
                    <a:pt x="6883400" y="168402"/>
                  </a:cubicBezTo>
                  <a:lnTo>
                    <a:pt x="6883400" y="954278"/>
                  </a:lnTo>
                  <a:cubicBezTo>
                    <a:pt x="6883400" y="1047242"/>
                    <a:pt x="6807962" y="1122680"/>
                    <a:pt x="6714998" y="1122680"/>
                  </a:cubicBezTo>
                  <a:lnTo>
                    <a:pt x="168402" y="1122680"/>
                  </a:lnTo>
                  <a:cubicBezTo>
                    <a:pt x="75438" y="1122680"/>
                    <a:pt x="0" y="1047242"/>
                    <a:pt x="0" y="954278"/>
                  </a:cubicBezTo>
                  <a:close/>
                </a:path>
              </a:pathLst>
            </a:custGeom>
            <a:solidFill>
              <a:srgbClr val="F4F7FC"/>
            </a:solidFill>
            <a:ln w="19050" cap="sq">
              <a:solidFill>
                <a:srgbClr val="D7DCEC"/>
              </a:solidFill>
              <a:prstDash val="solid"/>
              <a:miter/>
            </a:ln>
          </p:spPr>
        </p:sp>
      </p:grpSp>
      <p:grpSp>
        <p:nvGrpSpPr>
          <p:cNvPr name="Group 26" id="26"/>
          <p:cNvGrpSpPr/>
          <p:nvPr/>
        </p:nvGrpSpPr>
        <p:grpSpPr>
          <a:xfrm rot="0">
            <a:off x="6542532" y="5143500"/>
            <a:ext cx="5143500" cy="521208"/>
            <a:chOff x="0" y="0"/>
            <a:chExt cx="6858000" cy="694944"/>
          </a:xfrm>
        </p:grpSpPr>
        <p:sp>
          <p:nvSpPr>
            <p:cNvPr name="Freeform 27" id="27"/>
            <p:cNvSpPr/>
            <p:nvPr/>
          </p:nvSpPr>
          <p:spPr>
            <a:xfrm flipH="false" flipV="false" rot="0">
              <a:off x="0" y="0"/>
              <a:ext cx="6858000" cy="694944"/>
            </a:xfrm>
            <a:custGeom>
              <a:avLst/>
              <a:gdLst/>
              <a:ahLst/>
              <a:cxnLst/>
              <a:rect r="r" b="b" t="t" l="l"/>
              <a:pathLst>
                <a:path h="694944" w="6858000">
                  <a:moveTo>
                    <a:pt x="0" y="0"/>
                  </a:moveTo>
                  <a:lnTo>
                    <a:pt x="6858000" y="0"/>
                  </a:lnTo>
                  <a:lnTo>
                    <a:pt x="6858000" y="694944"/>
                  </a:lnTo>
                  <a:lnTo>
                    <a:pt x="0" y="694944"/>
                  </a:lnTo>
                  <a:close/>
                </a:path>
              </a:pathLst>
            </a:custGeom>
            <a:blipFill>
              <a:blip r:embed="rId2">
                <a:alphaModFix amt="0"/>
              </a:blip>
              <a:stretch>
                <a:fillRect l="0" t="-142286" r="0" b="-142286"/>
              </a:stretch>
            </a:blipFill>
          </p:spPr>
        </p:sp>
        <p:sp>
          <p:nvSpPr>
            <p:cNvPr name="TextBox 28" id="28"/>
            <p:cNvSpPr txBox="true"/>
            <p:nvPr/>
          </p:nvSpPr>
          <p:spPr>
            <a:xfrm>
              <a:off x="0" y="-38100"/>
              <a:ext cx="6858000" cy="733044"/>
            </a:xfrm>
            <a:prstGeom prst="rect">
              <a:avLst/>
            </a:prstGeom>
          </p:spPr>
          <p:txBody>
            <a:bodyPr anchor="ctr" rtlCol="false" tIns="0" lIns="0" bIns="0" rIns="0"/>
            <a:lstStyle/>
            <a:p>
              <a:pPr algn="ctr">
                <a:lnSpc>
                  <a:spcPts val="2430"/>
                </a:lnSpc>
              </a:pPr>
              <a:r>
                <a:rPr lang="en-US" sz="2025">
                  <a:solidFill>
                    <a:srgbClr val="6B7280"/>
                  </a:solidFill>
                  <a:latin typeface="Calibri (MS)"/>
                  <a:ea typeface="Calibri (MS)"/>
                  <a:cs typeface="Calibri (MS)"/>
                  <a:sym typeface="Calibri (MS)"/>
                </a:rPr>
                <a:t>Identify</a:t>
              </a:r>
            </a:p>
          </p:txBody>
        </p:sp>
      </p:grpSp>
      <p:grpSp>
        <p:nvGrpSpPr>
          <p:cNvPr name="Group 29" id="29"/>
          <p:cNvGrpSpPr/>
          <p:nvPr/>
        </p:nvGrpSpPr>
        <p:grpSpPr>
          <a:xfrm rot="0">
            <a:off x="6542532" y="5513832"/>
            <a:ext cx="5143500" cy="329184"/>
            <a:chOff x="0" y="0"/>
            <a:chExt cx="6858000" cy="438912"/>
          </a:xfrm>
        </p:grpSpPr>
        <p:sp>
          <p:nvSpPr>
            <p:cNvPr name="Freeform 30" id="30"/>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31" id="31"/>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9AA3B8"/>
                  </a:solidFill>
                  <a:latin typeface="Arimo"/>
                  <a:ea typeface="Arimo"/>
                  <a:cs typeface="Arimo"/>
                  <a:sym typeface="Arimo"/>
                </a:rPr>
                <a:t>ID</a:t>
              </a:r>
            </a:p>
          </p:txBody>
        </p:sp>
      </p:grpSp>
      <p:grpSp>
        <p:nvGrpSpPr>
          <p:cNvPr name="Group 32" id="32"/>
          <p:cNvGrpSpPr/>
          <p:nvPr/>
        </p:nvGrpSpPr>
        <p:grpSpPr>
          <a:xfrm rot="0">
            <a:off x="12115419" y="5065395"/>
            <a:ext cx="5162550" cy="842010"/>
            <a:chOff x="0" y="0"/>
            <a:chExt cx="6883400" cy="1122680"/>
          </a:xfrm>
        </p:grpSpPr>
        <p:sp>
          <p:nvSpPr>
            <p:cNvPr name="Freeform 33" id="33"/>
            <p:cNvSpPr/>
            <p:nvPr/>
          </p:nvSpPr>
          <p:spPr>
            <a:xfrm flipH="false" flipV="false" rot="0">
              <a:off x="0" y="0"/>
              <a:ext cx="6883400" cy="1122680"/>
            </a:xfrm>
            <a:custGeom>
              <a:avLst/>
              <a:gdLst/>
              <a:ahLst/>
              <a:cxnLst/>
              <a:rect r="r" b="b" t="t" l="l"/>
              <a:pathLst>
                <a:path h="1122680" w="6883400">
                  <a:moveTo>
                    <a:pt x="0" y="168402"/>
                  </a:moveTo>
                  <a:cubicBezTo>
                    <a:pt x="0" y="75438"/>
                    <a:pt x="75438" y="0"/>
                    <a:pt x="168402" y="0"/>
                  </a:cubicBezTo>
                  <a:lnTo>
                    <a:pt x="6714998" y="0"/>
                  </a:lnTo>
                  <a:cubicBezTo>
                    <a:pt x="6807962" y="0"/>
                    <a:pt x="6883400" y="75438"/>
                    <a:pt x="6883400" y="168402"/>
                  </a:cubicBezTo>
                  <a:lnTo>
                    <a:pt x="6883400" y="954278"/>
                  </a:lnTo>
                  <a:cubicBezTo>
                    <a:pt x="6883400" y="1047242"/>
                    <a:pt x="6807962" y="1122680"/>
                    <a:pt x="6714998" y="1122680"/>
                  </a:cubicBezTo>
                  <a:lnTo>
                    <a:pt x="168402" y="1122680"/>
                  </a:lnTo>
                  <a:cubicBezTo>
                    <a:pt x="75438" y="1122680"/>
                    <a:pt x="0" y="1047242"/>
                    <a:pt x="0" y="954278"/>
                  </a:cubicBezTo>
                  <a:close/>
                </a:path>
              </a:pathLst>
            </a:custGeom>
            <a:solidFill>
              <a:srgbClr val="1F6FEB"/>
            </a:solidFill>
            <a:ln w="19050" cap="sq">
              <a:solidFill>
                <a:srgbClr val="1F6FEB"/>
              </a:solidFill>
              <a:prstDash val="solid"/>
              <a:miter/>
            </a:ln>
          </p:spPr>
        </p:sp>
      </p:grpSp>
      <p:grpSp>
        <p:nvGrpSpPr>
          <p:cNvPr name="Group 34" id="34"/>
          <p:cNvGrpSpPr/>
          <p:nvPr/>
        </p:nvGrpSpPr>
        <p:grpSpPr>
          <a:xfrm rot="0">
            <a:off x="12124944" y="5143500"/>
            <a:ext cx="5143500" cy="521208"/>
            <a:chOff x="0" y="0"/>
            <a:chExt cx="6858000" cy="694944"/>
          </a:xfrm>
        </p:grpSpPr>
        <p:sp>
          <p:nvSpPr>
            <p:cNvPr name="Freeform 35" id="35"/>
            <p:cNvSpPr/>
            <p:nvPr/>
          </p:nvSpPr>
          <p:spPr>
            <a:xfrm flipH="false" flipV="false" rot="0">
              <a:off x="0" y="0"/>
              <a:ext cx="6858000" cy="694944"/>
            </a:xfrm>
            <a:custGeom>
              <a:avLst/>
              <a:gdLst/>
              <a:ahLst/>
              <a:cxnLst/>
              <a:rect r="r" b="b" t="t" l="l"/>
              <a:pathLst>
                <a:path h="694944" w="6858000">
                  <a:moveTo>
                    <a:pt x="0" y="0"/>
                  </a:moveTo>
                  <a:lnTo>
                    <a:pt x="6858000" y="0"/>
                  </a:lnTo>
                  <a:lnTo>
                    <a:pt x="6858000" y="694944"/>
                  </a:lnTo>
                  <a:lnTo>
                    <a:pt x="0" y="694944"/>
                  </a:lnTo>
                  <a:close/>
                </a:path>
              </a:pathLst>
            </a:custGeom>
            <a:blipFill>
              <a:blip r:embed="rId2">
                <a:alphaModFix amt="0"/>
              </a:blip>
              <a:stretch>
                <a:fillRect l="0" t="-142286" r="0" b="-142286"/>
              </a:stretch>
            </a:blipFill>
          </p:spPr>
        </p:sp>
        <p:sp>
          <p:nvSpPr>
            <p:cNvPr name="TextBox 36" id="36"/>
            <p:cNvSpPr txBox="true"/>
            <p:nvPr/>
          </p:nvSpPr>
          <p:spPr>
            <a:xfrm>
              <a:off x="0" y="-38100"/>
              <a:ext cx="6858000" cy="733044"/>
            </a:xfrm>
            <a:prstGeom prst="rect">
              <a:avLst/>
            </a:prstGeom>
          </p:spPr>
          <p:txBody>
            <a:bodyPr anchor="ctr" rtlCol="false" tIns="0" lIns="0" bIns="0" rIns="0"/>
            <a:lstStyle/>
            <a:p>
              <a:pPr algn="ctr">
                <a:lnSpc>
                  <a:spcPts val="2430"/>
                </a:lnSpc>
              </a:pPr>
              <a:r>
                <a:rPr lang="en-US" sz="2025" b="true">
                  <a:solidFill>
                    <a:srgbClr val="FFFFFF"/>
                  </a:solidFill>
                  <a:latin typeface="Calibri (MS) Bold"/>
                  <a:ea typeface="Calibri (MS) Bold"/>
                  <a:cs typeface="Calibri (MS) Bold"/>
                  <a:sym typeface="Calibri (MS) Bold"/>
                </a:rPr>
                <a:t>✓  Protect</a:t>
              </a:r>
            </a:p>
          </p:txBody>
        </p:sp>
      </p:grpSp>
      <p:grpSp>
        <p:nvGrpSpPr>
          <p:cNvPr name="Group 37" id="37"/>
          <p:cNvGrpSpPr/>
          <p:nvPr/>
        </p:nvGrpSpPr>
        <p:grpSpPr>
          <a:xfrm rot="0">
            <a:off x="12124944" y="5513832"/>
            <a:ext cx="5143500" cy="329184"/>
            <a:chOff x="0" y="0"/>
            <a:chExt cx="6858000" cy="438912"/>
          </a:xfrm>
        </p:grpSpPr>
        <p:sp>
          <p:nvSpPr>
            <p:cNvPr name="Freeform 38" id="38"/>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39" id="39"/>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FFFFFF"/>
                  </a:solidFill>
                  <a:latin typeface="Arimo"/>
                  <a:ea typeface="Arimo"/>
                  <a:cs typeface="Arimo"/>
                  <a:sym typeface="Arimo"/>
                </a:rPr>
                <a:t>PR</a:t>
              </a:r>
            </a:p>
          </p:txBody>
        </p:sp>
      </p:grpSp>
      <p:grpSp>
        <p:nvGrpSpPr>
          <p:cNvPr name="Group 40" id="40"/>
          <p:cNvGrpSpPr/>
          <p:nvPr/>
        </p:nvGrpSpPr>
        <p:grpSpPr>
          <a:xfrm rot="0">
            <a:off x="950595" y="6135243"/>
            <a:ext cx="5162550" cy="842010"/>
            <a:chOff x="0" y="0"/>
            <a:chExt cx="6883400" cy="1122680"/>
          </a:xfrm>
        </p:grpSpPr>
        <p:sp>
          <p:nvSpPr>
            <p:cNvPr name="Freeform 41" id="41"/>
            <p:cNvSpPr/>
            <p:nvPr/>
          </p:nvSpPr>
          <p:spPr>
            <a:xfrm flipH="false" flipV="false" rot="0">
              <a:off x="0" y="0"/>
              <a:ext cx="6883400" cy="1122680"/>
            </a:xfrm>
            <a:custGeom>
              <a:avLst/>
              <a:gdLst/>
              <a:ahLst/>
              <a:cxnLst/>
              <a:rect r="r" b="b" t="t" l="l"/>
              <a:pathLst>
                <a:path h="1122680" w="6883400">
                  <a:moveTo>
                    <a:pt x="0" y="168402"/>
                  </a:moveTo>
                  <a:cubicBezTo>
                    <a:pt x="0" y="75438"/>
                    <a:pt x="75438" y="0"/>
                    <a:pt x="168402" y="0"/>
                  </a:cubicBezTo>
                  <a:lnTo>
                    <a:pt x="6714998" y="0"/>
                  </a:lnTo>
                  <a:cubicBezTo>
                    <a:pt x="6807962" y="0"/>
                    <a:pt x="6883400" y="75438"/>
                    <a:pt x="6883400" y="168402"/>
                  </a:cubicBezTo>
                  <a:lnTo>
                    <a:pt x="6883400" y="954278"/>
                  </a:lnTo>
                  <a:cubicBezTo>
                    <a:pt x="6883400" y="1047242"/>
                    <a:pt x="6807962" y="1122680"/>
                    <a:pt x="6714998" y="1122680"/>
                  </a:cubicBezTo>
                  <a:lnTo>
                    <a:pt x="168402" y="1122680"/>
                  </a:lnTo>
                  <a:cubicBezTo>
                    <a:pt x="75438" y="1122680"/>
                    <a:pt x="0" y="1047242"/>
                    <a:pt x="0" y="954278"/>
                  </a:cubicBezTo>
                  <a:close/>
                </a:path>
              </a:pathLst>
            </a:custGeom>
            <a:solidFill>
              <a:srgbClr val="F4F7FC"/>
            </a:solidFill>
            <a:ln w="19050" cap="sq">
              <a:solidFill>
                <a:srgbClr val="D7DCEC"/>
              </a:solidFill>
              <a:prstDash val="solid"/>
              <a:miter/>
            </a:ln>
          </p:spPr>
        </p:sp>
      </p:grpSp>
      <p:grpSp>
        <p:nvGrpSpPr>
          <p:cNvPr name="Group 42" id="42"/>
          <p:cNvGrpSpPr/>
          <p:nvPr/>
        </p:nvGrpSpPr>
        <p:grpSpPr>
          <a:xfrm rot="0">
            <a:off x="960120" y="6213348"/>
            <a:ext cx="5143500" cy="521208"/>
            <a:chOff x="0" y="0"/>
            <a:chExt cx="6858000" cy="694944"/>
          </a:xfrm>
        </p:grpSpPr>
        <p:sp>
          <p:nvSpPr>
            <p:cNvPr name="Freeform 43" id="43"/>
            <p:cNvSpPr/>
            <p:nvPr/>
          </p:nvSpPr>
          <p:spPr>
            <a:xfrm flipH="false" flipV="false" rot="0">
              <a:off x="0" y="0"/>
              <a:ext cx="6858000" cy="694944"/>
            </a:xfrm>
            <a:custGeom>
              <a:avLst/>
              <a:gdLst/>
              <a:ahLst/>
              <a:cxnLst/>
              <a:rect r="r" b="b" t="t" l="l"/>
              <a:pathLst>
                <a:path h="694944" w="6858000">
                  <a:moveTo>
                    <a:pt x="0" y="0"/>
                  </a:moveTo>
                  <a:lnTo>
                    <a:pt x="6858000" y="0"/>
                  </a:lnTo>
                  <a:lnTo>
                    <a:pt x="6858000" y="694944"/>
                  </a:lnTo>
                  <a:lnTo>
                    <a:pt x="0" y="694944"/>
                  </a:lnTo>
                  <a:close/>
                </a:path>
              </a:pathLst>
            </a:custGeom>
            <a:blipFill>
              <a:blip r:embed="rId2">
                <a:alphaModFix amt="0"/>
              </a:blip>
              <a:stretch>
                <a:fillRect l="0" t="-142286" r="0" b="-142286"/>
              </a:stretch>
            </a:blipFill>
          </p:spPr>
        </p:sp>
        <p:sp>
          <p:nvSpPr>
            <p:cNvPr name="TextBox 44" id="44"/>
            <p:cNvSpPr txBox="true"/>
            <p:nvPr/>
          </p:nvSpPr>
          <p:spPr>
            <a:xfrm>
              <a:off x="0" y="-38100"/>
              <a:ext cx="6858000" cy="733044"/>
            </a:xfrm>
            <a:prstGeom prst="rect">
              <a:avLst/>
            </a:prstGeom>
          </p:spPr>
          <p:txBody>
            <a:bodyPr anchor="ctr" rtlCol="false" tIns="0" lIns="0" bIns="0" rIns="0"/>
            <a:lstStyle/>
            <a:p>
              <a:pPr algn="ctr">
                <a:lnSpc>
                  <a:spcPts val="2430"/>
                </a:lnSpc>
              </a:pPr>
              <a:r>
                <a:rPr lang="en-US" sz="2025">
                  <a:solidFill>
                    <a:srgbClr val="6B7280"/>
                  </a:solidFill>
                  <a:latin typeface="Calibri (MS)"/>
                  <a:ea typeface="Calibri (MS)"/>
                  <a:cs typeface="Calibri (MS)"/>
                  <a:sym typeface="Calibri (MS)"/>
                </a:rPr>
                <a:t>Detect</a:t>
              </a:r>
            </a:p>
          </p:txBody>
        </p:sp>
      </p:grpSp>
      <p:grpSp>
        <p:nvGrpSpPr>
          <p:cNvPr name="Group 45" id="45"/>
          <p:cNvGrpSpPr/>
          <p:nvPr/>
        </p:nvGrpSpPr>
        <p:grpSpPr>
          <a:xfrm rot="0">
            <a:off x="960120" y="6583680"/>
            <a:ext cx="5143500" cy="329184"/>
            <a:chOff x="0" y="0"/>
            <a:chExt cx="6858000" cy="438912"/>
          </a:xfrm>
        </p:grpSpPr>
        <p:sp>
          <p:nvSpPr>
            <p:cNvPr name="Freeform 46" id="46"/>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47" id="47"/>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9AA3B8"/>
                  </a:solidFill>
                  <a:latin typeface="Arimo"/>
                  <a:ea typeface="Arimo"/>
                  <a:cs typeface="Arimo"/>
                  <a:sym typeface="Arimo"/>
                </a:rPr>
                <a:t>DE</a:t>
              </a:r>
            </a:p>
          </p:txBody>
        </p:sp>
      </p:grpSp>
      <p:grpSp>
        <p:nvGrpSpPr>
          <p:cNvPr name="Group 48" id="48"/>
          <p:cNvGrpSpPr/>
          <p:nvPr/>
        </p:nvGrpSpPr>
        <p:grpSpPr>
          <a:xfrm rot="0">
            <a:off x="6533007" y="6135243"/>
            <a:ext cx="5162550" cy="842010"/>
            <a:chOff x="0" y="0"/>
            <a:chExt cx="6883400" cy="1122680"/>
          </a:xfrm>
        </p:grpSpPr>
        <p:sp>
          <p:nvSpPr>
            <p:cNvPr name="Freeform 49" id="49"/>
            <p:cNvSpPr/>
            <p:nvPr/>
          </p:nvSpPr>
          <p:spPr>
            <a:xfrm flipH="false" flipV="false" rot="0">
              <a:off x="0" y="0"/>
              <a:ext cx="6883400" cy="1122680"/>
            </a:xfrm>
            <a:custGeom>
              <a:avLst/>
              <a:gdLst/>
              <a:ahLst/>
              <a:cxnLst/>
              <a:rect r="r" b="b" t="t" l="l"/>
              <a:pathLst>
                <a:path h="1122680" w="6883400">
                  <a:moveTo>
                    <a:pt x="0" y="168402"/>
                  </a:moveTo>
                  <a:cubicBezTo>
                    <a:pt x="0" y="75438"/>
                    <a:pt x="75438" y="0"/>
                    <a:pt x="168402" y="0"/>
                  </a:cubicBezTo>
                  <a:lnTo>
                    <a:pt x="6714998" y="0"/>
                  </a:lnTo>
                  <a:cubicBezTo>
                    <a:pt x="6807962" y="0"/>
                    <a:pt x="6883400" y="75438"/>
                    <a:pt x="6883400" y="168402"/>
                  </a:cubicBezTo>
                  <a:lnTo>
                    <a:pt x="6883400" y="954278"/>
                  </a:lnTo>
                  <a:cubicBezTo>
                    <a:pt x="6883400" y="1047242"/>
                    <a:pt x="6807962" y="1122680"/>
                    <a:pt x="6714998" y="1122680"/>
                  </a:cubicBezTo>
                  <a:lnTo>
                    <a:pt x="168402" y="1122680"/>
                  </a:lnTo>
                  <a:cubicBezTo>
                    <a:pt x="75438" y="1122680"/>
                    <a:pt x="0" y="1047242"/>
                    <a:pt x="0" y="954278"/>
                  </a:cubicBezTo>
                  <a:close/>
                </a:path>
              </a:pathLst>
            </a:custGeom>
            <a:solidFill>
              <a:srgbClr val="F4F7FC"/>
            </a:solidFill>
            <a:ln w="19050" cap="sq">
              <a:solidFill>
                <a:srgbClr val="D7DCEC"/>
              </a:solidFill>
              <a:prstDash val="solid"/>
              <a:miter/>
            </a:ln>
          </p:spPr>
        </p:sp>
      </p:grpSp>
      <p:grpSp>
        <p:nvGrpSpPr>
          <p:cNvPr name="Group 50" id="50"/>
          <p:cNvGrpSpPr/>
          <p:nvPr/>
        </p:nvGrpSpPr>
        <p:grpSpPr>
          <a:xfrm rot="0">
            <a:off x="6542532" y="6213348"/>
            <a:ext cx="5143500" cy="521208"/>
            <a:chOff x="0" y="0"/>
            <a:chExt cx="6858000" cy="694944"/>
          </a:xfrm>
        </p:grpSpPr>
        <p:sp>
          <p:nvSpPr>
            <p:cNvPr name="Freeform 51" id="51"/>
            <p:cNvSpPr/>
            <p:nvPr/>
          </p:nvSpPr>
          <p:spPr>
            <a:xfrm flipH="false" flipV="false" rot="0">
              <a:off x="0" y="0"/>
              <a:ext cx="6858000" cy="694944"/>
            </a:xfrm>
            <a:custGeom>
              <a:avLst/>
              <a:gdLst/>
              <a:ahLst/>
              <a:cxnLst/>
              <a:rect r="r" b="b" t="t" l="l"/>
              <a:pathLst>
                <a:path h="694944" w="6858000">
                  <a:moveTo>
                    <a:pt x="0" y="0"/>
                  </a:moveTo>
                  <a:lnTo>
                    <a:pt x="6858000" y="0"/>
                  </a:lnTo>
                  <a:lnTo>
                    <a:pt x="6858000" y="694944"/>
                  </a:lnTo>
                  <a:lnTo>
                    <a:pt x="0" y="694944"/>
                  </a:lnTo>
                  <a:close/>
                </a:path>
              </a:pathLst>
            </a:custGeom>
            <a:blipFill>
              <a:blip r:embed="rId2">
                <a:alphaModFix amt="0"/>
              </a:blip>
              <a:stretch>
                <a:fillRect l="0" t="-142286" r="0" b="-142286"/>
              </a:stretch>
            </a:blipFill>
          </p:spPr>
        </p:sp>
        <p:sp>
          <p:nvSpPr>
            <p:cNvPr name="TextBox 52" id="52"/>
            <p:cNvSpPr txBox="true"/>
            <p:nvPr/>
          </p:nvSpPr>
          <p:spPr>
            <a:xfrm>
              <a:off x="0" y="-38100"/>
              <a:ext cx="6858000" cy="733044"/>
            </a:xfrm>
            <a:prstGeom prst="rect">
              <a:avLst/>
            </a:prstGeom>
          </p:spPr>
          <p:txBody>
            <a:bodyPr anchor="ctr" rtlCol="false" tIns="0" lIns="0" bIns="0" rIns="0"/>
            <a:lstStyle/>
            <a:p>
              <a:pPr algn="ctr">
                <a:lnSpc>
                  <a:spcPts val="2430"/>
                </a:lnSpc>
              </a:pPr>
              <a:r>
                <a:rPr lang="en-US" sz="2025">
                  <a:solidFill>
                    <a:srgbClr val="6B7280"/>
                  </a:solidFill>
                  <a:latin typeface="Calibri (MS)"/>
                  <a:ea typeface="Calibri (MS)"/>
                  <a:cs typeface="Calibri (MS)"/>
                  <a:sym typeface="Calibri (MS)"/>
                </a:rPr>
                <a:t>Respond</a:t>
              </a:r>
            </a:p>
          </p:txBody>
        </p:sp>
      </p:grpSp>
      <p:grpSp>
        <p:nvGrpSpPr>
          <p:cNvPr name="Group 53" id="53"/>
          <p:cNvGrpSpPr/>
          <p:nvPr/>
        </p:nvGrpSpPr>
        <p:grpSpPr>
          <a:xfrm rot="0">
            <a:off x="6542532" y="6583680"/>
            <a:ext cx="5143500" cy="329184"/>
            <a:chOff x="0" y="0"/>
            <a:chExt cx="6858000" cy="438912"/>
          </a:xfrm>
        </p:grpSpPr>
        <p:sp>
          <p:nvSpPr>
            <p:cNvPr name="Freeform 54" id="54"/>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55" id="55"/>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9AA3B8"/>
                  </a:solidFill>
                  <a:latin typeface="Arimo"/>
                  <a:ea typeface="Arimo"/>
                  <a:cs typeface="Arimo"/>
                  <a:sym typeface="Arimo"/>
                </a:rPr>
                <a:t>RS</a:t>
              </a:r>
            </a:p>
          </p:txBody>
        </p:sp>
      </p:grpSp>
      <p:grpSp>
        <p:nvGrpSpPr>
          <p:cNvPr name="Group 56" id="56"/>
          <p:cNvGrpSpPr/>
          <p:nvPr/>
        </p:nvGrpSpPr>
        <p:grpSpPr>
          <a:xfrm rot="0">
            <a:off x="12115419" y="6135243"/>
            <a:ext cx="5162550" cy="842010"/>
            <a:chOff x="0" y="0"/>
            <a:chExt cx="6883400" cy="1122680"/>
          </a:xfrm>
        </p:grpSpPr>
        <p:sp>
          <p:nvSpPr>
            <p:cNvPr name="Freeform 57" id="57"/>
            <p:cNvSpPr/>
            <p:nvPr/>
          </p:nvSpPr>
          <p:spPr>
            <a:xfrm flipH="false" flipV="false" rot="0">
              <a:off x="0" y="0"/>
              <a:ext cx="6883400" cy="1122680"/>
            </a:xfrm>
            <a:custGeom>
              <a:avLst/>
              <a:gdLst/>
              <a:ahLst/>
              <a:cxnLst/>
              <a:rect r="r" b="b" t="t" l="l"/>
              <a:pathLst>
                <a:path h="1122680" w="6883400">
                  <a:moveTo>
                    <a:pt x="0" y="168402"/>
                  </a:moveTo>
                  <a:cubicBezTo>
                    <a:pt x="0" y="75438"/>
                    <a:pt x="75438" y="0"/>
                    <a:pt x="168402" y="0"/>
                  </a:cubicBezTo>
                  <a:lnTo>
                    <a:pt x="6714998" y="0"/>
                  </a:lnTo>
                  <a:cubicBezTo>
                    <a:pt x="6807962" y="0"/>
                    <a:pt x="6883400" y="75438"/>
                    <a:pt x="6883400" y="168402"/>
                  </a:cubicBezTo>
                  <a:lnTo>
                    <a:pt x="6883400" y="954278"/>
                  </a:lnTo>
                  <a:cubicBezTo>
                    <a:pt x="6883400" y="1047242"/>
                    <a:pt x="6807962" y="1122680"/>
                    <a:pt x="6714998" y="1122680"/>
                  </a:cubicBezTo>
                  <a:lnTo>
                    <a:pt x="168402" y="1122680"/>
                  </a:lnTo>
                  <a:cubicBezTo>
                    <a:pt x="75438" y="1122680"/>
                    <a:pt x="0" y="1047242"/>
                    <a:pt x="0" y="954278"/>
                  </a:cubicBezTo>
                  <a:close/>
                </a:path>
              </a:pathLst>
            </a:custGeom>
            <a:solidFill>
              <a:srgbClr val="F4F7FC"/>
            </a:solidFill>
            <a:ln w="19050" cap="sq">
              <a:solidFill>
                <a:srgbClr val="D7DCEC"/>
              </a:solidFill>
              <a:prstDash val="solid"/>
              <a:miter/>
            </a:ln>
          </p:spPr>
        </p:sp>
      </p:grpSp>
      <p:grpSp>
        <p:nvGrpSpPr>
          <p:cNvPr name="Group 58" id="58"/>
          <p:cNvGrpSpPr/>
          <p:nvPr/>
        </p:nvGrpSpPr>
        <p:grpSpPr>
          <a:xfrm rot="0">
            <a:off x="12124944" y="6213348"/>
            <a:ext cx="5143500" cy="521208"/>
            <a:chOff x="0" y="0"/>
            <a:chExt cx="6858000" cy="694944"/>
          </a:xfrm>
        </p:grpSpPr>
        <p:sp>
          <p:nvSpPr>
            <p:cNvPr name="Freeform 59" id="59"/>
            <p:cNvSpPr/>
            <p:nvPr/>
          </p:nvSpPr>
          <p:spPr>
            <a:xfrm flipH="false" flipV="false" rot="0">
              <a:off x="0" y="0"/>
              <a:ext cx="6858000" cy="694944"/>
            </a:xfrm>
            <a:custGeom>
              <a:avLst/>
              <a:gdLst/>
              <a:ahLst/>
              <a:cxnLst/>
              <a:rect r="r" b="b" t="t" l="l"/>
              <a:pathLst>
                <a:path h="694944" w="6858000">
                  <a:moveTo>
                    <a:pt x="0" y="0"/>
                  </a:moveTo>
                  <a:lnTo>
                    <a:pt x="6858000" y="0"/>
                  </a:lnTo>
                  <a:lnTo>
                    <a:pt x="6858000" y="694944"/>
                  </a:lnTo>
                  <a:lnTo>
                    <a:pt x="0" y="694944"/>
                  </a:lnTo>
                  <a:close/>
                </a:path>
              </a:pathLst>
            </a:custGeom>
            <a:blipFill>
              <a:blip r:embed="rId2">
                <a:alphaModFix amt="0"/>
              </a:blip>
              <a:stretch>
                <a:fillRect l="0" t="-142286" r="0" b="-142286"/>
              </a:stretch>
            </a:blipFill>
          </p:spPr>
        </p:sp>
        <p:sp>
          <p:nvSpPr>
            <p:cNvPr name="TextBox 60" id="60"/>
            <p:cNvSpPr txBox="true"/>
            <p:nvPr/>
          </p:nvSpPr>
          <p:spPr>
            <a:xfrm>
              <a:off x="0" y="-38100"/>
              <a:ext cx="6858000" cy="733044"/>
            </a:xfrm>
            <a:prstGeom prst="rect">
              <a:avLst/>
            </a:prstGeom>
          </p:spPr>
          <p:txBody>
            <a:bodyPr anchor="ctr" rtlCol="false" tIns="0" lIns="0" bIns="0" rIns="0"/>
            <a:lstStyle/>
            <a:p>
              <a:pPr algn="ctr">
                <a:lnSpc>
                  <a:spcPts val="2430"/>
                </a:lnSpc>
              </a:pPr>
              <a:r>
                <a:rPr lang="en-US" sz="2025">
                  <a:solidFill>
                    <a:srgbClr val="6B7280"/>
                  </a:solidFill>
                  <a:latin typeface="Calibri (MS)"/>
                  <a:ea typeface="Calibri (MS)"/>
                  <a:cs typeface="Calibri (MS)"/>
                  <a:sym typeface="Calibri (MS)"/>
                </a:rPr>
                <a:t>Recover</a:t>
              </a:r>
            </a:p>
          </p:txBody>
        </p:sp>
      </p:grpSp>
      <p:grpSp>
        <p:nvGrpSpPr>
          <p:cNvPr name="Group 61" id="61"/>
          <p:cNvGrpSpPr/>
          <p:nvPr/>
        </p:nvGrpSpPr>
        <p:grpSpPr>
          <a:xfrm rot="0">
            <a:off x="12124944" y="6583680"/>
            <a:ext cx="5143500" cy="329184"/>
            <a:chOff x="0" y="0"/>
            <a:chExt cx="6858000" cy="438912"/>
          </a:xfrm>
        </p:grpSpPr>
        <p:sp>
          <p:nvSpPr>
            <p:cNvPr name="Freeform 62" id="62"/>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63" id="63"/>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9AA3B8"/>
                  </a:solidFill>
                  <a:latin typeface="Arimo"/>
                  <a:ea typeface="Arimo"/>
                  <a:cs typeface="Arimo"/>
                  <a:sym typeface="Arimo"/>
                </a:rPr>
                <a:t>RC</a:t>
              </a:r>
            </a:p>
          </p:txBody>
        </p:sp>
      </p:grpSp>
      <p:grpSp>
        <p:nvGrpSpPr>
          <p:cNvPr name="Group 64" id="64"/>
          <p:cNvGrpSpPr/>
          <p:nvPr/>
        </p:nvGrpSpPr>
        <p:grpSpPr>
          <a:xfrm rot="0">
            <a:off x="950595" y="7328535"/>
            <a:ext cx="16341090" cy="1596390"/>
            <a:chOff x="0" y="0"/>
            <a:chExt cx="21788120" cy="2128520"/>
          </a:xfrm>
        </p:grpSpPr>
        <p:sp>
          <p:nvSpPr>
            <p:cNvPr name="Freeform 65" id="65"/>
            <p:cNvSpPr/>
            <p:nvPr/>
          </p:nvSpPr>
          <p:spPr>
            <a:xfrm flipH="false" flipV="false" rot="0">
              <a:off x="0" y="0"/>
              <a:ext cx="21788120" cy="2128520"/>
            </a:xfrm>
            <a:custGeom>
              <a:avLst/>
              <a:gdLst/>
              <a:ahLst/>
              <a:cxnLst/>
              <a:rect r="r" b="b" t="t" l="l"/>
              <a:pathLst>
                <a:path h="2128520" w="21788120">
                  <a:moveTo>
                    <a:pt x="0" y="185039"/>
                  </a:moveTo>
                  <a:cubicBezTo>
                    <a:pt x="0" y="82931"/>
                    <a:pt x="82931" y="0"/>
                    <a:pt x="185039" y="0"/>
                  </a:cubicBezTo>
                  <a:lnTo>
                    <a:pt x="21603081" y="0"/>
                  </a:lnTo>
                  <a:cubicBezTo>
                    <a:pt x="21705317" y="0"/>
                    <a:pt x="21788120" y="82931"/>
                    <a:pt x="21788120" y="185039"/>
                  </a:cubicBezTo>
                  <a:lnTo>
                    <a:pt x="21788120" y="1943481"/>
                  </a:lnTo>
                  <a:cubicBezTo>
                    <a:pt x="21788120" y="2045716"/>
                    <a:pt x="21705190" y="2128520"/>
                    <a:pt x="21603081" y="2128520"/>
                  </a:cubicBezTo>
                  <a:lnTo>
                    <a:pt x="185039" y="2128520"/>
                  </a:lnTo>
                  <a:cubicBezTo>
                    <a:pt x="82931" y="2128520"/>
                    <a:pt x="0" y="2045589"/>
                    <a:pt x="0" y="1943481"/>
                  </a:cubicBezTo>
                  <a:close/>
                </a:path>
              </a:pathLst>
            </a:custGeom>
            <a:solidFill>
              <a:srgbClr val="FBF9F4"/>
            </a:solidFill>
            <a:ln w="19050" cap="sq">
              <a:solidFill>
                <a:srgbClr val="EFE6D2"/>
              </a:solidFill>
              <a:prstDash val="solid"/>
              <a:miter/>
            </a:ln>
          </p:spPr>
        </p:sp>
      </p:grpSp>
      <p:sp>
        <p:nvSpPr>
          <p:cNvPr name="TextBox 66" id="66"/>
          <p:cNvSpPr txBox="true"/>
          <p:nvPr/>
        </p:nvSpPr>
        <p:spPr>
          <a:xfrm rot="0">
            <a:off x="1463040" y="7494270"/>
            <a:ext cx="15316200" cy="1238250"/>
          </a:xfrm>
          <a:prstGeom prst="rect">
            <a:avLst/>
          </a:prstGeom>
        </p:spPr>
        <p:txBody>
          <a:bodyPr anchor="t" rtlCol="false" tIns="0" lIns="0" bIns="0" rIns="0">
            <a:spAutoFit/>
          </a:bodyPr>
          <a:lstStyle/>
          <a:p>
            <a:pPr algn="l">
              <a:lnSpc>
                <a:spcPts val="2880"/>
              </a:lnSpc>
            </a:pPr>
            <a:r>
              <a:rPr lang="en-US" sz="1875">
                <a:solidFill>
                  <a:srgbClr val="23262F"/>
                </a:solidFill>
                <a:latin typeface="Calibri (MS)"/>
                <a:ea typeface="Calibri (MS)"/>
                <a:cs typeface="Calibri (MS)"/>
                <a:sym typeface="Calibri (MS)"/>
              </a:rPr>
              <a:t>These are technical controls actively reducing the chance of unauthorized access — day-to-day safeguards. That's Protect.</a:t>
            </a:r>
          </a:p>
        </p:txBody>
      </p:sp>
      <p:grpSp>
        <p:nvGrpSpPr>
          <p:cNvPr name="Group 67" id="67"/>
          <p:cNvGrpSpPr/>
          <p:nvPr/>
        </p:nvGrpSpPr>
        <p:grpSpPr>
          <a:xfrm rot="0">
            <a:off x="685800" y="9710928"/>
            <a:ext cx="10972800" cy="411480"/>
            <a:chOff x="0" y="0"/>
            <a:chExt cx="14630400" cy="548640"/>
          </a:xfrm>
        </p:grpSpPr>
        <p:sp>
          <p:nvSpPr>
            <p:cNvPr name="Freeform 68" id="68"/>
            <p:cNvSpPr/>
            <p:nvPr/>
          </p:nvSpPr>
          <p:spPr>
            <a:xfrm flipH="false" flipV="false" rot="0">
              <a:off x="0" y="0"/>
              <a:ext cx="14630400" cy="548640"/>
            </a:xfrm>
            <a:custGeom>
              <a:avLst/>
              <a:gdLst/>
              <a:ahLst/>
              <a:cxnLst/>
              <a:rect r="r" b="b" t="t" l="l"/>
              <a:pathLst>
                <a:path h="548640" w="14630400">
                  <a:moveTo>
                    <a:pt x="0" y="0"/>
                  </a:moveTo>
                  <a:lnTo>
                    <a:pt x="14630400" y="0"/>
                  </a:lnTo>
                  <a:lnTo>
                    <a:pt x="14630400" y="548640"/>
                  </a:lnTo>
                  <a:lnTo>
                    <a:pt x="0" y="548640"/>
                  </a:lnTo>
                  <a:close/>
                </a:path>
              </a:pathLst>
            </a:custGeom>
            <a:blipFill>
              <a:blip r:embed="rId2">
                <a:alphaModFix amt="0"/>
              </a:blip>
              <a:stretch>
                <a:fillRect l="0" t="-469601" r="0" b="-469601"/>
              </a:stretch>
            </a:blipFill>
          </p:spPr>
        </p:sp>
        <p:sp>
          <p:nvSpPr>
            <p:cNvPr name="TextBox 69" id="69"/>
            <p:cNvSpPr txBox="true"/>
            <p:nvPr/>
          </p:nvSpPr>
          <p:spPr>
            <a:xfrm>
              <a:off x="0" y="-38100"/>
              <a:ext cx="14630400" cy="586740"/>
            </a:xfrm>
            <a:prstGeom prst="rect">
              <a:avLst/>
            </a:prstGeom>
          </p:spPr>
          <p:txBody>
            <a:bodyPr anchor="ctr" rtlCol="false" tIns="0" lIns="0" bIns="0" rIns="0"/>
            <a:lstStyle/>
            <a:p>
              <a:pPr algn="l">
                <a:lnSpc>
                  <a:spcPts val="1800"/>
                </a:lnSpc>
              </a:pPr>
              <a:r>
                <a:rPr lang="en-US" sz="1500">
                  <a:solidFill>
                    <a:srgbClr val="6B7280"/>
                  </a:solidFill>
                  <a:latin typeface="Calibri (MS)"/>
                  <a:ea typeface="Calibri (MS)"/>
                  <a:cs typeface="Calibri (MS)"/>
                  <a:sym typeface="Calibri (MS)"/>
                </a:rPr>
                <a:t>Davao del Norte Provincial Government — Cybersecurity Seminar</a:t>
              </a:r>
            </a:p>
          </p:txBody>
        </p:sp>
      </p:grpSp>
      <p:grpSp>
        <p:nvGrpSpPr>
          <p:cNvPr name="Group 70" id="70"/>
          <p:cNvGrpSpPr/>
          <p:nvPr/>
        </p:nvGrpSpPr>
        <p:grpSpPr>
          <a:xfrm rot="0">
            <a:off x="16911828" y="9710928"/>
            <a:ext cx="685800" cy="411480"/>
            <a:chOff x="0" y="0"/>
            <a:chExt cx="914400" cy="548640"/>
          </a:xfrm>
        </p:grpSpPr>
        <p:sp>
          <p:nvSpPr>
            <p:cNvPr name="Freeform 71" id="71"/>
            <p:cNvSpPr/>
            <p:nvPr/>
          </p:nvSpPr>
          <p:spPr>
            <a:xfrm flipH="false" flipV="false" rot="0">
              <a:off x="0" y="0"/>
              <a:ext cx="914400" cy="548640"/>
            </a:xfrm>
            <a:custGeom>
              <a:avLst/>
              <a:gdLst/>
              <a:ahLst/>
              <a:cxnLst/>
              <a:rect r="r" b="b" t="t" l="l"/>
              <a:pathLst>
                <a:path h="548640" w="914400">
                  <a:moveTo>
                    <a:pt x="0" y="0"/>
                  </a:moveTo>
                  <a:lnTo>
                    <a:pt x="914400" y="0"/>
                  </a:lnTo>
                  <a:lnTo>
                    <a:pt x="914400" y="548640"/>
                  </a:lnTo>
                  <a:lnTo>
                    <a:pt x="0" y="548640"/>
                  </a:lnTo>
                  <a:close/>
                </a:path>
              </a:pathLst>
            </a:custGeom>
            <a:blipFill>
              <a:blip r:embed="rId2">
                <a:alphaModFix amt="0"/>
              </a:blip>
              <a:stretch>
                <a:fillRect l="-26982" t="0" r="-26982" b="0"/>
              </a:stretch>
            </a:blipFill>
          </p:spPr>
        </p:sp>
        <p:sp>
          <p:nvSpPr>
            <p:cNvPr name="TextBox 72" id="72"/>
            <p:cNvSpPr txBox="true"/>
            <p:nvPr/>
          </p:nvSpPr>
          <p:spPr>
            <a:xfrm>
              <a:off x="0" y="-38100"/>
              <a:ext cx="914400" cy="586740"/>
            </a:xfrm>
            <a:prstGeom prst="rect">
              <a:avLst/>
            </a:prstGeom>
          </p:spPr>
          <p:txBody>
            <a:bodyPr anchor="ctr" rtlCol="false" tIns="0" lIns="0" bIns="0" rIns="0"/>
            <a:lstStyle/>
            <a:p>
              <a:pPr algn="r">
                <a:lnSpc>
                  <a:spcPts val="1800"/>
                </a:lnSpc>
              </a:pPr>
              <a:r>
                <a:rPr lang="en-US" sz="1500">
                  <a:solidFill>
                    <a:srgbClr val="6B7280"/>
                  </a:solidFill>
                  <a:latin typeface="Calibri (MS)"/>
                  <a:ea typeface="Calibri (MS)"/>
                  <a:cs typeface="Calibri (MS)"/>
                  <a:sym typeface="Calibri (MS)"/>
                </a:rPr>
                <a:t>40</a:t>
              </a:r>
            </a:p>
          </p:txBody>
        </p:sp>
      </p:grpSp>
    </p:spTree>
  </p:cSld>
  <p:clrMapOvr>
    <a:masterClrMapping/>
  </p:clrMapOvr>
</p:sld>
</file>

<file path=ppt/slides/slide10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60120" y="685800"/>
            <a:ext cx="13716000" cy="411480"/>
            <a:chOff x="0" y="0"/>
            <a:chExt cx="18288000" cy="548640"/>
          </a:xfrm>
        </p:grpSpPr>
        <p:sp>
          <p:nvSpPr>
            <p:cNvPr name="Freeform 3" id="3"/>
            <p:cNvSpPr/>
            <p:nvPr/>
          </p:nvSpPr>
          <p:spPr>
            <a:xfrm flipH="false" flipV="false" rot="0">
              <a:off x="0" y="0"/>
              <a:ext cx="18288000" cy="548640"/>
            </a:xfrm>
            <a:custGeom>
              <a:avLst/>
              <a:gdLst/>
              <a:ahLst/>
              <a:cxnLst/>
              <a:rect r="r" b="b" t="t" l="l"/>
              <a:pathLst>
                <a:path h="548640" w="18288000">
                  <a:moveTo>
                    <a:pt x="0" y="0"/>
                  </a:moveTo>
                  <a:lnTo>
                    <a:pt x="18288000" y="0"/>
                  </a:lnTo>
                  <a:lnTo>
                    <a:pt x="18288000" y="548640"/>
                  </a:lnTo>
                  <a:lnTo>
                    <a:pt x="0" y="548640"/>
                  </a:lnTo>
                  <a:close/>
                </a:path>
              </a:pathLst>
            </a:custGeom>
            <a:blipFill>
              <a:blip r:embed="rId2">
                <a:alphaModFix amt="0"/>
              </a:blip>
              <a:stretch>
                <a:fillRect l="0" t="-599501" r="0" b="-599501"/>
              </a:stretch>
            </a:blipFill>
          </p:spPr>
        </p:sp>
        <p:sp>
          <p:nvSpPr>
            <p:cNvPr name="TextBox 4" id="4"/>
            <p:cNvSpPr txBox="true"/>
            <p:nvPr/>
          </p:nvSpPr>
          <p:spPr>
            <a:xfrm>
              <a:off x="0" y="-38100"/>
              <a:ext cx="18288000" cy="586740"/>
            </a:xfrm>
            <a:prstGeom prst="rect">
              <a:avLst/>
            </a:prstGeom>
          </p:spPr>
          <p:txBody>
            <a:bodyPr anchor="ctr" rtlCol="false" tIns="0" lIns="0" bIns="0" rIns="0"/>
            <a:lstStyle/>
            <a:p>
              <a:pPr algn="l">
                <a:lnSpc>
                  <a:spcPts val="2160"/>
                </a:lnSpc>
              </a:pPr>
              <a:r>
                <a:rPr lang="en-US" b="true" sz="1800" spc="225">
                  <a:solidFill>
                    <a:srgbClr val="00B4D8"/>
                  </a:solidFill>
                  <a:latin typeface="Calibri (MS) Bold"/>
                  <a:ea typeface="Calibri (MS) Bold"/>
                  <a:cs typeface="Calibri (MS) Bold"/>
                  <a:sym typeface="Calibri (MS) Bold"/>
                </a:rPr>
                <a:t>NIST CSF SORT · SCENARIO</a:t>
              </a:r>
            </a:p>
          </p:txBody>
        </p:sp>
      </p:grpSp>
      <p:grpSp>
        <p:nvGrpSpPr>
          <p:cNvPr name="Group 5" id="5"/>
          <p:cNvGrpSpPr/>
          <p:nvPr/>
        </p:nvGrpSpPr>
        <p:grpSpPr>
          <a:xfrm rot="0">
            <a:off x="960120" y="1069848"/>
            <a:ext cx="10972800" cy="822960"/>
            <a:chOff x="0" y="0"/>
            <a:chExt cx="14630400" cy="1097280"/>
          </a:xfrm>
        </p:grpSpPr>
        <p:sp>
          <p:nvSpPr>
            <p:cNvPr name="Freeform 6" id="6"/>
            <p:cNvSpPr/>
            <p:nvPr/>
          </p:nvSpPr>
          <p:spPr>
            <a:xfrm flipH="false" flipV="false" rot="0">
              <a:off x="0" y="0"/>
              <a:ext cx="14630400" cy="1097280"/>
            </a:xfrm>
            <a:custGeom>
              <a:avLst/>
              <a:gdLst/>
              <a:ahLst/>
              <a:cxnLst/>
              <a:rect r="r" b="b" t="t" l="l"/>
              <a:pathLst>
                <a:path h="1097280" w="14630400">
                  <a:moveTo>
                    <a:pt x="0" y="0"/>
                  </a:moveTo>
                  <a:lnTo>
                    <a:pt x="14630400" y="0"/>
                  </a:lnTo>
                  <a:lnTo>
                    <a:pt x="14630400" y="1097280"/>
                  </a:lnTo>
                  <a:lnTo>
                    <a:pt x="0" y="1097280"/>
                  </a:lnTo>
                  <a:close/>
                </a:path>
              </a:pathLst>
            </a:custGeom>
            <a:blipFill>
              <a:blip r:embed="rId2">
                <a:alphaModFix amt="0"/>
              </a:blip>
              <a:stretch>
                <a:fillRect l="0" t="-209800" r="0" b="-209800"/>
              </a:stretch>
            </a:blipFill>
          </p:spPr>
        </p:sp>
        <p:sp>
          <p:nvSpPr>
            <p:cNvPr name="TextBox 7" id="7"/>
            <p:cNvSpPr txBox="true"/>
            <p:nvPr/>
          </p:nvSpPr>
          <p:spPr>
            <a:xfrm>
              <a:off x="0" y="0"/>
              <a:ext cx="14630400" cy="1097280"/>
            </a:xfrm>
            <a:prstGeom prst="rect">
              <a:avLst/>
            </a:prstGeom>
          </p:spPr>
          <p:txBody>
            <a:bodyPr anchor="ctr" rtlCol="false" tIns="0" lIns="0" bIns="0" rIns="0"/>
            <a:lstStyle/>
            <a:p>
              <a:pPr algn="l">
                <a:lnSpc>
                  <a:spcPts val="4680"/>
                </a:lnSpc>
              </a:pPr>
              <a:r>
                <a:rPr lang="en-US" sz="3900" b="true">
                  <a:solidFill>
                    <a:srgbClr val="1E2761"/>
                  </a:solidFill>
                  <a:latin typeface="Cambria Bold"/>
                  <a:ea typeface="Cambria Bold"/>
                  <a:cs typeface="Cambria Bold"/>
                  <a:sym typeface="Cambria Bold"/>
                </a:rPr>
                <a:t>Scenario 16</a:t>
              </a:r>
            </a:p>
          </p:txBody>
        </p:sp>
      </p:grpSp>
      <p:grpSp>
        <p:nvGrpSpPr>
          <p:cNvPr name="Group 8" id="8"/>
          <p:cNvGrpSpPr/>
          <p:nvPr/>
        </p:nvGrpSpPr>
        <p:grpSpPr>
          <a:xfrm rot="0">
            <a:off x="960120" y="1810512"/>
            <a:ext cx="8229600" cy="411480"/>
            <a:chOff x="0" y="0"/>
            <a:chExt cx="10972800" cy="548640"/>
          </a:xfrm>
        </p:grpSpPr>
        <p:sp>
          <p:nvSpPr>
            <p:cNvPr name="Freeform 9" id="9"/>
            <p:cNvSpPr/>
            <p:nvPr/>
          </p:nvSpPr>
          <p:spPr>
            <a:xfrm flipH="false" flipV="false" rot="0">
              <a:off x="0" y="0"/>
              <a:ext cx="10972800" cy="548640"/>
            </a:xfrm>
            <a:custGeom>
              <a:avLst/>
              <a:gdLst/>
              <a:ahLst/>
              <a:cxnLst/>
              <a:rect r="r" b="b" t="t" l="l"/>
              <a:pathLst>
                <a:path h="548640" w="10972800">
                  <a:moveTo>
                    <a:pt x="0" y="0"/>
                  </a:moveTo>
                  <a:lnTo>
                    <a:pt x="10972800" y="0"/>
                  </a:lnTo>
                  <a:lnTo>
                    <a:pt x="10972800" y="548640"/>
                  </a:lnTo>
                  <a:lnTo>
                    <a:pt x="0" y="548640"/>
                  </a:lnTo>
                  <a:close/>
                </a:path>
              </a:pathLst>
            </a:custGeom>
            <a:blipFill>
              <a:blip r:embed="rId2">
                <a:alphaModFix amt="0"/>
              </a:blip>
              <a:stretch>
                <a:fillRect l="0" t="-339700" r="0" b="-339700"/>
              </a:stretch>
            </a:blipFill>
          </p:spPr>
        </p:sp>
        <p:sp>
          <p:nvSpPr>
            <p:cNvPr name="TextBox 10" id="10"/>
            <p:cNvSpPr txBox="true"/>
            <p:nvPr/>
          </p:nvSpPr>
          <p:spPr>
            <a:xfrm>
              <a:off x="0" y="-28575"/>
              <a:ext cx="10972800" cy="577215"/>
            </a:xfrm>
            <a:prstGeom prst="rect">
              <a:avLst/>
            </a:prstGeom>
          </p:spPr>
          <p:txBody>
            <a:bodyPr anchor="ctr" rtlCol="false" tIns="0" lIns="0" bIns="0" rIns="0"/>
            <a:lstStyle/>
            <a:p>
              <a:pPr algn="l">
                <a:lnSpc>
                  <a:spcPts val="1980"/>
                </a:lnSpc>
              </a:pPr>
              <a:r>
                <a:rPr lang="en-US" sz="1650">
                  <a:solidFill>
                    <a:srgbClr val="6B7280"/>
                  </a:solidFill>
                  <a:latin typeface="Calibri (MS)"/>
                  <a:ea typeface="Calibri (MS)"/>
                  <a:cs typeface="Calibri (MS)"/>
                  <a:sym typeface="Calibri (MS)"/>
                </a:rPr>
                <a:t>16 of 20</a:t>
              </a:r>
            </a:p>
          </p:txBody>
        </p:sp>
      </p:grpSp>
      <p:grpSp>
        <p:nvGrpSpPr>
          <p:cNvPr name="Group 11" id="11"/>
          <p:cNvGrpSpPr/>
          <p:nvPr/>
        </p:nvGrpSpPr>
        <p:grpSpPr>
          <a:xfrm rot="0">
            <a:off x="960120" y="2537460"/>
            <a:ext cx="16322040" cy="2811780"/>
            <a:chOff x="0" y="0"/>
            <a:chExt cx="21762720" cy="3749040"/>
          </a:xfrm>
        </p:grpSpPr>
        <p:sp>
          <p:nvSpPr>
            <p:cNvPr name="Freeform 12" id="12"/>
            <p:cNvSpPr/>
            <p:nvPr/>
          </p:nvSpPr>
          <p:spPr>
            <a:xfrm flipH="false" flipV="false" rot="0">
              <a:off x="0" y="0"/>
              <a:ext cx="21762720" cy="3749040"/>
            </a:xfrm>
            <a:custGeom>
              <a:avLst/>
              <a:gdLst/>
              <a:ahLst/>
              <a:cxnLst/>
              <a:rect r="r" b="b" t="t" l="l"/>
              <a:pathLst>
                <a:path h="3749040" w="21762720">
                  <a:moveTo>
                    <a:pt x="0" y="182880"/>
                  </a:moveTo>
                  <a:cubicBezTo>
                    <a:pt x="0" y="81915"/>
                    <a:pt x="81915" y="0"/>
                    <a:pt x="182880" y="0"/>
                  </a:cubicBezTo>
                  <a:lnTo>
                    <a:pt x="21579839" y="0"/>
                  </a:lnTo>
                  <a:cubicBezTo>
                    <a:pt x="21680804" y="0"/>
                    <a:pt x="21762720" y="81915"/>
                    <a:pt x="21762720" y="182880"/>
                  </a:cubicBezTo>
                  <a:lnTo>
                    <a:pt x="21762720" y="3566160"/>
                  </a:lnTo>
                  <a:cubicBezTo>
                    <a:pt x="21762720" y="3667125"/>
                    <a:pt x="21680804" y="3749040"/>
                    <a:pt x="21579839" y="3749040"/>
                  </a:cubicBezTo>
                  <a:lnTo>
                    <a:pt x="182880" y="3749040"/>
                  </a:lnTo>
                  <a:cubicBezTo>
                    <a:pt x="81915" y="3749040"/>
                    <a:pt x="0" y="3667125"/>
                    <a:pt x="0" y="3566160"/>
                  </a:cubicBezTo>
                  <a:close/>
                </a:path>
              </a:pathLst>
            </a:custGeom>
            <a:solidFill>
              <a:srgbClr val="F4F7FC"/>
            </a:solidFill>
          </p:spPr>
        </p:sp>
      </p:grpSp>
      <p:grpSp>
        <p:nvGrpSpPr>
          <p:cNvPr name="Group 13" id="13"/>
          <p:cNvGrpSpPr/>
          <p:nvPr/>
        </p:nvGrpSpPr>
        <p:grpSpPr>
          <a:xfrm rot="0">
            <a:off x="1440180" y="2811780"/>
            <a:ext cx="15361920" cy="2263140"/>
            <a:chOff x="0" y="0"/>
            <a:chExt cx="20482560" cy="3017520"/>
          </a:xfrm>
        </p:grpSpPr>
        <p:sp>
          <p:nvSpPr>
            <p:cNvPr name="Freeform 14" id="14"/>
            <p:cNvSpPr/>
            <p:nvPr/>
          </p:nvSpPr>
          <p:spPr>
            <a:xfrm flipH="false" flipV="false" rot="0">
              <a:off x="0" y="0"/>
              <a:ext cx="20482561" cy="3017520"/>
            </a:xfrm>
            <a:custGeom>
              <a:avLst/>
              <a:gdLst/>
              <a:ahLst/>
              <a:cxnLst/>
              <a:rect r="r" b="b" t="t" l="l"/>
              <a:pathLst>
                <a:path h="3017520" w="20482561">
                  <a:moveTo>
                    <a:pt x="0" y="0"/>
                  </a:moveTo>
                  <a:lnTo>
                    <a:pt x="20482561" y="0"/>
                  </a:lnTo>
                  <a:lnTo>
                    <a:pt x="20482561" y="3017520"/>
                  </a:lnTo>
                  <a:lnTo>
                    <a:pt x="0" y="3017520"/>
                  </a:lnTo>
                  <a:close/>
                </a:path>
              </a:pathLst>
            </a:custGeom>
            <a:blipFill>
              <a:blip r:embed="rId2">
                <a:alphaModFix amt="0"/>
              </a:blip>
              <a:stretch>
                <a:fillRect l="0" t="-82262" r="0" b="-82262"/>
              </a:stretch>
            </a:blipFill>
          </p:spPr>
        </p:sp>
        <p:sp>
          <p:nvSpPr>
            <p:cNvPr name="TextBox 15" id="15"/>
            <p:cNvSpPr txBox="true"/>
            <p:nvPr/>
          </p:nvSpPr>
          <p:spPr>
            <a:xfrm>
              <a:off x="0" y="-104775"/>
              <a:ext cx="20482560" cy="3122295"/>
            </a:xfrm>
            <a:prstGeom prst="rect">
              <a:avLst/>
            </a:prstGeom>
          </p:spPr>
          <p:txBody>
            <a:bodyPr anchor="ctr" rtlCol="false" tIns="0" lIns="0" bIns="0" rIns="0"/>
            <a:lstStyle/>
            <a:p>
              <a:pPr algn="l">
                <a:lnSpc>
                  <a:spcPts val="4147"/>
                </a:lnSpc>
              </a:pPr>
              <a:r>
                <a:rPr lang="en-US" sz="2700" i="true">
                  <a:solidFill>
                    <a:srgbClr val="23262F"/>
                  </a:solidFill>
                  <a:latin typeface="Cambria Italics"/>
                  <a:ea typeface="Cambria Italics"/>
                  <a:cs typeface="Cambria Italics"/>
                  <a:sym typeface="Cambria Italics"/>
                </a:rPr>
                <a:t>"A log-monitoring dashboard shows an unusual spike in failed login attempts against the HR portal overnight and flags it for the on-call officer to review."</a:t>
              </a:r>
            </a:p>
          </p:txBody>
        </p:sp>
      </p:grpSp>
      <p:sp>
        <p:nvSpPr>
          <p:cNvPr name="TextBox 16" id="16"/>
          <p:cNvSpPr txBox="true"/>
          <p:nvPr/>
        </p:nvSpPr>
        <p:spPr>
          <a:xfrm rot="0">
            <a:off x="1051560" y="5604510"/>
            <a:ext cx="16139160" cy="1276350"/>
          </a:xfrm>
          <a:prstGeom prst="rect">
            <a:avLst/>
          </a:prstGeom>
        </p:spPr>
        <p:txBody>
          <a:bodyPr anchor="t" rtlCol="false" tIns="0" lIns="0" bIns="0" rIns="0">
            <a:spAutoFit/>
          </a:bodyPr>
          <a:lstStyle/>
          <a:p>
            <a:pPr algn="ctr">
              <a:lnSpc>
                <a:spcPts val="3402"/>
              </a:lnSpc>
            </a:pPr>
            <a:r>
              <a:rPr lang="en-US" sz="2100" i="true">
                <a:solidFill>
                  <a:srgbClr val="6B7280"/>
                </a:solidFill>
                <a:latin typeface="Calibri (MS) Italics"/>
                <a:ea typeface="Calibri (MS) Italics"/>
                <a:cs typeface="Calibri (MS) Italics"/>
                <a:sym typeface="Calibri (MS) Italics"/>
              </a:rPr>
              <a:t>Which Function does this belong to — Govern, Identify, Protect, Detect, Respond, or Recover?</a:t>
            </a:r>
          </a:p>
          <a:p>
            <a:pPr algn="ctr">
              <a:lnSpc>
                <a:spcPts val="3402"/>
              </a:lnSpc>
            </a:pPr>
            <a:r>
              <a:rPr lang="en-US" sz="2100" i="true">
                <a:solidFill>
                  <a:srgbClr val="6B7280"/>
                </a:solidFill>
                <a:latin typeface="Calibri (MS) Italics"/>
                <a:ea typeface="Calibri (MS) Italics"/>
                <a:cs typeface="Calibri (MS) Italics"/>
                <a:sym typeface="Calibri (MS) Italics"/>
              </a:rPr>
              <a:t>Some belong to more than one. Discuss, then we'll reveal the answer.</a:t>
            </a:r>
          </a:p>
        </p:txBody>
      </p:sp>
      <p:grpSp>
        <p:nvGrpSpPr>
          <p:cNvPr name="Group 17" id="17"/>
          <p:cNvGrpSpPr/>
          <p:nvPr/>
        </p:nvGrpSpPr>
        <p:grpSpPr>
          <a:xfrm rot="0">
            <a:off x="950595" y="7122795"/>
            <a:ext cx="5162550" cy="910590"/>
            <a:chOff x="0" y="0"/>
            <a:chExt cx="6883400" cy="1214120"/>
          </a:xfrm>
        </p:grpSpPr>
        <p:sp>
          <p:nvSpPr>
            <p:cNvPr name="Freeform 18" id="18"/>
            <p:cNvSpPr/>
            <p:nvPr/>
          </p:nvSpPr>
          <p:spPr>
            <a:xfrm flipH="false" flipV="false" rot="0">
              <a:off x="0" y="0"/>
              <a:ext cx="6883400" cy="1214120"/>
            </a:xfrm>
            <a:custGeom>
              <a:avLst/>
              <a:gdLst/>
              <a:ahLst/>
              <a:cxnLst/>
              <a:rect r="r" b="b" t="t" l="l"/>
              <a:pathLst>
                <a:path h="1214120" w="6883400">
                  <a:moveTo>
                    <a:pt x="0" y="168148"/>
                  </a:moveTo>
                  <a:cubicBezTo>
                    <a:pt x="0" y="75311"/>
                    <a:pt x="75311" y="0"/>
                    <a:pt x="168148" y="0"/>
                  </a:cubicBezTo>
                  <a:lnTo>
                    <a:pt x="6715252" y="0"/>
                  </a:lnTo>
                  <a:cubicBezTo>
                    <a:pt x="6808089" y="0"/>
                    <a:pt x="6883400" y="75311"/>
                    <a:pt x="6883400" y="168148"/>
                  </a:cubicBezTo>
                  <a:lnTo>
                    <a:pt x="6883400" y="1045972"/>
                  </a:lnTo>
                  <a:cubicBezTo>
                    <a:pt x="6883400" y="1138809"/>
                    <a:pt x="6808089" y="1214120"/>
                    <a:pt x="6715252" y="1214120"/>
                  </a:cubicBezTo>
                  <a:lnTo>
                    <a:pt x="168148" y="1214120"/>
                  </a:lnTo>
                  <a:cubicBezTo>
                    <a:pt x="75311" y="1214120"/>
                    <a:pt x="0" y="1138809"/>
                    <a:pt x="0" y="1045972"/>
                  </a:cubicBezTo>
                  <a:close/>
                </a:path>
              </a:pathLst>
            </a:custGeom>
            <a:solidFill>
              <a:srgbClr val="F4F7FC"/>
            </a:solidFill>
            <a:ln w="19050" cap="sq">
              <a:solidFill>
                <a:srgbClr val="D7DCEC"/>
              </a:solidFill>
              <a:prstDash val="solid"/>
              <a:miter/>
            </a:ln>
          </p:spPr>
        </p:sp>
      </p:grpSp>
      <p:grpSp>
        <p:nvGrpSpPr>
          <p:cNvPr name="Group 19" id="19"/>
          <p:cNvGrpSpPr/>
          <p:nvPr/>
        </p:nvGrpSpPr>
        <p:grpSpPr>
          <a:xfrm rot="0">
            <a:off x="960120" y="7200900"/>
            <a:ext cx="5143500" cy="589788"/>
            <a:chOff x="0" y="0"/>
            <a:chExt cx="6858000" cy="786384"/>
          </a:xfrm>
        </p:grpSpPr>
        <p:sp>
          <p:nvSpPr>
            <p:cNvPr name="Freeform 20" id="20"/>
            <p:cNvSpPr/>
            <p:nvPr/>
          </p:nvSpPr>
          <p:spPr>
            <a:xfrm flipH="false" flipV="false" rot="0">
              <a:off x="0" y="0"/>
              <a:ext cx="6858000" cy="786384"/>
            </a:xfrm>
            <a:custGeom>
              <a:avLst/>
              <a:gdLst/>
              <a:ahLst/>
              <a:cxnLst/>
              <a:rect r="r" b="b" t="t" l="l"/>
              <a:pathLst>
                <a:path h="786384" w="6858000">
                  <a:moveTo>
                    <a:pt x="0" y="0"/>
                  </a:moveTo>
                  <a:lnTo>
                    <a:pt x="6858000" y="0"/>
                  </a:lnTo>
                  <a:lnTo>
                    <a:pt x="6858000" y="786384"/>
                  </a:lnTo>
                  <a:lnTo>
                    <a:pt x="0" y="786384"/>
                  </a:lnTo>
                  <a:close/>
                </a:path>
              </a:pathLst>
            </a:custGeom>
            <a:blipFill>
              <a:blip r:embed="rId2">
                <a:alphaModFix amt="0"/>
              </a:blip>
              <a:stretch>
                <a:fillRect l="0" t="-119927" r="0" b="-119927"/>
              </a:stretch>
            </a:blipFill>
          </p:spPr>
        </p:sp>
        <p:sp>
          <p:nvSpPr>
            <p:cNvPr name="TextBox 21" id="21"/>
            <p:cNvSpPr txBox="true"/>
            <p:nvPr/>
          </p:nvSpPr>
          <p:spPr>
            <a:xfrm>
              <a:off x="0" y="-38100"/>
              <a:ext cx="6858000" cy="824484"/>
            </a:xfrm>
            <a:prstGeom prst="rect">
              <a:avLst/>
            </a:prstGeom>
          </p:spPr>
          <p:txBody>
            <a:bodyPr anchor="ctr" rtlCol="false" tIns="0" lIns="0" bIns="0" rIns="0"/>
            <a:lstStyle/>
            <a:p>
              <a:pPr algn="ctr">
                <a:lnSpc>
                  <a:spcPts val="2430"/>
                </a:lnSpc>
              </a:pPr>
              <a:r>
                <a:rPr lang="en-US" sz="2025">
                  <a:solidFill>
                    <a:srgbClr val="6B7280"/>
                  </a:solidFill>
                  <a:latin typeface="Calibri (MS)"/>
                  <a:ea typeface="Calibri (MS)"/>
                  <a:cs typeface="Calibri (MS)"/>
                  <a:sym typeface="Calibri (MS)"/>
                </a:rPr>
                <a:t>Govern</a:t>
              </a:r>
            </a:p>
          </p:txBody>
        </p:sp>
      </p:grpSp>
      <p:grpSp>
        <p:nvGrpSpPr>
          <p:cNvPr name="Group 22" id="22"/>
          <p:cNvGrpSpPr/>
          <p:nvPr/>
        </p:nvGrpSpPr>
        <p:grpSpPr>
          <a:xfrm rot="0">
            <a:off x="960120" y="7639812"/>
            <a:ext cx="5143500" cy="329184"/>
            <a:chOff x="0" y="0"/>
            <a:chExt cx="6858000" cy="438912"/>
          </a:xfrm>
        </p:grpSpPr>
        <p:sp>
          <p:nvSpPr>
            <p:cNvPr name="Freeform 23" id="23"/>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24" id="24"/>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9AA3B8"/>
                  </a:solidFill>
                  <a:latin typeface="Arimo"/>
                  <a:ea typeface="Arimo"/>
                  <a:cs typeface="Arimo"/>
                  <a:sym typeface="Arimo"/>
                </a:rPr>
                <a:t>GV</a:t>
              </a:r>
            </a:p>
          </p:txBody>
        </p:sp>
      </p:grpSp>
      <p:grpSp>
        <p:nvGrpSpPr>
          <p:cNvPr name="Group 25" id="25"/>
          <p:cNvGrpSpPr/>
          <p:nvPr/>
        </p:nvGrpSpPr>
        <p:grpSpPr>
          <a:xfrm rot="0">
            <a:off x="6533007" y="7122795"/>
            <a:ext cx="5162550" cy="910590"/>
            <a:chOff x="0" y="0"/>
            <a:chExt cx="6883400" cy="1214120"/>
          </a:xfrm>
        </p:grpSpPr>
        <p:sp>
          <p:nvSpPr>
            <p:cNvPr name="Freeform 26" id="26"/>
            <p:cNvSpPr/>
            <p:nvPr/>
          </p:nvSpPr>
          <p:spPr>
            <a:xfrm flipH="false" flipV="false" rot="0">
              <a:off x="0" y="0"/>
              <a:ext cx="6883400" cy="1214120"/>
            </a:xfrm>
            <a:custGeom>
              <a:avLst/>
              <a:gdLst/>
              <a:ahLst/>
              <a:cxnLst/>
              <a:rect r="r" b="b" t="t" l="l"/>
              <a:pathLst>
                <a:path h="1214120" w="6883400">
                  <a:moveTo>
                    <a:pt x="0" y="168148"/>
                  </a:moveTo>
                  <a:cubicBezTo>
                    <a:pt x="0" y="75311"/>
                    <a:pt x="75311" y="0"/>
                    <a:pt x="168148" y="0"/>
                  </a:cubicBezTo>
                  <a:lnTo>
                    <a:pt x="6715252" y="0"/>
                  </a:lnTo>
                  <a:cubicBezTo>
                    <a:pt x="6808089" y="0"/>
                    <a:pt x="6883400" y="75311"/>
                    <a:pt x="6883400" y="168148"/>
                  </a:cubicBezTo>
                  <a:lnTo>
                    <a:pt x="6883400" y="1045972"/>
                  </a:lnTo>
                  <a:cubicBezTo>
                    <a:pt x="6883400" y="1138809"/>
                    <a:pt x="6808089" y="1214120"/>
                    <a:pt x="6715252" y="1214120"/>
                  </a:cubicBezTo>
                  <a:lnTo>
                    <a:pt x="168148" y="1214120"/>
                  </a:lnTo>
                  <a:cubicBezTo>
                    <a:pt x="75311" y="1214120"/>
                    <a:pt x="0" y="1138809"/>
                    <a:pt x="0" y="1045972"/>
                  </a:cubicBezTo>
                  <a:close/>
                </a:path>
              </a:pathLst>
            </a:custGeom>
            <a:solidFill>
              <a:srgbClr val="F4F7FC"/>
            </a:solidFill>
            <a:ln w="19050" cap="sq">
              <a:solidFill>
                <a:srgbClr val="D7DCEC"/>
              </a:solidFill>
              <a:prstDash val="solid"/>
              <a:miter/>
            </a:ln>
          </p:spPr>
        </p:sp>
      </p:grpSp>
      <p:grpSp>
        <p:nvGrpSpPr>
          <p:cNvPr name="Group 27" id="27"/>
          <p:cNvGrpSpPr/>
          <p:nvPr/>
        </p:nvGrpSpPr>
        <p:grpSpPr>
          <a:xfrm rot="0">
            <a:off x="6542532" y="7200900"/>
            <a:ext cx="5143500" cy="589788"/>
            <a:chOff x="0" y="0"/>
            <a:chExt cx="6858000" cy="786384"/>
          </a:xfrm>
        </p:grpSpPr>
        <p:sp>
          <p:nvSpPr>
            <p:cNvPr name="Freeform 28" id="28"/>
            <p:cNvSpPr/>
            <p:nvPr/>
          </p:nvSpPr>
          <p:spPr>
            <a:xfrm flipH="false" flipV="false" rot="0">
              <a:off x="0" y="0"/>
              <a:ext cx="6858000" cy="786384"/>
            </a:xfrm>
            <a:custGeom>
              <a:avLst/>
              <a:gdLst/>
              <a:ahLst/>
              <a:cxnLst/>
              <a:rect r="r" b="b" t="t" l="l"/>
              <a:pathLst>
                <a:path h="786384" w="6858000">
                  <a:moveTo>
                    <a:pt x="0" y="0"/>
                  </a:moveTo>
                  <a:lnTo>
                    <a:pt x="6858000" y="0"/>
                  </a:lnTo>
                  <a:lnTo>
                    <a:pt x="6858000" y="786384"/>
                  </a:lnTo>
                  <a:lnTo>
                    <a:pt x="0" y="786384"/>
                  </a:lnTo>
                  <a:close/>
                </a:path>
              </a:pathLst>
            </a:custGeom>
            <a:blipFill>
              <a:blip r:embed="rId2">
                <a:alphaModFix amt="0"/>
              </a:blip>
              <a:stretch>
                <a:fillRect l="0" t="-119927" r="0" b="-119927"/>
              </a:stretch>
            </a:blipFill>
          </p:spPr>
        </p:sp>
        <p:sp>
          <p:nvSpPr>
            <p:cNvPr name="TextBox 29" id="29"/>
            <p:cNvSpPr txBox="true"/>
            <p:nvPr/>
          </p:nvSpPr>
          <p:spPr>
            <a:xfrm>
              <a:off x="0" y="-38100"/>
              <a:ext cx="6858000" cy="824484"/>
            </a:xfrm>
            <a:prstGeom prst="rect">
              <a:avLst/>
            </a:prstGeom>
          </p:spPr>
          <p:txBody>
            <a:bodyPr anchor="ctr" rtlCol="false" tIns="0" lIns="0" bIns="0" rIns="0"/>
            <a:lstStyle/>
            <a:p>
              <a:pPr algn="ctr">
                <a:lnSpc>
                  <a:spcPts val="2430"/>
                </a:lnSpc>
              </a:pPr>
              <a:r>
                <a:rPr lang="en-US" sz="2025">
                  <a:solidFill>
                    <a:srgbClr val="6B7280"/>
                  </a:solidFill>
                  <a:latin typeface="Calibri (MS)"/>
                  <a:ea typeface="Calibri (MS)"/>
                  <a:cs typeface="Calibri (MS)"/>
                  <a:sym typeface="Calibri (MS)"/>
                </a:rPr>
                <a:t>Identify</a:t>
              </a:r>
            </a:p>
          </p:txBody>
        </p:sp>
      </p:grpSp>
      <p:grpSp>
        <p:nvGrpSpPr>
          <p:cNvPr name="Group 30" id="30"/>
          <p:cNvGrpSpPr/>
          <p:nvPr/>
        </p:nvGrpSpPr>
        <p:grpSpPr>
          <a:xfrm rot="0">
            <a:off x="6542532" y="7639812"/>
            <a:ext cx="5143500" cy="329184"/>
            <a:chOff x="0" y="0"/>
            <a:chExt cx="6858000" cy="438912"/>
          </a:xfrm>
        </p:grpSpPr>
        <p:sp>
          <p:nvSpPr>
            <p:cNvPr name="Freeform 31" id="31"/>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32" id="32"/>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9AA3B8"/>
                  </a:solidFill>
                  <a:latin typeface="Arimo"/>
                  <a:ea typeface="Arimo"/>
                  <a:cs typeface="Arimo"/>
                  <a:sym typeface="Arimo"/>
                </a:rPr>
                <a:t>ID</a:t>
              </a:r>
            </a:p>
          </p:txBody>
        </p:sp>
      </p:grpSp>
      <p:grpSp>
        <p:nvGrpSpPr>
          <p:cNvPr name="Group 33" id="33"/>
          <p:cNvGrpSpPr/>
          <p:nvPr/>
        </p:nvGrpSpPr>
        <p:grpSpPr>
          <a:xfrm rot="0">
            <a:off x="12115419" y="7122795"/>
            <a:ext cx="5162550" cy="910590"/>
            <a:chOff x="0" y="0"/>
            <a:chExt cx="6883400" cy="1214120"/>
          </a:xfrm>
        </p:grpSpPr>
        <p:sp>
          <p:nvSpPr>
            <p:cNvPr name="Freeform 34" id="34"/>
            <p:cNvSpPr/>
            <p:nvPr/>
          </p:nvSpPr>
          <p:spPr>
            <a:xfrm flipH="false" flipV="false" rot="0">
              <a:off x="0" y="0"/>
              <a:ext cx="6883400" cy="1214120"/>
            </a:xfrm>
            <a:custGeom>
              <a:avLst/>
              <a:gdLst/>
              <a:ahLst/>
              <a:cxnLst/>
              <a:rect r="r" b="b" t="t" l="l"/>
              <a:pathLst>
                <a:path h="1214120" w="6883400">
                  <a:moveTo>
                    <a:pt x="0" y="168148"/>
                  </a:moveTo>
                  <a:cubicBezTo>
                    <a:pt x="0" y="75311"/>
                    <a:pt x="75311" y="0"/>
                    <a:pt x="168148" y="0"/>
                  </a:cubicBezTo>
                  <a:lnTo>
                    <a:pt x="6715252" y="0"/>
                  </a:lnTo>
                  <a:cubicBezTo>
                    <a:pt x="6808089" y="0"/>
                    <a:pt x="6883400" y="75311"/>
                    <a:pt x="6883400" y="168148"/>
                  </a:cubicBezTo>
                  <a:lnTo>
                    <a:pt x="6883400" y="1045972"/>
                  </a:lnTo>
                  <a:cubicBezTo>
                    <a:pt x="6883400" y="1138809"/>
                    <a:pt x="6808089" y="1214120"/>
                    <a:pt x="6715252" y="1214120"/>
                  </a:cubicBezTo>
                  <a:lnTo>
                    <a:pt x="168148" y="1214120"/>
                  </a:lnTo>
                  <a:cubicBezTo>
                    <a:pt x="75311" y="1214120"/>
                    <a:pt x="0" y="1138809"/>
                    <a:pt x="0" y="1045972"/>
                  </a:cubicBezTo>
                  <a:close/>
                </a:path>
              </a:pathLst>
            </a:custGeom>
            <a:solidFill>
              <a:srgbClr val="F4F7FC"/>
            </a:solidFill>
            <a:ln w="19050" cap="sq">
              <a:solidFill>
                <a:srgbClr val="D7DCEC"/>
              </a:solidFill>
              <a:prstDash val="solid"/>
              <a:miter/>
            </a:ln>
          </p:spPr>
        </p:sp>
      </p:grpSp>
      <p:grpSp>
        <p:nvGrpSpPr>
          <p:cNvPr name="Group 35" id="35"/>
          <p:cNvGrpSpPr/>
          <p:nvPr/>
        </p:nvGrpSpPr>
        <p:grpSpPr>
          <a:xfrm rot="0">
            <a:off x="12124944" y="7200900"/>
            <a:ext cx="5143500" cy="589788"/>
            <a:chOff x="0" y="0"/>
            <a:chExt cx="6858000" cy="786384"/>
          </a:xfrm>
        </p:grpSpPr>
        <p:sp>
          <p:nvSpPr>
            <p:cNvPr name="Freeform 36" id="36"/>
            <p:cNvSpPr/>
            <p:nvPr/>
          </p:nvSpPr>
          <p:spPr>
            <a:xfrm flipH="false" flipV="false" rot="0">
              <a:off x="0" y="0"/>
              <a:ext cx="6858000" cy="786384"/>
            </a:xfrm>
            <a:custGeom>
              <a:avLst/>
              <a:gdLst/>
              <a:ahLst/>
              <a:cxnLst/>
              <a:rect r="r" b="b" t="t" l="l"/>
              <a:pathLst>
                <a:path h="786384" w="6858000">
                  <a:moveTo>
                    <a:pt x="0" y="0"/>
                  </a:moveTo>
                  <a:lnTo>
                    <a:pt x="6858000" y="0"/>
                  </a:lnTo>
                  <a:lnTo>
                    <a:pt x="6858000" y="786384"/>
                  </a:lnTo>
                  <a:lnTo>
                    <a:pt x="0" y="786384"/>
                  </a:lnTo>
                  <a:close/>
                </a:path>
              </a:pathLst>
            </a:custGeom>
            <a:blipFill>
              <a:blip r:embed="rId2">
                <a:alphaModFix amt="0"/>
              </a:blip>
              <a:stretch>
                <a:fillRect l="0" t="-119927" r="0" b="-119927"/>
              </a:stretch>
            </a:blipFill>
          </p:spPr>
        </p:sp>
        <p:sp>
          <p:nvSpPr>
            <p:cNvPr name="TextBox 37" id="37"/>
            <p:cNvSpPr txBox="true"/>
            <p:nvPr/>
          </p:nvSpPr>
          <p:spPr>
            <a:xfrm>
              <a:off x="0" y="-38100"/>
              <a:ext cx="6858000" cy="824484"/>
            </a:xfrm>
            <a:prstGeom prst="rect">
              <a:avLst/>
            </a:prstGeom>
          </p:spPr>
          <p:txBody>
            <a:bodyPr anchor="ctr" rtlCol="false" tIns="0" lIns="0" bIns="0" rIns="0"/>
            <a:lstStyle/>
            <a:p>
              <a:pPr algn="ctr">
                <a:lnSpc>
                  <a:spcPts val="2430"/>
                </a:lnSpc>
              </a:pPr>
              <a:r>
                <a:rPr lang="en-US" sz="2025">
                  <a:solidFill>
                    <a:srgbClr val="6B7280"/>
                  </a:solidFill>
                  <a:latin typeface="Calibri (MS)"/>
                  <a:ea typeface="Calibri (MS)"/>
                  <a:cs typeface="Calibri (MS)"/>
                  <a:sym typeface="Calibri (MS)"/>
                </a:rPr>
                <a:t>Protect</a:t>
              </a:r>
            </a:p>
          </p:txBody>
        </p:sp>
      </p:grpSp>
      <p:grpSp>
        <p:nvGrpSpPr>
          <p:cNvPr name="Group 38" id="38"/>
          <p:cNvGrpSpPr/>
          <p:nvPr/>
        </p:nvGrpSpPr>
        <p:grpSpPr>
          <a:xfrm rot="0">
            <a:off x="12124944" y="7639812"/>
            <a:ext cx="5143500" cy="329184"/>
            <a:chOff x="0" y="0"/>
            <a:chExt cx="6858000" cy="438912"/>
          </a:xfrm>
        </p:grpSpPr>
        <p:sp>
          <p:nvSpPr>
            <p:cNvPr name="Freeform 39" id="39"/>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40" id="40"/>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9AA3B8"/>
                  </a:solidFill>
                  <a:latin typeface="Arimo"/>
                  <a:ea typeface="Arimo"/>
                  <a:cs typeface="Arimo"/>
                  <a:sym typeface="Arimo"/>
                </a:rPr>
                <a:t>PR</a:t>
              </a:r>
            </a:p>
          </p:txBody>
        </p:sp>
      </p:grpSp>
      <p:grpSp>
        <p:nvGrpSpPr>
          <p:cNvPr name="Group 41" id="41"/>
          <p:cNvGrpSpPr/>
          <p:nvPr/>
        </p:nvGrpSpPr>
        <p:grpSpPr>
          <a:xfrm rot="0">
            <a:off x="950595" y="8288655"/>
            <a:ext cx="5162550" cy="910590"/>
            <a:chOff x="0" y="0"/>
            <a:chExt cx="6883400" cy="1214120"/>
          </a:xfrm>
        </p:grpSpPr>
        <p:sp>
          <p:nvSpPr>
            <p:cNvPr name="Freeform 42" id="42"/>
            <p:cNvSpPr/>
            <p:nvPr/>
          </p:nvSpPr>
          <p:spPr>
            <a:xfrm flipH="false" flipV="false" rot="0">
              <a:off x="0" y="0"/>
              <a:ext cx="6883400" cy="1214120"/>
            </a:xfrm>
            <a:custGeom>
              <a:avLst/>
              <a:gdLst/>
              <a:ahLst/>
              <a:cxnLst/>
              <a:rect r="r" b="b" t="t" l="l"/>
              <a:pathLst>
                <a:path h="1214120" w="6883400">
                  <a:moveTo>
                    <a:pt x="0" y="168148"/>
                  </a:moveTo>
                  <a:cubicBezTo>
                    <a:pt x="0" y="75311"/>
                    <a:pt x="75311" y="0"/>
                    <a:pt x="168148" y="0"/>
                  </a:cubicBezTo>
                  <a:lnTo>
                    <a:pt x="6715252" y="0"/>
                  </a:lnTo>
                  <a:cubicBezTo>
                    <a:pt x="6808089" y="0"/>
                    <a:pt x="6883400" y="75311"/>
                    <a:pt x="6883400" y="168148"/>
                  </a:cubicBezTo>
                  <a:lnTo>
                    <a:pt x="6883400" y="1045972"/>
                  </a:lnTo>
                  <a:cubicBezTo>
                    <a:pt x="6883400" y="1138809"/>
                    <a:pt x="6808089" y="1214120"/>
                    <a:pt x="6715252" y="1214120"/>
                  </a:cubicBezTo>
                  <a:lnTo>
                    <a:pt x="168148" y="1214120"/>
                  </a:lnTo>
                  <a:cubicBezTo>
                    <a:pt x="75311" y="1214120"/>
                    <a:pt x="0" y="1138809"/>
                    <a:pt x="0" y="1045972"/>
                  </a:cubicBezTo>
                  <a:close/>
                </a:path>
              </a:pathLst>
            </a:custGeom>
            <a:solidFill>
              <a:srgbClr val="F4F7FC"/>
            </a:solidFill>
            <a:ln w="19050" cap="sq">
              <a:solidFill>
                <a:srgbClr val="D7DCEC"/>
              </a:solidFill>
              <a:prstDash val="solid"/>
              <a:miter/>
            </a:ln>
          </p:spPr>
        </p:sp>
      </p:grpSp>
      <p:grpSp>
        <p:nvGrpSpPr>
          <p:cNvPr name="Group 43" id="43"/>
          <p:cNvGrpSpPr/>
          <p:nvPr/>
        </p:nvGrpSpPr>
        <p:grpSpPr>
          <a:xfrm rot="0">
            <a:off x="960120" y="8366760"/>
            <a:ext cx="5143500" cy="589788"/>
            <a:chOff x="0" y="0"/>
            <a:chExt cx="6858000" cy="786384"/>
          </a:xfrm>
        </p:grpSpPr>
        <p:sp>
          <p:nvSpPr>
            <p:cNvPr name="Freeform 44" id="44"/>
            <p:cNvSpPr/>
            <p:nvPr/>
          </p:nvSpPr>
          <p:spPr>
            <a:xfrm flipH="false" flipV="false" rot="0">
              <a:off x="0" y="0"/>
              <a:ext cx="6858000" cy="786384"/>
            </a:xfrm>
            <a:custGeom>
              <a:avLst/>
              <a:gdLst/>
              <a:ahLst/>
              <a:cxnLst/>
              <a:rect r="r" b="b" t="t" l="l"/>
              <a:pathLst>
                <a:path h="786384" w="6858000">
                  <a:moveTo>
                    <a:pt x="0" y="0"/>
                  </a:moveTo>
                  <a:lnTo>
                    <a:pt x="6858000" y="0"/>
                  </a:lnTo>
                  <a:lnTo>
                    <a:pt x="6858000" y="786384"/>
                  </a:lnTo>
                  <a:lnTo>
                    <a:pt x="0" y="786384"/>
                  </a:lnTo>
                  <a:close/>
                </a:path>
              </a:pathLst>
            </a:custGeom>
            <a:blipFill>
              <a:blip r:embed="rId2">
                <a:alphaModFix amt="0"/>
              </a:blip>
              <a:stretch>
                <a:fillRect l="0" t="-119927" r="0" b="-119927"/>
              </a:stretch>
            </a:blipFill>
          </p:spPr>
        </p:sp>
        <p:sp>
          <p:nvSpPr>
            <p:cNvPr name="TextBox 45" id="45"/>
            <p:cNvSpPr txBox="true"/>
            <p:nvPr/>
          </p:nvSpPr>
          <p:spPr>
            <a:xfrm>
              <a:off x="0" y="-38100"/>
              <a:ext cx="6858000" cy="824484"/>
            </a:xfrm>
            <a:prstGeom prst="rect">
              <a:avLst/>
            </a:prstGeom>
          </p:spPr>
          <p:txBody>
            <a:bodyPr anchor="ctr" rtlCol="false" tIns="0" lIns="0" bIns="0" rIns="0"/>
            <a:lstStyle/>
            <a:p>
              <a:pPr algn="ctr">
                <a:lnSpc>
                  <a:spcPts val="2430"/>
                </a:lnSpc>
              </a:pPr>
              <a:r>
                <a:rPr lang="en-US" sz="2025">
                  <a:solidFill>
                    <a:srgbClr val="6B7280"/>
                  </a:solidFill>
                  <a:latin typeface="Calibri (MS)"/>
                  <a:ea typeface="Calibri (MS)"/>
                  <a:cs typeface="Calibri (MS)"/>
                  <a:sym typeface="Calibri (MS)"/>
                </a:rPr>
                <a:t>Detect</a:t>
              </a:r>
            </a:p>
          </p:txBody>
        </p:sp>
      </p:grpSp>
      <p:grpSp>
        <p:nvGrpSpPr>
          <p:cNvPr name="Group 46" id="46"/>
          <p:cNvGrpSpPr/>
          <p:nvPr/>
        </p:nvGrpSpPr>
        <p:grpSpPr>
          <a:xfrm rot="0">
            <a:off x="960120" y="8805672"/>
            <a:ext cx="5143500" cy="329184"/>
            <a:chOff x="0" y="0"/>
            <a:chExt cx="6858000" cy="438912"/>
          </a:xfrm>
        </p:grpSpPr>
        <p:sp>
          <p:nvSpPr>
            <p:cNvPr name="Freeform 47" id="47"/>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48" id="48"/>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9AA3B8"/>
                  </a:solidFill>
                  <a:latin typeface="Arimo"/>
                  <a:ea typeface="Arimo"/>
                  <a:cs typeface="Arimo"/>
                  <a:sym typeface="Arimo"/>
                </a:rPr>
                <a:t>DE</a:t>
              </a:r>
            </a:p>
          </p:txBody>
        </p:sp>
      </p:grpSp>
      <p:grpSp>
        <p:nvGrpSpPr>
          <p:cNvPr name="Group 49" id="49"/>
          <p:cNvGrpSpPr/>
          <p:nvPr/>
        </p:nvGrpSpPr>
        <p:grpSpPr>
          <a:xfrm rot="0">
            <a:off x="6533007" y="8288655"/>
            <a:ext cx="5162550" cy="910590"/>
            <a:chOff x="0" y="0"/>
            <a:chExt cx="6883400" cy="1214120"/>
          </a:xfrm>
        </p:grpSpPr>
        <p:sp>
          <p:nvSpPr>
            <p:cNvPr name="Freeform 50" id="50"/>
            <p:cNvSpPr/>
            <p:nvPr/>
          </p:nvSpPr>
          <p:spPr>
            <a:xfrm flipH="false" flipV="false" rot="0">
              <a:off x="0" y="0"/>
              <a:ext cx="6883400" cy="1214120"/>
            </a:xfrm>
            <a:custGeom>
              <a:avLst/>
              <a:gdLst/>
              <a:ahLst/>
              <a:cxnLst/>
              <a:rect r="r" b="b" t="t" l="l"/>
              <a:pathLst>
                <a:path h="1214120" w="6883400">
                  <a:moveTo>
                    <a:pt x="0" y="168148"/>
                  </a:moveTo>
                  <a:cubicBezTo>
                    <a:pt x="0" y="75311"/>
                    <a:pt x="75311" y="0"/>
                    <a:pt x="168148" y="0"/>
                  </a:cubicBezTo>
                  <a:lnTo>
                    <a:pt x="6715252" y="0"/>
                  </a:lnTo>
                  <a:cubicBezTo>
                    <a:pt x="6808089" y="0"/>
                    <a:pt x="6883400" y="75311"/>
                    <a:pt x="6883400" y="168148"/>
                  </a:cubicBezTo>
                  <a:lnTo>
                    <a:pt x="6883400" y="1045972"/>
                  </a:lnTo>
                  <a:cubicBezTo>
                    <a:pt x="6883400" y="1138809"/>
                    <a:pt x="6808089" y="1214120"/>
                    <a:pt x="6715252" y="1214120"/>
                  </a:cubicBezTo>
                  <a:lnTo>
                    <a:pt x="168148" y="1214120"/>
                  </a:lnTo>
                  <a:cubicBezTo>
                    <a:pt x="75311" y="1214120"/>
                    <a:pt x="0" y="1138809"/>
                    <a:pt x="0" y="1045972"/>
                  </a:cubicBezTo>
                  <a:close/>
                </a:path>
              </a:pathLst>
            </a:custGeom>
            <a:solidFill>
              <a:srgbClr val="F4F7FC"/>
            </a:solidFill>
            <a:ln w="19050" cap="sq">
              <a:solidFill>
                <a:srgbClr val="D7DCEC"/>
              </a:solidFill>
              <a:prstDash val="solid"/>
              <a:miter/>
            </a:ln>
          </p:spPr>
        </p:sp>
      </p:grpSp>
      <p:grpSp>
        <p:nvGrpSpPr>
          <p:cNvPr name="Group 51" id="51"/>
          <p:cNvGrpSpPr/>
          <p:nvPr/>
        </p:nvGrpSpPr>
        <p:grpSpPr>
          <a:xfrm rot="0">
            <a:off x="6542532" y="8366760"/>
            <a:ext cx="5143500" cy="589788"/>
            <a:chOff x="0" y="0"/>
            <a:chExt cx="6858000" cy="786384"/>
          </a:xfrm>
        </p:grpSpPr>
        <p:sp>
          <p:nvSpPr>
            <p:cNvPr name="Freeform 52" id="52"/>
            <p:cNvSpPr/>
            <p:nvPr/>
          </p:nvSpPr>
          <p:spPr>
            <a:xfrm flipH="false" flipV="false" rot="0">
              <a:off x="0" y="0"/>
              <a:ext cx="6858000" cy="786384"/>
            </a:xfrm>
            <a:custGeom>
              <a:avLst/>
              <a:gdLst/>
              <a:ahLst/>
              <a:cxnLst/>
              <a:rect r="r" b="b" t="t" l="l"/>
              <a:pathLst>
                <a:path h="786384" w="6858000">
                  <a:moveTo>
                    <a:pt x="0" y="0"/>
                  </a:moveTo>
                  <a:lnTo>
                    <a:pt x="6858000" y="0"/>
                  </a:lnTo>
                  <a:lnTo>
                    <a:pt x="6858000" y="786384"/>
                  </a:lnTo>
                  <a:lnTo>
                    <a:pt x="0" y="786384"/>
                  </a:lnTo>
                  <a:close/>
                </a:path>
              </a:pathLst>
            </a:custGeom>
            <a:blipFill>
              <a:blip r:embed="rId2">
                <a:alphaModFix amt="0"/>
              </a:blip>
              <a:stretch>
                <a:fillRect l="0" t="-119927" r="0" b="-119927"/>
              </a:stretch>
            </a:blipFill>
          </p:spPr>
        </p:sp>
        <p:sp>
          <p:nvSpPr>
            <p:cNvPr name="TextBox 53" id="53"/>
            <p:cNvSpPr txBox="true"/>
            <p:nvPr/>
          </p:nvSpPr>
          <p:spPr>
            <a:xfrm>
              <a:off x="0" y="-38100"/>
              <a:ext cx="6858000" cy="824484"/>
            </a:xfrm>
            <a:prstGeom prst="rect">
              <a:avLst/>
            </a:prstGeom>
          </p:spPr>
          <p:txBody>
            <a:bodyPr anchor="ctr" rtlCol="false" tIns="0" lIns="0" bIns="0" rIns="0"/>
            <a:lstStyle/>
            <a:p>
              <a:pPr algn="ctr">
                <a:lnSpc>
                  <a:spcPts val="2430"/>
                </a:lnSpc>
              </a:pPr>
              <a:r>
                <a:rPr lang="en-US" sz="2025">
                  <a:solidFill>
                    <a:srgbClr val="6B7280"/>
                  </a:solidFill>
                  <a:latin typeface="Calibri (MS)"/>
                  <a:ea typeface="Calibri (MS)"/>
                  <a:cs typeface="Calibri (MS)"/>
                  <a:sym typeface="Calibri (MS)"/>
                </a:rPr>
                <a:t>Respond</a:t>
              </a:r>
            </a:p>
          </p:txBody>
        </p:sp>
      </p:grpSp>
      <p:grpSp>
        <p:nvGrpSpPr>
          <p:cNvPr name="Group 54" id="54"/>
          <p:cNvGrpSpPr/>
          <p:nvPr/>
        </p:nvGrpSpPr>
        <p:grpSpPr>
          <a:xfrm rot="0">
            <a:off x="6542532" y="8805672"/>
            <a:ext cx="5143500" cy="329184"/>
            <a:chOff x="0" y="0"/>
            <a:chExt cx="6858000" cy="438912"/>
          </a:xfrm>
        </p:grpSpPr>
        <p:sp>
          <p:nvSpPr>
            <p:cNvPr name="Freeform 55" id="55"/>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56" id="56"/>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9AA3B8"/>
                  </a:solidFill>
                  <a:latin typeface="Arimo"/>
                  <a:ea typeface="Arimo"/>
                  <a:cs typeface="Arimo"/>
                  <a:sym typeface="Arimo"/>
                </a:rPr>
                <a:t>RS</a:t>
              </a:r>
            </a:p>
          </p:txBody>
        </p:sp>
      </p:grpSp>
      <p:grpSp>
        <p:nvGrpSpPr>
          <p:cNvPr name="Group 57" id="57"/>
          <p:cNvGrpSpPr/>
          <p:nvPr/>
        </p:nvGrpSpPr>
        <p:grpSpPr>
          <a:xfrm rot="0">
            <a:off x="12115419" y="8288655"/>
            <a:ext cx="5162550" cy="910590"/>
            <a:chOff x="0" y="0"/>
            <a:chExt cx="6883400" cy="1214120"/>
          </a:xfrm>
        </p:grpSpPr>
        <p:sp>
          <p:nvSpPr>
            <p:cNvPr name="Freeform 58" id="58"/>
            <p:cNvSpPr/>
            <p:nvPr/>
          </p:nvSpPr>
          <p:spPr>
            <a:xfrm flipH="false" flipV="false" rot="0">
              <a:off x="0" y="0"/>
              <a:ext cx="6883400" cy="1214120"/>
            </a:xfrm>
            <a:custGeom>
              <a:avLst/>
              <a:gdLst/>
              <a:ahLst/>
              <a:cxnLst/>
              <a:rect r="r" b="b" t="t" l="l"/>
              <a:pathLst>
                <a:path h="1214120" w="6883400">
                  <a:moveTo>
                    <a:pt x="0" y="168148"/>
                  </a:moveTo>
                  <a:cubicBezTo>
                    <a:pt x="0" y="75311"/>
                    <a:pt x="75311" y="0"/>
                    <a:pt x="168148" y="0"/>
                  </a:cubicBezTo>
                  <a:lnTo>
                    <a:pt x="6715252" y="0"/>
                  </a:lnTo>
                  <a:cubicBezTo>
                    <a:pt x="6808089" y="0"/>
                    <a:pt x="6883400" y="75311"/>
                    <a:pt x="6883400" y="168148"/>
                  </a:cubicBezTo>
                  <a:lnTo>
                    <a:pt x="6883400" y="1045972"/>
                  </a:lnTo>
                  <a:cubicBezTo>
                    <a:pt x="6883400" y="1138809"/>
                    <a:pt x="6808089" y="1214120"/>
                    <a:pt x="6715252" y="1214120"/>
                  </a:cubicBezTo>
                  <a:lnTo>
                    <a:pt x="168148" y="1214120"/>
                  </a:lnTo>
                  <a:cubicBezTo>
                    <a:pt x="75311" y="1214120"/>
                    <a:pt x="0" y="1138809"/>
                    <a:pt x="0" y="1045972"/>
                  </a:cubicBezTo>
                  <a:close/>
                </a:path>
              </a:pathLst>
            </a:custGeom>
            <a:solidFill>
              <a:srgbClr val="F4F7FC"/>
            </a:solidFill>
            <a:ln w="19050" cap="sq">
              <a:solidFill>
                <a:srgbClr val="D7DCEC"/>
              </a:solidFill>
              <a:prstDash val="solid"/>
              <a:miter/>
            </a:ln>
          </p:spPr>
        </p:sp>
      </p:grpSp>
      <p:grpSp>
        <p:nvGrpSpPr>
          <p:cNvPr name="Group 59" id="59"/>
          <p:cNvGrpSpPr/>
          <p:nvPr/>
        </p:nvGrpSpPr>
        <p:grpSpPr>
          <a:xfrm rot="0">
            <a:off x="12124944" y="8366760"/>
            <a:ext cx="5143500" cy="589788"/>
            <a:chOff x="0" y="0"/>
            <a:chExt cx="6858000" cy="786384"/>
          </a:xfrm>
        </p:grpSpPr>
        <p:sp>
          <p:nvSpPr>
            <p:cNvPr name="Freeform 60" id="60"/>
            <p:cNvSpPr/>
            <p:nvPr/>
          </p:nvSpPr>
          <p:spPr>
            <a:xfrm flipH="false" flipV="false" rot="0">
              <a:off x="0" y="0"/>
              <a:ext cx="6858000" cy="786384"/>
            </a:xfrm>
            <a:custGeom>
              <a:avLst/>
              <a:gdLst/>
              <a:ahLst/>
              <a:cxnLst/>
              <a:rect r="r" b="b" t="t" l="l"/>
              <a:pathLst>
                <a:path h="786384" w="6858000">
                  <a:moveTo>
                    <a:pt x="0" y="0"/>
                  </a:moveTo>
                  <a:lnTo>
                    <a:pt x="6858000" y="0"/>
                  </a:lnTo>
                  <a:lnTo>
                    <a:pt x="6858000" y="786384"/>
                  </a:lnTo>
                  <a:lnTo>
                    <a:pt x="0" y="786384"/>
                  </a:lnTo>
                  <a:close/>
                </a:path>
              </a:pathLst>
            </a:custGeom>
            <a:blipFill>
              <a:blip r:embed="rId2">
                <a:alphaModFix amt="0"/>
              </a:blip>
              <a:stretch>
                <a:fillRect l="0" t="-119927" r="0" b="-119927"/>
              </a:stretch>
            </a:blipFill>
          </p:spPr>
        </p:sp>
        <p:sp>
          <p:nvSpPr>
            <p:cNvPr name="TextBox 61" id="61"/>
            <p:cNvSpPr txBox="true"/>
            <p:nvPr/>
          </p:nvSpPr>
          <p:spPr>
            <a:xfrm>
              <a:off x="0" y="-38100"/>
              <a:ext cx="6858000" cy="824484"/>
            </a:xfrm>
            <a:prstGeom prst="rect">
              <a:avLst/>
            </a:prstGeom>
          </p:spPr>
          <p:txBody>
            <a:bodyPr anchor="ctr" rtlCol="false" tIns="0" lIns="0" bIns="0" rIns="0"/>
            <a:lstStyle/>
            <a:p>
              <a:pPr algn="ctr">
                <a:lnSpc>
                  <a:spcPts val="2430"/>
                </a:lnSpc>
              </a:pPr>
              <a:r>
                <a:rPr lang="en-US" sz="2025">
                  <a:solidFill>
                    <a:srgbClr val="6B7280"/>
                  </a:solidFill>
                  <a:latin typeface="Calibri (MS)"/>
                  <a:ea typeface="Calibri (MS)"/>
                  <a:cs typeface="Calibri (MS)"/>
                  <a:sym typeface="Calibri (MS)"/>
                </a:rPr>
                <a:t>Recover</a:t>
              </a:r>
            </a:p>
          </p:txBody>
        </p:sp>
      </p:grpSp>
      <p:grpSp>
        <p:nvGrpSpPr>
          <p:cNvPr name="Group 62" id="62"/>
          <p:cNvGrpSpPr/>
          <p:nvPr/>
        </p:nvGrpSpPr>
        <p:grpSpPr>
          <a:xfrm rot="0">
            <a:off x="12124944" y="8805672"/>
            <a:ext cx="5143500" cy="329184"/>
            <a:chOff x="0" y="0"/>
            <a:chExt cx="6858000" cy="438912"/>
          </a:xfrm>
        </p:grpSpPr>
        <p:sp>
          <p:nvSpPr>
            <p:cNvPr name="Freeform 63" id="63"/>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64" id="64"/>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9AA3B8"/>
                  </a:solidFill>
                  <a:latin typeface="Arimo"/>
                  <a:ea typeface="Arimo"/>
                  <a:cs typeface="Arimo"/>
                  <a:sym typeface="Arimo"/>
                </a:rPr>
                <a:t>RC</a:t>
              </a:r>
            </a:p>
          </p:txBody>
        </p:sp>
      </p:grpSp>
      <p:grpSp>
        <p:nvGrpSpPr>
          <p:cNvPr name="Group 65" id="65"/>
          <p:cNvGrpSpPr/>
          <p:nvPr/>
        </p:nvGrpSpPr>
        <p:grpSpPr>
          <a:xfrm rot="0">
            <a:off x="685800" y="9710928"/>
            <a:ext cx="10972800" cy="411480"/>
            <a:chOff x="0" y="0"/>
            <a:chExt cx="14630400" cy="548640"/>
          </a:xfrm>
        </p:grpSpPr>
        <p:sp>
          <p:nvSpPr>
            <p:cNvPr name="Freeform 66" id="66"/>
            <p:cNvSpPr/>
            <p:nvPr/>
          </p:nvSpPr>
          <p:spPr>
            <a:xfrm flipH="false" flipV="false" rot="0">
              <a:off x="0" y="0"/>
              <a:ext cx="14630400" cy="548640"/>
            </a:xfrm>
            <a:custGeom>
              <a:avLst/>
              <a:gdLst/>
              <a:ahLst/>
              <a:cxnLst/>
              <a:rect r="r" b="b" t="t" l="l"/>
              <a:pathLst>
                <a:path h="548640" w="14630400">
                  <a:moveTo>
                    <a:pt x="0" y="0"/>
                  </a:moveTo>
                  <a:lnTo>
                    <a:pt x="14630400" y="0"/>
                  </a:lnTo>
                  <a:lnTo>
                    <a:pt x="14630400" y="548640"/>
                  </a:lnTo>
                  <a:lnTo>
                    <a:pt x="0" y="548640"/>
                  </a:lnTo>
                  <a:close/>
                </a:path>
              </a:pathLst>
            </a:custGeom>
            <a:blipFill>
              <a:blip r:embed="rId2">
                <a:alphaModFix amt="0"/>
              </a:blip>
              <a:stretch>
                <a:fillRect l="0" t="-469601" r="0" b="-469601"/>
              </a:stretch>
            </a:blipFill>
          </p:spPr>
        </p:sp>
        <p:sp>
          <p:nvSpPr>
            <p:cNvPr name="TextBox 67" id="67"/>
            <p:cNvSpPr txBox="true"/>
            <p:nvPr/>
          </p:nvSpPr>
          <p:spPr>
            <a:xfrm>
              <a:off x="0" y="-38100"/>
              <a:ext cx="14630400" cy="586740"/>
            </a:xfrm>
            <a:prstGeom prst="rect">
              <a:avLst/>
            </a:prstGeom>
          </p:spPr>
          <p:txBody>
            <a:bodyPr anchor="ctr" rtlCol="false" tIns="0" lIns="0" bIns="0" rIns="0"/>
            <a:lstStyle/>
            <a:p>
              <a:pPr algn="l">
                <a:lnSpc>
                  <a:spcPts val="1800"/>
                </a:lnSpc>
              </a:pPr>
              <a:r>
                <a:rPr lang="en-US" sz="1500">
                  <a:solidFill>
                    <a:srgbClr val="6B7280"/>
                  </a:solidFill>
                  <a:latin typeface="Calibri (MS)"/>
                  <a:ea typeface="Calibri (MS)"/>
                  <a:cs typeface="Calibri (MS)"/>
                  <a:sym typeface="Calibri (MS)"/>
                </a:rPr>
                <a:t>Davao del Norte Provincial Government — Cybersecurity Seminar</a:t>
              </a:r>
            </a:p>
          </p:txBody>
        </p:sp>
      </p:grpSp>
      <p:grpSp>
        <p:nvGrpSpPr>
          <p:cNvPr name="Group 68" id="68"/>
          <p:cNvGrpSpPr/>
          <p:nvPr/>
        </p:nvGrpSpPr>
        <p:grpSpPr>
          <a:xfrm rot="0">
            <a:off x="16911828" y="9710928"/>
            <a:ext cx="685800" cy="411480"/>
            <a:chOff x="0" y="0"/>
            <a:chExt cx="914400" cy="548640"/>
          </a:xfrm>
        </p:grpSpPr>
        <p:sp>
          <p:nvSpPr>
            <p:cNvPr name="Freeform 69" id="69"/>
            <p:cNvSpPr/>
            <p:nvPr/>
          </p:nvSpPr>
          <p:spPr>
            <a:xfrm flipH="false" flipV="false" rot="0">
              <a:off x="0" y="0"/>
              <a:ext cx="914400" cy="548640"/>
            </a:xfrm>
            <a:custGeom>
              <a:avLst/>
              <a:gdLst/>
              <a:ahLst/>
              <a:cxnLst/>
              <a:rect r="r" b="b" t="t" l="l"/>
              <a:pathLst>
                <a:path h="548640" w="914400">
                  <a:moveTo>
                    <a:pt x="0" y="0"/>
                  </a:moveTo>
                  <a:lnTo>
                    <a:pt x="914400" y="0"/>
                  </a:lnTo>
                  <a:lnTo>
                    <a:pt x="914400" y="548640"/>
                  </a:lnTo>
                  <a:lnTo>
                    <a:pt x="0" y="548640"/>
                  </a:lnTo>
                  <a:close/>
                </a:path>
              </a:pathLst>
            </a:custGeom>
            <a:blipFill>
              <a:blip r:embed="rId2">
                <a:alphaModFix amt="0"/>
              </a:blip>
              <a:stretch>
                <a:fillRect l="-26982" t="0" r="-26982" b="0"/>
              </a:stretch>
            </a:blipFill>
          </p:spPr>
        </p:sp>
        <p:sp>
          <p:nvSpPr>
            <p:cNvPr name="TextBox 70" id="70"/>
            <p:cNvSpPr txBox="true"/>
            <p:nvPr/>
          </p:nvSpPr>
          <p:spPr>
            <a:xfrm>
              <a:off x="0" y="-38100"/>
              <a:ext cx="914400" cy="586740"/>
            </a:xfrm>
            <a:prstGeom prst="rect">
              <a:avLst/>
            </a:prstGeom>
          </p:spPr>
          <p:txBody>
            <a:bodyPr anchor="ctr" rtlCol="false" tIns="0" lIns="0" bIns="0" rIns="0"/>
            <a:lstStyle/>
            <a:p>
              <a:pPr algn="r">
                <a:lnSpc>
                  <a:spcPts val="1800"/>
                </a:lnSpc>
              </a:pPr>
              <a:r>
                <a:rPr lang="en-US" sz="1500">
                  <a:solidFill>
                    <a:srgbClr val="6B7280"/>
                  </a:solidFill>
                  <a:latin typeface="Calibri (MS)"/>
                  <a:ea typeface="Calibri (MS)"/>
                  <a:cs typeface="Calibri (MS)"/>
                  <a:sym typeface="Calibri (MS)"/>
                </a:rPr>
                <a:t>41</a:t>
              </a:r>
            </a:p>
          </p:txBody>
        </p:sp>
      </p:grpSp>
    </p:spTree>
  </p:cSld>
  <p:clrMapOvr>
    <a:masterClrMapping/>
  </p:clrMapOvr>
</p:sld>
</file>

<file path=ppt/slides/slide10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60120" y="685800"/>
            <a:ext cx="13716000" cy="411480"/>
            <a:chOff x="0" y="0"/>
            <a:chExt cx="18288000" cy="548640"/>
          </a:xfrm>
        </p:grpSpPr>
        <p:sp>
          <p:nvSpPr>
            <p:cNvPr name="Freeform 3" id="3"/>
            <p:cNvSpPr/>
            <p:nvPr/>
          </p:nvSpPr>
          <p:spPr>
            <a:xfrm flipH="false" flipV="false" rot="0">
              <a:off x="0" y="0"/>
              <a:ext cx="18288000" cy="548640"/>
            </a:xfrm>
            <a:custGeom>
              <a:avLst/>
              <a:gdLst/>
              <a:ahLst/>
              <a:cxnLst/>
              <a:rect r="r" b="b" t="t" l="l"/>
              <a:pathLst>
                <a:path h="548640" w="18288000">
                  <a:moveTo>
                    <a:pt x="0" y="0"/>
                  </a:moveTo>
                  <a:lnTo>
                    <a:pt x="18288000" y="0"/>
                  </a:lnTo>
                  <a:lnTo>
                    <a:pt x="18288000" y="548640"/>
                  </a:lnTo>
                  <a:lnTo>
                    <a:pt x="0" y="548640"/>
                  </a:lnTo>
                  <a:close/>
                </a:path>
              </a:pathLst>
            </a:custGeom>
            <a:blipFill>
              <a:blip r:embed="rId2">
                <a:alphaModFix amt="0"/>
              </a:blip>
              <a:stretch>
                <a:fillRect l="0" t="-599501" r="0" b="-599501"/>
              </a:stretch>
            </a:blipFill>
          </p:spPr>
        </p:sp>
        <p:sp>
          <p:nvSpPr>
            <p:cNvPr name="TextBox 4" id="4"/>
            <p:cNvSpPr txBox="true"/>
            <p:nvPr/>
          </p:nvSpPr>
          <p:spPr>
            <a:xfrm>
              <a:off x="0" y="-38100"/>
              <a:ext cx="18288000" cy="586740"/>
            </a:xfrm>
            <a:prstGeom prst="rect">
              <a:avLst/>
            </a:prstGeom>
          </p:spPr>
          <p:txBody>
            <a:bodyPr anchor="ctr" rtlCol="false" tIns="0" lIns="0" bIns="0" rIns="0"/>
            <a:lstStyle/>
            <a:p>
              <a:pPr algn="l">
                <a:lnSpc>
                  <a:spcPts val="2160"/>
                </a:lnSpc>
              </a:pPr>
              <a:r>
                <a:rPr lang="en-US" b="true" sz="1800" spc="225">
                  <a:solidFill>
                    <a:srgbClr val="00B4D8"/>
                  </a:solidFill>
                  <a:latin typeface="Calibri (MS) Bold"/>
                  <a:ea typeface="Calibri (MS) Bold"/>
                  <a:cs typeface="Calibri (MS) Bold"/>
                  <a:sym typeface="Calibri (MS) Bold"/>
                </a:rPr>
                <a:t>NIST CSF SORT · ANSWER</a:t>
              </a:r>
            </a:p>
          </p:txBody>
        </p:sp>
      </p:grpSp>
      <p:grpSp>
        <p:nvGrpSpPr>
          <p:cNvPr name="Group 5" id="5"/>
          <p:cNvGrpSpPr/>
          <p:nvPr/>
        </p:nvGrpSpPr>
        <p:grpSpPr>
          <a:xfrm rot="0">
            <a:off x="960120" y="1069848"/>
            <a:ext cx="10972800" cy="822960"/>
            <a:chOff x="0" y="0"/>
            <a:chExt cx="14630400" cy="1097280"/>
          </a:xfrm>
        </p:grpSpPr>
        <p:sp>
          <p:nvSpPr>
            <p:cNvPr name="Freeform 6" id="6"/>
            <p:cNvSpPr/>
            <p:nvPr/>
          </p:nvSpPr>
          <p:spPr>
            <a:xfrm flipH="false" flipV="false" rot="0">
              <a:off x="0" y="0"/>
              <a:ext cx="14630400" cy="1097280"/>
            </a:xfrm>
            <a:custGeom>
              <a:avLst/>
              <a:gdLst/>
              <a:ahLst/>
              <a:cxnLst/>
              <a:rect r="r" b="b" t="t" l="l"/>
              <a:pathLst>
                <a:path h="1097280" w="14630400">
                  <a:moveTo>
                    <a:pt x="0" y="0"/>
                  </a:moveTo>
                  <a:lnTo>
                    <a:pt x="14630400" y="0"/>
                  </a:lnTo>
                  <a:lnTo>
                    <a:pt x="14630400" y="1097280"/>
                  </a:lnTo>
                  <a:lnTo>
                    <a:pt x="0" y="1097280"/>
                  </a:lnTo>
                  <a:close/>
                </a:path>
              </a:pathLst>
            </a:custGeom>
            <a:blipFill>
              <a:blip r:embed="rId2">
                <a:alphaModFix amt="0"/>
              </a:blip>
              <a:stretch>
                <a:fillRect l="0" t="-209800" r="0" b="-209800"/>
              </a:stretch>
            </a:blipFill>
          </p:spPr>
        </p:sp>
        <p:sp>
          <p:nvSpPr>
            <p:cNvPr name="TextBox 7" id="7"/>
            <p:cNvSpPr txBox="true"/>
            <p:nvPr/>
          </p:nvSpPr>
          <p:spPr>
            <a:xfrm>
              <a:off x="0" y="0"/>
              <a:ext cx="14630400" cy="1097280"/>
            </a:xfrm>
            <a:prstGeom prst="rect">
              <a:avLst/>
            </a:prstGeom>
          </p:spPr>
          <p:txBody>
            <a:bodyPr anchor="ctr" rtlCol="false" tIns="0" lIns="0" bIns="0" rIns="0"/>
            <a:lstStyle/>
            <a:p>
              <a:pPr algn="l">
                <a:lnSpc>
                  <a:spcPts val="4680"/>
                </a:lnSpc>
              </a:pPr>
              <a:r>
                <a:rPr lang="en-US" sz="3900" b="true">
                  <a:solidFill>
                    <a:srgbClr val="1E2761"/>
                  </a:solidFill>
                  <a:latin typeface="Cambria Bold"/>
                  <a:ea typeface="Cambria Bold"/>
                  <a:cs typeface="Cambria Bold"/>
                  <a:sym typeface="Cambria Bold"/>
                </a:rPr>
                <a:t>Scenario 16 — Answer</a:t>
              </a:r>
            </a:p>
          </p:txBody>
        </p:sp>
      </p:grpSp>
      <p:grpSp>
        <p:nvGrpSpPr>
          <p:cNvPr name="Group 8" id="8"/>
          <p:cNvGrpSpPr/>
          <p:nvPr/>
        </p:nvGrpSpPr>
        <p:grpSpPr>
          <a:xfrm rot="0">
            <a:off x="960120" y="1810512"/>
            <a:ext cx="8229600" cy="411480"/>
            <a:chOff x="0" y="0"/>
            <a:chExt cx="10972800" cy="548640"/>
          </a:xfrm>
        </p:grpSpPr>
        <p:sp>
          <p:nvSpPr>
            <p:cNvPr name="Freeform 9" id="9"/>
            <p:cNvSpPr/>
            <p:nvPr/>
          </p:nvSpPr>
          <p:spPr>
            <a:xfrm flipH="false" flipV="false" rot="0">
              <a:off x="0" y="0"/>
              <a:ext cx="10972800" cy="548640"/>
            </a:xfrm>
            <a:custGeom>
              <a:avLst/>
              <a:gdLst/>
              <a:ahLst/>
              <a:cxnLst/>
              <a:rect r="r" b="b" t="t" l="l"/>
              <a:pathLst>
                <a:path h="548640" w="10972800">
                  <a:moveTo>
                    <a:pt x="0" y="0"/>
                  </a:moveTo>
                  <a:lnTo>
                    <a:pt x="10972800" y="0"/>
                  </a:lnTo>
                  <a:lnTo>
                    <a:pt x="10972800" y="548640"/>
                  </a:lnTo>
                  <a:lnTo>
                    <a:pt x="0" y="548640"/>
                  </a:lnTo>
                  <a:close/>
                </a:path>
              </a:pathLst>
            </a:custGeom>
            <a:blipFill>
              <a:blip r:embed="rId2">
                <a:alphaModFix amt="0"/>
              </a:blip>
              <a:stretch>
                <a:fillRect l="0" t="-339700" r="0" b="-339700"/>
              </a:stretch>
            </a:blipFill>
          </p:spPr>
        </p:sp>
        <p:sp>
          <p:nvSpPr>
            <p:cNvPr name="TextBox 10" id="10"/>
            <p:cNvSpPr txBox="true"/>
            <p:nvPr/>
          </p:nvSpPr>
          <p:spPr>
            <a:xfrm>
              <a:off x="0" y="-28575"/>
              <a:ext cx="10972800" cy="577215"/>
            </a:xfrm>
            <a:prstGeom prst="rect">
              <a:avLst/>
            </a:prstGeom>
          </p:spPr>
          <p:txBody>
            <a:bodyPr anchor="ctr" rtlCol="false" tIns="0" lIns="0" bIns="0" rIns="0"/>
            <a:lstStyle/>
            <a:p>
              <a:pPr algn="l">
                <a:lnSpc>
                  <a:spcPts val="1980"/>
                </a:lnSpc>
              </a:pPr>
              <a:r>
                <a:rPr lang="en-US" sz="1650">
                  <a:solidFill>
                    <a:srgbClr val="6B7280"/>
                  </a:solidFill>
                  <a:latin typeface="Calibri (MS)"/>
                  <a:ea typeface="Calibri (MS)"/>
                  <a:cs typeface="Calibri (MS)"/>
                  <a:sym typeface="Calibri (MS)"/>
                </a:rPr>
                <a:t>16 of 20</a:t>
              </a:r>
            </a:p>
          </p:txBody>
        </p:sp>
      </p:grpSp>
      <p:grpSp>
        <p:nvGrpSpPr>
          <p:cNvPr name="Group 11" id="11"/>
          <p:cNvGrpSpPr/>
          <p:nvPr/>
        </p:nvGrpSpPr>
        <p:grpSpPr>
          <a:xfrm rot="0">
            <a:off x="960120" y="2537460"/>
            <a:ext cx="16322040" cy="2194560"/>
            <a:chOff x="0" y="0"/>
            <a:chExt cx="21762720" cy="2926080"/>
          </a:xfrm>
        </p:grpSpPr>
        <p:sp>
          <p:nvSpPr>
            <p:cNvPr name="Freeform 12" id="12"/>
            <p:cNvSpPr/>
            <p:nvPr/>
          </p:nvSpPr>
          <p:spPr>
            <a:xfrm flipH="false" flipV="false" rot="0">
              <a:off x="0" y="0"/>
              <a:ext cx="21762720" cy="2926080"/>
            </a:xfrm>
            <a:custGeom>
              <a:avLst/>
              <a:gdLst/>
              <a:ahLst/>
              <a:cxnLst/>
              <a:rect r="r" b="b" t="t" l="l"/>
              <a:pathLst>
                <a:path h="2926080" w="21762720">
                  <a:moveTo>
                    <a:pt x="0" y="182880"/>
                  </a:moveTo>
                  <a:cubicBezTo>
                    <a:pt x="0" y="81915"/>
                    <a:pt x="81915" y="0"/>
                    <a:pt x="182880" y="0"/>
                  </a:cubicBezTo>
                  <a:lnTo>
                    <a:pt x="21579839" y="0"/>
                  </a:lnTo>
                  <a:cubicBezTo>
                    <a:pt x="21680804" y="0"/>
                    <a:pt x="21762720" y="81915"/>
                    <a:pt x="21762720" y="182880"/>
                  </a:cubicBezTo>
                  <a:lnTo>
                    <a:pt x="21762720" y="2743200"/>
                  </a:lnTo>
                  <a:cubicBezTo>
                    <a:pt x="21762720" y="2844165"/>
                    <a:pt x="21680804" y="2926080"/>
                    <a:pt x="21579839" y="2926080"/>
                  </a:cubicBezTo>
                  <a:lnTo>
                    <a:pt x="182880" y="2926080"/>
                  </a:lnTo>
                  <a:cubicBezTo>
                    <a:pt x="81915" y="2926080"/>
                    <a:pt x="0" y="2844165"/>
                    <a:pt x="0" y="2743200"/>
                  </a:cubicBezTo>
                  <a:close/>
                </a:path>
              </a:pathLst>
            </a:custGeom>
            <a:solidFill>
              <a:srgbClr val="F4F7FC"/>
            </a:solidFill>
          </p:spPr>
        </p:sp>
      </p:grpSp>
      <p:grpSp>
        <p:nvGrpSpPr>
          <p:cNvPr name="Group 13" id="13"/>
          <p:cNvGrpSpPr/>
          <p:nvPr/>
        </p:nvGrpSpPr>
        <p:grpSpPr>
          <a:xfrm rot="0">
            <a:off x="1440180" y="2770632"/>
            <a:ext cx="15361920" cy="1714500"/>
            <a:chOff x="0" y="0"/>
            <a:chExt cx="20482560" cy="2286000"/>
          </a:xfrm>
        </p:grpSpPr>
        <p:sp>
          <p:nvSpPr>
            <p:cNvPr name="Freeform 14" id="14"/>
            <p:cNvSpPr/>
            <p:nvPr/>
          </p:nvSpPr>
          <p:spPr>
            <a:xfrm flipH="false" flipV="false" rot="0">
              <a:off x="0" y="0"/>
              <a:ext cx="20482561" cy="2286000"/>
            </a:xfrm>
            <a:custGeom>
              <a:avLst/>
              <a:gdLst/>
              <a:ahLst/>
              <a:cxnLst/>
              <a:rect r="r" b="b" t="t" l="l"/>
              <a:pathLst>
                <a:path h="2286000" w="20482561">
                  <a:moveTo>
                    <a:pt x="0" y="0"/>
                  </a:moveTo>
                  <a:lnTo>
                    <a:pt x="20482561" y="0"/>
                  </a:lnTo>
                  <a:lnTo>
                    <a:pt x="20482561" y="2286000"/>
                  </a:lnTo>
                  <a:lnTo>
                    <a:pt x="0" y="2286000"/>
                  </a:lnTo>
                  <a:close/>
                </a:path>
              </a:pathLst>
            </a:custGeom>
            <a:blipFill>
              <a:blip r:embed="rId2">
                <a:alphaModFix amt="0"/>
              </a:blip>
              <a:stretch>
                <a:fillRect l="0" t="-124585" r="0" b="-124585"/>
              </a:stretch>
            </a:blipFill>
          </p:spPr>
        </p:sp>
        <p:sp>
          <p:nvSpPr>
            <p:cNvPr name="TextBox 15" id="15"/>
            <p:cNvSpPr txBox="true"/>
            <p:nvPr/>
          </p:nvSpPr>
          <p:spPr>
            <a:xfrm>
              <a:off x="0" y="-85725"/>
              <a:ext cx="20482560" cy="2371725"/>
            </a:xfrm>
            <a:prstGeom prst="rect">
              <a:avLst/>
            </a:prstGeom>
          </p:spPr>
          <p:txBody>
            <a:bodyPr anchor="ctr" rtlCol="false" tIns="0" lIns="0" bIns="0" rIns="0"/>
            <a:lstStyle/>
            <a:p>
              <a:pPr algn="l">
                <a:lnSpc>
                  <a:spcPts val="3600"/>
                </a:lnSpc>
              </a:pPr>
              <a:r>
                <a:rPr lang="en-US" sz="2400" i="true">
                  <a:solidFill>
                    <a:srgbClr val="23262F"/>
                  </a:solidFill>
                  <a:latin typeface="Cambria Italics"/>
                  <a:ea typeface="Cambria Italics"/>
                  <a:cs typeface="Cambria Italics"/>
                  <a:sym typeface="Cambria Italics"/>
                </a:rPr>
                <a:t>"A log-monitoring dashboard shows an unusual spike in failed login attempts against the HR portal overnight and flags it for the on-call officer to review."</a:t>
              </a:r>
            </a:p>
          </p:txBody>
        </p:sp>
      </p:grpSp>
      <p:grpSp>
        <p:nvGrpSpPr>
          <p:cNvPr name="Group 16" id="16"/>
          <p:cNvGrpSpPr/>
          <p:nvPr/>
        </p:nvGrpSpPr>
        <p:grpSpPr>
          <a:xfrm rot="0">
            <a:off x="950595" y="5065395"/>
            <a:ext cx="5162550" cy="842010"/>
            <a:chOff x="0" y="0"/>
            <a:chExt cx="6883400" cy="1122680"/>
          </a:xfrm>
        </p:grpSpPr>
        <p:sp>
          <p:nvSpPr>
            <p:cNvPr name="Freeform 17" id="17"/>
            <p:cNvSpPr/>
            <p:nvPr/>
          </p:nvSpPr>
          <p:spPr>
            <a:xfrm flipH="false" flipV="false" rot="0">
              <a:off x="0" y="0"/>
              <a:ext cx="6883400" cy="1122680"/>
            </a:xfrm>
            <a:custGeom>
              <a:avLst/>
              <a:gdLst/>
              <a:ahLst/>
              <a:cxnLst/>
              <a:rect r="r" b="b" t="t" l="l"/>
              <a:pathLst>
                <a:path h="1122680" w="6883400">
                  <a:moveTo>
                    <a:pt x="0" y="168402"/>
                  </a:moveTo>
                  <a:cubicBezTo>
                    <a:pt x="0" y="75438"/>
                    <a:pt x="75438" y="0"/>
                    <a:pt x="168402" y="0"/>
                  </a:cubicBezTo>
                  <a:lnTo>
                    <a:pt x="6714998" y="0"/>
                  </a:lnTo>
                  <a:cubicBezTo>
                    <a:pt x="6807962" y="0"/>
                    <a:pt x="6883400" y="75438"/>
                    <a:pt x="6883400" y="168402"/>
                  </a:cubicBezTo>
                  <a:lnTo>
                    <a:pt x="6883400" y="954278"/>
                  </a:lnTo>
                  <a:cubicBezTo>
                    <a:pt x="6883400" y="1047242"/>
                    <a:pt x="6807962" y="1122680"/>
                    <a:pt x="6714998" y="1122680"/>
                  </a:cubicBezTo>
                  <a:lnTo>
                    <a:pt x="168402" y="1122680"/>
                  </a:lnTo>
                  <a:cubicBezTo>
                    <a:pt x="75438" y="1122680"/>
                    <a:pt x="0" y="1047242"/>
                    <a:pt x="0" y="954278"/>
                  </a:cubicBezTo>
                  <a:close/>
                </a:path>
              </a:pathLst>
            </a:custGeom>
            <a:solidFill>
              <a:srgbClr val="F4F7FC"/>
            </a:solidFill>
            <a:ln w="19050" cap="sq">
              <a:solidFill>
                <a:srgbClr val="D7DCEC"/>
              </a:solidFill>
              <a:prstDash val="solid"/>
              <a:miter/>
            </a:ln>
          </p:spPr>
        </p:sp>
      </p:grpSp>
      <p:grpSp>
        <p:nvGrpSpPr>
          <p:cNvPr name="Group 18" id="18"/>
          <p:cNvGrpSpPr/>
          <p:nvPr/>
        </p:nvGrpSpPr>
        <p:grpSpPr>
          <a:xfrm rot="0">
            <a:off x="960120" y="5143500"/>
            <a:ext cx="5143500" cy="521208"/>
            <a:chOff x="0" y="0"/>
            <a:chExt cx="6858000" cy="694944"/>
          </a:xfrm>
        </p:grpSpPr>
        <p:sp>
          <p:nvSpPr>
            <p:cNvPr name="Freeform 19" id="19"/>
            <p:cNvSpPr/>
            <p:nvPr/>
          </p:nvSpPr>
          <p:spPr>
            <a:xfrm flipH="false" flipV="false" rot="0">
              <a:off x="0" y="0"/>
              <a:ext cx="6858000" cy="694944"/>
            </a:xfrm>
            <a:custGeom>
              <a:avLst/>
              <a:gdLst/>
              <a:ahLst/>
              <a:cxnLst/>
              <a:rect r="r" b="b" t="t" l="l"/>
              <a:pathLst>
                <a:path h="694944" w="6858000">
                  <a:moveTo>
                    <a:pt x="0" y="0"/>
                  </a:moveTo>
                  <a:lnTo>
                    <a:pt x="6858000" y="0"/>
                  </a:lnTo>
                  <a:lnTo>
                    <a:pt x="6858000" y="694944"/>
                  </a:lnTo>
                  <a:lnTo>
                    <a:pt x="0" y="694944"/>
                  </a:lnTo>
                  <a:close/>
                </a:path>
              </a:pathLst>
            </a:custGeom>
            <a:blipFill>
              <a:blip r:embed="rId2">
                <a:alphaModFix amt="0"/>
              </a:blip>
              <a:stretch>
                <a:fillRect l="0" t="-142286" r="0" b="-142286"/>
              </a:stretch>
            </a:blipFill>
          </p:spPr>
        </p:sp>
        <p:sp>
          <p:nvSpPr>
            <p:cNvPr name="TextBox 20" id="20"/>
            <p:cNvSpPr txBox="true"/>
            <p:nvPr/>
          </p:nvSpPr>
          <p:spPr>
            <a:xfrm>
              <a:off x="0" y="-38100"/>
              <a:ext cx="6858000" cy="733044"/>
            </a:xfrm>
            <a:prstGeom prst="rect">
              <a:avLst/>
            </a:prstGeom>
          </p:spPr>
          <p:txBody>
            <a:bodyPr anchor="ctr" rtlCol="false" tIns="0" lIns="0" bIns="0" rIns="0"/>
            <a:lstStyle/>
            <a:p>
              <a:pPr algn="ctr">
                <a:lnSpc>
                  <a:spcPts val="2430"/>
                </a:lnSpc>
              </a:pPr>
              <a:r>
                <a:rPr lang="en-US" sz="2025">
                  <a:solidFill>
                    <a:srgbClr val="6B7280"/>
                  </a:solidFill>
                  <a:latin typeface="Calibri (MS)"/>
                  <a:ea typeface="Calibri (MS)"/>
                  <a:cs typeface="Calibri (MS)"/>
                  <a:sym typeface="Calibri (MS)"/>
                </a:rPr>
                <a:t>Govern</a:t>
              </a:r>
            </a:p>
          </p:txBody>
        </p:sp>
      </p:grpSp>
      <p:grpSp>
        <p:nvGrpSpPr>
          <p:cNvPr name="Group 21" id="21"/>
          <p:cNvGrpSpPr/>
          <p:nvPr/>
        </p:nvGrpSpPr>
        <p:grpSpPr>
          <a:xfrm rot="0">
            <a:off x="960120" y="5513832"/>
            <a:ext cx="5143500" cy="329184"/>
            <a:chOff x="0" y="0"/>
            <a:chExt cx="6858000" cy="438912"/>
          </a:xfrm>
        </p:grpSpPr>
        <p:sp>
          <p:nvSpPr>
            <p:cNvPr name="Freeform 22" id="22"/>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23" id="23"/>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9AA3B8"/>
                  </a:solidFill>
                  <a:latin typeface="Arimo"/>
                  <a:ea typeface="Arimo"/>
                  <a:cs typeface="Arimo"/>
                  <a:sym typeface="Arimo"/>
                </a:rPr>
                <a:t>GV</a:t>
              </a:r>
            </a:p>
          </p:txBody>
        </p:sp>
      </p:grpSp>
      <p:grpSp>
        <p:nvGrpSpPr>
          <p:cNvPr name="Group 24" id="24"/>
          <p:cNvGrpSpPr/>
          <p:nvPr/>
        </p:nvGrpSpPr>
        <p:grpSpPr>
          <a:xfrm rot="0">
            <a:off x="6533007" y="5065395"/>
            <a:ext cx="5162550" cy="842010"/>
            <a:chOff x="0" y="0"/>
            <a:chExt cx="6883400" cy="1122680"/>
          </a:xfrm>
        </p:grpSpPr>
        <p:sp>
          <p:nvSpPr>
            <p:cNvPr name="Freeform 25" id="25"/>
            <p:cNvSpPr/>
            <p:nvPr/>
          </p:nvSpPr>
          <p:spPr>
            <a:xfrm flipH="false" flipV="false" rot="0">
              <a:off x="0" y="0"/>
              <a:ext cx="6883400" cy="1122680"/>
            </a:xfrm>
            <a:custGeom>
              <a:avLst/>
              <a:gdLst/>
              <a:ahLst/>
              <a:cxnLst/>
              <a:rect r="r" b="b" t="t" l="l"/>
              <a:pathLst>
                <a:path h="1122680" w="6883400">
                  <a:moveTo>
                    <a:pt x="0" y="168402"/>
                  </a:moveTo>
                  <a:cubicBezTo>
                    <a:pt x="0" y="75438"/>
                    <a:pt x="75438" y="0"/>
                    <a:pt x="168402" y="0"/>
                  </a:cubicBezTo>
                  <a:lnTo>
                    <a:pt x="6714998" y="0"/>
                  </a:lnTo>
                  <a:cubicBezTo>
                    <a:pt x="6807962" y="0"/>
                    <a:pt x="6883400" y="75438"/>
                    <a:pt x="6883400" y="168402"/>
                  </a:cubicBezTo>
                  <a:lnTo>
                    <a:pt x="6883400" y="954278"/>
                  </a:lnTo>
                  <a:cubicBezTo>
                    <a:pt x="6883400" y="1047242"/>
                    <a:pt x="6807962" y="1122680"/>
                    <a:pt x="6714998" y="1122680"/>
                  </a:cubicBezTo>
                  <a:lnTo>
                    <a:pt x="168402" y="1122680"/>
                  </a:lnTo>
                  <a:cubicBezTo>
                    <a:pt x="75438" y="1122680"/>
                    <a:pt x="0" y="1047242"/>
                    <a:pt x="0" y="954278"/>
                  </a:cubicBezTo>
                  <a:close/>
                </a:path>
              </a:pathLst>
            </a:custGeom>
            <a:solidFill>
              <a:srgbClr val="F4F7FC"/>
            </a:solidFill>
            <a:ln w="19050" cap="sq">
              <a:solidFill>
                <a:srgbClr val="D7DCEC"/>
              </a:solidFill>
              <a:prstDash val="solid"/>
              <a:miter/>
            </a:ln>
          </p:spPr>
        </p:sp>
      </p:grpSp>
      <p:grpSp>
        <p:nvGrpSpPr>
          <p:cNvPr name="Group 26" id="26"/>
          <p:cNvGrpSpPr/>
          <p:nvPr/>
        </p:nvGrpSpPr>
        <p:grpSpPr>
          <a:xfrm rot="0">
            <a:off x="6542532" y="5143500"/>
            <a:ext cx="5143500" cy="521208"/>
            <a:chOff x="0" y="0"/>
            <a:chExt cx="6858000" cy="694944"/>
          </a:xfrm>
        </p:grpSpPr>
        <p:sp>
          <p:nvSpPr>
            <p:cNvPr name="Freeform 27" id="27"/>
            <p:cNvSpPr/>
            <p:nvPr/>
          </p:nvSpPr>
          <p:spPr>
            <a:xfrm flipH="false" flipV="false" rot="0">
              <a:off x="0" y="0"/>
              <a:ext cx="6858000" cy="694944"/>
            </a:xfrm>
            <a:custGeom>
              <a:avLst/>
              <a:gdLst/>
              <a:ahLst/>
              <a:cxnLst/>
              <a:rect r="r" b="b" t="t" l="l"/>
              <a:pathLst>
                <a:path h="694944" w="6858000">
                  <a:moveTo>
                    <a:pt x="0" y="0"/>
                  </a:moveTo>
                  <a:lnTo>
                    <a:pt x="6858000" y="0"/>
                  </a:lnTo>
                  <a:lnTo>
                    <a:pt x="6858000" y="694944"/>
                  </a:lnTo>
                  <a:lnTo>
                    <a:pt x="0" y="694944"/>
                  </a:lnTo>
                  <a:close/>
                </a:path>
              </a:pathLst>
            </a:custGeom>
            <a:blipFill>
              <a:blip r:embed="rId2">
                <a:alphaModFix amt="0"/>
              </a:blip>
              <a:stretch>
                <a:fillRect l="0" t="-142286" r="0" b="-142286"/>
              </a:stretch>
            </a:blipFill>
          </p:spPr>
        </p:sp>
        <p:sp>
          <p:nvSpPr>
            <p:cNvPr name="TextBox 28" id="28"/>
            <p:cNvSpPr txBox="true"/>
            <p:nvPr/>
          </p:nvSpPr>
          <p:spPr>
            <a:xfrm>
              <a:off x="0" y="-38100"/>
              <a:ext cx="6858000" cy="733044"/>
            </a:xfrm>
            <a:prstGeom prst="rect">
              <a:avLst/>
            </a:prstGeom>
          </p:spPr>
          <p:txBody>
            <a:bodyPr anchor="ctr" rtlCol="false" tIns="0" lIns="0" bIns="0" rIns="0"/>
            <a:lstStyle/>
            <a:p>
              <a:pPr algn="ctr">
                <a:lnSpc>
                  <a:spcPts val="2430"/>
                </a:lnSpc>
              </a:pPr>
              <a:r>
                <a:rPr lang="en-US" sz="2025">
                  <a:solidFill>
                    <a:srgbClr val="6B7280"/>
                  </a:solidFill>
                  <a:latin typeface="Calibri (MS)"/>
                  <a:ea typeface="Calibri (MS)"/>
                  <a:cs typeface="Calibri (MS)"/>
                  <a:sym typeface="Calibri (MS)"/>
                </a:rPr>
                <a:t>Identify</a:t>
              </a:r>
            </a:p>
          </p:txBody>
        </p:sp>
      </p:grpSp>
      <p:grpSp>
        <p:nvGrpSpPr>
          <p:cNvPr name="Group 29" id="29"/>
          <p:cNvGrpSpPr/>
          <p:nvPr/>
        </p:nvGrpSpPr>
        <p:grpSpPr>
          <a:xfrm rot="0">
            <a:off x="6542532" y="5513832"/>
            <a:ext cx="5143500" cy="329184"/>
            <a:chOff x="0" y="0"/>
            <a:chExt cx="6858000" cy="438912"/>
          </a:xfrm>
        </p:grpSpPr>
        <p:sp>
          <p:nvSpPr>
            <p:cNvPr name="Freeform 30" id="30"/>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31" id="31"/>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9AA3B8"/>
                  </a:solidFill>
                  <a:latin typeface="Arimo"/>
                  <a:ea typeface="Arimo"/>
                  <a:cs typeface="Arimo"/>
                  <a:sym typeface="Arimo"/>
                </a:rPr>
                <a:t>ID</a:t>
              </a:r>
            </a:p>
          </p:txBody>
        </p:sp>
      </p:grpSp>
      <p:grpSp>
        <p:nvGrpSpPr>
          <p:cNvPr name="Group 32" id="32"/>
          <p:cNvGrpSpPr/>
          <p:nvPr/>
        </p:nvGrpSpPr>
        <p:grpSpPr>
          <a:xfrm rot="0">
            <a:off x="12115419" y="5065395"/>
            <a:ext cx="5162550" cy="842010"/>
            <a:chOff x="0" y="0"/>
            <a:chExt cx="6883400" cy="1122680"/>
          </a:xfrm>
        </p:grpSpPr>
        <p:sp>
          <p:nvSpPr>
            <p:cNvPr name="Freeform 33" id="33"/>
            <p:cNvSpPr/>
            <p:nvPr/>
          </p:nvSpPr>
          <p:spPr>
            <a:xfrm flipH="false" flipV="false" rot="0">
              <a:off x="0" y="0"/>
              <a:ext cx="6883400" cy="1122680"/>
            </a:xfrm>
            <a:custGeom>
              <a:avLst/>
              <a:gdLst/>
              <a:ahLst/>
              <a:cxnLst/>
              <a:rect r="r" b="b" t="t" l="l"/>
              <a:pathLst>
                <a:path h="1122680" w="6883400">
                  <a:moveTo>
                    <a:pt x="0" y="168402"/>
                  </a:moveTo>
                  <a:cubicBezTo>
                    <a:pt x="0" y="75438"/>
                    <a:pt x="75438" y="0"/>
                    <a:pt x="168402" y="0"/>
                  </a:cubicBezTo>
                  <a:lnTo>
                    <a:pt x="6714998" y="0"/>
                  </a:lnTo>
                  <a:cubicBezTo>
                    <a:pt x="6807962" y="0"/>
                    <a:pt x="6883400" y="75438"/>
                    <a:pt x="6883400" y="168402"/>
                  </a:cubicBezTo>
                  <a:lnTo>
                    <a:pt x="6883400" y="954278"/>
                  </a:lnTo>
                  <a:cubicBezTo>
                    <a:pt x="6883400" y="1047242"/>
                    <a:pt x="6807962" y="1122680"/>
                    <a:pt x="6714998" y="1122680"/>
                  </a:cubicBezTo>
                  <a:lnTo>
                    <a:pt x="168402" y="1122680"/>
                  </a:lnTo>
                  <a:cubicBezTo>
                    <a:pt x="75438" y="1122680"/>
                    <a:pt x="0" y="1047242"/>
                    <a:pt x="0" y="954278"/>
                  </a:cubicBezTo>
                  <a:close/>
                </a:path>
              </a:pathLst>
            </a:custGeom>
            <a:solidFill>
              <a:srgbClr val="F4F7FC"/>
            </a:solidFill>
            <a:ln w="19050" cap="sq">
              <a:solidFill>
                <a:srgbClr val="D7DCEC"/>
              </a:solidFill>
              <a:prstDash val="solid"/>
              <a:miter/>
            </a:ln>
          </p:spPr>
        </p:sp>
      </p:grpSp>
      <p:grpSp>
        <p:nvGrpSpPr>
          <p:cNvPr name="Group 34" id="34"/>
          <p:cNvGrpSpPr/>
          <p:nvPr/>
        </p:nvGrpSpPr>
        <p:grpSpPr>
          <a:xfrm rot="0">
            <a:off x="12124944" y="5143500"/>
            <a:ext cx="5143500" cy="521208"/>
            <a:chOff x="0" y="0"/>
            <a:chExt cx="6858000" cy="694944"/>
          </a:xfrm>
        </p:grpSpPr>
        <p:sp>
          <p:nvSpPr>
            <p:cNvPr name="Freeform 35" id="35"/>
            <p:cNvSpPr/>
            <p:nvPr/>
          </p:nvSpPr>
          <p:spPr>
            <a:xfrm flipH="false" flipV="false" rot="0">
              <a:off x="0" y="0"/>
              <a:ext cx="6858000" cy="694944"/>
            </a:xfrm>
            <a:custGeom>
              <a:avLst/>
              <a:gdLst/>
              <a:ahLst/>
              <a:cxnLst/>
              <a:rect r="r" b="b" t="t" l="l"/>
              <a:pathLst>
                <a:path h="694944" w="6858000">
                  <a:moveTo>
                    <a:pt x="0" y="0"/>
                  </a:moveTo>
                  <a:lnTo>
                    <a:pt x="6858000" y="0"/>
                  </a:lnTo>
                  <a:lnTo>
                    <a:pt x="6858000" y="694944"/>
                  </a:lnTo>
                  <a:lnTo>
                    <a:pt x="0" y="694944"/>
                  </a:lnTo>
                  <a:close/>
                </a:path>
              </a:pathLst>
            </a:custGeom>
            <a:blipFill>
              <a:blip r:embed="rId2">
                <a:alphaModFix amt="0"/>
              </a:blip>
              <a:stretch>
                <a:fillRect l="0" t="-142286" r="0" b="-142286"/>
              </a:stretch>
            </a:blipFill>
          </p:spPr>
        </p:sp>
        <p:sp>
          <p:nvSpPr>
            <p:cNvPr name="TextBox 36" id="36"/>
            <p:cNvSpPr txBox="true"/>
            <p:nvPr/>
          </p:nvSpPr>
          <p:spPr>
            <a:xfrm>
              <a:off x="0" y="-38100"/>
              <a:ext cx="6858000" cy="733044"/>
            </a:xfrm>
            <a:prstGeom prst="rect">
              <a:avLst/>
            </a:prstGeom>
          </p:spPr>
          <p:txBody>
            <a:bodyPr anchor="ctr" rtlCol="false" tIns="0" lIns="0" bIns="0" rIns="0"/>
            <a:lstStyle/>
            <a:p>
              <a:pPr algn="ctr">
                <a:lnSpc>
                  <a:spcPts val="2430"/>
                </a:lnSpc>
              </a:pPr>
              <a:r>
                <a:rPr lang="en-US" sz="2025">
                  <a:solidFill>
                    <a:srgbClr val="6B7280"/>
                  </a:solidFill>
                  <a:latin typeface="Calibri (MS)"/>
                  <a:ea typeface="Calibri (MS)"/>
                  <a:cs typeface="Calibri (MS)"/>
                  <a:sym typeface="Calibri (MS)"/>
                </a:rPr>
                <a:t>Protect</a:t>
              </a:r>
            </a:p>
          </p:txBody>
        </p:sp>
      </p:grpSp>
      <p:grpSp>
        <p:nvGrpSpPr>
          <p:cNvPr name="Group 37" id="37"/>
          <p:cNvGrpSpPr/>
          <p:nvPr/>
        </p:nvGrpSpPr>
        <p:grpSpPr>
          <a:xfrm rot="0">
            <a:off x="12124944" y="5513832"/>
            <a:ext cx="5143500" cy="329184"/>
            <a:chOff x="0" y="0"/>
            <a:chExt cx="6858000" cy="438912"/>
          </a:xfrm>
        </p:grpSpPr>
        <p:sp>
          <p:nvSpPr>
            <p:cNvPr name="Freeform 38" id="38"/>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39" id="39"/>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9AA3B8"/>
                  </a:solidFill>
                  <a:latin typeface="Arimo"/>
                  <a:ea typeface="Arimo"/>
                  <a:cs typeface="Arimo"/>
                  <a:sym typeface="Arimo"/>
                </a:rPr>
                <a:t>PR</a:t>
              </a:r>
            </a:p>
          </p:txBody>
        </p:sp>
      </p:grpSp>
      <p:grpSp>
        <p:nvGrpSpPr>
          <p:cNvPr name="Group 40" id="40"/>
          <p:cNvGrpSpPr/>
          <p:nvPr/>
        </p:nvGrpSpPr>
        <p:grpSpPr>
          <a:xfrm rot="0">
            <a:off x="950595" y="6135243"/>
            <a:ext cx="5162550" cy="842010"/>
            <a:chOff x="0" y="0"/>
            <a:chExt cx="6883400" cy="1122680"/>
          </a:xfrm>
        </p:grpSpPr>
        <p:sp>
          <p:nvSpPr>
            <p:cNvPr name="Freeform 41" id="41"/>
            <p:cNvSpPr/>
            <p:nvPr/>
          </p:nvSpPr>
          <p:spPr>
            <a:xfrm flipH="false" flipV="false" rot="0">
              <a:off x="0" y="0"/>
              <a:ext cx="6883400" cy="1122680"/>
            </a:xfrm>
            <a:custGeom>
              <a:avLst/>
              <a:gdLst/>
              <a:ahLst/>
              <a:cxnLst/>
              <a:rect r="r" b="b" t="t" l="l"/>
              <a:pathLst>
                <a:path h="1122680" w="6883400">
                  <a:moveTo>
                    <a:pt x="0" y="168402"/>
                  </a:moveTo>
                  <a:cubicBezTo>
                    <a:pt x="0" y="75438"/>
                    <a:pt x="75438" y="0"/>
                    <a:pt x="168402" y="0"/>
                  </a:cubicBezTo>
                  <a:lnTo>
                    <a:pt x="6714998" y="0"/>
                  </a:lnTo>
                  <a:cubicBezTo>
                    <a:pt x="6807962" y="0"/>
                    <a:pt x="6883400" y="75438"/>
                    <a:pt x="6883400" y="168402"/>
                  </a:cubicBezTo>
                  <a:lnTo>
                    <a:pt x="6883400" y="954278"/>
                  </a:lnTo>
                  <a:cubicBezTo>
                    <a:pt x="6883400" y="1047242"/>
                    <a:pt x="6807962" y="1122680"/>
                    <a:pt x="6714998" y="1122680"/>
                  </a:cubicBezTo>
                  <a:lnTo>
                    <a:pt x="168402" y="1122680"/>
                  </a:lnTo>
                  <a:cubicBezTo>
                    <a:pt x="75438" y="1122680"/>
                    <a:pt x="0" y="1047242"/>
                    <a:pt x="0" y="954278"/>
                  </a:cubicBezTo>
                  <a:close/>
                </a:path>
              </a:pathLst>
            </a:custGeom>
            <a:solidFill>
              <a:srgbClr val="C98A12"/>
            </a:solidFill>
            <a:ln w="19050" cap="sq">
              <a:solidFill>
                <a:srgbClr val="C98A12"/>
              </a:solidFill>
              <a:prstDash val="solid"/>
              <a:miter/>
            </a:ln>
          </p:spPr>
        </p:sp>
      </p:grpSp>
      <p:grpSp>
        <p:nvGrpSpPr>
          <p:cNvPr name="Group 42" id="42"/>
          <p:cNvGrpSpPr/>
          <p:nvPr/>
        </p:nvGrpSpPr>
        <p:grpSpPr>
          <a:xfrm rot="0">
            <a:off x="960120" y="6213348"/>
            <a:ext cx="5143500" cy="521208"/>
            <a:chOff x="0" y="0"/>
            <a:chExt cx="6858000" cy="694944"/>
          </a:xfrm>
        </p:grpSpPr>
        <p:sp>
          <p:nvSpPr>
            <p:cNvPr name="Freeform 43" id="43"/>
            <p:cNvSpPr/>
            <p:nvPr/>
          </p:nvSpPr>
          <p:spPr>
            <a:xfrm flipH="false" flipV="false" rot="0">
              <a:off x="0" y="0"/>
              <a:ext cx="6858000" cy="694944"/>
            </a:xfrm>
            <a:custGeom>
              <a:avLst/>
              <a:gdLst/>
              <a:ahLst/>
              <a:cxnLst/>
              <a:rect r="r" b="b" t="t" l="l"/>
              <a:pathLst>
                <a:path h="694944" w="6858000">
                  <a:moveTo>
                    <a:pt x="0" y="0"/>
                  </a:moveTo>
                  <a:lnTo>
                    <a:pt x="6858000" y="0"/>
                  </a:lnTo>
                  <a:lnTo>
                    <a:pt x="6858000" y="694944"/>
                  </a:lnTo>
                  <a:lnTo>
                    <a:pt x="0" y="694944"/>
                  </a:lnTo>
                  <a:close/>
                </a:path>
              </a:pathLst>
            </a:custGeom>
            <a:blipFill>
              <a:blip r:embed="rId2">
                <a:alphaModFix amt="0"/>
              </a:blip>
              <a:stretch>
                <a:fillRect l="0" t="-142286" r="0" b="-142286"/>
              </a:stretch>
            </a:blipFill>
          </p:spPr>
        </p:sp>
        <p:sp>
          <p:nvSpPr>
            <p:cNvPr name="TextBox 44" id="44"/>
            <p:cNvSpPr txBox="true"/>
            <p:nvPr/>
          </p:nvSpPr>
          <p:spPr>
            <a:xfrm>
              <a:off x="0" y="-38100"/>
              <a:ext cx="6858000" cy="733044"/>
            </a:xfrm>
            <a:prstGeom prst="rect">
              <a:avLst/>
            </a:prstGeom>
          </p:spPr>
          <p:txBody>
            <a:bodyPr anchor="ctr" rtlCol="false" tIns="0" lIns="0" bIns="0" rIns="0"/>
            <a:lstStyle/>
            <a:p>
              <a:pPr algn="ctr">
                <a:lnSpc>
                  <a:spcPts val="2430"/>
                </a:lnSpc>
              </a:pPr>
              <a:r>
                <a:rPr lang="en-US" sz="2025" b="true">
                  <a:solidFill>
                    <a:srgbClr val="FFFFFF"/>
                  </a:solidFill>
                  <a:latin typeface="Calibri (MS) Bold"/>
                  <a:ea typeface="Calibri (MS) Bold"/>
                  <a:cs typeface="Calibri (MS) Bold"/>
                  <a:sym typeface="Calibri (MS) Bold"/>
                </a:rPr>
                <a:t>✓  Detect</a:t>
              </a:r>
            </a:p>
          </p:txBody>
        </p:sp>
      </p:grpSp>
      <p:grpSp>
        <p:nvGrpSpPr>
          <p:cNvPr name="Group 45" id="45"/>
          <p:cNvGrpSpPr/>
          <p:nvPr/>
        </p:nvGrpSpPr>
        <p:grpSpPr>
          <a:xfrm rot="0">
            <a:off x="960120" y="6583680"/>
            <a:ext cx="5143500" cy="329184"/>
            <a:chOff x="0" y="0"/>
            <a:chExt cx="6858000" cy="438912"/>
          </a:xfrm>
        </p:grpSpPr>
        <p:sp>
          <p:nvSpPr>
            <p:cNvPr name="Freeform 46" id="46"/>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47" id="47"/>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FFFFFF"/>
                  </a:solidFill>
                  <a:latin typeface="Arimo"/>
                  <a:ea typeface="Arimo"/>
                  <a:cs typeface="Arimo"/>
                  <a:sym typeface="Arimo"/>
                </a:rPr>
                <a:t>DE</a:t>
              </a:r>
            </a:p>
          </p:txBody>
        </p:sp>
      </p:grpSp>
      <p:grpSp>
        <p:nvGrpSpPr>
          <p:cNvPr name="Group 48" id="48"/>
          <p:cNvGrpSpPr/>
          <p:nvPr/>
        </p:nvGrpSpPr>
        <p:grpSpPr>
          <a:xfrm rot="0">
            <a:off x="6533007" y="6135243"/>
            <a:ext cx="5162550" cy="842010"/>
            <a:chOff x="0" y="0"/>
            <a:chExt cx="6883400" cy="1122680"/>
          </a:xfrm>
        </p:grpSpPr>
        <p:sp>
          <p:nvSpPr>
            <p:cNvPr name="Freeform 49" id="49"/>
            <p:cNvSpPr/>
            <p:nvPr/>
          </p:nvSpPr>
          <p:spPr>
            <a:xfrm flipH="false" flipV="false" rot="0">
              <a:off x="0" y="0"/>
              <a:ext cx="6883400" cy="1122680"/>
            </a:xfrm>
            <a:custGeom>
              <a:avLst/>
              <a:gdLst/>
              <a:ahLst/>
              <a:cxnLst/>
              <a:rect r="r" b="b" t="t" l="l"/>
              <a:pathLst>
                <a:path h="1122680" w="6883400">
                  <a:moveTo>
                    <a:pt x="0" y="168402"/>
                  </a:moveTo>
                  <a:cubicBezTo>
                    <a:pt x="0" y="75438"/>
                    <a:pt x="75438" y="0"/>
                    <a:pt x="168402" y="0"/>
                  </a:cubicBezTo>
                  <a:lnTo>
                    <a:pt x="6714998" y="0"/>
                  </a:lnTo>
                  <a:cubicBezTo>
                    <a:pt x="6807962" y="0"/>
                    <a:pt x="6883400" y="75438"/>
                    <a:pt x="6883400" y="168402"/>
                  </a:cubicBezTo>
                  <a:lnTo>
                    <a:pt x="6883400" y="954278"/>
                  </a:lnTo>
                  <a:cubicBezTo>
                    <a:pt x="6883400" y="1047242"/>
                    <a:pt x="6807962" y="1122680"/>
                    <a:pt x="6714998" y="1122680"/>
                  </a:cubicBezTo>
                  <a:lnTo>
                    <a:pt x="168402" y="1122680"/>
                  </a:lnTo>
                  <a:cubicBezTo>
                    <a:pt x="75438" y="1122680"/>
                    <a:pt x="0" y="1047242"/>
                    <a:pt x="0" y="954278"/>
                  </a:cubicBezTo>
                  <a:close/>
                </a:path>
              </a:pathLst>
            </a:custGeom>
            <a:solidFill>
              <a:srgbClr val="F4F7FC"/>
            </a:solidFill>
            <a:ln w="19050" cap="sq">
              <a:solidFill>
                <a:srgbClr val="D7DCEC"/>
              </a:solidFill>
              <a:prstDash val="solid"/>
              <a:miter/>
            </a:ln>
          </p:spPr>
        </p:sp>
      </p:grpSp>
      <p:grpSp>
        <p:nvGrpSpPr>
          <p:cNvPr name="Group 50" id="50"/>
          <p:cNvGrpSpPr/>
          <p:nvPr/>
        </p:nvGrpSpPr>
        <p:grpSpPr>
          <a:xfrm rot="0">
            <a:off x="6542532" y="6213348"/>
            <a:ext cx="5143500" cy="521208"/>
            <a:chOff x="0" y="0"/>
            <a:chExt cx="6858000" cy="694944"/>
          </a:xfrm>
        </p:grpSpPr>
        <p:sp>
          <p:nvSpPr>
            <p:cNvPr name="Freeform 51" id="51"/>
            <p:cNvSpPr/>
            <p:nvPr/>
          </p:nvSpPr>
          <p:spPr>
            <a:xfrm flipH="false" flipV="false" rot="0">
              <a:off x="0" y="0"/>
              <a:ext cx="6858000" cy="694944"/>
            </a:xfrm>
            <a:custGeom>
              <a:avLst/>
              <a:gdLst/>
              <a:ahLst/>
              <a:cxnLst/>
              <a:rect r="r" b="b" t="t" l="l"/>
              <a:pathLst>
                <a:path h="694944" w="6858000">
                  <a:moveTo>
                    <a:pt x="0" y="0"/>
                  </a:moveTo>
                  <a:lnTo>
                    <a:pt x="6858000" y="0"/>
                  </a:lnTo>
                  <a:lnTo>
                    <a:pt x="6858000" y="694944"/>
                  </a:lnTo>
                  <a:lnTo>
                    <a:pt x="0" y="694944"/>
                  </a:lnTo>
                  <a:close/>
                </a:path>
              </a:pathLst>
            </a:custGeom>
            <a:blipFill>
              <a:blip r:embed="rId2">
                <a:alphaModFix amt="0"/>
              </a:blip>
              <a:stretch>
                <a:fillRect l="0" t="-142286" r="0" b="-142286"/>
              </a:stretch>
            </a:blipFill>
          </p:spPr>
        </p:sp>
        <p:sp>
          <p:nvSpPr>
            <p:cNvPr name="TextBox 52" id="52"/>
            <p:cNvSpPr txBox="true"/>
            <p:nvPr/>
          </p:nvSpPr>
          <p:spPr>
            <a:xfrm>
              <a:off x="0" y="-38100"/>
              <a:ext cx="6858000" cy="733044"/>
            </a:xfrm>
            <a:prstGeom prst="rect">
              <a:avLst/>
            </a:prstGeom>
          </p:spPr>
          <p:txBody>
            <a:bodyPr anchor="ctr" rtlCol="false" tIns="0" lIns="0" bIns="0" rIns="0"/>
            <a:lstStyle/>
            <a:p>
              <a:pPr algn="ctr">
                <a:lnSpc>
                  <a:spcPts val="2430"/>
                </a:lnSpc>
              </a:pPr>
              <a:r>
                <a:rPr lang="en-US" sz="2025">
                  <a:solidFill>
                    <a:srgbClr val="6B7280"/>
                  </a:solidFill>
                  <a:latin typeface="Calibri (MS)"/>
                  <a:ea typeface="Calibri (MS)"/>
                  <a:cs typeface="Calibri (MS)"/>
                  <a:sym typeface="Calibri (MS)"/>
                </a:rPr>
                <a:t>Respond</a:t>
              </a:r>
            </a:p>
          </p:txBody>
        </p:sp>
      </p:grpSp>
      <p:grpSp>
        <p:nvGrpSpPr>
          <p:cNvPr name="Group 53" id="53"/>
          <p:cNvGrpSpPr/>
          <p:nvPr/>
        </p:nvGrpSpPr>
        <p:grpSpPr>
          <a:xfrm rot="0">
            <a:off x="6542532" y="6583680"/>
            <a:ext cx="5143500" cy="329184"/>
            <a:chOff x="0" y="0"/>
            <a:chExt cx="6858000" cy="438912"/>
          </a:xfrm>
        </p:grpSpPr>
        <p:sp>
          <p:nvSpPr>
            <p:cNvPr name="Freeform 54" id="54"/>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55" id="55"/>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9AA3B8"/>
                  </a:solidFill>
                  <a:latin typeface="Arimo"/>
                  <a:ea typeface="Arimo"/>
                  <a:cs typeface="Arimo"/>
                  <a:sym typeface="Arimo"/>
                </a:rPr>
                <a:t>RS</a:t>
              </a:r>
            </a:p>
          </p:txBody>
        </p:sp>
      </p:grpSp>
      <p:grpSp>
        <p:nvGrpSpPr>
          <p:cNvPr name="Group 56" id="56"/>
          <p:cNvGrpSpPr/>
          <p:nvPr/>
        </p:nvGrpSpPr>
        <p:grpSpPr>
          <a:xfrm rot="0">
            <a:off x="12115419" y="6135243"/>
            <a:ext cx="5162550" cy="842010"/>
            <a:chOff x="0" y="0"/>
            <a:chExt cx="6883400" cy="1122680"/>
          </a:xfrm>
        </p:grpSpPr>
        <p:sp>
          <p:nvSpPr>
            <p:cNvPr name="Freeform 57" id="57"/>
            <p:cNvSpPr/>
            <p:nvPr/>
          </p:nvSpPr>
          <p:spPr>
            <a:xfrm flipH="false" flipV="false" rot="0">
              <a:off x="0" y="0"/>
              <a:ext cx="6883400" cy="1122680"/>
            </a:xfrm>
            <a:custGeom>
              <a:avLst/>
              <a:gdLst/>
              <a:ahLst/>
              <a:cxnLst/>
              <a:rect r="r" b="b" t="t" l="l"/>
              <a:pathLst>
                <a:path h="1122680" w="6883400">
                  <a:moveTo>
                    <a:pt x="0" y="168402"/>
                  </a:moveTo>
                  <a:cubicBezTo>
                    <a:pt x="0" y="75438"/>
                    <a:pt x="75438" y="0"/>
                    <a:pt x="168402" y="0"/>
                  </a:cubicBezTo>
                  <a:lnTo>
                    <a:pt x="6714998" y="0"/>
                  </a:lnTo>
                  <a:cubicBezTo>
                    <a:pt x="6807962" y="0"/>
                    <a:pt x="6883400" y="75438"/>
                    <a:pt x="6883400" y="168402"/>
                  </a:cubicBezTo>
                  <a:lnTo>
                    <a:pt x="6883400" y="954278"/>
                  </a:lnTo>
                  <a:cubicBezTo>
                    <a:pt x="6883400" y="1047242"/>
                    <a:pt x="6807962" y="1122680"/>
                    <a:pt x="6714998" y="1122680"/>
                  </a:cubicBezTo>
                  <a:lnTo>
                    <a:pt x="168402" y="1122680"/>
                  </a:lnTo>
                  <a:cubicBezTo>
                    <a:pt x="75438" y="1122680"/>
                    <a:pt x="0" y="1047242"/>
                    <a:pt x="0" y="954278"/>
                  </a:cubicBezTo>
                  <a:close/>
                </a:path>
              </a:pathLst>
            </a:custGeom>
            <a:solidFill>
              <a:srgbClr val="F4F7FC"/>
            </a:solidFill>
            <a:ln w="19050" cap="sq">
              <a:solidFill>
                <a:srgbClr val="D7DCEC"/>
              </a:solidFill>
              <a:prstDash val="solid"/>
              <a:miter/>
            </a:ln>
          </p:spPr>
        </p:sp>
      </p:grpSp>
      <p:grpSp>
        <p:nvGrpSpPr>
          <p:cNvPr name="Group 58" id="58"/>
          <p:cNvGrpSpPr/>
          <p:nvPr/>
        </p:nvGrpSpPr>
        <p:grpSpPr>
          <a:xfrm rot="0">
            <a:off x="12124944" y="6213348"/>
            <a:ext cx="5143500" cy="521208"/>
            <a:chOff x="0" y="0"/>
            <a:chExt cx="6858000" cy="694944"/>
          </a:xfrm>
        </p:grpSpPr>
        <p:sp>
          <p:nvSpPr>
            <p:cNvPr name="Freeform 59" id="59"/>
            <p:cNvSpPr/>
            <p:nvPr/>
          </p:nvSpPr>
          <p:spPr>
            <a:xfrm flipH="false" flipV="false" rot="0">
              <a:off x="0" y="0"/>
              <a:ext cx="6858000" cy="694944"/>
            </a:xfrm>
            <a:custGeom>
              <a:avLst/>
              <a:gdLst/>
              <a:ahLst/>
              <a:cxnLst/>
              <a:rect r="r" b="b" t="t" l="l"/>
              <a:pathLst>
                <a:path h="694944" w="6858000">
                  <a:moveTo>
                    <a:pt x="0" y="0"/>
                  </a:moveTo>
                  <a:lnTo>
                    <a:pt x="6858000" y="0"/>
                  </a:lnTo>
                  <a:lnTo>
                    <a:pt x="6858000" y="694944"/>
                  </a:lnTo>
                  <a:lnTo>
                    <a:pt x="0" y="694944"/>
                  </a:lnTo>
                  <a:close/>
                </a:path>
              </a:pathLst>
            </a:custGeom>
            <a:blipFill>
              <a:blip r:embed="rId2">
                <a:alphaModFix amt="0"/>
              </a:blip>
              <a:stretch>
                <a:fillRect l="0" t="-142286" r="0" b="-142286"/>
              </a:stretch>
            </a:blipFill>
          </p:spPr>
        </p:sp>
        <p:sp>
          <p:nvSpPr>
            <p:cNvPr name="TextBox 60" id="60"/>
            <p:cNvSpPr txBox="true"/>
            <p:nvPr/>
          </p:nvSpPr>
          <p:spPr>
            <a:xfrm>
              <a:off x="0" y="-38100"/>
              <a:ext cx="6858000" cy="733044"/>
            </a:xfrm>
            <a:prstGeom prst="rect">
              <a:avLst/>
            </a:prstGeom>
          </p:spPr>
          <p:txBody>
            <a:bodyPr anchor="ctr" rtlCol="false" tIns="0" lIns="0" bIns="0" rIns="0"/>
            <a:lstStyle/>
            <a:p>
              <a:pPr algn="ctr">
                <a:lnSpc>
                  <a:spcPts val="2430"/>
                </a:lnSpc>
              </a:pPr>
              <a:r>
                <a:rPr lang="en-US" sz="2025">
                  <a:solidFill>
                    <a:srgbClr val="6B7280"/>
                  </a:solidFill>
                  <a:latin typeface="Calibri (MS)"/>
                  <a:ea typeface="Calibri (MS)"/>
                  <a:cs typeface="Calibri (MS)"/>
                  <a:sym typeface="Calibri (MS)"/>
                </a:rPr>
                <a:t>Recover</a:t>
              </a:r>
            </a:p>
          </p:txBody>
        </p:sp>
      </p:grpSp>
      <p:grpSp>
        <p:nvGrpSpPr>
          <p:cNvPr name="Group 61" id="61"/>
          <p:cNvGrpSpPr/>
          <p:nvPr/>
        </p:nvGrpSpPr>
        <p:grpSpPr>
          <a:xfrm rot="0">
            <a:off x="12124944" y="6583680"/>
            <a:ext cx="5143500" cy="329184"/>
            <a:chOff x="0" y="0"/>
            <a:chExt cx="6858000" cy="438912"/>
          </a:xfrm>
        </p:grpSpPr>
        <p:sp>
          <p:nvSpPr>
            <p:cNvPr name="Freeform 62" id="62"/>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63" id="63"/>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9AA3B8"/>
                  </a:solidFill>
                  <a:latin typeface="Arimo"/>
                  <a:ea typeface="Arimo"/>
                  <a:cs typeface="Arimo"/>
                  <a:sym typeface="Arimo"/>
                </a:rPr>
                <a:t>RC</a:t>
              </a:r>
            </a:p>
          </p:txBody>
        </p:sp>
      </p:grpSp>
      <p:grpSp>
        <p:nvGrpSpPr>
          <p:cNvPr name="Group 64" id="64"/>
          <p:cNvGrpSpPr/>
          <p:nvPr/>
        </p:nvGrpSpPr>
        <p:grpSpPr>
          <a:xfrm rot="0">
            <a:off x="950595" y="7328535"/>
            <a:ext cx="16341090" cy="1596390"/>
            <a:chOff x="0" y="0"/>
            <a:chExt cx="21788120" cy="2128520"/>
          </a:xfrm>
        </p:grpSpPr>
        <p:sp>
          <p:nvSpPr>
            <p:cNvPr name="Freeform 65" id="65"/>
            <p:cNvSpPr/>
            <p:nvPr/>
          </p:nvSpPr>
          <p:spPr>
            <a:xfrm flipH="false" flipV="false" rot="0">
              <a:off x="0" y="0"/>
              <a:ext cx="21788120" cy="2128520"/>
            </a:xfrm>
            <a:custGeom>
              <a:avLst/>
              <a:gdLst/>
              <a:ahLst/>
              <a:cxnLst/>
              <a:rect r="r" b="b" t="t" l="l"/>
              <a:pathLst>
                <a:path h="2128520" w="21788120">
                  <a:moveTo>
                    <a:pt x="0" y="185039"/>
                  </a:moveTo>
                  <a:cubicBezTo>
                    <a:pt x="0" y="82931"/>
                    <a:pt x="82931" y="0"/>
                    <a:pt x="185039" y="0"/>
                  </a:cubicBezTo>
                  <a:lnTo>
                    <a:pt x="21603081" y="0"/>
                  </a:lnTo>
                  <a:cubicBezTo>
                    <a:pt x="21705317" y="0"/>
                    <a:pt x="21788120" y="82931"/>
                    <a:pt x="21788120" y="185039"/>
                  </a:cubicBezTo>
                  <a:lnTo>
                    <a:pt x="21788120" y="1943481"/>
                  </a:lnTo>
                  <a:cubicBezTo>
                    <a:pt x="21788120" y="2045716"/>
                    <a:pt x="21705190" y="2128520"/>
                    <a:pt x="21603081" y="2128520"/>
                  </a:cubicBezTo>
                  <a:lnTo>
                    <a:pt x="185039" y="2128520"/>
                  </a:lnTo>
                  <a:cubicBezTo>
                    <a:pt x="82931" y="2128520"/>
                    <a:pt x="0" y="2045589"/>
                    <a:pt x="0" y="1943481"/>
                  </a:cubicBezTo>
                  <a:close/>
                </a:path>
              </a:pathLst>
            </a:custGeom>
            <a:solidFill>
              <a:srgbClr val="FBF9F4"/>
            </a:solidFill>
            <a:ln w="19050" cap="sq">
              <a:solidFill>
                <a:srgbClr val="EFE6D2"/>
              </a:solidFill>
              <a:prstDash val="solid"/>
              <a:miter/>
            </a:ln>
          </p:spPr>
        </p:sp>
      </p:grpSp>
      <p:sp>
        <p:nvSpPr>
          <p:cNvPr name="TextBox 66" id="66"/>
          <p:cNvSpPr txBox="true"/>
          <p:nvPr/>
        </p:nvSpPr>
        <p:spPr>
          <a:xfrm rot="0">
            <a:off x="1463040" y="7494270"/>
            <a:ext cx="15316200" cy="1238250"/>
          </a:xfrm>
          <a:prstGeom prst="rect">
            <a:avLst/>
          </a:prstGeom>
        </p:spPr>
        <p:txBody>
          <a:bodyPr anchor="t" rtlCol="false" tIns="0" lIns="0" bIns="0" rIns="0">
            <a:spAutoFit/>
          </a:bodyPr>
          <a:lstStyle/>
          <a:p>
            <a:pPr algn="l">
              <a:lnSpc>
                <a:spcPts val="2880"/>
              </a:lnSpc>
            </a:pPr>
            <a:r>
              <a:rPr lang="en-US" sz="1875">
                <a:solidFill>
                  <a:srgbClr val="23262F"/>
                </a:solidFill>
                <a:latin typeface="Calibri (MS)"/>
                <a:ea typeface="Calibri (MS)"/>
                <a:cs typeface="Calibri (MS)"/>
                <a:sym typeface="Calibri (MS)"/>
              </a:rPr>
              <a:t>Nothing has been contained or fixed yet — a tool noticed something abnormal and surfaced it for a human to look at. That's Detect.</a:t>
            </a:r>
          </a:p>
        </p:txBody>
      </p:sp>
      <p:grpSp>
        <p:nvGrpSpPr>
          <p:cNvPr name="Group 67" id="67"/>
          <p:cNvGrpSpPr/>
          <p:nvPr/>
        </p:nvGrpSpPr>
        <p:grpSpPr>
          <a:xfrm rot="0">
            <a:off x="685800" y="9710928"/>
            <a:ext cx="10972800" cy="411480"/>
            <a:chOff x="0" y="0"/>
            <a:chExt cx="14630400" cy="548640"/>
          </a:xfrm>
        </p:grpSpPr>
        <p:sp>
          <p:nvSpPr>
            <p:cNvPr name="Freeform 68" id="68"/>
            <p:cNvSpPr/>
            <p:nvPr/>
          </p:nvSpPr>
          <p:spPr>
            <a:xfrm flipH="false" flipV="false" rot="0">
              <a:off x="0" y="0"/>
              <a:ext cx="14630400" cy="548640"/>
            </a:xfrm>
            <a:custGeom>
              <a:avLst/>
              <a:gdLst/>
              <a:ahLst/>
              <a:cxnLst/>
              <a:rect r="r" b="b" t="t" l="l"/>
              <a:pathLst>
                <a:path h="548640" w="14630400">
                  <a:moveTo>
                    <a:pt x="0" y="0"/>
                  </a:moveTo>
                  <a:lnTo>
                    <a:pt x="14630400" y="0"/>
                  </a:lnTo>
                  <a:lnTo>
                    <a:pt x="14630400" y="548640"/>
                  </a:lnTo>
                  <a:lnTo>
                    <a:pt x="0" y="548640"/>
                  </a:lnTo>
                  <a:close/>
                </a:path>
              </a:pathLst>
            </a:custGeom>
            <a:blipFill>
              <a:blip r:embed="rId2">
                <a:alphaModFix amt="0"/>
              </a:blip>
              <a:stretch>
                <a:fillRect l="0" t="-469601" r="0" b="-469601"/>
              </a:stretch>
            </a:blipFill>
          </p:spPr>
        </p:sp>
        <p:sp>
          <p:nvSpPr>
            <p:cNvPr name="TextBox 69" id="69"/>
            <p:cNvSpPr txBox="true"/>
            <p:nvPr/>
          </p:nvSpPr>
          <p:spPr>
            <a:xfrm>
              <a:off x="0" y="-38100"/>
              <a:ext cx="14630400" cy="586740"/>
            </a:xfrm>
            <a:prstGeom prst="rect">
              <a:avLst/>
            </a:prstGeom>
          </p:spPr>
          <p:txBody>
            <a:bodyPr anchor="ctr" rtlCol="false" tIns="0" lIns="0" bIns="0" rIns="0"/>
            <a:lstStyle/>
            <a:p>
              <a:pPr algn="l">
                <a:lnSpc>
                  <a:spcPts val="1800"/>
                </a:lnSpc>
              </a:pPr>
              <a:r>
                <a:rPr lang="en-US" sz="1500">
                  <a:solidFill>
                    <a:srgbClr val="6B7280"/>
                  </a:solidFill>
                  <a:latin typeface="Calibri (MS)"/>
                  <a:ea typeface="Calibri (MS)"/>
                  <a:cs typeface="Calibri (MS)"/>
                  <a:sym typeface="Calibri (MS)"/>
                </a:rPr>
                <a:t>Davao del Norte Provincial Government — Cybersecurity Seminar</a:t>
              </a:r>
            </a:p>
          </p:txBody>
        </p:sp>
      </p:grpSp>
      <p:grpSp>
        <p:nvGrpSpPr>
          <p:cNvPr name="Group 70" id="70"/>
          <p:cNvGrpSpPr/>
          <p:nvPr/>
        </p:nvGrpSpPr>
        <p:grpSpPr>
          <a:xfrm rot="0">
            <a:off x="16911828" y="9710928"/>
            <a:ext cx="685800" cy="411480"/>
            <a:chOff x="0" y="0"/>
            <a:chExt cx="914400" cy="548640"/>
          </a:xfrm>
        </p:grpSpPr>
        <p:sp>
          <p:nvSpPr>
            <p:cNvPr name="Freeform 71" id="71"/>
            <p:cNvSpPr/>
            <p:nvPr/>
          </p:nvSpPr>
          <p:spPr>
            <a:xfrm flipH="false" flipV="false" rot="0">
              <a:off x="0" y="0"/>
              <a:ext cx="914400" cy="548640"/>
            </a:xfrm>
            <a:custGeom>
              <a:avLst/>
              <a:gdLst/>
              <a:ahLst/>
              <a:cxnLst/>
              <a:rect r="r" b="b" t="t" l="l"/>
              <a:pathLst>
                <a:path h="548640" w="914400">
                  <a:moveTo>
                    <a:pt x="0" y="0"/>
                  </a:moveTo>
                  <a:lnTo>
                    <a:pt x="914400" y="0"/>
                  </a:lnTo>
                  <a:lnTo>
                    <a:pt x="914400" y="548640"/>
                  </a:lnTo>
                  <a:lnTo>
                    <a:pt x="0" y="548640"/>
                  </a:lnTo>
                  <a:close/>
                </a:path>
              </a:pathLst>
            </a:custGeom>
            <a:blipFill>
              <a:blip r:embed="rId2">
                <a:alphaModFix amt="0"/>
              </a:blip>
              <a:stretch>
                <a:fillRect l="-26982" t="0" r="-26982" b="0"/>
              </a:stretch>
            </a:blipFill>
          </p:spPr>
        </p:sp>
        <p:sp>
          <p:nvSpPr>
            <p:cNvPr name="TextBox 72" id="72"/>
            <p:cNvSpPr txBox="true"/>
            <p:nvPr/>
          </p:nvSpPr>
          <p:spPr>
            <a:xfrm>
              <a:off x="0" y="-38100"/>
              <a:ext cx="914400" cy="586740"/>
            </a:xfrm>
            <a:prstGeom prst="rect">
              <a:avLst/>
            </a:prstGeom>
          </p:spPr>
          <p:txBody>
            <a:bodyPr anchor="ctr" rtlCol="false" tIns="0" lIns="0" bIns="0" rIns="0"/>
            <a:lstStyle/>
            <a:p>
              <a:pPr algn="r">
                <a:lnSpc>
                  <a:spcPts val="1800"/>
                </a:lnSpc>
              </a:pPr>
              <a:r>
                <a:rPr lang="en-US" sz="1500">
                  <a:solidFill>
                    <a:srgbClr val="6B7280"/>
                  </a:solidFill>
                  <a:latin typeface="Calibri (MS)"/>
                  <a:ea typeface="Calibri (MS)"/>
                  <a:cs typeface="Calibri (MS)"/>
                  <a:sym typeface="Calibri (MS)"/>
                </a:rPr>
                <a:t>42</a:t>
              </a:r>
            </a:p>
          </p:txBody>
        </p:sp>
      </p:grpSp>
    </p:spTree>
  </p:cSld>
  <p:clrMapOvr>
    <a:masterClrMapping/>
  </p:clrMapOvr>
</p:sld>
</file>

<file path=ppt/slides/slide10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60120" y="685800"/>
            <a:ext cx="13716000" cy="411480"/>
            <a:chOff x="0" y="0"/>
            <a:chExt cx="18288000" cy="548640"/>
          </a:xfrm>
        </p:grpSpPr>
        <p:sp>
          <p:nvSpPr>
            <p:cNvPr name="Freeform 3" id="3"/>
            <p:cNvSpPr/>
            <p:nvPr/>
          </p:nvSpPr>
          <p:spPr>
            <a:xfrm flipH="false" flipV="false" rot="0">
              <a:off x="0" y="0"/>
              <a:ext cx="18288000" cy="548640"/>
            </a:xfrm>
            <a:custGeom>
              <a:avLst/>
              <a:gdLst/>
              <a:ahLst/>
              <a:cxnLst/>
              <a:rect r="r" b="b" t="t" l="l"/>
              <a:pathLst>
                <a:path h="548640" w="18288000">
                  <a:moveTo>
                    <a:pt x="0" y="0"/>
                  </a:moveTo>
                  <a:lnTo>
                    <a:pt x="18288000" y="0"/>
                  </a:lnTo>
                  <a:lnTo>
                    <a:pt x="18288000" y="548640"/>
                  </a:lnTo>
                  <a:lnTo>
                    <a:pt x="0" y="548640"/>
                  </a:lnTo>
                  <a:close/>
                </a:path>
              </a:pathLst>
            </a:custGeom>
            <a:blipFill>
              <a:blip r:embed="rId2">
                <a:alphaModFix amt="0"/>
              </a:blip>
              <a:stretch>
                <a:fillRect l="0" t="-599501" r="0" b="-599501"/>
              </a:stretch>
            </a:blipFill>
          </p:spPr>
        </p:sp>
        <p:sp>
          <p:nvSpPr>
            <p:cNvPr name="TextBox 4" id="4"/>
            <p:cNvSpPr txBox="true"/>
            <p:nvPr/>
          </p:nvSpPr>
          <p:spPr>
            <a:xfrm>
              <a:off x="0" y="-38100"/>
              <a:ext cx="18288000" cy="586740"/>
            </a:xfrm>
            <a:prstGeom prst="rect">
              <a:avLst/>
            </a:prstGeom>
          </p:spPr>
          <p:txBody>
            <a:bodyPr anchor="ctr" rtlCol="false" tIns="0" lIns="0" bIns="0" rIns="0"/>
            <a:lstStyle/>
            <a:p>
              <a:pPr algn="l">
                <a:lnSpc>
                  <a:spcPts val="2160"/>
                </a:lnSpc>
              </a:pPr>
              <a:r>
                <a:rPr lang="en-US" b="true" sz="1800" spc="225">
                  <a:solidFill>
                    <a:srgbClr val="00B4D8"/>
                  </a:solidFill>
                  <a:latin typeface="Calibri (MS) Bold"/>
                  <a:ea typeface="Calibri (MS) Bold"/>
                  <a:cs typeface="Calibri (MS) Bold"/>
                  <a:sym typeface="Calibri (MS) Bold"/>
                </a:rPr>
                <a:t>NIST CSF SORT · SCENARIO</a:t>
              </a:r>
            </a:p>
          </p:txBody>
        </p:sp>
      </p:grpSp>
      <p:grpSp>
        <p:nvGrpSpPr>
          <p:cNvPr name="Group 5" id="5"/>
          <p:cNvGrpSpPr/>
          <p:nvPr/>
        </p:nvGrpSpPr>
        <p:grpSpPr>
          <a:xfrm rot="0">
            <a:off x="960120" y="1069848"/>
            <a:ext cx="10972800" cy="822960"/>
            <a:chOff x="0" y="0"/>
            <a:chExt cx="14630400" cy="1097280"/>
          </a:xfrm>
        </p:grpSpPr>
        <p:sp>
          <p:nvSpPr>
            <p:cNvPr name="Freeform 6" id="6"/>
            <p:cNvSpPr/>
            <p:nvPr/>
          </p:nvSpPr>
          <p:spPr>
            <a:xfrm flipH="false" flipV="false" rot="0">
              <a:off x="0" y="0"/>
              <a:ext cx="14630400" cy="1097280"/>
            </a:xfrm>
            <a:custGeom>
              <a:avLst/>
              <a:gdLst/>
              <a:ahLst/>
              <a:cxnLst/>
              <a:rect r="r" b="b" t="t" l="l"/>
              <a:pathLst>
                <a:path h="1097280" w="14630400">
                  <a:moveTo>
                    <a:pt x="0" y="0"/>
                  </a:moveTo>
                  <a:lnTo>
                    <a:pt x="14630400" y="0"/>
                  </a:lnTo>
                  <a:lnTo>
                    <a:pt x="14630400" y="1097280"/>
                  </a:lnTo>
                  <a:lnTo>
                    <a:pt x="0" y="1097280"/>
                  </a:lnTo>
                  <a:close/>
                </a:path>
              </a:pathLst>
            </a:custGeom>
            <a:blipFill>
              <a:blip r:embed="rId2">
                <a:alphaModFix amt="0"/>
              </a:blip>
              <a:stretch>
                <a:fillRect l="0" t="-209800" r="0" b="-209800"/>
              </a:stretch>
            </a:blipFill>
          </p:spPr>
        </p:sp>
        <p:sp>
          <p:nvSpPr>
            <p:cNvPr name="TextBox 7" id="7"/>
            <p:cNvSpPr txBox="true"/>
            <p:nvPr/>
          </p:nvSpPr>
          <p:spPr>
            <a:xfrm>
              <a:off x="0" y="0"/>
              <a:ext cx="14630400" cy="1097280"/>
            </a:xfrm>
            <a:prstGeom prst="rect">
              <a:avLst/>
            </a:prstGeom>
          </p:spPr>
          <p:txBody>
            <a:bodyPr anchor="ctr" rtlCol="false" tIns="0" lIns="0" bIns="0" rIns="0"/>
            <a:lstStyle/>
            <a:p>
              <a:pPr algn="l">
                <a:lnSpc>
                  <a:spcPts val="4680"/>
                </a:lnSpc>
              </a:pPr>
              <a:r>
                <a:rPr lang="en-US" sz="3900" b="true">
                  <a:solidFill>
                    <a:srgbClr val="1E2761"/>
                  </a:solidFill>
                  <a:latin typeface="Cambria Bold"/>
                  <a:ea typeface="Cambria Bold"/>
                  <a:cs typeface="Cambria Bold"/>
                  <a:sym typeface="Cambria Bold"/>
                </a:rPr>
                <a:t>Scenario 17</a:t>
              </a:r>
            </a:p>
          </p:txBody>
        </p:sp>
      </p:grpSp>
      <p:grpSp>
        <p:nvGrpSpPr>
          <p:cNvPr name="Group 8" id="8"/>
          <p:cNvGrpSpPr/>
          <p:nvPr/>
        </p:nvGrpSpPr>
        <p:grpSpPr>
          <a:xfrm rot="0">
            <a:off x="960120" y="1810512"/>
            <a:ext cx="8229600" cy="411480"/>
            <a:chOff x="0" y="0"/>
            <a:chExt cx="10972800" cy="548640"/>
          </a:xfrm>
        </p:grpSpPr>
        <p:sp>
          <p:nvSpPr>
            <p:cNvPr name="Freeform 9" id="9"/>
            <p:cNvSpPr/>
            <p:nvPr/>
          </p:nvSpPr>
          <p:spPr>
            <a:xfrm flipH="false" flipV="false" rot="0">
              <a:off x="0" y="0"/>
              <a:ext cx="10972800" cy="548640"/>
            </a:xfrm>
            <a:custGeom>
              <a:avLst/>
              <a:gdLst/>
              <a:ahLst/>
              <a:cxnLst/>
              <a:rect r="r" b="b" t="t" l="l"/>
              <a:pathLst>
                <a:path h="548640" w="10972800">
                  <a:moveTo>
                    <a:pt x="0" y="0"/>
                  </a:moveTo>
                  <a:lnTo>
                    <a:pt x="10972800" y="0"/>
                  </a:lnTo>
                  <a:lnTo>
                    <a:pt x="10972800" y="548640"/>
                  </a:lnTo>
                  <a:lnTo>
                    <a:pt x="0" y="548640"/>
                  </a:lnTo>
                  <a:close/>
                </a:path>
              </a:pathLst>
            </a:custGeom>
            <a:blipFill>
              <a:blip r:embed="rId2">
                <a:alphaModFix amt="0"/>
              </a:blip>
              <a:stretch>
                <a:fillRect l="0" t="-339700" r="0" b="-339700"/>
              </a:stretch>
            </a:blipFill>
          </p:spPr>
        </p:sp>
        <p:sp>
          <p:nvSpPr>
            <p:cNvPr name="TextBox 10" id="10"/>
            <p:cNvSpPr txBox="true"/>
            <p:nvPr/>
          </p:nvSpPr>
          <p:spPr>
            <a:xfrm>
              <a:off x="0" y="-28575"/>
              <a:ext cx="10972800" cy="577215"/>
            </a:xfrm>
            <a:prstGeom prst="rect">
              <a:avLst/>
            </a:prstGeom>
          </p:spPr>
          <p:txBody>
            <a:bodyPr anchor="ctr" rtlCol="false" tIns="0" lIns="0" bIns="0" rIns="0"/>
            <a:lstStyle/>
            <a:p>
              <a:pPr algn="l">
                <a:lnSpc>
                  <a:spcPts val="1980"/>
                </a:lnSpc>
              </a:pPr>
              <a:r>
                <a:rPr lang="en-US" sz="1650">
                  <a:solidFill>
                    <a:srgbClr val="6B7280"/>
                  </a:solidFill>
                  <a:latin typeface="Calibri (MS)"/>
                  <a:ea typeface="Calibri (MS)"/>
                  <a:cs typeface="Calibri (MS)"/>
                  <a:sym typeface="Calibri (MS)"/>
                </a:rPr>
                <a:t>17 of 20</a:t>
              </a:r>
            </a:p>
          </p:txBody>
        </p:sp>
      </p:grpSp>
      <p:grpSp>
        <p:nvGrpSpPr>
          <p:cNvPr name="Group 11" id="11"/>
          <p:cNvGrpSpPr/>
          <p:nvPr/>
        </p:nvGrpSpPr>
        <p:grpSpPr>
          <a:xfrm rot="0">
            <a:off x="960120" y="2537460"/>
            <a:ext cx="16322040" cy="2811780"/>
            <a:chOff x="0" y="0"/>
            <a:chExt cx="21762720" cy="3749040"/>
          </a:xfrm>
        </p:grpSpPr>
        <p:sp>
          <p:nvSpPr>
            <p:cNvPr name="Freeform 12" id="12"/>
            <p:cNvSpPr/>
            <p:nvPr/>
          </p:nvSpPr>
          <p:spPr>
            <a:xfrm flipH="false" flipV="false" rot="0">
              <a:off x="0" y="0"/>
              <a:ext cx="21762720" cy="3749040"/>
            </a:xfrm>
            <a:custGeom>
              <a:avLst/>
              <a:gdLst/>
              <a:ahLst/>
              <a:cxnLst/>
              <a:rect r="r" b="b" t="t" l="l"/>
              <a:pathLst>
                <a:path h="3749040" w="21762720">
                  <a:moveTo>
                    <a:pt x="0" y="182880"/>
                  </a:moveTo>
                  <a:cubicBezTo>
                    <a:pt x="0" y="81915"/>
                    <a:pt x="81915" y="0"/>
                    <a:pt x="182880" y="0"/>
                  </a:cubicBezTo>
                  <a:lnTo>
                    <a:pt x="21579839" y="0"/>
                  </a:lnTo>
                  <a:cubicBezTo>
                    <a:pt x="21680804" y="0"/>
                    <a:pt x="21762720" y="81915"/>
                    <a:pt x="21762720" y="182880"/>
                  </a:cubicBezTo>
                  <a:lnTo>
                    <a:pt x="21762720" y="3566160"/>
                  </a:lnTo>
                  <a:cubicBezTo>
                    <a:pt x="21762720" y="3667125"/>
                    <a:pt x="21680804" y="3749040"/>
                    <a:pt x="21579839" y="3749040"/>
                  </a:cubicBezTo>
                  <a:lnTo>
                    <a:pt x="182880" y="3749040"/>
                  </a:lnTo>
                  <a:cubicBezTo>
                    <a:pt x="81915" y="3749040"/>
                    <a:pt x="0" y="3667125"/>
                    <a:pt x="0" y="3566160"/>
                  </a:cubicBezTo>
                  <a:close/>
                </a:path>
              </a:pathLst>
            </a:custGeom>
            <a:solidFill>
              <a:srgbClr val="F4F7FC"/>
            </a:solidFill>
          </p:spPr>
        </p:sp>
      </p:grpSp>
      <p:grpSp>
        <p:nvGrpSpPr>
          <p:cNvPr name="Group 13" id="13"/>
          <p:cNvGrpSpPr/>
          <p:nvPr/>
        </p:nvGrpSpPr>
        <p:grpSpPr>
          <a:xfrm rot="0">
            <a:off x="1440180" y="2811780"/>
            <a:ext cx="15361920" cy="2263140"/>
            <a:chOff x="0" y="0"/>
            <a:chExt cx="20482560" cy="3017520"/>
          </a:xfrm>
        </p:grpSpPr>
        <p:sp>
          <p:nvSpPr>
            <p:cNvPr name="Freeform 14" id="14"/>
            <p:cNvSpPr/>
            <p:nvPr/>
          </p:nvSpPr>
          <p:spPr>
            <a:xfrm flipH="false" flipV="false" rot="0">
              <a:off x="0" y="0"/>
              <a:ext cx="20482561" cy="3017520"/>
            </a:xfrm>
            <a:custGeom>
              <a:avLst/>
              <a:gdLst/>
              <a:ahLst/>
              <a:cxnLst/>
              <a:rect r="r" b="b" t="t" l="l"/>
              <a:pathLst>
                <a:path h="3017520" w="20482561">
                  <a:moveTo>
                    <a:pt x="0" y="0"/>
                  </a:moveTo>
                  <a:lnTo>
                    <a:pt x="20482561" y="0"/>
                  </a:lnTo>
                  <a:lnTo>
                    <a:pt x="20482561" y="3017520"/>
                  </a:lnTo>
                  <a:lnTo>
                    <a:pt x="0" y="3017520"/>
                  </a:lnTo>
                  <a:close/>
                </a:path>
              </a:pathLst>
            </a:custGeom>
            <a:blipFill>
              <a:blip r:embed="rId2">
                <a:alphaModFix amt="0"/>
              </a:blip>
              <a:stretch>
                <a:fillRect l="0" t="-82262" r="0" b="-82262"/>
              </a:stretch>
            </a:blipFill>
          </p:spPr>
        </p:sp>
        <p:sp>
          <p:nvSpPr>
            <p:cNvPr name="TextBox 15" id="15"/>
            <p:cNvSpPr txBox="true"/>
            <p:nvPr/>
          </p:nvSpPr>
          <p:spPr>
            <a:xfrm>
              <a:off x="0" y="-104775"/>
              <a:ext cx="20482560" cy="3122295"/>
            </a:xfrm>
            <a:prstGeom prst="rect">
              <a:avLst/>
            </a:prstGeom>
          </p:spPr>
          <p:txBody>
            <a:bodyPr anchor="ctr" rtlCol="false" tIns="0" lIns="0" bIns="0" rIns="0"/>
            <a:lstStyle/>
            <a:p>
              <a:pPr algn="l">
                <a:lnSpc>
                  <a:spcPts val="4147"/>
                </a:lnSpc>
              </a:pPr>
              <a:r>
                <a:rPr lang="en-US" sz="2700" i="true">
                  <a:solidFill>
                    <a:srgbClr val="23262F"/>
                  </a:solidFill>
                  <a:latin typeface="Cambria Italics"/>
                  <a:ea typeface="Cambria Italics"/>
                  <a:cs typeface="Cambria Italics"/>
                  <a:sym typeface="Cambria Italics"/>
                </a:rPr>
                <a:t>"The moment a phishing campaign targeting staff is confirmed, IT sends a province-wide alert telling everyone not to click the link and how to report it if they already did."</a:t>
              </a:r>
            </a:p>
          </p:txBody>
        </p:sp>
      </p:grpSp>
      <p:sp>
        <p:nvSpPr>
          <p:cNvPr name="TextBox 16" id="16"/>
          <p:cNvSpPr txBox="true"/>
          <p:nvPr/>
        </p:nvSpPr>
        <p:spPr>
          <a:xfrm rot="0">
            <a:off x="1051560" y="5604510"/>
            <a:ext cx="16139160" cy="1276350"/>
          </a:xfrm>
          <a:prstGeom prst="rect">
            <a:avLst/>
          </a:prstGeom>
        </p:spPr>
        <p:txBody>
          <a:bodyPr anchor="t" rtlCol="false" tIns="0" lIns="0" bIns="0" rIns="0">
            <a:spAutoFit/>
          </a:bodyPr>
          <a:lstStyle/>
          <a:p>
            <a:pPr algn="ctr">
              <a:lnSpc>
                <a:spcPts val="3402"/>
              </a:lnSpc>
            </a:pPr>
            <a:r>
              <a:rPr lang="en-US" sz="2100" i="true">
                <a:solidFill>
                  <a:srgbClr val="6B7280"/>
                </a:solidFill>
                <a:latin typeface="Calibri (MS) Italics"/>
                <a:ea typeface="Calibri (MS) Italics"/>
                <a:cs typeface="Calibri (MS) Italics"/>
                <a:sym typeface="Calibri (MS) Italics"/>
              </a:rPr>
              <a:t>Which Function does this belong to — Govern, Identify, Protect, Detect, Respond, or Recover?</a:t>
            </a:r>
          </a:p>
          <a:p>
            <a:pPr algn="ctr">
              <a:lnSpc>
                <a:spcPts val="3402"/>
              </a:lnSpc>
            </a:pPr>
            <a:r>
              <a:rPr lang="en-US" sz="2100" i="true">
                <a:solidFill>
                  <a:srgbClr val="6B7280"/>
                </a:solidFill>
                <a:latin typeface="Calibri (MS) Italics"/>
                <a:ea typeface="Calibri (MS) Italics"/>
                <a:cs typeface="Calibri (MS) Italics"/>
                <a:sym typeface="Calibri (MS) Italics"/>
              </a:rPr>
              <a:t>Some belong to more than one. Discuss, then we'll reveal the answer.</a:t>
            </a:r>
          </a:p>
        </p:txBody>
      </p:sp>
      <p:grpSp>
        <p:nvGrpSpPr>
          <p:cNvPr name="Group 17" id="17"/>
          <p:cNvGrpSpPr/>
          <p:nvPr/>
        </p:nvGrpSpPr>
        <p:grpSpPr>
          <a:xfrm rot="0">
            <a:off x="950595" y="7122795"/>
            <a:ext cx="5162550" cy="910590"/>
            <a:chOff x="0" y="0"/>
            <a:chExt cx="6883400" cy="1214120"/>
          </a:xfrm>
        </p:grpSpPr>
        <p:sp>
          <p:nvSpPr>
            <p:cNvPr name="Freeform 18" id="18"/>
            <p:cNvSpPr/>
            <p:nvPr/>
          </p:nvSpPr>
          <p:spPr>
            <a:xfrm flipH="false" flipV="false" rot="0">
              <a:off x="0" y="0"/>
              <a:ext cx="6883400" cy="1214120"/>
            </a:xfrm>
            <a:custGeom>
              <a:avLst/>
              <a:gdLst/>
              <a:ahLst/>
              <a:cxnLst/>
              <a:rect r="r" b="b" t="t" l="l"/>
              <a:pathLst>
                <a:path h="1214120" w="6883400">
                  <a:moveTo>
                    <a:pt x="0" y="168148"/>
                  </a:moveTo>
                  <a:cubicBezTo>
                    <a:pt x="0" y="75311"/>
                    <a:pt x="75311" y="0"/>
                    <a:pt x="168148" y="0"/>
                  </a:cubicBezTo>
                  <a:lnTo>
                    <a:pt x="6715252" y="0"/>
                  </a:lnTo>
                  <a:cubicBezTo>
                    <a:pt x="6808089" y="0"/>
                    <a:pt x="6883400" y="75311"/>
                    <a:pt x="6883400" y="168148"/>
                  </a:cubicBezTo>
                  <a:lnTo>
                    <a:pt x="6883400" y="1045972"/>
                  </a:lnTo>
                  <a:cubicBezTo>
                    <a:pt x="6883400" y="1138809"/>
                    <a:pt x="6808089" y="1214120"/>
                    <a:pt x="6715252" y="1214120"/>
                  </a:cubicBezTo>
                  <a:lnTo>
                    <a:pt x="168148" y="1214120"/>
                  </a:lnTo>
                  <a:cubicBezTo>
                    <a:pt x="75311" y="1214120"/>
                    <a:pt x="0" y="1138809"/>
                    <a:pt x="0" y="1045972"/>
                  </a:cubicBezTo>
                  <a:close/>
                </a:path>
              </a:pathLst>
            </a:custGeom>
            <a:solidFill>
              <a:srgbClr val="F4F7FC"/>
            </a:solidFill>
            <a:ln w="19050" cap="sq">
              <a:solidFill>
                <a:srgbClr val="D7DCEC"/>
              </a:solidFill>
              <a:prstDash val="solid"/>
              <a:miter/>
            </a:ln>
          </p:spPr>
        </p:sp>
      </p:grpSp>
      <p:grpSp>
        <p:nvGrpSpPr>
          <p:cNvPr name="Group 19" id="19"/>
          <p:cNvGrpSpPr/>
          <p:nvPr/>
        </p:nvGrpSpPr>
        <p:grpSpPr>
          <a:xfrm rot="0">
            <a:off x="960120" y="7200900"/>
            <a:ext cx="5143500" cy="589788"/>
            <a:chOff x="0" y="0"/>
            <a:chExt cx="6858000" cy="786384"/>
          </a:xfrm>
        </p:grpSpPr>
        <p:sp>
          <p:nvSpPr>
            <p:cNvPr name="Freeform 20" id="20"/>
            <p:cNvSpPr/>
            <p:nvPr/>
          </p:nvSpPr>
          <p:spPr>
            <a:xfrm flipH="false" flipV="false" rot="0">
              <a:off x="0" y="0"/>
              <a:ext cx="6858000" cy="786384"/>
            </a:xfrm>
            <a:custGeom>
              <a:avLst/>
              <a:gdLst/>
              <a:ahLst/>
              <a:cxnLst/>
              <a:rect r="r" b="b" t="t" l="l"/>
              <a:pathLst>
                <a:path h="786384" w="6858000">
                  <a:moveTo>
                    <a:pt x="0" y="0"/>
                  </a:moveTo>
                  <a:lnTo>
                    <a:pt x="6858000" y="0"/>
                  </a:lnTo>
                  <a:lnTo>
                    <a:pt x="6858000" y="786384"/>
                  </a:lnTo>
                  <a:lnTo>
                    <a:pt x="0" y="786384"/>
                  </a:lnTo>
                  <a:close/>
                </a:path>
              </a:pathLst>
            </a:custGeom>
            <a:blipFill>
              <a:blip r:embed="rId2">
                <a:alphaModFix amt="0"/>
              </a:blip>
              <a:stretch>
                <a:fillRect l="0" t="-119927" r="0" b="-119927"/>
              </a:stretch>
            </a:blipFill>
          </p:spPr>
        </p:sp>
        <p:sp>
          <p:nvSpPr>
            <p:cNvPr name="TextBox 21" id="21"/>
            <p:cNvSpPr txBox="true"/>
            <p:nvPr/>
          </p:nvSpPr>
          <p:spPr>
            <a:xfrm>
              <a:off x="0" y="-38100"/>
              <a:ext cx="6858000" cy="824484"/>
            </a:xfrm>
            <a:prstGeom prst="rect">
              <a:avLst/>
            </a:prstGeom>
          </p:spPr>
          <p:txBody>
            <a:bodyPr anchor="ctr" rtlCol="false" tIns="0" lIns="0" bIns="0" rIns="0"/>
            <a:lstStyle/>
            <a:p>
              <a:pPr algn="ctr">
                <a:lnSpc>
                  <a:spcPts val="2430"/>
                </a:lnSpc>
              </a:pPr>
              <a:r>
                <a:rPr lang="en-US" sz="2025">
                  <a:solidFill>
                    <a:srgbClr val="6B7280"/>
                  </a:solidFill>
                  <a:latin typeface="Calibri (MS)"/>
                  <a:ea typeface="Calibri (MS)"/>
                  <a:cs typeface="Calibri (MS)"/>
                  <a:sym typeface="Calibri (MS)"/>
                </a:rPr>
                <a:t>Govern</a:t>
              </a:r>
            </a:p>
          </p:txBody>
        </p:sp>
      </p:grpSp>
      <p:grpSp>
        <p:nvGrpSpPr>
          <p:cNvPr name="Group 22" id="22"/>
          <p:cNvGrpSpPr/>
          <p:nvPr/>
        </p:nvGrpSpPr>
        <p:grpSpPr>
          <a:xfrm rot="0">
            <a:off x="960120" y="7639812"/>
            <a:ext cx="5143500" cy="329184"/>
            <a:chOff x="0" y="0"/>
            <a:chExt cx="6858000" cy="438912"/>
          </a:xfrm>
        </p:grpSpPr>
        <p:sp>
          <p:nvSpPr>
            <p:cNvPr name="Freeform 23" id="23"/>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24" id="24"/>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9AA3B8"/>
                  </a:solidFill>
                  <a:latin typeface="Arimo"/>
                  <a:ea typeface="Arimo"/>
                  <a:cs typeface="Arimo"/>
                  <a:sym typeface="Arimo"/>
                </a:rPr>
                <a:t>GV</a:t>
              </a:r>
            </a:p>
          </p:txBody>
        </p:sp>
      </p:grpSp>
      <p:grpSp>
        <p:nvGrpSpPr>
          <p:cNvPr name="Group 25" id="25"/>
          <p:cNvGrpSpPr/>
          <p:nvPr/>
        </p:nvGrpSpPr>
        <p:grpSpPr>
          <a:xfrm rot="0">
            <a:off x="6533007" y="7122795"/>
            <a:ext cx="5162550" cy="910590"/>
            <a:chOff x="0" y="0"/>
            <a:chExt cx="6883400" cy="1214120"/>
          </a:xfrm>
        </p:grpSpPr>
        <p:sp>
          <p:nvSpPr>
            <p:cNvPr name="Freeform 26" id="26"/>
            <p:cNvSpPr/>
            <p:nvPr/>
          </p:nvSpPr>
          <p:spPr>
            <a:xfrm flipH="false" flipV="false" rot="0">
              <a:off x="0" y="0"/>
              <a:ext cx="6883400" cy="1214120"/>
            </a:xfrm>
            <a:custGeom>
              <a:avLst/>
              <a:gdLst/>
              <a:ahLst/>
              <a:cxnLst/>
              <a:rect r="r" b="b" t="t" l="l"/>
              <a:pathLst>
                <a:path h="1214120" w="6883400">
                  <a:moveTo>
                    <a:pt x="0" y="168148"/>
                  </a:moveTo>
                  <a:cubicBezTo>
                    <a:pt x="0" y="75311"/>
                    <a:pt x="75311" y="0"/>
                    <a:pt x="168148" y="0"/>
                  </a:cubicBezTo>
                  <a:lnTo>
                    <a:pt x="6715252" y="0"/>
                  </a:lnTo>
                  <a:cubicBezTo>
                    <a:pt x="6808089" y="0"/>
                    <a:pt x="6883400" y="75311"/>
                    <a:pt x="6883400" y="168148"/>
                  </a:cubicBezTo>
                  <a:lnTo>
                    <a:pt x="6883400" y="1045972"/>
                  </a:lnTo>
                  <a:cubicBezTo>
                    <a:pt x="6883400" y="1138809"/>
                    <a:pt x="6808089" y="1214120"/>
                    <a:pt x="6715252" y="1214120"/>
                  </a:cubicBezTo>
                  <a:lnTo>
                    <a:pt x="168148" y="1214120"/>
                  </a:lnTo>
                  <a:cubicBezTo>
                    <a:pt x="75311" y="1214120"/>
                    <a:pt x="0" y="1138809"/>
                    <a:pt x="0" y="1045972"/>
                  </a:cubicBezTo>
                  <a:close/>
                </a:path>
              </a:pathLst>
            </a:custGeom>
            <a:solidFill>
              <a:srgbClr val="F4F7FC"/>
            </a:solidFill>
            <a:ln w="19050" cap="sq">
              <a:solidFill>
                <a:srgbClr val="D7DCEC"/>
              </a:solidFill>
              <a:prstDash val="solid"/>
              <a:miter/>
            </a:ln>
          </p:spPr>
        </p:sp>
      </p:grpSp>
      <p:grpSp>
        <p:nvGrpSpPr>
          <p:cNvPr name="Group 27" id="27"/>
          <p:cNvGrpSpPr/>
          <p:nvPr/>
        </p:nvGrpSpPr>
        <p:grpSpPr>
          <a:xfrm rot="0">
            <a:off x="6542532" y="7200900"/>
            <a:ext cx="5143500" cy="589788"/>
            <a:chOff x="0" y="0"/>
            <a:chExt cx="6858000" cy="786384"/>
          </a:xfrm>
        </p:grpSpPr>
        <p:sp>
          <p:nvSpPr>
            <p:cNvPr name="Freeform 28" id="28"/>
            <p:cNvSpPr/>
            <p:nvPr/>
          </p:nvSpPr>
          <p:spPr>
            <a:xfrm flipH="false" flipV="false" rot="0">
              <a:off x="0" y="0"/>
              <a:ext cx="6858000" cy="786384"/>
            </a:xfrm>
            <a:custGeom>
              <a:avLst/>
              <a:gdLst/>
              <a:ahLst/>
              <a:cxnLst/>
              <a:rect r="r" b="b" t="t" l="l"/>
              <a:pathLst>
                <a:path h="786384" w="6858000">
                  <a:moveTo>
                    <a:pt x="0" y="0"/>
                  </a:moveTo>
                  <a:lnTo>
                    <a:pt x="6858000" y="0"/>
                  </a:lnTo>
                  <a:lnTo>
                    <a:pt x="6858000" y="786384"/>
                  </a:lnTo>
                  <a:lnTo>
                    <a:pt x="0" y="786384"/>
                  </a:lnTo>
                  <a:close/>
                </a:path>
              </a:pathLst>
            </a:custGeom>
            <a:blipFill>
              <a:blip r:embed="rId2">
                <a:alphaModFix amt="0"/>
              </a:blip>
              <a:stretch>
                <a:fillRect l="0" t="-119927" r="0" b="-119927"/>
              </a:stretch>
            </a:blipFill>
          </p:spPr>
        </p:sp>
        <p:sp>
          <p:nvSpPr>
            <p:cNvPr name="TextBox 29" id="29"/>
            <p:cNvSpPr txBox="true"/>
            <p:nvPr/>
          </p:nvSpPr>
          <p:spPr>
            <a:xfrm>
              <a:off x="0" y="-38100"/>
              <a:ext cx="6858000" cy="824484"/>
            </a:xfrm>
            <a:prstGeom prst="rect">
              <a:avLst/>
            </a:prstGeom>
          </p:spPr>
          <p:txBody>
            <a:bodyPr anchor="ctr" rtlCol="false" tIns="0" lIns="0" bIns="0" rIns="0"/>
            <a:lstStyle/>
            <a:p>
              <a:pPr algn="ctr">
                <a:lnSpc>
                  <a:spcPts val="2430"/>
                </a:lnSpc>
              </a:pPr>
              <a:r>
                <a:rPr lang="en-US" sz="2025">
                  <a:solidFill>
                    <a:srgbClr val="6B7280"/>
                  </a:solidFill>
                  <a:latin typeface="Calibri (MS)"/>
                  <a:ea typeface="Calibri (MS)"/>
                  <a:cs typeface="Calibri (MS)"/>
                  <a:sym typeface="Calibri (MS)"/>
                </a:rPr>
                <a:t>Identify</a:t>
              </a:r>
            </a:p>
          </p:txBody>
        </p:sp>
      </p:grpSp>
      <p:grpSp>
        <p:nvGrpSpPr>
          <p:cNvPr name="Group 30" id="30"/>
          <p:cNvGrpSpPr/>
          <p:nvPr/>
        </p:nvGrpSpPr>
        <p:grpSpPr>
          <a:xfrm rot="0">
            <a:off x="6542532" y="7639812"/>
            <a:ext cx="5143500" cy="329184"/>
            <a:chOff x="0" y="0"/>
            <a:chExt cx="6858000" cy="438912"/>
          </a:xfrm>
        </p:grpSpPr>
        <p:sp>
          <p:nvSpPr>
            <p:cNvPr name="Freeform 31" id="31"/>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32" id="32"/>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9AA3B8"/>
                  </a:solidFill>
                  <a:latin typeface="Arimo"/>
                  <a:ea typeface="Arimo"/>
                  <a:cs typeface="Arimo"/>
                  <a:sym typeface="Arimo"/>
                </a:rPr>
                <a:t>ID</a:t>
              </a:r>
            </a:p>
          </p:txBody>
        </p:sp>
      </p:grpSp>
      <p:grpSp>
        <p:nvGrpSpPr>
          <p:cNvPr name="Group 33" id="33"/>
          <p:cNvGrpSpPr/>
          <p:nvPr/>
        </p:nvGrpSpPr>
        <p:grpSpPr>
          <a:xfrm rot="0">
            <a:off x="12115419" y="7122795"/>
            <a:ext cx="5162550" cy="910590"/>
            <a:chOff x="0" y="0"/>
            <a:chExt cx="6883400" cy="1214120"/>
          </a:xfrm>
        </p:grpSpPr>
        <p:sp>
          <p:nvSpPr>
            <p:cNvPr name="Freeform 34" id="34"/>
            <p:cNvSpPr/>
            <p:nvPr/>
          </p:nvSpPr>
          <p:spPr>
            <a:xfrm flipH="false" flipV="false" rot="0">
              <a:off x="0" y="0"/>
              <a:ext cx="6883400" cy="1214120"/>
            </a:xfrm>
            <a:custGeom>
              <a:avLst/>
              <a:gdLst/>
              <a:ahLst/>
              <a:cxnLst/>
              <a:rect r="r" b="b" t="t" l="l"/>
              <a:pathLst>
                <a:path h="1214120" w="6883400">
                  <a:moveTo>
                    <a:pt x="0" y="168148"/>
                  </a:moveTo>
                  <a:cubicBezTo>
                    <a:pt x="0" y="75311"/>
                    <a:pt x="75311" y="0"/>
                    <a:pt x="168148" y="0"/>
                  </a:cubicBezTo>
                  <a:lnTo>
                    <a:pt x="6715252" y="0"/>
                  </a:lnTo>
                  <a:cubicBezTo>
                    <a:pt x="6808089" y="0"/>
                    <a:pt x="6883400" y="75311"/>
                    <a:pt x="6883400" y="168148"/>
                  </a:cubicBezTo>
                  <a:lnTo>
                    <a:pt x="6883400" y="1045972"/>
                  </a:lnTo>
                  <a:cubicBezTo>
                    <a:pt x="6883400" y="1138809"/>
                    <a:pt x="6808089" y="1214120"/>
                    <a:pt x="6715252" y="1214120"/>
                  </a:cubicBezTo>
                  <a:lnTo>
                    <a:pt x="168148" y="1214120"/>
                  </a:lnTo>
                  <a:cubicBezTo>
                    <a:pt x="75311" y="1214120"/>
                    <a:pt x="0" y="1138809"/>
                    <a:pt x="0" y="1045972"/>
                  </a:cubicBezTo>
                  <a:close/>
                </a:path>
              </a:pathLst>
            </a:custGeom>
            <a:solidFill>
              <a:srgbClr val="F4F7FC"/>
            </a:solidFill>
            <a:ln w="19050" cap="sq">
              <a:solidFill>
                <a:srgbClr val="D7DCEC"/>
              </a:solidFill>
              <a:prstDash val="solid"/>
              <a:miter/>
            </a:ln>
          </p:spPr>
        </p:sp>
      </p:grpSp>
      <p:grpSp>
        <p:nvGrpSpPr>
          <p:cNvPr name="Group 35" id="35"/>
          <p:cNvGrpSpPr/>
          <p:nvPr/>
        </p:nvGrpSpPr>
        <p:grpSpPr>
          <a:xfrm rot="0">
            <a:off x="12124944" y="7200900"/>
            <a:ext cx="5143500" cy="589788"/>
            <a:chOff x="0" y="0"/>
            <a:chExt cx="6858000" cy="786384"/>
          </a:xfrm>
        </p:grpSpPr>
        <p:sp>
          <p:nvSpPr>
            <p:cNvPr name="Freeform 36" id="36"/>
            <p:cNvSpPr/>
            <p:nvPr/>
          </p:nvSpPr>
          <p:spPr>
            <a:xfrm flipH="false" flipV="false" rot="0">
              <a:off x="0" y="0"/>
              <a:ext cx="6858000" cy="786384"/>
            </a:xfrm>
            <a:custGeom>
              <a:avLst/>
              <a:gdLst/>
              <a:ahLst/>
              <a:cxnLst/>
              <a:rect r="r" b="b" t="t" l="l"/>
              <a:pathLst>
                <a:path h="786384" w="6858000">
                  <a:moveTo>
                    <a:pt x="0" y="0"/>
                  </a:moveTo>
                  <a:lnTo>
                    <a:pt x="6858000" y="0"/>
                  </a:lnTo>
                  <a:lnTo>
                    <a:pt x="6858000" y="786384"/>
                  </a:lnTo>
                  <a:lnTo>
                    <a:pt x="0" y="786384"/>
                  </a:lnTo>
                  <a:close/>
                </a:path>
              </a:pathLst>
            </a:custGeom>
            <a:blipFill>
              <a:blip r:embed="rId2">
                <a:alphaModFix amt="0"/>
              </a:blip>
              <a:stretch>
                <a:fillRect l="0" t="-119927" r="0" b="-119927"/>
              </a:stretch>
            </a:blipFill>
          </p:spPr>
        </p:sp>
        <p:sp>
          <p:nvSpPr>
            <p:cNvPr name="TextBox 37" id="37"/>
            <p:cNvSpPr txBox="true"/>
            <p:nvPr/>
          </p:nvSpPr>
          <p:spPr>
            <a:xfrm>
              <a:off x="0" y="-38100"/>
              <a:ext cx="6858000" cy="824484"/>
            </a:xfrm>
            <a:prstGeom prst="rect">
              <a:avLst/>
            </a:prstGeom>
          </p:spPr>
          <p:txBody>
            <a:bodyPr anchor="ctr" rtlCol="false" tIns="0" lIns="0" bIns="0" rIns="0"/>
            <a:lstStyle/>
            <a:p>
              <a:pPr algn="ctr">
                <a:lnSpc>
                  <a:spcPts val="2430"/>
                </a:lnSpc>
              </a:pPr>
              <a:r>
                <a:rPr lang="en-US" sz="2025">
                  <a:solidFill>
                    <a:srgbClr val="6B7280"/>
                  </a:solidFill>
                  <a:latin typeface="Calibri (MS)"/>
                  <a:ea typeface="Calibri (MS)"/>
                  <a:cs typeface="Calibri (MS)"/>
                  <a:sym typeface="Calibri (MS)"/>
                </a:rPr>
                <a:t>Protect</a:t>
              </a:r>
            </a:p>
          </p:txBody>
        </p:sp>
      </p:grpSp>
      <p:grpSp>
        <p:nvGrpSpPr>
          <p:cNvPr name="Group 38" id="38"/>
          <p:cNvGrpSpPr/>
          <p:nvPr/>
        </p:nvGrpSpPr>
        <p:grpSpPr>
          <a:xfrm rot="0">
            <a:off x="12124944" y="7639812"/>
            <a:ext cx="5143500" cy="329184"/>
            <a:chOff x="0" y="0"/>
            <a:chExt cx="6858000" cy="438912"/>
          </a:xfrm>
        </p:grpSpPr>
        <p:sp>
          <p:nvSpPr>
            <p:cNvPr name="Freeform 39" id="39"/>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40" id="40"/>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9AA3B8"/>
                  </a:solidFill>
                  <a:latin typeface="Arimo"/>
                  <a:ea typeface="Arimo"/>
                  <a:cs typeface="Arimo"/>
                  <a:sym typeface="Arimo"/>
                </a:rPr>
                <a:t>PR</a:t>
              </a:r>
            </a:p>
          </p:txBody>
        </p:sp>
      </p:grpSp>
      <p:grpSp>
        <p:nvGrpSpPr>
          <p:cNvPr name="Group 41" id="41"/>
          <p:cNvGrpSpPr/>
          <p:nvPr/>
        </p:nvGrpSpPr>
        <p:grpSpPr>
          <a:xfrm rot="0">
            <a:off x="950595" y="8288655"/>
            <a:ext cx="5162550" cy="910590"/>
            <a:chOff x="0" y="0"/>
            <a:chExt cx="6883400" cy="1214120"/>
          </a:xfrm>
        </p:grpSpPr>
        <p:sp>
          <p:nvSpPr>
            <p:cNvPr name="Freeform 42" id="42"/>
            <p:cNvSpPr/>
            <p:nvPr/>
          </p:nvSpPr>
          <p:spPr>
            <a:xfrm flipH="false" flipV="false" rot="0">
              <a:off x="0" y="0"/>
              <a:ext cx="6883400" cy="1214120"/>
            </a:xfrm>
            <a:custGeom>
              <a:avLst/>
              <a:gdLst/>
              <a:ahLst/>
              <a:cxnLst/>
              <a:rect r="r" b="b" t="t" l="l"/>
              <a:pathLst>
                <a:path h="1214120" w="6883400">
                  <a:moveTo>
                    <a:pt x="0" y="168148"/>
                  </a:moveTo>
                  <a:cubicBezTo>
                    <a:pt x="0" y="75311"/>
                    <a:pt x="75311" y="0"/>
                    <a:pt x="168148" y="0"/>
                  </a:cubicBezTo>
                  <a:lnTo>
                    <a:pt x="6715252" y="0"/>
                  </a:lnTo>
                  <a:cubicBezTo>
                    <a:pt x="6808089" y="0"/>
                    <a:pt x="6883400" y="75311"/>
                    <a:pt x="6883400" y="168148"/>
                  </a:cubicBezTo>
                  <a:lnTo>
                    <a:pt x="6883400" y="1045972"/>
                  </a:lnTo>
                  <a:cubicBezTo>
                    <a:pt x="6883400" y="1138809"/>
                    <a:pt x="6808089" y="1214120"/>
                    <a:pt x="6715252" y="1214120"/>
                  </a:cubicBezTo>
                  <a:lnTo>
                    <a:pt x="168148" y="1214120"/>
                  </a:lnTo>
                  <a:cubicBezTo>
                    <a:pt x="75311" y="1214120"/>
                    <a:pt x="0" y="1138809"/>
                    <a:pt x="0" y="1045972"/>
                  </a:cubicBezTo>
                  <a:close/>
                </a:path>
              </a:pathLst>
            </a:custGeom>
            <a:solidFill>
              <a:srgbClr val="F4F7FC"/>
            </a:solidFill>
            <a:ln w="19050" cap="sq">
              <a:solidFill>
                <a:srgbClr val="D7DCEC"/>
              </a:solidFill>
              <a:prstDash val="solid"/>
              <a:miter/>
            </a:ln>
          </p:spPr>
        </p:sp>
      </p:grpSp>
      <p:grpSp>
        <p:nvGrpSpPr>
          <p:cNvPr name="Group 43" id="43"/>
          <p:cNvGrpSpPr/>
          <p:nvPr/>
        </p:nvGrpSpPr>
        <p:grpSpPr>
          <a:xfrm rot="0">
            <a:off x="960120" y="8366760"/>
            <a:ext cx="5143500" cy="589788"/>
            <a:chOff x="0" y="0"/>
            <a:chExt cx="6858000" cy="786384"/>
          </a:xfrm>
        </p:grpSpPr>
        <p:sp>
          <p:nvSpPr>
            <p:cNvPr name="Freeform 44" id="44"/>
            <p:cNvSpPr/>
            <p:nvPr/>
          </p:nvSpPr>
          <p:spPr>
            <a:xfrm flipH="false" flipV="false" rot="0">
              <a:off x="0" y="0"/>
              <a:ext cx="6858000" cy="786384"/>
            </a:xfrm>
            <a:custGeom>
              <a:avLst/>
              <a:gdLst/>
              <a:ahLst/>
              <a:cxnLst/>
              <a:rect r="r" b="b" t="t" l="l"/>
              <a:pathLst>
                <a:path h="786384" w="6858000">
                  <a:moveTo>
                    <a:pt x="0" y="0"/>
                  </a:moveTo>
                  <a:lnTo>
                    <a:pt x="6858000" y="0"/>
                  </a:lnTo>
                  <a:lnTo>
                    <a:pt x="6858000" y="786384"/>
                  </a:lnTo>
                  <a:lnTo>
                    <a:pt x="0" y="786384"/>
                  </a:lnTo>
                  <a:close/>
                </a:path>
              </a:pathLst>
            </a:custGeom>
            <a:blipFill>
              <a:blip r:embed="rId2">
                <a:alphaModFix amt="0"/>
              </a:blip>
              <a:stretch>
                <a:fillRect l="0" t="-119927" r="0" b="-119927"/>
              </a:stretch>
            </a:blipFill>
          </p:spPr>
        </p:sp>
        <p:sp>
          <p:nvSpPr>
            <p:cNvPr name="TextBox 45" id="45"/>
            <p:cNvSpPr txBox="true"/>
            <p:nvPr/>
          </p:nvSpPr>
          <p:spPr>
            <a:xfrm>
              <a:off x="0" y="-38100"/>
              <a:ext cx="6858000" cy="824484"/>
            </a:xfrm>
            <a:prstGeom prst="rect">
              <a:avLst/>
            </a:prstGeom>
          </p:spPr>
          <p:txBody>
            <a:bodyPr anchor="ctr" rtlCol="false" tIns="0" lIns="0" bIns="0" rIns="0"/>
            <a:lstStyle/>
            <a:p>
              <a:pPr algn="ctr">
                <a:lnSpc>
                  <a:spcPts val="2430"/>
                </a:lnSpc>
              </a:pPr>
              <a:r>
                <a:rPr lang="en-US" sz="2025">
                  <a:solidFill>
                    <a:srgbClr val="6B7280"/>
                  </a:solidFill>
                  <a:latin typeface="Calibri (MS)"/>
                  <a:ea typeface="Calibri (MS)"/>
                  <a:cs typeface="Calibri (MS)"/>
                  <a:sym typeface="Calibri (MS)"/>
                </a:rPr>
                <a:t>Detect</a:t>
              </a:r>
            </a:p>
          </p:txBody>
        </p:sp>
      </p:grpSp>
      <p:grpSp>
        <p:nvGrpSpPr>
          <p:cNvPr name="Group 46" id="46"/>
          <p:cNvGrpSpPr/>
          <p:nvPr/>
        </p:nvGrpSpPr>
        <p:grpSpPr>
          <a:xfrm rot="0">
            <a:off x="960120" y="8805672"/>
            <a:ext cx="5143500" cy="329184"/>
            <a:chOff x="0" y="0"/>
            <a:chExt cx="6858000" cy="438912"/>
          </a:xfrm>
        </p:grpSpPr>
        <p:sp>
          <p:nvSpPr>
            <p:cNvPr name="Freeform 47" id="47"/>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48" id="48"/>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9AA3B8"/>
                  </a:solidFill>
                  <a:latin typeface="Arimo"/>
                  <a:ea typeface="Arimo"/>
                  <a:cs typeface="Arimo"/>
                  <a:sym typeface="Arimo"/>
                </a:rPr>
                <a:t>DE</a:t>
              </a:r>
            </a:p>
          </p:txBody>
        </p:sp>
      </p:grpSp>
      <p:grpSp>
        <p:nvGrpSpPr>
          <p:cNvPr name="Group 49" id="49"/>
          <p:cNvGrpSpPr/>
          <p:nvPr/>
        </p:nvGrpSpPr>
        <p:grpSpPr>
          <a:xfrm rot="0">
            <a:off x="6533007" y="8288655"/>
            <a:ext cx="5162550" cy="910590"/>
            <a:chOff x="0" y="0"/>
            <a:chExt cx="6883400" cy="1214120"/>
          </a:xfrm>
        </p:grpSpPr>
        <p:sp>
          <p:nvSpPr>
            <p:cNvPr name="Freeform 50" id="50"/>
            <p:cNvSpPr/>
            <p:nvPr/>
          </p:nvSpPr>
          <p:spPr>
            <a:xfrm flipH="false" flipV="false" rot="0">
              <a:off x="0" y="0"/>
              <a:ext cx="6883400" cy="1214120"/>
            </a:xfrm>
            <a:custGeom>
              <a:avLst/>
              <a:gdLst/>
              <a:ahLst/>
              <a:cxnLst/>
              <a:rect r="r" b="b" t="t" l="l"/>
              <a:pathLst>
                <a:path h="1214120" w="6883400">
                  <a:moveTo>
                    <a:pt x="0" y="168148"/>
                  </a:moveTo>
                  <a:cubicBezTo>
                    <a:pt x="0" y="75311"/>
                    <a:pt x="75311" y="0"/>
                    <a:pt x="168148" y="0"/>
                  </a:cubicBezTo>
                  <a:lnTo>
                    <a:pt x="6715252" y="0"/>
                  </a:lnTo>
                  <a:cubicBezTo>
                    <a:pt x="6808089" y="0"/>
                    <a:pt x="6883400" y="75311"/>
                    <a:pt x="6883400" y="168148"/>
                  </a:cubicBezTo>
                  <a:lnTo>
                    <a:pt x="6883400" y="1045972"/>
                  </a:lnTo>
                  <a:cubicBezTo>
                    <a:pt x="6883400" y="1138809"/>
                    <a:pt x="6808089" y="1214120"/>
                    <a:pt x="6715252" y="1214120"/>
                  </a:cubicBezTo>
                  <a:lnTo>
                    <a:pt x="168148" y="1214120"/>
                  </a:lnTo>
                  <a:cubicBezTo>
                    <a:pt x="75311" y="1214120"/>
                    <a:pt x="0" y="1138809"/>
                    <a:pt x="0" y="1045972"/>
                  </a:cubicBezTo>
                  <a:close/>
                </a:path>
              </a:pathLst>
            </a:custGeom>
            <a:solidFill>
              <a:srgbClr val="F4F7FC"/>
            </a:solidFill>
            <a:ln w="19050" cap="sq">
              <a:solidFill>
                <a:srgbClr val="D7DCEC"/>
              </a:solidFill>
              <a:prstDash val="solid"/>
              <a:miter/>
            </a:ln>
          </p:spPr>
        </p:sp>
      </p:grpSp>
      <p:grpSp>
        <p:nvGrpSpPr>
          <p:cNvPr name="Group 51" id="51"/>
          <p:cNvGrpSpPr/>
          <p:nvPr/>
        </p:nvGrpSpPr>
        <p:grpSpPr>
          <a:xfrm rot="0">
            <a:off x="6542532" y="8366760"/>
            <a:ext cx="5143500" cy="589788"/>
            <a:chOff x="0" y="0"/>
            <a:chExt cx="6858000" cy="786384"/>
          </a:xfrm>
        </p:grpSpPr>
        <p:sp>
          <p:nvSpPr>
            <p:cNvPr name="Freeform 52" id="52"/>
            <p:cNvSpPr/>
            <p:nvPr/>
          </p:nvSpPr>
          <p:spPr>
            <a:xfrm flipH="false" flipV="false" rot="0">
              <a:off x="0" y="0"/>
              <a:ext cx="6858000" cy="786384"/>
            </a:xfrm>
            <a:custGeom>
              <a:avLst/>
              <a:gdLst/>
              <a:ahLst/>
              <a:cxnLst/>
              <a:rect r="r" b="b" t="t" l="l"/>
              <a:pathLst>
                <a:path h="786384" w="6858000">
                  <a:moveTo>
                    <a:pt x="0" y="0"/>
                  </a:moveTo>
                  <a:lnTo>
                    <a:pt x="6858000" y="0"/>
                  </a:lnTo>
                  <a:lnTo>
                    <a:pt x="6858000" y="786384"/>
                  </a:lnTo>
                  <a:lnTo>
                    <a:pt x="0" y="786384"/>
                  </a:lnTo>
                  <a:close/>
                </a:path>
              </a:pathLst>
            </a:custGeom>
            <a:blipFill>
              <a:blip r:embed="rId2">
                <a:alphaModFix amt="0"/>
              </a:blip>
              <a:stretch>
                <a:fillRect l="0" t="-119927" r="0" b="-119927"/>
              </a:stretch>
            </a:blipFill>
          </p:spPr>
        </p:sp>
        <p:sp>
          <p:nvSpPr>
            <p:cNvPr name="TextBox 53" id="53"/>
            <p:cNvSpPr txBox="true"/>
            <p:nvPr/>
          </p:nvSpPr>
          <p:spPr>
            <a:xfrm>
              <a:off x="0" y="-38100"/>
              <a:ext cx="6858000" cy="824484"/>
            </a:xfrm>
            <a:prstGeom prst="rect">
              <a:avLst/>
            </a:prstGeom>
          </p:spPr>
          <p:txBody>
            <a:bodyPr anchor="ctr" rtlCol="false" tIns="0" lIns="0" bIns="0" rIns="0"/>
            <a:lstStyle/>
            <a:p>
              <a:pPr algn="ctr">
                <a:lnSpc>
                  <a:spcPts val="2430"/>
                </a:lnSpc>
              </a:pPr>
              <a:r>
                <a:rPr lang="en-US" sz="2025">
                  <a:solidFill>
                    <a:srgbClr val="6B7280"/>
                  </a:solidFill>
                  <a:latin typeface="Calibri (MS)"/>
                  <a:ea typeface="Calibri (MS)"/>
                  <a:cs typeface="Calibri (MS)"/>
                  <a:sym typeface="Calibri (MS)"/>
                </a:rPr>
                <a:t>Respond</a:t>
              </a:r>
            </a:p>
          </p:txBody>
        </p:sp>
      </p:grpSp>
      <p:grpSp>
        <p:nvGrpSpPr>
          <p:cNvPr name="Group 54" id="54"/>
          <p:cNvGrpSpPr/>
          <p:nvPr/>
        </p:nvGrpSpPr>
        <p:grpSpPr>
          <a:xfrm rot="0">
            <a:off x="6542532" y="8805672"/>
            <a:ext cx="5143500" cy="329184"/>
            <a:chOff x="0" y="0"/>
            <a:chExt cx="6858000" cy="438912"/>
          </a:xfrm>
        </p:grpSpPr>
        <p:sp>
          <p:nvSpPr>
            <p:cNvPr name="Freeform 55" id="55"/>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56" id="56"/>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9AA3B8"/>
                  </a:solidFill>
                  <a:latin typeface="Arimo"/>
                  <a:ea typeface="Arimo"/>
                  <a:cs typeface="Arimo"/>
                  <a:sym typeface="Arimo"/>
                </a:rPr>
                <a:t>RS</a:t>
              </a:r>
            </a:p>
          </p:txBody>
        </p:sp>
      </p:grpSp>
      <p:grpSp>
        <p:nvGrpSpPr>
          <p:cNvPr name="Group 57" id="57"/>
          <p:cNvGrpSpPr/>
          <p:nvPr/>
        </p:nvGrpSpPr>
        <p:grpSpPr>
          <a:xfrm rot="0">
            <a:off x="12115419" y="8288655"/>
            <a:ext cx="5162550" cy="910590"/>
            <a:chOff x="0" y="0"/>
            <a:chExt cx="6883400" cy="1214120"/>
          </a:xfrm>
        </p:grpSpPr>
        <p:sp>
          <p:nvSpPr>
            <p:cNvPr name="Freeform 58" id="58"/>
            <p:cNvSpPr/>
            <p:nvPr/>
          </p:nvSpPr>
          <p:spPr>
            <a:xfrm flipH="false" flipV="false" rot="0">
              <a:off x="0" y="0"/>
              <a:ext cx="6883400" cy="1214120"/>
            </a:xfrm>
            <a:custGeom>
              <a:avLst/>
              <a:gdLst/>
              <a:ahLst/>
              <a:cxnLst/>
              <a:rect r="r" b="b" t="t" l="l"/>
              <a:pathLst>
                <a:path h="1214120" w="6883400">
                  <a:moveTo>
                    <a:pt x="0" y="168148"/>
                  </a:moveTo>
                  <a:cubicBezTo>
                    <a:pt x="0" y="75311"/>
                    <a:pt x="75311" y="0"/>
                    <a:pt x="168148" y="0"/>
                  </a:cubicBezTo>
                  <a:lnTo>
                    <a:pt x="6715252" y="0"/>
                  </a:lnTo>
                  <a:cubicBezTo>
                    <a:pt x="6808089" y="0"/>
                    <a:pt x="6883400" y="75311"/>
                    <a:pt x="6883400" y="168148"/>
                  </a:cubicBezTo>
                  <a:lnTo>
                    <a:pt x="6883400" y="1045972"/>
                  </a:lnTo>
                  <a:cubicBezTo>
                    <a:pt x="6883400" y="1138809"/>
                    <a:pt x="6808089" y="1214120"/>
                    <a:pt x="6715252" y="1214120"/>
                  </a:cubicBezTo>
                  <a:lnTo>
                    <a:pt x="168148" y="1214120"/>
                  </a:lnTo>
                  <a:cubicBezTo>
                    <a:pt x="75311" y="1214120"/>
                    <a:pt x="0" y="1138809"/>
                    <a:pt x="0" y="1045972"/>
                  </a:cubicBezTo>
                  <a:close/>
                </a:path>
              </a:pathLst>
            </a:custGeom>
            <a:solidFill>
              <a:srgbClr val="F4F7FC"/>
            </a:solidFill>
            <a:ln w="19050" cap="sq">
              <a:solidFill>
                <a:srgbClr val="D7DCEC"/>
              </a:solidFill>
              <a:prstDash val="solid"/>
              <a:miter/>
            </a:ln>
          </p:spPr>
        </p:sp>
      </p:grpSp>
      <p:grpSp>
        <p:nvGrpSpPr>
          <p:cNvPr name="Group 59" id="59"/>
          <p:cNvGrpSpPr/>
          <p:nvPr/>
        </p:nvGrpSpPr>
        <p:grpSpPr>
          <a:xfrm rot="0">
            <a:off x="12124944" y="8366760"/>
            <a:ext cx="5143500" cy="589788"/>
            <a:chOff x="0" y="0"/>
            <a:chExt cx="6858000" cy="786384"/>
          </a:xfrm>
        </p:grpSpPr>
        <p:sp>
          <p:nvSpPr>
            <p:cNvPr name="Freeform 60" id="60"/>
            <p:cNvSpPr/>
            <p:nvPr/>
          </p:nvSpPr>
          <p:spPr>
            <a:xfrm flipH="false" flipV="false" rot="0">
              <a:off x="0" y="0"/>
              <a:ext cx="6858000" cy="786384"/>
            </a:xfrm>
            <a:custGeom>
              <a:avLst/>
              <a:gdLst/>
              <a:ahLst/>
              <a:cxnLst/>
              <a:rect r="r" b="b" t="t" l="l"/>
              <a:pathLst>
                <a:path h="786384" w="6858000">
                  <a:moveTo>
                    <a:pt x="0" y="0"/>
                  </a:moveTo>
                  <a:lnTo>
                    <a:pt x="6858000" y="0"/>
                  </a:lnTo>
                  <a:lnTo>
                    <a:pt x="6858000" y="786384"/>
                  </a:lnTo>
                  <a:lnTo>
                    <a:pt x="0" y="786384"/>
                  </a:lnTo>
                  <a:close/>
                </a:path>
              </a:pathLst>
            </a:custGeom>
            <a:blipFill>
              <a:blip r:embed="rId2">
                <a:alphaModFix amt="0"/>
              </a:blip>
              <a:stretch>
                <a:fillRect l="0" t="-119927" r="0" b="-119927"/>
              </a:stretch>
            </a:blipFill>
          </p:spPr>
        </p:sp>
        <p:sp>
          <p:nvSpPr>
            <p:cNvPr name="TextBox 61" id="61"/>
            <p:cNvSpPr txBox="true"/>
            <p:nvPr/>
          </p:nvSpPr>
          <p:spPr>
            <a:xfrm>
              <a:off x="0" y="-38100"/>
              <a:ext cx="6858000" cy="824484"/>
            </a:xfrm>
            <a:prstGeom prst="rect">
              <a:avLst/>
            </a:prstGeom>
          </p:spPr>
          <p:txBody>
            <a:bodyPr anchor="ctr" rtlCol="false" tIns="0" lIns="0" bIns="0" rIns="0"/>
            <a:lstStyle/>
            <a:p>
              <a:pPr algn="ctr">
                <a:lnSpc>
                  <a:spcPts val="2430"/>
                </a:lnSpc>
              </a:pPr>
              <a:r>
                <a:rPr lang="en-US" sz="2025">
                  <a:solidFill>
                    <a:srgbClr val="6B7280"/>
                  </a:solidFill>
                  <a:latin typeface="Calibri (MS)"/>
                  <a:ea typeface="Calibri (MS)"/>
                  <a:cs typeface="Calibri (MS)"/>
                  <a:sym typeface="Calibri (MS)"/>
                </a:rPr>
                <a:t>Recover</a:t>
              </a:r>
            </a:p>
          </p:txBody>
        </p:sp>
      </p:grpSp>
      <p:grpSp>
        <p:nvGrpSpPr>
          <p:cNvPr name="Group 62" id="62"/>
          <p:cNvGrpSpPr/>
          <p:nvPr/>
        </p:nvGrpSpPr>
        <p:grpSpPr>
          <a:xfrm rot="0">
            <a:off x="12124944" y="8805672"/>
            <a:ext cx="5143500" cy="329184"/>
            <a:chOff x="0" y="0"/>
            <a:chExt cx="6858000" cy="438912"/>
          </a:xfrm>
        </p:grpSpPr>
        <p:sp>
          <p:nvSpPr>
            <p:cNvPr name="Freeform 63" id="63"/>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64" id="64"/>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9AA3B8"/>
                  </a:solidFill>
                  <a:latin typeface="Arimo"/>
                  <a:ea typeface="Arimo"/>
                  <a:cs typeface="Arimo"/>
                  <a:sym typeface="Arimo"/>
                </a:rPr>
                <a:t>RC</a:t>
              </a:r>
            </a:p>
          </p:txBody>
        </p:sp>
      </p:grpSp>
      <p:grpSp>
        <p:nvGrpSpPr>
          <p:cNvPr name="Group 65" id="65"/>
          <p:cNvGrpSpPr/>
          <p:nvPr/>
        </p:nvGrpSpPr>
        <p:grpSpPr>
          <a:xfrm rot="0">
            <a:off x="685800" y="9710928"/>
            <a:ext cx="10972800" cy="411480"/>
            <a:chOff x="0" y="0"/>
            <a:chExt cx="14630400" cy="548640"/>
          </a:xfrm>
        </p:grpSpPr>
        <p:sp>
          <p:nvSpPr>
            <p:cNvPr name="Freeform 66" id="66"/>
            <p:cNvSpPr/>
            <p:nvPr/>
          </p:nvSpPr>
          <p:spPr>
            <a:xfrm flipH="false" flipV="false" rot="0">
              <a:off x="0" y="0"/>
              <a:ext cx="14630400" cy="548640"/>
            </a:xfrm>
            <a:custGeom>
              <a:avLst/>
              <a:gdLst/>
              <a:ahLst/>
              <a:cxnLst/>
              <a:rect r="r" b="b" t="t" l="l"/>
              <a:pathLst>
                <a:path h="548640" w="14630400">
                  <a:moveTo>
                    <a:pt x="0" y="0"/>
                  </a:moveTo>
                  <a:lnTo>
                    <a:pt x="14630400" y="0"/>
                  </a:lnTo>
                  <a:lnTo>
                    <a:pt x="14630400" y="548640"/>
                  </a:lnTo>
                  <a:lnTo>
                    <a:pt x="0" y="548640"/>
                  </a:lnTo>
                  <a:close/>
                </a:path>
              </a:pathLst>
            </a:custGeom>
            <a:blipFill>
              <a:blip r:embed="rId2">
                <a:alphaModFix amt="0"/>
              </a:blip>
              <a:stretch>
                <a:fillRect l="0" t="-469601" r="0" b="-469601"/>
              </a:stretch>
            </a:blipFill>
          </p:spPr>
        </p:sp>
        <p:sp>
          <p:nvSpPr>
            <p:cNvPr name="TextBox 67" id="67"/>
            <p:cNvSpPr txBox="true"/>
            <p:nvPr/>
          </p:nvSpPr>
          <p:spPr>
            <a:xfrm>
              <a:off x="0" y="-38100"/>
              <a:ext cx="14630400" cy="586740"/>
            </a:xfrm>
            <a:prstGeom prst="rect">
              <a:avLst/>
            </a:prstGeom>
          </p:spPr>
          <p:txBody>
            <a:bodyPr anchor="ctr" rtlCol="false" tIns="0" lIns="0" bIns="0" rIns="0"/>
            <a:lstStyle/>
            <a:p>
              <a:pPr algn="l">
                <a:lnSpc>
                  <a:spcPts val="1800"/>
                </a:lnSpc>
              </a:pPr>
              <a:r>
                <a:rPr lang="en-US" sz="1500">
                  <a:solidFill>
                    <a:srgbClr val="6B7280"/>
                  </a:solidFill>
                  <a:latin typeface="Calibri (MS)"/>
                  <a:ea typeface="Calibri (MS)"/>
                  <a:cs typeface="Calibri (MS)"/>
                  <a:sym typeface="Calibri (MS)"/>
                </a:rPr>
                <a:t>Davao del Norte Provincial Government — Cybersecurity Seminar</a:t>
              </a:r>
            </a:p>
          </p:txBody>
        </p:sp>
      </p:grpSp>
      <p:grpSp>
        <p:nvGrpSpPr>
          <p:cNvPr name="Group 68" id="68"/>
          <p:cNvGrpSpPr/>
          <p:nvPr/>
        </p:nvGrpSpPr>
        <p:grpSpPr>
          <a:xfrm rot="0">
            <a:off x="16911828" y="9710928"/>
            <a:ext cx="685800" cy="411480"/>
            <a:chOff x="0" y="0"/>
            <a:chExt cx="914400" cy="548640"/>
          </a:xfrm>
        </p:grpSpPr>
        <p:sp>
          <p:nvSpPr>
            <p:cNvPr name="Freeform 69" id="69"/>
            <p:cNvSpPr/>
            <p:nvPr/>
          </p:nvSpPr>
          <p:spPr>
            <a:xfrm flipH="false" flipV="false" rot="0">
              <a:off x="0" y="0"/>
              <a:ext cx="914400" cy="548640"/>
            </a:xfrm>
            <a:custGeom>
              <a:avLst/>
              <a:gdLst/>
              <a:ahLst/>
              <a:cxnLst/>
              <a:rect r="r" b="b" t="t" l="l"/>
              <a:pathLst>
                <a:path h="548640" w="914400">
                  <a:moveTo>
                    <a:pt x="0" y="0"/>
                  </a:moveTo>
                  <a:lnTo>
                    <a:pt x="914400" y="0"/>
                  </a:lnTo>
                  <a:lnTo>
                    <a:pt x="914400" y="548640"/>
                  </a:lnTo>
                  <a:lnTo>
                    <a:pt x="0" y="548640"/>
                  </a:lnTo>
                  <a:close/>
                </a:path>
              </a:pathLst>
            </a:custGeom>
            <a:blipFill>
              <a:blip r:embed="rId2">
                <a:alphaModFix amt="0"/>
              </a:blip>
              <a:stretch>
                <a:fillRect l="-26982" t="0" r="-26982" b="0"/>
              </a:stretch>
            </a:blipFill>
          </p:spPr>
        </p:sp>
        <p:sp>
          <p:nvSpPr>
            <p:cNvPr name="TextBox 70" id="70"/>
            <p:cNvSpPr txBox="true"/>
            <p:nvPr/>
          </p:nvSpPr>
          <p:spPr>
            <a:xfrm>
              <a:off x="0" y="-38100"/>
              <a:ext cx="914400" cy="586740"/>
            </a:xfrm>
            <a:prstGeom prst="rect">
              <a:avLst/>
            </a:prstGeom>
          </p:spPr>
          <p:txBody>
            <a:bodyPr anchor="ctr" rtlCol="false" tIns="0" lIns="0" bIns="0" rIns="0"/>
            <a:lstStyle/>
            <a:p>
              <a:pPr algn="r">
                <a:lnSpc>
                  <a:spcPts val="1800"/>
                </a:lnSpc>
              </a:pPr>
              <a:r>
                <a:rPr lang="en-US" sz="1500">
                  <a:solidFill>
                    <a:srgbClr val="6B7280"/>
                  </a:solidFill>
                  <a:latin typeface="Calibri (MS)"/>
                  <a:ea typeface="Calibri (MS)"/>
                  <a:cs typeface="Calibri (MS)"/>
                  <a:sym typeface="Calibri (MS)"/>
                </a:rPr>
                <a:t>43</a:t>
              </a:r>
            </a:p>
          </p:txBody>
        </p:sp>
      </p:grpSp>
    </p:spTree>
  </p:cSld>
  <p:clrMapOvr>
    <a:masterClrMapping/>
  </p:clrMapOvr>
</p:sld>
</file>

<file path=ppt/slides/slide1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60120" y="685800"/>
            <a:ext cx="13716000" cy="411480"/>
            <a:chOff x="0" y="0"/>
            <a:chExt cx="18288000" cy="548640"/>
          </a:xfrm>
        </p:grpSpPr>
        <p:sp>
          <p:nvSpPr>
            <p:cNvPr name="Freeform 3" id="3"/>
            <p:cNvSpPr/>
            <p:nvPr/>
          </p:nvSpPr>
          <p:spPr>
            <a:xfrm flipH="false" flipV="false" rot="0">
              <a:off x="0" y="0"/>
              <a:ext cx="18288000" cy="548640"/>
            </a:xfrm>
            <a:custGeom>
              <a:avLst/>
              <a:gdLst/>
              <a:ahLst/>
              <a:cxnLst/>
              <a:rect r="r" b="b" t="t" l="l"/>
              <a:pathLst>
                <a:path h="548640" w="18288000">
                  <a:moveTo>
                    <a:pt x="0" y="0"/>
                  </a:moveTo>
                  <a:lnTo>
                    <a:pt x="18288000" y="0"/>
                  </a:lnTo>
                  <a:lnTo>
                    <a:pt x="18288000" y="548640"/>
                  </a:lnTo>
                  <a:lnTo>
                    <a:pt x="0" y="548640"/>
                  </a:lnTo>
                  <a:close/>
                </a:path>
              </a:pathLst>
            </a:custGeom>
            <a:blipFill>
              <a:blip r:embed="rId2">
                <a:alphaModFix amt="0"/>
              </a:blip>
              <a:stretch>
                <a:fillRect l="0" t="-599501" r="0" b="-599501"/>
              </a:stretch>
            </a:blipFill>
          </p:spPr>
        </p:sp>
        <p:sp>
          <p:nvSpPr>
            <p:cNvPr name="TextBox 4" id="4"/>
            <p:cNvSpPr txBox="true"/>
            <p:nvPr/>
          </p:nvSpPr>
          <p:spPr>
            <a:xfrm>
              <a:off x="0" y="-38100"/>
              <a:ext cx="18288000" cy="586740"/>
            </a:xfrm>
            <a:prstGeom prst="rect">
              <a:avLst/>
            </a:prstGeom>
          </p:spPr>
          <p:txBody>
            <a:bodyPr anchor="ctr" rtlCol="false" tIns="0" lIns="0" bIns="0" rIns="0"/>
            <a:lstStyle/>
            <a:p>
              <a:pPr algn="l">
                <a:lnSpc>
                  <a:spcPts val="2160"/>
                </a:lnSpc>
              </a:pPr>
              <a:r>
                <a:rPr lang="en-US" b="true" sz="1800" spc="225">
                  <a:solidFill>
                    <a:srgbClr val="00B4D8"/>
                  </a:solidFill>
                  <a:latin typeface="Calibri (MS) Bold"/>
                  <a:ea typeface="Calibri (MS) Bold"/>
                  <a:cs typeface="Calibri (MS) Bold"/>
                  <a:sym typeface="Calibri (MS) Bold"/>
                </a:rPr>
                <a:t>NIST CSF SORT · ANSWER</a:t>
              </a:r>
            </a:p>
          </p:txBody>
        </p:sp>
      </p:grpSp>
      <p:grpSp>
        <p:nvGrpSpPr>
          <p:cNvPr name="Group 5" id="5"/>
          <p:cNvGrpSpPr/>
          <p:nvPr/>
        </p:nvGrpSpPr>
        <p:grpSpPr>
          <a:xfrm rot="0">
            <a:off x="960120" y="1069848"/>
            <a:ext cx="10972800" cy="822960"/>
            <a:chOff x="0" y="0"/>
            <a:chExt cx="14630400" cy="1097280"/>
          </a:xfrm>
        </p:grpSpPr>
        <p:sp>
          <p:nvSpPr>
            <p:cNvPr name="Freeform 6" id="6"/>
            <p:cNvSpPr/>
            <p:nvPr/>
          </p:nvSpPr>
          <p:spPr>
            <a:xfrm flipH="false" flipV="false" rot="0">
              <a:off x="0" y="0"/>
              <a:ext cx="14630400" cy="1097280"/>
            </a:xfrm>
            <a:custGeom>
              <a:avLst/>
              <a:gdLst/>
              <a:ahLst/>
              <a:cxnLst/>
              <a:rect r="r" b="b" t="t" l="l"/>
              <a:pathLst>
                <a:path h="1097280" w="14630400">
                  <a:moveTo>
                    <a:pt x="0" y="0"/>
                  </a:moveTo>
                  <a:lnTo>
                    <a:pt x="14630400" y="0"/>
                  </a:lnTo>
                  <a:lnTo>
                    <a:pt x="14630400" y="1097280"/>
                  </a:lnTo>
                  <a:lnTo>
                    <a:pt x="0" y="1097280"/>
                  </a:lnTo>
                  <a:close/>
                </a:path>
              </a:pathLst>
            </a:custGeom>
            <a:blipFill>
              <a:blip r:embed="rId2">
                <a:alphaModFix amt="0"/>
              </a:blip>
              <a:stretch>
                <a:fillRect l="0" t="-209800" r="0" b="-209800"/>
              </a:stretch>
            </a:blipFill>
          </p:spPr>
        </p:sp>
        <p:sp>
          <p:nvSpPr>
            <p:cNvPr name="TextBox 7" id="7"/>
            <p:cNvSpPr txBox="true"/>
            <p:nvPr/>
          </p:nvSpPr>
          <p:spPr>
            <a:xfrm>
              <a:off x="0" y="0"/>
              <a:ext cx="14630400" cy="1097280"/>
            </a:xfrm>
            <a:prstGeom prst="rect">
              <a:avLst/>
            </a:prstGeom>
          </p:spPr>
          <p:txBody>
            <a:bodyPr anchor="ctr" rtlCol="false" tIns="0" lIns="0" bIns="0" rIns="0"/>
            <a:lstStyle/>
            <a:p>
              <a:pPr algn="l">
                <a:lnSpc>
                  <a:spcPts val="4680"/>
                </a:lnSpc>
              </a:pPr>
              <a:r>
                <a:rPr lang="en-US" sz="3900" b="true">
                  <a:solidFill>
                    <a:srgbClr val="1E2761"/>
                  </a:solidFill>
                  <a:latin typeface="Cambria Bold"/>
                  <a:ea typeface="Cambria Bold"/>
                  <a:cs typeface="Cambria Bold"/>
                  <a:sym typeface="Cambria Bold"/>
                </a:rPr>
                <a:t>Scenario 17 — Answer</a:t>
              </a:r>
            </a:p>
          </p:txBody>
        </p:sp>
      </p:grpSp>
      <p:grpSp>
        <p:nvGrpSpPr>
          <p:cNvPr name="Group 8" id="8"/>
          <p:cNvGrpSpPr/>
          <p:nvPr/>
        </p:nvGrpSpPr>
        <p:grpSpPr>
          <a:xfrm rot="0">
            <a:off x="960120" y="1810512"/>
            <a:ext cx="8229600" cy="411480"/>
            <a:chOff x="0" y="0"/>
            <a:chExt cx="10972800" cy="548640"/>
          </a:xfrm>
        </p:grpSpPr>
        <p:sp>
          <p:nvSpPr>
            <p:cNvPr name="Freeform 9" id="9"/>
            <p:cNvSpPr/>
            <p:nvPr/>
          </p:nvSpPr>
          <p:spPr>
            <a:xfrm flipH="false" flipV="false" rot="0">
              <a:off x="0" y="0"/>
              <a:ext cx="10972800" cy="548640"/>
            </a:xfrm>
            <a:custGeom>
              <a:avLst/>
              <a:gdLst/>
              <a:ahLst/>
              <a:cxnLst/>
              <a:rect r="r" b="b" t="t" l="l"/>
              <a:pathLst>
                <a:path h="548640" w="10972800">
                  <a:moveTo>
                    <a:pt x="0" y="0"/>
                  </a:moveTo>
                  <a:lnTo>
                    <a:pt x="10972800" y="0"/>
                  </a:lnTo>
                  <a:lnTo>
                    <a:pt x="10972800" y="548640"/>
                  </a:lnTo>
                  <a:lnTo>
                    <a:pt x="0" y="548640"/>
                  </a:lnTo>
                  <a:close/>
                </a:path>
              </a:pathLst>
            </a:custGeom>
            <a:blipFill>
              <a:blip r:embed="rId2">
                <a:alphaModFix amt="0"/>
              </a:blip>
              <a:stretch>
                <a:fillRect l="0" t="-339700" r="0" b="-339700"/>
              </a:stretch>
            </a:blipFill>
          </p:spPr>
        </p:sp>
        <p:sp>
          <p:nvSpPr>
            <p:cNvPr name="TextBox 10" id="10"/>
            <p:cNvSpPr txBox="true"/>
            <p:nvPr/>
          </p:nvSpPr>
          <p:spPr>
            <a:xfrm>
              <a:off x="0" y="-28575"/>
              <a:ext cx="10972800" cy="577215"/>
            </a:xfrm>
            <a:prstGeom prst="rect">
              <a:avLst/>
            </a:prstGeom>
          </p:spPr>
          <p:txBody>
            <a:bodyPr anchor="ctr" rtlCol="false" tIns="0" lIns="0" bIns="0" rIns="0"/>
            <a:lstStyle/>
            <a:p>
              <a:pPr algn="l">
                <a:lnSpc>
                  <a:spcPts val="1980"/>
                </a:lnSpc>
              </a:pPr>
              <a:r>
                <a:rPr lang="en-US" sz="1650">
                  <a:solidFill>
                    <a:srgbClr val="6B7280"/>
                  </a:solidFill>
                  <a:latin typeface="Calibri (MS)"/>
                  <a:ea typeface="Calibri (MS)"/>
                  <a:cs typeface="Calibri (MS)"/>
                  <a:sym typeface="Calibri (MS)"/>
                </a:rPr>
                <a:t>17 of 20</a:t>
              </a:r>
            </a:p>
          </p:txBody>
        </p:sp>
      </p:grpSp>
      <p:grpSp>
        <p:nvGrpSpPr>
          <p:cNvPr name="Group 11" id="11"/>
          <p:cNvGrpSpPr/>
          <p:nvPr/>
        </p:nvGrpSpPr>
        <p:grpSpPr>
          <a:xfrm rot="0">
            <a:off x="960120" y="2537460"/>
            <a:ext cx="16322040" cy="2194560"/>
            <a:chOff x="0" y="0"/>
            <a:chExt cx="21762720" cy="2926080"/>
          </a:xfrm>
        </p:grpSpPr>
        <p:sp>
          <p:nvSpPr>
            <p:cNvPr name="Freeform 12" id="12"/>
            <p:cNvSpPr/>
            <p:nvPr/>
          </p:nvSpPr>
          <p:spPr>
            <a:xfrm flipH="false" flipV="false" rot="0">
              <a:off x="0" y="0"/>
              <a:ext cx="21762720" cy="2926080"/>
            </a:xfrm>
            <a:custGeom>
              <a:avLst/>
              <a:gdLst/>
              <a:ahLst/>
              <a:cxnLst/>
              <a:rect r="r" b="b" t="t" l="l"/>
              <a:pathLst>
                <a:path h="2926080" w="21762720">
                  <a:moveTo>
                    <a:pt x="0" y="182880"/>
                  </a:moveTo>
                  <a:cubicBezTo>
                    <a:pt x="0" y="81915"/>
                    <a:pt x="81915" y="0"/>
                    <a:pt x="182880" y="0"/>
                  </a:cubicBezTo>
                  <a:lnTo>
                    <a:pt x="21579839" y="0"/>
                  </a:lnTo>
                  <a:cubicBezTo>
                    <a:pt x="21680804" y="0"/>
                    <a:pt x="21762720" y="81915"/>
                    <a:pt x="21762720" y="182880"/>
                  </a:cubicBezTo>
                  <a:lnTo>
                    <a:pt x="21762720" y="2743200"/>
                  </a:lnTo>
                  <a:cubicBezTo>
                    <a:pt x="21762720" y="2844165"/>
                    <a:pt x="21680804" y="2926080"/>
                    <a:pt x="21579839" y="2926080"/>
                  </a:cubicBezTo>
                  <a:lnTo>
                    <a:pt x="182880" y="2926080"/>
                  </a:lnTo>
                  <a:cubicBezTo>
                    <a:pt x="81915" y="2926080"/>
                    <a:pt x="0" y="2844165"/>
                    <a:pt x="0" y="2743200"/>
                  </a:cubicBezTo>
                  <a:close/>
                </a:path>
              </a:pathLst>
            </a:custGeom>
            <a:solidFill>
              <a:srgbClr val="F4F7FC"/>
            </a:solidFill>
          </p:spPr>
        </p:sp>
      </p:grpSp>
      <p:grpSp>
        <p:nvGrpSpPr>
          <p:cNvPr name="Group 13" id="13"/>
          <p:cNvGrpSpPr/>
          <p:nvPr/>
        </p:nvGrpSpPr>
        <p:grpSpPr>
          <a:xfrm rot="0">
            <a:off x="1440180" y="2770632"/>
            <a:ext cx="15361920" cy="1714500"/>
            <a:chOff x="0" y="0"/>
            <a:chExt cx="20482560" cy="2286000"/>
          </a:xfrm>
        </p:grpSpPr>
        <p:sp>
          <p:nvSpPr>
            <p:cNvPr name="Freeform 14" id="14"/>
            <p:cNvSpPr/>
            <p:nvPr/>
          </p:nvSpPr>
          <p:spPr>
            <a:xfrm flipH="false" flipV="false" rot="0">
              <a:off x="0" y="0"/>
              <a:ext cx="20482561" cy="2286000"/>
            </a:xfrm>
            <a:custGeom>
              <a:avLst/>
              <a:gdLst/>
              <a:ahLst/>
              <a:cxnLst/>
              <a:rect r="r" b="b" t="t" l="l"/>
              <a:pathLst>
                <a:path h="2286000" w="20482561">
                  <a:moveTo>
                    <a:pt x="0" y="0"/>
                  </a:moveTo>
                  <a:lnTo>
                    <a:pt x="20482561" y="0"/>
                  </a:lnTo>
                  <a:lnTo>
                    <a:pt x="20482561" y="2286000"/>
                  </a:lnTo>
                  <a:lnTo>
                    <a:pt x="0" y="2286000"/>
                  </a:lnTo>
                  <a:close/>
                </a:path>
              </a:pathLst>
            </a:custGeom>
            <a:blipFill>
              <a:blip r:embed="rId2">
                <a:alphaModFix amt="0"/>
              </a:blip>
              <a:stretch>
                <a:fillRect l="0" t="-124585" r="0" b="-124585"/>
              </a:stretch>
            </a:blipFill>
          </p:spPr>
        </p:sp>
        <p:sp>
          <p:nvSpPr>
            <p:cNvPr name="TextBox 15" id="15"/>
            <p:cNvSpPr txBox="true"/>
            <p:nvPr/>
          </p:nvSpPr>
          <p:spPr>
            <a:xfrm>
              <a:off x="0" y="-85725"/>
              <a:ext cx="20482560" cy="2371725"/>
            </a:xfrm>
            <a:prstGeom prst="rect">
              <a:avLst/>
            </a:prstGeom>
          </p:spPr>
          <p:txBody>
            <a:bodyPr anchor="ctr" rtlCol="false" tIns="0" lIns="0" bIns="0" rIns="0"/>
            <a:lstStyle/>
            <a:p>
              <a:pPr algn="l">
                <a:lnSpc>
                  <a:spcPts val="3600"/>
                </a:lnSpc>
              </a:pPr>
              <a:r>
                <a:rPr lang="en-US" sz="2400" i="true">
                  <a:solidFill>
                    <a:srgbClr val="23262F"/>
                  </a:solidFill>
                  <a:latin typeface="Cambria Italics"/>
                  <a:ea typeface="Cambria Italics"/>
                  <a:cs typeface="Cambria Italics"/>
                  <a:sym typeface="Cambria Italics"/>
                </a:rPr>
                <a:t>"The moment a phishing campaign targeting staff is confirmed, IT sends a province-wide alert telling everyone not to click the link and how to report it if they already did."</a:t>
              </a:r>
            </a:p>
          </p:txBody>
        </p:sp>
      </p:grpSp>
      <p:grpSp>
        <p:nvGrpSpPr>
          <p:cNvPr name="Group 16" id="16"/>
          <p:cNvGrpSpPr/>
          <p:nvPr/>
        </p:nvGrpSpPr>
        <p:grpSpPr>
          <a:xfrm rot="0">
            <a:off x="950595" y="5065395"/>
            <a:ext cx="5162550" cy="842010"/>
            <a:chOff x="0" y="0"/>
            <a:chExt cx="6883400" cy="1122680"/>
          </a:xfrm>
        </p:grpSpPr>
        <p:sp>
          <p:nvSpPr>
            <p:cNvPr name="Freeform 17" id="17"/>
            <p:cNvSpPr/>
            <p:nvPr/>
          </p:nvSpPr>
          <p:spPr>
            <a:xfrm flipH="false" flipV="false" rot="0">
              <a:off x="0" y="0"/>
              <a:ext cx="6883400" cy="1122680"/>
            </a:xfrm>
            <a:custGeom>
              <a:avLst/>
              <a:gdLst/>
              <a:ahLst/>
              <a:cxnLst/>
              <a:rect r="r" b="b" t="t" l="l"/>
              <a:pathLst>
                <a:path h="1122680" w="6883400">
                  <a:moveTo>
                    <a:pt x="0" y="168402"/>
                  </a:moveTo>
                  <a:cubicBezTo>
                    <a:pt x="0" y="75438"/>
                    <a:pt x="75438" y="0"/>
                    <a:pt x="168402" y="0"/>
                  </a:cubicBezTo>
                  <a:lnTo>
                    <a:pt x="6714998" y="0"/>
                  </a:lnTo>
                  <a:cubicBezTo>
                    <a:pt x="6807962" y="0"/>
                    <a:pt x="6883400" y="75438"/>
                    <a:pt x="6883400" y="168402"/>
                  </a:cubicBezTo>
                  <a:lnTo>
                    <a:pt x="6883400" y="954278"/>
                  </a:lnTo>
                  <a:cubicBezTo>
                    <a:pt x="6883400" y="1047242"/>
                    <a:pt x="6807962" y="1122680"/>
                    <a:pt x="6714998" y="1122680"/>
                  </a:cubicBezTo>
                  <a:lnTo>
                    <a:pt x="168402" y="1122680"/>
                  </a:lnTo>
                  <a:cubicBezTo>
                    <a:pt x="75438" y="1122680"/>
                    <a:pt x="0" y="1047242"/>
                    <a:pt x="0" y="954278"/>
                  </a:cubicBezTo>
                  <a:close/>
                </a:path>
              </a:pathLst>
            </a:custGeom>
            <a:solidFill>
              <a:srgbClr val="F4F7FC"/>
            </a:solidFill>
            <a:ln w="19050" cap="sq">
              <a:solidFill>
                <a:srgbClr val="D7DCEC"/>
              </a:solidFill>
              <a:prstDash val="solid"/>
              <a:miter/>
            </a:ln>
          </p:spPr>
        </p:sp>
      </p:grpSp>
      <p:grpSp>
        <p:nvGrpSpPr>
          <p:cNvPr name="Group 18" id="18"/>
          <p:cNvGrpSpPr/>
          <p:nvPr/>
        </p:nvGrpSpPr>
        <p:grpSpPr>
          <a:xfrm rot="0">
            <a:off x="960120" y="5143500"/>
            <a:ext cx="5143500" cy="521208"/>
            <a:chOff x="0" y="0"/>
            <a:chExt cx="6858000" cy="694944"/>
          </a:xfrm>
        </p:grpSpPr>
        <p:sp>
          <p:nvSpPr>
            <p:cNvPr name="Freeform 19" id="19"/>
            <p:cNvSpPr/>
            <p:nvPr/>
          </p:nvSpPr>
          <p:spPr>
            <a:xfrm flipH="false" flipV="false" rot="0">
              <a:off x="0" y="0"/>
              <a:ext cx="6858000" cy="694944"/>
            </a:xfrm>
            <a:custGeom>
              <a:avLst/>
              <a:gdLst/>
              <a:ahLst/>
              <a:cxnLst/>
              <a:rect r="r" b="b" t="t" l="l"/>
              <a:pathLst>
                <a:path h="694944" w="6858000">
                  <a:moveTo>
                    <a:pt x="0" y="0"/>
                  </a:moveTo>
                  <a:lnTo>
                    <a:pt x="6858000" y="0"/>
                  </a:lnTo>
                  <a:lnTo>
                    <a:pt x="6858000" y="694944"/>
                  </a:lnTo>
                  <a:lnTo>
                    <a:pt x="0" y="694944"/>
                  </a:lnTo>
                  <a:close/>
                </a:path>
              </a:pathLst>
            </a:custGeom>
            <a:blipFill>
              <a:blip r:embed="rId2">
                <a:alphaModFix amt="0"/>
              </a:blip>
              <a:stretch>
                <a:fillRect l="0" t="-142286" r="0" b="-142286"/>
              </a:stretch>
            </a:blipFill>
          </p:spPr>
        </p:sp>
        <p:sp>
          <p:nvSpPr>
            <p:cNvPr name="TextBox 20" id="20"/>
            <p:cNvSpPr txBox="true"/>
            <p:nvPr/>
          </p:nvSpPr>
          <p:spPr>
            <a:xfrm>
              <a:off x="0" y="-38100"/>
              <a:ext cx="6858000" cy="733044"/>
            </a:xfrm>
            <a:prstGeom prst="rect">
              <a:avLst/>
            </a:prstGeom>
          </p:spPr>
          <p:txBody>
            <a:bodyPr anchor="ctr" rtlCol="false" tIns="0" lIns="0" bIns="0" rIns="0"/>
            <a:lstStyle/>
            <a:p>
              <a:pPr algn="ctr">
                <a:lnSpc>
                  <a:spcPts val="2430"/>
                </a:lnSpc>
              </a:pPr>
              <a:r>
                <a:rPr lang="en-US" sz="2025">
                  <a:solidFill>
                    <a:srgbClr val="6B7280"/>
                  </a:solidFill>
                  <a:latin typeface="Calibri (MS)"/>
                  <a:ea typeface="Calibri (MS)"/>
                  <a:cs typeface="Calibri (MS)"/>
                  <a:sym typeface="Calibri (MS)"/>
                </a:rPr>
                <a:t>Govern</a:t>
              </a:r>
            </a:p>
          </p:txBody>
        </p:sp>
      </p:grpSp>
      <p:grpSp>
        <p:nvGrpSpPr>
          <p:cNvPr name="Group 21" id="21"/>
          <p:cNvGrpSpPr/>
          <p:nvPr/>
        </p:nvGrpSpPr>
        <p:grpSpPr>
          <a:xfrm rot="0">
            <a:off x="960120" y="5513832"/>
            <a:ext cx="5143500" cy="329184"/>
            <a:chOff x="0" y="0"/>
            <a:chExt cx="6858000" cy="438912"/>
          </a:xfrm>
        </p:grpSpPr>
        <p:sp>
          <p:nvSpPr>
            <p:cNvPr name="Freeform 22" id="22"/>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23" id="23"/>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9AA3B8"/>
                  </a:solidFill>
                  <a:latin typeface="Arimo"/>
                  <a:ea typeface="Arimo"/>
                  <a:cs typeface="Arimo"/>
                  <a:sym typeface="Arimo"/>
                </a:rPr>
                <a:t>GV</a:t>
              </a:r>
            </a:p>
          </p:txBody>
        </p:sp>
      </p:grpSp>
      <p:grpSp>
        <p:nvGrpSpPr>
          <p:cNvPr name="Group 24" id="24"/>
          <p:cNvGrpSpPr/>
          <p:nvPr/>
        </p:nvGrpSpPr>
        <p:grpSpPr>
          <a:xfrm rot="0">
            <a:off x="6533007" y="5065395"/>
            <a:ext cx="5162550" cy="842010"/>
            <a:chOff x="0" y="0"/>
            <a:chExt cx="6883400" cy="1122680"/>
          </a:xfrm>
        </p:grpSpPr>
        <p:sp>
          <p:nvSpPr>
            <p:cNvPr name="Freeform 25" id="25"/>
            <p:cNvSpPr/>
            <p:nvPr/>
          </p:nvSpPr>
          <p:spPr>
            <a:xfrm flipH="false" flipV="false" rot="0">
              <a:off x="0" y="0"/>
              <a:ext cx="6883400" cy="1122680"/>
            </a:xfrm>
            <a:custGeom>
              <a:avLst/>
              <a:gdLst/>
              <a:ahLst/>
              <a:cxnLst/>
              <a:rect r="r" b="b" t="t" l="l"/>
              <a:pathLst>
                <a:path h="1122680" w="6883400">
                  <a:moveTo>
                    <a:pt x="0" y="168402"/>
                  </a:moveTo>
                  <a:cubicBezTo>
                    <a:pt x="0" y="75438"/>
                    <a:pt x="75438" y="0"/>
                    <a:pt x="168402" y="0"/>
                  </a:cubicBezTo>
                  <a:lnTo>
                    <a:pt x="6714998" y="0"/>
                  </a:lnTo>
                  <a:cubicBezTo>
                    <a:pt x="6807962" y="0"/>
                    <a:pt x="6883400" y="75438"/>
                    <a:pt x="6883400" y="168402"/>
                  </a:cubicBezTo>
                  <a:lnTo>
                    <a:pt x="6883400" y="954278"/>
                  </a:lnTo>
                  <a:cubicBezTo>
                    <a:pt x="6883400" y="1047242"/>
                    <a:pt x="6807962" y="1122680"/>
                    <a:pt x="6714998" y="1122680"/>
                  </a:cubicBezTo>
                  <a:lnTo>
                    <a:pt x="168402" y="1122680"/>
                  </a:lnTo>
                  <a:cubicBezTo>
                    <a:pt x="75438" y="1122680"/>
                    <a:pt x="0" y="1047242"/>
                    <a:pt x="0" y="954278"/>
                  </a:cubicBezTo>
                  <a:close/>
                </a:path>
              </a:pathLst>
            </a:custGeom>
            <a:solidFill>
              <a:srgbClr val="F4F7FC"/>
            </a:solidFill>
            <a:ln w="19050" cap="sq">
              <a:solidFill>
                <a:srgbClr val="D7DCEC"/>
              </a:solidFill>
              <a:prstDash val="solid"/>
              <a:miter/>
            </a:ln>
          </p:spPr>
        </p:sp>
      </p:grpSp>
      <p:grpSp>
        <p:nvGrpSpPr>
          <p:cNvPr name="Group 26" id="26"/>
          <p:cNvGrpSpPr/>
          <p:nvPr/>
        </p:nvGrpSpPr>
        <p:grpSpPr>
          <a:xfrm rot="0">
            <a:off x="6542532" y="5143500"/>
            <a:ext cx="5143500" cy="521208"/>
            <a:chOff x="0" y="0"/>
            <a:chExt cx="6858000" cy="694944"/>
          </a:xfrm>
        </p:grpSpPr>
        <p:sp>
          <p:nvSpPr>
            <p:cNvPr name="Freeform 27" id="27"/>
            <p:cNvSpPr/>
            <p:nvPr/>
          </p:nvSpPr>
          <p:spPr>
            <a:xfrm flipH="false" flipV="false" rot="0">
              <a:off x="0" y="0"/>
              <a:ext cx="6858000" cy="694944"/>
            </a:xfrm>
            <a:custGeom>
              <a:avLst/>
              <a:gdLst/>
              <a:ahLst/>
              <a:cxnLst/>
              <a:rect r="r" b="b" t="t" l="l"/>
              <a:pathLst>
                <a:path h="694944" w="6858000">
                  <a:moveTo>
                    <a:pt x="0" y="0"/>
                  </a:moveTo>
                  <a:lnTo>
                    <a:pt x="6858000" y="0"/>
                  </a:lnTo>
                  <a:lnTo>
                    <a:pt x="6858000" y="694944"/>
                  </a:lnTo>
                  <a:lnTo>
                    <a:pt x="0" y="694944"/>
                  </a:lnTo>
                  <a:close/>
                </a:path>
              </a:pathLst>
            </a:custGeom>
            <a:blipFill>
              <a:blip r:embed="rId2">
                <a:alphaModFix amt="0"/>
              </a:blip>
              <a:stretch>
                <a:fillRect l="0" t="-142286" r="0" b="-142286"/>
              </a:stretch>
            </a:blipFill>
          </p:spPr>
        </p:sp>
        <p:sp>
          <p:nvSpPr>
            <p:cNvPr name="TextBox 28" id="28"/>
            <p:cNvSpPr txBox="true"/>
            <p:nvPr/>
          </p:nvSpPr>
          <p:spPr>
            <a:xfrm>
              <a:off x="0" y="-38100"/>
              <a:ext cx="6858000" cy="733044"/>
            </a:xfrm>
            <a:prstGeom prst="rect">
              <a:avLst/>
            </a:prstGeom>
          </p:spPr>
          <p:txBody>
            <a:bodyPr anchor="ctr" rtlCol="false" tIns="0" lIns="0" bIns="0" rIns="0"/>
            <a:lstStyle/>
            <a:p>
              <a:pPr algn="ctr">
                <a:lnSpc>
                  <a:spcPts val="2430"/>
                </a:lnSpc>
              </a:pPr>
              <a:r>
                <a:rPr lang="en-US" sz="2025">
                  <a:solidFill>
                    <a:srgbClr val="6B7280"/>
                  </a:solidFill>
                  <a:latin typeface="Calibri (MS)"/>
                  <a:ea typeface="Calibri (MS)"/>
                  <a:cs typeface="Calibri (MS)"/>
                  <a:sym typeface="Calibri (MS)"/>
                </a:rPr>
                <a:t>Identify</a:t>
              </a:r>
            </a:p>
          </p:txBody>
        </p:sp>
      </p:grpSp>
      <p:grpSp>
        <p:nvGrpSpPr>
          <p:cNvPr name="Group 29" id="29"/>
          <p:cNvGrpSpPr/>
          <p:nvPr/>
        </p:nvGrpSpPr>
        <p:grpSpPr>
          <a:xfrm rot="0">
            <a:off x="6542532" y="5513832"/>
            <a:ext cx="5143500" cy="329184"/>
            <a:chOff x="0" y="0"/>
            <a:chExt cx="6858000" cy="438912"/>
          </a:xfrm>
        </p:grpSpPr>
        <p:sp>
          <p:nvSpPr>
            <p:cNvPr name="Freeform 30" id="30"/>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31" id="31"/>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9AA3B8"/>
                  </a:solidFill>
                  <a:latin typeface="Arimo"/>
                  <a:ea typeface="Arimo"/>
                  <a:cs typeface="Arimo"/>
                  <a:sym typeface="Arimo"/>
                </a:rPr>
                <a:t>ID</a:t>
              </a:r>
            </a:p>
          </p:txBody>
        </p:sp>
      </p:grpSp>
      <p:grpSp>
        <p:nvGrpSpPr>
          <p:cNvPr name="Group 32" id="32"/>
          <p:cNvGrpSpPr/>
          <p:nvPr/>
        </p:nvGrpSpPr>
        <p:grpSpPr>
          <a:xfrm rot="0">
            <a:off x="12115419" y="5065395"/>
            <a:ext cx="5162550" cy="842010"/>
            <a:chOff x="0" y="0"/>
            <a:chExt cx="6883400" cy="1122680"/>
          </a:xfrm>
        </p:grpSpPr>
        <p:sp>
          <p:nvSpPr>
            <p:cNvPr name="Freeform 33" id="33"/>
            <p:cNvSpPr/>
            <p:nvPr/>
          </p:nvSpPr>
          <p:spPr>
            <a:xfrm flipH="false" flipV="false" rot="0">
              <a:off x="0" y="0"/>
              <a:ext cx="6883400" cy="1122680"/>
            </a:xfrm>
            <a:custGeom>
              <a:avLst/>
              <a:gdLst/>
              <a:ahLst/>
              <a:cxnLst/>
              <a:rect r="r" b="b" t="t" l="l"/>
              <a:pathLst>
                <a:path h="1122680" w="6883400">
                  <a:moveTo>
                    <a:pt x="0" y="168402"/>
                  </a:moveTo>
                  <a:cubicBezTo>
                    <a:pt x="0" y="75438"/>
                    <a:pt x="75438" y="0"/>
                    <a:pt x="168402" y="0"/>
                  </a:cubicBezTo>
                  <a:lnTo>
                    <a:pt x="6714998" y="0"/>
                  </a:lnTo>
                  <a:cubicBezTo>
                    <a:pt x="6807962" y="0"/>
                    <a:pt x="6883400" y="75438"/>
                    <a:pt x="6883400" y="168402"/>
                  </a:cubicBezTo>
                  <a:lnTo>
                    <a:pt x="6883400" y="954278"/>
                  </a:lnTo>
                  <a:cubicBezTo>
                    <a:pt x="6883400" y="1047242"/>
                    <a:pt x="6807962" y="1122680"/>
                    <a:pt x="6714998" y="1122680"/>
                  </a:cubicBezTo>
                  <a:lnTo>
                    <a:pt x="168402" y="1122680"/>
                  </a:lnTo>
                  <a:cubicBezTo>
                    <a:pt x="75438" y="1122680"/>
                    <a:pt x="0" y="1047242"/>
                    <a:pt x="0" y="954278"/>
                  </a:cubicBezTo>
                  <a:close/>
                </a:path>
              </a:pathLst>
            </a:custGeom>
            <a:solidFill>
              <a:srgbClr val="F4F7FC"/>
            </a:solidFill>
            <a:ln w="19050" cap="sq">
              <a:solidFill>
                <a:srgbClr val="D7DCEC"/>
              </a:solidFill>
              <a:prstDash val="solid"/>
              <a:miter/>
            </a:ln>
          </p:spPr>
        </p:sp>
      </p:grpSp>
      <p:grpSp>
        <p:nvGrpSpPr>
          <p:cNvPr name="Group 34" id="34"/>
          <p:cNvGrpSpPr/>
          <p:nvPr/>
        </p:nvGrpSpPr>
        <p:grpSpPr>
          <a:xfrm rot="0">
            <a:off x="12124944" y="5143500"/>
            <a:ext cx="5143500" cy="521208"/>
            <a:chOff x="0" y="0"/>
            <a:chExt cx="6858000" cy="694944"/>
          </a:xfrm>
        </p:grpSpPr>
        <p:sp>
          <p:nvSpPr>
            <p:cNvPr name="Freeform 35" id="35"/>
            <p:cNvSpPr/>
            <p:nvPr/>
          </p:nvSpPr>
          <p:spPr>
            <a:xfrm flipH="false" flipV="false" rot="0">
              <a:off x="0" y="0"/>
              <a:ext cx="6858000" cy="694944"/>
            </a:xfrm>
            <a:custGeom>
              <a:avLst/>
              <a:gdLst/>
              <a:ahLst/>
              <a:cxnLst/>
              <a:rect r="r" b="b" t="t" l="l"/>
              <a:pathLst>
                <a:path h="694944" w="6858000">
                  <a:moveTo>
                    <a:pt x="0" y="0"/>
                  </a:moveTo>
                  <a:lnTo>
                    <a:pt x="6858000" y="0"/>
                  </a:lnTo>
                  <a:lnTo>
                    <a:pt x="6858000" y="694944"/>
                  </a:lnTo>
                  <a:lnTo>
                    <a:pt x="0" y="694944"/>
                  </a:lnTo>
                  <a:close/>
                </a:path>
              </a:pathLst>
            </a:custGeom>
            <a:blipFill>
              <a:blip r:embed="rId2">
                <a:alphaModFix amt="0"/>
              </a:blip>
              <a:stretch>
                <a:fillRect l="0" t="-142286" r="0" b="-142286"/>
              </a:stretch>
            </a:blipFill>
          </p:spPr>
        </p:sp>
        <p:sp>
          <p:nvSpPr>
            <p:cNvPr name="TextBox 36" id="36"/>
            <p:cNvSpPr txBox="true"/>
            <p:nvPr/>
          </p:nvSpPr>
          <p:spPr>
            <a:xfrm>
              <a:off x="0" y="-38100"/>
              <a:ext cx="6858000" cy="733044"/>
            </a:xfrm>
            <a:prstGeom prst="rect">
              <a:avLst/>
            </a:prstGeom>
          </p:spPr>
          <p:txBody>
            <a:bodyPr anchor="ctr" rtlCol="false" tIns="0" lIns="0" bIns="0" rIns="0"/>
            <a:lstStyle/>
            <a:p>
              <a:pPr algn="ctr">
                <a:lnSpc>
                  <a:spcPts val="2430"/>
                </a:lnSpc>
              </a:pPr>
              <a:r>
                <a:rPr lang="en-US" sz="2025">
                  <a:solidFill>
                    <a:srgbClr val="6B7280"/>
                  </a:solidFill>
                  <a:latin typeface="Calibri (MS)"/>
                  <a:ea typeface="Calibri (MS)"/>
                  <a:cs typeface="Calibri (MS)"/>
                  <a:sym typeface="Calibri (MS)"/>
                </a:rPr>
                <a:t>Protect</a:t>
              </a:r>
            </a:p>
          </p:txBody>
        </p:sp>
      </p:grpSp>
      <p:grpSp>
        <p:nvGrpSpPr>
          <p:cNvPr name="Group 37" id="37"/>
          <p:cNvGrpSpPr/>
          <p:nvPr/>
        </p:nvGrpSpPr>
        <p:grpSpPr>
          <a:xfrm rot="0">
            <a:off x="12124944" y="5513832"/>
            <a:ext cx="5143500" cy="329184"/>
            <a:chOff x="0" y="0"/>
            <a:chExt cx="6858000" cy="438912"/>
          </a:xfrm>
        </p:grpSpPr>
        <p:sp>
          <p:nvSpPr>
            <p:cNvPr name="Freeform 38" id="38"/>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39" id="39"/>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9AA3B8"/>
                  </a:solidFill>
                  <a:latin typeface="Arimo"/>
                  <a:ea typeface="Arimo"/>
                  <a:cs typeface="Arimo"/>
                  <a:sym typeface="Arimo"/>
                </a:rPr>
                <a:t>PR</a:t>
              </a:r>
            </a:p>
          </p:txBody>
        </p:sp>
      </p:grpSp>
      <p:grpSp>
        <p:nvGrpSpPr>
          <p:cNvPr name="Group 40" id="40"/>
          <p:cNvGrpSpPr/>
          <p:nvPr/>
        </p:nvGrpSpPr>
        <p:grpSpPr>
          <a:xfrm rot="0">
            <a:off x="950595" y="6135243"/>
            <a:ext cx="5162550" cy="842010"/>
            <a:chOff x="0" y="0"/>
            <a:chExt cx="6883400" cy="1122680"/>
          </a:xfrm>
        </p:grpSpPr>
        <p:sp>
          <p:nvSpPr>
            <p:cNvPr name="Freeform 41" id="41"/>
            <p:cNvSpPr/>
            <p:nvPr/>
          </p:nvSpPr>
          <p:spPr>
            <a:xfrm flipH="false" flipV="false" rot="0">
              <a:off x="0" y="0"/>
              <a:ext cx="6883400" cy="1122680"/>
            </a:xfrm>
            <a:custGeom>
              <a:avLst/>
              <a:gdLst/>
              <a:ahLst/>
              <a:cxnLst/>
              <a:rect r="r" b="b" t="t" l="l"/>
              <a:pathLst>
                <a:path h="1122680" w="6883400">
                  <a:moveTo>
                    <a:pt x="0" y="168402"/>
                  </a:moveTo>
                  <a:cubicBezTo>
                    <a:pt x="0" y="75438"/>
                    <a:pt x="75438" y="0"/>
                    <a:pt x="168402" y="0"/>
                  </a:cubicBezTo>
                  <a:lnTo>
                    <a:pt x="6714998" y="0"/>
                  </a:lnTo>
                  <a:cubicBezTo>
                    <a:pt x="6807962" y="0"/>
                    <a:pt x="6883400" y="75438"/>
                    <a:pt x="6883400" y="168402"/>
                  </a:cubicBezTo>
                  <a:lnTo>
                    <a:pt x="6883400" y="954278"/>
                  </a:lnTo>
                  <a:cubicBezTo>
                    <a:pt x="6883400" y="1047242"/>
                    <a:pt x="6807962" y="1122680"/>
                    <a:pt x="6714998" y="1122680"/>
                  </a:cubicBezTo>
                  <a:lnTo>
                    <a:pt x="168402" y="1122680"/>
                  </a:lnTo>
                  <a:cubicBezTo>
                    <a:pt x="75438" y="1122680"/>
                    <a:pt x="0" y="1047242"/>
                    <a:pt x="0" y="954278"/>
                  </a:cubicBezTo>
                  <a:close/>
                </a:path>
              </a:pathLst>
            </a:custGeom>
            <a:solidFill>
              <a:srgbClr val="F4F7FC"/>
            </a:solidFill>
            <a:ln w="19050" cap="sq">
              <a:solidFill>
                <a:srgbClr val="D7DCEC"/>
              </a:solidFill>
              <a:prstDash val="solid"/>
              <a:miter/>
            </a:ln>
          </p:spPr>
        </p:sp>
      </p:grpSp>
      <p:grpSp>
        <p:nvGrpSpPr>
          <p:cNvPr name="Group 42" id="42"/>
          <p:cNvGrpSpPr/>
          <p:nvPr/>
        </p:nvGrpSpPr>
        <p:grpSpPr>
          <a:xfrm rot="0">
            <a:off x="960120" y="6213348"/>
            <a:ext cx="5143500" cy="521208"/>
            <a:chOff x="0" y="0"/>
            <a:chExt cx="6858000" cy="694944"/>
          </a:xfrm>
        </p:grpSpPr>
        <p:sp>
          <p:nvSpPr>
            <p:cNvPr name="Freeform 43" id="43"/>
            <p:cNvSpPr/>
            <p:nvPr/>
          </p:nvSpPr>
          <p:spPr>
            <a:xfrm flipH="false" flipV="false" rot="0">
              <a:off x="0" y="0"/>
              <a:ext cx="6858000" cy="694944"/>
            </a:xfrm>
            <a:custGeom>
              <a:avLst/>
              <a:gdLst/>
              <a:ahLst/>
              <a:cxnLst/>
              <a:rect r="r" b="b" t="t" l="l"/>
              <a:pathLst>
                <a:path h="694944" w="6858000">
                  <a:moveTo>
                    <a:pt x="0" y="0"/>
                  </a:moveTo>
                  <a:lnTo>
                    <a:pt x="6858000" y="0"/>
                  </a:lnTo>
                  <a:lnTo>
                    <a:pt x="6858000" y="694944"/>
                  </a:lnTo>
                  <a:lnTo>
                    <a:pt x="0" y="694944"/>
                  </a:lnTo>
                  <a:close/>
                </a:path>
              </a:pathLst>
            </a:custGeom>
            <a:blipFill>
              <a:blip r:embed="rId2">
                <a:alphaModFix amt="0"/>
              </a:blip>
              <a:stretch>
                <a:fillRect l="0" t="-142286" r="0" b="-142286"/>
              </a:stretch>
            </a:blipFill>
          </p:spPr>
        </p:sp>
        <p:sp>
          <p:nvSpPr>
            <p:cNvPr name="TextBox 44" id="44"/>
            <p:cNvSpPr txBox="true"/>
            <p:nvPr/>
          </p:nvSpPr>
          <p:spPr>
            <a:xfrm>
              <a:off x="0" y="-38100"/>
              <a:ext cx="6858000" cy="733044"/>
            </a:xfrm>
            <a:prstGeom prst="rect">
              <a:avLst/>
            </a:prstGeom>
          </p:spPr>
          <p:txBody>
            <a:bodyPr anchor="ctr" rtlCol="false" tIns="0" lIns="0" bIns="0" rIns="0"/>
            <a:lstStyle/>
            <a:p>
              <a:pPr algn="ctr">
                <a:lnSpc>
                  <a:spcPts val="2430"/>
                </a:lnSpc>
              </a:pPr>
              <a:r>
                <a:rPr lang="en-US" sz="2025">
                  <a:solidFill>
                    <a:srgbClr val="6B7280"/>
                  </a:solidFill>
                  <a:latin typeface="Calibri (MS)"/>
                  <a:ea typeface="Calibri (MS)"/>
                  <a:cs typeface="Calibri (MS)"/>
                  <a:sym typeface="Calibri (MS)"/>
                </a:rPr>
                <a:t>Detect</a:t>
              </a:r>
            </a:p>
          </p:txBody>
        </p:sp>
      </p:grpSp>
      <p:grpSp>
        <p:nvGrpSpPr>
          <p:cNvPr name="Group 45" id="45"/>
          <p:cNvGrpSpPr/>
          <p:nvPr/>
        </p:nvGrpSpPr>
        <p:grpSpPr>
          <a:xfrm rot="0">
            <a:off x="960120" y="6583680"/>
            <a:ext cx="5143500" cy="329184"/>
            <a:chOff x="0" y="0"/>
            <a:chExt cx="6858000" cy="438912"/>
          </a:xfrm>
        </p:grpSpPr>
        <p:sp>
          <p:nvSpPr>
            <p:cNvPr name="Freeform 46" id="46"/>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47" id="47"/>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9AA3B8"/>
                  </a:solidFill>
                  <a:latin typeface="Arimo"/>
                  <a:ea typeface="Arimo"/>
                  <a:cs typeface="Arimo"/>
                  <a:sym typeface="Arimo"/>
                </a:rPr>
                <a:t>DE</a:t>
              </a:r>
            </a:p>
          </p:txBody>
        </p:sp>
      </p:grpSp>
      <p:grpSp>
        <p:nvGrpSpPr>
          <p:cNvPr name="Group 48" id="48"/>
          <p:cNvGrpSpPr/>
          <p:nvPr/>
        </p:nvGrpSpPr>
        <p:grpSpPr>
          <a:xfrm rot="0">
            <a:off x="6533007" y="6135243"/>
            <a:ext cx="5162550" cy="842010"/>
            <a:chOff x="0" y="0"/>
            <a:chExt cx="6883400" cy="1122680"/>
          </a:xfrm>
        </p:grpSpPr>
        <p:sp>
          <p:nvSpPr>
            <p:cNvPr name="Freeform 49" id="49"/>
            <p:cNvSpPr/>
            <p:nvPr/>
          </p:nvSpPr>
          <p:spPr>
            <a:xfrm flipH="false" flipV="false" rot="0">
              <a:off x="0" y="0"/>
              <a:ext cx="6883400" cy="1122680"/>
            </a:xfrm>
            <a:custGeom>
              <a:avLst/>
              <a:gdLst/>
              <a:ahLst/>
              <a:cxnLst/>
              <a:rect r="r" b="b" t="t" l="l"/>
              <a:pathLst>
                <a:path h="1122680" w="6883400">
                  <a:moveTo>
                    <a:pt x="0" y="168402"/>
                  </a:moveTo>
                  <a:cubicBezTo>
                    <a:pt x="0" y="75438"/>
                    <a:pt x="75438" y="0"/>
                    <a:pt x="168402" y="0"/>
                  </a:cubicBezTo>
                  <a:lnTo>
                    <a:pt x="6714998" y="0"/>
                  </a:lnTo>
                  <a:cubicBezTo>
                    <a:pt x="6807962" y="0"/>
                    <a:pt x="6883400" y="75438"/>
                    <a:pt x="6883400" y="168402"/>
                  </a:cubicBezTo>
                  <a:lnTo>
                    <a:pt x="6883400" y="954278"/>
                  </a:lnTo>
                  <a:cubicBezTo>
                    <a:pt x="6883400" y="1047242"/>
                    <a:pt x="6807962" y="1122680"/>
                    <a:pt x="6714998" y="1122680"/>
                  </a:cubicBezTo>
                  <a:lnTo>
                    <a:pt x="168402" y="1122680"/>
                  </a:lnTo>
                  <a:cubicBezTo>
                    <a:pt x="75438" y="1122680"/>
                    <a:pt x="0" y="1047242"/>
                    <a:pt x="0" y="954278"/>
                  </a:cubicBezTo>
                  <a:close/>
                </a:path>
              </a:pathLst>
            </a:custGeom>
            <a:solidFill>
              <a:srgbClr val="D9631E"/>
            </a:solidFill>
            <a:ln w="19050" cap="sq">
              <a:solidFill>
                <a:srgbClr val="D9631E"/>
              </a:solidFill>
              <a:prstDash val="solid"/>
              <a:miter/>
            </a:ln>
          </p:spPr>
        </p:sp>
      </p:grpSp>
      <p:grpSp>
        <p:nvGrpSpPr>
          <p:cNvPr name="Group 50" id="50"/>
          <p:cNvGrpSpPr/>
          <p:nvPr/>
        </p:nvGrpSpPr>
        <p:grpSpPr>
          <a:xfrm rot="0">
            <a:off x="6542532" y="6213348"/>
            <a:ext cx="5143500" cy="521208"/>
            <a:chOff x="0" y="0"/>
            <a:chExt cx="6858000" cy="694944"/>
          </a:xfrm>
        </p:grpSpPr>
        <p:sp>
          <p:nvSpPr>
            <p:cNvPr name="Freeform 51" id="51"/>
            <p:cNvSpPr/>
            <p:nvPr/>
          </p:nvSpPr>
          <p:spPr>
            <a:xfrm flipH="false" flipV="false" rot="0">
              <a:off x="0" y="0"/>
              <a:ext cx="6858000" cy="694944"/>
            </a:xfrm>
            <a:custGeom>
              <a:avLst/>
              <a:gdLst/>
              <a:ahLst/>
              <a:cxnLst/>
              <a:rect r="r" b="b" t="t" l="l"/>
              <a:pathLst>
                <a:path h="694944" w="6858000">
                  <a:moveTo>
                    <a:pt x="0" y="0"/>
                  </a:moveTo>
                  <a:lnTo>
                    <a:pt x="6858000" y="0"/>
                  </a:lnTo>
                  <a:lnTo>
                    <a:pt x="6858000" y="694944"/>
                  </a:lnTo>
                  <a:lnTo>
                    <a:pt x="0" y="694944"/>
                  </a:lnTo>
                  <a:close/>
                </a:path>
              </a:pathLst>
            </a:custGeom>
            <a:blipFill>
              <a:blip r:embed="rId2">
                <a:alphaModFix amt="0"/>
              </a:blip>
              <a:stretch>
                <a:fillRect l="0" t="-142286" r="0" b="-142286"/>
              </a:stretch>
            </a:blipFill>
          </p:spPr>
        </p:sp>
        <p:sp>
          <p:nvSpPr>
            <p:cNvPr name="TextBox 52" id="52"/>
            <p:cNvSpPr txBox="true"/>
            <p:nvPr/>
          </p:nvSpPr>
          <p:spPr>
            <a:xfrm>
              <a:off x="0" y="-38100"/>
              <a:ext cx="6858000" cy="733044"/>
            </a:xfrm>
            <a:prstGeom prst="rect">
              <a:avLst/>
            </a:prstGeom>
          </p:spPr>
          <p:txBody>
            <a:bodyPr anchor="ctr" rtlCol="false" tIns="0" lIns="0" bIns="0" rIns="0"/>
            <a:lstStyle/>
            <a:p>
              <a:pPr algn="ctr">
                <a:lnSpc>
                  <a:spcPts val="2430"/>
                </a:lnSpc>
              </a:pPr>
              <a:r>
                <a:rPr lang="en-US" sz="2025" b="true">
                  <a:solidFill>
                    <a:srgbClr val="FFFFFF"/>
                  </a:solidFill>
                  <a:latin typeface="Calibri (MS) Bold"/>
                  <a:ea typeface="Calibri (MS) Bold"/>
                  <a:cs typeface="Calibri (MS) Bold"/>
                  <a:sym typeface="Calibri (MS) Bold"/>
                </a:rPr>
                <a:t>✓  Respond</a:t>
              </a:r>
            </a:p>
          </p:txBody>
        </p:sp>
      </p:grpSp>
      <p:grpSp>
        <p:nvGrpSpPr>
          <p:cNvPr name="Group 53" id="53"/>
          <p:cNvGrpSpPr/>
          <p:nvPr/>
        </p:nvGrpSpPr>
        <p:grpSpPr>
          <a:xfrm rot="0">
            <a:off x="6542532" y="6583680"/>
            <a:ext cx="5143500" cy="329184"/>
            <a:chOff x="0" y="0"/>
            <a:chExt cx="6858000" cy="438912"/>
          </a:xfrm>
        </p:grpSpPr>
        <p:sp>
          <p:nvSpPr>
            <p:cNvPr name="Freeform 54" id="54"/>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55" id="55"/>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FFFFFF"/>
                  </a:solidFill>
                  <a:latin typeface="Arimo"/>
                  <a:ea typeface="Arimo"/>
                  <a:cs typeface="Arimo"/>
                  <a:sym typeface="Arimo"/>
                </a:rPr>
                <a:t>RS</a:t>
              </a:r>
            </a:p>
          </p:txBody>
        </p:sp>
      </p:grpSp>
      <p:grpSp>
        <p:nvGrpSpPr>
          <p:cNvPr name="Group 56" id="56"/>
          <p:cNvGrpSpPr/>
          <p:nvPr/>
        </p:nvGrpSpPr>
        <p:grpSpPr>
          <a:xfrm rot="0">
            <a:off x="12115419" y="6135243"/>
            <a:ext cx="5162550" cy="842010"/>
            <a:chOff x="0" y="0"/>
            <a:chExt cx="6883400" cy="1122680"/>
          </a:xfrm>
        </p:grpSpPr>
        <p:sp>
          <p:nvSpPr>
            <p:cNvPr name="Freeform 57" id="57"/>
            <p:cNvSpPr/>
            <p:nvPr/>
          </p:nvSpPr>
          <p:spPr>
            <a:xfrm flipH="false" flipV="false" rot="0">
              <a:off x="0" y="0"/>
              <a:ext cx="6883400" cy="1122680"/>
            </a:xfrm>
            <a:custGeom>
              <a:avLst/>
              <a:gdLst/>
              <a:ahLst/>
              <a:cxnLst/>
              <a:rect r="r" b="b" t="t" l="l"/>
              <a:pathLst>
                <a:path h="1122680" w="6883400">
                  <a:moveTo>
                    <a:pt x="0" y="168402"/>
                  </a:moveTo>
                  <a:cubicBezTo>
                    <a:pt x="0" y="75438"/>
                    <a:pt x="75438" y="0"/>
                    <a:pt x="168402" y="0"/>
                  </a:cubicBezTo>
                  <a:lnTo>
                    <a:pt x="6714998" y="0"/>
                  </a:lnTo>
                  <a:cubicBezTo>
                    <a:pt x="6807962" y="0"/>
                    <a:pt x="6883400" y="75438"/>
                    <a:pt x="6883400" y="168402"/>
                  </a:cubicBezTo>
                  <a:lnTo>
                    <a:pt x="6883400" y="954278"/>
                  </a:lnTo>
                  <a:cubicBezTo>
                    <a:pt x="6883400" y="1047242"/>
                    <a:pt x="6807962" y="1122680"/>
                    <a:pt x="6714998" y="1122680"/>
                  </a:cubicBezTo>
                  <a:lnTo>
                    <a:pt x="168402" y="1122680"/>
                  </a:lnTo>
                  <a:cubicBezTo>
                    <a:pt x="75438" y="1122680"/>
                    <a:pt x="0" y="1047242"/>
                    <a:pt x="0" y="954278"/>
                  </a:cubicBezTo>
                  <a:close/>
                </a:path>
              </a:pathLst>
            </a:custGeom>
            <a:solidFill>
              <a:srgbClr val="F4F7FC"/>
            </a:solidFill>
            <a:ln w="19050" cap="sq">
              <a:solidFill>
                <a:srgbClr val="D7DCEC"/>
              </a:solidFill>
              <a:prstDash val="solid"/>
              <a:miter/>
            </a:ln>
          </p:spPr>
        </p:sp>
      </p:grpSp>
      <p:grpSp>
        <p:nvGrpSpPr>
          <p:cNvPr name="Group 58" id="58"/>
          <p:cNvGrpSpPr/>
          <p:nvPr/>
        </p:nvGrpSpPr>
        <p:grpSpPr>
          <a:xfrm rot="0">
            <a:off x="12124944" y="6213348"/>
            <a:ext cx="5143500" cy="521208"/>
            <a:chOff x="0" y="0"/>
            <a:chExt cx="6858000" cy="694944"/>
          </a:xfrm>
        </p:grpSpPr>
        <p:sp>
          <p:nvSpPr>
            <p:cNvPr name="Freeform 59" id="59"/>
            <p:cNvSpPr/>
            <p:nvPr/>
          </p:nvSpPr>
          <p:spPr>
            <a:xfrm flipH="false" flipV="false" rot="0">
              <a:off x="0" y="0"/>
              <a:ext cx="6858000" cy="694944"/>
            </a:xfrm>
            <a:custGeom>
              <a:avLst/>
              <a:gdLst/>
              <a:ahLst/>
              <a:cxnLst/>
              <a:rect r="r" b="b" t="t" l="l"/>
              <a:pathLst>
                <a:path h="694944" w="6858000">
                  <a:moveTo>
                    <a:pt x="0" y="0"/>
                  </a:moveTo>
                  <a:lnTo>
                    <a:pt x="6858000" y="0"/>
                  </a:lnTo>
                  <a:lnTo>
                    <a:pt x="6858000" y="694944"/>
                  </a:lnTo>
                  <a:lnTo>
                    <a:pt x="0" y="694944"/>
                  </a:lnTo>
                  <a:close/>
                </a:path>
              </a:pathLst>
            </a:custGeom>
            <a:blipFill>
              <a:blip r:embed="rId2">
                <a:alphaModFix amt="0"/>
              </a:blip>
              <a:stretch>
                <a:fillRect l="0" t="-142286" r="0" b="-142286"/>
              </a:stretch>
            </a:blipFill>
          </p:spPr>
        </p:sp>
        <p:sp>
          <p:nvSpPr>
            <p:cNvPr name="TextBox 60" id="60"/>
            <p:cNvSpPr txBox="true"/>
            <p:nvPr/>
          </p:nvSpPr>
          <p:spPr>
            <a:xfrm>
              <a:off x="0" y="-38100"/>
              <a:ext cx="6858000" cy="733044"/>
            </a:xfrm>
            <a:prstGeom prst="rect">
              <a:avLst/>
            </a:prstGeom>
          </p:spPr>
          <p:txBody>
            <a:bodyPr anchor="ctr" rtlCol="false" tIns="0" lIns="0" bIns="0" rIns="0"/>
            <a:lstStyle/>
            <a:p>
              <a:pPr algn="ctr">
                <a:lnSpc>
                  <a:spcPts val="2430"/>
                </a:lnSpc>
              </a:pPr>
              <a:r>
                <a:rPr lang="en-US" sz="2025">
                  <a:solidFill>
                    <a:srgbClr val="6B7280"/>
                  </a:solidFill>
                  <a:latin typeface="Calibri (MS)"/>
                  <a:ea typeface="Calibri (MS)"/>
                  <a:cs typeface="Calibri (MS)"/>
                  <a:sym typeface="Calibri (MS)"/>
                </a:rPr>
                <a:t>Recover</a:t>
              </a:r>
            </a:p>
          </p:txBody>
        </p:sp>
      </p:grpSp>
      <p:grpSp>
        <p:nvGrpSpPr>
          <p:cNvPr name="Group 61" id="61"/>
          <p:cNvGrpSpPr/>
          <p:nvPr/>
        </p:nvGrpSpPr>
        <p:grpSpPr>
          <a:xfrm rot="0">
            <a:off x="12124944" y="6583680"/>
            <a:ext cx="5143500" cy="329184"/>
            <a:chOff x="0" y="0"/>
            <a:chExt cx="6858000" cy="438912"/>
          </a:xfrm>
        </p:grpSpPr>
        <p:sp>
          <p:nvSpPr>
            <p:cNvPr name="Freeform 62" id="62"/>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63" id="63"/>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9AA3B8"/>
                  </a:solidFill>
                  <a:latin typeface="Arimo"/>
                  <a:ea typeface="Arimo"/>
                  <a:cs typeface="Arimo"/>
                  <a:sym typeface="Arimo"/>
                </a:rPr>
                <a:t>RC</a:t>
              </a:r>
            </a:p>
          </p:txBody>
        </p:sp>
      </p:grpSp>
      <p:grpSp>
        <p:nvGrpSpPr>
          <p:cNvPr name="Group 64" id="64"/>
          <p:cNvGrpSpPr/>
          <p:nvPr/>
        </p:nvGrpSpPr>
        <p:grpSpPr>
          <a:xfrm rot="0">
            <a:off x="950595" y="7328535"/>
            <a:ext cx="16341090" cy="1596390"/>
            <a:chOff x="0" y="0"/>
            <a:chExt cx="21788120" cy="2128520"/>
          </a:xfrm>
        </p:grpSpPr>
        <p:sp>
          <p:nvSpPr>
            <p:cNvPr name="Freeform 65" id="65"/>
            <p:cNvSpPr/>
            <p:nvPr/>
          </p:nvSpPr>
          <p:spPr>
            <a:xfrm flipH="false" flipV="false" rot="0">
              <a:off x="0" y="0"/>
              <a:ext cx="21788120" cy="2128520"/>
            </a:xfrm>
            <a:custGeom>
              <a:avLst/>
              <a:gdLst/>
              <a:ahLst/>
              <a:cxnLst/>
              <a:rect r="r" b="b" t="t" l="l"/>
              <a:pathLst>
                <a:path h="2128520" w="21788120">
                  <a:moveTo>
                    <a:pt x="0" y="185039"/>
                  </a:moveTo>
                  <a:cubicBezTo>
                    <a:pt x="0" y="82931"/>
                    <a:pt x="82931" y="0"/>
                    <a:pt x="185039" y="0"/>
                  </a:cubicBezTo>
                  <a:lnTo>
                    <a:pt x="21603081" y="0"/>
                  </a:lnTo>
                  <a:cubicBezTo>
                    <a:pt x="21705317" y="0"/>
                    <a:pt x="21788120" y="82931"/>
                    <a:pt x="21788120" y="185039"/>
                  </a:cubicBezTo>
                  <a:lnTo>
                    <a:pt x="21788120" y="1943481"/>
                  </a:lnTo>
                  <a:cubicBezTo>
                    <a:pt x="21788120" y="2045716"/>
                    <a:pt x="21705190" y="2128520"/>
                    <a:pt x="21603081" y="2128520"/>
                  </a:cubicBezTo>
                  <a:lnTo>
                    <a:pt x="185039" y="2128520"/>
                  </a:lnTo>
                  <a:cubicBezTo>
                    <a:pt x="82931" y="2128520"/>
                    <a:pt x="0" y="2045589"/>
                    <a:pt x="0" y="1943481"/>
                  </a:cubicBezTo>
                  <a:close/>
                </a:path>
              </a:pathLst>
            </a:custGeom>
            <a:solidFill>
              <a:srgbClr val="FBF9F4"/>
            </a:solidFill>
            <a:ln w="19050" cap="sq">
              <a:solidFill>
                <a:srgbClr val="EFE6D2"/>
              </a:solidFill>
              <a:prstDash val="solid"/>
              <a:miter/>
            </a:ln>
          </p:spPr>
        </p:sp>
      </p:grpSp>
      <p:sp>
        <p:nvSpPr>
          <p:cNvPr name="TextBox 66" id="66"/>
          <p:cNvSpPr txBox="true"/>
          <p:nvPr/>
        </p:nvSpPr>
        <p:spPr>
          <a:xfrm rot="0">
            <a:off x="1463040" y="7494270"/>
            <a:ext cx="15316200" cy="1238250"/>
          </a:xfrm>
          <a:prstGeom prst="rect">
            <a:avLst/>
          </a:prstGeom>
        </p:spPr>
        <p:txBody>
          <a:bodyPr anchor="t" rtlCol="false" tIns="0" lIns="0" bIns="0" rIns="0">
            <a:spAutoFit/>
          </a:bodyPr>
          <a:lstStyle/>
          <a:p>
            <a:pPr algn="l">
              <a:lnSpc>
                <a:spcPts val="2880"/>
              </a:lnSpc>
            </a:pPr>
            <a:r>
              <a:rPr lang="en-US" sz="1875">
                <a:solidFill>
                  <a:srgbClr val="23262F"/>
                </a:solidFill>
                <a:latin typeface="Calibri (MS)"/>
                <a:ea typeface="Calibri (MS)"/>
                <a:cs typeface="Calibri (MS)"/>
                <a:sym typeface="Calibri (MS)"/>
              </a:rPr>
              <a:t>This is active containment of a confirmed incident — getting the word out to limit damage while it's still unfolding. That's Respond.</a:t>
            </a:r>
          </a:p>
        </p:txBody>
      </p:sp>
      <p:grpSp>
        <p:nvGrpSpPr>
          <p:cNvPr name="Group 67" id="67"/>
          <p:cNvGrpSpPr/>
          <p:nvPr/>
        </p:nvGrpSpPr>
        <p:grpSpPr>
          <a:xfrm rot="0">
            <a:off x="685800" y="9710928"/>
            <a:ext cx="10972800" cy="411480"/>
            <a:chOff x="0" y="0"/>
            <a:chExt cx="14630400" cy="548640"/>
          </a:xfrm>
        </p:grpSpPr>
        <p:sp>
          <p:nvSpPr>
            <p:cNvPr name="Freeform 68" id="68"/>
            <p:cNvSpPr/>
            <p:nvPr/>
          </p:nvSpPr>
          <p:spPr>
            <a:xfrm flipH="false" flipV="false" rot="0">
              <a:off x="0" y="0"/>
              <a:ext cx="14630400" cy="548640"/>
            </a:xfrm>
            <a:custGeom>
              <a:avLst/>
              <a:gdLst/>
              <a:ahLst/>
              <a:cxnLst/>
              <a:rect r="r" b="b" t="t" l="l"/>
              <a:pathLst>
                <a:path h="548640" w="14630400">
                  <a:moveTo>
                    <a:pt x="0" y="0"/>
                  </a:moveTo>
                  <a:lnTo>
                    <a:pt x="14630400" y="0"/>
                  </a:lnTo>
                  <a:lnTo>
                    <a:pt x="14630400" y="548640"/>
                  </a:lnTo>
                  <a:lnTo>
                    <a:pt x="0" y="548640"/>
                  </a:lnTo>
                  <a:close/>
                </a:path>
              </a:pathLst>
            </a:custGeom>
            <a:blipFill>
              <a:blip r:embed="rId2">
                <a:alphaModFix amt="0"/>
              </a:blip>
              <a:stretch>
                <a:fillRect l="0" t="-469601" r="0" b="-469601"/>
              </a:stretch>
            </a:blipFill>
          </p:spPr>
        </p:sp>
        <p:sp>
          <p:nvSpPr>
            <p:cNvPr name="TextBox 69" id="69"/>
            <p:cNvSpPr txBox="true"/>
            <p:nvPr/>
          </p:nvSpPr>
          <p:spPr>
            <a:xfrm>
              <a:off x="0" y="-38100"/>
              <a:ext cx="14630400" cy="586740"/>
            </a:xfrm>
            <a:prstGeom prst="rect">
              <a:avLst/>
            </a:prstGeom>
          </p:spPr>
          <p:txBody>
            <a:bodyPr anchor="ctr" rtlCol="false" tIns="0" lIns="0" bIns="0" rIns="0"/>
            <a:lstStyle/>
            <a:p>
              <a:pPr algn="l">
                <a:lnSpc>
                  <a:spcPts val="1800"/>
                </a:lnSpc>
              </a:pPr>
              <a:r>
                <a:rPr lang="en-US" sz="1500">
                  <a:solidFill>
                    <a:srgbClr val="6B7280"/>
                  </a:solidFill>
                  <a:latin typeface="Calibri (MS)"/>
                  <a:ea typeface="Calibri (MS)"/>
                  <a:cs typeface="Calibri (MS)"/>
                  <a:sym typeface="Calibri (MS)"/>
                </a:rPr>
                <a:t>Davao del Norte Provincial Government — Cybersecurity Seminar</a:t>
              </a:r>
            </a:p>
          </p:txBody>
        </p:sp>
      </p:grpSp>
      <p:grpSp>
        <p:nvGrpSpPr>
          <p:cNvPr name="Group 70" id="70"/>
          <p:cNvGrpSpPr/>
          <p:nvPr/>
        </p:nvGrpSpPr>
        <p:grpSpPr>
          <a:xfrm rot="0">
            <a:off x="16911828" y="9710928"/>
            <a:ext cx="685800" cy="411480"/>
            <a:chOff x="0" y="0"/>
            <a:chExt cx="914400" cy="548640"/>
          </a:xfrm>
        </p:grpSpPr>
        <p:sp>
          <p:nvSpPr>
            <p:cNvPr name="Freeform 71" id="71"/>
            <p:cNvSpPr/>
            <p:nvPr/>
          </p:nvSpPr>
          <p:spPr>
            <a:xfrm flipH="false" flipV="false" rot="0">
              <a:off x="0" y="0"/>
              <a:ext cx="914400" cy="548640"/>
            </a:xfrm>
            <a:custGeom>
              <a:avLst/>
              <a:gdLst/>
              <a:ahLst/>
              <a:cxnLst/>
              <a:rect r="r" b="b" t="t" l="l"/>
              <a:pathLst>
                <a:path h="548640" w="914400">
                  <a:moveTo>
                    <a:pt x="0" y="0"/>
                  </a:moveTo>
                  <a:lnTo>
                    <a:pt x="914400" y="0"/>
                  </a:lnTo>
                  <a:lnTo>
                    <a:pt x="914400" y="548640"/>
                  </a:lnTo>
                  <a:lnTo>
                    <a:pt x="0" y="548640"/>
                  </a:lnTo>
                  <a:close/>
                </a:path>
              </a:pathLst>
            </a:custGeom>
            <a:blipFill>
              <a:blip r:embed="rId2">
                <a:alphaModFix amt="0"/>
              </a:blip>
              <a:stretch>
                <a:fillRect l="-26982" t="0" r="-26982" b="0"/>
              </a:stretch>
            </a:blipFill>
          </p:spPr>
        </p:sp>
        <p:sp>
          <p:nvSpPr>
            <p:cNvPr name="TextBox 72" id="72"/>
            <p:cNvSpPr txBox="true"/>
            <p:nvPr/>
          </p:nvSpPr>
          <p:spPr>
            <a:xfrm>
              <a:off x="0" y="-38100"/>
              <a:ext cx="914400" cy="586740"/>
            </a:xfrm>
            <a:prstGeom prst="rect">
              <a:avLst/>
            </a:prstGeom>
          </p:spPr>
          <p:txBody>
            <a:bodyPr anchor="ctr" rtlCol="false" tIns="0" lIns="0" bIns="0" rIns="0"/>
            <a:lstStyle/>
            <a:p>
              <a:pPr algn="r">
                <a:lnSpc>
                  <a:spcPts val="1800"/>
                </a:lnSpc>
              </a:pPr>
              <a:r>
                <a:rPr lang="en-US" sz="1500">
                  <a:solidFill>
                    <a:srgbClr val="6B7280"/>
                  </a:solidFill>
                  <a:latin typeface="Calibri (MS)"/>
                  <a:ea typeface="Calibri (MS)"/>
                  <a:cs typeface="Calibri (MS)"/>
                  <a:sym typeface="Calibri (MS)"/>
                </a:rPr>
                <a:t>44</a:t>
              </a:r>
            </a:p>
          </p:txBody>
        </p:sp>
      </p:grpSp>
    </p:spTree>
  </p:cSld>
  <p:clrMapOvr>
    <a:masterClrMapping/>
  </p:clrMapOvr>
</p:sld>
</file>

<file path=ppt/slides/slide1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60120" y="685800"/>
            <a:ext cx="13716000" cy="411480"/>
            <a:chOff x="0" y="0"/>
            <a:chExt cx="18288000" cy="548640"/>
          </a:xfrm>
        </p:grpSpPr>
        <p:sp>
          <p:nvSpPr>
            <p:cNvPr name="Freeform 3" id="3"/>
            <p:cNvSpPr/>
            <p:nvPr/>
          </p:nvSpPr>
          <p:spPr>
            <a:xfrm flipH="false" flipV="false" rot="0">
              <a:off x="0" y="0"/>
              <a:ext cx="18288000" cy="548640"/>
            </a:xfrm>
            <a:custGeom>
              <a:avLst/>
              <a:gdLst/>
              <a:ahLst/>
              <a:cxnLst/>
              <a:rect r="r" b="b" t="t" l="l"/>
              <a:pathLst>
                <a:path h="548640" w="18288000">
                  <a:moveTo>
                    <a:pt x="0" y="0"/>
                  </a:moveTo>
                  <a:lnTo>
                    <a:pt x="18288000" y="0"/>
                  </a:lnTo>
                  <a:lnTo>
                    <a:pt x="18288000" y="548640"/>
                  </a:lnTo>
                  <a:lnTo>
                    <a:pt x="0" y="548640"/>
                  </a:lnTo>
                  <a:close/>
                </a:path>
              </a:pathLst>
            </a:custGeom>
            <a:blipFill>
              <a:blip r:embed="rId2">
                <a:alphaModFix amt="0"/>
              </a:blip>
              <a:stretch>
                <a:fillRect l="0" t="-599501" r="0" b="-599501"/>
              </a:stretch>
            </a:blipFill>
          </p:spPr>
        </p:sp>
        <p:sp>
          <p:nvSpPr>
            <p:cNvPr name="TextBox 4" id="4"/>
            <p:cNvSpPr txBox="true"/>
            <p:nvPr/>
          </p:nvSpPr>
          <p:spPr>
            <a:xfrm>
              <a:off x="0" y="-38100"/>
              <a:ext cx="18288000" cy="586740"/>
            </a:xfrm>
            <a:prstGeom prst="rect">
              <a:avLst/>
            </a:prstGeom>
          </p:spPr>
          <p:txBody>
            <a:bodyPr anchor="ctr" rtlCol="false" tIns="0" lIns="0" bIns="0" rIns="0"/>
            <a:lstStyle/>
            <a:p>
              <a:pPr algn="l">
                <a:lnSpc>
                  <a:spcPts val="2160"/>
                </a:lnSpc>
              </a:pPr>
              <a:r>
                <a:rPr lang="en-US" b="true" sz="1800" spc="225">
                  <a:solidFill>
                    <a:srgbClr val="00B4D8"/>
                  </a:solidFill>
                  <a:latin typeface="Calibri (MS) Bold"/>
                  <a:ea typeface="Calibri (MS) Bold"/>
                  <a:cs typeface="Calibri (MS) Bold"/>
                  <a:sym typeface="Calibri (MS) Bold"/>
                </a:rPr>
                <a:t>NIST CSF SORT · SCENARIO</a:t>
              </a:r>
            </a:p>
          </p:txBody>
        </p:sp>
      </p:grpSp>
      <p:grpSp>
        <p:nvGrpSpPr>
          <p:cNvPr name="Group 5" id="5"/>
          <p:cNvGrpSpPr/>
          <p:nvPr/>
        </p:nvGrpSpPr>
        <p:grpSpPr>
          <a:xfrm rot="0">
            <a:off x="960120" y="1069848"/>
            <a:ext cx="10972800" cy="822960"/>
            <a:chOff x="0" y="0"/>
            <a:chExt cx="14630400" cy="1097280"/>
          </a:xfrm>
        </p:grpSpPr>
        <p:sp>
          <p:nvSpPr>
            <p:cNvPr name="Freeform 6" id="6"/>
            <p:cNvSpPr/>
            <p:nvPr/>
          </p:nvSpPr>
          <p:spPr>
            <a:xfrm flipH="false" flipV="false" rot="0">
              <a:off x="0" y="0"/>
              <a:ext cx="14630400" cy="1097280"/>
            </a:xfrm>
            <a:custGeom>
              <a:avLst/>
              <a:gdLst/>
              <a:ahLst/>
              <a:cxnLst/>
              <a:rect r="r" b="b" t="t" l="l"/>
              <a:pathLst>
                <a:path h="1097280" w="14630400">
                  <a:moveTo>
                    <a:pt x="0" y="0"/>
                  </a:moveTo>
                  <a:lnTo>
                    <a:pt x="14630400" y="0"/>
                  </a:lnTo>
                  <a:lnTo>
                    <a:pt x="14630400" y="1097280"/>
                  </a:lnTo>
                  <a:lnTo>
                    <a:pt x="0" y="1097280"/>
                  </a:lnTo>
                  <a:close/>
                </a:path>
              </a:pathLst>
            </a:custGeom>
            <a:blipFill>
              <a:blip r:embed="rId2">
                <a:alphaModFix amt="0"/>
              </a:blip>
              <a:stretch>
                <a:fillRect l="0" t="-209800" r="0" b="-209800"/>
              </a:stretch>
            </a:blipFill>
          </p:spPr>
        </p:sp>
        <p:sp>
          <p:nvSpPr>
            <p:cNvPr name="TextBox 7" id="7"/>
            <p:cNvSpPr txBox="true"/>
            <p:nvPr/>
          </p:nvSpPr>
          <p:spPr>
            <a:xfrm>
              <a:off x="0" y="0"/>
              <a:ext cx="14630400" cy="1097280"/>
            </a:xfrm>
            <a:prstGeom prst="rect">
              <a:avLst/>
            </a:prstGeom>
          </p:spPr>
          <p:txBody>
            <a:bodyPr anchor="ctr" rtlCol="false" tIns="0" lIns="0" bIns="0" rIns="0"/>
            <a:lstStyle/>
            <a:p>
              <a:pPr algn="l">
                <a:lnSpc>
                  <a:spcPts val="4680"/>
                </a:lnSpc>
              </a:pPr>
              <a:r>
                <a:rPr lang="en-US" sz="3900" b="true">
                  <a:solidFill>
                    <a:srgbClr val="1E2761"/>
                  </a:solidFill>
                  <a:latin typeface="Cambria Bold"/>
                  <a:ea typeface="Cambria Bold"/>
                  <a:cs typeface="Cambria Bold"/>
                  <a:sym typeface="Cambria Bold"/>
                </a:rPr>
                <a:t>Scenario 18</a:t>
              </a:r>
            </a:p>
          </p:txBody>
        </p:sp>
      </p:grpSp>
      <p:grpSp>
        <p:nvGrpSpPr>
          <p:cNvPr name="Group 8" id="8"/>
          <p:cNvGrpSpPr/>
          <p:nvPr/>
        </p:nvGrpSpPr>
        <p:grpSpPr>
          <a:xfrm rot="0">
            <a:off x="960120" y="1810512"/>
            <a:ext cx="8229600" cy="411480"/>
            <a:chOff x="0" y="0"/>
            <a:chExt cx="10972800" cy="548640"/>
          </a:xfrm>
        </p:grpSpPr>
        <p:sp>
          <p:nvSpPr>
            <p:cNvPr name="Freeform 9" id="9"/>
            <p:cNvSpPr/>
            <p:nvPr/>
          </p:nvSpPr>
          <p:spPr>
            <a:xfrm flipH="false" flipV="false" rot="0">
              <a:off x="0" y="0"/>
              <a:ext cx="10972800" cy="548640"/>
            </a:xfrm>
            <a:custGeom>
              <a:avLst/>
              <a:gdLst/>
              <a:ahLst/>
              <a:cxnLst/>
              <a:rect r="r" b="b" t="t" l="l"/>
              <a:pathLst>
                <a:path h="548640" w="10972800">
                  <a:moveTo>
                    <a:pt x="0" y="0"/>
                  </a:moveTo>
                  <a:lnTo>
                    <a:pt x="10972800" y="0"/>
                  </a:lnTo>
                  <a:lnTo>
                    <a:pt x="10972800" y="548640"/>
                  </a:lnTo>
                  <a:lnTo>
                    <a:pt x="0" y="548640"/>
                  </a:lnTo>
                  <a:close/>
                </a:path>
              </a:pathLst>
            </a:custGeom>
            <a:blipFill>
              <a:blip r:embed="rId2">
                <a:alphaModFix amt="0"/>
              </a:blip>
              <a:stretch>
                <a:fillRect l="0" t="-339700" r="0" b="-339700"/>
              </a:stretch>
            </a:blipFill>
          </p:spPr>
        </p:sp>
        <p:sp>
          <p:nvSpPr>
            <p:cNvPr name="TextBox 10" id="10"/>
            <p:cNvSpPr txBox="true"/>
            <p:nvPr/>
          </p:nvSpPr>
          <p:spPr>
            <a:xfrm>
              <a:off x="0" y="-28575"/>
              <a:ext cx="10972800" cy="577215"/>
            </a:xfrm>
            <a:prstGeom prst="rect">
              <a:avLst/>
            </a:prstGeom>
          </p:spPr>
          <p:txBody>
            <a:bodyPr anchor="ctr" rtlCol="false" tIns="0" lIns="0" bIns="0" rIns="0"/>
            <a:lstStyle/>
            <a:p>
              <a:pPr algn="l">
                <a:lnSpc>
                  <a:spcPts val="1980"/>
                </a:lnSpc>
              </a:pPr>
              <a:r>
                <a:rPr lang="en-US" sz="1650">
                  <a:solidFill>
                    <a:srgbClr val="6B7280"/>
                  </a:solidFill>
                  <a:latin typeface="Calibri (MS)"/>
                  <a:ea typeface="Calibri (MS)"/>
                  <a:cs typeface="Calibri (MS)"/>
                  <a:sym typeface="Calibri (MS)"/>
                </a:rPr>
                <a:t>18 of 20</a:t>
              </a:r>
            </a:p>
          </p:txBody>
        </p:sp>
      </p:grpSp>
      <p:grpSp>
        <p:nvGrpSpPr>
          <p:cNvPr name="Group 11" id="11"/>
          <p:cNvGrpSpPr/>
          <p:nvPr/>
        </p:nvGrpSpPr>
        <p:grpSpPr>
          <a:xfrm rot="0">
            <a:off x="960120" y="2537460"/>
            <a:ext cx="16322040" cy="2811780"/>
            <a:chOff x="0" y="0"/>
            <a:chExt cx="21762720" cy="3749040"/>
          </a:xfrm>
        </p:grpSpPr>
        <p:sp>
          <p:nvSpPr>
            <p:cNvPr name="Freeform 12" id="12"/>
            <p:cNvSpPr/>
            <p:nvPr/>
          </p:nvSpPr>
          <p:spPr>
            <a:xfrm flipH="false" flipV="false" rot="0">
              <a:off x="0" y="0"/>
              <a:ext cx="21762720" cy="3749040"/>
            </a:xfrm>
            <a:custGeom>
              <a:avLst/>
              <a:gdLst/>
              <a:ahLst/>
              <a:cxnLst/>
              <a:rect r="r" b="b" t="t" l="l"/>
              <a:pathLst>
                <a:path h="3749040" w="21762720">
                  <a:moveTo>
                    <a:pt x="0" y="182880"/>
                  </a:moveTo>
                  <a:cubicBezTo>
                    <a:pt x="0" y="81915"/>
                    <a:pt x="81915" y="0"/>
                    <a:pt x="182880" y="0"/>
                  </a:cubicBezTo>
                  <a:lnTo>
                    <a:pt x="21579839" y="0"/>
                  </a:lnTo>
                  <a:cubicBezTo>
                    <a:pt x="21680804" y="0"/>
                    <a:pt x="21762720" y="81915"/>
                    <a:pt x="21762720" y="182880"/>
                  </a:cubicBezTo>
                  <a:lnTo>
                    <a:pt x="21762720" y="3566160"/>
                  </a:lnTo>
                  <a:cubicBezTo>
                    <a:pt x="21762720" y="3667125"/>
                    <a:pt x="21680804" y="3749040"/>
                    <a:pt x="21579839" y="3749040"/>
                  </a:cubicBezTo>
                  <a:lnTo>
                    <a:pt x="182880" y="3749040"/>
                  </a:lnTo>
                  <a:cubicBezTo>
                    <a:pt x="81915" y="3749040"/>
                    <a:pt x="0" y="3667125"/>
                    <a:pt x="0" y="3566160"/>
                  </a:cubicBezTo>
                  <a:close/>
                </a:path>
              </a:pathLst>
            </a:custGeom>
            <a:solidFill>
              <a:srgbClr val="F4F7FC"/>
            </a:solidFill>
          </p:spPr>
        </p:sp>
      </p:grpSp>
      <p:grpSp>
        <p:nvGrpSpPr>
          <p:cNvPr name="Group 13" id="13"/>
          <p:cNvGrpSpPr/>
          <p:nvPr/>
        </p:nvGrpSpPr>
        <p:grpSpPr>
          <a:xfrm rot="0">
            <a:off x="1440180" y="2811780"/>
            <a:ext cx="15361920" cy="2263140"/>
            <a:chOff x="0" y="0"/>
            <a:chExt cx="20482560" cy="3017520"/>
          </a:xfrm>
        </p:grpSpPr>
        <p:sp>
          <p:nvSpPr>
            <p:cNvPr name="Freeform 14" id="14"/>
            <p:cNvSpPr/>
            <p:nvPr/>
          </p:nvSpPr>
          <p:spPr>
            <a:xfrm flipH="false" flipV="false" rot="0">
              <a:off x="0" y="0"/>
              <a:ext cx="20482561" cy="3017520"/>
            </a:xfrm>
            <a:custGeom>
              <a:avLst/>
              <a:gdLst/>
              <a:ahLst/>
              <a:cxnLst/>
              <a:rect r="r" b="b" t="t" l="l"/>
              <a:pathLst>
                <a:path h="3017520" w="20482561">
                  <a:moveTo>
                    <a:pt x="0" y="0"/>
                  </a:moveTo>
                  <a:lnTo>
                    <a:pt x="20482561" y="0"/>
                  </a:lnTo>
                  <a:lnTo>
                    <a:pt x="20482561" y="3017520"/>
                  </a:lnTo>
                  <a:lnTo>
                    <a:pt x="0" y="3017520"/>
                  </a:lnTo>
                  <a:close/>
                </a:path>
              </a:pathLst>
            </a:custGeom>
            <a:blipFill>
              <a:blip r:embed="rId2">
                <a:alphaModFix amt="0"/>
              </a:blip>
              <a:stretch>
                <a:fillRect l="0" t="-82262" r="0" b="-82262"/>
              </a:stretch>
            </a:blipFill>
          </p:spPr>
        </p:sp>
        <p:sp>
          <p:nvSpPr>
            <p:cNvPr name="TextBox 15" id="15"/>
            <p:cNvSpPr txBox="true"/>
            <p:nvPr/>
          </p:nvSpPr>
          <p:spPr>
            <a:xfrm>
              <a:off x="0" y="-104775"/>
              <a:ext cx="20482560" cy="3122295"/>
            </a:xfrm>
            <a:prstGeom prst="rect">
              <a:avLst/>
            </a:prstGeom>
          </p:spPr>
          <p:txBody>
            <a:bodyPr anchor="ctr" rtlCol="false" tIns="0" lIns="0" bIns="0" rIns="0"/>
            <a:lstStyle/>
            <a:p>
              <a:pPr algn="l">
                <a:lnSpc>
                  <a:spcPts val="4147"/>
                </a:lnSpc>
              </a:pPr>
              <a:r>
                <a:rPr lang="en-US" sz="2700" i="true">
                  <a:solidFill>
                    <a:srgbClr val="23262F"/>
                  </a:solidFill>
                  <a:latin typeface="Cambria Italics"/>
                  <a:ea typeface="Cambria Italics"/>
                  <a:cs typeface="Cambria Italics"/>
                  <a:sym typeface="Cambria Italics"/>
                </a:rPr>
                <a:t>"After a multi-day outage, the province activates its written continuity plan to resume permit processing at a backup site while the primary system is repaired."</a:t>
              </a:r>
            </a:p>
          </p:txBody>
        </p:sp>
      </p:grpSp>
      <p:sp>
        <p:nvSpPr>
          <p:cNvPr name="TextBox 16" id="16"/>
          <p:cNvSpPr txBox="true"/>
          <p:nvPr/>
        </p:nvSpPr>
        <p:spPr>
          <a:xfrm rot="0">
            <a:off x="1051560" y="5604510"/>
            <a:ext cx="16139160" cy="1276350"/>
          </a:xfrm>
          <a:prstGeom prst="rect">
            <a:avLst/>
          </a:prstGeom>
        </p:spPr>
        <p:txBody>
          <a:bodyPr anchor="t" rtlCol="false" tIns="0" lIns="0" bIns="0" rIns="0">
            <a:spAutoFit/>
          </a:bodyPr>
          <a:lstStyle/>
          <a:p>
            <a:pPr algn="ctr">
              <a:lnSpc>
                <a:spcPts val="3402"/>
              </a:lnSpc>
            </a:pPr>
            <a:r>
              <a:rPr lang="en-US" sz="2100" i="true">
                <a:solidFill>
                  <a:srgbClr val="6B7280"/>
                </a:solidFill>
                <a:latin typeface="Calibri (MS) Italics"/>
                <a:ea typeface="Calibri (MS) Italics"/>
                <a:cs typeface="Calibri (MS) Italics"/>
                <a:sym typeface="Calibri (MS) Italics"/>
              </a:rPr>
              <a:t>Which Function does this belong to — Govern, Identify, Protect, Detect, Respond, or Recover?</a:t>
            </a:r>
          </a:p>
          <a:p>
            <a:pPr algn="ctr">
              <a:lnSpc>
                <a:spcPts val="3402"/>
              </a:lnSpc>
            </a:pPr>
            <a:r>
              <a:rPr lang="en-US" sz="2100" i="true">
                <a:solidFill>
                  <a:srgbClr val="6B7280"/>
                </a:solidFill>
                <a:latin typeface="Calibri (MS) Italics"/>
                <a:ea typeface="Calibri (MS) Italics"/>
                <a:cs typeface="Calibri (MS) Italics"/>
                <a:sym typeface="Calibri (MS) Italics"/>
              </a:rPr>
              <a:t>Some belong to more than one. Discuss, then we'll reveal the answer.</a:t>
            </a:r>
          </a:p>
        </p:txBody>
      </p:sp>
      <p:grpSp>
        <p:nvGrpSpPr>
          <p:cNvPr name="Group 17" id="17"/>
          <p:cNvGrpSpPr/>
          <p:nvPr/>
        </p:nvGrpSpPr>
        <p:grpSpPr>
          <a:xfrm rot="0">
            <a:off x="950595" y="7122795"/>
            <a:ext cx="5162550" cy="910590"/>
            <a:chOff x="0" y="0"/>
            <a:chExt cx="6883400" cy="1214120"/>
          </a:xfrm>
        </p:grpSpPr>
        <p:sp>
          <p:nvSpPr>
            <p:cNvPr name="Freeform 18" id="18"/>
            <p:cNvSpPr/>
            <p:nvPr/>
          </p:nvSpPr>
          <p:spPr>
            <a:xfrm flipH="false" flipV="false" rot="0">
              <a:off x="0" y="0"/>
              <a:ext cx="6883400" cy="1214120"/>
            </a:xfrm>
            <a:custGeom>
              <a:avLst/>
              <a:gdLst/>
              <a:ahLst/>
              <a:cxnLst/>
              <a:rect r="r" b="b" t="t" l="l"/>
              <a:pathLst>
                <a:path h="1214120" w="6883400">
                  <a:moveTo>
                    <a:pt x="0" y="168148"/>
                  </a:moveTo>
                  <a:cubicBezTo>
                    <a:pt x="0" y="75311"/>
                    <a:pt x="75311" y="0"/>
                    <a:pt x="168148" y="0"/>
                  </a:cubicBezTo>
                  <a:lnTo>
                    <a:pt x="6715252" y="0"/>
                  </a:lnTo>
                  <a:cubicBezTo>
                    <a:pt x="6808089" y="0"/>
                    <a:pt x="6883400" y="75311"/>
                    <a:pt x="6883400" y="168148"/>
                  </a:cubicBezTo>
                  <a:lnTo>
                    <a:pt x="6883400" y="1045972"/>
                  </a:lnTo>
                  <a:cubicBezTo>
                    <a:pt x="6883400" y="1138809"/>
                    <a:pt x="6808089" y="1214120"/>
                    <a:pt x="6715252" y="1214120"/>
                  </a:cubicBezTo>
                  <a:lnTo>
                    <a:pt x="168148" y="1214120"/>
                  </a:lnTo>
                  <a:cubicBezTo>
                    <a:pt x="75311" y="1214120"/>
                    <a:pt x="0" y="1138809"/>
                    <a:pt x="0" y="1045972"/>
                  </a:cubicBezTo>
                  <a:close/>
                </a:path>
              </a:pathLst>
            </a:custGeom>
            <a:solidFill>
              <a:srgbClr val="F4F7FC"/>
            </a:solidFill>
            <a:ln w="19050" cap="sq">
              <a:solidFill>
                <a:srgbClr val="D7DCEC"/>
              </a:solidFill>
              <a:prstDash val="solid"/>
              <a:miter/>
            </a:ln>
          </p:spPr>
        </p:sp>
      </p:grpSp>
      <p:grpSp>
        <p:nvGrpSpPr>
          <p:cNvPr name="Group 19" id="19"/>
          <p:cNvGrpSpPr/>
          <p:nvPr/>
        </p:nvGrpSpPr>
        <p:grpSpPr>
          <a:xfrm rot="0">
            <a:off x="960120" y="7200900"/>
            <a:ext cx="5143500" cy="589788"/>
            <a:chOff x="0" y="0"/>
            <a:chExt cx="6858000" cy="786384"/>
          </a:xfrm>
        </p:grpSpPr>
        <p:sp>
          <p:nvSpPr>
            <p:cNvPr name="Freeform 20" id="20"/>
            <p:cNvSpPr/>
            <p:nvPr/>
          </p:nvSpPr>
          <p:spPr>
            <a:xfrm flipH="false" flipV="false" rot="0">
              <a:off x="0" y="0"/>
              <a:ext cx="6858000" cy="786384"/>
            </a:xfrm>
            <a:custGeom>
              <a:avLst/>
              <a:gdLst/>
              <a:ahLst/>
              <a:cxnLst/>
              <a:rect r="r" b="b" t="t" l="l"/>
              <a:pathLst>
                <a:path h="786384" w="6858000">
                  <a:moveTo>
                    <a:pt x="0" y="0"/>
                  </a:moveTo>
                  <a:lnTo>
                    <a:pt x="6858000" y="0"/>
                  </a:lnTo>
                  <a:lnTo>
                    <a:pt x="6858000" y="786384"/>
                  </a:lnTo>
                  <a:lnTo>
                    <a:pt x="0" y="786384"/>
                  </a:lnTo>
                  <a:close/>
                </a:path>
              </a:pathLst>
            </a:custGeom>
            <a:blipFill>
              <a:blip r:embed="rId2">
                <a:alphaModFix amt="0"/>
              </a:blip>
              <a:stretch>
                <a:fillRect l="0" t="-119927" r="0" b="-119927"/>
              </a:stretch>
            </a:blipFill>
          </p:spPr>
        </p:sp>
        <p:sp>
          <p:nvSpPr>
            <p:cNvPr name="TextBox 21" id="21"/>
            <p:cNvSpPr txBox="true"/>
            <p:nvPr/>
          </p:nvSpPr>
          <p:spPr>
            <a:xfrm>
              <a:off x="0" y="-38100"/>
              <a:ext cx="6858000" cy="824484"/>
            </a:xfrm>
            <a:prstGeom prst="rect">
              <a:avLst/>
            </a:prstGeom>
          </p:spPr>
          <p:txBody>
            <a:bodyPr anchor="ctr" rtlCol="false" tIns="0" lIns="0" bIns="0" rIns="0"/>
            <a:lstStyle/>
            <a:p>
              <a:pPr algn="ctr">
                <a:lnSpc>
                  <a:spcPts val="2430"/>
                </a:lnSpc>
              </a:pPr>
              <a:r>
                <a:rPr lang="en-US" sz="2025">
                  <a:solidFill>
                    <a:srgbClr val="6B7280"/>
                  </a:solidFill>
                  <a:latin typeface="Calibri (MS)"/>
                  <a:ea typeface="Calibri (MS)"/>
                  <a:cs typeface="Calibri (MS)"/>
                  <a:sym typeface="Calibri (MS)"/>
                </a:rPr>
                <a:t>Govern</a:t>
              </a:r>
            </a:p>
          </p:txBody>
        </p:sp>
      </p:grpSp>
      <p:grpSp>
        <p:nvGrpSpPr>
          <p:cNvPr name="Group 22" id="22"/>
          <p:cNvGrpSpPr/>
          <p:nvPr/>
        </p:nvGrpSpPr>
        <p:grpSpPr>
          <a:xfrm rot="0">
            <a:off x="960120" y="7639812"/>
            <a:ext cx="5143500" cy="329184"/>
            <a:chOff x="0" y="0"/>
            <a:chExt cx="6858000" cy="438912"/>
          </a:xfrm>
        </p:grpSpPr>
        <p:sp>
          <p:nvSpPr>
            <p:cNvPr name="Freeform 23" id="23"/>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24" id="24"/>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9AA3B8"/>
                  </a:solidFill>
                  <a:latin typeface="Arimo"/>
                  <a:ea typeface="Arimo"/>
                  <a:cs typeface="Arimo"/>
                  <a:sym typeface="Arimo"/>
                </a:rPr>
                <a:t>GV</a:t>
              </a:r>
            </a:p>
          </p:txBody>
        </p:sp>
      </p:grpSp>
      <p:grpSp>
        <p:nvGrpSpPr>
          <p:cNvPr name="Group 25" id="25"/>
          <p:cNvGrpSpPr/>
          <p:nvPr/>
        </p:nvGrpSpPr>
        <p:grpSpPr>
          <a:xfrm rot="0">
            <a:off x="6533007" y="7122795"/>
            <a:ext cx="5162550" cy="910590"/>
            <a:chOff x="0" y="0"/>
            <a:chExt cx="6883400" cy="1214120"/>
          </a:xfrm>
        </p:grpSpPr>
        <p:sp>
          <p:nvSpPr>
            <p:cNvPr name="Freeform 26" id="26"/>
            <p:cNvSpPr/>
            <p:nvPr/>
          </p:nvSpPr>
          <p:spPr>
            <a:xfrm flipH="false" flipV="false" rot="0">
              <a:off x="0" y="0"/>
              <a:ext cx="6883400" cy="1214120"/>
            </a:xfrm>
            <a:custGeom>
              <a:avLst/>
              <a:gdLst/>
              <a:ahLst/>
              <a:cxnLst/>
              <a:rect r="r" b="b" t="t" l="l"/>
              <a:pathLst>
                <a:path h="1214120" w="6883400">
                  <a:moveTo>
                    <a:pt x="0" y="168148"/>
                  </a:moveTo>
                  <a:cubicBezTo>
                    <a:pt x="0" y="75311"/>
                    <a:pt x="75311" y="0"/>
                    <a:pt x="168148" y="0"/>
                  </a:cubicBezTo>
                  <a:lnTo>
                    <a:pt x="6715252" y="0"/>
                  </a:lnTo>
                  <a:cubicBezTo>
                    <a:pt x="6808089" y="0"/>
                    <a:pt x="6883400" y="75311"/>
                    <a:pt x="6883400" y="168148"/>
                  </a:cubicBezTo>
                  <a:lnTo>
                    <a:pt x="6883400" y="1045972"/>
                  </a:lnTo>
                  <a:cubicBezTo>
                    <a:pt x="6883400" y="1138809"/>
                    <a:pt x="6808089" y="1214120"/>
                    <a:pt x="6715252" y="1214120"/>
                  </a:cubicBezTo>
                  <a:lnTo>
                    <a:pt x="168148" y="1214120"/>
                  </a:lnTo>
                  <a:cubicBezTo>
                    <a:pt x="75311" y="1214120"/>
                    <a:pt x="0" y="1138809"/>
                    <a:pt x="0" y="1045972"/>
                  </a:cubicBezTo>
                  <a:close/>
                </a:path>
              </a:pathLst>
            </a:custGeom>
            <a:solidFill>
              <a:srgbClr val="F4F7FC"/>
            </a:solidFill>
            <a:ln w="19050" cap="sq">
              <a:solidFill>
                <a:srgbClr val="D7DCEC"/>
              </a:solidFill>
              <a:prstDash val="solid"/>
              <a:miter/>
            </a:ln>
          </p:spPr>
        </p:sp>
      </p:grpSp>
      <p:grpSp>
        <p:nvGrpSpPr>
          <p:cNvPr name="Group 27" id="27"/>
          <p:cNvGrpSpPr/>
          <p:nvPr/>
        </p:nvGrpSpPr>
        <p:grpSpPr>
          <a:xfrm rot="0">
            <a:off x="6542532" y="7200900"/>
            <a:ext cx="5143500" cy="589788"/>
            <a:chOff x="0" y="0"/>
            <a:chExt cx="6858000" cy="786384"/>
          </a:xfrm>
        </p:grpSpPr>
        <p:sp>
          <p:nvSpPr>
            <p:cNvPr name="Freeform 28" id="28"/>
            <p:cNvSpPr/>
            <p:nvPr/>
          </p:nvSpPr>
          <p:spPr>
            <a:xfrm flipH="false" flipV="false" rot="0">
              <a:off x="0" y="0"/>
              <a:ext cx="6858000" cy="786384"/>
            </a:xfrm>
            <a:custGeom>
              <a:avLst/>
              <a:gdLst/>
              <a:ahLst/>
              <a:cxnLst/>
              <a:rect r="r" b="b" t="t" l="l"/>
              <a:pathLst>
                <a:path h="786384" w="6858000">
                  <a:moveTo>
                    <a:pt x="0" y="0"/>
                  </a:moveTo>
                  <a:lnTo>
                    <a:pt x="6858000" y="0"/>
                  </a:lnTo>
                  <a:lnTo>
                    <a:pt x="6858000" y="786384"/>
                  </a:lnTo>
                  <a:lnTo>
                    <a:pt x="0" y="786384"/>
                  </a:lnTo>
                  <a:close/>
                </a:path>
              </a:pathLst>
            </a:custGeom>
            <a:blipFill>
              <a:blip r:embed="rId2">
                <a:alphaModFix amt="0"/>
              </a:blip>
              <a:stretch>
                <a:fillRect l="0" t="-119927" r="0" b="-119927"/>
              </a:stretch>
            </a:blipFill>
          </p:spPr>
        </p:sp>
        <p:sp>
          <p:nvSpPr>
            <p:cNvPr name="TextBox 29" id="29"/>
            <p:cNvSpPr txBox="true"/>
            <p:nvPr/>
          </p:nvSpPr>
          <p:spPr>
            <a:xfrm>
              <a:off x="0" y="-38100"/>
              <a:ext cx="6858000" cy="824484"/>
            </a:xfrm>
            <a:prstGeom prst="rect">
              <a:avLst/>
            </a:prstGeom>
          </p:spPr>
          <p:txBody>
            <a:bodyPr anchor="ctr" rtlCol="false" tIns="0" lIns="0" bIns="0" rIns="0"/>
            <a:lstStyle/>
            <a:p>
              <a:pPr algn="ctr">
                <a:lnSpc>
                  <a:spcPts val="2430"/>
                </a:lnSpc>
              </a:pPr>
              <a:r>
                <a:rPr lang="en-US" sz="2025">
                  <a:solidFill>
                    <a:srgbClr val="6B7280"/>
                  </a:solidFill>
                  <a:latin typeface="Calibri (MS)"/>
                  <a:ea typeface="Calibri (MS)"/>
                  <a:cs typeface="Calibri (MS)"/>
                  <a:sym typeface="Calibri (MS)"/>
                </a:rPr>
                <a:t>Identify</a:t>
              </a:r>
            </a:p>
          </p:txBody>
        </p:sp>
      </p:grpSp>
      <p:grpSp>
        <p:nvGrpSpPr>
          <p:cNvPr name="Group 30" id="30"/>
          <p:cNvGrpSpPr/>
          <p:nvPr/>
        </p:nvGrpSpPr>
        <p:grpSpPr>
          <a:xfrm rot="0">
            <a:off x="6542532" y="7639812"/>
            <a:ext cx="5143500" cy="329184"/>
            <a:chOff x="0" y="0"/>
            <a:chExt cx="6858000" cy="438912"/>
          </a:xfrm>
        </p:grpSpPr>
        <p:sp>
          <p:nvSpPr>
            <p:cNvPr name="Freeform 31" id="31"/>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32" id="32"/>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9AA3B8"/>
                  </a:solidFill>
                  <a:latin typeface="Arimo"/>
                  <a:ea typeface="Arimo"/>
                  <a:cs typeface="Arimo"/>
                  <a:sym typeface="Arimo"/>
                </a:rPr>
                <a:t>ID</a:t>
              </a:r>
            </a:p>
          </p:txBody>
        </p:sp>
      </p:grpSp>
      <p:grpSp>
        <p:nvGrpSpPr>
          <p:cNvPr name="Group 33" id="33"/>
          <p:cNvGrpSpPr/>
          <p:nvPr/>
        </p:nvGrpSpPr>
        <p:grpSpPr>
          <a:xfrm rot="0">
            <a:off x="12115419" y="7122795"/>
            <a:ext cx="5162550" cy="910590"/>
            <a:chOff x="0" y="0"/>
            <a:chExt cx="6883400" cy="1214120"/>
          </a:xfrm>
        </p:grpSpPr>
        <p:sp>
          <p:nvSpPr>
            <p:cNvPr name="Freeform 34" id="34"/>
            <p:cNvSpPr/>
            <p:nvPr/>
          </p:nvSpPr>
          <p:spPr>
            <a:xfrm flipH="false" flipV="false" rot="0">
              <a:off x="0" y="0"/>
              <a:ext cx="6883400" cy="1214120"/>
            </a:xfrm>
            <a:custGeom>
              <a:avLst/>
              <a:gdLst/>
              <a:ahLst/>
              <a:cxnLst/>
              <a:rect r="r" b="b" t="t" l="l"/>
              <a:pathLst>
                <a:path h="1214120" w="6883400">
                  <a:moveTo>
                    <a:pt x="0" y="168148"/>
                  </a:moveTo>
                  <a:cubicBezTo>
                    <a:pt x="0" y="75311"/>
                    <a:pt x="75311" y="0"/>
                    <a:pt x="168148" y="0"/>
                  </a:cubicBezTo>
                  <a:lnTo>
                    <a:pt x="6715252" y="0"/>
                  </a:lnTo>
                  <a:cubicBezTo>
                    <a:pt x="6808089" y="0"/>
                    <a:pt x="6883400" y="75311"/>
                    <a:pt x="6883400" y="168148"/>
                  </a:cubicBezTo>
                  <a:lnTo>
                    <a:pt x="6883400" y="1045972"/>
                  </a:lnTo>
                  <a:cubicBezTo>
                    <a:pt x="6883400" y="1138809"/>
                    <a:pt x="6808089" y="1214120"/>
                    <a:pt x="6715252" y="1214120"/>
                  </a:cubicBezTo>
                  <a:lnTo>
                    <a:pt x="168148" y="1214120"/>
                  </a:lnTo>
                  <a:cubicBezTo>
                    <a:pt x="75311" y="1214120"/>
                    <a:pt x="0" y="1138809"/>
                    <a:pt x="0" y="1045972"/>
                  </a:cubicBezTo>
                  <a:close/>
                </a:path>
              </a:pathLst>
            </a:custGeom>
            <a:solidFill>
              <a:srgbClr val="F4F7FC"/>
            </a:solidFill>
            <a:ln w="19050" cap="sq">
              <a:solidFill>
                <a:srgbClr val="D7DCEC"/>
              </a:solidFill>
              <a:prstDash val="solid"/>
              <a:miter/>
            </a:ln>
          </p:spPr>
        </p:sp>
      </p:grpSp>
      <p:grpSp>
        <p:nvGrpSpPr>
          <p:cNvPr name="Group 35" id="35"/>
          <p:cNvGrpSpPr/>
          <p:nvPr/>
        </p:nvGrpSpPr>
        <p:grpSpPr>
          <a:xfrm rot="0">
            <a:off x="12124944" y="7200900"/>
            <a:ext cx="5143500" cy="589788"/>
            <a:chOff x="0" y="0"/>
            <a:chExt cx="6858000" cy="786384"/>
          </a:xfrm>
        </p:grpSpPr>
        <p:sp>
          <p:nvSpPr>
            <p:cNvPr name="Freeform 36" id="36"/>
            <p:cNvSpPr/>
            <p:nvPr/>
          </p:nvSpPr>
          <p:spPr>
            <a:xfrm flipH="false" flipV="false" rot="0">
              <a:off x="0" y="0"/>
              <a:ext cx="6858000" cy="786384"/>
            </a:xfrm>
            <a:custGeom>
              <a:avLst/>
              <a:gdLst/>
              <a:ahLst/>
              <a:cxnLst/>
              <a:rect r="r" b="b" t="t" l="l"/>
              <a:pathLst>
                <a:path h="786384" w="6858000">
                  <a:moveTo>
                    <a:pt x="0" y="0"/>
                  </a:moveTo>
                  <a:lnTo>
                    <a:pt x="6858000" y="0"/>
                  </a:lnTo>
                  <a:lnTo>
                    <a:pt x="6858000" y="786384"/>
                  </a:lnTo>
                  <a:lnTo>
                    <a:pt x="0" y="786384"/>
                  </a:lnTo>
                  <a:close/>
                </a:path>
              </a:pathLst>
            </a:custGeom>
            <a:blipFill>
              <a:blip r:embed="rId2">
                <a:alphaModFix amt="0"/>
              </a:blip>
              <a:stretch>
                <a:fillRect l="0" t="-119927" r="0" b="-119927"/>
              </a:stretch>
            </a:blipFill>
          </p:spPr>
        </p:sp>
        <p:sp>
          <p:nvSpPr>
            <p:cNvPr name="TextBox 37" id="37"/>
            <p:cNvSpPr txBox="true"/>
            <p:nvPr/>
          </p:nvSpPr>
          <p:spPr>
            <a:xfrm>
              <a:off x="0" y="-38100"/>
              <a:ext cx="6858000" cy="824484"/>
            </a:xfrm>
            <a:prstGeom prst="rect">
              <a:avLst/>
            </a:prstGeom>
          </p:spPr>
          <p:txBody>
            <a:bodyPr anchor="ctr" rtlCol="false" tIns="0" lIns="0" bIns="0" rIns="0"/>
            <a:lstStyle/>
            <a:p>
              <a:pPr algn="ctr">
                <a:lnSpc>
                  <a:spcPts val="2430"/>
                </a:lnSpc>
              </a:pPr>
              <a:r>
                <a:rPr lang="en-US" sz="2025">
                  <a:solidFill>
                    <a:srgbClr val="6B7280"/>
                  </a:solidFill>
                  <a:latin typeface="Calibri (MS)"/>
                  <a:ea typeface="Calibri (MS)"/>
                  <a:cs typeface="Calibri (MS)"/>
                  <a:sym typeface="Calibri (MS)"/>
                </a:rPr>
                <a:t>Protect</a:t>
              </a:r>
            </a:p>
          </p:txBody>
        </p:sp>
      </p:grpSp>
      <p:grpSp>
        <p:nvGrpSpPr>
          <p:cNvPr name="Group 38" id="38"/>
          <p:cNvGrpSpPr/>
          <p:nvPr/>
        </p:nvGrpSpPr>
        <p:grpSpPr>
          <a:xfrm rot="0">
            <a:off x="12124944" y="7639812"/>
            <a:ext cx="5143500" cy="329184"/>
            <a:chOff x="0" y="0"/>
            <a:chExt cx="6858000" cy="438912"/>
          </a:xfrm>
        </p:grpSpPr>
        <p:sp>
          <p:nvSpPr>
            <p:cNvPr name="Freeform 39" id="39"/>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40" id="40"/>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9AA3B8"/>
                  </a:solidFill>
                  <a:latin typeface="Arimo"/>
                  <a:ea typeface="Arimo"/>
                  <a:cs typeface="Arimo"/>
                  <a:sym typeface="Arimo"/>
                </a:rPr>
                <a:t>PR</a:t>
              </a:r>
            </a:p>
          </p:txBody>
        </p:sp>
      </p:grpSp>
      <p:grpSp>
        <p:nvGrpSpPr>
          <p:cNvPr name="Group 41" id="41"/>
          <p:cNvGrpSpPr/>
          <p:nvPr/>
        </p:nvGrpSpPr>
        <p:grpSpPr>
          <a:xfrm rot="0">
            <a:off x="950595" y="8288655"/>
            <a:ext cx="5162550" cy="910590"/>
            <a:chOff x="0" y="0"/>
            <a:chExt cx="6883400" cy="1214120"/>
          </a:xfrm>
        </p:grpSpPr>
        <p:sp>
          <p:nvSpPr>
            <p:cNvPr name="Freeform 42" id="42"/>
            <p:cNvSpPr/>
            <p:nvPr/>
          </p:nvSpPr>
          <p:spPr>
            <a:xfrm flipH="false" flipV="false" rot="0">
              <a:off x="0" y="0"/>
              <a:ext cx="6883400" cy="1214120"/>
            </a:xfrm>
            <a:custGeom>
              <a:avLst/>
              <a:gdLst/>
              <a:ahLst/>
              <a:cxnLst/>
              <a:rect r="r" b="b" t="t" l="l"/>
              <a:pathLst>
                <a:path h="1214120" w="6883400">
                  <a:moveTo>
                    <a:pt x="0" y="168148"/>
                  </a:moveTo>
                  <a:cubicBezTo>
                    <a:pt x="0" y="75311"/>
                    <a:pt x="75311" y="0"/>
                    <a:pt x="168148" y="0"/>
                  </a:cubicBezTo>
                  <a:lnTo>
                    <a:pt x="6715252" y="0"/>
                  </a:lnTo>
                  <a:cubicBezTo>
                    <a:pt x="6808089" y="0"/>
                    <a:pt x="6883400" y="75311"/>
                    <a:pt x="6883400" y="168148"/>
                  </a:cubicBezTo>
                  <a:lnTo>
                    <a:pt x="6883400" y="1045972"/>
                  </a:lnTo>
                  <a:cubicBezTo>
                    <a:pt x="6883400" y="1138809"/>
                    <a:pt x="6808089" y="1214120"/>
                    <a:pt x="6715252" y="1214120"/>
                  </a:cubicBezTo>
                  <a:lnTo>
                    <a:pt x="168148" y="1214120"/>
                  </a:lnTo>
                  <a:cubicBezTo>
                    <a:pt x="75311" y="1214120"/>
                    <a:pt x="0" y="1138809"/>
                    <a:pt x="0" y="1045972"/>
                  </a:cubicBezTo>
                  <a:close/>
                </a:path>
              </a:pathLst>
            </a:custGeom>
            <a:solidFill>
              <a:srgbClr val="F4F7FC"/>
            </a:solidFill>
            <a:ln w="19050" cap="sq">
              <a:solidFill>
                <a:srgbClr val="D7DCEC"/>
              </a:solidFill>
              <a:prstDash val="solid"/>
              <a:miter/>
            </a:ln>
          </p:spPr>
        </p:sp>
      </p:grpSp>
      <p:grpSp>
        <p:nvGrpSpPr>
          <p:cNvPr name="Group 43" id="43"/>
          <p:cNvGrpSpPr/>
          <p:nvPr/>
        </p:nvGrpSpPr>
        <p:grpSpPr>
          <a:xfrm rot="0">
            <a:off x="960120" y="8366760"/>
            <a:ext cx="5143500" cy="589788"/>
            <a:chOff x="0" y="0"/>
            <a:chExt cx="6858000" cy="786384"/>
          </a:xfrm>
        </p:grpSpPr>
        <p:sp>
          <p:nvSpPr>
            <p:cNvPr name="Freeform 44" id="44"/>
            <p:cNvSpPr/>
            <p:nvPr/>
          </p:nvSpPr>
          <p:spPr>
            <a:xfrm flipH="false" flipV="false" rot="0">
              <a:off x="0" y="0"/>
              <a:ext cx="6858000" cy="786384"/>
            </a:xfrm>
            <a:custGeom>
              <a:avLst/>
              <a:gdLst/>
              <a:ahLst/>
              <a:cxnLst/>
              <a:rect r="r" b="b" t="t" l="l"/>
              <a:pathLst>
                <a:path h="786384" w="6858000">
                  <a:moveTo>
                    <a:pt x="0" y="0"/>
                  </a:moveTo>
                  <a:lnTo>
                    <a:pt x="6858000" y="0"/>
                  </a:lnTo>
                  <a:lnTo>
                    <a:pt x="6858000" y="786384"/>
                  </a:lnTo>
                  <a:lnTo>
                    <a:pt x="0" y="786384"/>
                  </a:lnTo>
                  <a:close/>
                </a:path>
              </a:pathLst>
            </a:custGeom>
            <a:blipFill>
              <a:blip r:embed="rId2">
                <a:alphaModFix amt="0"/>
              </a:blip>
              <a:stretch>
                <a:fillRect l="0" t="-119927" r="0" b="-119927"/>
              </a:stretch>
            </a:blipFill>
          </p:spPr>
        </p:sp>
        <p:sp>
          <p:nvSpPr>
            <p:cNvPr name="TextBox 45" id="45"/>
            <p:cNvSpPr txBox="true"/>
            <p:nvPr/>
          </p:nvSpPr>
          <p:spPr>
            <a:xfrm>
              <a:off x="0" y="-38100"/>
              <a:ext cx="6858000" cy="824484"/>
            </a:xfrm>
            <a:prstGeom prst="rect">
              <a:avLst/>
            </a:prstGeom>
          </p:spPr>
          <p:txBody>
            <a:bodyPr anchor="ctr" rtlCol="false" tIns="0" lIns="0" bIns="0" rIns="0"/>
            <a:lstStyle/>
            <a:p>
              <a:pPr algn="ctr">
                <a:lnSpc>
                  <a:spcPts val="2430"/>
                </a:lnSpc>
              </a:pPr>
              <a:r>
                <a:rPr lang="en-US" sz="2025">
                  <a:solidFill>
                    <a:srgbClr val="6B7280"/>
                  </a:solidFill>
                  <a:latin typeface="Calibri (MS)"/>
                  <a:ea typeface="Calibri (MS)"/>
                  <a:cs typeface="Calibri (MS)"/>
                  <a:sym typeface="Calibri (MS)"/>
                </a:rPr>
                <a:t>Detect</a:t>
              </a:r>
            </a:p>
          </p:txBody>
        </p:sp>
      </p:grpSp>
      <p:grpSp>
        <p:nvGrpSpPr>
          <p:cNvPr name="Group 46" id="46"/>
          <p:cNvGrpSpPr/>
          <p:nvPr/>
        </p:nvGrpSpPr>
        <p:grpSpPr>
          <a:xfrm rot="0">
            <a:off x="960120" y="8805672"/>
            <a:ext cx="5143500" cy="329184"/>
            <a:chOff x="0" y="0"/>
            <a:chExt cx="6858000" cy="438912"/>
          </a:xfrm>
        </p:grpSpPr>
        <p:sp>
          <p:nvSpPr>
            <p:cNvPr name="Freeform 47" id="47"/>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48" id="48"/>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9AA3B8"/>
                  </a:solidFill>
                  <a:latin typeface="Arimo"/>
                  <a:ea typeface="Arimo"/>
                  <a:cs typeface="Arimo"/>
                  <a:sym typeface="Arimo"/>
                </a:rPr>
                <a:t>DE</a:t>
              </a:r>
            </a:p>
          </p:txBody>
        </p:sp>
      </p:grpSp>
      <p:grpSp>
        <p:nvGrpSpPr>
          <p:cNvPr name="Group 49" id="49"/>
          <p:cNvGrpSpPr/>
          <p:nvPr/>
        </p:nvGrpSpPr>
        <p:grpSpPr>
          <a:xfrm rot="0">
            <a:off x="6533007" y="8288655"/>
            <a:ext cx="5162550" cy="910590"/>
            <a:chOff x="0" y="0"/>
            <a:chExt cx="6883400" cy="1214120"/>
          </a:xfrm>
        </p:grpSpPr>
        <p:sp>
          <p:nvSpPr>
            <p:cNvPr name="Freeform 50" id="50"/>
            <p:cNvSpPr/>
            <p:nvPr/>
          </p:nvSpPr>
          <p:spPr>
            <a:xfrm flipH="false" flipV="false" rot="0">
              <a:off x="0" y="0"/>
              <a:ext cx="6883400" cy="1214120"/>
            </a:xfrm>
            <a:custGeom>
              <a:avLst/>
              <a:gdLst/>
              <a:ahLst/>
              <a:cxnLst/>
              <a:rect r="r" b="b" t="t" l="l"/>
              <a:pathLst>
                <a:path h="1214120" w="6883400">
                  <a:moveTo>
                    <a:pt x="0" y="168148"/>
                  </a:moveTo>
                  <a:cubicBezTo>
                    <a:pt x="0" y="75311"/>
                    <a:pt x="75311" y="0"/>
                    <a:pt x="168148" y="0"/>
                  </a:cubicBezTo>
                  <a:lnTo>
                    <a:pt x="6715252" y="0"/>
                  </a:lnTo>
                  <a:cubicBezTo>
                    <a:pt x="6808089" y="0"/>
                    <a:pt x="6883400" y="75311"/>
                    <a:pt x="6883400" y="168148"/>
                  </a:cubicBezTo>
                  <a:lnTo>
                    <a:pt x="6883400" y="1045972"/>
                  </a:lnTo>
                  <a:cubicBezTo>
                    <a:pt x="6883400" y="1138809"/>
                    <a:pt x="6808089" y="1214120"/>
                    <a:pt x="6715252" y="1214120"/>
                  </a:cubicBezTo>
                  <a:lnTo>
                    <a:pt x="168148" y="1214120"/>
                  </a:lnTo>
                  <a:cubicBezTo>
                    <a:pt x="75311" y="1214120"/>
                    <a:pt x="0" y="1138809"/>
                    <a:pt x="0" y="1045972"/>
                  </a:cubicBezTo>
                  <a:close/>
                </a:path>
              </a:pathLst>
            </a:custGeom>
            <a:solidFill>
              <a:srgbClr val="F4F7FC"/>
            </a:solidFill>
            <a:ln w="19050" cap="sq">
              <a:solidFill>
                <a:srgbClr val="D7DCEC"/>
              </a:solidFill>
              <a:prstDash val="solid"/>
              <a:miter/>
            </a:ln>
          </p:spPr>
        </p:sp>
      </p:grpSp>
      <p:grpSp>
        <p:nvGrpSpPr>
          <p:cNvPr name="Group 51" id="51"/>
          <p:cNvGrpSpPr/>
          <p:nvPr/>
        </p:nvGrpSpPr>
        <p:grpSpPr>
          <a:xfrm rot="0">
            <a:off x="6542532" y="8366760"/>
            <a:ext cx="5143500" cy="589788"/>
            <a:chOff x="0" y="0"/>
            <a:chExt cx="6858000" cy="786384"/>
          </a:xfrm>
        </p:grpSpPr>
        <p:sp>
          <p:nvSpPr>
            <p:cNvPr name="Freeform 52" id="52"/>
            <p:cNvSpPr/>
            <p:nvPr/>
          </p:nvSpPr>
          <p:spPr>
            <a:xfrm flipH="false" flipV="false" rot="0">
              <a:off x="0" y="0"/>
              <a:ext cx="6858000" cy="786384"/>
            </a:xfrm>
            <a:custGeom>
              <a:avLst/>
              <a:gdLst/>
              <a:ahLst/>
              <a:cxnLst/>
              <a:rect r="r" b="b" t="t" l="l"/>
              <a:pathLst>
                <a:path h="786384" w="6858000">
                  <a:moveTo>
                    <a:pt x="0" y="0"/>
                  </a:moveTo>
                  <a:lnTo>
                    <a:pt x="6858000" y="0"/>
                  </a:lnTo>
                  <a:lnTo>
                    <a:pt x="6858000" y="786384"/>
                  </a:lnTo>
                  <a:lnTo>
                    <a:pt x="0" y="786384"/>
                  </a:lnTo>
                  <a:close/>
                </a:path>
              </a:pathLst>
            </a:custGeom>
            <a:blipFill>
              <a:blip r:embed="rId2">
                <a:alphaModFix amt="0"/>
              </a:blip>
              <a:stretch>
                <a:fillRect l="0" t="-119927" r="0" b="-119927"/>
              </a:stretch>
            </a:blipFill>
          </p:spPr>
        </p:sp>
        <p:sp>
          <p:nvSpPr>
            <p:cNvPr name="TextBox 53" id="53"/>
            <p:cNvSpPr txBox="true"/>
            <p:nvPr/>
          </p:nvSpPr>
          <p:spPr>
            <a:xfrm>
              <a:off x="0" y="-38100"/>
              <a:ext cx="6858000" cy="824484"/>
            </a:xfrm>
            <a:prstGeom prst="rect">
              <a:avLst/>
            </a:prstGeom>
          </p:spPr>
          <p:txBody>
            <a:bodyPr anchor="ctr" rtlCol="false" tIns="0" lIns="0" bIns="0" rIns="0"/>
            <a:lstStyle/>
            <a:p>
              <a:pPr algn="ctr">
                <a:lnSpc>
                  <a:spcPts val="2430"/>
                </a:lnSpc>
              </a:pPr>
              <a:r>
                <a:rPr lang="en-US" sz="2025">
                  <a:solidFill>
                    <a:srgbClr val="6B7280"/>
                  </a:solidFill>
                  <a:latin typeface="Calibri (MS)"/>
                  <a:ea typeface="Calibri (MS)"/>
                  <a:cs typeface="Calibri (MS)"/>
                  <a:sym typeface="Calibri (MS)"/>
                </a:rPr>
                <a:t>Respond</a:t>
              </a:r>
            </a:p>
          </p:txBody>
        </p:sp>
      </p:grpSp>
      <p:grpSp>
        <p:nvGrpSpPr>
          <p:cNvPr name="Group 54" id="54"/>
          <p:cNvGrpSpPr/>
          <p:nvPr/>
        </p:nvGrpSpPr>
        <p:grpSpPr>
          <a:xfrm rot="0">
            <a:off x="6542532" y="8805672"/>
            <a:ext cx="5143500" cy="329184"/>
            <a:chOff x="0" y="0"/>
            <a:chExt cx="6858000" cy="438912"/>
          </a:xfrm>
        </p:grpSpPr>
        <p:sp>
          <p:nvSpPr>
            <p:cNvPr name="Freeform 55" id="55"/>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56" id="56"/>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9AA3B8"/>
                  </a:solidFill>
                  <a:latin typeface="Arimo"/>
                  <a:ea typeface="Arimo"/>
                  <a:cs typeface="Arimo"/>
                  <a:sym typeface="Arimo"/>
                </a:rPr>
                <a:t>RS</a:t>
              </a:r>
            </a:p>
          </p:txBody>
        </p:sp>
      </p:grpSp>
      <p:grpSp>
        <p:nvGrpSpPr>
          <p:cNvPr name="Group 57" id="57"/>
          <p:cNvGrpSpPr/>
          <p:nvPr/>
        </p:nvGrpSpPr>
        <p:grpSpPr>
          <a:xfrm rot="0">
            <a:off x="12115419" y="8288655"/>
            <a:ext cx="5162550" cy="910590"/>
            <a:chOff x="0" y="0"/>
            <a:chExt cx="6883400" cy="1214120"/>
          </a:xfrm>
        </p:grpSpPr>
        <p:sp>
          <p:nvSpPr>
            <p:cNvPr name="Freeform 58" id="58"/>
            <p:cNvSpPr/>
            <p:nvPr/>
          </p:nvSpPr>
          <p:spPr>
            <a:xfrm flipH="false" flipV="false" rot="0">
              <a:off x="0" y="0"/>
              <a:ext cx="6883400" cy="1214120"/>
            </a:xfrm>
            <a:custGeom>
              <a:avLst/>
              <a:gdLst/>
              <a:ahLst/>
              <a:cxnLst/>
              <a:rect r="r" b="b" t="t" l="l"/>
              <a:pathLst>
                <a:path h="1214120" w="6883400">
                  <a:moveTo>
                    <a:pt x="0" y="168148"/>
                  </a:moveTo>
                  <a:cubicBezTo>
                    <a:pt x="0" y="75311"/>
                    <a:pt x="75311" y="0"/>
                    <a:pt x="168148" y="0"/>
                  </a:cubicBezTo>
                  <a:lnTo>
                    <a:pt x="6715252" y="0"/>
                  </a:lnTo>
                  <a:cubicBezTo>
                    <a:pt x="6808089" y="0"/>
                    <a:pt x="6883400" y="75311"/>
                    <a:pt x="6883400" y="168148"/>
                  </a:cubicBezTo>
                  <a:lnTo>
                    <a:pt x="6883400" y="1045972"/>
                  </a:lnTo>
                  <a:cubicBezTo>
                    <a:pt x="6883400" y="1138809"/>
                    <a:pt x="6808089" y="1214120"/>
                    <a:pt x="6715252" y="1214120"/>
                  </a:cubicBezTo>
                  <a:lnTo>
                    <a:pt x="168148" y="1214120"/>
                  </a:lnTo>
                  <a:cubicBezTo>
                    <a:pt x="75311" y="1214120"/>
                    <a:pt x="0" y="1138809"/>
                    <a:pt x="0" y="1045972"/>
                  </a:cubicBezTo>
                  <a:close/>
                </a:path>
              </a:pathLst>
            </a:custGeom>
            <a:solidFill>
              <a:srgbClr val="F4F7FC"/>
            </a:solidFill>
            <a:ln w="19050" cap="sq">
              <a:solidFill>
                <a:srgbClr val="D7DCEC"/>
              </a:solidFill>
              <a:prstDash val="solid"/>
              <a:miter/>
            </a:ln>
          </p:spPr>
        </p:sp>
      </p:grpSp>
      <p:grpSp>
        <p:nvGrpSpPr>
          <p:cNvPr name="Group 59" id="59"/>
          <p:cNvGrpSpPr/>
          <p:nvPr/>
        </p:nvGrpSpPr>
        <p:grpSpPr>
          <a:xfrm rot="0">
            <a:off x="12124944" y="8366760"/>
            <a:ext cx="5143500" cy="589788"/>
            <a:chOff x="0" y="0"/>
            <a:chExt cx="6858000" cy="786384"/>
          </a:xfrm>
        </p:grpSpPr>
        <p:sp>
          <p:nvSpPr>
            <p:cNvPr name="Freeform 60" id="60"/>
            <p:cNvSpPr/>
            <p:nvPr/>
          </p:nvSpPr>
          <p:spPr>
            <a:xfrm flipH="false" flipV="false" rot="0">
              <a:off x="0" y="0"/>
              <a:ext cx="6858000" cy="786384"/>
            </a:xfrm>
            <a:custGeom>
              <a:avLst/>
              <a:gdLst/>
              <a:ahLst/>
              <a:cxnLst/>
              <a:rect r="r" b="b" t="t" l="l"/>
              <a:pathLst>
                <a:path h="786384" w="6858000">
                  <a:moveTo>
                    <a:pt x="0" y="0"/>
                  </a:moveTo>
                  <a:lnTo>
                    <a:pt x="6858000" y="0"/>
                  </a:lnTo>
                  <a:lnTo>
                    <a:pt x="6858000" y="786384"/>
                  </a:lnTo>
                  <a:lnTo>
                    <a:pt x="0" y="786384"/>
                  </a:lnTo>
                  <a:close/>
                </a:path>
              </a:pathLst>
            </a:custGeom>
            <a:blipFill>
              <a:blip r:embed="rId2">
                <a:alphaModFix amt="0"/>
              </a:blip>
              <a:stretch>
                <a:fillRect l="0" t="-119927" r="0" b="-119927"/>
              </a:stretch>
            </a:blipFill>
          </p:spPr>
        </p:sp>
        <p:sp>
          <p:nvSpPr>
            <p:cNvPr name="TextBox 61" id="61"/>
            <p:cNvSpPr txBox="true"/>
            <p:nvPr/>
          </p:nvSpPr>
          <p:spPr>
            <a:xfrm>
              <a:off x="0" y="-38100"/>
              <a:ext cx="6858000" cy="824484"/>
            </a:xfrm>
            <a:prstGeom prst="rect">
              <a:avLst/>
            </a:prstGeom>
          </p:spPr>
          <p:txBody>
            <a:bodyPr anchor="ctr" rtlCol="false" tIns="0" lIns="0" bIns="0" rIns="0"/>
            <a:lstStyle/>
            <a:p>
              <a:pPr algn="ctr">
                <a:lnSpc>
                  <a:spcPts val="2430"/>
                </a:lnSpc>
              </a:pPr>
              <a:r>
                <a:rPr lang="en-US" sz="2025">
                  <a:solidFill>
                    <a:srgbClr val="6B7280"/>
                  </a:solidFill>
                  <a:latin typeface="Calibri (MS)"/>
                  <a:ea typeface="Calibri (MS)"/>
                  <a:cs typeface="Calibri (MS)"/>
                  <a:sym typeface="Calibri (MS)"/>
                </a:rPr>
                <a:t>Recover</a:t>
              </a:r>
            </a:p>
          </p:txBody>
        </p:sp>
      </p:grpSp>
      <p:grpSp>
        <p:nvGrpSpPr>
          <p:cNvPr name="Group 62" id="62"/>
          <p:cNvGrpSpPr/>
          <p:nvPr/>
        </p:nvGrpSpPr>
        <p:grpSpPr>
          <a:xfrm rot="0">
            <a:off x="12124944" y="8805672"/>
            <a:ext cx="5143500" cy="329184"/>
            <a:chOff x="0" y="0"/>
            <a:chExt cx="6858000" cy="438912"/>
          </a:xfrm>
        </p:grpSpPr>
        <p:sp>
          <p:nvSpPr>
            <p:cNvPr name="Freeform 63" id="63"/>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64" id="64"/>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9AA3B8"/>
                  </a:solidFill>
                  <a:latin typeface="Arimo"/>
                  <a:ea typeface="Arimo"/>
                  <a:cs typeface="Arimo"/>
                  <a:sym typeface="Arimo"/>
                </a:rPr>
                <a:t>RC</a:t>
              </a:r>
            </a:p>
          </p:txBody>
        </p:sp>
      </p:grpSp>
      <p:grpSp>
        <p:nvGrpSpPr>
          <p:cNvPr name="Group 65" id="65"/>
          <p:cNvGrpSpPr/>
          <p:nvPr/>
        </p:nvGrpSpPr>
        <p:grpSpPr>
          <a:xfrm rot="0">
            <a:off x="685800" y="9710928"/>
            <a:ext cx="10972800" cy="411480"/>
            <a:chOff x="0" y="0"/>
            <a:chExt cx="14630400" cy="548640"/>
          </a:xfrm>
        </p:grpSpPr>
        <p:sp>
          <p:nvSpPr>
            <p:cNvPr name="Freeform 66" id="66"/>
            <p:cNvSpPr/>
            <p:nvPr/>
          </p:nvSpPr>
          <p:spPr>
            <a:xfrm flipH="false" flipV="false" rot="0">
              <a:off x="0" y="0"/>
              <a:ext cx="14630400" cy="548640"/>
            </a:xfrm>
            <a:custGeom>
              <a:avLst/>
              <a:gdLst/>
              <a:ahLst/>
              <a:cxnLst/>
              <a:rect r="r" b="b" t="t" l="l"/>
              <a:pathLst>
                <a:path h="548640" w="14630400">
                  <a:moveTo>
                    <a:pt x="0" y="0"/>
                  </a:moveTo>
                  <a:lnTo>
                    <a:pt x="14630400" y="0"/>
                  </a:lnTo>
                  <a:lnTo>
                    <a:pt x="14630400" y="548640"/>
                  </a:lnTo>
                  <a:lnTo>
                    <a:pt x="0" y="548640"/>
                  </a:lnTo>
                  <a:close/>
                </a:path>
              </a:pathLst>
            </a:custGeom>
            <a:blipFill>
              <a:blip r:embed="rId2">
                <a:alphaModFix amt="0"/>
              </a:blip>
              <a:stretch>
                <a:fillRect l="0" t="-469601" r="0" b="-469601"/>
              </a:stretch>
            </a:blipFill>
          </p:spPr>
        </p:sp>
        <p:sp>
          <p:nvSpPr>
            <p:cNvPr name="TextBox 67" id="67"/>
            <p:cNvSpPr txBox="true"/>
            <p:nvPr/>
          </p:nvSpPr>
          <p:spPr>
            <a:xfrm>
              <a:off x="0" y="-38100"/>
              <a:ext cx="14630400" cy="586740"/>
            </a:xfrm>
            <a:prstGeom prst="rect">
              <a:avLst/>
            </a:prstGeom>
          </p:spPr>
          <p:txBody>
            <a:bodyPr anchor="ctr" rtlCol="false" tIns="0" lIns="0" bIns="0" rIns="0"/>
            <a:lstStyle/>
            <a:p>
              <a:pPr algn="l">
                <a:lnSpc>
                  <a:spcPts val="1800"/>
                </a:lnSpc>
              </a:pPr>
              <a:r>
                <a:rPr lang="en-US" sz="1500">
                  <a:solidFill>
                    <a:srgbClr val="6B7280"/>
                  </a:solidFill>
                  <a:latin typeface="Calibri (MS)"/>
                  <a:ea typeface="Calibri (MS)"/>
                  <a:cs typeface="Calibri (MS)"/>
                  <a:sym typeface="Calibri (MS)"/>
                </a:rPr>
                <a:t>Davao del Norte Provincial Government — Cybersecurity Seminar</a:t>
              </a:r>
            </a:p>
          </p:txBody>
        </p:sp>
      </p:grpSp>
      <p:grpSp>
        <p:nvGrpSpPr>
          <p:cNvPr name="Group 68" id="68"/>
          <p:cNvGrpSpPr/>
          <p:nvPr/>
        </p:nvGrpSpPr>
        <p:grpSpPr>
          <a:xfrm rot="0">
            <a:off x="16911828" y="9710928"/>
            <a:ext cx="685800" cy="411480"/>
            <a:chOff x="0" y="0"/>
            <a:chExt cx="914400" cy="548640"/>
          </a:xfrm>
        </p:grpSpPr>
        <p:sp>
          <p:nvSpPr>
            <p:cNvPr name="Freeform 69" id="69"/>
            <p:cNvSpPr/>
            <p:nvPr/>
          </p:nvSpPr>
          <p:spPr>
            <a:xfrm flipH="false" flipV="false" rot="0">
              <a:off x="0" y="0"/>
              <a:ext cx="914400" cy="548640"/>
            </a:xfrm>
            <a:custGeom>
              <a:avLst/>
              <a:gdLst/>
              <a:ahLst/>
              <a:cxnLst/>
              <a:rect r="r" b="b" t="t" l="l"/>
              <a:pathLst>
                <a:path h="548640" w="914400">
                  <a:moveTo>
                    <a:pt x="0" y="0"/>
                  </a:moveTo>
                  <a:lnTo>
                    <a:pt x="914400" y="0"/>
                  </a:lnTo>
                  <a:lnTo>
                    <a:pt x="914400" y="548640"/>
                  </a:lnTo>
                  <a:lnTo>
                    <a:pt x="0" y="548640"/>
                  </a:lnTo>
                  <a:close/>
                </a:path>
              </a:pathLst>
            </a:custGeom>
            <a:blipFill>
              <a:blip r:embed="rId2">
                <a:alphaModFix amt="0"/>
              </a:blip>
              <a:stretch>
                <a:fillRect l="-26982" t="0" r="-26982" b="0"/>
              </a:stretch>
            </a:blipFill>
          </p:spPr>
        </p:sp>
        <p:sp>
          <p:nvSpPr>
            <p:cNvPr name="TextBox 70" id="70"/>
            <p:cNvSpPr txBox="true"/>
            <p:nvPr/>
          </p:nvSpPr>
          <p:spPr>
            <a:xfrm>
              <a:off x="0" y="-38100"/>
              <a:ext cx="914400" cy="586740"/>
            </a:xfrm>
            <a:prstGeom prst="rect">
              <a:avLst/>
            </a:prstGeom>
          </p:spPr>
          <p:txBody>
            <a:bodyPr anchor="ctr" rtlCol="false" tIns="0" lIns="0" bIns="0" rIns="0"/>
            <a:lstStyle/>
            <a:p>
              <a:pPr algn="r">
                <a:lnSpc>
                  <a:spcPts val="1800"/>
                </a:lnSpc>
              </a:pPr>
              <a:r>
                <a:rPr lang="en-US" sz="1500">
                  <a:solidFill>
                    <a:srgbClr val="6B7280"/>
                  </a:solidFill>
                  <a:latin typeface="Calibri (MS)"/>
                  <a:ea typeface="Calibri (MS)"/>
                  <a:cs typeface="Calibri (MS)"/>
                  <a:sym typeface="Calibri (MS)"/>
                </a:rPr>
                <a:t>45</a:t>
              </a:r>
            </a:p>
          </p:txBody>
        </p:sp>
      </p:grpSp>
    </p:spTree>
  </p:cSld>
  <p:clrMapOvr>
    <a:masterClrMapping/>
  </p:clrMapOvr>
</p:sld>
</file>

<file path=ppt/slides/slide1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60120" y="685800"/>
            <a:ext cx="13716000" cy="411480"/>
            <a:chOff x="0" y="0"/>
            <a:chExt cx="18288000" cy="548640"/>
          </a:xfrm>
        </p:grpSpPr>
        <p:sp>
          <p:nvSpPr>
            <p:cNvPr name="Freeform 3" id="3"/>
            <p:cNvSpPr/>
            <p:nvPr/>
          </p:nvSpPr>
          <p:spPr>
            <a:xfrm flipH="false" flipV="false" rot="0">
              <a:off x="0" y="0"/>
              <a:ext cx="18288000" cy="548640"/>
            </a:xfrm>
            <a:custGeom>
              <a:avLst/>
              <a:gdLst/>
              <a:ahLst/>
              <a:cxnLst/>
              <a:rect r="r" b="b" t="t" l="l"/>
              <a:pathLst>
                <a:path h="548640" w="18288000">
                  <a:moveTo>
                    <a:pt x="0" y="0"/>
                  </a:moveTo>
                  <a:lnTo>
                    <a:pt x="18288000" y="0"/>
                  </a:lnTo>
                  <a:lnTo>
                    <a:pt x="18288000" y="548640"/>
                  </a:lnTo>
                  <a:lnTo>
                    <a:pt x="0" y="548640"/>
                  </a:lnTo>
                  <a:close/>
                </a:path>
              </a:pathLst>
            </a:custGeom>
            <a:blipFill>
              <a:blip r:embed="rId2">
                <a:alphaModFix amt="0"/>
              </a:blip>
              <a:stretch>
                <a:fillRect l="0" t="-599501" r="0" b="-599501"/>
              </a:stretch>
            </a:blipFill>
          </p:spPr>
        </p:sp>
        <p:sp>
          <p:nvSpPr>
            <p:cNvPr name="TextBox 4" id="4"/>
            <p:cNvSpPr txBox="true"/>
            <p:nvPr/>
          </p:nvSpPr>
          <p:spPr>
            <a:xfrm>
              <a:off x="0" y="-38100"/>
              <a:ext cx="18288000" cy="586740"/>
            </a:xfrm>
            <a:prstGeom prst="rect">
              <a:avLst/>
            </a:prstGeom>
          </p:spPr>
          <p:txBody>
            <a:bodyPr anchor="ctr" rtlCol="false" tIns="0" lIns="0" bIns="0" rIns="0"/>
            <a:lstStyle/>
            <a:p>
              <a:pPr algn="l">
                <a:lnSpc>
                  <a:spcPts val="2160"/>
                </a:lnSpc>
              </a:pPr>
              <a:r>
                <a:rPr lang="en-US" b="true" sz="1800" spc="225">
                  <a:solidFill>
                    <a:srgbClr val="00B4D8"/>
                  </a:solidFill>
                  <a:latin typeface="Calibri (MS) Bold"/>
                  <a:ea typeface="Calibri (MS) Bold"/>
                  <a:cs typeface="Calibri (MS) Bold"/>
                  <a:sym typeface="Calibri (MS) Bold"/>
                </a:rPr>
                <a:t>NIST CSF SORT · ANSWER</a:t>
              </a:r>
            </a:p>
          </p:txBody>
        </p:sp>
      </p:grpSp>
      <p:grpSp>
        <p:nvGrpSpPr>
          <p:cNvPr name="Group 5" id="5"/>
          <p:cNvGrpSpPr/>
          <p:nvPr/>
        </p:nvGrpSpPr>
        <p:grpSpPr>
          <a:xfrm rot="0">
            <a:off x="960120" y="1069848"/>
            <a:ext cx="10972800" cy="822960"/>
            <a:chOff x="0" y="0"/>
            <a:chExt cx="14630400" cy="1097280"/>
          </a:xfrm>
        </p:grpSpPr>
        <p:sp>
          <p:nvSpPr>
            <p:cNvPr name="Freeform 6" id="6"/>
            <p:cNvSpPr/>
            <p:nvPr/>
          </p:nvSpPr>
          <p:spPr>
            <a:xfrm flipH="false" flipV="false" rot="0">
              <a:off x="0" y="0"/>
              <a:ext cx="14630400" cy="1097280"/>
            </a:xfrm>
            <a:custGeom>
              <a:avLst/>
              <a:gdLst/>
              <a:ahLst/>
              <a:cxnLst/>
              <a:rect r="r" b="b" t="t" l="l"/>
              <a:pathLst>
                <a:path h="1097280" w="14630400">
                  <a:moveTo>
                    <a:pt x="0" y="0"/>
                  </a:moveTo>
                  <a:lnTo>
                    <a:pt x="14630400" y="0"/>
                  </a:lnTo>
                  <a:lnTo>
                    <a:pt x="14630400" y="1097280"/>
                  </a:lnTo>
                  <a:lnTo>
                    <a:pt x="0" y="1097280"/>
                  </a:lnTo>
                  <a:close/>
                </a:path>
              </a:pathLst>
            </a:custGeom>
            <a:blipFill>
              <a:blip r:embed="rId2">
                <a:alphaModFix amt="0"/>
              </a:blip>
              <a:stretch>
                <a:fillRect l="0" t="-209800" r="0" b="-209800"/>
              </a:stretch>
            </a:blipFill>
          </p:spPr>
        </p:sp>
        <p:sp>
          <p:nvSpPr>
            <p:cNvPr name="TextBox 7" id="7"/>
            <p:cNvSpPr txBox="true"/>
            <p:nvPr/>
          </p:nvSpPr>
          <p:spPr>
            <a:xfrm>
              <a:off x="0" y="0"/>
              <a:ext cx="14630400" cy="1097280"/>
            </a:xfrm>
            <a:prstGeom prst="rect">
              <a:avLst/>
            </a:prstGeom>
          </p:spPr>
          <p:txBody>
            <a:bodyPr anchor="ctr" rtlCol="false" tIns="0" lIns="0" bIns="0" rIns="0"/>
            <a:lstStyle/>
            <a:p>
              <a:pPr algn="l">
                <a:lnSpc>
                  <a:spcPts val="4680"/>
                </a:lnSpc>
              </a:pPr>
              <a:r>
                <a:rPr lang="en-US" sz="3900" b="true">
                  <a:solidFill>
                    <a:srgbClr val="1E2761"/>
                  </a:solidFill>
                  <a:latin typeface="Cambria Bold"/>
                  <a:ea typeface="Cambria Bold"/>
                  <a:cs typeface="Cambria Bold"/>
                  <a:sym typeface="Cambria Bold"/>
                </a:rPr>
                <a:t>Scenario 18 — Answer</a:t>
              </a:r>
            </a:p>
          </p:txBody>
        </p:sp>
      </p:grpSp>
      <p:grpSp>
        <p:nvGrpSpPr>
          <p:cNvPr name="Group 8" id="8"/>
          <p:cNvGrpSpPr/>
          <p:nvPr/>
        </p:nvGrpSpPr>
        <p:grpSpPr>
          <a:xfrm rot="0">
            <a:off x="960120" y="1810512"/>
            <a:ext cx="8229600" cy="411480"/>
            <a:chOff x="0" y="0"/>
            <a:chExt cx="10972800" cy="548640"/>
          </a:xfrm>
        </p:grpSpPr>
        <p:sp>
          <p:nvSpPr>
            <p:cNvPr name="Freeform 9" id="9"/>
            <p:cNvSpPr/>
            <p:nvPr/>
          </p:nvSpPr>
          <p:spPr>
            <a:xfrm flipH="false" flipV="false" rot="0">
              <a:off x="0" y="0"/>
              <a:ext cx="10972800" cy="548640"/>
            </a:xfrm>
            <a:custGeom>
              <a:avLst/>
              <a:gdLst/>
              <a:ahLst/>
              <a:cxnLst/>
              <a:rect r="r" b="b" t="t" l="l"/>
              <a:pathLst>
                <a:path h="548640" w="10972800">
                  <a:moveTo>
                    <a:pt x="0" y="0"/>
                  </a:moveTo>
                  <a:lnTo>
                    <a:pt x="10972800" y="0"/>
                  </a:lnTo>
                  <a:lnTo>
                    <a:pt x="10972800" y="548640"/>
                  </a:lnTo>
                  <a:lnTo>
                    <a:pt x="0" y="548640"/>
                  </a:lnTo>
                  <a:close/>
                </a:path>
              </a:pathLst>
            </a:custGeom>
            <a:blipFill>
              <a:blip r:embed="rId2">
                <a:alphaModFix amt="0"/>
              </a:blip>
              <a:stretch>
                <a:fillRect l="0" t="-339700" r="0" b="-339700"/>
              </a:stretch>
            </a:blipFill>
          </p:spPr>
        </p:sp>
        <p:sp>
          <p:nvSpPr>
            <p:cNvPr name="TextBox 10" id="10"/>
            <p:cNvSpPr txBox="true"/>
            <p:nvPr/>
          </p:nvSpPr>
          <p:spPr>
            <a:xfrm>
              <a:off x="0" y="-28575"/>
              <a:ext cx="10972800" cy="577215"/>
            </a:xfrm>
            <a:prstGeom prst="rect">
              <a:avLst/>
            </a:prstGeom>
          </p:spPr>
          <p:txBody>
            <a:bodyPr anchor="ctr" rtlCol="false" tIns="0" lIns="0" bIns="0" rIns="0"/>
            <a:lstStyle/>
            <a:p>
              <a:pPr algn="l">
                <a:lnSpc>
                  <a:spcPts val="1980"/>
                </a:lnSpc>
              </a:pPr>
              <a:r>
                <a:rPr lang="en-US" sz="1650">
                  <a:solidFill>
                    <a:srgbClr val="6B7280"/>
                  </a:solidFill>
                  <a:latin typeface="Calibri (MS)"/>
                  <a:ea typeface="Calibri (MS)"/>
                  <a:cs typeface="Calibri (MS)"/>
                  <a:sym typeface="Calibri (MS)"/>
                </a:rPr>
                <a:t>18 of 20</a:t>
              </a:r>
            </a:p>
          </p:txBody>
        </p:sp>
      </p:grpSp>
      <p:grpSp>
        <p:nvGrpSpPr>
          <p:cNvPr name="Group 11" id="11"/>
          <p:cNvGrpSpPr/>
          <p:nvPr/>
        </p:nvGrpSpPr>
        <p:grpSpPr>
          <a:xfrm rot="0">
            <a:off x="960120" y="2537460"/>
            <a:ext cx="16322040" cy="2194560"/>
            <a:chOff x="0" y="0"/>
            <a:chExt cx="21762720" cy="2926080"/>
          </a:xfrm>
        </p:grpSpPr>
        <p:sp>
          <p:nvSpPr>
            <p:cNvPr name="Freeform 12" id="12"/>
            <p:cNvSpPr/>
            <p:nvPr/>
          </p:nvSpPr>
          <p:spPr>
            <a:xfrm flipH="false" flipV="false" rot="0">
              <a:off x="0" y="0"/>
              <a:ext cx="21762720" cy="2926080"/>
            </a:xfrm>
            <a:custGeom>
              <a:avLst/>
              <a:gdLst/>
              <a:ahLst/>
              <a:cxnLst/>
              <a:rect r="r" b="b" t="t" l="l"/>
              <a:pathLst>
                <a:path h="2926080" w="21762720">
                  <a:moveTo>
                    <a:pt x="0" y="182880"/>
                  </a:moveTo>
                  <a:cubicBezTo>
                    <a:pt x="0" y="81915"/>
                    <a:pt x="81915" y="0"/>
                    <a:pt x="182880" y="0"/>
                  </a:cubicBezTo>
                  <a:lnTo>
                    <a:pt x="21579839" y="0"/>
                  </a:lnTo>
                  <a:cubicBezTo>
                    <a:pt x="21680804" y="0"/>
                    <a:pt x="21762720" y="81915"/>
                    <a:pt x="21762720" y="182880"/>
                  </a:cubicBezTo>
                  <a:lnTo>
                    <a:pt x="21762720" y="2743200"/>
                  </a:lnTo>
                  <a:cubicBezTo>
                    <a:pt x="21762720" y="2844165"/>
                    <a:pt x="21680804" y="2926080"/>
                    <a:pt x="21579839" y="2926080"/>
                  </a:cubicBezTo>
                  <a:lnTo>
                    <a:pt x="182880" y="2926080"/>
                  </a:lnTo>
                  <a:cubicBezTo>
                    <a:pt x="81915" y="2926080"/>
                    <a:pt x="0" y="2844165"/>
                    <a:pt x="0" y="2743200"/>
                  </a:cubicBezTo>
                  <a:close/>
                </a:path>
              </a:pathLst>
            </a:custGeom>
            <a:solidFill>
              <a:srgbClr val="F4F7FC"/>
            </a:solidFill>
          </p:spPr>
        </p:sp>
      </p:grpSp>
      <p:grpSp>
        <p:nvGrpSpPr>
          <p:cNvPr name="Group 13" id="13"/>
          <p:cNvGrpSpPr/>
          <p:nvPr/>
        </p:nvGrpSpPr>
        <p:grpSpPr>
          <a:xfrm rot="0">
            <a:off x="1440180" y="2770632"/>
            <a:ext cx="15361920" cy="1714500"/>
            <a:chOff x="0" y="0"/>
            <a:chExt cx="20482560" cy="2286000"/>
          </a:xfrm>
        </p:grpSpPr>
        <p:sp>
          <p:nvSpPr>
            <p:cNvPr name="Freeform 14" id="14"/>
            <p:cNvSpPr/>
            <p:nvPr/>
          </p:nvSpPr>
          <p:spPr>
            <a:xfrm flipH="false" flipV="false" rot="0">
              <a:off x="0" y="0"/>
              <a:ext cx="20482561" cy="2286000"/>
            </a:xfrm>
            <a:custGeom>
              <a:avLst/>
              <a:gdLst/>
              <a:ahLst/>
              <a:cxnLst/>
              <a:rect r="r" b="b" t="t" l="l"/>
              <a:pathLst>
                <a:path h="2286000" w="20482561">
                  <a:moveTo>
                    <a:pt x="0" y="0"/>
                  </a:moveTo>
                  <a:lnTo>
                    <a:pt x="20482561" y="0"/>
                  </a:lnTo>
                  <a:lnTo>
                    <a:pt x="20482561" y="2286000"/>
                  </a:lnTo>
                  <a:lnTo>
                    <a:pt x="0" y="2286000"/>
                  </a:lnTo>
                  <a:close/>
                </a:path>
              </a:pathLst>
            </a:custGeom>
            <a:blipFill>
              <a:blip r:embed="rId2">
                <a:alphaModFix amt="0"/>
              </a:blip>
              <a:stretch>
                <a:fillRect l="0" t="-124585" r="0" b="-124585"/>
              </a:stretch>
            </a:blipFill>
          </p:spPr>
        </p:sp>
        <p:sp>
          <p:nvSpPr>
            <p:cNvPr name="TextBox 15" id="15"/>
            <p:cNvSpPr txBox="true"/>
            <p:nvPr/>
          </p:nvSpPr>
          <p:spPr>
            <a:xfrm>
              <a:off x="0" y="-85725"/>
              <a:ext cx="20482560" cy="2371725"/>
            </a:xfrm>
            <a:prstGeom prst="rect">
              <a:avLst/>
            </a:prstGeom>
          </p:spPr>
          <p:txBody>
            <a:bodyPr anchor="ctr" rtlCol="false" tIns="0" lIns="0" bIns="0" rIns="0"/>
            <a:lstStyle/>
            <a:p>
              <a:pPr algn="l">
                <a:lnSpc>
                  <a:spcPts val="3600"/>
                </a:lnSpc>
              </a:pPr>
              <a:r>
                <a:rPr lang="en-US" sz="2400" i="true">
                  <a:solidFill>
                    <a:srgbClr val="23262F"/>
                  </a:solidFill>
                  <a:latin typeface="Cambria Italics"/>
                  <a:ea typeface="Cambria Italics"/>
                  <a:cs typeface="Cambria Italics"/>
                  <a:sym typeface="Cambria Italics"/>
                </a:rPr>
                <a:t>"After a multi-day outage, the province activates its written continuity plan to resume permit processing at a backup site while the primary system is repaired."</a:t>
              </a:r>
            </a:p>
          </p:txBody>
        </p:sp>
      </p:grpSp>
      <p:grpSp>
        <p:nvGrpSpPr>
          <p:cNvPr name="Group 16" id="16"/>
          <p:cNvGrpSpPr/>
          <p:nvPr/>
        </p:nvGrpSpPr>
        <p:grpSpPr>
          <a:xfrm rot="0">
            <a:off x="950595" y="5065395"/>
            <a:ext cx="5162550" cy="842010"/>
            <a:chOff x="0" y="0"/>
            <a:chExt cx="6883400" cy="1122680"/>
          </a:xfrm>
        </p:grpSpPr>
        <p:sp>
          <p:nvSpPr>
            <p:cNvPr name="Freeform 17" id="17"/>
            <p:cNvSpPr/>
            <p:nvPr/>
          </p:nvSpPr>
          <p:spPr>
            <a:xfrm flipH="false" flipV="false" rot="0">
              <a:off x="0" y="0"/>
              <a:ext cx="6883400" cy="1122680"/>
            </a:xfrm>
            <a:custGeom>
              <a:avLst/>
              <a:gdLst/>
              <a:ahLst/>
              <a:cxnLst/>
              <a:rect r="r" b="b" t="t" l="l"/>
              <a:pathLst>
                <a:path h="1122680" w="6883400">
                  <a:moveTo>
                    <a:pt x="0" y="168402"/>
                  </a:moveTo>
                  <a:cubicBezTo>
                    <a:pt x="0" y="75438"/>
                    <a:pt x="75438" y="0"/>
                    <a:pt x="168402" y="0"/>
                  </a:cubicBezTo>
                  <a:lnTo>
                    <a:pt x="6714998" y="0"/>
                  </a:lnTo>
                  <a:cubicBezTo>
                    <a:pt x="6807962" y="0"/>
                    <a:pt x="6883400" y="75438"/>
                    <a:pt x="6883400" y="168402"/>
                  </a:cubicBezTo>
                  <a:lnTo>
                    <a:pt x="6883400" y="954278"/>
                  </a:lnTo>
                  <a:cubicBezTo>
                    <a:pt x="6883400" y="1047242"/>
                    <a:pt x="6807962" y="1122680"/>
                    <a:pt x="6714998" y="1122680"/>
                  </a:cubicBezTo>
                  <a:lnTo>
                    <a:pt x="168402" y="1122680"/>
                  </a:lnTo>
                  <a:cubicBezTo>
                    <a:pt x="75438" y="1122680"/>
                    <a:pt x="0" y="1047242"/>
                    <a:pt x="0" y="954278"/>
                  </a:cubicBezTo>
                  <a:close/>
                </a:path>
              </a:pathLst>
            </a:custGeom>
            <a:solidFill>
              <a:srgbClr val="F4F7FC"/>
            </a:solidFill>
            <a:ln w="19050" cap="sq">
              <a:solidFill>
                <a:srgbClr val="D7DCEC"/>
              </a:solidFill>
              <a:prstDash val="solid"/>
              <a:miter/>
            </a:ln>
          </p:spPr>
        </p:sp>
      </p:grpSp>
      <p:grpSp>
        <p:nvGrpSpPr>
          <p:cNvPr name="Group 18" id="18"/>
          <p:cNvGrpSpPr/>
          <p:nvPr/>
        </p:nvGrpSpPr>
        <p:grpSpPr>
          <a:xfrm rot="0">
            <a:off x="960120" y="5143500"/>
            <a:ext cx="5143500" cy="521208"/>
            <a:chOff x="0" y="0"/>
            <a:chExt cx="6858000" cy="694944"/>
          </a:xfrm>
        </p:grpSpPr>
        <p:sp>
          <p:nvSpPr>
            <p:cNvPr name="Freeform 19" id="19"/>
            <p:cNvSpPr/>
            <p:nvPr/>
          </p:nvSpPr>
          <p:spPr>
            <a:xfrm flipH="false" flipV="false" rot="0">
              <a:off x="0" y="0"/>
              <a:ext cx="6858000" cy="694944"/>
            </a:xfrm>
            <a:custGeom>
              <a:avLst/>
              <a:gdLst/>
              <a:ahLst/>
              <a:cxnLst/>
              <a:rect r="r" b="b" t="t" l="l"/>
              <a:pathLst>
                <a:path h="694944" w="6858000">
                  <a:moveTo>
                    <a:pt x="0" y="0"/>
                  </a:moveTo>
                  <a:lnTo>
                    <a:pt x="6858000" y="0"/>
                  </a:lnTo>
                  <a:lnTo>
                    <a:pt x="6858000" y="694944"/>
                  </a:lnTo>
                  <a:lnTo>
                    <a:pt x="0" y="694944"/>
                  </a:lnTo>
                  <a:close/>
                </a:path>
              </a:pathLst>
            </a:custGeom>
            <a:blipFill>
              <a:blip r:embed="rId2">
                <a:alphaModFix amt="0"/>
              </a:blip>
              <a:stretch>
                <a:fillRect l="0" t="-142286" r="0" b="-142286"/>
              </a:stretch>
            </a:blipFill>
          </p:spPr>
        </p:sp>
        <p:sp>
          <p:nvSpPr>
            <p:cNvPr name="TextBox 20" id="20"/>
            <p:cNvSpPr txBox="true"/>
            <p:nvPr/>
          </p:nvSpPr>
          <p:spPr>
            <a:xfrm>
              <a:off x="0" y="-38100"/>
              <a:ext cx="6858000" cy="733044"/>
            </a:xfrm>
            <a:prstGeom prst="rect">
              <a:avLst/>
            </a:prstGeom>
          </p:spPr>
          <p:txBody>
            <a:bodyPr anchor="ctr" rtlCol="false" tIns="0" lIns="0" bIns="0" rIns="0"/>
            <a:lstStyle/>
            <a:p>
              <a:pPr algn="ctr">
                <a:lnSpc>
                  <a:spcPts val="2430"/>
                </a:lnSpc>
              </a:pPr>
              <a:r>
                <a:rPr lang="en-US" sz="2025">
                  <a:solidFill>
                    <a:srgbClr val="6B7280"/>
                  </a:solidFill>
                  <a:latin typeface="Calibri (MS)"/>
                  <a:ea typeface="Calibri (MS)"/>
                  <a:cs typeface="Calibri (MS)"/>
                  <a:sym typeface="Calibri (MS)"/>
                </a:rPr>
                <a:t>Govern</a:t>
              </a:r>
            </a:p>
          </p:txBody>
        </p:sp>
      </p:grpSp>
      <p:grpSp>
        <p:nvGrpSpPr>
          <p:cNvPr name="Group 21" id="21"/>
          <p:cNvGrpSpPr/>
          <p:nvPr/>
        </p:nvGrpSpPr>
        <p:grpSpPr>
          <a:xfrm rot="0">
            <a:off x="960120" y="5513832"/>
            <a:ext cx="5143500" cy="329184"/>
            <a:chOff x="0" y="0"/>
            <a:chExt cx="6858000" cy="438912"/>
          </a:xfrm>
        </p:grpSpPr>
        <p:sp>
          <p:nvSpPr>
            <p:cNvPr name="Freeform 22" id="22"/>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23" id="23"/>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9AA3B8"/>
                  </a:solidFill>
                  <a:latin typeface="Arimo"/>
                  <a:ea typeface="Arimo"/>
                  <a:cs typeface="Arimo"/>
                  <a:sym typeface="Arimo"/>
                </a:rPr>
                <a:t>GV</a:t>
              </a:r>
            </a:p>
          </p:txBody>
        </p:sp>
      </p:grpSp>
      <p:grpSp>
        <p:nvGrpSpPr>
          <p:cNvPr name="Group 24" id="24"/>
          <p:cNvGrpSpPr/>
          <p:nvPr/>
        </p:nvGrpSpPr>
        <p:grpSpPr>
          <a:xfrm rot="0">
            <a:off x="6533007" y="5065395"/>
            <a:ext cx="5162550" cy="842010"/>
            <a:chOff x="0" y="0"/>
            <a:chExt cx="6883400" cy="1122680"/>
          </a:xfrm>
        </p:grpSpPr>
        <p:sp>
          <p:nvSpPr>
            <p:cNvPr name="Freeform 25" id="25"/>
            <p:cNvSpPr/>
            <p:nvPr/>
          </p:nvSpPr>
          <p:spPr>
            <a:xfrm flipH="false" flipV="false" rot="0">
              <a:off x="0" y="0"/>
              <a:ext cx="6883400" cy="1122680"/>
            </a:xfrm>
            <a:custGeom>
              <a:avLst/>
              <a:gdLst/>
              <a:ahLst/>
              <a:cxnLst/>
              <a:rect r="r" b="b" t="t" l="l"/>
              <a:pathLst>
                <a:path h="1122680" w="6883400">
                  <a:moveTo>
                    <a:pt x="0" y="168402"/>
                  </a:moveTo>
                  <a:cubicBezTo>
                    <a:pt x="0" y="75438"/>
                    <a:pt x="75438" y="0"/>
                    <a:pt x="168402" y="0"/>
                  </a:cubicBezTo>
                  <a:lnTo>
                    <a:pt x="6714998" y="0"/>
                  </a:lnTo>
                  <a:cubicBezTo>
                    <a:pt x="6807962" y="0"/>
                    <a:pt x="6883400" y="75438"/>
                    <a:pt x="6883400" y="168402"/>
                  </a:cubicBezTo>
                  <a:lnTo>
                    <a:pt x="6883400" y="954278"/>
                  </a:lnTo>
                  <a:cubicBezTo>
                    <a:pt x="6883400" y="1047242"/>
                    <a:pt x="6807962" y="1122680"/>
                    <a:pt x="6714998" y="1122680"/>
                  </a:cubicBezTo>
                  <a:lnTo>
                    <a:pt x="168402" y="1122680"/>
                  </a:lnTo>
                  <a:cubicBezTo>
                    <a:pt x="75438" y="1122680"/>
                    <a:pt x="0" y="1047242"/>
                    <a:pt x="0" y="954278"/>
                  </a:cubicBezTo>
                  <a:close/>
                </a:path>
              </a:pathLst>
            </a:custGeom>
            <a:solidFill>
              <a:srgbClr val="F4F7FC"/>
            </a:solidFill>
            <a:ln w="19050" cap="sq">
              <a:solidFill>
                <a:srgbClr val="D7DCEC"/>
              </a:solidFill>
              <a:prstDash val="solid"/>
              <a:miter/>
            </a:ln>
          </p:spPr>
        </p:sp>
      </p:grpSp>
      <p:grpSp>
        <p:nvGrpSpPr>
          <p:cNvPr name="Group 26" id="26"/>
          <p:cNvGrpSpPr/>
          <p:nvPr/>
        </p:nvGrpSpPr>
        <p:grpSpPr>
          <a:xfrm rot="0">
            <a:off x="6542532" y="5143500"/>
            <a:ext cx="5143500" cy="521208"/>
            <a:chOff x="0" y="0"/>
            <a:chExt cx="6858000" cy="694944"/>
          </a:xfrm>
        </p:grpSpPr>
        <p:sp>
          <p:nvSpPr>
            <p:cNvPr name="Freeform 27" id="27"/>
            <p:cNvSpPr/>
            <p:nvPr/>
          </p:nvSpPr>
          <p:spPr>
            <a:xfrm flipH="false" flipV="false" rot="0">
              <a:off x="0" y="0"/>
              <a:ext cx="6858000" cy="694944"/>
            </a:xfrm>
            <a:custGeom>
              <a:avLst/>
              <a:gdLst/>
              <a:ahLst/>
              <a:cxnLst/>
              <a:rect r="r" b="b" t="t" l="l"/>
              <a:pathLst>
                <a:path h="694944" w="6858000">
                  <a:moveTo>
                    <a:pt x="0" y="0"/>
                  </a:moveTo>
                  <a:lnTo>
                    <a:pt x="6858000" y="0"/>
                  </a:lnTo>
                  <a:lnTo>
                    <a:pt x="6858000" y="694944"/>
                  </a:lnTo>
                  <a:lnTo>
                    <a:pt x="0" y="694944"/>
                  </a:lnTo>
                  <a:close/>
                </a:path>
              </a:pathLst>
            </a:custGeom>
            <a:blipFill>
              <a:blip r:embed="rId2">
                <a:alphaModFix amt="0"/>
              </a:blip>
              <a:stretch>
                <a:fillRect l="0" t="-142286" r="0" b="-142286"/>
              </a:stretch>
            </a:blipFill>
          </p:spPr>
        </p:sp>
        <p:sp>
          <p:nvSpPr>
            <p:cNvPr name="TextBox 28" id="28"/>
            <p:cNvSpPr txBox="true"/>
            <p:nvPr/>
          </p:nvSpPr>
          <p:spPr>
            <a:xfrm>
              <a:off x="0" y="-38100"/>
              <a:ext cx="6858000" cy="733044"/>
            </a:xfrm>
            <a:prstGeom prst="rect">
              <a:avLst/>
            </a:prstGeom>
          </p:spPr>
          <p:txBody>
            <a:bodyPr anchor="ctr" rtlCol="false" tIns="0" lIns="0" bIns="0" rIns="0"/>
            <a:lstStyle/>
            <a:p>
              <a:pPr algn="ctr">
                <a:lnSpc>
                  <a:spcPts val="2430"/>
                </a:lnSpc>
              </a:pPr>
              <a:r>
                <a:rPr lang="en-US" sz="2025">
                  <a:solidFill>
                    <a:srgbClr val="6B7280"/>
                  </a:solidFill>
                  <a:latin typeface="Calibri (MS)"/>
                  <a:ea typeface="Calibri (MS)"/>
                  <a:cs typeface="Calibri (MS)"/>
                  <a:sym typeface="Calibri (MS)"/>
                </a:rPr>
                <a:t>Identify</a:t>
              </a:r>
            </a:p>
          </p:txBody>
        </p:sp>
      </p:grpSp>
      <p:grpSp>
        <p:nvGrpSpPr>
          <p:cNvPr name="Group 29" id="29"/>
          <p:cNvGrpSpPr/>
          <p:nvPr/>
        </p:nvGrpSpPr>
        <p:grpSpPr>
          <a:xfrm rot="0">
            <a:off x="6542532" y="5513832"/>
            <a:ext cx="5143500" cy="329184"/>
            <a:chOff x="0" y="0"/>
            <a:chExt cx="6858000" cy="438912"/>
          </a:xfrm>
        </p:grpSpPr>
        <p:sp>
          <p:nvSpPr>
            <p:cNvPr name="Freeform 30" id="30"/>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31" id="31"/>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9AA3B8"/>
                  </a:solidFill>
                  <a:latin typeface="Arimo"/>
                  <a:ea typeface="Arimo"/>
                  <a:cs typeface="Arimo"/>
                  <a:sym typeface="Arimo"/>
                </a:rPr>
                <a:t>ID</a:t>
              </a:r>
            </a:p>
          </p:txBody>
        </p:sp>
      </p:grpSp>
      <p:grpSp>
        <p:nvGrpSpPr>
          <p:cNvPr name="Group 32" id="32"/>
          <p:cNvGrpSpPr/>
          <p:nvPr/>
        </p:nvGrpSpPr>
        <p:grpSpPr>
          <a:xfrm rot="0">
            <a:off x="12115419" y="5065395"/>
            <a:ext cx="5162550" cy="842010"/>
            <a:chOff x="0" y="0"/>
            <a:chExt cx="6883400" cy="1122680"/>
          </a:xfrm>
        </p:grpSpPr>
        <p:sp>
          <p:nvSpPr>
            <p:cNvPr name="Freeform 33" id="33"/>
            <p:cNvSpPr/>
            <p:nvPr/>
          </p:nvSpPr>
          <p:spPr>
            <a:xfrm flipH="false" flipV="false" rot="0">
              <a:off x="0" y="0"/>
              <a:ext cx="6883400" cy="1122680"/>
            </a:xfrm>
            <a:custGeom>
              <a:avLst/>
              <a:gdLst/>
              <a:ahLst/>
              <a:cxnLst/>
              <a:rect r="r" b="b" t="t" l="l"/>
              <a:pathLst>
                <a:path h="1122680" w="6883400">
                  <a:moveTo>
                    <a:pt x="0" y="168402"/>
                  </a:moveTo>
                  <a:cubicBezTo>
                    <a:pt x="0" y="75438"/>
                    <a:pt x="75438" y="0"/>
                    <a:pt x="168402" y="0"/>
                  </a:cubicBezTo>
                  <a:lnTo>
                    <a:pt x="6714998" y="0"/>
                  </a:lnTo>
                  <a:cubicBezTo>
                    <a:pt x="6807962" y="0"/>
                    <a:pt x="6883400" y="75438"/>
                    <a:pt x="6883400" y="168402"/>
                  </a:cubicBezTo>
                  <a:lnTo>
                    <a:pt x="6883400" y="954278"/>
                  </a:lnTo>
                  <a:cubicBezTo>
                    <a:pt x="6883400" y="1047242"/>
                    <a:pt x="6807962" y="1122680"/>
                    <a:pt x="6714998" y="1122680"/>
                  </a:cubicBezTo>
                  <a:lnTo>
                    <a:pt x="168402" y="1122680"/>
                  </a:lnTo>
                  <a:cubicBezTo>
                    <a:pt x="75438" y="1122680"/>
                    <a:pt x="0" y="1047242"/>
                    <a:pt x="0" y="954278"/>
                  </a:cubicBezTo>
                  <a:close/>
                </a:path>
              </a:pathLst>
            </a:custGeom>
            <a:solidFill>
              <a:srgbClr val="F4F7FC"/>
            </a:solidFill>
            <a:ln w="19050" cap="sq">
              <a:solidFill>
                <a:srgbClr val="D7DCEC"/>
              </a:solidFill>
              <a:prstDash val="solid"/>
              <a:miter/>
            </a:ln>
          </p:spPr>
        </p:sp>
      </p:grpSp>
      <p:grpSp>
        <p:nvGrpSpPr>
          <p:cNvPr name="Group 34" id="34"/>
          <p:cNvGrpSpPr/>
          <p:nvPr/>
        </p:nvGrpSpPr>
        <p:grpSpPr>
          <a:xfrm rot="0">
            <a:off x="12124944" y="5143500"/>
            <a:ext cx="5143500" cy="521208"/>
            <a:chOff x="0" y="0"/>
            <a:chExt cx="6858000" cy="694944"/>
          </a:xfrm>
        </p:grpSpPr>
        <p:sp>
          <p:nvSpPr>
            <p:cNvPr name="Freeform 35" id="35"/>
            <p:cNvSpPr/>
            <p:nvPr/>
          </p:nvSpPr>
          <p:spPr>
            <a:xfrm flipH="false" flipV="false" rot="0">
              <a:off x="0" y="0"/>
              <a:ext cx="6858000" cy="694944"/>
            </a:xfrm>
            <a:custGeom>
              <a:avLst/>
              <a:gdLst/>
              <a:ahLst/>
              <a:cxnLst/>
              <a:rect r="r" b="b" t="t" l="l"/>
              <a:pathLst>
                <a:path h="694944" w="6858000">
                  <a:moveTo>
                    <a:pt x="0" y="0"/>
                  </a:moveTo>
                  <a:lnTo>
                    <a:pt x="6858000" y="0"/>
                  </a:lnTo>
                  <a:lnTo>
                    <a:pt x="6858000" y="694944"/>
                  </a:lnTo>
                  <a:lnTo>
                    <a:pt x="0" y="694944"/>
                  </a:lnTo>
                  <a:close/>
                </a:path>
              </a:pathLst>
            </a:custGeom>
            <a:blipFill>
              <a:blip r:embed="rId2">
                <a:alphaModFix amt="0"/>
              </a:blip>
              <a:stretch>
                <a:fillRect l="0" t="-142286" r="0" b="-142286"/>
              </a:stretch>
            </a:blipFill>
          </p:spPr>
        </p:sp>
        <p:sp>
          <p:nvSpPr>
            <p:cNvPr name="TextBox 36" id="36"/>
            <p:cNvSpPr txBox="true"/>
            <p:nvPr/>
          </p:nvSpPr>
          <p:spPr>
            <a:xfrm>
              <a:off x="0" y="-38100"/>
              <a:ext cx="6858000" cy="733044"/>
            </a:xfrm>
            <a:prstGeom prst="rect">
              <a:avLst/>
            </a:prstGeom>
          </p:spPr>
          <p:txBody>
            <a:bodyPr anchor="ctr" rtlCol="false" tIns="0" lIns="0" bIns="0" rIns="0"/>
            <a:lstStyle/>
            <a:p>
              <a:pPr algn="ctr">
                <a:lnSpc>
                  <a:spcPts val="2430"/>
                </a:lnSpc>
              </a:pPr>
              <a:r>
                <a:rPr lang="en-US" sz="2025">
                  <a:solidFill>
                    <a:srgbClr val="6B7280"/>
                  </a:solidFill>
                  <a:latin typeface="Calibri (MS)"/>
                  <a:ea typeface="Calibri (MS)"/>
                  <a:cs typeface="Calibri (MS)"/>
                  <a:sym typeface="Calibri (MS)"/>
                </a:rPr>
                <a:t>Protect</a:t>
              </a:r>
            </a:p>
          </p:txBody>
        </p:sp>
      </p:grpSp>
      <p:grpSp>
        <p:nvGrpSpPr>
          <p:cNvPr name="Group 37" id="37"/>
          <p:cNvGrpSpPr/>
          <p:nvPr/>
        </p:nvGrpSpPr>
        <p:grpSpPr>
          <a:xfrm rot="0">
            <a:off x="12124944" y="5513832"/>
            <a:ext cx="5143500" cy="329184"/>
            <a:chOff x="0" y="0"/>
            <a:chExt cx="6858000" cy="438912"/>
          </a:xfrm>
        </p:grpSpPr>
        <p:sp>
          <p:nvSpPr>
            <p:cNvPr name="Freeform 38" id="38"/>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39" id="39"/>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9AA3B8"/>
                  </a:solidFill>
                  <a:latin typeface="Arimo"/>
                  <a:ea typeface="Arimo"/>
                  <a:cs typeface="Arimo"/>
                  <a:sym typeface="Arimo"/>
                </a:rPr>
                <a:t>PR</a:t>
              </a:r>
            </a:p>
          </p:txBody>
        </p:sp>
      </p:grpSp>
      <p:grpSp>
        <p:nvGrpSpPr>
          <p:cNvPr name="Group 40" id="40"/>
          <p:cNvGrpSpPr/>
          <p:nvPr/>
        </p:nvGrpSpPr>
        <p:grpSpPr>
          <a:xfrm rot="0">
            <a:off x="950595" y="6135243"/>
            <a:ext cx="5162550" cy="842010"/>
            <a:chOff x="0" y="0"/>
            <a:chExt cx="6883400" cy="1122680"/>
          </a:xfrm>
        </p:grpSpPr>
        <p:sp>
          <p:nvSpPr>
            <p:cNvPr name="Freeform 41" id="41"/>
            <p:cNvSpPr/>
            <p:nvPr/>
          </p:nvSpPr>
          <p:spPr>
            <a:xfrm flipH="false" flipV="false" rot="0">
              <a:off x="0" y="0"/>
              <a:ext cx="6883400" cy="1122680"/>
            </a:xfrm>
            <a:custGeom>
              <a:avLst/>
              <a:gdLst/>
              <a:ahLst/>
              <a:cxnLst/>
              <a:rect r="r" b="b" t="t" l="l"/>
              <a:pathLst>
                <a:path h="1122680" w="6883400">
                  <a:moveTo>
                    <a:pt x="0" y="168402"/>
                  </a:moveTo>
                  <a:cubicBezTo>
                    <a:pt x="0" y="75438"/>
                    <a:pt x="75438" y="0"/>
                    <a:pt x="168402" y="0"/>
                  </a:cubicBezTo>
                  <a:lnTo>
                    <a:pt x="6714998" y="0"/>
                  </a:lnTo>
                  <a:cubicBezTo>
                    <a:pt x="6807962" y="0"/>
                    <a:pt x="6883400" y="75438"/>
                    <a:pt x="6883400" y="168402"/>
                  </a:cubicBezTo>
                  <a:lnTo>
                    <a:pt x="6883400" y="954278"/>
                  </a:lnTo>
                  <a:cubicBezTo>
                    <a:pt x="6883400" y="1047242"/>
                    <a:pt x="6807962" y="1122680"/>
                    <a:pt x="6714998" y="1122680"/>
                  </a:cubicBezTo>
                  <a:lnTo>
                    <a:pt x="168402" y="1122680"/>
                  </a:lnTo>
                  <a:cubicBezTo>
                    <a:pt x="75438" y="1122680"/>
                    <a:pt x="0" y="1047242"/>
                    <a:pt x="0" y="954278"/>
                  </a:cubicBezTo>
                  <a:close/>
                </a:path>
              </a:pathLst>
            </a:custGeom>
            <a:solidFill>
              <a:srgbClr val="F4F7FC"/>
            </a:solidFill>
            <a:ln w="19050" cap="sq">
              <a:solidFill>
                <a:srgbClr val="D7DCEC"/>
              </a:solidFill>
              <a:prstDash val="solid"/>
              <a:miter/>
            </a:ln>
          </p:spPr>
        </p:sp>
      </p:grpSp>
      <p:grpSp>
        <p:nvGrpSpPr>
          <p:cNvPr name="Group 42" id="42"/>
          <p:cNvGrpSpPr/>
          <p:nvPr/>
        </p:nvGrpSpPr>
        <p:grpSpPr>
          <a:xfrm rot="0">
            <a:off x="960120" y="6213348"/>
            <a:ext cx="5143500" cy="521208"/>
            <a:chOff x="0" y="0"/>
            <a:chExt cx="6858000" cy="694944"/>
          </a:xfrm>
        </p:grpSpPr>
        <p:sp>
          <p:nvSpPr>
            <p:cNvPr name="Freeform 43" id="43"/>
            <p:cNvSpPr/>
            <p:nvPr/>
          </p:nvSpPr>
          <p:spPr>
            <a:xfrm flipH="false" flipV="false" rot="0">
              <a:off x="0" y="0"/>
              <a:ext cx="6858000" cy="694944"/>
            </a:xfrm>
            <a:custGeom>
              <a:avLst/>
              <a:gdLst/>
              <a:ahLst/>
              <a:cxnLst/>
              <a:rect r="r" b="b" t="t" l="l"/>
              <a:pathLst>
                <a:path h="694944" w="6858000">
                  <a:moveTo>
                    <a:pt x="0" y="0"/>
                  </a:moveTo>
                  <a:lnTo>
                    <a:pt x="6858000" y="0"/>
                  </a:lnTo>
                  <a:lnTo>
                    <a:pt x="6858000" y="694944"/>
                  </a:lnTo>
                  <a:lnTo>
                    <a:pt x="0" y="694944"/>
                  </a:lnTo>
                  <a:close/>
                </a:path>
              </a:pathLst>
            </a:custGeom>
            <a:blipFill>
              <a:blip r:embed="rId2">
                <a:alphaModFix amt="0"/>
              </a:blip>
              <a:stretch>
                <a:fillRect l="0" t="-142286" r="0" b="-142286"/>
              </a:stretch>
            </a:blipFill>
          </p:spPr>
        </p:sp>
        <p:sp>
          <p:nvSpPr>
            <p:cNvPr name="TextBox 44" id="44"/>
            <p:cNvSpPr txBox="true"/>
            <p:nvPr/>
          </p:nvSpPr>
          <p:spPr>
            <a:xfrm>
              <a:off x="0" y="-38100"/>
              <a:ext cx="6858000" cy="733044"/>
            </a:xfrm>
            <a:prstGeom prst="rect">
              <a:avLst/>
            </a:prstGeom>
          </p:spPr>
          <p:txBody>
            <a:bodyPr anchor="ctr" rtlCol="false" tIns="0" lIns="0" bIns="0" rIns="0"/>
            <a:lstStyle/>
            <a:p>
              <a:pPr algn="ctr">
                <a:lnSpc>
                  <a:spcPts val="2430"/>
                </a:lnSpc>
              </a:pPr>
              <a:r>
                <a:rPr lang="en-US" sz="2025">
                  <a:solidFill>
                    <a:srgbClr val="6B7280"/>
                  </a:solidFill>
                  <a:latin typeface="Calibri (MS)"/>
                  <a:ea typeface="Calibri (MS)"/>
                  <a:cs typeface="Calibri (MS)"/>
                  <a:sym typeface="Calibri (MS)"/>
                </a:rPr>
                <a:t>Detect</a:t>
              </a:r>
            </a:p>
          </p:txBody>
        </p:sp>
      </p:grpSp>
      <p:grpSp>
        <p:nvGrpSpPr>
          <p:cNvPr name="Group 45" id="45"/>
          <p:cNvGrpSpPr/>
          <p:nvPr/>
        </p:nvGrpSpPr>
        <p:grpSpPr>
          <a:xfrm rot="0">
            <a:off x="960120" y="6583680"/>
            <a:ext cx="5143500" cy="329184"/>
            <a:chOff x="0" y="0"/>
            <a:chExt cx="6858000" cy="438912"/>
          </a:xfrm>
        </p:grpSpPr>
        <p:sp>
          <p:nvSpPr>
            <p:cNvPr name="Freeform 46" id="46"/>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47" id="47"/>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9AA3B8"/>
                  </a:solidFill>
                  <a:latin typeface="Arimo"/>
                  <a:ea typeface="Arimo"/>
                  <a:cs typeface="Arimo"/>
                  <a:sym typeface="Arimo"/>
                </a:rPr>
                <a:t>DE</a:t>
              </a:r>
            </a:p>
          </p:txBody>
        </p:sp>
      </p:grpSp>
      <p:grpSp>
        <p:nvGrpSpPr>
          <p:cNvPr name="Group 48" id="48"/>
          <p:cNvGrpSpPr/>
          <p:nvPr/>
        </p:nvGrpSpPr>
        <p:grpSpPr>
          <a:xfrm rot="0">
            <a:off x="6533007" y="6135243"/>
            <a:ext cx="5162550" cy="842010"/>
            <a:chOff x="0" y="0"/>
            <a:chExt cx="6883400" cy="1122680"/>
          </a:xfrm>
        </p:grpSpPr>
        <p:sp>
          <p:nvSpPr>
            <p:cNvPr name="Freeform 49" id="49"/>
            <p:cNvSpPr/>
            <p:nvPr/>
          </p:nvSpPr>
          <p:spPr>
            <a:xfrm flipH="false" flipV="false" rot="0">
              <a:off x="0" y="0"/>
              <a:ext cx="6883400" cy="1122680"/>
            </a:xfrm>
            <a:custGeom>
              <a:avLst/>
              <a:gdLst/>
              <a:ahLst/>
              <a:cxnLst/>
              <a:rect r="r" b="b" t="t" l="l"/>
              <a:pathLst>
                <a:path h="1122680" w="6883400">
                  <a:moveTo>
                    <a:pt x="0" y="168402"/>
                  </a:moveTo>
                  <a:cubicBezTo>
                    <a:pt x="0" y="75438"/>
                    <a:pt x="75438" y="0"/>
                    <a:pt x="168402" y="0"/>
                  </a:cubicBezTo>
                  <a:lnTo>
                    <a:pt x="6714998" y="0"/>
                  </a:lnTo>
                  <a:cubicBezTo>
                    <a:pt x="6807962" y="0"/>
                    <a:pt x="6883400" y="75438"/>
                    <a:pt x="6883400" y="168402"/>
                  </a:cubicBezTo>
                  <a:lnTo>
                    <a:pt x="6883400" y="954278"/>
                  </a:lnTo>
                  <a:cubicBezTo>
                    <a:pt x="6883400" y="1047242"/>
                    <a:pt x="6807962" y="1122680"/>
                    <a:pt x="6714998" y="1122680"/>
                  </a:cubicBezTo>
                  <a:lnTo>
                    <a:pt x="168402" y="1122680"/>
                  </a:lnTo>
                  <a:cubicBezTo>
                    <a:pt x="75438" y="1122680"/>
                    <a:pt x="0" y="1047242"/>
                    <a:pt x="0" y="954278"/>
                  </a:cubicBezTo>
                  <a:close/>
                </a:path>
              </a:pathLst>
            </a:custGeom>
            <a:solidFill>
              <a:srgbClr val="F4F7FC"/>
            </a:solidFill>
            <a:ln w="19050" cap="sq">
              <a:solidFill>
                <a:srgbClr val="D7DCEC"/>
              </a:solidFill>
              <a:prstDash val="solid"/>
              <a:miter/>
            </a:ln>
          </p:spPr>
        </p:sp>
      </p:grpSp>
      <p:grpSp>
        <p:nvGrpSpPr>
          <p:cNvPr name="Group 50" id="50"/>
          <p:cNvGrpSpPr/>
          <p:nvPr/>
        </p:nvGrpSpPr>
        <p:grpSpPr>
          <a:xfrm rot="0">
            <a:off x="6542532" y="6213348"/>
            <a:ext cx="5143500" cy="521208"/>
            <a:chOff x="0" y="0"/>
            <a:chExt cx="6858000" cy="694944"/>
          </a:xfrm>
        </p:grpSpPr>
        <p:sp>
          <p:nvSpPr>
            <p:cNvPr name="Freeform 51" id="51"/>
            <p:cNvSpPr/>
            <p:nvPr/>
          </p:nvSpPr>
          <p:spPr>
            <a:xfrm flipH="false" flipV="false" rot="0">
              <a:off x="0" y="0"/>
              <a:ext cx="6858000" cy="694944"/>
            </a:xfrm>
            <a:custGeom>
              <a:avLst/>
              <a:gdLst/>
              <a:ahLst/>
              <a:cxnLst/>
              <a:rect r="r" b="b" t="t" l="l"/>
              <a:pathLst>
                <a:path h="694944" w="6858000">
                  <a:moveTo>
                    <a:pt x="0" y="0"/>
                  </a:moveTo>
                  <a:lnTo>
                    <a:pt x="6858000" y="0"/>
                  </a:lnTo>
                  <a:lnTo>
                    <a:pt x="6858000" y="694944"/>
                  </a:lnTo>
                  <a:lnTo>
                    <a:pt x="0" y="694944"/>
                  </a:lnTo>
                  <a:close/>
                </a:path>
              </a:pathLst>
            </a:custGeom>
            <a:blipFill>
              <a:blip r:embed="rId2">
                <a:alphaModFix amt="0"/>
              </a:blip>
              <a:stretch>
                <a:fillRect l="0" t="-142286" r="0" b="-142286"/>
              </a:stretch>
            </a:blipFill>
          </p:spPr>
        </p:sp>
        <p:sp>
          <p:nvSpPr>
            <p:cNvPr name="TextBox 52" id="52"/>
            <p:cNvSpPr txBox="true"/>
            <p:nvPr/>
          </p:nvSpPr>
          <p:spPr>
            <a:xfrm>
              <a:off x="0" y="-38100"/>
              <a:ext cx="6858000" cy="733044"/>
            </a:xfrm>
            <a:prstGeom prst="rect">
              <a:avLst/>
            </a:prstGeom>
          </p:spPr>
          <p:txBody>
            <a:bodyPr anchor="ctr" rtlCol="false" tIns="0" lIns="0" bIns="0" rIns="0"/>
            <a:lstStyle/>
            <a:p>
              <a:pPr algn="ctr">
                <a:lnSpc>
                  <a:spcPts val="2430"/>
                </a:lnSpc>
              </a:pPr>
              <a:r>
                <a:rPr lang="en-US" sz="2025">
                  <a:solidFill>
                    <a:srgbClr val="6B7280"/>
                  </a:solidFill>
                  <a:latin typeface="Calibri (MS)"/>
                  <a:ea typeface="Calibri (MS)"/>
                  <a:cs typeface="Calibri (MS)"/>
                  <a:sym typeface="Calibri (MS)"/>
                </a:rPr>
                <a:t>Respond</a:t>
              </a:r>
            </a:p>
          </p:txBody>
        </p:sp>
      </p:grpSp>
      <p:grpSp>
        <p:nvGrpSpPr>
          <p:cNvPr name="Group 53" id="53"/>
          <p:cNvGrpSpPr/>
          <p:nvPr/>
        </p:nvGrpSpPr>
        <p:grpSpPr>
          <a:xfrm rot="0">
            <a:off x="6542532" y="6583680"/>
            <a:ext cx="5143500" cy="329184"/>
            <a:chOff x="0" y="0"/>
            <a:chExt cx="6858000" cy="438912"/>
          </a:xfrm>
        </p:grpSpPr>
        <p:sp>
          <p:nvSpPr>
            <p:cNvPr name="Freeform 54" id="54"/>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55" id="55"/>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9AA3B8"/>
                  </a:solidFill>
                  <a:latin typeface="Arimo"/>
                  <a:ea typeface="Arimo"/>
                  <a:cs typeface="Arimo"/>
                  <a:sym typeface="Arimo"/>
                </a:rPr>
                <a:t>RS</a:t>
              </a:r>
            </a:p>
          </p:txBody>
        </p:sp>
      </p:grpSp>
      <p:grpSp>
        <p:nvGrpSpPr>
          <p:cNvPr name="Group 56" id="56"/>
          <p:cNvGrpSpPr/>
          <p:nvPr/>
        </p:nvGrpSpPr>
        <p:grpSpPr>
          <a:xfrm rot="0">
            <a:off x="12115419" y="6135243"/>
            <a:ext cx="5162550" cy="842010"/>
            <a:chOff x="0" y="0"/>
            <a:chExt cx="6883400" cy="1122680"/>
          </a:xfrm>
        </p:grpSpPr>
        <p:sp>
          <p:nvSpPr>
            <p:cNvPr name="Freeform 57" id="57"/>
            <p:cNvSpPr/>
            <p:nvPr/>
          </p:nvSpPr>
          <p:spPr>
            <a:xfrm flipH="false" flipV="false" rot="0">
              <a:off x="0" y="0"/>
              <a:ext cx="6883400" cy="1122680"/>
            </a:xfrm>
            <a:custGeom>
              <a:avLst/>
              <a:gdLst/>
              <a:ahLst/>
              <a:cxnLst/>
              <a:rect r="r" b="b" t="t" l="l"/>
              <a:pathLst>
                <a:path h="1122680" w="6883400">
                  <a:moveTo>
                    <a:pt x="0" y="168402"/>
                  </a:moveTo>
                  <a:cubicBezTo>
                    <a:pt x="0" y="75438"/>
                    <a:pt x="75438" y="0"/>
                    <a:pt x="168402" y="0"/>
                  </a:cubicBezTo>
                  <a:lnTo>
                    <a:pt x="6714998" y="0"/>
                  </a:lnTo>
                  <a:cubicBezTo>
                    <a:pt x="6807962" y="0"/>
                    <a:pt x="6883400" y="75438"/>
                    <a:pt x="6883400" y="168402"/>
                  </a:cubicBezTo>
                  <a:lnTo>
                    <a:pt x="6883400" y="954278"/>
                  </a:lnTo>
                  <a:cubicBezTo>
                    <a:pt x="6883400" y="1047242"/>
                    <a:pt x="6807962" y="1122680"/>
                    <a:pt x="6714998" y="1122680"/>
                  </a:cubicBezTo>
                  <a:lnTo>
                    <a:pt x="168402" y="1122680"/>
                  </a:lnTo>
                  <a:cubicBezTo>
                    <a:pt x="75438" y="1122680"/>
                    <a:pt x="0" y="1047242"/>
                    <a:pt x="0" y="954278"/>
                  </a:cubicBezTo>
                  <a:close/>
                </a:path>
              </a:pathLst>
            </a:custGeom>
            <a:solidFill>
              <a:srgbClr val="2E9E6B"/>
            </a:solidFill>
            <a:ln w="19050" cap="sq">
              <a:solidFill>
                <a:srgbClr val="2E9E6B"/>
              </a:solidFill>
              <a:prstDash val="solid"/>
              <a:miter/>
            </a:ln>
          </p:spPr>
        </p:sp>
      </p:grpSp>
      <p:grpSp>
        <p:nvGrpSpPr>
          <p:cNvPr name="Group 58" id="58"/>
          <p:cNvGrpSpPr/>
          <p:nvPr/>
        </p:nvGrpSpPr>
        <p:grpSpPr>
          <a:xfrm rot="0">
            <a:off x="12124944" y="6213348"/>
            <a:ext cx="5143500" cy="521208"/>
            <a:chOff x="0" y="0"/>
            <a:chExt cx="6858000" cy="694944"/>
          </a:xfrm>
        </p:grpSpPr>
        <p:sp>
          <p:nvSpPr>
            <p:cNvPr name="Freeform 59" id="59"/>
            <p:cNvSpPr/>
            <p:nvPr/>
          </p:nvSpPr>
          <p:spPr>
            <a:xfrm flipH="false" flipV="false" rot="0">
              <a:off x="0" y="0"/>
              <a:ext cx="6858000" cy="694944"/>
            </a:xfrm>
            <a:custGeom>
              <a:avLst/>
              <a:gdLst/>
              <a:ahLst/>
              <a:cxnLst/>
              <a:rect r="r" b="b" t="t" l="l"/>
              <a:pathLst>
                <a:path h="694944" w="6858000">
                  <a:moveTo>
                    <a:pt x="0" y="0"/>
                  </a:moveTo>
                  <a:lnTo>
                    <a:pt x="6858000" y="0"/>
                  </a:lnTo>
                  <a:lnTo>
                    <a:pt x="6858000" y="694944"/>
                  </a:lnTo>
                  <a:lnTo>
                    <a:pt x="0" y="694944"/>
                  </a:lnTo>
                  <a:close/>
                </a:path>
              </a:pathLst>
            </a:custGeom>
            <a:blipFill>
              <a:blip r:embed="rId2">
                <a:alphaModFix amt="0"/>
              </a:blip>
              <a:stretch>
                <a:fillRect l="0" t="-142286" r="0" b="-142286"/>
              </a:stretch>
            </a:blipFill>
          </p:spPr>
        </p:sp>
        <p:sp>
          <p:nvSpPr>
            <p:cNvPr name="TextBox 60" id="60"/>
            <p:cNvSpPr txBox="true"/>
            <p:nvPr/>
          </p:nvSpPr>
          <p:spPr>
            <a:xfrm>
              <a:off x="0" y="-38100"/>
              <a:ext cx="6858000" cy="733044"/>
            </a:xfrm>
            <a:prstGeom prst="rect">
              <a:avLst/>
            </a:prstGeom>
          </p:spPr>
          <p:txBody>
            <a:bodyPr anchor="ctr" rtlCol="false" tIns="0" lIns="0" bIns="0" rIns="0"/>
            <a:lstStyle/>
            <a:p>
              <a:pPr algn="ctr">
                <a:lnSpc>
                  <a:spcPts val="2430"/>
                </a:lnSpc>
              </a:pPr>
              <a:r>
                <a:rPr lang="en-US" sz="2025" b="true">
                  <a:solidFill>
                    <a:srgbClr val="FFFFFF"/>
                  </a:solidFill>
                  <a:latin typeface="Calibri (MS) Bold"/>
                  <a:ea typeface="Calibri (MS) Bold"/>
                  <a:cs typeface="Calibri (MS) Bold"/>
                  <a:sym typeface="Calibri (MS) Bold"/>
                </a:rPr>
                <a:t>✓  Recover</a:t>
              </a:r>
            </a:p>
          </p:txBody>
        </p:sp>
      </p:grpSp>
      <p:grpSp>
        <p:nvGrpSpPr>
          <p:cNvPr name="Group 61" id="61"/>
          <p:cNvGrpSpPr/>
          <p:nvPr/>
        </p:nvGrpSpPr>
        <p:grpSpPr>
          <a:xfrm rot="0">
            <a:off x="12124944" y="6583680"/>
            <a:ext cx="5143500" cy="329184"/>
            <a:chOff x="0" y="0"/>
            <a:chExt cx="6858000" cy="438912"/>
          </a:xfrm>
        </p:grpSpPr>
        <p:sp>
          <p:nvSpPr>
            <p:cNvPr name="Freeform 62" id="62"/>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63" id="63"/>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FFFFFF"/>
                  </a:solidFill>
                  <a:latin typeface="Arimo"/>
                  <a:ea typeface="Arimo"/>
                  <a:cs typeface="Arimo"/>
                  <a:sym typeface="Arimo"/>
                </a:rPr>
                <a:t>RC</a:t>
              </a:r>
            </a:p>
          </p:txBody>
        </p:sp>
      </p:grpSp>
      <p:grpSp>
        <p:nvGrpSpPr>
          <p:cNvPr name="Group 64" id="64"/>
          <p:cNvGrpSpPr/>
          <p:nvPr/>
        </p:nvGrpSpPr>
        <p:grpSpPr>
          <a:xfrm rot="0">
            <a:off x="950595" y="7328535"/>
            <a:ext cx="16341090" cy="1596390"/>
            <a:chOff x="0" y="0"/>
            <a:chExt cx="21788120" cy="2128520"/>
          </a:xfrm>
        </p:grpSpPr>
        <p:sp>
          <p:nvSpPr>
            <p:cNvPr name="Freeform 65" id="65"/>
            <p:cNvSpPr/>
            <p:nvPr/>
          </p:nvSpPr>
          <p:spPr>
            <a:xfrm flipH="false" flipV="false" rot="0">
              <a:off x="0" y="0"/>
              <a:ext cx="21788120" cy="2128520"/>
            </a:xfrm>
            <a:custGeom>
              <a:avLst/>
              <a:gdLst/>
              <a:ahLst/>
              <a:cxnLst/>
              <a:rect r="r" b="b" t="t" l="l"/>
              <a:pathLst>
                <a:path h="2128520" w="21788120">
                  <a:moveTo>
                    <a:pt x="0" y="185039"/>
                  </a:moveTo>
                  <a:cubicBezTo>
                    <a:pt x="0" y="82931"/>
                    <a:pt x="82931" y="0"/>
                    <a:pt x="185039" y="0"/>
                  </a:cubicBezTo>
                  <a:lnTo>
                    <a:pt x="21603081" y="0"/>
                  </a:lnTo>
                  <a:cubicBezTo>
                    <a:pt x="21705317" y="0"/>
                    <a:pt x="21788120" y="82931"/>
                    <a:pt x="21788120" y="185039"/>
                  </a:cubicBezTo>
                  <a:lnTo>
                    <a:pt x="21788120" y="1943481"/>
                  </a:lnTo>
                  <a:cubicBezTo>
                    <a:pt x="21788120" y="2045716"/>
                    <a:pt x="21705190" y="2128520"/>
                    <a:pt x="21603081" y="2128520"/>
                  </a:cubicBezTo>
                  <a:lnTo>
                    <a:pt x="185039" y="2128520"/>
                  </a:lnTo>
                  <a:cubicBezTo>
                    <a:pt x="82931" y="2128520"/>
                    <a:pt x="0" y="2045589"/>
                    <a:pt x="0" y="1943481"/>
                  </a:cubicBezTo>
                  <a:close/>
                </a:path>
              </a:pathLst>
            </a:custGeom>
            <a:solidFill>
              <a:srgbClr val="FBF9F4"/>
            </a:solidFill>
            <a:ln w="19050" cap="sq">
              <a:solidFill>
                <a:srgbClr val="EFE6D2"/>
              </a:solidFill>
              <a:prstDash val="solid"/>
              <a:miter/>
            </a:ln>
          </p:spPr>
        </p:sp>
      </p:grpSp>
      <p:sp>
        <p:nvSpPr>
          <p:cNvPr name="TextBox 66" id="66"/>
          <p:cNvSpPr txBox="true"/>
          <p:nvPr/>
        </p:nvSpPr>
        <p:spPr>
          <a:xfrm rot="0">
            <a:off x="1463040" y="7494270"/>
            <a:ext cx="15316200" cy="1238250"/>
          </a:xfrm>
          <a:prstGeom prst="rect">
            <a:avLst/>
          </a:prstGeom>
        </p:spPr>
        <p:txBody>
          <a:bodyPr anchor="t" rtlCol="false" tIns="0" lIns="0" bIns="0" rIns="0">
            <a:spAutoFit/>
          </a:bodyPr>
          <a:lstStyle/>
          <a:p>
            <a:pPr algn="l">
              <a:lnSpc>
                <a:spcPts val="2880"/>
              </a:lnSpc>
            </a:pPr>
            <a:r>
              <a:rPr lang="en-US" sz="1875">
                <a:solidFill>
                  <a:srgbClr val="23262F"/>
                </a:solidFill>
                <a:latin typeface="Calibri (MS)"/>
                <a:ea typeface="Calibri (MS)"/>
                <a:cs typeface="Calibri (MS)"/>
                <a:sym typeface="Calibri (MS)"/>
              </a:rPr>
              <a:t>This is about restoring the service residents depend on, using a plan built for exactly this situation. That's Recover.</a:t>
            </a:r>
          </a:p>
        </p:txBody>
      </p:sp>
      <p:grpSp>
        <p:nvGrpSpPr>
          <p:cNvPr name="Group 67" id="67"/>
          <p:cNvGrpSpPr/>
          <p:nvPr/>
        </p:nvGrpSpPr>
        <p:grpSpPr>
          <a:xfrm rot="0">
            <a:off x="685800" y="9710928"/>
            <a:ext cx="10972800" cy="411480"/>
            <a:chOff x="0" y="0"/>
            <a:chExt cx="14630400" cy="548640"/>
          </a:xfrm>
        </p:grpSpPr>
        <p:sp>
          <p:nvSpPr>
            <p:cNvPr name="Freeform 68" id="68"/>
            <p:cNvSpPr/>
            <p:nvPr/>
          </p:nvSpPr>
          <p:spPr>
            <a:xfrm flipH="false" flipV="false" rot="0">
              <a:off x="0" y="0"/>
              <a:ext cx="14630400" cy="548640"/>
            </a:xfrm>
            <a:custGeom>
              <a:avLst/>
              <a:gdLst/>
              <a:ahLst/>
              <a:cxnLst/>
              <a:rect r="r" b="b" t="t" l="l"/>
              <a:pathLst>
                <a:path h="548640" w="14630400">
                  <a:moveTo>
                    <a:pt x="0" y="0"/>
                  </a:moveTo>
                  <a:lnTo>
                    <a:pt x="14630400" y="0"/>
                  </a:lnTo>
                  <a:lnTo>
                    <a:pt x="14630400" y="548640"/>
                  </a:lnTo>
                  <a:lnTo>
                    <a:pt x="0" y="548640"/>
                  </a:lnTo>
                  <a:close/>
                </a:path>
              </a:pathLst>
            </a:custGeom>
            <a:blipFill>
              <a:blip r:embed="rId2">
                <a:alphaModFix amt="0"/>
              </a:blip>
              <a:stretch>
                <a:fillRect l="0" t="-469601" r="0" b="-469601"/>
              </a:stretch>
            </a:blipFill>
          </p:spPr>
        </p:sp>
        <p:sp>
          <p:nvSpPr>
            <p:cNvPr name="TextBox 69" id="69"/>
            <p:cNvSpPr txBox="true"/>
            <p:nvPr/>
          </p:nvSpPr>
          <p:spPr>
            <a:xfrm>
              <a:off x="0" y="-38100"/>
              <a:ext cx="14630400" cy="586740"/>
            </a:xfrm>
            <a:prstGeom prst="rect">
              <a:avLst/>
            </a:prstGeom>
          </p:spPr>
          <p:txBody>
            <a:bodyPr anchor="ctr" rtlCol="false" tIns="0" lIns="0" bIns="0" rIns="0"/>
            <a:lstStyle/>
            <a:p>
              <a:pPr algn="l">
                <a:lnSpc>
                  <a:spcPts val="1800"/>
                </a:lnSpc>
              </a:pPr>
              <a:r>
                <a:rPr lang="en-US" sz="1500">
                  <a:solidFill>
                    <a:srgbClr val="6B7280"/>
                  </a:solidFill>
                  <a:latin typeface="Calibri (MS)"/>
                  <a:ea typeface="Calibri (MS)"/>
                  <a:cs typeface="Calibri (MS)"/>
                  <a:sym typeface="Calibri (MS)"/>
                </a:rPr>
                <a:t>Davao del Norte Provincial Government — Cybersecurity Seminar</a:t>
              </a:r>
            </a:p>
          </p:txBody>
        </p:sp>
      </p:grpSp>
      <p:grpSp>
        <p:nvGrpSpPr>
          <p:cNvPr name="Group 70" id="70"/>
          <p:cNvGrpSpPr/>
          <p:nvPr/>
        </p:nvGrpSpPr>
        <p:grpSpPr>
          <a:xfrm rot="0">
            <a:off x="16911828" y="9710928"/>
            <a:ext cx="685800" cy="411480"/>
            <a:chOff x="0" y="0"/>
            <a:chExt cx="914400" cy="548640"/>
          </a:xfrm>
        </p:grpSpPr>
        <p:sp>
          <p:nvSpPr>
            <p:cNvPr name="Freeform 71" id="71"/>
            <p:cNvSpPr/>
            <p:nvPr/>
          </p:nvSpPr>
          <p:spPr>
            <a:xfrm flipH="false" flipV="false" rot="0">
              <a:off x="0" y="0"/>
              <a:ext cx="914400" cy="548640"/>
            </a:xfrm>
            <a:custGeom>
              <a:avLst/>
              <a:gdLst/>
              <a:ahLst/>
              <a:cxnLst/>
              <a:rect r="r" b="b" t="t" l="l"/>
              <a:pathLst>
                <a:path h="548640" w="914400">
                  <a:moveTo>
                    <a:pt x="0" y="0"/>
                  </a:moveTo>
                  <a:lnTo>
                    <a:pt x="914400" y="0"/>
                  </a:lnTo>
                  <a:lnTo>
                    <a:pt x="914400" y="548640"/>
                  </a:lnTo>
                  <a:lnTo>
                    <a:pt x="0" y="548640"/>
                  </a:lnTo>
                  <a:close/>
                </a:path>
              </a:pathLst>
            </a:custGeom>
            <a:blipFill>
              <a:blip r:embed="rId2">
                <a:alphaModFix amt="0"/>
              </a:blip>
              <a:stretch>
                <a:fillRect l="-26982" t="0" r="-26982" b="0"/>
              </a:stretch>
            </a:blipFill>
          </p:spPr>
        </p:sp>
        <p:sp>
          <p:nvSpPr>
            <p:cNvPr name="TextBox 72" id="72"/>
            <p:cNvSpPr txBox="true"/>
            <p:nvPr/>
          </p:nvSpPr>
          <p:spPr>
            <a:xfrm>
              <a:off x="0" y="-38100"/>
              <a:ext cx="914400" cy="586740"/>
            </a:xfrm>
            <a:prstGeom prst="rect">
              <a:avLst/>
            </a:prstGeom>
          </p:spPr>
          <p:txBody>
            <a:bodyPr anchor="ctr" rtlCol="false" tIns="0" lIns="0" bIns="0" rIns="0"/>
            <a:lstStyle/>
            <a:p>
              <a:pPr algn="r">
                <a:lnSpc>
                  <a:spcPts val="1800"/>
                </a:lnSpc>
              </a:pPr>
              <a:r>
                <a:rPr lang="en-US" sz="1500">
                  <a:solidFill>
                    <a:srgbClr val="6B7280"/>
                  </a:solidFill>
                  <a:latin typeface="Calibri (MS)"/>
                  <a:ea typeface="Calibri (MS)"/>
                  <a:cs typeface="Calibri (MS)"/>
                  <a:sym typeface="Calibri (MS)"/>
                </a:rPr>
                <a:t>46</a:t>
              </a:r>
            </a:p>
          </p:txBody>
        </p:sp>
      </p:grpSp>
    </p:spTree>
  </p:cSld>
  <p:clrMapOvr>
    <a:masterClrMapping/>
  </p:clrMapOvr>
</p:sld>
</file>

<file path=ppt/slides/slide1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60120" y="685800"/>
            <a:ext cx="13716000" cy="411480"/>
            <a:chOff x="0" y="0"/>
            <a:chExt cx="18288000" cy="548640"/>
          </a:xfrm>
        </p:grpSpPr>
        <p:sp>
          <p:nvSpPr>
            <p:cNvPr name="Freeform 3" id="3"/>
            <p:cNvSpPr/>
            <p:nvPr/>
          </p:nvSpPr>
          <p:spPr>
            <a:xfrm flipH="false" flipV="false" rot="0">
              <a:off x="0" y="0"/>
              <a:ext cx="18288000" cy="548640"/>
            </a:xfrm>
            <a:custGeom>
              <a:avLst/>
              <a:gdLst/>
              <a:ahLst/>
              <a:cxnLst/>
              <a:rect r="r" b="b" t="t" l="l"/>
              <a:pathLst>
                <a:path h="548640" w="18288000">
                  <a:moveTo>
                    <a:pt x="0" y="0"/>
                  </a:moveTo>
                  <a:lnTo>
                    <a:pt x="18288000" y="0"/>
                  </a:lnTo>
                  <a:lnTo>
                    <a:pt x="18288000" y="548640"/>
                  </a:lnTo>
                  <a:lnTo>
                    <a:pt x="0" y="548640"/>
                  </a:lnTo>
                  <a:close/>
                </a:path>
              </a:pathLst>
            </a:custGeom>
            <a:blipFill>
              <a:blip r:embed="rId2">
                <a:alphaModFix amt="0"/>
              </a:blip>
              <a:stretch>
                <a:fillRect l="0" t="-599501" r="0" b="-599501"/>
              </a:stretch>
            </a:blipFill>
          </p:spPr>
        </p:sp>
        <p:sp>
          <p:nvSpPr>
            <p:cNvPr name="TextBox 4" id="4"/>
            <p:cNvSpPr txBox="true"/>
            <p:nvPr/>
          </p:nvSpPr>
          <p:spPr>
            <a:xfrm>
              <a:off x="0" y="-38100"/>
              <a:ext cx="18288000" cy="586740"/>
            </a:xfrm>
            <a:prstGeom prst="rect">
              <a:avLst/>
            </a:prstGeom>
          </p:spPr>
          <p:txBody>
            <a:bodyPr anchor="ctr" rtlCol="false" tIns="0" lIns="0" bIns="0" rIns="0"/>
            <a:lstStyle/>
            <a:p>
              <a:pPr algn="l">
                <a:lnSpc>
                  <a:spcPts val="2160"/>
                </a:lnSpc>
              </a:pPr>
              <a:r>
                <a:rPr lang="en-US" b="true" sz="1800" spc="225">
                  <a:solidFill>
                    <a:srgbClr val="00B4D8"/>
                  </a:solidFill>
                  <a:latin typeface="Calibri (MS) Bold"/>
                  <a:ea typeface="Calibri (MS) Bold"/>
                  <a:cs typeface="Calibri (MS) Bold"/>
                  <a:sym typeface="Calibri (MS) Bold"/>
                </a:rPr>
                <a:t>NIST CSF SORT · SCENARIO</a:t>
              </a:r>
            </a:p>
          </p:txBody>
        </p:sp>
      </p:grpSp>
      <p:grpSp>
        <p:nvGrpSpPr>
          <p:cNvPr name="Group 5" id="5"/>
          <p:cNvGrpSpPr/>
          <p:nvPr/>
        </p:nvGrpSpPr>
        <p:grpSpPr>
          <a:xfrm rot="0">
            <a:off x="960120" y="1069848"/>
            <a:ext cx="10972800" cy="822960"/>
            <a:chOff x="0" y="0"/>
            <a:chExt cx="14630400" cy="1097280"/>
          </a:xfrm>
        </p:grpSpPr>
        <p:sp>
          <p:nvSpPr>
            <p:cNvPr name="Freeform 6" id="6"/>
            <p:cNvSpPr/>
            <p:nvPr/>
          </p:nvSpPr>
          <p:spPr>
            <a:xfrm flipH="false" flipV="false" rot="0">
              <a:off x="0" y="0"/>
              <a:ext cx="14630400" cy="1097280"/>
            </a:xfrm>
            <a:custGeom>
              <a:avLst/>
              <a:gdLst/>
              <a:ahLst/>
              <a:cxnLst/>
              <a:rect r="r" b="b" t="t" l="l"/>
              <a:pathLst>
                <a:path h="1097280" w="14630400">
                  <a:moveTo>
                    <a:pt x="0" y="0"/>
                  </a:moveTo>
                  <a:lnTo>
                    <a:pt x="14630400" y="0"/>
                  </a:lnTo>
                  <a:lnTo>
                    <a:pt x="14630400" y="1097280"/>
                  </a:lnTo>
                  <a:lnTo>
                    <a:pt x="0" y="1097280"/>
                  </a:lnTo>
                  <a:close/>
                </a:path>
              </a:pathLst>
            </a:custGeom>
            <a:blipFill>
              <a:blip r:embed="rId2">
                <a:alphaModFix amt="0"/>
              </a:blip>
              <a:stretch>
                <a:fillRect l="0" t="-209800" r="0" b="-209800"/>
              </a:stretch>
            </a:blipFill>
          </p:spPr>
        </p:sp>
        <p:sp>
          <p:nvSpPr>
            <p:cNvPr name="TextBox 7" id="7"/>
            <p:cNvSpPr txBox="true"/>
            <p:nvPr/>
          </p:nvSpPr>
          <p:spPr>
            <a:xfrm>
              <a:off x="0" y="0"/>
              <a:ext cx="14630400" cy="1097280"/>
            </a:xfrm>
            <a:prstGeom prst="rect">
              <a:avLst/>
            </a:prstGeom>
          </p:spPr>
          <p:txBody>
            <a:bodyPr anchor="ctr" rtlCol="false" tIns="0" lIns="0" bIns="0" rIns="0"/>
            <a:lstStyle/>
            <a:p>
              <a:pPr algn="l">
                <a:lnSpc>
                  <a:spcPts val="4680"/>
                </a:lnSpc>
              </a:pPr>
              <a:r>
                <a:rPr lang="en-US" sz="3900" b="true">
                  <a:solidFill>
                    <a:srgbClr val="1E2761"/>
                  </a:solidFill>
                  <a:latin typeface="Cambria Bold"/>
                  <a:ea typeface="Cambria Bold"/>
                  <a:cs typeface="Cambria Bold"/>
                  <a:sym typeface="Cambria Bold"/>
                </a:rPr>
                <a:t>Scenario 19</a:t>
              </a:r>
            </a:p>
          </p:txBody>
        </p:sp>
      </p:grpSp>
      <p:grpSp>
        <p:nvGrpSpPr>
          <p:cNvPr name="Group 8" id="8"/>
          <p:cNvGrpSpPr/>
          <p:nvPr/>
        </p:nvGrpSpPr>
        <p:grpSpPr>
          <a:xfrm rot="0">
            <a:off x="960120" y="1810512"/>
            <a:ext cx="8229600" cy="411480"/>
            <a:chOff x="0" y="0"/>
            <a:chExt cx="10972800" cy="548640"/>
          </a:xfrm>
        </p:grpSpPr>
        <p:sp>
          <p:nvSpPr>
            <p:cNvPr name="Freeform 9" id="9"/>
            <p:cNvSpPr/>
            <p:nvPr/>
          </p:nvSpPr>
          <p:spPr>
            <a:xfrm flipH="false" flipV="false" rot="0">
              <a:off x="0" y="0"/>
              <a:ext cx="10972800" cy="548640"/>
            </a:xfrm>
            <a:custGeom>
              <a:avLst/>
              <a:gdLst/>
              <a:ahLst/>
              <a:cxnLst/>
              <a:rect r="r" b="b" t="t" l="l"/>
              <a:pathLst>
                <a:path h="548640" w="10972800">
                  <a:moveTo>
                    <a:pt x="0" y="0"/>
                  </a:moveTo>
                  <a:lnTo>
                    <a:pt x="10972800" y="0"/>
                  </a:lnTo>
                  <a:lnTo>
                    <a:pt x="10972800" y="548640"/>
                  </a:lnTo>
                  <a:lnTo>
                    <a:pt x="0" y="548640"/>
                  </a:lnTo>
                  <a:close/>
                </a:path>
              </a:pathLst>
            </a:custGeom>
            <a:blipFill>
              <a:blip r:embed="rId2">
                <a:alphaModFix amt="0"/>
              </a:blip>
              <a:stretch>
                <a:fillRect l="0" t="-339700" r="0" b="-339700"/>
              </a:stretch>
            </a:blipFill>
          </p:spPr>
        </p:sp>
        <p:sp>
          <p:nvSpPr>
            <p:cNvPr name="TextBox 10" id="10"/>
            <p:cNvSpPr txBox="true"/>
            <p:nvPr/>
          </p:nvSpPr>
          <p:spPr>
            <a:xfrm>
              <a:off x="0" y="-28575"/>
              <a:ext cx="10972800" cy="577215"/>
            </a:xfrm>
            <a:prstGeom prst="rect">
              <a:avLst/>
            </a:prstGeom>
          </p:spPr>
          <p:txBody>
            <a:bodyPr anchor="ctr" rtlCol="false" tIns="0" lIns="0" bIns="0" rIns="0"/>
            <a:lstStyle/>
            <a:p>
              <a:pPr algn="l">
                <a:lnSpc>
                  <a:spcPts val="1980"/>
                </a:lnSpc>
              </a:pPr>
              <a:r>
                <a:rPr lang="en-US" sz="1650">
                  <a:solidFill>
                    <a:srgbClr val="6B7280"/>
                  </a:solidFill>
                  <a:latin typeface="Calibri (MS)"/>
                  <a:ea typeface="Calibri (MS)"/>
                  <a:cs typeface="Calibri (MS)"/>
                  <a:sym typeface="Calibri (MS)"/>
                </a:rPr>
                <a:t>19 of 20</a:t>
              </a:r>
            </a:p>
          </p:txBody>
        </p:sp>
      </p:grpSp>
      <p:grpSp>
        <p:nvGrpSpPr>
          <p:cNvPr name="Group 11" id="11"/>
          <p:cNvGrpSpPr/>
          <p:nvPr/>
        </p:nvGrpSpPr>
        <p:grpSpPr>
          <a:xfrm rot="0">
            <a:off x="960120" y="2537460"/>
            <a:ext cx="16322040" cy="2811780"/>
            <a:chOff x="0" y="0"/>
            <a:chExt cx="21762720" cy="3749040"/>
          </a:xfrm>
        </p:grpSpPr>
        <p:sp>
          <p:nvSpPr>
            <p:cNvPr name="Freeform 12" id="12"/>
            <p:cNvSpPr/>
            <p:nvPr/>
          </p:nvSpPr>
          <p:spPr>
            <a:xfrm flipH="false" flipV="false" rot="0">
              <a:off x="0" y="0"/>
              <a:ext cx="21762720" cy="3749040"/>
            </a:xfrm>
            <a:custGeom>
              <a:avLst/>
              <a:gdLst/>
              <a:ahLst/>
              <a:cxnLst/>
              <a:rect r="r" b="b" t="t" l="l"/>
              <a:pathLst>
                <a:path h="3749040" w="21762720">
                  <a:moveTo>
                    <a:pt x="0" y="182880"/>
                  </a:moveTo>
                  <a:cubicBezTo>
                    <a:pt x="0" y="81915"/>
                    <a:pt x="81915" y="0"/>
                    <a:pt x="182880" y="0"/>
                  </a:cubicBezTo>
                  <a:lnTo>
                    <a:pt x="21579839" y="0"/>
                  </a:lnTo>
                  <a:cubicBezTo>
                    <a:pt x="21680804" y="0"/>
                    <a:pt x="21762720" y="81915"/>
                    <a:pt x="21762720" y="182880"/>
                  </a:cubicBezTo>
                  <a:lnTo>
                    <a:pt x="21762720" y="3566160"/>
                  </a:lnTo>
                  <a:cubicBezTo>
                    <a:pt x="21762720" y="3667125"/>
                    <a:pt x="21680804" y="3749040"/>
                    <a:pt x="21579839" y="3749040"/>
                  </a:cubicBezTo>
                  <a:lnTo>
                    <a:pt x="182880" y="3749040"/>
                  </a:lnTo>
                  <a:cubicBezTo>
                    <a:pt x="81915" y="3749040"/>
                    <a:pt x="0" y="3667125"/>
                    <a:pt x="0" y="3566160"/>
                  </a:cubicBezTo>
                  <a:close/>
                </a:path>
              </a:pathLst>
            </a:custGeom>
            <a:solidFill>
              <a:srgbClr val="F4F7FC"/>
            </a:solidFill>
          </p:spPr>
        </p:sp>
      </p:grpSp>
      <p:grpSp>
        <p:nvGrpSpPr>
          <p:cNvPr name="Group 13" id="13"/>
          <p:cNvGrpSpPr/>
          <p:nvPr/>
        </p:nvGrpSpPr>
        <p:grpSpPr>
          <a:xfrm rot="0">
            <a:off x="1440180" y="2811780"/>
            <a:ext cx="15361920" cy="2263140"/>
            <a:chOff x="0" y="0"/>
            <a:chExt cx="20482560" cy="3017520"/>
          </a:xfrm>
        </p:grpSpPr>
        <p:sp>
          <p:nvSpPr>
            <p:cNvPr name="Freeform 14" id="14"/>
            <p:cNvSpPr/>
            <p:nvPr/>
          </p:nvSpPr>
          <p:spPr>
            <a:xfrm flipH="false" flipV="false" rot="0">
              <a:off x="0" y="0"/>
              <a:ext cx="20482561" cy="3017520"/>
            </a:xfrm>
            <a:custGeom>
              <a:avLst/>
              <a:gdLst/>
              <a:ahLst/>
              <a:cxnLst/>
              <a:rect r="r" b="b" t="t" l="l"/>
              <a:pathLst>
                <a:path h="3017520" w="20482561">
                  <a:moveTo>
                    <a:pt x="0" y="0"/>
                  </a:moveTo>
                  <a:lnTo>
                    <a:pt x="20482561" y="0"/>
                  </a:lnTo>
                  <a:lnTo>
                    <a:pt x="20482561" y="3017520"/>
                  </a:lnTo>
                  <a:lnTo>
                    <a:pt x="0" y="3017520"/>
                  </a:lnTo>
                  <a:close/>
                </a:path>
              </a:pathLst>
            </a:custGeom>
            <a:blipFill>
              <a:blip r:embed="rId2">
                <a:alphaModFix amt="0"/>
              </a:blip>
              <a:stretch>
                <a:fillRect l="0" t="-82262" r="0" b="-82262"/>
              </a:stretch>
            </a:blipFill>
          </p:spPr>
        </p:sp>
        <p:sp>
          <p:nvSpPr>
            <p:cNvPr name="TextBox 15" id="15"/>
            <p:cNvSpPr txBox="true"/>
            <p:nvPr/>
          </p:nvSpPr>
          <p:spPr>
            <a:xfrm>
              <a:off x="0" y="-104775"/>
              <a:ext cx="20482560" cy="3122295"/>
            </a:xfrm>
            <a:prstGeom prst="rect">
              <a:avLst/>
            </a:prstGeom>
          </p:spPr>
          <p:txBody>
            <a:bodyPr anchor="ctr" rtlCol="false" tIns="0" lIns="0" bIns="0" rIns="0"/>
            <a:lstStyle/>
            <a:p>
              <a:pPr algn="l">
                <a:lnSpc>
                  <a:spcPts val="4147"/>
                </a:lnSpc>
              </a:pPr>
              <a:r>
                <a:rPr lang="en-US" sz="2700" i="true">
                  <a:solidFill>
                    <a:srgbClr val="23262F"/>
                  </a:solidFill>
                  <a:latin typeface="Cambria Italics"/>
                  <a:ea typeface="Cambria Italics"/>
                  <a:cs typeface="Cambria Italics"/>
                  <a:sym typeface="Cambria Italics"/>
                </a:rPr>
                <a:t>"Every department head must sign an annual attestation confirming their staff completed the required security-awareness training."</a:t>
              </a:r>
            </a:p>
          </p:txBody>
        </p:sp>
      </p:grpSp>
      <p:sp>
        <p:nvSpPr>
          <p:cNvPr name="TextBox 16" id="16"/>
          <p:cNvSpPr txBox="true"/>
          <p:nvPr/>
        </p:nvSpPr>
        <p:spPr>
          <a:xfrm rot="0">
            <a:off x="1051560" y="5604510"/>
            <a:ext cx="16139160" cy="1276350"/>
          </a:xfrm>
          <a:prstGeom prst="rect">
            <a:avLst/>
          </a:prstGeom>
        </p:spPr>
        <p:txBody>
          <a:bodyPr anchor="t" rtlCol="false" tIns="0" lIns="0" bIns="0" rIns="0">
            <a:spAutoFit/>
          </a:bodyPr>
          <a:lstStyle/>
          <a:p>
            <a:pPr algn="ctr">
              <a:lnSpc>
                <a:spcPts val="3402"/>
              </a:lnSpc>
            </a:pPr>
            <a:r>
              <a:rPr lang="en-US" sz="2100" i="true">
                <a:solidFill>
                  <a:srgbClr val="6B7280"/>
                </a:solidFill>
                <a:latin typeface="Calibri (MS) Italics"/>
                <a:ea typeface="Calibri (MS) Italics"/>
                <a:cs typeface="Calibri (MS) Italics"/>
                <a:sym typeface="Calibri (MS) Italics"/>
              </a:rPr>
              <a:t>Which Function does this belong to — Govern, Identify, Protect, Detect, Respond, or Recover?</a:t>
            </a:r>
          </a:p>
          <a:p>
            <a:pPr algn="ctr">
              <a:lnSpc>
                <a:spcPts val="3402"/>
              </a:lnSpc>
            </a:pPr>
            <a:r>
              <a:rPr lang="en-US" sz="2100" i="true">
                <a:solidFill>
                  <a:srgbClr val="6B7280"/>
                </a:solidFill>
                <a:latin typeface="Calibri (MS) Italics"/>
                <a:ea typeface="Calibri (MS) Italics"/>
                <a:cs typeface="Calibri (MS) Italics"/>
                <a:sym typeface="Calibri (MS) Italics"/>
              </a:rPr>
              <a:t>Some belong to more than one. Discuss, then we'll reveal the answer.</a:t>
            </a:r>
          </a:p>
        </p:txBody>
      </p:sp>
      <p:grpSp>
        <p:nvGrpSpPr>
          <p:cNvPr name="Group 17" id="17"/>
          <p:cNvGrpSpPr/>
          <p:nvPr/>
        </p:nvGrpSpPr>
        <p:grpSpPr>
          <a:xfrm rot="0">
            <a:off x="950595" y="7122795"/>
            <a:ext cx="5162550" cy="910590"/>
            <a:chOff x="0" y="0"/>
            <a:chExt cx="6883400" cy="1214120"/>
          </a:xfrm>
        </p:grpSpPr>
        <p:sp>
          <p:nvSpPr>
            <p:cNvPr name="Freeform 18" id="18"/>
            <p:cNvSpPr/>
            <p:nvPr/>
          </p:nvSpPr>
          <p:spPr>
            <a:xfrm flipH="false" flipV="false" rot="0">
              <a:off x="0" y="0"/>
              <a:ext cx="6883400" cy="1214120"/>
            </a:xfrm>
            <a:custGeom>
              <a:avLst/>
              <a:gdLst/>
              <a:ahLst/>
              <a:cxnLst/>
              <a:rect r="r" b="b" t="t" l="l"/>
              <a:pathLst>
                <a:path h="1214120" w="6883400">
                  <a:moveTo>
                    <a:pt x="0" y="168148"/>
                  </a:moveTo>
                  <a:cubicBezTo>
                    <a:pt x="0" y="75311"/>
                    <a:pt x="75311" y="0"/>
                    <a:pt x="168148" y="0"/>
                  </a:cubicBezTo>
                  <a:lnTo>
                    <a:pt x="6715252" y="0"/>
                  </a:lnTo>
                  <a:cubicBezTo>
                    <a:pt x="6808089" y="0"/>
                    <a:pt x="6883400" y="75311"/>
                    <a:pt x="6883400" y="168148"/>
                  </a:cubicBezTo>
                  <a:lnTo>
                    <a:pt x="6883400" y="1045972"/>
                  </a:lnTo>
                  <a:cubicBezTo>
                    <a:pt x="6883400" y="1138809"/>
                    <a:pt x="6808089" y="1214120"/>
                    <a:pt x="6715252" y="1214120"/>
                  </a:cubicBezTo>
                  <a:lnTo>
                    <a:pt x="168148" y="1214120"/>
                  </a:lnTo>
                  <a:cubicBezTo>
                    <a:pt x="75311" y="1214120"/>
                    <a:pt x="0" y="1138809"/>
                    <a:pt x="0" y="1045972"/>
                  </a:cubicBezTo>
                  <a:close/>
                </a:path>
              </a:pathLst>
            </a:custGeom>
            <a:solidFill>
              <a:srgbClr val="F4F7FC"/>
            </a:solidFill>
            <a:ln w="19050" cap="sq">
              <a:solidFill>
                <a:srgbClr val="D7DCEC"/>
              </a:solidFill>
              <a:prstDash val="solid"/>
              <a:miter/>
            </a:ln>
          </p:spPr>
        </p:sp>
      </p:grpSp>
      <p:grpSp>
        <p:nvGrpSpPr>
          <p:cNvPr name="Group 19" id="19"/>
          <p:cNvGrpSpPr/>
          <p:nvPr/>
        </p:nvGrpSpPr>
        <p:grpSpPr>
          <a:xfrm rot="0">
            <a:off x="960120" y="7200900"/>
            <a:ext cx="5143500" cy="589788"/>
            <a:chOff x="0" y="0"/>
            <a:chExt cx="6858000" cy="786384"/>
          </a:xfrm>
        </p:grpSpPr>
        <p:sp>
          <p:nvSpPr>
            <p:cNvPr name="Freeform 20" id="20"/>
            <p:cNvSpPr/>
            <p:nvPr/>
          </p:nvSpPr>
          <p:spPr>
            <a:xfrm flipH="false" flipV="false" rot="0">
              <a:off x="0" y="0"/>
              <a:ext cx="6858000" cy="786384"/>
            </a:xfrm>
            <a:custGeom>
              <a:avLst/>
              <a:gdLst/>
              <a:ahLst/>
              <a:cxnLst/>
              <a:rect r="r" b="b" t="t" l="l"/>
              <a:pathLst>
                <a:path h="786384" w="6858000">
                  <a:moveTo>
                    <a:pt x="0" y="0"/>
                  </a:moveTo>
                  <a:lnTo>
                    <a:pt x="6858000" y="0"/>
                  </a:lnTo>
                  <a:lnTo>
                    <a:pt x="6858000" y="786384"/>
                  </a:lnTo>
                  <a:lnTo>
                    <a:pt x="0" y="786384"/>
                  </a:lnTo>
                  <a:close/>
                </a:path>
              </a:pathLst>
            </a:custGeom>
            <a:blipFill>
              <a:blip r:embed="rId2">
                <a:alphaModFix amt="0"/>
              </a:blip>
              <a:stretch>
                <a:fillRect l="0" t="-119927" r="0" b="-119927"/>
              </a:stretch>
            </a:blipFill>
          </p:spPr>
        </p:sp>
        <p:sp>
          <p:nvSpPr>
            <p:cNvPr name="TextBox 21" id="21"/>
            <p:cNvSpPr txBox="true"/>
            <p:nvPr/>
          </p:nvSpPr>
          <p:spPr>
            <a:xfrm>
              <a:off x="0" y="-38100"/>
              <a:ext cx="6858000" cy="824484"/>
            </a:xfrm>
            <a:prstGeom prst="rect">
              <a:avLst/>
            </a:prstGeom>
          </p:spPr>
          <p:txBody>
            <a:bodyPr anchor="ctr" rtlCol="false" tIns="0" lIns="0" bIns="0" rIns="0"/>
            <a:lstStyle/>
            <a:p>
              <a:pPr algn="ctr">
                <a:lnSpc>
                  <a:spcPts val="2430"/>
                </a:lnSpc>
              </a:pPr>
              <a:r>
                <a:rPr lang="en-US" sz="2025">
                  <a:solidFill>
                    <a:srgbClr val="6B7280"/>
                  </a:solidFill>
                  <a:latin typeface="Calibri (MS)"/>
                  <a:ea typeface="Calibri (MS)"/>
                  <a:cs typeface="Calibri (MS)"/>
                  <a:sym typeface="Calibri (MS)"/>
                </a:rPr>
                <a:t>Govern</a:t>
              </a:r>
            </a:p>
          </p:txBody>
        </p:sp>
      </p:grpSp>
      <p:grpSp>
        <p:nvGrpSpPr>
          <p:cNvPr name="Group 22" id="22"/>
          <p:cNvGrpSpPr/>
          <p:nvPr/>
        </p:nvGrpSpPr>
        <p:grpSpPr>
          <a:xfrm rot="0">
            <a:off x="960120" y="7639812"/>
            <a:ext cx="5143500" cy="329184"/>
            <a:chOff x="0" y="0"/>
            <a:chExt cx="6858000" cy="438912"/>
          </a:xfrm>
        </p:grpSpPr>
        <p:sp>
          <p:nvSpPr>
            <p:cNvPr name="Freeform 23" id="23"/>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24" id="24"/>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9AA3B8"/>
                  </a:solidFill>
                  <a:latin typeface="Arimo"/>
                  <a:ea typeface="Arimo"/>
                  <a:cs typeface="Arimo"/>
                  <a:sym typeface="Arimo"/>
                </a:rPr>
                <a:t>GV</a:t>
              </a:r>
            </a:p>
          </p:txBody>
        </p:sp>
      </p:grpSp>
      <p:grpSp>
        <p:nvGrpSpPr>
          <p:cNvPr name="Group 25" id="25"/>
          <p:cNvGrpSpPr/>
          <p:nvPr/>
        </p:nvGrpSpPr>
        <p:grpSpPr>
          <a:xfrm rot="0">
            <a:off x="6533007" y="7122795"/>
            <a:ext cx="5162550" cy="910590"/>
            <a:chOff x="0" y="0"/>
            <a:chExt cx="6883400" cy="1214120"/>
          </a:xfrm>
        </p:grpSpPr>
        <p:sp>
          <p:nvSpPr>
            <p:cNvPr name="Freeform 26" id="26"/>
            <p:cNvSpPr/>
            <p:nvPr/>
          </p:nvSpPr>
          <p:spPr>
            <a:xfrm flipH="false" flipV="false" rot="0">
              <a:off x="0" y="0"/>
              <a:ext cx="6883400" cy="1214120"/>
            </a:xfrm>
            <a:custGeom>
              <a:avLst/>
              <a:gdLst/>
              <a:ahLst/>
              <a:cxnLst/>
              <a:rect r="r" b="b" t="t" l="l"/>
              <a:pathLst>
                <a:path h="1214120" w="6883400">
                  <a:moveTo>
                    <a:pt x="0" y="168148"/>
                  </a:moveTo>
                  <a:cubicBezTo>
                    <a:pt x="0" y="75311"/>
                    <a:pt x="75311" y="0"/>
                    <a:pt x="168148" y="0"/>
                  </a:cubicBezTo>
                  <a:lnTo>
                    <a:pt x="6715252" y="0"/>
                  </a:lnTo>
                  <a:cubicBezTo>
                    <a:pt x="6808089" y="0"/>
                    <a:pt x="6883400" y="75311"/>
                    <a:pt x="6883400" y="168148"/>
                  </a:cubicBezTo>
                  <a:lnTo>
                    <a:pt x="6883400" y="1045972"/>
                  </a:lnTo>
                  <a:cubicBezTo>
                    <a:pt x="6883400" y="1138809"/>
                    <a:pt x="6808089" y="1214120"/>
                    <a:pt x="6715252" y="1214120"/>
                  </a:cubicBezTo>
                  <a:lnTo>
                    <a:pt x="168148" y="1214120"/>
                  </a:lnTo>
                  <a:cubicBezTo>
                    <a:pt x="75311" y="1214120"/>
                    <a:pt x="0" y="1138809"/>
                    <a:pt x="0" y="1045972"/>
                  </a:cubicBezTo>
                  <a:close/>
                </a:path>
              </a:pathLst>
            </a:custGeom>
            <a:solidFill>
              <a:srgbClr val="F4F7FC"/>
            </a:solidFill>
            <a:ln w="19050" cap="sq">
              <a:solidFill>
                <a:srgbClr val="D7DCEC"/>
              </a:solidFill>
              <a:prstDash val="solid"/>
              <a:miter/>
            </a:ln>
          </p:spPr>
        </p:sp>
      </p:grpSp>
      <p:grpSp>
        <p:nvGrpSpPr>
          <p:cNvPr name="Group 27" id="27"/>
          <p:cNvGrpSpPr/>
          <p:nvPr/>
        </p:nvGrpSpPr>
        <p:grpSpPr>
          <a:xfrm rot="0">
            <a:off x="6542532" y="7200900"/>
            <a:ext cx="5143500" cy="589788"/>
            <a:chOff x="0" y="0"/>
            <a:chExt cx="6858000" cy="786384"/>
          </a:xfrm>
        </p:grpSpPr>
        <p:sp>
          <p:nvSpPr>
            <p:cNvPr name="Freeform 28" id="28"/>
            <p:cNvSpPr/>
            <p:nvPr/>
          </p:nvSpPr>
          <p:spPr>
            <a:xfrm flipH="false" flipV="false" rot="0">
              <a:off x="0" y="0"/>
              <a:ext cx="6858000" cy="786384"/>
            </a:xfrm>
            <a:custGeom>
              <a:avLst/>
              <a:gdLst/>
              <a:ahLst/>
              <a:cxnLst/>
              <a:rect r="r" b="b" t="t" l="l"/>
              <a:pathLst>
                <a:path h="786384" w="6858000">
                  <a:moveTo>
                    <a:pt x="0" y="0"/>
                  </a:moveTo>
                  <a:lnTo>
                    <a:pt x="6858000" y="0"/>
                  </a:lnTo>
                  <a:lnTo>
                    <a:pt x="6858000" y="786384"/>
                  </a:lnTo>
                  <a:lnTo>
                    <a:pt x="0" y="786384"/>
                  </a:lnTo>
                  <a:close/>
                </a:path>
              </a:pathLst>
            </a:custGeom>
            <a:blipFill>
              <a:blip r:embed="rId2">
                <a:alphaModFix amt="0"/>
              </a:blip>
              <a:stretch>
                <a:fillRect l="0" t="-119927" r="0" b="-119927"/>
              </a:stretch>
            </a:blipFill>
          </p:spPr>
        </p:sp>
        <p:sp>
          <p:nvSpPr>
            <p:cNvPr name="TextBox 29" id="29"/>
            <p:cNvSpPr txBox="true"/>
            <p:nvPr/>
          </p:nvSpPr>
          <p:spPr>
            <a:xfrm>
              <a:off x="0" y="-38100"/>
              <a:ext cx="6858000" cy="824484"/>
            </a:xfrm>
            <a:prstGeom prst="rect">
              <a:avLst/>
            </a:prstGeom>
          </p:spPr>
          <p:txBody>
            <a:bodyPr anchor="ctr" rtlCol="false" tIns="0" lIns="0" bIns="0" rIns="0"/>
            <a:lstStyle/>
            <a:p>
              <a:pPr algn="ctr">
                <a:lnSpc>
                  <a:spcPts val="2430"/>
                </a:lnSpc>
              </a:pPr>
              <a:r>
                <a:rPr lang="en-US" sz="2025">
                  <a:solidFill>
                    <a:srgbClr val="6B7280"/>
                  </a:solidFill>
                  <a:latin typeface="Calibri (MS)"/>
                  <a:ea typeface="Calibri (MS)"/>
                  <a:cs typeface="Calibri (MS)"/>
                  <a:sym typeface="Calibri (MS)"/>
                </a:rPr>
                <a:t>Identify</a:t>
              </a:r>
            </a:p>
          </p:txBody>
        </p:sp>
      </p:grpSp>
      <p:grpSp>
        <p:nvGrpSpPr>
          <p:cNvPr name="Group 30" id="30"/>
          <p:cNvGrpSpPr/>
          <p:nvPr/>
        </p:nvGrpSpPr>
        <p:grpSpPr>
          <a:xfrm rot="0">
            <a:off x="6542532" y="7639812"/>
            <a:ext cx="5143500" cy="329184"/>
            <a:chOff x="0" y="0"/>
            <a:chExt cx="6858000" cy="438912"/>
          </a:xfrm>
        </p:grpSpPr>
        <p:sp>
          <p:nvSpPr>
            <p:cNvPr name="Freeform 31" id="31"/>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32" id="32"/>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9AA3B8"/>
                  </a:solidFill>
                  <a:latin typeface="Arimo"/>
                  <a:ea typeface="Arimo"/>
                  <a:cs typeface="Arimo"/>
                  <a:sym typeface="Arimo"/>
                </a:rPr>
                <a:t>ID</a:t>
              </a:r>
            </a:p>
          </p:txBody>
        </p:sp>
      </p:grpSp>
      <p:grpSp>
        <p:nvGrpSpPr>
          <p:cNvPr name="Group 33" id="33"/>
          <p:cNvGrpSpPr/>
          <p:nvPr/>
        </p:nvGrpSpPr>
        <p:grpSpPr>
          <a:xfrm rot="0">
            <a:off x="12115419" y="7122795"/>
            <a:ext cx="5162550" cy="910590"/>
            <a:chOff x="0" y="0"/>
            <a:chExt cx="6883400" cy="1214120"/>
          </a:xfrm>
        </p:grpSpPr>
        <p:sp>
          <p:nvSpPr>
            <p:cNvPr name="Freeform 34" id="34"/>
            <p:cNvSpPr/>
            <p:nvPr/>
          </p:nvSpPr>
          <p:spPr>
            <a:xfrm flipH="false" flipV="false" rot="0">
              <a:off x="0" y="0"/>
              <a:ext cx="6883400" cy="1214120"/>
            </a:xfrm>
            <a:custGeom>
              <a:avLst/>
              <a:gdLst/>
              <a:ahLst/>
              <a:cxnLst/>
              <a:rect r="r" b="b" t="t" l="l"/>
              <a:pathLst>
                <a:path h="1214120" w="6883400">
                  <a:moveTo>
                    <a:pt x="0" y="168148"/>
                  </a:moveTo>
                  <a:cubicBezTo>
                    <a:pt x="0" y="75311"/>
                    <a:pt x="75311" y="0"/>
                    <a:pt x="168148" y="0"/>
                  </a:cubicBezTo>
                  <a:lnTo>
                    <a:pt x="6715252" y="0"/>
                  </a:lnTo>
                  <a:cubicBezTo>
                    <a:pt x="6808089" y="0"/>
                    <a:pt x="6883400" y="75311"/>
                    <a:pt x="6883400" y="168148"/>
                  </a:cubicBezTo>
                  <a:lnTo>
                    <a:pt x="6883400" y="1045972"/>
                  </a:lnTo>
                  <a:cubicBezTo>
                    <a:pt x="6883400" y="1138809"/>
                    <a:pt x="6808089" y="1214120"/>
                    <a:pt x="6715252" y="1214120"/>
                  </a:cubicBezTo>
                  <a:lnTo>
                    <a:pt x="168148" y="1214120"/>
                  </a:lnTo>
                  <a:cubicBezTo>
                    <a:pt x="75311" y="1214120"/>
                    <a:pt x="0" y="1138809"/>
                    <a:pt x="0" y="1045972"/>
                  </a:cubicBezTo>
                  <a:close/>
                </a:path>
              </a:pathLst>
            </a:custGeom>
            <a:solidFill>
              <a:srgbClr val="F4F7FC"/>
            </a:solidFill>
            <a:ln w="19050" cap="sq">
              <a:solidFill>
                <a:srgbClr val="D7DCEC"/>
              </a:solidFill>
              <a:prstDash val="solid"/>
              <a:miter/>
            </a:ln>
          </p:spPr>
        </p:sp>
      </p:grpSp>
      <p:grpSp>
        <p:nvGrpSpPr>
          <p:cNvPr name="Group 35" id="35"/>
          <p:cNvGrpSpPr/>
          <p:nvPr/>
        </p:nvGrpSpPr>
        <p:grpSpPr>
          <a:xfrm rot="0">
            <a:off x="12124944" y="7200900"/>
            <a:ext cx="5143500" cy="589788"/>
            <a:chOff x="0" y="0"/>
            <a:chExt cx="6858000" cy="786384"/>
          </a:xfrm>
        </p:grpSpPr>
        <p:sp>
          <p:nvSpPr>
            <p:cNvPr name="Freeform 36" id="36"/>
            <p:cNvSpPr/>
            <p:nvPr/>
          </p:nvSpPr>
          <p:spPr>
            <a:xfrm flipH="false" flipV="false" rot="0">
              <a:off x="0" y="0"/>
              <a:ext cx="6858000" cy="786384"/>
            </a:xfrm>
            <a:custGeom>
              <a:avLst/>
              <a:gdLst/>
              <a:ahLst/>
              <a:cxnLst/>
              <a:rect r="r" b="b" t="t" l="l"/>
              <a:pathLst>
                <a:path h="786384" w="6858000">
                  <a:moveTo>
                    <a:pt x="0" y="0"/>
                  </a:moveTo>
                  <a:lnTo>
                    <a:pt x="6858000" y="0"/>
                  </a:lnTo>
                  <a:lnTo>
                    <a:pt x="6858000" y="786384"/>
                  </a:lnTo>
                  <a:lnTo>
                    <a:pt x="0" y="786384"/>
                  </a:lnTo>
                  <a:close/>
                </a:path>
              </a:pathLst>
            </a:custGeom>
            <a:blipFill>
              <a:blip r:embed="rId2">
                <a:alphaModFix amt="0"/>
              </a:blip>
              <a:stretch>
                <a:fillRect l="0" t="-119927" r="0" b="-119927"/>
              </a:stretch>
            </a:blipFill>
          </p:spPr>
        </p:sp>
        <p:sp>
          <p:nvSpPr>
            <p:cNvPr name="TextBox 37" id="37"/>
            <p:cNvSpPr txBox="true"/>
            <p:nvPr/>
          </p:nvSpPr>
          <p:spPr>
            <a:xfrm>
              <a:off x="0" y="-38100"/>
              <a:ext cx="6858000" cy="824484"/>
            </a:xfrm>
            <a:prstGeom prst="rect">
              <a:avLst/>
            </a:prstGeom>
          </p:spPr>
          <p:txBody>
            <a:bodyPr anchor="ctr" rtlCol="false" tIns="0" lIns="0" bIns="0" rIns="0"/>
            <a:lstStyle/>
            <a:p>
              <a:pPr algn="ctr">
                <a:lnSpc>
                  <a:spcPts val="2430"/>
                </a:lnSpc>
              </a:pPr>
              <a:r>
                <a:rPr lang="en-US" sz="2025">
                  <a:solidFill>
                    <a:srgbClr val="6B7280"/>
                  </a:solidFill>
                  <a:latin typeface="Calibri (MS)"/>
                  <a:ea typeface="Calibri (MS)"/>
                  <a:cs typeface="Calibri (MS)"/>
                  <a:sym typeface="Calibri (MS)"/>
                </a:rPr>
                <a:t>Protect</a:t>
              </a:r>
            </a:p>
          </p:txBody>
        </p:sp>
      </p:grpSp>
      <p:grpSp>
        <p:nvGrpSpPr>
          <p:cNvPr name="Group 38" id="38"/>
          <p:cNvGrpSpPr/>
          <p:nvPr/>
        </p:nvGrpSpPr>
        <p:grpSpPr>
          <a:xfrm rot="0">
            <a:off x="12124944" y="7639812"/>
            <a:ext cx="5143500" cy="329184"/>
            <a:chOff x="0" y="0"/>
            <a:chExt cx="6858000" cy="438912"/>
          </a:xfrm>
        </p:grpSpPr>
        <p:sp>
          <p:nvSpPr>
            <p:cNvPr name="Freeform 39" id="39"/>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40" id="40"/>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9AA3B8"/>
                  </a:solidFill>
                  <a:latin typeface="Arimo"/>
                  <a:ea typeface="Arimo"/>
                  <a:cs typeface="Arimo"/>
                  <a:sym typeface="Arimo"/>
                </a:rPr>
                <a:t>PR</a:t>
              </a:r>
            </a:p>
          </p:txBody>
        </p:sp>
      </p:grpSp>
      <p:grpSp>
        <p:nvGrpSpPr>
          <p:cNvPr name="Group 41" id="41"/>
          <p:cNvGrpSpPr/>
          <p:nvPr/>
        </p:nvGrpSpPr>
        <p:grpSpPr>
          <a:xfrm rot="0">
            <a:off x="950595" y="8288655"/>
            <a:ext cx="5162550" cy="910590"/>
            <a:chOff x="0" y="0"/>
            <a:chExt cx="6883400" cy="1214120"/>
          </a:xfrm>
        </p:grpSpPr>
        <p:sp>
          <p:nvSpPr>
            <p:cNvPr name="Freeform 42" id="42"/>
            <p:cNvSpPr/>
            <p:nvPr/>
          </p:nvSpPr>
          <p:spPr>
            <a:xfrm flipH="false" flipV="false" rot="0">
              <a:off x="0" y="0"/>
              <a:ext cx="6883400" cy="1214120"/>
            </a:xfrm>
            <a:custGeom>
              <a:avLst/>
              <a:gdLst/>
              <a:ahLst/>
              <a:cxnLst/>
              <a:rect r="r" b="b" t="t" l="l"/>
              <a:pathLst>
                <a:path h="1214120" w="6883400">
                  <a:moveTo>
                    <a:pt x="0" y="168148"/>
                  </a:moveTo>
                  <a:cubicBezTo>
                    <a:pt x="0" y="75311"/>
                    <a:pt x="75311" y="0"/>
                    <a:pt x="168148" y="0"/>
                  </a:cubicBezTo>
                  <a:lnTo>
                    <a:pt x="6715252" y="0"/>
                  </a:lnTo>
                  <a:cubicBezTo>
                    <a:pt x="6808089" y="0"/>
                    <a:pt x="6883400" y="75311"/>
                    <a:pt x="6883400" y="168148"/>
                  </a:cubicBezTo>
                  <a:lnTo>
                    <a:pt x="6883400" y="1045972"/>
                  </a:lnTo>
                  <a:cubicBezTo>
                    <a:pt x="6883400" y="1138809"/>
                    <a:pt x="6808089" y="1214120"/>
                    <a:pt x="6715252" y="1214120"/>
                  </a:cubicBezTo>
                  <a:lnTo>
                    <a:pt x="168148" y="1214120"/>
                  </a:lnTo>
                  <a:cubicBezTo>
                    <a:pt x="75311" y="1214120"/>
                    <a:pt x="0" y="1138809"/>
                    <a:pt x="0" y="1045972"/>
                  </a:cubicBezTo>
                  <a:close/>
                </a:path>
              </a:pathLst>
            </a:custGeom>
            <a:solidFill>
              <a:srgbClr val="F4F7FC"/>
            </a:solidFill>
            <a:ln w="19050" cap="sq">
              <a:solidFill>
                <a:srgbClr val="D7DCEC"/>
              </a:solidFill>
              <a:prstDash val="solid"/>
              <a:miter/>
            </a:ln>
          </p:spPr>
        </p:sp>
      </p:grpSp>
      <p:grpSp>
        <p:nvGrpSpPr>
          <p:cNvPr name="Group 43" id="43"/>
          <p:cNvGrpSpPr/>
          <p:nvPr/>
        </p:nvGrpSpPr>
        <p:grpSpPr>
          <a:xfrm rot="0">
            <a:off x="960120" y="8366760"/>
            <a:ext cx="5143500" cy="589788"/>
            <a:chOff x="0" y="0"/>
            <a:chExt cx="6858000" cy="786384"/>
          </a:xfrm>
        </p:grpSpPr>
        <p:sp>
          <p:nvSpPr>
            <p:cNvPr name="Freeform 44" id="44"/>
            <p:cNvSpPr/>
            <p:nvPr/>
          </p:nvSpPr>
          <p:spPr>
            <a:xfrm flipH="false" flipV="false" rot="0">
              <a:off x="0" y="0"/>
              <a:ext cx="6858000" cy="786384"/>
            </a:xfrm>
            <a:custGeom>
              <a:avLst/>
              <a:gdLst/>
              <a:ahLst/>
              <a:cxnLst/>
              <a:rect r="r" b="b" t="t" l="l"/>
              <a:pathLst>
                <a:path h="786384" w="6858000">
                  <a:moveTo>
                    <a:pt x="0" y="0"/>
                  </a:moveTo>
                  <a:lnTo>
                    <a:pt x="6858000" y="0"/>
                  </a:lnTo>
                  <a:lnTo>
                    <a:pt x="6858000" y="786384"/>
                  </a:lnTo>
                  <a:lnTo>
                    <a:pt x="0" y="786384"/>
                  </a:lnTo>
                  <a:close/>
                </a:path>
              </a:pathLst>
            </a:custGeom>
            <a:blipFill>
              <a:blip r:embed="rId2">
                <a:alphaModFix amt="0"/>
              </a:blip>
              <a:stretch>
                <a:fillRect l="0" t="-119927" r="0" b="-119927"/>
              </a:stretch>
            </a:blipFill>
          </p:spPr>
        </p:sp>
        <p:sp>
          <p:nvSpPr>
            <p:cNvPr name="TextBox 45" id="45"/>
            <p:cNvSpPr txBox="true"/>
            <p:nvPr/>
          </p:nvSpPr>
          <p:spPr>
            <a:xfrm>
              <a:off x="0" y="-38100"/>
              <a:ext cx="6858000" cy="824484"/>
            </a:xfrm>
            <a:prstGeom prst="rect">
              <a:avLst/>
            </a:prstGeom>
          </p:spPr>
          <p:txBody>
            <a:bodyPr anchor="ctr" rtlCol="false" tIns="0" lIns="0" bIns="0" rIns="0"/>
            <a:lstStyle/>
            <a:p>
              <a:pPr algn="ctr">
                <a:lnSpc>
                  <a:spcPts val="2430"/>
                </a:lnSpc>
              </a:pPr>
              <a:r>
                <a:rPr lang="en-US" sz="2025">
                  <a:solidFill>
                    <a:srgbClr val="6B7280"/>
                  </a:solidFill>
                  <a:latin typeface="Calibri (MS)"/>
                  <a:ea typeface="Calibri (MS)"/>
                  <a:cs typeface="Calibri (MS)"/>
                  <a:sym typeface="Calibri (MS)"/>
                </a:rPr>
                <a:t>Detect</a:t>
              </a:r>
            </a:p>
          </p:txBody>
        </p:sp>
      </p:grpSp>
      <p:grpSp>
        <p:nvGrpSpPr>
          <p:cNvPr name="Group 46" id="46"/>
          <p:cNvGrpSpPr/>
          <p:nvPr/>
        </p:nvGrpSpPr>
        <p:grpSpPr>
          <a:xfrm rot="0">
            <a:off x="960120" y="8805672"/>
            <a:ext cx="5143500" cy="329184"/>
            <a:chOff x="0" y="0"/>
            <a:chExt cx="6858000" cy="438912"/>
          </a:xfrm>
        </p:grpSpPr>
        <p:sp>
          <p:nvSpPr>
            <p:cNvPr name="Freeform 47" id="47"/>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48" id="48"/>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9AA3B8"/>
                  </a:solidFill>
                  <a:latin typeface="Arimo"/>
                  <a:ea typeface="Arimo"/>
                  <a:cs typeface="Arimo"/>
                  <a:sym typeface="Arimo"/>
                </a:rPr>
                <a:t>DE</a:t>
              </a:r>
            </a:p>
          </p:txBody>
        </p:sp>
      </p:grpSp>
      <p:grpSp>
        <p:nvGrpSpPr>
          <p:cNvPr name="Group 49" id="49"/>
          <p:cNvGrpSpPr/>
          <p:nvPr/>
        </p:nvGrpSpPr>
        <p:grpSpPr>
          <a:xfrm rot="0">
            <a:off x="6533007" y="8288655"/>
            <a:ext cx="5162550" cy="910590"/>
            <a:chOff x="0" y="0"/>
            <a:chExt cx="6883400" cy="1214120"/>
          </a:xfrm>
        </p:grpSpPr>
        <p:sp>
          <p:nvSpPr>
            <p:cNvPr name="Freeform 50" id="50"/>
            <p:cNvSpPr/>
            <p:nvPr/>
          </p:nvSpPr>
          <p:spPr>
            <a:xfrm flipH="false" flipV="false" rot="0">
              <a:off x="0" y="0"/>
              <a:ext cx="6883400" cy="1214120"/>
            </a:xfrm>
            <a:custGeom>
              <a:avLst/>
              <a:gdLst/>
              <a:ahLst/>
              <a:cxnLst/>
              <a:rect r="r" b="b" t="t" l="l"/>
              <a:pathLst>
                <a:path h="1214120" w="6883400">
                  <a:moveTo>
                    <a:pt x="0" y="168148"/>
                  </a:moveTo>
                  <a:cubicBezTo>
                    <a:pt x="0" y="75311"/>
                    <a:pt x="75311" y="0"/>
                    <a:pt x="168148" y="0"/>
                  </a:cubicBezTo>
                  <a:lnTo>
                    <a:pt x="6715252" y="0"/>
                  </a:lnTo>
                  <a:cubicBezTo>
                    <a:pt x="6808089" y="0"/>
                    <a:pt x="6883400" y="75311"/>
                    <a:pt x="6883400" y="168148"/>
                  </a:cubicBezTo>
                  <a:lnTo>
                    <a:pt x="6883400" y="1045972"/>
                  </a:lnTo>
                  <a:cubicBezTo>
                    <a:pt x="6883400" y="1138809"/>
                    <a:pt x="6808089" y="1214120"/>
                    <a:pt x="6715252" y="1214120"/>
                  </a:cubicBezTo>
                  <a:lnTo>
                    <a:pt x="168148" y="1214120"/>
                  </a:lnTo>
                  <a:cubicBezTo>
                    <a:pt x="75311" y="1214120"/>
                    <a:pt x="0" y="1138809"/>
                    <a:pt x="0" y="1045972"/>
                  </a:cubicBezTo>
                  <a:close/>
                </a:path>
              </a:pathLst>
            </a:custGeom>
            <a:solidFill>
              <a:srgbClr val="F4F7FC"/>
            </a:solidFill>
            <a:ln w="19050" cap="sq">
              <a:solidFill>
                <a:srgbClr val="D7DCEC"/>
              </a:solidFill>
              <a:prstDash val="solid"/>
              <a:miter/>
            </a:ln>
          </p:spPr>
        </p:sp>
      </p:grpSp>
      <p:grpSp>
        <p:nvGrpSpPr>
          <p:cNvPr name="Group 51" id="51"/>
          <p:cNvGrpSpPr/>
          <p:nvPr/>
        </p:nvGrpSpPr>
        <p:grpSpPr>
          <a:xfrm rot="0">
            <a:off x="6542532" y="8366760"/>
            <a:ext cx="5143500" cy="589788"/>
            <a:chOff x="0" y="0"/>
            <a:chExt cx="6858000" cy="786384"/>
          </a:xfrm>
        </p:grpSpPr>
        <p:sp>
          <p:nvSpPr>
            <p:cNvPr name="Freeform 52" id="52"/>
            <p:cNvSpPr/>
            <p:nvPr/>
          </p:nvSpPr>
          <p:spPr>
            <a:xfrm flipH="false" flipV="false" rot="0">
              <a:off x="0" y="0"/>
              <a:ext cx="6858000" cy="786384"/>
            </a:xfrm>
            <a:custGeom>
              <a:avLst/>
              <a:gdLst/>
              <a:ahLst/>
              <a:cxnLst/>
              <a:rect r="r" b="b" t="t" l="l"/>
              <a:pathLst>
                <a:path h="786384" w="6858000">
                  <a:moveTo>
                    <a:pt x="0" y="0"/>
                  </a:moveTo>
                  <a:lnTo>
                    <a:pt x="6858000" y="0"/>
                  </a:lnTo>
                  <a:lnTo>
                    <a:pt x="6858000" y="786384"/>
                  </a:lnTo>
                  <a:lnTo>
                    <a:pt x="0" y="786384"/>
                  </a:lnTo>
                  <a:close/>
                </a:path>
              </a:pathLst>
            </a:custGeom>
            <a:blipFill>
              <a:blip r:embed="rId2">
                <a:alphaModFix amt="0"/>
              </a:blip>
              <a:stretch>
                <a:fillRect l="0" t="-119927" r="0" b="-119927"/>
              </a:stretch>
            </a:blipFill>
          </p:spPr>
        </p:sp>
        <p:sp>
          <p:nvSpPr>
            <p:cNvPr name="TextBox 53" id="53"/>
            <p:cNvSpPr txBox="true"/>
            <p:nvPr/>
          </p:nvSpPr>
          <p:spPr>
            <a:xfrm>
              <a:off x="0" y="-38100"/>
              <a:ext cx="6858000" cy="824484"/>
            </a:xfrm>
            <a:prstGeom prst="rect">
              <a:avLst/>
            </a:prstGeom>
          </p:spPr>
          <p:txBody>
            <a:bodyPr anchor="ctr" rtlCol="false" tIns="0" lIns="0" bIns="0" rIns="0"/>
            <a:lstStyle/>
            <a:p>
              <a:pPr algn="ctr">
                <a:lnSpc>
                  <a:spcPts val="2430"/>
                </a:lnSpc>
              </a:pPr>
              <a:r>
                <a:rPr lang="en-US" sz="2025">
                  <a:solidFill>
                    <a:srgbClr val="6B7280"/>
                  </a:solidFill>
                  <a:latin typeface="Calibri (MS)"/>
                  <a:ea typeface="Calibri (MS)"/>
                  <a:cs typeface="Calibri (MS)"/>
                  <a:sym typeface="Calibri (MS)"/>
                </a:rPr>
                <a:t>Respond</a:t>
              </a:r>
            </a:p>
          </p:txBody>
        </p:sp>
      </p:grpSp>
      <p:grpSp>
        <p:nvGrpSpPr>
          <p:cNvPr name="Group 54" id="54"/>
          <p:cNvGrpSpPr/>
          <p:nvPr/>
        </p:nvGrpSpPr>
        <p:grpSpPr>
          <a:xfrm rot="0">
            <a:off x="6542532" y="8805672"/>
            <a:ext cx="5143500" cy="329184"/>
            <a:chOff x="0" y="0"/>
            <a:chExt cx="6858000" cy="438912"/>
          </a:xfrm>
        </p:grpSpPr>
        <p:sp>
          <p:nvSpPr>
            <p:cNvPr name="Freeform 55" id="55"/>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56" id="56"/>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9AA3B8"/>
                  </a:solidFill>
                  <a:latin typeface="Arimo"/>
                  <a:ea typeface="Arimo"/>
                  <a:cs typeface="Arimo"/>
                  <a:sym typeface="Arimo"/>
                </a:rPr>
                <a:t>RS</a:t>
              </a:r>
            </a:p>
          </p:txBody>
        </p:sp>
      </p:grpSp>
      <p:grpSp>
        <p:nvGrpSpPr>
          <p:cNvPr name="Group 57" id="57"/>
          <p:cNvGrpSpPr/>
          <p:nvPr/>
        </p:nvGrpSpPr>
        <p:grpSpPr>
          <a:xfrm rot="0">
            <a:off x="12115419" y="8288655"/>
            <a:ext cx="5162550" cy="910590"/>
            <a:chOff x="0" y="0"/>
            <a:chExt cx="6883400" cy="1214120"/>
          </a:xfrm>
        </p:grpSpPr>
        <p:sp>
          <p:nvSpPr>
            <p:cNvPr name="Freeform 58" id="58"/>
            <p:cNvSpPr/>
            <p:nvPr/>
          </p:nvSpPr>
          <p:spPr>
            <a:xfrm flipH="false" flipV="false" rot="0">
              <a:off x="0" y="0"/>
              <a:ext cx="6883400" cy="1214120"/>
            </a:xfrm>
            <a:custGeom>
              <a:avLst/>
              <a:gdLst/>
              <a:ahLst/>
              <a:cxnLst/>
              <a:rect r="r" b="b" t="t" l="l"/>
              <a:pathLst>
                <a:path h="1214120" w="6883400">
                  <a:moveTo>
                    <a:pt x="0" y="168148"/>
                  </a:moveTo>
                  <a:cubicBezTo>
                    <a:pt x="0" y="75311"/>
                    <a:pt x="75311" y="0"/>
                    <a:pt x="168148" y="0"/>
                  </a:cubicBezTo>
                  <a:lnTo>
                    <a:pt x="6715252" y="0"/>
                  </a:lnTo>
                  <a:cubicBezTo>
                    <a:pt x="6808089" y="0"/>
                    <a:pt x="6883400" y="75311"/>
                    <a:pt x="6883400" y="168148"/>
                  </a:cubicBezTo>
                  <a:lnTo>
                    <a:pt x="6883400" y="1045972"/>
                  </a:lnTo>
                  <a:cubicBezTo>
                    <a:pt x="6883400" y="1138809"/>
                    <a:pt x="6808089" y="1214120"/>
                    <a:pt x="6715252" y="1214120"/>
                  </a:cubicBezTo>
                  <a:lnTo>
                    <a:pt x="168148" y="1214120"/>
                  </a:lnTo>
                  <a:cubicBezTo>
                    <a:pt x="75311" y="1214120"/>
                    <a:pt x="0" y="1138809"/>
                    <a:pt x="0" y="1045972"/>
                  </a:cubicBezTo>
                  <a:close/>
                </a:path>
              </a:pathLst>
            </a:custGeom>
            <a:solidFill>
              <a:srgbClr val="F4F7FC"/>
            </a:solidFill>
            <a:ln w="19050" cap="sq">
              <a:solidFill>
                <a:srgbClr val="D7DCEC"/>
              </a:solidFill>
              <a:prstDash val="solid"/>
              <a:miter/>
            </a:ln>
          </p:spPr>
        </p:sp>
      </p:grpSp>
      <p:grpSp>
        <p:nvGrpSpPr>
          <p:cNvPr name="Group 59" id="59"/>
          <p:cNvGrpSpPr/>
          <p:nvPr/>
        </p:nvGrpSpPr>
        <p:grpSpPr>
          <a:xfrm rot="0">
            <a:off x="12124944" y="8366760"/>
            <a:ext cx="5143500" cy="589788"/>
            <a:chOff x="0" y="0"/>
            <a:chExt cx="6858000" cy="786384"/>
          </a:xfrm>
        </p:grpSpPr>
        <p:sp>
          <p:nvSpPr>
            <p:cNvPr name="Freeform 60" id="60"/>
            <p:cNvSpPr/>
            <p:nvPr/>
          </p:nvSpPr>
          <p:spPr>
            <a:xfrm flipH="false" flipV="false" rot="0">
              <a:off x="0" y="0"/>
              <a:ext cx="6858000" cy="786384"/>
            </a:xfrm>
            <a:custGeom>
              <a:avLst/>
              <a:gdLst/>
              <a:ahLst/>
              <a:cxnLst/>
              <a:rect r="r" b="b" t="t" l="l"/>
              <a:pathLst>
                <a:path h="786384" w="6858000">
                  <a:moveTo>
                    <a:pt x="0" y="0"/>
                  </a:moveTo>
                  <a:lnTo>
                    <a:pt x="6858000" y="0"/>
                  </a:lnTo>
                  <a:lnTo>
                    <a:pt x="6858000" y="786384"/>
                  </a:lnTo>
                  <a:lnTo>
                    <a:pt x="0" y="786384"/>
                  </a:lnTo>
                  <a:close/>
                </a:path>
              </a:pathLst>
            </a:custGeom>
            <a:blipFill>
              <a:blip r:embed="rId2">
                <a:alphaModFix amt="0"/>
              </a:blip>
              <a:stretch>
                <a:fillRect l="0" t="-119927" r="0" b="-119927"/>
              </a:stretch>
            </a:blipFill>
          </p:spPr>
        </p:sp>
        <p:sp>
          <p:nvSpPr>
            <p:cNvPr name="TextBox 61" id="61"/>
            <p:cNvSpPr txBox="true"/>
            <p:nvPr/>
          </p:nvSpPr>
          <p:spPr>
            <a:xfrm>
              <a:off x="0" y="-38100"/>
              <a:ext cx="6858000" cy="824484"/>
            </a:xfrm>
            <a:prstGeom prst="rect">
              <a:avLst/>
            </a:prstGeom>
          </p:spPr>
          <p:txBody>
            <a:bodyPr anchor="ctr" rtlCol="false" tIns="0" lIns="0" bIns="0" rIns="0"/>
            <a:lstStyle/>
            <a:p>
              <a:pPr algn="ctr">
                <a:lnSpc>
                  <a:spcPts val="2430"/>
                </a:lnSpc>
              </a:pPr>
              <a:r>
                <a:rPr lang="en-US" sz="2025">
                  <a:solidFill>
                    <a:srgbClr val="6B7280"/>
                  </a:solidFill>
                  <a:latin typeface="Calibri (MS)"/>
                  <a:ea typeface="Calibri (MS)"/>
                  <a:cs typeface="Calibri (MS)"/>
                  <a:sym typeface="Calibri (MS)"/>
                </a:rPr>
                <a:t>Recover</a:t>
              </a:r>
            </a:p>
          </p:txBody>
        </p:sp>
      </p:grpSp>
      <p:grpSp>
        <p:nvGrpSpPr>
          <p:cNvPr name="Group 62" id="62"/>
          <p:cNvGrpSpPr/>
          <p:nvPr/>
        </p:nvGrpSpPr>
        <p:grpSpPr>
          <a:xfrm rot="0">
            <a:off x="12124944" y="8805672"/>
            <a:ext cx="5143500" cy="329184"/>
            <a:chOff x="0" y="0"/>
            <a:chExt cx="6858000" cy="438912"/>
          </a:xfrm>
        </p:grpSpPr>
        <p:sp>
          <p:nvSpPr>
            <p:cNvPr name="Freeform 63" id="63"/>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64" id="64"/>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9AA3B8"/>
                  </a:solidFill>
                  <a:latin typeface="Arimo"/>
                  <a:ea typeface="Arimo"/>
                  <a:cs typeface="Arimo"/>
                  <a:sym typeface="Arimo"/>
                </a:rPr>
                <a:t>RC</a:t>
              </a:r>
            </a:p>
          </p:txBody>
        </p:sp>
      </p:grpSp>
      <p:grpSp>
        <p:nvGrpSpPr>
          <p:cNvPr name="Group 65" id="65"/>
          <p:cNvGrpSpPr/>
          <p:nvPr/>
        </p:nvGrpSpPr>
        <p:grpSpPr>
          <a:xfrm rot="0">
            <a:off x="685800" y="9710928"/>
            <a:ext cx="10972800" cy="411480"/>
            <a:chOff x="0" y="0"/>
            <a:chExt cx="14630400" cy="548640"/>
          </a:xfrm>
        </p:grpSpPr>
        <p:sp>
          <p:nvSpPr>
            <p:cNvPr name="Freeform 66" id="66"/>
            <p:cNvSpPr/>
            <p:nvPr/>
          </p:nvSpPr>
          <p:spPr>
            <a:xfrm flipH="false" flipV="false" rot="0">
              <a:off x="0" y="0"/>
              <a:ext cx="14630400" cy="548640"/>
            </a:xfrm>
            <a:custGeom>
              <a:avLst/>
              <a:gdLst/>
              <a:ahLst/>
              <a:cxnLst/>
              <a:rect r="r" b="b" t="t" l="l"/>
              <a:pathLst>
                <a:path h="548640" w="14630400">
                  <a:moveTo>
                    <a:pt x="0" y="0"/>
                  </a:moveTo>
                  <a:lnTo>
                    <a:pt x="14630400" y="0"/>
                  </a:lnTo>
                  <a:lnTo>
                    <a:pt x="14630400" y="548640"/>
                  </a:lnTo>
                  <a:lnTo>
                    <a:pt x="0" y="548640"/>
                  </a:lnTo>
                  <a:close/>
                </a:path>
              </a:pathLst>
            </a:custGeom>
            <a:blipFill>
              <a:blip r:embed="rId2">
                <a:alphaModFix amt="0"/>
              </a:blip>
              <a:stretch>
                <a:fillRect l="0" t="-469601" r="0" b="-469601"/>
              </a:stretch>
            </a:blipFill>
          </p:spPr>
        </p:sp>
        <p:sp>
          <p:nvSpPr>
            <p:cNvPr name="TextBox 67" id="67"/>
            <p:cNvSpPr txBox="true"/>
            <p:nvPr/>
          </p:nvSpPr>
          <p:spPr>
            <a:xfrm>
              <a:off x="0" y="-38100"/>
              <a:ext cx="14630400" cy="586740"/>
            </a:xfrm>
            <a:prstGeom prst="rect">
              <a:avLst/>
            </a:prstGeom>
          </p:spPr>
          <p:txBody>
            <a:bodyPr anchor="ctr" rtlCol="false" tIns="0" lIns="0" bIns="0" rIns="0"/>
            <a:lstStyle/>
            <a:p>
              <a:pPr algn="l">
                <a:lnSpc>
                  <a:spcPts val="1800"/>
                </a:lnSpc>
              </a:pPr>
              <a:r>
                <a:rPr lang="en-US" sz="1500">
                  <a:solidFill>
                    <a:srgbClr val="6B7280"/>
                  </a:solidFill>
                  <a:latin typeface="Calibri (MS)"/>
                  <a:ea typeface="Calibri (MS)"/>
                  <a:cs typeface="Calibri (MS)"/>
                  <a:sym typeface="Calibri (MS)"/>
                </a:rPr>
                <a:t>Davao del Norte Provincial Government — Cybersecurity Seminar</a:t>
              </a:r>
            </a:p>
          </p:txBody>
        </p:sp>
      </p:grpSp>
      <p:grpSp>
        <p:nvGrpSpPr>
          <p:cNvPr name="Group 68" id="68"/>
          <p:cNvGrpSpPr/>
          <p:nvPr/>
        </p:nvGrpSpPr>
        <p:grpSpPr>
          <a:xfrm rot="0">
            <a:off x="16911828" y="9710928"/>
            <a:ext cx="685800" cy="411480"/>
            <a:chOff x="0" y="0"/>
            <a:chExt cx="914400" cy="548640"/>
          </a:xfrm>
        </p:grpSpPr>
        <p:sp>
          <p:nvSpPr>
            <p:cNvPr name="Freeform 69" id="69"/>
            <p:cNvSpPr/>
            <p:nvPr/>
          </p:nvSpPr>
          <p:spPr>
            <a:xfrm flipH="false" flipV="false" rot="0">
              <a:off x="0" y="0"/>
              <a:ext cx="914400" cy="548640"/>
            </a:xfrm>
            <a:custGeom>
              <a:avLst/>
              <a:gdLst/>
              <a:ahLst/>
              <a:cxnLst/>
              <a:rect r="r" b="b" t="t" l="l"/>
              <a:pathLst>
                <a:path h="548640" w="914400">
                  <a:moveTo>
                    <a:pt x="0" y="0"/>
                  </a:moveTo>
                  <a:lnTo>
                    <a:pt x="914400" y="0"/>
                  </a:lnTo>
                  <a:lnTo>
                    <a:pt x="914400" y="548640"/>
                  </a:lnTo>
                  <a:lnTo>
                    <a:pt x="0" y="548640"/>
                  </a:lnTo>
                  <a:close/>
                </a:path>
              </a:pathLst>
            </a:custGeom>
            <a:blipFill>
              <a:blip r:embed="rId2">
                <a:alphaModFix amt="0"/>
              </a:blip>
              <a:stretch>
                <a:fillRect l="-26982" t="0" r="-26982" b="0"/>
              </a:stretch>
            </a:blipFill>
          </p:spPr>
        </p:sp>
        <p:sp>
          <p:nvSpPr>
            <p:cNvPr name="TextBox 70" id="70"/>
            <p:cNvSpPr txBox="true"/>
            <p:nvPr/>
          </p:nvSpPr>
          <p:spPr>
            <a:xfrm>
              <a:off x="0" y="-38100"/>
              <a:ext cx="914400" cy="586740"/>
            </a:xfrm>
            <a:prstGeom prst="rect">
              <a:avLst/>
            </a:prstGeom>
          </p:spPr>
          <p:txBody>
            <a:bodyPr anchor="ctr" rtlCol="false" tIns="0" lIns="0" bIns="0" rIns="0"/>
            <a:lstStyle/>
            <a:p>
              <a:pPr algn="r">
                <a:lnSpc>
                  <a:spcPts val="1800"/>
                </a:lnSpc>
              </a:pPr>
              <a:r>
                <a:rPr lang="en-US" sz="1500">
                  <a:solidFill>
                    <a:srgbClr val="6B7280"/>
                  </a:solidFill>
                  <a:latin typeface="Calibri (MS)"/>
                  <a:ea typeface="Calibri (MS)"/>
                  <a:cs typeface="Calibri (MS)"/>
                  <a:sym typeface="Calibri (MS)"/>
                </a:rPr>
                <a:t>47</a:t>
              </a:r>
            </a:p>
          </p:txBody>
        </p:sp>
      </p:grpSp>
    </p:spTree>
  </p:cSld>
  <p:clrMapOvr>
    <a:masterClrMapping/>
  </p:clrMapOvr>
</p:sld>
</file>

<file path=ppt/slides/slide1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60120" y="685800"/>
            <a:ext cx="13716000" cy="411480"/>
            <a:chOff x="0" y="0"/>
            <a:chExt cx="18288000" cy="548640"/>
          </a:xfrm>
        </p:grpSpPr>
        <p:sp>
          <p:nvSpPr>
            <p:cNvPr name="Freeform 3" id="3"/>
            <p:cNvSpPr/>
            <p:nvPr/>
          </p:nvSpPr>
          <p:spPr>
            <a:xfrm flipH="false" flipV="false" rot="0">
              <a:off x="0" y="0"/>
              <a:ext cx="18288000" cy="548640"/>
            </a:xfrm>
            <a:custGeom>
              <a:avLst/>
              <a:gdLst/>
              <a:ahLst/>
              <a:cxnLst/>
              <a:rect r="r" b="b" t="t" l="l"/>
              <a:pathLst>
                <a:path h="548640" w="18288000">
                  <a:moveTo>
                    <a:pt x="0" y="0"/>
                  </a:moveTo>
                  <a:lnTo>
                    <a:pt x="18288000" y="0"/>
                  </a:lnTo>
                  <a:lnTo>
                    <a:pt x="18288000" y="548640"/>
                  </a:lnTo>
                  <a:lnTo>
                    <a:pt x="0" y="548640"/>
                  </a:lnTo>
                  <a:close/>
                </a:path>
              </a:pathLst>
            </a:custGeom>
            <a:blipFill>
              <a:blip r:embed="rId2">
                <a:alphaModFix amt="0"/>
              </a:blip>
              <a:stretch>
                <a:fillRect l="0" t="-599501" r="0" b="-599501"/>
              </a:stretch>
            </a:blipFill>
          </p:spPr>
        </p:sp>
        <p:sp>
          <p:nvSpPr>
            <p:cNvPr name="TextBox 4" id="4"/>
            <p:cNvSpPr txBox="true"/>
            <p:nvPr/>
          </p:nvSpPr>
          <p:spPr>
            <a:xfrm>
              <a:off x="0" y="-38100"/>
              <a:ext cx="18288000" cy="586740"/>
            </a:xfrm>
            <a:prstGeom prst="rect">
              <a:avLst/>
            </a:prstGeom>
          </p:spPr>
          <p:txBody>
            <a:bodyPr anchor="ctr" rtlCol="false" tIns="0" lIns="0" bIns="0" rIns="0"/>
            <a:lstStyle/>
            <a:p>
              <a:pPr algn="l">
                <a:lnSpc>
                  <a:spcPts val="2160"/>
                </a:lnSpc>
              </a:pPr>
              <a:r>
                <a:rPr lang="en-US" b="true" sz="1800" spc="225">
                  <a:solidFill>
                    <a:srgbClr val="00B4D8"/>
                  </a:solidFill>
                  <a:latin typeface="Calibri (MS) Bold"/>
                  <a:ea typeface="Calibri (MS) Bold"/>
                  <a:cs typeface="Calibri (MS) Bold"/>
                  <a:sym typeface="Calibri (MS) Bold"/>
                </a:rPr>
                <a:t>NIST CSF SORT · ANSWER</a:t>
              </a:r>
            </a:p>
          </p:txBody>
        </p:sp>
      </p:grpSp>
      <p:grpSp>
        <p:nvGrpSpPr>
          <p:cNvPr name="Group 5" id="5"/>
          <p:cNvGrpSpPr/>
          <p:nvPr/>
        </p:nvGrpSpPr>
        <p:grpSpPr>
          <a:xfrm rot="0">
            <a:off x="960120" y="1069848"/>
            <a:ext cx="10972800" cy="822960"/>
            <a:chOff x="0" y="0"/>
            <a:chExt cx="14630400" cy="1097280"/>
          </a:xfrm>
        </p:grpSpPr>
        <p:sp>
          <p:nvSpPr>
            <p:cNvPr name="Freeform 6" id="6"/>
            <p:cNvSpPr/>
            <p:nvPr/>
          </p:nvSpPr>
          <p:spPr>
            <a:xfrm flipH="false" flipV="false" rot="0">
              <a:off x="0" y="0"/>
              <a:ext cx="14630400" cy="1097280"/>
            </a:xfrm>
            <a:custGeom>
              <a:avLst/>
              <a:gdLst/>
              <a:ahLst/>
              <a:cxnLst/>
              <a:rect r="r" b="b" t="t" l="l"/>
              <a:pathLst>
                <a:path h="1097280" w="14630400">
                  <a:moveTo>
                    <a:pt x="0" y="0"/>
                  </a:moveTo>
                  <a:lnTo>
                    <a:pt x="14630400" y="0"/>
                  </a:lnTo>
                  <a:lnTo>
                    <a:pt x="14630400" y="1097280"/>
                  </a:lnTo>
                  <a:lnTo>
                    <a:pt x="0" y="1097280"/>
                  </a:lnTo>
                  <a:close/>
                </a:path>
              </a:pathLst>
            </a:custGeom>
            <a:blipFill>
              <a:blip r:embed="rId2">
                <a:alphaModFix amt="0"/>
              </a:blip>
              <a:stretch>
                <a:fillRect l="0" t="-209800" r="0" b="-209800"/>
              </a:stretch>
            </a:blipFill>
          </p:spPr>
        </p:sp>
        <p:sp>
          <p:nvSpPr>
            <p:cNvPr name="TextBox 7" id="7"/>
            <p:cNvSpPr txBox="true"/>
            <p:nvPr/>
          </p:nvSpPr>
          <p:spPr>
            <a:xfrm>
              <a:off x="0" y="0"/>
              <a:ext cx="14630400" cy="1097280"/>
            </a:xfrm>
            <a:prstGeom prst="rect">
              <a:avLst/>
            </a:prstGeom>
          </p:spPr>
          <p:txBody>
            <a:bodyPr anchor="ctr" rtlCol="false" tIns="0" lIns="0" bIns="0" rIns="0"/>
            <a:lstStyle/>
            <a:p>
              <a:pPr algn="l">
                <a:lnSpc>
                  <a:spcPts val="4680"/>
                </a:lnSpc>
              </a:pPr>
              <a:r>
                <a:rPr lang="en-US" sz="3900" b="true">
                  <a:solidFill>
                    <a:srgbClr val="1E2761"/>
                  </a:solidFill>
                  <a:latin typeface="Cambria Bold"/>
                  <a:ea typeface="Cambria Bold"/>
                  <a:cs typeface="Cambria Bold"/>
                  <a:sym typeface="Cambria Bold"/>
                </a:rPr>
                <a:t>Scenario 19 — Answer</a:t>
              </a:r>
            </a:p>
          </p:txBody>
        </p:sp>
      </p:grpSp>
      <p:grpSp>
        <p:nvGrpSpPr>
          <p:cNvPr name="Group 8" id="8"/>
          <p:cNvGrpSpPr/>
          <p:nvPr/>
        </p:nvGrpSpPr>
        <p:grpSpPr>
          <a:xfrm rot="0">
            <a:off x="960120" y="1810512"/>
            <a:ext cx="8229600" cy="411480"/>
            <a:chOff x="0" y="0"/>
            <a:chExt cx="10972800" cy="548640"/>
          </a:xfrm>
        </p:grpSpPr>
        <p:sp>
          <p:nvSpPr>
            <p:cNvPr name="Freeform 9" id="9"/>
            <p:cNvSpPr/>
            <p:nvPr/>
          </p:nvSpPr>
          <p:spPr>
            <a:xfrm flipH="false" flipV="false" rot="0">
              <a:off x="0" y="0"/>
              <a:ext cx="10972800" cy="548640"/>
            </a:xfrm>
            <a:custGeom>
              <a:avLst/>
              <a:gdLst/>
              <a:ahLst/>
              <a:cxnLst/>
              <a:rect r="r" b="b" t="t" l="l"/>
              <a:pathLst>
                <a:path h="548640" w="10972800">
                  <a:moveTo>
                    <a:pt x="0" y="0"/>
                  </a:moveTo>
                  <a:lnTo>
                    <a:pt x="10972800" y="0"/>
                  </a:lnTo>
                  <a:lnTo>
                    <a:pt x="10972800" y="548640"/>
                  </a:lnTo>
                  <a:lnTo>
                    <a:pt x="0" y="548640"/>
                  </a:lnTo>
                  <a:close/>
                </a:path>
              </a:pathLst>
            </a:custGeom>
            <a:blipFill>
              <a:blip r:embed="rId2">
                <a:alphaModFix amt="0"/>
              </a:blip>
              <a:stretch>
                <a:fillRect l="0" t="-339700" r="0" b="-339700"/>
              </a:stretch>
            </a:blipFill>
          </p:spPr>
        </p:sp>
        <p:sp>
          <p:nvSpPr>
            <p:cNvPr name="TextBox 10" id="10"/>
            <p:cNvSpPr txBox="true"/>
            <p:nvPr/>
          </p:nvSpPr>
          <p:spPr>
            <a:xfrm>
              <a:off x="0" y="-28575"/>
              <a:ext cx="10972800" cy="577215"/>
            </a:xfrm>
            <a:prstGeom prst="rect">
              <a:avLst/>
            </a:prstGeom>
          </p:spPr>
          <p:txBody>
            <a:bodyPr anchor="ctr" rtlCol="false" tIns="0" lIns="0" bIns="0" rIns="0"/>
            <a:lstStyle/>
            <a:p>
              <a:pPr algn="l">
                <a:lnSpc>
                  <a:spcPts val="1980"/>
                </a:lnSpc>
              </a:pPr>
              <a:r>
                <a:rPr lang="en-US" sz="1650">
                  <a:solidFill>
                    <a:srgbClr val="6B7280"/>
                  </a:solidFill>
                  <a:latin typeface="Calibri (MS)"/>
                  <a:ea typeface="Calibri (MS)"/>
                  <a:cs typeface="Calibri (MS)"/>
                  <a:sym typeface="Calibri (MS)"/>
                </a:rPr>
                <a:t>19 of 20</a:t>
              </a:r>
            </a:p>
          </p:txBody>
        </p:sp>
      </p:grpSp>
      <p:grpSp>
        <p:nvGrpSpPr>
          <p:cNvPr name="Group 11" id="11"/>
          <p:cNvGrpSpPr/>
          <p:nvPr/>
        </p:nvGrpSpPr>
        <p:grpSpPr>
          <a:xfrm rot="0">
            <a:off x="960120" y="2537460"/>
            <a:ext cx="16322040" cy="2194560"/>
            <a:chOff x="0" y="0"/>
            <a:chExt cx="21762720" cy="2926080"/>
          </a:xfrm>
        </p:grpSpPr>
        <p:sp>
          <p:nvSpPr>
            <p:cNvPr name="Freeform 12" id="12"/>
            <p:cNvSpPr/>
            <p:nvPr/>
          </p:nvSpPr>
          <p:spPr>
            <a:xfrm flipH="false" flipV="false" rot="0">
              <a:off x="0" y="0"/>
              <a:ext cx="21762720" cy="2926080"/>
            </a:xfrm>
            <a:custGeom>
              <a:avLst/>
              <a:gdLst/>
              <a:ahLst/>
              <a:cxnLst/>
              <a:rect r="r" b="b" t="t" l="l"/>
              <a:pathLst>
                <a:path h="2926080" w="21762720">
                  <a:moveTo>
                    <a:pt x="0" y="182880"/>
                  </a:moveTo>
                  <a:cubicBezTo>
                    <a:pt x="0" y="81915"/>
                    <a:pt x="81915" y="0"/>
                    <a:pt x="182880" y="0"/>
                  </a:cubicBezTo>
                  <a:lnTo>
                    <a:pt x="21579839" y="0"/>
                  </a:lnTo>
                  <a:cubicBezTo>
                    <a:pt x="21680804" y="0"/>
                    <a:pt x="21762720" y="81915"/>
                    <a:pt x="21762720" y="182880"/>
                  </a:cubicBezTo>
                  <a:lnTo>
                    <a:pt x="21762720" y="2743200"/>
                  </a:lnTo>
                  <a:cubicBezTo>
                    <a:pt x="21762720" y="2844165"/>
                    <a:pt x="21680804" y="2926080"/>
                    <a:pt x="21579839" y="2926080"/>
                  </a:cubicBezTo>
                  <a:lnTo>
                    <a:pt x="182880" y="2926080"/>
                  </a:lnTo>
                  <a:cubicBezTo>
                    <a:pt x="81915" y="2926080"/>
                    <a:pt x="0" y="2844165"/>
                    <a:pt x="0" y="2743200"/>
                  </a:cubicBezTo>
                  <a:close/>
                </a:path>
              </a:pathLst>
            </a:custGeom>
            <a:solidFill>
              <a:srgbClr val="F4F7FC"/>
            </a:solidFill>
          </p:spPr>
        </p:sp>
      </p:grpSp>
      <p:grpSp>
        <p:nvGrpSpPr>
          <p:cNvPr name="Group 13" id="13"/>
          <p:cNvGrpSpPr/>
          <p:nvPr/>
        </p:nvGrpSpPr>
        <p:grpSpPr>
          <a:xfrm rot="0">
            <a:off x="1440180" y="2770632"/>
            <a:ext cx="15361920" cy="1714500"/>
            <a:chOff x="0" y="0"/>
            <a:chExt cx="20482560" cy="2286000"/>
          </a:xfrm>
        </p:grpSpPr>
        <p:sp>
          <p:nvSpPr>
            <p:cNvPr name="Freeform 14" id="14"/>
            <p:cNvSpPr/>
            <p:nvPr/>
          </p:nvSpPr>
          <p:spPr>
            <a:xfrm flipH="false" flipV="false" rot="0">
              <a:off x="0" y="0"/>
              <a:ext cx="20482561" cy="2286000"/>
            </a:xfrm>
            <a:custGeom>
              <a:avLst/>
              <a:gdLst/>
              <a:ahLst/>
              <a:cxnLst/>
              <a:rect r="r" b="b" t="t" l="l"/>
              <a:pathLst>
                <a:path h="2286000" w="20482561">
                  <a:moveTo>
                    <a:pt x="0" y="0"/>
                  </a:moveTo>
                  <a:lnTo>
                    <a:pt x="20482561" y="0"/>
                  </a:lnTo>
                  <a:lnTo>
                    <a:pt x="20482561" y="2286000"/>
                  </a:lnTo>
                  <a:lnTo>
                    <a:pt x="0" y="2286000"/>
                  </a:lnTo>
                  <a:close/>
                </a:path>
              </a:pathLst>
            </a:custGeom>
            <a:blipFill>
              <a:blip r:embed="rId2">
                <a:alphaModFix amt="0"/>
              </a:blip>
              <a:stretch>
                <a:fillRect l="0" t="-124585" r="0" b="-124585"/>
              </a:stretch>
            </a:blipFill>
          </p:spPr>
        </p:sp>
        <p:sp>
          <p:nvSpPr>
            <p:cNvPr name="TextBox 15" id="15"/>
            <p:cNvSpPr txBox="true"/>
            <p:nvPr/>
          </p:nvSpPr>
          <p:spPr>
            <a:xfrm>
              <a:off x="0" y="-85725"/>
              <a:ext cx="20482560" cy="2371725"/>
            </a:xfrm>
            <a:prstGeom prst="rect">
              <a:avLst/>
            </a:prstGeom>
          </p:spPr>
          <p:txBody>
            <a:bodyPr anchor="ctr" rtlCol="false" tIns="0" lIns="0" bIns="0" rIns="0"/>
            <a:lstStyle/>
            <a:p>
              <a:pPr algn="l">
                <a:lnSpc>
                  <a:spcPts val="3600"/>
                </a:lnSpc>
              </a:pPr>
              <a:r>
                <a:rPr lang="en-US" sz="2400" i="true">
                  <a:solidFill>
                    <a:srgbClr val="23262F"/>
                  </a:solidFill>
                  <a:latin typeface="Cambria Italics"/>
                  <a:ea typeface="Cambria Italics"/>
                  <a:cs typeface="Cambria Italics"/>
                  <a:sym typeface="Cambria Italics"/>
                </a:rPr>
                <a:t>"Every department head must sign an annual attestation confirming their staff completed the required security-awareness training."</a:t>
              </a:r>
            </a:p>
          </p:txBody>
        </p:sp>
      </p:grpSp>
      <p:grpSp>
        <p:nvGrpSpPr>
          <p:cNvPr name="Group 16" id="16"/>
          <p:cNvGrpSpPr/>
          <p:nvPr/>
        </p:nvGrpSpPr>
        <p:grpSpPr>
          <a:xfrm rot="0">
            <a:off x="950595" y="5065395"/>
            <a:ext cx="5162550" cy="842010"/>
            <a:chOff x="0" y="0"/>
            <a:chExt cx="6883400" cy="1122680"/>
          </a:xfrm>
        </p:grpSpPr>
        <p:sp>
          <p:nvSpPr>
            <p:cNvPr name="Freeform 17" id="17"/>
            <p:cNvSpPr/>
            <p:nvPr/>
          </p:nvSpPr>
          <p:spPr>
            <a:xfrm flipH="false" flipV="false" rot="0">
              <a:off x="0" y="0"/>
              <a:ext cx="6883400" cy="1122680"/>
            </a:xfrm>
            <a:custGeom>
              <a:avLst/>
              <a:gdLst/>
              <a:ahLst/>
              <a:cxnLst/>
              <a:rect r="r" b="b" t="t" l="l"/>
              <a:pathLst>
                <a:path h="1122680" w="6883400">
                  <a:moveTo>
                    <a:pt x="0" y="168402"/>
                  </a:moveTo>
                  <a:cubicBezTo>
                    <a:pt x="0" y="75438"/>
                    <a:pt x="75438" y="0"/>
                    <a:pt x="168402" y="0"/>
                  </a:cubicBezTo>
                  <a:lnTo>
                    <a:pt x="6714998" y="0"/>
                  </a:lnTo>
                  <a:cubicBezTo>
                    <a:pt x="6807962" y="0"/>
                    <a:pt x="6883400" y="75438"/>
                    <a:pt x="6883400" y="168402"/>
                  </a:cubicBezTo>
                  <a:lnTo>
                    <a:pt x="6883400" y="954278"/>
                  </a:lnTo>
                  <a:cubicBezTo>
                    <a:pt x="6883400" y="1047242"/>
                    <a:pt x="6807962" y="1122680"/>
                    <a:pt x="6714998" y="1122680"/>
                  </a:cubicBezTo>
                  <a:lnTo>
                    <a:pt x="168402" y="1122680"/>
                  </a:lnTo>
                  <a:cubicBezTo>
                    <a:pt x="75438" y="1122680"/>
                    <a:pt x="0" y="1047242"/>
                    <a:pt x="0" y="954278"/>
                  </a:cubicBezTo>
                  <a:close/>
                </a:path>
              </a:pathLst>
            </a:custGeom>
            <a:solidFill>
              <a:srgbClr val="6C4FD1"/>
            </a:solidFill>
            <a:ln w="19050" cap="sq">
              <a:solidFill>
                <a:srgbClr val="6C4FD1"/>
              </a:solidFill>
              <a:prstDash val="solid"/>
              <a:miter/>
            </a:ln>
          </p:spPr>
        </p:sp>
      </p:grpSp>
      <p:grpSp>
        <p:nvGrpSpPr>
          <p:cNvPr name="Group 18" id="18"/>
          <p:cNvGrpSpPr/>
          <p:nvPr/>
        </p:nvGrpSpPr>
        <p:grpSpPr>
          <a:xfrm rot="0">
            <a:off x="960120" y="5143500"/>
            <a:ext cx="5143500" cy="521208"/>
            <a:chOff x="0" y="0"/>
            <a:chExt cx="6858000" cy="694944"/>
          </a:xfrm>
        </p:grpSpPr>
        <p:sp>
          <p:nvSpPr>
            <p:cNvPr name="Freeform 19" id="19"/>
            <p:cNvSpPr/>
            <p:nvPr/>
          </p:nvSpPr>
          <p:spPr>
            <a:xfrm flipH="false" flipV="false" rot="0">
              <a:off x="0" y="0"/>
              <a:ext cx="6858000" cy="694944"/>
            </a:xfrm>
            <a:custGeom>
              <a:avLst/>
              <a:gdLst/>
              <a:ahLst/>
              <a:cxnLst/>
              <a:rect r="r" b="b" t="t" l="l"/>
              <a:pathLst>
                <a:path h="694944" w="6858000">
                  <a:moveTo>
                    <a:pt x="0" y="0"/>
                  </a:moveTo>
                  <a:lnTo>
                    <a:pt x="6858000" y="0"/>
                  </a:lnTo>
                  <a:lnTo>
                    <a:pt x="6858000" y="694944"/>
                  </a:lnTo>
                  <a:lnTo>
                    <a:pt x="0" y="694944"/>
                  </a:lnTo>
                  <a:close/>
                </a:path>
              </a:pathLst>
            </a:custGeom>
            <a:blipFill>
              <a:blip r:embed="rId2">
                <a:alphaModFix amt="0"/>
              </a:blip>
              <a:stretch>
                <a:fillRect l="0" t="-142286" r="0" b="-142286"/>
              </a:stretch>
            </a:blipFill>
          </p:spPr>
        </p:sp>
        <p:sp>
          <p:nvSpPr>
            <p:cNvPr name="TextBox 20" id="20"/>
            <p:cNvSpPr txBox="true"/>
            <p:nvPr/>
          </p:nvSpPr>
          <p:spPr>
            <a:xfrm>
              <a:off x="0" y="-38100"/>
              <a:ext cx="6858000" cy="733044"/>
            </a:xfrm>
            <a:prstGeom prst="rect">
              <a:avLst/>
            </a:prstGeom>
          </p:spPr>
          <p:txBody>
            <a:bodyPr anchor="ctr" rtlCol="false" tIns="0" lIns="0" bIns="0" rIns="0"/>
            <a:lstStyle/>
            <a:p>
              <a:pPr algn="ctr">
                <a:lnSpc>
                  <a:spcPts val="2430"/>
                </a:lnSpc>
              </a:pPr>
              <a:r>
                <a:rPr lang="en-US" sz="2025" b="true">
                  <a:solidFill>
                    <a:srgbClr val="FFFFFF"/>
                  </a:solidFill>
                  <a:latin typeface="Calibri (MS) Bold"/>
                  <a:ea typeface="Calibri (MS) Bold"/>
                  <a:cs typeface="Calibri (MS) Bold"/>
                  <a:sym typeface="Calibri (MS) Bold"/>
                </a:rPr>
                <a:t>✓  Govern</a:t>
              </a:r>
            </a:p>
          </p:txBody>
        </p:sp>
      </p:grpSp>
      <p:grpSp>
        <p:nvGrpSpPr>
          <p:cNvPr name="Group 21" id="21"/>
          <p:cNvGrpSpPr/>
          <p:nvPr/>
        </p:nvGrpSpPr>
        <p:grpSpPr>
          <a:xfrm rot="0">
            <a:off x="960120" y="5513832"/>
            <a:ext cx="5143500" cy="329184"/>
            <a:chOff x="0" y="0"/>
            <a:chExt cx="6858000" cy="438912"/>
          </a:xfrm>
        </p:grpSpPr>
        <p:sp>
          <p:nvSpPr>
            <p:cNvPr name="Freeform 22" id="22"/>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23" id="23"/>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FFFFFF"/>
                  </a:solidFill>
                  <a:latin typeface="Arimo"/>
                  <a:ea typeface="Arimo"/>
                  <a:cs typeface="Arimo"/>
                  <a:sym typeface="Arimo"/>
                </a:rPr>
                <a:t>GV</a:t>
              </a:r>
            </a:p>
          </p:txBody>
        </p:sp>
      </p:grpSp>
      <p:grpSp>
        <p:nvGrpSpPr>
          <p:cNvPr name="Group 24" id="24"/>
          <p:cNvGrpSpPr/>
          <p:nvPr/>
        </p:nvGrpSpPr>
        <p:grpSpPr>
          <a:xfrm rot="0">
            <a:off x="6533007" y="5065395"/>
            <a:ext cx="5162550" cy="842010"/>
            <a:chOff x="0" y="0"/>
            <a:chExt cx="6883400" cy="1122680"/>
          </a:xfrm>
        </p:grpSpPr>
        <p:sp>
          <p:nvSpPr>
            <p:cNvPr name="Freeform 25" id="25"/>
            <p:cNvSpPr/>
            <p:nvPr/>
          </p:nvSpPr>
          <p:spPr>
            <a:xfrm flipH="false" flipV="false" rot="0">
              <a:off x="0" y="0"/>
              <a:ext cx="6883400" cy="1122680"/>
            </a:xfrm>
            <a:custGeom>
              <a:avLst/>
              <a:gdLst/>
              <a:ahLst/>
              <a:cxnLst/>
              <a:rect r="r" b="b" t="t" l="l"/>
              <a:pathLst>
                <a:path h="1122680" w="6883400">
                  <a:moveTo>
                    <a:pt x="0" y="168402"/>
                  </a:moveTo>
                  <a:cubicBezTo>
                    <a:pt x="0" y="75438"/>
                    <a:pt x="75438" y="0"/>
                    <a:pt x="168402" y="0"/>
                  </a:cubicBezTo>
                  <a:lnTo>
                    <a:pt x="6714998" y="0"/>
                  </a:lnTo>
                  <a:cubicBezTo>
                    <a:pt x="6807962" y="0"/>
                    <a:pt x="6883400" y="75438"/>
                    <a:pt x="6883400" y="168402"/>
                  </a:cubicBezTo>
                  <a:lnTo>
                    <a:pt x="6883400" y="954278"/>
                  </a:lnTo>
                  <a:cubicBezTo>
                    <a:pt x="6883400" y="1047242"/>
                    <a:pt x="6807962" y="1122680"/>
                    <a:pt x="6714998" y="1122680"/>
                  </a:cubicBezTo>
                  <a:lnTo>
                    <a:pt x="168402" y="1122680"/>
                  </a:lnTo>
                  <a:cubicBezTo>
                    <a:pt x="75438" y="1122680"/>
                    <a:pt x="0" y="1047242"/>
                    <a:pt x="0" y="954278"/>
                  </a:cubicBezTo>
                  <a:close/>
                </a:path>
              </a:pathLst>
            </a:custGeom>
            <a:solidFill>
              <a:srgbClr val="F4F7FC"/>
            </a:solidFill>
            <a:ln w="19050" cap="sq">
              <a:solidFill>
                <a:srgbClr val="D7DCEC"/>
              </a:solidFill>
              <a:prstDash val="solid"/>
              <a:miter/>
            </a:ln>
          </p:spPr>
        </p:sp>
      </p:grpSp>
      <p:grpSp>
        <p:nvGrpSpPr>
          <p:cNvPr name="Group 26" id="26"/>
          <p:cNvGrpSpPr/>
          <p:nvPr/>
        </p:nvGrpSpPr>
        <p:grpSpPr>
          <a:xfrm rot="0">
            <a:off x="6542532" y="5143500"/>
            <a:ext cx="5143500" cy="521208"/>
            <a:chOff x="0" y="0"/>
            <a:chExt cx="6858000" cy="694944"/>
          </a:xfrm>
        </p:grpSpPr>
        <p:sp>
          <p:nvSpPr>
            <p:cNvPr name="Freeform 27" id="27"/>
            <p:cNvSpPr/>
            <p:nvPr/>
          </p:nvSpPr>
          <p:spPr>
            <a:xfrm flipH="false" flipV="false" rot="0">
              <a:off x="0" y="0"/>
              <a:ext cx="6858000" cy="694944"/>
            </a:xfrm>
            <a:custGeom>
              <a:avLst/>
              <a:gdLst/>
              <a:ahLst/>
              <a:cxnLst/>
              <a:rect r="r" b="b" t="t" l="l"/>
              <a:pathLst>
                <a:path h="694944" w="6858000">
                  <a:moveTo>
                    <a:pt x="0" y="0"/>
                  </a:moveTo>
                  <a:lnTo>
                    <a:pt x="6858000" y="0"/>
                  </a:lnTo>
                  <a:lnTo>
                    <a:pt x="6858000" y="694944"/>
                  </a:lnTo>
                  <a:lnTo>
                    <a:pt x="0" y="694944"/>
                  </a:lnTo>
                  <a:close/>
                </a:path>
              </a:pathLst>
            </a:custGeom>
            <a:blipFill>
              <a:blip r:embed="rId2">
                <a:alphaModFix amt="0"/>
              </a:blip>
              <a:stretch>
                <a:fillRect l="0" t="-142286" r="0" b="-142286"/>
              </a:stretch>
            </a:blipFill>
          </p:spPr>
        </p:sp>
        <p:sp>
          <p:nvSpPr>
            <p:cNvPr name="TextBox 28" id="28"/>
            <p:cNvSpPr txBox="true"/>
            <p:nvPr/>
          </p:nvSpPr>
          <p:spPr>
            <a:xfrm>
              <a:off x="0" y="-38100"/>
              <a:ext cx="6858000" cy="733044"/>
            </a:xfrm>
            <a:prstGeom prst="rect">
              <a:avLst/>
            </a:prstGeom>
          </p:spPr>
          <p:txBody>
            <a:bodyPr anchor="ctr" rtlCol="false" tIns="0" lIns="0" bIns="0" rIns="0"/>
            <a:lstStyle/>
            <a:p>
              <a:pPr algn="ctr">
                <a:lnSpc>
                  <a:spcPts val="2430"/>
                </a:lnSpc>
              </a:pPr>
              <a:r>
                <a:rPr lang="en-US" sz="2025">
                  <a:solidFill>
                    <a:srgbClr val="6B7280"/>
                  </a:solidFill>
                  <a:latin typeface="Calibri (MS)"/>
                  <a:ea typeface="Calibri (MS)"/>
                  <a:cs typeface="Calibri (MS)"/>
                  <a:sym typeface="Calibri (MS)"/>
                </a:rPr>
                <a:t>Identify</a:t>
              </a:r>
            </a:p>
          </p:txBody>
        </p:sp>
      </p:grpSp>
      <p:grpSp>
        <p:nvGrpSpPr>
          <p:cNvPr name="Group 29" id="29"/>
          <p:cNvGrpSpPr/>
          <p:nvPr/>
        </p:nvGrpSpPr>
        <p:grpSpPr>
          <a:xfrm rot="0">
            <a:off x="6542532" y="5513832"/>
            <a:ext cx="5143500" cy="329184"/>
            <a:chOff x="0" y="0"/>
            <a:chExt cx="6858000" cy="438912"/>
          </a:xfrm>
        </p:grpSpPr>
        <p:sp>
          <p:nvSpPr>
            <p:cNvPr name="Freeform 30" id="30"/>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31" id="31"/>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9AA3B8"/>
                  </a:solidFill>
                  <a:latin typeface="Arimo"/>
                  <a:ea typeface="Arimo"/>
                  <a:cs typeface="Arimo"/>
                  <a:sym typeface="Arimo"/>
                </a:rPr>
                <a:t>ID</a:t>
              </a:r>
            </a:p>
          </p:txBody>
        </p:sp>
      </p:grpSp>
      <p:grpSp>
        <p:nvGrpSpPr>
          <p:cNvPr name="Group 32" id="32"/>
          <p:cNvGrpSpPr/>
          <p:nvPr/>
        </p:nvGrpSpPr>
        <p:grpSpPr>
          <a:xfrm rot="0">
            <a:off x="12115419" y="5065395"/>
            <a:ext cx="5162550" cy="842010"/>
            <a:chOff x="0" y="0"/>
            <a:chExt cx="6883400" cy="1122680"/>
          </a:xfrm>
        </p:grpSpPr>
        <p:sp>
          <p:nvSpPr>
            <p:cNvPr name="Freeform 33" id="33"/>
            <p:cNvSpPr/>
            <p:nvPr/>
          </p:nvSpPr>
          <p:spPr>
            <a:xfrm flipH="false" flipV="false" rot="0">
              <a:off x="0" y="0"/>
              <a:ext cx="6883400" cy="1122680"/>
            </a:xfrm>
            <a:custGeom>
              <a:avLst/>
              <a:gdLst/>
              <a:ahLst/>
              <a:cxnLst/>
              <a:rect r="r" b="b" t="t" l="l"/>
              <a:pathLst>
                <a:path h="1122680" w="6883400">
                  <a:moveTo>
                    <a:pt x="0" y="168402"/>
                  </a:moveTo>
                  <a:cubicBezTo>
                    <a:pt x="0" y="75438"/>
                    <a:pt x="75438" y="0"/>
                    <a:pt x="168402" y="0"/>
                  </a:cubicBezTo>
                  <a:lnTo>
                    <a:pt x="6714998" y="0"/>
                  </a:lnTo>
                  <a:cubicBezTo>
                    <a:pt x="6807962" y="0"/>
                    <a:pt x="6883400" y="75438"/>
                    <a:pt x="6883400" y="168402"/>
                  </a:cubicBezTo>
                  <a:lnTo>
                    <a:pt x="6883400" y="954278"/>
                  </a:lnTo>
                  <a:cubicBezTo>
                    <a:pt x="6883400" y="1047242"/>
                    <a:pt x="6807962" y="1122680"/>
                    <a:pt x="6714998" y="1122680"/>
                  </a:cubicBezTo>
                  <a:lnTo>
                    <a:pt x="168402" y="1122680"/>
                  </a:lnTo>
                  <a:cubicBezTo>
                    <a:pt x="75438" y="1122680"/>
                    <a:pt x="0" y="1047242"/>
                    <a:pt x="0" y="954278"/>
                  </a:cubicBezTo>
                  <a:close/>
                </a:path>
              </a:pathLst>
            </a:custGeom>
            <a:solidFill>
              <a:srgbClr val="F4F7FC"/>
            </a:solidFill>
            <a:ln w="19050" cap="sq">
              <a:solidFill>
                <a:srgbClr val="D7DCEC"/>
              </a:solidFill>
              <a:prstDash val="solid"/>
              <a:miter/>
            </a:ln>
          </p:spPr>
        </p:sp>
      </p:grpSp>
      <p:grpSp>
        <p:nvGrpSpPr>
          <p:cNvPr name="Group 34" id="34"/>
          <p:cNvGrpSpPr/>
          <p:nvPr/>
        </p:nvGrpSpPr>
        <p:grpSpPr>
          <a:xfrm rot="0">
            <a:off x="12124944" y="5143500"/>
            <a:ext cx="5143500" cy="521208"/>
            <a:chOff x="0" y="0"/>
            <a:chExt cx="6858000" cy="694944"/>
          </a:xfrm>
        </p:grpSpPr>
        <p:sp>
          <p:nvSpPr>
            <p:cNvPr name="Freeform 35" id="35"/>
            <p:cNvSpPr/>
            <p:nvPr/>
          </p:nvSpPr>
          <p:spPr>
            <a:xfrm flipH="false" flipV="false" rot="0">
              <a:off x="0" y="0"/>
              <a:ext cx="6858000" cy="694944"/>
            </a:xfrm>
            <a:custGeom>
              <a:avLst/>
              <a:gdLst/>
              <a:ahLst/>
              <a:cxnLst/>
              <a:rect r="r" b="b" t="t" l="l"/>
              <a:pathLst>
                <a:path h="694944" w="6858000">
                  <a:moveTo>
                    <a:pt x="0" y="0"/>
                  </a:moveTo>
                  <a:lnTo>
                    <a:pt x="6858000" y="0"/>
                  </a:lnTo>
                  <a:lnTo>
                    <a:pt x="6858000" y="694944"/>
                  </a:lnTo>
                  <a:lnTo>
                    <a:pt x="0" y="694944"/>
                  </a:lnTo>
                  <a:close/>
                </a:path>
              </a:pathLst>
            </a:custGeom>
            <a:blipFill>
              <a:blip r:embed="rId2">
                <a:alphaModFix amt="0"/>
              </a:blip>
              <a:stretch>
                <a:fillRect l="0" t="-142286" r="0" b="-142286"/>
              </a:stretch>
            </a:blipFill>
          </p:spPr>
        </p:sp>
        <p:sp>
          <p:nvSpPr>
            <p:cNvPr name="TextBox 36" id="36"/>
            <p:cNvSpPr txBox="true"/>
            <p:nvPr/>
          </p:nvSpPr>
          <p:spPr>
            <a:xfrm>
              <a:off x="0" y="-38100"/>
              <a:ext cx="6858000" cy="733044"/>
            </a:xfrm>
            <a:prstGeom prst="rect">
              <a:avLst/>
            </a:prstGeom>
          </p:spPr>
          <p:txBody>
            <a:bodyPr anchor="ctr" rtlCol="false" tIns="0" lIns="0" bIns="0" rIns="0"/>
            <a:lstStyle/>
            <a:p>
              <a:pPr algn="ctr">
                <a:lnSpc>
                  <a:spcPts val="2430"/>
                </a:lnSpc>
              </a:pPr>
              <a:r>
                <a:rPr lang="en-US" sz="2025">
                  <a:solidFill>
                    <a:srgbClr val="6B7280"/>
                  </a:solidFill>
                  <a:latin typeface="Calibri (MS)"/>
                  <a:ea typeface="Calibri (MS)"/>
                  <a:cs typeface="Calibri (MS)"/>
                  <a:sym typeface="Calibri (MS)"/>
                </a:rPr>
                <a:t>Protect</a:t>
              </a:r>
            </a:p>
          </p:txBody>
        </p:sp>
      </p:grpSp>
      <p:grpSp>
        <p:nvGrpSpPr>
          <p:cNvPr name="Group 37" id="37"/>
          <p:cNvGrpSpPr/>
          <p:nvPr/>
        </p:nvGrpSpPr>
        <p:grpSpPr>
          <a:xfrm rot="0">
            <a:off x="12124944" y="5513832"/>
            <a:ext cx="5143500" cy="329184"/>
            <a:chOff x="0" y="0"/>
            <a:chExt cx="6858000" cy="438912"/>
          </a:xfrm>
        </p:grpSpPr>
        <p:sp>
          <p:nvSpPr>
            <p:cNvPr name="Freeform 38" id="38"/>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39" id="39"/>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9AA3B8"/>
                  </a:solidFill>
                  <a:latin typeface="Arimo"/>
                  <a:ea typeface="Arimo"/>
                  <a:cs typeface="Arimo"/>
                  <a:sym typeface="Arimo"/>
                </a:rPr>
                <a:t>PR</a:t>
              </a:r>
            </a:p>
          </p:txBody>
        </p:sp>
      </p:grpSp>
      <p:grpSp>
        <p:nvGrpSpPr>
          <p:cNvPr name="Group 40" id="40"/>
          <p:cNvGrpSpPr/>
          <p:nvPr/>
        </p:nvGrpSpPr>
        <p:grpSpPr>
          <a:xfrm rot="0">
            <a:off x="950595" y="6135243"/>
            <a:ext cx="5162550" cy="842010"/>
            <a:chOff x="0" y="0"/>
            <a:chExt cx="6883400" cy="1122680"/>
          </a:xfrm>
        </p:grpSpPr>
        <p:sp>
          <p:nvSpPr>
            <p:cNvPr name="Freeform 41" id="41"/>
            <p:cNvSpPr/>
            <p:nvPr/>
          </p:nvSpPr>
          <p:spPr>
            <a:xfrm flipH="false" flipV="false" rot="0">
              <a:off x="0" y="0"/>
              <a:ext cx="6883400" cy="1122680"/>
            </a:xfrm>
            <a:custGeom>
              <a:avLst/>
              <a:gdLst/>
              <a:ahLst/>
              <a:cxnLst/>
              <a:rect r="r" b="b" t="t" l="l"/>
              <a:pathLst>
                <a:path h="1122680" w="6883400">
                  <a:moveTo>
                    <a:pt x="0" y="168402"/>
                  </a:moveTo>
                  <a:cubicBezTo>
                    <a:pt x="0" y="75438"/>
                    <a:pt x="75438" y="0"/>
                    <a:pt x="168402" y="0"/>
                  </a:cubicBezTo>
                  <a:lnTo>
                    <a:pt x="6714998" y="0"/>
                  </a:lnTo>
                  <a:cubicBezTo>
                    <a:pt x="6807962" y="0"/>
                    <a:pt x="6883400" y="75438"/>
                    <a:pt x="6883400" y="168402"/>
                  </a:cubicBezTo>
                  <a:lnTo>
                    <a:pt x="6883400" y="954278"/>
                  </a:lnTo>
                  <a:cubicBezTo>
                    <a:pt x="6883400" y="1047242"/>
                    <a:pt x="6807962" y="1122680"/>
                    <a:pt x="6714998" y="1122680"/>
                  </a:cubicBezTo>
                  <a:lnTo>
                    <a:pt x="168402" y="1122680"/>
                  </a:lnTo>
                  <a:cubicBezTo>
                    <a:pt x="75438" y="1122680"/>
                    <a:pt x="0" y="1047242"/>
                    <a:pt x="0" y="954278"/>
                  </a:cubicBezTo>
                  <a:close/>
                </a:path>
              </a:pathLst>
            </a:custGeom>
            <a:solidFill>
              <a:srgbClr val="F4F7FC"/>
            </a:solidFill>
            <a:ln w="19050" cap="sq">
              <a:solidFill>
                <a:srgbClr val="D7DCEC"/>
              </a:solidFill>
              <a:prstDash val="solid"/>
              <a:miter/>
            </a:ln>
          </p:spPr>
        </p:sp>
      </p:grpSp>
      <p:grpSp>
        <p:nvGrpSpPr>
          <p:cNvPr name="Group 42" id="42"/>
          <p:cNvGrpSpPr/>
          <p:nvPr/>
        </p:nvGrpSpPr>
        <p:grpSpPr>
          <a:xfrm rot="0">
            <a:off x="960120" y="6213348"/>
            <a:ext cx="5143500" cy="521208"/>
            <a:chOff x="0" y="0"/>
            <a:chExt cx="6858000" cy="694944"/>
          </a:xfrm>
        </p:grpSpPr>
        <p:sp>
          <p:nvSpPr>
            <p:cNvPr name="Freeform 43" id="43"/>
            <p:cNvSpPr/>
            <p:nvPr/>
          </p:nvSpPr>
          <p:spPr>
            <a:xfrm flipH="false" flipV="false" rot="0">
              <a:off x="0" y="0"/>
              <a:ext cx="6858000" cy="694944"/>
            </a:xfrm>
            <a:custGeom>
              <a:avLst/>
              <a:gdLst/>
              <a:ahLst/>
              <a:cxnLst/>
              <a:rect r="r" b="b" t="t" l="l"/>
              <a:pathLst>
                <a:path h="694944" w="6858000">
                  <a:moveTo>
                    <a:pt x="0" y="0"/>
                  </a:moveTo>
                  <a:lnTo>
                    <a:pt x="6858000" y="0"/>
                  </a:lnTo>
                  <a:lnTo>
                    <a:pt x="6858000" y="694944"/>
                  </a:lnTo>
                  <a:lnTo>
                    <a:pt x="0" y="694944"/>
                  </a:lnTo>
                  <a:close/>
                </a:path>
              </a:pathLst>
            </a:custGeom>
            <a:blipFill>
              <a:blip r:embed="rId2">
                <a:alphaModFix amt="0"/>
              </a:blip>
              <a:stretch>
                <a:fillRect l="0" t="-142286" r="0" b="-142286"/>
              </a:stretch>
            </a:blipFill>
          </p:spPr>
        </p:sp>
        <p:sp>
          <p:nvSpPr>
            <p:cNvPr name="TextBox 44" id="44"/>
            <p:cNvSpPr txBox="true"/>
            <p:nvPr/>
          </p:nvSpPr>
          <p:spPr>
            <a:xfrm>
              <a:off x="0" y="-38100"/>
              <a:ext cx="6858000" cy="733044"/>
            </a:xfrm>
            <a:prstGeom prst="rect">
              <a:avLst/>
            </a:prstGeom>
          </p:spPr>
          <p:txBody>
            <a:bodyPr anchor="ctr" rtlCol="false" tIns="0" lIns="0" bIns="0" rIns="0"/>
            <a:lstStyle/>
            <a:p>
              <a:pPr algn="ctr">
                <a:lnSpc>
                  <a:spcPts val="2430"/>
                </a:lnSpc>
              </a:pPr>
              <a:r>
                <a:rPr lang="en-US" sz="2025">
                  <a:solidFill>
                    <a:srgbClr val="6B7280"/>
                  </a:solidFill>
                  <a:latin typeface="Calibri (MS)"/>
                  <a:ea typeface="Calibri (MS)"/>
                  <a:cs typeface="Calibri (MS)"/>
                  <a:sym typeface="Calibri (MS)"/>
                </a:rPr>
                <a:t>Detect</a:t>
              </a:r>
            </a:p>
          </p:txBody>
        </p:sp>
      </p:grpSp>
      <p:grpSp>
        <p:nvGrpSpPr>
          <p:cNvPr name="Group 45" id="45"/>
          <p:cNvGrpSpPr/>
          <p:nvPr/>
        </p:nvGrpSpPr>
        <p:grpSpPr>
          <a:xfrm rot="0">
            <a:off x="960120" y="6583680"/>
            <a:ext cx="5143500" cy="329184"/>
            <a:chOff x="0" y="0"/>
            <a:chExt cx="6858000" cy="438912"/>
          </a:xfrm>
        </p:grpSpPr>
        <p:sp>
          <p:nvSpPr>
            <p:cNvPr name="Freeform 46" id="46"/>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47" id="47"/>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9AA3B8"/>
                  </a:solidFill>
                  <a:latin typeface="Arimo"/>
                  <a:ea typeface="Arimo"/>
                  <a:cs typeface="Arimo"/>
                  <a:sym typeface="Arimo"/>
                </a:rPr>
                <a:t>DE</a:t>
              </a:r>
            </a:p>
          </p:txBody>
        </p:sp>
      </p:grpSp>
      <p:grpSp>
        <p:nvGrpSpPr>
          <p:cNvPr name="Group 48" id="48"/>
          <p:cNvGrpSpPr/>
          <p:nvPr/>
        </p:nvGrpSpPr>
        <p:grpSpPr>
          <a:xfrm rot="0">
            <a:off x="6533007" y="6135243"/>
            <a:ext cx="5162550" cy="842010"/>
            <a:chOff x="0" y="0"/>
            <a:chExt cx="6883400" cy="1122680"/>
          </a:xfrm>
        </p:grpSpPr>
        <p:sp>
          <p:nvSpPr>
            <p:cNvPr name="Freeform 49" id="49"/>
            <p:cNvSpPr/>
            <p:nvPr/>
          </p:nvSpPr>
          <p:spPr>
            <a:xfrm flipH="false" flipV="false" rot="0">
              <a:off x="0" y="0"/>
              <a:ext cx="6883400" cy="1122680"/>
            </a:xfrm>
            <a:custGeom>
              <a:avLst/>
              <a:gdLst/>
              <a:ahLst/>
              <a:cxnLst/>
              <a:rect r="r" b="b" t="t" l="l"/>
              <a:pathLst>
                <a:path h="1122680" w="6883400">
                  <a:moveTo>
                    <a:pt x="0" y="168402"/>
                  </a:moveTo>
                  <a:cubicBezTo>
                    <a:pt x="0" y="75438"/>
                    <a:pt x="75438" y="0"/>
                    <a:pt x="168402" y="0"/>
                  </a:cubicBezTo>
                  <a:lnTo>
                    <a:pt x="6714998" y="0"/>
                  </a:lnTo>
                  <a:cubicBezTo>
                    <a:pt x="6807962" y="0"/>
                    <a:pt x="6883400" y="75438"/>
                    <a:pt x="6883400" y="168402"/>
                  </a:cubicBezTo>
                  <a:lnTo>
                    <a:pt x="6883400" y="954278"/>
                  </a:lnTo>
                  <a:cubicBezTo>
                    <a:pt x="6883400" y="1047242"/>
                    <a:pt x="6807962" y="1122680"/>
                    <a:pt x="6714998" y="1122680"/>
                  </a:cubicBezTo>
                  <a:lnTo>
                    <a:pt x="168402" y="1122680"/>
                  </a:lnTo>
                  <a:cubicBezTo>
                    <a:pt x="75438" y="1122680"/>
                    <a:pt x="0" y="1047242"/>
                    <a:pt x="0" y="954278"/>
                  </a:cubicBezTo>
                  <a:close/>
                </a:path>
              </a:pathLst>
            </a:custGeom>
            <a:solidFill>
              <a:srgbClr val="F4F7FC"/>
            </a:solidFill>
            <a:ln w="19050" cap="sq">
              <a:solidFill>
                <a:srgbClr val="D7DCEC"/>
              </a:solidFill>
              <a:prstDash val="solid"/>
              <a:miter/>
            </a:ln>
          </p:spPr>
        </p:sp>
      </p:grpSp>
      <p:grpSp>
        <p:nvGrpSpPr>
          <p:cNvPr name="Group 50" id="50"/>
          <p:cNvGrpSpPr/>
          <p:nvPr/>
        </p:nvGrpSpPr>
        <p:grpSpPr>
          <a:xfrm rot="0">
            <a:off x="6542532" y="6213348"/>
            <a:ext cx="5143500" cy="521208"/>
            <a:chOff x="0" y="0"/>
            <a:chExt cx="6858000" cy="694944"/>
          </a:xfrm>
        </p:grpSpPr>
        <p:sp>
          <p:nvSpPr>
            <p:cNvPr name="Freeform 51" id="51"/>
            <p:cNvSpPr/>
            <p:nvPr/>
          </p:nvSpPr>
          <p:spPr>
            <a:xfrm flipH="false" flipV="false" rot="0">
              <a:off x="0" y="0"/>
              <a:ext cx="6858000" cy="694944"/>
            </a:xfrm>
            <a:custGeom>
              <a:avLst/>
              <a:gdLst/>
              <a:ahLst/>
              <a:cxnLst/>
              <a:rect r="r" b="b" t="t" l="l"/>
              <a:pathLst>
                <a:path h="694944" w="6858000">
                  <a:moveTo>
                    <a:pt x="0" y="0"/>
                  </a:moveTo>
                  <a:lnTo>
                    <a:pt x="6858000" y="0"/>
                  </a:lnTo>
                  <a:lnTo>
                    <a:pt x="6858000" y="694944"/>
                  </a:lnTo>
                  <a:lnTo>
                    <a:pt x="0" y="694944"/>
                  </a:lnTo>
                  <a:close/>
                </a:path>
              </a:pathLst>
            </a:custGeom>
            <a:blipFill>
              <a:blip r:embed="rId2">
                <a:alphaModFix amt="0"/>
              </a:blip>
              <a:stretch>
                <a:fillRect l="0" t="-142286" r="0" b="-142286"/>
              </a:stretch>
            </a:blipFill>
          </p:spPr>
        </p:sp>
        <p:sp>
          <p:nvSpPr>
            <p:cNvPr name="TextBox 52" id="52"/>
            <p:cNvSpPr txBox="true"/>
            <p:nvPr/>
          </p:nvSpPr>
          <p:spPr>
            <a:xfrm>
              <a:off x="0" y="-38100"/>
              <a:ext cx="6858000" cy="733044"/>
            </a:xfrm>
            <a:prstGeom prst="rect">
              <a:avLst/>
            </a:prstGeom>
          </p:spPr>
          <p:txBody>
            <a:bodyPr anchor="ctr" rtlCol="false" tIns="0" lIns="0" bIns="0" rIns="0"/>
            <a:lstStyle/>
            <a:p>
              <a:pPr algn="ctr">
                <a:lnSpc>
                  <a:spcPts val="2430"/>
                </a:lnSpc>
              </a:pPr>
              <a:r>
                <a:rPr lang="en-US" sz="2025">
                  <a:solidFill>
                    <a:srgbClr val="6B7280"/>
                  </a:solidFill>
                  <a:latin typeface="Calibri (MS)"/>
                  <a:ea typeface="Calibri (MS)"/>
                  <a:cs typeface="Calibri (MS)"/>
                  <a:sym typeface="Calibri (MS)"/>
                </a:rPr>
                <a:t>Respond</a:t>
              </a:r>
            </a:p>
          </p:txBody>
        </p:sp>
      </p:grpSp>
      <p:grpSp>
        <p:nvGrpSpPr>
          <p:cNvPr name="Group 53" id="53"/>
          <p:cNvGrpSpPr/>
          <p:nvPr/>
        </p:nvGrpSpPr>
        <p:grpSpPr>
          <a:xfrm rot="0">
            <a:off x="6542532" y="6583680"/>
            <a:ext cx="5143500" cy="329184"/>
            <a:chOff x="0" y="0"/>
            <a:chExt cx="6858000" cy="438912"/>
          </a:xfrm>
        </p:grpSpPr>
        <p:sp>
          <p:nvSpPr>
            <p:cNvPr name="Freeform 54" id="54"/>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55" id="55"/>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9AA3B8"/>
                  </a:solidFill>
                  <a:latin typeface="Arimo"/>
                  <a:ea typeface="Arimo"/>
                  <a:cs typeface="Arimo"/>
                  <a:sym typeface="Arimo"/>
                </a:rPr>
                <a:t>RS</a:t>
              </a:r>
            </a:p>
          </p:txBody>
        </p:sp>
      </p:grpSp>
      <p:grpSp>
        <p:nvGrpSpPr>
          <p:cNvPr name="Group 56" id="56"/>
          <p:cNvGrpSpPr/>
          <p:nvPr/>
        </p:nvGrpSpPr>
        <p:grpSpPr>
          <a:xfrm rot="0">
            <a:off x="12115419" y="6135243"/>
            <a:ext cx="5162550" cy="842010"/>
            <a:chOff x="0" y="0"/>
            <a:chExt cx="6883400" cy="1122680"/>
          </a:xfrm>
        </p:grpSpPr>
        <p:sp>
          <p:nvSpPr>
            <p:cNvPr name="Freeform 57" id="57"/>
            <p:cNvSpPr/>
            <p:nvPr/>
          </p:nvSpPr>
          <p:spPr>
            <a:xfrm flipH="false" flipV="false" rot="0">
              <a:off x="0" y="0"/>
              <a:ext cx="6883400" cy="1122680"/>
            </a:xfrm>
            <a:custGeom>
              <a:avLst/>
              <a:gdLst/>
              <a:ahLst/>
              <a:cxnLst/>
              <a:rect r="r" b="b" t="t" l="l"/>
              <a:pathLst>
                <a:path h="1122680" w="6883400">
                  <a:moveTo>
                    <a:pt x="0" y="168402"/>
                  </a:moveTo>
                  <a:cubicBezTo>
                    <a:pt x="0" y="75438"/>
                    <a:pt x="75438" y="0"/>
                    <a:pt x="168402" y="0"/>
                  </a:cubicBezTo>
                  <a:lnTo>
                    <a:pt x="6714998" y="0"/>
                  </a:lnTo>
                  <a:cubicBezTo>
                    <a:pt x="6807962" y="0"/>
                    <a:pt x="6883400" y="75438"/>
                    <a:pt x="6883400" y="168402"/>
                  </a:cubicBezTo>
                  <a:lnTo>
                    <a:pt x="6883400" y="954278"/>
                  </a:lnTo>
                  <a:cubicBezTo>
                    <a:pt x="6883400" y="1047242"/>
                    <a:pt x="6807962" y="1122680"/>
                    <a:pt x="6714998" y="1122680"/>
                  </a:cubicBezTo>
                  <a:lnTo>
                    <a:pt x="168402" y="1122680"/>
                  </a:lnTo>
                  <a:cubicBezTo>
                    <a:pt x="75438" y="1122680"/>
                    <a:pt x="0" y="1047242"/>
                    <a:pt x="0" y="954278"/>
                  </a:cubicBezTo>
                  <a:close/>
                </a:path>
              </a:pathLst>
            </a:custGeom>
            <a:solidFill>
              <a:srgbClr val="F4F7FC"/>
            </a:solidFill>
            <a:ln w="19050" cap="sq">
              <a:solidFill>
                <a:srgbClr val="D7DCEC"/>
              </a:solidFill>
              <a:prstDash val="solid"/>
              <a:miter/>
            </a:ln>
          </p:spPr>
        </p:sp>
      </p:grpSp>
      <p:grpSp>
        <p:nvGrpSpPr>
          <p:cNvPr name="Group 58" id="58"/>
          <p:cNvGrpSpPr/>
          <p:nvPr/>
        </p:nvGrpSpPr>
        <p:grpSpPr>
          <a:xfrm rot="0">
            <a:off x="12124944" y="6213348"/>
            <a:ext cx="5143500" cy="521208"/>
            <a:chOff x="0" y="0"/>
            <a:chExt cx="6858000" cy="694944"/>
          </a:xfrm>
        </p:grpSpPr>
        <p:sp>
          <p:nvSpPr>
            <p:cNvPr name="Freeform 59" id="59"/>
            <p:cNvSpPr/>
            <p:nvPr/>
          </p:nvSpPr>
          <p:spPr>
            <a:xfrm flipH="false" flipV="false" rot="0">
              <a:off x="0" y="0"/>
              <a:ext cx="6858000" cy="694944"/>
            </a:xfrm>
            <a:custGeom>
              <a:avLst/>
              <a:gdLst/>
              <a:ahLst/>
              <a:cxnLst/>
              <a:rect r="r" b="b" t="t" l="l"/>
              <a:pathLst>
                <a:path h="694944" w="6858000">
                  <a:moveTo>
                    <a:pt x="0" y="0"/>
                  </a:moveTo>
                  <a:lnTo>
                    <a:pt x="6858000" y="0"/>
                  </a:lnTo>
                  <a:lnTo>
                    <a:pt x="6858000" y="694944"/>
                  </a:lnTo>
                  <a:lnTo>
                    <a:pt x="0" y="694944"/>
                  </a:lnTo>
                  <a:close/>
                </a:path>
              </a:pathLst>
            </a:custGeom>
            <a:blipFill>
              <a:blip r:embed="rId2">
                <a:alphaModFix amt="0"/>
              </a:blip>
              <a:stretch>
                <a:fillRect l="0" t="-142286" r="0" b="-142286"/>
              </a:stretch>
            </a:blipFill>
          </p:spPr>
        </p:sp>
        <p:sp>
          <p:nvSpPr>
            <p:cNvPr name="TextBox 60" id="60"/>
            <p:cNvSpPr txBox="true"/>
            <p:nvPr/>
          </p:nvSpPr>
          <p:spPr>
            <a:xfrm>
              <a:off x="0" y="-38100"/>
              <a:ext cx="6858000" cy="733044"/>
            </a:xfrm>
            <a:prstGeom prst="rect">
              <a:avLst/>
            </a:prstGeom>
          </p:spPr>
          <p:txBody>
            <a:bodyPr anchor="ctr" rtlCol="false" tIns="0" lIns="0" bIns="0" rIns="0"/>
            <a:lstStyle/>
            <a:p>
              <a:pPr algn="ctr">
                <a:lnSpc>
                  <a:spcPts val="2430"/>
                </a:lnSpc>
              </a:pPr>
              <a:r>
                <a:rPr lang="en-US" sz="2025">
                  <a:solidFill>
                    <a:srgbClr val="6B7280"/>
                  </a:solidFill>
                  <a:latin typeface="Calibri (MS)"/>
                  <a:ea typeface="Calibri (MS)"/>
                  <a:cs typeface="Calibri (MS)"/>
                  <a:sym typeface="Calibri (MS)"/>
                </a:rPr>
                <a:t>Recover</a:t>
              </a:r>
            </a:p>
          </p:txBody>
        </p:sp>
      </p:grpSp>
      <p:grpSp>
        <p:nvGrpSpPr>
          <p:cNvPr name="Group 61" id="61"/>
          <p:cNvGrpSpPr/>
          <p:nvPr/>
        </p:nvGrpSpPr>
        <p:grpSpPr>
          <a:xfrm rot="0">
            <a:off x="12124944" y="6583680"/>
            <a:ext cx="5143500" cy="329184"/>
            <a:chOff x="0" y="0"/>
            <a:chExt cx="6858000" cy="438912"/>
          </a:xfrm>
        </p:grpSpPr>
        <p:sp>
          <p:nvSpPr>
            <p:cNvPr name="Freeform 62" id="62"/>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63" id="63"/>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9AA3B8"/>
                  </a:solidFill>
                  <a:latin typeface="Arimo"/>
                  <a:ea typeface="Arimo"/>
                  <a:cs typeface="Arimo"/>
                  <a:sym typeface="Arimo"/>
                </a:rPr>
                <a:t>RC</a:t>
              </a:r>
            </a:p>
          </p:txBody>
        </p:sp>
      </p:grpSp>
      <p:grpSp>
        <p:nvGrpSpPr>
          <p:cNvPr name="Group 64" id="64"/>
          <p:cNvGrpSpPr/>
          <p:nvPr/>
        </p:nvGrpSpPr>
        <p:grpSpPr>
          <a:xfrm rot="0">
            <a:off x="950595" y="7328535"/>
            <a:ext cx="16341090" cy="1596390"/>
            <a:chOff x="0" y="0"/>
            <a:chExt cx="21788120" cy="2128520"/>
          </a:xfrm>
        </p:grpSpPr>
        <p:sp>
          <p:nvSpPr>
            <p:cNvPr name="Freeform 65" id="65"/>
            <p:cNvSpPr/>
            <p:nvPr/>
          </p:nvSpPr>
          <p:spPr>
            <a:xfrm flipH="false" flipV="false" rot="0">
              <a:off x="0" y="0"/>
              <a:ext cx="21788120" cy="2128520"/>
            </a:xfrm>
            <a:custGeom>
              <a:avLst/>
              <a:gdLst/>
              <a:ahLst/>
              <a:cxnLst/>
              <a:rect r="r" b="b" t="t" l="l"/>
              <a:pathLst>
                <a:path h="2128520" w="21788120">
                  <a:moveTo>
                    <a:pt x="0" y="185039"/>
                  </a:moveTo>
                  <a:cubicBezTo>
                    <a:pt x="0" y="82931"/>
                    <a:pt x="82931" y="0"/>
                    <a:pt x="185039" y="0"/>
                  </a:cubicBezTo>
                  <a:lnTo>
                    <a:pt x="21603081" y="0"/>
                  </a:lnTo>
                  <a:cubicBezTo>
                    <a:pt x="21705317" y="0"/>
                    <a:pt x="21788120" y="82931"/>
                    <a:pt x="21788120" y="185039"/>
                  </a:cubicBezTo>
                  <a:lnTo>
                    <a:pt x="21788120" y="1943481"/>
                  </a:lnTo>
                  <a:cubicBezTo>
                    <a:pt x="21788120" y="2045716"/>
                    <a:pt x="21705190" y="2128520"/>
                    <a:pt x="21603081" y="2128520"/>
                  </a:cubicBezTo>
                  <a:lnTo>
                    <a:pt x="185039" y="2128520"/>
                  </a:lnTo>
                  <a:cubicBezTo>
                    <a:pt x="82931" y="2128520"/>
                    <a:pt x="0" y="2045589"/>
                    <a:pt x="0" y="1943481"/>
                  </a:cubicBezTo>
                  <a:close/>
                </a:path>
              </a:pathLst>
            </a:custGeom>
            <a:solidFill>
              <a:srgbClr val="FBF9F4"/>
            </a:solidFill>
            <a:ln w="19050" cap="sq">
              <a:solidFill>
                <a:srgbClr val="EFE6D2"/>
              </a:solidFill>
              <a:prstDash val="solid"/>
              <a:miter/>
            </a:ln>
          </p:spPr>
        </p:sp>
      </p:grpSp>
      <p:sp>
        <p:nvSpPr>
          <p:cNvPr name="TextBox 66" id="66"/>
          <p:cNvSpPr txBox="true"/>
          <p:nvPr/>
        </p:nvSpPr>
        <p:spPr>
          <a:xfrm rot="0">
            <a:off x="1463040" y="7494270"/>
            <a:ext cx="15316200" cy="1238250"/>
          </a:xfrm>
          <a:prstGeom prst="rect">
            <a:avLst/>
          </a:prstGeom>
        </p:spPr>
        <p:txBody>
          <a:bodyPr anchor="t" rtlCol="false" tIns="0" lIns="0" bIns="0" rIns="0">
            <a:spAutoFit/>
          </a:bodyPr>
          <a:lstStyle/>
          <a:p>
            <a:pPr algn="l">
              <a:lnSpc>
                <a:spcPts val="2880"/>
              </a:lnSpc>
            </a:pPr>
            <a:r>
              <a:rPr lang="en-US" sz="1875">
                <a:solidFill>
                  <a:srgbClr val="23262F"/>
                </a:solidFill>
                <a:latin typeface="Calibri (MS)"/>
                <a:ea typeface="Calibri (MS)"/>
                <a:cs typeface="Calibri (MS)"/>
                <a:sym typeface="Calibri (MS)"/>
              </a:rPr>
              <a:t>This is accountability built into a formal, recurring process — leadership confirming responsibilities were actually carried out. That's Govern.</a:t>
            </a:r>
          </a:p>
        </p:txBody>
      </p:sp>
      <p:grpSp>
        <p:nvGrpSpPr>
          <p:cNvPr name="Group 67" id="67"/>
          <p:cNvGrpSpPr/>
          <p:nvPr/>
        </p:nvGrpSpPr>
        <p:grpSpPr>
          <a:xfrm rot="0">
            <a:off x="685800" y="9710928"/>
            <a:ext cx="10972800" cy="411480"/>
            <a:chOff x="0" y="0"/>
            <a:chExt cx="14630400" cy="548640"/>
          </a:xfrm>
        </p:grpSpPr>
        <p:sp>
          <p:nvSpPr>
            <p:cNvPr name="Freeform 68" id="68"/>
            <p:cNvSpPr/>
            <p:nvPr/>
          </p:nvSpPr>
          <p:spPr>
            <a:xfrm flipH="false" flipV="false" rot="0">
              <a:off x="0" y="0"/>
              <a:ext cx="14630400" cy="548640"/>
            </a:xfrm>
            <a:custGeom>
              <a:avLst/>
              <a:gdLst/>
              <a:ahLst/>
              <a:cxnLst/>
              <a:rect r="r" b="b" t="t" l="l"/>
              <a:pathLst>
                <a:path h="548640" w="14630400">
                  <a:moveTo>
                    <a:pt x="0" y="0"/>
                  </a:moveTo>
                  <a:lnTo>
                    <a:pt x="14630400" y="0"/>
                  </a:lnTo>
                  <a:lnTo>
                    <a:pt x="14630400" y="548640"/>
                  </a:lnTo>
                  <a:lnTo>
                    <a:pt x="0" y="548640"/>
                  </a:lnTo>
                  <a:close/>
                </a:path>
              </a:pathLst>
            </a:custGeom>
            <a:blipFill>
              <a:blip r:embed="rId2">
                <a:alphaModFix amt="0"/>
              </a:blip>
              <a:stretch>
                <a:fillRect l="0" t="-469601" r="0" b="-469601"/>
              </a:stretch>
            </a:blipFill>
          </p:spPr>
        </p:sp>
        <p:sp>
          <p:nvSpPr>
            <p:cNvPr name="TextBox 69" id="69"/>
            <p:cNvSpPr txBox="true"/>
            <p:nvPr/>
          </p:nvSpPr>
          <p:spPr>
            <a:xfrm>
              <a:off x="0" y="-38100"/>
              <a:ext cx="14630400" cy="586740"/>
            </a:xfrm>
            <a:prstGeom prst="rect">
              <a:avLst/>
            </a:prstGeom>
          </p:spPr>
          <p:txBody>
            <a:bodyPr anchor="ctr" rtlCol="false" tIns="0" lIns="0" bIns="0" rIns="0"/>
            <a:lstStyle/>
            <a:p>
              <a:pPr algn="l">
                <a:lnSpc>
                  <a:spcPts val="1800"/>
                </a:lnSpc>
              </a:pPr>
              <a:r>
                <a:rPr lang="en-US" sz="1500">
                  <a:solidFill>
                    <a:srgbClr val="6B7280"/>
                  </a:solidFill>
                  <a:latin typeface="Calibri (MS)"/>
                  <a:ea typeface="Calibri (MS)"/>
                  <a:cs typeface="Calibri (MS)"/>
                  <a:sym typeface="Calibri (MS)"/>
                </a:rPr>
                <a:t>Davao del Norte Provincial Government — Cybersecurity Seminar</a:t>
              </a:r>
            </a:p>
          </p:txBody>
        </p:sp>
      </p:grpSp>
      <p:grpSp>
        <p:nvGrpSpPr>
          <p:cNvPr name="Group 70" id="70"/>
          <p:cNvGrpSpPr/>
          <p:nvPr/>
        </p:nvGrpSpPr>
        <p:grpSpPr>
          <a:xfrm rot="0">
            <a:off x="16911828" y="9710928"/>
            <a:ext cx="685800" cy="411480"/>
            <a:chOff x="0" y="0"/>
            <a:chExt cx="914400" cy="548640"/>
          </a:xfrm>
        </p:grpSpPr>
        <p:sp>
          <p:nvSpPr>
            <p:cNvPr name="Freeform 71" id="71"/>
            <p:cNvSpPr/>
            <p:nvPr/>
          </p:nvSpPr>
          <p:spPr>
            <a:xfrm flipH="false" flipV="false" rot="0">
              <a:off x="0" y="0"/>
              <a:ext cx="914400" cy="548640"/>
            </a:xfrm>
            <a:custGeom>
              <a:avLst/>
              <a:gdLst/>
              <a:ahLst/>
              <a:cxnLst/>
              <a:rect r="r" b="b" t="t" l="l"/>
              <a:pathLst>
                <a:path h="548640" w="914400">
                  <a:moveTo>
                    <a:pt x="0" y="0"/>
                  </a:moveTo>
                  <a:lnTo>
                    <a:pt x="914400" y="0"/>
                  </a:lnTo>
                  <a:lnTo>
                    <a:pt x="914400" y="548640"/>
                  </a:lnTo>
                  <a:lnTo>
                    <a:pt x="0" y="548640"/>
                  </a:lnTo>
                  <a:close/>
                </a:path>
              </a:pathLst>
            </a:custGeom>
            <a:blipFill>
              <a:blip r:embed="rId2">
                <a:alphaModFix amt="0"/>
              </a:blip>
              <a:stretch>
                <a:fillRect l="-26982" t="0" r="-26982" b="0"/>
              </a:stretch>
            </a:blipFill>
          </p:spPr>
        </p:sp>
        <p:sp>
          <p:nvSpPr>
            <p:cNvPr name="TextBox 72" id="72"/>
            <p:cNvSpPr txBox="true"/>
            <p:nvPr/>
          </p:nvSpPr>
          <p:spPr>
            <a:xfrm>
              <a:off x="0" y="-38100"/>
              <a:ext cx="914400" cy="586740"/>
            </a:xfrm>
            <a:prstGeom prst="rect">
              <a:avLst/>
            </a:prstGeom>
          </p:spPr>
          <p:txBody>
            <a:bodyPr anchor="ctr" rtlCol="false" tIns="0" lIns="0" bIns="0" rIns="0"/>
            <a:lstStyle/>
            <a:p>
              <a:pPr algn="r">
                <a:lnSpc>
                  <a:spcPts val="1800"/>
                </a:lnSpc>
              </a:pPr>
              <a:r>
                <a:rPr lang="en-US" sz="1500">
                  <a:solidFill>
                    <a:srgbClr val="6B7280"/>
                  </a:solidFill>
                  <a:latin typeface="Calibri (MS)"/>
                  <a:ea typeface="Calibri (MS)"/>
                  <a:cs typeface="Calibri (MS)"/>
                  <a:sym typeface="Calibri (MS)"/>
                </a:rPr>
                <a:t>48</a:t>
              </a:r>
            </a:p>
          </p:txBody>
        </p:sp>
      </p:grpSp>
    </p:spTree>
  </p:cSld>
  <p:clrMapOvr>
    <a:masterClrMapping/>
  </p:clrMapOvr>
</p:sld>
</file>

<file path=ppt/slides/slide1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60120" y="685800"/>
            <a:ext cx="13716000" cy="411480"/>
            <a:chOff x="0" y="0"/>
            <a:chExt cx="18288000" cy="548640"/>
          </a:xfrm>
        </p:grpSpPr>
        <p:sp>
          <p:nvSpPr>
            <p:cNvPr name="Freeform 3" id="3"/>
            <p:cNvSpPr/>
            <p:nvPr/>
          </p:nvSpPr>
          <p:spPr>
            <a:xfrm flipH="false" flipV="false" rot="0">
              <a:off x="0" y="0"/>
              <a:ext cx="18288000" cy="548640"/>
            </a:xfrm>
            <a:custGeom>
              <a:avLst/>
              <a:gdLst/>
              <a:ahLst/>
              <a:cxnLst/>
              <a:rect r="r" b="b" t="t" l="l"/>
              <a:pathLst>
                <a:path h="548640" w="18288000">
                  <a:moveTo>
                    <a:pt x="0" y="0"/>
                  </a:moveTo>
                  <a:lnTo>
                    <a:pt x="18288000" y="0"/>
                  </a:lnTo>
                  <a:lnTo>
                    <a:pt x="18288000" y="548640"/>
                  </a:lnTo>
                  <a:lnTo>
                    <a:pt x="0" y="548640"/>
                  </a:lnTo>
                  <a:close/>
                </a:path>
              </a:pathLst>
            </a:custGeom>
            <a:blipFill>
              <a:blip r:embed="rId2">
                <a:alphaModFix amt="0"/>
              </a:blip>
              <a:stretch>
                <a:fillRect l="0" t="-599501" r="0" b="-599501"/>
              </a:stretch>
            </a:blipFill>
          </p:spPr>
        </p:sp>
        <p:sp>
          <p:nvSpPr>
            <p:cNvPr name="TextBox 4" id="4"/>
            <p:cNvSpPr txBox="true"/>
            <p:nvPr/>
          </p:nvSpPr>
          <p:spPr>
            <a:xfrm>
              <a:off x="0" y="-38100"/>
              <a:ext cx="18288000" cy="586740"/>
            </a:xfrm>
            <a:prstGeom prst="rect">
              <a:avLst/>
            </a:prstGeom>
          </p:spPr>
          <p:txBody>
            <a:bodyPr anchor="ctr" rtlCol="false" tIns="0" lIns="0" bIns="0" rIns="0"/>
            <a:lstStyle/>
            <a:p>
              <a:pPr algn="l">
                <a:lnSpc>
                  <a:spcPts val="2160"/>
                </a:lnSpc>
              </a:pPr>
              <a:r>
                <a:rPr lang="en-US" b="true" sz="1800" spc="225">
                  <a:solidFill>
                    <a:srgbClr val="00B4D8"/>
                  </a:solidFill>
                  <a:latin typeface="Calibri (MS) Bold"/>
                  <a:ea typeface="Calibri (MS) Bold"/>
                  <a:cs typeface="Calibri (MS) Bold"/>
                  <a:sym typeface="Calibri (MS) Bold"/>
                </a:rPr>
                <a:t>NIST CSF SORT · SCENARIO</a:t>
              </a:r>
            </a:p>
          </p:txBody>
        </p:sp>
      </p:grpSp>
      <p:grpSp>
        <p:nvGrpSpPr>
          <p:cNvPr name="Group 5" id="5"/>
          <p:cNvGrpSpPr/>
          <p:nvPr/>
        </p:nvGrpSpPr>
        <p:grpSpPr>
          <a:xfrm rot="0">
            <a:off x="960120" y="1069848"/>
            <a:ext cx="10972800" cy="822960"/>
            <a:chOff x="0" y="0"/>
            <a:chExt cx="14630400" cy="1097280"/>
          </a:xfrm>
        </p:grpSpPr>
        <p:sp>
          <p:nvSpPr>
            <p:cNvPr name="Freeform 6" id="6"/>
            <p:cNvSpPr/>
            <p:nvPr/>
          </p:nvSpPr>
          <p:spPr>
            <a:xfrm flipH="false" flipV="false" rot="0">
              <a:off x="0" y="0"/>
              <a:ext cx="14630400" cy="1097280"/>
            </a:xfrm>
            <a:custGeom>
              <a:avLst/>
              <a:gdLst/>
              <a:ahLst/>
              <a:cxnLst/>
              <a:rect r="r" b="b" t="t" l="l"/>
              <a:pathLst>
                <a:path h="1097280" w="14630400">
                  <a:moveTo>
                    <a:pt x="0" y="0"/>
                  </a:moveTo>
                  <a:lnTo>
                    <a:pt x="14630400" y="0"/>
                  </a:lnTo>
                  <a:lnTo>
                    <a:pt x="14630400" y="1097280"/>
                  </a:lnTo>
                  <a:lnTo>
                    <a:pt x="0" y="1097280"/>
                  </a:lnTo>
                  <a:close/>
                </a:path>
              </a:pathLst>
            </a:custGeom>
            <a:blipFill>
              <a:blip r:embed="rId2">
                <a:alphaModFix amt="0"/>
              </a:blip>
              <a:stretch>
                <a:fillRect l="0" t="-209800" r="0" b="-209800"/>
              </a:stretch>
            </a:blipFill>
          </p:spPr>
        </p:sp>
        <p:sp>
          <p:nvSpPr>
            <p:cNvPr name="TextBox 7" id="7"/>
            <p:cNvSpPr txBox="true"/>
            <p:nvPr/>
          </p:nvSpPr>
          <p:spPr>
            <a:xfrm>
              <a:off x="0" y="0"/>
              <a:ext cx="14630400" cy="1097280"/>
            </a:xfrm>
            <a:prstGeom prst="rect">
              <a:avLst/>
            </a:prstGeom>
          </p:spPr>
          <p:txBody>
            <a:bodyPr anchor="ctr" rtlCol="false" tIns="0" lIns="0" bIns="0" rIns="0"/>
            <a:lstStyle/>
            <a:p>
              <a:pPr algn="l">
                <a:lnSpc>
                  <a:spcPts val="4680"/>
                </a:lnSpc>
              </a:pPr>
              <a:r>
                <a:rPr lang="en-US" sz="3900" b="true">
                  <a:solidFill>
                    <a:srgbClr val="1E2761"/>
                  </a:solidFill>
                  <a:latin typeface="Cambria Bold"/>
                  <a:ea typeface="Cambria Bold"/>
                  <a:cs typeface="Cambria Bold"/>
                  <a:sym typeface="Cambria Bold"/>
                </a:rPr>
                <a:t>Scenario 20</a:t>
              </a:r>
            </a:p>
          </p:txBody>
        </p:sp>
      </p:grpSp>
      <p:grpSp>
        <p:nvGrpSpPr>
          <p:cNvPr name="Group 8" id="8"/>
          <p:cNvGrpSpPr/>
          <p:nvPr/>
        </p:nvGrpSpPr>
        <p:grpSpPr>
          <a:xfrm rot="0">
            <a:off x="960120" y="1810512"/>
            <a:ext cx="8229600" cy="411480"/>
            <a:chOff x="0" y="0"/>
            <a:chExt cx="10972800" cy="548640"/>
          </a:xfrm>
        </p:grpSpPr>
        <p:sp>
          <p:nvSpPr>
            <p:cNvPr name="Freeform 9" id="9"/>
            <p:cNvSpPr/>
            <p:nvPr/>
          </p:nvSpPr>
          <p:spPr>
            <a:xfrm flipH="false" flipV="false" rot="0">
              <a:off x="0" y="0"/>
              <a:ext cx="10972800" cy="548640"/>
            </a:xfrm>
            <a:custGeom>
              <a:avLst/>
              <a:gdLst/>
              <a:ahLst/>
              <a:cxnLst/>
              <a:rect r="r" b="b" t="t" l="l"/>
              <a:pathLst>
                <a:path h="548640" w="10972800">
                  <a:moveTo>
                    <a:pt x="0" y="0"/>
                  </a:moveTo>
                  <a:lnTo>
                    <a:pt x="10972800" y="0"/>
                  </a:lnTo>
                  <a:lnTo>
                    <a:pt x="10972800" y="548640"/>
                  </a:lnTo>
                  <a:lnTo>
                    <a:pt x="0" y="548640"/>
                  </a:lnTo>
                  <a:close/>
                </a:path>
              </a:pathLst>
            </a:custGeom>
            <a:blipFill>
              <a:blip r:embed="rId2">
                <a:alphaModFix amt="0"/>
              </a:blip>
              <a:stretch>
                <a:fillRect l="0" t="-339700" r="0" b="-339700"/>
              </a:stretch>
            </a:blipFill>
          </p:spPr>
        </p:sp>
        <p:sp>
          <p:nvSpPr>
            <p:cNvPr name="TextBox 10" id="10"/>
            <p:cNvSpPr txBox="true"/>
            <p:nvPr/>
          </p:nvSpPr>
          <p:spPr>
            <a:xfrm>
              <a:off x="0" y="-28575"/>
              <a:ext cx="10972800" cy="577215"/>
            </a:xfrm>
            <a:prstGeom prst="rect">
              <a:avLst/>
            </a:prstGeom>
          </p:spPr>
          <p:txBody>
            <a:bodyPr anchor="ctr" rtlCol="false" tIns="0" lIns="0" bIns="0" rIns="0"/>
            <a:lstStyle/>
            <a:p>
              <a:pPr algn="l">
                <a:lnSpc>
                  <a:spcPts val="1980"/>
                </a:lnSpc>
              </a:pPr>
              <a:r>
                <a:rPr lang="en-US" sz="1650">
                  <a:solidFill>
                    <a:srgbClr val="6B7280"/>
                  </a:solidFill>
                  <a:latin typeface="Calibri (MS)"/>
                  <a:ea typeface="Calibri (MS)"/>
                  <a:cs typeface="Calibri (MS)"/>
                  <a:sym typeface="Calibri (MS)"/>
                </a:rPr>
                <a:t>20 of 20</a:t>
              </a:r>
            </a:p>
          </p:txBody>
        </p:sp>
      </p:grpSp>
      <p:grpSp>
        <p:nvGrpSpPr>
          <p:cNvPr name="Group 11" id="11"/>
          <p:cNvGrpSpPr/>
          <p:nvPr/>
        </p:nvGrpSpPr>
        <p:grpSpPr>
          <a:xfrm rot="0">
            <a:off x="960120" y="2537460"/>
            <a:ext cx="16322040" cy="2811780"/>
            <a:chOff x="0" y="0"/>
            <a:chExt cx="21762720" cy="3749040"/>
          </a:xfrm>
        </p:grpSpPr>
        <p:sp>
          <p:nvSpPr>
            <p:cNvPr name="Freeform 12" id="12"/>
            <p:cNvSpPr/>
            <p:nvPr/>
          </p:nvSpPr>
          <p:spPr>
            <a:xfrm flipH="false" flipV="false" rot="0">
              <a:off x="0" y="0"/>
              <a:ext cx="21762720" cy="3749040"/>
            </a:xfrm>
            <a:custGeom>
              <a:avLst/>
              <a:gdLst/>
              <a:ahLst/>
              <a:cxnLst/>
              <a:rect r="r" b="b" t="t" l="l"/>
              <a:pathLst>
                <a:path h="3749040" w="21762720">
                  <a:moveTo>
                    <a:pt x="0" y="182880"/>
                  </a:moveTo>
                  <a:cubicBezTo>
                    <a:pt x="0" y="81915"/>
                    <a:pt x="81915" y="0"/>
                    <a:pt x="182880" y="0"/>
                  </a:cubicBezTo>
                  <a:lnTo>
                    <a:pt x="21579839" y="0"/>
                  </a:lnTo>
                  <a:cubicBezTo>
                    <a:pt x="21680804" y="0"/>
                    <a:pt x="21762720" y="81915"/>
                    <a:pt x="21762720" y="182880"/>
                  </a:cubicBezTo>
                  <a:lnTo>
                    <a:pt x="21762720" y="3566160"/>
                  </a:lnTo>
                  <a:cubicBezTo>
                    <a:pt x="21762720" y="3667125"/>
                    <a:pt x="21680804" y="3749040"/>
                    <a:pt x="21579839" y="3749040"/>
                  </a:cubicBezTo>
                  <a:lnTo>
                    <a:pt x="182880" y="3749040"/>
                  </a:lnTo>
                  <a:cubicBezTo>
                    <a:pt x="81915" y="3749040"/>
                    <a:pt x="0" y="3667125"/>
                    <a:pt x="0" y="3566160"/>
                  </a:cubicBezTo>
                  <a:close/>
                </a:path>
              </a:pathLst>
            </a:custGeom>
            <a:solidFill>
              <a:srgbClr val="F4F7FC"/>
            </a:solidFill>
          </p:spPr>
        </p:sp>
      </p:grpSp>
      <p:grpSp>
        <p:nvGrpSpPr>
          <p:cNvPr name="Group 13" id="13"/>
          <p:cNvGrpSpPr/>
          <p:nvPr/>
        </p:nvGrpSpPr>
        <p:grpSpPr>
          <a:xfrm rot="0">
            <a:off x="1440180" y="2811780"/>
            <a:ext cx="15361920" cy="2263140"/>
            <a:chOff x="0" y="0"/>
            <a:chExt cx="20482560" cy="3017520"/>
          </a:xfrm>
        </p:grpSpPr>
        <p:sp>
          <p:nvSpPr>
            <p:cNvPr name="Freeform 14" id="14"/>
            <p:cNvSpPr/>
            <p:nvPr/>
          </p:nvSpPr>
          <p:spPr>
            <a:xfrm flipH="false" flipV="false" rot="0">
              <a:off x="0" y="0"/>
              <a:ext cx="20482561" cy="3017520"/>
            </a:xfrm>
            <a:custGeom>
              <a:avLst/>
              <a:gdLst/>
              <a:ahLst/>
              <a:cxnLst/>
              <a:rect r="r" b="b" t="t" l="l"/>
              <a:pathLst>
                <a:path h="3017520" w="20482561">
                  <a:moveTo>
                    <a:pt x="0" y="0"/>
                  </a:moveTo>
                  <a:lnTo>
                    <a:pt x="20482561" y="0"/>
                  </a:lnTo>
                  <a:lnTo>
                    <a:pt x="20482561" y="3017520"/>
                  </a:lnTo>
                  <a:lnTo>
                    <a:pt x="0" y="3017520"/>
                  </a:lnTo>
                  <a:close/>
                </a:path>
              </a:pathLst>
            </a:custGeom>
            <a:blipFill>
              <a:blip r:embed="rId2">
                <a:alphaModFix amt="0"/>
              </a:blip>
              <a:stretch>
                <a:fillRect l="0" t="-82262" r="0" b="-82262"/>
              </a:stretch>
            </a:blipFill>
          </p:spPr>
        </p:sp>
        <p:sp>
          <p:nvSpPr>
            <p:cNvPr name="TextBox 15" id="15"/>
            <p:cNvSpPr txBox="true"/>
            <p:nvPr/>
          </p:nvSpPr>
          <p:spPr>
            <a:xfrm>
              <a:off x="0" y="-104775"/>
              <a:ext cx="20482560" cy="3122295"/>
            </a:xfrm>
            <a:prstGeom prst="rect">
              <a:avLst/>
            </a:prstGeom>
          </p:spPr>
          <p:txBody>
            <a:bodyPr anchor="ctr" rtlCol="false" tIns="0" lIns="0" bIns="0" rIns="0"/>
            <a:lstStyle/>
            <a:p>
              <a:pPr algn="l">
                <a:lnSpc>
                  <a:spcPts val="4147"/>
                </a:lnSpc>
              </a:pPr>
              <a:r>
                <a:rPr lang="en-US" sz="2700" i="true">
                  <a:solidFill>
                    <a:srgbClr val="23262F"/>
                  </a:solidFill>
                  <a:latin typeface="Cambria Italics"/>
                  <a:ea typeface="Cambria Italics"/>
                  <a:cs typeface="Cambria Italics"/>
                  <a:sym typeface="Cambria Italics"/>
                </a:rPr>
                <a:t>"Before signing a contract with a new cloud vendor, the province requires the vendor to complete a security questionnaire, and the head of IT must formally sign off on the risk before procurement can proceed."</a:t>
              </a:r>
            </a:p>
          </p:txBody>
        </p:sp>
      </p:grpSp>
      <p:sp>
        <p:nvSpPr>
          <p:cNvPr name="TextBox 16" id="16"/>
          <p:cNvSpPr txBox="true"/>
          <p:nvPr/>
        </p:nvSpPr>
        <p:spPr>
          <a:xfrm rot="0">
            <a:off x="1051560" y="5604510"/>
            <a:ext cx="16139160" cy="1276350"/>
          </a:xfrm>
          <a:prstGeom prst="rect">
            <a:avLst/>
          </a:prstGeom>
        </p:spPr>
        <p:txBody>
          <a:bodyPr anchor="t" rtlCol="false" tIns="0" lIns="0" bIns="0" rIns="0">
            <a:spAutoFit/>
          </a:bodyPr>
          <a:lstStyle/>
          <a:p>
            <a:pPr algn="ctr">
              <a:lnSpc>
                <a:spcPts val="3402"/>
              </a:lnSpc>
            </a:pPr>
            <a:r>
              <a:rPr lang="en-US" sz="2100" i="true">
                <a:solidFill>
                  <a:srgbClr val="6B7280"/>
                </a:solidFill>
                <a:latin typeface="Calibri (MS) Italics"/>
                <a:ea typeface="Calibri (MS) Italics"/>
                <a:cs typeface="Calibri (MS) Italics"/>
                <a:sym typeface="Calibri (MS) Italics"/>
              </a:rPr>
              <a:t>Which Function does this belong to — Govern, Identify, Protect, Detect, Respond, or Recover?</a:t>
            </a:r>
          </a:p>
          <a:p>
            <a:pPr algn="ctr">
              <a:lnSpc>
                <a:spcPts val="3402"/>
              </a:lnSpc>
            </a:pPr>
            <a:r>
              <a:rPr lang="en-US" sz="2100" i="true">
                <a:solidFill>
                  <a:srgbClr val="6B7280"/>
                </a:solidFill>
                <a:latin typeface="Calibri (MS) Italics"/>
                <a:ea typeface="Calibri (MS) Italics"/>
                <a:cs typeface="Calibri (MS) Italics"/>
                <a:sym typeface="Calibri (MS) Italics"/>
              </a:rPr>
              <a:t>Some belong to more than one. Discuss, then we'll reveal the answer.</a:t>
            </a:r>
          </a:p>
        </p:txBody>
      </p:sp>
      <p:grpSp>
        <p:nvGrpSpPr>
          <p:cNvPr name="Group 17" id="17"/>
          <p:cNvGrpSpPr/>
          <p:nvPr/>
        </p:nvGrpSpPr>
        <p:grpSpPr>
          <a:xfrm rot="0">
            <a:off x="950595" y="7122795"/>
            <a:ext cx="5162550" cy="910590"/>
            <a:chOff x="0" y="0"/>
            <a:chExt cx="6883400" cy="1214120"/>
          </a:xfrm>
        </p:grpSpPr>
        <p:sp>
          <p:nvSpPr>
            <p:cNvPr name="Freeform 18" id="18"/>
            <p:cNvSpPr/>
            <p:nvPr/>
          </p:nvSpPr>
          <p:spPr>
            <a:xfrm flipH="false" flipV="false" rot="0">
              <a:off x="0" y="0"/>
              <a:ext cx="6883400" cy="1214120"/>
            </a:xfrm>
            <a:custGeom>
              <a:avLst/>
              <a:gdLst/>
              <a:ahLst/>
              <a:cxnLst/>
              <a:rect r="r" b="b" t="t" l="l"/>
              <a:pathLst>
                <a:path h="1214120" w="6883400">
                  <a:moveTo>
                    <a:pt x="0" y="168148"/>
                  </a:moveTo>
                  <a:cubicBezTo>
                    <a:pt x="0" y="75311"/>
                    <a:pt x="75311" y="0"/>
                    <a:pt x="168148" y="0"/>
                  </a:cubicBezTo>
                  <a:lnTo>
                    <a:pt x="6715252" y="0"/>
                  </a:lnTo>
                  <a:cubicBezTo>
                    <a:pt x="6808089" y="0"/>
                    <a:pt x="6883400" y="75311"/>
                    <a:pt x="6883400" y="168148"/>
                  </a:cubicBezTo>
                  <a:lnTo>
                    <a:pt x="6883400" y="1045972"/>
                  </a:lnTo>
                  <a:cubicBezTo>
                    <a:pt x="6883400" y="1138809"/>
                    <a:pt x="6808089" y="1214120"/>
                    <a:pt x="6715252" y="1214120"/>
                  </a:cubicBezTo>
                  <a:lnTo>
                    <a:pt x="168148" y="1214120"/>
                  </a:lnTo>
                  <a:cubicBezTo>
                    <a:pt x="75311" y="1214120"/>
                    <a:pt x="0" y="1138809"/>
                    <a:pt x="0" y="1045972"/>
                  </a:cubicBezTo>
                  <a:close/>
                </a:path>
              </a:pathLst>
            </a:custGeom>
            <a:solidFill>
              <a:srgbClr val="F4F7FC"/>
            </a:solidFill>
            <a:ln w="19050" cap="sq">
              <a:solidFill>
                <a:srgbClr val="D7DCEC"/>
              </a:solidFill>
              <a:prstDash val="solid"/>
              <a:miter/>
            </a:ln>
          </p:spPr>
        </p:sp>
      </p:grpSp>
      <p:grpSp>
        <p:nvGrpSpPr>
          <p:cNvPr name="Group 19" id="19"/>
          <p:cNvGrpSpPr/>
          <p:nvPr/>
        </p:nvGrpSpPr>
        <p:grpSpPr>
          <a:xfrm rot="0">
            <a:off x="960120" y="7200900"/>
            <a:ext cx="5143500" cy="589788"/>
            <a:chOff x="0" y="0"/>
            <a:chExt cx="6858000" cy="786384"/>
          </a:xfrm>
        </p:grpSpPr>
        <p:sp>
          <p:nvSpPr>
            <p:cNvPr name="Freeform 20" id="20"/>
            <p:cNvSpPr/>
            <p:nvPr/>
          </p:nvSpPr>
          <p:spPr>
            <a:xfrm flipH="false" flipV="false" rot="0">
              <a:off x="0" y="0"/>
              <a:ext cx="6858000" cy="786384"/>
            </a:xfrm>
            <a:custGeom>
              <a:avLst/>
              <a:gdLst/>
              <a:ahLst/>
              <a:cxnLst/>
              <a:rect r="r" b="b" t="t" l="l"/>
              <a:pathLst>
                <a:path h="786384" w="6858000">
                  <a:moveTo>
                    <a:pt x="0" y="0"/>
                  </a:moveTo>
                  <a:lnTo>
                    <a:pt x="6858000" y="0"/>
                  </a:lnTo>
                  <a:lnTo>
                    <a:pt x="6858000" y="786384"/>
                  </a:lnTo>
                  <a:lnTo>
                    <a:pt x="0" y="786384"/>
                  </a:lnTo>
                  <a:close/>
                </a:path>
              </a:pathLst>
            </a:custGeom>
            <a:blipFill>
              <a:blip r:embed="rId2">
                <a:alphaModFix amt="0"/>
              </a:blip>
              <a:stretch>
                <a:fillRect l="0" t="-119927" r="0" b="-119927"/>
              </a:stretch>
            </a:blipFill>
          </p:spPr>
        </p:sp>
        <p:sp>
          <p:nvSpPr>
            <p:cNvPr name="TextBox 21" id="21"/>
            <p:cNvSpPr txBox="true"/>
            <p:nvPr/>
          </p:nvSpPr>
          <p:spPr>
            <a:xfrm>
              <a:off x="0" y="-38100"/>
              <a:ext cx="6858000" cy="824484"/>
            </a:xfrm>
            <a:prstGeom prst="rect">
              <a:avLst/>
            </a:prstGeom>
          </p:spPr>
          <p:txBody>
            <a:bodyPr anchor="ctr" rtlCol="false" tIns="0" lIns="0" bIns="0" rIns="0"/>
            <a:lstStyle/>
            <a:p>
              <a:pPr algn="ctr">
                <a:lnSpc>
                  <a:spcPts val="2430"/>
                </a:lnSpc>
              </a:pPr>
              <a:r>
                <a:rPr lang="en-US" sz="2025">
                  <a:solidFill>
                    <a:srgbClr val="6B7280"/>
                  </a:solidFill>
                  <a:latin typeface="Calibri (MS)"/>
                  <a:ea typeface="Calibri (MS)"/>
                  <a:cs typeface="Calibri (MS)"/>
                  <a:sym typeface="Calibri (MS)"/>
                </a:rPr>
                <a:t>Govern</a:t>
              </a:r>
            </a:p>
          </p:txBody>
        </p:sp>
      </p:grpSp>
      <p:grpSp>
        <p:nvGrpSpPr>
          <p:cNvPr name="Group 22" id="22"/>
          <p:cNvGrpSpPr/>
          <p:nvPr/>
        </p:nvGrpSpPr>
        <p:grpSpPr>
          <a:xfrm rot="0">
            <a:off x="960120" y="7639812"/>
            <a:ext cx="5143500" cy="329184"/>
            <a:chOff x="0" y="0"/>
            <a:chExt cx="6858000" cy="438912"/>
          </a:xfrm>
        </p:grpSpPr>
        <p:sp>
          <p:nvSpPr>
            <p:cNvPr name="Freeform 23" id="23"/>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24" id="24"/>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9AA3B8"/>
                  </a:solidFill>
                  <a:latin typeface="Arimo"/>
                  <a:ea typeface="Arimo"/>
                  <a:cs typeface="Arimo"/>
                  <a:sym typeface="Arimo"/>
                </a:rPr>
                <a:t>GV</a:t>
              </a:r>
            </a:p>
          </p:txBody>
        </p:sp>
      </p:grpSp>
      <p:grpSp>
        <p:nvGrpSpPr>
          <p:cNvPr name="Group 25" id="25"/>
          <p:cNvGrpSpPr/>
          <p:nvPr/>
        </p:nvGrpSpPr>
        <p:grpSpPr>
          <a:xfrm rot="0">
            <a:off x="6533007" y="7122795"/>
            <a:ext cx="5162550" cy="910590"/>
            <a:chOff x="0" y="0"/>
            <a:chExt cx="6883400" cy="1214120"/>
          </a:xfrm>
        </p:grpSpPr>
        <p:sp>
          <p:nvSpPr>
            <p:cNvPr name="Freeform 26" id="26"/>
            <p:cNvSpPr/>
            <p:nvPr/>
          </p:nvSpPr>
          <p:spPr>
            <a:xfrm flipH="false" flipV="false" rot="0">
              <a:off x="0" y="0"/>
              <a:ext cx="6883400" cy="1214120"/>
            </a:xfrm>
            <a:custGeom>
              <a:avLst/>
              <a:gdLst/>
              <a:ahLst/>
              <a:cxnLst/>
              <a:rect r="r" b="b" t="t" l="l"/>
              <a:pathLst>
                <a:path h="1214120" w="6883400">
                  <a:moveTo>
                    <a:pt x="0" y="168148"/>
                  </a:moveTo>
                  <a:cubicBezTo>
                    <a:pt x="0" y="75311"/>
                    <a:pt x="75311" y="0"/>
                    <a:pt x="168148" y="0"/>
                  </a:cubicBezTo>
                  <a:lnTo>
                    <a:pt x="6715252" y="0"/>
                  </a:lnTo>
                  <a:cubicBezTo>
                    <a:pt x="6808089" y="0"/>
                    <a:pt x="6883400" y="75311"/>
                    <a:pt x="6883400" y="168148"/>
                  </a:cubicBezTo>
                  <a:lnTo>
                    <a:pt x="6883400" y="1045972"/>
                  </a:lnTo>
                  <a:cubicBezTo>
                    <a:pt x="6883400" y="1138809"/>
                    <a:pt x="6808089" y="1214120"/>
                    <a:pt x="6715252" y="1214120"/>
                  </a:cubicBezTo>
                  <a:lnTo>
                    <a:pt x="168148" y="1214120"/>
                  </a:lnTo>
                  <a:cubicBezTo>
                    <a:pt x="75311" y="1214120"/>
                    <a:pt x="0" y="1138809"/>
                    <a:pt x="0" y="1045972"/>
                  </a:cubicBezTo>
                  <a:close/>
                </a:path>
              </a:pathLst>
            </a:custGeom>
            <a:solidFill>
              <a:srgbClr val="F4F7FC"/>
            </a:solidFill>
            <a:ln w="19050" cap="sq">
              <a:solidFill>
                <a:srgbClr val="D7DCEC"/>
              </a:solidFill>
              <a:prstDash val="solid"/>
              <a:miter/>
            </a:ln>
          </p:spPr>
        </p:sp>
      </p:grpSp>
      <p:grpSp>
        <p:nvGrpSpPr>
          <p:cNvPr name="Group 27" id="27"/>
          <p:cNvGrpSpPr/>
          <p:nvPr/>
        </p:nvGrpSpPr>
        <p:grpSpPr>
          <a:xfrm rot="0">
            <a:off x="6542532" y="7200900"/>
            <a:ext cx="5143500" cy="589788"/>
            <a:chOff x="0" y="0"/>
            <a:chExt cx="6858000" cy="786384"/>
          </a:xfrm>
        </p:grpSpPr>
        <p:sp>
          <p:nvSpPr>
            <p:cNvPr name="Freeform 28" id="28"/>
            <p:cNvSpPr/>
            <p:nvPr/>
          </p:nvSpPr>
          <p:spPr>
            <a:xfrm flipH="false" flipV="false" rot="0">
              <a:off x="0" y="0"/>
              <a:ext cx="6858000" cy="786384"/>
            </a:xfrm>
            <a:custGeom>
              <a:avLst/>
              <a:gdLst/>
              <a:ahLst/>
              <a:cxnLst/>
              <a:rect r="r" b="b" t="t" l="l"/>
              <a:pathLst>
                <a:path h="786384" w="6858000">
                  <a:moveTo>
                    <a:pt x="0" y="0"/>
                  </a:moveTo>
                  <a:lnTo>
                    <a:pt x="6858000" y="0"/>
                  </a:lnTo>
                  <a:lnTo>
                    <a:pt x="6858000" y="786384"/>
                  </a:lnTo>
                  <a:lnTo>
                    <a:pt x="0" y="786384"/>
                  </a:lnTo>
                  <a:close/>
                </a:path>
              </a:pathLst>
            </a:custGeom>
            <a:blipFill>
              <a:blip r:embed="rId2">
                <a:alphaModFix amt="0"/>
              </a:blip>
              <a:stretch>
                <a:fillRect l="0" t="-119927" r="0" b="-119927"/>
              </a:stretch>
            </a:blipFill>
          </p:spPr>
        </p:sp>
        <p:sp>
          <p:nvSpPr>
            <p:cNvPr name="TextBox 29" id="29"/>
            <p:cNvSpPr txBox="true"/>
            <p:nvPr/>
          </p:nvSpPr>
          <p:spPr>
            <a:xfrm>
              <a:off x="0" y="-38100"/>
              <a:ext cx="6858000" cy="824484"/>
            </a:xfrm>
            <a:prstGeom prst="rect">
              <a:avLst/>
            </a:prstGeom>
          </p:spPr>
          <p:txBody>
            <a:bodyPr anchor="ctr" rtlCol="false" tIns="0" lIns="0" bIns="0" rIns="0"/>
            <a:lstStyle/>
            <a:p>
              <a:pPr algn="ctr">
                <a:lnSpc>
                  <a:spcPts val="2430"/>
                </a:lnSpc>
              </a:pPr>
              <a:r>
                <a:rPr lang="en-US" sz="2025">
                  <a:solidFill>
                    <a:srgbClr val="6B7280"/>
                  </a:solidFill>
                  <a:latin typeface="Calibri (MS)"/>
                  <a:ea typeface="Calibri (MS)"/>
                  <a:cs typeface="Calibri (MS)"/>
                  <a:sym typeface="Calibri (MS)"/>
                </a:rPr>
                <a:t>Identify</a:t>
              </a:r>
            </a:p>
          </p:txBody>
        </p:sp>
      </p:grpSp>
      <p:grpSp>
        <p:nvGrpSpPr>
          <p:cNvPr name="Group 30" id="30"/>
          <p:cNvGrpSpPr/>
          <p:nvPr/>
        </p:nvGrpSpPr>
        <p:grpSpPr>
          <a:xfrm rot="0">
            <a:off x="6542532" y="7639812"/>
            <a:ext cx="5143500" cy="329184"/>
            <a:chOff x="0" y="0"/>
            <a:chExt cx="6858000" cy="438912"/>
          </a:xfrm>
        </p:grpSpPr>
        <p:sp>
          <p:nvSpPr>
            <p:cNvPr name="Freeform 31" id="31"/>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32" id="32"/>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9AA3B8"/>
                  </a:solidFill>
                  <a:latin typeface="Arimo"/>
                  <a:ea typeface="Arimo"/>
                  <a:cs typeface="Arimo"/>
                  <a:sym typeface="Arimo"/>
                </a:rPr>
                <a:t>ID</a:t>
              </a:r>
            </a:p>
          </p:txBody>
        </p:sp>
      </p:grpSp>
      <p:grpSp>
        <p:nvGrpSpPr>
          <p:cNvPr name="Group 33" id="33"/>
          <p:cNvGrpSpPr/>
          <p:nvPr/>
        </p:nvGrpSpPr>
        <p:grpSpPr>
          <a:xfrm rot="0">
            <a:off x="12115419" y="7122795"/>
            <a:ext cx="5162550" cy="910590"/>
            <a:chOff x="0" y="0"/>
            <a:chExt cx="6883400" cy="1214120"/>
          </a:xfrm>
        </p:grpSpPr>
        <p:sp>
          <p:nvSpPr>
            <p:cNvPr name="Freeform 34" id="34"/>
            <p:cNvSpPr/>
            <p:nvPr/>
          </p:nvSpPr>
          <p:spPr>
            <a:xfrm flipH="false" flipV="false" rot="0">
              <a:off x="0" y="0"/>
              <a:ext cx="6883400" cy="1214120"/>
            </a:xfrm>
            <a:custGeom>
              <a:avLst/>
              <a:gdLst/>
              <a:ahLst/>
              <a:cxnLst/>
              <a:rect r="r" b="b" t="t" l="l"/>
              <a:pathLst>
                <a:path h="1214120" w="6883400">
                  <a:moveTo>
                    <a:pt x="0" y="168148"/>
                  </a:moveTo>
                  <a:cubicBezTo>
                    <a:pt x="0" y="75311"/>
                    <a:pt x="75311" y="0"/>
                    <a:pt x="168148" y="0"/>
                  </a:cubicBezTo>
                  <a:lnTo>
                    <a:pt x="6715252" y="0"/>
                  </a:lnTo>
                  <a:cubicBezTo>
                    <a:pt x="6808089" y="0"/>
                    <a:pt x="6883400" y="75311"/>
                    <a:pt x="6883400" y="168148"/>
                  </a:cubicBezTo>
                  <a:lnTo>
                    <a:pt x="6883400" y="1045972"/>
                  </a:lnTo>
                  <a:cubicBezTo>
                    <a:pt x="6883400" y="1138809"/>
                    <a:pt x="6808089" y="1214120"/>
                    <a:pt x="6715252" y="1214120"/>
                  </a:cubicBezTo>
                  <a:lnTo>
                    <a:pt x="168148" y="1214120"/>
                  </a:lnTo>
                  <a:cubicBezTo>
                    <a:pt x="75311" y="1214120"/>
                    <a:pt x="0" y="1138809"/>
                    <a:pt x="0" y="1045972"/>
                  </a:cubicBezTo>
                  <a:close/>
                </a:path>
              </a:pathLst>
            </a:custGeom>
            <a:solidFill>
              <a:srgbClr val="F4F7FC"/>
            </a:solidFill>
            <a:ln w="19050" cap="sq">
              <a:solidFill>
                <a:srgbClr val="D7DCEC"/>
              </a:solidFill>
              <a:prstDash val="solid"/>
              <a:miter/>
            </a:ln>
          </p:spPr>
        </p:sp>
      </p:grpSp>
      <p:grpSp>
        <p:nvGrpSpPr>
          <p:cNvPr name="Group 35" id="35"/>
          <p:cNvGrpSpPr/>
          <p:nvPr/>
        </p:nvGrpSpPr>
        <p:grpSpPr>
          <a:xfrm rot="0">
            <a:off x="12124944" y="7200900"/>
            <a:ext cx="5143500" cy="589788"/>
            <a:chOff x="0" y="0"/>
            <a:chExt cx="6858000" cy="786384"/>
          </a:xfrm>
        </p:grpSpPr>
        <p:sp>
          <p:nvSpPr>
            <p:cNvPr name="Freeform 36" id="36"/>
            <p:cNvSpPr/>
            <p:nvPr/>
          </p:nvSpPr>
          <p:spPr>
            <a:xfrm flipH="false" flipV="false" rot="0">
              <a:off x="0" y="0"/>
              <a:ext cx="6858000" cy="786384"/>
            </a:xfrm>
            <a:custGeom>
              <a:avLst/>
              <a:gdLst/>
              <a:ahLst/>
              <a:cxnLst/>
              <a:rect r="r" b="b" t="t" l="l"/>
              <a:pathLst>
                <a:path h="786384" w="6858000">
                  <a:moveTo>
                    <a:pt x="0" y="0"/>
                  </a:moveTo>
                  <a:lnTo>
                    <a:pt x="6858000" y="0"/>
                  </a:lnTo>
                  <a:lnTo>
                    <a:pt x="6858000" y="786384"/>
                  </a:lnTo>
                  <a:lnTo>
                    <a:pt x="0" y="786384"/>
                  </a:lnTo>
                  <a:close/>
                </a:path>
              </a:pathLst>
            </a:custGeom>
            <a:blipFill>
              <a:blip r:embed="rId2">
                <a:alphaModFix amt="0"/>
              </a:blip>
              <a:stretch>
                <a:fillRect l="0" t="-119927" r="0" b="-119927"/>
              </a:stretch>
            </a:blipFill>
          </p:spPr>
        </p:sp>
        <p:sp>
          <p:nvSpPr>
            <p:cNvPr name="TextBox 37" id="37"/>
            <p:cNvSpPr txBox="true"/>
            <p:nvPr/>
          </p:nvSpPr>
          <p:spPr>
            <a:xfrm>
              <a:off x="0" y="-38100"/>
              <a:ext cx="6858000" cy="824484"/>
            </a:xfrm>
            <a:prstGeom prst="rect">
              <a:avLst/>
            </a:prstGeom>
          </p:spPr>
          <p:txBody>
            <a:bodyPr anchor="ctr" rtlCol="false" tIns="0" lIns="0" bIns="0" rIns="0"/>
            <a:lstStyle/>
            <a:p>
              <a:pPr algn="ctr">
                <a:lnSpc>
                  <a:spcPts val="2430"/>
                </a:lnSpc>
              </a:pPr>
              <a:r>
                <a:rPr lang="en-US" sz="2025">
                  <a:solidFill>
                    <a:srgbClr val="6B7280"/>
                  </a:solidFill>
                  <a:latin typeface="Calibri (MS)"/>
                  <a:ea typeface="Calibri (MS)"/>
                  <a:cs typeface="Calibri (MS)"/>
                  <a:sym typeface="Calibri (MS)"/>
                </a:rPr>
                <a:t>Protect</a:t>
              </a:r>
            </a:p>
          </p:txBody>
        </p:sp>
      </p:grpSp>
      <p:grpSp>
        <p:nvGrpSpPr>
          <p:cNvPr name="Group 38" id="38"/>
          <p:cNvGrpSpPr/>
          <p:nvPr/>
        </p:nvGrpSpPr>
        <p:grpSpPr>
          <a:xfrm rot="0">
            <a:off x="12124944" y="7639812"/>
            <a:ext cx="5143500" cy="329184"/>
            <a:chOff x="0" y="0"/>
            <a:chExt cx="6858000" cy="438912"/>
          </a:xfrm>
        </p:grpSpPr>
        <p:sp>
          <p:nvSpPr>
            <p:cNvPr name="Freeform 39" id="39"/>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40" id="40"/>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9AA3B8"/>
                  </a:solidFill>
                  <a:latin typeface="Arimo"/>
                  <a:ea typeface="Arimo"/>
                  <a:cs typeface="Arimo"/>
                  <a:sym typeface="Arimo"/>
                </a:rPr>
                <a:t>PR</a:t>
              </a:r>
            </a:p>
          </p:txBody>
        </p:sp>
      </p:grpSp>
      <p:grpSp>
        <p:nvGrpSpPr>
          <p:cNvPr name="Group 41" id="41"/>
          <p:cNvGrpSpPr/>
          <p:nvPr/>
        </p:nvGrpSpPr>
        <p:grpSpPr>
          <a:xfrm rot="0">
            <a:off x="950595" y="8288655"/>
            <a:ext cx="5162550" cy="910590"/>
            <a:chOff x="0" y="0"/>
            <a:chExt cx="6883400" cy="1214120"/>
          </a:xfrm>
        </p:grpSpPr>
        <p:sp>
          <p:nvSpPr>
            <p:cNvPr name="Freeform 42" id="42"/>
            <p:cNvSpPr/>
            <p:nvPr/>
          </p:nvSpPr>
          <p:spPr>
            <a:xfrm flipH="false" flipV="false" rot="0">
              <a:off x="0" y="0"/>
              <a:ext cx="6883400" cy="1214120"/>
            </a:xfrm>
            <a:custGeom>
              <a:avLst/>
              <a:gdLst/>
              <a:ahLst/>
              <a:cxnLst/>
              <a:rect r="r" b="b" t="t" l="l"/>
              <a:pathLst>
                <a:path h="1214120" w="6883400">
                  <a:moveTo>
                    <a:pt x="0" y="168148"/>
                  </a:moveTo>
                  <a:cubicBezTo>
                    <a:pt x="0" y="75311"/>
                    <a:pt x="75311" y="0"/>
                    <a:pt x="168148" y="0"/>
                  </a:cubicBezTo>
                  <a:lnTo>
                    <a:pt x="6715252" y="0"/>
                  </a:lnTo>
                  <a:cubicBezTo>
                    <a:pt x="6808089" y="0"/>
                    <a:pt x="6883400" y="75311"/>
                    <a:pt x="6883400" y="168148"/>
                  </a:cubicBezTo>
                  <a:lnTo>
                    <a:pt x="6883400" y="1045972"/>
                  </a:lnTo>
                  <a:cubicBezTo>
                    <a:pt x="6883400" y="1138809"/>
                    <a:pt x="6808089" y="1214120"/>
                    <a:pt x="6715252" y="1214120"/>
                  </a:cubicBezTo>
                  <a:lnTo>
                    <a:pt x="168148" y="1214120"/>
                  </a:lnTo>
                  <a:cubicBezTo>
                    <a:pt x="75311" y="1214120"/>
                    <a:pt x="0" y="1138809"/>
                    <a:pt x="0" y="1045972"/>
                  </a:cubicBezTo>
                  <a:close/>
                </a:path>
              </a:pathLst>
            </a:custGeom>
            <a:solidFill>
              <a:srgbClr val="F4F7FC"/>
            </a:solidFill>
            <a:ln w="19050" cap="sq">
              <a:solidFill>
                <a:srgbClr val="D7DCEC"/>
              </a:solidFill>
              <a:prstDash val="solid"/>
              <a:miter/>
            </a:ln>
          </p:spPr>
        </p:sp>
      </p:grpSp>
      <p:grpSp>
        <p:nvGrpSpPr>
          <p:cNvPr name="Group 43" id="43"/>
          <p:cNvGrpSpPr/>
          <p:nvPr/>
        </p:nvGrpSpPr>
        <p:grpSpPr>
          <a:xfrm rot="0">
            <a:off x="960120" y="8366760"/>
            <a:ext cx="5143500" cy="589788"/>
            <a:chOff x="0" y="0"/>
            <a:chExt cx="6858000" cy="786384"/>
          </a:xfrm>
        </p:grpSpPr>
        <p:sp>
          <p:nvSpPr>
            <p:cNvPr name="Freeform 44" id="44"/>
            <p:cNvSpPr/>
            <p:nvPr/>
          </p:nvSpPr>
          <p:spPr>
            <a:xfrm flipH="false" flipV="false" rot="0">
              <a:off x="0" y="0"/>
              <a:ext cx="6858000" cy="786384"/>
            </a:xfrm>
            <a:custGeom>
              <a:avLst/>
              <a:gdLst/>
              <a:ahLst/>
              <a:cxnLst/>
              <a:rect r="r" b="b" t="t" l="l"/>
              <a:pathLst>
                <a:path h="786384" w="6858000">
                  <a:moveTo>
                    <a:pt x="0" y="0"/>
                  </a:moveTo>
                  <a:lnTo>
                    <a:pt x="6858000" y="0"/>
                  </a:lnTo>
                  <a:lnTo>
                    <a:pt x="6858000" y="786384"/>
                  </a:lnTo>
                  <a:lnTo>
                    <a:pt x="0" y="786384"/>
                  </a:lnTo>
                  <a:close/>
                </a:path>
              </a:pathLst>
            </a:custGeom>
            <a:blipFill>
              <a:blip r:embed="rId2">
                <a:alphaModFix amt="0"/>
              </a:blip>
              <a:stretch>
                <a:fillRect l="0" t="-119927" r="0" b="-119927"/>
              </a:stretch>
            </a:blipFill>
          </p:spPr>
        </p:sp>
        <p:sp>
          <p:nvSpPr>
            <p:cNvPr name="TextBox 45" id="45"/>
            <p:cNvSpPr txBox="true"/>
            <p:nvPr/>
          </p:nvSpPr>
          <p:spPr>
            <a:xfrm>
              <a:off x="0" y="-38100"/>
              <a:ext cx="6858000" cy="824484"/>
            </a:xfrm>
            <a:prstGeom prst="rect">
              <a:avLst/>
            </a:prstGeom>
          </p:spPr>
          <p:txBody>
            <a:bodyPr anchor="ctr" rtlCol="false" tIns="0" lIns="0" bIns="0" rIns="0"/>
            <a:lstStyle/>
            <a:p>
              <a:pPr algn="ctr">
                <a:lnSpc>
                  <a:spcPts val="2430"/>
                </a:lnSpc>
              </a:pPr>
              <a:r>
                <a:rPr lang="en-US" sz="2025">
                  <a:solidFill>
                    <a:srgbClr val="6B7280"/>
                  </a:solidFill>
                  <a:latin typeface="Calibri (MS)"/>
                  <a:ea typeface="Calibri (MS)"/>
                  <a:cs typeface="Calibri (MS)"/>
                  <a:sym typeface="Calibri (MS)"/>
                </a:rPr>
                <a:t>Detect</a:t>
              </a:r>
            </a:p>
          </p:txBody>
        </p:sp>
      </p:grpSp>
      <p:grpSp>
        <p:nvGrpSpPr>
          <p:cNvPr name="Group 46" id="46"/>
          <p:cNvGrpSpPr/>
          <p:nvPr/>
        </p:nvGrpSpPr>
        <p:grpSpPr>
          <a:xfrm rot="0">
            <a:off x="960120" y="8805672"/>
            <a:ext cx="5143500" cy="329184"/>
            <a:chOff x="0" y="0"/>
            <a:chExt cx="6858000" cy="438912"/>
          </a:xfrm>
        </p:grpSpPr>
        <p:sp>
          <p:nvSpPr>
            <p:cNvPr name="Freeform 47" id="47"/>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48" id="48"/>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9AA3B8"/>
                  </a:solidFill>
                  <a:latin typeface="Arimo"/>
                  <a:ea typeface="Arimo"/>
                  <a:cs typeface="Arimo"/>
                  <a:sym typeface="Arimo"/>
                </a:rPr>
                <a:t>DE</a:t>
              </a:r>
            </a:p>
          </p:txBody>
        </p:sp>
      </p:grpSp>
      <p:grpSp>
        <p:nvGrpSpPr>
          <p:cNvPr name="Group 49" id="49"/>
          <p:cNvGrpSpPr/>
          <p:nvPr/>
        </p:nvGrpSpPr>
        <p:grpSpPr>
          <a:xfrm rot="0">
            <a:off x="6533007" y="8288655"/>
            <a:ext cx="5162550" cy="910590"/>
            <a:chOff x="0" y="0"/>
            <a:chExt cx="6883400" cy="1214120"/>
          </a:xfrm>
        </p:grpSpPr>
        <p:sp>
          <p:nvSpPr>
            <p:cNvPr name="Freeform 50" id="50"/>
            <p:cNvSpPr/>
            <p:nvPr/>
          </p:nvSpPr>
          <p:spPr>
            <a:xfrm flipH="false" flipV="false" rot="0">
              <a:off x="0" y="0"/>
              <a:ext cx="6883400" cy="1214120"/>
            </a:xfrm>
            <a:custGeom>
              <a:avLst/>
              <a:gdLst/>
              <a:ahLst/>
              <a:cxnLst/>
              <a:rect r="r" b="b" t="t" l="l"/>
              <a:pathLst>
                <a:path h="1214120" w="6883400">
                  <a:moveTo>
                    <a:pt x="0" y="168148"/>
                  </a:moveTo>
                  <a:cubicBezTo>
                    <a:pt x="0" y="75311"/>
                    <a:pt x="75311" y="0"/>
                    <a:pt x="168148" y="0"/>
                  </a:cubicBezTo>
                  <a:lnTo>
                    <a:pt x="6715252" y="0"/>
                  </a:lnTo>
                  <a:cubicBezTo>
                    <a:pt x="6808089" y="0"/>
                    <a:pt x="6883400" y="75311"/>
                    <a:pt x="6883400" y="168148"/>
                  </a:cubicBezTo>
                  <a:lnTo>
                    <a:pt x="6883400" y="1045972"/>
                  </a:lnTo>
                  <a:cubicBezTo>
                    <a:pt x="6883400" y="1138809"/>
                    <a:pt x="6808089" y="1214120"/>
                    <a:pt x="6715252" y="1214120"/>
                  </a:cubicBezTo>
                  <a:lnTo>
                    <a:pt x="168148" y="1214120"/>
                  </a:lnTo>
                  <a:cubicBezTo>
                    <a:pt x="75311" y="1214120"/>
                    <a:pt x="0" y="1138809"/>
                    <a:pt x="0" y="1045972"/>
                  </a:cubicBezTo>
                  <a:close/>
                </a:path>
              </a:pathLst>
            </a:custGeom>
            <a:solidFill>
              <a:srgbClr val="F4F7FC"/>
            </a:solidFill>
            <a:ln w="19050" cap="sq">
              <a:solidFill>
                <a:srgbClr val="D7DCEC"/>
              </a:solidFill>
              <a:prstDash val="solid"/>
              <a:miter/>
            </a:ln>
          </p:spPr>
        </p:sp>
      </p:grpSp>
      <p:grpSp>
        <p:nvGrpSpPr>
          <p:cNvPr name="Group 51" id="51"/>
          <p:cNvGrpSpPr/>
          <p:nvPr/>
        </p:nvGrpSpPr>
        <p:grpSpPr>
          <a:xfrm rot="0">
            <a:off x="6542532" y="8366760"/>
            <a:ext cx="5143500" cy="589788"/>
            <a:chOff x="0" y="0"/>
            <a:chExt cx="6858000" cy="786384"/>
          </a:xfrm>
        </p:grpSpPr>
        <p:sp>
          <p:nvSpPr>
            <p:cNvPr name="Freeform 52" id="52"/>
            <p:cNvSpPr/>
            <p:nvPr/>
          </p:nvSpPr>
          <p:spPr>
            <a:xfrm flipH="false" flipV="false" rot="0">
              <a:off x="0" y="0"/>
              <a:ext cx="6858000" cy="786384"/>
            </a:xfrm>
            <a:custGeom>
              <a:avLst/>
              <a:gdLst/>
              <a:ahLst/>
              <a:cxnLst/>
              <a:rect r="r" b="b" t="t" l="l"/>
              <a:pathLst>
                <a:path h="786384" w="6858000">
                  <a:moveTo>
                    <a:pt x="0" y="0"/>
                  </a:moveTo>
                  <a:lnTo>
                    <a:pt x="6858000" y="0"/>
                  </a:lnTo>
                  <a:lnTo>
                    <a:pt x="6858000" y="786384"/>
                  </a:lnTo>
                  <a:lnTo>
                    <a:pt x="0" y="786384"/>
                  </a:lnTo>
                  <a:close/>
                </a:path>
              </a:pathLst>
            </a:custGeom>
            <a:blipFill>
              <a:blip r:embed="rId2">
                <a:alphaModFix amt="0"/>
              </a:blip>
              <a:stretch>
                <a:fillRect l="0" t="-119927" r="0" b="-119927"/>
              </a:stretch>
            </a:blipFill>
          </p:spPr>
        </p:sp>
        <p:sp>
          <p:nvSpPr>
            <p:cNvPr name="TextBox 53" id="53"/>
            <p:cNvSpPr txBox="true"/>
            <p:nvPr/>
          </p:nvSpPr>
          <p:spPr>
            <a:xfrm>
              <a:off x="0" y="-38100"/>
              <a:ext cx="6858000" cy="824484"/>
            </a:xfrm>
            <a:prstGeom prst="rect">
              <a:avLst/>
            </a:prstGeom>
          </p:spPr>
          <p:txBody>
            <a:bodyPr anchor="ctr" rtlCol="false" tIns="0" lIns="0" bIns="0" rIns="0"/>
            <a:lstStyle/>
            <a:p>
              <a:pPr algn="ctr">
                <a:lnSpc>
                  <a:spcPts val="2430"/>
                </a:lnSpc>
              </a:pPr>
              <a:r>
                <a:rPr lang="en-US" sz="2025">
                  <a:solidFill>
                    <a:srgbClr val="6B7280"/>
                  </a:solidFill>
                  <a:latin typeface="Calibri (MS)"/>
                  <a:ea typeface="Calibri (MS)"/>
                  <a:cs typeface="Calibri (MS)"/>
                  <a:sym typeface="Calibri (MS)"/>
                </a:rPr>
                <a:t>Respond</a:t>
              </a:r>
            </a:p>
          </p:txBody>
        </p:sp>
      </p:grpSp>
      <p:grpSp>
        <p:nvGrpSpPr>
          <p:cNvPr name="Group 54" id="54"/>
          <p:cNvGrpSpPr/>
          <p:nvPr/>
        </p:nvGrpSpPr>
        <p:grpSpPr>
          <a:xfrm rot="0">
            <a:off x="6542532" y="8805672"/>
            <a:ext cx="5143500" cy="329184"/>
            <a:chOff x="0" y="0"/>
            <a:chExt cx="6858000" cy="438912"/>
          </a:xfrm>
        </p:grpSpPr>
        <p:sp>
          <p:nvSpPr>
            <p:cNvPr name="Freeform 55" id="55"/>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56" id="56"/>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9AA3B8"/>
                  </a:solidFill>
                  <a:latin typeface="Arimo"/>
                  <a:ea typeface="Arimo"/>
                  <a:cs typeface="Arimo"/>
                  <a:sym typeface="Arimo"/>
                </a:rPr>
                <a:t>RS</a:t>
              </a:r>
            </a:p>
          </p:txBody>
        </p:sp>
      </p:grpSp>
      <p:grpSp>
        <p:nvGrpSpPr>
          <p:cNvPr name="Group 57" id="57"/>
          <p:cNvGrpSpPr/>
          <p:nvPr/>
        </p:nvGrpSpPr>
        <p:grpSpPr>
          <a:xfrm rot="0">
            <a:off x="12115419" y="8288655"/>
            <a:ext cx="5162550" cy="910590"/>
            <a:chOff x="0" y="0"/>
            <a:chExt cx="6883400" cy="1214120"/>
          </a:xfrm>
        </p:grpSpPr>
        <p:sp>
          <p:nvSpPr>
            <p:cNvPr name="Freeform 58" id="58"/>
            <p:cNvSpPr/>
            <p:nvPr/>
          </p:nvSpPr>
          <p:spPr>
            <a:xfrm flipH="false" flipV="false" rot="0">
              <a:off x="0" y="0"/>
              <a:ext cx="6883400" cy="1214120"/>
            </a:xfrm>
            <a:custGeom>
              <a:avLst/>
              <a:gdLst/>
              <a:ahLst/>
              <a:cxnLst/>
              <a:rect r="r" b="b" t="t" l="l"/>
              <a:pathLst>
                <a:path h="1214120" w="6883400">
                  <a:moveTo>
                    <a:pt x="0" y="168148"/>
                  </a:moveTo>
                  <a:cubicBezTo>
                    <a:pt x="0" y="75311"/>
                    <a:pt x="75311" y="0"/>
                    <a:pt x="168148" y="0"/>
                  </a:cubicBezTo>
                  <a:lnTo>
                    <a:pt x="6715252" y="0"/>
                  </a:lnTo>
                  <a:cubicBezTo>
                    <a:pt x="6808089" y="0"/>
                    <a:pt x="6883400" y="75311"/>
                    <a:pt x="6883400" y="168148"/>
                  </a:cubicBezTo>
                  <a:lnTo>
                    <a:pt x="6883400" y="1045972"/>
                  </a:lnTo>
                  <a:cubicBezTo>
                    <a:pt x="6883400" y="1138809"/>
                    <a:pt x="6808089" y="1214120"/>
                    <a:pt x="6715252" y="1214120"/>
                  </a:cubicBezTo>
                  <a:lnTo>
                    <a:pt x="168148" y="1214120"/>
                  </a:lnTo>
                  <a:cubicBezTo>
                    <a:pt x="75311" y="1214120"/>
                    <a:pt x="0" y="1138809"/>
                    <a:pt x="0" y="1045972"/>
                  </a:cubicBezTo>
                  <a:close/>
                </a:path>
              </a:pathLst>
            </a:custGeom>
            <a:solidFill>
              <a:srgbClr val="F4F7FC"/>
            </a:solidFill>
            <a:ln w="19050" cap="sq">
              <a:solidFill>
                <a:srgbClr val="D7DCEC"/>
              </a:solidFill>
              <a:prstDash val="solid"/>
              <a:miter/>
            </a:ln>
          </p:spPr>
        </p:sp>
      </p:grpSp>
      <p:grpSp>
        <p:nvGrpSpPr>
          <p:cNvPr name="Group 59" id="59"/>
          <p:cNvGrpSpPr/>
          <p:nvPr/>
        </p:nvGrpSpPr>
        <p:grpSpPr>
          <a:xfrm rot="0">
            <a:off x="12124944" y="8366760"/>
            <a:ext cx="5143500" cy="589788"/>
            <a:chOff x="0" y="0"/>
            <a:chExt cx="6858000" cy="786384"/>
          </a:xfrm>
        </p:grpSpPr>
        <p:sp>
          <p:nvSpPr>
            <p:cNvPr name="Freeform 60" id="60"/>
            <p:cNvSpPr/>
            <p:nvPr/>
          </p:nvSpPr>
          <p:spPr>
            <a:xfrm flipH="false" flipV="false" rot="0">
              <a:off x="0" y="0"/>
              <a:ext cx="6858000" cy="786384"/>
            </a:xfrm>
            <a:custGeom>
              <a:avLst/>
              <a:gdLst/>
              <a:ahLst/>
              <a:cxnLst/>
              <a:rect r="r" b="b" t="t" l="l"/>
              <a:pathLst>
                <a:path h="786384" w="6858000">
                  <a:moveTo>
                    <a:pt x="0" y="0"/>
                  </a:moveTo>
                  <a:lnTo>
                    <a:pt x="6858000" y="0"/>
                  </a:lnTo>
                  <a:lnTo>
                    <a:pt x="6858000" y="786384"/>
                  </a:lnTo>
                  <a:lnTo>
                    <a:pt x="0" y="786384"/>
                  </a:lnTo>
                  <a:close/>
                </a:path>
              </a:pathLst>
            </a:custGeom>
            <a:blipFill>
              <a:blip r:embed="rId2">
                <a:alphaModFix amt="0"/>
              </a:blip>
              <a:stretch>
                <a:fillRect l="0" t="-119927" r="0" b="-119927"/>
              </a:stretch>
            </a:blipFill>
          </p:spPr>
        </p:sp>
        <p:sp>
          <p:nvSpPr>
            <p:cNvPr name="TextBox 61" id="61"/>
            <p:cNvSpPr txBox="true"/>
            <p:nvPr/>
          </p:nvSpPr>
          <p:spPr>
            <a:xfrm>
              <a:off x="0" y="-38100"/>
              <a:ext cx="6858000" cy="824484"/>
            </a:xfrm>
            <a:prstGeom prst="rect">
              <a:avLst/>
            </a:prstGeom>
          </p:spPr>
          <p:txBody>
            <a:bodyPr anchor="ctr" rtlCol="false" tIns="0" lIns="0" bIns="0" rIns="0"/>
            <a:lstStyle/>
            <a:p>
              <a:pPr algn="ctr">
                <a:lnSpc>
                  <a:spcPts val="2430"/>
                </a:lnSpc>
              </a:pPr>
              <a:r>
                <a:rPr lang="en-US" sz="2025">
                  <a:solidFill>
                    <a:srgbClr val="6B7280"/>
                  </a:solidFill>
                  <a:latin typeface="Calibri (MS)"/>
                  <a:ea typeface="Calibri (MS)"/>
                  <a:cs typeface="Calibri (MS)"/>
                  <a:sym typeface="Calibri (MS)"/>
                </a:rPr>
                <a:t>Recover</a:t>
              </a:r>
            </a:p>
          </p:txBody>
        </p:sp>
      </p:grpSp>
      <p:grpSp>
        <p:nvGrpSpPr>
          <p:cNvPr name="Group 62" id="62"/>
          <p:cNvGrpSpPr/>
          <p:nvPr/>
        </p:nvGrpSpPr>
        <p:grpSpPr>
          <a:xfrm rot="0">
            <a:off x="12124944" y="8805672"/>
            <a:ext cx="5143500" cy="329184"/>
            <a:chOff x="0" y="0"/>
            <a:chExt cx="6858000" cy="438912"/>
          </a:xfrm>
        </p:grpSpPr>
        <p:sp>
          <p:nvSpPr>
            <p:cNvPr name="Freeform 63" id="63"/>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64" id="64"/>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9AA3B8"/>
                  </a:solidFill>
                  <a:latin typeface="Arimo"/>
                  <a:ea typeface="Arimo"/>
                  <a:cs typeface="Arimo"/>
                  <a:sym typeface="Arimo"/>
                </a:rPr>
                <a:t>RC</a:t>
              </a:r>
            </a:p>
          </p:txBody>
        </p:sp>
      </p:grpSp>
      <p:grpSp>
        <p:nvGrpSpPr>
          <p:cNvPr name="Group 65" id="65"/>
          <p:cNvGrpSpPr/>
          <p:nvPr/>
        </p:nvGrpSpPr>
        <p:grpSpPr>
          <a:xfrm rot="0">
            <a:off x="685800" y="9710928"/>
            <a:ext cx="10972800" cy="411480"/>
            <a:chOff x="0" y="0"/>
            <a:chExt cx="14630400" cy="548640"/>
          </a:xfrm>
        </p:grpSpPr>
        <p:sp>
          <p:nvSpPr>
            <p:cNvPr name="Freeform 66" id="66"/>
            <p:cNvSpPr/>
            <p:nvPr/>
          </p:nvSpPr>
          <p:spPr>
            <a:xfrm flipH="false" flipV="false" rot="0">
              <a:off x="0" y="0"/>
              <a:ext cx="14630400" cy="548640"/>
            </a:xfrm>
            <a:custGeom>
              <a:avLst/>
              <a:gdLst/>
              <a:ahLst/>
              <a:cxnLst/>
              <a:rect r="r" b="b" t="t" l="l"/>
              <a:pathLst>
                <a:path h="548640" w="14630400">
                  <a:moveTo>
                    <a:pt x="0" y="0"/>
                  </a:moveTo>
                  <a:lnTo>
                    <a:pt x="14630400" y="0"/>
                  </a:lnTo>
                  <a:lnTo>
                    <a:pt x="14630400" y="548640"/>
                  </a:lnTo>
                  <a:lnTo>
                    <a:pt x="0" y="548640"/>
                  </a:lnTo>
                  <a:close/>
                </a:path>
              </a:pathLst>
            </a:custGeom>
            <a:blipFill>
              <a:blip r:embed="rId2">
                <a:alphaModFix amt="0"/>
              </a:blip>
              <a:stretch>
                <a:fillRect l="0" t="-469601" r="0" b="-469601"/>
              </a:stretch>
            </a:blipFill>
          </p:spPr>
        </p:sp>
        <p:sp>
          <p:nvSpPr>
            <p:cNvPr name="TextBox 67" id="67"/>
            <p:cNvSpPr txBox="true"/>
            <p:nvPr/>
          </p:nvSpPr>
          <p:spPr>
            <a:xfrm>
              <a:off x="0" y="-38100"/>
              <a:ext cx="14630400" cy="586740"/>
            </a:xfrm>
            <a:prstGeom prst="rect">
              <a:avLst/>
            </a:prstGeom>
          </p:spPr>
          <p:txBody>
            <a:bodyPr anchor="ctr" rtlCol="false" tIns="0" lIns="0" bIns="0" rIns="0"/>
            <a:lstStyle/>
            <a:p>
              <a:pPr algn="l">
                <a:lnSpc>
                  <a:spcPts val="1800"/>
                </a:lnSpc>
              </a:pPr>
              <a:r>
                <a:rPr lang="en-US" sz="1500">
                  <a:solidFill>
                    <a:srgbClr val="6B7280"/>
                  </a:solidFill>
                  <a:latin typeface="Calibri (MS)"/>
                  <a:ea typeface="Calibri (MS)"/>
                  <a:cs typeface="Calibri (MS)"/>
                  <a:sym typeface="Calibri (MS)"/>
                </a:rPr>
                <a:t>Davao del Norte Provincial Government — Cybersecurity Seminar</a:t>
              </a:r>
            </a:p>
          </p:txBody>
        </p:sp>
      </p:grpSp>
      <p:grpSp>
        <p:nvGrpSpPr>
          <p:cNvPr name="Group 68" id="68"/>
          <p:cNvGrpSpPr/>
          <p:nvPr/>
        </p:nvGrpSpPr>
        <p:grpSpPr>
          <a:xfrm rot="0">
            <a:off x="16911828" y="9710928"/>
            <a:ext cx="685800" cy="411480"/>
            <a:chOff x="0" y="0"/>
            <a:chExt cx="914400" cy="548640"/>
          </a:xfrm>
        </p:grpSpPr>
        <p:sp>
          <p:nvSpPr>
            <p:cNvPr name="Freeform 69" id="69"/>
            <p:cNvSpPr/>
            <p:nvPr/>
          </p:nvSpPr>
          <p:spPr>
            <a:xfrm flipH="false" flipV="false" rot="0">
              <a:off x="0" y="0"/>
              <a:ext cx="914400" cy="548640"/>
            </a:xfrm>
            <a:custGeom>
              <a:avLst/>
              <a:gdLst/>
              <a:ahLst/>
              <a:cxnLst/>
              <a:rect r="r" b="b" t="t" l="l"/>
              <a:pathLst>
                <a:path h="548640" w="914400">
                  <a:moveTo>
                    <a:pt x="0" y="0"/>
                  </a:moveTo>
                  <a:lnTo>
                    <a:pt x="914400" y="0"/>
                  </a:lnTo>
                  <a:lnTo>
                    <a:pt x="914400" y="548640"/>
                  </a:lnTo>
                  <a:lnTo>
                    <a:pt x="0" y="548640"/>
                  </a:lnTo>
                  <a:close/>
                </a:path>
              </a:pathLst>
            </a:custGeom>
            <a:blipFill>
              <a:blip r:embed="rId2">
                <a:alphaModFix amt="0"/>
              </a:blip>
              <a:stretch>
                <a:fillRect l="-26982" t="0" r="-26982" b="0"/>
              </a:stretch>
            </a:blipFill>
          </p:spPr>
        </p:sp>
        <p:sp>
          <p:nvSpPr>
            <p:cNvPr name="TextBox 70" id="70"/>
            <p:cNvSpPr txBox="true"/>
            <p:nvPr/>
          </p:nvSpPr>
          <p:spPr>
            <a:xfrm>
              <a:off x="0" y="-38100"/>
              <a:ext cx="914400" cy="586740"/>
            </a:xfrm>
            <a:prstGeom prst="rect">
              <a:avLst/>
            </a:prstGeom>
          </p:spPr>
          <p:txBody>
            <a:bodyPr anchor="ctr" rtlCol="false" tIns="0" lIns="0" bIns="0" rIns="0"/>
            <a:lstStyle/>
            <a:p>
              <a:pPr algn="r">
                <a:lnSpc>
                  <a:spcPts val="1800"/>
                </a:lnSpc>
              </a:pPr>
              <a:r>
                <a:rPr lang="en-US" sz="1500">
                  <a:solidFill>
                    <a:srgbClr val="6B7280"/>
                  </a:solidFill>
                  <a:latin typeface="Calibri (MS)"/>
                  <a:ea typeface="Calibri (MS)"/>
                  <a:cs typeface="Calibri (MS)"/>
                  <a:sym typeface="Calibri (MS)"/>
                </a:rPr>
                <a:t>49</a:t>
              </a:r>
            </a:p>
          </p:txBody>
        </p:sp>
      </p:grpSp>
    </p:spTree>
  </p:cSld>
  <p:clrMapOvr>
    <a:masterClrMapping/>
  </p:clrMapOvr>
</p:sld>
</file>

<file path=ppt/slides/slide1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60120" y="685800"/>
            <a:ext cx="13716000" cy="411480"/>
            <a:chOff x="0" y="0"/>
            <a:chExt cx="18288000" cy="548640"/>
          </a:xfrm>
        </p:grpSpPr>
        <p:sp>
          <p:nvSpPr>
            <p:cNvPr name="Freeform 3" id="3"/>
            <p:cNvSpPr/>
            <p:nvPr/>
          </p:nvSpPr>
          <p:spPr>
            <a:xfrm flipH="false" flipV="false" rot="0">
              <a:off x="0" y="0"/>
              <a:ext cx="18288000" cy="548640"/>
            </a:xfrm>
            <a:custGeom>
              <a:avLst/>
              <a:gdLst/>
              <a:ahLst/>
              <a:cxnLst/>
              <a:rect r="r" b="b" t="t" l="l"/>
              <a:pathLst>
                <a:path h="548640" w="18288000">
                  <a:moveTo>
                    <a:pt x="0" y="0"/>
                  </a:moveTo>
                  <a:lnTo>
                    <a:pt x="18288000" y="0"/>
                  </a:lnTo>
                  <a:lnTo>
                    <a:pt x="18288000" y="548640"/>
                  </a:lnTo>
                  <a:lnTo>
                    <a:pt x="0" y="548640"/>
                  </a:lnTo>
                  <a:close/>
                </a:path>
              </a:pathLst>
            </a:custGeom>
            <a:blipFill>
              <a:blip r:embed="rId2">
                <a:alphaModFix amt="0"/>
              </a:blip>
              <a:stretch>
                <a:fillRect l="0" t="-599501" r="0" b="-599501"/>
              </a:stretch>
            </a:blipFill>
          </p:spPr>
        </p:sp>
        <p:sp>
          <p:nvSpPr>
            <p:cNvPr name="TextBox 4" id="4"/>
            <p:cNvSpPr txBox="true"/>
            <p:nvPr/>
          </p:nvSpPr>
          <p:spPr>
            <a:xfrm>
              <a:off x="0" y="-38100"/>
              <a:ext cx="18288000" cy="586740"/>
            </a:xfrm>
            <a:prstGeom prst="rect">
              <a:avLst/>
            </a:prstGeom>
          </p:spPr>
          <p:txBody>
            <a:bodyPr anchor="ctr" rtlCol="false" tIns="0" lIns="0" bIns="0" rIns="0"/>
            <a:lstStyle/>
            <a:p>
              <a:pPr algn="l">
                <a:lnSpc>
                  <a:spcPts val="2160"/>
                </a:lnSpc>
              </a:pPr>
              <a:r>
                <a:rPr lang="en-US" b="true" sz="1800" spc="225">
                  <a:solidFill>
                    <a:srgbClr val="00B4D8"/>
                  </a:solidFill>
                  <a:latin typeface="Calibri (MS) Bold"/>
                  <a:ea typeface="Calibri (MS) Bold"/>
                  <a:cs typeface="Calibri (MS) Bold"/>
                  <a:sym typeface="Calibri (MS) Bold"/>
                </a:rPr>
                <a:t>NIST CSF SORT · ANSWER</a:t>
              </a:r>
            </a:p>
          </p:txBody>
        </p:sp>
      </p:grpSp>
      <p:grpSp>
        <p:nvGrpSpPr>
          <p:cNvPr name="Group 5" id="5"/>
          <p:cNvGrpSpPr/>
          <p:nvPr/>
        </p:nvGrpSpPr>
        <p:grpSpPr>
          <a:xfrm rot="0">
            <a:off x="960120" y="1069848"/>
            <a:ext cx="10972800" cy="822960"/>
            <a:chOff x="0" y="0"/>
            <a:chExt cx="14630400" cy="1097280"/>
          </a:xfrm>
        </p:grpSpPr>
        <p:sp>
          <p:nvSpPr>
            <p:cNvPr name="Freeform 6" id="6"/>
            <p:cNvSpPr/>
            <p:nvPr/>
          </p:nvSpPr>
          <p:spPr>
            <a:xfrm flipH="false" flipV="false" rot="0">
              <a:off x="0" y="0"/>
              <a:ext cx="14630400" cy="1097280"/>
            </a:xfrm>
            <a:custGeom>
              <a:avLst/>
              <a:gdLst/>
              <a:ahLst/>
              <a:cxnLst/>
              <a:rect r="r" b="b" t="t" l="l"/>
              <a:pathLst>
                <a:path h="1097280" w="14630400">
                  <a:moveTo>
                    <a:pt x="0" y="0"/>
                  </a:moveTo>
                  <a:lnTo>
                    <a:pt x="14630400" y="0"/>
                  </a:lnTo>
                  <a:lnTo>
                    <a:pt x="14630400" y="1097280"/>
                  </a:lnTo>
                  <a:lnTo>
                    <a:pt x="0" y="1097280"/>
                  </a:lnTo>
                  <a:close/>
                </a:path>
              </a:pathLst>
            </a:custGeom>
            <a:blipFill>
              <a:blip r:embed="rId2">
                <a:alphaModFix amt="0"/>
              </a:blip>
              <a:stretch>
                <a:fillRect l="0" t="-209800" r="0" b="-209800"/>
              </a:stretch>
            </a:blipFill>
          </p:spPr>
        </p:sp>
        <p:sp>
          <p:nvSpPr>
            <p:cNvPr name="TextBox 7" id="7"/>
            <p:cNvSpPr txBox="true"/>
            <p:nvPr/>
          </p:nvSpPr>
          <p:spPr>
            <a:xfrm>
              <a:off x="0" y="0"/>
              <a:ext cx="14630400" cy="1097280"/>
            </a:xfrm>
            <a:prstGeom prst="rect">
              <a:avLst/>
            </a:prstGeom>
          </p:spPr>
          <p:txBody>
            <a:bodyPr anchor="ctr" rtlCol="false" tIns="0" lIns="0" bIns="0" rIns="0"/>
            <a:lstStyle/>
            <a:p>
              <a:pPr algn="l">
                <a:lnSpc>
                  <a:spcPts val="4680"/>
                </a:lnSpc>
              </a:pPr>
              <a:r>
                <a:rPr lang="en-US" sz="3900" b="true">
                  <a:solidFill>
                    <a:srgbClr val="1E2761"/>
                  </a:solidFill>
                  <a:latin typeface="Cambria Bold"/>
                  <a:ea typeface="Cambria Bold"/>
                  <a:cs typeface="Cambria Bold"/>
                  <a:sym typeface="Cambria Bold"/>
                </a:rPr>
                <a:t>Scenario 20 — Answer</a:t>
              </a:r>
            </a:p>
          </p:txBody>
        </p:sp>
      </p:grpSp>
      <p:grpSp>
        <p:nvGrpSpPr>
          <p:cNvPr name="Group 8" id="8"/>
          <p:cNvGrpSpPr/>
          <p:nvPr/>
        </p:nvGrpSpPr>
        <p:grpSpPr>
          <a:xfrm rot="0">
            <a:off x="960120" y="1810512"/>
            <a:ext cx="8229600" cy="411480"/>
            <a:chOff x="0" y="0"/>
            <a:chExt cx="10972800" cy="548640"/>
          </a:xfrm>
        </p:grpSpPr>
        <p:sp>
          <p:nvSpPr>
            <p:cNvPr name="Freeform 9" id="9"/>
            <p:cNvSpPr/>
            <p:nvPr/>
          </p:nvSpPr>
          <p:spPr>
            <a:xfrm flipH="false" flipV="false" rot="0">
              <a:off x="0" y="0"/>
              <a:ext cx="10972800" cy="548640"/>
            </a:xfrm>
            <a:custGeom>
              <a:avLst/>
              <a:gdLst/>
              <a:ahLst/>
              <a:cxnLst/>
              <a:rect r="r" b="b" t="t" l="l"/>
              <a:pathLst>
                <a:path h="548640" w="10972800">
                  <a:moveTo>
                    <a:pt x="0" y="0"/>
                  </a:moveTo>
                  <a:lnTo>
                    <a:pt x="10972800" y="0"/>
                  </a:lnTo>
                  <a:lnTo>
                    <a:pt x="10972800" y="548640"/>
                  </a:lnTo>
                  <a:lnTo>
                    <a:pt x="0" y="548640"/>
                  </a:lnTo>
                  <a:close/>
                </a:path>
              </a:pathLst>
            </a:custGeom>
            <a:blipFill>
              <a:blip r:embed="rId2">
                <a:alphaModFix amt="0"/>
              </a:blip>
              <a:stretch>
                <a:fillRect l="0" t="-339700" r="0" b="-339700"/>
              </a:stretch>
            </a:blipFill>
          </p:spPr>
        </p:sp>
        <p:sp>
          <p:nvSpPr>
            <p:cNvPr name="TextBox 10" id="10"/>
            <p:cNvSpPr txBox="true"/>
            <p:nvPr/>
          </p:nvSpPr>
          <p:spPr>
            <a:xfrm>
              <a:off x="0" y="-28575"/>
              <a:ext cx="10972800" cy="577215"/>
            </a:xfrm>
            <a:prstGeom prst="rect">
              <a:avLst/>
            </a:prstGeom>
          </p:spPr>
          <p:txBody>
            <a:bodyPr anchor="ctr" rtlCol="false" tIns="0" lIns="0" bIns="0" rIns="0"/>
            <a:lstStyle/>
            <a:p>
              <a:pPr algn="l">
                <a:lnSpc>
                  <a:spcPts val="1980"/>
                </a:lnSpc>
              </a:pPr>
              <a:r>
                <a:rPr lang="en-US" sz="1650">
                  <a:solidFill>
                    <a:srgbClr val="6B7280"/>
                  </a:solidFill>
                  <a:latin typeface="Calibri (MS)"/>
                  <a:ea typeface="Calibri (MS)"/>
                  <a:cs typeface="Calibri (MS)"/>
                  <a:sym typeface="Calibri (MS)"/>
                </a:rPr>
                <a:t>20 of 20</a:t>
              </a:r>
            </a:p>
          </p:txBody>
        </p:sp>
      </p:grpSp>
      <p:grpSp>
        <p:nvGrpSpPr>
          <p:cNvPr name="Group 11" id="11"/>
          <p:cNvGrpSpPr/>
          <p:nvPr/>
        </p:nvGrpSpPr>
        <p:grpSpPr>
          <a:xfrm rot="0">
            <a:off x="960120" y="2537460"/>
            <a:ext cx="16322040" cy="2194560"/>
            <a:chOff x="0" y="0"/>
            <a:chExt cx="21762720" cy="2926080"/>
          </a:xfrm>
        </p:grpSpPr>
        <p:sp>
          <p:nvSpPr>
            <p:cNvPr name="Freeform 12" id="12"/>
            <p:cNvSpPr/>
            <p:nvPr/>
          </p:nvSpPr>
          <p:spPr>
            <a:xfrm flipH="false" flipV="false" rot="0">
              <a:off x="0" y="0"/>
              <a:ext cx="21762720" cy="2926080"/>
            </a:xfrm>
            <a:custGeom>
              <a:avLst/>
              <a:gdLst/>
              <a:ahLst/>
              <a:cxnLst/>
              <a:rect r="r" b="b" t="t" l="l"/>
              <a:pathLst>
                <a:path h="2926080" w="21762720">
                  <a:moveTo>
                    <a:pt x="0" y="182880"/>
                  </a:moveTo>
                  <a:cubicBezTo>
                    <a:pt x="0" y="81915"/>
                    <a:pt x="81915" y="0"/>
                    <a:pt x="182880" y="0"/>
                  </a:cubicBezTo>
                  <a:lnTo>
                    <a:pt x="21579839" y="0"/>
                  </a:lnTo>
                  <a:cubicBezTo>
                    <a:pt x="21680804" y="0"/>
                    <a:pt x="21762720" y="81915"/>
                    <a:pt x="21762720" y="182880"/>
                  </a:cubicBezTo>
                  <a:lnTo>
                    <a:pt x="21762720" y="2743200"/>
                  </a:lnTo>
                  <a:cubicBezTo>
                    <a:pt x="21762720" y="2844165"/>
                    <a:pt x="21680804" y="2926080"/>
                    <a:pt x="21579839" y="2926080"/>
                  </a:cubicBezTo>
                  <a:lnTo>
                    <a:pt x="182880" y="2926080"/>
                  </a:lnTo>
                  <a:cubicBezTo>
                    <a:pt x="81915" y="2926080"/>
                    <a:pt x="0" y="2844165"/>
                    <a:pt x="0" y="2743200"/>
                  </a:cubicBezTo>
                  <a:close/>
                </a:path>
              </a:pathLst>
            </a:custGeom>
            <a:solidFill>
              <a:srgbClr val="F4F7FC"/>
            </a:solidFill>
          </p:spPr>
        </p:sp>
      </p:grpSp>
      <p:grpSp>
        <p:nvGrpSpPr>
          <p:cNvPr name="Group 13" id="13"/>
          <p:cNvGrpSpPr/>
          <p:nvPr/>
        </p:nvGrpSpPr>
        <p:grpSpPr>
          <a:xfrm rot="0">
            <a:off x="1440180" y="2770632"/>
            <a:ext cx="15361920" cy="1714500"/>
            <a:chOff x="0" y="0"/>
            <a:chExt cx="20482560" cy="2286000"/>
          </a:xfrm>
        </p:grpSpPr>
        <p:sp>
          <p:nvSpPr>
            <p:cNvPr name="Freeform 14" id="14"/>
            <p:cNvSpPr/>
            <p:nvPr/>
          </p:nvSpPr>
          <p:spPr>
            <a:xfrm flipH="false" flipV="false" rot="0">
              <a:off x="0" y="0"/>
              <a:ext cx="20482561" cy="2286000"/>
            </a:xfrm>
            <a:custGeom>
              <a:avLst/>
              <a:gdLst/>
              <a:ahLst/>
              <a:cxnLst/>
              <a:rect r="r" b="b" t="t" l="l"/>
              <a:pathLst>
                <a:path h="2286000" w="20482561">
                  <a:moveTo>
                    <a:pt x="0" y="0"/>
                  </a:moveTo>
                  <a:lnTo>
                    <a:pt x="20482561" y="0"/>
                  </a:lnTo>
                  <a:lnTo>
                    <a:pt x="20482561" y="2286000"/>
                  </a:lnTo>
                  <a:lnTo>
                    <a:pt x="0" y="2286000"/>
                  </a:lnTo>
                  <a:close/>
                </a:path>
              </a:pathLst>
            </a:custGeom>
            <a:blipFill>
              <a:blip r:embed="rId2">
                <a:alphaModFix amt="0"/>
              </a:blip>
              <a:stretch>
                <a:fillRect l="0" t="-124585" r="0" b="-124585"/>
              </a:stretch>
            </a:blipFill>
          </p:spPr>
        </p:sp>
        <p:sp>
          <p:nvSpPr>
            <p:cNvPr name="TextBox 15" id="15"/>
            <p:cNvSpPr txBox="true"/>
            <p:nvPr/>
          </p:nvSpPr>
          <p:spPr>
            <a:xfrm>
              <a:off x="0" y="-85725"/>
              <a:ext cx="20482560" cy="2371725"/>
            </a:xfrm>
            <a:prstGeom prst="rect">
              <a:avLst/>
            </a:prstGeom>
          </p:spPr>
          <p:txBody>
            <a:bodyPr anchor="ctr" rtlCol="false" tIns="0" lIns="0" bIns="0" rIns="0"/>
            <a:lstStyle/>
            <a:p>
              <a:pPr algn="l">
                <a:lnSpc>
                  <a:spcPts val="3600"/>
                </a:lnSpc>
              </a:pPr>
              <a:r>
                <a:rPr lang="en-US" sz="2400" i="true">
                  <a:solidFill>
                    <a:srgbClr val="23262F"/>
                  </a:solidFill>
                  <a:latin typeface="Cambria Italics"/>
                  <a:ea typeface="Cambria Italics"/>
                  <a:cs typeface="Cambria Italics"/>
                  <a:sym typeface="Cambria Italics"/>
                </a:rPr>
                <a:t>"Before signing a contract with a new cloud vendor, the province requires the vendor to complete a security questionnaire, and the head of IT must formally sign off on the risk before procurement can proceed."</a:t>
              </a:r>
            </a:p>
          </p:txBody>
        </p:sp>
      </p:grpSp>
      <p:grpSp>
        <p:nvGrpSpPr>
          <p:cNvPr name="Group 16" id="16"/>
          <p:cNvGrpSpPr/>
          <p:nvPr/>
        </p:nvGrpSpPr>
        <p:grpSpPr>
          <a:xfrm rot="0">
            <a:off x="950595" y="5065395"/>
            <a:ext cx="5162550" cy="842010"/>
            <a:chOff x="0" y="0"/>
            <a:chExt cx="6883400" cy="1122680"/>
          </a:xfrm>
        </p:grpSpPr>
        <p:sp>
          <p:nvSpPr>
            <p:cNvPr name="Freeform 17" id="17"/>
            <p:cNvSpPr/>
            <p:nvPr/>
          </p:nvSpPr>
          <p:spPr>
            <a:xfrm flipH="false" flipV="false" rot="0">
              <a:off x="0" y="0"/>
              <a:ext cx="6883400" cy="1122680"/>
            </a:xfrm>
            <a:custGeom>
              <a:avLst/>
              <a:gdLst/>
              <a:ahLst/>
              <a:cxnLst/>
              <a:rect r="r" b="b" t="t" l="l"/>
              <a:pathLst>
                <a:path h="1122680" w="6883400">
                  <a:moveTo>
                    <a:pt x="0" y="168402"/>
                  </a:moveTo>
                  <a:cubicBezTo>
                    <a:pt x="0" y="75438"/>
                    <a:pt x="75438" y="0"/>
                    <a:pt x="168402" y="0"/>
                  </a:cubicBezTo>
                  <a:lnTo>
                    <a:pt x="6714998" y="0"/>
                  </a:lnTo>
                  <a:cubicBezTo>
                    <a:pt x="6807962" y="0"/>
                    <a:pt x="6883400" y="75438"/>
                    <a:pt x="6883400" y="168402"/>
                  </a:cubicBezTo>
                  <a:lnTo>
                    <a:pt x="6883400" y="954278"/>
                  </a:lnTo>
                  <a:cubicBezTo>
                    <a:pt x="6883400" y="1047242"/>
                    <a:pt x="6807962" y="1122680"/>
                    <a:pt x="6714998" y="1122680"/>
                  </a:cubicBezTo>
                  <a:lnTo>
                    <a:pt x="168402" y="1122680"/>
                  </a:lnTo>
                  <a:cubicBezTo>
                    <a:pt x="75438" y="1122680"/>
                    <a:pt x="0" y="1047242"/>
                    <a:pt x="0" y="954278"/>
                  </a:cubicBezTo>
                  <a:close/>
                </a:path>
              </a:pathLst>
            </a:custGeom>
            <a:solidFill>
              <a:srgbClr val="6C4FD1"/>
            </a:solidFill>
            <a:ln w="19050" cap="sq">
              <a:solidFill>
                <a:srgbClr val="6C4FD1"/>
              </a:solidFill>
              <a:prstDash val="solid"/>
              <a:miter/>
            </a:ln>
          </p:spPr>
        </p:sp>
      </p:grpSp>
      <p:grpSp>
        <p:nvGrpSpPr>
          <p:cNvPr name="Group 18" id="18"/>
          <p:cNvGrpSpPr/>
          <p:nvPr/>
        </p:nvGrpSpPr>
        <p:grpSpPr>
          <a:xfrm rot="0">
            <a:off x="960120" y="5143500"/>
            <a:ext cx="5143500" cy="521208"/>
            <a:chOff x="0" y="0"/>
            <a:chExt cx="6858000" cy="694944"/>
          </a:xfrm>
        </p:grpSpPr>
        <p:sp>
          <p:nvSpPr>
            <p:cNvPr name="Freeform 19" id="19"/>
            <p:cNvSpPr/>
            <p:nvPr/>
          </p:nvSpPr>
          <p:spPr>
            <a:xfrm flipH="false" flipV="false" rot="0">
              <a:off x="0" y="0"/>
              <a:ext cx="6858000" cy="694944"/>
            </a:xfrm>
            <a:custGeom>
              <a:avLst/>
              <a:gdLst/>
              <a:ahLst/>
              <a:cxnLst/>
              <a:rect r="r" b="b" t="t" l="l"/>
              <a:pathLst>
                <a:path h="694944" w="6858000">
                  <a:moveTo>
                    <a:pt x="0" y="0"/>
                  </a:moveTo>
                  <a:lnTo>
                    <a:pt x="6858000" y="0"/>
                  </a:lnTo>
                  <a:lnTo>
                    <a:pt x="6858000" y="694944"/>
                  </a:lnTo>
                  <a:lnTo>
                    <a:pt x="0" y="694944"/>
                  </a:lnTo>
                  <a:close/>
                </a:path>
              </a:pathLst>
            </a:custGeom>
            <a:blipFill>
              <a:blip r:embed="rId2">
                <a:alphaModFix amt="0"/>
              </a:blip>
              <a:stretch>
                <a:fillRect l="0" t="-142286" r="0" b="-142286"/>
              </a:stretch>
            </a:blipFill>
          </p:spPr>
        </p:sp>
        <p:sp>
          <p:nvSpPr>
            <p:cNvPr name="TextBox 20" id="20"/>
            <p:cNvSpPr txBox="true"/>
            <p:nvPr/>
          </p:nvSpPr>
          <p:spPr>
            <a:xfrm>
              <a:off x="0" y="-38100"/>
              <a:ext cx="6858000" cy="733044"/>
            </a:xfrm>
            <a:prstGeom prst="rect">
              <a:avLst/>
            </a:prstGeom>
          </p:spPr>
          <p:txBody>
            <a:bodyPr anchor="ctr" rtlCol="false" tIns="0" lIns="0" bIns="0" rIns="0"/>
            <a:lstStyle/>
            <a:p>
              <a:pPr algn="ctr">
                <a:lnSpc>
                  <a:spcPts val="2430"/>
                </a:lnSpc>
              </a:pPr>
              <a:r>
                <a:rPr lang="en-US" sz="2025" b="true">
                  <a:solidFill>
                    <a:srgbClr val="FFFFFF"/>
                  </a:solidFill>
                  <a:latin typeface="Calibri (MS) Bold"/>
                  <a:ea typeface="Calibri (MS) Bold"/>
                  <a:cs typeface="Calibri (MS) Bold"/>
                  <a:sym typeface="Calibri (MS) Bold"/>
                </a:rPr>
                <a:t>✓  Govern</a:t>
              </a:r>
            </a:p>
          </p:txBody>
        </p:sp>
      </p:grpSp>
      <p:grpSp>
        <p:nvGrpSpPr>
          <p:cNvPr name="Group 21" id="21"/>
          <p:cNvGrpSpPr/>
          <p:nvPr/>
        </p:nvGrpSpPr>
        <p:grpSpPr>
          <a:xfrm rot="0">
            <a:off x="960120" y="5513832"/>
            <a:ext cx="5143500" cy="329184"/>
            <a:chOff x="0" y="0"/>
            <a:chExt cx="6858000" cy="438912"/>
          </a:xfrm>
        </p:grpSpPr>
        <p:sp>
          <p:nvSpPr>
            <p:cNvPr name="Freeform 22" id="22"/>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23" id="23"/>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FFFFFF"/>
                  </a:solidFill>
                  <a:latin typeface="Arimo"/>
                  <a:ea typeface="Arimo"/>
                  <a:cs typeface="Arimo"/>
                  <a:sym typeface="Arimo"/>
                </a:rPr>
                <a:t>GV</a:t>
              </a:r>
            </a:p>
          </p:txBody>
        </p:sp>
      </p:grpSp>
      <p:grpSp>
        <p:nvGrpSpPr>
          <p:cNvPr name="Group 24" id="24"/>
          <p:cNvGrpSpPr/>
          <p:nvPr/>
        </p:nvGrpSpPr>
        <p:grpSpPr>
          <a:xfrm rot="0">
            <a:off x="6533007" y="5065395"/>
            <a:ext cx="5162550" cy="842010"/>
            <a:chOff x="0" y="0"/>
            <a:chExt cx="6883400" cy="1122680"/>
          </a:xfrm>
        </p:grpSpPr>
        <p:sp>
          <p:nvSpPr>
            <p:cNvPr name="Freeform 25" id="25"/>
            <p:cNvSpPr/>
            <p:nvPr/>
          </p:nvSpPr>
          <p:spPr>
            <a:xfrm flipH="false" flipV="false" rot="0">
              <a:off x="0" y="0"/>
              <a:ext cx="6883400" cy="1122680"/>
            </a:xfrm>
            <a:custGeom>
              <a:avLst/>
              <a:gdLst/>
              <a:ahLst/>
              <a:cxnLst/>
              <a:rect r="r" b="b" t="t" l="l"/>
              <a:pathLst>
                <a:path h="1122680" w="6883400">
                  <a:moveTo>
                    <a:pt x="0" y="168402"/>
                  </a:moveTo>
                  <a:cubicBezTo>
                    <a:pt x="0" y="75438"/>
                    <a:pt x="75438" y="0"/>
                    <a:pt x="168402" y="0"/>
                  </a:cubicBezTo>
                  <a:lnTo>
                    <a:pt x="6714998" y="0"/>
                  </a:lnTo>
                  <a:cubicBezTo>
                    <a:pt x="6807962" y="0"/>
                    <a:pt x="6883400" y="75438"/>
                    <a:pt x="6883400" y="168402"/>
                  </a:cubicBezTo>
                  <a:lnTo>
                    <a:pt x="6883400" y="954278"/>
                  </a:lnTo>
                  <a:cubicBezTo>
                    <a:pt x="6883400" y="1047242"/>
                    <a:pt x="6807962" y="1122680"/>
                    <a:pt x="6714998" y="1122680"/>
                  </a:cubicBezTo>
                  <a:lnTo>
                    <a:pt x="168402" y="1122680"/>
                  </a:lnTo>
                  <a:cubicBezTo>
                    <a:pt x="75438" y="1122680"/>
                    <a:pt x="0" y="1047242"/>
                    <a:pt x="0" y="954278"/>
                  </a:cubicBezTo>
                  <a:close/>
                </a:path>
              </a:pathLst>
            </a:custGeom>
            <a:solidFill>
              <a:srgbClr val="0F8A6E"/>
            </a:solidFill>
            <a:ln w="19050" cap="sq">
              <a:solidFill>
                <a:srgbClr val="0F8A6E"/>
              </a:solidFill>
              <a:prstDash val="solid"/>
              <a:miter/>
            </a:ln>
          </p:spPr>
        </p:sp>
      </p:grpSp>
      <p:grpSp>
        <p:nvGrpSpPr>
          <p:cNvPr name="Group 26" id="26"/>
          <p:cNvGrpSpPr/>
          <p:nvPr/>
        </p:nvGrpSpPr>
        <p:grpSpPr>
          <a:xfrm rot="0">
            <a:off x="6542532" y="5143500"/>
            <a:ext cx="5143500" cy="521208"/>
            <a:chOff x="0" y="0"/>
            <a:chExt cx="6858000" cy="694944"/>
          </a:xfrm>
        </p:grpSpPr>
        <p:sp>
          <p:nvSpPr>
            <p:cNvPr name="Freeform 27" id="27"/>
            <p:cNvSpPr/>
            <p:nvPr/>
          </p:nvSpPr>
          <p:spPr>
            <a:xfrm flipH="false" flipV="false" rot="0">
              <a:off x="0" y="0"/>
              <a:ext cx="6858000" cy="694944"/>
            </a:xfrm>
            <a:custGeom>
              <a:avLst/>
              <a:gdLst/>
              <a:ahLst/>
              <a:cxnLst/>
              <a:rect r="r" b="b" t="t" l="l"/>
              <a:pathLst>
                <a:path h="694944" w="6858000">
                  <a:moveTo>
                    <a:pt x="0" y="0"/>
                  </a:moveTo>
                  <a:lnTo>
                    <a:pt x="6858000" y="0"/>
                  </a:lnTo>
                  <a:lnTo>
                    <a:pt x="6858000" y="694944"/>
                  </a:lnTo>
                  <a:lnTo>
                    <a:pt x="0" y="694944"/>
                  </a:lnTo>
                  <a:close/>
                </a:path>
              </a:pathLst>
            </a:custGeom>
            <a:blipFill>
              <a:blip r:embed="rId2">
                <a:alphaModFix amt="0"/>
              </a:blip>
              <a:stretch>
                <a:fillRect l="0" t="-142286" r="0" b="-142286"/>
              </a:stretch>
            </a:blipFill>
          </p:spPr>
        </p:sp>
        <p:sp>
          <p:nvSpPr>
            <p:cNvPr name="TextBox 28" id="28"/>
            <p:cNvSpPr txBox="true"/>
            <p:nvPr/>
          </p:nvSpPr>
          <p:spPr>
            <a:xfrm>
              <a:off x="0" y="-38100"/>
              <a:ext cx="6858000" cy="733044"/>
            </a:xfrm>
            <a:prstGeom prst="rect">
              <a:avLst/>
            </a:prstGeom>
          </p:spPr>
          <p:txBody>
            <a:bodyPr anchor="ctr" rtlCol="false" tIns="0" lIns="0" bIns="0" rIns="0"/>
            <a:lstStyle/>
            <a:p>
              <a:pPr algn="ctr">
                <a:lnSpc>
                  <a:spcPts val="2430"/>
                </a:lnSpc>
              </a:pPr>
              <a:r>
                <a:rPr lang="en-US" sz="2025" b="true">
                  <a:solidFill>
                    <a:srgbClr val="FFFFFF"/>
                  </a:solidFill>
                  <a:latin typeface="Calibri (MS) Bold"/>
                  <a:ea typeface="Calibri (MS) Bold"/>
                  <a:cs typeface="Calibri (MS) Bold"/>
                  <a:sym typeface="Calibri (MS) Bold"/>
                </a:rPr>
                <a:t>✓  Identify</a:t>
              </a:r>
            </a:p>
          </p:txBody>
        </p:sp>
      </p:grpSp>
      <p:grpSp>
        <p:nvGrpSpPr>
          <p:cNvPr name="Group 29" id="29"/>
          <p:cNvGrpSpPr/>
          <p:nvPr/>
        </p:nvGrpSpPr>
        <p:grpSpPr>
          <a:xfrm rot="0">
            <a:off x="6542532" y="5513832"/>
            <a:ext cx="5143500" cy="329184"/>
            <a:chOff x="0" y="0"/>
            <a:chExt cx="6858000" cy="438912"/>
          </a:xfrm>
        </p:grpSpPr>
        <p:sp>
          <p:nvSpPr>
            <p:cNvPr name="Freeform 30" id="30"/>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31" id="31"/>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FFFFFF"/>
                  </a:solidFill>
                  <a:latin typeface="Arimo"/>
                  <a:ea typeface="Arimo"/>
                  <a:cs typeface="Arimo"/>
                  <a:sym typeface="Arimo"/>
                </a:rPr>
                <a:t>ID</a:t>
              </a:r>
            </a:p>
          </p:txBody>
        </p:sp>
      </p:grpSp>
      <p:grpSp>
        <p:nvGrpSpPr>
          <p:cNvPr name="Group 32" id="32"/>
          <p:cNvGrpSpPr/>
          <p:nvPr/>
        </p:nvGrpSpPr>
        <p:grpSpPr>
          <a:xfrm rot="0">
            <a:off x="12115419" y="5065395"/>
            <a:ext cx="5162550" cy="842010"/>
            <a:chOff x="0" y="0"/>
            <a:chExt cx="6883400" cy="1122680"/>
          </a:xfrm>
        </p:grpSpPr>
        <p:sp>
          <p:nvSpPr>
            <p:cNvPr name="Freeform 33" id="33"/>
            <p:cNvSpPr/>
            <p:nvPr/>
          </p:nvSpPr>
          <p:spPr>
            <a:xfrm flipH="false" flipV="false" rot="0">
              <a:off x="0" y="0"/>
              <a:ext cx="6883400" cy="1122680"/>
            </a:xfrm>
            <a:custGeom>
              <a:avLst/>
              <a:gdLst/>
              <a:ahLst/>
              <a:cxnLst/>
              <a:rect r="r" b="b" t="t" l="l"/>
              <a:pathLst>
                <a:path h="1122680" w="6883400">
                  <a:moveTo>
                    <a:pt x="0" y="168402"/>
                  </a:moveTo>
                  <a:cubicBezTo>
                    <a:pt x="0" y="75438"/>
                    <a:pt x="75438" y="0"/>
                    <a:pt x="168402" y="0"/>
                  </a:cubicBezTo>
                  <a:lnTo>
                    <a:pt x="6714998" y="0"/>
                  </a:lnTo>
                  <a:cubicBezTo>
                    <a:pt x="6807962" y="0"/>
                    <a:pt x="6883400" y="75438"/>
                    <a:pt x="6883400" y="168402"/>
                  </a:cubicBezTo>
                  <a:lnTo>
                    <a:pt x="6883400" y="954278"/>
                  </a:lnTo>
                  <a:cubicBezTo>
                    <a:pt x="6883400" y="1047242"/>
                    <a:pt x="6807962" y="1122680"/>
                    <a:pt x="6714998" y="1122680"/>
                  </a:cubicBezTo>
                  <a:lnTo>
                    <a:pt x="168402" y="1122680"/>
                  </a:lnTo>
                  <a:cubicBezTo>
                    <a:pt x="75438" y="1122680"/>
                    <a:pt x="0" y="1047242"/>
                    <a:pt x="0" y="954278"/>
                  </a:cubicBezTo>
                  <a:close/>
                </a:path>
              </a:pathLst>
            </a:custGeom>
            <a:solidFill>
              <a:srgbClr val="F4F7FC"/>
            </a:solidFill>
            <a:ln w="19050" cap="sq">
              <a:solidFill>
                <a:srgbClr val="D7DCEC"/>
              </a:solidFill>
              <a:prstDash val="solid"/>
              <a:miter/>
            </a:ln>
          </p:spPr>
        </p:sp>
      </p:grpSp>
      <p:grpSp>
        <p:nvGrpSpPr>
          <p:cNvPr name="Group 34" id="34"/>
          <p:cNvGrpSpPr/>
          <p:nvPr/>
        </p:nvGrpSpPr>
        <p:grpSpPr>
          <a:xfrm rot="0">
            <a:off x="12124944" y="5143500"/>
            <a:ext cx="5143500" cy="521208"/>
            <a:chOff x="0" y="0"/>
            <a:chExt cx="6858000" cy="694944"/>
          </a:xfrm>
        </p:grpSpPr>
        <p:sp>
          <p:nvSpPr>
            <p:cNvPr name="Freeform 35" id="35"/>
            <p:cNvSpPr/>
            <p:nvPr/>
          </p:nvSpPr>
          <p:spPr>
            <a:xfrm flipH="false" flipV="false" rot="0">
              <a:off x="0" y="0"/>
              <a:ext cx="6858000" cy="694944"/>
            </a:xfrm>
            <a:custGeom>
              <a:avLst/>
              <a:gdLst/>
              <a:ahLst/>
              <a:cxnLst/>
              <a:rect r="r" b="b" t="t" l="l"/>
              <a:pathLst>
                <a:path h="694944" w="6858000">
                  <a:moveTo>
                    <a:pt x="0" y="0"/>
                  </a:moveTo>
                  <a:lnTo>
                    <a:pt x="6858000" y="0"/>
                  </a:lnTo>
                  <a:lnTo>
                    <a:pt x="6858000" y="694944"/>
                  </a:lnTo>
                  <a:lnTo>
                    <a:pt x="0" y="694944"/>
                  </a:lnTo>
                  <a:close/>
                </a:path>
              </a:pathLst>
            </a:custGeom>
            <a:blipFill>
              <a:blip r:embed="rId2">
                <a:alphaModFix amt="0"/>
              </a:blip>
              <a:stretch>
                <a:fillRect l="0" t="-142286" r="0" b="-142286"/>
              </a:stretch>
            </a:blipFill>
          </p:spPr>
        </p:sp>
        <p:sp>
          <p:nvSpPr>
            <p:cNvPr name="TextBox 36" id="36"/>
            <p:cNvSpPr txBox="true"/>
            <p:nvPr/>
          </p:nvSpPr>
          <p:spPr>
            <a:xfrm>
              <a:off x="0" y="-38100"/>
              <a:ext cx="6858000" cy="733044"/>
            </a:xfrm>
            <a:prstGeom prst="rect">
              <a:avLst/>
            </a:prstGeom>
          </p:spPr>
          <p:txBody>
            <a:bodyPr anchor="ctr" rtlCol="false" tIns="0" lIns="0" bIns="0" rIns="0"/>
            <a:lstStyle/>
            <a:p>
              <a:pPr algn="ctr">
                <a:lnSpc>
                  <a:spcPts val="2430"/>
                </a:lnSpc>
              </a:pPr>
              <a:r>
                <a:rPr lang="en-US" sz="2025">
                  <a:solidFill>
                    <a:srgbClr val="6B7280"/>
                  </a:solidFill>
                  <a:latin typeface="Calibri (MS)"/>
                  <a:ea typeface="Calibri (MS)"/>
                  <a:cs typeface="Calibri (MS)"/>
                  <a:sym typeface="Calibri (MS)"/>
                </a:rPr>
                <a:t>Protect</a:t>
              </a:r>
            </a:p>
          </p:txBody>
        </p:sp>
      </p:grpSp>
      <p:grpSp>
        <p:nvGrpSpPr>
          <p:cNvPr name="Group 37" id="37"/>
          <p:cNvGrpSpPr/>
          <p:nvPr/>
        </p:nvGrpSpPr>
        <p:grpSpPr>
          <a:xfrm rot="0">
            <a:off x="12124944" y="5513832"/>
            <a:ext cx="5143500" cy="329184"/>
            <a:chOff x="0" y="0"/>
            <a:chExt cx="6858000" cy="438912"/>
          </a:xfrm>
        </p:grpSpPr>
        <p:sp>
          <p:nvSpPr>
            <p:cNvPr name="Freeform 38" id="38"/>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39" id="39"/>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9AA3B8"/>
                  </a:solidFill>
                  <a:latin typeface="Arimo"/>
                  <a:ea typeface="Arimo"/>
                  <a:cs typeface="Arimo"/>
                  <a:sym typeface="Arimo"/>
                </a:rPr>
                <a:t>PR</a:t>
              </a:r>
            </a:p>
          </p:txBody>
        </p:sp>
      </p:grpSp>
      <p:grpSp>
        <p:nvGrpSpPr>
          <p:cNvPr name="Group 40" id="40"/>
          <p:cNvGrpSpPr/>
          <p:nvPr/>
        </p:nvGrpSpPr>
        <p:grpSpPr>
          <a:xfrm rot="0">
            <a:off x="950595" y="6135243"/>
            <a:ext cx="5162550" cy="842010"/>
            <a:chOff x="0" y="0"/>
            <a:chExt cx="6883400" cy="1122680"/>
          </a:xfrm>
        </p:grpSpPr>
        <p:sp>
          <p:nvSpPr>
            <p:cNvPr name="Freeform 41" id="41"/>
            <p:cNvSpPr/>
            <p:nvPr/>
          </p:nvSpPr>
          <p:spPr>
            <a:xfrm flipH="false" flipV="false" rot="0">
              <a:off x="0" y="0"/>
              <a:ext cx="6883400" cy="1122680"/>
            </a:xfrm>
            <a:custGeom>
              <a:avLst/>
              <a:gdLst/>
              <a:ahLst/>
              <a:cxnLst/>
              <a:rect r="r" b="b" t="t" l="l"/>
              <a:pathLst>
                <a:path h="1122680" w="6883400">
                  <a:moveTo>
                    <a:pt x="0" y="168402"/>
                  </a:moveTo>
                  <a:cubicBezTo>
                    <a:pt x="0" y="75438"/>
                    <a:pt x="75438" y="0"/>
                    <a:pt x="168402" y="0"/>
                  </a:cubicBezTo>
                  <a:lnTo>
                    <a:pt x="6714998" y="0"/>
                  </a:lnTo>
                  <a:cubicBezTo>
                    <a:pt x="6807962" y="0"/>
                    <a:pt x="6883400" y="75438"/>
                    <a:pt x="6883400" y="168402"/>
                  </a:cubicBezTo>
                  <a:lnTo>
                    <a:pt x="6883400" y="954278"/>
                  </a:lnTo>
                  <a:cubicBezTo>
                    <a:pt x="6883400" y="1047242"/>
                    <a:pt x="6807962" y="1122680"/>
                    <a:pt x="6714998" y="1122680"/>
                  </a:cubicBezTo>
                  <a:lnTo>
                    <a:pt x="168402" y="1122680"/>
                  </a:lnTo>
                  <a:cubicBezTo>
                    <a:pt x="75438" y="1122680"/>
                    <a:pt x="0" y="1047242"/>
                    <a:pt x="0" y="954278"/>
                  </a:cubicBezTo>
                  <a:close/>
                </a:path>
              </a:pathLst>
            </a:custGeom>
            <a:solidFill>
              <a:srgbClr val="F4F7FC"/>
            </a:solidFill>
            <a:ln w="19050" cap="sq">
              <a:solidFill>
                <a:srgbClr val="D7DCEC"/>
              </a:solidFill>
              <a:prstDash val="solid"/>
              <a:miter/>
            </a:ln>
          </p:spPr>
        </p:sp>
      </p:grpSp>
      <p:grpSp>
        <p:nvGrpSpPr>
          <p:cNvPr name="Group 42" id="42"/>
          <p:cNvGrpSpPr/>
          <p:nvPr/>
        </p:nvGrpSpPr>
        <p:grpSpPr>
          <a:xfrm rot="0">
            <a:off x="960120" y="6213348"/>
            <a:ext cx="5143500" cy="521208"/>
            <a:chOff x="0" y="0"/>
            <a:chExt cx="6858000" cy="694944"/>
          </a:xfrm>
        </p:grpSpPr>
        <p:sp>
          <p:nvSpPr>
            <p:cNvPr name="Freeform 43" id="43"/>
            <p:cNvSpPr/>
            <p:nvPr/>
          </p:nvSpPr>
          <p:spPr>
            <a:xfrm flipH="false" flipV="false" rot="0">
              <a:off x="0" y="0"/>
              <a:ext cx="6858000" cy="694944"/>
            </a:xfrm>
            <a:custGeom>
              <a:avLst/>
              <a:gdLst/>
              <a:ahLst/>
              <a:cxnLst/>
              <a:rect r="r" b="b" t="t" l="l"/>
              <a:pathLst>
                <a:path h="694944" w="6858000">
                  <a:moveTo>
                    <a:pt x="0" y="0"/>
                  </a:moveTo>
                  <a:lnTo>
                    <a:pt x="6858000" y="0"/>
                  </a:lnTo>
                  <a:lnTo>
                    <a:pt x="6858000" y="694944"/>
                  </a:lnTo>
                  <a:lnTo>
                    <a:pt x="0" y="694944"/>
                  </a:lnTo>
                  <a:close/>
                </a:path>
              </a:pathLst>
            </a:custGeom>
            <a:blipFill>
              <a:blip r:embed="rId2">
                <a:alphaModFix amt="0"/>
              </a:blip>
              <a:stretch>
                <a:fillRect l="0" t="-142286" r="0" b="-142286"/>
              </a:stretch>
            </a:blipFill>
          </p:spPr>
        </p:sp>
        <p:sp>
          <p:nvSpPr>
            <p:cNvPr name="TextBox 44" id="44"/>
            <p:cNvSpPr txBox="true"/>
            <p:nvPr/>
          </p:nvSpPr>
          <p:spPr>
            <a:xfrm>
              <a:off x="0" y="-38100"/>
              <a:ext cx="6858000" cy="733044"/>
            </a:xfrm>
            <a:prstGeom prst="rect">
              <a:avLst/>
            </a:prstGeom>
          </p:spPr>
          <p:txBody>
            <a:bodyPr anchor="ctr" rtlCol="false" tIns="0" lIns="0" bIns="0" rIns="0"/>
            <a:lstStyle/>
            <a:p>
              <a:pPr algn="ctr">
                <a:lnSpc>
                  <a:spcPts val="2430"/>
                </a:lnSpc>
              </a:pPr>
              <a:r>
                <a:rPr lang="en-US" sz="2025">
                  <a:solidFill>
                    <a:srgbClr val="6B7280"/>
                  </a:solidFill>
                  <a:latin typeface="Calibri (MS)"/>
                  <a:ea typeface="Calibri (MS)"/>
                  <a:cs typeface="Calibri (MS)"/>
                  <a:sym typeface="Calibri (MS)"/>
                </a:rPr>
                <a:t>Detect</a:t>
              </a:r>
            </a:p>
          </p:txBody>
        </p:sp>
      </p:grpSp>
      <p:grpSp>
        <p:nvGrpSpPr>
          <p:cNvPr name="Group 45" id="45"/>
          <p:cNvGrpSpPr/>
          <p:nvPr/>
        </p:nvGrpSpPr>
        <p:grpSpPr>
          <a:xfrm rot="0">
            <a:off x="960120" y="6583680"/>
            <a:ext cx="5143500" cy="329184"/>
            <a:chOff x="0" y="0"/>
            <a:chExt cx="6858000" cy="438912"/>
          </a:xfrm>
        </p:grpSpPr>
        <p:sp>
          <p:nvSpPr>
            <p:cNvPr name="Freeform 46" id="46"/>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47" id="47"/>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9AA3B8"/>
                  </a:solidFill>
                  <a:latin typeface="Arimo"/>
                  <a:ea typeface="Arimo"/>
                  <a:cs typeface="Arimo"/>
                  <a:sym typeface="Arimo"/>
                </a:rPr>
                <a:t>DE</a:t>
              </a:r>
            </a:p>
          </p:txBody>
        </p:sp>
      </p:grpSp>
      <p:grpSp>
        <p:nvGrpSpPr>
          <p:cNvPr name="Group 48" id="48"/>
          <p:cNvGrpSpPr/>
          <p:nvPr/>
        </p:nvGrpSpPr>
        <p:grpSpPr>
          <a:xfrm rot="0">
            <a:off x="6533007" y="6135243"/>
            <a:ext cx="5162550" cy="842010"/>
            <a:chOff x="0" y="0"/>
            <a:chExt cx="6883400" cy="1122680"/>
          </a:xfrm>
        </p:grpSpPr>
        <p:sp>
          <p:nvSpPr>
            <p:cNvPr name="Freeform 49" id="49"/>
            <p:cNvSpPr/>
            <p:nvPr/>
          </p:nvSpPr>
          <p:spPr>
            <a:xfrm flipH="false" flipV="false" rot="0">
              <a:off x="0" y="0"/>
              <a:ext cx="6883400" cy="1122680"/>
            </a:xfrm>
            <a:custGeom>
              <a:avLst/>
              <a:gdLst/>
              <a:ahLst/>
              <a:cxnLst/>
              <a:rect r="r" b="b" t="t" l="l"/>
              <a:pathLst>
                <a:path h="1122680" w="6883400">
                  <a:moveTo>
                    <a:pt x="0" y="168402"/>
                  </a:moveTo>
                  <a:cubicBezTo>
                    <a:pt x="0" y="75438"/>
                    <a:pt x="75438" y="0"/>
                    <a:pt x="168402" y="0"/>
                  </a:cubicBezTo>
                  <a:lnTo>
                    <a:pt x="6714998" y="0"/>
                  </a:lnTo>
                  <a:cubicBezTo>
                    <a:pt x="6807962" y="0"/>
                    <a:pt x="6883400" y="75438"/>
                    <a:pt x="6883400" y="168402"/>
                  </a:cubicBezTo>
                  <a:lnTo>
                    <a:pt x="6883400" y="954278"/>
                  </a:lnTo>
                  <a:cubicBezTo>
                    <a:pt x="6883400" y="1047242"/>
                    <a:pt x="6807962" y="1122680"/>
                    <a:pt x="6714998" y="1122680"/>
                  </a:cubicBezTo>
                  <a:lnTo>
                    <a:pt x="168402" y="1122680"/>
                  </a:lnTo>
                  <a:cubicBezTo>
                    <a:pt x="75438" y="1122680"/>
                    <a:pt x="0" y="1047242"/>
                    <a:pt x="0" y="954278"/>
                  </a:cubicBezTo>
                  <a:close/>
                </a:path>
              </a:pathLst>
            </a:custGeom>
            <a:solidFill>
              <a:srgbClr val="F4F7FC"/>
            </a:solidFill>
            <a:ln w="19050" cap="sq">
              <a:solidFill>
                <a:srgbClr val="D7DCEC"/>
              </a:solidFill>
              <a:prstDash val="solid"/>
              <a:miter/>
            </a:ln>
          </p:spPr>
        </p:sp>
      </p:grpSp>
      <p:grpSp>
        <p:nvGrpSpPr>
          <p:cNvPr name="Group 50" id="50"/>
          <p:cNvGrpSpPr/>
          <p:nvPr/>
        </p:nvGrpSpPr>
        <p:grpSpPr>
          <a:xfrm rot="0">
            <a:off x="6542532" y="6213348"/>
            <a:ext cx="5143500" cy="521208"/>
            <a:chOff x="0" y="0"/>
            <a:chExt cx="6858000" cy="694944"/>
          </a:xfrm>
        </p:grpSpPr>
        <p:sp>
          <p:nvSpPr>
            <p:cNvPr name="Freeform 51" id="51"/>
            <p:cNvSpPr/>
            <p:nvPr/>
          </p:nvSpPr>
          <p:spPr>
            <a:xfrm flipH="false" flipV="false" rot="0">
              <a:off x="0" y="0"/>
              <a:ext cx="6858000" cy="694944"/>
            </a:xfrm>
            <a:custGeom>
              <a:avLst/>
              <a:gdLst/>
              <a:ahLst/>
              <a:cxnLst/>
              <a:rect r="r" b="b" t="t" l="l"/>
              <a:pathLst>
                <a:path h="694944" w="6858000">
                  <a:moveTo>
                    <a:pt x="0" y="0"/>
                  </a:moveTo>
                  <a:lnTo>
                    <a:pt x="6858000" y="0"/>
                  </a:lnTo>
                  <a:lnTo>
                    <a:pt x="6858000" y="694944"/>
                  </a:lnTo>
                  <a:lnTo>
                    <a:pt x="0" y="694944"/>
                  </a:lnTo>
                  <a:close/>
                </a:path>
              </a:pathLst>
            </a:custGeom>
            <a:blipFill>
              <a:blip r:embed="rId2">
                <a:alphaModFix amt="0"/>
              </a:blip>
              <a:stretch>
                <a:fillRect l="0" t="-142286" r="0" b="-142286"/>
              </a:stretch>
            </a:blipFill>
          </p:spPr>
        </p:sp>
        <p:sp>
          <p:nvSpPr>
            <p:cNvPr name="TextBox 52" id="52"/>
            <p:cNvSpPr txBox="true"/>
            <p:nvPr/>
          </p:nvSpPr>
          <p:spPr>
            <a:xfrm>
              <a:off x="0" y="-38100"/>
              <a:ext cx="6858000" cy="733044"/>
            </a:xfrm>
            <a:prstGeom prst="rect">
              <a:avLst/>
            </a:prstGeom>
          </p:spPr>
          <p:txBody>
            <a:bodyPr anchor="ctr" rtlCol="false" tIns="0" lIns="0" bIns="0" rIns="0"/>
            <a:lstStyle/>
            <a:p>
              <a:pPr algn="ctr">
                <a:lnSpc>
                  <a:spcPts val="2430"/>
                </a:lnSpc>
              </a:pPr>
              <a:r>
                <a:rPr lang="en-US" sz="2025">
                  <a:solidFill>
                    <a:srgbClr val="6B7280"/>
                  </a:solidFill>
                  <a:latin typeface="Calibri (MS)"/>
                  <a:ea typeface="Calibri (MS)"/>
                  <a:cs typeface="Calibri (MS)"/>
                  <a:sym typeface="Calibri (MS)"/>
                </a:rPr>
                <a:t>Respond</a:t>
              </a:r>
            </a:p>
          </p:txBody>
        </p:sp>
      </p:grpSp>
      <p:grpSp>
        <p:nvGrpSpPr>
          <p:cNvPr name="Group 53" id="53"/>
          <p:cNvGrpSpPr/>
          <p:nvPr/>
        </p:nvGrpSpPr>
        <p:grpSpPr>
          <a:xfrm rot="0">
            <a:off x="6542532" y="6583680"/>
            <a:ext cx="5143500" cy="329184"/>
            <a:chOff x="0" y="0"/>
            <a:chExt cx="6858000" cy="438912"/>
          </a:xfrm>
        </p:grpSpPr>
        <p:sp>
          <p:nvSpPr>
            <p:cNvPr name="Freeform 54" id="54"/>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55" id="55"/>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9AA3B8"/>
                  </a:solidFill>
                  <a:latin typeface="Arimo"/>
                  <a:ea typeface="Arimo"/>
                  <a:cs typeface="Arimo"/>
                  <a:sym typeface="Arimo"/>
                </a:rPr>
                <a:t>RS</a:t>
              </a:r>
            </a:p>
          </p:txBody>
        </p:sp>
      </p:grpSp>
      <p:grpSp>
        <p:nvGrpSpPr>
          <p:cNvPr name="Group 56" id="56"/>
          <p:cNvGrpSpPr/>
          <p:nvPr/>
        </p:nvGrpSpPr>
        <p:grpSpPr>
          <a:xfrm rot="0">
            <a:off x="12115419" y="6135243"/>
            <a:ext cx="5162550" cy="842010"/>
            <a:chOff x="0" y="0"/>
            <a:chExt cx="6883400" cy="1122680"/>
          </a:xfrm>
        </p:grpSpPr>
        <p:sp>
          <p:nvSpPr>
            <p:cNvPr name="Freeform 57" id="57"/>
            <p:cNvSpPr/>
            <p:nvPr/>
          </p:nvSpPr>
          <p:spPr>
            <a:xfrm flipH="false" flipV="false" rot="0">
              <a:off x="0" y="0"/>
              <a:ext cx="6883400" cy="1122680"/>
            </a:xfrm>
            <a:custGeom>
              <a:avLst/>
              <a:gdLst/>
              <a:ahLst/>
              <a:cxnLst/>
              <a:rect r="r" b="b" t="t" l="l"/>
              <a:pathLst>
                <a:path h="1122680" w="6883400">
                  <a:moveTo>
                    <a:pt x="0" y="168402"/>
                  </a:moveTo>
                  <a:cubicBezTo>
                    <a:pt x="0" y="75438"/>
                    <a:pt x="75438" y="0"/>
                    <a:pt x="168402" y="0"/>
                  </a:cubicBezTo>
                  <a:lnTo>
                    <a:pt x="6714998" y="0"/>
                  </a:lnTo>
                  <a:cubicBezTo>
                    <a:pt x="6807962" y="0"/>
                    <a:pt x="6883400" y="75438"/>
                    <a:pt x="6883400" y="168402"/>
                  </a:cubicBezTo>
                  <a:lnTo>
                    <a:pt x="6883400" y="954278"/>
                  </a:lnTo>
                  <a:cubicBezTo>
                    <a:pt x="6883400" y="1047242"/>
                    <a:pt x="6807962" y="1122680"/>
                    <a:pt x="6714998" y="1122680"/>
                  </a:cubicBezTo>
                  <a:lnTo>
                    <a:pt x="168402" y="1122680"/>
                  </a:lnTo>
                  <a:cubicBezTo>
                    <a:pt x="75438" y="1122680"/>
                    <a:pt x="0" y="1047242"/>
                    <a:pt x="0" y="954278"/>
                  </a:cubicBezTo>
                  <a:close/>
                </a:path>
              </a:pathLst>
            </a:custGeom>
            <a:solidFill>
              <a:srgbClr val="F4F7FC"/>
            </a:solidFill>
            <a:ln w="19050" cap="sq">
              <a:solidFill>
                <a:srgbClr val="D7DCEC"/>
              </a:solidFill>
              <a:prstDash val="solid"/>
              <a:miter/>
            </a:ln>
          </p:spPr>
        </p:sp>
      </p:grpSp>
      <p:grpSp>
        <p:nvGrpSpPr>
          <p:cNvPr name="Group 58" id="58"/>
          <p:cNvGrpSpPr/>
          <p:nvPr/>
        </p:nvGrpSpPr>
        <p:grpSpPr>
          <a:xfrm rot="0">
            <a:off x="12124944" y="6213348"/>
            <a:ext cx="5143500" cy="521208"/>
            <a:chOff x="0" y="0"/>
            <a:chExt cx="6858000" cy="694944"/>
          </a:xfrm>
        </p:grpSpPr>
        <p:sp>
          <p:nvSpPr>
            <p:cNvPr name="Freeform 59" id="59"/>
            <p:cNvSpPr/>
            <p:nvPr/>
          </p:nvSpPr>
          <p:spPr>
            <a:xfrm flipH="false" flipV="false" rot="0">
              <a:off x="0" y="0"/>
              <a:ext cx="6858000" cy="694944"/>
            </a:xfrm>
            <a:custGeom>
              <a:avLst/>
              <a:gdLst/>
              <a:ahLst/>
              <a:cxnLst/>
              <a:rect r="r" b="b" t="t" l="l"/>
              <a:pathLst>
                <a:path h="694944" w="6858000">
                  <a:moveTo>
                    <a:pt x="0" y="0"/>
                  </a:moveTo>
                  <a:lnTo>
                    <a:pt x="6858000" y="0"/>
                  </a:lnTo>
                  <a:lnTo>
                    <a:pt x="6858000" y="694944"/>
                  </a:lnTo>
                  <a:lnTo>
                    <a:pt x="0" y="694944"/>
                  </a:lnTo>
                  <a:close/>
                </a:path>
              </a:pathLst>
            </a:custGeom>
            <a:blipFill>
              <a:blip r:embed="rId2">
                <a:alphaModFix amt="0"/>
              </a:blip>
              <a:stretch>
                <a:fillRect l="0" t="-142286" r="0" b="-142286"/>
              </a:stretch>
            </a:blipFill>
          </p:spPr>
        </p:sp>
        <p:sp>
          <p:nvSpPr>
            <p:cNvPr name="TextBox 60" id="60"/>
            <p:cNvSpPr txBox="true"/>
            <p:nvPr/>
          </p:nvSpPr>
          <p:spPr>
            <a:xfrm>
              <a:off x="0" y="-38100"/>
              <a:ext cx="6858000" cy="733044"/>
            </a:xfrm>
            <a:prstGeom prst="rect">
              <a:avLst/>
            </a:prstGeom>
          </p:spPr>
          <p:txBody>
            <a:bodyPr anchor="ctr" rtlCol="false" tIns="0" lIns="0" bIns="0" rIns="0"/>
            <a:lstStyle/>
            <a:p>
              <a:pPr algn="ctr">
                <a:lnSpc>
                  <a:spcPts val="2430"/>
                </a:lnSpc>
              </a:pPr>
              <a:r>
                <a:rPr lang="en-US" sz="2025">
                  <a:solidFill>
                    <a:srgbClr val="6B7280"/>
                  </a:solidFill>
                  <a:latin typeface="Calibri (MS)"/>
                  <a:ea typeface="Calibri (MS)"/>
                  <a:cs typeface="Calibri (MS)"/>
                  <a:sym typeface="Calibri (MS)"/>
                </a:rPr>
                <a:t>Recover</a:t>
              </a:r>
            </a:p>
          </p:txBody>
        </p:sp>
      </p:grpSp>
      <p:grpSp>
        <p:nvGrpSpPr>
          <p:cNvPr name="Group 61" id="61"/>
          <p:cNvGrpSpPr/>
          <p:nvPr/>
        </p:nvGrpSpPr>
        <p:grpSpPr>
          <a:xfrm rot="0">
            <a:off x="12124944" y="6583680"/>
            <a:ext cx="5143500" cy="329184"/>
            <a:chOff x="0" y="0"/>
            <a:chExt cx="6858000" cy="438912"/>
          </a:xfrm>
        </p:grpSpPr>
        <p:sp>
          <p:nvSpPr>
            <p:cNvPr name="Freeform 62" id="62"/>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63" id="63"/>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9AA3B8"/>
                  </a:solidFill>
                  <a:latin typeface="Arimo"/>
                  <a:ea typeface="Arimo"/>
                  <a:cs typeface="Arimo"/>
                  <a:sym typeface="Arimo"/>
                </a:rPr>
                <a:t>RC</a:t>
              </a:r>
            </a:p>
          </p:txBody>
        </p:sp>
      </p:grpSp>
      <p:grpSp>
        <p:nvGrpSpPr>
          <p:cNvPr name="Group 64" id="64"/>
          <p:cNvGrpSpPr/>
          <p:nvPr/>
        </p:nvGrpSpPr>
        <p:grpSpPr>
          <a:xfrm rot="0">
            <a:off x="950595" y="7328535"/>
            <a:ext cx="16341090" cy="1596390"/>
            <a:chOff x="0" y="0"/>
            <a:chExt cx="21788120" cy="2128520"/>
          </a:xfrm>
        </p:grpSpPr>
        <p:sp>
          <p:nvSpPr>
            <p:cNvPr name="Freeform 65" id="65"/>
            <p:cNvSpPr/>
            <p:nvPr/>
          </p:nvSpPr>
          <p:spPr>
            <a:xfrm flipH="false" flipV="false" rot="0">
              <a:off x="0" y="0"/>
              <a:ext cx="21788120" cy="2128520"/>
            </a:xfrm>
            <a:custGeom>
              <a:avLst/>
              <a:gdLst/>
              <a:ahLst/>
              <a:cxnLst/>
              <a:rect r="r" b="b" t="t" l="l"/>
              <a:pathLst>
                <a:path h="2128520" w="21788120">
                  <a:moveTo>
                    <a:pt x="0" y="185039"/>
                  </a:moveTo>
                  <a:cubicBezTo>
                    <a:pt x="0" y="82931"/>
                    <a:pt x="82931" y="0"/>
                    <a:pt x="185039" y="0"/>
                  </a:cubicBezTo>
                  <a:lnTo>
                    <a:pt x="21603081" y="0"/>
                  </a:lnTo>
                  <a:cubicBezTo>
                    <a:pt x="21705317" y="0"/>
                    <a:pt x="21788120" y="82931"/>
                    <a:pt x="21788120" y="185039"/>
                  </a:cubicBezTo>
                  <a:lnTo>
                    <a:pt x="21788120" y="1943481"/>
                  </a:lnTo>
                  <a:cubicBezTo>
                    <a:pt x="21788120" y="2045716"/>
                    <a:pt x="21705190" y="2128520"/>
                    <a:pt x="21603081" y="2128520"/>
                  </a:cubicBezTo>
                  <a:lnTo>
                    <a:pt x="185039" y="2128520"/>
                  </a:lnTo>
                  <a:cubicBezTo>
                    <a:pt x="82931" y="2128520"/>
                    <a:pt x="0" y="2045589"/>
                    <a:pt x="0" y="1943481"/>
                  </a:cubicBezTo>
                  <a:close/>
                </a:path>
              </a:pathLst>
            </a:custGeom>
            <a:solidFill>
              <a:srgbClr val="FBF9F4"/>
            </a:solidFill>
            <a:ln w="19050" cap="sq">
              <a:solidFill>
                <a:srgbClr val="EFE6D2"/>
              </a:solidFill>
              <a:prstDash val="solid"/>
              <a:miter/>
            </a:ln>
          </p:spPr>
        </p:sp>
      </p:grpSp>
      <p:sp>
        <p:nvSpPr>
          <p:cNvPr name="TextBox 66" id="66"/>
          <p:cNvSpPr txBox="true"/>
          <p:nvPr/>
        </p:nvSpPr>
        <p:spPr>
          <a:xfrm rot="0">
            <a:off x="1463040" y="7494270"/>
            <a:ext cx="15316200" cy="1238250"/>
          </a:xfrm>
          <a:prstGeom prst="rect">
            <a:avLst/>
          </a:prstGeom>
        </p:spPr>
        <p:txBody>
          <a:bodyPr anchor="t" rtlCol="false" tIns="0" lIns="0" bIns="0" rIns="0">
            <a:spAutoFit/>
          </a:bodyPr>
          <a:lstStyle/>
          <a:p>
            <a:pPr algn="l">
              <a:lnSpc>
                <a:spcPts val="2880"/>
              </a:lnSpc>
            </a:pPr>
            <a:r>
              <a:rPr lang="en-US" sz="1875">
                <a:solidFill>
                  <a:srgbClr val="23262F"/>
                </a:solidFill>
                <a:latin typeface="Calibri (MS)"/>
                <a:ea typeface="Calibri (MS)"/>
                <a:cs typeface="Calibri (MS)"/>
                <a:sym typeface="Calibri (MS)"/>
              </a:rPr>
              <a:t>This one spans two functions on purpose: assessing the vendor's risk is Identify (understanding what you're taking on), while requiring formal sign-off before the contract proceeds is Govern (a policy gate leadership controls). Vendor and supply-chain risk often needs both.</a:t>
            </a:r>
          </a:p>
        </p:txBody>
      </p:sp>
      <p:grpSp>
        <p:nvGrpSpPr>
          <p:cNvPr name="Group 67" id="67"/>
          <p:cNvGrpSpPr/>
          <p:nvPr/>
        </p:nvGrpSpPr>
        <p:grpSpPr>
          <a:xfrm rot="0">
            <a:off x="685800" y="9710928"/>
            <a:ext cx="10972800" cy="411480"/>
            <a:chOff x="0" y="0"/>
            <a:chExt cx="14630400" cy="548640"/>
          </a:xfrm>
        </p:grpSpPr>
        <p:sp>
          <p:nvSpPr>
            <p:cNvPr name="Freeform 68" id="68"/>
            <p:cNvSpPr/>
            <p:nvPr/>
          </p:nvSpPr>
          <p:spPr>
            <a:xfrm flipH="false" flipV="false" rot="0">
              <a:off x="0" y="0"/>
              <a:ext cx="14630400" cy="548640"/>
            </a:xfrm>
            <a:custGeom>
              <a:avLst/>
              <a:gdLst/>
              <a:ahLst/>
              <a:cxnLst/>
              <a:rect r="r" b="b" t="t" l="l"/>
              <a:pathLst>
                <a:path h="548640" w="14630400">
                  <a:moveTo>
                    <a:pt x="0" y="0"/>
                  </a:moveTo>
                  <a:lnTo>
                    <a:pt x="14630400" y="0"/>
                  </a:lnTo>
                  <a:lnTo>
                    <a:pt x="14630400" y="548640"/>
                  </a:lnTo>
                  <a:lnTo>
                    <a:pt x="0" y="548640"/>
                  </a:lnTo>
                  <a:close/>
                </a:path>
              </a:pathLst>
            </a:custGeom>
            <a:blipFill>
              <a:blip r:embed="rId2">
                <a:alphaModFix amt="0"/>
              </a:blip>
              <a:stretch>
                <a:fillRect l="0" t="-469601" r="0" b="-469601"/>
              </a:stretch>
            </a:blipFill>
          </p:spPr>
        </p:sp>
        <p:sp>
          <p:nvSpPr>
            <p:cNvPr name="TextBox 69" id="69"/>
            <p:cNvSpPr txBox="true"/>
            <p:nvPr/>
          </p:nvSpPr>
          <p:spPr>
            <a:xfrm>
              <a:off x="0" y="-38100"/>
              <a:ext cx="14630400" cy="586740"/>
            </a:xfrm>
            <a:prstGeom prst="rect">
              <a:avLst/>
            </a:prstGeom>
          </p:spPr>
          <p:txBody>
            <a:bodyPr anchor="ctr" rtlCol="false" tIns="0" lIns="0" bIns="0" rIns="0"/>
            <a:lstStyle/>
            <a:p>
              <a:pPr algn="l">
                <a:lnSpc>
                  <a:spcPts val="1800"/>
                </a:lnSpc>
              </a:pPr>
              <a:r>
                <a:rPr lang="en-US" sz="1500">
                  <a:solidFill>
                    <a:srgbClr val="6B7280"/>
                  </a:solidFill>
                  <a:latin typeface="Calibri (MS)"/>
                  <a:ea typeface="Calibri (MS)"/>
                  <a:cs typeface="Calibri (MS)"/>
                  <a:sym typeface="Calibri (MS)"/>
                </a:rPr>
                <a:t>Davao del Norte Provincial Government — Cybersecurity Seminar</a:t>
              </a:r>
            </a:p>
          </p:txBody>
        </p:sp>
      </p:grpSp>
      <p:grpSp>
        <p:nvGrpSpPr>
          <p:cNvPr name="Group 70" id="70"/>
          <p:cNvGrpSpPr/>
          <p:nvPr/>
        </p:nvGrpSpPr>
        <p:grpSpPr>
          <a:xfrm rot="0">
            <a:off x="16911828" y="9710928"/>
            <a:ext cx="685800" cy="411480"/>
            <a:chOff x="0" y="0"/>
            <a:chExt cx="914400" cy="548640"/>
          </a:xfrm>
        </p:grpSpPr>
        <p:sp>
          <p:nvSpPr>
            <p:cNvPr name="Freeform 71" id="71"/>
            <p:cNvSpPr/>
            <p:nvPr/>
          </p:nvSpPr>
          <p:spPr>
            <a:xfrm flipH="false" flipV="false" rot="0">
              <a:off x="0" y="0"/>
              <a:ext cx="914400" cy="548640"/>
            </a:xfrm>
            <a:custGeom>
              <a:avLst/>
              <a:gdLst/>
              <a:ahLst/>
              <a:cxnLst/>
              <a:rect r="r" b="b" t="t" l="l"/>
              <a:pathLst>
                <a:path h="548640" w="914400">
                  <a:moveTo>
                    <a:pt x="0" y="0"/>
                  </a:moveTo>
                  <a:lnTo>
                    <a:pt x="914400" y="0"/>
                  </a:lnTo>
                  <a:lnTo>
                    <a:pt x="914400" y="548640"/>
                  </a:lnTo>
                  <a:lnTo>
                    <a:pt x="0" y="548640"/>
                  </a:lnTo>
                  <a:close/>
                </a:path>
              </a:pathLst>
            </a:custGeom>
            <a:blipFill>
              <a:blip r:embed="rId2">
                <a:alphaModFix amt="0"/>
              </a:blip>
              <a:stretch>
                <a:fillRect l="-26982" t="0" r="-26982" b="0"/>
              </a:stretch>
            </a:blipFill>
          </p:spPr>
        </p:sp>
        <p:sp>
          <p:nvSpPr>
            <p:cNvPr name="TextBox 72" id="72"/>
            <p:cNvSpPr txBox="true"/>
            <p:nvPr/>
          </p:nvSpPr>
          <p:spPr>
            <a:xfrm>
              <a:off x="0" y="-38100"/>
              <a:ext cx="914400" cy="586740"/>
            </a:xfrm>
            <a:prstGeom prst="rect">
              <a:avLst/>
            </a:prstGeom>
          </p:spPr>
          <p:txBody>
            <a:bodyPr anchor="ctr" rtlCol="false" tIns="0" lIns="0" bIns="0" rIns="0"/>
            <a:lstStyle/>
            <a:p>
              <a:pPr algn="r">
                <a:lnSpc>
                  <a:spcPts val="1800"/>
                </a:lnSpc>
              </a:pPr>
              <a:r>
                <a:rPr lang="en-US" sz="1500">
                  <a:solidFill>
                    <a:srgbClr val="6B7280"/>
                  </a:solidFill>
                  <a:latin typeface="Calibri (MS)"/>
                  <a:ea typeface="Calibri (MS)"/>
                  <a:cs typeface="Calibri (MS)"/>
                  <a:sym typeface="Calibri (MS)"/>
                </a:rPr>
                <a:t>50</a:t>
              </a:r>
            </a:p>
          </p:txBody>
        </p:sp>
      </p:grpSp>
    </p:spTree>
  </p:cSld>
  <p:clrMapOvr>
    <a:masterClrMapping/>
  </p:clrMapOvr>
</p:sld>
</file>

<file path=ppt/slides/slide117.xml><?xml version="1.0" encoding="utf-8"?>
<p:sld xmlns:p="http://schemas.openxmlformats.org/presentationml/2006/main" xmlns:a="http://schemas.openxmlformats.org/drawingml/2006/main" xmlns:r="http://schemas.openxmlformats.org/officeDocument/2006/relationships">
  <p:cSld>
    <p:bg>
      <p:bgPr>
        <a:solidFill>
          <a:srgbClr val="1E2761"/>
        </a:solidFill>
      </p:bgPr>
    </p:bg>
    <p:spTree>
      <p:nvGrpSpPr>
        <p:cNvPr id="1" name=""/>
        <p:cNvGrpSpPr/>
        <p:nvPr/>
      </p:nvGrpSpPr>
      <p:grpSpPr>
        <a:xfrm>
          <a:off x="0" y="0"/>
          <a:ext cx="0" cy="0"/>
          <a:chOff x="0" y="0"/>
          <a:chExt cx="0" cy="0"/>
        </a:xfrm>
      </p:grpSpPr>
      <p:grpSp>
        <p:nvGrpSpPr>
          <p:cNvPr name="Group 2" id="2"/>
          <p:cNvGrpSpPr/>
          <p:nvPr/>
        </p:nvGrpSpPr>
        <p:grpSpPr>
          <a:xfrm rot="0">
            <a:off x="13441680" y="-3566160"/>
            <a:ext cx="8915400" cy="8915400"/>
            <a:chOff x="0" y="0"/>
            <a:chExt cx="11887200" cy="11887200"/>
          </a:xfrm>
        </p:grpSpPr>
        <p:sp>
          <p:nvSpPr>
            <p:cNvPr name="Freeform 3" id="3"/>
            <p:cNvSpPr/>
            <p:nvPr/>
          </p:nvSpPr>
          <p:spPr>
            <a:xfrm flipH="false" flipV="false" rot="0">
              <a:off x="0" y="0"/>
              <a:ext cx="11887200" cy="11887200"/>
            </a:xfrm>
            <a:custGeom>
              <a:avLst/>
              <a:gdLst/>
              <a:ahLst/>
              <a:cxnLst/>
              <a:rect r="r" b="b" t="t" l="l"/>
              <a:pathLst>
                <a:path h="11887200" w="11887200">
                  <a:moveTo>
                    <a:pt x="0" y="5943600"/>
                  </a:moveTo>
                  <a:cubicBezTo>
                    <a:pt x="0" y="2661031"/>
                    <a:pt x="2661031" y="0"/>
                    <a:pt x="5943600" y="0"/>
                  </a:cubicBezTo>
                  <a:cubicBezTo>
                    <a:pt x="9226169" y="0"/>
                    <a:pt x="11887200" y="2661031"/>
                    <a:pt x="11887200" y="5943600"/>
                  </a:cubicBezTo>
                  <a:cubicBezTo>
                    <a:pt x="11887200" y="9226169"/>
                    <a:pt x="9226169" y="11887200"/>
                    <a:pt x="5943600" y="11887200"/>
                  </a:cubicBezTo>
                  <a:cubicBezTo>
                    <a:pt x="2661031" y="11887200"/>
                    <a:pt x="0" y="9226169"/>
                    <a:pt x="0" y="5943600"/>
                  </a:cubicBezTo>
                  <a:close/>
                </a:path>
              </a:pathLst>
            </a:custGeom>
            <a:solidFill>
              <a:srgbClr val="263186"/>
            </a:solidFill>
          </p:spPr>
        </p:sp>
      </p:grpSp>
      <p:grpSp>
        <p:nvGrpSpPr>
          <p:cNvPr name="Group 4" id="4"/>
          <p:cNvGrpSpPr/>
          <p:nvPr/>
        </p:nvGrpSpPr>
        <p:grpSpPr>
          <a:xfrm rot="0">
            <a:off x="0" y="1920240"/>
            <a:ext cx="18283428" cy="548640"/>
            <a:chOff x="0" y="0"/>
            <a:chExt cx="24377904" cy="731520"/>
          </a:xfrm>
        </p:grpSpPr>
        <p:sp>
          <p:nvSpPr>
            <p:cNvPr name="Freeform 5" id="5"/>
            <p:cNvSpPr/>
            <p:nvPr/>
          </p:nvSpPr>
          <p:spPr>
            <a:xfrm flipH="false" flipV="false" rot="0">
              <a:off x="0" y="0"/>
              <a:ext cx="24377904" cy="731520"/>
            </a:xfrm>
            <a:custGeom>
              <a:avLst/>
              <a:gdLst/>
              <a:ahLst/>
              <a:cxnLst/>
              <a:rect r="r" b="b" t="t" l="l"/>
              <a:pathLst>
                <a:path h="731520" w="24377904">
                  <a:moveTo>
                    <a:pt x="0" y="0"/>
                  </a:moveTo>
                  <a:lnTo>
                    <a:pt x="24377904" y="0"/>
                  </a:lnTo>
                  <a:lnTo>
                    <a:pt x="24377904" y="731520"/>
                  </a:lnTo>
                  <a:lnTo>
                    <a:pt x="0" y="731520"/>
                  </a:lnTo>
                  <a:close/>
                </a:path>
              </a:pathLst>
            </a:custGeom>
            <a:blipFill>
              <a:blip r:embed="rId2">
                <a:alphaModFix amt="0"/>
              </a:blip>
              <a:stretch>
                <a:fillRect l="0" t="-599338" r="0" b="-599338"/>
              </a:stretch>
            </a:blipFill>
          </p:spPr>
        </p:sp>
        <p:sp>
          <p:nvSpPr>
            <p:cNvPr name="TextBox 6" id="6"/>
            <p:cNvSpPr txBox="true"/>
            <p:nvPr/>
          </p:nvSpPr>
          <p:spPr>
            <a:xfrm>
              <a:off x="0" y="-47625"/>
              <a:ext cx="24377904" cy="779145"/>
            </a:xfrm>
            <a:prstGeom prst="rect">
              <a:avLst/>
            </a:prstGeom>
          </p:spPr>
          <p:txBody>
            <a:bodyPr anchor="ctr" rtlCol="false" tIns="0" lIns="0" bIns="0" rIns="0"/>
            <a:lstStyle/>
            <a:p>
              <a:pPr algn="ctr">
                <a:lnSpc>
                  <a:spcPts val="2520"/>
                </a:lnSpc>
              </a:pPr>
              <a:r>
                <a:rPr lang="en-US" b="true" sz="2100" spc="299">
                  <a:solidFill>
                    <a:srgbClr val="00B4D8"/>
                  </a:solidFill>
                  <a:latin typeface="Calibri (MS) Bold"/>
                  <a:ea typeface="Calibri (MS) Bold"/>
                  <a:cs typeface="Calibri (MS) Bold"/>
                  <a:sym typeface="Calibri (MS) Bold"/>
                </a:rPr>
                <a:t>TALK IT OVER — 5 MINUTES</a:t>
              </a:r>
            </a:p>
          </p:txBody>
        </p:sp>
      </p:grpSp>
      <p:grpSp>
        <p:nvGrpSpPr>
          <p:cNvPr name="Group 7" id="7"/>
          <p:cNvGrpSpPr/>
          <p:nvPr/>
        </p:nvGrpSpPr>
        <p:grpSpPr>
          <a:xfrm rot="0">
            <a:off x="1508760" y="2811780"/>
            <a:ext cx="15224760" cy="4937760"/>
            <a:chOff x="0" y="0"/>
            <a:chExt cx="20299680" cy="6583680"/>
          </a:xfrm>
        </p:grpSpPr>
        <p:sp>
          <p:nvSpPr>
            <p:cNvPr name="Freeform 8" id="8"/>
            <p:cNvSpPr/>
            <p:nvPr/>
          </p:nvSpPr>
          <p:spPr>
            <a:xfrm flipH="false" flipV="false" rot="0">
              <a:off x="0" y="0"/>
              <a:ext cx="20299680" cy="6583680"/>
            </a:xfrm>
            <a:custGeom>
              <a:avLst/>
              <a:gdLst/>
              <a:ahLst/>
              <a:cxnLst/>
              <a:rect r="r" b="b" t="t" l="l"/>
              <a:pathLst>
                <a:path h="6583680" w="20299680">
                  <a:moveTo>
                    <a:pt x="0" y="0"/>
                  </a:moveTo>
                  <a:lnTo>
                    <a:pt x="20299680" y="0"/>
                  </a:lnTo>
                  <a:lnTo>
                    <a:pt x="20299680" y="6583680"/>
                  </a:lnTo>
                  <a:lnTo>
                    <a:pt x="0" y="6583680"/>
                  </a:lnTo>
                  <a:close/>
                </a:path>
              </a:pathLst>
            </a:custGeom>
            <a:blipFill>
              <a:blip r:embed="rId2">
                <a:alphaModFix amt="0"/>
              </a:blip>
              <a:stretch>
                <a:fillRect l="0" t="-10078" r="0" b="-10078"/>
              </a:stretch>
            </a:blipFill>
          </p:spPr>
        </p:sp>
        <p:sp>
          <p:nvSpPr>
            <p:cNvPr name="TextBox 9" id="9"/>
            <p:cNvSpPr txBox="true"/>
            <p:nvPr/>
          </p:nvSpPr>
          <p:spPr>
            <a:xfrm>
              <a:off x="0" y="-142875"/>
              <a:ext cx="20299680" cy="6726555"/>
            </a:xfrm>
            <a:prstGeom prst="rect">
              <a:avLst/>
            </a:prstGeom>
          </p:spPr>
          <p:txBody>
            <a:bodyPr anchor="ctr" rtlCol="false" tIns="0" lIns="0" bIns="0" rIns="0"/>
            <a:lstStyle/>
            <a:p>
              <a:pPr algn="ctr">
                <a:lnSpc>
                  <a:spcPts val="5616"/>
                </a:lnSpc>
              </a:pPr>
              <a:r>
                <a:rPr lang="en-US" sz="3600" b="true">
                  <a:solidFill>
                    <a:srgbClr val="FFFFFF"/>
                  </a:solidFill>
                  <a:latin typeface="Cambria Bold"/>
                  <a:ea typeface="Cambria Bold"/>
                  <a:cs typeface="Cambria Bold"/>
                  <a:sym typeface="Cambria Bold"/>
                </a:rPr>
                <a:t>Look at your own office right now.</a:t>
              </a:r>
            </a:p>
            <a:p>
              <a:pPr algn="ctr">
                <a:lnSpc>
                  <a:spcPts val="5616"/>
                </a:lnSpc>
              </a:pPr>
            </a:p>
            <a:p>
              <a:pPr algn="ctr">
                <a:lnSpc>
                  <a:spcPts val="5616"/>
                </a:lnSpc>
              </a:pPr>
              <a:r>
                <a:rPr lang="en-US" sz="3600" b="true">
                  <a:solidFill>
                    <a:srgbClr val="FFFFFF"/>
                  </a:solidFill>
                  <a:latin typeface="Cambria Bold"/>
                  <a:ea typeface="Cambria Bold"/>
                  <a:cs typeface="Cambria Bold"/>
                  <a:sym typeface="Cambria Bold"/>
                </a:rPr>
                <a:t>Which of the six Functions — Govern, Identify, Protect, Detect, Respond, or Recover — is your weakest? What's one action you could take in the next month to move it up?</a:t>
              </a:r>
            </a:p>
          </p:txBody>
        </p:sp>
      </p:grpSp>
      <p:grpSp>
        <p:nvGrpSpPr>
          <p:cNvPr name="Group 10" id="10"/>
          <p:cNvGrpSpPr/>
          <p:nvPr/>
        </p:nvGrpSpPr>
        <p:grpSpPr>
          <a:xfrm rot="0">
            <a:off x="0" y="7886700"/>
            <a:ext cx="18283428" cy="685800"/>
            <a:chOff x="0" y="0"/>
            <a:chExt cx="24377904" cy="914400"/>
          </a:xfrm>
        </p:grpSpPr>
        <p:sp>
          <p:nvSpPr>
            <p:cNvPr name="Freeform 11" id="11"/>
            <p:cNvSpPr/>
            <p:nvPr/>
          </p:nvSpPr>
          <p:spPr>
            <a:xfrm flipH="false" flipV="false" rot="0">
              <a:off x="0" y="0"/>
              <a:ext cx="24377904" cy="914400"/>
            </a:xfrm>
            <a:custGeom>
              <a:avLst/>
              <a:gdLst/>
              <a:ahLst/>
              <a:cxnLst/>
              <a:rect r="r" b="b" t="t" l="l"/>
              <a:pathLst>
                <a:path h="914400" w="24377904">
                  <a:moveTo>
                    <a:pt x="0" y="0"/>
                  </a:moveTo>
                  <a:lnTo>
                    <a:pt x="24377904" y="0"/>
                  </a:lnTo>
                  <a:lnTo>
                    <a:pt x="24377904" y="914400"/>
                  </a:lnTo>
                  <a:lnTo>
                    <a:pt x="0" y="914400"/>
                  </a:lnTo>
                  <a:close/>
                </a:path>
              </a:pathLst>
            </a:custGeom>
            <a:blipFill>
              <a:blip r:embed="rId2">
                <a:alphaModFix amt="0"/>
              </a:blip>
              <a:stretch>
                <a:fillRect l="0" t="-469471" r="0" b="-469471"/>
              </a:stretch>
            </a:blipFill>
          </p:spPr>
        </p:sp>
        <p:sp>
          <p:nvSpPr>
            <p:cNvPr name="TextBox 12" id="12"/>
            <p:cNvSpPr txBox="true"/>
            <p:nvPr/>
          </p:nvSpPr>
          <p:spPr>
            <a:xfrm>
              <a:off x="0" y="-57150"/>
              <a:ext cx="24377904" cy="971550"/>
            </a:xfrm>
            <a:prstGeom prst="rect">
              <a:avLst/>
            </a:prstGeom>
          </p:spPr>
          <p:txBody>
            <a:bodyPr anchor="ctr" rtlCol="false" tIns="0" lIns="0" bIns="0" rIns="0"/>
            <a:lstStyle/>
            <a:p>
              <a:pPr algn="ctr">
                <a:lnSpc>
                  <a:spcPts val="2700"/>
                </a:lnSpc>
              </a:pPr>
              <a:r>
                <a:rPr lang="en-US" sz="2250" i="true">
                  <a:solidFill>
                    <a:srgbClr val="CADCFC"/>
                  </a:solidFill>
                  <a:latin typeface="Calibri (MS) Italics"/>
                  <a:ea typeface="Calibri (MS) Italics"/>
                  <a:cs typeface="Calibri (MS) Italics"/>
                  <a:sym typeface="Calibri (MS) Italics"/>
                </a:rPr>
                <a:t>Share your pick with your table — then with the room.</a:t>
              </a:r>
            </a:p>
          </p:txBody>
        </p:sp>
      </p:grpSp>
      <p:grpSp>
        <p:nvGrpSpPr>
          <p:cNvPr name="Group 13" id="13"/>
          <p:cNvGrpSpPr/>
          <p:nvPr/>
        </p:nvGrpSpPr>
        <p:grpSpPr>
          <a:xfrm rot="0">
            <a:off x="685800" y="9710928"/>
            <a:ext cx="10972800" cy="411480"/>
            <a:chOff x="0" y="0"/>
            <a:chExt cx="14630400" cy="548640"/>
          </a:xfrm>
        </p:grpSpPr>
        <p:sp>
          <p:nvSpPr>
            <p:cNvPr name="Freeform 14" id="14"/>
            <p:cNvSpPr/>
            <p:nvPr/>
          </p:nvSpPr>
          <p:spPr>
            <a:xfrm flipH="false" flipV="false" rot="0">
              <a:off x="0" y="0"/>
              <a:ext cx="14630400" cy="548640"/>
            </a:xfrm>
            <a:custGeom>
              <a:avLst/>
              <a:gdLst/>
              <a:ahLst/>
              <a:cxnLst/>
              <a:rect r="r" b="b" t="t" l="l"/>
              <a:pathLst>
                <a:path h="548640" w="14630400">
                  <a:moveTo>
                    <a:pt x="0" y="0"/>
                  </a:moveTo>
                  <a:lnTo>
                    <a:pt x="14630400" y="0"/>
                  </a:lnTo>
                  <a:lnTo>
                    <a:pt x="14630400" y="548640"/>
                  </a:lnTo>
                  <a:lnTo>
                    <a:pt x="0" y="548640"/>
                  </a:lnTo>
                  <a:close/>
                </a:path>
              </a:pathLst>
            </a:custGeom>
            <a:blipFill>
              <a:blip r:embed="rId2">
                <a:alphaModFix amt="0"/>
              </a:blip>
              <a:stretch>
                <a:fillRect l="0" t="-469601" r="0" b="-469601"/>
              </a:stretch>
            </a:blipFill>
          </p:spPr>
        </p:sp>
        <p:sp>
          <p:nvSpPr>
            <p:cNvPr name="TextBox 15" id="15"/>
            <p:cNvSpPr txBox="true"/>
            <p:nvPr/>
          </p:nvSpPr>
          <p:spPr>
            <a:xfrm>
              <a:off x="0" y="-38100"/>
              <a:ext cx="14630400" cy="586740"/>
            </a:xfrm>
            <a:prstGeom prst="rect">
              <a:avLst/>
            </a:prstGeom>
          </p:spPr>
          <p:txBody>
            <a:bodyPr anchor="ctr" rtlCol="false" tIns="0" lIns="0" bIns="0" rIns="0"/>
            <a:lstStyle/>
            <a:p>
              <a:pPr algn="l">
                <a:lnSpc>
                  <a:spcPts val="1800"/>
                </a:lnSpc>
              </a:pPr>
              <a:r>
                <a:rPr lang="en-US" sz="1500">
                  <a:solidFill>
                    <a:srgbClr val="CADCFC"/>
                  </a:solidFill>
                  <a:latin typeface="Calibri (MS)"/>
                  <a:ea typeface="Calibri (MS)"/>
                  <a:cs typeface="Calibri (MS)"/>
                  <a:sym typeface="Calibri (MS)"/>
                </a:rPr>
                <a:t>Davao del Norte Provincial Government — Cybersecurity Seminar</a:t>
              </a:r>
            </a:p>
          </p:txBody>
        </p:sp>
      </p:grpSp>
      <p:grpSp>
        <p:nvGrpSpPr>
          <p:cNvPr name="Group 16" id="16"/>
          <p:cNvGrpSpPr/>
          <p:nvPr/>
        </p:nvGrpSpPr>
        <p:grpSpPr>
          <a:xfrm rot="0">
            <a:off x="16911828" y="9710928"/>
            <a:ext cx="685800" cy="411480"/>
            <a:chOff x="0" y="0"/>
            <a:chExt cx="914400" cy="548640"/>
          </a:xfrm>
        </p:grpSpPr>
        <p:sp>
          <p:nvSpPr>
            <p:cNvPr name="Freeform 17" id="17"/>
            <p:cNvSpPr/>
            <p:nvPr/>
          </p:nvSpPr>
          <p:spPr>
            <a:xfrm flipH="false" flipV="false" rot="0">
              <a:off x="0" y="0"/>
              <a:ext cx="914400" cy="548640"/>
            </a:xfrm>
            <a:custGeom>
              <a:avLst/>
              <a:gdLst/>
              <a:ahLst/>
              <a:cxnLst/>
              <a:rect r="r" b="b" t="t" l="l"/>
              <a:pathLst>
                <a:path h="548640" w="914400">
                  <a:moveTo>
                    <a:pt x="0" y="0"/>
                  </a:moveTo>
                  <a:lnTo>
                    <a:pt x="914400" y="0"/>
                  </a:lnTo>
                  <a:lnTo>
                    <a:pt x="914400" y="548640"/>
                  </a:lnTo>
                  <a:lnTo>
                    <a:pt x="0" y="548640"/>
                  </a:lnTo>
                  <a:close/>
                </a:path>
              </a:pathLst>
            </a:custGeom>
            <a:blipFill>
              <a:blip r:embed="rId2">
                <a:alphaModFix amt="0"/>
              </a:blip>
              <a:stretch>
                <a:fillRect l="-26982" t="0" r="-26982" b="0"/>
              </a:stretch>
            </a:blipFill>
          </p:spPr>
        </p:sp>
        <p:sp>
          <p:nvSpPr>
            <p:cNvPr name="TextBox 18" id="18"/>
            <p:cNvSpPr txBox="true"/>
            <p:nvPr/>
          </p:nvSpPr>
          <p:spPr>
            <a:xfrm>
              <a:off x="0" y="-38100"/>
              <a:ext cx="914400" cy="586740"/>
            </a:xfrm>
            <a:prstGeom prst="rect">
              <a:avLst/>
            </a:prstGeom>
          </p:spPr>
          <p:txBody>
            <a:bodyPr anchor="ctr" rtlCol="false" tIns="0" lIns="0" bIns="0" rIns="0"/>
            <a:lstStyle/>
            <a:p>
              <a:pPr algn="r">
                <a:lnSpc>
                  <a:spcPts val="1800"/>
                </a:lnSpc>
              </a:pPr>
              <a:r>
                <a:rPr lang="en-US" sz="1500">
                  <a:solidFill>
                    <a:srgbClr val="CADCFC"/>
                  </a:solidFill>
                  <a:latin typeface="Calibri (MS)"/>
                  <a:ea typeface="Calibri (MS)"/>
                  <a:cs typeface="Calibri (MS)"/>
                  <a:sym typeface="Calibri (MS)"/>
                </a:rPr>
                <a:t>51</a:t>
              </a:r>
            </a:p>
          </p:txBody>
        </p:sp>
      </p:grpSp>
    </p:spTree>
  </p:cSld>
  <p:clrMapOvr>
    <a:masterClrMapping/>
  </p:clrMapOvr>
</p:sld>
</file>

<file path=ppt/slides/slide118.xml><?xml version="1.0" encoding="utf-8"?>
<p:sld xmlns:p="http://schemas.openxmlformats.org/presentationml/2006/main" xmlns:a="http://schemas.openxmlformats.org/drawingml/2006/main" xmlns:r="http://schemas.openxmlformats.org/officeDocument/2006/relationships">
  <p:cSld>
    <p:bg>
      <p:bgPr>
        <a:solidFill>
          <a:srgbClr val="1E2761"/>
        </a:solidFill>
      </p:bgPr>
    </p:bg>
    <p:spTree>
      <p:nvGrpSpPr>
        <p:cNvPr id="1" name=""/>
        <p:cNvGrpSpPr/>
        <p:nvPr/>
      </p:nvGrpSpPr>
      <p:grpSpPr>
        <a:xfrm>
          <a:off x="0" y="0"/>
          <a:ext cx="0" cy="0"/>
          <a:chOff x="0" y="0"/>
          <a:chExt cx="0" cy="0"/>
        </a:xfrm>
      </p:grpSpPr>
      <p:grpSp>
        <p:nvGrpSpPr>
          <p:cNvPr name="Group 2" id="2"/>
          <p:cNvGrpSpPr/>
          <p:nvPr/>
        </p:nvGrpSpPr>
        <p:grpSpPr>
          <a:xfrm rot="0">
            <a:off x="13441680" y="-3566160"/>
            <a:ext cx="8915400" cy="8915400"/>
            <a:chOff x="0" y="0"/>
            <a:chExt cx="11887200" cy="11887200"/>
          </a:xfrm>
        </p:grpSpPr>
        <p:sp>
          <p:nvSpPr>
            <p:cNvPr name="Freeform 3" id="3"/>
            <p:cNvSpPr/>
            <p:nvPr/>
          </p:nvSpPr>
          <p:spPr>
            <a:xfrm flipH="false" flipV="false" rot="0">
              <a:off x="0" y="0"/>
              <a:ext cx="11887200" cy="11887200"/>
            </a:xfrm>
            <a:custGeom>
              <a:avLst/>
              <a:gdLst/>
              <a:ahLst/>
              <a:cxnLst/>
              <a:rect r="r" b="b" t="t" l="l"/>
              <a:pathLst>
                <a:path h="11887200" w="11887200">
                  <a:moveTo>
                    <a:pt x="0" y="5943600"/>
                  </a:moveTo>
                  <a:cubicBezTo>
                    <a:pt x="0" y="2661031"/>
                    <a:pt x="2661031" y="0"/>
                    <a:pt x="5943600" y="0"/>
                  </a:cubicBezTo>
                  <a:cubicBezTo>
                    <a:pt x="9226169" y="0"/>
                    <a:pt x="11887200" y="2661031"/>
                    <a:pt x="11887200" y="5943600"/>
                  </a:cubicBezTo>
                  <a:cubicBezTo>
                    <a:pt x="11887200" y="9226169"/>
                    <a:pt x="9226169" y="11887200"/>
                    <a:pt x="5943600" y="11887200"/>
                  </a:cubicBezTo>
                  <a:cubicBezTo>
                    <a:pt x="2661031" y="11887200"/>
                    <a:pt x="0" y="9226169"/>
                    <a:pt x="0" y="5943600"/>
                  </a:cubicBezTo>
                  <a:close/>
                </a:path>
              </a:pathLst>
            </a:custGeom>
            <a:solidFill>
              <a:srgbClr val="263186"/>
            </a:solidFill>
          </p:spPr>
        </p:sp>
      </p:grpSp>
      <p:grpSp>
        <p:nvGrpSpPr>
          <p:cNvPr name="Group 4" id="4"/>
          <p:cNvGrpSpPr/>
          <p:nvPr/>
        </p:nvGrpSpPr>
        <p:grpSpPr>
          <a:xfrm rot="0">
            <a:off x="7691723" y="2040731"/>
            <a:ext cx="2913698" cy="2769679"/>
            <a:chOff x="0" y="0"/>
            <a:chExt cx="3884930" cy="3692906"/>
          </a:xfrm>
        </p:grpSpPr>
        <p:sp>
          <p:nvSpPr>
            <p:cNvPr name="Freeform 5" id="5"/>
            <p:cNvSpPr/>
            <p:nvPr/>
          </p:nvSpPr>
          <p:spPr>
            <a:xfrm flipH="false" flipV="false" rot="0">
              <a:off x="0" y="0"/>
              <a:ext cx="3884930" cy="3692906"/>
            </a:xfrm>
            <a:custGeom>
              <a:avLst/>
              <a:gdLst/>
              <a:ahLst/>
              <a:cxnLst/>
              <a:rect r="r" b="b" t="t" l="l"/>
              <a:pathLst>
                <a:path h="3692906" w="3884930">
                  <a:moveTo>
                    <a:pt x="0" y="1410589"/>
                  </a:moveTo>
                  <a:lnTo>
                    <a:pt x="1942465" y="0"/>
                  </a:lnTo>
                  <a:lnTo>
                    <a:pt x="3884930" y="1410589"/>
                  </a:lnTo>
                  <a:lnTo>
                    <a:pt x="3142996" y="3692906"/>
                  </a:lnTo>
                  <a:lnTo>
                    <a:pt x="741934" y="3692906"/>
                  </a:lnTo>
                  <a:close/>
                </a:path>
              </a:pathLst>
            </a:custGeom>
            <a:blipFill>
              <a:blip r:embed="rId2">
                <a:alphaModFix amt="0"/>
              </a:blip>
              <a:stretch>
                <a:fillRect l="-71961" t="0" r="-71961" b="0"/>
              </a:stretch>
            </a:blipFill>
            <a:ln w="33338" cap="sq">
              <a:solidFill>
                <a:srgbClr val="CADCFC"/>
              </a:solidFill>
              <a:prstDash val="solid"/>
              <a:miter/>
            </a:ln>
          </p:spPr>
        </p:sp>
      </p:grpSp>
      <p:grpSp>
        <p:nvGrpSpPr>
          <p:cNvPr name="Group 6" id="6"/>
          <p:cNvGrpSpPr/>
          <p:nvPr/>
        </p:nvGrpSpPr>
        <p:grpSpPr>
          <a:xfrm rot="0">
            <a:off x="8983980" y="1892808"/>
            <a:ext cx="329184" cy="329184"/>
            <a:chOff x="0" y="0"/>
            <a:chExt cx="438912" cy="438912"/>
          </a:xfrm>
        </p:grpSpPr>
        <p:sp>
          <p:nvSpPr>
            <p:cNvPr name="Freeform 7" id="7"/>
            <p:cNvSpPr/>
            <p:nvPr/>
          </p:nvSpPr>
          <p:spPr>
            <a:xfrm flipH="false" flipV="false" rot="0">
              <a:off x="0" y="0"/>
              <a:ext cx="438912" cy="438912"/>
            </a:xfrm>
            <a:custGeom>
              <a:avLst/>
              <a:gdLst/>
              <a:ahLst/>
              <a:cxnLst/>
              <a:rect r="r" b="b" t="t" l="l"/>
              <a:pathLst>
                <a:path h="438912" w="438912">
                  <a:moveTo>
                    <a:pt x="0" y="219456"/>
                  </a:moveTo>
                  <a:cubicBezTo>
                    <a:pt x="0" y="98298"/>
                    <a:pt x="98298" y="0"/>
                    <a:pt x="219456" y="0"/>
                  </a:cubicBezTo>
                  <a:cubicBezTo>
                    <a:pt x="340614" y="0"/>
                    <a:pt x="438912" y="98298"/>
                    <a:pt x="438912" y="219456"/>
                  </a:cubicBezTo>
                  <a:cubicBezTo>
                    <a:pt x="438912" y="340614"/>
                    <a:pt x="340614" y="438912"/>
                    <a:pt x="219456" y="438912"/>
                  </a:cubicBezTo>
                  <a:cubicBezTo>
                    <a:pt x="98298" y="438912"/>
                    <a:pt x="0" y="340614"/>
                    <a:pt x="0" y="219456"/>
                  </a:cubicBezTo>
                  <a:close/>
                </a:path>
              </a:pathLst>
            </a:custGeom>
            <a:solidFill>
              <a:srgbClr val="2E86AB"/>
            </a:solidFill>
          </p:spPr>
        </p:sp>
      </p:grpSp>
      <p:grpSp>
        <p:nvGrpSpPr>
          <p:cNvPr name="Group 8" id="8"/>
          <p:cNvGrpSpPr/>
          <p:nvPr/>
        </p:nvGrpSpPr>
        <p:grpSpPr>
          <a:xfrm rot="0">
            <a:off x="10353675" y="2848146"/>
            <a:ext cx="329184" cy="329184"/>
            <a:chOff x="0" y="0"/>
            <a:chExt cx="438912" cy="438912"/>
          </a:xfrm>
        </p:grpSpPr>
        <p:sp>
          <p:nvSpPr>
            <p:cNvPr name="Freeform 9" id="9"/>
            <p:cNvSpPr/>
            <p:nvPr/>
          </p:nvSpPr>
          <p:spPr>
            <a:xfrm flipH="false" flipV="false" rot="0">
              <a:off x="0" y="0"/>
              <a:ext cx="438912" cy="438912"/>
            </a:xfrm>
            <a:custGeom>
              <a:avLst/>
              <a:gdLst/>
              <a:ahLst/>
              <a:cxnLst/>
              <a:rect r="r" b="b" t="t" l="l"/>
              <a:pathLst>
                <a:path h="438912" w="438912">
                  <a:moveTo>
                    <a:pt x="0" y="219456"/>
                  </a:moveTo>
                  <a:cubicBezTo>
                    <a:pt x="0" y="98298"/>
                    <a:pt x="98298" y="0"/>
                    <a:pt x="219456" y="0"/>
                  </a:cubicBezTo>
                  <a:cubicBezTo>
                    <a:pt x="340614" y="0"/>
                    <a:pt x="438912" y="98298"/>
                    <a:pt x="438912" y="219456"/>
                  </a:cubicBezTo>
                  <a:cubicBezTo>
                    <a:pt x="438912" y="340614"/>
                    <a:pt x="340614" y="438912"/>
                    <a:pt x="219456" y="438912"/>
                  </a:cubicBezTo>
                  <a:cubicBezTo>
                    <a:pt x="98298" y="438912"/>
                    <a:pt x="0" y="340614"/>
                    <a:pt x="0" y="219456"/>
                  </a:cubicBezTo>
                  <a:close/>
                </a:path>
              </a:pathLst>
            </a:custGeom>
            <a:solidFill>
              <a:srgbClr val="C1272D"/>
            </a:solidFill>
          </p:spPr>
        </p:sp>
      </p:grpSp>
      <p:grpSp>
        <p:nvGrpSpPr>
          <p:cNvPr name="Group 10" id="10"/>
          <p:cNvGrpSpPr/>
          <p:nvPr/>
        </p:nvGrpSpPr>
        <p:grpSpPr>
          <a:xfrm rot="0">
            <a:off x="9830495" y="4393902"/>
            <a:ext cx="329184" cy="329184"/>
            <a:chOff x="0" y="0"/>
            <a:chExt cx="438912" cy="438912"/>
          </a:xfrm>
        </p:grpSpPr>
        <p:sp>
          <p:nvSpPr>
            <p:cNvPr name="Freeform 11" id="11"/>
            <p:cNvSpPr/>
            <p:nvPr/>
          </p:nvSpPr>
          <p:spPr>
            <a:xfrm flipH="false" flipV="false" rot="0">
              <a:off x="0" y="0"/>
              <a:ext cx="438912" cy="438912"/>
            </a:xfrm>
            <a:custGeom>
              <a:avLst/>
              <a:gdLst/>
              <a:ahLst/>
              <a:cxnLst/>
              <a:rect r="r" b="b" t="t" l="l"/>
              <a:pathLst>
                <a:path h="438912" w="438912">
                  <a:moveTo>
                    <a:pt x="0" y="219456"/>
                  </a:moveTo>
                  <a:cubicBezTo>
                    <a:pt x="0" y="98298"/>
                    <a:pt x="98298" y="0"/>
                    <a:pt x="219456" y="0"/>
                  </a:cubicBezTo>
                  <a:cubicBezTo>
                    <a:pt x="340614" y="0"/>
                    <a:pt x="438912" y="98298"/>
                    <a:pt x="438912" y="219456"/>
                  </a:cubicBezTo>
                  <a:cubicBezTo>
                    <a:pt x="438912" y="340614"/>
                    <a:pt x="340614" y="438912"/>
                    <a:pt x="219456" y="438912"/>
                  </a:cubicBezTo>
                  <a:cubicBezTo>
                    <a:pt x="98298" y="438912"/>
                    <a:pt x="0" y="340614"/>
                    <a:pt x="0" y="219456"/>
                  </a:cubicBezTo>
                  <a:close/>
                </a:path>
              </a:pathLst>
            </a:custGeom>
            <a:solidFill>
              <a:srgbClr val="6C4FD1"/>
            </a:solidFill>
          </p:spPr>
        </p:sp>
      </p:grpSp>
      <p:grpSp>
        <p:nvGrpSpPr>
          <p:cNvPr name="Group 12" id="12"/>
          <p:cNvGrpSpPr/>
          <p:nvPr/>
        </p:nvGrpSpPr>
        <p:grpSpPr>
          <a:xfrm rot="0">
            <a:off x="8137465" y="4393902"/>
            <a:ext cx="329184" cy="329184"/>
            <a:chOff x="0" y="0"/>
            <a:chExt cx="438912" cy="438912"/>
          </a:xfrm>
        </p:grpSpPr>
        <p:sp>
          <p:nvSpPr>
            <p:cNvPr name="Freeform 13" id="13"/>
            <p:cNvSpPr/>
            <p:nvPr/>
          </p:nvSpPr>
          <p:spPr>
            <a:xfrm flipH="false" flipV="false" rot="0">
              <a:off x="0" y="0"/>
              <a:ext cx="438912" cy="438912"/>
            </a:xfrm>
            <a:custGeom>
              <a:avLst/>
              <a:gdLst/>
              <a:ahLst/>
              <a:cxnLst/>
              <a:rect r="r" b="b" t="t" l="l"/>
              <a:pathLst>
                <a:path h="438912" w="438912">
                  <a:moveTo>
                    <a:pt x="0" y="219456"/>
                  </a:moveTo>
                  <a:cubicBezTo>
                    <a:pt x="0" y="98298"/>
                    <a:pt x="98298" y="0"/>
                    <a:pt x="219456" y="0"/>
                  </a:cubicBezTo>
                  <a:cubicBezTo>
                    <a:pt x="340614" y="0"/>
                    <a:pt x="438912" y="98298"/>
                    <a:pt x="438912" y="219456"/>
                  </a:cubicBezTo>
                  <a:cubicBezTo>
                    <a:pt x="438912" y="340614"/>
                    <a:pt x="340614" y="438912"/>
                    <a:pt x="219456" y="438912"/>
                  </a:cubicBezTo>
                  <a:cubicBezTo>
                    <a:pt x="98298" y="438912"/>
                    <a:pt x="0" y="340614"/>
                    <a:pt x="0" y="219456"/>
                  </a:cubicBezTo>
                  <a:close/>
                </a:path>
              </a:pathLst>
            </a:custGeom>
            <a:solidFill>
              <a:srgbClr val="0F8A6E"/>
            </a:solidFill>
          </p:spPr>
        </p:sp>
      </p:grpSp>
      <p:grpSp>
        <p:nvGrpSpPr>
          <p:cNvPr name="Group 14" id="14"/>
          <p:cNvGrpSpPr/>
          <p:nvPr/>
        </p:nvGrpSpPr>
        <p:grpSpPr>
          <a:xfrm rot="0">
            <a:off x="7614285" y="2848146"/>
            <a:ext cx="329184" cy="329184"/>
            <a:chOff x="0" y="0"/>
            <a:chExt cx="438912" cy="438912"/>
          </a:xfrm>
        </p:grpSpPr>
        <p:sp>
          <p:nvSpPr>
            <p:cNvPr name="Freeform 15" id="15"/>
            <p:cNvSpPr/>
            <p:nvPr/>
          </p:nvSpPr>
          <p:spPr>
            <a:xfrm flipH="false" flipV="false" rot="0">
              <a:off x="0" y="0"/>
              <a:ext cx="438912" cy="438912"/>
            </a:xfrm>
            <a:custGeom>
              <a:avLst/>
              <a:gdLst/>
              <a:ahLst/>
              <a:cxnLst/>
              <a:rect r="r" b="b" t="t" l="l"/>
              <a:pathLst>
                <a:path h="438912" w="438912">
                  <a:moveTo>
                    <a:pt x="0" y="219456"/>
                  </a:moveTo>
                  <a:cubicBezTo>
                    <a:pt x="0" y="98298"/>
                    <a:pt x="98298" y="0"/>
                    <a:pt x="219456" y="0"/>
                  </a:cubicBezTo>
                  <a:cubicBezTo>
                    <a:pt x="340614" y="0"/>
                    <a:pt x="438912" y="98298"/>
                    <a:pt x="438912" y="219456"/>
                  </a:cubicBezTo>
                  <a:cubicBezTo>
                    <a:pt x="438912" y="340614"/>
                    <a:pt x="340614" y="438912"/>
                    <a:pt x="219456" y="438912"/>
                  </a:cubicBezTo>
                  <a:cubicBezTo>
                    <a:pt x="98298" y="438912"/>
                    <a:pt x="0" y="340614"/>
                    <a:pt x="0" y="219456"/>
                  </a:cubicBezTo>
                  <a:close/>
                </a:path>
              </a:pathLst>
            </a:custGeom>
            <a:solidFill>
              <a:srgbClr val="D9631E"/>
            </a:solidFill>
          </p:spPr>
        </p:sp>
      </p:grpSp>
      <p:grpSp>
        <p:nvGrpSpPr>
          <p:cNvPr name="Group 16" id="16"/>
          <p:cNvGrpSpPr/>
          <p:nvPr/>
        </p:nvGrpSpPr>
        <p:grpSpPr>
          <a:xfrm rot="0">
            <a:off x="0" y="5692140"/>
            <a:ext cx="18283428" cy="480060"/>
            <a:chOff x="0" y="0"/>
            <a:chExt cx="24377904" cy="640080"/>
          </a:xfrm>
        </p:grpSpPr>
        <p:sp>
          <p:nvSpPr>
            <p:cNvPr name="Freeform 17" id="17"/>
            <p:cNvSpPr/>
            <p:nvPr/>
          </p:nvSpPr>
          <p:spPr>
            <a:xfrm flipH="false" flipV="false" rot="0">
              <a:off x="0" y="0"/>
              <a:ext cx="24377904" cy="640080"/>
            </a:xfrm>
            <a:custGeom>
              <a:avLst/>
              <a:gdLst/>
              <a:ahLst/>
              <a:cxnLst/>
              <a:rect r="r" b="b" t="t" l="l"/>
              <a:pathLst>
                <a:path h="640080" w="24377904">
                  <a:moveTo>
                    <a:pt x="0" y="0"/>
                  </a:moveTo>
                  <a:lnTo>
                    <a:pt x="24377904" y="0"/>
                  </a:lnTo>
                  <a:lnTo>
                    <a:pt x="24377904" y="640080"/>
                  </a:lnTo>
                  <a:lnTo>
                    <a:pt x="0" y="640080"/>
                  </a:lnTo>
                  <a:close/>
                </a:path>
              </a:pathLst>
            </a:custGeom>
            <a:blipFill>
              <a:blip r:embed="rId2">
                <a:alphaModFix amt="0"/>
              </a:blip>
              <a:stretch>
                <a:fillRect l="0" t="-692101" r="0" b="-692101"/>
              </a:stretch>
            </a:blipFill>
          </p:spPr>
        </p:sp>
        <p:sp>
          <p:nvSpPr>
            <p:cNvPr name="TextBox 18" id="18"/>
            <p:cNvSpPr txBox="true"/>
            <p:nvPr/>
          </p:nvSpPr>
          <p:spPr>
            <a:xfrm>
              <a:off x="0" y="-47625"/>
              <a:ext cx="24377904" cy="687705"/>
            </a:xfrm>
            <a:prstGeom prst="rect">
              <a:avLst/>
            </a:prstGeom>
          </p:spPr>
          <p:txBody>
            <a:bodyPr anchor="ctr" rtlCol="false" tIns="0" lIns="0" bIns="0" rIns="0"/>
            <a:lstStyle/>
            <a:p>
              <a:pPr algn="ctr">
                <a:lnSpc>
                  <a:spcPts val="2340"/>
                </a:lnSpc>
              </a:pPr>
              <a:r>
                <a:rPr lang="en-US" b="true" sz="1950" spc="299">
                  <a:solidFill>
                    <a:srgbClr val="00B4D8"/>
                  </a:solidFill>
                  <a:latin typeface="Calibri (MS) Bold"/>
                  <a:ea typeface="Calibri (MS) Bold"/>
                  <a:cs typeface="Calibri (MS) Bold"/>
                  <a:sym typeface="Calibri (MS) Bold"/>
                </a:rPr>
                <a:t>FROM PRACTICE, TO LAW</a:t>
              </a:r>
            </a:p>
          </p:txBody>
        </p:sp>
      </p:grpSp>
      <p:grpSp>
        <p:nvGrpSpPr>
          <p:cNvPr name="Group 19" id="19"/>
          <p:cNvGrpSpPr/>
          <p:nvPr/>
        </p:nvGrpSpPr>
        <p:grpSpPr>
          <a:xfrm rot="0">
            <a:off x="0" y="6144768"/>
            <a:ext cx="18283428" cy="1303020"/>
            <a:chOff x="0" y="0"/>
            <a:chExt cx="24377904" cy="1737360"/>
          </a:xfrm>
        </p:grpSpPr>
        <p:sp>
          <p:nvSpPr>
            <p:cNvPr name="Freeform 20" id="20"/>
            <p:cNvSpPr/>
            <p:nvPr/>
          </p:nvSpPr>
          <p:spPr>
            <a:xfrm flipH="false" flipV="false" rot="0">
              <a:off x="0" y="0"/>
              <a:ext cx="24377904" cy="1737360"/>
            </a:xfrm>
            <a:custGeom>
              <a:avLst/>
              <a:gdLst/>
              <a:ahLst/>
              <a:cxnLst/>
              <a:rect r="r" b="b" t="t" l="l"/>
              <a:pathLst>
                <a:path h="1737360" w="24377904">
                  <a:moveTo>
                    <a:pt x="0" y="0"/>
                  </a:moveTo>
                  <a:lnTo>
                    <a:pt x="24377904" y="0"/>
                  </a:lnTo>
                  <a:lnTo>
                    <a:pt x="24377904" y="1737360"/>
                  </a:lnTo>
                  <a:lnTo>
                    <a:pt x="0" y="1737360"/>
                  </a:lnTo>
                  <a:close/>
                </a:path>
              </a:pathLst>
            </a:custGeom>
            <a:blipFill>
              <a:blip r:embed="rId2">
                <a:alphaModFix amt="0"/>
              </a:blip>
              <a:stretch>
                <a:fillRect l="0" t="-223405" r="0" b="-223405"/>
              </a:stretch>
            </a:blipFill>
          </p:spPr>
        </p:sp>
        <p:sp>
          <p:nvSpPr>
            <p:cNvPr name="TextBox 21" id="21"/>
            <p:cNvSpPr txBox="true"/>
            <p:nvPr/>
          </p:nvSpPr>
          <p:spPr>
            <a:xfrm>
              <a:off x="0" y="-9525"/>
              <a:ext cx="24377904" cy="1746885"/>
            </a:xfrm>
            <a:prstGeom prst="rect">
              <a:avLst/>
            </a:prstGeom>
          </p:spPr>
          <p:txBody>
            <a:bodyPr anchor="ctr" rtlCol="false" tIns="0" lIns="0" bIns="0" rIns="0"/>
            <a:lstStyle/>
            <a:p>
              <a:pPr algn="ctr">
                <a:lnSpc>
                  <a:spcPts val="6839"/>
                </a:lnSpc>
              </a:pPr>
              <a:r>
                <a:rPr lang="en-US" sz="5700" b="true">
                  <a:solidFill>
                    <a:srgbClr val="FFFFFF"/>
                  </a:solidFill>
                  <a:latin typeface="Cambria Bold"/>
                  <a:ea typeface="Cambria Bold"/>
                  <a:cs typeface="Cambria Bold"/>
                  <a:sym typeface="Cambria Bold"/>
                </a:rPr>
                <a:t>The Philippine Legal Framework</a:t>
              </a:r>
            </a:p>
          </p:txBody>
        </p:sp>
      </p:grpSp>
      <p:grpSp>
        <p:nvGrpSpPr>
          <p:cNvPr name="Group 22" id="22"/>
          <p:cNvGrpSpPr/>
          <p:nvPr/>
        </p:nvGrpSpPr>
        <p:grpSpPr>
          <a:xfrm rot="0">
            <a:off x="0" y="7406640"/>
            <a:ext cx="18283428" cy="685800"/>
            <a:chOff x="0" y="0"/>
            <a:chExt cx="24377904" cy="914400"/>
          </a:xfrm>
        </p:grpSpPr>
        <p:sp>
          <p:nvSpPr>
            <p:cNvPr name="Freeform 23" id="23"/>
            <p:cNvSpPr/>
            <p:nvPr/>
          </p:nvSpPr>
          <p:spPr>
            <a:xfrm flipH="false" flipV="false" rot="0">
              <a:off x="0" y="0"/>
              <a:ext cx="24377904" cy="914400"/>
            </a:xfrm>
            <a:custGeom>
              <a:avLst/>
              <a:gdLst/>
              <a:ahLst/>
              <a:cxnLst/>
              <a:rect r="r" b="b" t="t" l="l"/>
              <a:pathLst>
                <a:path h="914400" w="24377904">
                  <a:moveTo>
                    <a:pt x="0" y="0"/>
                  </a:moveTo>
                  <a:lnTo>
                    <a:pt x="24377904" y="0"/>
                  </a:lnTo>
                  <a:lnTo>
                    <a:pt x="24377904" y="914400"/>
                  </a:lnTo>
                  <a:lnTo>
                    <a:pt x="0" y="914400"/>
                  </a:lnTo>
                  <a:close/>
                </a:path>
              </a:pathLst>
            </a:custGeom>
            <a:blipFill>
              <a:blip r:embed="rId2">
                <a:alphaModFix amt="0"/>
              </a:blip>
              <a:stretch>
                <a:fillRect l="0" t="-469471" r="0" b="-469471"/>
              </a:stretch>
            </a:blipFill>
          </p:spPr>
        </p:sp>
        <p:sp>
          <p:nvSpPr>
            <p:cNvPr name="TextBox 24" id="24"/>
            <p:cNvSpPr txBox="true"/>
            <p:nvPr/>
          </p:nvSpPr>
          <p:spPr>
            <a:xfrm>
              <a:off x="0" y="-57150"/>
              <a:ext cx="24377904" cy="971550"/>
            </a:xfrm>
            <a:prstGeom prst="rect">
              <a:avLst/>
            </a:prstGeom>
          </p:spPr>
          <p:txBody>
            <a:bodyPr anchor="ctr" rtlCol="false" tIns="0" lIns="0" bIns="0" rIns="0"/>
            <a:lstStyle/>
            <a:p>
              <a:pPr algn="ctr">
                <a:lnSpc>
                  <a:spcPts val="2700"/>
                </a:lnSpc>
              </a:pPr>
              <a:r>
                <a:rPr lang="en-US" sz="2250">
                  <a:solidFill>
                    <a:srgbClr val="CADCFC"/>
                  </a:solidFill>
                  <a:latin typeface="Calibri (MS)"/>
                  <a:ea typeface="Calibri (MS)"/>
                  <a:cs typeface="Calibri (MS)"/>
                  <a:sym typeface="Calibri (MS)"/>
                </a:rPr>
                <a:t>What the law actually requires of your office — and what happens if you don't</a:t>
              </a:r>
            </a:p>
          </p:txBody>
        </p:sp>
      </p:grpSp>
      <p:grpSp>
        <p:nvGrpSpPr>
          <p:cNvPr name="Group 25" id="25"/>
          <p:cNvGrpSpPr/>
          <p:nvPr/>
        </p:nvGrpSpPr>
        <p:grpSpPr>
          <a:xfrm rot="0">
            <a:off x="685800" y="9710928"/>
            <a:ext cx="10972800" cy="411480"/>
            <a:chOff x="0" y="0"/>
            <a:chExt cx="14630400" cy="548640"/>
          </a:xfrm>
        </p:grpSpPr>
        <p:sp>
          <p:nvSpPr>
            <p:cNvPr name="Freeform 26" id="26"/>
            <p:cNvSpPr/>
            <p:nvPr/>
          </p:nvSpPr>
          <p:spPr>
            <a:xfrm flipH="false" flipV="false" rot="0">
              <a:off x="0" y="0"/>
              <a:ext cx="14630400" cy="548640"/>
            </a:xfrm>
            <a:custGeom>
              <a:avLst/>
              <a:gdLst/>
              <a:ahLst/>
              <a:cxnLst/>
              <a:rect r="r" b="b" t="t" l="l"/>
              <a:pathLst>
                <a:path h="548640" w="14630400">
                  <a:moveTo>
                    <a:pt x="0" y="0"/>
                  </a:moveTo>
                  <a:lnTo>
                    <a:pt x="14630400" y="0"/>
                  </a:lnTo>
                  <a:lnTo>
                    <a:pt x="14630400" y="548640"/>
                  </a:lnTo>
                  <a:lnTo>
                    <a:pt x="0" y="548640"/>
                  </a:lnTo>
                  <a:close/>
                </a:path>
              </a:pathLst>
            </a:custGeom>
            <a:blipFill>
              <a:blip r:embed="rId2">
                <a:alphaModFix amt="0"/>
              </a:blip>
              <a:stretch>
                <a:fillRect l="0" t="-469601" r="0" b="-469601"/>
              </a:stretch>
            </a:blipFill>
          </p:spPr>
        </p:sp>
        <p:sp>
          <p:nvSpPr>
            <p:cNvPr name="TextBox 27" id="27"/>
            <p:cNvSpPr txBox="true"/>
            <p:nvPr/>
          </p:nvSpPr>
          <p:spPr>
            <a:xfrm>
              <a:off x="0" y="-38100"/>
              <a:ext cx="14630400" cy="586740"/>
            </a:xfrm>
            <a:prstGeom prst="rect">
              <a:avLst/>
            </a:prstGeom>
          </p:spPr>
          <p:txBody>
            <a:bodyPr anchor="ctr" rtlCol="false" tIns="0" lIns="0" bIns="0" rIns="0"/>
            <a:lstStyle/>
            <a:p>
              <a:pPr algn="l">
                <a:lnSpc>
                  <a:spcPts val="1800"/>
                </a:lnSpc>
              </a:pPr>
              <a:r>
                <a:rPr lang="en-US" sz="1500">
                  <a:solidFill>
                    <a:srgbClr val="CADCFC"/>
                  </a:solidFill>
                  <a:latin typeface="Calibri (MS)"/>
                  <a:ea typeface="Calibri (MS)"/>
                  <a:cs typeface="Calibri (MS)"/>
                  <a:sym typeface="Calibri (MS)"/>
                </a:rPr>
                <a:t>Davao del Norte Provincial Government — Cybersecurity Seminar</a:t>
              </a:r>
            </a:p>
          </p:txBody>
        </p:sp>
      </p:grpSp>
      <p:grpSp>
        <p:nvGrpSpPr>
          <p:cNvPr name="Group 28" id="28"/>
          <p:cNvGrpSpPr/>
          <p:nvPr/>
        </p:nvGrpSpPr>
        <p:grpSpPr>
          <a:xfrm rot="0">
            <a:off x="16911828" y="9710928"/>
            <a:ext cx="685800" cy="411480"/>
            <a:chOff x="0" y="0"/>
            <a:chExt cx="914400" cy="548640"/>
          </a:xfrm>
        </p:grpSpPr>
        <p:sp>
          <p:nvSpPr>
            <p:cNvPr name="Freeform 29" id="29"/>
            <p:cNvSpPr/>
            <p:nvPr/>
          </p:nvSpPr>
          <p:spPr>
            <a:xfrm flipH="false" flipV="false" rot="0">
              <a:off x="0" y="0"/>
              <a:ext cx="914400" cy="548640"/>
            </a:xfrm>
            <a:custGeom>
              <a:avLst/>
              <a:gdLst/>
              <a:ahLst/>
              <a:cxnLst/>
              <a:rect r="r" b="b" t="t" l="l"/>
              <a:pathLst>
                <a:path h="548640" w="914400">
                  <a:moveTo>
                    <a:pt x="0" y="0"/>
                  </a:moveTo>
                  <a:lnTo>
                    <a:pt x="914400" y="0"/>
                  </a:lnTo>
                  <a:lnTo>
                    <a:pt x="914400" y="548640"/>
                  </a:lnTo>
                  <a:lnTo>
                    <a:pt x="0" y="548640"/>
                  </a:lnTo>
                  <a:close/>
                </a:path>
              </a:pathLst>
            </a:custGeom>
            <a:blipFill>
              <a:blip r:embed="rId2">
                <a:alphaModFix amt="0"/>
              </a:blip>
              <a:stretch>
                <a:fillRect l="-26982" t="0" r="-26982" b="0"/>
              </a:stretch>
            </a:blipFill>
          </p:spPr>
        </p:sp>
        <p:sp>
          <p:nvSpPr>
            <p:cNvPr name="TextBox 30" id="30"/>
            <p:cNvSpPr txBox="true"/>
            <p:nvPr/>
          </p:nvSpPr>
          <p:spPr>
            <a:xfrm>
              <a:off x="0" y="-38100"/>
              <a:ext cx="914400" cy="586740"/>
            </a:xfrm>
            <a:prstGeom prst="rect">
              <a:avLst/>
            </a:prstGeom>
          </p:spPr>
          <p:txBody>
            <a:bodyPr anchor="ctr" rtlCol="false" tIns="0" lIns="0" bIns="0" rIns="0"/>
            <a:lstStyle/>
            <a:p>
              <a:pPr algn="r">
                <a:lnSpc>
                  <a:spcPts val="1800"/>
                </a:lnSpc>
              </a:pPr>
              <a:r>
                <a:rPr lang="en-US" sz="1500">
                  <a:solidFill>
                    <a:srgbClr val="CADCFC"/>
                  </a:solidFill>
                  <a:latin typeface="Calibri (MS)"/>
                  <a:ea typeface="Calibri (MS)"/>
                  <a:cs typeface="Calibri (MS)"/>
                  <a:sym typeface="Calibri (MS)"/>
                </a:rPr>
                <a:t>1</a:t>
              </a:r>
            </a:p>
          </p:txBody>
        </p:sp>
      </p:grpSp>
    </p:spTree>
  </p:cSld>
  <p:clrMapOvr>
    <a:masterClrMapping/>
  </p:clrMapOvr>
</p:sld>
</file>

<file path=ppt/slides/slide11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754380" y="685800"/>
            <a:ext cx="850392" cy="850392"/>
            <a:chOff x="0" y="0"/>
            <a:chExt cx="1133856" cy="1133856"/>
          </a:xfrm>
        </p:grpSpPr>
        <p:sp>
          <p:nvSpPr>
            <p:cNvPr name="Freeform 3" id="3"/>
            <p:cNvSpPr/>
            <p:nvPr/>
          </p:nvSpPr>
          <p:spPr>
            <a:xfrm flipH="false" flipV="false" rot="0">
              <a:off x="0" y="0"/>
              <a:ext cx="1133856" cy="1133856"/>
            </a:xfrm>
            <a:custGeom>
              <a:avLst/>
              <a:gdLst/>
              <a:ahLst/>
              <a:cxnLst/>
              <a:rect r="r" b="b" t="t" l="l"/>
              <a:pathLst>
                <a:path h="1133856" w="1133856">
                  <a:moveTo>
                    <a:pt x="0" y="566928"/>
                  </a:moveTo>
                  <a:cubicBezTo>
                    <a:pt x="0" y="253873"/>
                    <a:pt x="253873" y="0"/>
                    <a:pt x="566928" y="0"/>
                  </a:cubicBezTo>
                  <a:cubicBezTo>
                    <a:pt x="879983" y="0"/>
                    <a:pt x="1133856" y="253873"/>
                    <a:pt x="1133856" y="566928"/>
                  </a:cubicBezTo>
                  <a:cubicBezTo>
                    <a:pt x="1133856" y="879983"/>
                    <a:pt x="879983" y="1133856"/>
                    <a:pt x="566928" y="1133856"/>
                  </a:cubicBezTo>
                  <a:cubicBezTo>
                    <a:pt x="253873" y="1133856"/>
                    <a:pt x="0" y="879983"/>
                    <a:pt x="0" y="566928"/>
                  </a:cubicBezTo>
                  <a:close/>
                </a:path>
              </a:pathLst>
            </a:custGeom>
            <a:solidFill>
              <a:srgbClr val="1E2761"/>
            </a:solidFill>
          </p:spPr>
        </p:sp>
      </p:grpSp>
      <p:grpSp>
        <p:nvGrpSpPr>
          <p:cNvPr name="Group 4" id="4"/>
          <p:cNvGrpSpPr/>
          <p:nvPr/>
        </p:nvGrpSpPr>
        <p:grpSpPr>
          <a:xfrm rot="0">
            <a:off x="932688" y="864108"/>
            <a:ext cx="493776" cy="493776"/>
            <a:chOff x="0" y="0"/>
            <a:chExt cx="658368" cy="658368"/>
          </a:xfrm>
        </p:grpSpPr>
        <p:sp>
          <p:nvSpPr>
            <p:cNvPr name="Freeform 5" id="5" descr="clipboard.png"/>
            <p:cNvSpPr/>
            <p:nvPr/>
          </p:nvSpPr>
          <p:spPr>
            <a:xfrm flipH="false" flipV="false" rot="0">
              <a:off x="0" y="0"/>
              <a:ext cx="658368" cy="658368"/>
            </a:xfrm>
            <a:custGeom>
              <a:avLst/>
              <a:gdLst/>
              <a:ahLst/>
              <a:cxnLst/>
              <a:rect r="r" b="b" t="t" l="l"/>
              <a:pathLst>
                <a:path h="658368" w="658368">
                  <a:moveTo>
                    <a:pt x="0" y="0"/>
                  </a:moveTo>
                  <a:lnTo>
                    <a:pt x="658368" y="0"/>
                  </a:lnTo>
                  <a:lnTo>
                    <a:pt x="658368" y="658368"/>
                  </a:lnTo>
                  <a:lnTo>
                    <a:pt x="0" y="658368"/>
                  </a:lnTo>
                  <a:lnTo>
                    <a:pt x="0" y="0"/>
                  </a:lnTo>
                  <a:close/>
                </a:path>
              </a:pathLst>
            </a:custGeom>
            <a:blipFill>
              <a:blip r:embed="rId2"/>
              <a:stretch>
                <a:fillRect l="0" t="0" r="0" b="0"/>
              </a:stretch>
            </a:blipFill>
          </p:spPr>
        </p:sp>
      </p:grpSp>
      <p:grpSp>
        <p:nvGrpSpPr>
          <p:cNvPr name="Group 6" id="6"/>
          <p:cNvGrpSpPr/>
          <p:nvPr/>
        </p:nvGrpSpPr>
        <p:grpSpPr>
          <a:xfrm rot="0">
            <a:off x="1851660" y="603504"/>
            <a:ext cx="13716000" cy="466344"/>
            <a:chOff x="0" y="0"/>
            <a:chExt cx="18288000" cy="621792"/>
          </a:xfrm>
        </p:grpSpPr>
        <p:sp>
          <p:nvSpPr>
            <p:cNvPr name="Freeform 7" id="7"/>
            <p:cNvSpPr/>
            <p:nvPr/>
          </p:nvSpPr>
          <p:spPr>
            <a:xfrm flipH="false" flipV="false" rot="0">
              <a:off x="0" y="0"/>
              <a:ext cx="18288000" cy="621792"/>
            </a:xfrm>
            <a:custGeom>
              <a:avLst/>
              <a:gdLst/>
              <a:ahLst/>
              <a:cxnLst/>
              <a:rect r="r" b="b" t="t" l="l"/>
              <a:pathLst>
                <a:path h="621792" w="18288000">
                  <a:moveTo>
                    <a:pt x="0" y="0"/>
                  </a:moveTo>
                  <a:lnTo>
                    <a:pt x="18288000" y="0"/>
                  </a:lnTo>
                  <a:lnTo>
                    <a:pt x="18288000" y="621792"/>
                  </a:lnTo>
                  <a:lnTo>
                    <a:pt x="0" y="621792"/>
                  </a:lnTo>
                  <a:close/>
                </a:path>
              </a:pathLst>
            </a:custGeom>
            <a:blipFill>
              <a:blip r:embed="rId3">
                <a:alphaModFix amt="0"/>
              </a:blip>
              <a:stretch>
                <a:fillRect l="0" t="-523089" r="0" b="-523089"/>
              </a:stretch>
            </a:blipFill>
          </p:spPr>
        </p:sp>
        <p:sp>
          <p:nvSpPr>
            <p:cNvPr name="TextBox 8" id="8"/>
            <p:cNvSpPr txBox="true"/>
            <p:nvPr/>
          </p:nvSpPr>
          <p:spPr>
            <a:xfrm>
              <a:off x="0" y="-47625"/>
              <a:ext cx="18288000" cy="669417"/>
            </a:xfrm>
            <a:prstGeom prst="rect">
              <a:avLst/>
            </a:prstGeom>
          </p:spPr>
          <p:txBody>
            <a:bodyPr anchor="ctr" rtlCol="false" tIns="0" lIns="0" bIns="0" rIns="0"/>
            <a:lstStyle/>
            <a:p>
              <a:pPr algn="l">
                <a:lnSpc>
                  <a:spcPts val="2340"/>
                </a:lnSpc>
              </a:pPr>
              <a:r>
                <a:rPr lang="en-US" b="true" sz="1950" spc="150">
                  <a:solidFill>
                    <a:srgbClr val="00B4D8"/>
                  </a:solidFill>
                  <a:latin typeface="Calibri (MS) Bold"/>
                  <a:ea typeface="Calibri (MS) Bold"/>
                  <a:cs typeface="Calibri (MS) Bold"/>
                  <a:sym typeface="Calibri (MS) Bold"/>
                </a:rPr>
                <a:t>PH LEGAL FRAMEWORK</a:t>
              </a:r>
            </a:p>
          </p:txBody>
        </p:sp>
      </p:grpSp>
      <p:sp>
        <p:nvSpPr>
          <p:cNvPr name="TextBox 9" id="9"/>
          <p:cNvSpPr txBox="true"/>
          <p:nvPr/>
        </p:nvSpPr>
        <p:spPr>
          <a:xfrm rot="0">
            <a:off x="1897380" y="2956560"/>
            <a:ext cx="14493240" cy="2667000"/>
          </a:xfrm>
          <a:prstGeom prst="rect">
            <a:avLst/>
          </a:prstGeom>
        </p:spPr>
        <p:txBody>
          <a:bodyPr anchor="t" rtlCol="false" tIns="0" lIns="0" bIns="0" rIns="0">
            <a:spAutoFit/>
          </a:bodyPr>
          <a:lstStyle/>
          <a:p>
            <a:pPr algn="l">
              <a:lnSpc>
                <a:spcPts val="5040"/>
              </a:lnSpc>
            </a:pPr>
            <a:r>
              <a:rPr lang="en-US" sz="3000" i="true">
                <a:solidFill>
                  <a:srgbClr val="23262F"/>
                </a:solidFill>
                <a:latin typeface="Cambria Italics"/>
                <a:ea typeface="Cambria Italics"/>
                <a:cs typeface="Cambria Italics"/>
                <a:sym typeface="Cambria Italics"/>
              </a:rPr>
              <a:t>Everything we've covered so far — CIA, risk management, NIST CSF — is good practice. This section is different: it's the law. These aren't frameworks your office can choose to adopt loosely. Several carry real penalties — imprisonment, fines, and reporting deadlines — for the people and offices that fail to comply.</a:t>
            </a:r>
          </a:p>
        </p:txBody>
      </p:sp>
      <p:grpSp>
        <p:nvGrpSpPr>
          <p:cNvPr name="Group 10" id="10"/>
          <p:cNvGrpSpPr/>
          <p:nvPr/>
        </p:nvGrpSpPr>
        <p:grpSpPr>
          <a:xfrm rot="0">
            <a:off x="1234440" y="5623560"/>
            <a:ext cx="14676120" cy="2606040"/>
            <a:chOff x="0" y="0"/>
            <a:chExt cx="19568160" cy="3474720"/>
          </a:xfrm>
        </p:grpSpPr>
        <p:sp>
          <p:nvSpPr>
            <p:cNvPr name="Freeform 11" id="11"/>
            <p:cNvSpPr/>
            <p:nvPr/>
          </p:nvSpPr>
          <p:spPr>
            <a:xfrm flipH="false" flipV="false" rot="0">
              <a:off x="0" y="0"/>
              <a:ext cx="19568161" cy="3474720"/>
            </a:xfrm>
            <a:custGeom>
              <a:avLst/>
              <a:gdLst/>
              <a:ahLst/>
              <a:cxnLst/>
              <a:rect r="r" b="b" t="t" l="l"/>
              <a:pathLst>
                <a:path h="3474720" w="19568161">
                  <a:moveTo>
                    <a:pt x="0" y="182880"/>
                  </a:moveTo>
                  <a:cubicBezTo>
                    <a:pt x="0" y="81915"/>
                    <a:pt x="81915" y="0"/>
                    <a:pt x="182880" y="0"/>
                  </a:cubicBezTo>
                  <a:lnTo>
                    <a:pt x="19385280" y="0"/>
                  </a:lnTo>
                  <a:cubicBezTo>
                    <a:pt x="19486245" y="0"/>
                    <a:pt x="19568161" y="81915"/>
                    <a:pt x="19568161" y="182880"/>
                  </a:cubicBezTo>
                  <a:lnTo>
                    <a:pt x="19568161" y="3291840"/>
                  </a:lnTo>
                  <a:cubicBezTo>
                    <a:pt x="19568161" y="3392805"/>
                    <a:pt x="19486245" y="3474720"/>
                    <a:pt x="19385280" y="3474720"/>
                  </a:cubicBezTo>
                  <a:lnTo>
                    <a:pt x="182880" y="3474720"/>
                  </a:lnTo>
                  <a:cubicBezTo>
                    <a:pt x="81915" y="3474720"/>
                    <a:pt x="0" y="3392805"/>
                    <a:pt x="0" y="3291840"/>
                  </a:cubicBezTo>
                  <a:close/>
                </a:path>
              </a:pathLst>
            </a:custGeom>
            <a:solidFill>
              <a:srgbClr val="F4F7FC"/>
            </a:solidFill>
          </p:spPr>
        </p:sp>
      </p:grpSp>
      <p:grpSp>
        <p:nvGrpSpPr>
          <p:cNvPr name="Group 12" id="12"/>
          <p:cNvGrpSpPr/>
          <p:nvPr/>
        </p:nvGrpSpPr>
        <p:grpSpPr>
          <a:xfrm rot="0">
            <a:off x="685800" y="9710928"/>
            <a:ext cx="10972800" cy="411480"/>
            <a:chOff x="0" y="0"/>
            <a:chExt cx="14630400" cy="548640"/>
          </a:xfrm>
        </p:grpSpPr>
        <p:sp>
          <p:nvSpPr>
            <p:cNvPr name="Freeform 13" id="13"/>
            <p:cNvSpPr/>
            <p:nvPr/>
          </p:nvSpPr>
          <p:spPr>
            <a:xfrm flipH="false" flipV="false" rot="0">
              <a:off x="0" y="0"/>
              <a:ext cx="14630400" cy="548640"/>
            </a:xfrm>
            <a:custGeom>
              <a:avLst/>
              <a:gdLst/>
              <a:ahLst/>
              <a:cxnLst/>
              <a:rect r="r" b="b" t="t" l="l"/>
              <a:pathLst>
                <a:path h="548640" w="14630400">
                  <a:moveTo>
                    <a:pt x="0" y="0"/>
                  </a:moveTo>
                  <a:lnTo>
                    <a:pt x="14630400" y="0"/>
                  </a:lnTo>
                  <a:lnTo>
                    <a:pt x="14630400" y="548640"/>
                  </a:lnTo>
                  <a:lnTo>
                    <a:pt x="0" y="548640"/>
                  </a:lnTo>
                  <a:close/>
                </a:path>
              </a:pathLst>
            </a:custGeom>
            <a:blipFill>
              <a:blip r:embed="rId3">
                <a:alphaModFix amt="0"/>
              </a:blip>
              <a:stretch>
                <a:fillRect l="0" t="-469601" r="0" b="-469601"/>
              </a:stretch>
            </a:blipFill>
          </p:spPr>
        </p:sp>
        <p:sp>
          <p:nvSpPr>
            <p:cNvPr name="TextBox 14" id="14"/>
            <p:cNvSpPr txBox="true"/>
            <p:nvPr/>
          </p:nvSpPr>
          <p:spPr>
            <a:xfrm>
              <a:off x="0" y="-38100"/>
              <a:ext cx="14630400" cy="586740"/>
            </a:xfrm>
            <a:prstGeom prst="rect">
              <a:avLst/>
            </a:prstGeom>
          </p:spPr>
          <p:txBody>
            <a:bodyPr anchor="ctr" rtlCol="false" tIns="0" lIns="0" bIns="0" rIns="0"/>
            <a:lstStyle/>
            <a:p>
              <a:pPr algn="l">
                <a:lnSpc>
                  <a:spcPts val="1800"/>
                </a:lnSpc>
              </a:pPr>
              <a:r>
                <a:rPr lang="en-US" sz="1500">
                  <a:solidFill>
                    <a:srgbClr val="6B7280"/>
                  </a:solidFill>
                  <a:latin typeface="Calibri (MS)"/>
                  <a:ea typeface="Calibri (MS)"/>
                  <a:cs typeface="Calibri (MS)"/>
                  <a:sym typeface="Calibri (MS)"/>
                </a:rPr>
                <a:t>Davao del Norte Provincial Government — Cybersecurity Seminar</a:t>
              </a:r>
            </a:p>
          </p:txBody>
        </p:sp>
      </p:grpSp>
      <p:grpSp>
        <p:nvGrpSpPr>
          <p:cNvPr name="Group 15" id="15"/>
          <p:cNvGrpSpPr/>
          <p:nvPr/>
        </p:nvGrpSpPr>
        <p:grpSpPr>
          <a:xfrm rot="0">
            <a:off x="16911828" y="9710928"/>
            <a:ext cx="685800" cy="411480"/>
            <a:chOff x="0" y="0"/>
            <a:chExt cx="914400" cy="548640"/>
          </a:xfrm>
        </p:grpSpPr>
        <p:sp>
          <p:nvSpPr>
            <p:cNvPr name="Freeform 16" id="16"/>
            <p:cNvSpPr/>
            <p:nvPr/>
          </p:nvSpPr>
          <p:spPr>
            <a:xfrm flipH="false" flipV="false" rot="0">
              <a:off x="0" y="0"/>
              <a:ext cx="914400" cy="548640"/>
            </a:xfrm>
            <a:custGeom>
              <a:avLst/>
              <a:gdLst/>
              <a:ahLst/>
              <a:cxnLst/>
              <a:rect r="r" b="b" t="t" l="l"/>
              <a:pathLst>
                <a:path h="548640" w="914400">
                  <a:moveTo>
                    <a:pt x="0" y="0"/>
                  </a:moveTo>
                  <a:lnTo>
                    <a:pt x="914400" y="0"/>
                  </a:lnTo>
                  <a:lnTo>
                    <a:pt x="914400" y="548640"/>
                  </a:lnTo>
                  <a:lnTo>
                    <a:pt x="0" y="548640"/>
                  </a:lnTo>
                  <a:close/>
                </a:path>
              </a:pathLst>
            </a:custGeom>
            <a:blipFill>
              <a:blip r:embed="rId3">
                <a:alphaModFix amt="0"/>
              </a:blip>
              <a:stretch>
                <a:fillRect l="-26982" t="0" r="-26982" b="0"/>
              </a:stretch>
            </a:blipFill>
          </p:spPr>
        </p:sp>
        <p:sp>
          <p:nvSpPr>
            <p:cNvPr name="TextBox 17" id="17"/>
            <p:cNvSpPr txBox="true"/>
            <p:nvPr/>
          </p:nvSpPr>
          <p:spPr>
            <a:xfrm>
              <a:off x="0" y="-38100"/>
              <a:ext cx="914400" cy="586740"/>
            </a:xfrm>
            <a:prstGeom prst="rect">
              <a:avLst/>
            </a:prstGeom>
          </p:spPr>
          <p:txBody>
            <a:bodyPr anchor="ctr" rtlCol="false" tIns="0" lIns="0" bIns="0" rIns="0"/>
            <a:lstStyle/>
            <a:p>
              <a:pPr algn="r">
                <a:lnSpc>
                  <a:spcPts val="1800"/>
                </a:lnSpc>
              </a:pPr>
              <a:r>
                <a:rPr lang="en-US" sz="1500">
                  <a:solidFill>
                    <a:srgbClr val="6B7280"/>
                  </a:solidFill>
                  <a:latin typeface="Calibri (MS)"/>
                  <a:ea typeface="Calibri (MS)"/>
                  <a:cs typeface="Calibri (MS)"/>
                  <a:sym typeface="Calibri (MS)"/>
                </a:rPr>
                <a:t>2</a:t>
              </a:r>
            </a:p>
          </p:txBody>
        </p:sp>
      </p:grpSp>
    </p:spTree>
  </p:cSld>
  <p:clrMapOvr>
    <a:masterClrMapping/>
  </p:clrMapOvr>
</p:sld>
</file>

<file path=ppt/slides/slide12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754380" y="685800"/>
            <a:ext cx="850392" cy="850392"/>
            <a:chOff x="0" y="0"/>
            <a:chExt cx="1133856" cy="1133856"/>
          </a:xfrm>
        </p:grpSpPr>
        <p:sp>
          <p:nvSpPr>
            <p:cNvPr name="Freeform 3" id="3"/>
            <p:cNvSpPr/>
            <p:nvPr/>
          </p:nvSpPr>
          <p:spPr>
            <a:xfrm flipH="false" flipV="false" rot="0">
              <a:off x="0" y="0"/>
              <a:ext cx="1133856" cy="1133856"/>
            </a:xfrm>
            <a:custGeom>
              <a:avLst/>
              <a:gdLst/>
              <a:ahLst/>
              <a:cxnLst/>
              <a:rect r="r" b="b" t="t" l="l"/>
              <a:pathLst>
                <a:path h="1133856" w="1133856">
                  <a:moveTo>
                    <a:pt x="0" y="566928"/>
                  </a:moveTo>
                  <a:cubicBezTo>
                    <a:pt x="0" y="253873"/>
                    <a:pt x="253873" y="0"/>
                    <a:pt x="566928" y="0"/>
                  </a:cubicBezTo>
                  <a:cubicBezTo>
                    <a:pt x="879983" y="0"/>
                    <a:pt x="1133856" y="253873"/>
                    <a:pt x="1133856" y="566928"/>
                  </a:cubicBezTo>
                  <a:cubicBezTo>
                    <a:pt x="1133856" y="879983"/>
                    <a:pt x="879983" y="1133856"/>
                    <a:pt x="566928" y="1133856"/>
                  </a:cubicBezTo>
                  <a:cubicBezTo>
                    <a:pt x="253873" y="1133856"/>
                    <a:pt x="0" y="879983"/>
                    <a:pt x="0" y="566928"/>
                  </a:cubicBezTo>
                  <a:close/>
                </a:path>
              </a:pathLst>
            </a:custGeom>
            <a:solidFill>
              <a:srgbClr val="1E2761"/>
            </a:solidFill>
          </p:spPr>
        </p:sp>
      </p:grpSp>
      <p:grpSp>
        <p:nvGrpSpPr>
          <p:cNvPr name="Group 4" id="4"/>
          <p:cNvGrpSpPr/>
          <p:nvPr/>
        </p:nvGrpSpPr>
        <p:grpSpPr>
          <a:xfrm rot="0">
            <a:off x="932688" y="864108"/>
            <a:ext cx="493776" cy="493776"/>
            <a:chOff x="0" y="0"/>
            <a:chExt cx="658368" cy="658368"/>
          </a:xfrm>
        </p:grpSpPr>
        <p:sp>
          <p:nvSpPr>
            <p:cNvPr name="Freeform 5" id="5" descr="clipboard.png"/>
            <p:cNvSpPr/>
            <p:nvPr/>
          </p:nvSpPr>
          <p:spPr>
            <a:xfrm flipH="false" flipV="false" rot="0">
              <a:off x="0" y="0"/>
              <a:ext cx="658368" cy="658368"/>
            </a:xfrm>
            <a:custGeom>
              <a:avLst/>
              <a:gdLst/>
              <a:ahLst/>
              <a:cxnLst/>
              <a:rect r="r" b="b" t="t" l="l"/>
              <a:pathLst>
                <a:path h="658368" w="658368">
                  <a:moveTo>
                    <a:pt x="0" y="0"/>
                  </a:moveTo>
                  <a:lnTo>
                    <a:pt x="658368" y="0"/>
                  </a:lnTo>
                  <a:lnTo>
                    <a:pt x="658368" y="658368"/>
                  </a:lnTo>
                  <a:lnTo>
                    <a:pt x="0" y="658368"/>
                  </a:lnTo>
                  <a:lnTo>
                    <a:pt x="0" y="0"/>
                  </a:lnTo>
                  <a:close/>
                </a:path>
              </a:pathLst>
            </a:custGeom>
            <a:blipFill>
              <a:blip r:embed="rId2"/>
              <a:stretch>
                <a:fillRect l="0" t="0" r="0" b="0"/>
              </a:stretch>
            </a:blipFill>
          </p:spPr>
        </p:sp>
      </p:grpSp>
      <p:grpSp>
        <p:nvGrpSpPr>
          <p:cNvPr name="Group 6" id="6"/>
          <p:cNvGrpSpPr/>
          <p:nvPr/>
        </p:nvGrpSpPr>
        <p:grpSpPr>
          <a:xfrm rot="0">
            <a:off x="1851660" y="603504"/>
            <a:ext cx="13716000" cy="466344"/>
            <a:chOff x="0" y="0"/>
            <a:chExt cx="18288000" cy="621792"/>
          </a:xfrm>
        </p:grpSpPr>
        <p:sp>
          <p:nvSpPr>
            <p:cNvPr name="Freeform 7" id="7"/>
            <p:cNvSpPr/>
            <p:nvPr/>
          </p:nvSpPr>
          <p:spPr>
            <a:xfrm flipH="false" flipV="false" rot="0">
              <a:off x="0" y="0"/>
              <a:ext cx="18288000" cy="621792"/>
            </a:xfrm>
            <a:custGeom>
              <a:avLst/>
              <a:gdLst/>
              <a:ahLst/>
              <a:cxnLst/>
              <a:rect r="r" b="b" t="t" l="l"/>
              <a:pathLst>
                <a:path h="621792" w="18288000">
                  <a:moveTo>
                    <a:pt x="0" y="0"/>
                  </a:moveTo>
                  <a:lnTo>
                    <a:pt x="18288000" y="0"/>
                  </a:lnTo>
                  <a:lnTo>
                    <a:pt x="18288000" y="621792"/>
                  </a:lnTo>
                  <a:lnTo>
                    <a:pt x="0" y="621792"/>
                  </a:lnTo>
                  <a:close/>
                </a:path>
              </a:pathLst>
            </a:custGeom>
            <a:blipFill>
              <a:blip r:embed="rId3">
                <a:alphaModFix amt="0"/>
              </a:blip>
              <a:stretch>
                <a:fillRect l="0" t="-523089" r="0" b="-523089"/>
              </a:stretch>
            </a:blipFill>
          </p:spPr>
        </p:sp>
        <p:sp>
          <p:nvSpPr>
            <p:cNvPr name="TextBox 8" id="8"/>
            <p:cNvSpPr txBox="true"/>
            <p:nvPr/>
          </p:nvSpPr>
          <p:spPr>
            <a:xfrm>
              <a:off x="0" y="-47625"/>
              <a:ext cx="18288000" cy="669417"/>
            </a:xfrm>
            <a:prstGeom prst="rect">
              <a:avLst/>
            </a:prstGeom>
          </p:spPr>
          <p:txBody>
            <a:bodyPr anchor="ctr" rtlCol="false" tIns="0" lIns="0" bIns="0" rIns="0"/>
            <a:lstStyle/>
            <a:p>
              <a:pPr algn="l">
                <a:lnSpc>
                  <a:spcPts val="2340"/>
                </a:lnSpc>
              </a:pPr>
              <a:r>
                <a:rPr lang="en-US" b="true" sz="1950" spc="150">
                  <a:solidFill>
                    <a:srgbClr val="00B4D8"/>
                  </a:solidFill>
                  <a:latin typeface="Calibri (MS) Bold"/>
                  <a:ea typeface="Calibri (MS) Bold"/>
                  <a:cs typeface="Calibri (MS) Bold"/>
                  <a:sym typeface="Calibri (MS) Bold"/>
                </a:rPr>
                <a:t>PH LEGAL FRAMEWORK</a:t>
              </a:r>
            </a:p>
          </p:txBody>
        </p:sp>
      </p:grpSp>
      <p:grpSp>
        <p:nvGrpSpPr>
          <p:cNvPr name="Group 9" id="9"/>
          <p:cNvGrpSpPr/>
          <p:nvPr/>
        </p:nvGrpSpPr>
        <p:grpSpPr>
          <a:xfrm rot="0">
            <a:off x="1824228" y="987552"/>
            <a:ext cx="15361920" cy="850392"/>
            <a:chOff x="0" y="0"/>
            <a:chExt cx="20482560" cy="1133856"/>
          </a:xfrm>
        </p:grpSpPr>
        <p:sp>
          <p:nvSpPr>
            <p:cNvPr name="Freeform 10" id="10"/>
            <p:cNvSpPr/>
            <p:nvPr/>
          </p:nvSpPr>
          <p:spPr>
            <a:xfrm flipH="false" flipV="false" rot="0">
              <a:off x="0" y="0"/>
              <a:ext cx="20482561" cy="1133856"/>
            </a:xfrm>
            <a:custGeom>
              <a:avLst/>
              <a:gdLst/>
              <a:ahLst/>
              <a:cxnLst/>
              <a:rect r="r" b="b" t="t" l="l"/>
              <a:pathLst>
                <a:path h="1133856" w="20482561">
                  <a:moveTo>
                    <a:pt x="0" y="0"/>
                  </a:moveTo>
                  <a:lnTo>
                    <a:pt x="20482561" y="0"/>
                  </a:lnTo>
                  <a:lnTo>
                    <a:pt x="20482561" y="1133856"/>
                  </a:lnTo>
                  <a:lnTo>
                    <a:pt x="0" y="1133856"/>
                  </a:lnTo>
                  <a:close/>
                </a:path>
              </a:pathLst>
            </a:custGeom>
            <a:blipFill>
              <a:blip r:embed="rId3">
                <a:alphaModFix amt="0"/>
              </a:blip>
              <a:stretch>
                <a:fillRect l="0" t="-301987" r="0" b="-301987"/>
              </a:stretch>
            </a:blipFill>
          </p:spPr>
        </p:sp>
        <p:sp>
          <p:nvSpPr>
            <p:cNvPr name="TextBox 11" id="11"/>
            <p:cNvSpPr txBox="true"/>
            <p:nvPr/>
          </p:nvSpPr>
          <p:spPr>
            <a:xfrm>
              <a:off x="0" y="-9525"/>
              <a:ext cx="20482560" cy="1143381"/>
            </a:xfrm>
            <a:prstGeom prst="rect">
              <a:avLst/>
            </a:prstGeom>
          </p:spPr>
          <p:txBody>
            <a:bodyPr anchor="ctr" rtlCol="false" tIns="0" lIns="0" bIns="0" rIns="0"/>
            <a:lstStyle/>
            <a:p>
              <a:pPr algn="l">
                <a:lnSpc>
                  <a:spcPts val="5040"/>
                </a:lnSpc>
              </a:pPr>
              <a:r>
                <a:rPr lang="en-US" sz="4200" b="true">
                  <a:solidFill>
                    <a:srgbClr val="1E2761"/>
                  </a:solidFill>
                  <a:latin typeface="Cambria Bold"/>
                  <a:ea typeface="Cambria Bold"/>
                  <a:cs typeface="Cambria Bold"/>
                  <a:sym typeface="Cambria Bold"/>
                </a:rPr>
                <a:t>Five Laws, One Picture</a:t>
              </a:r>
            </a:p>
          </p:txBody>
        </p:sp>
      </p:grpSp>
      <p:grpSp>
        <p:nvGrpSpPr>
          <p:cNvPr name="Group 12" id="12"/>
          <p:cNvGrpSpPr/>
          <p:nvPr/>
        </p:nvGrpSpPr>
        <p:grpSpPr>
          <a:xfrm rot="0">
            <a:off x="1234440" y="2948940"/>
            <a:ext cx="5102352" cy="2263140"/>
            <a:chOff x="0" y="0"/>
            <a:chExt cx="6803136" cy="3017520"/>
          </a:xfrm>
        </p:grpSpPr>
        <p:sp>
          <p:nvSpPr>
            <p:cNvPr name="Freeform 13" id="13"/>
            <p:cNvSpPr/>
            <p:nvPr/>
          </p:nvSpPr>
          <p:spPr>
            <a:xfrm flipH="false" flipV="false" rot="0">
              <a:off x="0" y="0"/>
              <a:ext cx="6803136" cy="3017520"/>
            </a:xfrm>
            <a:custGeom>
              <a:avLst/>
              <a:gdLst/>
              <a:ahLst/>
              <a:cxnLst/>
              <a:rect r="r" b="b" t="t" l="l"/>
              <a:pathLst>
                <a:path h="3017520" w="6803136">
                  <a:moveTo>
                    <a:pt x="0" y="164592"/>
                  </a:moveTo>
                  <a:cubicBezTo>
                    <a:pt x="0" y="73660"/>
                    <a:pt x="73660" y="0"/>
                    <a:pt x="164592" y="0"/>
                  </a:cubicBezTo>
                  <a:lnTo>
                    <a:pt x="6638544" y="0"/>
                  </a:lnTo>
                  <a:cubicBezTo>
                    <a:pt x="6729475" y="0"/>
                    <a:pt x="6803136" y="73660"/>
                    <a:pt x="6803136" y="164592"/>
                  </a:cubicBezTo>
                  <a:lnTo>
                    <a:pt x="6803136" y="2852928"/>
                  </a:lnTo>
                  <a:cubicBezTo>
                    <a:pt x="6803136" y="2943860"/>
                    <a:pt x="6729475" y="3017520"/>
                    <a:pt x="6638544" y="3017520"/>
                  </a:cubicBezTo>
                  <a:lnTo>
                    <a:pt x="164592" y="3017520"/>
                  </a:lnTo>
                  <a:cubicBezTo>
                    <a:pt x="73660" y="3017520"/>
                    <a:pt x="0" y="2943860"/>
                    <a:pt x="0" y="2852928"/>
                  </a:cubicBezTo>
                  <a:close/>
                </a:path>
              </a:pathLst>
            </a:custGeom>
            <a:solidFill>
              <a:srgbClr val="F4F7FC"/>
            </a:solidFill>
          </p:spPr>
        </p:sp>
      </p:grpSp>
      <p:grpSp>
        <p:nvGrpSpPr>
          <p:cNvPr name="Group 14" id="14"/>
          <p:cNvGrpSpPr/>
          <p:nvPr/>
        </p:nvGrpSpPr>
        <p:grpSpPr>
          <a:xfrm rot="0">
            <a:off x="1563624" y="3278124"/>
            <a:ext cx="274320" cy="274320"/>
            <a:chOff x="0" y="0"/>
            <a:chExt cx="365760" cy="365760"/>
          </a:xfrm>
        </p:grpSpPr>
        <p:sp>
          <p:nvSpPr>
            <p:cNvPr name="Freeform 15" id="15"/>
            <p:cNvSpPr/>
            <p:nvPr/>
          </p:nvSpPr>
          <p:spPr>
            <a:xfrm flipH="false" flipV="false" rot="0">
              <a:off x="0" y="0"/>
              <a:ext cx="365760" cy="365760"/>
            </a:xfrm>
            <a:custGeom>
              <a:avLst/>
              <a:gdLst/>
              <a:ahLst/>
              <a:cxnLst/>
              <a:rect r="r" b="b" t="t" l="l"/>
              <a:pathLst>
                <a:path h="365760" w="365760">
                  <a:moveTo>
                    <a:pt x="0" y="182880"/>
                  </a:moveTo>
                  <a:cubicBezTo>
                    <a:pt x="0" y="81915"/>
                    <a:pt x="81915" y="0"/>
                    <a:pt x="182880" y="0"/>
                  </a:cubicBezTo>
                  <a:cubicBezTo>
                    <a:pt x="283845" y="0"/>
                    <a:pt x="365760" y="81915"/>
                    <a:pt x="365760" y="182880"/>
                  </a:cubicBezTo>
                  <a:cubicBezTo>
                    <a:pt x="365760" y="283845"/>
                    <a:pt x="283845" y="365760"/>
                    <a:pt x="182880" y="365760"/>
                  </a:cubicBezTo>
                  <a:cubicBezTo>
                    <a:pt x="81915" y="365760"/>
                    <a:pt x="0" y="283845"/>
                    <a:pt x="0" y="182880"/>
                  </a:cubicBezTo>
                  <a:close/>
                </a:path>
              </a:pathLst>
            </a:custGeom>
            <a:solidFill>
              <a:srgbClr val="2E86AB"/>
            </a:solidFill>
          </p:spPr>
        </p:sp>
      </p:grpSp>
      <p:grpSp>
        <p:nvGrpSpPr>
          <p:cNvPr name="Group 16" id="16"/>
          <p:cNvGrpSpPr/>
          <p:nvPr/>
        </p:nvGrpSpPr>
        <p:grpSpPr>
          <a:xfrm rot="0">
            <a:off x="1988820" y="3154680"/>
            <a:ext cx="4005072" cy="548640"/>
            <a:chOff x="0" y="0"/>
            <a:chExt cx="5340096" cy="731520"/>
          </a:xfrm>
        </p:grpSpPr>
        <p:sp>
          <p:nvSpPr>
            <p:cNvPr name="Freeform 17" id="17"/>
            <p:cNvSpPr/>
            <p:nvPr/>
          </p:nvSpPr>
          <p:spPr>
            <a:xfrm flipH="false" flipV="false" rot="0">
              <a:off x="0" y="0"/>
              <a:ext cx="5340096" cy="731520"/>
            </a:xfrm>
            <a:custGeom>
              <a:avLst/>
              <a:gdLst/>
              <a:ahLst/>
              <a:cxnLst/>
              <a:rect r="r" b="b" t="t" l="l"/>
              <a:pathLst>
                <a:path h="731520" w="5340096">
                  <a:moveTo>
                    <a:pt x="0" y="0"/>
                  </a:moveTo>
                  <a:lnTo>
                    <a:pt x="5340096" y="0"/>
                  </a:lnTo>
                  <a:lnTo>
                    <a:pt x="5340096" y="731520"/>
                  </a:lnTo>
                  <a:lnTo>
                    <a:pt x="0" y="731520"/>
                  </a:lnTo>
                  <a:close/>
                </a:path>
              </a:pathLst>
            </a:custGeom>
            <a:blipFill>
              <a:blip r:embed="rId3">
                <a:alphaModFix amt="0"/>
              </a:blip>
              <a:stretch>
                <a:fillRect l="0" t="-92240" r="0" b="-92240"/>
              </a:stretch>
            </a:blipFill>
          </p:spPr>
        </p:sp>
        <p:sp>
          <p:nvSpPr>
            <p:cNvPr name="TextBox 18" id="18"/>
            <p:cNvSpPr txBox="true"/>
            <p:nvPr/>
          </p:nvSpPr>
          <p:spPr>
            <a:xfrm>
              <a:off x="0" y="-19050"/>
              <a:ext cx="5340096" cy="750570"/>
            </a:xfrm>
            <a:prstGeom prst="rect">
              <a:avLst/>
            </a:prstGeom>
          </p:spPr>
          <p:txBody>
            <a:bodyPr anchor="ctr" rtlCol="false" tIns="0" lIns="0" bIns="0" rIns="0"/>
            <a:lstStyle/>
            <a:p>
              <a:pPr algn="l">
                <a:lnSpc>
                  <a:spcPts val="2610"/>
                </a:lnSpc>
              </a:pPr>
              <a:r>
                <a:rPr lang="en-US" sz="2175" b="true">
                  <a:solidFill>
                    <a:srgbClr val="1E2761"/>
                  </a:solidFill>
                  <a:latin typeface="Cambria Bold"/>
                  <a:ea typeface="Cambria Bold"/>
                  <a:cs typeface="Cambria Bold"/>
                  <a:sym typeface="Cambria Bold"/>
                </a:rPr>
                <a:t>E-Commerce Act</a:t>
              </a:r>
            </a:p>
          </p:txBody>
        </p:sp>
      </p:grpSp>
      <p:grpSp>
        <p:nvGrpSpPr>
          <p:cNvPr name="Group 19" id="19"/>
          <p:cNvGrpSpPr/>
          <p:nvPr/>
        </p:nvGrpSpPr>
        <p:grpSpPr>
          <a:xfrm rot="0">
            <a:off x="5033772" y="3182112"/>
            <a:ext cx="1097280" cy="411480"/>
            <a:chOff x="0" y="0"/>
            <a:chExt cx="1463040" cy="548640"/>
          </a:xfrm>
        </p:grpSpPr>
        <p:sp>
          <p:nvSpPr>
            <p:cNvPr name="Freeform 20" id="20"/>
            <p:cNvSpPr/>
            <p:nvPr/>
          </p:nvSpPr>
          <p:spPr>
            <a:xfrm flipH="false" flipV="false" rot="0">
              <a:off x="0" y="0"/>
              <a:ext cx="1463040" cy="548640"/>
            </a:xfrm>
            <a:custGeom>
              <a:avLst/>
              <a:gdLst/>
              <a:ahLst/>
              <a:cxnLst/>
              <a:rect r="r" b="b" t="t" l="l"/>
              <a:pathLst>
                <a:path h="548640" w="1463040">
                  <a:moveTo>
                    <a:pt x="0" y="0"/>
                  </a:moveTo>
                  <a:lnTo>
                    <a:pt x="1463040" y="0"/>
                  </a:lnTo>
                  <a:lnTo>
                    <a:pt x="1463040" y="548640"/>
                  </a:lnTo>
                  <a:lnTo>
                    <a:pt x="0" y="548640"/>
                  </a:lnTo>
                  <a:close/>
                </a:path>
              </a:pathLst>
            </a:custGeom>
            <a:blipFill>
              <a:blip r:embed="rId3">
                <a:alphaModFix amt="0"/>
              </a:blip>
              <a:stretch>
                <a:fillRect l="0" t="-1960" r="0" b="-1960"/>
              </a:stretch>
            </a:blipFill>
          </p:spPr>
        </p:sp>
        <p:sp>
          <p:nvSpPr>
            <p:cNvPr name="TextBox 21" id="21"/>
            <p:cNvSpPr txBox="true"/>
            <p:nvPr/>
          </p:nvSpPr>
          <p:spPr>
            <a:xfrm>
              <a:off x="0" y="-38100"/>
              <a:ext cx="1463040" cy="586740"/>
            </a:xfrm>
            <a:prstGeom prst="rect">
              <a:avLst/>
            </a:prstGeom>
          </p:spPr>
          <p:txBody>
            <a:bodyPr anchor="ctr" rtlCol="false" tIns="0" lIns="0" bIns="0" rIns="0"/>
            <a:lstStyle/>
            <a:p>
              <a:pPr algn="r">
                <a:lnSpc>
                  <a:spcPts val="1709"/>
                </a:lnSpc>
              </a:pPr>
              <a:r>
                <a:rPr lang="en-US" sz="1425">
                  <a:solidFill>
                    <a:srgbClr val="6B7280"/>
                  </a:solidFill>
                  <a:latin typeface="Calibri (MS)"/>
                  <a:ea typeface="Calibri (MS)"/>
                  <a:cs typeface="Calibri (MS)"/>
                  <a:sym typeface="Calibri (MS)"/>
                </a:rPr>
                <a:t>RA 8792</a:t>
              </a:r>
            </a:p>
          </p:txBody>
        </p:sp>
      </p:grpSp>
      <p:sp>
        <p:nvSpPr>
          <p:cNvPr name="TextBox 22" id="22"/>
          <p:cNvSpPr txBox="true"/>
          <p:nvPr/>
        </p:nvSpPr>
        <p:spPr>
          <a:xfrm rot="0">
            <a:off x="1655064" y="3841623"/>
            <a:ext cx="4261104" cy="1228725"/>
          </a:xfrm>
          <a:prstGeom prst="rect">
            <a:avLst/>
          </a:prstGeom>
        </p:spPr>
        <p:txBody>
          <a:bodyPr anchor="t" rtlCol="false" tIns="0" lIns="0" bIns="0" rIns="0">
            <a:spAutoFit/>
          </a:bodyPr>
          <a:lstStyle/>
          <a:p>
            <a:pPr algn="l">
              <a:lnSpc>
                <a:spcPts val="2525"/>
              </a:lnSpc>
            </a:pPr>
            <a:r>
              <a:rPr lang="en-US" sz="1725">
                <a:solidFill>
                  <a:srgbClr val="23262F"/>
                </a:solidFill>
                <a:latin typeface="Calibri (MS)"/>
                <a:ea typeface="Calibri (MS)"/>
                <a:cs typeface="Calibri (MS)"/>
                <a:sym typeface="Calibri (MS)"/>
              </a:rPr>
              <a:t>Gives electronic transactions, documents, and signatures legal recognition.</a:t>
            </a:r>
          </a:p>
        </p:txBody>
      </p:sp>
      <p:grpSp>
        <p:nvGrpSpPr>
          <p:cNvPr name="Group 23" id="23"/>
          <p:cNvGrpSpPr/>
          <p:nvPr/>
        </p:nvGrpSpPr>
        <p:grpSpPr>
          <a:xfrm rot="0">
            <a:off x="6693408" y="2948940"/>
            <a:ext cx="5102352" cy="2263140"/>
            <a:chOff x="0" y="0"/>
            <a:chExt cx="6803136" cy="3017520"/>
          </a:xfrm>
        </p:grpSpPr>
        <p:sp>
          <p:nvSpPr>
            <p:cNvPr name="Freeform 24" id="24"/>
            <p:cNvSpPr/>
            <p:nvPr/>
          </p:nvSpPr>
          <p:spPr>
            <a:xfrm flipH="false" flipV="false" rot="0">
              <a:off x="0" y="0"/>
              <a:ext cx="6803136" cy="3017520"/>
            </a:xfrm>
            <a:custGeom>
              <a:avLst/>
              <a:gdLst/>
              <a:ahLst/>
              <a:cxnLst/>
              <a:rect r="r" b="b" t="t" l="l"/>
              <a:pathLst>
                <a:path h="3017520" w="6803136">
                  <a:moveTo>
                    <a:pt x="0" y="164592"/>
                  </a:moveTo>
                  <a:cubicBezTo>
                    <a:pt x="0" y="73660"/>
                    <a:pt x="73660" y="0"/>
                    <a:pt x="164592" y="0"/>
                  </a:cubicBezTo>
                  <a:lnTo>
                    <a:pt x="6638544" y="0"/>
                  </a:lnTo>
                  <a:cubicBezTo>
                    <a:pt x="6729475" y="0"/>
                    <a:pt x="6803136" y="73660"/>
                    <a:pt x="6803136" y="164592"/>
                  </a:cubicBezTo>
                  <a:lnTo>
                    <a:pt x="6803136" y="2852928"/>
                  </a:lnTo>
                  <a:cubicBezTo>
                    <a:pt x="6803136" y="2943860"/>
                    <a:pt x="6729475" y="3017520"/>
                    <a:pt x="6638544" y="3017520"/>
                  </a:cubicBezTo>
                  <a:lnTo>
                    <a:pt x="164592" y="3017520"/>
                  </a:lnTo>
                  <a:cubicBezTo>
                    <a:pt x="73660" y="3017520"/>
                    <a:pt x="0" y="2943860"/>
                    <a:pt x="0" y="2852928"/>
                  </a:cubicBezTo>
                  <a:close/>
                </a:path>
              </a:pathLst>
            </a:custGeom>
            <a:solidFill>
              <a:srgbClr val="F4F7FC"/>
            </a:solidFill>
          </p:spPr>
        </p:sp>
      </p:grpSp>
      <p:grpSp>
        <p:nvGrpSpPr>
          <p:cNvPr name="Group 25" id="25"/>
          <p:cNvGrpSpPr/>
          <p:nvPr/>
        </p:nvGrpSpPr>
        <p:grpSpPr>
          <a:xfrm rot="0">
            <a:off x="7022592" y="3278124"/>
            <a:ext cx="274320" cy="274320"/>
            <a:chOff x="0" y="0"/>
            <a:chExt cx="365760" cy="365760"/>
          </a:xfrm>
        </p:grpSpPr>
        <p:sp>
          <p:nvSpPr>
            <p:cNvPr name="Freeform 26" id="26"/>
            <p:cNvSpPr/>
            <p:nvPr/>
          </p:nvSpPr>
          <p:spPr>
            <a:xfrm flipH="false" flipV="false" rot="0">
              <a:off x="0" y="0"/>
              <a:ext cx="365760" cy="365760"/>
            </a:xfrm>
            <a:custGeom>
              <a:avLst/>
              <a:gdLst/>
              <a:ahLst/>
              <a:cxnLst/>
              <a:rect r="r" b="b" t="t" l="l"/>
              <a:pathLst>
                <a:path h="365760" w="365760">
                  <a:moveTo>
                    <a:pt x="0" y="182880"/>
                  </a:moveTo>
                  <a:cubicBezTo>
                    <a:pt x="0" y="81915"/>
                    <a:pt x="81915" y="0"/>
                    <a:pt x="182880" y="0"/>
                  </a:cubicBezTo>
                  <a:cubicBezTo>
                    <a:pt x="283845" y="0"/>
                    <a:pt x="365760" y="81915"/>
                    <a:pt x="365760" y="182880"/>
                  </a:cubicBezTo>
                  <a:cubicBezTo>
                    <a:pt x="365760" y="283845"/>
                    <a:pt x="283845" y="365760"/>
                    <a:pt x="182880" y="365760"/>
                  </a:cubicBezTo>
                  <a:cubicBezTo>
                    <a:pt x="81915" y="365760"/>
                    <a:pt x="0" y="283845"/>
                    <a:pt x="0" y="182880"/>
                  </a:cubicBezTo>
                  <a:close/>
                </a:path>
              </a:pathLst>
            </a:custGeom>
            <a:solidFill>
              <a:srgbClr val="C1272D"/>
            </a:solidFill>
          </p:spPr>
        </p:sp>
      </p:grpSp>
      <p:grpSp>
        <p:nvGrpSpPr>
          <p:cNvPr name="Group 27" id="27"/>
          <p:cNvGrpSpPr/>
          <p:nvPr/>
        </p:nvGrpSpPr>
        <p:grpSpPr>
          <a:xfrm rot="0">
            <a:off x="7447788" y="3154680"/>
            <a:ext cx="4005072" cy="548640"/>
            <a:chOff x="0" y="0"/>
            <a:chExt cx="5340096" cy="731520"/>
          </a:xfrm>
        </p:grpSpPr>
        <p:sp>
          <p:nvSpPr>
            <p:cNvPr name="Freeform 28" id="28"/>
            <p:cNvSpPr/>
            <p:nvPr/>
          </p:nvSpPr>
          <p:spPr>
            <a:xfrm flipH="false" flipV="false" rot="0">
              <a:off x="0" y="0"/>
              <a:ext cx="5340096" cy="731520"/>
            </a:xfrm>
            <a:custGeom>
              <a:avLst/>
              <a:gdLst/>
              <a:ahLst/>
              <a:cxnLst/>
              <a:rect r="r" b="b" t="t" l="l"/>
              <a:pathLst>
                <a:path h="731520" w="5340096">
                  <a:moveTo>
                    <a:pt x="0" y="0"/>
                  </a:moveTo>
                  <a:lnTo>
                    <a:pt x="5340096" y="0"/>
                  </a:lnTo>
                  <a:lnTo>
                    <a:pt x="5340096" y="731520"/>
                  </a:lnTo>
                  <a:lnTo>
                    <a:pt x="0" y="731520"/>
                  </a:lnTo>
                  <a:close/>
                </a:path>
              </a:pathLst>
            </a:custGeom>
            <a:blipFill>
              <a:blip r:embed="rId3">
                <a:alphaModFix amt="0"/>
              </a:blip>
              <a:stretch>
                <a:fillRect l="0" t="-92240" r="0" b="-92240"/>
              </a:stretch>
            </a:blipFill>
          </p:spPr>
        </p:sp>
        <p:sp>
          <p:nvSpPr>
            <p:cNvPr name="TextBox 29" id="29"/>
            <p:cNvSpPr txBox="true"/>
            <p:nvPr/>
          </p:nvSpPr>
          <p:spPr>
            <a:xfrm>
              <a:off x="0" y="-19050"/>
              <a:ext cx="5340096" cy="750570"/>
            </a:xfrm>
            <a:prstGeom prst="rect">
              <a:avLst/>
            </a:prstGeom>
          </p:spPr>
          <p:txBody>
            <a:bodyPr anchor="ctr" rtlCol="false" tIns="0" lIns="0" bIns="0" rIns="0"/>
            <a:lstStyle/>
            <a:p>
              <a:pPr algn="l">
                <a:lnSpc>
                  <a:spcPts val="2610"/>
                </a:lnSpc>
              </a:pPr>
              <a:r>
                <a:rPr lang="en-US" sz="2175" b="true">
                  <a:solidFill>
                    <a:srgbClr val="1E2761"/>
                  </a:solidFill>
                  <a:latin typeface="Cambria Bold"/>
                  <a:ea typeface="Cambria Bold"/>
                  <a:cs typeface="Cambria Bold"/>
                  <a:sym typeface="Cambria Bold"/>
                </a:rPr>
                <a:t>Cybercrime Act</a:t>
              </a:r>
            </a:p>
          </p:txBody>
        </p:sp>
      </p:grpSp>
      <p:grpSp>
        <p:nvGrpSpPr>
          <p:cNvPr name="Group 30" id="30"/>
          <p:cNvGrpSpPr/>
          <p:nvPr/>
        </p:nvGrpSpPr>
        <p:grpSpPr>
          <a:xfrm rot="0">
            <a:off x="10492740" y="3182112"/>
            <a:ext cx="1097280" cy="411480"/>
            <a:chOff x="0" y="0"/>
            <a:chExt cx="1463040" cy="548640"/>
          </a:xfrm>
        </p:grpSpPr>
        <p:sp>
          <p:nvSpPr>
            <p:cNvPr name="Freeform 31" id="31"/>
            <p:cNvSpPr/>
            <p:nvPr/>
          </p:nvSpPr>
          <p:spPr>
            <a:xfrm flipH="false" flipV="false" rot="0">
              <a:off x="0" y="0"/>
              <a:ext cx="1463040" cy="548640"/>
            </a:xfrm>
            <a:custGeom>
              <a:avLst/>
              <a:gdLst/>
              <a:ahLst/>
              <a:cxnLst/>
              <a:rect r="r" b="b" t="t" l="l"/>
              <a:pathLst>
                <a:path h="548640" w="1463040">
                  <a:moveTo>
                    <a:pt x="0" y="0"/>
                  </a:moveTo>
                  <a:lnTo>
                    <a:pt x="1463040" y="0"/>
                  </a:lnTo>
                  <a:lnTo>
                    <a:pt x="1463040" y="548640"/>
                  </a:lnTo>
                  <a:lnTo>
                    <a:pt x="0" y="548640"/>
                  </a:lnTo>
                  <a:close/>
                </a:path>
              </a:pathLst>
            </a:custGeom>
            <a:blipFill>
              <a:blip r:embed="rId3">
                <a:alphaModFix amt="0"/>
              </a:blip>
              <a:stretch>
                <a:fillRect l="0" t="-1960" r="0" b="-1960"/>
              </a:stretch>
            </a:blipFill>
          </p:spPr>
        </p:sp>
        <p:sp>
          <p:nvSpPr>
            <p:cNvPr name="TextBox 32" id="32"/>
            <p:cNvSpPr txBox="true"/>
            <p:nvPr/>
          </p:nvSpPr>
          <p:spPr>
            <a:xfrm>
              <a:off x="0" y="-38100"/>
              <a:ext cx="1463040" cy="586740"/>
            </a:xfrm>
            <a:prstGeom prst="rect">
              <a:avLst/>
            </a:prstGeom>
          </p:spPr>
          <p:txBody>
            <a:bodyPr anchor="ctr" rtlCol="false" tIns="0" lIns="0" bIns="0" rIns="0"/>
            <a:lstStyle/>
            <a:p>
              <a:pPr algn="r">
                <a:lnSpc>
                  <a:spcPts val="1709"/>
                </a:lnSpc>
              </a:pPr>
              <a:r>
                <a:rPr lang="en-US" sz="1425">
                  <a:solidFill>
                    <a:srgbClr val="6B7280"/>
                  </a:solidFill>
                  <a:latin typeface="Calibri (MS)"/>
                  <a:ea typeface="Calibri (MS)"/>
                  <a:cs typeface="Calibri (MS)"/>
                  <a:sym typeface="Calibri (MS)"/>
                </a:rPr>
                <a:t>RA 10175</a:t>
              </a:r>
            </a:p>
          </p:txBody>
        </p:sp>
      </p:grpSp>
      <p:sp>
        <p:nvSpPr>
          <p:cNvPr name="TextBox 33" id="33"/>
          <p:cNvSpPr txBox="true"/>
          <p:nvPr/>
        </p:nvSpPr>
        <p:spPr>
          <a:xfrm rot="0">
            <a:off x="7114032" y="3841623"/>
            <a:ext cx="4261104" cy="1228725"/>
          </a:xfrm>
          <a:prstGeom prst="rect">
            <a:avLst/>
          </a:prstGeom>
        </p:spPr>
        <p:txBody>
          <a:bodyPr anchor="t" rtlCol="false" tIns="0" lIns="0" bIns="0" rIns="0">
            <a:spAutoFit/>
          </a:bodyPr>
          <a:lstStyle/>
          <a:p>
            <a:pPr algn="l">
              <a:lnSpc>
                <a:spcPts val="2525"/>
              </a:lnSpc>
            </a:pPr>
            <a:r>
              <a:rPr lang="en-US" sz="1725">
                <a:solidFill>
                  <a:srgbClr val="23262F"/>
                </a:solidFill>
                <a:latin typeface="Calibri (MS)"/>
                <a:ea typeface="Calibri (MS)"/>
                <a:cs typeface="Calibri (MS)"/>
                <a:sym typeface="Calibri (MS)"/>
              </a:rPr>
              <a:t>Defines cybercrime offenses and their penalties.</a:t>
            </a:r>
          </a:p>
        </p:txBody>
      </p:sp>
      <p:grpSp>
        <p:nvGrpSpPr>
          <p:cNvPr name="Group 34" id="34"/>
          <p:cNvGrpSpPr/>
          <p:nvPr/>
        </p:nvGrpSpPr>
        <p:grpSpPr>
          <a:xfrm rot="0">
            <a:off x="12152376" y="2948940"/>
            <a:ext cx="5102352" cy="2263140"/>
            <a:chOff x="0" y="0"/>
            <a:chExt cx="6803136" cy="3017520"/>
          </a:xfrm>
        </p:grpSpPr>
        <p:sp>
          <p:nvSpPr>
            <p:cNvPr name="Freeform 35" id="35"/>
            <p:cNvSpPr/>
            <p:nvPr/>
          </p:nvSpPr>
          <p:spPr>
            <a:xfrm flipH="false" flipV="false" rot="0">
              <a:off x="0" y="0"/>
              <a:ext cx="6803136" cy="3017520"/>
            </a:xfrm>
            <a:custGeom>
              <a:avLst/>
              <a:gdLst/>
              <a:ahLst/>
              <a:cxnLst/>
              <a:rect r="r" b="b" t="t" l="l"/>
              <a:pathLst>
                <a:path h="3017520" w="6803136">
                  <a:moveTo>
                    <a:pt x="0" y="164592"/>
                  </a:moveTo>
                  <a:cubicBezTo>
                    <a:pt x="0" y="73660"/>
                    <a:pt x="73660" y="0"/>
                    <a:pt x="164592" y="0"/>
                  </a:cubicBezTo>
                  <a:lnTo>
                    <a:pt x="6638544" y="0"/>
                  </a:lnTo>
                  <a:cubicBezTo>
                    <a:pt x="6729475" y="0"/>
                    <a:pt x="6803136" y="73660"/>
                    <a:pt x="6803136" y="164592"/>
                  </a:cubicBezTo>
                  <a:lnTo>
                    <a:pt x="6803136" y="2852928"/>
                  </a:lnTo>
                  <a:cubicBezTo>
                    <a:pt x="6803136" y="2943860"/>
                    <a:pt x="6729475" y="3017520"/>
                    <a:pt x="6638544" y="3017520"/>
                  </a:cubicBezTo>
                  <a:lnTo>
                    <a:pt x="164592" y="3017520"/>
                  </a:lnTo>
                  <a:cubicBezTo>
                    <a:pt x="73660" y="3017520"/>
                    <a:pt x="0" y="2943860"/>
                    <a:pt x="0" y="2852928"/>
                  </a:cubicBezTo>
                  <a:close/>
                </a:path>
              </a:pathLst>
            </a:custGeom>
            <a:solidFill>
              <a:srgbClr val="F4F7FC"/>
            </a:solidFill>
          </p:spPr>
        </p:sp>
      </p:grpSp>
      <p:grpSp>
        <p:nvGrpSpPr>
          <p:cNvPr name="Group 36" id="36"/>
          <p:cNvGrpSpPr/>
          <p:nvPr/>
        </p:nvGrpSpPr>
        <p:grpSpPr>
          <a:xfrm rot="0">
            <a:off x="12481560" y="3278124"/>
            <a:ext cx="274320" cy="274320"/>
            <a:chOff x="0" y="0"/>
            <a:chExt cx="365760" cy="365760"/>
          </a:xfrm>
        </p:grpSpPr>
        <p:sp>
          <p:nvSpPr>
            <p:cNvPr name="Freeform 37" id="37"/>
            <p:cNvSpPr/>
            <p:nvPr/>
          </p:nvSpPr>
          <p:spPr>
            <a:xfrm flipH="false" flipV="false" rot="0">
              <a:off x="0" y="0"/>
              <a:ext cx="365760" cy="365760"/>
            </a:xfrm>
            <a:custGeom>
              <a:avLst/>
              <a:gdLst/>
              <a:ahLst/>
              <a:cxnLst/>
              <a:rect r="r" b="b" t="t" l="l"/>
              <a:pathLst>
                <a:path h="365760" w="365760">
                  <a:moveTo>
                    <a:pt x="0" y="182880"/>
                  </a:moveTo>
                  <a:cubicBezTo>
                    <a:pt x="0" y="81915"/>
                    <a:pt x="81915" y="0"/>
                    <a:pt x="182880" y="0"/>
                  </a:cubicBezTo>
                  <a:cubicBezTo>
                    <a:pt x="283845" y="0"/>
                    <a:pt x="365760" y="81915"/>
                    <a:pt x="365760" y="182880"/>
                  </a:cubicBezTo>
                  <a:cubicBezTo>
                    <a:pt x="365760" y="283845"/>
                    <a:pt x="283845" y="365760"/>
                    <a:pt x="182880" y="365760"/>
                  </a:cubicBezTo>
                  <a:cubicBezTo>
                    <a:pt x="81915" y="365760"/>
                    <a:pt x="0" y="283845"/>
                    <a:pt x="0" y="182880"/>
                  </a:cubicBezTo>
                  <a:close/>
                </a:path>
              </a:pathLst>
            </a:custGeom>
            <a:solidFill>
              <a:srgbClr val="6C4FD1"/>
            </a:solidFill>
          </p:spPr>
        </p:sp>
      </p:grpSp>
      <p:grpSp>
        <p:nvGrpSpPr>
          <p:cNvPr name="Group 38" id="38"/>
          <p:cNvGrpSpPr/>
          <p:nvPr/>
        </p:nvGrpSpPr>
        <p:grpSpPr>
          <a:xfrm rot="0">
            <a:off x="12906756" y="3154680"/>
            <a:ext cx="4005072" cy="548640"/>
            <a:chOff x="0" y="0"/>
            <a:chExt cx="5340096" cy="731520"/>
          </a:xfrm>
        </p:grpSpPr>
        <p:sp>
          <p:nvSpPr>
            <p:cNvPr name="Freeform 39" id="39"/>
            <p:cNvSpPr/>
            <p:nvPr/>
          </p:nvSpPr>
          <p:spPr>
            <a:xfrm flipH="false" flipV="false" rot="0">
              <a:off x="0" y="0"/>
              <a:ext cx="5340096" cy="731520"/>
            </a:xfrm>
            <a:custGeom>
              <a:avLst/>
              <a:gdLst/>
              <a:ahLst/>
              <a:cxnLst/>
              <a:rect r="r" b="b" t="t" l="l"/>
              <a:pathLst>
                <a:path h="731520" w="5340096">
                  <a:moveTo>
                    <a:pt x="0" y="0"/>
                  </a:moveTo>
                  <a:lnTo>
                    <a:pt x="5340096" y="0"/>
                  </a:lnTo>
                  <a:lnTo>
                    <a:pt x="5340096" y="731520"/>
                  </a:lnTo>
                  <a:lnTo>
                    <a:pt x="0" y="731520"/>
                  </a:lnTo>
                  <a:close/>
                </a:path>
              </a:pathLst>
            </a:custGeom>
            <a:blipFill>
              <a:blip r:embed="rId3">
                <a:alphaModFix amt="0"/>
              </a:blip>
              <a:stretch>
                <a:fillRect l="0" t="-92240" r="0" b="-92240"/>
              </a:stretch>
            </a:blipFill>
          </p:spPr>
        </p:sp>
        <p:sp>
          <p:nvSpPr>
            <p:cNvPr name="TextBox 40" id="40"/>
            <p:cNvSpPr txBox="true"/>
            <p:nvPr/>
          </p:nvSpPr>
          <p:spPr>
            <a:xfrm>
              <a:off x="0" y="-19050"/>
              <a:ext cx="5340096" cy="750570"/>
            </a:xfrm>
            <a:prstGeom prst="rect">
              <a:avLst/>
            </a:prstGeom>
          </p:spPr>
          <p:txBody>
            <a:bodyPr anchor="ctr" rtlCol="false" tIns="0" lIns="0" bIns="0" rIns="0"/>
            <a:lstStyle/>
            <a:p>
              <a:pPr algn="l">
                <a:lnSpc>
                  <a:spcPts val="2610"/>
                </a:lnSpc>
              </a:pPr>
              <a:r>
                <a:rPr lang="en-US" sz="2175" b="true">
                  <a:solidFill>
                    <a:srgbClr val="1E2761"/>
                  </a:solidFill>
                  <a:latin typeface="Cambria Bold"/>
                  <a:ea typeface="Cambria Bold"/>
                  <a:cs typeface="Cambria Bold"/>
                  <a:sym typeface="Cambria Bold"/>
                </a:rPr>
                <a:t>Data Privacy Act</a:t>
              </a:r>
            </a:p>
          </p:txBody>
        </p:sp>
      </p:grpSp>
      <p:grpSp>
        <p:nvGrpSpPr>
          <p:cNvPr name="Group 41" id="41"/>
          <p:cNvGrpSpPr/>
          <p:nvPr/>
        </p:nvGrpSpPr>
        <p:grpSpPr>
          <a:xfrm rot="0">
            <a:off x="15951708" y="3182112"/>
            <a:ext cx="1097280" cy="411480"/>
            <a:chOff x="0" y="0"/>
            <a:chExt cx="1463040" cy="548640"/>
          </a:xfrm>
        </p:grpSpPr>
        <p:sp>
          <p:nvSpPr>
            <p:cNvPr name="Freeform 42" id="42"/>
            <p:cNvSpPr/>
            <p:nvPr/>
          </p:nvSpPr>
          <p:spPr>
            <a:xfrm flipH="false" flipV="false" rot="0">
              <a:off x="0" y="0"/>
              <a:ext cx="1463040" cy="548640"/>
            </a:xfrm>
            <a:custGeom>
              <a:avLst/>
              <a:gdLst/>
              <a:ahLst/>
              <a:cxnLst/>
              <a:rect r="r" b="b" t="t" l="l"/>
              <a:pathLst>
                <a:path h="548640" w="1463040">
                  <a:moveTo>
                    <a:pt x="0" y="0"/>
                  </a:moveTo>
                  <a:lnTo>
                    <a:pt x="1463040" y="0"/>
                  </a:lnTo>
                  <a:lnTo>
                    <a:pt x="1463040" y="548640"/>
                  </a:lnTo>
                  <a:lnTo>
                    <a:pt x="0" y="548640"/>
                  </a:lnTo>
                  <a:close/>
                </a:path>
              </a:pathLst>
            </a:custGeom>
            <a:blipFill>
              <a:blip r:embed="rId3">
                <a:alphaModFix amt="0"/>
              </a:blip>
              <a:stretch>
                <a:fillRect l="0" t="-1960" r="0" b="-1960"/>
              </a:stretch>
            </a:blipFill>
          </p:spPr>
        </p:sp>
        <p:sp>
          <p:nvSpPr>
            <p:cNvPr name="TextBox 43" id="43"/>
            <p:cNvSpPr txBox="true"/>
            <p:nvPr/>
          </p:nvSpPr>
          <p:spPr>
            <a:xfrm>
              <a:off x="0" y="-38100"/>
              <a:ext cx="1463040" cy="586740"/>
            </a:xfrm>
            <a:prstGeom prst="rect">
              <a:avLst/>
            </a:prstGeom>
          </p:spPr>
          <p:txBody>
            <a:bodyPr anchor="ctr" rtlCol="false" tIns="0" lIns="0" bIns="0" rIns="0"/>
            <a:lstStyle/>
            <a:p>
              <a:pPr algn="r">
                <a:lnSpc>
                  <a:spcPts val="1709"/>
                </a:lnSpc>
              </a:pPr>
              <a:r>
                <a:rPr lang="en-US" sz="1425">
                  <a:solidFill>
                    <a:srgbClr val="6B7280"/>
                  </a:solidFill>
                  <a:latin typeface="Calibri (MS)"/>
                  <a:ea typeface="Calibri (MS)"/>
                  <a:cs typeface="Calibri (MS)"/>
                  <a:sym typeface="Calibri (MS)"/>
                </a:rPr>
                <a:t>RA 10173</a:t>
              </a:r>
            </a:p>
          </p:txBody>
        </p:sp>
      </p:grpSp>
      <p:sp>
        <p:nvSpPr>
          <p:cNvPr name="TextBox 44" id="44"/>
          <p:cNvSpPr txBox="true"/>
          <p:nvPr/>
        </p:nvSpPr>
        <p:spPr>
          <a:xfrm rot="0">
            <a:off x="12573000" y="3841623"/>
            <a:ext cx="4261104" cy="1228725"/>
          </a:xfrm>
          <a:prstGeom prst="rect">
            <a:avLst/>
          </a:prstGeom>
        </p:spPr>
        <p:txBody>
          <a:bodyPr anchor="t" rtlCol="false" tIns="0" lIns="0" bIns="0" rIns="0">
            <a:spAutoFit/>
          </a:bodyPr>
          <a:lstStyle/>
          <a:p>
            <a:pPr algn="l">
              <a:lnSpc>
                <a:spcPts val="2525"/>
              </a:lnSpc>
            </a:pPr>
            <a:r>
              <a:rPr lang="en-US" sz="1725">
                <a:solidFill>
                  <a:srgbClr val="23262F"/>
                </a:solidFill>
                <a:latin typeface="Calibri (MS)"/>
                <a:ea typeface="Calibri (MS)"/>
                <a:cs typeface="Calibri (MS)"/>
                <a:sym typeface="Calibri (MS)"/>
              </a:rPr>
              <a:t>Protects personal information and sets breach-reporting duties.</a:t>
            </a:r>
          </a:p>
        </p:txBody>
      </p:sp>
      <p:grpSp>
        <p:nvGrpSpPr>
          <p:cNvPr name="Group 45" id="45"/>
          <p:cNvGrpSpPr/>
          <p:nvPr/>
        </p:nvGrpSpPr>
        <p:grpSpPr>
          <a:xfrm rot="0">
            <a:off x="1234440" y="5554980"/>
            <a:ext cx="5102352" cy="2263140"/>
            <a:chOff x="0" y="0"/>
            <a:chExt cx="6803136" cy="3017520"/>
          </a:xfrm>
        </p:grpSpPr>
        <p:sp>
          <p:nvSpPr>
            <p:cNvPr name="Freeform 46" id="46"/>
            <p:cNvSpPr/>
            <p:nvPr/>
          </p:nvSpPr>
          <p:spPr>
            <a:xfrm flipH="false" flipV="false" rot="0">
              <a:off x="0" y="0"/>
              <a:ext cx="6803136" cy="3017520"/>
            </a:xfrm>
            <a:custGeom>
              <a:avLst/>
              <a:gdLst/>
              <a:ahLst/>
              <a:cxnLst/>
              <a:rect r="r" b="b" t="t" l="l"/>
              <a:pathLst>
                <a:path h="3017520" w="6803136">
                  <a:moveTo>
                    <a:pt x="0" y="164592"/>
                  </a:moveTo>
                  <a:cubicBezTo>
                    <a:pt x="0" y="73660"/>
                    <a:pt x="73660" y="0"/>
                    <a:pt x="164592" y="0"/>
                  </a:cubicBezTo>
                  <a:lnTo>
                    <a:pt x="6638544" y="0"/>
                  </a:lnTo>
                  <a:cubicBezTo>
                    <a:pt x="6729475" y="0"/>
                    <a:pt x="6803136" y="73660"/>
                    <a:pt x="6803136" y="164592"/>
                  </a:cubicBezTo>
                  <a:lnTo>
                    <a:pt x="6803136" y="2852928"/>
                  </a:lnTo>
                  <a:cubicBezTo>
                    <a:pt x="6803136" y="2943860"/>
                    <a:pt x="6729475" y="3017520"/>
                    <a:pt x="6638544" y="3017520"/>
                  </a:cubicBezTo>
                  <a:lnTo>
                    <a:pt x="164592" y="3017520"/>
                  </a:lnTo>
                  <a:cubicBezTo>
                    <a:pt x="73660" y="3017520"/>
                    <a:pt x="0" y="2943860"/>
                    <a:pt x="0" y="2852928"/>
                  </a:cubicBezTo>
                  <a:close/>
                </a:path>
              </a:pathLst>
            </a:custGeom>
            <a:solidFill>
              <a:srgbClr val="F4F7FC"/>
            </a:solidFill>
          </p:spPr>
        </p:sp>
      </p:grpSp>
      <p:grpSp>
        <p:nvGrpSpPr>
          <p:cNvPr name="Group 47" id="47"/>
          <p:cNvGrpSpPr/>
          <p:nvPr/>
        </p:nvGrpSpPr>
        <p:grpSpPr>
          <a:xfrm rot="0">
            <a:off x="1563624" y="5884164"/>
            <a:ext cx="274320" cy="274320"/>
            <a:chOff x="0" y="0"/>
            <a:chExt cx="365760" cy="365760"/>
          </a:xfrm>
        </p:grpSpPr>
        <p:sp>
          <p:nvSpPr>
            <p:cNvPr name="Freeform 48" id="48"/>
            <p:cNvSpPr/>
            <p:nvPr/>
          </p:nvSpPr>
          <p:spPr>
            <a:xfrm flipH="false" flipV="false" rot="0">
              <a:off x="0" y="0"/>
              <a:ext cx="365760" cy="365760"/>
            </a:xfrm>
            <a:custGeom>
              <a:avLst/>
              <a:gdLst/>
              <a:ahLst/>
              <a:cxnLst/>
              <a:rect r="r" b="b" t="t" l="l"/>
              <a:pathLst>
                <a:path h="365760" w="365760">
                  <a:moveTo>
                    <a:pt x="0" y="182880"/>
                  </a:moveTo>
                  <a:cubicBezTo>
                    <a:pt x="0" y="81915"/>
                    <a:pt x="81915" y="0"/>
                    <a:pt x="182880" y="0"/>
                  </a:cubicBezTo>
                  <a:cubicBezTo>
                    <a:pt x="283845" y="0"/>
                    <a:pt x="365760" y="81915"/>
                    <a:pt x="365760" y="182880"/>
                  </a:cubicBezTo>
                  <a:cubicBezTo>
                    <a:pt x="365760" y="283845"/>
                    <a:pt x="283845" y="365760"/>
                    <a:pt x="182880" y="365760"/>
                  </a:cubicBezTo>
                  <a:cubicBezTo>
                    <a:pt x="81915" y="365760"/>
                    <a:pt x="0" y="283845"/>
                    <a:pt x="0" y="182880"/>
                  </a:cubicBezTo>
                  <a:close/>
                </a:path>
              </a:pathLst>
            </a:custGeom>
            <a:solidFill>
              <a:srgbClr val="0F8A6E"/>
            </a:solidFill>
          </p:spPr>
        </p:sp>
      </p:grpSp>
      <p:grpSp>
        <p:nvGrpSpPr>
          <p:cNvPr name="Group 49" id="49"/>
          <p:cNvGrpSpPr/>
          <p:nvPr/>
        </p:nvGrpSpPr>
        <p:grpSpPr>
          <a:xfrm rot="0">
            <a:off x="1988820" y="5760720"/>
            <a:ext cx="4005072" cy="548640"/>
            <a:chOff x="0" y="0"/>
            <a:chExt cx="5340096" cy="731520"/>
          </a:xfrm>
        </p:grpSpPr>
        <p:sp>
          <p:nvSpPr>
            <p:cNvPr name="Freeform 50" id="50"/>
            <p:cNvSpPr/>
            <p:nvPr/>
          </p:nvSpPr>
          <p:spPr>
            <a:xfrm flipH="false" flipV="false" rot="0">
              <a:off x="0" y="0"/>
              <a:ext cx="5340096" cy="731520"/>
            </a:xfrm>
            <a:custGeom>
              <a:avLst/>
              <a:gdLst/>
              <a:ahLst/>
              <a:cxnLst/>
              <a:rect r="r" b="b" t="t" l="l"/>
              <a:pathLst>
                <a:path h="731520" w="5340096">
                  <a:moveTo>
                    <a:pt x="0" y="0"/>
                  </a:moveTo>
                  <a:lnTo>
                    <a:pt x="5340096" y="0"/>
                  </a:lnTo>
                  <a:lnTo>
                    <a:pt x="5340096" y="731520"/>
                  </a:lnTo>
                  <a:lnTo>
                    <a:pt x="0" y="731520"/>
                  </a:lnTo>
                  <a:close/>
                </a:path>
              </a:pathLst>
            </a:custGeom>
            <a:blipFill>
              <a:blip r:embed="rId3">
                <a:alphaModFix amt="0"/>
              </a:blip>
              <a:stretch>
                <a:fillRect l="0" t="-92240" r="0" b="-92240"/>
              </a:stretch>
            </a:blipFill>
          </p:spPr>
        </p:sp>
        <p:sp>
          <p:nvSpPr>
            <p:cNvPr name="TextBox 51" id="51"/>
            <p:cNvSpPr txBox="true"/>
            <p:nvPr/>
          </p:nvSpPr>
          <p:spPr>
            <a:xfrm>
              <a:off x="0" y="-19050"/>
              <a:ext cx="5340096" cy="750570"/>
            </a:xfrm>
            <a:prstGeom prst="rect">
              <a:avLst/>
            </a:prstGeom>
          </p:spPr>
          <p:txBody>
            <a:bodyPr anchor="ctr" rtlCol="false" tIns="0" lIns="0" bIns="0" rIns="0"/>
            <a:lstStyle/>
            <a:p>
              <a:pPr algn="l">
                <a:lnSpc>
                  <a:spcPts val="2610"/>
                </a:lnSpc>
              </a:pPr>
              <a:r>
                <a:rPr lang="en-US" sz="2175" b="true">
                  <a:solidFill>
                    <a:srgbClr val="1E2761"/>
                  </a:solidFill>
                  <a:latin typeface="Cambria Bold"/>
                  <a:ea typeface="Cambria Bold"/>
                  <a:cs typeface="Cambria Bold"/>
                  <a:sym typeface="Cambria Bold"/>
                </a:rPr>
                <a:t>DICT Act &amp; NCSP</a:t>
              </a:r>
            </a:p>
          </p:txBody>
        </p:sp>
      </p:grpSp>
      <p:grpSp>
        <p:nvGrpSpPr>
          <p:cNvPr name="Group 52" id="52"/>
          <p:cNvGrpSpPr/>
          <p:nvPr/>
        </p:nvGrpSpPr>
        <p:grpSpPr>
          <a:xfrm rot="0">
            <a:off x="5033772" y="5788152"/>
            <a:ext cx="1097280" cy="411480"/>
            <a:chOff x="0" y="0"/>
            <a:chExt cx="1463040" cy="548640"/>
          </a:xfrm>
        </p:grpSpPr>
        <p:sp>
          <p:nvSpPr>
            <p:cNvPr name="Freeform 53" id="53"/>
            <p:cNvSpPr/>
            <p:nvPr/>
          </p:nvSpPr>
          <p:spPr>
            <a:xfrm flipH="false" flipV="false" rot="0">
              <a:off x="0" y="0"/>
              <a:ext cx="1463040" cy="548640"/>
            </a:xfrm>
            <a:custGeom>
              <a:avLst/>
              <a:gdLst/>
              <a:ahLst/>
              <a:cxnLst/>
              <a:rect r="r" b="b" t="t" l="l"/>
              <a:pathLst>
                <a:path h="548640" w="1463040">
                  <a:moveTo>
                    <a:pt x="0" y="0"/>
                  </a:moveTo>
                  <a:lnTo>
                    <a:pt x="1463040" y="0"/>
                  </a:lnTo>
                  <a:lnTo>
                    <a:pt x="1463040" y="548640"/>
                  </a:lnTo>
                  <a:lnTo>
                    <a:pt x="0" y="548640"/>
                  </a:lnTo>
                  <a:close/>
                </a:path>
              </a:pathLst>
            </a:custGeom>
            <a:blipFill>
              <a:blip r:embed="rId3">
                <a:alphaModFix amt="0"/>
              </a:blip>
              <a:stretch>
                <a:fillRect l="0" t="-1960" r="0" b="-1960"/>
              </a:stretch>
            </a:blipFill>
          </p:spPr>
        </p:sp>
        <p:sp>
          <p:nvSpPr>
            <p:cNvPr name="TextBox 54" id="54"/>
            <p:cNvSpPr txBox="true"/>
            <p:nvPr/>
          </p:nvSpPr>
          <p:spPr>
            <a:xfrm>
              <a:off x="0" y="-38100"/>
              <a:ext cx="1463040" cy="586740"/>
            </a:xfrm>
            <a:prstGeom prst="rect">
              <a:avLst/>
            </a:prstGeom>
          </p:spPr>
          <p:txBody>
            <a:bodyPr anchor="ctr" rtlCol="false" tIns="0" lIns="0" bIns="0" rIns="0"/>
            <a:lstStyle/>
            <a:p>
              <a:pPr algn="r">
                <a:lnSpc>
                  <a:spcPts val="1709"/>
                </a:lnSpc>
              </a:pPr>
              <a:r>
                <a:rPr lang="en-US" sz="1425">
                  <a:solidFill>
                    <a:srgbClr val="6B7280"/>
                  </a:solidFill>
                  <a:latin typeface="Calibri (MS)"/>
                  <a:ea typeface="Calibri (MS)"/>
                  <a:cs typeface="Calibri (MS)"/>
                  <a:sym typeface="Calibri (MS)"/>
                </a:rPr>
                <a:t>RA 10844</a:t>
              </a:r>
            </a:p>
          </p:txBody>
        </p:sp>
      </p:grpSp>
      <p:sp>
        <p:nvSpPr>
          <p:cNvPr name="TextBox 55" id="55"/>
          <p:cNvSpPr txBox="true"/>
          <p:nvPr/>
        </p:nvSpPr>
        <p:spPr>
          <a:xfrm rot="0">
            <a:off x="1655064" y="6447663"/>
            <a:ext cx="4261104" cy="1228725"/>
          </a:xfrm>
          <a:prstGeom prst="rect">
            <a:avLst/>
          </a:prstGeom>
        </p:spPr>
        <p:txBody>
          <a:bodyPr anchor="t" rtlCol="false" tIns="0" lIns="0" bIns="0" rIns="0">
            <a:spAutoFit/>
          </a:bodyPr>
          <a:lstStyle/>
          <a:p>
            <a:pPr algn="l">
              <a:lnSpc>
                <a:spcPts val="2525"/>
              </a:lnSpc>
            </a:pPr>
            <a:r>
              <a:rPr lang="en-US" sz="1725">
                <a:solidFill>
                  <a:srgbClr val="23262F"/>
                </a:solidFill>
                <a:latin typeface="Calibri (MS)"/>
                <a:ea typeface="Calibri (MS)"/>
                <a:cs typeface="Calibri (MS)"/>
                <a:sym typeface="Calibri (MS)"/>
              </a:rPr>
              <a:t>Creates the national ICT agency and its cybersecurity roadmap.</a:t>
            </a:r>
          </a:p>
        </p:txBody>
      </p:sp>
      <p:grpSp>
        <p:nvGrpSpPr>
          <p:cNvPr name="Group 56" id="56"/>
          <p:cNvGrpSpPr/>
          <p:nvPr/>
        </p:nvGrpSpPr>
        <p:grpSpPr>
          <a:xfrm rot="0">
            <a:off x="6693408" y="5554980"/>
            <a:ext cx="5102352" cy="2263140"/>
            <a:chOff x="0" y="0"/>
            <a:chExt cx="6803136" cy="3017520"/>
          </a:xfrm>
        </p:grpSpPr>
        <p:sp>
          <p:nvSpPr>
            <p:cNvPr name="Freeform 57" id="57"/>
            <p:cNvSpPr/>
            <p:nvPr/>
          </p:nvSpPr>
          <p:spPr>
            <a:xfrm flipH="false" flipV="false" rot="0">
              <a:off x="0" y="0"/>
              <a:ext cx="6803136" cy="3017520"/>
            </a:xfrm>
            <a:custGeom>
              <a:avLst/>
              <a:gdLst/>
              <a:ahLst/>
              <a:cxnLst/>
              <a:rect r="r" b="b" t="t" l="l"/>
              <a:pathLst>
                <a:path h="3017520" w="6803136">
                  <a:moveTo>
                    <a:pt x="0" y="164592"/>
                  </a:moveTo>
                  <a:cubicBezTo>
                    <a:pt x="0" y="73660"/>
                    <a:pt x="73660" y="0"/>
                    <a:pt x="164592" y="0"/>
                  </a:cubicBezTo>
                  <a:lnTo>
                    <a:pt x="6638544" y="0"/>
                  </a:lnTo>
                  <a:cubicBezTo>
                    <a:pt x="6729475" y="0"/>
                    <a:pt x="6803136" y="73660"/>
                    <a:pt x="6803136" y="164592"/>
                  </a:cubicBezTo>
                  <a:lnTo>
                    <a:pt x="6803136" y="2852928"/>
                  </a:lnTo>
                  <a:cubicBezTo>
                    <a:pt x="6803136" y="2943860"/>
                    <a:pt x="6729475" y="3017520"/>
                    <a:pt x="6638544" y="3017520"/>
                  </a:cubicBezTo>
                  <a:lnTo>
                    <a:pt x="164592" y="3017520"/>
                  </a:lnTo>
                  <a:cubicBezTo>
                    <a:pt x="73660" y="3017520"/>
                    <a:pt x="0" y="2943860"/>
                    <a:pt x="0" y="2852928"/>
                  </a:cubicBezTo>
                  <a:close/>
                </a:path>
              </a:pathLst>
            </a:custGeom>
            <a:solidFill>
              <a:srgbClr val="F4F7FC"/>
            </a:solidFill>
          </p:spPr>
        </p:sp>
      </p:grpSp>
      <p:grpSp>
        <p:nvGrpSpPr>
          <p:cNvPr name="Group 58" id="58"/>
          <p:cNvGrpSpPr/>
          <p:nvPr/>
        </p:nvGrpSpPr>
        <p:grpSpPr>
          <a:xfrm rot="0">
            <a:off x="7022592" y="5884164"/>
            <a:ext cx="274320" cy="274320"/>
            <a:chOff x="0" y="0"/>
            <a:chExt cx="365760" cy="365760"/>
          </a:xfrm>
        </p:grpSpPr>
        <p:sp>
          <p:nvSpPr>
            <p:cNvPr name="Freeform 59" id="59"/>
            <p:cNvSpPr/>
            <p:nvPr/>
          </p:nvSpPr>
          <p:spPr>
            <a:xfrm flipH="false" flipV="false" rot="0">
              <a:off x="0" y="0"/>
              <a:ext cx="365760" cy="365760"/>
            </a:xfrm>
            <a:custGeom>
              <a:avLst/>
              <a:gdLst/>
              <a:ahLst/>
              <a:cxnLst/>
              <a:rect r="r" b="b" t="t" l="l"/>
              <a:pathLst>
                <a:path h="365760" w="365760">
                  <a:moveTo>
                    <a:pt x="0" y="182880"/>
                  </a:moveTo>
                  <a:cubicBezTo>
                    <a:pt x="0" y="81915"/>
                    <a:pt x="81915" y="0"/>
                    <a:pt x="182880" y="0"/>
                  </a:cubicBezTo>
                  <a:cubicBezTo>
                    <a:pt x="283845" y="0"/>
                    <a:pt x="365760" y="81915"/>
                    <a:pt x="365760" y="182880"/>
                  </a:cubicBezTo>
                  <a:cubicBezTo>
                    <a:pt x="365760" y="283845"/>
                    <a:pt x="283845" y="365760"/>
                    <a:pt x="182880" y="365760"/>
                  </a:cubicBezTo>
                  <a:cubicBezTo>
                    <a:pt x="81915" y="365760"/>
                    <a:pt x="0" y="283845"/>
                    <a:pt x="0" y="182880"/>
                  </a:cubicBezTo>
                  <a:close/>
                </a:path>
              </a:pathLst>
            </a:custGeom>
            <a:solidFill>
              <a:srgbClr val="D9631E"/>
            </a:solidFill>
          </p:spPr>
        </p:sp>
      </p:grpSp>
      <p:grpSp>
        <p:nvGrpSpPr>
          <p:cNvPr name="Group 60" id="60"/>
          <p:cNvGrpSpPr/>
          <p:nvPr/>
        </p:nvGrpSpPr>
        <p:grpSpPr>
          <a:xfrm rot="0">
            <a:off x="7447788" y="5760720"/>
            <a:ext cx="4005072" cy="548640"/>
            <a:chOff x="0" y="0"/>
            <a:chExt cx="5340096" cy="731520"/>
          </a:xfrm>
        </p:grpSpPr>
        <p:sp>
          <p:nvSpPr>
            <p:cNvPr name="Freeform 61" id="61"/>
            <p:cNvSpPr/>
            <p:nvPr/>
          </p:nvSpPr>
          <p:spPr>
            <a:xfrm flipH="false" flipV="false" rot="0">
              <a:off x="0" y="0"/>
              <a:ext cx="5340096" cy="731520"/>
            </a:xfrm>
            <a:custGeom>
              <a:avLst/>
              <a:gdLst/>
              <a:ahLst/>
              <a:cxnLst/>
              <a:rect r="r" b="b" t="t" l="l"/>
              <a:pathLst>
                <a:path h="731520" w="5340096">
                  <a:moveTo>
                    <a:pt x="0" y="0"/>
                  </a:moveTo>
                  <a:lnTo>
                    <a:pt x="5340096" y="0"/>
                  </a:lnTo>
                  <a:lnTo>
                    <a:pt x="5340096" y="731520"/>
                  </a:lnTo>
                  <a:lnTo>
                    <a:pt x="0" y="731520"/>
                  </a:lnTo>
                  <a:close/>
                </a:path>
              </a:pathLst>
            </a:custGeom>
            <a:blipFill>
              <a:blip r:embed="rId3">
                <a:alphaModFix amt="0"/>
              </a:blip>
              <a:stretch>
                <a:fillRect l="0" t="-92240" r="0" b="-92240"/>
              </a:stretch>
            </a:blipFill>
          </p:spPr>
        </p:sp>
        <p:sp>
          <p:nvSpPr>
            <p:cNvPr name="TextBox 62" id="62"/>
            <p:cNvSpPr txBox="true"/>
            <p:nvPr/>
          </p:nvSpPr>
          <p:spPr>
            <a:xfrm>
              <a:off x="0" y="-19050"/>
              <a:ext cx="5340096" cy="750570"/>
            </a:xfrm>
            <a:prstGeom prst="rect">
              <a:avLst/>
            </a:prstGeom>
          </p:spPr>
          <p:txBody>
            <a:bodyPr anchor="ctr" rtlCol="false" tIns="0" lIns="0" bIns="0" rIns="0"/>
            <a:lstStyle/>
            <a:p>
              <a:pPr algn="l">
                <a:lnSpc>
                  <a:spcPts val="2610"/>
                </a:lnSpc>
              </a:pPr>
              <a:r>
                <a:rPr lang="en-US" sz="2175" b="true">
                  <a:solidFill>
                    <a:srgbClr val="1E2761"/>
                  </a:solidFill>
                  <a:latin typeface="Cambria Bold"/>
                  <a:ea typeface="Cambria Bold"/>
                  <a:cs typeface="Cambria Bold"/>
                  <a:sym typeface="Cambria Bold"/>
                </a:rPr>
                <a:t>Critical Infra. Protection</a:t>
              </a:r>
            </a:p>
          </p:txBody>
        </p:sp>
      </p:grpSp>
      <p:grpSp>
        <p:nvGrpSpPr>
          <p:cNvPr name="Group 63" id="63"/>
          <p:cNvGrpSpPr/>
          <p:nvPr/>
        </p:nvGrpSpPr>
        <p:grpSpPr>
          <a:xfrm rot="0">
            <a:off x="10492740" y="5788152"/>
            <a:ext cx="1097280" cy="411480"/>
            <a:chOff x="0" y="0"/>
            <a:chExt cx="1463040" cy="548640"/>
          </a:xfrm>
        </p:grpSpPr>
        <p:sp>
          <p:nvSpPr>
            <p:cNvPr name="Freeform 64" id="64"/>
            <p:cNvSpPr/>
            <p:nvPr/>
          </p:nvSpPr>
          <p:spPr>
            <a:xfrm flipH="false" flipV="false" rot="0">
              <a:off x="0" y="0"/>
              <a:ext cx="1463040" cy="548640"/>
            </a:xfrm>
            <a:custGeom>
              <a:avLst/>
              <a:gdLst/>
              <a:ahLst/>
              <a:cxnLst/>
              <a:rect r="r" b="b" t="t" l="l"/>
              <a:pathLst>
                <a:path h="548640" w="1463040">
                  <a:moveTo>
                    <a:pt x="0" y="0"/>
                  </a:moveTo>
                  <a:lnTo>
                    <a:pt x="1463040" y="0"/>
                  </a:lnTo>
                  <a:lnTo>
                    <a:pt x="1463040" y="548640"/>
                  </a:lnTo>
                  <a:lnTo>
                    <a:pt x="0" y="548640"/>
                  </a:lnTo>
                  <a:close/>
                </a:path>
              </a:pathLst>
            </a:custGeom>
            <a:blipFill>
              <a:blip r:embed="rId3">
                <a:alphaModFix amt="0"/>
              </a:blip>
              <a:stretch>
                <a:fillRect l="0" t="-1960" r="0" b="-1960"/>
              </a:stretch>
            </a:blipFill>
          </p:spPr>
        </p:sp>
        <p:sp>
          <p:nvSpPr>
            <p:cNvPr name="TextBox 65" id="65"/>
            <p:cNvSpPr txBox="true"/>
            <p:nvPr/>
          </p:nvSpPr>
          <p:spPr>
            <a:xfrm>
              <a:off x="0" y="-38100"/>
              <a:ext cx="1463040" cy="586740"/>
            </a:xfrm>
            <a:prstGeom prst="rect">
              <a:avLst/>
            </a:prstGeom>
          </p:spPr>
          <p:txBody>
            <a:bodyPr anchor="ctr" rtlCol="false" tIns="0" lIns="0" bIns="0" rIns="0"/>
            <a:lstStyle/>
            <a:p>
              <a:pPr algn="r">
                <a:lnSpc>
                  <a:spcPts val="1709"/>
                </a:lnSpc>
              </a:pPr>
              <a:r>
                <a:rPr lang="en-US" sz="1425">
                  <a:solidFill>
                    <a:srgbClr val="6B7280"/>
                  </a:solidFill>
                  <a:latin typeface="Calibri (MS)"/>
                  <a:ea typeface="Calibri (MS)"/>
                  <a:cs typeface="Calibri (MS)"/>
                  <a:sym typeface="Calibri (MS)"/>
                </a:rPr>
                <a:t>DICT MC 005-17</a:t>
              </a:r>
            </a:p>
          </p:txBody>
        </p:sp>
      </p:grpSp>
      <p:sp>
        <p:nvSpPr>
          <p:cNvPr name="TextBox 66" id="66"/>
          <p:cNvSpPr txBox="true"/>
          <p:nvPr/>
        </p:nvSpPr>
        <p:spPr>
          <a:xfrm rot="0">
            <a:off x="7114032" y="6447663"/>
            <a:ext cx="4261104" cy="1228725"/>
          </a:xfrm>
          <a:prstGeom prst="rect">
            <a:avLst/>
          </a:prstGeom>
        </p:spPr>
        <p:txBody>
          <a:bodyPr anchor="t" rtlCol="false" tIns="0" lIns="0" bIns="0" rIns="0">
            <a:spAutoFit/>
          </a:bodyPr>
          <a:lstStyle/>
          <a:p>
            <a:pPr algn="l">
              <a:lnSpc>
                <a:spcPts val="2525"/>
              </a:lnSpc>
            </a:pPr>
            <a:r>
              <a:rPr lang="en-US" sz="1725">
                <a:solidFill>
                  <a:srgbClr val="23262F"/>
                </a:solidFill>
                <a:latin typeface="Calibri (MS)"/>
                <a:ea typeface="Calibri (MS)"/>
                <a:cs typeface="Calibri (MS)"/>
                <a:sym typeface="Calibri (MS)"/>
              </a:rPr>
              <a:t>DICT's rules for protecting critical government and sector systems.</a:t>
            </a:r>
          </a:p>
        </p:txBody>
      </p:sp>
      <p:grpSp>
        <p:nvGrpSpPr>
          <p:cNvPr name="Group 67" id="67"/>
          <p:cNvGrpSpPr/>
          <p:nvPr/>
        </p:nvGrpSpPr>
        <p:grpSpPr>
          <a:xfrm rot="0">
            <a:off x="685800" y="9710928"/>
            <a:ext cx="10972800" cy="411480"/>
            <a:chOff x="0" y="0"/>
            <a:chExt cx="14630400" cy="548640"/>
          </a:xfrm>
        </p:grpSpPr>
        <p:sp>
          <p:nvSpPr>
            <p:cNvPr name="Freeform 68" id="68"/>
            <p:cNvSpPr/>
            <p:nvPr/>
          </p:nvSpPr>
          <p:spPr>
            <a:xfrm flipH="false" flipV="false" rot="0">
              <a:off x="0" y="0"/>
              <a:ext cx="14630400" cy="548640"/>
            </a:xfrm>
            <a:custGeom>
              <a:avLst/>
              <a:gdLst/>
              <a:ahLst/>
              <a:cxnLst/>
              <a:rect r="r" b="b" t="t" l="l"/>
              <a:pathLst>
                <a:path h="548640" w="14630400">
                  <a:moveTo>
                    <a:pt x="0" y="0"/>
                  </a:moveTo>
                  <a:lnTo>
                    <a:pt x="14630400" y="0"/>
                  </a:lnTo>
                  <a:lnTo>
                    <a:pt x="14630400" y="548640"/>
                  </a:lnTo>
                  <a:lnTo>
                    <a:pt x="0" y="548640"/>
                  </a:lnTo>
                  <a:close/>
                </a:path>
              </a:pathLst>
            </a:custGeom>
            <a:blipFill>
              <a:blip r:embed="rId3">
                <a:alphaModFix amt="0"/>
              </a:blip>
              <a:stretch>
                <a:fillRect l="0" t="-469601" r="0" b="-469601"/>
              </a:stretch>
            </a:blipFill>
          </p:spPr>
        </p:sp>
        <p:sp>
          <p:nvSpPr>
            <p:cNvPr name="TextBox 69" id="69"/>
            <p:cNvSpPr txBox="true"/>
            <p:nvPr/>
          </p:nvSpPr>
          <p:spPr>
            <a:xfrm>
              <a:off x="0" y="-38100"/>
              <a:ext cx="14630400" cy="586740"/>
            </a:xfrm>
            <a:prstGeom prst="rect">
              <a:avLst/>
            </a:prstGeom>
          </p:spPr>
          <p:txBody>
            <a:bodyPr anchor="ctr" rtlCol="false" tIns="0" lIns="0" bIns="0" rIns="0"/>
            <a:lstStyle/>
            <a:p>
              <a:pPr algn="l">
                <a:lnSpc>
                  <a:spcPts val="1800"/>
                </a:lnSpc>
              </a:pPr>
              <a:r>
                <a:rPr lang="en-US" sz="1500">
                  <a:solidFill>
                    <a:srgbClr val="6B7280"/>
                  </a:solidFill>
                  <a:latin typeface="Calibri (MS)"/>
                  <a:ea typeface="Calibri (MS)"/>
                  <a:cs typeface="Calibri (MS)"/>
                  <a:sym typeface="Calibri (MS)"/>
                </a:rPr>
                <a:t>Davao del Norte Provincial Government — Cybersecurity Seminar</a:t>
              </a:r>
            </a:p>
          </p:txBody>
        </p:sp>
      </p:grpSp>
      <p:grpSp>
        <p:nvGrpSpPr>
          <p:cNvPr name="Group 70" id="70"/>
          <p:cNvGrpSpPr/>
          <p:nvPr/>
        </p:nvGrpSpPr>
        <p:grpSpPr>
          <a:xfrm rot="0">
            <a:off x="16911828" y="9710928"/>
            <a:ext cx="685800" cy="411480"/>
            <a:chOff x="0" y="0"/>
            <a:chExt cx="914400" cy="548640"/>
          </a:xfrm>
        </p:grpSpPr>
        <p:sp>
          <p:nvSpPr>
            <p:cNvPr name="Freeform 71" id="71"/>
            <p:cNvSpPr/>
            <p:nvPr/>
          </p:nvSpPr>
          <p:spPr>
            <a:xfrm flipH="false" flipV="false" rot="0">
              <a:off x="0" y="0"/>
              <a:ext cx="914400" cy="548640"/>
            </a:xfrm>
            <a:custGeom>
              <a:avLst/>
              <a:gdLst/>
              <a:ahLst/>
              <a:cxnLst/>
              <a:rect r="r" b="b" t="t" l="l"/>
              <a:pathLst>
                <a:path h="548640" w="914400">
                  <a:moveTo>
                    <a:pt x="0" y="0"/>
                  </a:moveTo>
                  <a:lnTo>
                    <a:pt x="914400" y="0"/>
                  </a:lnTo>
                  <a:lnTo>
                    <a:pt x="914400" y="548640"/>
                  </a:lnTo>
                  <a:lnTo>
                    <a:pt x="0" y="548640"/>
                  </a:lnTo>
                  <a:close/>
                </a:path>
              </a:pathLst>
            </a:custGeom>
            <a:blipFill>
              <a:blip r:embed="rId3">
                <a:alphaModFix amt="0"/>
              </a:blip>
              <a:stretch>
                <a:fillRect l="-26982" t="0" r="-26982" b="0"/>
              </a:stretch>
            </a:blipFill>
          </p:spPr>
        </p:sp>
        <p:sp>
          <p:nvSpPr>
            <p:cNvPr name="TextBox 72" id="72"/>
            <p:cNvSpPr txBox="true"/>
            <p:nvPr/>
          </p:nvSpPr>
          <p:spPr>
            <a:xfrm>
              <a:off x="0" y="-38100"/>
              <a:ext cx="914400" cy="586740"/>
            </a:xfrm>
            <a:prstGeom prst="rect">
              <a:avLst/>
            </a:prstGeom>
          </p:spPr>
          <p:txBody>
            <a:bodyPr anchor="ctr" rtlCol="false" tIns="0" lIns="0" bIns="0" rIns="0"/>
            <a:lstStyle/>
            <a:p>
              <a:pPr algn="r">
                <a:lnSpc>
                  <a:spcPts val="1800"/>
                </a:lnSpc>
              </a:pPr>
              <a:r>
                <a:rPr lang="en-US" sz="1500">
                  <a:solidFill>
                    <a:srgbClr val="6B7280"/>
                  </a:solidFill>
                  <a:latin typeface="Calibri (MS)"/>
                  <a:ea typeface="Calibri (MS)"/>
                  <a:cs typeface="Calibri (MS)"/>
                  <a:sym typeface="Calibri (MS)"/>
                </a:rPr>
                <a:t>3</a:t>
              </a:r>
            </a:p>
          </p:txBody>
        </p:sp>
      </p:grpSp>
    </p:spTree>
  </p:cSld>
  <p:clrMapOvr>
    <a:masterClrMapping/>
  </p:clrMapOvr>
</p:sld>
</file>

<file path=ppt/slides/slide12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6172200" cy="10287000"/>
            <a:chOff x="0" y="0"/>
            <a:chExt cx="8229600" cy="13716000"/>
          </a:xfrm>
        </p:grpSpPr>
        <p:sp>
          <p:nvSpPr>
            <p:cNvPr name="Freeform 3" id="3"/>
            <p:cNvSpPr/>
            <p:nvPr/>
          </p:nvSpPr>
          <p:spPr>
            <a:xfrm flipH="false" flipV="false" rot="0">
              <a:off x="0" y="0"/>
              <a:ext cx="8229600" cy="13716000"/>
            </a:xfrm>
            <a:custGeom>
              <a:avLst/>
              <a:gdLst/>
              <a:ahLst/>
              <a:cxnLst/>
              <a:rect r="r" b="b" t="t" l="l"/>
              <a:pathLst>
                <a:path h="13716000" w="8229600">
                  <a:moveTo>
                    <a:pt x="0" y="0"/>
                  </a:moveTo>
                  <a:lnTo>
                    <a:pt x="8229600" y="0"/>
                  </a:lnTo>
                  <a:lnTo>
                    <a:pt x="8229600" y="13716000"/>
                  </a:lnTo>
                  <a:lnTo>
                    <a:pt x="0" y="13716000"/>
                  </a:lnTo>
                  <a:close/>
                </a:path>
              </a:pathLst>
            </a:custGeom>
            <a:solidFill>
              <a:srgbClr val="2E86AB"/>
            </a:solidFill>
          </p:spPr>
        </p:sp>
      </p:grpSp>
      <p:grpSp>
        <p:nvGrpSpPr>
          <p:cNvPr name="Group 4" id="4"/>
          <p:cNvGrpSpPr/>
          <p:nvPr/>
        </p:nvGrpSpPr>
        <p:grpSpPr>
          <a:xfrm rot="0">
            <a:off x="0" y="2194560"/>
            <a:ext cx="6172200" cy="2880360"/>
            <a:chOff x="0" y="0"/>
            <a:chExt cx="8229600" cy="3840480"/>
          </a:xfrm>
        </p:grpSpPr>
        <p:sp>
          <p:nvSpPr>
            <p:cNvPr name="Freeform 5" id="5"/>
            <p:cNvSpPr/>
            <p:nvPr/>
          </p:nvSpPr>
          <p:spPr>
            <a:xfrm flipH="false" flipV="false" rot="0">
              <a:off x="0" y="0"/>
              <a:ext cx="8229600" cy="3840480"/>
            </a:xfrm>
            <a:custGeom>
              <a:avLst/>
              <a:gdLst/>
              <a:ahLst/>
              <a:cxnLst/>
              <a:rect r="r" b="b" t="t" l="l"/>
              <a:pathLst>
                <a:path h="3840480" w="8229600">
                  <a:moveTo>
                    <a:pt x="0" y="0"/>
                  </a:moveTo>
                  <a:lnTo>
                    <a:pt x="8229600" y="0"/>
                  </a:lnTo>
                  <a:lnTo>
                    <a:pt x="8229600" y="3840480"/>
                  </a:lnTo>
                  <a:lnTo>
                    <a:pt x="0" y="3840480"/>
                  </a:lnTo>
                  <a:close/>
                </a:path>
              </a:pathLst>
            </a:custGeom>
            <a:blipFill>
              <a:blip r:embed="rId2">
                <a:alphaModFix amt="0"/>
              </a:blip>
              <a:stretch>
                <a:fillRect l="-9874" t="0" r="-9875" b="0"/>
              </a:stretch>
            </a:blipFill>
          </p:spPr>
        </p:sp>
        <p:sp>
          <p:nvSpPr>
            <p:cNvPr name="TextBox 6" id="6"/>
            <p:cNvSpPr txBox="true"/>
            <p:nvPr/>
          </p:nvSpPr>
          <p:spPr>
            <a:xfrm>
              <a:off x="0" y="-9525"/>
              <a:ext cx="8229600" cy="3850005"/>
            </a:xfrm>
            <a:prstGeom prst="rect">
              <a:avLst/>
            </a:prstGeom>
          </p:spPr>
          <p:txBody>
            <a:bodyPr anchor="ctr" rtlCol="false" tIns="0" lIns="0" bIns="0" rIns="0"/>
            <a:lstStyle/>
            <a:p>
              <a:pPr algn="ctr">
                <a:lnSpc>
                  <a:spcPts val="11160"/>
                </a:lnSpc>
              </a:pPr>
              <a:r>
                <a:rPr lang="en-US" sz="9300" b="true">
                  <a:solidFill>
                    <a:srgbClr val="FFFFFF"/>
                  </a:solidFill>
                  <a:latin typeface="Cambria Bold"/>
                  <a:ea typeface="Cambria Bold"/>
                  <a:cs typeface="Cambria Bold"/>
                  <a:sym typeface="Cambria Bold"/>
                </a:rPr>
                <a:t>RA</a:t>
              </a:r>
            </a:p>
            <a:p>
              <a:pPr algn="ctr">
                <a:lnSpc>
                  <a:spcPts val="11160"/>
                </a:lnSpc>
              </a:pPr>
              <a:r>
                <a:rPr lang="en-US" sz="9300" b="true">
                  <a:solidFill>
                    <a:srgbClr val="FFFFFF"/>
                  </a:solidFill>
                  <a:latin typeface="Cambria Bold"/>
                  <a:ea typeface="Cambria Bold"/>
                  <a:cs typeface="Cambria Bold"/>
                  <a:sym typeface="Cambria Bold"/>
                </a:rPr>
                <a:t>8792</a:t>
              </a:r>
            </a:p>
          </p:txBody>
        </p:sp>
      </p:grpSp>
      <p:grpSp>
        <p:nvGrpSpPr>
          <p:cNvPr name="Group 7" id="7"/>
          <p:cNvGrpSpPr/>
          <p:nvPr/>
        </p:nvGrpSpPr>
        <p:grpSpPr>
          <a:xfrm rot="0">
            <a:off x="548640" y="5349240"/>
            <a:ext cx="5074920" cy="1097280"/>
            <a:chOff x="0" y="0"/>
            <a:chExt cx="6766560" cy="1463040"/>
          </a:xfrm>
        </p:grpSpPr>
        <p:sp>
          <p:nvSpPr>
            <p:cNvPr name="Freeform 8" id="8"/>
            <p:cNvSpPr/>
            <p:nvPr/>
          </p:nvSpPr>
          <p:spPr>
            <a:xfrm flipH="false" flipV="false" rot="0">
              <a:off x="0" y="0"/>
              <a:ext cx="6766560" cy="1463040"/>
            </a:xfrm>
            <a:custGeom>
              <a:avLst/>
              <a:gdLst/>
              <a:ahLst/>
              <a:cxnLst/>
              <a:rect r="r" b="b" t="t" l="l"/>
              <a:pathLst>
                <a:path h="1463040" w="6766560">
                  <a:moveTo>
                    <a:pt x="0" y="0"/>
                  </a:moveTo>
                  <a:lnTo>
                    <a:pt x="6766560" y="0"/>
                  </a:lnTo>
                  <a:lnTo>
                    <a:pt x="6766560" y="1463040"/>
                  </a:lnTo>
                  <a:lnTo>
                    <a:pt x="0" y="1463040"/>
                  </a:lnTo>
                  <a:close/>
                </a:path>
              </a:pathLst>
            </a:custGeom>
            <a:blipFill>
              <a:blip r:embed="rId2">
                <a:alphaModFix amt="0"/>
              </a:blip>
              <a:stretch>
                <a:fillRect l="0" t="-40118" r="0" b="-40118"/>
              </a:stretch>
            </a:blipFill>
          </p:spPr>
        </p:sp>
        <p:sp>
          <p:nvSpPr>
            <p:cNvPr name="TextBox 9" id="9"/>
            <p:cNvSpPr txBox="true"/>
            <p:nvPr/>
          </p:nvSpPr>
          <p:spPr>
            <a:xfrm>
              <a:off x="0" y="-19050"/>
              <a:ext cx="6766560" cy="1482090"/>
            </a:xfrm>
            <a:prstGeom prst="rect">
              <a:avLst/>
            </a:prstGeom>
          </p:spPr>
          <p:txBody>
            <a:bodyPr anchor="ctr" rtlCol="false" tIns="0" lIns="0" bIns="0" rIns="0"/>
            <a:lstStyle/>
            <a:p>
              <a:pPr algn="ctr">
                <a:lnSpc>
                  <a:spcPts val="3779"/>
                </a:lnSpc>
              </a:pPr>
              <a:r>
                <a:rPr lang="en-US" sz="3150" b="true">
                  <a:solidFill>
                    <a:srgbClr val="FFFFFF"/>
                  </a:solidFill>
                  <a:latin typeface="Cambria Bold"/>
                  <a:ea typeface="Cambria Bold"/>
                  <a:cs typeface="Cambria Bold"/>
                  <a:sym typeface="Cambria Bold"/>
                </a:rPr>
                <a:t>Electronic Commerce Act</a:t>
              </a:r>
            </a:p>
          </p:txBody>
        </p:sp>
      </p:grpSp>
      <p:grpSp>
        <p:nvGrpSpPr>
          <p:cNvPr name="Group 10" id="10"/>
          <p:cNvGrpSpPr/>
          <p:nvPr/>
        </p:nvGrpSpPr>
        <p:grpSpPr>
          <a:xfrm rot="0">
            <a:off x="7132320" y="822960"/>
            <a:ext cx="9601200" cy="411480"/>
            <a:chOff x="0" y="0"/>
            <a:chExt cx="12801600" cy="548640"/>
          </a:xfrm>
        </p:grpSpPr>
        <p:sp>
          <p:nvSpPr>
            <p:cNvPr name="Freeform 11" id="11"/>
            <p:cNvSpPr/>
            <p:nvPr/>
          </p:nvSpPr>
          <p:spPr>
            <a:xfrm flipH="false" flipV="false" rot="0">
              <a:off x="0" y="0"/>
              <a:ext cx="12801600" cy="548640"/>
            </a:xfrm>
            <a:custGeom>
              <a:avLst/>
              <a:gdLst/>
              <a:ahLst/>
              <a:cxnLst/>
              <a:rect r="r" b="b" t="t" l="l"/>
              <a:pathLst>
                <a:path h="548640" w="12801600">
                  <a:moveTo>
                    <a:pt x="0" y="0"/>
                  </a:moveTo>
                  <a:lnTo>
                    <a:pt x="12801600" y="0"/>
                  </a:lnTo>
                  <a:lnTo>
                    <a:pt x="12801600" y="548640"/>
                  </a:lnTo>
                  <a:lnTo>
                    <a:pt x="0" y="548640"/>
                  </a:lnTo>
                  <a:close/>
                </a:path>
              </a:pathLst>
            </a:custGeom>
            <a:blipFill>
              <a:blip r:embed="rId2">
                <a:alphaModFix amt="0"/>
              </a:blip>
              <a:stretch>
                <a:fillRect l="0" t="-404650" r="0" b="-404650"/>
              </a:stretch>
            </a:blipFill>
          </p:spPr>
        </p:sp>
        <p:sp>
          <p:nvSpPr>
            <p:cNvPr name="TextBox 12" id="12"/>
            <p:cNvSpPr txBox="true"/>
            <p:nvPr/>
          </p:nvSpPr>
          <p:spPr>
            <a:xfrm>
              <a:off x="0" y="-38100"/>
              <a:ext cx="12801600" cy="586740"/>
            </a:xfrm>
            <a:prstGeom prst="rect">
              <a:avLst/>
            </a:prstGeom>
          </p:spPr>
          <p:txBody>
            <a:bodyPr anchor="ctr" rtlCol="false" tIns="0" lIns="0" bIns="0" rIns="0"/>
            <a:lstStyle/>
            <a:p>
              <a:pPr algn="l">
                <a:lnSpc>
                  <a:spcPts val="2160"/>
                </a:lnSpc>
              </a:pPr>
              <a:r>
                <a:rPr lang="en-US" b="true" sz="1800" spc="225">
                  <a:solidFill>
                    <a:srgbClr val="00B4D8"/>
                  </a:solidFill>
                  <a:latin typeface="Calibri (MS) Bold"/>
                  <a:ea typeface="Calibri (MS) Bold"/>
                  <a:cs typeface="Calibri (MS) Bold"/>
                  <a:sym typeface="Calibri (MS) Bold"/>
                </a:rPr>
                <a:t>PH LEGAL FRAMEWORK</a:t>
              </a:r>
            </a:p>
          </p:txBody>
        </p:sp>
      </p:grpSp>
      <p:sp>
        <p:nvSpPr>
          <p:cNvPr name="TextBox 13" id="13"/>
          <p:cNvSpPr txBox="true"/>
          <p:nvPr/>
        </p:nvSpPr>
        <p:spPr>
          <a:xfrm rot="0">
            <a:off x="7223760" y="1339215"/>
            <a:ext cx="10241280" cy="878205"/>
          </a:xfrm>
          <a:prstGeom prst="rect">
            <a:avLst/>
          </a:prstGeom>
        </p:spPr>
        <p:txBody>
          <a:bodyPr anchor="t" rtlCol="false" tIns="0" lIns="0" bIns="0" rIns="0">
            <a:spAutoFit/>
          </a:bodyPr>
          <a:lstStyle/>
          <a:p>
            <a:pPr algn="l">
              <a:lnSpc>
                <a:spcPts val="3960"/>
              </a:lnSpc>
            </a:pPr>
            <a:r>
              <a:rPr lang="en-US" sz="3300" b="true">
                <a:solidFill>
                  <a:srgbClr val="1E2761"/>
                </a:solidFill>
                <a:latin typeface="Cambria Bold"/>
                <a:ea typeface="Cambria Bold"/>
                <a:cs typeface="Cambria Bold"/>
                <a:sym typeface="Cambria Bold"/>
              </a:rPr>
              <a:t>The foundation of e-governance</a:t>
            </a:r>
          </a:p>
        </p:txBody>
      </p:sp>
      <p:sp>
        <p:nvSpPr>
          <p:cNvPr name="TextBox 14" id="14"/>
          <p:cNvSpPr txBox="true"/>
          <p:nvPr/>
        </p:nvSpPr>
        <p:spPr>
          <a:xfrm rot="0">
            <a:off x="7223760" y="2175510"/>
            <a:ext cx="10241280" cy="1413510"/>
          </a:xfrm>
          <a:prstGeom prst="rect">
            <a:avLst/>
          </a:prstGeom>
        </p:spPr>
        <p:txBody>
          <a:bodyPr anchor="t" rtlCol="false" tIns="0" lIns="0" bIns="0" rIns="0">
            <a:spAutoFit/>
          </a:bodyPr>
          <a:lstStyle/>
          <a:p>
            <a:pPr algn="l">
              <a:lnSpc>
                <a:spcPts val="3402"/>
              </a:lnSpc>
            </a:pPr>
            <a:r>
              <a:rPr lang="en-US" sz="2100">
                <a:solidFill>
                  <a:srgbClr val="23262F"/>
                </a:solidFill>
                <a:latin typeface="Calibri (MS)"/>
                <a:ea typeface="Calibri (MS)"/>
                <a:cs typeface="Calibri (MS)"/>
                <a:sym typeface="Calibri (MS)"/>
              </a:rPr>
              <a:t>Passed in 2000, this is the law that makes electronic transactions legally real in the Philippines — it's the reason a digital signature, an emailed approval, or an online permit application holds up.</a:t>
            </a:r>
          </a:p>
        </p:txBody>
      </p:sp>
      <p:grpSp>
        <p:nvGrpSpPr>
          <p:cNvPr name="Group 15" id="15"/>
          <p:cNvGrpSpPr/>
          <p:nvPr/>
        </p:nvGrpSpPr>
        <p:grpSpPr>
          <a:xfrm rot="0">
            <a:off x="7132320" y="3771900"/>
            <a:ext cx="10424160" cy="4251960"/>
            <a:chOff x="0" y="0"/>
            <a:chExt cx="13898880" cy="5669280"/>
          </a:xfrm>
        </p:grpSpPr>
        <p:sp>
          <p:nvSpPr>
            <p:cNvPr name="Freeform 16" id="16"/>
            <p:cNvSpPr/>
            <p:nvPr/>
          </p:nvSpPr>
          <p:spPr>
            <a:xfrm flipH="false" flipV="false" rot="0">
              <a:off x="0" y="0"/>
              <a:ext cx="13898880" cy="5669280"/>
            </a:xfrm>
            <a:custGeom>
              <a:avLst/>
              <a:gdLst/>
              <a:ahLst/>
              <a:cxnLst/>
              <a:rect r="r" b="b" t="t" l="l"/>
              <a:pathLst>
                <a:path h="5669280" w="13898880">
                  <a:moveTo>
                    <a:pt x="0" y="146304"/>
                  </a:moveTo>
                  <a:cubicBezTo>
                    <a:pt x="0" y="65532"/>
                    <a:pt x="65532" y="0"/>
                    <a:pt x="146304" y="0"/>
                  </a:cubicBezTo>
                  <a:lnTo>
                    <a:pt x="13752576" y="0"/>
                  </a:lnTo>
                  <a:cubicBezTo>
                    <a:pt x="13833348" y="0"/>
                    <a:pt x="13898880" y="65532"/>
                    <a:pt x="13898880" y="146304"/>
                  </a:cubicBezTo>
                  <a:lnTo>
                    <a:pt x="13898880" y="5522976"/>
                  </a:lnTo>
                  <a:cubicBezTo>
                    <a:pt x="13898880" y="5603748"/>
                    <a:pt x="13833348" y="5669280"/>
                    <a:pt x="13752576" y="5669280"/>
                  </a:cubicBezTo>
                  <a:lnTo>
                    <a:pt x="146304" y="5669280"/>
                  </a:lnTo>
                  <a:cubicBezTo>
                    <a:pt x="65532" y="5669280"/>
                    <a:pt x="0" y="5603748"/>
                    <a:pt x="0" y="5522976"/>
                  </a:cubicBezTo>
                  <a:close/>
                </a:path>
              </a:pathLst>
            </a:custGeom>
            <a:solidFill>
              <a:srgbClr val="F4F7FC"/>
            </a:solidFill>
          </p:spPr>
        </p:sp>
      </p:grpSp>
      <p:sp>
        <p:nvSpPr>
          <p:cNvPr name="TextBox 17" id="17"/>
          <p:cNvSpPr txBox="true"/>
          <p:nvPr/>
        </p:nvSpPr>
        <p:spPr>
          <a:xfrm rot="0">
            <a:off x="7662672" y="4161282"/>
            <a:ext cx="9363456" cy="3377946"/>
          </a:xfrm>
          <a:prstGeom prst="rect">
            <a:avLst/>
          </a:prstGeom>
        </p:spPr>
        <p:txBody>
          <a:bodyPr anchor="t" rtlCol="false" tIns="0" lIns="0" bIns="0" rIns="0">
            <a:spAutoFit/>
          </a:bodyPr>
          <a:lstStyle/>
          <a:p>
            <a:pPr algn="l" marL="380048" indent="-190024" lvl="1">
              <a:lnSpc>
                <a:spcPts val="3024"/>
              </a:lnSpc>
              <a:buFont typeface="Arial"/>
              <a:buChar char="•"/>
            </a:pPr>
            <a:r>
              <a:rPr lang="en-US" sz="2100">
                <a:solidFill>
                  <a:srgbClr val="23262F"/>
                </a:solidFill>
                <a:latin typeface="Calibri (MS)"/>
                <a:ea typeface="Calibri (MS)"/>
                <a:cs typeface="Calibri (MS)"/>
                <a:sym typeface="Calibri (MS)"/>
              </a:rPr>
              <a:t>Electronic documents and data messages carry the same legal effect as paper — they can't be dismissed just for being digital</a:t>
            </a:r>
          </a:p>
          <a:p>
            <a:pPr algn="l" marL="380048" indent="-190024" lvl="1">
              <a:lnSpc>
                <a:spcPts val="3024"/>
              </a:lnSpc>
              <a:buFont typeface="Arial"/>
              <a:buChar char="•"/>
            </a:pPr>
            <a:r>
              <a:rPr lang="en-US" sz="2100">
                <a:solidFill>
                  <a:srgbClr val="23262F"/>
                </a:solidFill>
                <a:latin typeface="Calibri (MS)"/>
                <a:ea typeface="Calibri (MS)"/>
                <a:cs typeface="Calibri (MS)"/>
                <a:sym typeface="Calibri (MS)"/>
              </a:rPr>
              <a:t>Electronic signatures are legally recognized as equivalent to handwritten ones</a:t>
            </a:r>
          </a:p>
          <a:p>
            <a:pPr algn="l" marL="380048" indent="-190024" lvl="1">
              <a:lnSpc>
                <a:spcPts val="3024"/>
              </a:lnSpc>
              <a:buFont typeface="Arial"/>
              <a:buChar char="•"/>
            </a:pPr>
            <a:r>
              <a:rPr lang="en-US" sz="2100">
                <a:solidFill>
                  <a:srgbClr val="23262F"/>
                </a:solidFill>
                <a:latin typeface="Calibri (MS)"/>
                <a:ea typeface="Calibri (MS)"/>
                <a:cs typeface="Calibri (MS)"/>
                <a:sym typeface="Calibri (MS)"/>
              </a:rPr>
              <a:t>Explicitly encourages government use of electronic transactions — the legal basis for accepting online applications and e-payments</a:t>
            </a:r>
          </a:p>
        </p:txBody>
      </p:sp>
      <p:grpSp>
        <p:nvGrpSpPr>
          <p:cNvPr name="Group 18" id="18"/>
          <p:cNvGrpSpPr/>
          <p:nvPr/>
        </p:nvGrpSpPr>
        <p:grpSpPr>
          <a:xfrm rot="0">
            <a:off x="7132320" y="9710928"/>
            <a:ext cx="8229600" cy="411480"/>
            <a:chOff x="0" y="0"/>
            <a:chExt cx="10972800" cy="548640"/>
          </a:xfrm>
        </p:grpSpPr>
        <p:sp>
          <p:nvSpPr>
            <p:cNvPr name="Freeform 19" id="19"/>
            <p:cNvSpPr/>
            <p:nvPr/>
          </p:nvSpPr>
          <p:spPr>
            <a:xfrm flipH="false" flipV="false" rot="0">
              <a:off x="0" y="0"/>
              <a:ext cx="10972800" cy="548640"/>
            </a:xfrm>
            <a:custGeom>
              <a:avLst/>
              <a:gdLst/>
              <a:ahLst/>
              <a:cxnLst/>
              <a:rect r="r" b="b" t="t" l="l"/>
              <a:pathLst>
                <a:path h="548640" w="10972800">
                  <a:moveTo>
                    <a:pt x="0" y="0"/>
                  </a:moveTo>
                  <a:lnTo>
                    <a:pt x="10972800" y="0"/>
                  </a:lnTo>
                  <a:lnTo>
                    <a:pt x="10972800" y="548640"/>
                  </a:lnTo>
                  <a:lnTo>
                    <a:pt x="0" y="548640"/>
                  </a:lnTo>
                  <a:close/>
                </a:path>
              </a:pathLst>
            </a:custGeom>
            <a:blipFill>
              <a:blip r:embed="rId2">
                <a:alphaModFix amt="0"/>
              </a:blip>
              <a:stretch>
                <a:fillRect l="0" t="-339700" r="0" b="-339700"/>
              </a:stretch>
            </a:blipFill>
          </p:spPr>
        </p:sp>
        <p:sp>
          <p:nvSpPr>
            <p:cNvPr name="TextBox 20" id="20"/>
            <p:cNvSpPr txBox="true"/>
            <p:nvPr/>
          </p:nvSpPr>
          <p:spPr>
            <a:xfrm>
              <a:off x="0" y="-38100"/>
              <a:ext cx="10972800" cy="586740"/>
            </a:xfrm>
            <a:prstGeom prst="rect">
              <a:avLst/>
            </a:prstGeom>
          </p:spPr>
          <p:txBody>
            <a:bodyPr anchor="ctr" rtlCol="false" tIns="0" lIns="0" bIns="0" rIns="0"/>
            <a:lstStyle/>
            <a:p>
              <a:pPr algn="l">
                <a:lnSpc>
                  <a:spcPts val="1800"/>
                </a:lnSpc>
              </a:pPr>
              <a:r>
                <a:rPr lang="en-US" sz="1500">
                  <a:solidFill>
                    <a:srgbClr val="6B7280"/>
                  </a:solidFill>
                  <a:latin typeface="Calibri (MS)"/>
                  <a:ea typeface="Calibri (MS)"/>
                  <a:cs typeface="Calibri (MS)"/>
                  <a:sym typeface="Calibri (MS)"/>
                </a:rPr>
                <a:t>Davao del Norte Provincial Government — Cybersecurity Seminar</a:t>
              </a:r>
            </a:p>
          </p:txBody>
        </p:sp>
      </p:grpSp>
      <p:grpSp>
        <p:nvGrpSpPr>
          <p:cNvPr name="Group 21" id="21"/>
          <p:cNvGrpSpPr/>
          <p:nvPr/>
        </p:nvGrpSpPr>
        <p:grpSpPr>
          <a:xfrm rot="0">
            <a:off x="16911828" y="9710928"/>
            <a:ext cx="685800" cy="411480"/>
            <a:chOff x="0" y="0"/>
            <a:chExt cx="914400" cy="548640"/>
          </a:xfrm>
        </p:grpSpPr>
        <p:sp>
          <p:nvSpPr>
            <p:cNvPr name="Freeform 22" id="22"/>
            <p:cNvSpPr/>
            <p:nvPr/>
          </p:nvSpPr>
          <p:spPr>
            <a:xfrm flipH="false" flipV="false" rot="0">
              <a:off x="0" y="0"/>
              <a:ext cx="914400" cy="548640"/>
            </a:xfrm>
            <a:custGeom>
              <a:avLst/>
              <a:gdLst/>
              <a:ahLst/>
              <a:cxnLst/>
              <a:rect r="r" b="b" t="t" l="l"/>
              <a:pathLst>
                <a:path h="548640" w="914400">
                  <a:moveTo>
                    <a:pt x="0" y="0"/>
                  </a:moveTo>
                  <a:lnTo>
                    <a:pt x="914400" y="0"/>
                  </a:lnTo>
                  <a:lnTo>
                    <a:pt x="914400" y="548640"/>
                  </a:lnTo>
                  <a:lnTo>
                    <a:pt x="0" y="548640"/>
                  </a:lnTo>
                  <a:close/>
                </a:path>
              </a:pathLst>
            </a:custGeom>
            <a:blipFill>
              <a:blip r:embed="rId2">
                <a:alphaModFix amt="0"/>
              </a:blip>
              <a:stretch>
                <a:fillRect l="-26982" t="0" r="-26982" b="0"/>
              </a:stretch>
            </a:blipFill>
          </p:spPr>
        </p:sp>
        <p:sp>
          <p:nvSpPr>
            <p:cNvPr name="TextBox 23" id="23"/>
            <p:cNvSpPr txBox="true"/>
            <p:nvPr/>
          </p:nvSpPr>
          <p:spPr>
            <a:xfrm>
              <a:off x="0" y="-38100"/>
              <a:ext cx="914400" cy="586740"/>
            </a:xfrm>
            <a:prstGeom prst="rect">
              <a:avLst/>
            </a:prstGeom>
          </p:spPr>
          <p:txBody>
            <a:bodyPr anchor="ctr" rtlCol="false" tIns="0" lIns="0" bIns="0" rIns="0"/>
            <a:lstStyle/>
            <a:p>
              <a:pPr algn="r">
                <a:lnSpc>
                  <a:spcPts val="1800"/>
                </a:lnSpc>
              </a:pPr>
              <a:r>
                <a:rPr lang="en-US" sz="1500">
                  <a:solidFill>
                    <a:srgbClr val="6B7280"/>
                  </a:solidFill>
                  <a:latin typeface="Calibri (MS)"/>
                  <a:ea typeface="Calibri (MS)"/>
                  <a:cs typeface="Calibri (MS)"/>
                  <a:sym typeface="Calibri (MS)"/>
                </a:rPr>
                <a:t>4</a:t>
              </a:r>
            </a:p>
          </p:txBody>
        </p:sp>
      </p:grpSp>
    </p:spTree>
  </p:cSld>
  <p:clrMapOvr>
    <a:masterClrMapping/>
  </p:clrMapOvr>
</p:sld>
</file>

<file path=ppt/slides/slide12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754380" y="685800"/>
            <a:ext cx="850392" cy="850392"/>
            <a:chOff x="0" y="0"/>
            <a:chExt cx="1133856" cy="1133856"/>
          </a:xfrm>
        </p:grpSpPr>
        <p:sp>
          <p:nvSpPr>
            <p:cNvPr name="Freeform 3" id="3"/>
            <p:cNvSpPr/>
            <p:nvPr/>
          </p:nvSpPr>
          <p:spPr>
            <a:xfrm flipH="false" flipV="false" rot="0">
              <a:off x="0" y="0"/>
              <a:ext cx="1133856" cy="1133856"/>
            </a:xfrm>
            <a:custGeom>
              <a:avLst/>
              <a:gdLst/>
              <a:ahLst/>
              <a:cxnLst/>
              <a:rect r="r" b="b" t="t" l="l"/>
              <a:pathLst>
                <a:path h="1133856" w="1133856">
                  <a:moveTo>
                    <a:pt x="0" y="566928"/>
                  </a:moveTo>
                  <a:cubicBezTo>
                    <a:pt x="0" y="253873"/>
                    <a:pt x="253873" y="0"/>
                    <a:pt x="566928" y="0"/>
                  </a:cubicBezTo>
                  <a:cubicBezTo>
                    <a:pt x="879983" y="0"/>
                    <a:pt x="1133856" y="253873"/>
                    <a:pt x="1133856" y="566928"/>
                  </a:cubicBezTo>
                  <a:cubicBezTo>
                    <a:pt x="1133856" y="879983"/>
                    <a:pt x="879983" y="1133856"/>
                    <a:pt x="566928" y="1133856"/>
                  </a:cubicBezTo>
                  <a:cubicBezTo>
                    <a:pt x="253873" y="1133856"/>
                    <a:pt x="0" y="879983"/>
                    <a:pt x="0" y="566928"/>
                  </a:cubicBezTo>
                  <a:close/>
                </a:path>
              </a:pathLst>
            </a:custGeom>
            <a:solidFill>
              <a:srgbClr val="1E2761"/>
            </a:solidFill>
          </p:spPr>
        </p:sp>
      </p:grpSp>
      <p:grpSp>
        <p:nvGrpSpPr>
          <p:cNvPr name="Group 4" id="4"/>
          <p:cNvGrpSpPr/>
          <p:nvPr/>
        </p:nvGrpSpPr>
        <p:grpSpPr>
          <a:xfrm rot="0">
            <a:off x="932688" y="864108"/>
            <a:ext cx="493776" cy="493776"/>
            <a:chOff x="0" y="0"/>
            <a:chExt cx="658368" cy="658368"/>
          </a:xfrm>
        </p:grpSpPr>
        <p:sp>
          <p:nvSpPr>
            <p:cNvPr name="Freeform 5" id="5" descr="shield.png"/>
            <p:cNvSpPr/>
            <p:nvPr/>
          </p:nvSpPr>
          <p:spPr>
            <a:xfrm flipH="false" flipV="false" rot="0">
              <a:off x="0" y="0"/>
              <a:ext cx="658368" cy="658368"/>
            </a:xfrm>
            <a:custGeom>
              <a:avLst/>
              <a:gdLst/>
              <a:ahLst/>
              <a:cxnLst/>
              <a:rect r="r" b="b" t="t" l="l"/>
              <a:pathLst>
                <a:path h="658368" w="658368">
                  <a:moveTo>
                    <a:pt x="0" y="0"/>
                  </a:moveTo>
                  <a:lnTo>
                    <a:pt x="658368" y="0"/>
                  </a:lnTo>
                  <a:lnTo>
                    <a:pt x="658368" y="658368"/>
                  </a:lnTo>
                  <a:lnTo>
                    <a:pt x="0" y="658368"/>
                  </a:lnTo>
                  <a:lnTo>
                    <a:pt x="0" y="0"/>
                  </a:lnTo>
                  <a:close/>
                </a:path>
              </a:pathLst>
            </a:custGeom>
            <a:blipFill>
              <a:blip r:embed="rId2"/>
              <a:stretch>
                <a:fillRect l="0" t="0" r="0" b="0"/>
              </a:stretch>
            </a:blipFill>
          </p:spPr>
        </p:sp>
      </p:grpSp>
      <p:grpSp>
        <p:nvGrpSpPr>
          <p:cNvPr name="Group 6" id="6"/>
          <p:cNvGrpSpPr/>
          <p:nvPr/>
        </p:nvGrpSpPr>
        <p:grpSpPr>
          <a:xfrm rot="0">
            <a:off x="1851660" y="603504"/>
            <a:ext cx="13716000" cy="466344"/>
            <a:chOff x="0" y="0"/>
            <a:chExt cx="18288000" cy="621792"/>
          </a:xfrm>
        </p:grpSpPr>
        <p:sp>
          <p:nvSpPr>
            <p:cNvPr name="Freeform 7" id="7"/>
            <p:cNvSpPr/>
            <p:nvPr/>
          </p:nvSpPr>
          <p:spPr>
            <a:xfrm flipH="false" flipV="false" rot="0">
              <a:off x="0" y="0"/>
              <a:ext cx="18288000" cy="621792"/>
            </a:xfrm>
            <a:custGeom>
              <a:avLst/>
              <a:gdLst/>
              <a:ahLst/>
              <a:cxnLst/>
              <a:rect r="r" b="b" t="t" l="l"/>
              <a:pathLst>
                <a:path h="621792" w="18288000">
                  <a:moveTo>
                    <a:pt x="0" y="0"/>
                  </a:moveTo>
                  <a:lnTo>
                    <a:pt x="18288000" y="0"/>
                  </a:lnTo>
                  <a:lnTo>
                    <a:pt x="18288000" y="621792"/>
                  </a:lnTo>
                  <a:lnTo>
                    <a:pt x="0" y="621792"/>
                  </a:lnTo>
                  <a:close/>
                </a:path>
              </a:pathLst>
            </a:custGeom>
            <a:blipFill>
              <a:blip r:embed="rId3">
                <a:alphaModFix amt="0"/>
              </a:blip>
              <a:stretch>
                <a:fillRect l="0" t="-523089" r="0" b="-523089"/>
              </a:stretch>
            </a:blipFill>
          </p:spPr>
        </p:sp>
        <p:sp>
          <p:nvSpPr>
            <p:cNvPr name="TextBox 8" id="8"/>
            <p:cNvSpPr txBox="true"/>
            <p:nvPr/>
          </p:nvSpPr>
          <p:spPr>
            <a:xfrm>
              <a:off x="0" y="-47625"/>
              <a:ext cx="18288000" cy="669417"/>
            </a:xfrm>
            <a:prstGeom prst="rect">
              <a:avLst/>
            </a:prstGeom>
          </p:spPr>
          <p:txBody>
            <a:bodyPr anchor="ctr" rtlCol="false" tIns="0" lIns="0" bIns="0" rIns="0"/>
            <a:lstStyle/>
            <a:p>
              <a:pPr algn="l">
                <a:lnSpc>
                  <a:spcPts val="2340"/>
                </a:lnSpc>
              </a:pPr>
              <a:r>
                <a:rPr lang="en-US" b="true" sz="1950" spc="150">
                  <a:solidFill>
                    <a:srgbClr val="00B4D8"/>
                  </a:solidFill>
                  <a:latin typeface="Calibri (MS) Bold"/>
                  <a:ea typeface="Calibri (MS) Bold"/>
                  <a:cs typeface="Calibri (MS) Bold"/>
                  <a:sym typeface="Calibri (MS) Bold"/>
                </a:rPr>
                <a:t>PH LEGAL FRAMEWORK · RA 10175</a:t>
              </a:r>
            </a:p>
          </p:txBody>
        </p:sp>
      </p:grpSp>
      <p:grpSp>
        <p:nvGrpSpPr>
          <p:cNvPr name="Group 9" id="9"/>
          <p:cNvGrpSpPr/>
          <p:nvPr/>
        </p:nvGrpSpPr>
        <p:grpSpPr>
          <a:xfrm rot="0">
            <a:off x="1824228" y="987552"/>
            <a:ext cx="15361920" cy="850392"/>
            <a:chOff x="0" y="0"/>
            <a:chExt cx="20482560" cy="1133856"/>
          </a:xfrm>
        </p:grpSpPr>
        <p:sp>
          <p:nvSpPr>
            <p:cNvPr name="Freeform 10" id="10"/>
            <p:cNvSpPr/>
            <p:nvPr/>
          </p:nvSpPr>
          <p:spPr>
            <a:xfrm flipH="false" flipV="false" rot="0">
              <a:off x="0" y="0"/>
              <a:ext cx="20482561" cy="1133856"/>
            </a:xfrm>
            <a:custGeom>
              <a:avLst/>
              <a:gdLst/>
              <a:ahLst/>
              <a:cxnLst/>
              <a:rect r="r" b="b" t="t" l="l"/>
              <a:pathLst>
                <a:path h="1133856" w="20482561">
                  <a:moveTo>
                    <a:pt x="0" y="0"/>
                  </a:moveTo>
                  <a:lnTo>
                    <a:pt x="20482561" y="0"/>
                  </a:lnTo>
                  <a:lnTo>
                    <a:pt x="20482561" y="1133856"/>
                  </a:lnTo>
                  <a:lnTo>
                    <a:pt x="0" y="1133856"/>
                  </a:lnTo>
                  <a:close/>
                </a:path>
              </a:pathLst>
            </a:custGeom>
            <a:blipFill>
              <a:blip r:embed="rId3">
                <a:alphaModFix amt="0"/>
              </a:blip>
              <a:stretch>
                <a:fillRect l="0" t="-301987" r="0" b="-301987"/>
              </a:stretch>
            </a:blipFill>
          </p:spPr>
        </p:sp>
        <p:sp>
          <p:nvSpPr>
            <p:cNvPr name="TextBox 11" id="11"/>
            <p:cNvSpPr txBox="true"/>
            <p:nvPr/>
          </p:nvSpPr>
          <p:spPr>
            <a:xfrm>
              <a:off x="0" y="-9525"/>
              <a:ext cx="20482560" cy="1143381"/>
            </a:xfrm>
            <a:prstGeom prst="rect">
              <a:avLst/>
            </a:prstGeom>
          </p:spPr>
          <p:txBody>
            <a:bodyPr anchor="ctr" rtlCol="false" tIns="0" lIns="0" bIns="0" rIns="0"/>
            <a:lstStyle/>
            <a:p>
              <a:pPr algn="l">
                <a:lnSpc>
                  <a:spcPts val="5040"/>
                </a:lnSpc>
              </a:pPr>
              <a:r>
                <a:rPr lang="en-US" sz="4200" b="true">
                  <a:solidFill>
                    <a:srgbClr val="1E2761"/>
                  </a:solidFill>
                  <a:latin typeface="Cambria Bold"/>
                  <a:ea typeface="Cambria Bold"/>
                  <a:cs typeface="Cambria Bold"/>
                  <a:sym typeface="Cambria Bold"/>
                </a:rPr>
                <a:t>Cybercrime Prevention Act</a:t>
              </a:r>
            </a:p>
          </p:txBody>
        </p:sp>
      </p:grpSp>
      <p:grpSp>
        <p:nvGrpSpPr>
          <p:cNvPr name="Group 12" id="12"/>
          <p:cNvGrpSpPr/>
          <p:nvPr/>
        </p:nvGrpSpPr>
        <p:grpSpPr>
          <a:xfrm rot="0">
            <a:off x="1234440" y="2674620"/>
            <a:ext cx="7338060" cy="685800"/>
            <a:chOff x="0" y="0"/>
            <a:chExt cx="9784080" cy="914400"/>
          </a:xfrm>
        </p:grpSpPr>
        <p:sp>
          <p:nvSpPr>
            <p:cNvPr name="Freeform 13" id="13"/>
            <p:cNvSpPr/>
            <p:nvPr/>
          </p:nvSpPr>
          <p:spPr>
            <a:xfrm flipH="false" flipV="false" rot="0">
              <a:off x="0" y="0"/>
              <a:ext cx="9784080" cy="914400"/>
            </a:xfrm>
            <a:custGeom>
              <a:avLst/>
              <a:gdLst/>
              <a:ahLst/>
              <a:cxnLst/>
              <a:rect r="r" b="b" t="t" l="l"/>
              <a:pathLst>
                <a:path h="914400" w="9784080">
                  <a:moveTo>
                    <a:pt x="0" y="0"/>
                  </a:moveTo>
                  <a:lnTo>
                    <a:pt x="9784080" y="0"/>
                  </a:lnTo>
                  <a:lnTo>
                    <a:pt x="9784080" y="914400"/>
                  </a:lnTo>
                  <a:lnTo>
                    <a:pt x="0" y="914400"/>
                  </a:lnTo>
                  <a:close/>
                </a:path>
              </a:pathLst>
            </a:custGeom>
            <a:blipFill>
              <a:blip r:embed="rId3">
                <a:alphaModFix amt="0"/>
              </a:blip>
              <a:stretch>
                <a:fillRect l="0" t="-158489" r="0" b="-158489"/>
              </a:stretch>
            </a:blipFill>
          </p:spPr>
        </p:sp>
        <p:sp>
          <p:nvSpPr>
            <p:cNvPr name="TextBox 14" id="14"/>
            <p:cNvSpPr txBox="true"/>
            <p:nvPr/>
          </p:nvSpPr>
          <p:spPr>
            <a:xfrm>
              <a:off x="0" y="-9525"/>
              <a:ext cx="9784080" cy="923925"/>
            </a:xfrm>
            <a:prstGeom prst="rect">
              <a:avLst/>
            </a:prstGeom>
          </p:spPr>
          <p:txBody>
            <a:bodyPr anchor="ctr" rtlCol="false" tIns="0" lIns="0" bIns="0" rIns="0"/>
            <a:lstStyle/>
            <a:p>
              <a:pPr algn="l">
                <a:lnSpc>
                  <a:spcPts val="3060"/>
                </a:lnSpc>
              </a:pPr>
              <a:r>
                <a:rPr lang="en-US" sz="2550" b="true">
                  <a:solidFill>
                    <a:srgbClr val="1E2761"/>
                  </a:solidFill>
                  <a:latin typeface="Cambria Bold"/>
                  <a:ea typeface="Cambria Bold"/>
                  <a:cs typeface="Cambria Bold"/>
                  <a:sym typeface="Cambria Bold"/>
                </a:rPr>
                <a:t>What it covers</a:t>
              </a:r>
            </a:p>
          </p:txBody>
        </p:sp>
      </p:grpSp>
      <p:grpSp>
        <p:nvGrpSpPr>
          <p:cNvPr name="Group 15" id="15"/>
          <p:cNvGrpSpPr/>
          <p:nvPr/>
        </p:nvGrpSpPr>
        <p:grpSpPr>
          <a:xfrm rot="0">
            <a:off x="1234440" y="3429000"/>
            <a:ext cx="7338060" cy="4594860"/>
            <a:chOff x="0" y="0"/>
            <a:chExt cx="9784080" cy="6126480"/>
          </a:xfrm>
        </p:grpSpPr>
        <p:sp>
          <p:nvSpPr>
            <p:cNvPr name="Freeform 16" id="16"/>
            <p:cNvSpPr/>
            <p:nvPr/>
          </p:nvSpPr>
          <p:spPr>
            <a:xfrm flipH="false" flipV="false" rot="0">
              <a:off x="0" y="0"/>
              <a:ext cx="9784080" cy="6126480"/>
            </a:xfrm>
            <a:custGeom>
              <a:avLst/>
              <a:gdLst/>
              <a:ahLst/>
              <a:cxnLst/>
              <a:rect r="r" b="b" t="t" l="l"/>
              <a:pathLst>
                <a:path h="6126480" w="9784080">
                  <a:moveTo>
                    <a:pt x="0" y="146304"/>
                  </a:moveTo>
                  <a:cubicBezTo>
                    <a:pt x="0" y="65532"/>
                    <a:pt x="65532" y="0"/>
                    <a:pt x="146304" y="0"/>
                  </a:cubicBezTo>
                  <a:lnTo>
                    <a:pt x="9637776" y="0"/>
                  </a:lnTo>
                  <a:cubicBezTo>
                    <a:pt x="9718548" y="0"/>
                    <a:pt x="9784080" y="65532"/>
                    <a:pt x="9784080" y="146304"/>
                  </a:cubicBezTo>
                  <a:lnTo>
                    <a:pt x="9784080" y="5980176"/>
                  </a:lnTo>
                  <a:cubicBezTo>
                    <a:pt x="9784080" y="6060948"/>
                    <a:pt x="9718548" y="6126480"/>
                    <a:pt x="9637776" y="6126480"/>
                  </a:cubicBezTo>
                  <a:lnTo>
                    <a:pt x="146304" y="6126480"/>
                  </a:lnTo>
                  <a:cubicBezTo>
                    <a:pt x="65532" y="6126480"/>
                    <a:pt x="0" y="6060948"/>
                    <a:pt x="0" y="5980176"/>
                  </a:cubicBezTo>
                  <a:close/>
                </a:path>
              </a:pathLst>
            </a:custGeom>
            <a:solidFill>
              <a:srgbClr val="F4F7FC"/>
            </a:solidFill>
          </p:spPr>
        </p:sp>
      </p:grpSp>
      <p:sp>
        <p:nvSpPr>
          <p:cNvPr name="TextBox 17" id="17"/>
          <p:cNvSpPr txBox="true"/>
          <p:nvPr/>
        </p:nvSpPr>
        <p:spPr>
          <a:xfrm rot="0">
            <a:off x="1764792" y="3827907"/>
            <a:ext cx="6277356" cy="3711321"/>
          </a:xfrm>
          <a:prstGeom prst="rect">
            <a:avLst/>
          </a:prstGeom>
        </p:spPr>
        <p:txBody>
          <a:bodyPr anchor="t" rtlCol="false" tIns="0" lIns="0" bIns="0" rIns="0">
            <a:spAutoFit/>
          </a:bodyPr>
          <a:lstStyle/>
          <a:p>
            <a:pPr algn="l" marL="339328" indent="-169664" lvl="1">
              <a:lnSpc>
                <a:spcPts val="2700"/>
              </a:lnSpc>
              <a:buFont typeface="Arial"/>
              <a:buChar char="•"/>
            </a:pPr>
            <a:r>
              <a:rPr lang="en-US" sz="1875">
                <a:solidFill>
                  <a:srgbClr val="23262F"/>
                </a:solidFill>
                <a:latin typeface="Calibri (MS)"/>
                <a:ea typeface="Calibri (MS)"/>
                <a:cs typeface="Calibri (MS)"/>
                <a:sym typeface="Calibri (MS)"/>
              </a:rPr>
              <a:t>Illegal access (hacking) and data/system interference</a:t>
            </a:r>
          </a:p>
          <a:p>
            <a:pPr algn="l" marL="339328" indent="-169664" lvl="1">
              <a:lnSpc>
                <a:spcPts val="2700"/>
              </a:lnSpc>
              <a:buFont typeface="Arial"/>
              <a:buChar char="•"/>
            </a:pPr>
            <a:r>
              <a:rPr lang="en-US" sz="1875">
                <a:solidFill>
                  <a:srgbClr val="23262F"/>
                </a:solidFill>
                <a:latin typeface="Calibri (MS)"/>
                <a:ea typeface="Calibri (MS)"/>
                <a:cs typeface="Calibri (MS)"/>
                <a:sym typeface="Calibri (MS)"/>
              </a:rPr>
              <a:t>Computer-related fraud, forgery, and identity theft</a:t>
            </a:r>
          </a:p>
          <a:p>
            <a:pPr algn="l" marL="339328" indent="-169664" lvl="1">
              <a:lnSpc>
                <a:spcPts val="2700"/>
              </a:lnSpc>
              <a:buFont typeface="Arial"/>
              <a:buChar char="•"/>
            </a:pPr>
            <a:r>
              <a:rPr lang="en-US" sz="1875">
                <a:solidFill>
                  <a:srgbClr val="23262F"/>
                </a:solidFill>
                <a:latin typeface="Calibri (MS)"/>
                <a:ea typeface="Calibri (MS)"/>
                <a:cs typeface="Calibri (MS)"/>
                <a:sym typeface="Calibri (MS)"/>
              </a:rPr>
              <a:t>Cyber libel — defamation committed through a computer system</a:t>
            </a:r>
          </a:p>
          <a:p>
            <a:pPr algn="l" marL="339328" indent="-169664" lvl="1">
              <a:lnSpc>
                <a:spcPts val="2700"/>
              </a:lnSpc>
              <a:buFont typeface="Arial"/>
              <a:buChar char="•"/>
            </a:pPr>
            <a:r>
              <a:rPr lang="en-US" sz="1875">
                <a:solidFill>
                  <a:srgbClr val="23262F"/>
                </a:solidFill>
                <a:latin typeface="Calibri (MS)"/>
                <a:ea typeface="Calibri (MS)"/>
                <a:cs typeface="Calibri (MS)"/>
                <a:sym typeface="Calibri (MS)"/>
              </a:rPr>
              <a:t>Cybersex and online child exploitation</a:t>
            </a:r>
          </a:p>
        </p:txBody>
      </p:sp>
      <p:grpSp>
        <p:nvGrpSpPr>
          <p:cNvPr name="Group 18" id="18"/>
          <p:cNvGrpSpPr/>
          <p:nvPr/>
        </p:nvGrpSpPr>
        <p:grpSpPr>
          <a:xfrm rot="0">
            <a:off x="9121140" y="2674620"/>
            <a:ext cx="7338060" cy="685800"/>
            <a:chOff x="0" y="0"/>
            <a:chExt cx="9784080" cy="914400"/>
          </a:xfrm>
        </p:grpSpPr>
        <p:sp>
          <p:nvSpPr>
            <p:cNvPr name="Freeform 19" id="19"/>
            <p:cNvSpPr/>
            <p:nvPr/>
          </p:nvSpPr>
          <p:spPr>
            <a:xfrm flipH="false" flipV="false" rot="0">
              <a:off x="0" y="0"/>
              <a:ext cx="9784080" cy="914400"/>
            </a:xfrm>
            <a:custGeom>
              <a:avLst/>
              <a:gdLst/>
              <a:ahLst/>
              <a:cxnLst/>
              <a:rect r="r" b="b" t="t" l="l"/>
              <a:pathLst>
                <a:path h="914400" w="9784080">
                  <a:moveTo>
                    <a:pt x="0" y="0"/>
                  </a:moveTo>
                  <a:lnTo>
                    <a:pt x="9784080" y="0"/>
                  </a:lnTo>
                  <a:lnTo>
                    <a:pt x="9784080" y="914400"/>
                  </a:lnTo>
                  <a:lnTo>
                    <a:pt x="0" y="914400"/>
                  </a:lnTo>
                  <a:close/>
                </a:path>
              </a:pathLst>
            </a:custGeom>
            <a:blipFill>
              <a:blip r:embed="rId3">
                <a:alphaModFix amt="0"/>
              </a:blip>
              <a:stretch>
                <a:fillRect l="0" t="-158489" r="0" b="-158489"/>
              </a:stretch>
            </a:blipFill>
          </p:spPr>
        </p:sp>
        <p:sp>
          <p:nvSpPr>
            <p:cNvPr name="TextBox 20" id="20"/>
            <p:cNvSpPr txBox="true"/>
            <p:nvPr/>
          </p:nvSpPr>
          <p:spPr>
            <a:xfrm>
              <a:off x="0" y="-9525"/>
              <a:ext cx="9784080" cy="923925"/>
            </a:xfrm>
            <a:prstGeom prst="rect">
              <a:avLst/>
            </a:prstGeom>
          </p:spPr>
          <p:txBody>
            <a:bodyPr anchor="ctr" rtlCol="false" tIns="0" lIns="0" bIns="0" rIns="0"/>
            <a:lstStyle/>
            <a:p>
              <a:pPr algn="l">
                <a:lnSpc>
                  <a:spcPts val="3060"/>
                </a:lnSpc>
              </a:pPr>
              <a:r>
                <a:rPr lang="en-US" sz="2550" b="true">
                  <a:solidFill>
                    <a:srgbClr val="1E2761"/>
                  </a:solidFill>
                  <a:latin typeface="Cambria Bold"/>
                  <a:ea typeface="Cambria Bold"/>
                  <a:cs typeface="Cambria Bold"/>
                  <a:sym typeface="Cambria Bold"/>
                </a:rPr>
                <a:t>What it costs</a:t>
              </a:r>
            </a:p>
          </p:txBody>
        </p:sp>
      </p:grpSp>
      <p:grpSp>
        <p:nvGrpSpPr>
          <p:cNvPr name="Group 21" id="21"/>
          <p:cNvGrpSpPr/>
          <p:nvPr/>
        </p:nvGrpSpPr>
        <p:grpSpPr>
          <a:xfrm rot="0">
            <a:off x="9121140" y="3429000"/>
            <a:ext cx="7338060" cy="4594860"/>
            <a:chOff x="0" y="0"/>
            <a:chExt cx="9784080" cy="6126480"/>
          </a:xfrm>
        </p:grpSpPr>
        <p:sp>
          <p:nvSpPr>
            <p:cNvPr name="Freeform 22" id="22"/>
            <p:cNvSpPr/>
            <p:nvPr/>
          </p:nvSpPr>
          <p:spPr>
            <a:xfrm flipH="false" flipV="false" rot="0">
              <a:off x="0" y="0"/>
              <a:ext cx="9784080" cy="6126480"/>
            </a:xfrm>
            <a:custGeom>
              <a:avLst/>
              <a:gdLst/>
              <a:ahLst/>
              <a:cxnLst/>
              <a:rect r="r" b="b" t="t" l="l"/>
              <a:pathLst>
                <a:path h="6126480" w="9784080">
                  <a:moveTo>
                    <a:pt x="0" y="146304"/>
                  </a:moveTo>
                  <a:cubicBezTo>
                    <a:pt x="0" y="65532"/>
                    <a:pt x="65532" y="0"/>
                    <a:pt x="146304" y="0"/>
                  </a:cubicBezTo>
                  <a:lnTo>
                    <a:pt x="9637776" y="0"/>
                  </a:lnTo>
                  <a:cubicBezTo>
                    <a:pt x="9718548" y="0"/>
                    <a:pt x="9784080" y="65532"/>
                    <a:pt x="9784080" y="146304"/>
                  </a:cubicBezTo>
                  <a:lnTo>
                    <a:pt x="9784080" y="5980176"/>
                  </a:lnTo>
                  <a:cubicBezTo>
                    <a:pt x="9784080" y="6060948"/>
                    <a:pt x="9718548" y="6126480"/>
                    <a:pt x="9637776" y="6126480"/>
                  </a:cubicBezTo>
                  <a:lnTo>
                    <a:pt x="146304" y="6126480"/>
                  </a:lnTo>
                  <a:cubicBezTo>
                    <a:pt x="65532" y="6126480"/>
                    <a:pt x="0" y="6060948"/>
                    <a:pt x="0" y="5980176"/>
                  </a:cubicBezTo>
                  <a:close/>
                </a:path>
              </a:pathLst>
            </a:custGeom>
            <a:solidFill>
              <a:srgbClr val="F4F7FC"/>
            </a:solidFill>
          </p:spPr>
        </p:sp>
      </p:grpSp>
      <p:sp>
        <p:nvSpPr>
          <p:cNvPr name="TextBox 23" id="23"/>
          <p:cNvSpPr txBox="true"/>
          <p:nvPr/>
        </p:nvSpPr>
        <p:spPr>
          <a:xfrm rot="0">
            <a:off x="9651492" y="3827907"/>
            <a:ext cx="6277356" cy="3711321"/>
          </a:xfrm>
          <a:prstGeom prst="rect">
            <a:avLst/>
          </a:prstGeom>
        </p:spPr>
        <p:txBody>
          <a:bodyPr anchor="t" rtlCol="false" tIns="0" lIns="0" bIns="0" rIns="0">
            <a:spAutoFit/>
          </a:bodyPr>
          <a:lstStyle/>
          <a:p>
            <a:pPr algn="l" marL="339328" indent="-169664" lvl="1">
              <a:lnSpc>
                <a:spcPts val="2700"/>
              </a:lnSpc>
              <a:buFont typeface="Arial"/>
              <a:buChar char="•"/>
            </a:pPr>
            <a:r>
              <a:rPr lang="en-US" sz="1875">
                <a:solidFill>
                  <a:srgbClr val="23262F"/>
                </a:solidFill>
                <a:latin typeface="Calibri (MS)"/>
                <a:ea typeface="Calibri (MS)"/>
                <a:cs typeface="Calibri (MS)"/>
                <a:sym typeface="Calibri (MS)"/>
              </a:rPr>
              <a:t>Illegal access: prisión mayor (~6–12 yrs) and/or a fine from ₱200,000</a:t>
            </a:r>
          </a:p>
          <a:p>
            <a:pPr algn="l" marL="339328" indent="-169664" lvl="1">
              <a:lnSpc>
                <a:spcPts val="2700"/>
              </a:lnSpc>
              <a:buFont typeface="Arial"/>
              <a:buChar char="•"/>
            </a:pPr>
            <a:r>
              <a:rPr lang="en-US" sz="1875">
                <a:solidFill>
                  <a:srgbClr val="23262F"/>
                </a:solidFill>
                <a:latin typeface="Calibri (MS)"/>
                <a:ea typeface="Calibri (MS)"/>
                <a:cs typeface="Calibri (MS)"/>
                <a:sym typeface="Calibri (MS)"/>
              </a:rPr>
              <a:t>Identity theft: prisión mayor and/or a fine from ₱100,000</a:t>
            </a:r>
          </a:p>
          <a:p>
            <a:pPr algn="l" marL="339328" indent="-169664" lvl="1">
              <a:lnSpc>
                <a:spcPts val="2700"/>
              </a:lnSpc>
              <a:buFont typeface="Arial"/>
              <a:buChar char="•"/>
            </a:pPr>
            <a:r>
              <a:rPr lang="en-US" sz="1875">
                <a:solidFill>
                  <a:srgbClr val="23262F"/>
                </a:solidFill>
                <a:latin typeface="Calibri (MS)"/>
                <a:ea typeface="Calibri (MS)"/>
                <a:cs typeface="Calibri (MS)"/>
                <a:sym typeface="Calibri (MS)"/>
              </a:rPr>
              <a:t>Computer-related fraud: prisión mayor and/or a fine from ₱200,000</a:t>
            </a:r>
          </a:p>
          <a:p>
            <a:pPr algn="l" marL="339328" indent="-169664" lvl="1">
              <a:lnSpc>
                <a:spcPts val="2700"/>
              </a:lnSpc>
              <a:buFont typeface="Arial"/>
              <a:buChar char="•"/>
            </a:pPr>
            <a:r>
              <a:rPr lang="en-US" sz="1875">
                <a:solidFill>
                  <a:srgbClr val="23262F"/>
                </a:solidFill>
                <a:latin typeface="Calibri (MS)"/>
                <a:ea typeface="Calibri (MS)"/>
                <a:cs typeface="Calibri (MS)"/>
                <a:sym typeface="Calibri (MS)"/>
              </a:rPr>
              <a:t>Cyber libel: one degree heavier than ordinary libel under the Revised Penal Code</a:t>
            </a:r>
          </a:p>
        </p:txBody>
      </p:sp>
      <p:grpSp>
        <p:nvGrpSpPr>
          <p:cNvPr name="Group 24" id="24"/>
          <p:cNvGrpSpPr/>
          <p:nvPr/>
        </p:nvGrpSpPr>
        <p:grpSpPr>
          <a:xfrm rot="0">
            <a:off x="685800" y="9710928"/>
            <a:ext cx="10972800" cy="411480"/>
            <a:chOff x="0" y="0"/>
            <a:chExt cx="14630400" cy="548640"/>
          </a:xfrm>
        </p:grpSpPr>
        <p:sp>
          <p:nvSpPr>
            <p:cNvPr name="Freeform 25" id="25"/>
            <p:cNvSpPr/>
            <p:nvPr/>
          </p:nvSpPr>
          <p:spPr>
            <a:xfrm flipH="false" flipV="false" rot="0">
              <a:off x="0" y="0"/>
              <a:ext cx="14630400" cy="548640"/>
            </a:xfrm>
            <a:custGeom>
              <a:avLst/>
              <a:gdLst/>
              <a:ahLst/>
              <a:cxnLst/>
              <a:rect r="r" b="b" t="t" l="l"/>
              <a:pathLst>
                <a:path h="548640" w="14630400">
                  <a:moveTo>
                    <a:pt x="0" y="0"/>
                  </a:moveTo>
                  <a:lnTo>
                    <a:pt x="14630400" y="0"/>
                  </a:lnTo>
                  <a:lnTo>
                    <a:pt x="14630400" y="548640"/>
                  </a:lnTo>
                  <a:lnTo>
                    <a:pt x="0" y="548640"/>
                  </a:lnTo>
                  <a:close/>
                </a:path>
              </a:pathLst>
            </a:custGeom>
            <a:blipFill>
              <a:blip r:embed="rId3">
                <a:alphaModFix amt="0"/>
              </a:blip>
              <a:stretch>
                <a:fillRect l="0" t="-469601" r="0" b="-469601"/>
              </a:stretch>
            </a:blipFill>
          </p:spPr>
        </p:sp>
        <p:sp>
          <p:nvSpPr>
            <p:cNvPr name="TextBox 26" id="26"/>
            <p:cNvSpPr txBox="true"/>
            <p:nvPr/>
          </p:nvSpPr>
          <p:spPr>
            <a:xfrm>
              <a:off x="0" y="-38100"/>
              <a:ext cx="14630400" cy="586740"/>
            </a:xfrm>
            <a:prstGeom prst="rect">
              <a:avLst/>
            </a:prstGeom>
          </p:spPr>
          <p:txBody>
            <a:bodyPr anchor="ctr" rtlCol="false" tIns="0" lIns="0" bIns="0" rIns="0"/>
            <a:lstStyle/>
            <a:p>
              <a:pPr algn="l">
                <a:lnSpc>
                  <a:spcPts val="1800"/>
                </a:lnSpc>
              </a:pPr>
              <a:r>
                <a:rPr lang="en-US" sz="1500">
                  <a:solidFill>
                    <a:srgbClr val="6B7280"/>
                  </a:solidFill>
                  <a:latin typeface="Calibri (MS)"/>
                  <a:ea typeface="Calibri (MS)"/>
                  <a:cs typeface="Calibri (MS)"/>
                  <a:sym typeface="Calibri (MS)"/>
                </a:rPr>
                <a:t>Davao del Norte Provincial Government — Cybersecurity Seminar</a:t>
              </a:r>
            </a:p>
          </p:txBody>
        </p:sp>
      </p:grpSp>
      <p:grpSp>
        <p:nvGrpSpPr>
          <p:cNvPr name="Group 27" id="27"/>
          <p:cNvGrpSpPr/>
          <p:nvPr/>
        </p:nvGrpSpPr>
        <p:grpSpPr>
          <a:xfrm rot="0">
            <a:off x="16911828" y="9710928"/>
            <a:ext cx="685800" cy="411480"/>
            <a:chOff x="0" y="0"/>
            <a:chExt cx="914400" cy="548640"/>
          </a:xfrm>
        </p:grpSpPr>
        <p:sp>
          <p:nvSpPr>
            <p:cNvPr name="Freeform 28" id="28"/>
            <p:cNvSpPr/>
            <p:nvPr/>
          </p:nvSpPr>
          <p:spPr>
            <a:xfrm flipH="false" flipV="false" rot="0">
              <a:off x="0" y="0"/>
              <a:ext cx="914400" cy="548640"/>
            </a:xfrm>
            <a:custGeom>
              <a:avLst/>
              <a:gdLst/>
              <a:ahLst/>
              <a:cxnLst/>
              <a:rect r="r" b="b" t="t" l="l"/>
              <a:pathLst>
                <a:path h="548640" w="914400">
                  <a:moveTo>
                    <a:pt x="0" y="0"/>
                  </a:moveTo>
                  <a:lnTo>
                    <a:pt x="914400" y="0"/>
                  </a:lnTo>
                  <a:lnTo>
                    <a:pt x="914400" y="548640"/>
                  </a:lnTo>
                  <a:lnTo>
                    <a:pt x="0" y="548640"/>
                  </a:lnTo>
                  <a:close/>
                </a:path>
              </a:pathLst>
            </a:custGeom>
            <a:blipFill>
              <a:blip r:embed="rId3">
                <a:alphaModFix amt="0"/>
              </a:blip>
              <a:stretch>
                <a:fillRect l="-26982" t="0" r="-26982" b="0"/>
              </a:stretch>
            </a:blipFill>
          </p:spPr>
        </p:sp>
        <p:sp>
          <p:nvSpPr>
            <p:cNvPr name="TextBox 29" id="29"/>
            <p:cNvSpPr txBox="true"/>
            <p:nvPr/>
          </p:nvSpPr>
          <p:spPr>
            <a:xfrm>
              <a:off x="0" y="-38100"/>
              <a:ext cx="914400" cy="586740"/>
            </a:xfrm>
            <a:prstGeom prst="rect">
              <a:avLst/>
            </a:prstGeom>
          </p:spPr>
          <p:txBody>
            <a:bodyPr anchor="ctr" rtlCol="false" tIns="0" lIns="0" bIns="0" rIns="0"/>
            <a:lstStyle/>
            <a:p>
              <a:pPr algn="r">
                <a:lnSpc>
                  <a:spcPts val="1800"/>
                </a:lnSpc>
              </a:pPr>
              <a:r>
                <a:rPr lang="en-US" sz="1500">
                  <a:solidFill>
                    <a:srgbClr val="6B7280"/>
                  </a:solidFill>
                  <a:latin typeface="Calibri (MS)"/>
                  <a:ea typeface="Calibri (MS)"/>
                  <a:cs typeface="Calibri (MS)"/>
                  <a:sym typeface="Calibri (MS)"/>
                </a:rPr>
                <a:t>5</a:t>
              </a:r>
            </a:p>
          </p:txBody>
        </p:sp>
      </p:grpSp>
    </p:spTree>
  </p:cSld>
  <p:clrMapOvr>
    <a:masterClrMapping/>
  </p:clrMapOvr>
</p:sld>
</file>

<file path=ppt/slides/slide12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754380" y="685800"/>
            <a:ext cx="850392" cy="850392"/>
            <a:chOff x="0" y="0"/>
            <a:chExt cx="1133856" cy="1133856"/>
          </a:xfrm>
        </p:grpSpPr>
        <p:sp>
          <p:nvSpPr>
            <p:cNvPr name="Freeform 3" id="3"/>
            <p:cNvSpPr/>
            <p:nvPr/>
          </p:nvSpPr>
          <p:spPr>
            <a:xfrm flipH="false" flipV="false" rot="0">
              <a:off x="0" y="0"/>
              <a:ext cx="1133856" cy="1133856"/>
            </a:xfrm>
            <a:custGeom>
              <a:avLst/>
              <a:gdLst/>
              <a:ahLst/>
              <a:cxnLst/>
              <a:rect r="r" b="b" t="t" l="l"/>
              <a:pathLst>
                <a:path h="1133856" w="1133856">
                  <a:moveTo>
                    <a:pt x="0" y="566928"/>
                  </a:moveTo>
                  <a:cubicBezTo>
                    <a:pt x="0" y="253873"/>
                    <a:pt x="253873" y="0"/>
                    <a:pt x="566928" y="0"/>
                  </a:cubicBezTo>
                  <a:cubicBezTo>
                    <a:pt x="879983" y="0"/>
                    <a:pt x="1133856" y="253873"/>
                    <a:pt x="1133856" y="566928"/>
                  </a:cubicBezTo>
                  <a:cubicBezTo>
                    <a:pt x="1133856" y="879983"/>
                    <a:pt x="879983" y="1133856"/>
                    <a:pt x="566928" y="1133856"/>
                  </a:cubicBezTo>
                  <a:cubicBezTo>
                    <a:pt x="253873" y="1133856"/>
                    <a:pt x="0" y="879983"/>
                    <a:pt x="0" y="566928"/>
                  </a:cubicBezTo>
                  <a:close/>
                </a:path>
              </a:pathLst>
            </a:custGeom>
            <a:solidFill>
              <a:srgbClr val="1E2761"/>
            </a:solidFill>
          </p:spPr>
        </p:sp>
      </p:grpSp>
      <p:grpSp>
        <p:nvGrpSpPr>
          <p:cNvPr name="Group 4" id="4"/>
          <p:cNvGrpSpPr/>
          <p:nvPr/>
        </p:nvGrpSpPr>
        <p:grpSpPr>
          <a:xfrm rot="0">
            <a:off x="932688" y="864108"/>
            <a:ext cx="493776" cy="493776"/>
            <a:chOff x="0" y="0"/>
            <a:chExt cx="658368" cy="658368"/>
          </a:xfrm>
        </p:grpSpPr>
        <p:sp>
          <p:nvSpPr>
            <p:cNvPr name="Freeform 5" id="5" descr="clipboard.png"/>
            <p:cNvSpPr/>
            <p:nvPr/>
          </p:nvSpPr>
          <p:spPr>
            <a:xfrm flipH="false" flipV="false" rot="0">
              <a:off x="0" y="0"/>
              <a:ext cx="658368" cy="658368"/>
            </a:xfrm>
            <a:custGeom>
              <a:avLst/>
              <a:gdLst/>
              <a:ahLst/>
              <a:cxnLst/>
              <a:rect r="r" b="b" t="t" l="l"/>
              <a:pathLst>
                <a:path h="658368" w="658368">
                  <a:moveTo>
                    <a:pt x="0" y="0"/>
                  </a:moveTo>
                  <a:lnTo>
                    <a:pt x="658368" y="0"/>
                  </a:lnTo>
                  <a:lnTo>
                    <a:pt x="658368" y="658368"/>
                  </a:lnTo>
                  <a:lnTo>
                    <a:pt x="0" y="658368"/>
                  </a:lnTo>
                  <a:lnTo>
                    <a:pt x="0" y="0"/>
                  </a:lnTo>
                  <a:close/>
                </a:path>
              </a:pathLst>
            </a:custGeom>
            <a:blipFill>
              <a:blip r:embed="rId2"/>
              <a:stretch>
                <a:fillRect l="0" t="0" r="0" b="0"/>
              </a:stretch>
            </a:blipFill>
          </p:spPr>
        </p:sp>
      </p:grpSp>
      <p:grpSp>
        <p:nvGrpSpPr>
          <p:cNvPr name="Group 6" id="6"/>
          <p:cNvGrpSpPr/>
          <p:nvPr/>
        </p:nvGrpSpPr>
        <p:grpSpPr>
          <a:xfrm rot="0">
            <a:off x="1851660" y="603504"/>
            <a:ext cx="13716000" cy="466344"/>
            <a:chOff x="0" y="0"/>
            <a:chExt cx="18288000" cy="621792"/>
          </a:xfrm>
        </p:grpSpPr>
        <p:sp>
          <p:nvSpPr>
            <p:cNvPr name="Freeform 7" id="7"/>
            <p:cNvSpPr/>
            <p:nvPr/>
          </p:nvSpPr>
          <p:spPr>
            <a:xfrm flipH="false" flipV="false" rot="0">
              <a:off x="0" y="0"/>
              <a:ext cx="18288000" cy="621792"/>
            </a:xfrm>
            <a:custGeom>
              <a:avLst/>
              <a:gdLst/>
              <a:ahLst/>
              <a:cxnLst/>
              <a:rect r="r" b="b" t="t" l="l"/>
              <a:pathLst>
                <a:path h="621792" w="18288000">
                  <a:moveTo>
                    <a:pt x="0" y="0"/>
                  </a:moveTo>
                  <a:lnTo>
                    <a:pt x="18288000" y="0"/>
                  </a:lnTo>
                  <a:lnTo>
                    <a:pt x="18288000" y="621792"/>
                  </a:lnTo>
                  <a:lnTo>
                    <a:pt x="0" y="621792"/>
                  </a:lnTo>
                  <a:close/>
                </a:path>
              </a:pathLst>
            </a:custGeom>
            <a:blipFill>
              <a:blip r:embed="rId3">
                <a:alphaModFix amt="0"/>
              </a:blip>
              <a:stretch>
                <a:fillRect l="0" t="-523089" r="0" b="-523089"/>
              </a:stretch>
            </a:blipFill>
          </p:spPr>
        </p:sp>
        <p:sp>
          <p:nvSpPr>
            <p:cNvPr name="TextBox 8" id="8"/>
            <p:cNvSpPr txBox="true"/>
            <p:nvPr/>
          </p:nvSpPr>
          <p:spPr>
            <a:xfrm>
              <a:off x="0" y="-47625"/>
              <a:ext cx="18288000" cy="669417"/>
            </a:xfrm>
            <a:prstGeom prst="rect">
              <a:avLst/>
            </a:prstGeom>
          </p:spPr>
          <p:txBody>
            <a:bodyPr anchor="ctr" rtlCol="false" tIns="0" lIns="0" bIns="0" rIns="0"/>
            <a:lstStyle/>
            <a:p>
              <a:pPr algn="l">
                <a:lnSpc>
                  <a:spcPts val="2340"/>
                </a:lnSpc>
              </a:pPr>
              <a:r>
                <a:rPr lang="en-US" b="true" sz="1950" spc="150">
                  <a:solidFill>
                    <a:srgbClr val="00B4D8"/>
                  </a:solidFill>
                  <a:latin typeface="Calibri (MS) Bold"/>
                  <a:ea typeface="Calibri (MS) Bold"/>
                  <a:cs typeface="Calibri (MS) Bold"/>
                  <a:sym typeface="Calibri (MS) Bold"/>
                </a:rPr>
                <a:t>PH LEGAL FRAMEWORK · RA 10173</a:t>
              </a:r>
            </a:p>
          </p:txBody>
        </p:sp>
      </p:grpSp>
      <p:grpSp>
        <p:nvGrpSpPr>
          <p:cNvPr name="Group 9" id="9"/>
          <p:cNvGrpSpPr/>
          <p:nvPr/>
        </p:nvGrpSpPr>
        <p:grpSpPr>
          <a:xfrm rot="0">
            <a:off x="1824228" y="987552"/>
            <a:ext cx="15361920" cy="850392"/>
            <a:chOff x="0" y="0"/>
            <a:chExt cx="20482560" cy="1133856"/>
          </a:xfrm>
        </p:grpSpPr>
        <p:sp>
          <p:nvSpPr>
            <p:cNvPr name="Freeform 10" id="10"/>
            <p:cNvSpPr/>
            <p:nvPr/>
          </p:nvSpPr>
          <p:spPr>
            <a:xfrm flipH="false" flipV="false" rot="0">
              <a:off x="0" y="0"/>
              <a:ext cx="20482561" cy="1133856"/>
            </a:xfrm>
            <a:custGeom>
              <a:avLst/>
              <a:gdLst/>
              <a:ahLst/>
              <a:cxnLst/>
              <a:rect r="r" b="b" t="t" l="l"/>
              <a:pathLst>
                <a:path h="1133856" w="20482561">
                  <a:moveTo>
                    <a:pt x="0" y="0"/>
                  </a:moveTo>
                  <a:lnTo>
                    <a:pt x="20482561" y="0"/>
                  </a:lnTo>
                  <a:lnTo>
                    <a:pt x="20482561" y="1133856"/>
                  </a:lnTo>
                  <a:lnTo>
                    <a:pt x="0" y="1133856"/>
                  </a:lnTo>
                  <a:close/>
                </a:path>
              </a:pathLst>
            </a:custGeom>
            <a:blipFill>
              <a:blip r:embed="rId3">
                <a:alphaModFix amt="0"/>
              </a:blip>
              <a:stretch>
                <a:fillRect l="0" t="-301987" r="0" b="-301987"/>
              </a:stretch>
            </a:blipFill>
          </p:spPr>
        </p:sp>
        <p:sp>
          <p:nvSpPr>
            <p:cNvPr name="TextBox 11" id="11"/>
            <p:cNvSpPr txBox="true"/>
            <p:nvPr/>
          </p:nvSpPr>
          <p:spPr>
            <a:xfrm>
              <a:off x="0" y="-9525"/>
              <a:ext cx="20482560" cy="1143381"/>
            </a:xfrm>
            <a:prstGeom prst="rect">
              <a:avLst/>
            </a:prstGeom>
          </p:spPr>
          <p:txBody>
            <a:bodyPr anchor="ctr" rtlCol="false" tIns="0" lIns="0" bIns="0" rIns="0"/>
            <a:lstStyle/>
            <a:p>
              <a:pPr algn="l">
                <a:lnSpc>
                  <a:spcPts val="5040"/>
                </a:lnSpc>
              </a:pPr>
              <a:r>
                <a:rPr lang="en-US" sz="4200" b="true">
                  <a:solidFill>
                    <a:srgbClr val="1E2761"/>
                  </a:solidFill>
                  <a:latin typeface="Cambria Bold"/>
                  <a:ea typeface="Cambria Bold"/>
                  <a:cs typeface="Cambria Bold"/>
                  <a:sym typeface="Cambria Bold"/>
                </a:rPr>
                <a:t>Data Privacy Act</a:t>
              </a:r>
            </a:p>
          </p:txBody>
        </p:sp>
      </p:grpSp>
      <p:grpSp>
        <p:nvGrpSpPr>
          <p:cNvPr name="Group 12" id="12"/>
          <p:cNvGrpSpPr/>
          <p:nvPr/>
        </p:nvGrpSpPr>
        <p:grpSpPr>
          <a:xfrm rot="0">
            <a:off x="1234440" y="2674620"/>
            <a:ext cx="7338060" cy="685800"/>
            <a:chOff x="0" y="0"/>
            <a:chExt cx="9784080" cy="914400"/>
          </a:xfrm>
        </p:grpSpPr>
        <p:sp>
          <p:nvSpPr>
            <p:cNvPr name="Freeform 13" id="13"/>
            <p:cNvSpPr/>
            <p:nvPr/>
          </p:nvSpPr>
          <p:spPr>
            <a:xfrm flipH="false" flipV="false" rot="0">
              <a:off x="0" y="0"/>
              <a:ext cx="9784080" cy="914400"/>
            </a:xfrm>
            <a:custGeom>
              <a:avLst/>
              <a:gdLst/>
              <a:ahLst/>
              <a:cxnLst/>
              <a:rect r="r" b="b" t="t" l="l"/>
              <a:pathLst>
                <a:path h="914400" w="9784080">
                  <a:moveTo>
                    <a:pt x="0" y="0"/>
                  </a:moveTo>
                  <a:lnTo>
                    <a:pt x="9784080" y="0"/>
                  </a:lnTo>
                  <a:lnTo>
                    <a:pt x="9784080" y="914400"/>
                  </a:lnTo>
                  <a:lnTo>
                    <a:pt x="0" y="914400"/>
                  </a:lnTo>
                  <a:close/>
                </a:path>
              </a:pathLst>
            </a:custGeom>
            <a:blipFill>
              <a:blip r:embed="rId3">
                <a:alphaModFix amt="0"/>
              </a:blip>
              <a:stretch>
                <a:fillRect l="0" t="-158489" r="0" b="-158489"/>
              </a:stretch>
            </a:blipFill>
          </p:spPr>
        </p:sp>
        <p:sp>
          <p:nvSpPr>
            <p:cNvPr name="TextBox 14" id="14"/>
            <p:cNvSpPr txBox="true"/>
            <p:nvPr/>
          </p:nvSpPr>
          <p:spPr>
            <a:xfrm>
              <a:off x="0" y="-9525"/>
              <a:ext cx="9784080" cy="923925"/>
            </a:xfrm>
            <a:prstGeom prst="rect">
              <a:avLst/>
            </a:prstGeom>
          </p:spPr>
          <p:txBody>
            <a:bodyPr anchor="ctr" rtlCol="false" tIns="0" lIns="0" bIns="0" rIns="0"/>
            <a:lstStyle/>
            <a:p>
              <a:pPr algn="l">
                <a:lnSpc>
                  <a:spcPts val="3060"/>
                </a:lnSpc>
              </a:pPr>
              <a:r>
                <a:rPr lang="en-US" sz="2550" b="true">
                  <a:solidFill>
                    <a:srgbClr val="1E2761"/>
                  </a:solidFill>
                  <a:latin typeface="Cambria Bold"/>
                  <a:ea typeface="Cambria Bold"/>
                  <a:cs typeface="Cambria Bold"/>
                  <a:sym typeface="Cambria Bold"/>
                </a:rPr>
                <a:t>What it requires</a:t>
              </a:r>
            </a:p>
          </p:txBody>
        </p:sp>
      </p:grpSp>
      <p:grpSp>
        <p:nvGrpSpPr>
          <p:cNvPr name="Group 15" id="15"/>
          <p:cNvGrpSpPr/>
          <p:nvPr/>
        </p:nvGrpSpPr>
        <p:grpSpPr>
          <a:xfrm rot="0">
            <a:off x="1234440" y="3429000"/>
            <a:ext cx="7338060" cy="4594860"/>
            <a:chOff x="0" y="0"/>
            <a:chExt cx="9784080" cy="6126480"/>
          </a:xfrm>
        </p:grpSpPr>
        <p:sp>
          <p:nvSpPr>
            <p:cNvPr name="Freeform 16" id="16"/>
            <p:cNvSpPr/>
            <p:nvPr/>
          </p:nvSpPr>
          <p:spPr>
            <a:xfrm flipH="false" flipV="false" rot="0">
              <a:off x="0" y="0"/>
              <a:ext cx="9784080" cy="6126480"/>
            </a:xfrm>
            <a:custGeom>
              <a:avLst/>
              <a:gdLst/>
              <a:ahLst/>
              <a:cxnLst/>
              <a:rect r="r" b="b" t="t" l="l"/>
              <a:pathLst>
                <a:path h="6126480" w="9784080">
                  <a:moveTo>
                    <a:pt x="0" y="146304"/>
                  </a:moveTo>
                  <a:cubicBezTo>
                    <a:pt x="0" y="65532"/>
                    <a:pt x="65532" y="0"/>
                    <a:pt x="146304" y="0"/>
                  </a:cubicBezTo>
                  <a:lnTo>
                    <a:pt x="9637776" y="0"/>
                  </a:lnTo>
                  <a:cubicBezTo>
                    <a:pt x="9718548" y="0"/>
                    <a:pt x="9784080" y="65532"/>
                    <a:pt x="9784080" y="146304"/>
                  </a:cubicBezTo>
                  <a:lnTo>
                    <a:pt x="9784080" y="5980176"/>
                  </a:lnTo>
                  <a:cubicBezTo>
                    <a:pt x="9784080" y="6060948"/>
                    <a:pt x="9718548" y="6126480"/>
                    <a:pt x="9637776" y="6126480"/>
                  </a:cubicBezTo>
                  <a:lnTo>
                    <a:pt x="146304" y="6126480"/>
                  </a:lnTo>
                  <a:cubicBezTo>
                    <a:pt x="65532" y="6126480"/>
                    <a:pt x="0" y="6060948"/>
                    <a:pt x="0" y="5980176"/>
                  </a:cubicBezTo>
                  <a:close/>
                </a:path>
              </a:pathLst>
            </a:custGeom>
            <a:solidFill>
              <a:srgbClr val="F4F7FC"/>
            </a:solidFill>
          </p:spPr>
        </p:sp>
      </p:grpSp>
      <p:sp>
        <p:nvSpPr>
          <p:cNvPr name="TextBox 17" id="17"/>
          <p:cNvSpPr txBox="true"/>
          <p:nvPr/>
        </p:nvSpPr>
        <p:spPr>
          <a:xfrm rot="0">
            <a:off x="1764792" y="3827907"/>
            <a:ext cx="6277356" cy="3711321"/>
          </a:xfrm>
          <a:prstGeom prst="rect">
            <a:avLst/>
          </a:prstGeom>
        </p:spPr>
        <p:txBody>
          <a:bodyPr anchor="t" rtlCol="false" tIns="0" lIns="0" bIns="0" rIns="0">
            <a:spAutoFit/>
          </a:bodyPr>
          <a:lstStyle/>
          <a:p>
            <a:pPr algn="l" marL="339328" indent="-169664" lvl="1">
              <a:lnSpc>
                <a:spcPts val="2700"/>
              </a:lnSpc>
              <a:buFont typeface="Arial"/>
              <a:buChar char="•"/>
            </a:pPr>
            <a:r>
              <a:rPr lang="en-US" sz="1875">
                <a:solidFill>
                  <a:srgbClr val="23262F"/>
                </a:solidFill>
                <a:latin typeface="Calibri (MS)"/>
                <a:ea typeface="Calibri (MS)"/>
                <a:cs typeface="Calibri (MS)"/>
                <a:sym typeface="Calibri (MS)"/>
              </a:rPr>
              <a:t>Applies to every office — government and private — that processes personal information</a:t>
            </a:r>
          </a:p>
          <a:p>
            <a:pPr algn="l" marL="339328" indent="-169664" lvl="1">
              <a:lnSpc>
                <a:spcPts val="2700"/>
              </a:lnSpc>
              <a:buFont typeface="Arial"/>
              <a:buChar char="•"/>
            </a:pPr>
            <a:r>
              <a:rPr lang="en-US" sz="1875">
                <a:solidFill>
                  <a:srgbClr val="23262F"/>
                </a:solidFill>
                <a:latin typeface="Calibri (MS)"/>
                <a:ea typeface="Calibri (MS)"/>
                <a:cs typeface="Calibri (MS)"/>
                <a:sym typeface="Calibri (MS)"/>
              </a:rPr>
              <a:t>Sensitive Personal Information (health, IDs, etc.) gets stronger protection than ordinary PI</a:t>
            </a:r>
          </a:p>
          <a:p>
            <a:pPr algn="l" marL="339328" indent="-169664" lvl="1">
              <a:lnSpc>
                <a:spcPts val="2700"/>
              </a:lnSpc>
              <a:buFont typeface="Arial"/>
              <a:buChar char="•"/>
            </a:pPr>
            <a:r>
              <a:rPr lang="en-US" sz="1875">
                <a:solidFill>
                  <a:srgbClr val="23262F"/>
                </a:solidFill>
                <a:latin typeface="Calibri (MS)"/>
                <a:ea typeface="Calibri (MS)"/>
                <a:cs typeface="Calibri (MS)"/>
                <a:sym typeface="Calibri (MS)"/>
              </a:rPr>
              <a:t>Every office must appoint a Data Protection Officer</a:t>
            </a:r>
          </a:p>
          <a:p>
            <a:pPr algn="l" marL="339328" indent="-169664" lvl="1">
              <a:lnSpc>
                <a:spcPts val="2700"/>
              </a:lnSpc>
              <a:buFont typeface="Arial"/>
              <a:buChar char="•"/>
            </a:pPr>
            <a:r>
              <a:rPr lang="en-US" sz="1875">
                <a:solidFill>
                  <a:srgbClr val="23262F"/>
                </a:solidFill>
                <a:latin typeface="Calibri (MS)"/>
                <a:ea typeface="Calibri (MS)"/>
                <a:cs typeface="Calibri (MS)"/>
                <a:sym typeface="Calibri (MS)"/>
              </a:rPr>
              <a:t>A breach must be reported to the National Privacy Commission and affected residents within 72 hours of discovery</a:t>
            </a:r>
          </a:p>
        </p:txBody>
      </p:sp>
      <p:grpSp>
        <p:nvGrpSpPr>
          <p:cNvPr name="Group 18" id="18"/>
          <p:cNvGrpSpPr/>
          <p:nvPr/>
        </p:nvGrpSpPr>
        <p:grpSpPr>
          <a:xfrm rot="0">
            <a:off x="9121140" y="2674620"/>
            <a:ext cx="7338060" cy="685800"/>
            <a:chOff x="0" y="0"/>
            <a:chExt cx="9784080" cy="914400"/>
          </a:xfrm>
        </p:grpSpPr>
        <p:sp>
          <p:nvSpPr>
            <p:cNvPr name="Freeform 19" id="19"/>
            <p:cNvSpPr/>
            <p:nvPr/>
          </p:nvSpPr>
          <p:spPr>
            <a:xfrm flipH="false" flipV="false" rot="0">
              <a:off x="0" y="0"/>
              <a:ext cx="9784080" cy="914400"/>
            </a:xfrm>
            <a:custGeom>
              <a:avLst/>
              <a:gdLst/>
              <a:ahLst/>
              <a:cxnLst/>
              <a:rect r="r" b="b" t="t" l="l"/>
              <a:pathLst>
                <a:path h="914400" w="9784080">
                  <a:moveTo>
                    <a:pt x="0" y="0"/>
                  </a:moveTo>
                  <a:lnTo>
                    <a:pt x="9784080" y="0"/>
                  </a:lnTo>
                  <a:lnTo>
                    <a:pt x="9784080" y="914400"/>
                  </a:lnTo>
                  <a:lnTo>
                    <a:pt x="0" y="914400"/>
                  </a:lnTo>
                  <a:close/>
                </a:path>
              </a:pathLst>
            </a:custGeom>
            <a:blipFill>
              <a:blip r:embed="rId3">
                <a:alphaModFix amt="0"/>
              </a:blip>
              <a:stretch>
                <a:fillRect l="0" t="-158489" r="0" b="-158489"/>
              </a:stretch>
            </a:blipFill>
          </p:spPr>
        </p:sp>
        <p:sp>
          <p:nvSpPr>
            <p:cNvPr name="TextBox 20" id="20"/>
            <p:cNvSpPr txBox="true"/>
            <p:nvPr/>
          </p:nvSpPr>
          <p:spPr>
            <a:xfrm>
              <a:off x="0" y="-9525"/>
              <a:ext cx="9784080" cy="923925"/>
            </a:xfrm>
            <a:prstGeom prst="rect">
              <a:avLst/>
            </a:prstGeom>
          </p:spPr>
          <p:txBody>
            <a:bodyPr anchor="ctr" rtlCol="false" tIns="0" lIns="0" bIns="0" rIns="0"/>
            <a:lstStyle/>
            <a:p>
              <a:pPr algn="l">
                <a:lnSpc>
                  <a:spcPts val="3060"/>
                </a:lnSpc>
              </a:pPr>
              <a:r>
                <a:rPr lang="en-US" sz="2550" b="true">
                  <a:solidFill>
                    <a:srgbClr val="1E2761"/>
                  </a:solidFill>
                  <a:latin typeface="Cambria Bold"/>
                  <a:ea typeface="Cambria Bold"/>
                  <a:cs typeface="Cambria Bold"/>
                  <a:sym typeface="Cambria Bold"/>
                </a:rPr>
                <a:t>What it costs</a:t>
              </a:r>
            </a:p>
          </p:txBody>
        </p:sp>
      </p:grpSp>
      <p:grpSp>
        <p:nvGrpSpPr>
          <p:cNvPr name="Group 21" id="21"/>
          <p:cNvGrpSpPr/>
          <p:nvPr/>
        </p:nvGrpSpPr>
        <p:grpSpPr>
          <a:xfrm rot="0">
            <a:off x="9121140" y="3429000"/>
            <a:ext cx="7338060" cy="4594860"/>
            <a:chOff x="0" y="0"/>
            <a:chExt cx="9784080" cy="6126480"/>
          </a:xfrm>
        </p:grpSpPr>
        <p:sp>
          <p:nvSpPr>
            <p:cNvPr name="Freeform 22" id="22"/>
            <p:cNvSpPr/>
            <p:nvPr/>
          </p:nvSpPr>
          <p:spPr>
            <a:xfrm flipH="false" flipV="false" rot="0">
              <a:off x="0" y="0"/>
              <a:ext cx="9784080" cy="6126480"/>
            </a:xfrm>
            <a:custGeom>
              <a:avLst/>
              <a:gdLst/>
              <a:ahLst/>
              <a:cxnLst/>
              <a:rect r="r" b="b" t="t" l="l"/>
              <a:pathLst>
                <a:path h="6126480" w="9784080">
                  <a:moveTo>
                    <a:pt x="0" y="146304"/>
                  </a:moveTo>
                  <a:cubicBezTo>
                    <a:pt x="0" y="65532"/>
                    <a:pt x="65532" y="0"/>
                    <a:pt x="146304" y="0"/>
                  </a:cubicBezTo>
                  <a:lnTo>
                    <a:pt x="9637776" y="0"/>
                  </a:lnTo>
                  <a:cubicBezTo>
                    <a:pt x="9718548" y="0"/>
                    <a:pt x="9784080" y="65532"/>
                    <a:pt x="9784080" y="146304"/>
                  </a:cubicBezTo>
                  <a:lnTo>
                    <a:pt x="9784080" y="5980176"/>
                  </a:lnTo>
                  <a:cubicBezTo>
                    <a:pt x="9784080" y="6060948"/>
                    <a:pt x="9718548" y="6126480"/>
                    <a:pt x="9637776" y="6126480"/>
                  </a:cubicBezTo>
                  <a:lnTo>
                    <a:pt x="146304" y="6126480"/>
                  </a:lnTo>
                  <a:cubicBezTo>
                    <a:pt x="65532" y="6126480"/>
                    <a:pt x="0" y="6060948"/>
                    <a:pt x="0" y="5980176"/>
                  </a:cubicBezTo>
                  <a:close/>
                </a:path>
              </a:pathLst>
            </a:custGeom>
            <a:solidFill>
              <a:srgbClr val="F4F7FC"/>
            </a:solidFill>
          </p:spPr>
        </p:sp>
      </p:grpSp>
      <p:sp>
        <p:nvSpPr>
          <p:cNvPr name="TextBox 23" id="23"/>
          <p:cNvSpPr txBox="true"/>
          <p:nvPr/>
        </p:nvSpPr>
        <p:spPr>
          <a:xfrm rot="0">
            <a:off x="9651492" y="3827907"/>
            <a:ext cx="6277356" cy="3711321"/>
          </a:xfrm>
          <a:prstGeom prst="rect">
            <a:avLst/>
          </a:prstGeom>
        </p:spPr>
        <p:txBody>
          <a:bodyPr anchor="t" rtlCol="false" tIns="0" lIns="0" bIns="0" rIns="0">
            <a:spAutoFit/>
          </a:bodyPr>
          <a:lstStyle/>
          <a:p>
            <a:pPr algn="l" marL="339328" indent="-169664" lvl="1">
              <a:lnSpc>
                <a:spcPts val="2700"/>
              </a:lnSpc>
              <a:buFont typeface="Arial"/>
              <a:buChar char="•"/>
            </a:pPr>
            <a:r>
              <a:rPr lang="en-US" sz="1875">
                <a:solidFill>
                  <a:srgbClr val="23262F"/>
                </a:solidFill>
                <a:latin typeface="Calibri (MS)"/>
                <a:ea typeface="Calibri (MS)"/>
                <a:cs typeface="Calibri (MS)"/>
                <a:sym typeface="Calibri (MS)"/>
              </a:rPr>
              <a:t>Unauthorized processing of PI: 1–3 yrs + ₱500,000–₱2,000,000 fine</a:t>
            </a:r>
          </a:p>
          <a:p>
            <a:pPr algn="l" marL="339328" indent="-169664" lvl="1">
              <a:lnSpc>
                <a:spcPts val="2700"/>
              </a:lnSpc>
              <a:buFont typeface="Arial"/>
              <a:buChar char="•"/>
            </a:pPr>
            <a:r>
              <a:rPr lang="en-US" sz="1875">
                <a:solidFill>
                  <a:srgbClr val="23262F"/>
                </a:solidFill>
                <a:latin typeface="Calibri (MS)"/>
                <a:ea typeface="Calibri (MS)"/>
                <a:cs typeface="Calibri (MS)"/>
                <a:sym typeface="Calibri (MS)"/>
              </a:rPr>
              <a:t>Breach from negligence (SPI): 3–6 yrs + ₱500,000–₱4,000,000 fine</a:t>
            </a:r>
          </a:p>
          <a:p>
            <a:pPr algn="l" marL="339328" indent="-169664" lvl="1">
              <a:lnSpc>
                <a:spcPts val="2700"/>
              </a:lnSpc>
              <a:buFont typeface="Arial"/>
              <a:buChar char="•"/>
            </a:pPr>
            <a:r>
              <a:rPr lang="en-US" sz="1875">
                <a:solidFill>
                  <a:srgbClr val="23262F"/>
                </a:solidFill>
                <a:latin typeface="Calibri (MS)"/>
                <a:ea typeface="Calibri (MS)"/>
                <a:cs typeface="Calibri (MS)"/>
                <a:sym typeface="Calibri (MS)"/>
              </a:rPr>
              <a:t>Concealing a breach: 1.5–5 yrs + up to ₱1,000,000 fine</a:t>
            </a:r>
          </a:p>
          <a:p>
            <a:pPr algn="l" marL="339328" indent="-169664" lvl="1">
              <a:lnSpc>
                <a:spcPts val="2700"/>
              </a:lnSpc>
              <a:buFont typeface="Arial"/>
              <a:buChar char="•"/>
            </a:pPr>
            <a:r>
              <a:rPr lang="en-US" sz="1875">
                <a:solidFill>
                  <a:srgbClr val="23262F"/>
                </a:solidFill>
                <a:latin typeface="Calibri (MS)"/>
                <a:ea typeface="Calibri (MS)"/>
                <a:cs typeface="Calibri (MS)"/>
                <a:sym typeface="Calibri (MS)"/>
              </a:rPr>
              <a:t>Improper disposal of records: imprisonment + up to ₱1,000,000 fine</a:t>
            </a:r>
          </a:p>
        </p:txBody>
      </p:sp>
      <p:grpSp>
        <p:nvGrpSpPr>
          <p:cNvPr name="Group 24" id="24"/>
          <p:cNvGrpSpPr/>
          <p:nvPr/>
        </p:nvGrpSpPr>
        <p:grpSpPr>
          <a:xfrm rot="0">
            <a:off x="685800" y="9710928"/>
            <a:ext cx="10972800" cy="411480"/>
            <a:chOff x="0" y="0"/>
            <a:chExt cx="14630400" cy="548640"/>
          </a:xfrm>
        </p:grpSpPr>
        <p:sp>
          <p:nvSpPr>
            <p:cNvPr name="Freeform 25" id="25"/>
            <p:cNvSpPr/>
            <p:nvPr/>
          </p:nvSpPr>
          <p:spPr>
            <a:xfrm flipH="false" flipV="false" rot="0">
              <a:off x="0" y="0"/>
              <a:ext cx="14630400" cy="548640"/>
            </a:xfrm>
            <a:custGeom>
              <a:avLst/>
              <a:gdLst/>
              <a:ahLst/>
              <a:cxnLst/>
              <a:rect r="r" b="b" t="t" l="l"/>
              <a:pathLst>
                <a:path h="548640" w="14630400">
                  <a:moveTo>
                    <a:pt x="0" y="0"/>
                  </a:moveTo>
                  <a:lnTo>
                    <a:pt x="14630400" y="0"/>
                  </a:lnTo>
                  <a:lnTo>
                    <a:pt x="14630400" y="548640"/>
                  </a:lnTo>
                  <a:lnTo>
                    <a:pt x="0" y="548640"/>
                  </a:lnTo>
                  <a:close/>
                </a:path>
              </a:pathLst>
            </a:custGeom>
            <a:blipFill>
              <a:blip r:embed="rId3">
                <a:alphaModFix amt="0"/>
              </a:blip>
              <a:stretch>
                <a:fillRect l="0" t="-469601" r="0" b="-469601"/>
              </a:stretch>
            </a:blipFill>
          </p:spPr>
        </p:sp>
        <p:sp>
          <p:nvSpPr>
            <p:cNvPr name="TextBox 26" id="26"/>
            <p:cNvSpPr txBox="true"/>
            <p:nvPr/>
          </p:nvSpPr>
          <p:spPr>
            <a:xfrm>
              <a:off x="0" y="-38100"/>
              <a:ext cx="14630400" cy="586740"/>
            </a:xfrm>
            <a:prstGeom prst="rect">
              <a:avLst/>
            </a:prstGeom>
          </p:spPr>
          <p:txBody>
            <a:bodyPr anchor="ctr" rtlCol="false" tIns="0" lIns="0" bIns="0" rIns="0"/>
            <a:lstStyle/>
            <a:p>
              <a:pPr algn="l">
                <a:lnSpc>
                  <a:spcPts val="1800"/>
                </a:lnSpc>
              </a:pPr>
              <a:r>
                <a:rPr lang="en-US" sz="1500">
                  <a:solidFill>
                    <a:srgbClr val="6B7280"/>
                  </a:solidFill>
                  <a:latin typeface="Calibri (MS)"/>
                  <a:ea typeface="Calibri (MS)"/>
                  <a:cs typeface="Calibri (MS)"/>
                  <a:sym typeface="Calibri (MS)"/>
                </a:rPr>
                <a:t>Davao del Norte Provincial Government — Cybersecurity Seminar</a:t>
              </a:r>
            </a:p>
          </p:txBody>
        </p:sp>
      </p:grpSp>
      <p:grpSp>
        <p:nvGrpSpPr>
          <p:cNvPr name="Group 27" id="27"/>
          <p:cNvGrpSpPr/>
          <p:nvPr/>
        </p:nvGrpSpPr>
        <p:grpSpPr>
          <a:xfrm rot="0">
            <a:off x="16911828" y="9710928"/>
            <a:ext cx="685800" cy="411480"/>
            <a:chOff x="0" y="0"/>
            <a:chExt cx="914400" cy="548640"/>
          </a:xfrm>
        </p:grpSpPr>
        <p:sp>
          <p:nvSpPr>
            <p:cNvPr name="Freeform 28" id="28"/>
            <p:cNvSpPr/>
            <p:nvPr/>
          </p:nvSpPr>
          <p:spPr>
            <a:xfrm flipH="false" flipV="false" rot="0">
              <a:off x="0" y="0"/>
              <a:ext cx="914400" cy="548640"/>
            </a:xfrm>
            <a:custGeom>
              <a:avLst/>
              <a:gdLst/>
              <a:ahLst/>
              <a:cxnLst/>
              <a:rect r="r" b="b" t="t" l="l"/>
              <a:pathLst>
                <a:path h="548640" w="914400">
                  <a:moveTo>
                    <a:pt x="0" y="0"/>
                  </a:moveTo>
                  <a:lnTo>
                    <a:pt x="914400" y="0"/>
                  </a:lnTo>
                  <a:lnTo>
                    <a:pt x="914400" y="548640"/>
                  </a:lnTo>
                  <a:lnTo>
                    <a:pt x="0" y="548640"/>
                  </a:lnTo>
                  <a:close/>
                </a:path>
              </a:pathLst>
            </a:custGeom>
            <a:blipFill>
              <a:blip r:embed="rId3">
                <a:alphaModFix amt="0"/>
              </a:blip>
              <a:stretch>
                <a:fillRect l="-26982" t="0" r="-26982" b="0"/>
              </a:stretch>
            </a:blipFill>
          </p:spPr>
        </p:sp>
        <p:sp>
          <p:nvSpPr>
            <p:cNvPr name="TextBox 29" id="29"/>
            <p:cNvSpPr txBox="true"/>
            <p:nvPr/>
          </p:nvSpPr>
          <p:spPr>
            <a:xfrm>
              <a:off x="0" y="-38100"/>
              <a:ext cx="914400" cy="586740"/>
            </a:xfrm>
            <a:prstGeom prst="rect">
              <a:avLst/>
            </a:prstGeom>
          </p:spPr>
          <p:txBody>
            <a:bodyPr anchor="ctr" rtlCol="false" tIns="0" lIns="0" bIns="0" rIns="0"/>
            <a:lstStyle/>
            <a:p>
              <a:pPr algn="r">
                <a:lnSpc>
                  <a:spcPts val="1800"/>
                </a:lnSpc>
              </a:pPr>
              <a:r>
                <a:rPr lang="en-US" sz="1500">
                  <a:solidFill>
                    <a:srgbClr val="6B7280"/>
                  </a:solidFill>
                  <a:latin typeface="Calibri (MS)"/>
                  <a:ea typeface="Calibri (MS)"/>
                  <a:cs typeface="Calibri (MS)"/>
                  <a:sym typeface="Calibri (MS)"/>
                </a:rPr>
                <a:t>6</a:t>
              </a:r>
            </a:p>
          </p:txBody>
        </p:sp>
      </p:grpSp>
    </p:spTree>
  </p:cSld>
  <p:clrMapOvr>
    <a:masterClrMapping/>
  </p:clrMapOvr>
</p:sld>
</file>

<file path=ppt/slides/slide12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754380" y="685800"/>
            <a:ext cx="850392" cy="850392"/>
            <a:chOff x="0" y="0"/>
            <a:chExt cx="1133856" cy="1133856"/>
          </a:xfrm>
        </p:grpSpPr>
        <p:sp>
          <p:nvSpPr>
            <p:cNvPr name="Freeform 3" id="3"/>
            <p:cNvSpPr/>
            <p:nvPr/>
          </p:nvSpPr>
          <p:spPr>
            <a:xfrm flipH="false" flipV="false" rot="0">
              <a:off x="0" y="0"/>
              <a:ext cx="1133856" cy="1133856"/>
            </a:xfrm>
            <a:custGeom>
              <a:avLst/>
              <a:gdLst/>
              <a:ahLst/>
              <a:cxnLst/>
              <a:rect r="r" b="b" t="t" l="l"/>
              <a:pathLst>
                <a:path h="1133856" w="1133856">
                  <a:moveTo>
                    <a:pt x="0" y="566928"/>
                  </a:moveTo>
                  <a:cubicBezTo>
                    <a:pt x="0" y="253873"/>
                    <a:pt x="253873" y="0"/>
                    <a:pt x="566928" y="0"/>
                  </a:cubicBezTo>
                  <a:cubicBezTo>
                    <a:pt x="879983" y="0"/>
                    <a:pt x="1133856" y="253873"/>
                    <a:pt x="1133856" y="566928"/>
                  </a:cubicBezTo>
                  <a:cubicBezTo>
                    <a:pt x="1133856" y="879983"/>
                    <a:pt x="879983" y="1133856"/>
                    <a:pt x="566928" y="1133856"/>
                  </a:cubicBezTo>
                  <a:cubicBezTo>
                    <a:pt x="253873" y="1133856"/>
                    <a:pt x="0" y="879983"/>
                    <a:pt x="0" y="566928"/>
                  </a:cubicBezTo>
                  <a:close/>
                </a:path>
              </a:pathLst>
            </a:custGeom>
            <a:solidFill>
              <a:srgbClr val="1E2761"/>
            </a:solidFill>
          </p:spPr>
        </p:sp>
      </p:grpSp>
      <p:grpSp>
        <p:nvGrpSpPr>
          <p:cNvPr name="Group 4" id="4"/>
          <p:cNvGrpSpPr/>
          <p:nvPr/>
        </p:nvGrpSpPr>
        <p:grpSpPr>
          <a:xfrm rot="0">
            <a:off x="932688" y="864108"/>
            <a:ext cx="493776" cy="493776"/>
            <a:chOff x="0" y="0"/>
            <a:chExt cx="658368" cy="658368"/>
          </a:xfrm>
        </p:grpSpPr>
        <p:sp>
          <p:nvSpPr>
            <p:cNvPr name="Freeform 5" id="5" descr="flask.png"/>
            <p:cNvSpPr/>
            <p:nvPr/>
          </p:nvSpPr>
          <p:spPr>
            <a:xfrm flipH="false" flipV="false" rot="0">
              <a:off x="0" y="0"/>
              <a:ext cx="658368" cy="658368"/>
            </a:xfrm>
            <a:custGeom>
              <a:avLst/>
              <a:gdLst/>
              <a:ahLst/>
              <a:cxnLst/>
              <a:rect r="r" b="b" t="t" l="l"/>
              <a:pathLst>
                <a:path h="658368" w="658368">
                  <a:moveTo>
                    <a:pt x="0" y="0"/>
                  </a:moveTo>
                  <a:lnTo>
                    <a:pt x="658368" y="0"/>
                  </a:lnTo>
                  <a:lnTo>
                    <a:pt x="658368" y="658368"/>
                  </a:lnTo>
                  <a:lnTo>
                    <a:pt x="0" y="658368"/>
                  </a:lnTo>
                  <a:lnTo>
                    <a:pt x="0" y="0"/>
                  </a:lnTo>
                  <a:close/>
                </a:path>
              </a:pathLst>
            </a:custGeom>
            <a:blipFill>
              <a:blip r:embed="rId2"/>
              <a:stretch>
                <a:fillRect l="0" t="0" r="0" b="0"/>
              </a:stretch>
            </a:blipFill>
          </p:spPr>
        </p:sp>
      </p:grpSp>
      <p:grpSp>
        <p:nvGrpSpPr>
          <p:cNvPr name="Group 6" id="6"/>
          <p:cNvGrpSpPr/>
          <p:nvPr/>
        </p:nvGrpSpPr>
        <p:grpSpPr>
          <a:xfrm rot="0">
            <a:off x="1851660" y="603504"/>
            <a:ext cx="13716000" cy="466344"/>
            <a:chOff x="0" y="0"/>
            <a:chExt cx="18288000" cy="621792"/>
          </a:xfrm>
        </p:grpSpPr>
        <p:sp>
          <p:nvSpPr>
            <p:cNvPr name="Freeform 7" id="7"/>
            <p:cNvSpPr/>
            <p:nvPr/>
          </p:nvSpPr>
          <p:spPr>
            <a:xfrm flipH="false" flipV="false" rot="0">
              <a:off x="0" y="0"/>
              <a:ext cx="18288000" cy="621792"/>
            </a:xfrm>
            <a:custGeom>
              <a:avLst/>
              <a:gdLst/>
              <a:ahLst/>
              <a:cxnLst/>
              <a:rect r="r" b="b" t="t" l="l"/>
              <a:pathLst>
                <a:path h="621792" w="18288000">
                  <a:moveTo>
                    <a:pt x="0" y="0"/>
                  </a:moveTo>
                  <a:lnTo>
                    <a:pt x="18288000" y="0"/>
                  </a:lnTo>
                  <a:lnTo>
                    <a:pt x="18288000" y="621792"/>
                  </a:lnTo>
                  <a:lnTo>
                    <a:pt x="0" y="621792"/>
                  </a:lnTo>
                  <a:close/>
                </a:path>
              </a:pathLst>
            </a:custGeom>
            <a:blipFill>
              <a:blip r:embed="rId3">
                <a:alphaModFix amt="0"/>
              </a:blip>
              <a:stretch>
                <a:fillRect l="0" t="-523089" r="0" b="-523089"/>
              </a:stretch>
            </a:blipFill>
          </p:spPr>
        </p:sp>
        <p:sp>
          <p:nvSpPr>
            <p:cNvPr name="TextBox 8" id="8"/>
            <p:cNvSpPr txBox="true"/>
            <p:nvPr/>
          </p:nvSpPr>
          <p:spPr>
            <a:xfrm>
              <a:off x="0" y="-47625"/>
              <a:ext cx="18288000" cy="669417"/>
            </a:xfrm>
            <a:prstGeom prst="rect">
              <a:avLst/>
            </a:prstGeom>
          </p:spPr>
          <p:txBody>
            <a:bodyPr anchor="ctr" rtlCol="false" tIns="0" lIns="0" bIns="0" rIns="0"/>
            <a:lstStyle/>
            <a:p>
              <a:pPr algn="l">
                <a:lnSpc>
                  <a:spcPts val="2340"/>
                </a:lnSpc>
              </a:pPr>
              <a:r>
                <a:rPr lang="en-US" b="true" sz="1950" spc="150">
                  <a:solidFill>
                    <a:srgbClr val="00B4D8"/>
                  </a:solidFill>
                  <a:latin typeface="Calibri (MS) Bold"/>
                  <a:ea typeface="Calibri (MS) Bold"/>
                  <a:cs typeface="Calibri (MS) Bold"/>
                  <a:sym typeface="Calibri (MS) Bold"/>
                </a:rPr>
                <a:t>PH LEGAL FRAMEWORK · RA 10844</a:t>
              </a:r>
            </a:p>
          </p:txBody>
        </p:sp>
      </p:grpSp>
      <p:grpSp>
        <p:nvGrpSpPr>
          <p:cNvPr name="Group 9" id="9"/>
          <p:cNvGrpSpPr/>
          <p:nvPr/>
        </p:nvGrpSpPr>
        <p:grpSpPr>
          <a:xfrm rot="0">
            <a:off x="1824228" y="987552"/>
            <a:ext cx="15361920" cy="850392"/>
            <a:chOff x="0" y="0"/>
            <a:chExt cx="20482560" cy="1133856"/>
          </a:xfrm>
        </p:grpSpPr>
        <p:sp>
          <p:nvSpPr>
            <p:cNvPr name="Freeform 10" id="10"/>
            <p:cNvSpPr/>
            <p:nvPr/>
          </p:nvSpPr>
          <p:spPr>
            <a:xfrm flipH="false" flipV="false" rot="0">
              <a:off x="0" y="0"/>
              <a:ext cx="20482561" cy="1133856"/>
            </a:xfrm>
            <a:custGeom>
              <a:avLst/>
              <a:gdLst/>
              <a:ahLst/>
              <a:cxnLst/>
              <a:rect r="r" b="b" t="t" l="l"/>
              <a:pathLst>
                <a:path h="1133856" w="20482561">
                  <a:moveTo>
                    <a:pt x="0" y="0"/>
                  </a:moveTo>
                  <a:lnTo>
                    <a:pt x="20482561" y="0"/>
                  </a:lnTo>
                  <a:lnTo>
                    <a:pt x="20482561" y="1133856"/>
                  </a:lnTo>
                  <a:lnTo>
                    <a:pt x="0" y="1133856"/>
                  </a:lnTo>
                  <a:close/>
                </a:path>
              </a:pathLst>
            </a:custGeom>
            <a:blipFill>
              <a:blip r:embed="rId3">
                <a:alphaModFix amt="0"/>
              </a:blip>
              <a:stretch>
                <a:fillRect l="0" t="-301987" r="0" b="-301987"/>
              </a:stretch>
            </a:blipFill>
          </p:spPr>
        </p:sp>
        <p:sp>
          <p:nvSpPr>
            <p:cNvPr name="TextBox 11" id="11"/>
            <p:cNvSpPr txBox="true"/>
            <p:nvPr/>
          </p:nvSpPr>
          <p:spPr>
            <a:xfrm>
              <a:off x="0" y="-9525"/>
              <a:ext cx="20482560" cy="1143381"/>
            </a:xfrm>
            <a:prstGeom prst="rect">
              <a:avLst/>
            </a:prstGeom>
          </p:spPr>
          <p:txBody>
            <a:bodyPr anchor="ctr" rtlCol="false" tIns="0" lIns="0" bIns="0" rIns="0"/>
            <a:lstStyle/>
            <a:p>
              <a:pPr algn="l">
                <a:lnSpc>
                  <a:spcPts val="5040"/>
                </a:lnSpc>
              </a:pPr>
              <a:r>
                <a:rPr lang="en-US" sz="4200" b="true">
                  <a:solidFill>
                    <a:srgbClr val="1E2761"/>
                  </a:solidFill>
                  <a:latin typeface="Cambria Bold"/>
                  <a:ea typeface="Cambria Bold"/>
                  <a:cs typeface="Cambria Bold"/>
                  <a:sym typeface="Cambria Bold"/>
                </a:rPr>
                <a:t>The DICT Act &amp; National Plan</a:t>
              </a:r>
            </a:p>
          </p:txBody>
        </p:sp>
      </p:grpSp>
      <p:sp>
        <p:nvSpPr>
          <p:cNvPr name="TextBox 12" id="12"/>
          <p:cNvSpPr txBox="true"/>
          <p:nvPr/>
        </p:nvSpPr>
        <p:spPr>
          <a:xfrm rot="0">
            <a:off x="1325880" y="2057400"/>
            <a:ext cx="14767560" cy="1394460"/>
          </a:xfrm>
          <a:prstGeom prst="rect">
            <a:avLst/>
          </a:prstGeom>
        </p:spPr>
        <p:txBody>
          <a:bodyPr anchor="t" rtlCol="false" tIns="0" lIns="0" bIns="0" rIns="0">
            <a:spAutoFit/>
          </a:bodyPr>
          <a:lstStyle/>
          <a:p>
            <a:pPr algn="l">
              <a:lnSpc>
                <a:spcPts val="3393"/>
              </a:lnSpc>
            </a:pPr>
            <a:r>
              <a:rPr lang="en-US" sz="2175" i="true">
                <a:solidFill>
                  <a:srgbClr val="6B7280"/>
                </a:solidFill>
                <a:latin typeface="Calibri (MS) Italics"/>
                <a:ea typeface="Calibri (MS) Italics"/>
                <a:cs typeface="Calibri (MS) Italics"/>
                <a:sym typeface="Calibri (MS) Italics"/>
              </a:rPr>
              <a:t>RA 10844 (2015) created the Department of Information and Communications Technology — the national agency that sets ICT and cybersecurity policy for the whole country, including the circulars covered on the next slide.</a:t>
            </a:r>
          </a:p>
        </p:txBody>
      </p:sp>
      <p:grpSp>
        <p:nvGrpSpPr>
          <p:cNvPr name="Group 13" id="13"/>
          <p:cNvGrpSpPr/>
          <p:nvPr/>
        </p:nvGrpSpPr>
        <p:grpSpPr>
          <a:xfrm rot="0">
            <a:off x="1234440" y="3909060"/>
            <a:ext cx="14676120" cy="4320540"/>
            <a:chOff x="0" y="0"/>
            <a:chExt cx="19568160" cy="5760720"/>
          </a:xfrm>
        </p:grpSpPr>
        <p:sp>
          <p:nvSpPr>
            <p:cNvPr name="Freeform 14" id="14"/>
            <p:cNvSpPr/>
            <p:nvPr/>
          </p:nvSpPr>
          <p:spPr>
            <a:xfrm flipH="false" flipV="false" rot="0">
              <a:off x="0" y="0"/>
              <a:ext cx="19568161" cy="5760720"/>
            </a:xfrm>
            <a:custGeom>
              <a:avLst/>
              <a:gdLst/>
              <a:ahLst/>
              <a:cxnLst/>
              <a:rect r="r" b="b" t="t" l="l"/>
              <a:pathLst>
                <a:path h="5760720" w="19568161">
                  <a:moveTo>
                    <a:pt x="0" y="182880"/>
                  </a:moveTo>
                  <a:cubicBezTo>
                    <a:pt x="0" y="81915"/>
                    <a:pt x="81915" y="0"/>
                    <a:pt x="182880" y="0"/>
                  </a:cubicBezTo>
                  <a:lnTo>
                    <a:pt x="19385280" y="0"/>
                  </a:lnTo>
                  <a:cubicBezTo>
                    <a:pt x="19486245" y="0"/>
                    <a:pt x="19568161" y="81915"/>
                    <a:pt x="19568161" y="182880"/>
                  </a:cubicBezTo>
                  <a:lnTo>
                    <a:pt x="19568161" y="5577840"/>
                  </a:lnTo>
                  <a:cubicBezTo>
                    <a:pt x="19568161" y="5678805"/>
                    <a:pt x="19486245" y="5760720"/>
                    <a:pt x="19385280" y="5760720"/>
                  </a:cubicBezTo>
                  <a:lnTo>
                    <a:pt x="182880" y="5760720"/>
                  </a:lnTo>
                  <a:cubicBezTo>
                    <a:pt x="81915" y="5760720"/>
                    <a:pt x="0" y="5678805"/>
                    <a:pt x="0" y="5577840"/>
                  </a:cubicBezTo>
                  <a:close/>
                </a:path>
              </a:pathLst>
            </a:custGeom>
            <a:solidFill>
              <a:srgbClr val="F4F7FC"/>
            </a:solidFill>
          </p:spPr>
        </p:sp>
      </p:grpSp>
      <p:grpSp>
        <p:nvGrpSpPr>
          <p:cNvPr name="Group 15" id="15"/>
          <p:cNvGrpSpPr/>
          <p:nvPr/>
        </p:nvGrpSpPr>
        <p:grpSpPr>
          <a:xfrm rot="0">
            <a:off x="1645920" y="4224528"/>
            <a:ext cx="13030200" cy="411480"/>
            <a:chOff x="0" y="0"/>
            <a:chExt cx="17373600" cy="548640"/>
          </a:xfrm>
        </p:grpSpPr>
        <p:sp>
          <p:nvSpPr>
            <p:cNvPr name="Freeform 16" id="16"/>
            <p:cNvSpPr/>
            <p:nvPr/>
          </p:nvSpPr>
          <p:spPr>
            <a:xfrm flipH="false" flipV="false" rot="0">
              <a:off x="0" y="0"/>
              <a:ext cx="17373600" cy="548640"/>
            </a:xfrm>
            <a:custGeom>
              <a:avLst/>
              <a:gdLst/>
              <a:ahLst/>
              <a:cxnLst/>
              <a:rect r="r" b="b" t="t" l="l"/>
              <a:pathLst>
                <a:path h="548640" w="17373600">
                  <a:moveTo>
                    <a:pt x="0" y="0"/>
                  </a:moveTo>
                  <a:lnTo>
                    <a:pt x="17373600" y="0"/>
                  </a:lnTo>
                  <a:lnTo>
                    <a:pt x="17373600" y="548640"/>
                  </a:lnTo>
                  <a:lnTo>
                    <a:pt x="0" y="548640"/>
                  </a:lnTo>
                  <a:close/>
                </a:path>
              </a:pathLst>
            </a:custGeom>
            <a:blipFill>
              <a:blip r:embed="rId3">
                <a:alphaModFix amt="0"/>
              </a:blip>
              <a:stretch>
                <a:fillRect l="0" t="-567026" r="0" b="-567026"/>
              </a:stretch>
            </a:blipFill>
          </p:spPr>
        </p:sp>
        <p:sp>
          <p:nvSpPr>
            <p:cNvPr name="TextBox 17" id="17"/>
            <p:cNvSpPr txBox="true"/>
            <p:nvPr/>
          </p:nvSpPr>
          <p:spPr>
            <a:xfrm>
              <a:off x="0" y="-28575"/>
              <a:ext cx="17373600" cy="577215"/>
            </a:xfrm>
            <a:prstGeom prst="rect">
              <a:avLst/>
            </a:prstGeom>
          </p:spPr>
          <p:txBody>
            <a:bodyPr anchor="ctr" rtlCol="false" tIns="0" lIns="0" bIns="0" rIns="0"/>
            <a:lstStyle/>
            <a:p>
              <a:pPr algn="l">
                <a:lnSpc>
                  <a:spcPts val="1980"/>
                </a:lnSpc>
              </a:pPr>
              <a:r>
                <a:rPr lang="en-US" b="true" sz="1650" spc="150">
                  <a:solidFill>
                    <a:srgbClr val="6B7280"/>
                  </a:solidFill>
                  <a:latin typeface="Calibri (MS) Bold"/>
                  <a:ea typeface="Calibri (MS) Bold"/>
                  <a:cs typeface="Calibri (MS) Bold"/>
                  <a:sym typeface="Calibri (MS) Bold"/>
                </a:rPr>
                <a:t>NATIONAL CYBERSECURITY PLAN 2023–2028</a:t>
              </a:r>
            </a:p>
          </p:txBody>
        </p:sp>
      </p:grpSp>
      <p:sp>
        <p:nvSpPr>
          <p:cNvPr name="TextBox 18" id="18"/>
          <p:cNvSpPr txBox="true"/>
          <p:nvPr/>
        </p:nvSpPr>
        <p:spPr>
          <a:xfrm rot="0">
            <a:off x="1737360" y="4641342"/>
            <a:ext cx="13395960" cy="1238250"/>
          </a:xfrm>
          <a:prstGeom prst="rect">
            <a:avLst/>
          </a:prstGeom>
        </p:spPr>
        <p:txBody>
          <a:bodyPr anchor="t" rtlCol="false" tIns="0" lIns="0" bIns="0" rIns="0">
            <a:spAutoFit/>
          </a:bodyPr>
          <a:lstStyle/>
          <a:p>
            <a:pPr algn="l">
              <a:lnSpc>
                <a:spcPts val="3564"/>
              </a:lnSpc>
            </a:pPr>
            <a:r>
              <a:rPr lang="en-US" sz="2250">
                <a:solidFill>
                  <a:srgbClr val="1E2761"/>
                </a:solidFill>
                <a:latin typeface="Cambria"/>
                <a:ea typeface="Cambria"/>
                <a:cs typeface="Cambria"/>
                <a:sym typeface="Cambria"/>
              </a:rPr>
              <a:t>DICT's current national roadmap, adopted through Executive Order 58 in April 2024. It sets the country's cybersecurity priorities for the next several years — the direction your province's own planning can align with.</a:t>
            </a:r>
          </a:p>
        </p:txBody>
      </p:sp>
      <p:sp>
        <p:nvSpPr>
          <p:cNvPr name="TextBox 19" id="19"/>
          <p:cNvSpPr txBox="true"/>
          <p:nvPr/>
        </p:nvSpPr>
        <p:spPr>
          <a:xfrm rot="0">
            <a:off x="1737360" y="5907405"/>
            <a:ext cx="13395960" cy="2070735"/>
          </a:xfrm>
          <a:prstGeom prst="rect">
            <a:avLst/>
          </a:prstGeom>
        </p:spPr>
        <p:txBody>
          <a:bodyPr anchor="t" rtlCol="false" tIns="0" lIns="0" bIns="0" rIns="0">
            <a:spAutoFit/>
          </a:bodyPr>
          <a:lstStyle/>
          <a:p>
            <a:pPr algn="l">
              <a:lnSpc>
                <a:spcPts val="2970"/>
              </a:lnSpc>
            </a:pPr>
            <a:r>
              <a:rPr lang="en-US" sz="1875" i="true">
                <a:solidFill>
                  <a:srgbClr val="23262F"/>
                </a:solidFill>
                <a:latin typeface="Calibri (MS) Italics"/>
                <a:ea typeface="Calibri (MS) Italics"/>
                <a:cs typeface="Calibri (MS) Italics"/>
                <a:sym typeface="Calibri (MS) Italics"/>
              </a:rPr>
              <a:t>In broad terms, the plan focuses on strengthening national cyber governance and policy, protecting critical infrastructure, and building the country's cybersecurity workforce. (We're intentionally not quoting an exact numbered list of "pillars" here — published summaries of the plan's structure don't fully agree with each other, so verify the precise wording against DICT's own document before citing it formally.)</a:t>
            </a:r>
          </a:p>
        </p:txBody>
      </p:sp>
      <p:grpSp>
        <p:nvGrpSpPr>
          <p:cNvPr name="Group 20" id="20"/>
          <p:cNvGrpSpPr/>
          <p:nvPr/>
        </p:nvGrpSpPr>
        <p:grpSpPr>
          <a:xfrm rot="0">
            <a:off x="685800" y="9710928"/>
            <a:ext cx="10972800" cy="411480"/>
            <a:chOff x="0" y="0"/>
            <a:chExt cx="14630400" cy="548640"/>
          </a:xfrm>
        </p:grpSpPr>
        <p:sp>
          <p:nvSpPr>
            <p:cNvPr name="Freeform 21" id="21"/>
            <p:cNvSpPr/>
            <p:nvPr/>
          </p:nvSpPr>
          <p:spPr>
            <a:xfrm flipH="false" flipV="false" rot="0">
              <a:off x="0" y="0"/>
              <a:ext cx="14630400" cy="548640"/>
            </a:xfrm>
            <a:custGeom>
              <a:avLst/>
              <a:gdLst/>
              <a:ahLst/>
              <a:cxnLst/>
              <a:rect r="r" b="b" t="t" l="l"/>
              <a:pathLst>
                <a:path h="548640" w="14630400">
                  <a:moveTo>
                    <a:pt x="0" y="0"/>
                  </a:moveTo>
                  <a:lnTo>
                    <a:pt x="14630400" y="0"/>
                  </a:lnTo>
                  <a:lnTo>
                    <a:pt x="14630400" y="548640"/>
                  </a:lnTo>
                  <a:lnTo>
                    <a:pt x="0" y="548640"/>
                  </a:lnTo>
                  <a:close/>
                </a:path>
              </a:pathLst>
            </a:custGeom>
            <a:blipFill>
              <a:blip r:embed="rId3">
                <a:alphaModFix amt="0"/>
              </a:blip>
              <a:stretch>
                <a:fillRect l="0" t="-469601" r="0" b="-469601"/>
              </a:stretch>
            </a:blipFill>
          </p:spPr>
        </p:sp>
        <p:sp>
          <p:nvSpPr>
            <p:cNvPr name="TextBox 22" id="22"/>
            <p:cNvSpPr txBox="true"/>
            <p:nvPr/>
          </p:nvSpPr>
          <p:spPr>
            <a:xfrm>
              <a:off x="0" y="-38100"/>
              <a:ext cx="14630400" cy="586740"/>
            </a:xfrm>
            <a:prstGeom prst="rect">
              <a:avLst/>
            </a:prstGeom>
          </p:spPr>
          <p:txBody>
            <a:bodyPr anchor="ctr" rtlCol="false" tIns="0" lIns="0" bIns="0" rIns="0"/>
            <a:lstStyle/>
            <a:p>
              <a:pPr algn="l">
                <a:lnSpc>
                  <a:spcPts val="1800"/>
                </a:lnSpc>
              </a:pPr>
              <a:r>
                <a:rPr lang="en-US" sz="1500">
                  <a:solidFill>
                    <a:srgbClr val="6B7280"/>
                  </a:solidFill>
                  <a:latin typeface="Calibri (MS)"/>
                  <a:ea typeface="Calibri (MS)"/>
                  <a:cs typeface="Calibri (MS)"/>
                  <a:sym typeface="Calibri (MS)"/>
                </a:rPr>
                <a:t>Davao del Norte Provincial Government — Cybersecurity Seminar</a:t>
              </a:r>
            </a:p>
          </p:txBody>
        </p:sp>
      </p:grpSp>
      <p:grpSp>
        <p:nvGrpSpPr>
          <p:cNvPr name="Group 23" id="23"/>
          <p:cNvGrpSpPr/>
          <p:nvPr/>
        </p:nvGrpSpPr>
        <p:grpSpPr>
          <a:xfrm rot="0">
            <a:off x="16911828" y="9710928"/>
            <a:ext cx="685800" cy="411480"/>
            <a:chOff x="0" y="0"/>
            <a:chExt cx="914400" cy="548640"/>
          </a:xfrm>
        </p:grpSpPr>
        <p:sp>
          <p:nvSpPr>
            <p:cNvPr name="Freeform 24" id="24"/>
            <p:cNvSpPr/>
            <p:nvPr/>
          </p:nvSpPr>
          <p:spPr>
            <a:xfrm flipH="false" flipV="false" rot="0">
              <a:off x="0" y="0"/>
              <a:ext cx="914400" cy="548640"/>
            </a:xfrm>
            <a:custGeom>
              <a:avLst/>
              <a:gdLst/>
              <a:ahLst/>
              <a:cxnLst/>
              <a:rect r="r" b="b" t="t" l="l"/>
              <a:pathLst>
                <a:path h="548640" w="914400">
                  <a:moveTo>
                    <a:pt x="0" y="0"/>
                  </a:moveTo>
                  <a:lnTo>
                    <a:pt x="914400" y="0"/>
                  </a:lnTo>
                  <a:lnTo>
                    <a:pt x="914400" y="548640"/>
                  </a:lnTo>
                  <a:lnTo>
                    <a:pt x="0" y="548640"/>
                  </a:lnTo>
                  <a:close/>
                </a:path>
              </a:pathLst>
            </a:custGeom>
            <a:blipFill>
              <a:blip r:embed="rId3">
                <a:alphaModFix amt="0"/>
              </a:blip>
              <a:stretch>
                <a:fillRect l="-26982" t="0" r="-26982" b="0"/>
              </a:stretch>
            </a:blipFill>
          </p:spPr>
        </p:sp>
        <p:sp>
          <p:nvSpPr>
            <p:cNvPr name="TextBox 25" id="25"/>
            <p:cNvSpPr txBox="true"/>
            <p:nvPr/>
          </p:nvSpPr>
          <p:spPr>
            <a:xfrm>
              <a:off x="0" y="-38100"/>
              <a:ext cx="914400" cy="586740"/>
            </a:xfrm>
            <a:prstGeom prst="rect">
              <a:avLst/>
            </a:prstGeom>
          </p:spPr>
          <p:txBody>
            <a:bodyPr anchor="ctr" rtlCol="false" tIns="0" lIns="0" bIns="0" rIns="0"/>
            <a:lstStyle/>
            <a:p>
              <a:pPr algn="r">
                <a:lnSpc>
                  <a:spcPts val="1800"/>
                </a:lnSpc>
              </a:pPr>
              <a:r>
                <a:rPr lang="en-US" sz="1500">
                  <a:solidFill>
                    <a:srgbClr val="6B7280"/>
                  </a:solidFill>
                  <a:latin typeface="Calibri (MS)"/>
                  <a:ea typeface="Calibri (MS)"/>
                  <a:cs typeface="Calibri (MS)"/>
                  <a:sym typeface="Calibri (MS)"/>
                </a:rPr>
                <a:t>7</a:t>
              </a:r>
            </a:p>
          </p:txBody>
        </p:sp>
      </p:grpSp>
    </p:spTree>
  </p:cSld>
  <p:clrMapOvr>
    <a:masterClrMapping/>
  </p:clrMapOvr>
</p:sld>
</file>

<file path=ppt/slides/slide12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754380" y="685800"/>
            <a:ext cx="850392" cy="850392"/>
            <a:chOff x="0" y="0"/>
            <a:chExt cx="1133856" cy="1133856"/>
          </a:xfrm>
        </p:grpSpPr>
        <p:sp>
          <p:nvSpPr>
            <p:cNvPr name="Freeform 3" id="3"/>
            <p:cNvSpPr/>
            <p:nvPr/>
          </p:nvSpPr>
          <p:spPr>
            <a:xfrm flipH="false" flipV="false" rot="0">
              <a:off x="0" y="0"/>
              <a:ext cx="1133856" cy="1133856"/>
            </a:xfrm>
            <a:custGeom>
              <a:avLst/>
              <a:gdLst/>
              <a:ahLst/>
              <a:cxnLst/>
              <a:rect r="r" b="b" t="t" l="l"/>
              <a:pathLst>
                <a:path h="1133856" w="1133856">
                  <a:moveTo>
                    <a:pt x="0" y="566928"/>
                  </a:moveTo>
                  <a:cubicBezTo>
                    <a:pt x="0" y="253873"/>
                    <a:pt x="253873" y="0"/>
                    <a:pt x="566928" y="0"/>
                  </a:cubicBezTo>
                  <a:cubicBezTo>
                    <a:pt x="879983" y="0"/>
                    <a:pt x="1133856" y="253873"/>
                    <a:pt x="1133856" y="566928"/>
                  </a:cubicBezTo>
                  <a:cubicBezTo>
                    <a:pt x="1133856" y="879983"/>
                    <a:pt x="879983" y="1133856"/>
                    <a:pt x="566928" y="1133856"/>
                  </a:cubicBezTo>
                  <a:cubicBezTo>
                    <a:pt x="253873" y="1133856"/>
                    <a:pt x="0" y="879983"/>
                    <a:pt x="0" y="566928"/>
                  </a:cubicBezTo>
                  <a:close/>
                </a:path>
              </a:pathLst>
            </a:custGeom>
            <a:solidFill>
              <a:srgbClr val="1E2761"/>
            </a:solidFill>
          </p:spPr>
        </p:sp>
      </p:grpSp>
      <p:grpSp>
        <p:nvGrpSpPr>
          <p:cNvPr name="Group 4" id="4"/>
          <p:cNvGrpSpPr/>
          <p:nvPr/>
        </p:nvGrpSpPr>
        <p:grpSpPr>
          <a:xfrm rot="0">
            <a:off x="932688" y="864108"/>
            <a:ext cx="493776" cy="493776"/>
            <a:chOff x="0" y="0"/>
            <a:chExt cx="658368" cy="658368"/>
          </a:xfrm>
        </p:grpSpPr>
        <p:sp>
          <p:nvSpPr>
            <p:cNvPr name="Freeform 5" id="5" descr="shield.png"/>
            <p:cNvSpPr/>
            <p:nvPr/>
          </p:nvSpPr>
          <p:spPr>
            <a:xfrm flipH="false" flipV="false" rot="0">
              <a:off x="0" y="0"/>
              <a:ext cx="658368" cy="658368"/>
            </a:xfrm>
            <a:custGeom>
              <a:avLst/>
              <a:gdLst/>
              <a:ahLst/>
              <a:cxnLst/>
              <a:rect r="r" b="b" t="t" l="l"/>
              <a:pathLst>
                <a:path h="658368" w="658368">
                  <a:moveTo>
                    <a:pt x="0" y="0"/>
                  </a:moveTo>
                  <a:lnTo>
                    <a:pt x="658368" y="0"/>
                  </a:lnTo>
                  <a:lnTo>
                    <a:pt x="658368" y="658368"/>
                  </a:lnTo>
                  <a:lnTo>
                    <a:pt x="0" y="658368"/>
                  </a:lnTo>
                  <a:lnTo>
                    <a:pt x="0" y="0"/>
                  </a:lnTo>
                  <a:close/>
                </a:path>
              </a:pathLst>
            </a:custGeom>
            <a:blipFill>
              <a:blip r:embed="rId2"/>
              <a:stretch>
                <a:fillRect l="0" t="0" r="0" b="0"/>
              </a:stretch>
            </a:blipFill>
          </p:spPr>
        </p:sp>
      </p:grpSp>
      <p:grpSp>
        <p:nvGrpSpPr>
          <p:cNvPr name="Group 6" id="6"/>
          <p:cNvGrpSpPr/>
          <p:nvPr/>
        </p:nvGrpSpPr>
        <p:grpSpPr>
          <a:xfrm rot="0">
            <a:off x="1851660" y="603504"/>
            <a:ext cx="13716000" cy="466344"/>
            <a:chOff x="0" y="0"/>
            <a:chExt cx="18288000" cy="621792"/>
          </a:xfrm>
        </p:grpSpPr>
        <p:sp>
          <p:nvSpPr>
            <p:cNvPr name="Freeform 7" id="7"/>
            <p:cNvSpPr/>
            <p:nvPr/>
          </p:nvSpPr>
          <p:spPr>
            <a:xfrm flipH="false" flipV="false" rot="0">
              <a:off x="0" y="0"/>
              <a:ext cx="18288000" cy="621792"/>
            </a:xfrm>
            <a:custGeom>
              <a:avLst/>
              <a:gdLst/>
              <a:ahLst/>
              <a:cxnLst/>
              <a:rect r="r" b="b" t="t" l="l"/>
              <a:pathLst>
                <a:path h="621792" w="18288000">
                  <a:moveTo>
                    <a:pt x="0" y="0"/>
                  </a:moveTo>
                  <a:lnTo>
                    <a:pt x="18288000" y="0"/>
                  </a:lnTo>
                  <a:lnTo>
                    <a:pt x="18288000" y="621792"/>
                  </a:lnTo>
                  <a:lnTo>
                    <a:pt x="0" y="621792"/>
                  </a:lnTo>
                  <a:close/>
                </a:path>
              </a:pathLst>
            </a:custGeom>
            <a:blipFill>
              <a:blip r:embed="rId3">
                <a:alphaModFix amt="0"/>
              </a:blip>
              <a:stretch>
                <a:fillRect l="0" t="-523089" r="0" b="-523089"/>
              </a:stretch>
            </a:blipFill>
          </p:spPr>
        </p:sp>
        <p:sp>
          <p:nvSpPr>
            <p:cNvPr name="TextBox 8" id="8"/>
            <p:cNvSpPr txBox="true"/>
            <p:nvPr/>
          </p:nvSpPr>
          <p:spPr>
            <a:xfrm>
              <a:off x="0" y="-47625"/>
              <a:ext cx="18288000" cy="669417"/>
            </a:xfrm>
            <a:prstGeom prst="rect">
              <a:avLst/>
            </a:prstGeom>
          </p:spPr>
          <p:txBody>
            <a:bodyPr anchor="ctr" rtlCol="false" tIns="0" lIns="0" bIns="0" rIns="0"/>
            <a:lstStyle/>
            <a:p>
              <a:pPr algn="l">
                <a:lnSpc>
                  <a:spcPts val="2340"/>
                </a:lnSpc>
              </a:pPr>
              <a:r>
                <a:rPr lang="en-US" b="true" sz="1950" spc="150">
                  <a:solidFill>
                    <a:srgbClr val="00B4D8"/>
                  </a:solidFill>
                  <a:latin typeface="Calibri (MS) Bold"/>
                  <a:ea typeface="Calibri (MS) Bold"/>
                  <a:cs typeface="Calibri (MS) Bold"/>
                  <a:sym typeface="Calibri (MS) Bold"/>
                </a:rPr>
                <a:t>PH LEGAL FRAMEWORK · DICT MC 005-17</a:t>
              </a:r>
            </a:p>
          </p:txBody>
        </p:sp>
      </p:grpSp>
      <p:grpSp>
        <p:nvGrpSpPr>
          <p:cNvPr name="Group 9" id="9"/>
          <p:cNvGrpSpPr/>
          <p:nvPr/>
        </p:nvGrpSpPr>
        <p:grpSpPr>
          <a:xfrm rot="0">
            <a:off x="1824228" y="987552"/>
            <a:ext cx="15361920" cy="850392"/>
            <a:chOff x="0" y="0"/>
            <a:chExt cx="20482560" cy="1133856"/>
          </a:xfrm>
        </p:grpSpPr>
        <p:sp>
          <p:nvSpPr>
            <p:cNvPr name="Freeform 10" id="10"/>
            <p:cNvSpPr/>
            <p:nvPr/>
          </p:nvSpPr>
          <p:spPr>
            <a:xfrm flipH="false" flipV="false" rot="0">
              <a:off x="0" y="0"/>
              <a:ext cx="20482561" cy="1133856"/>
            </a:xfrm>
            <a:custGeom>
              <a:avLst/>
              <a:gdLst/>
              <a:ahLst/>
              <a:cxnLst/>
              <a:rect r="r" b="b" t="t" l="l"/>
              <a:pathLst>
                <a:path h="1133856" w="20482561">
                  <a:moveTo>
                    <a:pt x="0" y="0"/>
                  </a:moveTo>
                  <a:lnTo>
                    <a:pt x="20482561" y="0"/>
                  </a:lnTo>
                  <a:lnTo>
                    <a:pt x="20482561" y="1133856"/>
                  </a:lnTo>
                  <a:lnTo>
                    <a:pt x="0" y="1133856"/>
                  </a:lnTo>
                  <a:close/>
                </a:path>
              </a:pathLst>
            </a:custGeom>
            <a:blipFill>
              <a:blip r:embed="rId3">
                <a:alphaModFix amt="0"/>
              </a:blip>
              <a:stretch>
                <a:fillRect l="0" t="-301987" r="0" b="-301987"/>
              </a:stretch>
            </a:blipFill>
          </p:spPr>
        </p:sp>
        <p:sp>
          <p:nvSpPr>
            <p:cNvPr name="TextBox 11" id="11"/>
            <p:cNvSpPr txBox="true"/>
            <p:nvPr/>
          </p:nvSpPr>
          <p:spPr>
            <a:xfrm>
              <a:off x="0" y="-9525"/>
              <a:ext cx="20482560" cy="1143381"/>
            </a:xfrm>
            <a:prstGeom prst="rect">
              <a:avLst/>
            </a:prstGeom>
          </p:spPr>
          <p:txBody>
            <a:bodyPr anchor="ctr" rtlCol="false" tIns="0" lIns="0" bIns="0" rIns="0"/>
            <a:lstStyle/>
            <a:p>
              <a:pPr algn="l">
                <a:lnSpc>
                  <a:spcPts val="5040"/>
                </a:lnSpc>
              </a:pPr>
              <a:r>
                <a:rPr lang="en-US" sz="4200" b="true">
                  <a:solidFill>
                    <a:srgbClr val="1E2761"/>
                  </a:solidFill>
                  <a:latin typeface="Cambria Bold"/>
                  <a:ea typeface="Cambria Bold"/>
                  <a:cs typeface="Cambria Bold"/>
                  <a:sym typeface="Cambria Bold"/>
                </a:rPr>
                <a:t>Critical Infrastructure Protection</a:t>
              </a:r>
            </a:p>
          </p:txBody>
        </p:sp>
      </p:grpSp>
      <p:grpSp>
        <p:nvGrpSpPr>
          <p:cNvPr name="Group 12" id="12"/>
          <p:cNvGrpSpPr/>
          <p:nvPr/>
        </p:nvGrpSpPr>
        <p:grpSpPr>
          <a:xfrm rot="0">
            <a:off x="1234440" y="2537460"/>
            <a:ext cx="7338060" cy="685800"/>
            <a:chOff x="0" y="0"/>
            <a:chExt cx="9784080" cy="914400"/>
          </a:xfrm>
        </p:grpSpPr>
        <p:sp>
          <p:nvSpPr>
            <p:cNvPr name="Freeform 13" id="13"/>
            <p:cNvSpPr/>
            <p:nvPr/>
          </p:nvSpPr>
          <p:spPr>
            <a:xfrm flipH="false" flipV="false" rot="0">
              <a:off x="0" y="0"/>
              <a:ext cx="9784080" cy="914400"/>
            </a:xfrm>
            <a:custGeom>
              <a:avLst/>
              <a:gdLst/>
              <a:ahLst/>
              <a:cxnLst/>
              <a:rect r="r" b="b" t="t" l="l"/>
              <a:pathLst>
                <a:path h="914400" w="9784080">
                  <a:moveTo>
                    <a:pt x="0" y="0"/>
                  </a:moveTo>
                  <a:lnTo>
                    <a:pt x="9784080" y="0"/>
                  </a:lnTo>
                  <a:lnTo>
                    <a:pt x="9784080" y="914400"/>
                  </a:lnTo>
                  <a:lnTo>
                    <a:pt x="0" y="914400"/>
                  </a:lnTo>
                  <a:close/>
                </a:path>
              </a:pathLst>
            </a:custGeom>
            <a:blipFill>
              <a:blip r:embed="rId3">
                <a:alphaModFix amt="0"/>
              </a:blip>
              <a:stretch>
                <a:fillRect l="0" t="-158489" r="0" b="-158489"/>
              </a:stretch>
            </a:blipFill>
          </p:spPr>
        </p:sp>
        <p:sp>
          <p:nvSpPr>
            <p:cNvPr name="TextBox 14" id="14"/>
            <p:cNvSpPr txBox="true"/>
            <p:nvPr/>
          </p:nvSpPr>
          <p:spPr>
            <a:xfrm>
              <a:off x="0" y="-9525"/>
              <a:ext cx="9784080" cy="923925"/>
            </a:xfrm>
            <a:prstGeom prst="rect">
              <a:avLst/>
            </a:prstGeom>
          </p:spPr>
          <p:txBody>
            <a:bodyPr anchor="ctr" rtlCol="false" tIns="0" lIns="0" bIns="0" rIns="0"/>
            <a:lstStyle/>
            <a:p>
              <a:pPr algn="l">
                <a:lnSpc>
                  <a:spcPts val="2970"/>
                </a:lnSpc>
              </a:pPr>
              <a:r>
                <a:rPr lang="en-US" sz="2475" b="true">
                  <a:solidFill>
                    <a:srgbClr val="1E2761"/>
                  </a:solidFill>
                  <a:latin typeface="Cambria Bold"/>
                  <a:ea typeface="Cambria Bold"/>
                  <a:cs typeface="Cambria Bold"/>
                  <a:sym typeface="Cambria Bold"/>
                </a:rPr>
                <a:t>What it requires</a:t>
              </a:r>
            </a:p>
          </p:txBody>
        </p:sp>
      </p:grpSp>
      <p:grpSp>
        <p:nvGrpSpPr>
          <p:cNvPr name="Group 15" id="15"/>
          <p:cNvGrpSpPr/>
          <p:nvPr/>
        </p:nvGrpSpPr>
        <p:grpSpPr>
          <a:xfrm rot="0">
            <a:off x="1234440" y="3291840"/>
            <a:ext cx="7338060" cy="4869180"/>
            <a:chOff x="0" y="0"/>
            <a:chExt cx="9784080" cy="6492240"/>
          </a:xfrm>
        </p:grpSpPr>
        <p:sp>
          <p:nvSpPr>
            <p:cNvPr name="Freeform 16" id="16"/>
            <p:cNvSpPr/>
            <p:nvPr/>
          </p:nvSpPr>
          <p:spPr>
            <a:xfrm flipH="false" flipV="false" rot="0">
              <a:off x="0" y="0"/>
              <a:ext cx="9784080" cy="6492240"/>
            </a:xfrm>
            <a:custGeom>
              <a:avLst/>
              <a:gdLst/>
              <a:ahLst/>
              <a:cxnLst/>
              <a:rect r="r" b="b" t="t" l="l"/>
              <a:pathLst>
                <a:path h="6492240" w="9784080">
                  <a:moveTo>
                    <a:pt x="0" y="146304"/>
                  </a:moveTo>
                  <a:cubicBezTo>
                    <a:pt x="0" y="65532"/>
                    <a:pt x="65532" y="0"/>
                    <a:pt x="146304" y="0"/>
                  </a:cubicBezTo>
                  <a:lnTo>
                    <a:pt x="9637776" y="0"/>
                  </a:lnTo>
                  <a:cubicBezTo>
                    <a:pt x="9718548" y="0"/>
                    <a:pt x="9784080" y="65532"/>
                    <a:pt x="9784080" y="146304"/>
                  </a:cubicBezTo>
                  <a:lnTo>
                    <a:pt x="9784080" y="6345936"/>
                  </a:lnTo>
                  <a:cubicBezTo>
                    <a:pt x="9784080" y="6426708"/>
                    <a:pt x="9718548" y="6492240"/>
                    <a:pt x="9637776" y="6492240"/>
                  </a:cubicBezTo>
                  <a:lnTo>
                    <a:pt x="146304" y="6492240"/>
                  </a:lnTo>
                  <a:cubicBezTo>
                    <a:pt x="65532" y="6492240"/>
                    <a:pt x="0" y="6426708"/>
                    <a:pt x="0" y="6345936"/>
                  </a:cubicBezTo>
                  <a:close/>
                </a:path>
              </a:pathLst>
            </a:custGeom>
            <a:solidFill>
              <a:srgbClr val="F4F7FC"/>
            </a:solidFill>
          </p:spPr>
        </p:sp>
      </p:grpSp>
      <p:sp>
        <p:nvSpPr>
          <p:cNvPr name="TextBox 17" id="17"/>
          <p:cNvSpPr txBox="true"/>
          <p:nvPr/>
        </p:nvSpPr>
        <p:spPr>
          <a:xfrm rot="0">
            <a:off x="1764792" y="3700272"/>
            <a:ext cx="6277356" cy="3976116"/>
          </a:xfrm>
          <a:prstGeom prst="rect">
            <a:avLst/>
          </a:prstGeom>
        </p:spPr>
        <p:txBody>
          <a:bodyPr anchor="t" rtlCol="false" tIns="0" lIns="0" bIns="0" rIns="0">
            <a:spAutoFit/>
          </a:bodyPr>
          <a:lstStyle/>
          <a:p>
            <a:pPr algn="l" marL="325755" indent="-162878" lvl="1">
              <a:lnSpc>
                <a:spcPts val="2592"/>
              </a:lnSpc>
              <a:buFont typeface="Arial"/>
              <a:buChar char="•"/>
            </a:pPr>
            <a:r>
              <a:rPr lang="en-US" sz="1800">
                <a:solidFill>
                  <a:srgbClr val="23262F"/>
                </a:solidFill>
                <a:latin typeface="Calibri (MS)"/>
                <a:ea typeface="Calibri (MS)"/>
                <a:cs typeface="Calibri (MS)"/>
                <a:sym typeface="Calibri (MS)"/>
              </a:rPr>
              <a:t>Covered offices must have a Cybersecurity Incident Response Plan (CIRP) and a named Incident Response Team (IRT)</a:t>
            </a:r>
          </a:p>
          <a:p>
            <a:pPr algn="l" marL="325755" indent="-162878" lvl="1">
              <a:lnSpc>
                <a:spcPts val="2592"/>
              </a:lnSpc>
              <a:buFont typeface="Arial"/>
              <a:buChar char="•"/>
            </a:pPr>
            <a:r>
              <a:rPr lang="en-US" sz="1800">
                <a:solidFill>
                  <a:srgbClr val="23262F"/>
                </a:solidFill>
                <a:latin typeface="Calibri (MS)"/>
                <a:ea typeface="Calibri (MS)"/>
                <a:cs typeface="Calibri (MS)"/>
                <a:sym typeface="Calibri (MS)"/>
              </a:rPr>
              <a:t>Confirmed CII incidents must be reported to the national CERT (cert-ph@dict.gov.ph) within 24 hours of detection</a:t>
            </a:r>
          </a:p>
          <a:p>
            <a:pPr algn="l" marL="325755" indent="-162878" lvl="1">
              <a:lnSpc>
                <a:spcPts val="2592"/>
              </a:lnSpc>
              <a:buFont typeface="Arial"/>
              <a:buChar char="•"/>
            </a:pPr>
            <a:r>
              <a:rPr lang="en-US" sz="1800">
                <a:solidFill>
                  <a:srgbClr val="23262F"/>
                </a:solidFill>
                <a:latin typeface="Calibri (MS)"/>
                <a:ea typeface="Calibri (MS)"/>
                <a:cs typeface="Calibri (MS)"/>
                <a:sym typeface="Calibri (MS)"/>
              </a:rPr>
              <a:t>Covered operators must adopt ISO/IEC 27001 and undergo an annual risk and vulnerability assessment (VAPT)</a:t>
            </a:r>
          </a:p>
        </p:txBody>
      </p:sp>
      <p:grpSp>
        <p:nvGrpSpPr>
          <p:cNvPr name="Group 18" id="18"/>
          <p:cNvGrpSpPr/>
          <p:nvPr/>
        </p:nvGrpSpPr>
        <p:grpSpPr>
          <a:xfrm rot="0">
            <a:off x="9121140" y="2537460"/>
            <a:ext cx="7338060" cy="685800"/>
            <a:chOff x="0" y="0"/>
            <a:chExt cx="9784080" cy="914400"/>
          </a:xfrm>
        </p:grpSpPr>
        <p:sp>
          <p:nvSpPr>
            <p:cNvPr name="Freeform 19" id="19"/>
            <p:cNvSpPr/>
            <p:nvPr/>
          </p:nvSpPr>
          <p:spPr>
            <a:xfrm flipH="false" flipV="false" rot="0">
              <a:off x="0" y="0"/>
              <a:ext cx="9784080" cy="914400"/>
            </a:xfrm>
            <a:custGeom>
              <a:avLst/>
              <a:gdLst/>
              <a:ahLst/>
              <a:cxnLst/>
              <a:rect r="r" b="b" t="t" l="l"/>
              <a:pathLst>
                <a:path h="914400" w="9784080">
                  <a:moveTo>
                    <a:pt x="0" y="0"/>
                  </a:moveTo>
                  <a:lnTo>
                    <a:pt x="9784080" y="0"/>
                  </a:lnTo>
                  <a:lnTo>
                    <a:pt x="9784080" y="914400"/>
                  </a:lnTo>
                  <a:lnTo>
                    <a:pt x="0" y="914400"/>
                  </a:lnTo>
                  <a:close/>
                </a:path>
              </a:pathLst>
            </a:custGeom>
            <a:blipFill>
              <a:blip r:embed="rId3">
                <a:alphaModFix amt="0"/>
              </a:blip>
              <a:stretch>
                <a:fillRect l="0" t="-158489" r="0" b="-158489"/>
              </a:stretch>
            </a:blipFill>
          </p:spPr>
        </p:sp>
        <p:sp>
          <p:nvSpPr>
            <p:cNvPr name="TextBox 20" id="20"/>
            <p:cNvSpPr txBox="true"/>
            <p:nvPr/>
          </p:nvSpPr>
          <p:spPr>
            <a:xfrm>
              <a:off x="0" y="-9525"/>
              <a:ext cx="9784080" cy="923925"/>
            </a:xfrm>
            <a:prstGeom prst="rect">
              <a:avLst/>
            </a:prstGeom>
          </p:spPr>
          <p:txBody>
            <a:bodyPr anchor="ctr" rtlCol="false" tIns="0" lIns="0" bIns="0" rIns="0"/>
            <a:lstStyle/>
            <a:p>
              <a:pPr algn="l">
                <a:lnSpc>
                  <a:spcPts val="2970"/>
                </a:lnSpc>
              </a:pPr>
              <a:r>
                <a:rPr lang="en-US" sz="2475" b="true">
                  <a:solidFill>
                    <a:srgbClr val="1E2761"/>
                  </a:solidFill>
                  <a:latin typeface="Cambria Bold"/>
                  <a:ea typeface="Cambria Bold"/>
                  <a:cs typeface="Cambria Bold"/>
                  <a:sym typeface="Cambria Bold"/>
                </a:rPr>
                <a:t>For your office specifically</a:t>
              </a:r>
            </a:p>
          </p:txBody>
        </p:sp>
      </p:grpSp>
      <p:grpSp>
        <p:nvGrpSpPr>
          <p:cNvPr name="Group 21" id="21"/>
          <p:cNvGrpSpPr/>
          <p:nvPr/>
        </p:nvGrpSpPr>
        <p:grpSpPr>
          <a:xfrm rot="0">
            <a:off x="9121140" y="3291840"/>
            <a:ext cx="7338060" cy="4869180"/>
            <a:chOff x="0" y="0"/>
            <a:chExt cx="9784080" cy="6492240"/>
          </a:xfrm>
        </p:grpSpPr>
        <p:sp>
          <p:nvSpPr>
            <p:cNvPr name="Freeform 22" id="22"/>
            <p:cNvSpPr/>
            <p:nvPr/>
          </p:nvSpPr>
          <p:spPr>
            <a:xfrm flipH="false" flipV="false" rot="0">
              <a:off x="0" y="0"/>
              <a:ext cx="9784080" cy="6492240"/>
            </a:xfrm>
            <a:custGeom>
              <a:avLst/>
              <a:gdLst/>
              <a:ahLst/>
              <a:cxnLst/>
              <a:rect r="r" b="b" t="t" l="l"/>
              <a:pathLst>
                <a:path h="6492240" w="9784080">
                  <a:moveTo>
                    <a:pt x="0" y="146304"/>
                  </a:moveTo>
                  <a:cubicBezTo>
                    <a:pt x="0" y="65532"/>
                    <a:pt x="65532" y="0"/>
                    <a:pt x="146304" y="0"/>
                  </a:cubicBezTo>
                  <a:lnTo>
                    <a:pt x="9637776" y="0"/>
                  </a:lnTo>
                  <a:cubicBezTo>
                    <a:pt x="9718548" y="0"/>
                    <a:pt x="9784080" y="65532"/>
                    <a:pt x="9784080" y="146304"/>
                  </a:cubicBezTo>
                  <a:lnTo>
                    <a:pt x="9784080" y="6345936"/>
                  </a:lnTo>
                  <a:cubicBezTo>
                    <a:pt x="9784080" y="6426708"/>
                    <a:pt x="9718548" y="6492240"/>
                    <a:pt x="9637776" y="6492240"/>
                  </a:cubicBezTo>
                  <a:lnTo>
                    <a:pt x="146304" y="6492240"/>
                  </a:lnTo>
                  <a:cubicBezTo>
                    <a:pt x="65532" y="6492240"/>
                    <a:pt x="0" y="6426708"/>
                    <a:pt x="0" y="6345936"/>
                  </a:cubicBezTo>
                  <a:close/>
                </a:path>
              </a:pathLst>
            </a:custGeom>
            <a:solidFill>
              <a:srgbClr val="F4F7FC"/>
            </a:solidFill>
          </p:spPr>
        </p:sp>
      </p:grpSp>
      <p:sp>
        <p:nvSpPr>
          <p:cNvPr name="TextBox 23" id="23"/>
          <p:cNvSpPr txBox="true"/>
          <p:nvPr/>
        </p:nvSpPr>
        <p:spPr>
          <a:xfrm rot="0">
            <a:off x="9651492" y="3700272"/>
            <a:ext cx="6277356" cy="3976116"/>
          </a:xfrm>
          <a:prstGeom prst="rect">
            <a:avLst/>
          </a:prstGeom>
        </p:spPr>
        <p:txBody>
          <a:bodyPr anchor="t" rtlCol="false" tIns="0" lIns="0" bIns="0" rIns="0">
            <a:spAutoFit/>
          </a:bodyPr>
          <a:lstStyle/>
          <a:p>
            <a:pPr algn="l" marL="325755" indent="-162878" lvl="1">
              <a:lnSpc>
                <a:spcPts val="2592"/>
              </a:lnSpc>
              <a:buFont typeface="Arial"/>
              <a:buChar char="•"/>
            </a:pPr>
            <a:r>
              <a:rPr lang="en-US" sz="1800">
                <a:solidFill>
                  <a:srgbClr val="23262F"/>
                </a:solidFill>
                <a:latin typeface="Calibri (MS)"/>
                <a:ea typeface="Calibri (MS)"/>
                <a:cs typeface="Calibri (MS)"/>
                <a:sym typeface="Calibri (MS)"/>
              </a:rPr>
              <a:t>Coverage is defined by sector — government, energy, water, health, finance, telecom, and more</a:t>
            </a:r>
          </a:p>
          <a:p>
            <a:pPr algn="l" marL="325755" indent="-162878" lvl="1">
              <a:lnSpc>
                <a:spcPts val="2592"/>
              </a:lnSpc>
              <a:buFont typeface="Arial"/>
              <a:buChar char="•"/>
            </a:pPr>
            <a:r>
              <a:rPr lang="en-US" sz="1800">
                <a:solidFill>
                  <a:srgbClr val="23262F"/>
                </a:solidFill>
                <a:latin typeface="Calibri (MS)"/>
                <a:ea typeface="Calibri (MS)"/>
                <a:cs typeface="Calibri (MS)"/>
                <a:sym typeface="Calibri (MS)"/>
              </a:rPr>
              <a:t>Whether a provincial office counts as a covered CII entity isn't spelled out in plain terms in public summaries — confirm your office's classification directly with your DICT regional office</a:t>
            </a:r>
          </a:p>
          <a:p>
            <a:pPr algn="l" marL="325755" indent="-162878" lvl="1">
              <a:lnSpc>
                <a:spcPts val="2592"/>
              </a:lnSpc>
              <a:buFont typeface="Arial"/>
              <a:buChar char="•"/>
            </a:pPr>
            <a:r>
              <a:rPr lang="en-US" sz="1800">
                <a:solidFill>
                  <a:srgbClr val="23262F"/>
                </a:solidFill>
                <a:latin typeface="Calibri (MS)"/>
                <a:ea typeface="Calibri (MS)"/>
                <a:cs typeface="Calibri (MS)"/>
                <a:sym typeface="Calibri (MS)"/>
              </a:rPr>
              <a:t>Separately, DILG Memorandum Circular 2024-135 does clearly require every LGU to register its data systems and appoint a Data Protection Officer</a:t>
            </a:r>
          </a:p>
        </p:txBody>
      </p:sp>
      <p:grpSp>
        <p:nvGrpSpPr>
          <p:cNvPr name="Group 24" id="24"/>
          <p:cNvGrpSpPr/>
          <p:nvPr/>
        </p:nvGrpSpPr>
        <p:grpSpPr>
          <a:xfrm rot="0">
            <a:off x="685800" y="9710928"/>
            <a:ext cx="10972800" cy="411480"/>
            <a:chOff x="0" y="0"/>
            <a:chExt cx="14630400" cy="548640"/>
          </a:xfrm>
        </p:grpSpPr>
        <p:sp>
          <p:nvSpPr>
            <p:cNvPr name="Freeform 25" id="25"/>
            <p:cNvSpPr/>
            <p:nvPr/>
          </p:nvSpPr>
          <p:spPr>
            <a:xfrm flipH="false" flipV="false" rot="0">
              <a:off x="0" y="0"/>
              <a:ext cx="14630400" cy="548640"/>
            </a:xfrm>
            <a:custGeom>
              <a:avLst/>
              <a:gdLst/>
              <a:ahLst/>
              <a:cxnLst/>
              <a:rect r="r" b="b" t="t" l="l"/>
              <a:pathLst>
                <a:path h="548640" w="14630400">
                  <a:moveTo>
                    <a:pt x="0" y="0"/>
                  </a:moveTo>
                  <a:lnTo>
                    <a:pt x="14630400" y="0"/>
                  </a:lnTo>
                  <a:lnTo>
                    <a:pt x="14630400" y="548640"/>
                  </a:lnTo>
                  <a:lnTo>
                    <a:pt x="0" y="548640"/>
                  </a:lnTo>
                  <a:close/>
                </a:path>
              </a:pathLst>
            </a:custGeom>
            <a:blipFill>
              <a:blip r:embed="rId3">
                <a:alphaModFix amt="0"/>
              </a:blip>
              <a:stretch>
                <a:fillRect l="0" t="-469601" r="0" b="-469601"/>
              </a:stretch>
            </a:blipFill>
          </p:spPr>
        </p:sp>
        <p:sp>
          <p:nvSpPr>
            <p:cNvPr name="TextBox 26" id="26"/>
            <p:cNvSpPr txBox="true"/>
            <p:nvPr/>
          </p:nvSpPr>
          <p:spPr>
            <a:xfrm>
              <a:off x="0" y="-38100"/>
              <a:ext cx="14630400" cy="586740"/>
            </a:xfrm>
            <a:prstGeom prst="rect">
              <a:avLst/>
            </a:prstGeom>
          </p:spPr>
          <p:txBody>
            <a:bodyPr anchor="ctr" rtlCol="false" tIns="0" lIns="0" bIns="0" rIns="0"/>
            <a:lstStyle/>
            <a:p>
              <a:pPr algn="l">
                <a:lnSpc>
                  <a:spcPts val="1800"/>
                </a:lnSpc>
              </a:pPr>
              <a:r>
                <a:rPr lang="en-US" sz="1500">
                  <a:solidFill>
                    <a:srgbClr val="6B7280"/>
                  </a:solidFill>
                  <a:latin typeface="Calibri (MS)"/>
                  <a:ea typeface="Calibri (MS)"/>
                  <a:cs typeface="Calibri (MS)"/>
                  <a:sym typeface="Calibri (MS)"/>
                </a:rPr>
                <a:t>Davao del Norte Provincial Government — Cybersecurity Seminar</a:t>
              </a:r>
            </a:p>
          </p:txBody>
        </p:sp>
      </p:grpSp>
      <p:grpSp>
        <p:nvGrpSpPr>
          <p:cNvPr name="Group 27" id="27"/>
          <p:cNvGrpSpPr/>
          <p:nvPr/>
        </p:nvGrpSpPr>
        <p:grpSpPr>
          <a:xfrm rot="0">
            <a:off x="16911828" y="9710928"/>
            <a:ext cx="685800" cy="411480"/>
            <a:chOff x="0" y="0"/>
            <a:chExt cx="914400" cy="548640"/>
          </a:xfrm>
        </p:grpSpPr>
        <p:sp>
          <p:nvSpPr>
            <p:cNvPr name="Freeform 28" id="28"/>
            <p:cNvSpPr/>
            <p:nvPr/>
          </p:nvSpPr>
          <p:spPr>
            <a:xfrm flipH="false" flipV="false" rot="0">
              <a:off x="0" y="0"/>
              <a:ext cx="914400" cy="548640"/>
            </a:xfrm>
            <a:custGeom>
              <a:avLst/>
              <a:gdLst/>
              <a:ahLst/>
              <a:cxnLst/>
              <a:rect r="r" b="b" t="t" l="l"/>
              <a:pathLst>
                <a:path h="548640" w="914400">
                  <a:moveTo>
                    <a:pt x="0" y="0"/>
                  </a:moveTo>
                  <a:lnTo>
                    <a:pt x="914400" y="0"/>
                  </a:lnTo>
                  <a:lnTo>
                    <a:pt x="914400" y="548640"/>
                  </a:lnTo>
                  <a:lnTo>
                    <a:pt x="0" y="548640"/>
                  </a:lnTo>
                  <a:close/>
                </a:path>
              </a:pathLst>
            </a:custGeom>
            <a:blipFill>
              <a:blip r:embed="rId3">
                <a:alphaModFix amt="0"/>
              </a:blip>
              <a:stretch>
                <a:fillRect l="-26982" t="0" r="-26982" b="0"/>
              </a:stretch>
            </a:blipFill>
          </p:spPr>
        </p:sp>
        <p:sp>
          <p:nvSpPr>
            <p:cNvPr name="TextBox 29" id="29"/>
            <p:cNvSpPr txBox="true"/>
            <p:nvPr/>
          </p:nvSpPr>
          <p:spPr>
            <a:xfrm>
              <a:off x="0" y="-38100"/>
              <a:ext cx="914400" cy="586740"/>
            </a:xfrm>
            <a:prstGeom prst="rect">
              <a:avLst/>
            </a:prstGeom>
          </p:spPr>
          <p:txBody>
            <a:bodyPr anchor="ctr" rtlCol="false" tIns="0" lIns="0" bIns="0" rIns="0"/>
            <a:lstStyle/>
            <a:p>
              <a:pPr algn="r">
                <a:lnSpc>
                  <a:spcPts val="1800"/>
                </a:lnSpc>
              </a:pPr>
              <a:r>
                <a:rPr lang="en-US" sz="1500">
                  <a:solidFill>
                    <a:srgbClr val="6B7280"/>
                  </a:solidFill>
                  <a:latin typeface="Calibri (MS)"/>
                  <a:ea typeface="Calibri (MS)"/>
                  <a:cs typeface="Calibri (MS)"/>
                  <a:sym typeface="Calibri (MS)"/>
                </a:rPr>
                <a:t>8</a:t>
              </a:r>
            </a:p>
          </p:txBody>
        </p:sp>
      </p:grpSp>
    </p:spTree>
  </p:cSld>
  <p:clrMapOvr>
    <a:masterClrMapping/>
  </p:clrMapOvr>
</p:sld>
</file>

<file path=ppt/slides/slide126.xml><?xml version="1.0" encoding="utf-8"?>
<p:sld xmlns:p="http://schemas.openxmlformats.org/presentationml/2006/main" xmlns:a="http://schemas.openxmlformats.org/drawingml/2006/main" xmlns:r="http://schemas.openxmlformats.org/officeDocument/2006/relationships">
  <p:cSld>
    <p:bg>
      <p:bgPr>
        <a:solidFill>
          <a:srgbClr val="1E2761"/>
        </a:solidFill>
      </p:bgPr>
    </p:bg>
    <p:spTree>
      <p:nvGrpSpPr>
        <p:cNvPr id="1" name=""/>
        <p:cNvGrpSpPr/>
        <p:nvPr/>
      </p:nvGrpSpPr>
      <p:grpSpPr>
        <a:xfrm>
          <a:off x="0" y="0"/>
          <a:ext cx="0" cy="0"/>
          <a:chOff x="0" y="0"/>
          <a:chExt cx="0" cy="0"/>
        </a:xfrm>
      </p:grpSpPr>
      <p:grpSp>
        <p:nvGrpSpPr>
          <p:cNvPr name="Group 2" id="2"/>
          <p:cNvGrpSpPr/>
          <p:nvPr/>
        </p:nvGrpSpPr>
        <p:grpSpPr>
          <a:xfrm rot="0">
            <a:off x="-3017520" y="6309360"/>
            <a:ext cx="8229600" cy="8229600"/>
            <a:chOff x="0" y="0"/>
            <a:chExt cx="10972800" cy="10972800"/>
          </a:xfrm>
        </p:grpSpPr>
        <p:sp>
          <p:nvSpPr>
            <p:cNvPr name="Freeform 3" id="3"/>
            <p:cNvSpPr/>
            <p:nvPr/>
          </p:nvSpPr>
          <p:spPr>
            <a:xfrm flipH="false" flipV="false" rot="0">
              <a:off x="0" y="0"/>
              <a:ext cx="10972800" cy="10972800"/>
            </a:xfrm>
            <a:custGeom>
              <a:avLst/>
              <a:gdLst/>
              <a:ahLst/>
              <a:cxnLst/>
              <a:rect r="r" b="b" t="t" l="l"/>
              <a:pathLst>
                <a:path h="10972800" w="10972800">
                  <a:moveTo>
                    <a:pt x="0" y="5486400"/>
                  </a:moveTo>
                  <a:cubicBezTo>
                    <a:pt x="0" y="2456307"/>
                    <a:pt x="2456307" y="0"/>
                    <a:pt x="5486400" y="0"/>
                  </a:cubicBezTo>
                  <a:cubicBezTo>
                    <a:pt x="8516493" y="0"/>
                    <a:pt x="10972800" y="2456307"/>
                    <a:pt x="10972800" y="5486400"/>
                  </a:cubicBezTo>
                  <a:cubicBezTo>
                    <a:pt x="10972800" y="8516493"/>
                    <a:pt x="8516493" y="10972800"/>
                    <a:pt x="5486400" y="10972800"/>
                  </a:cubicBezTo>
                  <a:cubicBezTo>
                    <a:pt x="2456307" y="10972800"/>
                    <a:pt x="0" y="8516493"/>
                    <a:pt x="0" y="5486400"/>
                  </a:cubicBezTo>
                  <a:close/>
                </a:path>
              </a:pathLst>
            </a:custGeom>
            <a:solidFill>
              <a:srgbClr val="263186"/>
            </a:solidFill>
          </p:spPr>
        </p:sp>
      </p:grpSp>
      <p:grpSp>
        <p:nvGrpSpPr>
          <p:cNvPr name="Group 4" id="4"/>
          <p:cNvGrpSpPr/>
          <p:nvPr/>
        </p:nvGrpSpPr>
        <p:grpSpPr>
          <a:xfrm rot="0">
            <a:off x="1234440" y="1303020"/>
            <a:ext cx="10972800" cy="548640"/>
            <a:chOff x="0" y="0"/>
            <a:chExt cx="14630400" cy="731520"/>
          </a:xfrm>
        </p:grpSpPr>
        <p:sp>
          <p:nvSpPr>
            <p:cNvPr name="Freeform 5" id="5"/>
            <p:cNvSpPr/>
            <p:nvPr/>
          </p:nvSpPr>
          <p:spPr>
            <a:xfrm flipH="false" flipV="false" rot="0">
              <a:off x="0" y="0"/>
              <a:ext cx="14630400" cy="731520"/>
            </a:xfrm>
            <a:custGeom>
              <a:avLst/>
              <a:gdLst/>
              <a:ahLst/>
              <a:cxnLst/>
              <a:rect r="r" b="b" t="t" l="l"/>
              <a:pathLst>
                <a:path h="731520" w="14630400">
                  <a:moveTo>
                    <a:pt x="0" y="0"/>
                  </a:moveTo>
                  <a:lnTo>
                    <a:pt x="14630400" y="0"/>
                  </a:lnTo>
                  <a:lnTo>
                    <a:pt x="14630400" y="731520"/>
                  </a:lnTo>
                  <a:lnTo>
                    <a:pt x="0" y="731520"/>
                  </a:lnTo>
                  <a:close/>
                </a:path>
              </a:pathLst>
            </a:custGeom>
            <a:blipFill>
              <a:blip r:embed="rId2">
                <a:alphaModFix amt="0"/>
              </a:blip>
              <a:stretch>
                <a:fillRect l="0" t="-339700" r="0" b="-339700"/>
              </a:stretch>
            </a:blipFill>
          </p:spPr>
        </p:sp>
        <p:sp>
          <p:nvSpPr>
            <p:cNvPr name="TextBox 6" id="6"/>
            <p:cNvSpPr txBox="true"/>
            <p:nvPr/>
          </p:nvSpPr>
          <p:spPr>
            <a:xfrm>
              <a:off x="0" y="-47625"/>
              <a:ext cx="14630400" cy="779145"/>
            </a:xfrm>
            <a:prstGeom prst="rect">
              <a:avLst/>
            </a:prstGeom>
          </p:spPr>
          <p:txBody>
            <a:bodyPr anchor="ctr" rtlCol="false" tIns="0" lIns="0" bIns="0" rIns="0"/>
            <a:lstStyle/>
            <a:p>
              <a:pPr algn="l">
                <a:lnSpc>
                  <a:spcPts val="2520"/>
                </a:lnSpc>
              </a:pPr>
              <a:r>
                <a:rPr lang="en-US" b="true" sz="2100" spc="299">
                  <a:solidFill>
                    <a:srgbClr val="00B4D8"/>
                  </a:solidFill>
                  <a:latin typeface="Calibri (MS) Bold"/>
                  <a:ea typeface="Calibri (MS) Bold"/>
                  <a:cs typeface="Calibri (MS) Bold"/>
                  <a:sym typeface="Calibri (MS) Bold"/>
                </a:rPr>
                <a:t>YOUR TURN</a:t>
              </a:r>
            </a:p>
          </p:txBody>
        </p:sp>
      </p:grpSp>
      <p:grpSp>
        <p:nvGrpSpPr>
          <p:cNvPr name="Group 7" id="7"/>
          <p:cNvGrpSpPr/>
          <p:nvPr/>
        </p:nvGrpSpPr>
        <p:grpSpPr>
          <a:xfrm rot="0">
            <a:off x="1234440" y="1851660"/>
            <a:ext cx="10149840" cy="1783080"/>
            <a:chOff x="0" y="0"/>
            <a:chExt cx="13533120" cy="2377440"/>
          </a:xfrm>
        </p:grpSpPr>
        <p:sp>
          <p:nvSpPr>
            <p:cNvPr name="Freeform 8" id="8"/>
            <p:cNvSpPr/>
            <p:nvPr/>
          </p:nvSpPr>
          <p:spPr>
            <a:xfrm flipH="false" flipV="false" rot="0">
              <a:off x="0" y="0"/>
              <a:ext cx="13533120" cy="2377440"/>
            </a:xfrm>
            <a:custGeom>
              <a:avLst/>
              <a:gdLst/>
              <a:ahLst/>
              <a:cxnLst/>
              <a:rect r="r" b="b" t="t" l="l"/>
              <a:pathLst>
                <a:path h="2377440" w="13533120">
                  <a:moveTo>
                    <a:pt x="0" y="0"/>
                  </a:moveTo>
                  <a:lnTo>
                    <a:pt x="13533120" y="0"/>
                  </a:lnTo>
                  <a:lnTo>
                    <a:pt x="13533120" y="2377440"/>
                  </a:lnTo>
                  <a:lnTo>
                    <a:pt x="0" y="2377440"/>
                  </a:lnTo>
                  <a:close/>
                </a:path>
              </a:pathLst>
            </a:custGeom>
            <a:blipFill>
              <a:blip r:embed="rId2">
                <a:alphaModFix amt="0"/>
              </a:blip>
              <a:stretch>
                <a:fillRect l="0" t="-60914" r="0" b="-60914"/>
              </a:stretch>
            </a:blipFill>
          </p:spPr>
        </p:sp>
        <p:sp>
          <p:nvSpPr>
            <p:cNvPr name="TextBox 9" id="9"/>
            <p:cNvSpPr txBox="true"/>
            <p:nvPr/>
          </p:nvSpPr>
          <p:spPr>
            <a:xfrm>
              <a:off x="0" y="-9525"/>
              <a:ext cx="13533120" cy="2386965"/>
            </a:xfrm>
            <a:prstGeom prst="rect">
              <a:avLst/>
            </a:prstGeom>
          </p:spPr>
          <p:txBody>
            <a:bodyPr anchor="ctr" rtlCol="false" tIns="0" lIns="0" bIns="0" rIns="0"/>
            <a:lstStyle/>
            <a:p>
              <a:pPr algn="l">
                <a:lnSpc>
                  <a:spcPts val="6839"/>
                </a:lnSpc>
              </a:pPr>
              <a:r>
                <a:rPr lang="en-US" sz="5700" b="true">
                  <a:solidFill>
                    <a:srgbClr val="FFFFFF"/>
                  </a:solidFill>
                  <a:latin typeface="Cambria Bold"/>
                  <a:ea typeface="Cambria Bold"/>
                  <a:cs typeface="Cambria Bold"/>
                  <a:sym typeface="Cambria Bold"/>
                </a:rPr>
                <a:t>Sort 15 Real Scenarios</a:t>
              </a:r>
            </a:p>
          </p:txBody>
        </p:sp>
      </p:grpSp>
      <p:sp>
        <p:nvSpPr>
          <p:cNvPr name="TextBox 10" id="10"/>
          <p:cNvSpPr txBox="true"/>
          <p:nvPr/>
        </p:nvSpPr>
        <p:spPr>
          <a:xfrm rot="0">
            <a:off x="1325880" y="3429000"/>
            <a:ext cx="8869680" cy="1943100"/>
          </a:xfrm>
          <a:prstGeom prst="rect">
            <a:avLst/>
          </a:prstGeom>
        </p:spPr>
        <p:txBody>
          <a:bodyPr anchor="t" rtlCol="false" tIns="0" lIns="0" bIns="0" rIns="0">
            <a:spAutoFit/>
          </a:bodyPr>
          <a:lstStyle/>
          <a:p>
            <a:pPr algn="l">
              <a:lnSpc>
                <a:spcPts val="3375"/>
              </a:lnSpc>
            </a:pPr>
            <a:r>
              <a:rPr lang="en-US" sz="2250">
                <a:solidFill>
                  <a:srgbClr val="CADCFC"/>
                </a:solidFill>
                <a:latin typeface="Calibri (MS)"/>
                <a:ea typeface="Calibri (MS)"/>
                <a:cs typeface="Calibri (MS)"/>
                <a:sym typeface="Calibri (MS)"/>
              </a:rPr>
              <a:t>Scan the code or visit the link below. For each scenario, decide which Philippine law or DICT issuance governs it. A couple belong to more than one.</a:t>
            </a:r>
          </a:p>
        </p:txBody>
      </p:sp>
      <p:grpSp>
        <p:nvGrpSpPr>
          <p:cNvPr name="Group 11" id="11"/>
          <p:cNvGrpSpPr/>
          <p:nvPr/>
        </p:nvGrpSpPr>
        <p:grpSpPr>
          <a:xfrm rot="0">
            <a:off x="1234440" y="5692140"/>
            <a:ext cx="754380" cy="754380"/>
            <a:chOff x="0" y="0"/>
            <a:chExt cx="1005840" cy="1005840"/>
          </a:xfrm>
        </p:grpSpPr>
        <p:sp>
          <p:nvSpPr>
            <p:cNvPr name="Freeform 12" id="12"/>
            <p:cNvSpPr/>
            <p:nvPr/>
          </p:nvSpPr>
          <p:spPr>
            <a:xfrm flipH="false" flipV="false" rot="0">
              <a:off x="0" y="0"/>
              <a:ext cx="1005840" cy="1005840"/>
            </a:xfrm>
            <a:custGeom>
              <a:avLst/>
              <a:gdLst/>
              <a:ahLst/>
              <a:cxnLst/>
              <a:rect r="r" b="b" t="t" l="l"/>
              <a:pathLst>
                <a:path h="1005840" w="1005840">
                  <a:moveTo>
                    <a:pt x="0" y="502920"/>
                  </a:moveTo>
                  <a:cubicBezTo>
                    <a:pt x="0" y="225171"/>
                    <a:pt x="225171" y="0"/>
                    <a:pt x="502920" y="0"/>
                  </a:cubicBezTo>
                  <a:cubicBezTo>
                    <a:pt x="780669" y="0"/>
                    <a:pt x="1005840" y="225171"/>
                    <a:pt x="1005840" y="502920"/>
                  </a:cubicBezTo>
                  <a:cubicBezTo>
                    <a:pt x="1005840" y="780669"/>
                    <a:pt x="780669" y="1005840"/>
                    <a:pt x="502920" y="1005840"/>
                  </a:cubicBezTo>
                  <a:cubicBezTo>
                    <a:pt x="225171" y="1005840"/>
                    <a:pt x="0" y="780669"/>
                    <a:pt x="0" y="502920"/>
                  </a:cubicBezTo>
                  <a:close/>
                </a:path>
              </a:pathLst>
            </a:custGeom>
            <a:solidFill>
              <a:srgbClr val="00B4D8"/>
            </a:solidFill>
          </p:spPr>
        </p:sp>
      </p:grpSp>
      <p:grpSp>
        <p:nvGrpSpPr>
          <p:cNvPr name="Group 13" id="13"/>
          <p:cNvGrpSpPr/>
          <p:nvPr/>
        </p:nvGrpSpPr>
        <p:grpSpPr>
          <a:xfrm rot="0">
            <a:off x="1412748" y="5870448"/>
            <a:ext cx="397764" cy="397764"/>
            <a:chOff x="0" y="0"/>
            <a:chExt cx="530352" cy="530352"/>
          </a:xfrm>
        </p:grpSpPr>
        <p:sp>
          <p:nvSpPr>
            <p:cNvPr name="Freeform 14" id="14" descr="link.png"/>
            <p:cNvSpPr/>
            <p:nvPr/>
          </p:nvSpPr>
          <p:spPr>
            <a:xfrm flipH="false" flipV="false" rot="0">
              <a:off x="0" y="0"/>
              <a:ext cx="530352" cy="530352"/>
            </a:xfrm>
            <a:custGeom>
              <a:avLst/>
              <a:gdLst/>
              <a:ahLst/>
              <a:cxnLst/>
              <a:rect r="r" b="b" t="t" l="l"/>
              <a:pathLst>
                <a:path h="530352" w="530352">
                  <a:moveTo>
                    <a:pt x="0" y="0"/>
                  </a:moveTo>
                  <a:lnTo>
                    <a:pt x="530352" y="0"/>
                  </a:lnTo>
                  <a:lnTo>
                    <a:pt x="530352" y="530352"/>
                  </a:lnTo>
                  <a:lnTo>
                    <a:pt x="0" y="530352"/>
                  </a:lnTo>
                  <a:lnTo>
                    <a:pt x="0" y="0"/>
                  </a:lnTo>
                  <a:close/>
                </a:path>
              </a:pathLst>
            </a:custGeom>
            <a:blipFill>
              <a:blip r:embed="rId3"/>
              <a:stretch>
                <a:fillRect l="0" t="0" r="0" b="0"/>
              </a:stretch>
            </a:blipFill>
          </p:spPr>
        </p:sp>
      </p:grpSp>
      <p:grpSp>
        <p:nvGrpSpPr>
          <p:cNvPr name="Group 15" id="15"/>
          <p:cNvGrpSpPr/>
          <p:nvPr/>
        </p:nvGrpSpPr>
        <p:grpSpPr>
          <a:xfrm rot="0">
            <a:off x="2263140" y="5650992"/>
            <a:ext cx="7543800" cy="411480"/>
            <a:chOff x="0" y="0"/>
            <a:chExt cx="10058400" cy="548640"/>
          </a:xfrm>
        </p:grpSpPr>
        <p:sp>
          <p:nvSpPr>
            <p:cNvPr name="Freeform 16" id="16"/>
            <p:cNvSpPr/>
            <p:nvPr/>
          </p:nvSpPr>
          <p:spPr>
            <a:xfrm flipH="false" flipV="false" rot="0">
              <a:off x="0" y="0"/>
              <a:ext cx="10058400" cy="548640"/>
            </a:xfrm>
            <a:custGeom>
              <a:avLst/>
              <a:gdLst/>
              <a:ahLst/>
              <a:cxnLst/>
              <a:rect r="r" b="b" t="t" l="l"/>
              <a:pathLst>
                <a:path h="548640" w="10058400">
                  <a:moveTo>
                    <a:pt x="0" y="0"/>
                  </a:moveTo>
                  <a:lnTo>
                    <a:pt x="10058400" y="0"/>
                  </a:lnTo>
                  <a:lnTo>
                    <a:pt x="10058400" y="548640"/>
                  </a:lnTo>
                  <a:lnTo>
                    <a:pt x="0" y="548640"/>
                  </a:lnTo>
                  <a:close/>
                </a:path>
              </a:pathLst>
            </a:custGeom>
            <a:blipFill>
              <a:blip r:embed="rId2">
                <a:alphaModFix amt="0"/>
              </a:blip>
              <a:stretch>
                <a:fillRect l="0" t="-307225" r="0" b="-307225"/>
              </a:stretch>
            </a:blipFill>
          </p:spPr>
        </p:sp>
        <p:sp>
          <p:nvSpPr>
            <p:cNvPr name="TextBox 17" id="17"/>
            <p:cNvSpPr txBox="true"/>
            <p:nvPr/>
          </p:nvSpPr>
          <p:spPr>
            <a:xfrm>
              <a:off x="0" y="-47625"/>
              <a:ext cx="10058400" cy="596265"/>
            </a:xfrm>
            <a:prstGeom prst="rect">
              <a:avLst/>
            </a:prstGeom>
          </p:spPr>
          <p:txBody>
            <a:bodyPr anchor="ctr" rtlCol="false" tIns="0" lIns="0" bIns="0" rIns="0"/>
            <a:lstStyle/>
            <a:p>
              <a:pPr algn="l">
                <a:lnSpc>
                  <a:spcPts val="2340"/>
                </a:lnSpc>
              </a:pPr>
              <a:r>
                <a:rPr lang="en-US" sz="1950">
                  <a:solidFill>
                    <a:srgbClr val="CADCFC"/>
                  </a:solidFill>
                  <a:latin typeface="Calibri (MS)"/>
                  <a:ea typeface="Calibri (MS)"/>
                  <a:cs typeface="Calibri (MS)"/>
                  <a:sym typeface="Calibri (MS)"/>
                </a:rPr>
                <a:t>Go to:</a:t>
              </a:r>
            </a:p>
          </p:txBody>
        </p:sp>
      </p:grpSp>
      <p:grpSp>
        <p:nvGrpSpPr>
          <p:cNvPr name="Group 18" id="18"/>
          <p:cNvGrpSpPr/>
          <p:nvPr/>
        </p:nvGrpSpPr>
        <p:grpSpPr>
          <a:xfrm rot="0">
            <a:off x="2235708" y="6062472"/>
            <a:ext cx="11658600" cy="754380"/>
            <a:chOff x="0" y="0"/>
            <a:chExt cx="15544800" cy="1005840"/>
          </a:xfrm>
        </p:grpSpPr>
        <p:sp>
          <p:nvSpPr>
            <p:cNvPr name="Freeform 19" id="19"/>
            <p:cNvSpPr/>
            <p:nvPr/>
          </p:nvSpPr>
          <p:spPr>
            <a:xfrm flipH="false" flipV="false" rot="0">
              <a:off x="0" y="0"/>
              <a:ext cx="15544800" cy="1005840"/>
            </a:xfrm>
            <a:custGeom>
              <a:avLst/>
              <a:gdLst/>
              <a:ahLst/>
              <a:cxnLst/>
              <a:rect r="r" b="b" t="t" l="l"/>
              <a:pathLst>
                <a:path h="1005840" w="15544800">
                  <a:moveTo>
                    <a:pt x="0" y="0"/>
                  </a:moveTo>
                  <a:lnTo>
                    <a:pt x="15544800" y="0"/>
                  </a:lnTo>
                  <a:lnTo>
                    <a:pt x="15544800" y="1005840"/>
                  </a:lnTo>
                  <a:lnTo>
                    <a:pt x="0" y="1005840"/>
                  </a:lnTo>
                  <a:close/>
                </a:path>
              </a:pathLst>
            </a:custGeom>
            <a:blipFill>
              <a:blip r:embed="rId2">
                <a:alphaModFix amt="0"/>
              </a:blip>
              <a:stretch>
                <a:fillRect l="0" t="-251132" r="0" b="-251132"/>
              </a:stretch>
            </a:blipFill>
          </p:spPr>
        </p:sp>
        <p:sp>
          <p:nvSpPr>
            <p:cNvPr name="TextBox 20" id="20"/>
            <p:cNvSpPr txBox="true"/>
            <p:nvPr/>
          </p:nvSpPr>
          <p:spPr>
            <a:xfrm>
              <a:off x="0" y="-9525"/>
              <a:ext cx="15544800" cy="1015365"/>
            </a:xfrm>
            <a:prstGeom prst="rect">
              <a:avLst/>
            </a:prstGeom>
          </p:spPr>
          <p:txBody>
            <a:bodyPr anchor="ctr" rtlCol="false" tIns="0" lIns="0" bIns="0" rIns="0"/>
            <a:lstStyle/>
            <a:p>
              <a:pPr algn="l">
                <a:lnSpc>
                  <a:spcPts val="3960"/>
                </a:lnSpc>
              </a:pPr>
              <a:r>
                <a:rPr lang="en-US" sz="3300" b="true">
                  <a:solidFill>
                    <a:srgbClr val="FFFFFF"/>
                  </a:solidFill>
                  <a:latin typeface="Cambria Bold"/>
                  <a:ea typeface="Cambria Bold"/>
                  <a:cs typeface="Cambria Bold"/>
                  <a:sym typeface="Cambria Bold"/>
                </a:rPr>
                <a:t>ferdienervida.com/phcyberlaw</a:t>
              </a:r>
            </a:p>
          </p:txBody>
        </p:sp>
      </p:grpSp>
      <p:grpSp>
        <p:nvGrpSpPr>
          <p:cNvPr name="Group 21" id="21"/>
          <p:cNvGrpSpPr/>
          <p:nvPr/>
        </p:nvGrpSpPr>
        <p:grpSpPr>
          <a:xfrm rot="0">
            <a:off x="1234440" y="7063740"/>
            <a:ext cx="9601200" cy="548640"/>
            <a:chOff x="0" y="0"/>
            <a:chExt cx="12801600" cy="731520"/>
          </a:xfrm>
        </p:grpSpPr>
        <p:sp>
          <p:nvSpPr>
            <p:cNvPr name="Freeform 22" id="22"/>
            <p:cNvSpPr/>
            <p:nvPr/>
          </p:nvSpPr>
          <p:spPr>
            <a:xfrm flipH="false" flipV="false" rot="0">
              <a:off x="0" y="0"/>
              <a:ext cx="12801600" cy="731520"/>
            </a:xfrm>
            <a:custGeom>
              <a:avLst/>
              <a:gdLst/>
              <a:ahLst/>
              <a:cxnLst/>
              <a:rect r="r" b="b" t="t" l="l"/>
              <a:pathLst>
                <a:path h="731520" w="12801600">
                  <a:moveTo>
                    <a:pt x="0" y="0"/>
                  </a:moveTo>
                  <a:lnTo>
                    <a:pt x="12801600" y="0"/>
                  </a:lnTo>
                  <a:lnTo>
                    <a:pt x="12801600" y="731520"/>
                  </a:lnTo>
                  <a:lnTo>
                    <a:pt x="0" y="731520"/>
                  </a:lnTo>
                  <a:close/>
                </a:path>
              </a:pathLst>
            </a:custGeom>
            <a:blipFill>
              <a:blip r:embed="rId2">
                <a:alphaModFix amt="0"/>
              </a:blip>
              <a:stretch>
                <a:fillRect l="0" t="-290988" r="0" b="-290988"/>
              </a:stretch>
            </a:blipFill>
          </p:spPr>
        </p:sp>
        <p:sp>
          <p:nvSpPr>
            <p:cNvPr name="TextBox 23" id="23"/>
            <p:cNvSpPr txBox="true"/>
            <p:nvPr/>
          </p:nvSpPr>
          <p:spPr>
            <a:xfrm>
              <a:off x="0" y="-47625"/>
              <a:ext cx="12801600" cy="779145"/>
            </a:xfrm>
            <a:prstGeom prst="rect">
              <a:avLst/>
            </a:prstGeom>
          </p:spPr>
          <p:txBody>
            <a:bodyPr anchor="ctr" rtlCol="false" tIns="0" lIns="0" bIns="0" rIns="0"/>
            <a:lstStyle/>
            <a:p>
              <a:pPr algn="l">
                <a:lnSpc>
                  <a:spcPts val="2340"/>
                </a:lnSpc>
              </a:pPr>
              <a:r>
                <a:rPr lang="en-US" sz="1950" i="true">
                  <a:solidFill>
                    <a:srgbClr val="CADCFC"/>
                  </a:solidFill>
                  <a:latin typeface="Calibri (MS) Italics"/>
                  <a:ea typeface="Calibri (MS) Italics"/>
                  <a:cs typeface="Calibri (MS) Italics"/>
                  <a:sym typeface="Calibri (MS) Italics"/>
                </a:rPr>
                <a:t>⏱  About 20 minutes, then we review together</a:t>
              </a:r>
            </a:p>
          </p:txBody>
        </p:sp>
      </p:grpSp>
      <p:grpSp>
        <p:nvGrpSpPr>
          <p:cNvPr name="Group 24" id="24"/>
          <p:cNvGrpSpPr/>
          <p:nvPr/>
        </p:nvGrpSpPr>
        <p:grpSpPr>
          <a:xfrm rot="0">
            <a:off x="13098780" y="2125980"/>
            <a:ext cx="3977640" cy="3977640"/>
            <a:chOff x="0" y="0"/>
            <a:chExt cx="5303520" cy="5303520"/>
          </a:xfrm>
        </p:grpSpPr>
        <p:sp>
          <p:nvSpPr>
            <p:cNvPr name="Freeform 25" id="25"/>
            <p:cNvSpPr/>
            <p:nvPr/>
          </p:nvSpPr>
          <p:spPr>
            <a:xfrm flipH="false" flipV="false" rot="0">
              <a:off x="0" y="0"/>
              <a:ext cx="5303520" cy="5303520"/>
            </a:xfrm>
            <a:custGeom>
              <a:avLst/>
              <a:gdLst/>
              <a:ahLst/>
              <a:cxnLst/>
              <a:rect r="r" b="b" t="t" l="l"/>
              <a:pathLst>
                <a:path h="5303520" w="5303520">
                  <a:moveTo>
                    <a:pt x="0" y="219456"/>
                  </a:moveTo>
                  <a:cubicBezTo>
                    <a:pt x="0" y="98298"/>
                    <a:pt x="98298" y="0"/>
                    <a:pt x="219456" y="0"/>
                  </a:cubicBezTo>
                  <a:lnTo>
                    <a:pt x="5084064" y="0"/>
                  </a:lnTo>
                  <a:cubicBezTo>
                    <a:pt x="5205222" y="0"/>
                    <a:pt x="5303520" y="98298"/>
                    <a:pt x="5303520" y="219456"/>
                  </a:cubicBezTo>
                  <a:lnTo>
                    <a:pt x="5303520" y="5084064"/>
                  </a:lnTo>
                  <a:cubicBezTo>
                    <a:pt x="5303520" y="5205222"/>
                    <a:pt x="5205222" y="5303520"/>
                    <a:pt x="5084064" y="5303520"/>
                  </a:cubicBezTo>
                  <a:lnTo>
                    <a:pt x="219456" y="5303520"/>
                  </a:lnTo>
                  <a:cubicBezTo>
                    <a:pt x="98298" y="5303520"/>
                    <a:pt x="0" y="5205222"/>
                    <a:pt x="0" y="5084064"/>
                  </a:cubicBezTo>
                  <a:close/>
                </a:path>
              </a:pathLst>
            </a:custGeom>
            <a:solidFill>
              <a:srgbClr val="FFFFFF"/>
            </a:solidFill>
          </p:spPr>
        </p:sp>
      </p:grpSp>
      <p:grpSp>
        <p:nvGrpSpPr>
          <p:cNvPr name="Group 26" id="26"/>
          <p:cNvGrpSpPr/>
          <p:nvPr/>
        </p:nvGrpSpPr>
        <p:grpSpPr>
          <a:xfrm rot="0">
            <a:off x="13441680" y="2468880"/>
            <a:ext cx="3291840" cy="3291840"/>
            <a:chOff x="0" y="0"/>
            <a:chExt cx="4389120" cy="4389120"/>
          </a:xfrm>
        </p:grpSpPr>
        <p:sp>
          <p:nvSpPr>
            <p:cNvPr name="Freeform 27" id="27" descr="qr_phcyberlaw.png"/>
            <p:cNvSpPr/>
            <p:nvPr/>
          </p:nvSpPr>
          <p:spPr>
            <a:xfrm flipH="false" flipV="false" rot="0">
              <a:off x="0" y="0"/>
              <a:ext cx="4389120" cy="4389120"/>
            </a:xfrm>
            <a:custGeom>
              <a:avLst/>
              <a:gdLst/>
              <a:ahLst/>
              <a:cxnLst/>
              <a:rect r="r" b="b" t="t" l="l"/>
              <a:pathLst>
                <a:path h="4389120" w="4389120">
                  <a:moveTo>
                    <a:pt x="0" y="0"/>
                  </a:moveTo>
                  <a:lnTo>
                    <a:pt x="4389120" y="0"/>
                  </a:lnTo>
                  <a:lnTo>
                    <a:pt x="4389120" y="4389120"/>
                  </a:lnTo>
                  <a:lnTo>
                    <a:pt x="0" y="4389120"/>
                  </a:lnTo>
                  <a:lnTo>
                    <a:pt x="0" y="0"/>
                  </a:lnTo>
                  <a:close/>
                </a:path>
              </a:pathLst>
            </a:custGeom>
            <a:blipFill>
              <a:blip r:embed="rId4"/>
              <a:stretch>
                <a:fillRect l="0" t="0" r="0" b="0"/>
              </a:stretch>
            </a:blipFill>
          </p:spPr>
        </p:sp>
      </p:grpSp>
      <p:grpSp>
        <p:nvGrpSpPr>
          <p:cNvPr name="Group 28" id="28"/>
          <p:cNvGrpSpPr/>
          <p:nvPr/>
        </p:nvGrpSpPr>
        <p:grpSpPr>
          <a:xfrm rot="0">
            <a:off x="13098780" y="6281928"/>
            <a:ext cx="3977640" cy="480060"/>
            <a:chOff x="0" y="0"/>
            <a:chExt cx="5303520" cy="640080"/>
          </a:xfrm>
        </p:grpSpPr>
        <p:sp>
          <p:nvSpPr>
            <p:cNvPr name="Freeform 29" id="29"/>
            <p:cNvSpPr/>
            <p:nvPr/>
          </p:nvSpPr>
          <p:spPr>
            <a:xfrm flipH="false" flipV="false" rot="0">
              <a:off x="0" y="0"/>
              <a:ext cx="5303520" cy="640080"/>
            </a:xfrm>
            <a:custGeom>
              <a:avLst/>
              <a:gdLst/>
              <a:ahLst/>
              <a:cxnLst/>
              <a:rect r="r" b="b" t="t" l="l"/>
              <a:pathLst>
                <a:path h="640080" w="5303520">
                  <a:moveTo>
                    <a:pt x="0" y="0"/>
                  </a:moveTo>
                  <a:lnTo>
                    <a:pt x="5303520" y="0"/>
                  </a:lnTo>
                  <a:lnTo>
                    <a:pt x="5303520" y="640080"/>
                  </a:lnTo>
                  <a:lnTo>
                    <a:pt x="0" y="640080"/>
                  </a:lnTo>
                  <a:close/>
                </a:path>
              </a:pathLst>
            </a:custGeom>
            <a:blipFill>
              <a:blip r:embed="rId2">
                <a:alphaModFix amt="0"/>
              </a:blip>
              <a:stretch>
                <a:fillRect l="0" t="-111447" r="0" b="-111447"/>
              </a:stretch>
            </a:blipFill>
          </p:spPr>
        </p:sp>
        <p:sp>
          <p:nvSpPr>
            <p:cNvPr name="TextBox 30" id="30"/>
            <p:cNvSpPr txBox="true"/>
            <p:nvPr/>
          </p:nvSpPr>
          <p:spPr>
            <a:xfrm>
              <a:off x="0" y="-38100"/>
              <a:ext cx="5303520" cy="678180"/>
            </a:xfrm>
            <a:prstGeom prst="rect">
              <a:avLst/>
            </a:prstGeom>
          </p:spPr>
          <p:txBody>
            <a:bodyPr anchor="ctr" rtlCol="false" tIns="0" lIns="0" bIns="0" rIns="0"/>
            <a:lstStyle/>
            <a:p>
              <a:pPr algn="ctr">
                <a:lnSpc>
                  <a:spcPts val="2160"/>
                </a:lnSpc>
              </a:pPr>
              <a:r>
                <a:rPr lang="en-US" sz="1800" b="true">
                  <a:solidFill>
                    <a:srgbClr val="CADCFC"/>
                  </a:solidFill>
                  <a:latin typeface="Calibri (MS) Bold"/>
                  <a:ea typeface="Calibri (MS) Bold"/>
                  <a:cs typeface="Calibri (MS) Bold"/>
                  <a:sym typeface="Calibri (MS) Bold"/>
                </a:rPr>
                <a:t>PH Cyber Law Sort</a:t>
              </a:r>
            </a:p>
          </p:txBody>
        </p:sp>
      </p:grpSp>
      <p:grpSp>
        <p:nvGrpSpPr>
          <p:cNvPr name="Group 31" id="31"/>
          <p:cNvGrpSpPr/>
          <p:nvPr/>
        </p:nvGrpSpPr>
        <p:grpSpPr>
          <a:xfrm rot="0">
            <a:off x="685800" y="9710928"/>
            <a:ext cx="10972800" cy="411480"/>
            <a:chOff x="0" y="0"/>
            <a:chExt cx="14630400" cy="548640"/>
          </a:xfrm>
        </p:grpSpPr>
        <p:sp>
          <p:nvSpPr>
            <p:cNvPr name="Freeform 32" id="32"/>
            <p:cNvSpPr/>
            <p:nvPr/>
          </p:nvSpPr>
          <p:spPr>
            <a:xfrm flipH="false" flipV="false" rot="0">
              <a:off x="0" y="0"/>
              <a:ext cx="14630400" cy="548640"/>
            </a:xfrm>
            <a:custGeom>
              <a:avLst/>
              <a:gdLst/>
              <a:ahLst/>
              <a:cxnLst/>
              <a:rect r="r" b="b" t="t" l="l"/>
              <a:pathLst>
                <a:path h="548640" w="14630400">
                  <a:moveTo>
                    <a:pt x="0" y="0"/>
                  </a:moveTo>
                  <a:lnTo>
                    <a:pt x="14630400" y="0"/>
                  </a:lnTo>
                  <a:lnTo>
                    <a:pt x="14630400" y="548640"/>
                  </a:lnTo>
                  <a:lnTo>
                    <a:pt x="0" y="548640"/>
                  </a:lnTo>
                  <a:close/>
                </a:path>
              </a:pathLst>
            </a:custGeom>
            <a:blipFill>
              <a:blip r:embed="rId2">
                <a:alphaModFix amt="0"/>
              </a:blip>
              <a:stretch>
                <a:fillRect l="0" t="-469601" r="0" b="-469601"/>
              </a:stretch>
            </a:blipFill>
          </p:spPr>
        </p:sp>
        <p:sp>
          <p:nvSpPr>
            <p:cNvPr name="TextBox 33" id="33"/>
            <p:cNvSpPr txBox="true"/>
            <p:nvPr/>
          </p:nvSpPr>
          <p:spPr>
            <a:xfrm>
              <a:off x="0" y="-38100"/>
              <a:ext cx="14630400" cy="586740"/>
            </a:xfrm>
            <a:prstGeom prst="rect">
              <a:avLst/>
            </a:prstGeom>
          </p:spPr>
          <p:txBody>
            <a:bodyPr anchor="ctr" rtlCol="false" tIns="0" lIns="0" bIns="0" rIns="0"/>
            <a:lstStyle/>
            <a:p>
              <a:pPr algn="l">
                <a:lnSpc>
                  <a:spcPts val="1800"/>
                </a:lnSpc>
              </a:pPr>
              <a:r>
                <a:rPr lang="en-US" sz="1500">
                  <a:solidFill>
                    <a:srgbClr val="CADCFC"/>
                  </a:solidFill>
                  <a:latin typeface="Calibri (MS)"/>
                  <a:ea typeface="Calibri (MS)"/>
                  <a:cs typeface="Calibri (MS)"/>
                  <a:sym typeface="Calibri (MS)"/>
                </a:rPr>
                <a:t>Davao del Norte Provincial Government — Cybersecurity Seminar</a:t>
              </a:r>
            </a:p>
          </p:txBody>
        </p:sp>
      </p:grpSp>
      <p:grpSp>
        <p:nvGrpSpPr>
          <p:cNvPr name="Group 34" id="34"/>
          <p:cNvGrpSpPr/>
          <p:nvPr/>
        </p:nvGrpSpPr>
        <p:grpSpPr>
          <a:xfrm rot="0">
            <a:off x="16911828" y="9710928"/>
            <a:ext cx="685800" cy="411480"/>
            <a:chOff x="0" y="0"/>
            <a:chExt cx="914400" cy="548640"/>
          </a:xfrm>
        </p:grpSpPr>
        <p:sp>
          <p:nvSpPr>
            <p:cNvPr name="Freeform 35" id="35"/>
            <p:cNvSpPr/>
            <p:nvPr/>
          </p:nvSpPr>
          <p:spPr>
            <a:xfrm flipH="false" flipV="false" rot="0">
              <a:off x="0" y="0"/>
              <a:ext cx="914400" cy="548640"/>
            </a:xfrm>
            <a:custGeom>
              <a:avLst/>
              <a:gdLst/>
              <a:ahLst/>
              <a:cxnLst/>
              <a:rect r="r" b="b" t="t" l="l"/>
              <a:pathLst>
                <a:path h="548640" w="914400">
                  <a:moveTo>
                    <a:pt x="0" y="0"/>
                  </a:moveTo>
                  <a:lnTo>
                    <a:pt x="914400" y="0"/>
                  </a:lnTo>
                  <a:lnTo>
                    <a:pt x="914400" y="548640"/>
                  </a:lnTo>
                  <a:lnTo>
                    <a:pt x="0" y="548640"/>
                  </a:lnTo>
                  <a:close/>
                </a:path>
              </a:pathLst>
            </a:custGeom>
            <a:blipFill>
              <a:blip r:embed="rId2">
                <a:alphaModFix amt="0"/>
              </a:blip>
              <a:stretch>
                <a:fillRect l="-26982" t="0" r="-26982" b="0"/>
              </a:stretch>
            </a:blipFill>
          </p:spPr>
        </p:sp>
        <p:sp>
          <p:nvSpPr>
            <p:cNvPr name="TextBox 36" id="36"/>
            <p:cNvSpPr txBox="true"/>
            <p:nvPr/>
          </p:nvSpPr>
          <p:spPr>
            <a:xfrm>
              <a:off x="0" y="-38100"/>
              <a:ext cx="914400" cy="586740"/>
            </a:xfrm>
            <a:prstGeom prst="rect">
              <a:avLst/>
            </a:prstGeom>
          </p:spPr>
          <p:txBody>
            <a:bodyPr anchor="ctr" rtlCol="false" tIns="0" lIns="0" bIns="0" rIns="0"/>
            <a:lstStyle/>
            <a:p>
              <a:pPr algn="r">
                <a:lnSpc>
                  <a:spcPts val="1800"/>
                </a:lnSpc>
              </a:pPr>
              <a:r>
                <a:rPr lang="en-US" sz="1500">
                  <a:solidFill>
                    <a:srgbClr val="CADCFC"/>
                  </a:solidFill>
                  <a:latin typeface="Calibri (MS)"/>
                  <a:ea typeface="Calibri (MS)"/>
                  <a:cs typeface="Calibri (MS)"/>
                  <a:sym typeface="Calibri (MS)"/>
                </a:rPr>
                <a:t>10</a:t>
              </a:r>
            </a:p>
          </p:txBody>
        </p:sp>
      </p:grpSp>
    </p:spTree>
  </p:cSld>
  <p:clrMapOvr>
    <a:masterClrMapping/>
  </p:clrMapOvr>
</p:sld>
</file>

<file path=ppt/slides/slide12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60120" y="685800"/>
            <a:ext cx="13716000" cy="411480"/>
            <a:chOff x="0" y="0"/>
            <a:chExt cx="18288000" cy="548640"/>
          </a:xfrm>
        </p:grpSpPr>
        <p:sp>
          <p:nvSpPr>
            <p:cNvPr name="Freeform 3" id="3"/>
            <p:cNvSpPr/>
            <p:nvPr/>
          </p:nvSpPr>
          <p:spPr>
            <a:xfrm flipH="false" flipV="false" rot="0">
              <a:off x="0" y="0"/>
              <a:ext cx="18288000" cy="548640"/>
            </a:xfrm>
            <a:custGeom>
              <a:avLst/>
              <a:gdLst/>
              <a:ahLst/>
              <a:cxnLst/>
              <a:rect r="r" b="b" t="t" l="l"/>
              <a:pathLst>
                <a:path h="548640" w="18288000">
                  <a:moveTo>
                    <a:pt x="0" y="0"/>
                  </a:moveTo>
                  <a:lnTo>
                    <a:pt x="18288000" y="0"/>
                  </a:lnTo>
                  <a:lnTo>
                    <a:pt x="18288000" y="548640"/>
                  </a:lnTo>
                  <a:lnTo>
                    <a:pt x="0" y="548640"/>
                  </a:lnTo>
                  <a:close/>
                </a:path>
              </a:pathLst>
            </a:custGeom>
            <a:blipFill>
              <a:blip r:embed="rId2">
                <a:alphaModFix amt="0"/>
              </a:blip>
              <a:stretch>
                <a:fillRect l="0" t="-599501" r="0" b="-599501"/>
              </a:stretch>
            </a:blipFill>
          </p:spPr>
        </p:sp>
        <p:sp>
          <p:nvSpPr>
            <p:cNvPr name="TextBox 4" id="4"/>
            <p:cNvSpPr txBox="true"/>
            <p:nvPr/>
          </p:nvSpPr>
          <p:spPr>
            <a:xfrm>
              <a:off x="0" y="-38100"/>
              <a:ext cx="18288000" cy="586740"/>
            </a:xfrm>
            <a:prstGeom prst="rect">
              <a:avLst/>
            </a:prstGeom>
          </p:spPr>
          <p:txBody>
            <a:bodyPr anchor="ctr" rtlCol="false" tIns="0" lIns="0" bIns="0" rIns="0"/>
            <a:lstStyle/>
            <a:p>
              <a:pPr algn="l">
                <a:lnSpc>
                  <a:spcPts val="2160"/>
                </a:lnSpc>
              </a:pPr>
              <a:r>
                <a:rPr lang="en-US" b="true" sz="1800" spc="225">
                  <a:solidFill>
                    <a:srgbClr val="00B4D8"/>
                  </a:solidFill>
                  <a:latin typeface="Calibri (MS) Bold"/>
                  <a:ea typeface="Calibri (MS) Bold"/>
                  <a:cs typeface="Calibri (MS) Bold"/>
                  <a:sym typeface="Calibri (MS) Bold"/>
                </a:rPr>
                <a:t>PH CYBER LAW SORT · SCENARIO</a:t>
              </a:r>
            </a:p>
          </p:txBody>
        </p:sp>
      </p:grpSp>
      <p:grpSp>
        <p:nvGrpSpPr>
          <p:cNvPr name="Group 5" id="5"/>
          <p:cNvGrpSpPr/>
          <p:nvPr/>
        </p:nvGrpSpPr>
        <p:grpSpPr>
          <a:xfrm rot="0">
            <a:off x="960120" y="1069848"/>
            <a:ext cx="10972800" cy="822960"/>
            <a:chOff x="0" y="0"/>
            <a:chExt cx="14630400" cy="1097280"/>
          </a:xfrm>
        </p:grpSpPr>
        <p:sp>
          <p:nvSpPr>
            <p:cNvPr name="Freeform 6" id="6"/>
            <p:cNvSpPr/>
            <p:nvPr/>
          </p:nvSpPr>
          <p:spPr>
            <a:xfrm flipH="false" flipV="false" rot="0">
              <a:off x="0" y="0"/>
              <a:ext cx="14630400" cy="1097280"/>
            </a:xfrm>
            <a:custGeom>
              <a:avLst/>
              <a:gdLst/>
              <a:ahLst/>
              <a:cxnLst/>
              <a:rect r="r" b="b" t="t" l="l"/>
              <a:pathLst>
                <a:path h="1097280" w="14630400">
                  <a:moveTo>
                    <a:pt x="0" y="0"/>
                  </a:moveTo>
                  <a:lnTo>
                    <a:pt x="14630400" y="0"/>
                  </a:lnTo>
                  <a:lnTo>
                    <a:pt x="14630400" y="1097280"/>
                  </a:lnTo>
                  <a:lnTo>
                    <a:pt x="0" y="1097280"/>
                  </a:lnTo>
                  <a:close/>
                </a:path>
              </a:pathLst>
            </a:custGeom>
            <a:blipFill>
              <a:blip r:embed="rId2">
                <a:alphaModFix amt="0"/>
              </a:blip>
              <a:stretch>
                <a:fillRect l="0" t="-209800" r="0" b="-209800"/>
              </a:stretch>
            </a:blipFill>
          </p:spPr>
        </p:sp>
        <p:sp>
          <p:nvSpPr>
            <p:cNvPr name="TextBox 7" id="7"/>
            <p:cNvSpPr txBox="true"/>
            <p:nvPr/>
          </p:nvSpPr>
          <p:spPr>
            <a:xfrm>
              <a:off x="0" y="0"/>
              <a:ext cx="14630400" cy="1097280"/>
            </a:xfrm>
            <a:prstGeom prst="rect">
              <a:avLst/>
            </a:prstGeom>
          </p:spPr>
          <p:txBody>
            <a:bodyPr anchor="ctr" rtlCol="false" tIns="0" lIns="0" bIns="0" rIns="0"/>
            <a:lstStyle/>
            <a:p>
              <a:pPr algn="l">
                <a:lnSpc>
                  <a:spcPts val="4680"/>
                </a:lnSpc>
              </a:pPr>
              <a:r>
                <a:rPr lang="en-US" sz="3900" b="true">
                  <a:solidFill>
                    <a:srgbClr val="1E2761"/>
                  </a:solidFill>
                  <a:latin typeface="Cambria Bold"/>
                  <a:ea typeface="Cambria Bold"/>
                  <a:cs typeface="Cambria Bold"/>
                  <a:sym typeface="Cambria Bold"/>
                </a:rPr>
                <a:t>Scenario 1</a:t>
              </a:r>
            </a:p>
          </p:txBody>
        </p:sp>
      </p:grpSp>
      <p:grpSp>
        <p:nvGrpSpPr>
          <p:cNvPr name="Group 8" id="8"/>
          <p:cNvGrpSpPr/>
          <p:nvPr/>
        </p:nvGrpSpPr>
        <p:grpSpPr>
          <a:xfrm rot="0">
            <a:off x="960120" y="1810512"/>
            <a:ext cx="8229600" cy="411480"/>
            <a:chOff x="0" y="0"/>
            <a:chExt cx="10972800" cy="548640"/>
          </a:xfrm>
        </p:grpSpPr>
        <p:sp>
          <p:nvSpPr>
            <p:cNvPr name="Freeform 9" id="9"/>
            <p:cNvSpPr/>
            <p:nvPr/>
          </p:nvSpPr>
          <p:spPr>
            <a:xfrm flipH="false" flipV="false" rot="0">
              <a:off x="0" y="0"/>
              <a:ext cx="10972800" cy="548640"/>
            </a:xfrm>
            <a:custGeom>
              <a:avLst/>
              <a:gdLst/>
              <a:ahLst/>
              <a:cxnLst/>
              <a:rect r="r" b="b" t="t" l="l"/>
              <a:pathLst>
                <a:path h="548640" w="10972800">
                  <a:moveTo>
                    <a:pt x="0" y="0"/>
                  </a:moveTo>
                  <a:lnTo>
                    <a:pt x="10972800" y="0"/>
                  </a:lnTo>
                  <a:lnTo>
                    <a:pt x="10972800" y="548640"/>
                  </a:lnTo>
                  <a:lnTo>
                    <a:pt x="0" y="548640"/>
                  </a:lnTo>
                  <a:close/>
                </a:path>
              </a:pathLst>
            </a:custGeom>
            <a:blipFill>
              <a:blip r:embed="rId2">
                <a:alphaModFix amt="0"/>
              </a:blip>
              <a:stretch>
                <a:fillRect l="0" t="-339700" r="0" b="-339700"/>
              </a:stretch>
            </a:blipFill>
          </p:spPr>
        </p:sp>
        <p:sp>
          <p:nvSpPr>
            <p:cNvPr name="TextBox 10" id="10"/>
            <p:cNvSpPr txBox="true"/>
            <p:nvPr/>
          </p:nvSpPr>
          <p:spPr>
            <a:xfrm>
              <a:off x="0" y="-28575"/>
              <a:ext cx="10972800" cy="577215"/>
            </a:xfrm>
            <a:prstGeom prst="rect">
              <a:avLst/>
            </a:prstGeom>
          </p:spPr>
          <p:txBody>
            <a:bodyPr anchor="ctr" rtlCol="false" tIns="0" lIns="0" bIns="0" rIns="0"/>
            <a:lstStyle/>
            <a:p>
              <a:pPr algn="l">
                <a:lnSpc>
                  <a:spcPts val="1980"/>
                </a:lnSpc>
              </a:pPr>
              <a:r>
                <a:rPr lang="en-US" sz="1650">
                  <a:solidFill>
                    <a:srgbClr val="6B7280"/>
                  </a:solidFill>
                  <a:latin typeface="Calibri (MS)"/>
                  <a:ea typeface="Calibri (MS)"/>
                  <a:cs typeface="Calibri (MS)"/>
                  <a:sym typeface="Calibri (MS)"/>
                </a:rPr>
                <a:t>1 of 15</a:t>
              </a:r>
            </a:p>
          </p:txBody>
        </p:sp>
      </p:grpSp>
      <p:grpSp>
        <p:nvGrpSpPr>
          <p:cNvPr name="Group 11" id="11"/>
          <p:cNvGrpSpPr/>
          <p:nvPr/>
        </p:nvGrpSpPr>
        <p:grpSpPr>
          <a:xfrm rot="0">
            <a:off x="960120" y="2537460"/>
            <a:ext cx="16322040" cy="2811780"/>
            <a:chOff x="0" y="0"/>
            <a:chExt cx="21762720" cy="3749040"/>
          </a:xfrm>
        </p:grpSpPr>
        <p:sp>
          <p:nvSpPr>
            <p:cNvPr name="Freeform 12" id="12"/>
            <p:cNvSpPr/>
            <p:nvPr/>
          </p:nvSpPr>
          <p:spPr>
            <a:xfrm flipH="false" flipV="false" rot="0">
              <a:off x="0" y="0"/>
              <a:ext cx="21762720" cy="3749040"/>
            </a:xfrm>
            <a:custGeom>
              <a:avLst/>
              <a:gdLst/>
              <a:ahLst/>
              <a:cxnLst/>
              <a:rect r="r" b="b" t="t" l="l"/>
              <a:pathLst>
                <a:path h="3749040" w="21762720">
                  <a:moveTo>
                    <a:pt x="0" y="182880"/>
                  </a:moveTo>
                  <a:cubicBezTo>
                    <a:pt x="0" y="81915"/>
                    <a:pt x="81915" y="0"/>
                    <a:pt x="182880" y="0"/>
                  </a:cubicBezTo>
                  <a:lnTo>
                    <a:pt x="21579839" y="0"/>
                  </a:lnTo>
                  <a:cubicBezTo>
                    <a:pt x="21680804" y="0"/>
                    <a:pt x="21762720" y="81915"/>
                    <a:pt x="21762720" y="182880"/>
                  </a:cubicBezTo>
                  <a:lnTo>
                    <a:pt x="21762720" y="3566160"/>
                  </a:lnTo>
                  <a:cubicBezTo>
                    <a:pt x="21762720" y="3667125"/>
                    <a:pt x="21680804" y="3749040"/>
                    <a:pt x="21579839" y="3749040"/>
                  </a:cubicBezTo>
                  <a:lnTo>
                    <a:pt x="182880" y="3749040"/>
                  </a:lnTo>
                  <a:cubicBezTo>
                    <a:pt x="81915" y="3749040"/>
                    <a:pt x="0" y="3667125"/>
                    <a:pt x="0" y="3566160"/>
                  </a:cubicBezTo>
                  <a:close/>
                </a:path>
              </a:pathLst>
            </a:custGeom>
            <a:solidFill>
              <a:srgbClr val="F4F7FC"/>
            </a:solidFill>
          </p:spPr>
        </p:sp>
      </p:grpSp>
      <p:grpSp>
        <p:nvGrpSpPr>
          <p:cNvPr name="Group 13" id="13"/>
          <p:cNvGrpSpPr/>
          <p:nvPr/>
        </p:nvGrpSpPr>
        <p:grpSpPr>
          <a:xfrm rot="0">
            <a:off x="1440180" y="2811780"/>
            <a:ext cx="15361920" cy="2263140"/>
            <a:chOff x="0" y="0"/>
            <a:chExt cx="20482560" cy="3017520"/>
          </a:xfrm>
        </p:grpSpPr>
        <p:sp>
          <p:nvSpPr>
            <p:cNvPr name="Freeform 14" id="14"/>
            <p:cNvSpPr/>
            <p:nvPr/>
          </p:nvSpPr>
          <p:spPr>
            <a:xfrm flipH="false" flipV="false" rot="0">
              <a:off x="0" y="0"/>
              <a:ext cx="20482561" cy="3017520"/>
            </a:xfrm>
            <a:custGeom>
              <a:avLst/>
              <a:gdLst/>
              <a:ahLst/>
              <a:cxnLst/>
              <a:rect r="r" b="b" t="t" l="l"/>
              <a:pathLst>
                <a:path h="3017520" w="20482561">
                  <a:moveTo>
                    <a:pt x="0" y="0"/>
                  </a:moveTo>
                  <a:lnTo>
                    <a:pt x="20482561" y="0"/>
                  </a:lnTo>
                  <a:lnTo>
                    <a:pt x="20482561" y="3017520"/>
                  </a:lnTo>
                  <a:lnTo>
                    <a:pt x="0" y="3017520"/>
                  </a:lnTo>
                  <a:close/>
                </a:path>
              </a:pathLst>
            </a:custGeom>
            <a:blipFill>
              <a:blip r:embed="rId2">
                <a:alphaModFix amt="0"/>
              </a:blip>
              <a:stretch>
                <a:fillRect l="0" t="-82262" r="0" b="-82262"/>
              </a:stretch>
            </a:blipFill>
          </p:spPr>
        </p:sp>
        <p:sp>
          <p:nvSpPr>
            <p:cNvPr name="TextBox 15" id="15"/>
            <p:cNvSpPr txBox="true"/>
            <p:nvPr/>
          </p:nvSpPr>
          <p:spPr>
            <a:xfrm>
              <a:off x="0" y="-104775"/>
              <a:ext cx="20482560" cy="3122295"/>
            </a:xfrm>
            <a:prstGeom prst="rect">
              <a:avLst/>
            </a:prstGeom>
          </p:spPr>
          <p:txBody>
            <a:bodyPr anchor="ctr" rtlCol="false" tIns="0" lIns="0" bIns="0" rIns="0"/>
            <a:lstStyle/>
            <a:p>
              <a:pPr algn="l">
                <a:lnSpc>
                  <a:spcPts val="4147"/>
                </a:lnSpc>
              </a:pPr>
              <a:r>
                <a:rPr lang="en-US" sz="2700" i="true">
                  <a:solidFill>
                    <a:srgbClr val="23262F"/>
                  </a:solidFill>
                  <a:latin typeface="Cambria Italics"/>
                  <a:ea typeface="Cambria Italics"/>
                  <a:cs typeface="Cambria Italics"/>
                  <a:sym typeface="Cambria Italics"/>
                </a:rPr>
                <a:t>"A vendor challenges a signed digital procurement contract, arguing it isn't legally binding because it wasn't signed by hand."</a:t>
              </a:r>
            </a:p>
          </p:txBody>
        </p:sp>
      </p:grpSp>
      <p:sp>
        <p:nvSpPr>
          <p:cNvPr name="TextBox 16" id="16"/>
          <p:cNvSpPr txBox="true"/>
          <p:nvPr/>
        </p:nvSpPr>
        <p:spPr>
          <a:xfrm rot="0">
            <a:off x="1051560" y="5604510"/>
            <a:ext cx="16139160" cy="864870"/>
          </a:xfrm>
          <a:prstGeom prst="rect">
            <a:avLst/>
          </a:prstGeom>
        </p:spPr>
        <p:txBody>
          <a:bodyPr anchor="t" rtlCol="false" tIns="0" lIns="0" bIns="0" rIns="0">
            <a:spAutoFit/>
          </a:bodyPr>
          <a:lstStyle/>
          <a:p>
            <a:pPr algn="ctr">
              <a:lnSpc>
                <a:spcPts val="3402"/>
              </a:lnSpc>
            </a:pPr>
            <a:r>
              <a:rPr lang="en-US" sz="2100" i="true">
                <a:solidFill>
                  <a:srgbClr val="6B7280"/>
                </a:solidFill>
                <a:latin typeface="Calibri (MS) Italics"/>
                <a:ea typeface="Calibri (MS) Italics"/>
                <a:cs typeface="Calibri (MS) Italics"/>
                <a:sym typeface="Calibri (MS) Italics"/>
              </a:rPr>
              <a:t>Which law or DICT issuance governs this? Discuss, then we'll reveal the answer.</a:t>
            </a:r>
          </a:p>
        </p:txBody>
      </p:sp>
      <p:grpSp>
        <p:nvGrpSpPr>
          <p:cNvPr name="Group 17" id="17"/>
          <p:cNvGrpSpPr/>
          <p:nvPr/>
        </p:nvGrpSpPr>
        <p:grpSpPr>
          <a:xfrm rot="0">
            <a:off x="950595" y="6779895"/>
            <a:ext cx="5162550" cy="910590"/>
            <a:chOff x="0" y="0"/>
            <a:chExt cx="6883400" cy="1214120"/>
          </a:xfrm>
        </p:grpSpPr>
        <p:sp>
          <p:nvSpPr>
            <p:cNvPr name="Freeform 18" id="18"/>
            <p:cNvSpPr/>
            <p:nvPr/>
          </p:nvSpPr>
          <p:spPr>
            <a:xfrm flipH="false" flipV="false" rot="0">
              <a:off x="0" y="0"/>
              <a:ext cx="6883400" cy="1214120"/>
            </a:xfrm>
            <a:custGeom>
              <a:avLst/>
              <a:gdLst/>
              <a:ahLst/>
              <a:cxnLst/>
              <a:rect r="r" b="b" t="t" l="l"/>
              <a:pathLst>
                <a:path h="1214120" w="6883400">
                  <a:moveTo>
                    <a:pt x="0" y="168148"/>
                  </a:moveTo>
                  <a:cubicBezTo>
                    <a:pt x="0" y="75311"/>
                    <a:pt x="75311" y="0"/>
                    <a:pt x="168148" y="0"/>
                  </a:cubicBezTo>
                  <a:lnTo>
                    <a:pt x="6715252" y="0"/>
                  </a:lnTo>
                  <a:cubicBezTo>
                    <a:pt x="6808089" y="0"/>
                    <a:pt x="6883400" y="75311"/>
                    <a:pt x="6883400" y="168148"/>
                  </a:cubicBezTo>
                  <a:lnTo>
                    <a:pt x="6883400" y="1045972"/>
                  </a:lnTo>
                  <a:cubicBezTo>
                    <a:pt x="6883400" y="1138809"/>
                    <a:pt x="6808089" y="1214120"/>
                    <a:pt x="6715252" y="1214120"/>
                  </a:cubicBezTo>
                  <a:lnTo>
                    <a:pt x="168148" y="1214120"/>
                  </a:lnTo>
                  <a:cubicBezTo>
                    <a:pt x="75311" y="1214120"/>
                    <a:pt x="0" y="1138809"/>
                    <a:pt x="0" y="1045972"/>
                  </a:cubicBezTo>
                  <a:close/>
                </a:path>
              </a:pathLst>
            </a:custGeom>
            <a:solidFill>
              <a:srgbClr val="F4F7FC"/>
            </a:solidFill>
            <a:ln w="19050" cap="sq">
              <a:solidFill>
                <a:srgbClr val="D7DCEC"/>
              </a:solidFill>
              <a:prstDash val="solid"/>
              <a:miter/>
            </a:ln>
          </p:spPr>
        </p:sp>
      </p:grpSp>
      <p:grpSp>
        <p:nvGrpSpPr>
          <p:cNvPr name="Group 19" id="19"/>
          <p:cNvGrpSpPr/>
          <p:nvPr/>
        </p:nvGrpSpPr>
        <p:grpSpPr>
          <a:xfrm rot="0">
            <a:off x="960120" y="6858000"/>
            <a:ext cx="5143500" cy="589788"/>
            <a:chOff x="0" y="0"/>
            <a:chExt cx="6858000" cy="786384"/>
          </a:xfrm>
        </p:grpSpPr>
        <p:sp>
          <p:nvSpPr>
            <p:cNvPr name="Freeform 20" id="20"/>
            <p:cNvSpPr/>
            <p:nvPr/>
          </p:nvSpPr>
          <p:spPr>
            <a:xfrm flipH="false" flipV="false" rot="0">
              <a:off x="0" y="0"/>
              <a:ext cx="6858000" cy="786384"/>
            </a:xfrm>
            <a:custGeom>
              <a:avLst/>
              <a:gdLst/>
              <a:ahLst/>
              <a:cxnLst/>
              <a:rect r="r" b="b" t="t" l="l"/>
              <a:pathLst>
                <a:path h="786384" w="6858000">
                  <a:moveTo>
                    <a:pt x="0" y="0"/>
                  </a:moveTo>
                  <a:lnTo>
                    <a:pt x="6858000" y="0"/>
                  </a:lnTo>
                  <a:lnTo>
                    <a:pt x="6858000" y="786384"/>
                  </a:lnTo>
                  <a:lnTo>
                    <a:pt x="0" y="786384"/>
                  </a:lnTo>
                  <a:close/>
                </a:path>
              </a:pathLst>
            </a:custGeom>
            <a:blipFill>
              <a:blip r:embed="rId2">
                <a:alphaModFix amt="0"/>
              </a:blip>
              <a:stretch>
                <a:fillRect l="0" t="-119927" r="0" b="-119927"/>
              </a:stretch>
            </a:blipFill>
          </p:spPr>
        </p:sp>
        <p:sp>
          <p:nvSpPr>
            <p:cNvPr name="TextBox 21" id="21"/>
            <p:cNvSpPr txBox="true"/>
            <p:nvPr/>
          </p:nvSpPr>
          <p:spPr>
            <a:xfrm>
              <a:off x="0" y="-38100"/>
              <a:ext cx="6858000" cy="824484"/>
            </a:xfrm>
            <a:prstGeom prst="rect">
              <a:avLst/>
            </a:prstGeom>
          </p:spPr>
          <p:txBody>
            <a:bodyPr anchor="ctr" rtlCol="false" tIns="0" lIns="0" bIns="0" rIns="0"/>
            <a:lstStyle/>
            <a:p>
              <a:pPr algn="ctr">
                <a:lnSpc>
                  <a:spcPts val="2250"/>
                </a:lnSpc>
              </a:pPr>
              <a:r>
                <a:rPr lang="en-US" sz="1875">
                  <a:solidFill>
                    <a:srgbClr val="6B7280"/>
                  </a:solidFill>
                  <a:latin typeface="Calibri (MS)"/>
                  <a:ea typeface="Calibri (MS)"/>
                  <a:cs typeface="Calibri (MS)"/>
                  <a:sym typeface="Calibri (MS)"/>
                </a:rPr>
                <a:t>E-Commerce Act</a:t>
              </a:r>
            </a:p>
          </p:txBody>
        </p:sp>
      </p:grpSp>
      <p:grpSp>
        <p:nvGrpSpPr>
          <p:cNvPr name="Group 22" id="22"/>
          <p:cNvGrpSpPr/>
          <p:nvPr/>
        </p:nvGrpSpPr>
        <p:grpSpPr>
          <a:xfrm rot="0">
            <a:off x="960120" y="7296912"/>
            <a:ext cx="5143500" cy="329184"/>
            <a:chOff x="0" y="0"/>
            <a:chExt cx="6858000" cy="438912"/>
          </a:xfrm>
        </p:grpSpPr>
        <p:sp>
          <p:nvSpPr>
            <p:cNvPr name="Freeform 23" id="23"/>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24" id="24"/>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9AA3B8"/>
                  </a:solidFill>
                  <a:latin typeface="Arimo"/>
                  <a:ea typeface="Arimo"/>
                  <a:cs typeface="Arimo"/>
                  <a:sym typeface="Arimo"/>
                </a:rPr>
                <a:t>ECA</a:t>
              </a:r>
            </a:p>
          </p:txBody>
        </p:sp>
      </p:grpSp>
      <p:grpSp>
        <p:nvGrpSpPr>
          <p:cNvPr name="Group 25" id="25"/>
          <p:cNvGrpSpPr/>
          <p:nvPr/>
        </p:nvGrpSpPr>
        <p:grpSpPr>
          <a:xfrm rot="0">
            <a:off x="6533007" y="6779895"/>
            <a:ext cx="5162550" cy="910590"/>
            <a:chOff x="0" y="0"/>
            <a:chExt cx="6883400" cy="1214120"/>
          </a:xfrm>
        </p:grpSpPr>
        <p:sp>
          <p:nvSpPr>
            <p:cNvPr name="Freeform 26" id="26"/>
            <p:cNvSpPr/>
            <p:nvPr/>
          </p:nvSpPr>
          <p:spPr>
            <a:xfrm flipH="false" flipV="false" rot="0">
              <a:off x="0" y="0"/>
              <a:ext cx="6883400" cy="1214120"/>
            </a:xfrm>
            <a:custGeom>
              <a:avLst/>
              <a:gdLst/>
              <a:ahLst/>
              <a:cxnLst/>
              <a:rect r="r" b="b" t="t" l="l"/>
              <a:pathLst>
                <a:path h="1214120" w="6883400">
                  <a:moveTo>
                    <a:pt x="0" y="168148"/>
                  </a:moveTo>
                  <a:cubicBezTo>
                    <a:pt x="0" y="75311"/>
                    <a:pt x="75311" y="0"/>
                    <a:pt x="168148" y="0"/>
                  </a:cubicBezTo>
                  <a:lnTo>
                    <a:pt x="6715252" y="0"/>
                  </a:lnTo>
                  <a:cubicBezTo>
                    <a:pt x="6808089" y="0"/>
                    <a:pt x="6883400" y="75311"/>
                    <a:pt x="6883400" y="168148"/>
                  </a:cubicBezTo>
                  <a:lnTo>
                    <a:pt x="6883400" y="1045972"/>
                  </a:lnTo>
                  <a:cubicBezTo>
                    <a:pt x="6883400" y="1138809"/>
                    <a:pt x="6808089" y="1214120"/>
                    <a:pt x="6715252" y="1214120"/>
                  </a:cubicBezTo>
                  <a:lnTo>
                    <a:pt x="168148" y="1214120"/>
                  </a:lnTo>
                  <a:cubicBezTo>
                    <a:pt x="75311" y="1214120"/>
                    <a:pt x="0" y="1138809"/>
                    <a:pt x="0" y="1045972"/>
                  </a:cubicBezTo>
                  <a:close/>
                </a:path>
              </a:pathLst>
            </a:custGeom>
            <a:solidFill>
              <a:srgbClr val="F4F7FC"/>
            </a:solidFill>
            <a:ln w="19050" cap="sq">
              <a:solidFill>
                <a:srgbClr val="D7DCEC"/>
              </a:solidFill>
              <a:prstDash val="solid"/>
              <a:miter/>
            </a:ln>
          </p:spPr>
        </p:sp>
      </p:grpSp>
      <p:grpSp>
        <p:nvGrpSpPr>
          <p:cNvPr name="Group 27" id="27"/>
          <p:cNvGrpSpPr/>
          <p:nvPr/>
        </p:nvGrpSpPr>
        <p:grpSpPr>
          <a:xfrm rot="0">
            <a:off x="6542532" y="6858000"/>
            <a:ext cx="5143500" cy="589788"/>
            <a:chOff x="0" y="0"/>
            <a:chExt cx="6858000" cy="786384"/>
          </a:xfrm>
        </p:grpSpPr>
        <p:sp>
          <p:nvSpPr>
            <p:cNvPr name="Freeform 28" id="28"/>
            <p:cNvSpPr/>
            <p:nvPr/>
          </p:nvSpPr>
          <p:spPr>
            <a:xfrm flipH="false" flipV="false" rot="0">
              <a:off x="0" y="0"/>
              <a:ext cx="6858000" cy="786384"/>
            </a:xfrm>
            <a:custGeom>
              <a:avLst/>
              <a:gdLst/>
              <a:ahLst/>
              <a:cxnLst/>
              <a:rect r="r" b="b" t="t" l="l"/>
              <a:pathLst>
                <a:path h="786384" w="6858000">
                  <a:moveTo>
                    <a:pt x="0" y="0"/>
                  </a:moveTo>
                  <a:lnTo>
                    <a:pt x="6858000" y="0"/>
                  </a:lnTo>
                  <a:lnTo>
                    <a:pt x="6858000" y="786384"/>
                  </a:lnTo>
                  <a:lnTo>
                    <a:pt x="0" y="786384"/>
                  </a:lnTo>
                  <a:close/>
                </a:path>
              </a:pathLst>
            </a:custGeom>
            <a:blipFill>
              <a:blip r:embed="rId2">
                <a:alphaModFix amt="0"/>
              </a:blip>
              <a:stretch>
                <a:fillRect l="0" t="-119927" r="0" b="-119927"/>
              </a:stretch>
            </a:blipFill>
          </p:spPr>
        </p:sp>
        <p:sp>
          <p:nvSpPr>
            <p:cNvPr name="TextBox 29" id="29"/>
            <p:cNvSpPr txBox="true"/>
            <p:nvPr/>
          </p:nvSpPr>
          <p:spPr>
            <a:xfrm>
              <a:off x="0" y="-38100"/>
              <a:ext cx="6858000" cy="824484"/>
            </a:xfrm>
            <a:prstGeom prst="rect">
              <a:avLst/>
            </a:prstGeom>
          </p:spPr>
          <p:txBody>
            <a:bodyPr anchor="ctr" rtlCol="false" tIns="0" lIns="0" bIns="0" rIns="0"/>
            <a:lstStyle/>
            <a:p>
              <a:pPr algn="ctr">
                <a:lnSpc>
                  <a:spcPts val="2250"/>
                </a:lnSpc>
              </a:pPr>
              <a:r>
                <a:rPr lang="en-US" sz="1875">
                  <a:solidFill>
                    <a:srgbClr val="6B7280"/>
                  </a:solidFill>
                  <a:latin typeface="Calibri (MS)"/>
                  <a:ea typeface="Calibri (MS)"/>
                  <a:cs typeface="Calibri (MS)"/>
                  <a:sym typeface="Calibri (MS)"/>
                </a:rPr>
                <a:t>Cybercrime Act</a:t>
              </a:r>
            </a:p>
          </p:txBody>
        </p:sp>
      </p:grpSp>
      <p:grpSp>
        <p:nvGrpSpPr>
          <p:cNvPr name="Group 30" id="30"/>
          <p:cNvGrpSpPr/>
          <p:nvPr/>
        </p:nvGrpSpPr>
        <p:grpSpPr>
          <a:xfrm rot="0">
            <a:off x="6542532" y="7296912"/>
            <a:ext cx="5143500" cy="329184"/>
            <a:chOff x="0" y="0"/>
            <a:chExt cx="6858000" cy="438912"/>
          </a:xfrm>
        </p:grpSpPr>
        <p:sp>
          <p:nvSpPr>
            <p:cNvPr name="Freeform 31" id="31"/>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32" id="32"/>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9AA3B8"/>
                  </a:solidFill>
                  <a:latin typeface="Arimo"/>
                  <a:ea typeface="Arimo"/>
                  <a:cs typeface="Arimo"/>
                  <a:sym typeface="Arimo"/>
                </a:rPr>
                <a:t>CPA</a:t>
              </a:r>
            </a:p>
          </p:txBody>
        </p:sp>
      </p:grpSp>
      <p:grpSp>
        <p:nvGrpSpPr>
          <p:cNvPr name="Group 33" id="33"/>
          <p:cNvGrpSpPr/>
          <p:nvPr/>
        </p:nvGrpSpPr>
        <p:grpSpPr>
          <a:xfrm rot="0">
            <a:off x="950595" y="7945755"/>
            <a:ext cx="5162550" cy="910590"/>
            <a:chOff x="0" y="0"/>
            <a:chExt cx="6883400" cy="1214120"/>
          </a:xfrm>
        </p:grpSpPr>
        <p:sp>
          <p:nvSpPr>
            <p:cNvPr name="Freeform 34" id="34"/>
            <p:cNvSpPr/>
            <p:nvPr/>
          </p:nvSpPr>
          <p:spPr>
            <a:xfrm flipH="false" flipV="false" rot="0">
              <a:off x="0" y="0"/>
              <a:ext cx="6883400" cy="1214120"/>
            </a:xfrm>
            <a:custGeom>
              <a:avLst/>
              <a:gdLst/>
              <a:ahLst/>
              <a:cxnLst/>
              <a:rect r="r" b="b" t="t" l="l"/>
              <a:pathLst>
                <a:path h="1214120" w="6883400">
                  <a:moveTo>
                    <a:pt x="0" y="168148"/>
                  </a:moveTo>
                  <a:cubicBezTo>
                    <a:pt x="0" y="75311"/>
                    <a:pt x="75311" y="0"/>
                    <a:pt x="168148" y="0"/>
                  </a:cubicBezTo>
                  <a:lnTo>
                    <a:pt x="6715252" y="0"/>
                  </a:lnTo>
                  <a:cubicBezTo>
                    <a:pt x="6808089" y="0"/>
                    <a:pt x="6883400" y="75311"/>
                    <a:pt x="6883400" y="168148"/>
                  </a:cubicBezTo>
                  <a:lnTo>
                    <a:pt x="6883400" y="1045972"/>
                  </a:lnTo>
                  <a:cubicBezTo>
                    <a:pt x="6883400" y="1138809"/>
                    <a:pt x="6808089" y="1214120"/>
                    <a:pt x="6715252" y="1214120"/>
                  </a:cubicBezTo>
                  <a:lnTo>
                    <a:pt x="168148" y="1214120"/>
                  </a:lnTo>
                  <a:cubicBezTo>
                    <a:pt x="75311" y="1214120"/>
                    <a:pt x="0" y="1138809"/>
                    <a:pt x="0" y="1045972"/>
                  </a:cubicBezTo>
                  <a:close/>
                </a:path>
              </a:pathLst>
            </a:custGeom>
            <a:solidFill>
              <a:srgbClr val="F4F7FC"/>
            </a:solidFill>
            <a:ln w="19050" cap="sq">
              <a:solidFill>
                <a:srgbClr val="D7DCEC"/>
              </a:solidFill>
              <a:prstDash val="solid"/>
              <a:miter/>
            </a:ln>
          </p:spPr>
        </p:sp>
      </p:grpSp>
      <p:grpSp>
        <p:nvGrpSpPr>
          <p:cNvPr name="Group 35" id="35"/>
          <p:cNvGrpSpPr/>
          <p:nvPr/>
        </p:nvGrpSpPr>
        <p:grpSpPr>
          <a:xfrm rot="0">
            <a:off x="960120" y="8023860"/>
            <a:ext cx="5143500" cy="589788"/>
            <a:chOff x="0" y="0"/>
            <a:chExt cx="6858000" cy="786384"/>
          </a:xfrm>
        </p:grpSpPr>
        <p:sp>
          <p:nvSpPr>
            <p:cNvPr name="Freeform 36" id="36"/>
            <p:cNvSpPr/>
            <p:nvPr/>
          </p:nvSpPr>
          <p:spPr>
            <a:xfrm flipH="false" flipV="false" rot="0">
              <a:off x="0" y="0"/>
              <a:ext cx="6858000" cy="786384"/>
            </a:xfrm>
            <a:custGeom>
              <a:avLst/>
              <a:gdLst/>
              <a:ahLst/>
              <a:cxnLst/>
              <a:rect r="r" b="b" t="t" l="l"/>
              <a:pathLst>
                <a:path h="786384" w="6858000">
                  <a:moveTo>
                    <a:pt x="0" y="0"/>
                  </a:moveTo>
                  <a:lnTo>
                    <a:pt x="6858000" y="0"/>
                  </a:lnTo>
                  <a:lnTo>
                    <a:pt x="6858000" y="786384"/>
                  </a:lnTo>
                  <a:lnTo>
                    <a:pt x="0" y="786384"/>
                  </a:lnTo>
                  <a:close/>
                </a:path>
              </a:pathLst>
            </a:custGeom>
            <a:blipFill>
              <a:blip r:embed="rId2">
                <a:alphaModFix amt="0"/>
              </a:blip>
              <a:stretch>
                <a:fillRect l="0" t="-119927" r="0" b="-119927"/>
              </a:stretch>
            </a:blipFill>
          </p:spPr>
        </p:sp>
        <p:sp>
          <p:nvSpPr>
            <p:cNvPr name="TextBox 37" id="37"/>
            <p:cNvSpPr txBox="true"/>
            <p:nvPr/>
          </p:nvSpPr>
          <p:spPr>
            <a:xfrm>
              <a:off x="0" y="-38100"/>
              <a:ext cx="6858000" cy="824484"/>
            </a:xfrm>
            <a:prstGeom prst="rect">
              <a:avLst/>
            </a:prstGeom>
          </p:spPr>
          <p:txBody>
            <a:bodyPr anchor="ctr" rtlCol="false" tIns="0" lIns="0" bIns="0" rIns="0"/>
            <a:lstStyle/>
            <a:p>
              <a:pPr algn="ctr">
                <a:lnSpc>
                  <a:spcPts val="2250"/>
                </a:lnSpc>
              </a:pPr>
              <a:r>
                <a:rPr lang="en-US" sz="1875">
                  <a:solidFill>
                    <a:srgbClr val="6B7280"/>
                  </a:solidFill>
                  <a:latin typeface="Calibri (MS)"/>
                  <a:ea typeface="Calibri (MS)"/>
                  <a:cs typeface="Calibri (MS)"/>
                  <a:sym typeface="Calibri (MS)"/>
                </a:rPr>
                <a:t>Data Privacy Act</a:t>
              </a:r>
            </a:p>
          </p:txBody>
        </p:sp>
      </p:grpSp>
      <p:grpSp>
        <p:nvGrpSpPr>
          <p:cNvPr name="Group 38" id="38"/>
          <p:cNvGrpSpPr/>
          <p:nvPr/>
        </p:nvGrpSpPr>
        <p:grpSpPr>
          <a:xfrm rot="0">
            <a:off x="960120" y="8462772"/>
            <a:ext cx="5143500" cy="329184"/>
            <a:chOff x="0" y="0"/>
            <a:chExt cx="6858000" cy="438912"/>
          </a:xfrm>
        </p:grpSpPr>
        <p:sp>
          <p:nvSpPr>
            <p:cNvPr name="Freeform 39" id="39"/>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40" id="40"/>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9AA3B8"/>
                  </a:solidFill>
                  <a:latin typeface="Arimo"/>
                  <a:ea typeface="Arimo"/>
                  <a:cs typeface="Arimo"/>
                  <a:sym typeface="Arimo"/>
                </a:rPr>
                <a:t>DPA</a:t>
              </a:r>
            </a:p>
          </p:txBody>
        </p:sp>
      </p:grpSp>
      <p:grpSp>
        <p:nvGrpSpPr>
          <p:cNvPr name="Group 41" id="41"/>
          <p:cNvGrpSpPr/>
          <p:nvPr/>
        </p:nvGrpSpPr>
        <p:grpSpPr>
          <a:xfrm rot="0">
            <a:off x="6533007" y="7945755"/>
            <a:ext cx="5162550" cy="910590"/>
            <a:chOff x="0" y="0"/>
            <a:chExt cx="6883400" cy="1214120"/>
          </a:xfrm>
        </p:grpSpPr>
        <p:sp>
          <p:nvSpPr>
            <p:cNvPr name="Freeform 42" id="42"/>
            <p:cNvSpPr/>
            <p:nvPr/>
          </p:nvSpPr>
          <p:spPr>
            <a:xfrm flipH="false" flipV="false" rot="0">
              <a:off x="0" y="0"/>
              <a:ext cx="6883400" cy="1214120"/>
            </a:xfrm>
            <a:custGeom>
              <a:avLst/>
              <a:gdLst/>
              <a:ahLst/>
              <a:cxnLst/>
              <a:rect r="r" b="b" t="t" l="l"/>
              <a:pathLst>
                <a:path h="1214120" w="6883400">
                  <a:moveTo>
                    <a:pt x="0" y="168148"/>
                  </a:moveTo>
                  <a:cubicBezTo>
                    <a:pt x="0" y="75311"/>
                    <a:pt x="75311" y="0"/>
                    <a:pt x="168148" y="0"/>
                  </a:cubicBezTo>
                  <a:lnTo>
                    <a:pt x="6715252" y="0"/>
                  </a:lnTo>
                  <a:cubicBezTo>
                    <a:pt x="6808089" y="0"/>
                    <a:pt x="6883400" y="75311"/>
                    <a:pt x="6883400" y="168148"/>
                  </a:cubicBezTo>
                  <a:lnTo>
                    <a:pt x="6883400" y="1045972"/>
                  </a:lnTo>
                  <a:cubicBezTo>
                    <a:pt x="6883400" y="1138809"/>
                    <a:pt x="6808089" y="1214120"/>
                    <a:pt x="6715252" y="1214120"/>
                  </a:cubicBezTo>
                  <a:lnTo>
                    <a:pt x="168148" y="1214120"/>
                  </a:lnTo>
                  <a:cubicBezTo>
                    <a:pt x="75311" y="1214120"/>
                    <a:pt x="0" y="1138809"/>
                    <a:pt x="0" y="1045972"/>
                  </a:cubicBezTo>
                  <a:close/>
                </a:path>
              </a:pathLst>
            </a:custGeom>
            <a:solidFill>
              <a:srgbClr val="F4F7FC"/>
            </a:solidFill>
            <a:ln w="19050" cap="sq">
              <a:solidFill>
                <a:srgbClr val="D7DCEC"/>
              </a:solidFill>
              <a:prstDash val="solid"/>
              <a:miter/>
            </a:ln>
          </p:spPr>
        </p:sp>
      </p:grpSp>
      <p:grpSp>
        <p:nvGrpSpPr>
          <p:cNvPr name="Group 43" id="43"/>
          <p:cNvGrpSpPr/>
          <p:nvPr/>
        </p:nvGrpSpPr>
        <p:grpSpPr>
          <a:xfrm rot="0">
            <a:off x="6542532" y="8023860"/>
            <a:ext cx="5143500" cy="589788"/>
            <a:chOff x="0" y="0"/>
            <a:chExt cx="6858000" cy="786384"/>
          </a:xfrm>
        </p:grpSpPr>
        <p:sp>
          <p:nvSpPr>
            <p:cNvPr name="Freeform 44" id="44"/>
            <p:cNvSpPr/>
            <p:nvPr/>
          </p:nvSpPr>
          <p:spPr>
            <a:xfrm flipH="false" flipV="false" rot="0">
              <a:off x="0" y="0"/>
              <a:ext cx="6858000" cy="786384"/>
            </a:xfrm>
            <a:custGeom>
              <a:avLst/>
              <a:gdLst/>
              <a:ahLst/>
              <a:cxnLst/>
              <a:rect r="r" b="b" t="t" l="l"/>
              <a:pathLst>
                <a:path h="786384" w="6858000">
                  <a:moveTo>
                    <a:pt x="0" y="0"/>
                  </a:moveTo>
                  <a:lnTo>
                    <a:pt x="6858000" y="0"/>
                  </a:lnTo>
                  <a:lnTo>
                    <a:pt x="6858000" y="786384"/>
                  </a:lnTo>
                  <a:lnTo>
                    <a:pt x="0" y="786384"/>
                  </a:lnTo>
                  <a:close/>
                </a:path>
              </a:pathLst>
            </a:custGeom>
            <a:blipFill>
              <a:blip r:embed="rId2">
                <a:alphaModFix amt="0"/>
              </a:blip>
              <a:stretch>
                <a:fillRect l="0" t="-119927" r="0" b="-119927"/>
              </a:stretch>
            </a:blipFill>
          </p:spPr>
        </p:sp>
        <p:sp>
          <p:nvSpPr>
            <p:cNvPr name="TextBox 45" id="45"/>
            <p:cNvSpPr txBox="true"/>
            <p:nvPr/>
          </p:nvSpPr>
          <p:spPr>
            <a:xfrm>
              <a:off x="0" y="-38100"/>
              <a:ext cx="6858000" cy="824484"/>
            </a:xfrm>
            <a:prstGeom prst="rect">
              <a:avLst/>
            </a:prstGeom>
          </p:spPr>
          <p:txBody>
            <a:bodyPr anchor="ctr" rtlCol="false" tIns="0" lIns="0" bIns="0" rIns="0"/>
            <a:lstStyle/>
            <a:p>
              <a:pPr algn="ctr">
                <a:lnSpc>
                  <a:spcPts val="2250"/>
                </a:lnSpc>
              </a:pPr>
              <a:r>
                <a:rPr lang="en-US" sz="1875">
                  <a:solidFill>
                    <a:srgbClr val="6B7280"/>
                  </a:solidFill>
                  <a:latin typeface="Calibri (MS)"/>
                  <a:ea typeface="Calibri (MS)"/>
                  <a:cs typeface="Calibri (MS)"/>
                  <a:sym typeface="Calibri (MS)"/>
                </a:rPr>
                <a:t>DICT Act / NCSP</a:t>
              </a:r>
            </a:p>
          </p:txBody>
        </p:sp>
      </p:grpSp>
      <p:grpSp>
        <p:nvGrpSpPr>
          <p:cNvPr name="Group 46" id="46"/>
          <p:cNvGrpSpPr/>
          <p:nvPr/>
        </p:nvGrpSpPr>
        <p:grpSpPr>
          <a:xfrm rot="0">
            <a:off x="6542532" y="8462772"/>
            <a:ext cx="5143500" cy="329184"/>
            <a:chOff x="0" y="0"/>
            <a:chExt cx="6858000" cy="438912"/>
          </a:xfrm>
        </p:grpSpPr>
        <p:sp>
          <p:nvSpPr>
            <p:cNvPr name="Freeform 47" id="47"/>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48" id="48"/>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9AA3B8"/>
                  </a:solidFill>
                  <a:latin typeface="Arimo"/>
                  <a:ea typeface="Arimo"/>
                  <a:cs typeface="Arimo"/>
                  <a:sym typeface="Arimo"/>
                </a:rPr>
                <a:t>DICT</a:t>
              </a:r>
            </a:p>
          </p:txBody>
        </p:sp>
      </p:grpSp>
      <p:grpSp>
        <p:nvGrpSpPr>
          <p:cNvPr name="Group 49" id="49"/>
          <p:cNvGrpSpPr/>
          <p:nvPr/>
        </p:nvGrpSpPr>
        <p:grpSpPr>
          <a:xfrm rot="0">
            <a:off x="12115419" y="6779895"/>
            <a:ext cx="5162550" cy="2076450"/>
            <a:chOff x="0" y="0"/>
            <a:chExt cx="6883400" cy="2768600"/>
          </a:xfrm>
        </p:grpSpPr>
        <p:sp>
          <p:nvSpPr>
            <p:cNvPr name="Freeform 50" id="50"/>
            <p:cNvSpPr/>
            <p:nvPr/>
          </p:nvSpPr>
          <p:spPr>
            <a:xfrm flipH="false" flipV="false" rot="0">
              <a:off x="0" y="0"/>
              <a:ext cx="6883400" cy="2768600"/>
            </a:xfrm>
            <a:custGeom>
              <a:avLst/>
              <a:gdLst/>
              <a:ahLst/>
              <a:cxnLst/>
              <a:rect r="r" b="b" t="t" l="l"/>
              <a:pathLst>
                <a:path h="2768600" w="6883400">
                  <a:moveTo>
                    <a:pt x="0" y="166116"/>
                  </a:moveTo>
                  <a:cubicBezTo>
                    <a:pt x="0" y="74422"/>
                    <a:pt x="74422" y="0"/>
                    <a:pt x="166116" y="0"/>
                  </a:cubicBezTo>
                  <a:lnTo>
                    <a:pt x="6717284" y="0"/>
                  </a:lnTo>
                  <a:cubicBezTo>
                    <a:pt x="6808978" y="0"/>
                    <a:pt x="6883400" y="74422"/>
                    <a:pt x="6883400" y="166116"/>
                  </a:cubicBezTo>
                  <a:lnTo>
                    <a:pt x="6883400" y="2602484"/>
                  </a:lnTo>
                  <a:cubicBezTo>
                    <a:pt x="6883400" y="2694178"/>
                    <a:pt x="6808978" y="2768600"/>
                    <a:pt x="6717284" y="2768600"/>
                  </a:cubicBezTo>
                  <a:lnTo>
                    <a:pt x="166116" y="2768600"/>
                  </a:lnTo>
                  <a:cubicBezTo>
                    <a:pt x="74422" y="2768600"/>
                    <a:pt x="0" y="2694178"/>
                    <a:pt x="0" y="2602484"/>
                  </a:cubicBezTo>
                  <a:close/>
                </a:path>
              </a:pathLst>
            </a:custGeom>
            <a:solidFill>
              <a:srgbClr val="F4F7FC"/>
            </a:solidFill>
            <a:ln w="19050" cap="sq">
              <a:solidFill>
                <a:srgbClr val="D7DCEC"/>
              </a:solidFill>
              <a:prstDash val="solid"/>
              <a:miter/>
            </a:ln>
          </p:spPr>
        </p:sp>
      </p:grpSp>
      <p:grpSp>
        <p:nvGrpSpPr>
          <p:cNvPr name="Group 51" id="51"/>
          <p:cNvGrpSpPr/>
          <p:nvPr/>
        </p:nvGrpSpPr>
        <p:grpSpPr>
          <a:xfrm rot="0">
            <a:off x="12124944" y="6858000"/>
            <a:ext cx="5143500" cy="1755648"/>
            <a:chOff x="0" y="0"/>
            <a:chExt cx="6858000" cy="2340864"/>
          </a:xfrm>
        </p:grpSpPr>
        <p:sp>
          <p:nvSpPr>
            <p:cNvPr name="Freeform 52" id="52"/>
            <p:cNvSpPr/>
            <p:nvPr/>
          </p:nvSpPr>
          <p:spPr>
            <a:xfrm flipH="false" flipV="false" rot="0">
              <a:off x="0" y="0"/>
              <a:ext cx="6858000" cy="2340864"/>
            </a:xfrm>
            <a:custGeom>
              <a:avLst/>
              <a:gdLst/>
              <a:ahLst/>
              <a:cxnLst/>
              <a:rect r="r" b="b" t="t" l="l"/>
              <a:pathLst>
                <a:path h="2340864" w="6858000">
                  <a:moveTo>
                    <a:pt x="0" y="0"/>
                  </a:moveTo>
                  <a:lnTo>
                    <a:pt x="6858000" y="0"/>
                  </a:lnTo>
                  <a:lnTo>
                    <a:pt x="6858000" y="2340864"/>
                  </a:lnTo>
                  <a:lnTo>
                    <a:pt x="0" y="2340864"/>
                  </a:lnTo>
                  <a:close/>
                </a:path>
              </a:pathLst>
            </a:custGeom>
            <a:blipFill>
              <a:blip r:embed="rId2">
                <a:alphaModFix amt="0"/>
              </a:blip>
              <a:stretch>
                <a:fillRect l="0" t="-7085" r="0" b="-7085"/>
              </a:stretch>
            </a:blipFill>
          </p:spPr>
        </p:sp>
        <p:sp>
          <p:nvSpPr>
            <p:cNvPr name="TextBox 53" id="53"/>
            <p:cNvSpPr txBox="true"/>
            <p:nvPr/>
          </p:nvSpPr>
          <p:spPr>
            <a:xfrm>
              <a:off x="0" y="-38100"/>
              <a:ext cx="6858000" cy="2378964"/>
            </a:xfrm>
            <a:prstGeom prst="rect">
              <a:avLst/>
            </a:prstGeom>
          </p:spPr>
          <p:txBody>
            <a:bodyPr anchor="ctr" rtlCol="false" tIns="0" lIns="0" bIns="0" rIns="0"/>
            <a:lstStyle/>
            <a:p>
              <a:pPr algn="ctr">
                <a:lnSpc>
                  <a:spcPts val="2250"/>
                </a:lnSpc>
              </a:pPr>
              <a:r>
                <a:rPr lang="en-US" sz="1875">
                  <a:solidFill>
                    <a:srgbClr val="6B7280"/>
                  </a:solidFill>
                  <a:latin typeface="Calibri (MS)"/>
                  <a:ea typeface="Calibri (MS)"/>
                  <a:cs typeface="Calibri (MS)"/>
                  <a:sym typeface="Calibri (MS)"/>
                </a:rPr>
                <a:t>Critical Infra. Protection</a:t>
              </a:r>
            </a:p>
          </p:txBody>
        </p:sp>
      </p:grpSp>
      <p:grpSp>
        <p:nvGrpSpPr>
          <p:cNvPr name="Group 54" id="54"/>
          <p:cNvGrpSpPr/>
          <p:nvPr/>
        </p:nvGrpSpPr>
        <p:grpSpPr>
          <a:xfrm rot="0">
            <a:off x="12124944" y="8462772"/>
            <a:ext cx="5143500" cy="329184"/>
            <a:chOff x="0" y="0"/>
            <a:chExt cx="6858000" cy="438912"/>
          </a:xfrm>
        </p:grpSpPr>
        <p:sp>
          <p:nvSpPr>
            <p:cNvPr name="Freeform 55" id="55"/>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56" id="56"/>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9AA3B8"/>
                  </a:solidFill>
                  <a:latin typeface="Arimo"/>
                  <a:ea typeface="Arimo"/>
                  <a:cs typeface="Arimo"/>
                  <a:sym typeface="Arimo"/>
                </a:rPr>
                <a:t>CII</a:t>
              </a:r>
            </a:p>
          </p:txBody>
        </p:sp>
      </p:grpSp>
      <p:grpSp>
        <p:nvGrpSpPr>
          <p:cNvPr name="Group 57" id="57"/>
          <p:cNvGrpSpPr/>
          <p:nvPr/>
        </p:nvGrpSpPr>
        <p:grpSpPr>
          <a:xfrm rot="0">
            <a:off x="685800" y="9710928"/>
            <a:ext cx="10972800" cy="411480"/>
            <a:chOff x="0" y="0"/>
            <a:chExt cx="14630400" cy="548640"/>
          </a:xfrm>
        </p:grpSpPr>
        <p:sp>
          <p:nvSpPr>
            <p:cNvPr name="Freeform 58" id="58"/>
            <p:cNvSpPr/>
            <p:nvPr/>
          </p:nvSpPr>
          <p:spPr>
            <a:xfrm flipH="false" flipV="false" rot="0">
              <a:off x="0" y="0"/>
              <a:ext cx="14630400" cy="548640"/>
            </a:xfrm>
            <a:custGeom>
              <a:avLst/>
              <a:gdLst/>
              <a:ahLst/>
              <a:cxnLst/>
              <a:rect r="r" b="b" t="t" l="l"/>
              <a:pathLst>
                <a:path h="548640" w="14630400">
                  <a:moveTo>
                    <a:pt x="0" y="0"/>
                  </a:moveTo>
                  <a:lnTo>
                    <a:pt x="14630400" y="0"/>
                  </a:lnTo>
                  <a:lnTo>
                    <a:pt x="14630400" y="548640"/>
                  </a:lnTo>
                  <a:lnTo>
                    <a:pt x="0" y="548640"/>
                  </a:lnTo>
                  <a:close/>
                </a:path>
              </a:pathLst>
            </a:custGeom>
            <a:blipFill>
              <a:blip r:embed="rId2">
                <a:alphaModFix amt="0"/>
              </a:blip>
              <a:stretch>
                <a:fillRect l="0" t="-469601" r="0" b="-469601"/>
              </a:stretch>
            </a:blipFill>
          </p:spPr>
        </p:sp>
        <p:sp>
          <p:nvSpPr>
            <p:cNvPr name="TextBox 59" id="59"/>
            <p:cNvSpPr txBox="true"/>
            <p:nvPr/>
          </p:nvSpPr>
          <p:spPr>
            <a:xfrm>
              <a:off x="0" y="-38100"/>
              <a:ext cx="14630400" cy="586740"/>
            </a:xfrm>
            <a:prstGeom prst="rect">
              <a:avLst/>
            </a:prstGeom>
          </p:spPr>
          <p:txBody>
            <a:bodyPr anchor="ctr" rtlCol="false" tIns="0" lIns="0" bIns="0" rIns="0"/>
            <a:lstStyle/>
            <a:p>
              <a:pPr algn="l">
                <a:lnSpc>
                  <a:spcPts val="1800"/>
                </a:lnSpc>
              </a:pPr>
              <a:r>
                <a:rPr lang="en-US" sz="1500">
                  <a:solidFill>
                    <a:srgbClr val="6B7280"/>
                  </a:solidFill>
                  <a:latin typeface="Calibri (MS)"/>
                  <a:ea typeface="Calibri (MS)"/>
                  <a:cs typeface="Calibri (MS)"/>
                  <a:sym typeface="Calibri (MS)"/>
                </a:rPr>
                <a:t>Davao del Norte Provincial Government — Cybersecurity Seminar</a:t>
              </a:r>
            </a:p>
          </p:txBody>
        </p:sp>
      </p:grpSp>
      <p:grpSp>
        <p:nvGrpSpPr>
          <p:cNvPr name="Group 60" id="60"/>
          <p:cNvGrpSpPr/>
          <p:nvPr/>
        </p:nvGrpSpPr>
        <p:grpSpPr>
          <a:xfrm rot="0">
            <a:off x="16911828" y="9710928"/>
            <a:ext cx="685800" cy="411480"/>
            <a:chOff x="0" y="0"/>
            <a:chExt cx="914400" cy="548640"/>
          </a:xfrm>
        </p:grpSpPr>
        <p:sp>
          <p:nvSpPr>
            <p:cNvPr name="Freeform 61" id="61"/>
            <p:cNvSpPr/>
            <p:nvPr/>
          </p:nvSpPr>
          <p:spPr>
            <a:xfrm flipH="false" flipV="false" rot="0">
              <a:off x="0" y="0"/>
              <a:ext cx="914400" cy="548640"/>
            </a:xfrm>
            <a:custGeom>
              <a:avLst/>
              <a:gdLst/>
              <a:ahLst/>
              <a:cxnLst/>
              <a:rect r="r" b="b" t="t" l="l"/>
              <a:pathLst>
                <a:path h="548640" w="914400">
                  <a:moveTo>
                    <a:pt x="0" y="0"/>
                  </a:moveTo>
                  <a:lnTo>
                    <a:pt x="914400" y="0"/>
                  </a:lnTo>
                  <a:lnTo>
                    <a:pt x="914400" y="548640"/>
                  </a:lnTo>
                  <a:lnTo>
                    <a:pt x="0" y="548640"/>
                  </a:lnTo>
                  <a:close/>
                </a:path>
              </a:pathLst>
            </a:custGeom>
            <a:blipFill>
              <a:blip r:embed="rId2">
                <a:alphaModFix amt="0"/>
              </a:blip>
              <a:stretch>
                <a:fillRect l="-26982" t="0" r="-26982" b="0"/>
              </a:stretch>
            </a:blipFill>
          </p:spPr>
        </p:sp>
        <p:sp>
          <p:nvSpPr>
            <p:cNvPr name="TextBox 62" id="62"/>
            <p:cNvSpPr txBox="true"/>
            <p:nvPr/>
          </p:nvSpPr>
          <p:spPr>
            <a:xfrm>
              <a:off x="0" y="-38100"/>
              <a:ext cx="914400" cy="586740"/>
            </a:xfrm>
            <a:prstGeom prst="rect">
              <a:avLst/>
            </a:prstGeom>
          </p:spPr>
          <p:txBody>
            <a:bodyPr anchor="ctr" rtlCol="false" tIns="0" lIns="0" bIns="0" rIns="0"/>
            <a:lstStyle/>
            <a:p>
              <a:pPr algn="r">
                <a:lnSpc>
                  <a:spcPts val="1800"/>
                </a:lnSpc>
              </a:pPr>
              <a:r>
                <a:rPr lang="en-US" sz="1500">
                  <a:solidFill>
                    <a:srgbClr val="6B7280"/>
                  </a:solidFill>
                  <a:latin typeface="Calibri (MS)"/>
                  <a:ea typeface="Calibri (MS)"/>
                  <a:cs typeface="Calibri (MS)"/>
                  <a:sym typeface="Calibri (MS)"/>
                </a:rPr>
                <a:t>11</a:t>
              </a:r>
            </a:p>
          </p:txBody>
        </p:sp>
      </p:grpSp>
    </p:spTree>
  </p:cSld>
  <p:clrMapOvr>
    <a:masterClrMapping/>
  </p:clrMapOvr>
</p:sld>
</file>

<file path=ppt/slides/slide12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60120" y="685800"/>
            <a:ext cx="13716000" cy="411480"/>
            <a:chOff x="0" y="0"/>
            <a:chExt cx="18288000" cy="548640"/>
          </a:xfrm>
        </p:grpSpPr>
        <p:sp>
          <p:nvSpPr>
            <p:cNvPr name="Freeform 3" id="3"/>
            <p:cNvSpPr/>
            <p:nvPr/>
          </p:nvSpPr>
          <p:spPr>
            <a:xfrm flipH="false" flipV="false" rot="0">
              <a:off x="0" y="0"/>
              <a:ext cx="18288000" cy="548640"/>
            </a:xfrm>
            <a:custGeom>
              <a:avLst/>
              <a:gdLst/>
              <a:ahLst/>
              <a:cxnLst/>
              <a:rect r="r" b="b" t="t" l="l"/>
              <a:pathLst>
                <a:path h="548640" w="18288000">
                  <a:moveTo>
                    <a:pt x="0" y="0"/>
                  </a:moveTo>
                  <a:lnTo>
                    <a:pt x="18288000" y="0"/>
                  </a:lnTo>
                  <a:lnTo>
                    <a:pt x="18288000" y="548640"/>
                  </a:lnTo>
                  <a:lnTo>
                    <a:pt x="0" y="548640"/>
                  </a:lnTo>
                  <a:close/>
                </a:path>
              </a:pathLst>
            </a:custGeom>
            <a:blipFill>
              <a:blip r:embed="rId2">
                <a:alphaModFix amt="0"/>
              </a:blip>
              <a:stretch>
                <a:fillRect l="0" t="-599501" r="0" b="-599501"/>
              </a:stretch>
            </a:blipFill>
          </p:spPr>
        </p:sp>
        <p:sp>
          <p:nvSpPr>
            <p:cNvPr name="TextBox 4" id="4"/>
            <p:cNvSpPr txBox="true"/>
            <p:nvPr/>
          </p:nvSpPr>
          <p:spPr>
            <a:xfrm>
              <a:off x="0" y="-38100"/>
              <a:ext cx="18288000" cy="586740"/>
            </a:xfrm>
            <a:prstGeom prst="rect">
              <a:avLst/>
            </a:prstGeom>
          </p:spPr>
          <p:txBody>
            <a:bodyPr anchor="ctr" rtlCol="false" tIns="0" lIns="0" bIns="0" rIns="0"/>
            <a:lstStyle/>
            <a:p>
              <a:pPr algn="l">
                <a:lnSpc>
                  <a:spcPts val="2160"/>
                </a:lnSpc>
              </a:pPr>
              <a:r>
                <a:rPr lang="en-US" b="true" sz="1800" spc="225">
                  <a:solidFill>
                    <a:srgbClr val="00B4D8"/>
                  </a:solidFill>
                  <a:latin typeface="Calibri (MS) Bold"/>
                  <a:ea typeface="Calibri (MS) Bold"/>
                  <a:cs typeface="Calibri (MS) Bold"/>
                  <a:sym typeface="Calibri (MS) Bold"/>
                </a:rPr>
                <a:t>PH CYBER LAW SORT · ANSWER</a:t>
              </a:r>
            </a:p>
          </p:txBody>
        </p:sp>
      </p:grpSp>
      <p:grpSp>
        <p:nvGrpSpPr>
          <p:cNvPr name="Group 5" id="5"/>
          <p:cNvGrpSpPr/>
          <p:nvPr/>
        </p:nvGrpSpPr>
        <p:grpSpPr>
          <a:xfrm rot="0">
            <a:off x="960120" y="1069848"/>
            <a:ext cx="10972800" cy="822960"/>
            <a:chOff x="0" y="0"/>
            <a:chExt cx="14630400" cy="1097280"/>
          </a:xfrm>
        </p:grpSpPr>
        <p:sp>
          <p:nvSpPr>
            <p:cNvPr name="Freeform 6" id="6"/>
            <p:cNvSpPr/>
            <p:nvPr/>
          </p:nvSpPr>
          <p:spPr>
            <a:xfrm flipH="false" flipV="false" rot="0">
              <a:off x="0" y="0"/>
              <a:ext cx="14630400" cy="1097280"/>
            </a:xfrm>
            <a:custGeom>
              <a:avLst/>
              <a:gdLst/>
              <a:ahLst/>
              <a:cxnLst/>
              <a:rect r="r" b="b" t="t" l="l"/>
              <a:pathLst>
                <a:path h="1097280" w="14630400">
                  <a:moveTo>
                    <a:pt x="0" y="0"/>
                  </a:moveTo>
                  <a:lnTo>
                    <a:pt x="14630400" y="0"/>
                  </a:lnTo>
                  <a:lnTo>
                    <a:pt x="14630400" y="1097280"/>
                  </a:lnTo>
                  <a:lnTo>
                    <a:pt x="0" y="1097280"/>
                  </a:lnTo>
                  <a:close/>
                </a:path>
              </a:pathLst>
            </a:custGeom>
            <a:blipFill>
              <a:blip r:embed="rId2">
                <a:alphaModFix amt="0"/>
              </a:blip>
              <a:stretch>
                <a:fillRect l="0" t="-209800" r="0" b="-209800"/>
              </a:stretch>
            </a:blipFill>
          </p:spPr>
        </p:sp>
        <p:sp>
          <p:nvSpPr>
            <p:cNvPr name="TextBox 7" id="7"/>
            <p:cNvSpPr txBox="true"/>
            <p:nvPr/>
          </p:nvSpPr>
          <p:spPr>
            <a:xfrm>
              <a:off x="0" y="0"/>
              <a:ext cx="14630400" cy="1097280"/>
            </a:xfrm>
            <a:prstGeom prst="rect">
              <a:avLst/>
            </a:prstGeom>
          </p:spPr>
          <p:txBody>
            <a:bodyPr anchor="ctr" rtlCol="false" tIns="0" lIns="0" bIns="0" rIns="0"/>
            <a:lstStyle/>
            <a:p>
              <a:pPr algn="l">
                <a:lnSpc>
                  <a:spcPts val="4680"/>
                </a:lnSpc>
              </a:pPr>
              <a:r>
                <a:rPr lang="en-US" sz="3900" b="true">
                  <a:solidFill>
                    <a:srgbClr val="1E2761"/>
                  </a:solidFill>
                  <a:latin typeface="Cambria Bold"/>
                  <a:ea typeface="Cambria Bold"/>
                  <a:cs typeface="Cambria Bold"/>
                  <a:sym typeface="Cambria Bold"/>
                </a:rPr>
                <a:t>Scenario 1 — Answer</a:t>
              </a:r>
            </a:p>
          </p:txBody>
        </p:sp>
      </p:grpSp>
      <p:grpSp>
        <p:nvGrpSpPr>
          <p:cNvPr name="Group 8" id="8"/>
          <p:cNvGrpSpPr/>
          <p:nvPr/>
        </p:nvGrpSpPr>
        <p:grpSpPr>
          <a:xfrm rot="0">
            <a:off x="960120" y="1810512"/>
            <a:ext cx="8229600" cy="411480"/>
            <a:chOff x="0" y="0"/>
            <a:chExt cx="10972800" cy="548640"/>
          </a:xfrm>
        </p:grpSpPr>
        <p:sp>
          <p:nvSpPr>
            <p:cNvPr name="Freeform 9" id="9"/>
            <p:cNvSpPr/>
            <p:nvPr/>
          </p:nvSpPr>
          <p:spPr>
            <a:xfrm flipH="false" flipV="false" rot="0">
              <a:off x="0" y="0"/>
              <a:ext cx="10972800" cy="548640"/>
            </a:xfrm>
            <a:custGeom>
              <a:avLst/>
              <a:gdLst/>
              <a:ahLst/>
              <a:cxnLst/>
              <a:rect r="r" b="b" t="t" l="l"/>
              <a:pathLst>
                <a:path h="548640" w="10972800">
                  <a:moveTo>
                    <a:pt x="0" y="0"/>
                  </a:moveTo>
                  <a:lnTo>
                    <a:pt x="10972800" y="0"/>
                  </a:lnTo>
                  <a:lnTo>
                    <a:pt x="10972800" y="548640"/>
                  </a:lnTo>
                  <a:lnTo>
                    <a:pt x="0" y="548640"/>
                  </a:lnTo>
                  <a:close/>
                </a:path>
              </a:pathLst>
            </a:custGeom>
            <a:blipFill>
              <a:blip r:embed="rId2">
                <a:alphaModFix amt="0"/>
              </a:blip>
              <a:stretch>
                <a:fillRect l="0" t="-339700" r="0" b="-339700"/>
              </a:stretch>
            </a:blipFill>
          </p:spPr>
        </p:sp>
        <p:sp>
          <p:nvSpPr>
            <p:cNvPr name="TextBox 10" id="10"/>
            <p:cNvSpPr txBox="true"/>
            <p:nvPr/>
          </p:nvSpPr>
          <p:spPr>
            <a:xfrm>
              <a:off x="0" y="-28575"/>
              <a:ext cx="10972800" cy="577215"/>
            </a:xfrm>
            <a:prstGeom prst="rect">
              <a:avLst/>
            </a:prstGeom>
          </p:spPr>
          <p:txBody>
            <a:bodyPr anchor="ctr" rtlCol="false" tIns="0" lIns="0" bIns="0" rIns="0"/>
            <a:lstStyle/>
            <a:p>
              <a:pPr algn="l">
                <a:lnSpc>
                  <a:spcPts val="1980"/>
                </a:lnSpc>
              </a:pPr>
              <a:r>
                <a:rPr lang="en-US" sz="1650">
                  <a:solidFill>
                    <a:srgbClr val="6B7280"/>
                  </a:solidFill>
                  <a:latin typeface="Calibri (MS)"/>
                  <a:ea typeface="Calibri (MS)"/>
                  <a:cs typeface="Calibri (MS)"/>
                  <a:sym typeface="Calibri (MS)"/>
                </a:rPr>
                <a:t>1 of 15</a:t>
              </a:r>
            </a:p>
          </p:txBody>
        </p:sp>
      </p:grpSp>
      <p:grpSp>
        <p:nvGrpSpPr>
          <p:cNvPr name="Group 11" id="11"/>
          <p:cNvGrpSpPr/>
          <p:nvPr/>
        </p:nvGrpSpPr>
        <p:grpSpPr>
          <a:xfrm rot="0">
            <a:off x="960120" y="2537460"/>
            <a:ext cx="16322040" cy="2057400"/>
            <a:chOff x="0" y="0"/>
            <a:chExt cx="21762720" cy="2743200"/>
          </a:xfrm>
        </p:grpSpPr>
        <p:sp>
          <p:nvSpPr>
            <p:cNvPr name="Freeform 12" id="12"/>
            <p:cNvSpPr/>
            <p:nvPr/>
          </p:nvSpPr>
          <p:spPr>
            <a:xfrm flipH="false" flipV="false" rot="0">
              <a:off x="0" y="0"/>
              <a:ext cx="21762720" cy="2743200"/>
            </a:xfrm>
            <a:custGeom>
              <a:avLst/>
              <a:gdLst/>
              <a:ahLst/>
              <a:cxnLst/>
              <a:rect r="r" b="b" t="t" l="l"/>
              <a:pathLst>
                <a:path h="2743200" w="21762720">
                  <a:moveTo>
                    <a:pt x="0" y="182880"/>
                  </a:moveTo>
                  <a:cubicBezTo>
                    <a:pt x="0" y="81915"/>
                    <a:pt x="81915" y="0"/>
                    <a:pt x="182880" y="0"/>
                  </a:cubicBezTo>
                  <a:lnTo>
                    <a:pt x="21579839" y="0"/>
                  </a:lnTo>
                  <a:cubicBezTo>
                    <a:pt x="21680804" y="0"/>
                    <a:pt x="21762720" y="81915"/>
                    <a:pt x="21762720" y="182880"/>
                  </a:cubicBezTo>
                  <a:lnTo>
                    <a:pt x="21762720" y="2560320"/>
                  </a:lnTo>
                  <a:cubicBezTo>
                    <a:pt x="21762720" y="2661285"/>
                    <a:pt x="21680804" y="2743200"/>
                    <a:pt x="21579839" y="2743200"/>
                  </a:cubicBezTo>
                  <a:lnTo>
                    <a:pt x="182880" y="2743200"/>
                  </a:lnTo>
                  <a:cubicBezTo>
                    <a:pt x="81915" y="2743200"/>
                    <a:pt x="0" y="2661285"/>
                    <a:pt x="0" y="2560320"/>
                  </a:cubicBezTo>
                  <a:close/>
                </a:path>
              </a:pathLst>
            </a:custGeom>
            <a:solidFill>
              <a:srgbClr val="F4F7FC"/>
            </a:solidFill>
          </p:spPr>
        </p:sp>
      </p:grpSp>
      <p:grpSp>
        <p:nvGrpSpPr>
          <p:cNvPr name="Group 13" id="13"/>
          <p:cNvGrpSpPr/>
          <p:nvPr/>
        </p:nvGrpSpPr>
        <p:grpSpPr>
          <a:xfrm rot="0">
            <a:off x="1440180" y="2743200"/>
            <a:ext cx="15361920" cy="1645920"/>
            <a:chOff x="0" y="0"/>
            <a:chExt cx="20482560" cy="2194560"/>
          </a:xfrm>
        </p:grpSpPr>
        <p:sp>
          <p:nvSpPr>
            <p:cNvPr name="Freeform 14" id="14"/>
            <p:cNvSpPr/>
            <p:nvPr/>
          </p:nvSpPr>
          <p:spPr>
            <a:xfrm flipH="false" flipV="false" rot="0">
              <a:off x="0" y="0"/>
              <a:ext cx="20482561" cy="2194560"/>
            </a:xfrm>
            <a:custGeom>
              <a:avLst/>
              <a:gdLst/>
              <a:ahLst/>
              <a:cxnLst/>
              <a:rect r="r" b="b" t="t" l="l"/>
              <a:pathLst>
                <a:path h="2194560" w="20482561">
                  <a:moveTo>
                    <a:pt x="0" y="0"/>
                  </a:moveTo>
                  <a:lnTo>
                    <a:pt x="20482561" y="0"/>
                  </a:lnTo>
                  <a:lnTo>
                    <a:pt x="20482561" y="2194560"/>
                  </a:lnTo>
                  <a:lnTo>
                    <a:pt x="0" y="2194560"/>
                  </a:lnTo>
                  <a:close/>
                </a:path>
              </a:pathLst>
            </a:custGeom>
            <a:blipFill>
              <a:blip r:embed="rId2">
                <a:alphaModFix amt="0"/>
              </a:blip>
              <a:stretch>
                <a:fillRect l="0" t="-131860" r="0" b="-131860"/>
              </a:stretch>
            </a:blipFill>
          </p:spPr>
        </p:sp>
        <p:sp>
          <p:nvSpPr>
            <p:cNvPr name="TextBox 15" id="15"/>
            <p:cNvSpPr txBox="true"/>
            <p:nvPr/>
          </p:nvSpPr>
          <p:spPr>
            <a:xfrm>
              <a:off x="0" y="-66675"/>
              <a:ext cx="20482560" cy="2261235"/>
            </a:xfrm>
            <a:prstGeom prst="rect">
              <a:avLst/>
            </a:prstGeom>
          </p:spPr>
          <p:txBody>
            <a:bodyPr anchor="ctr" rtlCol="false" tIns="0" lIns="0" bIns="0" rIns="0"/>
            <a:lstStyle/>
            <a:p>
              <a:pPr algn="l">
                <a:lnSpc>
                  <a:spcPts val="3487"/>
                </a:lnSpc>
              </a:pPr>
              <a:r>
                <a:rPr lang="en-US" sz="2325" i="true">
                  <a:solidFill>
                    <a:srgbClr val="23262F"/>
                  </a:solidFill>
                  <a:latin typeface="Cambria Italics"/>
                  <a:ea typeface="Cambria Italics"/>
                  <a:cs typeface="Cambria Italics"/>
                  <a:sym typeface="Cambria Italics"/>
                </a:rPr>
                <a:t>"A vendor challenges a signed digital procurement contract, arguing it isn't legally binding because it wasn't signed by hand."</a:t>
              </a:r>
            </a:p>
          </p:txBody>
        </p:sp>
      </p:grpSp>
      <p:grpSp>
        <p:nvGrpSpPr>
          <p:cNvPr name="Group 16" id="16"/>
          <p:cNvGrpSpPr/>
          <p:nvPr/>
        </p:nvGrpSpPr>
        <p:grpSpPr>
          <a:xfrm rot="0">
            <a:off x="950595" y="4928235"/>
            <a:ext cx="5162550" cy="842010"/>
            <a:chOff x="0" y="0"/>
            <a:chExt cx="6883400" cy="1122680"/>
          </a:xfrm>
        </p:grpSpPr>
        <p:sp>
          <p:nvSpPr>
            <p:cNvPr name="Freeform 17" id="17"/>
            <p:cNvSpPr/>
            <p:nvPr/>
          </p:nvSpPr>
          <p:spPr>
            <a:xfrm flipH="false" flipV="false" rot="0">
              <a:off x="0" y="0"/>
              <a:ext cx="6883400" cy="1122680"/>
            </a:xfrm>
            <a:custGeom>
              <a:avLst/>
              <a:gdLst/>
              <a:ahLst/>
              <a:cxnLst/>
              <a:rect r="r" b="b" t="t" l="l"/>
              <a:pathLst>
                <a:path h="1122680" w="6883400">
                  <a:moveTo>
                    <a:pt x="0" y="168402"/>
                  </a:moveTo>
                  <a:cubicBezTo>
                    <a:pt x="0" y="75438"/>
                    <a:pt x="75438" y="0"/>
                    <a:pt x="168402" y="0"/>
                  </a:cubicBezTo>
                  <a:lnTo>
                    <a:pt x="6714998" y="0"/>
                  </a:lnTo>
                  <a:cubicBezTo>
                    <a:pt x="6807962" y="0"/>
                    <a:pt x="6883400" y="75438"/>
                    <a:pt x="6883400" y="168402"/>
                  </a:cubicBezTo>
                  <a:lnTo>
                    <a:pt x="6883400" y="954278"/>
                  </a:lnTo>
                  <a:cubicBezTo>
                    <a:pt x="6883400" y="1047242"/>
                    <a:pt x="6807962" y="1122680"/>
                    <a:pt x="6714998" y="1122680"/>
                  </a:cubicBezTo>
                  <a:lnTo>
                    <a:pt x="168402" y="1122680"/>
                  </a:lnTo>
                  <a:cubicBezTo>
                    <a:pt x="75438" y="1122680"/>
                    <a:pt x="0" y="1047242"/>
                    <a:pt x="0" y="954278"/>
                  </a:cubicBezTo>
                  <a:close/>
                </a:path>
              </a:pathLst>
            </a:custGeom>
            <a:solidFill>
              <a:srgbClr val="2E86AB"/>
            </a:solidFill>
            <a:ln w="19050" cap="sq">
              <a:solidFill>
                <a:srgbClr val="2E86AB"/>
              </a:solidFill>
              <a:prstDash val="solid"/>
              <a:miter/>
            </a:ln>
          </p:spPr>
        </p:sp>
      </p:grpSp>
      <p:grpSp>
        <p:nvGrpSpPr>
          <p:cNvPr name="Group 18" id="18"/>
          <p:cNvGrpSpPr/>
          <p:nvPr/>
        </p:nvGrpSpPr>
        <p:grpSpPr>
          <a:xfrm rot="0">
            <a:off x="960120" y="5006340"/>
            <a:ext cx="5143500" cy="521208"/>
            <a:chOff x="0" y="0"/>
            <a:chExt cx="6858000" cy="694944"/>
          </a:xfrm>
        </p:grpSpPr>
        <p:sp>
          <p:nvSpPr>
            <p:cNvPr name="Freeform 19" id="19"/>
            <p:cNvSpPr/>
            <p:nvPr/>
          </p:nvSpPr>
          <p:spPr>
            <a:xfrm flipH="false" flipV="false" rot="0">
              <a:off x="0" y="0"/>
              <a:ext cx="6858000" cy="694944"/>
            </a:xfrm>
            <a:custGeom>
              <a:avLst/>
              <a:gdLst/>
              <a:ahLst/>
              <a:cxnLst/>
              <a:rect r="r" b="b" t="t" l="l"/>
              <a:pathLst>
                <a:path h="694944" w="6858000">
                  <a:moveTo>
                    <a:pt x="0" y="0"/>
                  </a:moveTo>
                  <a:lnTo>
                    <a:pt x="6858000" y="0"/>
                  </a:lnTo>
                  <a:lnTo>
                    <a:pt x="6858000" y="694944"/>
                  </a:lnTo>
                  <a:lnTo>
                    <a:pt x="0" y="694944"/>
                  </a:lnTo>
                  <a:close/>
                </a:path>
              </a:pathLst>
            </a:custGeom>
            <a:blipFill>
              <a:blip r:embed="rId2">
                <a:alphaModFix amt="0"/>
              </a:blip>
              <a:stretch>
                <a:fillRect l="0" t="-142286" r="0" b="-142286"/>
              </a:stretch>
            </a:blipFill>
          </p:spPr>
        </p:sp>
        <p:sp>
          <p:nvSpPr>
            <p:cNvPr name="TextBox 20" id="20"/>
            <p:cNvSpPr txBox="true"/>
            <p:nvPr/>
          </p:nvSpPr>
          <p:spPr>
            <a:xfrm>
              <a:off x="0" y="-38100"/>
              <a:ext cx="6858000" cy="733044"/>
            </a:xfrm>
            <a:prstGeom prst="rect">
              <a:avLst/>
            </a:prstGeom>
          </p:spPr>
          <p:txBody>
            <a:bodyPr anchor="ctr" rtlCol="false" tIns="0" lIns="0" bIns="0" rIns="0"/>
            <a:lstStyle/>
            <a:p>
              <a:pPr algn="ctr">
                <a:lnSpc>
                  <a:spcPts val="2250"/>
                </a:lnSpc>
              </a:pPr>
              <a:r>
                <a:rPr lang="en-US" sz="1875" b="true">
                  <a:solidFill>
                    <a:srgbClr val="FFFFFF"/>
                  </a:solidFill>
                  <a:latin typeface="Calibri (MS) Bold"/>
                  <a:ea typeface="Calibri (MS) Bold"/>
                  <a:cs typeface="Calibri (MS) Bold"/>
                  <a:sym typeface="Calibri (MS) Bold"/>
                </a:rPr>
                <a:t>✓  E-Commerce Act</a:t>
              </a:r>
            </a:p>
          </p:txBody>
        </p:sp>
      </p:grpSp>
      <p:grpSp>
        <p:nvGrpSpPr>
          <p:cNvPr name="Group 21" id="21"/>
          <p:cNvGrpSpPr/>
          <p:nvPr/>
        </p:nvGrpSpPr>
        <p:grpSpPr>
          <a:xfrm rot="0">
            <a:off x="960120" y="5376672"/>
            <a:ext cx="5143500" cy="329184"/>
            <a:chOff x="0" y="0"/>
            <a:chExt cx="6858000" cy="438912"/>
          </a:xfrm>
        </p:grpSpPr>
        <p:sp>
          <p:nvSpPr>
            <p:cNvPr name="Freeform 22" id="22"/>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23" id="23"/>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FFFFFF"/>
                  </a:solidFill>
                  <a:latin typeface="Arimo"/>
                  <a:ea typeface="Arimo"/>
                  <a:cs typeface="Arimo"/>
                  <a:sym typeface="Arimo"/>
                </a:rPr>
                <a:t>ECA</a:t>
              </a:r>
            </a:p>
          </p:txBody>
        </p:sp>
      </p:grpSp>
      <p:grpSp>
        <p:nvGrpSpPr>
          <p:cNvPr name="Group 24" id="24"/>
          <p:cNvGrpSpPr/>
          <p:nvPr/>
        </p:nvGrpSpPr>
        <p:grpSpPr>
          <a:xfrm rot="0">
            <a:off x="6533007" y="4928235"/>
            <a:ext cx="5162550" cy="842010"/>
            <a:chOff x="0" y="0"/>
            <a:chExt cx="6883400" cy="1122680"/>
          </a:xfrm>
        </p:grpSpPr>
        <p:sp>
          <p:nvSpPr>
            <p:cNvPr name="Freeform 25" id="25"/>
            <p:cNvSpPr/>
            <p:nvPr/>
          </p:nvSpPr>
          <p:spPr>
            <a:xfrm flipH="false" flipV="false" rot="0">
              <a:off x="0" y="0"/>
              <a:ext cx="6883400" cy="1122680"/>
            </a:xfrm>
            <a:custGeom>
              <a:avLst/>
              <a:gdLst/>
              <a:ahLst/>
              <a:cxnLst/>
              <a:rect r="r" b="b" t="t" l="l"/>
              <a:pathLst>
                <a:path h="1122680" w="6883400">
                  <a:moveTo>
                    <a:pt x="0" y="168402"/>
                  </a:moveTo>
                  <a:cubicBezTo>
                    <a:pt x="0" y="75438"/>
                    <a:pt x="75438" y="0"/>
                    <a:pt x="168402" y="0"/>
                  </a:cubicBezTo>
                  <a:lnTo>
                    <a:pt x="6714998" y="0"/>
                  </a:lnTo>
                  <a:cubicBezTo>
                    <a:pt x="6807962" y="0"/>
                    <a:pt x="6883400" y="75438"/>
                    <a:pt x="6883400" y="168402"/>
                  </a:cubicBezTo>
                  <a:lnTo>
                    <a:pt x="6883400" y="954278"/>
                  </a:lnTo>
                  <a:cubicBezTo>
                    <a:pt x="6883400" y="1047242"/>
                    <a:pt x="6807962" y="1122680"/>
                    <a:pt x="6714998" y="1122680"/>
                  </a:cubicBezTo>
                  <a:lnTo>
                    <a:pt x="168402" y="1122680"/>
                  </a:lnTo>
                  <a:cubicBezTo>
                    <a:pt x="75438" y="1122680"/>
                    <a:pt x="0" y="1047242"/>
                    <a:pt x="0" y="954278"/>
                  </a:cubicBezTo>
                  <a:close/>
                </a:path>
              </a:pathLst>
            </a:custGeom>
            <a:solidFill>
              <a:srgbClr val="F4F7FC"/>
            </a:solidFill>
            <a:ln w="19050" cap="sq">
              <a:solidFill>
                <a:srgbClr val="D7DCEC"/>
              </a:solidFill>
              <a:prstDash val="solid"/>
              <a:miter/>
            </a:ln>
          </p:spPr>
        </p:sp>
      </p:grpSp>
      <p:grpSp>
        <p:nvGrpSpPr>
          <p:cNvPr name="Group 26" id="26"/>
          <p:cNvGrpSpPr/>
          <p:nvPr/>
        </p:nvGrpSpPr>
        <p:grpSpPr>
          <a:xfrm rot="0">
            <a:off x="6542532" y="5006340"/>
            <a:ext cx="5143500" cy="521208"/>
            <a:chOff x="0" y="0"/>
            <a:chExt cx="6858000" cy="694944"/>
          </a:xfrm>
        </p:grpSpPr>
        <p:sp>
          <p:nvSpPr>
            <p:cNvPr name="Freeform 27" id="27"/>
            <p:cNvSpPr/>
            <p:nvPr/>
          </p:nvSpPr>
          <p:spPr>
            <a:xfrm flipH="false" flipV="false" rot="0">
              <a:off x="0" y="0"/>
              <a:ext cx="6858000" cy="694944"/>
            </a:xfrm>
            <a:custGeom>
              <a:avLst/>
              <a:gdLst/>
              <a:ahLst/>
              <a:cxnLst/>
              <a:rect r="r" b="b" t="t" l="l"/>
              <a:pathLst>
                <a:path h="694944" w="6858000">
                  <a:moveTo>
                    <a:pt x="0" y="0"/>
                  </a:moveTo>
                  <a:lnTo>
                    <a:pt x="6858000" y="0"/>
                  </a:lnTo>
                  <a:lnTo>
                    <a:pt x="6858000" y="694944"/>
                  </a:lnTo>
                  <a:lnTo>
                    <a:pt x="0" y="694944"/>
                  </a:lnTo>
                  <a:close/>
                </a:path>
              </a:pathLst>
            </a:custGeom>
            <a:blipFill>
              <a:blip r:embed="rId2">
                <a:alphaModFix amt="0"/>
              </a:blip>
              <a:stretch>
                <a:fillRect l="0" t="-142286" r="0" b="-142286"/>
              </a:stretch>
            </a:blipFill>
          </p:spPr>
        </p:sp>
        <p:sp>
          <p:nvSpPr>
            <p:cNvPr name="TextBox 28" id="28"/>
            <p:cNvSpPr txBox="true"/>
            <p:nvPr/>
          </p:nvSpPr>
          <p:spPr>
            <a:xfrm>
              <a:off x="0" y="-38100"/>
              <a:ext cx="6858000" cy="733044"/>
            </a:xfrm>
            <a:prstGeom prst="rect">
              <a:avLst/>
            </a:prstGeom>
          </p:spPr>
          <p:txBody>
            <a:bodyPr anchor="ctr" rtlCol="false" tIns="0" lIns="0" bIns="0" rIns="0"/>
            <a:lstStyle/>
            <a:p>
              <a:pPr algn="ctr">
                <a:lnSpc>
                  <a:spcPts val="2250"/>
                </a:lnSpc>
              </a:pPr>
              <a:r>
                <a:rPr lang="en-US" sz="1875">
                  <a:solidFill>
                    <a:srgbClr val="6B7280"/>
                  </a:solidFill>
                  <a:latin typeface="Calibri (MS)"/>
                  <a:ea typeface="Calibri (MS)"/>
                  <a:cs typeface="Calibri (MS)"/>
                  <a:sym typeface="Calibri (MS)"/>
                </a:rPr>
                <a:t>Cybercrime Act</a:t>
              </a:r>
            </a:p>
          </p:txBody>
        </p:sp>
      </p:grpSp>
      <p:grpSp>
        <p:nvGrpSpPr>
          <p:cNvPr name="Group 29" id="29"/>
          <p:cNvGrpSpPr/>
          <p:nvPr/>
        </p:nvGrpSpPr>
        <p:grpSpPr>
          <a:xfrm rot="0">
            <a:off x="6542532" y="5376672"/>
            <a:ext cx="5143500" cy="329184"/>
            <a:chOff x="0" y="0"/>
            <a:chExt cx="6858000" cy="438912"/>
          </a:xfrm>
        </p:grpSpPr>
        <p:sp>
          <p:nvSpPr>
            <p:cNvPr name="Freeform 30" id="30"/>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31" id="31"/>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9AA3B8"/>
                  </a:solidFill>
                  <a:latin typeface="Arimo"/>
                  <a:ea typeface="Arimo"/>
                  <a:cs typeface="Arimo"/>
                  <a:sym typeface="Arimo"/>
                </a:rPr>
                <a:t>CPA</a:t>
              </a:r>
            </a:p>
          </p:txBody>
        </p:sp>
      </p:grpSp>
      <p:grpSp>
        <p:nvGrpSpPr>
          <p:cNvPr name="Group 32" id="32"/>
          <p:cNvGrpSpPr/>
          <p:nvPr/>
        </p:nvGrpSpPr>
        <p:grpSpPr>
          <a:xfrm rot="0">
            <a:off x="950595" y="5998083"/>
            <a:ext cx="5162550" cy="842010"/>
            <a:chOff x="0" y="0"/>
            <a:chExt cx="6883400" cy="1122680"/>
          </a:xfrm>
        </p:grpSpPr>
        <p:sp>
          <p:nvSpPr>
            <p:cNvPr name="Freeform 33" id="33"/>
            <p:cNvSpPr/>
            <p:nvPr/>
          </p:nvSpPr>
          <p:spPr>
            <a:xfrm flipH="false" flipV="false" rot="0">
              <a:off x="0" y="0"/>
              <a:ext cx="6883400" cy="1122680"/>
            </a:xfrm>
            <a:custGeom>
              <a:avLst/>
              <a:gdLst/>
              <a:ahLst/>
              <a:cxnLst/>
              <a:rect r="r" b="b" t="t" l="l"/>
              <a:pathLst>
                <a:path h="1122680" w="6883400">
                  <a:moveTo>
                    <a:pt x="0" y="168402"/>
                  </a:moveTo>
                  <a:cubicBezTo>
                    <a:pt x="0" y="75438"/>
                    <a:pt x="75438" y="0"/>
                    <a:pt x="168402" y="0"/>
                  </a:cubicBezTo>
                  <a:lnTo>
                    <a:pt x="6714998" y="0"/>
                  </a:lnTo>
                  <a:cubicBezTo>
                    <a:pt x="6807962" y="0"/>
                    <a:pt x="6883400" y="75438"/>
                    <a:pt x="6883400" y="168402"/>
                  </a:cubicBezTo>
                  <a:lnTo>
                    <a:pt x="6883400" y="954278"/>
                  </a:lnTo>
                  <a:cubicBezTo>
                    <a:pt x="6883400" y="1047242"/>
                    <a:pt x="6807962" y="1122680"/>
                    <a:pt x="6714998" y="1122680"/>
                  </a:cubicBezTo>
                  <a:lnTo>
                    <a:pt x="168402" y="1122680"/>
                  </a:lnTo>
                  <a:cubicBezTo>
                    <a:pt x="75438" y="1122680"/>
                    <a:pt x="0" y="1047242"/>
                    <a:pt x="0" y="954278"/>
                  </a:cubicBezTo>
                  <a:close/>
                </a:path>
              </a:pathLst>
            </a:custGeom>
            <a:solidFill>
              <a:srgbClr val="F4F7FC"/>
            </a:solidFill>
            <a:ln w="19050" cap="sq">
              <a:solidFill>
                <a:srgbClr val="D7DCEC"/>
              </a:solidFill>
              <a:prstDash val="solid"/>
              <a:miter/>
            </a:ln>
          </p:spPr>
        </p:sp>
      </p:grpSp>
      <p:grpSp>
        <p:nvGrpSpPr>
          <p:cNvPr name="Group 34" id="34"/>
          <p:cNvGrpSpPr/>
          <p:nvPr/>
        </p:nvGrpSpPr>
        <p:grpSpPr>
          <a:xfrm rot="0">
            <a:off x="960120" y="6076188"/>
            <a:ext cx="5143500" cy="521208"/>
            <a:chOff x="0" y="0"/>
            <a:chExt cx="6858000" cy="694944"/>
          </a:xfrm>
        </p:grpSpPr>
        <p:sp>
          <p:nvSpPr>
            <p:cNvPr name="Freeform 35" id="35"/>
            <p:cNvSpPr/>
            <p:nvPr/>
          </p:nvSpPr>
          <p:spPr>
            <a:xfrm flipH="false" flipV="false" rot="0">
              <a:off x="0" y="0"/>
              <a:ext cx="6858000" cy="694944"/>
            </a:xfrm>
            <a:custGeom>
              <a:avLst/>
              <a:gdLst/>
              <a:ahLst/>
              <a:cxnLst/>
              <a:rect r="r" b="b" t="t" l="l"/>
              <a:pathLst>
                <a:path h="694944" w="6858000">
                  <a:moveTo>
                    <a:pt x="0" y="0"/>
                  </a:moveTo>
                  <a:lnTo>
                    <a:pt x="6858000" y="0"/>
                  </a:lnTo>
                  <a:lnTo>
                    <a:pt x="6858000" y="694944"/>
                  </a:lnTo>
                  <a:lnTo>
                    <a:pt x="0" y="694944"/>
                  </a:lnTo>
                  <a:close/>
                </a:path>
              </a:pathLst>
            </a:custGeom>
            <a:blipFill>
              <a:blip r:embed="rId2">
                <a:alphaModFix amt="0"/>
              </a:blip>
              <a:stretch>
                <a:fillRect l="0" t="-142286" r="0" b="-142286"/>
              </a:stretch>
            </a:blipFill>
          </p:spPr>
        </p:sp>
        <p:sp>
          <p:nvSpPr>
            <p:cNvPr name="TextBox 36" id="36"/>
            <p:cNvSpPr txBox="true"/>
            <p:nvPr/>
          </p:nvSpPr>
          <p:spPr>
            <a:xfrm>
              <a:off x="0" y="-38100"/>
              <a:ext cx="6858000" cy="733044"/>
            </a:xfrm>
            <a:prstGeom prst="rect">
              <a:avLst/>
            </a:prstGeom>
          </p:spPr>
          <p:txBody>
            <a:bodyPr anchor="ctr" rtlCol="false" tIns="0" lIns="0" bIns="0" rIns="0"/>
            <a:lstStyle/>
            <a:p>
              <a:pPr algn="ctr">
                <a:lnSpc>
                  <a:spcPts val="2250"/>
                </a:lnSpc>
              </a:pPr>
              <a:r>
                <a:rPr lang="en-US" sz="1875">
                  <a:solidFill>
                    <a:srgbClr val="6B7280"/>
                  </a:solidFill>
                  <a:latin typeface="Calibri (MS)"/>
                  <a:ea typeface="Calibri (MS)"/>
                  <a:cs typeface="Calibri (MS)"/>
                  <a:sym typeface="Calibri (MS)"/>
                </a:rPr>
                <a:t>Data Privacy Act</a:t>
              </a:r>
            </a:p>
          </p:txBody>
        </p:sp>
      </p:grpSp>
      <p:grpSp>
        <p:nvGrpSpPr>
          <p:cNvPr name="Group 37" id="37"/>
          <p:cNvGrpSpPr/>
          <p:nvPr/>
        </p:nvGrpSpPr>
        <p:grpSpPr>
          <a:xfrm rot="0">
            <a:off x="960120" y="6446520"/>
            <a:ext cx="5143500" cy="329184"/>
            <a:chOff x="0" y="0"/>
            <a:chExt cx="6858000" cy="438912"/>
          </a:xfrm>
        </p:grpSpPr>
        <p:sp>
          <p:nvSpPr>
            <p:cNvPr name="Freeform 38" id="38"/>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39" id="39"/>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9AA3B8"/>
                  </a:solidFill>
                  <a:latin typeface="Arimo"/>
                  <a:ea typeface="Arimo"/>
                  <a:cs typeface="Arimo"/>
                  <a:sym typeface="Arimo"/>
                </a:rPr>
                <a:t>DPA</a:t>
              </a:r>
            </a:p>
          </p:txBody>
        </p:sp>
      </p:grpSp>
      <p:grpSp>
        <p:nvGrpSpPr>
          <p:cNvPr name="Group 40" id="40"/>
          <p:cNvGrpSpPr/>
          <p:nvPr/>
        </p:nvGrpSpPr>
        <p:grpSpPr>
          <a:xfrm rot="0">
            <a:off x="6533007" y="5998083"/>
            <a:ext cx="5162550" cy="842010"/>
            <a:chOff x="0" y="0"/>
            <a:chExt cx="6883400" cy="1122680"/>
          </a:xfrm>
        </p:grpSpPr>
        <p:sp>
          <p:nvSpPr>
            <p:cNvPr name="Freeform 41" id="41"/>
            <p:cNvSpPr/>
            <p:nvPr/>
          </p:nvSpPr>
          <p:spPr>
            <a:xfrm flipH="false" flipV="false" rot="0">
              <a:off x="0" y="0"/>
              <a:ext cx="6883400" cy="1122680"/>
            </a:xfrm>
            <a:custGeom>
              <a:avLst/>
              <a:gdLst/>
              <a:ahLst/>
              <a:cxnLst/>
              <a:rect r="r" b="b" t="t" l="l"/>
              <a:pathLst>
                <a:path h="1122680" w="6883400">
                  <a:moveTo>
                    <a:pt x="0" y="168402"/>
                  </a:moveTo>
                  <a:cubicBezTo>
                    <a:pt x="0" y="75438"/>
                    <a:pt x="75438" y="0"/>
                    <a:pt x="168402" y="0"/>
                  </a:cubicBezTo>
                  <a:lnTo>
                    <a:pt x="6714998" y="0"/>
                  </a:lnTo>
                  <a:cubicBezTo>
                    <a:pt x="6807962" y="0"/>
                    <a:pt x="6883400" y="75438"/>
                    <a:pt x="6883400" y="168402"/>
                  </a:cubicBezTo>
                  <a:lnTo>
                    <a:pt x="6883400" y="954278"/>
                  </a:lnTo>
                  <a:cubicBezTo>
                    <a:pt x="6883400" y="1047242"/>
                    <a:pt x="6807962" y="1122680"/>
                    <a:pt x="6714998" y="1122680"/>
                  </a:cubicBezTo>
                  <a:lnTo>
                    <a:pt x="168402" y="1122680"/>
                  </a:lnTo>
                  <a:cubicBezTo>
                    <a:pt x="75438" y="1122680"/>
                    <a:pt x="0" y="1047242"/>
                    <a:pt x="0" y="954278"/>
                  </a:cubicBezTo>
                  <a:close/>
                </a:path>
              </a:pathLst>
            </a:custGeom>
            <a:solidFill>
              <a:srgbClr val="F4F7FC"/>
            </a:solidFill>
            <a:ln w="19050" cap="sq">
              <a:solidFill>
                <a:srgbClr val="D7DCEC"/>
              </a:solidFill>
              <a:prstDash val="solid"/>
              <a:miter/>
            </a:ln>
          </p:spPr>
        </p:sp>
      </p:grpSp>
      <p:grpSp>
        <p:nvGrpSpPr>
          <p:cNvPr name="Group 42" id="42"/>
          <p:cNvGrpSpPr/>
          <p:nvPr/>
        </p:nvGrpSpPr>
        <p:grpSpPr>
          <a:xfrm rot="0">
            <a:off x="6542532" y="6076188"/>
            <a:ext cx="5143500" cy="521208"/>
            <a:chOff x="0" y="0"/>
            <a:chExt cx="6858000" cy="694944"/>
          </a:xfrm>
        </p:grpSpPr>
        <p:sp>
          <p:nvSpPr>
            <p:cNvPr name="Freeform 43" id="43"/>
            <p:cNvSpPr/>
            <p:nvPr/>
          </p:nvSpPr>
          <p:spPr>
            <a:xfrm flipH="false" flipV="false" rot="0">
              <a:off x="0" y="0"/>
              <a:ext cx="6858000" cy="694944"/>
            </a:xfrm>
            <a:custGeom>
              <a:avLst/>
              <a:gdLst/>
              <a:ahLst/>
              <a:cxnLst/>
              <a:rect r="r" b="b" t="t" l="l"/>
              <a:pathLst>
                <a:path h="694944" w="6858000">
                  <a:moveTo>
                    <a:pt x="0" y="0"/>
                  </a:moveTo>
                  <a:lnTo>
                    <a:pt x="6858000" y="0"/>
                  </a:lnTo>
                  <a:lnTo>
                    <a:pt x="6858000" y="694944"/>
                  </a:lnTo>
                  <a:lnTo>
                    <a:pt x="0" y="694944"/>
                  </a:lnTo>
                  <a:close/>
                </a:path>
              </a:pathLst>
            </a:custGeom>
            <a:blipFill>
              <a:blip r:embed="rId2">
                <a:alphaModFix amt="0"/>
              </a:blip>
              <a:stretch>
                <a:fillRect l="0" t="-142286" r="0" b="-142286"/>
              </a:stretch>
            </a:blipFill>
          </p:spPr>
        </p:sp>
        <p:sp>
          <p:nvSpPr>
            <p:cNvPr name="TextBox 44" id="44"/>
            <p:cNvSpPr txBox="true"/>
            <p:nvPr/>
          </p:nvSpPr>
          <p:spPr>
            <a:xfrm>
              <a:off x="0" y="-38100"/>
              <a:ext cx="6858000" cy="733044"/>
            </a:xfrm>
            <a:prstGeom prst="rect">
              <a:avLst/>
            </a:prstGeom>
          </p:spPr>
          <p:txBody>
            <a:bodyPr anchor="ctr" rtlCol="false" tIns="0" lIns="0" bIns="0" rIns="0"/>
            <a:lstStyle/>
            <a:p>
              <a:pPr algn="ctr">
                <a:lnSpc>
                  <a:spcPts val="2250"/>
                </a:lnSpc>
              </a:pPr>
              <a:r>
                <a:rPr lang="en-US" sz="1875">
                  <a:solidFill>
                    <a:srgbClr val="6B7280"/>
                  </a:solidFill>
                  <a:latin typeface="Calibri (MS)"/>
                  <a:ea typeface="Calibri (MS)"/>
                  <a:cs typeface="Calibri (MS)"/>
                  <a:sym typeface="Calibri (MS)"/>
                </a:rPr>
                <a:t>DICT Act / NCSP</a:t>
              </a:r>
            </a:p>
          </p:txBody>
        </p:sp>
      </p:grpSp>
      <p:grpSp>
        <p:nvGrpSpPr>
          <p:cNvPr name="Group 45" id="45"/>
          <p:cNvGrpSpPr/>
          <p:nvPr/>
        </p:nvGrpSpPr>
        <p:grpSpPr>
          <a:xfrm rot="0">
            <a:off x="6542532" y="6446520"/>
            <a:ext cx="5143500" cy="329184"/>
            <a:chOff x="0" y="0"/>
            <a:chExt cx="6858000" cy="438912"/>
          </a:xfrm>
        </p:grpSpPr>
        <p:sp>
          <p:nvSpPr>
            <p:cNvPr name="Freeform 46" id="46"/>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47" id="47"/>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9AA3B8"/>
                  </a:solidFill>
                  <a:latin typeface="Arimo"/>
                  <a:ea typeface="Arimo"/>
                  <a:cs typeface="Arimo"/>
                  <a:sym typeface="Arimo"/>
                </a:rPr>
                <a:t>DICT</a:t>
              </a:r>
            </a:p>
          </p:txBody>
        </p:sp>
      </p:grpSp>
      <p:grpSp>
        <p:nvGrpSpPr>
          <p:cNvPr name="Group 48" id="48"/>
          <p:cNvGrpSpPr/>
          <p:nvPr/>
        </p:nvGrpSpPr>
        <p:grpSpPr>
          <a:xfrm rot="0">
            <a:off x="12115419" y="4928235"/>
            <a:ext cx="5162550" cy="1911858"/>
            <a:chOff x="0" y="0"/>
            <a:chExt cx="6883400" cy="2549144"/>
          </a:xfrm>
        </p:grpSpPr>
        <p:sp>
          <p:nvSpPr>
            <p:cNvPr name="Freeform 49" id="49"/>
            <p:cNvSpPr/>
            <p:nvPr/>
          </p:nvSpPr>
          <p:spPr>
            <a:xfrm flipH="false" flipV="false" rot="0">
              <a:off x="0" y="0"/>
              <a:ext cx="6883400" cy="2549144"/>
            </a:xfrm>
            <a:custGeom>
              <a:avLst/>
              <a:gdLst/>
              <a:ahLst/>
              <a:cxnLst/>
              <a:rect r="r" b="b" t="t" l="l"/>
              <a:pathLst>
                <a:path h="2549144" w="6883400">
                  <a:moveTo>
                    <a:pt x="0" y="166243"/>
                  </a:moveTo>
                  <a:cubicBezTo>
                    <a:pt x="0" y="74422"/>
                    <a:pt x="74422" y="0"/>
                    <a:pt x="166243" y="0"/>
                  </a:cubicBezTo>
                  <a:lnTo>
                    <a:pt x="6717157" y="0"/>
                  </a:lnTo>
                  <a:cubicBezTo>
                    <a:pt x="6808978" y="0"/>
                    <a:pt x="6883400" y="74422"/>
                    <a:pt x="6883400" y="166243"/>
                  </a:cubicBezTo>
                  <a:lnTo>
                    <a:pt x="6883400" y="2382901"/>
                  </a:lnTo>
                  <a:cubicBezTo>
                    <a:pt x="6883400" y="2474722"/>
                    <a:pt x="6808978" y="2549144"/>
                    <a:pt x="6717157" y="2549144"/>
                  </a:cubicBezTo>
                  <a:lnTo>
                    <a:pt x="166243" y="2549144"/>
                  </a:lnTo>
                  <a:cubicBezTo>
                    <a:pt x="74422" y="2549144"/>
                    <a:pt x="0" y="2474722"/>
                    <a:pt x="0" y="2382901"/>
                  </a:cubicBezTo>
                  <a:close/>
                </a:path>
              </a:pathLst>
            </a:custGeom>
            <a:solidFill>
              <a:srgbClr val="F4F7FC"/>
            </a:solidFill>
            <a:ln w="19050" cap="sq">
              <a:solidFill>
                <a:srgbClr val="D7DCEC"/>
              </a:solidFill>
              <a:prstDash val="solid"/>
              <a:miter/>
            </a:ln>
          </p:spPr>
        </p:sp>
      </p:grpSp>
      <p:grpSp>
        <p:nvGrpSpPr>
          <p:cNvPr name="Group 50" id="50"/>
          <p:cNvGrpSpPr/>
          <p:nvPr/>
        </p:nvGrpSpPr>
        <p:grpSpPr>
          <a:xfrm rot="0">
            <a:off x="12124944" y="5006340"/>
            <a:ext cx="5143500" cy="1591056"/>
            <a:chOff x="0" y="0"/>
            <a:chExt cx="6858000" cy="2121408"/>
          </a:xfrm>
        </p:grpSpPr>
        <p:sp>
          <p:nvSpPr>
            <p:cNvPr name="Freeform 51" id="51"/>
            <p:cNvSpPr/>
            <p:nvPr/>
          </p:nvSpPr>
          <p:spPr>
            <a:xfrm flipH="false" flipV="false" rot="0">
              <a:off x="0" y="0"/>
              <a:ext cx="6858000" cy="2121408"/>
            </a:xfrm>
            <a:custGeom>
              <a:avLst/>
              <a:gdLst/>
              <a:ahLst/>
              <a:cxnLst/>
              <a:rect r="r" b="b" t="t" l="l"/>
              <a:pathLst>
                <a:path h="2121408" w="6858000">
                  <a:moveTo>
                    <a:pt x="0" y="0"/>
                  </a:moveTo>
                  <a:lnTo>
                    <a:pt x="6858000" y="0"/>
                  </a:lnTo>
                  <a:lnTo>
                    <a:pt x="6858000" y="2121408"/>
                  </a:lnTo>
                  <a:lnTo>
                    <a:pt x="0" y="2121408"/>
                  </a:lnTo>
                  <a:close/>
                </a:path>
              </a:pathLst>
            </a:custGeom>
            <a:blipFill>
              <a:blip r:embed="rId2">
                <a:alphaModFix amt="0"/>
              </a:blip>
              <a:stretch>
                <a:fillRect l="0" t="-12990" r="0" b="-12990"/>
              </a:stretch>
            </a:blipFill>
          </p:spPr>
        </p:sp>
        <p:sp>
          <p:nvSpPr>
            <p:cNvPr name="TextBox 52" id="52"/>
            <p:cNvSpPr txBox="true"/>
            <p:nvPr/>
          </p:nvSpPr>
          <p:spPr>
            <a:xfrm>
              <a:off x="0" y="-38100"/>
              <a:ext cx="6858000" cy="2159508"/>
            </a:xfrm>
            <a:prstGeom prst="rect">
              <a:avLst/>
            </a:prstGeom>
          </p:spPr>
          <p:txBody>
            <a:bodyPr anchor="ctr" rtlCol="false" tIns="0" lIns="0" bIns="0" rIns="0"/>
            <a:lstStyle/>
            <a:p>
              <a:pPr algn="ctr">
                <a:lnSpc>
                  <a:spcPts val="2250"/>
                </a:lnSpc>
              </a:pPr>
              <a:r>
                <a:rPr lang="en-US" sz="1875">
                  <a:solidFill>
                    <a:srgbClr val="6B7280"/>
                  </a:solidFill>
                  <a:latin typeface="Calibri (MS)"/>
                  <a:ea typeface="Calibri (MS)"/>
                  <a:cs typeface="Calibri (MS)"/>
                  <a:sym typeface="Calibri (MS)"/>
                </a:rPr>
                <a:t>Critical Infra. Protection</a:t>
              </a:r>
            </a:p>
          </p:txBody>
        </p:sp>
      </p:grpSp>
      <p:grpSp>
        <p:nvGrpSpPr>
          <p:cNvPr name="Group 53" id="53"/>
          <p:cNvGrpSpPr/>
          <p:nvPr/>
        </p:nvGrpSpPr>
        <p:grpSpPr>
          <a:xfrm rot="0">
            <a:off x="12124944" y="6446520"/>
            <a:ext cx="5143500" cy="329184"/>
            <a:chOff x="0" y="0"/>
            <a:chExt cx="6858000" cy="438912"/>
          </a:xfrm>
        </p:grpSpPr>
        <p:sp>
          <p:nvSpPr>
            <p:cNvPr name="Freeform 54" id="54"/>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55" id="55"/>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9AA3B8"/>
                  </a:solidFill>
                  <a:latin typeface="Arimo"/>
                  <a:ea typeface="Arimo"/>
                  <a:cs typeface="Arimo"/>
                  <a:sym typeface="Arimo"/>
                </a:rPr>
                <a:t>CII</a:t>
              </a:r>
            </a:p>
          </p:txBody>
        </p:sp>
      </p:grpSp>
      <p:grpSp>
        <p:nvGrpSpPr>
          <p:cNvPr name="Group 56" id="56"/>
          <p:cNvGrpSpPr/>
          <p:nvPr/>
        </p:nvGrpSpPr>
        <p:grpSpPr>
          <a:xfrm rot="0">
            <a:off x="950595" y="7328535"/>
            <a:ext cx="16341090" cy="1596390"/>
            <a:chOff x="0" y="0"/>
            <a:chExt cx="21788120" cy="2128520"/>
          </a:xfrm>
        </p:grpSpPr>
        <p:sp>
          <p:nvSpPr>
            <p:cNvPr name="Freeform 57" id="57"/>
            <p:cNvSpPr/>
            <p:nvPr/>
          </p:nvSpPr>
          <p:spPr>
            <a:xfrm flipH="false" flipV="false" rot="0">
              <a:off x="0" y="0"/>
              <a:ext cx="21788120" cy="2128520"/>
            </a:xfrm>
            <a:custGeom>
              <a:avLst/>
              <a:gdLst/>
              <a:ahLst/>
              <a:cxnLst/>
              <a:rect r="r" b="b" t="t" l="l"/>
              <a:pathLst>
                <a:path h="2128520" w="21788120">
                  <a:moveTo>
                    <a:pt x="0" y="185039"/>
                  </a:moveTo>
                  <a:cubicBezTo>
                    <a:pt x="0" y="82931"/>
                    <a:pt x="82931" y="0"/>
                    <a:pt x="185039" y="0"/>
                  </a:cubicBezTo>
                  <a:lnTo>
                    <a:pt x="21603081" y="0"/>
                  </a:lnTo>
                  <a:cubicBezTo>
                    <a:pt x="21705317" y="0"/>
                    <a:pt x="21788120" y="82931"/>
                    <a:pt x="21788120" y="185039"/>
                  </a:cubicBezTo>
                  <a:lnTo>
                    <a:pt x="21788120" y="1943481"/>
                  </a:lnTo>
                  <a:cubicBezTo>
                    <a:pt x="21788120" y="2045716"/>
                    <a:pt x="21705190" y="2128520"/>
                    <a:pt x="21603081" y="2128520"/>
                  </a:cubicBezTo>
                  <a:lnTo>
                    <a:pt x="185039" y="2128520"/>
                  </a:lnTo>
                  <a:cubicBezTo>
                    <a:pt x="82931" y="2128520"/>
                    <a:pt x="0" y="2045589"/>
                    <a:pt x="0" y="1943481"/>
                  </a:cubicBezTo>
                  <a:close/>
                </a:path>
              </a:pathLst>
            </a:custGeom>
            <a:solidFill>
              <a:srgbClr val="FBF9F4"/>
            </a:solidFill>
            <a:ln w="19050" cap="sq">
              <a:solidFill>
                <a:srgbClr val="EFE6D2"/>
              </a:solidFill>
              <a:prstDash val="solid"/>
              <a:miter/>
            </a:ln>
          </p:spPr>
        </p:sp>
      </p:grpSp>
      <p:sp>
        <p:nvSpPr>
          <p:cNvPr name="TextBox 58" id="58"/>
          <p:cNvSpPr txBox="true"/>
          <p:nvPr/>
        </p:nvSpPr>
        <p:spPr>
          <a:xfrm rot="0">
            <a:off x="1463040" y="7494270"/>
            <a:ext cx="15316200" cy="1238250"/>
          </a:xfrm>
          <a:prstGeom prst="rect">
            <a:avLst/>
          </a:prstGeom>
        </p:spPr>
        <p:txBody>
          <a:bodyPr anchor="t" rtlCol="false" tIns="0" lIns="0" bIns="0" rIns="0">
            <a:spAutoFit/>
          </a:bodyPr>
          <a:lstStyle/>
          <a:p>
            <a:pPr algn="l">
              <a:lnSpc>
                <a:spcPts val="2764"/>
              </a:lnSpc>
            </a:pPr>
            <a:r>
              <a:rPr lang="en-US" sz="1800">
                <a:solidFill>
                  <a:srgbClr val="23262F"/>
                </a:solidFill>
                <a:latin typeface="Calibri (MS)"/>
                <a:ea typeface="Calibri (MS)"/>
                <a:cs typeface="Calibri (MS)"/>
                <a:sym typeface="Calibri (MS)"/>
              </a:rPr>
              <a:t>The Electronic Commerce Act (RA 8792) gives electronic signatures and documents the same legal weight as their paper counterparts — a contract can't be dismissed just because it was signed digitally.</a:t>
            </a:r>
          </a:p>
        </p:txBody>
      </p:sp>
      <p:grpSp>
        <p:nvGrpSpPr>
          <p:cNvPr name="Group 59" id="59"/>
          <p:cNvGrpSpPr/>
          <p:nvPr/>
        </p:nvGrpSpPr>
        <p:grpSpPr>
          <a:xfrm rot="0">
            <a:off x="685800" y="9710928"/>
            <a:ext cx="10972800" cy="411480"/>
            <a:chOff x="0" y="0"/>
            <a:chExt cx="14630400" cy="548640"/>
          </a:xfrm>
        </p:grpSpPr>
        <p:sp>
          <p:nvSpPr>
            <p:cNvPr name="Freeform 60" id="60"/>
            <p:cNvSpPr/>
            <p:nvPr/>
          </p:nvSpPr>
          <p:spPr>
            <a:xfrm flipH="false" flipV="false" rot="0">
              <a:off x="0" y="0"/>
              <a:ext cx="14630400" cy="548640"/>
            </a:xfrm>
            <a:custGeom>
              <a:avLst/>
              <a:gdLst/>
              <a:ahLst/>
              <a:cxnLst/>
              <a:rect r="r" b="b" t="t" l="l"/>
              <a:pathLst>
                <a:path h="548640" w="14630400">
                  <a:moveTo>
                    <a:pt x="0" y="0"/>
                  </a:moveTo>
                  <a:lnTo>
                    <a:pt x="14630400" y="0"/>
                  </a:lnTo>
                  <a:lnTo>
                    <a:pt x="14630400" y="548640"/>
                  </a:lnTo>
                  <a:lnTo>
                    <a:pt x="0" y="548640"/>
                  </a:lnTo>
                  <a:close/>
                </a:path>
              </a:pathLst>
            </a:custGeom>
            <a:blipFill>
              <a:blip r:embed="rId2">
                <a:alphaModFix amt="0"/>
              </a:blip>
              <a:stretch>
                <a:fillRect l="0" t="-469601" r="0" b="-469601"/>
              </a:stretch>
            </a:blipFill>
          </p:spPr>
        </p:sp>
        <p:sp>
          <p:nvSpPr>
            <p:cNvPr name="TextBox 61" id="61"/>
            <p:cNvSpPr txBox="true"/>
            <p:nvPr/>
          </p:nvSpPr>
          <p:spPr>
            <a:xfrm>
              <a:off x="0" y="-38100"/>
              <a:ext cx="14630400" cy="586740"/>
            </a:xfrm>
            <a:prstGeom prst="rect">
              <a:avLst/>
            </a:prstGeom>
          </p:spPr>
          <p:txBody>
            <a:bodyPr anchor="ctr" rtlCol="false" tIns="0" lIns="0" bIns="0" rIns="0"/>
            <a:lstStyle/>
            <a:p>
              <a:pPr algn="l">
                <a:lnSpc>
                  <a:spcPts val="1800"/>
                </a:lnSpc>
              </a:pPr>
              <a:r>
                <a:rPr lang="en-US" sz="1500">
                  <a:solidFill>
                    <a:srgbClr val="6B7280"/>
                  </a:solidFill>
                  <a:latin typeface="Calibri (MS)"/>
                  <a:ea typeface="Calibri (MS)"/>
                  <a:cs typeface="Calibri (MS)"/>
                  <a:sym typeface="Calibri (MS)"/>
                </a:rPr>
                <a:t>Davao del Norte Provincial Government — Cybersecurity Seminar</a:t>
              </a:r>
            </a:p>
          </p:txBody>
        </p:sp>
      </p:grpSp>
      <p:grpSp>
        <p:nvGrpSpPr>
          <p:cNvPr name="Group 62" id="62"/>
          <p:cNvGrpSpPr/>
          <p:nvPr/>
        </p:nvGrpSpPr>
        <p:grpSpPr>
          <a:xfrm rot="0">
            <a:off x="16911828" y="9710928"/>
            <a:ext cx="685800" cy="411480"/>
            <a:chOff x="0" y="0"/>
            <a:chExt cx="914400" cy="548640"/>
          </a:xfrm>
        </p:grpSpPr>
        <p:sp>
          <p:nvSpPr>
            <p:cNvPr name="Freeform 63" id="63"/>
            <p:cNvSpPr/>
            <p:nvPr/>
          </p:nvSpPr>
          <p:spPr>
            <a:xfrm flipH="false" flipV="false" rot="0">
              <a:off x="0" y="0"/>
              <a:ext cx="914400" cy="548640"/>
            </a:xfrm>
            <a:custGeom>
              <a:avLst/>
              <a:gdLst/>
              <a:ahLst/>
              <a:cxnLst/>
              <a:rect r="r" b="b" t="t" l="l"/>
              <a:pathLst>
                <a:path h="548640" w="914400">
                  <a:moveTo>
                    <a:pt x="0" y="0"/>
                  </a:moveTo>
                  <a:lnTo>
                    <a:pt x="914400" y="0"/>
                  </a:lnTo>
                  <a:lnTo>
                    <a:pt x="914400" y="548640"/>
                  </a:lnTo>
                  <a:lnTo>
                    <a:pt x="0" y="548640"/>
                  </a:lnTo>
                  <a:close/>
                </a:path>
              </a:pathLst>
            </a:custGeom>
            <a:blipFill>
              <a:blip r:embed="rId2">
                <a:alphaModFix amt="0"/>
              </a:blip>
              <a:stretch>
                <a:fillRect l="-26982" t="0" r="-26982" b="0"/>
              </a:stretch>
            </a:blipFill>
          </p:spPr>
        </p:sp>
        <p:sp>
          <p:nvSpPr>
            <p:cNvPr name="TextBox 64" id="64"/>
            <p:cNvSpPr txBox="true"/>
            <p:nvPr/>
          </p:nvSpPr>
          <p:spPr>
            <a:xfrm>
              <a:off x="0" y="-38100"/>
              <a:ext cx="914400" cy="586740"/>
            </a:xfrm>
            <a:prstGeom prst="rect">
              <a:avLst/>
            </a:prstGeom>
          </p:spPr>
          <p:txBody>
            <a:bodyPr anchor="ctr" rtlCol="false" tIns="0" lIns="0" bIns="0" rIns="0"/>
            <a:lstStyle/>
            <a:p>
              <a:pPr algn="r">
                <a:lnSpc>
                  <a:spcPts val="1800"/>
                </a:lnSpc>
              </a:pPr>
              <a:r>
                <a:rPr lang="en-US" sz="1500">
                  <a:solidFill>
                    <a:srgbClr val="6B7280"/>
                  </a:solidFill>
                  <a:latin typeface="Calibri (MS)"/>
                  <a:ea typeface="Calibri (MS)"/>
                  <a:cs typeface="Calibri (MS)"/>
                  <a:sym typeface="Calibri (MS)"/>
                </a:rPr>
                <a:t>12</a:t>
              </a:r>
            </a:p>
          </p:txBody>
        </p:sp>
      </p:grpSp>
    </p:spTree>
  </p:cSld>
  <p:clrMapOvr>
    <a:masterClrMapping/>
  </p:clrMapOvr>
</p:sld>
</file>

<file path=ppt/slides/slide12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60120" y="685800"/>
            <a:ext cx="13716000" cy="411480"/>
            <a:chOff x="0" y="0"/>
            <a:chExt cx="18288000" cy="548640"/>
          </a:xfrm>
        </p:grpSpPr>
        <p:sp>
          <p:nvSpPr>
            <p:cNvPr name="Freeform 3" id="3"/>
            <p:cNvSpPr/>
            <p:nvPr/>
          </p:nvSpPr>
          <p:spPr>
            <a:xfrm flipH="false" flipV="false" rot="0">
              <a:off x="0" y="0"/>
              <a:ext cx="18288000" cy="548640"/>
            </a:xfrm>
            <a:custGeom>
              <a:avLst/>
              <a:gdLst/>
              <a:ahLst/>
              <a:cxnLst/>
              <a:rect r="r" b="b" t="t" l="l"/>
              <a:pathLst>
                <a:path h="548640" w="18288000">
                  <a:moveTo>
                    <a:pt x="0" y="0"/>
                  </a:moveTo>
                  <a:lnTo>
                    <a:pt x="18288000" y="0"/>
                  </a:lnTo>
                  <a:lnTo>
                    <a:pt x="18288000" y="548640"/>
                  </a:lnTo>
                  <a:lnTo>
                    <a:pt x="0" y="548640"/>
                  </a:lnTo>
                  <a:close/>
                </a:path>
              </a:pathLst>
            </a:custGeom>
            <a:blipFill>
              <a:blip r:embed="rId2">
                <a:alphaModFix amt="0"/>
              </a:blip>
              <a:stretch>
                <a:fillRect l="0" t="-599501" r="0" b="-599501"/>
              </a:stretch>
            </a:blipFill>
          </p:spPr>
        </p:sp>
        <p:sp>
          <p:nvSpPr>
            <p:cNvPr name="TextBox 4" id="4"/>
            <p:cNvSpPr txBox="true"/>
            <p:nvPr/>
          </p:nvSpPr>
          <p:spPr>
            <a:xfrm>
              <a:off x="0" y="-38100"/>
              <a:ext cx="18288000" cy="586740"/>
            </a:xfrm>
            <a:prstGeom prst="rect">
              <a:avLst/>
            </a:prstGeom>
          </p:spPr>
          <p:txBody>
            <a:bodyPr anchor="ctr" rtlCol="false" tIns="0" lIns="0" bIns="0" rIns="0"/>
            <a:lstStyle/>
            <a:p>
              <a:pPr algn="l">
                <a:lnSpc>
                  <a:spcPts val="2160"/>
                </a:lnSpc>
              </a:pPr>
              <a:r>
                <a:rPr lang="en-US" b="true" sz="1800" spc="225">
                  <a:solidFill>
                    <a:srgbClr val="00B4D8"/>
                  </a:solidFill>
                  <a:latin typeface="Calibri (MS) Bold"/>
                  <a:ea typeface="Calibri (MS) Bold"/>
                  <a:cs typeface="Calibri (MS) Bold"/>
                  <a:sym typeface="Calibri (MS) Bold"/>
                </a:rPr>
                <a:t>PH CYBER LAW SORT · SCENARIO</a:t>
              </a:r>
            </a:p>
          </p:txBody>
        </p:sp>
      </p:grpSp>
      <p:grpSp>
        <p:nvGrpSpPr>
          <p:cNvPr name="Group 5" id="5"/>
          <p:cNvGrpSpPr/>
          <p:nvPr/>
        </p:nvGrpSpPr>
        <p:grpSpPr>
          <a:xfrm rot="0">
            <a:off x="960120" y="1069848"/>
            <a:ext cx="10972800" cy="822960"/>
            <a:chOff x="0" y="0"/>
            <a:chExt cx="14630400" cy="1097280"/>
          </a:xfrm>
        </p:grpSpPr>
        <p:sp>
          <p:nvSpPr>
            <p:cNvPr name="Freeform 6" id="6"/>
            <p:cNvSpPr/>
            <p:nvPr/>
          </p:nvSpPr>
          <p:spPr>
            <a:xfrm flipH="false" flipV="false" rot="0">
              <a:off x="0" y="0"/>
              <a:ext cx="14630400" cy="1097280"/>
            </a:xfrm>
            <a:custGeom>
              <a:avLst/>
              <a:gdLst/>
              <a:ahLst/>
              <a:cxnLst/>
              <a:rect r="r" b="b" t="t" l="l"/>
              <a:pathLst>
                <a:path h="1097280" w="14630400">
                  <a:moveTo>
                    <a:pt x="0" y="0"/>
                  </a:moveTo>
                  <a:lnTo>
                    <a:pt x="14630400" y="0"/>
                  </a:lnTo>
                  <a:lnTo>
                    <a:pt x="14630400" y="1097280"/>
                  </a:lnTo>
                  <a:lnTo>
                    <a:pt x="0" y="1097280"/>
                  </a:lnTo>
                  <a:close/>
                </a:path>
              </a:pathLst>
            </a:custGeom>
            <a:blipFill>
              <a:blip r:embed="rId2">
                <a:alphaModFix amt="0"/>
              </a:blip>
              <a:stretch>
                <a:fillRect l="0" t="-209800" r="0" b="-209800"/>
              </a:stretch>
            </a:blipFill>
          </p:spPr>
        </p:sp>
        <p:sp>
          <p:nvSpPr>
            <p:cNvPr name="TextBox 7" id="7"/>
            <p:cNvSpPr txBox="true"/>
            <p:nvPr/>
          </p:nvSpPr>
          <p:spPr>
            <a:xfrm>
              <a:off x="0" y="0"/>
              <a:ext cx="14630400" cy="1097280"/>
            </a:xfrm>
            <a:prstGeom prst="rect">
              <a:avLst/>
            </a:prstGeom>
          </p:spPr>
          <p:txBody>
            <a:bodyPr anchor="ctr" rtlCol="false" tIns="0" lIns="0" bIns="0" rIns="0"/>
            <a:lstStyle/>
            <a:p>
              <a:pPr algn="l">
                <a:lnSpc>
                  <a:spcPts val="4680"/>
                </a:lnSpc>
              </a:pPr>
              <a:r>
                <a:rPr lang="en-US" sz="3900" b="true">
                  <a:solidFill>
                    <a:srgbClr val="1E2761"/>
                  </a:solidFill>
                  <a:latin typeface="Cambria Bold"/>
                  <a:ea typeface="Cambria Bold"/>
                  <a:cs typeface="Cambria Bold"/>
                  <a:sym typeface="Cambria Bold"/>
                </a:rPr>
                <a:t>Scenario 2</a:t>
              </a:r>
            </a:p>
          </p:txBody>
        </p:sp>
      </p:grpSp>
      <p:grpSp>
        <p:nvGrpSpPr>
          <p:cNvPr name="Group 8" id="8"/>
          <p:cNvGrpSpPr/>
          <p:nvPr/>
        </p:nvGrpSpPr>
        <p:grpSpPr>
          <a:xfrm rot="0">
            <a:off x="960120" y="1810512"/>
            <a:ext cx="8229600" cy="411480"/>
            <a:chOff x="0" y="0"/>
            <a:chExt cx="10972800" cy="548640"/>
          </a:xfrm>
        </p:grpSpPr>
        <p:sp>
          <p:nvSpPr>
            <p:cNvPr name="Freeform 9" id="9"/>
            <p:cNvSpPr/>
            <p:nvPr/>
          </p:nvSpPr>
          <p:spPr>
            <a:xfrm flipH="false" flipV="false" rot="0">
              <a:off x="0" y="0"/>
              <a:ext cx="10972800" cy="548640"/>
            </a:xfrm>
            <a:custGeom>
              <a:avLst/>
              <a:gdLst/>
              <a:ahLst/>
              <a:cxnLst/>
              <a:rect r="r" b="b" t="t" l="l"/>
              <a:pathLst>
                <a:path h="548640" w="10972800">
                  <a:moveTo>
                    <a:pt x="0" y="0"/>
                  </a:moveTo>
                  <a:lnTo>
                    <a:pt x="10972800" y="0"/>
                  </a:lnTo>
                  <a:lnTo>
                    <a:pt x="10972800" y="548640"/>
                  </a:lnTo>
                  <a:lnTo>
                    <a:pt x="0" y="548640"/>
                  </a:lnTo>
                  <a:close/>
                </a:path>
              </a:pathLst>
            </a:custGeom>
            <a:blipFill>
              <a:blip r:embed="rId2">
                <a:alphaModFix amt="0"/>
              </a:blip>
              <a:stretch>
                <a:fillRect l="0" t="-339700" r="0" b="-339700"/>
              </a:stretch>
            </a:blipFill>
          </p:spPr>
        </p:sp>
        <p:sp>
          <p:nvSpPr>
            <p:cNvPr name="TextBox 10" id="10"/>
            <p:cNvSpPr txBox="true"/>
            <p:nvPr/>
          </p:nvSpPr>
          <p:spPr>
            <a:xfrm>
              <a:off x="0" y="-28575"/>
              <a:ext cx="10972800" cy="577215"/>
            </a:xfrm>
            <a:prstGeom prst="rect">
              <a:avLst/>
            </a:prstGeom>
          </p:spPr>
          <p:txBody>
            <a:bodyPr anchor="ctr" rtlCol="false" tIns="0" lIns="0" bIns="0" rIns="0"/>
            <a:lstStyle/>
            <a:p>
              <a:pPr algn="l">
                <a:lnSpc>
                  <a:spcPts val="1980"/>
                </a:lnSpc>
              </a:pPr>
              <a:r>
                <a:rPr lang="en-US" sz="1650">
                  <a:solidFill>
                    <a:srgbClr val="6B7280"/>
                  </a:solidFill>
                  <a:latin typeface="Calibri (MS)"/>
                  <a:ea typeface="Calibri (MS)"/>
                  <a:cs typeface="Calibri (MS)"/>
                  <a:sym typeface="Calibri (MS)"/>
                </a:rPr>
                <a:t>2 of 15</a:t>
              </a:r>
            </a:p>
          </p:txBody>
        </p:sp>
      </p:grpSp>
      <p:grpSp>
        <p:nvGrpSpPr>
          <p:cNvPr name="Group 11" id="11"/>
          <p:cNvGrpSpPr/>
          <p:nvPr/>
        </p:nvGrpSpPr>
        <p:grpSpPr>
          <a:xfrm rot="0">
            <a:off x="960120" y="2537460"/>
            <a:ext cx="16322040" cy="2811780"/>
            <a:chOff x="0" y="0"/>
            <a:chExt cx="21762720" cy="3749040"/>
          </a:xfrm>
        </p:grpSpPr>
        <p:sp>
          <p:nvSpPr>
            <p:cNvPr name="Freeform 12" id="12"/>
            <p:cNvSpPr/>
            <p:nvPr/>
          </p:nvSpPr>
          <p:spPr>
            <a:xfrm flipH="false" flipV="false" rot="0">
              <a:off x="0" y="0"/>
              <a:ext cx="21762720" cy="3749040"/>
            </a:xfrm>
            <a:custGeom>
              <a:avLst/>
              <a:gdLst/>
              <a:ahLst/>
              <a:cxnLst/>
              <a:rect r="r" b="b" t="t" l="l"/>
              <a:pathLst>
                <a:path h="3749040" w="21762720">
                  <a:moveTo>
                    <a:pt x="0" y="182880"/>
                  </a:moveTo>
                  <a:cubicBezTo>
                    <a:pt x="0" y="81915"/>
                    <a:pt x="81915" y="0"/>
                    <a:pt x="182880" y="0"/>
                  </a:cubicBezTo>
                  <a:lnTo>
                    <a:pt x="21579839" y="0"/>
                  </a:lnTo>
                  <a:cubicBezTo>
                    <a:pt x="21680804" y="0"/>
                    <a:pt x="21762720" y="81915"/>
                    <a:pt x="21762720" y="182880"/>
                  </a:cubicBezTo>
                  <a:lnTo>
                    <a:pt x="21762720" y="3566160"/>
                  </a:lnTo>
                  <a:cubicBezTo>
                    <a:pt x="21762720" y="3667125"/>
                    <a:pt x="21680804" y="3749040"/>
                    <a:pt x="21579839" y="3749040"/>
                  </a:cubicBezTo>
                  <a:lnTo>
                    <a:pt x="182880" y="3749040"/>
                  </a:lnTo>
                  <a:cubicBezTo>
                    <a:pt x="81915" y="3749040"/>
                    <a:pt x="0" y="3667125"/>
                    <a:pt x="0" y="3566160"/>
                  </a:cubicBezTo>
                  <a:close/>
                </a:path>
              </a:pathLst>
            </a:custGeom>
            <a:solidFill>
              <a:srgbClr val="F4F7FC"/>
            </a:solidFill>
          </p:spPr>
        </p:sp>
      </p:grpSp>
      <p:grpSp>
        <p:nvGrpSpPr>
          <p:cNvPr name="Group 13" id="13"/>
          <p:cNvGrpSpPr/>
          <p:nvPr/>
        </p:nvGrpSpPr>
        <p:grpSpPr>
          <a:xfrm rot="0">
            <a:off x="1440180" y="2811780"/>
            <a:ext cx="15361920" cy="2263140"/>
            <a:chOff x="0" y="0"/>
            <a:chExt cx="20482560" cy="3017520"/>
          </a:xfrm>
        </p:grpSpPr>
        <p:sp>
          <p:nvSpPr>
            <p:cNvPr name="Freeform 14" id="14"/>
            <p:cNvSpPr/>
            <p:nvPr/>
          </p:nvSpPr>
          <p:spPr>
            <a:xfrm flipH="false" flipV="false" rot="0">
              <a:off x="0" y="0"/>
              <a:ext cx="20482561" cy="3017520"/>
            </a:xfrm>
            <a:custGeom>
              <a:avLst/>
              <a:gdLst/>
              <a:ahLst/>
              <a:cxnLst/>
              <a:rect r="r" b="b" t="t" l="l"/>
              <a:pathLst>
                <a:path h="3017520" w="20482561">
                  <a:moveTo>
                    <a:pt x="0" y="0"/>
                  </a:moveTo>
                  <a:lnTo>
                    <a:pt x="20482561" y="0"/>
                  </a:lnTo>
                  <a:lnTo>
                    <a:pt x="20482561" y="3017520"/>
                  </a:lnTo>
                  <a:lnTo>
                    <a:pt x="0" y="3017520"/>
                  </a:lnTo>
                  <a:close/>
                </a:path>
              </a:pathLst>
            </a:custGeom>
            <a:blipFill>
              <a:blip r:embed="rId2">
                <a:alphaModFix amt="0"/>
              </a:blip>
              <a:stretch>
                <a:fillRect l="0" t="-82262" r="0" b="-82262"/>
              </a:stretch>
            </a:blipFill>
          </p:spPr>
        </p:sp>
        <p:sp>
          <p:nvSpPr>
            <p:cNvPr name="TextBox 15" id="15"/>
            <p:cNvSpPr txBox="true"/>
            <p:nvPr/>
          </p:nvSpPr>
          <p:spPr>
            <a:xfrm>
              <a:off x="0" y="-104775"/>
              <a:ext cx="20482560" cy="3122295"/>
            </a:xfrm>
            <a:prstGeom prst="rect">
              <a:avLst/>
            </a:prstGeom>
          </p:spPr>
          <p:txBody>
            <a:bodyPr anchor="ctr" rtlCol="false" tIns="0" lIns="0" bIns="0" rIns="0"/>
            <a:lstStyle/>
            <a:p>
              <a:pPr algn="l">
                <a:lnSpc>
                  <a:spcPts val="4147"/>
                </a:lnSpc>
              </a:pPr>
              <a:r>
                <a:rPr lang="en-US" sz="2700" i="true">
                  <a:solidFill>
                    <a:srgbClr val="23262F"/>
                  </a:solidFill>
                  <a:latin typeface="Cambria Italics"/>
                  <a:ea typeface="Cambria Italics"/>
                  <a:cs typeface="Cambria Italics"/>
                  <a:sym typeface="Cambria Italics"/>
                </a:rPr>
                <a:t>"The province wants to let residents submit business permit applications online instead of requiring a printed form filed in person."</a:t>
              </a:r>
            </a:p>
          </p:txBody>
        </p:sp>
      </p:grpSp>
      <p:sp>
        <p:nvSpPr>
          <p:cNvPr name="TextBox 16" id="16"/>
          <p:cNvSpPr txBox="true"/>
          <p:nvPr/>
        </p:nvSpPr>
        <p:spPr>
          <a:xfrm rot="0">
            <a:off x="1051560" y="5604510"/>
            <a:ext cx="16139160" cy="864870"/>
          </a:xfrm>
          <a:prstGeom prst="rect">
            <a:avLst/>
          </a:prstGeom>
        </p:spPr>
        <p:txBody>
          <a:bodyPr anchor="t" rtlCol="false" tIns="0" lIns="0" bIns="0" rIns="0">
            <a:spAutoFit/>
          </a:bodyPr>
          <a:lstStyle/>
          <a:p>
            <a:pPr algn="ctr">
              <a:lnSpc>
                <a:spcPts val="3402"/>
              </a:lnSpc>
            </a:pPr>
            <a:r>
              <a:rPr lang="en-US" sz="2100" i="true">
                <a:solidFill>
                  <a:srgbClr val="6B7280"/>
                </a:solidFill>
                <a:latin typeface="Calibri (MS) Italics"/>
                <a:ea typeface="Calibri (MS) Italics"/>
                <a:cs typeface="Calibri (MS) Italics"/>
                <a:sym typeface="Calibri (MS) Italics"/>
              </a:rPr>
              <a:t>Which law or DICT issuance governs this? Discuss, then we'll reveal the answer.</a:t>
            </a:r>
          </a:p>
        </p:txBody>
      </p:sp>
      <p:grpSp>
        <p:nvGrpSpPr>
          <p:cNvPr name="Group 17" id="17"/>
          <p:cNvGrpSpPr/>
          <p:nvPr/>
        </p:nvGrpSpPr>
        <p:grpSpPr>
          <a:xfrm rot="0">
            <a:off x="950595" y="6779895"/>
            <a:ext cx="5162550" cy="910590"/>
            <a:chOff x="0" y="0"/>
            <a:chExt cx="6883400" cy="1214120"/>
          </a:xfrm>
        </p:grpSpPr>
        <p:sp>
          <p:nvSpPr>
            <p:cNvPr name="Freeform 18" id="18"/>
            <p:cNvSpPr/>
            <p:nvPr/>
          </p:nvSpPr>
          <p:spPr>
            <a:xfrm flipH="false" flipV="false" rot="0">
              <a:off x="0" y="0"/>
              <a:ext cx="6883400" cy="1214120"/>
            </a:xfrm>
            <a:custGeom>
              <a:avLst/>
              <a:gdLst/>
              <a:ahLst/>
              <a:cxnLst/>
              <a:rect r="r" b="b" t="t" l="l"/>
              <a:pathLst>
                <a:path h="1214120" w="6883400">
                  <a:moveTo>
                    <a:pt x="0" y="168148"/>
                  </a:moveTo>
                  <a:cubicBezTo>
                    <a:pt x="0" y="75311"/>
                    <a:pt x="75311" y="0"/>
                    <a:pt x="168148" y="0"/>
                  </a:cubicBezTo>
                  <a:lnTo>
                    <a:pt x="6715252" y="0"/>
                  </a:lnTo>
                  <a:cubicBezTo>
                    <a:pt x="6808089" y="0"/>
                    <a:pt x="6883400" y="75311"/>
                    <a:pt x="6883400" y="168148"/>
                  </a:cubicBezTo>
                  <a:lnTo>
                    <a:pt x="6883400" y="1045972"/>
                  </a:lnTo>
                  <a:cubicBezTo>
                    <a:pt x="6883400" y="1138809"/>
                    <a:pt x="6808089" y="1214120"/>
                    <a:pt x="6715252" y="1214120"/>
                  </a:cubicBezTo>
                  <a:lnTo>
                    <a:pt x="168148" y="1214120"/>
                  </a:lnTo>
                  <a:cubicBezTo>
                    <a:pt x="75311" y="1214120"/>
                    <a:pt x="0" y="1138809"/>
                    <a:pt x="0" y="1045972"/>
                  </a:cubicBezTo>
                  <a:close/>
                </a:path>
              </a:pathLst>
            </a:custGeom>
            <a:solidFill>
              <a:srgbClr val="F4F7FC"/>
            </a:solidFill>
            <a:ln w="19050" cap="sq">
              <a:solidFill>
                <a:srgbClr val="D7DCEC"/>
              </a:solidFill>
              <a:prstDash val="solid"/>
              <a:miter/>
            </a:ln>
          </p:spPr>
        </p:sp>
      </p:grpSp>
      <p:grpSp>
        <p:nvGrpSpPr>
          <p:cNvPr name="Group 19" id="19"/>
          <p:cNvGrpSpPr/>
          <p:nvPr/>
        </p:nvGrpSpPr>
        <p:grpSpPr>
          <a:xfrm rot="0">
            <a:off x="960120" y="6858000"/>
            <a:ext cx="5143500" cy="589788"/>
            <a:chOff x="0" y="0"/>
            <a:chExt cx="6858000" cy="786384"/>
          </a:xfrm>
        </p:grpSpPr>
        <p:sp>
          <p:nvSpPr>
            <p:cNvPr name="Freeform 20" id="20"/>
            <p:cNvSpPr/>
            <p:nvPr/>
          </p:nvSpPr>
          <p:spPr>
            <a:xfrm flipH="false" flipV="false" rot="0">
              <a:off x="0" y="0"/>
              <a:ext cx="6858000" cy="786384"/>
            </a:xfrm>
            <a:custGeom>
              <a:avLst/>
              <a:gdLst/>
              <a:ahLst/>
              <a:cxnLst/>
              <a:rect r="r" b="b" t="t" l="l"/>
              <a:pathLst>
                <a:path h="786384" w="6858000">
                  <a:moveTo>
                    <a:pt x="0" y="0"/>
                  </a:moveTo>
                  <a:lnTo>
                    <a:pt x="6858000" y="0"/>
                  </a:lnTo>
                  <a:lnTo>
                    <a:pt x="6858000" y="786384"/>
                  </a:lnTo>
                  <a:lnTo>
                    <a:pt x="0" y="786384"/>
                  </a:lnTo>
                  <a:close/>
                </a:path>
              </a:pathLst>
            </a:custGeom>
            <a:blipFill>
              <a:blip r:embed="rId2">
                <a:alphaModFix amt="0"/>
              </a:blip>
              <a:stretch>
                <a:fillRect l="0" t="-119927" r="0" b="-119927"/>
              </a:stretch>
            </a:blipFill>
          </p:spPr>
        </p:sp>
        <p:sp>
          <p:nvSpPr>
            <p:cNvPr name="TextBox 21" id="21"/>
            <p:cNvSpPr txBox="true"/>
            <p:nvPr/>
          </p:nvSpPr>
          <p:spPr>
            <a:xfrm>
              <a:off x="0" y="-38100"/>
              <a:ext cx="6858000" cy="824484"/>
            </a:xfrm>
            <a:prstGeom prst="rect">
              <a:avLst/>
            </a:prstGeom>
          </p:spPr>
          <p:txBody>
            <a:bodyPr anchor="ctr" rtlCol="false" tIns="0" lIns="0" bIns="0" rIns="0"/>
            <a:lstStyle/>
            <a:p>
              <a:pPr algn="ctr">
                <a:lnSpc>
                  <a:spcPts val="2250"/>
                </a:lnSpc>
              </a:pPr>
              <a:r>
                <a:rPr lang="en-US" sz="1875">
                  <a:solidFill>
                    <a:srgbClr val="6B7280"/>
                  </a:solidFill>
                  <a:latin typeface="Calibri (MS)"/>
                  <a:ea typeface="Calibri (MS)"/>
                  <a:cs typeface="Calibri (MS)"/>
                  <a:sym typeface="Calibri (MS)"/>
                </a:rPr>
                <a:t>E-Commerce Act</a:t>
              </a:r>
            </a:p>
          </p:txBody>
        </p:sp>
      </p:grpSp>
      <p:grpSp>
        <p:nvGrpSpPr>
          <p:cNvPr name="Group 22" id="22"/>
          <p:cNvGrpSpPr/>
          <p:nvPr/>
        </p:nvGrpSpPr>
        <p:grpSpPr>
          <a:xfrm rot="0">
            <a:off x="960120" y="7296912"/>
            <a:ext cx="5143500" cy="329184"/>
            <a:chOff x="0" y="0"/>
            <a:chExt cx="6858000" cy="438912"/>
          </a:xfrm>
        </p:grpSpPr>
        <p:sp>
          <p:nvSpPr>
            <p:cNvPr name="Freeform 23" id="23"/>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24" id="24"/>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9AA3B8"/>
                  </a:solidFill>
                  <a:latin typeface="Arimo"/>
                  <a:ea typeface="Arimo"/>
                  <a:cs typeface="Arimo"/>
                  <a:sym typeface="Arimo"/>
                </a:rPr>
                <a:t>ECA</a:t>
              </a:r>
            </a:p>
          </p:txBody>
        </p:sp>
      </p:grpSp>
      <p:grpSp>
        <p:nvGrpSpPr>
          <p:cNvPr name="Group 25" id="25"/>
          <p:cNvGrpSpPr/>
          <p:nvPr/>
        </p:nvGrpSpPr>
        <p:grpSpPr>
          <a:xfrm rot="0">
            <a:off x="6533007" y="6779895"/>
            <a:ext cx="5162550" cy="910590"/>
            <a:chOff x="0" y="0"/>
            <a:chExt cx="6883400" cy="1214120"/>
          </a:xfrm>
        </p:grpSpPr>
        <p:sp>
          <p:nvSpPr>
            <p:cNvPr name="Freeform 26" id="26"/>
            <p:cNvSpPr/>
            <p:nvPr/>
          </p:nvSpPr>
          <p:spPr>
            <a:xfrm flipH="false" flipV="false" rot="0">
              <a:off x="0" y="0"/>
              <a:ext cx="6883400" cy="1214120"/>
            </a:xfrm>
            <a:custGeom>
              <a:avLst/>
              <a:gdLst/>
              <a:ahLst/>
              <a:cxnLst/>
              <a:rect r="r" b="b" t="t" l="l"/>
              <a:pathLst>
                <a:path h="1214120" w="6883400">
                  <a:moveTo>
                    <a:pt x="0" y="168148"/>
                  </a:moveTo>
                  <a:cubicBezTo>
                    <a:pt x="0" y="75311"/>
                    <a:pt x="75311" y="0"/>
                    <a:pt x="168148" y="0"/>
                  </a:cubicBezTo>
                  <a:lnTo>
                    <a:pt x="6715252" y="0"/>
                  </a:lnTo>
                  <a:cubicBezTo>
                    <a:pt x="6808089" y="0"/>
                    <a:pt x="6883400" y="75311"/>
                    <a:pt x="6883400" y="168148"/>
                  </a:cubicBezTo>
                  <a:lnTo>
                    <a:pt x="6883400" y="1045972"/>
                  </a:lnTo>
                  <a:cubicBezTo>
                    <a:pt x="6883400" y="1138809"/>
                    <a:pt x="6808089" y="1214120"/>
                    <a:pt x="6715252" y="1214120"/>
                  </a:cubicBezTo>
                  <a:lnTo>
                    <a:pt x="168148" y="1214120"/>
                  </a:lnTo>
                  <a:cubicBezTo>
                    <a:pt x="75311" y="1214120"/>
                    <a:pt x="0" y="1138809"/>
                    <a:pt x="0" y="1045972"/>
                  </a:cubicBezTo>
                  <a:close/>
                </a:path>
              </a:pathLst>
            </a:custGeom>
            <a:solidFill>
              <a:srgbClr val="F4F7FC"/>
            </a:solidFill>
            <a:ln w="19050" cap="sq">
              <a:solidFill>
                <a:srgbClr val="D7DCEC"/>
              </a:solidFill>
              <a:prstDash val="solid"/>
              <a:miter/>
            </a:ln>
          </p:spPr>
        </p:sp>
      </p:grpSp>
      <p:grpSp>
        <p:nvGrpSpPr>
          <p:cNvPr name="Group 27" id="27"/>
          <p:cNvGrpSpPr/>
          <p:nvPr/>
        </p:nvGrpSpPr>
        <p:grpSpPr>
          <a:xfrm rot="0">
            <a:off x="6542532" y="6858000"/>
            <a:ext cx="5143500" cy="589788"/>
            <a:chOff x="0" y="0"/>
            <a:chExt cx="6858000" cy="786384"/>
          </a:xfrm>
        </p:grpSpPr>
        <p:sp>
          <p:nvSpPr>
            <p:cNvPr name="Freeform 28" id="28"/>
            <p:cNvSpPr/>
            <p:nvPr/>
          </p:nvSpPr>
          <p:spPr>
            <a:xfrm flipH="false" flipV="false" rot="0">
              <a:off x="0" y="0"/>
              <a:ext cx="6858000" cy="786384"/>
            </a:xfrm>
            <a:custGeom>
              <a:avLst/>
              <a:gdLst/>
              <a:ahLst/>
              <a:cxnLst/>
              <a:rect r="r" b="b" t="t" l="l"/>
              <a:pathLst>
                <a:path h="786384" w="6858000">
                  <a:moveTo>
                    <a:pt x="0" y="0"/>
                  </a:moveTo>
                  <a:lnTo>
                    <a:pt x="6858000" y="0"/>
                  </a:lnTo>
                  <a:lnTo>
                    <a:pt x="6858000" y="786384"/>
                  </a:lnTo>
                  <a:lnTo>
                    <a:pt x="0" y="786384"/>
                  </a:lnTo>
                  <a:close/>
                </a:path>
              </a:pathLst>
            </a:custGeom>
            <a:blipFill>
              <a:blip r:embed="rId2">
                <a:alphaModFix amt="0"/>
              </a:blip>
              <a:stretch>
                <a:fillRect l="0" t="-119927" r="0" b="-119927"/>
              </a:stretch>
            </a:blipFill>
          </p:spPr>
        </p:sp>
        <p:sp>
          <p:nvSpPr>
            <p:cNvPr name="TextBox 29" id="29"/>
            <p:cNvSpPr txBox="true"/>
            <p:nvPr/>
          </p:nvSpPr>
          <p:spPr>
            <a:xfrm>
              <a:off x="0" y="-38100"/>
              <a:ext cx="6858000" cy="824484"/>
            </a:xfrm>
            <a:prstGeom prst="rect">
              <a:avLst/>
            </a:prstGeom>
          </p:spPr>
          <p:txBody>
            <a:bodyPr anchor="ctr" rtlCol="false" tIns="0" lIns="0" bIns="0" rIns="0"/>
            <a:lstStyle/>
            <a:p>
              <a:pPr algn="ctr">
                <a:lnSpc>
                  <a:spcPts val="2250"/>
                </a:lnSpc>
              </a:pPr>
              <a:r>
                <a:rPr lang="en-US" sz="1875">
                  <a:solidFill>
                    <a:srgbClr val="6B7280"/>
                  </a:solidFill>
                  <a:latin typeface="Calibri (MS)"/>
                  <a:ea typeface="Calibri (MS)"/>
                  <a:cs typeface="Calibri (MS)"/>
                  <a:sym typeface="Calibri (MS)"/>
                </a:rPr>
                <a:t>Cybercrime Act</a:t>
              </a:r>
            </a:p>
          </p:txBody>
        </p:sp>
      </p:grpSp>
      <p:grpSp>
        <p:nvGrpSpPr>
          <p:cNvPr name="Group 30" id="30"/>
          <p:cNvGrpSpPr/>
          <p:nvPr/>
        </p:nvGrpSpPr>
        <p:grpSpPr>
          <a:xfrm rot="0">
            <a:off x="6542532" y="7296912"/>
            <a:ext cx="5143500" cy="329184"/>
            <a:chOff x="0" y="0"/>
            <a:chExt cx="6858000" cy="438912"/>
          </a:xfrm>
        </p:grpSpPr>
        <p:sp>
          <p:nvSpPr>
            <p:cNvPr name="Freeform 31" id="31"/>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32" id="32"/>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9AA3B8"/>
                  </a:solidFill>
                  <a:latin typeface="Arimo"/>
                  <a:ea typeface="Arimo"/>
                  <a:cs typeface="Arimo"/>
                  <a:sym typeface="Arimo"/>
                </a:rPr>
                <a:t>CPA</a:t>
              </a:r>
            </a:p>
          </p:txBody>
        </p:sp>
      </p:grpSp>
      <p:grpSp>
        <p:nvGrpSpPr>
          <p:cNvPr name="Group 33" id="33"/>
          <p:cNvGrpSpPr/>
          <p:nvPr/>
        </p:nvGrpSpPr>
        <p:grpSpPr>
          <a:xfrm rot="0">
            <a:off x="950595" y="7945755"/>
            <a:ext cx="5162550" cy="910590"/>
            <a:chOff x="0" y="0"/>
            <a:chExt cx="6883400" cy="1214120"/>
          </a:xfrm>
        </p:grpSpPr>
        <p:sp>
          <p:nvSpPr>
            <p:cNvPr name="Freeform 34" id="34"/>
            <p:cNvSpPr/>
            <p:nvPr/>
          </p:nvSpPr>
          <p:spPr>
            <a:xfrm flipH="false" flipV="false" rot="0">
              <a:off x="0" y="0"/>
              <a:ext cx="6883400" cy="1214120"/>
            </a:xfrm>
            <a:custGeom>
              <a:avLst/>
              <a:gdLst/>
              <a:ahLst/>
              <a:cxnLst/>
              <a:rect r="r" b="b" t="t" l="l"/>
              <a:pathLst>
                <a:path h="1214120" w="6883400">
                  <a:moveTo>
                    <a:pt x="0" y="168148"/>
                  </a:moveTo>
                  <a:cubicBezTo>
                    <a:pt x="0" y="75311"/>
                    <a:pt x="75311" y="0"/>
                    <a:pt x="168148" y="0"/>
                  </a:cubicBezTo>
                  <a:lnTo>
                    <a:pt x="6715252" y="0"/>
                  </a:lnTo>
                  <a:cubicBezTo>
                    <a:pt x="6808089" y="0"/>
                    <a:pt x="6883400" y="75311"/>
                    <a:pt x="6883400" y="168148"/>
                  </a:cubicBezTo>
                  <a:lnTo>
                    <a:pt x="6883400" y="1045972"/>
                  </a:lnTo>
                  <a:cubicBezTo>
                    <a:pt x="6883400" y="1138809"/>
                    <a:pt x="6808089" y="1214120"/>
                    <a:pt x="6715252" y="1214120"/>
                  </a:cubicBezTo>
                  <a:lnTo>
                    <a:pt x="168148" y="1214120"/>
                  </a:lnTo>
                  <a:cubicBezTo>
                    <a:pt x="75311" y="1214120"/>
                    <a:pt x="0" y="1138809"/>
                    <a:pt x="0" y="1045972"/>
                  </a:cubicBezTo>
                  <a:close/>
                </a:path>
              </a:pathLst>
            </a:custGeom>
            <a:solidFill>
              <a:srgbClr val="F4F7FC"/>
            </a:solidFill>
            <a:ln w="19050" cap="sq">
              <a:solidFill>
                <a:srgbClr val="D7DCEC"/>
              </a:solidFill>
              <a:prstDash val="solid"/>
              <a:miter/>
            </a:ln>
          </p:spPr>
        </p:sp>
      </p:grpSp>
      <p:grpSp>
        <p:nvGrpSpPr>
          <p:cNvPr name="Group 35" id="35"/>
          <p:cNvGrpSpPr/>
          <p:nvPr/>
        </p:nvGrpSpPr>
        <p:grpSpPr>
          <a:xfrm rot="0">
            <a:off x="960120" y="8023860"/>
            <a:ext cx="5143500" cy="589788"/>
            <a:chOff x="0" y="0"/>
            <a:chExt cx="6858000" cy="786384"/>
          </a:xfrm>
        </p:grpSpPr>
        <p:sp>
          <p:nvSpPr>
            <p:cNvPr name="Freeform 36" id="36"/>
            <p:cNvSpPr/>
            <p:nvPr/>
          </p:nvSpPr>
          <p:spPr>
            <a:xfrm flipH="false" flipV="false" rot="0">
              <a:off x="0" y="0"/>
              <a:ext cx="6858000" cy="786384"/>
            </a:xfrm>
            <a:custGeom>
              <a:avLst/>
              <a:gdLst/>
              <a:ahLst/>
              <a:cxnLst/>
              <a:rect r="r" b="b" t="t" l="l"/>
              <a:pathLst>
                <a:path h="786384" w="6858000">
                  <a:moveTo>
                    <a:pt x="0" y="0"/>
                  </a:moveTo>
                  <a:lnTo>
                    <a:pt x="6858000" y="0"/>
                  </a:lnTo>
                  <a:lnTo>
                    <a:pt x="6858000" y="786384"/>
                  </a:lnTo>
                  <a:lnTo>
                    <a:pt x="0" y="786384"/>
                  </a:lnTo>
                  <a:close/>
                </a:path>
              </a:pathLst>
            </a:custGeom>
            <a:blipFill>
              <a:blip r:embed="rId2">
                <a:alphaModFix amt="0"/>
              </a:blip>
              <a:stretch>
                <a:fillRect l="0" t="-119927" r="0" b="-119927"/>
              </a:stretch>
            </a:blipFill>
          </p:spPr>
        </p:sp>
        <p:sp>
          <p:nvSpPr>
            <p:cNvPr name="TextBox 37" id="37"/>
            <p:cNvSpPr txBox="true"/>
            <p:nvPr/>
          </p:nvSpPr>
          <p:spPr>
            <a:xfrm>
              <a:off x="0" y="-38100"/>
              <a:ext cx="6858000" cy="824484"/>
            </a:xfrm>
            <a:prstGeom prst="rect">
              <a:avLst/>
            </a:prstGeom>
          </p:spPr>
          <p:txBody>
            <a:bodyPr anchor="ctr" rtlCol="false" tIns="0" lIns="0" bIns="0" rIns="0"/>
            <a:lstStyle/>
            <a:p>
              <a:pPr algn="ctr">
                <a:lnSpc>
                  <a:spcPts val="2250"/>
                </a:lnSpc>
              </a:pPr>
              <a:r>
                <a:rPr lang="en-US" sz="1875">
                  <a:solidFill>
                    <a:srgbClr val="6B7280"/>
                  </a:solidFill>
                  <a:latin typeface="Calibri (MS)"/>
                  <a:ea typeface="Calibri (MS)"/>
                  <a:cs typeface="Calibri (MS)"/>
                  <a:sym typeface="Calibri (MS)"/>
                </a:rPr>
                <a:t>Data Privacy Act</a:t>
              </a:r>
            </a:p>
          </p:txBody>
        </p:sp>
      </p:grpSp>
      <p:grpSp>
        <p:nvGrpSpPr>
          <p:cNvPr name="Group 38" id="38"/>
          <p:cNvGrpSpPr/>
          <p:nvPr/>
        </p:nvGrpSpPr>
        <p:grpSpPr>
          <a:xfrm rot="0">
            <a:off x="960120" y="8462772"/>
            <a:ext cx="5143500" cy="329184"/>
            <a:chOff x="0" y="0"/>
            <a:chExt cx="6858000" cy="438912"/>
          </a:xfrm>
        </p:grpSpPr>
        <p:sp>
          <p:nvSpPr>
            <p:cNvPr name="Freeform 39" id="39"/>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40" id="40"/>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9AA3B8"/>
                  </a:solidFill>
                  <a:latin typeface="Arimo"/>
                  <a:ea typeface="Arimo"/>
                  <a:cs typeface="Arimo"/>
                  <a:sym typeface="Arimo"/>
                </a:rPr>
                <a:t>DPA</a:t>
              </a:r>
            </a:p>
          </p:txBody>
        </p:sp>
      </p:grpSp>
      <p:grpSp>
        <p:nvGrpSpPr>
          <p:cNvPr name="Group 41" id="41"/>
          <p:cNvGrpSpPr/>
          <p:nvPr/>
        </p:nvGrpSpPr>
        <p:grpSpPr>
          <a:xfrm rot="0">
            <a:off x="6533007" y="7945755"/>
            <a:ext cx="5162550" cy="910590"/>
            <a:chOff x="0" y="0"/>
            <a:chExt cx="6883400" cy="1214120"/>
          </a:xfrm>
        </p:grpSpPr>
        <p:sp>
          <p:nvSpPr>
            <p:cNvPr name="Freeform 42" id="42"/>
            <p:cNvSpPr/>
            <p:nvPr/>
          </p:nvSpPr>
          <p:spPr>
            <a:xfrm flipH="false" flipV="false" rot="0">
              <a:off x="0" y="0"/>
              <a:ext cx="6883400" cy="1214120"/>
            </a:xfrm>
            <a:custGeom>
              <a:avLst/>
              <a:gdLst/>
              <a:ahLst/>
              <a:cxnLst/>
              <a:rect r="r" b="b" t="t" l="l"/>
              <a:pathLst>
                <a:path h="1214120" w="6883400">
                  <a:moveTo>
                    <a:pt x="0" y="168148"/>
                  </a:moveTo>
                  <a:cubicBezTo>
                    <a:pt x="0" y="75311"/>
                    <a:pt x="75311" y="0"/>
                    <a:pt x="168148" y="0"/>
                  </a:cubicBezTo>
                  <a:lnTo>
                    <a:pt x="6715252" y="0"/>
                  </a:lnTo>
                  <a:cubicBezTo>
                    <a:pt x="6808089" y="0"/>
                    <a:pt x="6883400" y="75311"/>
                    <a:pt x="6883400" y="168148"/>
                  </a:cubicBezTo>
                  <a:lnTo>
                    <a:pt x="6883400" y="1045972"/>
                  </a:lnTo>
                  <a:cubicBezTo>
                    <a:pt x="6883400" y="1138809"/>
                    <a:pt x="6808089" y="1214120"/>
                    <a:pt x="6715252" y="1214120"/>
                  </a:cubicBezTo>
                  <a:lnTo>
                    <a:pt x="168148" y="1214120"/>
                  </a:lnTo>
                  <a:cubicBezTo>
                    <a:pt x="75311" y="1214120"/>
                    <a:pt x="0" y="1138809"/>
                    <a:pt x="0" y="1045972"/>
                  </a:cubicBezTo>
                  <a:close/>
                </a:path>
              </a:pathLst>
            </a:custGeom>
            <a:solidFill>
              <a:srgbClr val="F4F7FC"/>
            </a:solidFill>
            <a:ln w="19050" cap="sq">
              <a:solidFill>
                <a:srgbClr val="D7DCEC"/>
              </a:solidFill>
              <a:prstDash val="solid"/>
              <a:miter/>
            </a:ln>
          </p:spPr>
        </p:sp>
      </p:grpSp>
      <p:grpSp>
        <p:nvGrpSpPr>
          <p:cNvPr name="Group 43" id="43"/>
          <p:cNvGrpSpPr/>
          <p:nvPr/>
        </p:nvGrpSpPr>
        <p:grpSpPr>
          <a:xfrm rot="0">
            <a:off x="6542532" y="8023860"/>
            <a:ext cx="5143500" cy="589788"/>
            <a:chOff x="0" y="0"/>
            <a:chExt cx="6858000" cy="786384"/>
          </a:xfrm>
        </p:grpSpPr>
        <p:sp>
          <p:nvSpPr>
            <p:cNvPr name="Freeform 44" id="44"/>
            <p:cNvSpPr/>
            <p:nvPr/>
          </p:nvSpPr>
          <p:spPr>
            <a:xfrm flipH="false" flipV="false" rot="0">
              <a:off x="0" y="0"/>
              <a:ext cx="6858000" cy="786384"/>
            </a:xfrm>
            <a:custGeom>
              <a:avLst/>
              <a:gdLst/>
              <a:ahLst/>
              <a:cxnLst/>
              <a:rect r="r" b="b" t="t" l="l"/>
              <a:pathLst>
                <a:path h="786384" w="6858000">
                  <a:moveTo>
                    <a:pt x="0" y="0"/>
                  </a:moveTo>
                  <a:lnTo>
                    <a:pt x="6858000" y="0"/>
                  </a:lnTo>
                  <a:lnTo>
                    <a:pt x="6858000" y="786384"/>
                  </a:lnTo>
                  <a:lnTo>
                    <a:pt x="0" y="786384"/>
                  </a:lnTo>
                  <a:close/>
                </a:path>
              </a:pathLst>
            </a:custGeom>
            <a:blipFill>
              <a:blip r:embed="rId2">
                <a:alphaModFix amt="0"/>
              </a:blip>
              <a:stretch>
                <a:fillRect l="0" t="-119927" r="0" b="-119927"/>
              </a:stretch>
            </a:blipFill>
          </p:spPr>
        </p:sp>
        <p:sp>
          <p:nvSpPr>
            <p:cNvPr name="TextBox 45" id="45"/>
            <p:cNvSpPr txBox="true"/>
            <p:nvPr/>
          </p:nvSpPr>
          <p:spPr>
            <a:xfrm>
              <a:off x="0" y="-38100"/>
              <a:ext cx="6858000" cy="824484"/>
            </a:xfrm>
            <a:prstGeom prst="rect">
              <a:avLst/>
            </a:prstGeom>
          </p:spPr>
          <p:txBody>
            <a:bodyPr anchor="ctr" rtlCol="false" tIns="0" lIns="0" bIns="0" rIns="0"/>
            <a:lstStyle/>
            <a:p>
              <a:pPr algn="ctr">
                <a:lnSpc>
                  <a:spcPts val="2250"/>
                </a:lnSpc>
              </a:pPr>
              <a:r>
                <a:rPr lang="en-US" sz="1875">
                  <a:solidFill>
                    <a:srgbClr val="6B7280"/>
                  </a:solidFill>
                  <a:latin typeface="Calibri (MS)"/>
                  <a:ea typeface="Calibri (MS)"/>
                  <a:cs typeface="Calibri (MS)"/>
                  <a:sym typeface="Calibri (MS)"/>
                </a:rPr>
                <a:t>DICT Act / NCSP</a:t>
              </a:r>
            </a:p>
          </p:txBody>
        </p:sp>
      </p:grpSp>
      <p:grpSp>
        <p:nvGrpSpPr>
          <p:cNvPr name="Group 46" id="46"/>
          <p:cNvGrpSpPr/>
          <p:nvPr/>
        </p:nvGrpSpPr>
        <p:grpSpPr>
          <a:xfrm rot="0">
            <a:off x="6542532" y="8462772"/>
            <a:ext cx="5143500" cy="329184"/>
            <a:chOff x="0" y="0"/>
            <a:chExt cx="6858000" cy="438912"/>
          </a:xfrm>
        </p:grpSpPr>
        <p:sp>
          <p:nvSpPr>
            <p:cNvPr name="Freeform 47" id="47"/>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48" id="48"/>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9AA3B8"/>
                  </a:solidFill>
                  <a:latin typeface="Arimo"/>
                  <a:ea typeface="Arimo"/>
                  <a:cs typeface="Arimo"/>
                  <a:sym typeface="Arimo"/>
                </a:rPr>
                <a:t>DICT</a:t>
              </a:r>
            </a:p>
          </p:txBody>
        </p:sp>
      </p:grpSp>
      <p:grpSp>
        <p:nvGrpSpPr>
          <p:cNvPr name="Group 49" id="49"/>
          <p:cNvGrpSpPr/>
          <p:nvPr/>
        </p:nvGrpSpPr>
        <p:grpSpPr>
          <a:xfrm rot="0">
            <a:off x="12115419" y="6779895"/>
            <a:ext cx="5162550" cy="2076450"/>
            <a:chOff x="0" y="0"/>
            <a:chExt cx="6883400" cy="2768600"/>
          </a:xfrm>
        </p:grpSpPr>
        <p:sp>
          <p:nvSpPr>
            <p:cNvPr name="Freeform 50" id="50"/>
            <p:cNvSpPr/>
            <p:nvPr/>
          </p:nvSpPr>
          <p:spPr>
            <a:xfrm flipH="false" flipV="false" rot="0">
              <a:off x="0" y="0"/>
              <a:ext cx="6883400" cy="2768600"/>
            </a:xfrm>
            <a:custGeom>
              <a:avLst/>
              <a:gdLst/>
              <a:ahLst/>
              <a:cxnLst/>
              <a:rect r="r" b="b" t="t" l="l"/>
              <a:pathLst>
                <a:path h="2768600" w="6883400">
                  <a:moveTo>
                    <a:pt x="0" y="166116"/>
                  </a:moveTo>
                  <a:cubicBezTo>
                    <a:pt x="0" y="74422"/>
                    <a:pt x="74422" y="0"/>
                    <a:pt x="166116" y="0"/>
                  </a:cubicBezTo>
                  <a:lnTo>
                    <a:pt x="6717284" y="0"/>
                  </a:lnTo>
                  <a:cubicBezTo>
                    <a:pt x="6808978" y="0"/>
                    <a:pt x="6883400" y="74422"/>
                    <a:pt x="6883400" y="166116"/>
                  </a:cubicBezTo>
                  <a:lnTo>
                    <a:pt x="6883400" y="2602484"/>
                  </a:lnTo>
                  <a:cubicBezTo>
                    <a:pt x="6883400" y="2694178"/>
                    <a:pt x="6808978" y="2768600"/>
                    <a:pt x="6717284" y="2768600"/>
                  </a:cubicBezTo>
                  <a:lnTo>
                    <a:pt x="166116" y="2768600"/>
                  </a:lnTo>
                  <a:cubicBezTo>
                    <a:pt x="74422" y="2768600"/>
                    <a:pt x="0" y="2694178"/>
                    <a:pt x="0" y="2602484"/>
                  </a:cubicBezTo>
                  <a:close/>
                </a:path>
              </a:pathLst>
            </a:custGeom>
            <a:solidFill>
              <a:srgbClr val="F4F7FC"/>
            </a:solidFill>
            <a:ln w="19050" cap="sq">
              <a:solidFill>
                <a:srgbClr val="D7DCEC"/>
              </a:solidFill>
              <a:prstDash val="solid"/>
              <a:miter/>
            </a:ln>
          </p:spPr>
        </p:sp>
      </p:grpSp>
      <p:grpSp>
        <p:nvGrpSpPr>
          <p:cNvPr name="Group 51" id="51"/>
          <p:cNvGrpSpPr/>
          <p:nvPr/>
        </p:nvGrpSpPr>
        <p:grpSpPr>
          <a:xfrm rot="0">
            <a:off x="12124944" y="6858000"/>
            <a:ext cx="5143500" cy="1755648"/>
            <a:chOff x="0" y="0"/>
            <a:chExt cx="6858000" cy="2340864"/>
          </a:xfrm>
        </p:grpSpPr>
        <p:sp>
          <p:nvSpPr>
            <p:cNvPr name="Freeform 52" id="52"/>
            <p:cNvSpPr/>
            <p:nvPr/>
          </p:nvSpPr>
          <p:spPr>
            <a:xfrm flipH="false" flipV="false" rot="0">
              <a:off x="0" y="0"/>
              <a:ext cx="6858000" cy="2340864"/>
            </a:xfrm>
            <a:custGeom>
              <a:avLst/>
              <a:gdLst/>
              <a:ahLst/>
              <a:cxnLst/>
              <a:rect r="r" b="b" t="t" l="l"/>
              <a:pathLst>
                <a:path h="2340864" w="6858000">
                  <a:moveTo>
                    <a:pt x="0" y="0"/>
                  </a:moveTo>
                  <a:lnTo>
                    <a:pt x="6858000" y="0"/>
                  </a:lnTo>
                  <a:lnTo>
                    <a:pt x="6858000" y="2340864"/>
                  </a:lnTo>
                  <a:lnTo>
                    <a:pt x="0" y="2340864"/>
                  </a:lnTo>
                  <a:close/>
                </a:path>
              </a:pathLst>
            </a:custGeom>
            <a:blipFill>
              <a:blip r:embed="rId2">
                <a:alphaModFix amt="0"/>
              </a:blip>
              <a:stretch>
                <a:fillRect l="0" t="-7085" r="0" b="-7085"/>
              </a:stretch>
            </a:blipFill>
          </p:spPr>
        </p:sp>
        <p:sp>
          <p:nvSpPr>
            <p:cNvPr name="TextBox 53" id="53"/>
            <p:cNvSpPr txBox="true"/>
            <p:nvPr/>
          </p:nvSpPr>
          <p:spPr>
            <a:xfrm>
              <a:off x="0" y="-38100"/>
              <a:ext cx="6858000" cy="2378964"/>
            </a:xfrm>
            <a:prstGeom prst="rect">
              <a:avLst/>
            </a:prstGeom>
          </p:spPr>
          <p:txBody>
            <a:bodyPr anchor="ctr" rtlCol="false" tIns="0" lIns="0" bIns="0" rIns="0"/>
            <a:lstStyle/>
            <a:p>
              <a:pPr algn="ctr">
                <a:lnSpc>
                  <a:spcPts val="2250"/>
                </a:lnSpc>
              </a:pPr>
              <a:r>
                <a:rPr lang="en-US" sz="1875">
                  <a:solidFill>
                    <a:srgbClr val="6B7280"/>
                  </a:solidFill>
                  <a:latin typeface="Calibri (MS)"/>
                  <a:ea typeface="Calibri (MS)"/>
                  <a:cs typeface="Calibri (MS)"/>
                  <a:sym typeface="Calibri (MS)"/>
                </a:rPr>
                <a:t>Critical Infra. Protection</a:t>
              </a:r>
            </a:p>
          </p:txBody>
        </p:sp>
      </p:grpSp>
      <p:grpSp>
        <p:nvGrpSpPr>
          <p:cNvPr name="Group 54" id="54"/>
          <p:cNvGrpSpPr/>
          <p:nvPr/>
        </p:nvGrpSpPr>
        <p:grpSpPr>
          <a:xfrm rot="0">
            <a:off x="12124944" y="8462772"/>
            <a:ext cx="5143500" cy="329184"/>
            <a:chOff x="0" y="0"/>
            <a:chExt cx="6858000" cy="438912"/>
          </a:xfrm>
        </p:grpSpPr>
        <p:sp>
          <p:nvSpPr>
            <p:cNvPr name="Freeform 55" id="55"/>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56" id="56"/>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9AA3B8"/>
                  </a:solidFill>
                  <a:latin typeface="Arimo"/>
                  <a:ea typeface="Arimo"/>
                  <a:cs typeface="Arimo"/>
                  <a:sym typeface="Arimo"/>
                </a:rPr>
                <a:t>CII</a:t>
              </a:r>
            </a:p>
          </p:txBody>
        </p:sp>
      </p:grpSp>
      <p:grpSp>
        <p:nvGrpSpPr>
          <p:cNvPr name="Group 57" id="57"/>
          <p:cNvGrpSpPr/>
          <p:nvPr/>
        </p:nvGrpSpPr>
        <p:grpSpPr>
          <a:xfrm rot="0">
            <a:off x="685800" y="9710928"/>
            <a:ext cx="10972800" cy="411480"/>
            <a:chOff x="0" y="0"/>
            <a:chExt cx="14630400" cy="548640"/>
          </a:xfrm>
        </p:grpSpPr>
        <p:sp>
          <p:nvSpPr>
            <p:cNvPr name="Freeform 58" id="58"/>
            <p:cNvSpPr/>
            <p:nvPr/>
          </p:nvSpPr>
          <p:spPr>
            <a:xfrm flipH="false" flipV="false" rot="0">
              <a:off x="0" y="0"/>
              <a:ext cx="14630400" cy="548640"/>
            </a:xfrm>
            <a:custGeom>
              <a:avLst/>
              <a:gdLst/>
              <a:ahLst/>
              <a:cxnLst/>
              <a:rect r="r" b="b" t="t" l="l"/>
              <a:pathLst>
                <a:path h="548640" w="14630400">
                  <a:moveTo>
                    <a:pt x="0" y="0"/>
                  </a:moveTo>
                  <a:lnTo>
                    <a:pt x="14630400" y="0"/>
                  </a:lnTo>
                  <a:lnTo>
                    <a:pt x="14630400" y="548640"/>
                  </a:lnTo>
                  <a:lnTo>
                    <a:pt x="0" y="548640"/>
                  </a:lnTo>
                  <a:close/>
                </a:path>
              </a:pathLst>
            </a:custGeom>
            <a:blipFill>
              <a:blip r:embed="rId2">
                <a:alphaModFix amt="0"/>
              </a:blip>
              <a:stretch>
                <a:fillRect l="0" t="-469601" r="0" b="-469601"/>
              </a:stretch>
            </a:blipFill>
          </p:spPr>
        </p:sp>
        <p:sp>
          <p:nvSpPr>
            <p:cNvPr name="TextBox 59" id="59"/>
            <p:cNvSpPr txBox="true"/>
            <p:nvPr/>
          </p:nvSpPr>
          <p:spPr>
            <a:xfrm>
              <a:off x="0" y="-38100"/>
              <a:ext cx="14630400" cy="586740"/>
            </a:xfrm>
            <a:prstGeom prst="rect">
              <a:avLst/>
            </a:prstGeom>
          </p:spPr>
          <p:txBody>
            <a:bodyPr anchor="ctr" rtlCol="false" tIns="0" lIns="0" bIns="0" rIns="0"/>
            <a:lstStyle/>
            <a:p>
              <a:pPr algn="l">
                <a:lnSpc>
                  <a:spcPts val="1800"/>
                </a:lnSpc>
              </a:pPr>
              <a:r>
                <a:rPr lang="en-US" sz="1500">
                  <a:solidFill>
                    <a:srgbClr val="6B7280"/>
                  </a:solidFill>
                  <a:latin typeface="Calibri (MS)"/>
                  <a:ea typeface="Calibri (MS)"/>
                  <a:cs typeface="Calibri (MS)"/>
                  <a:sym typeface="Calibri (MS)"/>
                </a:rPr>
                <a:t>Davao del Norte Provincial Government — Cybersecurity Seminar</a:t>
              </a:r>
            </a:p>
          </p:txBody>
        </p:sp>
      </p:grpSp>
      <p:grpSp>
        <p:nvGrpSpPr>
          <p:cNvPr name="Group 60" id="60"/>
          <p:cNvGrpSpPr/>
          <p:nvPr/>
        </p:nvGrpSpPr>
        <p:grpSpPr>
          <a:xfrm rot="0">
            <a:off x="16911828" y="9710928"/>
            <a:ext cx="685800" cy="411480"/>
            <a:chOff x="0" y="0"/>
            <a:chExt cx="914400" cy="548640"/>
          </a:xfrm>
        </p:grpSpPr>
        <p:sp>
          <p:nvSpPr>
            <p:cNvPr name="Freeform 61" id="61"/>
            <p:cNvSpPr/>
            <p:nvPr/>
          </p:nvSpPr>
          <p:spPr>
            <a:xfrm flipH="false" flipV="false" rot="0">
              <a:off x="0" y="0"/>
              <a:ext cx="914400" cy="548640"/>
            </a:xfrm>
            <a:custGeom>
              <a:avLst/>
              <a:gdLst/>
              <a:ahLst/>
              <a:cxnLst/>
              <a:rect r="r" b="b" t="t" l="l"/>
              <a:pathLst>
                <a:path h="548640" w="914400">
                  <a:moveTo>
                    <a:pt x="0" y="0"/>
                  </a:moveTo>
                  <a:lnTo>
                    <a:pt x="914400" y="0"/>
                  </a:lnTo>
                  <a:lnTo>
                    <a:pt x="914400" y="548640"/>
                  </a:lnTo>
                  <a:lnTo>
                    <a:pt x="0" y="548640"/>
                  </a:lnTo>
                  <a:close/>
                </a:path>
              </a:pathLst>
            </a:custGeom>
            <a:blipFill>
              <a:blip r:embed="rId2">
                <a:alphaModFix amt="0"/>
              </a:blip>
              <a:stretch>
                <a:fillRect l="-26982" t="0" r="-26982" b="0"/>
              </a:stretch>
            </a:blipFill>
          </p:spPr>
        </p:sp>
        <p:sp>
          <p:nvSpPr>
            <p:cNvPr name="TextBox 62" id="62"/>
            <p:cNvSpPr txBox="true"/>
            <p:nvPr/>
          </p:nvSpPr>
          <p:spPr>
            <a:xfrm>
              <a:off x="0" y="-38100"/>
              <a:ext cx="914400" cy="586740"/>
            </a:xfrm>
            <a:prstGeom prst="rect">
              <a:avLst/>
            </a:prstGeom>
          </p:spPr>
          <p:txBody>
            <a:bodyPr anchor="ctr" rtlCol="false" tIns="0" lIns="0" bIns="0" rIns="0"/>
            <a:lstStyle/>
            <a:p>
              <a:pPr algn="r">
                <a:lnSpc>
                  <a:spcPts val="1800"/>
                </a:lnSpc>
              </a:pPr>
              <a:r>
                <a:rPr lang="en-US" sz="1500">
                  <a:solidFill>
                    <a:srgbClr val="6B7280"/>
                  </a:solidFill>
                  <a:latin typeface="Calibri (MS)"/>
                  <a:ea typeface="Calibri (MS)"/>
                  <a:cs typeface="Calibri (MS)"/>
                  <a:sym typeface="Calibri (MS)"/>
                </a:rPr>
                <a:t>13</a:t>
              </a:r>
            </a:p>
          </p:txBody>
        </p:sp>
      </p:grpSp>
    </p:spTree>
  </p:cSld>
  <p:clrMapOvr>
    <a:masterClrMapping/>
  </p:clrMapOvr>
</p:sld>
</file>

<file path=ppt/slides/slide13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60120" y="685800"/>
            <a:ext cx="13716000" cy="411480"/>
            <a:chOff x="0" y="0"/>
            <a:chExt cx="18288000" cy="548640"/>
          </a:xfrm>
        </p:grpSpPr>
        <p:sp>
          <p:nvSpPr>
            <p:cNvPr name="Freeform 3" id="3"/>
            <p:cNvSpPr/>
            <p:nvPr/>
          </p:nvSpPr>
          <p:spPr>
            <a:xfrm flipH="false" flipV="false" rot="0">
              <a:off x="0" y="0"/>
              <a:ext cx="18288000" cy="548640"/>
            </a:xfrm>
            <a:custGeom>
              <a:avLst/>
              <a:gdLst/>
              <a:ahLst/>
              <a:cxnLst/>
              <a:rect r="r" b="b" t="t" l="l"/>
              <a:pathLst>
                <a:path h="548640" w="18288000">
                  <a:moveTo>
                    <a:pt x="0" y="0"/>
                  </a:moveTo>
                  <a:lnTo>
                    <a:pt x="18288000" y="0"/>
                  </a:lnTo>
                  <a:lnTo>
                    <a:pt x="18288000" y="548640"/>
                  </a:lnTo>
                  <a:lnTo>
                    <a:pt x="0" y="548640"/>
                  </a:lnTo>
                  <a:close/>
                </a:path>
              </a:pathLst>
            </a:custGeom>
            <a:blipFill>
              <a:blip r:embed="rId2">
                <a:alphaModFix amt="0"/>
              </a:blip>
              <a:stretch>
                <a:fillRect l="0" t="-599501" r="0" b="-599501"/>
              </a:stretch>
            </a:blipFill>
          </p:spPr>
        </p:sp>
        <p:sp>
          <p:nvSpPr>
            <p:cNvPr name="TextBox 4" id="4"/>
            <p:cNvSpPr txBox="true"/>
            <p:nvPr/>
          </p:nvSpPr>
          <p:spPr>
            <a:xfrm>
              <a:off x="0" y="-38100"/>
              <a:ext cx="18288000" cy="586740"/>
            </a:xfrm>
            <a:prstGeom prst="rect">
              <a:avLst/>
            </a:prstGeom>
          </p:spPr>
          <p:txBody>
            <a:bodyPr anchor="ctr" rtlCol="false" tIns="0" lIns="0" bIns="0" rIns="0"/>
            <a:lstStyle/>
            <a:p>
              <a:pPr algn="l">
                <a:lnSpc>
                  <a:spcPts val="2160"/>
                </a:lnSpc>
              </a:pPr>
              <a:r>
                <a:rPr lang="en-US" b="true" sz="1800" spc="225">
                  <a:solidFill>
                    <a:srgbClr val="00B4D8"/>
                  </a:solidFill>
                  <a:latin typeface="Calibri (MS) Bold"/>
                  <a:ea typeface="Calibri (MS) Bold"/>
                  <a:cs typeface="Calibri (MS) Bold"/>
                  <a:sym typeface="Calibri (MS) Bold"/>
                </a:rPr>
                <a:t>PH CYBER LAW SORT · ANSWER</a:t>
              </a:r>
            </a:p>
          </p:txBody>
        </p:sp>
      </p:grpSp>
      <p:grpSp>
        <p:nvGrpSpPr>
          <p:cNvPr name="Group 5" id="5"/>
          <p:cNvGrpSpPr/>
          <p:nvPr/>
        </p:nvGrpSpPr>
        <p:grpSpPr>
          <a:xfrm rot="0">
            <a:off x="960120" y="1069848"/>
            <a:ext cx="10972800" cy="822960"/>
            <a:chOff x="0" y="0"/>
            <a:chExt cx="14630400" cy="1097280"/>
          </a:xfrm>
        </p:grpSpPr>
        <p:sp>
          <p:nvSpPr>
            <p:cNvPr name="Freeform 6" id="6"/>
            <p:cNvSpPr/>
            <p:nvPr/>
          </p:nvSpPr>
          <p:spPr>
            <a:xfrm flipH="false" flipV="false" rot="0">
              <a:off x="0" y="0"/>
              <a:ext cx="14630400" cy="1097280"/>
            </a:xfrm>
            <a:custGeom>
              <a:avLst/>
              <a:gdLst/>
              <a:ahLst/>
              <a:cxnLst/>
              <a:rect r="r" b="b" t="t" l="l"/>
              <a:pathLst>
                <a:path h="1097280" w="14630400">
                  <a:moveTo>
                    <a:pt x="0" y="0"/>
                  </a:moveTo>
                  <a:lnTo>
                    <a:pt x="14630400" y="0"/>
                  </a:lnTo>
                  <a:lnTo>
                    <a:pt x="14630400" y="1097280"/>
                  </a:lnTo>
                  <a:lnTo>
                    <a:pt x="0" y="1097280"/>
                  </a:lnTo>
                  <a:close/>
                </a:path>
              </a:pathLst>
            </a:custGeom>
            <a:blipFill>
              <a:blip r:embed="rId2">
                <a:alphaModFix amt="0"/>
              </a:blip>
              <a:stretch>
                <a:fillRect l="0" t="-209800" r="0" b="-209800"/>
              </a:stretch>
            </a:blipFill>
          </p:spPr>
        </p:sp>
        <p:sp>
          <p:nvSpPr>
            <p:cNvPr name="TextBox 7" id="7"/>
            <p:cNvSpPr txBox="true"/>
            <p:nvPr/>
          </p:nvSpPr>
          <p:spPr>
            <a:xfrm>
              <a:off x="0" y="0"/>
              <a:ext cx="14630400" cy="1097280"/>
            </a:xfrm>
            <a:prstGeom prst="rect">
              <a:avLst/>
            </a:prstGeom>
          </p:spPr>
          <p:txBody>
            <a:bodyPr anchor="ctr" rtlCol="false" tIns="0" lIns="0" bIns="0" rIns="0"/>
            <a:lstStyle/>
            <a:p>
              <a:pPr algn="l">
                <a:lnSpc>
                  <a:spcPts val="4680"/>
                </a:lnSpc>
              </a:pPr>
              <a:r>
                <a:rPr lang="en-US" sz="3900" b="true">
                  <a:solidFill>
                    <a:srgbClr val="1E2761"/>
                  </a:solidFill>
                  <a:latin typeface="Cambria Bold"/>
                  <a:ea typeface="Cambria Bold"/>
                  <a:cs typeface="Cambria Bold"/>
                  <a:sym typeface="Cambria Bold"/>
                </a:rPr>
                <a:t>Scenario 2 — Answer</a:t>
              </a:r>
            </a:p>
          </p:txBody>
        </p:sp>
      </p:grpSp>
      <p:grpSp>
        <p:nvGrpSpPr>
          <p:cNvPr name="Group 8" id="8"/>
          <p:cNvGrpSpPr/>
          <p:nvPr/>
        </p:nvGrpSpPr>
        <p:grpSpPr>
          <a:xfrm rot="0">
            <a:off x="960120" y="1810512"/>
            <a:ext cx="8229600" cy="411480"/>
            <a:chOff x="0" y="0"/>
            <a:chExt cx="10972800" cy="548640"/>
          </a:xfrm>
        </p:grpSpPr>
        <p:sp>
          <p:nvSpPr>
            <p:cNvPr name="Freeform 9" id="9"/>
            <p:cNvSpPr/>
            <p:nvPr/>
          </p:nvSpPr>
          <p:spPr>
            <a:xfrm flipH="false" flipV="false" rot="0">
              <a:off x="0" y="0"/>
              <a:ext cx="10972800" cy="548640"/>
            </a:xfrm>
            <a:custGeom>
              <a:avLst/>
              <a:gdLst/>
              <a:ahLst/>
              <a:cxnLst/>
              <a:rect r="r" b="b" t="t" l="l"/>
              <a:pathLst>
                <a:path h="548640" w="10972800">
                  <a:moveTo>
                    <a:pt x="0" y="0"/>
                  </a:moveTo>
                  <a:lnTo>
                    <a:pt x="10972800" y="0"/>
                  </a:lnTo>
                  <a:lnTo>
                    <a:pt x="10972800" y="548640"/>
                  </a:lnTo>
                  <a:lnTo>
                    <a:pt x="0" y="548640"/>
                  </a:lnTo>
                  <a:close/>
                </a:path>
              </a:pathLst>
            </a:custGeom>
            <a:blipFill>
              <a:blip r:embed="rId2">
                <a:alphaModFix amt="0"/>
              </a:blip>
              <a:stretch>
                <a:fillRect l="0" t="-339700" r="0" b="-339700"/>
              </a:stretch>
            </a:blipFill>
          </p:spPr>
        </p:sp>
        <p:sp>
          <p:nvSpPr>
            <p:cNvPr name="TextBox 10" id="10"/>
            <p:cNvSpPr txBox="true"/>
            <p:nvPr/>
          </p:nvSpPr>
          <p:spPr>
            <a:xfrm>
              <a:off x="0" y="-28575"/>
              <a:ext cx="10972800" cy="577215"/>
            </a:xfrm>
            <a:prstGeom prst="rect">
              <a:avLst/>
            </a:prstGeom>
          </p:spPr>
          <p:txBody>
            <a:bodyPr anchor="ctr" rtlCol="false" tIns="0" lIns="0" bIns="0" rIns="0"/>
            <a:lstStyle/>
            <a:p>
              <a:pPr algn="l">
                <a:lnSpc>
                  <a:spcPts val="1980"/>
                </a:lnSpc>
              </a:pPr>
              <a:r>
                <a:rPr lang="en-US" sz="1650">
                  <a:solidFill>
                    <a:srgbClr val="6B7280"/>
                  </a:solidFill>
                  <a:latin typeface="Calibri (MS)"/>
                  <a:ea typeface="Calibri (MS)"/>
                  <a:cs typeface="Calibri (MS)"/>
                  <a:sym typeface="Calibri (MS)"/>
                </a:rPr>
                <a:t>2 of 15</a:t>
              </a:r>
            </a:p>
          </p:txBody>
        </p:sp>
      </p:grpSp>
      <p:grpSp>
        <p:nvGrpSpPr>
          <p:cNvPr name="Group 11" id="11"/>
          <p:cNvGrpSpPr/>
          <p:nvPr/>
        </p:nvGrpSpPr>
        <p:grpSpPr>
          <a:xfrm rot="0">
            <a:off x="960120" y="2537460"/>
            <a:ext cx="16322040" cy="2057400"/>
            <a:chOff x="0" y="0"/>
            <a:chExt cx="21762720" cy="2743200"/>
          </a:xfrm>
        </p:grpSpPr>
        <p:sp>
          <p:nvSpPr>
            <p:cNvPr name="Freeform 12" id="12"/>
            <p:cNvSpPr/>
            <p:nvPr/>
          </p:nvSpPr>
          <p:spPr>
            <a:xfrm flipH="false" flipV="false" rot="0">
              <a:off x="0" y="0"/>
              <a:ext cx="21762720" cy="2743200"/>
            </a:xfrm>
            <a:custGeom>
              <a:avLst/>
              <a:gdLst/>
              <a:ahLst/>
              <a:cxnLst/>
              <a:rect r="r" b="b" t="t" l="l"/>
              <a:pathLst>
                <a:path h="2743200" w="21762720">
                  <a:moveTo>
                    <a:pt x="0" y="182880"/>
                  </a:moveTo>
                  <a:cubicBezTo>
                    <a:pt x="0" y="81915"/>
                    <a:pt x="81915" y="0"/>
                    <a:pt x="182880" y="0"/>
                  </a:cubicBezTo>
                  <a:lnTo>
                    <a:pt x="21579839" y="0"/>
                  </a:lnTo>
                  <a:cubicBezTo>
                    <a:pt x="21680804" y="0"/>
                    <a:pt x="21762720" y="81915"/>
                    <a:pt x="21762720" y="182880"/>
                  </a:cubicBezTo>
                  <a:lnTo>
                    <a:pt x="21762720" y="2560320"/>
                  </a:lnTo>
                  <a:cubicBezTo>
                    <a:pt x="21762720" y="2661285"/>
                    <a:pt x="21680804" y="2743200"/>
                    <a:pt x="21579839" y="2743200"/>
                  </a:cubicBezTo>
                  <a:lnTo>
                    <a:pt x="182880" y="2743200"/>
                  </a:lnTo>
                  <a:cubicBezTo>
                    <a:pt x="81915" y="2743200"/>
                    <a:pt x="0" y="2661285"/>
                    <a:pt x="0" y="2560320"/>
                  </a:cubicBezTo>
                  <a:close/>
                </a:path>
              </a:pathLst>
            </a:custGeom>
            <a:solidFill>
              <a:srgbClr val="F4F7FC"/>
            </a:solidFill>
          </p:spPr>
        </p:sp>
      </p:grpSp>
      <p:grpSp>
        <p:nvGrpSpPr>
          <p:cNvPr name="Group 13" id="13"/>
          <p:cNvGrpSpPr/>
          <p:nvPr/>
        </p:nvGrpSpPr>
        <p:grpSpPr>
          <a:xfrm rot="0">
            <a:off x="1440180" y="2743200"/>
            <a:ext cx="15361920" cy="1645920"/>
            <a:chOff x="0" y="0"/>
            <a:chExt cx="20482560" cy="2194560"/>
          </a:xfrm>
        </p:grpSpPr>
        <p:sp>
          <p:nvSpPr>
            <p:cNvPr name="Freeform 14" id="14"/>
            <p:cNvSpPr/>
            <p:nvPr/>
          </p:nvSpPr>
          <p:spPr>
            <a:xfrm flipH="false" flipV="false" rot="0">
              <a:off x="0" y="0"/>
              <a:ext cx="20482561" cy="2194560"/>
            </a:xfrm>
            <a:custGeom>
              <a:avLst/>
              <a:gdLst/>
              <a:ahLst/>
              <a:cxnLst/>
              <a:rect r="r" b="b" t="t" l="l"/>
              <a:pathLst>
                <a:path h="2194560" w="20482561">
                  <a:moveTo>
                    <a:pt x="0" y="0"/>
                  </a:moveTo>
                  <a:lnTo>
                    <a:pt x="20482561" y="0"/>
                  </a:lnTo>
                  <a:lnTo>
                    <a:pt x="20482561" y="2194560"/>
                  </a:lnTo>
                  <a:lnTo>
                    <a:pt x="0" y="2194560"/>
                  </a:lnTo>
                  <a:close/>
                </a:path>
              </a:pathLst>
            </a:custGeom>
            <a:blipFill>
              <a:blip r:embed="rId2">
                <a:alphaModFix amt="0"/>
              </a:blip>
              <a:stretch>
                <a:fillRect l="0" t="-131860" r="0" b="-131860"/>
              </a:stretch>
            </a:blipFill>
          </p:spPr>
        </p:sp>
        <p:sp>
          <p:nvSpPr>
            <p:cNvPr name="TextBox 15" id="15"/>
            <p:cNvSpPr txBox="true"/>
            <p:nvPr/>
          </p:nvSpPr>
          <p:spPr>
            <a:xfrm>
              <a:off x="0" y="-66675"/>
              <a:ext cx="20482560" cy="2261235"/>
            </a:xfrm>
            <a:prstGeom prst="rect">
              <a:avLst/>
            </a:prstGeom>
          </p:spPr>
          <p:txBody>
            <a:bodyPr anchor="ctr" rtlCol="false" tIns="0" lIns="0" bIns="0" rIns="0"/>
            <a:lstStyle/>
            <a:p>
              <a:pPr algn="l">
                <a:lnSpc>
                  <a:spcPts val="3487"/>
                </a:lnSpc>
              </a:pPr>
              <a:r>
                <a:rPr lang="en-US" sz="2325" i="true">
                  <a:solidFill>
                    <a:srgbClr val="23262F"/>
                  </a:solidFill>
                  <a:latin typeface="Cambria Italics"/>
                  <a:ea typeface="Cambria Italics"/>
                  <a:cs typeface="Cambria Italics"/>
                  <a:sym typeface="Cambria Italics"/>
                </a:rPr>
                <a:t>"The province wants to let residents submit business permit applications online instead of requiring a printed form filed in person."</a:t>
              </a:r>
            </a:p>
          </p:txBody>
        </p:sp>
      </p:grpSp>
      <p:grpSp>
        <p:nvGrpSpPr>
          <p:cNvPr name="Group 16" id="16"/>
          <p:cNvGrpSpPr/>
          <p:nvPr/>
        </p:nvGrpSpPr>
        <p:grpSpPr>
          <a:xfrm rot="0">
            <a:off x="950595" y="4928235"/>
            <a:ext cx="5162550" cy="842010"/>
            <a:chOff x="0" y="0"/>
            <a:chExt cx="6883400" cy="1122680"/>
          </a:xfrm>
        </p:grpSpPr>
        <p:sp>
          <p:nvSpPr>
            <p:cNvPr name="Freeform 17" id="17"/>
            <p:cNvSpPr/>
            <p:nvPr/>
          </p:nvSpPr>
          <p:spPr>
            <a:xfrm flipH="false" flipV="false" rot="0">
              <a:off x="0" y="0"/>
              <a:ext cx="6883400" cy="1122680"/>
            </a:xfrm>
            <a:custGeom>
              <a:avLst/>
              <a:gdLst/>
              <a:ahLst/>
              <a:cxnLst/>
              <a:rect r="r" b="b" t="t" l="l"/>
              <a:pathLst>
                <a:path h="1122680" w="6883400">
                  <a:moveTo>
                    <a:pt x="0" y="168402"/>
                  </a:moveTo>
                  <a:cubicBezTo>
                    <a:pt x="0" y="75438"/>
                    <a:pt x="75438" y="0"/>
                    <a:pt x="168402" y="0"/>
                  </a:cubicBezTo>
                  <a:lnTo>
                    <a:pt x="6714998" y="0"/>
                  </a:lnTo>
                  <a:cubicBezTo>
                    <a:pt x="6807962" y="0"/>
                    <a:pt x="6883400" y="75438"/>
                    <a:pt x="6883400" y="168402"/>
                  </a:cubicBezTo>
                  <a:lnTo>
                    <a:pt x="6883400" y="954278"/>
                  </a:lnTo>
                  <a:cubicBezTo>
                    <a:pt x="6883400" y="1047242"/>
                    <a:pt x="6807962" y="1122680"/>
                    <a:pt x="6714998" y="1122680"/>
                  </a:cubicBezTo>
                  <a:lnTo>
                    <a:pt x="168402" y="1122680"/>
                  </a:lnTo>
                  <a:cubicBezTo>
                    <a:pt x="75438" y="1122680"/>
                    <a:pt x="0" y="1047242"/>
                    <a:pt x="0" y="954278"/>
                  </a:cubicBezTo>
                  <a:close/>
                </a:path>
              </a:pathLst>
            </a:custGeom>
            <a:solidFill>
              <a:srgbClr val="2E86AB"/>
            </a:solidFill>
            <a:ln w="19050" cap="sq">
              <a:solidFill>
                <a:srgbClr val="2E86AB"/>
              </a:solidFill>
              <a:prstDash val="solid"/>
              <a:miter/>
            </a:ln>
          </p:spPr>
        </p:sp>
      </p:grpSp>
      <p:grpSp>
        <p:nvGrpSpPr>
          <p:cNvPr name="Group 18" id="18"/>
          <p:cNvGrpSpPr/>
          <p:nvPr/>
        </p:nvGrpSpPr>
        <p:grpSpPr>
          <a:xfrm rot="0">
            <a:off x="960120" y="5006340"/>
            <a:ext cx="5143500" cy="521208"/>
            <a:chOff x="0" y="0"/>
            <a:chExt cx="6858000" cy="694944"/>
          </a:xfrm>
        </p:grpSpPr>
        <p:sp>
          <p:nvSpPr>
            <p:cNvPr name="Freeform 19" id="19"/>
            <p:cNvSpPr/>
            <p:nvPr/>
          </p:nvSpPr>
          <p:spPr>
            <a:xfrm flipH="false" flipV="false" rot="0">
              <a:off x="0" y="0"/>
              <a:ext cx="6858000" cy="694944"/>
            </a:xfrm>
            <a:custGeom>
              <a:avLst/>
              <a:gdLst/>
              <a:ahLst/>
              <a:cxnLst/>
              <a:rect r="r" b="b" t="t" l="l"/>
              <a:pathLst>
                <a:path h="694944" w="6858000">
                  <a:moveTo>
                    <a:pt x="0" y="0"/>
                  </a:moveTo>
                  <a:lnTo>
                    <a:pt x="6858000" y="0"/>
                  </a:lnTo>
                  <a:lnTo>
                    <a:pt x="6858000" y="694944"/>
                  </a:lnTo>
                  <a:lnTo>
                    <a:pt x="0" y="694944"/>
                  </a:lnTo>
                  <a:close/>
                </a:path>
              </a:pathLst>
            </a:custGeom>
            <a:blipFill>
              <a:blip r:embed="rId2">
                <a:alphaModFix amt="0"/>
              </a:blip>
              <a:stretch>
                <a:fillRect l="0" t="-142286" r="0" b="-142286"/>
              </a:stretch>
            </a:blipFill>
          </p:spPr>
        </p:sp>
        <p:sp>
          <p:nvSpPr>
            <p:cNvPr name="TextBox 20" id="20"/>
            <p:cNvSpPr txBox="true"/>
            <p:nvPr/>
          </p:nvSpPr>
          <p:spPr>
            <a:xfrm>
              <a:off x="0" y="-38100"/>
              <a:ext cx="6858000" cy="733044"/>
            </a:xfrm>
            <a:prstGeom prst="rect">
              <a:avLst/>
            </a:prstGeom>
          </p:spPr>
          <p:txBody>
            <a:bodyPr anchor="ctr" rtlCol="false" tIns="0" lIns="0" bIns="0" rIns="0"/>
            <a:lstStyle/>
            <a:p>
              <a:pPr algn="ctr">
                <a:lnSpc>
                  <a:spcPts val="2250"/>
                </a:lnSpc>
              </a:pPr>
              <a:r>
                <a:rPr lang="en-US" sz="1875" b="true">
                  <a:solidFill>
                    <a:srgbClr val="FFFFFF"/>
                  </a:solidFill>
                  <a:latin typeface="Calibri (MS) Bold"/>
                  <a:ea typeface="Calibri (MS) Bold"/>
                  <a:cs typeface="Calibri (MS) Bold"/>
                  <a:sym typeface="Calibri (MS) Bold"/>
                </a:rPr>
                <a:t>✓  E-Commerce Act</a:t>
              </a:r>
            </a:p>
          </p:txBody>
        </p:sp>
      </p:grpSp>
      <p:grpSp>
        <p:nvGrpSpPr>
          <p:cNvPr name="Group 21" id="21"/>
          <p:cNvGrpSpPr/>
          <p:nvPr/>
        </p:nvGrpSpPr>
        <p:grpSpPr>
          <a:xfrm rot="0">
            <a:off x="960120" y="5376672"/>
            <a:ext cx="5143500" cy="329184"/>
            <a:chOff x="0" y="0"/>
            <a:chExt cx="6858000" cy="438912"/>
          </a:xfrm>
        </p:grpSpPr>
        <p:sp>
          <p:nvSpPr>
            <p:cNvPr name="Freeform 22" id="22"/>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23" id="23"/>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FFFFFF"/>
                  </a:solidFill>
                  <a:latin typeface="Arimo"/>
                  <a:ea typeface="Arimo"/>
                  <a:cs typeface="Arimo"/>
                  <a:sym typeface="Arimo"/>
                </a:rPr>
                <a:t>ECA</a:t>
              </a:r>
            </a:p>
          </p:txBody>
        </p:sp>
      </p:grpSp>
      <p:grpSp>
        <p:nvGrpSpPr>
          <p:cNvPr name="Group 24" id="24"/>
          <p:cNvGrpSpPr/>
          <p:nvPr/>
        </p:nvGrpSpPr>
        <p:grpSpPr>
          <a:xfrm rot="0">
            <a:off x="6533007" y="4928235"/>
            <a:ext cx="5162550" cy="842010"/>
            <a:chOff x="0" y="0"/>
            <a:chExt cx="6883400" cy="1122680"/>
          </a:xfrm>
        </p:grpSpPr>
        <p:sp>
          <p:nvSpPr>
            <p:cNvPr name="Freeform 25" id="25"/>
            <p:cNvSpPr/>
            <p:nvPr/>
          </p:nvSpPr>
          <p:spPr>
            <a:xfrm flipH="false" flipV="false" rot="0">
              <a:off x="0" y="0"/>
              <a:ext cx="6883400" cy="1122680"/>
            </a:xfrm>
            <a:custGeom>
              <a:avLst/>
              <a:gdLst/>
              <a:ahLst/>
              <a:cxnLst/>
              <a:rect r="r" b="b" t="t" l="l"/>
              <a:pathLst>
                <a:path h="1122680" w="6883400">
                  <a:moveTo>
                    <a:pt x="0" y="168402"/>
                  </a:moveTo>
                  <a:cubicBezTo>
                    <a:pt x="0" y="75438"/>
                    <a:pt x="75438" y="0"/>
                    <a:pt x="168402" y="0"/>
                  </a:cubicBezTo>
                  <a:lnTo>
                    <a:pt x="6714998" y="0"/>
                  </a:lnTo>
                  <a:cubicBezTo>
                    <a:pt x="6807962" y="0"/>
                    <a:pt x="6883400" y="75438"/>
                    <a:pt x="6883400" y="168402"/>
                  </a:cubicBezTo>
                  <a:lnTo>
                    <a:pt x="6883400" y="954278"/>
                  </a:lnTo>
                  <a:cubicBezTo>
                    <a:pt x="6883400" y="1047242"/>
                    <a:pt x="6807962" y="1122680"/>
                    <a:pt x="6714998" y="1122680"/>
                  </a:cubicBezTo>
                  <a:lnTo>
                    <a:pt x="168402" y="1122680"/>
                  </a:lnTo>
                  <a:cubicBezTo>
                    <a:pt x="75438" y="1122680"/>
                    <a:pt x="0" y="1047242"/>
                    <a:pt x="0" y="954278"/>
                  </a:cubicBezTo>
                  <a:close/>
                </a:path>
              </a:pathLst>
            </a:custGeom>
            <a:solidFill>
              <a:srgbClr val="F4F7FC"/>
            </a:solidFill>
            <a:ln w="19050" cap="sq">
              <a:solidFill>
                <a:srgbClr val="D7DCEC"/>
              </a:solidFill>
              <a:prstDash val="solid"/>
              <a:miter/>
            </a:ln>
          </p:spPr>
        </p:sp>
      </p:grpSp>
      <p:grpSp>
        <p:nvGrpSpPr>
          <p:cNvPr name="Group 26" id="26"/>
          <p:cNvGrpSpPr/>
          <p:nvPr/>
        </p:nvGrpSpPr>
        <p:grpSpPr>
          <a:xfrm rot="0">
            <a:off x="6542532" y="5006340"/>
            <a:ext cx="5143500" cy="521208"/>
            <a:chOff x="0" y="0"/>
            <a:chExt cx="6858000" cy="694944"/>
          </a:xfrm>
        </p:grpSpPr>
        <p:sp>
          <p:nvSpPr>
            <p:cNvPr name="Freeform 27" id="27"/>
            <p:cNvSpPr/>
            <p:nvPr/>
          </p:nvSpPr>
          <p:spPr>
            <a:xfrm flipH="false" flipV="false" rot="0">
              <a:off x="0" y="0"/>
              <a:ext cx="6858000" cy="694944"/>
            </a:xfrm>
            <a:custGeom>
              <a:avLst/>
              <a:gdLst/>
              <a:ahLst/>
              <a:cxnLst/>
              <a:rect r="r" b="b" t="t" l="l"/>
              <a:pathLst>
                <a:path h="694944" w="6858000">
                  <a:moveTo>
                    <a:pt x="0" y="0"/>
                  </a:moveTo>
                  <a:lnTo>
                    <a:pt x="6858000" y="0"/>
                  </a:lnTo>
                  <a:lnTo>
                    <a:pt x="6858000" y="694944"/>
                  </a:lnTo>
                  <a:lnTo>
                    <a:pt x="0" y="694944"/>
                  </a:lnTo>
                  <a:close/>
                </a:path>
              </a:pathLst>
            </a:custGeom>
            <a:blipFill>
              <a:blip r:embed="rId2">
                <a:alphaModFix amt="0"/>
              </a:blip>
              <a:stretch>
                <a:fillRect l="0" t="-142286" r="0" b="-142286"/>
              </a:stretch>
            </a:blipFill>
          </p:spPr>
        </p:sp>
        <p:sp>
          <p:nvSpPr>
            <p:cNvPr name="TextBox 28" id="28"/>
            <p:cNvSpPr txBox="true"/>
            <p:nvPr/>
          </p:nvSpPr>
          <p:spPr>
            <a:xfrm>
              <a:off x="0" y="-38100"/>
              <a:ext cx="6858000" cy="733044"/>
            </a:xfrm>
            <a:prstGeom prst="rect">
              <a:avLst/>
            </a:prstGeom>
          </p:spPr>
          <p:txBody>
            <a:bodyPr anchor="ctr" rtlCol="false" tIns="0" lIns="0" bIns="0" rIns="0"/>
            <a:lstStyle/>
            <a:p>
              <a:pPr algn="ctr">
                <a:lnSpc>
                  <a:spcPts val="2250"/>
                </a:lnSpc>
              </a:pPr>
              <a:r>
                <a:rPr lang="en-US" sz="1875">
                  <a:solidFill>
                    <a:srgbClr val="6B7280"/>
                  </a:solidFill>
                  <a:latin typeface="Calibri (MS)"/>
                  <a:ea typeface="Calibri (MS)"/>
                  <a:cs typeface="Calibri (MS)"/>
                  <a:sym typeface="Calibri (MS)"/>
                </a:rPr>
                <a:t>Cybercrime Act</a:t>
              </a:r>
            </a:p>
          </p:txBody>
        </p:sp>
      </p:grpSp>
      <p:grpSp>
        <p:nvGrpSpPr>
          <p:cNvPr name="Group 29" id="29"/>
          <p:cNvGrpSpPr/>
          <p:nvPr/>
        </p:nvGrpSpPr>
        <p:grpSpPr>
          <a:xfrm rot="0">
            <a:off x="6542532" y="5376672"/>
            <a:ext cx="5143500" cy="329184"/>
            <a:chOff x="0" y="0"/>
            <a:chExt cx="6858000" cy="438912"/>
          </a:xfrm>
        </p:grpSpPr>
        <p:sp>
          <p:nvSpPr>
            <p:cNvPr name="Freeform 30" id="30"/>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31" id="31"/>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9AA3B8"/>
                  </a:solidFill>
                  <a:latin typeface="Arimo"/>
                  <a:ea typeface="Arimo"/>
                  <a:cs typeface="Arimo"/>
                  <a:sym typeface="Arimo"/>
                </a:rPr>
                <a:t>CPA</a:t>
              </a:r>
            </a:p>
          </p:txBody>
        </p:sp>
      </p:grpSp>
      <p:grpSp>
        <p:nvGrpSpPr>
          <p:cNvPr name="Group 32" id="32"/>
          <p:cNvGrpSpPr/>
          <p:nvPr/>
        </p:nvGrpSpPr>
        <p:grpSpPr>
          <a:xfrm rot="0">
            <a:off x="950595" y="5998083"/>
            <a:ext cx="5162550" cy="842010"/>
            <a:chOff x="0" y="0"/>
            <a:chExt cx="6883400" cy="1122680"/>
          </a:xfrm>
        </p:grpSpPr>
        <p:sp>
          <p:nvSpPr>
            <p:cNvPr name="Freeform 33" id="33"/>
            <p:cNvSpPr/>
            <p:nvPr/>
          </p:nvSpPr>
          <p:spPr>
            <a:xfrm flipH="false" flipV="false" rot="0">
              <a:off x="0" y="0"/>
              <a:ext cx="6883400" cy="1122680"/>
            </a:xfrm>
            <a:custGeom>
              <a:avLst/>
              <a:gdLst/>
              <a:ahLst/>
              <a:cxnLst/>
              <a:rect r="r" b="b" t="t" l="l"/>
              <a:pathLst>
                <a:path h="1122680" w="6883400">
                  <a:moveTo>
                    <a:pt x="0" y="168402"/>
                  </a:moveTo>
                  <a:cubicBezTo>
                    <a:pt x="0" y="75438"/>
                    <a:pt x="75438" y="0"/>
                    <a:pt x="168402" y="0"/>
                  </a:cubicBezTo>
                  <a:lnTo>
                    <a:pt x="6714998" y="0"/>
                  </a:lnTo>
                  <a:cubicBezTo>
                    <a:pt x="6807962" y="0"/>
                    <a:pt x="6883400" y="75438"/>
                    <a:pt x="6883400" y="168402"/>
                  </a:cubicBezTo>
                  <a:lnTo>
                    <a:pt x="6883400" y="954278"/>
                  </a:lnTo>
                  <a:cubicBezTo>
                    <a:pt x="6883400" y="1047242"/>
                    <a:pt x="6807962" y="1122680"/>
                    <a:pt x="6714998" y="1122680"/>
                  </a:cubicBezTo>
                  <a:lnTo>
                    <a:pt x="168402" y="1122680"/>
                  </a:lnTo>
                  <a:cubicBezTo>
                    <a:pt x="75438" y="1122680"/>
                    <a:pt x="0" y="1047242"/>
                    <a:pt x="0" y="954278"/>
                  </a:cubicBezTo>
                  <a:close/>
                </a:path>
              </a:pathLst>
            </a:custGeom>
            <a:solidFill>
              <a:srgbClr val="F4F7FC"/>
            </a:solidFill>
            <a:ln w="19050" cap="sq">
              <a:solidFill>
                <a:srgbClr val="D7DCEC"/>
              </a:solidFill>
              <a:prstDash val="solid"/>
              <a:miter/>
            </a:ln>
          </p:spPr>
        </p:sp>
      </p:grpSp>
      <p:grpSp>
        <p:nvGrpSpPr>
          <p:cNvPr name="Group 34" id="34"/>
          <p:cNvGrpSpPr/>
          <p:nvPr/>
        </p:nvGrpSpPr>
        <p:grpSpPr>
          <a:xfrm rot="0">
            <a:off x="960120" y="6076188"/>
            <a:ext cx="5143500" cy="521208"/>
            <a:chOff x="0" y="0"/>
            <a:chExt cx="6858000" cy="694944"/>
          </a:xfrm>
        </p:grpSpPr>
        <p:sp>
          <p:nvSpPr>
            <p:cNvPr name="Freeform 35" id="35"/>
            <p:cNvSpPr/>
            <p:nvPr/>
          </p:nvSpPr>
          <p:spPr>
            <a:xfrm flipH="false" flipV="false" rot="0">
              <a:off x="0" y="0"/>
              <a:ext cx="6858000" cy="694944"/>
            </a:xfrm>
            <a:custGeom>
              <a:avLst/>
              <a:gdLst/>
              <a:ahLst/>
              <a:cxnLst/>
              <a:rect r="r" b="b" t="t" l="l"/>
              <a:pathLst>
                <a:path h="694944" w="6858000">
                  <a:moveTo>
                    <a:pt x="0" y="0"/>
                  </a:moveTo>
                  <a:lnTo>
                    <a:pt x="6858000" y="0"/>
                  </a:lnTo>
                  <a:lnTo>
                    <a:pt x="6858000" y="694944"/>
                  </a:lnTo>
                  <a:lnTo>
                    <a:pt x="0" y="694944"/>
                  </a:lnTo>
                  <a:close/>
                </a:path>
              </a:pathLst>
            </a:custGeom>
            <a:blipFill>
              <a:blip r:embed="rId2">
                <a:alphaModFix amt="0"/>
              </a:blip>
              <a:stretch>
                <a:fillRect l="0" t="-142286" r="0" b="-142286"/>
              </a:stretch>
            </a:blipFill>
          </p:spPr>
        </p:sp>
        <p:sp>
          <p:nvSpPr>
            <p:cNvPr name="TextBox 36" id="36"/>
            <p:cNvSpPr txBox="true"/>
            <p:nvPr/>
          </p:nvSpPr>
          <p:spPr>
            <a:xfrm>
              <a:off x="0" y="-38100"/>
              <a:ext cx="6858000" cy="733044"/>
            </a:xfrm>
            <a:prstGeom prst="rect">
              <a:avLst/>
            </a:prstGeom>
          </p:spPr>
          <p:txBody>
            <a:bodyPr anchor="ctr" rtlCol="false" tIns="0" lIns="0" bIns="0" rIns="0"/>
            <a:lstStyle/>
            <a:p>
              <a:pPr algn="ctr">
                <a:lnSpc>
                  <a:spcPts val="2250"/>
                </a:lnSpc>
              </a:pPr>
              <a:r>
                <a:rPr lang="en-US" sz="1875">
                  <a:solidFill>
                    <a:srgbClr val="6B7280"/>
                  </a:solidFill>
                  <a:latin typeface="Calibri (MS)"/>
                  <a:ea typeface="Calibri (MS)"/>
                  <a:cs typeface="Calibri (MS)"/>
                  <a:sym typeface="Calibri (MS)"/>
                </a:rPr>
                <a:t>Data Privacy Act</a:t>
              </a:r>
            </a:p>
          </p:txBody>
        </p:sp>
      </p:grpSp>
      <p:grpSp>
        <p:nvGrpSpPr>
          <p:cNvPr name="Group 37" id="37"/>
          <p:cNvGrpSpPr/>
          <p:nvPr/>
        </p:nvGrpSpPr>
        <p:grpSpPr>
          <a:xfrm rot="0">
            <a:off x="960120" y="6446520"/>
            <a:ext cx="5143500" cy="329184"/>
            <a:chOff x="0" y="0"/>
            <a:chExt cx="6858000" cy="438912"/>
          </a:xfrm>
        </p:grpSpPr>
        <p:sp>
          <p:nvSpPr>
            <p:cNvPr name="Freeform 38" id="38"/>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39" id="39"/>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9AA3B8"/>
                  </a:solidFill>
                  <a:latin typeface="Arimo"/>
                  <a:ea typeface="Arimo"/>
                  <a:cs typeface="Arimo"/>
                  <a:sym typeface="Arimo"/>
                </a:rPr>
                <a:t>DPA</a:t>
              </a:r>
            </a:p>
          </p:txBody>
        </p:sp>
      </p:grpSp>
      <p:grpSp>
        <p:nvGrpSpPr>
          <p:cNvPr name="Group 40" id="40"/>
          <p:cNvGrpSpPr/>
          <p:nvPr/>
        </p:nvGrpSpPr>
        <p:grpSpPr>
          <a:xfrm rot="0">
            <a:off x="6533007" y="5998083"/>
            <a:ext cx="5162550" cy="842010"/>
            <a:chOff x="0" y="0"/>
            <a:chExt cx="6883400" cy="1122680"/>
          </a:xfrm>
        </p:grpSpPr>
        <p:sp>
          <p:nvSpPr>
            <p:cNvPr name="Freeform 41" id="41"/>
            <p:cNvSpPr/>
            <p:nvPr/>
          </p:nvSpPr>
          <p:spPr>
            <a:xfrm flipH="false" flipV="false" rot="0">
              <a:off x="0" y="0"/>
              <a:ext cx="6883400" cy="1122680"/>
            </a:xfrm>
            <a:custGeom>
              <a:avLst/>
              <a:gdLst/>
              <a:ahLst/>
              <a:cxnLst/>
              <a:rect r="r" b="b" t="t" l="l"/>
              <a:pathLst>
                <a:path h="1122680" w="6883400">
                  <a:moveTo>
                    <a:pt x="0" y="168402"/>
                  </a:moveTo>
                  <a:cubicBezTo>
                    <a:pt x="0" y="75438"/>
                    <a:pt x="75438" y="0"/>
                    <a:pt x="168402" y="0"/>
                  </a:cubicBezTo>
                  <a:lnTo>
                    <a:pt x="6714998" y="0"/>
                  </a:lnTo>
                  <a:cubicBezTo>
                    <a:pt x="6807962" y="0"/>
                    <a:pt x="6883400" y="75438"/>
                    <a:pt x="6883400" y="168402"/>
                  </a:cubicBezTo>
                  <a:lnTo>
                    <a:pt x="6883400" y="954278"/>
                  </a:lnTo>
                  <a:cubicBezTo>
                    <a:pt x="6883400" y="1047242"/>
                    <a:pt x="6807962" y="1122680"/>
                    <a:pt x="6714998" y="1122680"/>
                  </a:cubicBezTo>
                  <a:lnTo>
                    <a:pt x="168402" y="1122680"/>
                  </a:lnTo>
                  <a:cubicBezTo>
                    <a:pt x="75438" y="1122680"/>
                    <a:pt x="0" y="1047242"/>
                    <a:pt x="0" y="954278"/>
                  </a:cubicBezTo>
                  <a:close/>
                </a:path>
              </a:pathLst>
            </a:custGeom>
            <a:solidFill>
              <a:srgbClr val="F4F7FC"/>
            </a:solidFill>
            <a:ln w="19050" cap="sq">
              <a:solidFill>
                <a:srgbClr val="D7DCEC"/>
              </a:solidFill>
              <a:prstDash val="solid"/>
              <a:miter/>
            </a:ln>
          </p:spPr>
        </p:sp>
      </p:grpSp>
      <p:grpSp>
        <p:nvGrpSpPr>
          <p:cNvPr name="Group 42" id="42"/>
          <p:cNvGrpSpPr/>
          <p:nvPr/>
        </p:nvGrpSpPr>
        <p:grpSpPr>
          <a:xfrm rot="0">
            <a:off x="6542532" y="6076188"/>
            <a:ext cx="5143500" cy="521208"/>
            <a:chOff x="0" y="0"/>
            <a:chExt cx="6858000" cy="694944"/>
          </a:xfrm>
        </p:grpSpPr>
        <p:sp>
          <p:nvSpPr>
            <p:cNvPr name="Freeform 43" id="43"/>
            <p:cNvSpPr/>
            <p:nvPr/>
          </p:nvSpPr>
          <p:spPr>
            <a:xfrm flipH="false" flipV="false" rot="0">
              <a:off x="0" y="0"/>
              <a:ext cx="6858000" cy="694944"/>
            </a:xfrm>
            <a:custGeom>
              <a:avLst/>
              <a:gdLst/>
              <a:ahLst/>
              <a:cxnLst/>
              <a:rect r="r" b="b" t="t" l="l"/>
              <a:pathLst>
                <a:path h="694944" w="6858000">
                  <a:moveTo>
                    <a:pt x="0" y="0"/>
                  </a:moveTo>
                  <a:lnTo>
                    <a:pt x="6858000" y="0"/>
                  </a:lnTo>
                  <a:lnTo>
                    <a:pt x="6858000" y="694944"/>
                  </a:lnTo>
                  <a:lnTo>
                    <a:pt x="0" y="694944"/>
                  </a:lnTo>
                  <a:close/>
                </a:path>
              </a:pathLst>
            </a:custGeom>
            <a:blipFill>
              <a:blip r:embed="rId2">
                <a:alphaModFix amt="0"/>
              </a:blip>
              <a:stretch>
                <a:fillRect l="0" t="-142286" r="0" b="-142286"/>
              </a:stretch>
            </a:blipFill>
          </p:spPr>
        </p:sp>
        <p:sp>
          <p:nvSpPr>
            <p:cNvPr name="TextBox 44" id="44"/>
            <p:cNvSpPr txBox="true"/>
            <p:nvPr/>
          </p:nvSpPr>
          <p:spPr>
            <a:xfrm>
              <a:off x="0" y="-38100"/>
              <a:ext cx="6858000" cy="733044"/>
            </a:xfrm>
            <a:prstGeom prst="rect">
              <a:avLst/>
            </a:prstGeom>
          </p:spPr>
          <p:txBody>
            <a:bodyPr anchor="ctr" rtlCol="false" tIns="0" lIns="0" bIns="0" rIns="0"/>
            <a:lstStyle/>
            <a:p>
              <a:pPr algn="ctr">
                <a:lnSpc>
                  <a:spcPts val="2250"/>
                </a:lnSpc>
              </a:pPr>
              <a:r>
                <a:rPr lang="en-US" sz="1875">
                  <a:solidFill>
                    <a:srgbClr val="6B7280"/>
                  </a:solidFill>
                  <a:latin typeface="Calibri (MS)"/>
                  <a:ea typeface="Calibri (MS)"/>
                  <a:cs typeface="Calibri (MS)"/>
                  <a:sym typeface="Calibri (MS)"/>
                </a:rPr>
                <a:t>DICT Act / NCSP</a:t>
              </a:r>
            </a:p>
          </p:txBody>
        </p:sp>
      </p:grpSp>
      <p:grpSp>
        <p:nvGrpSpPr>
          <p:cNvPr name="Group 45" id="45"/>
          <p:cNvGrpSpPr/>
          <p:nvPr/>
        </p:nvGrpSpPr>
        <p:grpSpPr>
          <a:xfrm rot="0">
            <a:off x="6542532" y="6446520"/>
            <a:ext cx="5143500" cy="329184"/>
            <a:chOff x="0" y="0"/>
            <a:chExt cx="6858000" cy="438912"/>
          </a:xfrm>
        </p:grpSpPr>
        <p:sp>
          <p:nvSpPr>
            <p:cNvPr name="Freeform 46" id="46"/>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47" id="47"/>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9AA3B8"/>
                  </a:solidFill>
                  <a:latin typeface="Arimo"/>
                  <a:ea typeface="Arimo"/>
                  <a:cs typeface="Arimo"/>
                  <a:sym typeface="Arimo"/>
                </a:rPr>
                <a:t>DICT</a:t>
              </a:r>
            </a:p>
          </p:txBody>
        </p:sp>
      </p:grpSp>
      <p:grpSp>
        <p:nvGrpSpPr>
          <p:cNvPr name="Group 48" id="48"/>
          <p:cNvGrpSpPr/>
          <p:nvPr/>
        </p:nvGrpSpPr>
        <p:grpSpPr>
          <a:xfrm rot="0">
            <a:off x="12115419" y="4928235"/>
            <a:ext cx="5162550" cy="1911858"/>
            <a:chOff x="0" y="0"/>
            <a:chExt cx="6883400" cy="2549144"/>
          </a:xfrm>
        </p:grpSpPr>
        <p:sp>
          <p:nvSpPr>
            <p:cNvPr name="Freeform 49" id="49"/>
            <p:cNvSpPr/>
            <p:nvPr/>
          </p:nvSpPr>
          <p:spPr>
            <a:xfrm flipH="false" flipV="false" rot="0">
              <a:off x="0" y="0"/>
              <a:ext cx="6883400" cy="2549144"/>
            </a:xfrm>
            <a:custGeom>
              <a:avLst/>
              <a:gdLst/>
              <a:ahLst/>
              <a:cxnLst/>
              <a:rect r="r" b="b" t="t" l="l"/>
              <a:pathLst>
                <a:path h="2549144" w="6883400">
                  <a:moveTo>
                    <a:pt x="0" y="166243"/>
                  </a:moveTo>
                  <a:cubicBezTo>
                    <a:pt x="0" y="74422"/>
                    <a:pt x="74422" y="0"/>
                    <a:pt x="166243" y="0"/>
                  </a:cubicBezTo>
                  <a:lnTo>
                    <a:pt x="6717157" y="0"/>
                  </a:lnTo>
                  <a:cubicBezTo>
                    <a:pt x="6808978" y="0"/>
                    <a:pt x="6883400" y="74422"/>
                    <a:pt x="6883400" y="166243"/>
                  </a:cubicBezTo>
                  <a:lnTo>
                    <a:pt x="6883400" y="2382901"/>
                  </a:lnTo>
                  <a:cubicBezTo>
                    <a:pt x="6883400" y="2474722"/>
                    <a:pt x="6808978" y="2549144"/>
                    <a:pt x="6717157" y="2549144"/>
                  </a:cubicBezTo>
                  <a:lnTo>
                    <a:pt x="166243" y="2549144"/>
                  </a:lnTo>
                  <a:cubicBezTo>
                    <a:pt x="74422" y="2549144"/>
                    <a:pt x="0" y="2474722"/>
                    <a:pt x="0" y="2382901"/>
                  </a:cubicBezTo>
                  <a:close/>
                </a:path>
              </a:pathLst>
            </a:custGeom>
            <a:solidFill>
              <a:srgbClr val="F4F7FC"/>
            </a:solidFill>
            <a:ln w="19050" cap="sq">
              <a:solidFill>
                <a:srgbClr val="D7DCEC"/>
              </a:solidFill>
              <a:prstDash val="solid"/>
              <a:miter/>
            </a:ln>
          </p:spPr>
        </p:sp>
      </p:grpSp>
      <p:grpSp>
        <p:nvGrpSpPr>
          <p:cNvPr name="Group 50" id="50"/>
          <p:cNvGrpSpPr/>
          <p:nvPr/>
        </p:nvGrpSpPr>
        <p:grpSpPr>
          <a:xfrm rot="0">
            <a:off x="12124944" y="5006340"/>
            <a:ext cx="5143500" cy="1591056"/>
            <a:chOff x="0" y="0"/>
            <a:chExt cx="6858000" cy="2121408"/>
          </a:xfrm>
        </p:grpSpPr>
        <p:sp>
          <p:nvSpPr>
            <p:cNvPr name="Freeform 51" id="51"/>
            <p:cNvSpPr/>
            <p:nvPr/>
          </p:nvSpPr>
          <p:spPr>
            <a:xfrm flipH="false" flipV="false" rot="0">
              <a:off x="0" y="0"/>
              <a:ext cx="6858000" cy="2121408"/>
            </a:xfrm>
            <a:custGeom>
              <a:avLst/>
              <a:gdLst/>
              <a:ahLst/>
              <a:cxnLst/>
              <a:rect r="r" b="b" t="t" l="l"/>
              <a:pathLst>
                <a:path h="2121408" w="6858000">
                  <a:moveTo>
                    <a:pt x="0" y="0"/>
                  </a:moveTo>
                  <a:lnTo>
                    <a:pt x="6858000" y="0"/>
                  </a:lnTo>
                  <a:lnTo>
                    <a:pt x="6858000" y="2121408"/>
                  </a:lnTo>
                  <a:lnTo>
                    <a:pt x="0" y="2121408"/>
                  </a:lnTo>
                  <a:close/>
                </a:path>
              </a:pathLst>
            </a:custGeom>
            <a:blipFill>
              <a:blip r:embed="rId2">
                <a:alphaModFix amt="0"/>
              </a:blip>
              <a:stretch>
                <a:fillRect l="0" t="-12990" r="0" b="-12990"/>
              </a:stretch>
            </a:blipFill>
          </p:spPr>
        </p:sp>
        <p:sp>
          <p:nvSpPr>
            <p:cNvPr name="TextBox 52" id="52"/>
            <p:cNvSpPr txBox="true"/>
            <p:nvPr/>
          </p:nvSpPr>
          <p:spPr>
            <a:xfrm>
              <a:off x="0" y="-38100"/>
              <a:ext cx="6858000" cy="2159508"/>
            </a:xfrm>
            <a:prstGeom prst="rect">
              <a:avLst/>
            </a:prstGeom>
          </p:spPr>
          <p:txBody>
            <a:bodyPr anchor="ctr" rtlCol="false" tIns="0" lIns="0" bIns="0" rIns="0"/>
            <a:lstStyle/>
            <a:p>
              <a:pPr algn="ctr">
                <a:lnSpc>
                  <a:spcPts val="2250"/>
                </a:lnSpc>
              </a:pPr>
              <a:r>
                <a:rPr lang="en-US" sz="1875">
                  <a:solidFill>
                    <a:srgbClr val="6B7280"/>
                  </a:solidFill>
                  <a:latin typeface="Calibri (MS)"/>
                  <a:ea typeface="Calibri (MS)"/>
                  <a:cs typeface="Calibri (MS)"/>
                  <a:sym typeface="Calibri (MS)"/>
                </a:rPr>
                <a:t>Critical Infra. Protection</a:t>
              </a:r>
            </a:p>
          </p:txBody>
        </p:sp>
      </p:grpSp>
      <p:grpSp>
        <p:nvGrpSpPr>
          <p:cNvPr name="Group 53" id="53"/>
          <p:cNvGrpSpPr/>
          <p:nvPr/>
        </p:nvGrpSpPr>
        <p:grpSpPr>
          <a:xfrm rot="0">
            <a:off x="12124944" y="6446520"/>
            <a:ext cx="5143500" cy="329184"/>
            <a:chOff x="0" y="0"/>
            <a:chExt cx="6858000" cy="438912"/>
          </a:xfrm>
        </p:grpSpPr>
        <p:sp>
          <p:nvSpPr>
            <p:cNvPr name="Freeform 54" id="54"/>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55" id="55"/>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9AA3B8"/>
                  </a:solidFill>
                  <a:latin typeface="Arimo"/>
                  <a:ea typeface="Arimo"/>
                  <a:cs typeface="Arimo"/>
                  <a:sym typeface="Arimo"/>
                </a:rPr>
                <a:t>CII</a:t>
              </a:r>
            </a:p>
          </p:txBody>
        </p:sp>
      </p:grpSp>
      <p:grpSp>
        <p:nvGrpSpPr>
          <p:cNvPr name="Group 56" id="56"/>
          <p:cNvGrpSpPr/>
          <p:nvPr/>
        </p:nvGrpSpPr>
        <p:grpSpPr>
          <a:xfrm rot="0">
            <a:off x="950595" y="7328535"/>
            <a:ext cx="16341090" cy="1596390"/>
            <a:chOff x="0" y="0"/>
            <a:chExt cx="21788120" cy="2128520"/>
          </a:xfrm>
        </p:grpSpPr>
        <p:sp>
          <p:nvSpPr>
            <p:cNvPr name="Freeform 57" id="57"/>
            <p:cNvSpPr/>
            <p:nvPr/>
          </p:nvSpPr>
          <p:spPr>
            <a:xfrm flipH="false" flipV="false" rot="0">
              <a:off x="0" y="0"/>
              <a:ext cx="21788120" cy="2128520"/>
            </a:xfrm>
            <a:custGeom>
              <a:avLst/>
              <a:gdLst/>
              <a:ahLst/>
              <a:cxnLst/>
              <a:rect r="r" b="b" t="t" l="l"/>
              <a:pathLst>
                <a:path h="2128520" w="21788120">
                  <a:moveTo>
                    <a:pt x="0" y="185039"/>
                  </a:moveTo>
                  <a:cubicBezTo>
                    <a:pt x="0" y="82931"/>
                    <a:pt x="82931" y="0"/>
                    <a:pt x="185039" y="0"/>
                  </a:cubicBezTo>
                  <a:lnTo>
                    <a:pt x="21603081" y="0"/>
                  </a:lnTo>
                  <a:cubicBezTo>
                    <a:pt x="21705317" y="0"/>
                    <a:pt x="21788120" y="82931"/>
                    <a:pt x="21788120" y="185039"/>
                  </a:cubicBezTo>
                  <a:lnTo>
                    <a:pt x="21788120" y="1943481"/>
                  </a:lnTo>
                  <a:cubicBezTo>
                    <a:pt x="21788120" y="2045716"/>
                    <a:pt x="21705190" y="2128520"/>
                    <a:pt x="21603081" y="2128520"/>
                  </a:cubicBezTo>
                  <a:lnTo>
                    <a:pt x="185039" y="2128520"/>
                  </a:lnTo>
                  <a:cubicBezTo>
                    <a:pt x="82931" y="2128520"/>
                    <a:pt x="0" y="2045589"/>
                    <a:pt x="0" y="1943481"/>
                  </a:cubicBezTo>
                  <a:close/>
                </a:path>
              </a:pathLst>
            </a:custGeom>
            <a:solidFill>
              <a:srgbClr val="FBF9F4"/>
            </a:solidFill>
            <a:ln w="19050" cap="sq">
              <a:solidFill>
                <a:srgbClr val="EFE6D2"/>
              </a:solidFill>
              <a:prstDash val="solid"/>
              <a:miter/>
            </a:ln>
          </p:spPr>
        </p:sp>
      </p:grpSp>
      <p:sp>
        <p:nvSpPr>
          <p:cNvPr name="TextBox 58" id="58"/>
          <p:cNvSpPr txBox="true"/>
          <p:nvPr/>
        </p:nvSpPr>
        <p:spPr>
          <a:xfrm rot="0">
            <a:off x="1463040" y="7494270"/>
            <a:ext cx="15316200" cy="1238250"/>
          </a:xfrm>
          <a:prstGeom prst="rect">
            <a:avLst/>
          </a:prstGeom>
        </p:spPr>
        <p:txBody>
          <a:bodyPr anchor="t" rtlCol="false" tIns="0" lIns="0" bIns="0" rIns="0">
            <a:spAutoFit/>
          </a:bodyPr>
          <a:lstStyle/>
          <a:p>
            <a:pPr algn="l">
              <a:lnSpc>
                <a:spcPts val="2764"/>
              </a:lnSpc>
            </a:pPr>
            <a:r>
              <a:rPr lang="en-US" sz="1800">
                <a:solidFill>
                  <a:srgbClr val="23262F"/>
                </a:solidFill>
                <a:latin typeface="Calibri (MS)"/>
                <a:ea typeface="Calibri (MS)"/>
                <a:cs typeface="Calibri (MS)"/>
                <a:sym typeface="Calibri (MS)"/>
              </a:rPr>
              <a:t>RA 8792 is the law that gives electronic transactions and government e-services their legal footing in the first place — it's the reason accepting an online submission is legally sound, not just convenient.</a:t>
            </a:r>
          </a:p>
        </p:txBody>
      </p:sp>
      <p:grpSp>
        <p:nvGrpSpPr>
          <p:cNvPr name="Group 59" id="59"/>
          <p:cNvGrpSpPr/>
          <p:nvPr/>
        </p:nvGrpSpPr>
        <p:grpSpPr>
          <a:xfrm rot="0">
            <a:off x="685800" y="9710928"/>
            <a:ext cx="10972800" cy="411480"/>
            <a:chOff x="0" y="0"/>
            <a:chExt cx="14630400" cy="548640"/>
          </a:xfrm>
        </p:grpSpPr>
        <p:sp>
          <p:nvSpPr>
            <p:cNvPr name="Freeform 60" id="60"/>
            <p:cNvSpPr/>
            <p:nvPr/>
          </p:nvSpPr>
          <p:spPr>
            <a:xfrm flipH="false" flipV="false" rot="0">
              <a:off x="0" y="0"/>
              <a:ext cx="14630400" cy="548640"/>
            </a:xfrm>
            <a:custGeom>
              <a:avLst/>
              <a:gdLst/>
              <a:ahLst/>
              <a:cxnLst/>
              <a:rect r="r" b="b" t="t" l="l"/>
              <a:pathLst>
                <a:path h="548640" w="14630400">
                  <a:moveTo>
                    <a:pt x="0" y="0"/>
                  </a:moveTo>
                  <a:lnTo>
                    <a:pt x="14630400" y="0"/>
                  </a:lnTo>
                  <a:lnTo>
                    <a:pt x="14630400" y="548640"/>
                  </a:lnTo>
                  <a:lnTo>
                    <a:pt x="0" y="548640"/>
                  </a:lnTo>
                  <a:close/>
                </a:path>
              </a:pathLst>
            </a:custGeom>
            <a:blipFill>
              <a:blip r:embed="rId2">
                <a:alphaModFix amt="0"/>
              </a:blip>
              <a:stretch>
                <a:fillRect l="0" t="-469601" r="0" b="-469601"/>
              </a:stretch>
            </a:blipFill>
          </p:spPr>
        </p:sp>
        <p:sp>
          <p:nvSpPr>
            <p:cNvPr name="TextBox 61" id="61"/>
            <p:cNvSpPr txBox="true"/>
            <p:nvPr/>
          </p:nvSpPr>
          <p:spPr>
            <a:xfrm>
              <a:off x="0" y="-38100"/>
              <a:ext cx="14630400" cy="586740"/>
            </a:xfrm>
            <a:prstGeom prst="rect">
              <a:avLst/>
            </a:prstGeom>
          </p:spPr>
          <p:txBody>
            <a:bodyPr anchor="ctr" rtlCol="false" tIns="0" lIns="0" bIns="0" rIns="0"/>
            <a:lstStyle/>
            <a:p>
              <a:pPr algn="l">
                <a:lnSpc>
                  <a:spcPts val="1800"/>
                </a:lnSpc>
              </a:pPr>
              <a:r>
                <a:rPr lang="en-US" sz="1500">
                  <a:solidFill>
                    <a:srgbClr val="6B7280"/>
                  </a:solidFill>
                  <a:latin typeface="Calibri (MS)"/>
                  <a:ea typeface="Calibri (MS)"/>
                  <a:cs typeface="Calibri (MS)"/>
                  <a:sym typeface="Calibri (MS)"/>
                </a:rPr>
                <a:t>Davao del Norte Provincial Government — Cybersecurity Seminar</a:t>
              </a:r>
            </a:p>
          </p:txBody>
        </p:sp>
      </p:grpSp>
      <p:grpSp>
        <p:nvGrpSpPr>
          <p:cNvPr name="Group 62" id="62"/>
          <p:cNvGrpSpPr/>
          <p:nvPr/>
        </p:nvGrpSpPr>
        <p:grpSpPr>
          <a:xfrm rot="0">
            <a:off x="16911828" y="9710928"/>
            <a:ext cx="685800" cy="411480"/>
            <a:chOff x="0" y="0"/>
            <a:chExt cx="914400" cy="548640"/>
          </a:xfrm>
        </p:grpSpPr>
        <p:sp>
          <p:nvSpPr>
            <p:cNvPr name="Freeform 63" id="63"/>
            <p:cNvSpPr/>
            <p:nvPr/>
          </p:nvSpPr>
          <p:spPr>
            <a:xfrm flipH="false" flipV="false" rot="0">
              <a:off x="0" y="0"/>
              <a:ext cx="914400" cy="548640"/>
            </a:xfrm>
            <a:custGeom>
              <a:avLst/>
              <a:gdLst/>
              <a:ahLst/>
              <a:cxnLst/>
              <a:rect r="r" b="b" t="t" l="l"/>
              <a:pathLst>
                <a:path h="548640" w="914400">
                  <a:moveTo>
                    <a:pt x="0" y="0"/>
                  </a:moveTo>
                  <a:lnTo>
                    <a:pt x="914400" y="0"/>
                  </a:lnTo>
                  <a:lnTo>
                    <a:pt x="914400" y="548640"/>
                  </a:lnTo>
                  <a:lnTo>
                    <a:pt x="0" y="548640"/>
                  </a:lnTo>
                  <a:close/>
                </a:path>
              </a:pathLst>
            </a:custGeom>
            <a:blipFill>
              <a:blip r:embed="rId2">
                <a:alphaModFix amt="0"/>
              </a:blip>
              <a:stretch>
                <a:fillRect l="-26982" t="0" r="-26982" b="0"/>
              </a:stretch>
            </a:blipFill>
          </p:spPr>
        </p:sp>
        <p:sp>
          <p:nvSpPr>
            <p:cNvPr name="TextBox 64" id="64"/>
            <p:cNvSpPr txBox="true"/>
            <p:nvPr/>
          </p:nvSpPr>
          <p:spPr>
            <a:xfrm>
              <a:off x="0" y="-38100"/>
              <a:ext cx="914400" cy="586740"/>
            </a:xfrm>
            <a:prstGeom prst="rect">
              <a:avLst/>
            </a:prstGeom>
          </p:spPr>
          <p:txBody>
            <a:bodyPr anchor="ctr" rtlCol="false" tIns="0" lIns="0" bIns="0" rIns="0"/>
            <a:lstStyle/>
            <a:p>
              <a:pPr algn="r">
                <a:lnSpc>
                  <a:spcPts val="1800"/>
                </a:lnSpc>
              </a:pPr>
              <a:r>
                <a:rPr lang="en-US" sz="1500">
                  <a:solidFill>
                    <a:srgbClr val="6B7280"/>
                  </a:solidFill>
                  <a:latin typeface="Calibri (MS)"/>
                  <a:ea typeface="Calibri (MS)"/>
                  <a:cs typeface="Calibri (MS)"/>
                  <a:sym typeface="Calibri (MS)"/>
                </a:rPr>
                <a:t>14</a:t>
              </a:r>
            </a:p>
          </p:txBody>
        </p:sp>
      </p:grpSp>
    </p:spTree>
  </p:cSld>
  <p:clrMapOvr>
    <a:masterClrMapping/>
  </p:clrMapOvr>
</p:sld>
</file>

<file path=ppt/slides/slide13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60120" y="685800"/>
            <a:ext cx="13716000" cy="411480"/>
            <a:chOff x="0" y="0"/>
            <a:chExt cx="18288000" cy="548640"/>
          </a:xfrm>
        </p:grpSpPr>
        <p:sp>
          <p:nvSpPr>
            <p:cNvPr name="Freeform 3" id="3"/>
            <p:cNvSpPr/>
            <p:nvPr/>
          </p:nvSpPr>
          <p:spPr>
            <a:xfrm flipH="false" flipV="false" rot="0">
              <a:off x="0" y="0"/>
              <a:ext cx="18288000" cy="548640"/>
            </a:xfrm>
            <a:custGeom>
              <a:avLst/>
              <a:gdLst/>
              <a:ahLst/>
              <a:cxnLst/>
              <a:rect r="r" b="b" t="t" l="l"/>
              <a:pathLst>
                <a:path h="548640" w="18288000">
                  <a:moveTo>
                    <a:pt x="0" y="0"/>
                  </a:moveTo>
                  <a:lnTo>
                    <a:pt x="18288000" y="0"/>
                  </a:lnTo>
                  <a:lnTo>
                    <a:pt x="18288000" y="548640"/>
                  </a:lnTo>
                  <a:lnTo>
                    <a:pt x="0" y="548640"/>
                  </a:lnTo>
                  <a:close/>
                </a:path>
              </a:pathLst>
            </a:custGeom>
            <a:blipFill>
              <a:blip r:embed="rId2">
                <a:alphaModFix amt="0"/>
              </a:blip>
              <a:stretch>
                <a:fillRect l="0" t="-599501" r="0" b="-599501"/>
              </a:stretch>
            </a:blipFill>
          </p:spPr>
        </p:sp>
        <p:sp>
          <p:nvSpPr>
            <p:cNvPr name="TextBox 4" id="4"/>
            <p:cNvSpPr txBox="true"/>
            <p:nvPr/>
          </p:nvSpPr>
          <p:spPr>
            <a:xfrm>
              <a:off x="0" y="-38100"/>
              <a:ext cx="18288000" cy="586740"/>
            </a:xfrm>
            <a:prstGeom prst="rect">
              <a:avLst/>
            </a:prstGeom>
          </p:spPr>
          <p:txBody>
            <a:bodyPr anchor="ctr" rtlCol="false" tIns="0" lIns="0" bIns="0" rIns="0"/>
            <a:lstStyle/>
            <a:p>
              <a:pPr algn="l">
                <a:lnSpc>
                  <a:spcPts val="2160"/>
                </a:lnSpc>
              </a:pPr>
              <a:r>
                <a:rPr lang="en-US" b="true" sz="1800" spc="225">
                  <a:solidFill>
                    <a:srgbClr val="00B4D8"/>
                  </a:solidFill>
                  <a:latin typeface="Calibri (MS) Bold"/>
                  <a:ea typeface="Calibri (MS) Bold"/>
                  <a:cs typeface="Calibri (MS) Bold"/>
                  <a:sym typeface="Calibri (MS) Bold"/>
                </a:rPr>
                <a:t>PH CYBER LAW SORT · SCENARIO</a:t>
              </a:r>
            </a:p>
          </p:txBody>
        </p:sp>
      </p:grpSp>
      <p:grpSp>
        <p:nvGrpSpPr>
          <p:cNvPr name="Group 5" id="5"/>
          <p:cNvGrpSpPr/>
          <p:nvPr/>
        </p:nvGrpSpPr>
        <p:grpSpPr>
          <a:xfrm rot="0">
            <a:off x="960120" y="1069848"/>
            <a:ext cx="10972800" cy="822960"/>
            <a:chOff x="0" y="0"/>
            <a:chExt cx="14630400" cy="1097280"/>
          </a:xfrm>
        </p:grpSpPr>
        <p:sp>
          <p:nvSpPr>
            <p:cNvPr name="Freeform 6" id="6"/>
            <p:cNvSpPr/>
            <p:nvPr/>
          </p:nvSpPr>
          <p:spPr>
            <a:xfrm flipH="false" flipV="false" rot="0">
              <a:off x="0" y="0"/>
              <a:ext cx="14630400" cy="1097280"/>
            </a:xfrm>
            <a:custGeom>
              <a:avLst/>
              <a:gdLst/>
              <a:ahLst/>
              <a:cxnLst/>
              <a:rect r="r" b="b" t="t" l="l"/>
              <a:pathLst>
                <a:path h="1097280" w="14630400">
                  <a:moveTo>
                    <a:pt x="0" y="0"/>
                  </a:moveTo>
                  <a:lnTo>
                    <a:pt x="14630400" y="0"/>
                  </a:lnTo>
                  <a:lnTo>
                    <a:pt x="14630400" y="1097280"/>
                  </a:lnTo>
                  <a:lnTo>
                    <a:pt x="0" y="1097280"/>
                  </a:lnTo>
                  <a:close/>
                </a:path>
              </a:pathLst>
            </a:custGeom>
            <a:blipFill>
              <a:blip r:embed="rId2">
                <a:alphaModFix amt="0"/>
              </a:blip>
              <a:stretch>
                <a:fillRect l="0" t="-209800" r="0" b="-209800"/>
              </a:stretch>
            </a:blipFill>
          </p:spPr>
        </p:sp>
        <p:sp>
          <p:nvSpPr>
            <p:cNvPr name="TextBox 7" id="7"/>
            <p:cNvSpPr txBox="true"/>
            <p:nvPr/>
          </p:nvSpPr>
          <p:spPr>
            <a:xfrm>
              <a:off x="0" y="0"/>
              <a:ext cx="14630400" cy="1097280"/>
            </a:xfrm>
            <a:prstGeom prst="rect">
              <a:avLst/>
            </a:prstGeom>
          </p:spPr>
          <p:txBody>
            <a:bodyPr anchor="ctr" rtlCol="false" tIns="0" lIns="0" bIns="0" rIns="0"/>
            <a:lstStyle/>
            <a:p>
              <a:pPr algn="l">
                <a:lnSpc>
                  <a:spcPts val="4680"/>
                </a:lnSpc>
              </a:pPr>
              <a:r>
                <a:rPr lang="en-US" sz="3900" b="true">
                  <a:solidFill>
                    <a:srgbClr val="1E2761"/>
                  </a:solidFill>
                  <a:latin typeface="Cambria Bold"/>
                  <a:ea typeface="Cambria Bold"/>
                  <a:cs typeface="Cambria Bold"/>
                  <a:sym typeface="Cambria Bold"/>
                </a:rPr>
                <a:t>Scenario 3</a:t>
              </a:r>
            </a:p>
          </p:txBody>
        </p:sp>
      </p:grpSp>
      <p:grpSp>
        <p:nvGrpSpPr>
          <p:cNvPr name="Group 8" id="8"/>
          <p:cNvGrpSpPr/>
          <p:nvPr/>
        </p:nvGrpSpPr>
        <p:grpSpPr>
          <a:xfrm rot="0">
            <a:off x="960120" y="1810512"/>
            <a:ext cx="8229600" cy="411480"/>
            <a:chOff x="0" y="0"/>
            <a:chExt cx="10972800" cy="548640"/>
          </a:xfrm>
        </p:grpSpPr>
        <p:sp>
          <p:nvSpPr>
            <p:cNvPr name="Freeform 9" id="9"/>
            <p:cNvSpPr/>
            <p:nvPr/>
          </p:nvSpPr>
          <p:spPr>
            <a:xfrm flipH="false" flipV="false" rot="0">
              <a:off x="0" y="0"/>
              <a:ext cx="10972800" cy="548640"/>
            </a:xfrm>
            <a:custGeom>
              <a:avLst/>
              <a:gdLst/>
              <a:ahLst/>
              <a:cxnLst/>
              <a:rect r="r" b="b" t="t" l="l"/>
              <a:pathLst>
                <a:path h="548640" w="10972800">
                  <a:moveTo>
                    <a:pt x="0" y="0"/>
                  </a:moveTo>
                  <a:lnTo>
                    <a:pt x="10972800" y="0"/>
                  </a:lnTo>
                  <a:lnTo>
                    <a:pt x="10972800" y="548640"/>
                  </a:lnTo>
                  <a:lnTo>
                    <a:pt x="0" y="548640"/>
                  </a:lnTo>
                  <a:close/>
                </a:path>
              </a:pathLst>
            </a:custGeom>
            <a:blipFill>
              <a:blip r:embed="rId2">
                <a:alphaModFix amt="0"/>
              </a:blip>
              <a:stretch>
                <a:fillRect l="0" t="-339700" r="0" b="-339700"/>
              </a:stretch>
            </a:blipFill>
          </p:spPr>
        </p:sp>
        <p:sp>
          <p:nvSpPr>
            <p:cNvPr name="TextBox 10" id="10"/>
            <p:cNvSpPr txBox="true"/>
            <p:nvPr/>
          </p:nvSpPr>
          <p:spPr>
            <a:xfrm>
              <a:off x="0" y="-28575"/>
              <a:ext cx="10972800" cy="577215"/>
            </a:xfrm>
            <a:prstGeom prst="rect">
              <a:avLst/>
            </a:prstGeom>
          </p:spPr>
          <p:txBody>
            <a:bodyPr anchor="ctr" rtlCol="false" tIns="0" lIns="0" bIns="0" rIns="0"/>
            <a:lstStyle/>
            <a:p>
              <a:pPr algn="l">
                <a:lnSpc>
                  <a:spcPts val="1980"/>
                </a:lnSpc>
              </a:pPr>
              <a:r>
                <a:rPr lang="en-US" sz="1650">
                  <a:solidFill>
                    <a:srgbClr val="6B7280"/>
                  </a:solidFill>
                  <a:latin typeface="Calibri (MS)"/>
                  <a:ea typeface="Calibri (MS)"/>
                  <a:cs typeface="Calibri (MS)"/>
                  <a:sym typeface="Calibri (MS)"/>
                </a:rPr>
                <a:t>3 of 15</a:t>
              </a:r>
            </a:p>
          </p:txBody>
        </p:sp>
      </p:grpSp>
      <p:grpSp>
        <p:nvGrpSpPr>
          <p:cNvPr name="Group 11" id="11"/>
          <p:cNvGrpSpPr/>
          <p:nvPr/>
        </p:nvGrpSpPr>
        <p:grpSpPr>
          <a:xfrm rot="0">
            <a:off x="960120" y="2537460"/>
            <a:ext cx="16322040" cy="2811780"/>
            <a:chOff x="0" y="0"/>
            <a:chExt cx="21762720" cy="3749040"/>
          </a:xfrm>
        </p:grpSpPr>
        <p:sp>
          <p:nvSpPr>
            <p:cNvPr name="Freeform 12" id="12"/>
            <p:cNvSpPr/>
            <p:nvPr/>
          </p:nvSpPr>
          <p:spPr>
            <a:xfrm flipH="false" flipV="false" rot="0">
              <a:off x="0" y="0"/>
              <a:ext cx="21762720" cy="3749040"/>
            </a:xfrm>
            <a:custGeom>
              <a:avLst/>
              <a:gdLst/>
              <a:ahLst/>
              <a:cxnLst/>
              <a:rect r="r" b="b" t="t" l="l"/>
              <a:pathLst>
                <a:path h="3749040" w="21762720">
                  <a:moveTo>
                    <a:pt x="0" y="182880"/>
                  </a:moveTo>
                  <a:cubicBezTo>
                    <a:pt x="0" y="81915"/>
                    <a:pt x="81915" y="0"/>
                    <a:pt x="182880" y="0"/>
                  </a:cubicBezTo>
                  <a:lnTo>
                    <a:pt x="21579839" y="0"/>
                  </a:lnTo>
                  <a:cubicBezTo>
                    <a:pt x="21680804" y="0"/>
                    <a:pt x="21762720" y="81915"/>
                    <a:pt x="21762720" y="182880"/>
                  </a:cubicBezTo>
                  <a:lnTo>
                    <a:pt x="21762720" y="3566160"/>
                  </a:lnTo>
                  <a:cubicBezTo>
                    <a:pt x="21762720" y="3667125"/>
                    <a:pt x="21680804" y="3749040"/>
                    <a:pt x="21579839" y="3749040"/>
                  </a:cubicBezTo>
                  <a:lnTo>
                    <a:pt x="182880" y="3749040"/>
                  </a:lnTo>
                  <a:cubicBezTo>
                    <a:pt x="81915" y="3749040"/>
                    <a:pt x="0" y="3667125"/>
                    <a:pt x="0" y="3566160"/>
                  </a:cubicBezTo>
                  <a:close/>
                </a:path>
              </a:pathLst>
            </a:custGeom>
            <a:solidFill>
              <a:srgbClr val="F4F7FC"/>
            </a:solidFill>
          </p:spPr>
        </p:sp>
      </p:grpSp>
      <p:grpSp>
        <p:nvGrpSpPr>
          <p:cNvPr name="Group 13" id="13"/>
          <p:cNvGrpSpPr/>
          <p:nvPr/>
        </p:nvGrpSpPr>
        <p:grpSpPr>
          <a:xfrm rot="0">
            <a:off x="1440180" y="2811780"/>
            <a:ext cx="15361920" cy="2263140"/>
            <a:chOff x="0" y="0"/>
            <a:chExt cx="20482560" cy="3017520"/>
          </a:xfrm>
        </p:grpSpPr>
        <p:sp>
          <p:nvSpPr>
            <p:cNvPr name="Freeform 14" id="14"/>
            <p:cNvSpPr/>
            <p:nvPr/>
          </p:nvSpPr>
          <p:spPr>
            <a:xfrm flipH="false" flipV="false" rot="0">
              <a:off x="0" y="0"/>
              <a:ext cx="20482561" cy="3017520"/>
            </a:xfrm>
            <a:custGeom>
              <a:avLst/>
              <a:gdLst/>
              <a:ahLst/>
              <a:cxnLst/>
              <a:rect r="r" b="b" t="t" l="l"/>
              <a:pathLst>
                <a:path h="3017520" w="20482561">
                  <a:moveTo>
                    <a:pt x="0" y="0"/>
                  </a:moveTo>
                  <a:lnTo>
                    <a:pt x="20482561" y="0"/>
                  </a:lnTo>
                  <a:lnTo>
                    <a:pt x="20482561" y="3017520"/>
                  </a:lnTo>
                  <a:lnTo>
                    <a:pt x="0" y="3017520"/>
                  </a:lnTo>
                  <a:close/>
                </a:path>
              </a:pathLst>
            </a:custGeom>
            <a:blipFill>
              <a:blip r:embed="rId2">
                <a:alphaModFix amt="0"/>
              </a:blip>
              <a:stretch>
                <a:fillRect l="0" t="-82262" r="0" b="-82262"/>
              </a:stretch>
            </a:blipFill>
          </p:spPr>
        </p:sp>
        <p:sp>
          <p:nvSpPr>
            <p:cNvPr name="TextBox 15" id="15"/>
            <p:cNvSpPr txBox="true"/>
            <p:nvPr/>
          </p:nvSpPr>
          <p:spPr>
            <a:xfrm>
              <a:off x="0" y="-104775"/>
              <a:ext cx="20482560" cy="3122295"/>
            </a:xfrm>
            <a:prstGeom prst="rect">
              <a:avLst/>
            </a:prstGeom>
          </p:spPr>
          <p:txBody>
            <a:bodyPr anchor="ctr" rtlCol="false" tIns="0" lIns="0" bIns="0" rIns="0"/>
            <a:lstStyle/>
            <a:p>
              <a:pPr algn="l">
                <a:lnSpc>
                  <a:spcPts val="4147"/>
                </a:lnSpc>
              </a:pPr>
              <a:r>
                <a:rPr lang="en-US" sz="2700" i="true">
                  <a:solidFill>
                    <a:srgbClr val="23262F"/>
                  </a:solidFill>
                  <a:latin typeface="Cambria Italics"/>
                  <a:ea typeface="Cambria Italics"/>
                  <a:cs typeface="Cambria Italics"/>
                  <a:sym typeface="Cambria Italics"/>
                </a:rPr>
                <a:t>"An employee argues an emailed approval for a purchase order doesn't count as an official record because nothing was printed and signed."</a:t>
              </a:r>
            </a:p>
          </p:txBody>
        </p:sp>
      </p:grpSp>
      <p:sp>
        <p:nvSpPr>
          <p:cNvPr name="TextBox 16" id="16"/>
          <p:cNvSpPr txBox="true"/>
          <p:nvPr/>
        </p:nvSpPr>
        <p:spPr>
          <a:xfrm rot="0">
            <a:off x="1051560" y="5604510"/>
            <a:ext cx="16139160" cy="864870"/>
          </a:xfrm>
          <a:prstGeom prst="rect">
            <a:avLst/>
          </a:prstGeom>
        </p:spPr>
        <p:txBody>
          <a:bodyPr anchor="t" rtlCol="false" tIns="0" lIns="0" bIns="0" rIns="0">
            <a:spAutoFit/>
          </a:bodyPr>
          <a:lstStyle/>
          <a:p>
            <a:pPr algn="ctr">
              <a:lnSpc>
                <a:spcPts val="3402"/>
              </a:lnSpc>
            </a:pPr>
            <a:r>
              <a:rPr lang="en-US" sz="2100" i="true">
                <a:solidFill>
                  <a:srgbClr val="6B7280"/>
                </a:solidFill>
                <a:latin typeface="Calibri (MS) Italics"/>
                <a:ea typeface="Calibri (MS) Italics"/>
                <a:cs typeface="Calibri (MS) Italics"/>
                <a:sym typeface="Calibri (MS) Italics"/>
              </a:rPr>
              <a:t>Which law or DICT issuance governs this? Discuss, then we'll reveal the answer.</a:t>
            </a:r>
          </a:p>
        </p:txBody>
      </p:sp>
      <p:grpSp>
        <p:nvGrpSpPr>
          <p:cNvPr name="Group 17" id="17"/>
          <p:cNvGrpSpPr/>
          <p:nvPr/>
        </p:nvGrpSpPr>
        <p:grpSpPr>
          <a:xfrm rot="0">
            <a:off x="950595" y="6779895"/>
            <a:ext cx="5162550" cy="910590"/>
            <a:chOff x="0" y="0"/>
            <a:chExt cx="6883400" cy="1214120"/>
          </a:xfrm>
        </p:grpSpPr>
        <p:sp>
          <p:nvSpPr>
            <p:cNvPr name="Freeform 18" id="18"/>
            <p:cNvSpPr/>
            <p:nvPr/>
          </p:nvSpPr>
          <p:spPr>
            <a:xfrm flipH="false" flipV="false" rot="0">
              <a:off x="0" y="0"/>
              <a:ext cx="6883400" cy="1214120"/>
            </a:xfrm>
            <a:custGeom>
              <a:avLst/>
              <a:gdLst/>
              <a:ahLst/>
              <a:cxnLst/>
              <a:rect r="r" b="b" t="t" l="l"/>
              <a:pathLst>
                <a:path h="1214120" w="6883400">
                  <a:moveTo>
                    <a:pt x="0" y="168148"/>
                  </a:moveTo>
                  <a:cubicBezTo>
                    <a:pt x="0" y="75311"/>
                    <a:pt x="75311" y="0"/>
                    <a:pt x="168148" y="0"/>
                  </a:cubicBezTo>
                  <a:lnTo>
                    <a:pt x="6715252" y="0"/>
                  </a:lnTo>
                  <a:cubicBezTo>
                    <a:pt x="6808089" y="0"/>
                    <a:pt x="6883400" y="75311"/>
                    <a:pt x="6883400" y="168148"/>
                  </a:cubicBezTo>
                  <a:lnTo>
                    <a:pt x="6883400" y="1045972"/>
                  </a:lnTo>
                  <a:cubicBezTo>
                    <a:pt x="6883400" y="1138809"/>
                    <a:pt x="6808089" y="1214120"/>
                    <a:pt x="6715252" y="1214120"/>
                  </a:cubicBezTo>
                  <a:lnTo>
                    <a:pt x="168148" y="1214120"/>
                  </a:lnTo>
                  <a:cubicBezTo>
                    <a:pt x="75311" y="1214120"/>
                    <a:pt x="0" y="1138809"/>
                    <a:pt x="0" y="1045972"/>
                  </a:cubicBezTo>
                  <a:close/>
                </a:path>
              </a:pathLst>
            </a:custGeom>
            <a:solidFill>
              <a:srgbClr val="F4F7FC"/>
            </a:solidFill>
            <a:ln w="19050" cap="sq">
              <a:solidFill>
                <a:srgbClr val="D7DCEC"/>
              </a:solidFill>
              <a:prstDash val="solid"/>
              <a:miter/>
            </a:ln>
          </p:spPr>
        </p:sp>
      </p:grpSp>
      <p:grpSp>
        <p:nvGrpSpPr>
          <p:cNvPr name="Group 19" id="19"/>
          <p:cNvGrpSpPr/>
          <p:nvPr/>
        </p:nvGrpSpPr>
        <p:grpSpPr>
          <a:xfrm rot="0">
            <a:off x="960120" y="6858000"/>
            <a:ext cx="5143500" cy="589788"/>
            <a:chOff x="0" y="0"/>
            <a:chExt cx="6858000" cy="786384"/>
          </a:xfrm>
        </p:grpSpPr>
        <p:sp>
          <p:nvSpPr>
            <p:cNvPr name="Freeform 20" id="20"/>
            <p:cNvSpPr/>
            <p:nvPr/>
          </p:nvSpPr>
          <p:spPr>
            <a:xfrm flipH="false" flipV="false" rot="0">
              <a:off x="0" y="0"/>
              <a:ext cx="6858000" cy="786384"/>
            </a:xfrm>
            <a:custGeom>
              <a:avLst/>
              <a:gdLst/>
              <a:ahLst/>
              <a:cxnLst/>
              <a:rect r="r" b="b" t="t" l="l"/>
              <a:pathLst>
                <a:path h="786384" w="6858000">
                  <a:moveTo>
                    <a:pt x="0" y="0"/>
                  </a:moveTo>
                  <a:lnTo>
                    <a:pt x="6858000" y="0"/>
                  </a:lnTo>
                  <a:lnTo>
                    <a:pt x="6858000" y="786384"/>
                  </a:lnTo>
                  <a:lnTo>
                    <a:pt x="0" y="786384"/>
                  </a:lnTo>
                  <a:close/>
                </a:path>
              </a:pathLst>
            </a:custGeom>
            <a:blipFill>
              <a:blip r:embed="rId2">
                <a:alphaModFix amt="0"/>
              </a:blip>
              <a:stretch>
                <a:fillRect l="0" t="-119927" r="0" b="-119927"/>
              </a:stretch>
            </a:blipFill>
          </p:spPr>
        </p:sp>
        <p:sp>
          <p:nvSpPr>
            <p:cNvPr name="TextBox 21" id="21"/>
            <p:cNvSpPr txBox="true"/>
            <p:nvPr/>
          </p:nvSpPr>
          <p:spPr>
            <a:xfrm>
              <a:off x="0" y="-38100"/>
              <a:ext cx="6858000" cy="824484"/>
            </a:xfrm>
            <a:prstGeom prst="rect">
              <a:avLst/>
            </a:prstGeom>
          </p:spPr>
          <p:txBody>
            <a:bodyPr anchor="ctr" rtlCol="false" tIns="0" lIns="0" bIns="0" rIns="0"/>
            <a:lstStyle/>
            <a:p>
              <a:pPr algn="ctr">
                <a:lnSpc>
                  <a:spcPts val="2250"/>
                </a:lnSpc>
              </a:pPr>
              <a:r>
                <a:rPr lang="en-US" sz="1875">
                  <a:solidFill>
                    <a:srgbClr val="6B7280"/>
                  </a:solidFill>
                  <a:latin typeface="Calibri (MS)"/>
                  <a:ea typeface="Calibri (MS)"/>
                  <a:cs typeface="Calibri (MS)"/>
                  <a:sym typeface="Calibri (MS)"/>
                </a:rPr>
                <a:t>E-Commerce Act</a:t>
              </a:r>
            </a:p>
          </p:txBody>
        </p:sp>
      </p:grpSp>
      <p:grpSp>
        <p:nvGrpSpPr>
          <p:cNvPr name="Group 22" id="22"/>
          <p:cNvGrpSpPr/>
          <p:nvPr/>
        </p:nvGrpSpPr>
        <p:grpSpPr>
          <a:xfrm rot="0">
            <a:off x="960120" y="7296912"/>
            <a:ext cx="5143500" cy="329184"/>
            <a:chOff x="0" y="0"/>
            <a:chExt cx="6858000" cy="438912"/>
          </a:xfrm>
        </p:grpSpPr>
        <p:sp>
          <p:nvSpPr>
            <p:cNvPr name="Freeform 23" id="23"/>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24" id="24"/>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9AA3B8"/>
                  </a:solidFill>
                  <a:latin typeface="Arimo"/>
                  <a:ea typeface="Arimo"/>
                  <a:cs typeface="Arimo"/>
                  <a:sym typeface="Arimo"/>
                </a:rPr>
                <a:t>ECA</a:t>
              </a:r>
            </a:p>
          </p:txBody>
        </p:sp>
      </p:grpSp>
      <p:grpSp>
        <p:nvGrpSpPr>
          <p:cNvPr name="Group 25" id="25"/>
          <p:cNvGrpSpPr/>
          <p:nvPr/>
        </p:nvGrpSpPr>
        <p:grpSpPr>
          <a:xfrm rot="0">
            <a:off x="6533007" y="6779895"/>
            <a:ext cx="5162550" cy="910590"/>
            <a:chOff x="0" y="0"/>
            <a:chExt cx="6883400" cy="1214120"/>
          </a:xfrm>
        </p:grpSpPr>
        <p:sp>
          <p:nvSpPr>
            <p:cNvPr name="Freeform 26" id="26"/>
            <p:cNvSpPr/>
            <p:nvPr/>
          </p:nvSpPr>
          <p:spPr>
            <a:xfrm flipH="false" flipV="false" rot="0">
              <a:off x="0" y="0"/>
              <a:ext cx="6883400" cy="1214120"/>
            </a:xfrm>
            <a:custGeom>
              <a:avLst/>
              <a:gdLst/>
              <a:ahLst/>
              <a:cxnLst/>
              <a:rect r="r" b="b" t="t" l="l"/>
              <a:pathLst>
                <a:path h="1214120" w="6883400">
                  <a:moveTo>
                    <a:pt x="0" y="168148"/>
                  </a:moveTo>
                  <a:cubicBezTo>
                    <a:pt x="0" y="75311"/>
                    <a:pt x="75311" y="0"/>
                    <a:pt x="168148" y="0"/>
                  </a:cubicBezTo>
                  <a:lnTo>
                    <a:pt x="6715252" y="0"/>
                  </a:lnTo>
                  <a:cubicBezTo>
                    <a:pt x="6808089" y="0"/>
                    <a:pt x="6883400" y="75311"/>
                    <a:pt x="6883400" y="168148"/>
                  </a:cubicBezTo>
                  <a:lnTo>
                    <a:pt x="6883400" y="1045972"/>
                  </a:lnTo>
                  <a:cubicBezTo>
                    <a:pt x="6883400" y="1138809"/>
                    <a:pt x="6808089" y="1214120"/>
                    <a:pt x="6715252" y="1214120"/>
                  </a:cubicBezTo>
                  <a:lnTo>
                    <a:pt x="168148" y="1214120"/>
                  </a:lnTo>
                  <a:cubicBezTo>
                    <a:pt x="75311" y="1214120"/>
                    <a:pt x="0" y="1138809"/>
                    <a:pt x="0" y="1045972"/>
                  </a:cubicBezTo>
                  <a:close/>
                </a:path>
              </a:pathLst>
            </a:custGeom>
            <a:solidFill>
              <a:srgbClr val="F4F7FC"/>
            </a:solidFill>
            <a:ln w="19050" cap="sq">
              <a:solidFill>
                <a:srgbClr val="D7DCEC"/>
              </a:solidFill>
              <a:prstDash val="solid"/>
              <a:miter/>
            </a:ln>
          </p:spPr>
        </p:sp>
      </p:grpSp>
      <p:grpSp>
        <p:nvGrpSpPr>
          <p:cNvPr name="Group 27" id="27"/>
          <p:cNvGrpSpPr/>
          <p:nvPr/>
        </p:nvGrpSpPr>
        <p:grpSpPr>
          <a:xfrm rot="0">
            <a:off x="6542532" y="6858000"/>
            <a:ext cx="5143500" cy="589788"/>
            <a:chOff x="0" y="0"/>
            <a:chExt cx="6858000" cy="786384"/>
          </a:xfrm>
        </p:grpSpPr>
        <p:sp>
          <p:nvSpPr>
            <p:cNvPr name="Freeform 28" id="28"/>
            <p:cNvSpPr/>
            <p:nvPr/>
          </p:nvSpPr>
          <p:spPr>
            <a:xfrm flipH="false" flipV="false" rot="0">
              <a:off x="0" y="0"/>
              <a:ext cx="6858000" cy="786384"/>
            </a:xfrm>
            <a:custGeom>
              <a:avLst/>
              <a:gdLst/>
              <a:ahLst/>
              <a:cxnLst/>
              <a:rect r="r" b="b" t="t" l="l"/>
              <a:pathLst>
                <a:path h="786384" w="6858000">
                  <a:moveTo>
                    <a:pt x="0" y="0"/>
                  </a:moveTo>
                  <a:lnTo>
                    <a:pt x="6858000" y="0"/>
                  </a:lnTo>
                  <a:lnTo>
                    <a:pt x="6858000" y="786384"/>
                  </a:lnTo>
                  <a:lnTo>
                    <a:pt x="0" y="786384"/>
                  </a:lnTo>
                  <a:close/>
                </a:path>
              </a:pathLst>
            </a:custGeom>
            <a:blipFill>
              <a:blip r:embed="rId2">
                <a:alphaModFix amt="0"/>
              </a:blip>
              <a:stretch>
                <a:fillRect l="0" t="-119927" r="0" b="-119927"/>
              </a:stretch>
            </a:blipFill>
          </p:spPr>
        </p:sp>
        <p:sp>
          <p:nvSpPr>
            <p:cNvPr name="TextBox 29" id="29"/>
            <p:cNvSpPr txBox="true"/>
            <p:nvPr/>
          </p:nvSpPr>
          <p:spPr>
            <a:xfrm>
              <a:off x="0" y="-38100"/>
              <a:ext cx="6858000" cy="824484"/>
            </a:xfrm>
            <a:prstGeom prst="rect">
              <a:avLst/>
            </a:prstGeom>
          </p:spPr>
          <p:txBody>
            <a:bodyPr anchor="ctr" rtlCol="false" tIns="0" lIns="0" bIns="0" rIns="0"/>
            <a:lstStyle/>
            <a:p>
              <a:pPr algn="ctr">
                <a:lnSpc>
                  <a:spcPts val="2250"/>
                </a:lnSpc>
              </a:pPr>
              <a:r>
                <a:rPr lang="en-US" sz="1875">
                  <a:solidFill>
                    <a:srgbClr val="6B7280"/>
                  </a:solidFill>
                  <a:latin typeface="Calibri (MS)"/>
                  <a:ea typeface="Calibri (MS)"/>
                  <a:cs typeface="Calibri (MS)"/>
                  <a:sym typeface="Calibri (MS)"/>
                </a:rPr>
                <a:t>Cybercrime Act</a:t>
              </a:r>
            </a:p>
          </p:txBody>
        </p:sp>
      </p:grpSp>
      <p:grpSp>
        <p:nvGrpSpPr>
          <p:cNvPr name="Group 30" id="30"/>
          <p:cNvGrpSpPr/>
          <p:nvPr/>
        </p:nvGrpSpPr>
        <p:grpSpPr>
          <a:xfrm rot="0">
            <a:off x="6542532" y="7296912"/>
            <a:ext cx="5143500" cy="329184"/>
            <a:chOff x="0" y="0"/>
            <a:chExt cx="6858000" cy="438912"/>
          </a:xfrm>
        </p:grpSpPr>
        <p:sp>
          <p:nvSpPr>
            <p:cNvPr name="Freeform 31" id="31"/>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32" id="32"/>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9AA3B8"/>
                  </a:solidFill>
                  <a:latin typeface="Arimo"/>
                  <a:ea typeface="Arimo"/>
                  <a:cs typeface="Arimo"/>
                  <a:sym typeface="Arimo"/>
                </a:rPr>
                <a:t>CPA</a:t>
              </a:r>
            </a:p>
          </p:txBody>
        </p:sp>
      </p:grpSp>
      <p:grpSp>
        <p:nvGrpSpPr>
          <p:cNvPr name="Group 33" id="33"/>
          <p:cNvGrpSpPr/>
          <p:nvPr/>
        </p:nvGrpSpPr>
        <p:grpSpPr>
          <a:xfrm rot="0">
            <a:off x="950595" y="7945755"/>
            <a:ext cx="5162550" cy="910590"/>
            <a:chOff x="0" y="0"/>
            <a:chExt cx="6883400" cy="1214120"/>
          </a:xfrm>
        </p:grpSpPr>
        <p:sp>
          <p:nvSpPr>
            <p:cNvPr name="Freeform 34" id="34"/>
            <p:cNvSpPr/>
            <p:nvPr/>
          </p:nvSpPr>
          <p:spPr>
            <a:xfrm flipH="false" flipV="false" rot="0">
              <a:off x="0" y="0"/>
              <a:ext cx="6883400" cy="1214120"/>
            </a:xfrm>
            <a:custGeom>
              <a:avLst/>
              <a:gdLst/>
              <a:ahLst/>
              <a:cxnLst/>
              <a:rect r="r" b="b" t="t" l="l"/>
              <a:pathLst>
                <a:path h="1214120" w="6883400">
                  <a:moveTo>
                    <a:pt x="0" y="168148"/>
                  </a:moveTo>
                  <a:cubicBezTo>
                    <a:pt x="0" y="75311"/>
                    <a:pt x="75311" y="0"/>
                    <a:pt x="168148" y="0"/>
                  </a:cubicBezTo>
                  <a:lnTo>
                    <a:pt x="6715252" y="0"/>
                  </a:lnTo>
                  <a:cubicBezTo>
                    <a:pt x="6808089" y="0"/>
                    <a:pt x="6883400" y="75311"/>
                    <a:pt x="6883400" y="168148"/>
                  </a:cubicBezTo>
                  <a:lnTo>
                    <a:pt x="6883400" y="1045972"/>
                  </a:lnTo>
                  <a:cubicBezTo>
                    <a:pt x="6883400" y="1138809"/>
                    <a:pt x="6808089" y="1214120"/>
                    <a:pt x="6715252" y="1214120"/>
                  </a:cubicBezTo>
                  <a:lnTo>
                    <a:pt x="168148" y="1214120"/>
                  </a:lnTo>
                  <a:cubicBezTo>
                    <a:pt x="75311" y="1214120"/>
                    <a:pt x="0" y="1138809"/>
                    <a:pt x="0" y="1045972"/>
                  </a:cubicBezTo>
                  <a:close/>
                </a:path>
              </a:pathLst>
            </a:custGeom>
            <a:solidFill>
              <a:srgbClr val="F4F7FC"/>
            </a:solidFill>
            <a:ln w="19050" cap="sq">
              <a:solidFill>
                <a:srgbClr val="D7DCEC"/>
              </a:solidFill>
              <a:prstDash val="solid"/>
              <a:miter/>
            </a:ln>
          </p:spPr>
        </p:sp>
      </p:grpSp>
      <p:grpSp>
        <p:nvGrpSpPr>
          <p:cNvPr name="Group 35" id="35"/>
          <p:cNvGrpSpPr/>
          <p:nvPr/>
        </p:nvGrpSpPr>
        <p:grpSpPr>
          <a:xfrm rot="0">
            <a:off x="960120" y="8023860"/>
            <a:ext cx="5143500" cy="589788"/>
            <a:chOff x="0" y="0"/>
            <a:chExt cx="6858000" cy="786384"/>
          </a:xfrm>
        </p:grpSpPr>
        <p:sp>
          <p:nvSpPr>
            <p:cNvPr name="Freeform 36" id="36"/>
            <p:cNvSpPr/>
            <p:nvPr/>
          </p:nvSpPr>
          <p:spPr>
            <a:xfrm flipH="false" flipV="false" rot="0">
              <a:off x="0" y="0"/>
              <a:ext cx="6858000" cy="786384"/>
            </a:xfrm>
            <a:custGeom>
              <a:avLst/>
              <a:gdLst/>
              <a:ahLst/>
              <a:cxnLst/>
              <a:rect r="r" b="b" t="t" l="l"/>
              <a:pathLst>
                <a:path h="786384" w="6858000">
                  <a:moveTo>
                    <a:pt x="0" y="0"/>
                  </a:moveTo>
                  <a:lnTo>
                    <a:pt x="6858000" y="0"/>
                  </a:lnTo>
                  <a:lnTo>
                    <a:pt x="6858000" y="786384"/>
                  </a:lnTo>
                  <a:lnTo>
                    <a:pt x="0" y="786384"/>
                  </a:lnTo>
                  <a:close/>
                </a:path>
              </a:pathLst>
            </a:custGeom>
            <a:blipFill>
              <a:blip r:embed="rId2">
                <a:alphaModFix amt="0"/>
              </a:blip>
              <a:stretch>
                <a:fillRect l="0" t="-119927" r="0" b="-119927"/>
              </a:stretch>
            </a:blipFill>
          </p:spPr>
        </p:sp>
        <p:sp>
          <p:nvSpPr>
            <p:cNvPr name="TextBox 37" id="37"/>
            <p:cNvSpPr txBox="true"/>
            <p:nvPr/>
          </p:nvSpPr>
          <p:spPr>
            <a:xfrm>
              <a:off x="0" y="-38100"/>
              <a:ext cx="6858000" cy="824484"/>
            </a:xfrm>
            <a:prstGeom prst="rect">
              <a:avLst/>
            </a:prstGeom>
          </p:spPr>
          <p:txBody>
            <a:bodyPr anchor="ctr" rtlCol="false" tIns="0" lIns="0" bIns="0" rIns="0"/>
            <a:lstStyle/>
            <a:p>
              <a:pPr algn="ctr">
                <a:lnSpc>
                  <a:spcPts val="2250"/>
                </a:lnSpc>
              </a:pPr>
              <a:r>
                <a:rPr lang="en-US" sz="1875">
                  <a:solidFill>
                    <a:srgbClr val="6B7280"/>
                  </a:solidFill>
                  <a:latin typeface="Calibri (MS)"/>
                  <a:ea typeface="Calibri (MS)"/>
                  <a:cs typeface="Calibri (MS)"/>
                  <a:sym typeface="Calibri (MS)"/>
                </a:rPr>
                <a:t>Data Privacy Act</a:t>
              </a:r>
            </a:p>
          </p:txBody>
        </p:sp>
      </p:grpSp>
      <p:grpSp>
        <p:nvGrpSpPr>
          <p:cNvPr name="Group 38" id="38"/>
          <p:cNvGrpSpPr/>
          <p:nvPr/>
        </p:nvGrpSpPr>
        <p:grpSpPr>
          <a:xfrm rot="0">
            <a:off x="960120" y="8462772"/>
            <a:ext cx="5143500" cy="329184"/>
            <a:chOff x="0" y="0"/>
            <a:chExt cx="6858000" cy="438912"/>
          </a:xfrm>
        </p:grpSpPr>
        <p:sp>
          <p:nvSpPr>
            <p:cNvPr name="Freeform 39" id="39"/>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40" id="40"/>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9AA3B8"/>
                  </a:solidFill>
                  <a:latin typeface="Arimo"/>
                  <a:ea typeface="Arimo"/>
                  <a:cs typeface="Arimo"/>
                  <a:sym typeface="Arimo"/>
                </a:rPr>
                <a:t>DPA</a:t>
              </a:r>
            </a:p>
          </p:txBody>
        </p:sp>
      </p:grpSp>
      <p:grpSp>
        <p:nvGrpSpPr>
          <p:cNvPr name="Group 41" id="41"/>
          <p:cNvGrpSpPr/>
          <p:nvPr/>
        </p:nvGrpSpPr>
        <p:grpSpPr>
          <a:xfrm rot="0">
            <a:off x="6533007" y="7945755"/>
            <a:ext cx="5162550" cy="910590"/>
            <a:chOff x="0" y="0"/>
            <a:chExt cx="6883400" cy="1214120"/>
          </a:xfrm>
        </p:grpSpPr>
        <p:sp>
          <p:nvSpPr>
            <p:cNvPr name="Freeform 42" id="42"/>
            <p:cNvSpPr/>
            <p:nvPr/>
          </p:nvSpPr>
          <p:spPr>
            <a:xfrm flipH="false" flipV="false" rot="0">
              <a:off x="0" y="0"/>
              <a:ext cx="6883400" cy="1214120"/>
            </a:xfrm>
            <a:custGeom>
              <a:avLst/>
              <a:gdLst/>
              <a:ahLst/>
              <a:cxnLst/>
              <a:rect r="r" b="b" t="t" l="l"/>
              <a:pathLst>
                <a:path h="1214120" w="6883400">
                  <a:moveTo>
                    <a:pt x="0" y="168148"/>
                  </a:moveTo>
                  <a:cubicBezTo>
                    <a:pt x="0" y="75311"/>
                    <a:pt x="75311" y="0"/>
                    <a:pt x="168148" y="0"/>
                  </a:cubicBezTo>
                  <a:lnTo>
                    <a:pt x="6715252" y="0"/>
                  </a:lnTo>
                  <a:cubicBezTo>
                    <a:pt x="6808089" y="0"/>
                    <a:pt x="6883400" y="75311"/>
                    <a:pt x="6883400" y="168148"/>
                  </a:cubicBezTo>
                  <a:lnTo>
                    <a:pt x="6883400" y="1045972"/>
                  </a:lnTo>
                  <a:cubicBezTo>
                    <a:pt x="6883400" y="1138809"/>
                    <a:pt x="6808089" y="1214120"/>
                    <a:pt x="6715252" y="1214120"/>
                  </a:cubicBezTo>
                  <a:lnTo>
                    <a:pt x="168148" y="1214120"/>
                  </a:lnTo>
                  <a:cubicBezTo>
                    <a:pt x="75311" y="1214120"/>
                    <a:pt x="0" y="1138809"/>
                    <a:pt x="0" y="1045972"/>
                  </a:cubicBezTo>
                  <a:close/>
                </a:path>
              </a:pathLst>
            </a:custGeom>
            <a:solidFill>
              <a:srgbClr val="F4F7FC"/>
            </a:solidFill>
            <a:ln w="19050" cap="sq">
              <a:solidFill>
                <a:srgbClr val="D7DCEC"/>
              </a:solidFill>
              <a:prstDash val="solid"/>
              <a:miter/>
            </a:ln>
          </p:spPr>
        </p:sp>
      </p:grpSp>
      <p:grpSp>
        <p:nvGrpSpPr>
          <p:cNvPr name="Group 43" id="43"/>
          <p:cNvGrpSpPr/>
          <p:nvPr/>
        </p:nvGrpSpPr>
        <p:grpSpPr>
          <a:xfrm rot="0">
            <a:off x="6542532" y="8023860"/>
            <a:ext cx="5143500" cy="589788"/>
            <a:chOff x="0" y="0"/>
            <a:chExt cx="6858000" cy="786384"/>
          </a:xfrm>
        </p:grpSpPr>
        <p:sp>
          <p:nvSpPr>
            <p:cNvPr name="Freeform 44" id="44"/>
            <p:cNvSpPr/>
            <p:nvPr/>
          </p:nvSpPr>
          <p:spPr>
            <a:xfrm flipH="false" flipV="false" rot="0">
              <a:off x="0" y="0"/>
              <a:ext cx="6858000" cy="786384"/>
            </a:xfrm>
            <a:custGeom>
              <a:avLst/>
              <a:gdLst/>
              <a:ahLst/>
              <a:cxnLst/>
              <a:rect r="r" b="b" t="t" l="l"/>
              <a:pathLst>
                <a:path h="786384" w="6858000">
                  <a:moveTo>
                    <a:pt x="0" y="0"/>
                  </a:moveTo>
                  <a:lnTo>
                    <a:pt x="6858000" y="0"/>
                  </a:lnTo>
                  <a:lnTo>
                    <a:pt x="6858000" y="786384"/>
                  </a:lnTo>
                  <a:lnTo>
                    <a:pt x="0" y="786384"/>
                  </a:lnTo>
                  <a:close/>
                </a:path>
              </a:pathLst>
            </a:custGeom>
            <a:blipFill>
              <a:blip r:embed="rId2">
                <a:alphaModFix amt="0"/>
              </a:blip>
              <a:stretch>
                <a:fillRect l="0" t="-119927" r="0" b="-119927"/>
              </a:stretch>
            </a:blipFill>
          </p:spPr>
        </p:sp>
        <p:sp>
          <p:nvSpPr>
            <p:cNvPr name="TextBox 45" id="45"/>
            <p:cNvSpPr txBox="true"/>
            <p:nvPr/>
          </p:nvSpPr>
          <p:spPr>
            <a:xfrm>
              <a:off x="0" y="-38100"/>
              <a:ext cx="6858000" cy="824484"/>
            </a:xfrm>
            <a:prstGeom prst="rect">
              <a:avLst/>
            </a:prstGeom>
          </p:spPr>
          <p:txBody>
            <a:bodyPr anchor="ctr" rtlCol="false" tIns="0" lIns="0" bIns="0" rIns="0"/>
            <a:lstStyle/>
            <a:p>
              <a:pPr algn="ctr">
                <a:lnSpc>
                  <a:spcPts val="2250"/>
                </a:lnSpc>
              </a:pPr>
              <a:r>
                <a:rPr lang="en-US" sz="1875">
                  <a:solidFill>
                    <a:srgbClr val="6B7280"/>
                  </a:solidFill>
                  <a:latin typeface="Calibri (MS)"/>
                  <a:ea typeface="Calibri (MS)"/>
                  <a:cs typeface="Calibri (MS)"/>
                  <a:sym typeface="Calibri (MS)"/>
                </a:rPr>
                <a:t>DICT Act / NCSP</a:t>
              </a:r>
            </a:p>
          </p:txBody>
        </p:sp>
      </p:grpSp>
      <p:grpSp>
        <p:nvGrpSpPr>
          <p:cNvPr name="Group 46" id="46"/>
          <p:cNvGrpSpPr/>
          <p:nvPr/>
        </p:nvGrpSpPr>
        <p:grpSpPr>
          <a:xfrm rot="0">
            <a:off x="6542532" y="8462772"/>
            <a:ext cx="5143500" cy="329184"/>
            <a:chOff x="0" y="0"/>
            <a:chExt cx="6858000" cy="438912"/>
          </a:xfrm>
        </p:grpSpPr>
        <p:sp>
          <p:nvSpPr>
            <p:cNvPr name="Freeform 47" id="47"/>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48" id="48"/>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9AA3B8"/>
                  </a:solidFill>
                  <a:latin typeface="Arimo"/>
                  <a:ea typeface="Arimo"/>
                  <a:cs typeface="Arimo"/>
                  <a:sym typeface="Arimo"/>
                </a:rPr>
                <a:t>DICT</a:t>
              </a:r>
            </a:p>
          </p:txBody>
        </p:sp>
      </p:grpSp>
      <p:grpSp>
        <p:nvGrpSpPr>
          <p:cNvPr name="Group 49" id="49"/>
          <p:cNvGrpSpPr/>
          <p:nvPr/>
        </p:nvGrpSpPr>
        <p:grpSpPr>
          <a:xfrm rot="0">
            <a:off x="12115419" y="6779895"/>
            <a:ext cx="5162550" cy="2076450"/>
            <a:chOff x="0" y="0"/>
            <a:chExt cx="6883400" cy="2768600"/>
          </a:xfrm>
        </p:grpSpPr>
        <p:sp>
          <p:nvSpPr>
            <p:cNvPr name="Freeform 50" id="50"/>
            <p:cNvSpPr/>
            <p:nvPr/>
          </p:nvSpPr>
          <p:spPr>
            <a:xfrm flipH="false" flipV="false" rot="0">
              <a:off x="0" y="0"/>
              <a:ext cx="6883400" cy="2768600"/>
            </a:xfrm>
            <a:custGeom>
              <a:avLst/>
              <a:gdLst/>
              <a:ahLst/>
              <a:cxnLst/>
              <a:rect r="r" b="b" t="t" l="l"/>
              <a:pathLst>
                <a:path h="2768600" w="6883400">
                  <a:moveTo>
                    <a:pt x="0" y="166116"/>
                  </a:moveTo>
                  <a:cubicBezTo>
                    <a:pt x="0" y="74422"/>
                    <a:pt x="74422" y="0"/>
                    <a:pt x="166116" y="0"/>
                  </a:cubicBezTo>
                  <a:lnTo>
                    <a:pt x="6717284" y="0"/>
                  </a:lnTo>
                  <a:cubicBezTo>
                    <a:pt x="6808978" y="0"/>
                    <a:pt x="6883400" y="74422"/>
                    <a:pt x="6883400" y="166116"/>
                  </a:cubicBezTo>
                  <a:lnTo>
                    <a:pt x="6883400" y="2602484"/>
                  </a:lnTo>
                  <a:cubicBezTo>
                    <a:pt x="6883400" y="2694178"/>
                    <a:pt x="6808978" y="2768600"/>
                    <a:pt x="6717284" y="2768600"/>
                  </a:cubicBezTo>
                  <a:lnTo>
                    <a:pt x="166116" y="2768600"/>
                  </a:lnTo>
                  <a:cubicBezTo>
                    <a:pt x="74422" y="2768600"/>
                    <a:pt x="0" y="2694178"/>
                    <a:pt x="0" y="2602484"/>
                  </a:cubicBezTo>
                  <a:close/>
                </a:path>
              </a:pathLst>
            </a:custGeom>
            <a:solidFill>
              <a:srgbClr val="F4F7FC"/>
            </a:solidFill>
            <a:ln w="19050" cap="sq">
              <a:solidFill>
                <a:srgbClr val="D7DCEC"/>
              </a:solidFill>
              <a:prstDash val="solid"/>
              <a:miter/>
            </a:ln>
          </p:spPr>
        </p:sp>
      </p:grpSp>
      <p:grpSp>
        <p:nvGrpSpPr>
          <p:cNvPr name="Group 51" id="51"/>
          <p:cNvGrpSpPr/>
          <p:nvPr/>
        </p:nvGrpSpPr>
        <p:grpSpPr>
          <a:xfrm rot="0">
            <a:off x="12124944" y="6858000"/>
            <a:ext cx="5143500" cy="1755648"/>
            <a:chOff x="0" y="0"/>
            <a:chExt cx="6858000" cy="2340864"/>
          </a:xfrm>
        </p:grpSpPr>
        <p:sp>
          <p:nvSpPr>
            <p:cNvPr name="Freeform 52" id="52"/>
            <p:cNvSpPr/>
            <p:nvPr/>
          </p:nvSpPr>
          <p:spPr>
            <a:xfrm flipH="false" flipV="false" rot="0">
              <a:off x="0" y="0"/>
              <a:ext cx="6858000" cy="2340864"/>
            </a:xfrm>
            <a:custGeom>
              <a:avLst/>
              <a:gdLst/>
              <a:ahLst/>
              <a:cxnLst/>
              <a:rect r="r" b="b" t="t" l="l"/>
              <a:pathLst>
                <a:path h="2340864" w="6858000">
                  <a:moveTo>
                    <a:pt x="0" y="0"/>
                  </a:moveTo>
                  <a:lnTo>
                    <a:pt x="6858000" y="0"/>
                  </a:lnTo>
                  <a:lnTo>
                    <a:pt x="6858000" y="2340864"/>
                  </a:lnTo>
                  <a:lnTo>
                    <a:pt x="0" y="2340864"/>
                  </a:lnTo>
                  <a:close/>
                </a:path>
              </a:pathLst>
            </a:custGeom>
            <a:blipFill>
              <a:blip r:embed="rId2">
                <a:alphaModFix amt="0"/>
              </a:blip>
              <a:stretch>
                <a:fillRect l="0" t="-7085" r="0" b="-7085"/>
              </a:stretch>
            </a:blipFill>
          </p:spPr>
        </p:sp>
        <p:sp>
          <p:nvSpPr>
            <p:cNvPr name="TextBox 53" id="53"/>
            <p:cNvSpPr txBox="true"/>
            <p:nvPr/>
          </p:nvSpPr>
          <p:spPr>
            <a:xfrm>
              <a:off x="0" y="-38100"/>
              <a:ext cx="6858000" cy="2378964"/>
            </a:xfrm>
            <a:prstGeom prst="rect">
              <a:avLst/>
            </a:prstGeom>
          </p:spPr>
          <p:txBody>
            <a:bodyPr anchor="ctr" rtlCol="false" tIns="0" lIns="0" bIns="0" rIns="0"/>
            <a:lstStyle/>
            <a:p>
              <a:pPr algn="ctr">
                <a:lnSpc>
                  <a:spcPts val="2250"/>
                </a:lnSpc>
              </a:pPr>
              <a:r>
                <a:rPr lang="en-US" sz="1875">
                  <a:solidFill>
                    <a:srgbClr val="6B7280"/>
                  </a:solidFill>
                  <a:latin typeface="Calibri (MS)"/>
                  <a:ea typeface="Calibri (MS)"/>
                  <a:cs typeface="Calibri (MS)"/>
                  <a:sym typeface="Calibri (MS)"/>
                </a:rPr>
                <a:t>Critical Infra. Protection</a:t>
              </a:r>
            </a:p>
          </p:txBody>
        </p:sp>
      </p:grpSp>
      <p:grpSp>
        <p:nvGrpSpPr>
          <p:cNvPr name="Group 54" id="54"/>
          <p:cNvGrpSpPr/>
          <p:nvPr/>
        </p:nvGrpSpPr>
        <p:grpSpPr>
          <a:xfrm rot="0">
            <a:off x="12124944" y="8462772"/>
            <a:ext cx="5143500" cy="329184"/>
            <a:chOff x="0" y="0"/>
            <a:chExt cx="6858000" cy="438912"/>
          </a:xfrm>
        </p:grpSpPr>
        <p:sp>
          <p:nvSpPr>
            <p:cNvPr name="Freeform 55" id="55"/>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56" id="56"/>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9AA3B8"/>
                  </a:solidFill>
                  <a:latin typeface="Arimo"/>
                  <a:ea typeface="Arimo"/>
                  <a:cs typeface="Arimo"/>
                  <a:sym typeface="Arimo"/>
                </a:rPr>
                <a:t>CII</a:t>
              </a:r>
            </a:p>
          </p:txBody>
        </p:sp>
      </p:grpSp>
      <p:grpSp>
        <p:nvGrpSpPr>
          <p:cNvPr name="Group 57" id="57"/>
          <p:cNvGrpSpPr/>
          <p:nvPr/>
        </p:nvGrpSpPr>
        <p:grpSpPr>
          <a:xfrm rot="0">
            <a:off x="685800" y="9710928"/>
            <a:ext cx="10972800" cy="411480"/>
            <a:chOff x="0" y="0"/>
            <a:chExt cx="14630400" cy="548640"/>
          </a:xfrm>
        </p:grpSpPr>
        <p:sp>
          <p:nvSpPr>
            <p:cNvPr name="Freeform 58" id="58"/>
            <p:cNvSpPr/>
            <p:nvPr/>
          </p:nvSpPr>
          <p:spPr>
            <a:xfrm flipH="false" flipV="false" rot="0">
              <a:off x="0" y="0"/>
              <a:ext cx="14630400" cy="548640"/>
            </a:xfrm>
            <a:custGeom>
              <a:avLst/>
              <a:gdLst/>
              <a:ahLst/>
              <a:cxnLst/>
              <a:rect r="r" b="b" t="t" l="l"/>
              <a:pathLst>
                <a:path h="548640" w="14630400">
                  <a:moveTo>
                    <a:pt x="0" y="0"/>
                  </a:moveTo>
                  <a:lnTo>
                    <a:pt x="14630400" y="0"/>
                  </a:lnTo>
                  <a:lnTo>
                    <a:pt x="14630400" y="548640"/>
                  </a:lnTo>
                  <a:lnTo>
                    <a:pt x="0" y="548640"/>
                  </a:lnTo>
                  <a:close/>
                </a:path>
              </a:pathLst>
            </a:custGeom>
            <a:blipFill>
              <a:blip r:embed="rId2">
                <a:alphaModFix amt="0"/>
              </a:blip>
              <a:stretch>
                <a:fillRect l="0" t="-469601" r="0" b="-469601"/>
              </a:stretch>
            </a:blipFill>
          </p:spPr>
        </p:sp>
        <p:sp>
          <p:nvSpPr>
            <p:cNvPr name="TextBox 59" id="59"/>
            <p:cNvSpPr txBox="true"/>
            <p:nvPr/>
          </p:nvSpPr>
          <p:spPr>
            <a:xfrm>
              <a:off x="0" y="-38100"/>
              <a:ext cx="14630400" cy="586740"/>
            </a:xfrm>
            <a:prstGeom prst="rect">
              <a:avLst/>
            </a:prstGeom>
          </p:spPr>
          <p:txBody>
            <a:bodyPr anchor="ctr" rtlCol="false" tIns="0" lIns="0" bIns="0" rIns="0"/>
            <a:lstStyle/>
            <a:p>
              <a:pPr algn="l">
                <a:lnSpc>
                  <a:spcPts val="1800"/>
                </a:lnSpc>
              </a:pPr>
              <a:r>
                <a:rPr lang="en-US" sz="1500">
                  <a:solidFill>
                    <a:srgbClr val="6B7280"/>
                  </a:solidFill>
                  <a:latin typeface="Calibri (MS)"/>
                  <a:ea typeface="Calibri (MS)"/>
                  <a:cs typeface="Calibri (MS)"/>
                  <a:sym typeface="Calibri (MS)"/>
                </a:rPr>
                <a:t>Davao del Norte Provincial Government — Cybersecurity Seminar</a:t>
              </a:r>
            </a:p>
          </p:txBody>
        </p:sp>
      </p:grpSp>
      <p:grpSp>
        <p:nvGrpSpPr>
          <p:cNvPr name="Group 60" id="60"/>
          <p:cNvGrpSpPr/>
          <p:nvPr/>
        </p:nvGrpSpPr>
        <p:grpSpPr>
          <a:xfrm rot="0">
            <a:off x="16911828" y="9710928"/>
            <a:ext cx="685800" cy="411480"/>
            <a:chOff x="0" y="0"/>
            <a:chExt cx="914400" cy="548640"/>
          </a:xfrm>
        </p:grpSpPr>
        <p:sp>
          <p:nvSpPr>
            <p:cNvPr name="Freeform 61" id="61"/>
            <p:cNvSpPr/>
            <p:nvPr/>
          </p:nvSpPr>
          <p:spPr>
            <a:xfrm flipH="false" flipV="false" rot="0">
              <a:off x="0" y="0"/>
              <a:ext cx="914400" cy="548640"/>
            </a:xfrm>
            <a:custGeom>
              <a:avLst/>
              <a:gdLst/>
              <a:ahLst/>
              <a:cxnLst/>
              <a:rect r="r" b="b" t="t" l="l"/>
              <a:pathLst>
                <a:path h="548640" w="914400">
                  <a:moveTo>
                    <a:pt x="0" y="0"/>
                  </a:moveTo>
                  <a:lnTo>
                    <a:pt x="914400" y="0"/>
                  </a:lnTo>
                  <a:lnTo>
                    <a:pt x="914400" y="548640"/>
                  </a:lnTo>
                  <a:lnTo>
                    <a:pt x="0" y="548640"/>
                  </a:lnTo>
                  <a:close/>
                </a:path>
              </a:pathLst>
            </a:custGeom>
            <a:blipFill>
              <a:blip r:embed="rId2">
                <a:alphaModFix amt="0"/>
              </a:blip>
              <a:stretch>
                <a:fillRect l="-26982" t="0" r="-26982" b="0"/>
              </a:stretch>
            </a:blipFill>
          </p:spPr>
        </p:sp>
        <p:sp>
          <p:nvSpPr>
            <p:cNvPr name="TextBox 62" id="62"/>
            <p:cNvSpPr txBox="true"/>
            <p:nvPr/>
          </p:nvSpPr>
          <p:spPr>
            <a:xfrm>
              <a:off x="0" y="-38100"/>
              <a:ext cx="914400" cy="586740"/>
            </a:xfrm>
            <a:prstGeom prst="rect">
              <a:avLst/>
            </a:prstGeom>
          </p:spPr>
          <p:txBody>
            <a:bodyPr anchor="ctr" rtlCol="false" tIns="0" lIns="0" bIns="0" rIns="0"/>
            <a:lstStyle/>
            <a:p>
              <a:pPr algn="r">
                <a:lnSpc>
                  <a:spcPts val="1800"/>
                </a:lnSpc>
              </a:pPr>
              <a:r>
                <a:rPr lang="en-US" sz="1500">
                  <a:solidFill>
                    <a:srgbClr val="6B7280"/>
                  </a:solidFill>
                  <a:latin typeface="Calibri (MS)"/>
                  <a:ea typeface="Calibri (MS)"/>
                  <a:cs typeface="Calibri (MS)"/>
                  <a:sym typeface="Calibri (MS)"/>
                </a:rPr>
                <a:t>15</a:t>
              </a:r>
            </a:p>
          </p:txBody>
        </p:sp>
      </p:grpSp>
    </p:spTree>
  </p:cSld>
  <p:clrMapOvr>
    <a:masterClrMapping/>
  </p:clrMapOvr>
</p:sld>
</file>

<file path=ppt/slides/slide13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60120" y="685800"/>
            <a:ext cx="13716000" cy="411480"/>
            <a:chOff x="0" y="0"/>
            <a:chExt cx="18288000" cy="548640"/>
          </a:xfrm>
        </p:grpSpPr>
        <p:sp>
          <p:nvSpPr>
            <p:cNvPr name="Freeform 3" id="3"/>
            <p:cNvSpPr/>
            <p:nvPr/>
          </p:nvSpPr>
          <p:spPr>
            <a:xfrm flipH="false" flipV="false" rot="0">
              <a:off x="0" y="0"/>
              <a:ext cx="18288000" cy="548640"/>
            </a:xfrm>
            <a:custGeom>
              <a:avLst/>
              <a:gdLst/>
              <a:ahLst/>
              <a:cxnLst/>
              <a:rect r="r" b="b" t="t" l="l"/>
              <a:pathLst>
                <a:path h="548640" w="18288000">
                  <a:moveTo>
                    <a:pt x="0" y="0"/>
                  </a:moveTo>
                  <a:lnTo>
                    <a:pt x="18288000" y="0"/>
                  </a:lnTo>
                  <a:lnTo>
                    <a:pt x="18288000" y="548640"/>
                  </a:lnTo>
                  <a:lnTo>
                    <a:pt x="0" y="548640"/>
                  </a:lnTo>
                  <a:close/>
                </a:path>
              </a:pathLst>
            </a:custGeom>
            <a:blipFill>
              <a:blip r:embed="rId2">
                <a:alphaModFix amt="0"/>
              </a:blip>
              <a:stretch>
                <a:fillRect l="0" t="-599501" r="0" b="-599501"/>
              </a:stretch>
            </a:blipFill>
          </p:spPr>
        </p:sp>
        <p:sp>
          <p:nvSpPr>
            <p:cNvPr name="TextBox 4" id="4"/>
            <p:cNvSpPr txBox="true"/>
            <p:nvPr/>
          </p:nvSpPr>
          <p:spPr>
            <a:xfrm>
              <a:off x="0" y="-38100"/>
              <a:ext cx="18288000" cy="586740"/>
            </a:xfrm>
            <a:prstGeom prst="rect">
              <a:avLst/>
            </a:prstGeom>
          </p:spPr>
          <p:txBody>
            <a:bodyPr anchor="ctr" rtlCol="false" tIns="0" lIns="0" bIns="0" rIns="0"/>
            <a:lstStyle/>
            <a:p>
              <a:pPr algn="l">
                <a:lnSpc>
                  <a:spcPts val="2160"/>
                </a:lnSpc>
              </a:pPr>
              <a:r>
                <a:rPr lang="en-US" b="true" sz="1800" spc="225">
                  <a:solidFill>
                    <a:srgbClr val="00B4D8"/>
                  </a:solidFill>
                  <a:latin typeface="Calibri (MS) Bold"/>
                  <a:ea typeface="Calibri (MS) Bold"/>
                  <a:cs typeface="Calibri (MS) Bold"/>
                  <a:sym typeface="Calibri (MS) Bold"/>
                </a:rPr>
                <a:t>PH CYBER LAW SORT · ANSWER</a:t>
              </a:r>
            </a:p>
          </p:txBody>
        </p:sp>
      </p:grpSp>
      <p:grpSp>
        <p:nvGrpSpPr>
          <p:cNvPr name="Group 5" id="5"/>
          <p:cNvGrpSpPr/>
          <p:nvPr/>
        </p:nvGrpSpPr>
        <p:grpSpPr>
          <a:xfrm rot="0">
            <a:off x="960120" y="1069848"/>
            <a:ext cx="10972800" cy="822960"/>
            <a:chOff x="0" y="0"/>
            <a:chExt cx="14630400" cy="1097280"/>
          </a:xfrm>
        </p:grpSpPr>
        <p:sp>
          <p:nvSpPr>
            <p:cNvPr name="Freeform 6" id="6"/>
            <p:cNvSpPr/>
            <p:nvPr/>
          </p:nvSpPr>
          <p:spPr>
            <a:xfrm flipH="false" flipV="false" rot="0">
              <a:off x="0" y="0"/>
              <a:ext cx="14630400" cy="1097280"/>
            </a:xfrm>
            <a:custGeom>
              <a:avLst/>
              <a:gdLst/>
              <a:ahLst/>
              <a:cxnLst/>
              <a:rect r="r" b="b" t="t" l="l"/>
              <a:pathLst>
                <a:path h="1097280" w="14630400">
                  <a:moveTo>
                    <a:pt x="0" y="0"/>
                  </a:moveTo>
                  <a:lnTo>
                    <a:pt x="14630400" y="0"/>
                  </a:lnTo>
                  <a:lnTo>
                    <a:pt x="14630400" y="1097280"/>
                  </a:lnTo>
                  <a:lnTo>
                    <a:pt x="0" y="1097280"/>
                  </a:lnTo>
                  <a:close/>
                </a:path>
              </a:pathLst>
            </a:custGeom>
            <a:blipFill>
              <a:blip r:embed="rId2">
                <a:alphaModFix amt="0"/>
              </a:blip>
              <a:stretch>
                <a:fillRect l="0" t="-209800" r="0" b="-209800"/>
              </a:stretch>
            </a:blipFill>
          </p:spPr>
        </p:sp>
        <p:sp>
          <p:nvSpPr>
            <p:cNvPr name="TextBox 7" id="7"/>
            <p:cNvSpPr txBox="true"/>
            <p:nvPr/>
          </p:nvSpPr>
          <p:spPr>
            <a:xfrm>
              <a:off x="0" y="0"/>
              <a:ext cx="14630400" cy="1097280"/>
            </a:xfrm>
            <a:prstGeom prst="rect">
              <a:avLst/>
            </a:prstGeom>
          </p:spPr>
          <p:txBody>
            <a:bodyPr anchor="ctr" rtlCol="false" tIns="0" lIns="0" bIns="0" rIns="0"/>
            <a:lstStyle/>
            <a:p>
              <a:pPr algn="l">
                <a:lnSpc>
                  <a:spcPts val="4680"/>
                </a:lnSpc>
              </a:pPr>
              <a:r>
                <a:rPr lang="en-US" sz="3900" b="true">
                  <a:solidFill>
                    <a:srgbClr val="1E2761"/>
                  </a:solidFill>
                  <a:latin typeface="Cambria Bold"/>
                  <a:ea typeface="Cambria Bold"/>
                  <a:cs typeface="Cambria Bold"/>
                  <a:sym typeface="Cambria Bold"/>
                </a:rPr>
                <a:t>Scenario 3 — Answer</a:t>
              </a:r>
            </a:p>
          </p:txBody>
        </p:sp>
      </p:grpSp>
      <p:grpSp>
        <p:nvGrpSpPr>
          <p:cNvPr name="Group 8" id="8"/>
          <p:cNvGrpSpPr/>
          <p:nvPr/>
        </p:nvGrpSpPr>
        <p:grpSpPr>
          <a:xfrm rot="0">
            <a:off x="960120" y="1810512"/>
            <a:ext cx="8229600" cy="411480"/>
            <a:chOff x="0" y="0"/>
            <a:chExt cx="10972800" cy="548640"/>
          </a:xfrm>
        </p:grpSpPr>
        <p:sp>
          <p:nvSpPr>
            <p:cNvPr name="Freeform 9" id="9"/>
            <p:cNvSpPr/>
            <p:nvPr/>
          </p:nvSpPr>
          <p:spPr>
            <a:xfrm flipH="false" flipV="false" rot="0">
              <a:off x="0" y="0"/>
              <a:ext cx="10972800" cy="548640"/>
            </a:xfrm>
            <a:custGeom>
              <a:avLst/>
              <a:gdLst/>
              <a:ahLst/>
              <a:cxnLst/>
              <a:rect r="r" b="b" t="t" l="l"/>
              <a:pathLst>
                <a:path h="548640" w="10972800">
                  <a:moveTo>
                    <a:pt x="0" y="0"/>
                  </a:moveTo>
                  <a:lnTo>
                    <a:pt x="10972800" y="0"/>
                  </a:lnTo>
                  <a:lnTo>
                    <a:pt x="10972800" y="548640"/>
                  </a:lnTo>
                  <a:lnTo>
                    <a:pt x="0" y="548640"/>
                  </a:lnTo>
                  <a:close/>
                </a:path>
              </a:pathLst>
            </a:custGeom>
            <a:blipFill>
              <a:blip r:embed="rId2">
                <a:alphaModFix amt="0"/>
              </a:blip>
              <a:stretch>
                <a:fillRect l="0" t="-339700" r="0" b="-339700"/>
              </a:stretch>
            </a:blipFill>
          </p:spPr>
        </p:sp>
        <p:sp>
          <p:nvSpPr>
            <p:cNvPr name="TextBox 10" id="10"/>
            <p:cNvSpPr txBox="true"/>
            <p:nvPr/>
          </p:nvSpPr>
          <p:spPr>
            <a:xfrm>
              <a:off x="0" y="-28575"/>
              <a:ext cx="10972800" cy="577215"/>
            </a:xfrm>
            <a:prstGeom prst="rect">
              <a:avLst/>
            </a:prstGeom>
          </p:spPr>
          <p:txBody>
            <a:bodyPr anchor="ctr" rtlCol="false" tIns="0" lIns="0" bIns="0" rIns="0"/>
            <a:lstStyle/>
            <a:p>
              <a:pPr algn="l">
                <a:lnSpc>
                  <a:spcPts val="1980"/>
                </a:lnSpc>
              </a:pPr>
              <a:r>
                <a:rPr lang="en-US" sz="1650">
                  <a:solidFill>
                    <a:srgbClr val="6B7280"/>
                  </a:solidFill>
                  <a:latin typeface="Calibri (MS)"/>
                  <a:ea typeface="Calibri (MS)"/>
                  <a:cs typeface="Calibri (MS)"/>
                  <a:sym typeface="Calibri (MS)"/>
                </a:rPr>
                <a:t>3 of 15</a:t>
              </a:r>
            </a:p>
          </p:txBody>
        </p:sp>
      </p:grpSp>
      <p:grpSp>
        <p:nvGrpSpPr>
          <p:cNvPr name="Group 11" id="11"/>
          <p:cNvGrpSpPr/>
          <p:nvPr/>
        </p:nvGrpSpPr>
        <p:grpSpPr>
          <a:xfrm rot="0">
            <a:off x="960120" y="2537460"/>
            <a:ext cx="16322040" cy="2057400"/>
            <a:chOff x="0" y="0"/>
            <a:chExt cx="21762720" cy="2743200"/>
          </a:xfrm>
        </p:grpSpPr>
        <p:sp>
          <p:nvSpPr>
            <p:cNvPr name="Freeform 12" id="12"/>
            <p:cNvSpPr/>
            <p:nvPr/>
          </p:nvSpPr>
          <p:spPr>
            <a:xfrm flipH="false" flipV="false" rot="0">
              <a:off x="0" y="0"/>
              <a:ext cx="21762720" cy="2743200"/>
            </a:xfrm>
            <a:custGeom>
              <a:avLst/>
              <a:gdLst/>
              <a:ahLst/>
              <a:cxnLst/>
              <a:rect r="r" b="b" t="t" l="l"/>
              <a:pathLst>
                <a:path h="2743200" w="21762720">
                  <a:moveTo>
                    <a:pt x="0" y="182880"/>
                  </a:moveTo>
                  <a:cubicBezTo>
                    <a:pt x="0" y="81915"/>
                    <a:pt x="81915" y="0"/>
                    <a:pt x="182880" y="0"/>
                  </a:cubicBezTo>
                  <a:lnTo>
                    <a:pt x="21579839" y="0"/>
                  </a:lnTo>
                  <a:cubicBezTo>
                    <a:pt x="21680804" y="0"/>
                    <a:pt x="21762720" y="81915"/>
                    <a:pt x="21762720" y="182880"/>
                  </a:cubicBezTo>
                  <a:lnTo>
                    <a:pt x="21762720" y="2560320"/>
                  </a:lnTo>
                  <a:cubicBezTo>
                    <a:pt x="21762720" y="2661285"/>
                    <a:pt x="21680804" y="2743200"/>
                    <a:pt x="21579839" y="2743200"/>
                  </a:cubicBezTo>
                  <a:lnTo>
                    <a:pt x="182880" y="2743200"/>
                  </a:lnTo>
                  <a:cubicBezTo>
                    <a:pt x="81915" y="2743200"/>
                    <a:pt x="0" y="2661285"/>
                    <a:pt x="0" y="2560320"/>
                  </a:cubicBezTo>
                  <a:close/>
                </a:path>
              </a:pathLst>
            </a:custGeom>
            <a:solidFill>
              <a:srgbClr val="F4F7FC"/>
            </a:solidFill>
          </p:spPr>
        </p:sp>
      </p:grpSp>
      <p:grpSp>
        <p:nvGrpSpPr>
          <p:cNvPr name="Group 13" id="13"/>
          <p:cNvGrpSpPr/>
          <p:nvPr/>
        </p:nvGrpSpPr>
        <p:grpSpPr>
          <a:xfrm rot="0">
            <a:off x="1440180" y="2743200"/>
            <a:ext cx="15361920" cy="1645920"/>
            <a:chOff x="0" y="0"/>
            <a:chExt cx="20482560" cy="2194560"/>
          </a:xfrm>
        </p:grpSpPr>
        <p:sp>
          <p:nvSpPr>
            <p:cNvPr name="Freeform 14" id="14"/>
            <p:cNvSpPr/>
            <p:nvPr/>
          </p:nvSpPr>
          <p:spPr>
            <a:xfrm flipH="false" flipV="false" rot="0">
              <a:off x="0" y="0"/>
              <a:ext cx="20482561" cy="2194560"/>
            </a:xfrm>
            <a:custGeom>
              <a:avLst/>
              <a:gdLst/>
              <a:ahLst/>
              <a:cxnLst/>
              <a:rect r="r" b="b" t="t" l="l"/>
              <a:pathLst>
                <a:path h="2194560" w="20482561">
                  <a:moveTo>
                    <a:pt x="0" y="0"/>
                  </a:moveTo>
                  <a:lnTo>
                    <a:pt x="20482561" y="0"/>
                  </a:lnTo>
                  <a:lnTo>
                    <a:pt x="20482561" y="2194560"/>
                  </a:lnTo>
                  <a:lnTo>
                    <a:pt x="0" y="2194560"/>
                  </a:lnTo>
                  <a:close/>
                </a:path>
              </a:pathLst>
            </a:custGeom>
            <a:blipFill>
              <a:blip r:embed="rId2">
                <a:alphaModFix amt="0"/>
              </a:blip>
              <a:stretch>
                <a:fillRect l="0" t="-131860" r="0" b="-131860"/>
              </a:stretch>
            </a:blipFill>
          </p:spPr>
        </p:sp>
        <p:sp>
          <p:nvSpPr>
            <p:cNvPr name="TextBox 15" id="15"/>
            <p:cNvSpPr txBox="true"/>
            <p:nvPr/>
          </p:nvSpPr>
          <p:spPr>
            <a:xfrm>
              <a:off x="0" y="-66675"/>
              <a:ext cx="20482560" cy="2261235"/>
            </a:xfrm>
            <a:prstGeom prst="rect">
              <a:avLst/>
            </a:prstGeom>
          </p:spPr>
          <p:txBody>
            <a:bodyPr anchor="ctr" rtlCol="false" tIns="0" lIns="0" bIns="0" rIns="0"/>
            <a:lstStyle/>
            <a:p>
              <a:pPr algn="l">
                <a:lnSpc>
                  <a:spcPts val="3487"/>
                </a:lnSpc>
              </a:pPr>
              <a:r>
                <a:rPr lang="en-US" sz="2325" i="true">
                  <a:solidFill>
                    <a:srgbClr val="23262F"/>
                  </a:solidFill>
                  <a:latin typeface="Cambria Italics"/>
                  <a:ea typeface="Cambria Italics"/>
                  <a:cs typeface="Cambria Italics"/>
                  <a:sym typeface="Cambria Italics"/>
                </a:rPr>
                <a:t>"An employee argues an emailed approval for a purchase order doesn't count as an official record because nothing was printed and signed."</a:t>
              </a:r>
            </a:p>
          </p:txBody>
        </p:sp>
      </p:grpSp>
      <p:grpSp>
        <p:nvGrpSpPr>
          <p:cNvPr name="Group 16" id="16"/>
          <p:cNvGrpSpPr/>
          <p:nvPr/>
        </p:nvGrpSpPr>
        <p:grpSpPr>
          <a:xfrm rot="0">
            <a:off x="950595" y="4928235"/>
            <a:ext cx="5162550" cy="842010"/>
            <a:chOff x="0" y="0"/>
            <a:chExt cx="6883400" cy="1122680"/>
          </a:xfrm>
        </p:grpSpPr>
        <p:sp>
          <p:nvSpPr>
            <p:cNvPr name="Freeform 17" id="17"/>
            <p:cNvSpPr/>
            <p:nvPr/>
          </p:nvSpPr>
          <p:spPr>
            <a:xfrm flipH="false" flipV="false" rot="0">
              <a:off x="0" y="0"/>
              <a:ext cx="6883400" cy="1122680"/>
            </a:xfrm>
            <a:custGeom>
              <a:avLst/>
              <a:gdLst/>
              <a:ahLst/>
              <a:cxnLst/>
              <a:rect r="r" b="b" t="t" l="l"/>
              <a:pathLst>
                <a:path h="1122680" w="6883400">
                  <a:moveTo>
                    <a:pt x="0" y="168402"/>
                  </a:moveTo>
                  <a:cubicBezTo>
                    <a:pt x="0" y="75438"/>
                    <a:pt x="75438" y="0"/>
                    <a:pt x="168402" y="0"/>
                  </a:cubicBezTo>
                  <a:lnTo>
                    <a:pt x="6714998" y="0"/>
                  </a:lnTo>
                  <a:cubicBezTo>
                    <a:pt x="6807962" y="0"/>
                    <a:pt x="6883400" y="75438"/>
                    <a:pt x="6883400" y="168402"/>
                  </a:cubicBezTo>
                  <a:lnTo>
                    <a:pt x="6883400" y="954278"/>
                  </a:lnTo>
                  <a:cubicBezTo>
                    <a:pt x="6883400" y="1047242"/>
                    <a:pt x="6807962" y="1122680"/>
                    <a:pt x="6714998" y="1122680"/>
                  </a:cubicBezTo>
                  <a:lnTo>
                    <a:pt x="168402" y="1122680"/>
                  </a:lnTo>
                  <a:cubicBezTo>
                    <a:pt x="75438" y="1122680"/>
                    <a:pt x="0" y="1047242"/>
                    <a:pt x="0" y="954278"/>
                  </a:cubicBezTo>
                  <a:close/>
                </a:path>
              </a:pathLst>
            </a:custGeom>
            <a:solidFill>
              <a:srgbClr val="2E86AB"/>
            </a:solidFill>
            <a:ln w="19050" cap="sq">
              <a:solidFill>
                <a:srgbClr val="2E86AB"/>
              </a:solidFill>
              <a:prstDash val="solid"/>
              <a:miter/>
            </a:ln>
          </p:spPr>
        </p:sp>
      </p:grpSp>
      <p:grpSp>
        <p:nvGrpSpPr>
          <p:cNvPr name="Group 18" id="18"/>
          <p:cNvGrpSpPr/>
          <p:nvPr/>
        </p:nvGrpSpPr>
        <p:grpSpPr>
          <a:xfrm rot="0">
            <a:off x="960120" y="5006340"/>
            <a:ext cx="5143500" cy="521208"/>
            <a:chOff x="0" y="0"/>
            <a:chExt cx="6858000" cy="694944"/>
          </a:xfrm>
        </p:grpSpPr>
        <p:sp>
          <p:nvSpPr>
            <p:cNvPr name="Freeform 19" id="19"/>
            <p:cNvSpPr/>
            <p:nvPr/>
          </p:nvSpPr>
          <p:spPr>
            <a:xfrm flipH="false" flipV="false" rot="0">
              <a:off x="0" y="0"/>
              <a:ext cx="6858000" cy="694944"/>
            </a:xfrm>
            <a:custGeom>
              <a:avLst/>
              <a:gdLst/>
              <a:ahLst/>
              <a:cxnLst/>
              <a:rect r="r" b="b" t="t" l="l"/>
              <a:pathLst>
                <a:path h="694944" w="6858000">
                  <a:moveTo>
                    <a:pt x="0" y="0"/>
                  </a:moveTo>
                  <a:lnTo>
                    <a:pt x="6858000" y="0"/>
                  </a:lnTo>
                  <a:lnTo>
                    <a:pt x="6858000" y="694944"/>
                  </a:lnTo>
                  <a:lnTo>
                    <a:pt x="0" y="694944"/>
                  </a:lnTo>
                  <a:close/>
                </a:path>
              </a:pathLst>
            </a:custGeom>
            <a:blipFill>
              <a:blip r:embed="rId2">
                <a:alphaModFix amt="0"/>
              </a:blip>
              <a:stretch>
                <a:fillRect l="0" t="-142286" r="0" b="-142286"/>
              </a:stretch>
            </a:blipFill>
          </p:spPr>
        </p:sp>
        <p:sp>
          <p:nvSpPr>
            <p:cNvPr name="TextBox 20" id="20"/>
            <p:cNvSpPr txBox="true"/>
            <p:nvPr/>
          </p:nvSpPr>
          <p:spPr>
            <a:xfrm>
              <a:off x="0" y="-38100"/>
              <a:ext cx="6858000" cy="733044"/>
            </a:xfrm>
            <a:prstGeom prst="rect">
              <a:avLst/>
            </a:prstGeom>
          </p:spPr>
          <p:txBody>
            <a:bodyPr anchor="ctr" rtlCol="false" tIns="0" lIns="0" bIns="0" rIns="0"/>
            <a:lstStyle/>
            <a:p>
              <a:pPr algn="ctr">
                <a:lnSpc>
                  <a:spcPts val="2250"/>
                </a:lnSpc>
              </a:pPr>
              <a:r>
                <a:rPr lang="en-US" sz="1875" b="true">
                  <a:solidFill>
                    <a:srgbClr val="FFFFFF"/>
                  </a:solidFill>
                  <a:latin typeface="Calibri (MS) Bold"/>
                  <a:ea typeface="Calibri (MS) Bold"/>
                  <a:cs typeface="Calibri (MS) Bold"/>
                  <a:sym typeface="Calibri (MS) Bold"/>
                </a:rPr>
                <a:t>✓  E-Commerce Act</a:t>
              </a:r>
            </a:p>
          </p:txBody>
        </p:sp>
      </p:grpSp>
      <p:grpSp>
        <p:nvGrpSpPr>
          <p:cNvPr name="Group 21" id="21"/>
          <p:cNvGrpSpPr/>
          <p:nvPr/>
        </p:nvGrpSpPr>
        <p:grpSpPr>
          <a:xfrm rot="0">
            <a:off x="960120" y="5376672"/>
            <a:ext cx="5143500" cy="329184"/>
            <a:chOff x="0" y="0"/>
            <a:chExt cx="6858000" cy="438912"/>
          </a:xfrm>
        </p:grpSpPr>
        <p:sp>
          <p:nvSpPr>
            <p:cNvPr name="Freeform 22" id="22"/>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23" id="23"/>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FFFFFF"/>
                  </a:solidFill>
                  <a:latin typeface="Arimo"/>
                  <a:ea typeface="Arimo"/>
                  <a:cs typeface="Arimo"/>
                  <a:sym typeface="Arimo"/>
                </a:rPr>
                <a:t>ECA</a:t>
              </a:r>
            </a:p>
          </p:txBody>
        </p:sp>
      </p:grpSp>
      <p:grpSp>
        <p:nvGrpSpPr>
          <p:cNvPr name="Group 24" id="24"/>
          <p:cNvGrpSpPr/>
          <p:nvPr/>
        </p:nvGrpSpPr>
        <p:grpSpPr>
          <a:xfrm rot="0">
            <a:off x="6533007" y="4928235"/>
            <a:ext cx="5162550" cy="842010"/>
            <a:chOff x="0" y="0"/>
            <a:chExt cx="6883400" cy="1122680"/>
          </a:xfrm>
        </p:grpSpPr>
        <p:sp>
          <p:nvSpPr>
            <p:cNvPr name="Freeform 25" id="25"/>
            <p:cNvSpPr/>
            <p:nvPr/>
          </p:nvSpPr>
          <p:spPr>
            <a:xfrm flipH="false" flipV="false" rot="0">
              <a:off x="0" y="0"/>
              <a:ext cx="6883400" cy="1122680"/>
            </a:xfrm>
            <a:custGeom>
              <a:avLst/>
              <a:gdLst/>
              <a:ahLst/>
              <a:cxnLst/>
              <a:rect r="r" b="b" t="t" l="l"/>
              <a:pathLst>
                <a:path h="1122680" w="6883400">
                  <a:moveTo>
                    <a:pt x="0" y="168402"/>
                  </a:moveTo>
                  <a:cubicBezTo>
                    <a:pt x="0" y="75438"/>
                    <a:pt x="75438" y="0"/>
                    <a:pt x="168402" y="0"/>
                  </a:cubicBezTo>
                  <a:lnTo>
                    <a:pt x="6714998" y="0"/>
                  </a:lnTo>
                  <a:cubicBezTo>
                    <a:pt x="6807962" y="0"/>
                    <a:pt x="6883400" y="75438"/>
                    <a:pt x="6883400" y="168402"/>
                  </a:cubicBezTo>
                  <a:lnTo>
                    <a:pt x="6883400" y="954278"/>
                  </a:lnTo>
                  <a:cubicBezTo>
                    <a:pt x="6883400" y="1047242"/>
                    <a:pt x="6807962" y="1122680"/>
                    <a:pt x="6714998" y="1122680"/>
                  </a:cubicBezTo>
                  <a:lnTo>
                    <a:pt x="168402" y="1122680"/>
                  </a:lnTo>
                  <a:cubicBezTo>
                    <a:pt x="75438" y="1122680"/>
                    <a:pt x="0" y="1047242"/>
                    <a:pt x="0" y="954278"/>
                  </a:cubicBezTo>
                  <a:close/>
                </a:path>
              </a:pathLst>
            </a:custGeom>
            <a:solidFill>
              <a:srgbClr val="F4F7FC"/>
            </a:solidFill>
            <a:ln w="19050" cap="sq">
              <a:solidFill>
                <a:srgbClr val="D7DCEC"/>
              </a:solidFill>
              <a:prstDash val="solid"/>
              <a:miter/>
            </a:ln>
          </p:spPr>
        </p:sp>
      </p:grpSp>
      <p:grpSp>
        <p:nvGrpSpPr>
          <p:cNvPr name="Group 26" id="26"/>
          <p:cNvGrpSpPr/>
          <p:nvPr/>
        </p:nvGrpSpPr>
        <p:grpSpPr>
          <a:xfrm rot="0">
            <a:off x="6542532" y="5006340"/>
            <a:ext cx="5143500" cy="521208"/>
            <a:chOff x="0" y="0"/>
            <a:chExt cx="6858000" cy="694944"/>
          </a:xfrm>
        </p:grpSpPr>
        <p:sp>
          <p:nvSpPr>
            <p:cNvPr name="Freeform 27" id="27"/>
            <p:cNvSpPr/>
            <p:nvPr/>
          </p:nvSpPr>
          <p:spPr>
            <a:xfrm flipH="false" flipV="false" rot="0">
              <a:off x="0" y="0"/>
              <a:ext cx="6858000" cy="694944"/>
            </a:xfrm>
            <a:custGeom>
              <a:avLst/>
              <a:gdLst/>
              <a:ahLst/>
              <a:cxnLst/>
              <a:rect r="r" b="b" t="t" l="l"/>
              <a:pathLst>
                <a:path h="694944" w="6858000">
                  <a:moveTo>
                    <a:pt x="0" y="0"/>
                  </a:moveTo>
                  <a:lnTo>
                    <a:pt x="6858000" y="0"/>
                  </a:lnTo>
                  <a:lnTo>
                    <a:pt x="6858000" y="694944"/>
                  </a:lnTo>
                  <a:lnTo>
                    <a:pt x="0" y="694944"/>
                  </a:lnTo>
                  <a:close/>
                </a:path>
              </a:pathLst>
            </a:custGeom>
            <a:blipFill>
              <a:blip r:embed="rId2">
                <a:alphaModFix amt="0"/>
              </a:blip>
              <a:stretch>
                <a:fillRect l="0" t="-142286" r="0" b="-142286"/>
              </a:stretch>
            </a:blipFill>
          </p:spPr>
        </p:sp>
        <p:sp>
          <p:nvSpPr>
            <p:cNvPr name="TextBox 28" id="28"/>
            <p:cNvSpPr txBox="true"/>
            <p:nvPr/>
          </p:nvSpPr>
          <p:spPr>
            <a:xfrm>
              <a:off x="0" y="-38100"/>
              <a:ext cx="6858000" cy="733044"/>
            </a:xfrm>
            <a:prstGeom prst="rect">
              <a:avLst/>
            </a:prstGeom>
          </p:spPr>
          <p:txBody>
            <a:bodyPr anchor="ctr" rtlCol="false" tIns="0" lIns="0" bIns="0" rIns="0"/>
            <a:lstStyle/>
            <a:p>
              <a:pPr algn="ctr">
                <a:lnSpc>
                  <a:spcPts val="2250"/>
                </a:lnSpc>
              </a:pPr>
              <a:r>
                <a:rPr lang="en-US" sz="1875">
                  <a:solidFill>
                    <a:srgbClr val="6B7280"/>
                  </a:solidFill>
                  <a:latin typeface="Calibri (MS)"/>
                  <a:ea typeface="Calibri (MS)"/>
                  <a:cs typeface="Calibri (MS)"/>
                  <a:sym typeface="Calibri (MS)"/>
                </a:rPr>
                <a:t>Cybercrime Act</a:t>
              </a:r>
            </a:p>
          </p:txBody>
        </p:sp>
      </p:grpSp>
      <p:grpSp>
        <p:nvGrpSpPr>
          <p:cNvPr name="Group 29" id="29"/>
          <p:cNvGrpSpPr/>
          <p:nvPr/>
        </p:nvGrpSpPr>
        <p:grpSpPr>
          <a:xfrm rot="0">
            <a:off x="6542532" y="5376672"/>
            <a:ext cx="5143500" cy="329184"/>
            <a:chOff x="0" y="0"/>
            <a:chExt cx="6858000" cy="438912"/>
          </a:xfrm>
        </p:grpSpPr>
        <p:sp>
          <p:nvSpPr>
            <p:cNvPr name="Freeform 30" id="30"/>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31" id="31"/>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9AA3B8"/>
                  </a:solidFill>
                  <a:latin typeface="Arimo"/>
                  <a:ea typeface="Arimo"/>
                  <a:cs typeface="Arimo"/>
                  <a:sym typeface="Arimo"/>
                </a:rPr>
                <a:t>CPA</a:t>
              </a:r>
            </a:p>
          </p:txBody>
        </p:sp>
      </p:grpSp>
      <p:grpSp>
        <p:nvGrpSpPr>
          <p:cNvPr name="Group 32" id="32"/>
          <p:cNvGrpSpPr/>
          <p:nvPr/>
        </p:nvGrpSpPr>
        <p:grpSpPr>
          <a:xfrm rot="0">
            <a:off x="950595" y="5998083"/>
            <a:ext cx="5162550" cy="842010"/>
            <a:chOff x="0" y="0"/>
            <a:chExt cx="6883400" cy="1122680"/>
          </a:xfrm>
        </p:grpSpPr>
        <p:sp>
          <p:nvSpPr>
            <p:cNvPr name="Freeform 33" id="33"/>
            <p:cNvSpPr/>
            <p:nvPr/>
          </p:nvSpPr>
          <p:spPr>
            <a:xfrm flipH="false" flipV="false" rot="0">
              <a:off x="0" y="0"/>
              <a:ext cx="6883400" cy="1122680"/>
            </a:xfrm>
            <a:custGeom>
              <a:avLst/>
              <a:gdLst/>
              <a:ahLst/>
              <a:cxnLst/>
              <a:rect r="r" b="b" t="t" l="l"/>
              <a:pathLst>
                <a:path h="1122680" w="6883400">
                  <a:moveTo>
                    <a:pt x="0" y="168402"/>
                  </a:moveTo>
                  <a:cubicBezTo>
                    <a:pt x="0" y="75438"/>
                    <a:pt x="75438" y="0"/>
                    <a:pt x="168402" y="0"/>
                  </a:cubicBezTo>
                  <a:lnTo>
                    <a:pt x="6714998" y="0"/>
                  </a:lnTo>
                  <a:cubicBezTo>
                    <a:pt x="6807962" y="0"/>
                    <a:pt x="6883400" y="75438"/>
                    <a:pt x="6883400" y="168402"/>
                  </a:cubicBezTo>
                  <a:lnTo>
                    <a:pt x="6883400" y="954278"/>
                  </a:lnTo>
                  <a:cubicBezTo>
                    <a:pt x="6883400" y="1047242"/>
                    <a:pt x="6807962" y="1122680"/>
                    <a:pt x="6714998" y="1122680"/>
                  </a:cubicBezTo>
                  <a:lnTo>
                    <a:pt x="168402" y="1122680"/>
                  </a:lnTo>
                  <a:cubicBezTo>
                    <a:pt x="75438" y="1122680"/>
                    <a:pt x="0" y="1047242"/>
                    <a:pt x="0" y="954278"/>
                  </a:cubicBezTo>
                  <a:close/>
                </a:path>
              </a:pathLst>
            </a:custGeom>
            <a:solidFill>
              <a:srgbClr val="F4F7FC"/>
            </a:solidFill>
            <a:ln w="19050" cap="sq">
              <a:solidFill>
                <a:srgbClr val="D7DCEC"/>
              </a:solidFill>
              <a:prstDash val="solid"/>
              <a:miter/>
            </a:ln>
          </p:spPr>
        </p:sp>
      </p:grpSp>
      <p:grpSp>
        <p:nvGrpSpPr>
          <p:cNvPr name="Group 34" id="34"/>
          <p:cNvGrpSpPr/>
          <p:nvPr/>
        </p:nvGrpSpPr>
        <p:grpSpPr>
          <a:xfrm rot="0">
            <a:off x="960120" y="6076188"/>
            <a:ext cx="5143500" cy="521208"/>
            <a:chOff x="0" y="0"/>
            <a:chExt cx="6858000" cy="694944"/>
          </a:xfrm>
        </p:grpSpPr>
        <p:sp>
          <p:nvSpPr>
            <p:cNvPr name="Freeform 35" id="35"/>
            <p:cNvSpPr/>
            <p:nvPr/>
          </p:nvSpPr>
          <p:spPr>
            <a:xfrm flipH="false" flipV="false" rot="0">
              <a:off x="0" y="0"/>
              <a:ext cx="6858000" cy="694944"/>
            </a:xfrm>
            <a:custGeom>
              <a:avLst/>
              <a:gdLst/>
              <a:ahLst/>
              <a:cxnLst/>
              <a:rect r="r" b="b" t="t" l="l"/>
              <a:pathLst>
                <a:path h="694944" w="6858000">
                  <a:moveTo>
                    <a:pt x="0" y="0"/>
                  </a:moveTo>
                  <a:lnTo>
                    <a:pt x="6858000" y="0"/>
                  </a:lnTo>
                  <a:lnTo>
                    <a:pt x="6858000" y="694944"/>
                  </a:lnTo>
                  <a:lnTo>
                    <a:pt x="0" y="694944"/>
                  </a:lnTo>
                  <a:close/>
                </a:path>
              </a:pathLst>
            </a:custGeom>
            <a:blipFill>
              <a:blip r:embed="rId2">
                <a:alphaModFix amt="0"/>
              </a:blip>
              <a:stretch>
                <a:fillRect l="0" t="-142286" r="0" b="-142286"/>
              </a:stretch>
            </a:blipFill>
          </p:spPr>
        </p:sp>
        <p:sp>
          <p:nvSpPr>
            <p:cNvPr name="TextBox 36" id="36"/>
            <p:cNvSpPr txBox="true"/>
            <p:nvPr/>
          </p:nvSpPr>
          <p:spPr>
            <a:xfrm>
              <a:off x="0" y="-38100"/>
              <a:ext cx="6858000" cy="733044"/>
            </a:xfrm>
            <a:prstGeom prst="rect">
              <a:avLst/>
            </a:prstGeom>
          </p:spPr>
          <p:txBody>
            <a:bodyPr anchor="ctr" rtlCol="false" tIns="0" lIns="0" bIns="0" rIns="0"/>
            <a:lstStyle/>
            <a:p>
              <a:pPr algn="ctr">
                <a:lnSpc>
                  <a:spcPts val="2250"/>
                </a:lnSpc>
              </a:pPr>
              <a:r>
                <a:rPr lang="en-US" sz="1875">
                  <a:solidFill>
                    <a:srgbClr val="6B7280"/>
                  </a:solidFill>
                  <a:latin typeface="Calibri (MS)"/>
                  <a:ea typeface="Calibri (MS)"/>
                  <a:cs typeface="Calibri (MS)"/>
                  <a:sym typeface="Calibri (MS)"/>
                </a:rPr>
                <a:t>Data Privacy Act</a:t>
              </a:r>
            </a:p>
          </p:txBody>
        </p:sp>
      </p:grpSp>
      <p:grpSp>
        <p:nvGrpSpPr>
          <p:cNvPr name="Group 37" id="37"/>
          <p:cNvGrpSpPr/>
          <p:nvPr/>
        </p:nvGrpSpPr>
        <p:grpSpPr>
          <a:xfrm rot="0">
            <a:off x="960120" y="6446520"/>
            <a:ext cx="5143500" cy="329184"/>
            <a:chOff x="0" y="0"/>
            <a:chExt cx="6858000" cy="438912"/>
          </a:xfrm>
        </p:grpSpPr>
        <p:sp>
          <p:nvSpPr>
            <p:cNvPr name="Freeform 38" id="38"/>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39" id="39"/>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9AA3B8"/>
                  </a:solidFill>
                  <a:latin typeface="Arimo"/>
                  <a:ea typeface="Arimo"/>
                  <a:cs typeface="Arimo"/>
                  <a:sym typeface="Arimo"/>
                </a:rPr>
                <a:t>DPA</a:t>
              </a:r>
            </a:p>
          </p:txBody>
        </p:sp>
      </p:grpSp>
      <p:grpSp>
        <p:nvGrpSpPr>
          <p:cNvPr name="Group 40" id="40"/>
          <p:cNvGrpSpPr/>
          <p:nvPr/>
        </p:nvGrpSpPr>
        <p:grpSpPr>
          <a:xfrm rot="0">
            <a:off x="6533007" y="5998083"/>
            <a:ext cx="5162550" cy="842010"/>
            <a:chOff x="0" y="0"/>
            <a:chExt cx="6883400" cy="1122680"/>
          </a:xfrm>
        </p:grpSpPr>
        <p:sp>
          <p:nvSpPr>
            <p:cNvPr name="Freeform 41" id="41"/>
            <p:cNvSpPr/>
            <p:nvPr/>
          </p:nvSpPr>
          <p:spPr>
            <a:xfrm flipH="false" flipV="false" rot="0">
              <a:off x="0" y="0"/>
              <a:ext cx="6883400" cy="1122680"/>
            </a:xfrm>
            <a:custGeom>
              <a:avLst/>
              <a:gdLst/>
              <a:ahLst/>
              <a:cxnLst/>
              <a:rect r="r" b="b" t="t" l="l"/>
              <a:pathLst>
                <a:path h="1122680" w="6883400">
                  <a:moveTo>
                    <a:pt x="0" y="168402"/>
                  </a:moveTo>
                  <a:cubicBezTo>
                    <a:pt x="0" y="75438"/>
                    <a:pt x="75438" y="0"/>
                    <a:pt x="168402" y="0"/>
                  </a:cubicBezTo>
                  <a:lnTo>
                    <a:pt x="6714998" y="0"/>
                  </a:lnTo>
                  <a:cubicBezTo>
                    <a:pt x="6807962" y="0"/>
                    <a:pt x="6883400" y="75438"/>
                    <a:pt x="6883400" y="168402"/>
                  </a:cubicBezTo>
                  <a:lnTo>
                    <a:pt x="6883400" y="954278"/>
                  </a:lnTo>
                  <a:cubicBezTo>
                    <a:pt x="6883400" y="1047242"/>
                    <a:pt x="6807962" y="1122680"/>
                    <a:pt x="6714998" y="1122680"/>
                  </a:cubicBezTo>
                  <a:lnTo>
                    <a:pt x="168402" y="1122680"/>
                  </a:lnTo>
                  <a:cubicBezTo>
                    <a:pt x="75438" y="1122680"/>
                    <a:pt x="0" y="1047242"/>
                    <a:pt x="0" y="954278"/>
                  </a:cubicBezTo>
                  <a:close/>
                </a:path>
              </a:pathLst>
            </a:custGeom>
            <a:solidFill>
              <a:srgbClr val="F4F7FC"/>
            </a:solidFill>
            <a:ln w="19050" cap="sq">
              <a:solidFill>
                <a:srgbClr val="D7DCEC"/>
              </a:solidFill>
              <a:prstDash val="solid"/>
              <a:miter/>
            </a:ln>
          </p:spPr>
        </p:sp>
      </p:grpSp>
      <p:grpSp>
        <p:nvGrpSpPr>
          <p:cNvPr name="Group 42" id="42"/>
          <p:cNvGrpSpPr/>
          <p:nvPr/>
        </p:nvGrpSpPr>
        <p:grpSpPr>
          <a:xfrm rot="0">
            <a:off x="6542532" y="6076188"/>
            <a:ext cx="5143500" cy="521208"/>
            <a:chOff x="0" y="0"/>
            <a:chExt cx="6858000" cy="694944"/>
          </a:xfrm>
        </p:grpSpPr>
        <p:sp>
          <p:nvSpPr>
            <p:cNvPr name="Freeform 43" id="43"/>
            <p:cNvSpPr/>
            <p:nvPr/>
          </p:nvSpPr>
          <p:spPr>
            <a:xfrm flipH="false" flipV="false" rot="0">
              <a:off x="0" y="0"/>
              <a:ext cx="6858000" cy="694944"/>
            </a:xfrm>
            <a:custGeom>
              <a:avLst/>
              <a:gdLst/>
              <a:ahLst/>
              <a:cxnLst/>
              <a:rect r="r" b="b" t="t" l="l"/>
              <a:pathLst>
                <a:path h="694944" w="6858000">
                  <a:moveTo>
                    <a:pt x="0" y="0"/>
                  </a:moveTo>
                  <a:lnTo>
                    <a:pt x="6858000" y="0"/>
                  </a:lnTo>
                  <a:lnTo>
                    <a:pt x="6858000" y="694944"/>
                  </a:lnTo>
                  <a:lnTo>
                    <a:pt x="0" y="694944"/>
                  </a:lnTo>
                  <a:close/>
                </a:path>
              </a:pathLst>
            </a:custGeom>
            <a:blipFill>
              <a:blip r:embed="rId2">
                <a:alphaModFix amt="0"/>
              </a:blip>
              <a:stretch>
                <a:fillRect l="0" t="-142286" r="0" b="-142286"/>
              </a:stretch>
            </a:blipFill>
          </p:spPr>
        </p:sp>
        <p:sp>
          <p:nvSpPr>
            <p:cNvPr name="TextBox 44" id="44"/>
            <p:cNvSpPr txBox="true"/>
            <p:nvPr/>
          </p:nvSpPr>
          <p:spPr>
            <a:xfrm>
              <a:off x="0" y="-38100"/>
              <a:ext cx="6858000" cy="733044"/>
            </a:xfrm>
            <a:prstGeom prst="rect">
              <a:avLst/>
            </a:prstGeom>
          </p:spPr>
          <p:txBody>
            <a:bodyPr anchor="ctr" rtlCol="false" tIns="0" lIns="0" bIns="0" rIns="0"/>
            <a:lstStyle/>
            <a:p>
              <a:pPr algn="ctr">
                <a:lnSpc>
                  <a:spcPts val="2250"/>
                </a:lnSpc>
              </a:pPr>
              <a:r>
                <a:rPr lang="en-US" sz="1875">
                  <a:solidFill>
                    <a:srgbClr val="6B7280"/>
                  </a:solidFill>
                  <a:latin typeface="Calibri (MS)"/>
                  <a:ea typeface="Calibri (MS)"/>
                  <a:cs typeface="Calibri (MS)"/>
                  <a:sym typeface="Calibri (MS)"/>
                </a:rPr>
                <a:t>DICT Act / NCSP</a:t>
              </a:r>
            </a:p>
          </p:txBody>
        </p:sp>
      </p:grpSp>
      <p:grpSp>
        <p:nvGrpSpPr>
          <p:cNvPr name="Group 45" id="45"/>
          <p:cNvGrpSpPr/>
          <p:nvPr/>
        </p:nvGrpSpPr>
        <p:grpSpPr>
          <a:xfrm rot="0">
            <a:off x="6542532" y="6446520"/>
            <a:ext cx="5143500" cy="329184"/>
            <a:chOff x="0" y="0"/>
            <a:chExt cx="6858000" cy="438912"/>
          </a:xfrm>
        </p:grpSpPr>
        <p:sp>
          <p:nvSpPr>
            <p:cNvPr name="Freeform 46" id="46"/>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47" id="47"/>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9AA3B8"/>
                  </a:solidFill>
                  <a:latin typeface="Arimo"/>
                  <a:ea typeface="Arimo"/>
                  <a:cs typeface="Arimo"/>
                  <a:sym typeface="Arimo"/>
                </a:rPr>
                <a:t>DICT</a:t>
              </a:r>
            </a:p>
          </p:txBody>
        </p:sp>
      </p:grpSp>
      <p:grpSp>
        <p:nvGrpSpPr>
          <p:cNvPr name="Group 48" id="48"/>
          <p:cNvGrpSpPr/>
          <p:nvPr/>
        </p:nvGrpSpPr>
        <p:grpSpPr>
          <a:xfrm rot="0">
            <a:off x="12115419" y="4928235"/>
            <a:ext cx="5162550" cy="1911858"/>
            <a:chOff x="0" y="0"/>
            <a:chExt cx="6883400" cy="2549144"/>
          </a:xfrm>
        </p:grpSpPr>
        <p:sp>
          <p:nvSpPr>
            <p:cNvPr name="Freeform 49" id="49"/>
            <p:cNvSpPr/>
            <p:nvPr/>
          </p:nvSpPr>
          <p:spPr>
            <a:xfrm flipH="false" flipV="false" rot="0">
              <a:off x="0" y="0"/>
              <a:ext cx="6883400" cy="2549144"/>
            </a:xfrm>
            <a:custGeom>
              <a:avLst/>
              <a:gdLst/>
              <a:ahLst/>
              <a:cxnLst/>
              <a:rect r="r" b="b" t="t" l="l"/>
              <a:pathLst>
                <a:path h="2549144" w="6883400">
                  <a:moveTo>
                    <a:pt x="0" y="166243"/>
                  </a:moveTo>
                  <a:cubicBezTo>
                    <a:pt x="0" y="74422"/>
                    <a:pt x="74422" y="0"/>
                    <a:pt x="166243" y="0"/>
                  </a:cubicBezTo>
                  <a:lnTo>
                    <a:pt x="6717157" y="0"/>
                  </a:lnTo>
                  <a:cubicBezTo>
                    <a:pt x="6808978" y="0"/>
                    <a:pt x="6883400" y="74422"/>
                    <a:pt x="6883400" y="166243"/>
                  </a:cubicBezTo>
                  <a:lnTo>
                    <a:pt x="6883400" y="2382901"/>
                  </a:lnTo>
                  <a:cubicBezTo>
                    <a:pt x="6883400" y="2474722"/>
                    <a:pt x="6808978" y="2549144"/>
                    <a:pt x="6717157" y="2549144"/>
                  </a:cubicBezTo>
                  <a:lnTo>
                    <a:pt x="166243" y="2549144"/>
                  </a:lnTo>
                  <a:cubicBezTo>
                    <a:pt x="74422" y="2549144"/>
                    <a:pt x="0" y="2474722"/>
                    <a:pt x="0" y="2382901"/>
                  </a:cubicBezTo>
                  <a:close/>
                </a:path>
              </a:pathLst>
            </a:custGeom>
            <a:solidFill>
              <a:srgbClr val="F4F7FC"/>
            </a:solidFill>
            <a:ln w="19050" cap="sq">
              <a:solidFill>
                <a:srgbClr val="D7DCEC"/>
              </a:solidFill>
              <a:prstDash val="solid"/>
              <a:miter/>
            </a:ln>
          </p:spPr>
        </p:sp>
      </p:grpSp>
      <p:grpSp>
        <p:nvGrpSpPr>
          <p:cNvPr name="Group 50" id="50"/>
          <p:cNvGrpSpPr/>
          <p:nvPr/>
        </p:nvGrpSpPr>
        <p:grpSpPr>
          <a:xfrm rot="0">
            <a:off x="12124944" y="5006340"/>
            <a:ext cx="5143500" cy="1591056"/>
            <a:chOff x="0" y="0"/>
            <a:chExt cx="6858000" cy="2121408"/>
          </a:xfrm>
        </p:grpSpPr>
        <p:sp>
          <p:nvSpPr>
            <p:cNvPr name="Freeform 51" id="51"/>
            <p:cNvSpPr/>
            <p:nvPr/>
          </p:nvSpPr>
          <p:spPr>
            <a:xfrm flipH="false" flipV="false" rot="0">
              <a:off x="0" y="0"/>
              <a:ext cx="6858000" cy="2121408"/>
            </a:xfrm>
            <a:custGeom>
              <a:avLst/>
              <a:gdLst/>
              <a:ahLst/>
              <a:cxnLst/>
              <a:rect r="r" b="b" t="t" l="l"/>
              <a:pathLst>
                <a:path h="2121408" w="6858000">
                  <a:moveTo>
                    <a:pt x="0" y="0"/>
                  </a:moveTo>
                  <a:lnTo>
                    <a:pt x="6858000" y="0"/>
                  </a:lnTo>
                  <a:lnTo>
                    <a:pt x="6858000" y="2121408"/>
                  </a:lnTo>
                  <a:lnTo>
                    <a:pt x="0" y="2121408"/>
                  </a:lnTo>
                  <a:close/>
                </a:path>
              </a:pathLst>
            </a:custGeom>
            <a:blipFill>
              <a:blip r:embed="rId2">
                <a:alphaModFix amt="0"/>
              </a:blip>
              <a:stretch>
                <a:fillRect l="0" t="-12990" r="0" b="-12990"/>
              </a:stretch>
            </a:blipFill>
          </p:spPr>
        </p:sp>
        <p:sp>
          <p:nvSpPr>
            <p:cNvPr name="TextBox 52" id="52"/>
            <p:cNvSpPr txBox="true"/>
            <p:nvPr/>
          </p:nvSpPr>
          <p:spPr>
            <a:xfrm>
              <a:off x="0" y="-38100"/>
              <a:ext cx="6858000" cy="2159508"/>
            </a:xfrm>
            <a:prstGeom prst="rect">
              <a:avLst/>
            </a:prstGeom>
          </p:spPr>
          <p:txBody>
            <a:bodyPr anchor="ctr" rtlCol="false" tIns="0" lIns="0" bIns="0" rIns="0"/>
            <a:lstStyle/>
            <a:p>
              <a:pPr algn="ctr">
                <a:lnSpc>
                  <a:spcPts val="2250"/>
                </a:lnSpc>
              </a:pPr>
              <a:r>
                <a:rPr lang="en-US" sz="1875">
                  <a:solidFill>
                    <a:srgbClr val="6B7280"/>
                  </a:solidFill>
                  <a:latin typeface="Calibri (MS)"/>
                  <a:ea typeface="Calibri (MS)"/>
                  <a:cs typeface="Calibri (MS)"/>
                  <a:sym typeface="Calibri (MS)"/>
                </a:rPr>
                <a:t>Critical Infra. Protection</a:t>
              </a:r>
            </a:p>
          </p:txBody>
        </p:sp>
      </p:grpSp>
      <p:grpSp>
        <p:nvGrpSpPr>
          <p:cNvPr name="Group 53" id="53"/>
          <p:cNvGrpSpPr/>
          <p:nvPr/>
        </p:nvGrpSpPr>
        <p:grpSpPr>
          <a:xfrm rot="0">
            <a:off x="12124944" y="6446520"/>
            <a:ext cx="5143500" cy="329184"/>
            <a:chOff x="0" y="0"/>
            <a:chExt cx="6858000" cy="438912"/>
          </a:xfrm>
        </p:grpSpPr>
        <p:sp>
          <p:nvSpPr>
            <p:cNvPr name="Freeform 54" id="54"/>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55" id="55"/>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9AA3B8"/>
                  </a:solidFill>
                  <a:latin typeface="Arimo"/>
                  <a:ea typeface="Arimo"/>
                  <a:cs typeface="Arimo"/>
                  <a:sym typeface="Arimo"/>
                </a:rPr>
                <a:t>CII</a:t>
              </a:r>
            </a:p>
          </p:txBody>
        </p:sp>
      </p:grpSp>
      <p:grpSp>
        <p:nvGrpSpPr>
          <p:cNvPr name="Group 56" id="56"/>
          <p:cNvGrpSpPr/>
          <p:nvPr/>
        </p:nvGrpSpPr>
        <p:grpSpPr>
          <a:xfrm rot="0">
            <a:off x="950595" y="7328535"/>
            <a:ext cx="16341090" cy="1596390"/>
            <a:chOff x="0" y="0"/>
            <a:chExt cx="21788120" cy="2128520"/>
          </a:xfrm>
        </p:grpSpPr>
        <p:sp>
          <p:nvSpPr>
            <p:cNvPr name="Freeform 57" id="57"/>
            <p:cNvSpPr/>
            <p:nvPr/>
          </p:nvSpPr>
          <p:spPr>
            <a:xfrm flipH="false" flipV="false" rot="0">
              <a:off x="0" y="0"/>
              <a:ext cx="21788120" cy="2128520"/>
            </a:xfrm>
            <a:custGeom>
              <a:avLst/>
              <a:gdLst/>
              <a:ahLst/>
              <a:cxnLst/>
              <a:rect r="r" b="b" t="t" l="l"/>
              <a:pathLst>
                <a:path h="2128520" w="21788120">
                  <a:moveTo>
                    <a:pt x="0" y="185039"/>
                  </a:moveTo>
                  <a:cubicBezTo>
                    <a:pt x="0" y="82931"/>
                    <a:pt x="82931" y="0"/>
                    <a:pt x="185039" y="0"/>
                  </a:cubicBezTo>
                  <a:lnTo>
                    <a:pt x="21603081" y="0"/>
                  </a:lnTo>
                  <a:cubicBezTo>
                    <a:pt x="21705317" y="0"/>
                    <a:pt x="21788120" y="82931"/>
                    <a:pt x="21788120" y="185039"/>
                  </a:cubicBezTo>
                  <a:lnTo>
                    <a:pt x="21788120" y="1943481"/>
                  </a:lnTo>
                  <a:cubicBezTo>
                    <a:pt x="21788120" y="2045716"/>
                    <a:pt x="21705190" y="2128520"/>
                    <a:pt x="21603081" y="2128520"/>
                  </a:cubicBezTo>
                  <a:lnTo>
                    <a:pt x="185039" y="2128520"/>
                  </a:lnTo>
                  <a:cubicBezTo>
                    <a:pt x="82931" y="2128520"/>
                    <a:pt x="0" y="2045589"/>
                    <a:pt x="0" y="1943481"/>
                  </a:cubicBezTo>
                  <a:close/>
                </a:path>
              </a:pathLst>
            </a:custGeom>
            <a:solidFill>
              <a:srgbClr val="FBF9F4"/>
            </a:solidFill>
            <a:ln w="19050" cap="sq">
              <a:solidFill>
                <a:srgbClr val="EFE6D2"/>
              </a:solidFill>
              <a:prstDash val="solid"/>
              <a:miter/>
            </a:ln>
          </p:spPr>
        </p:sp>
      </p:grpSp>
      <p:sp>
        <p:nvSpPr>
          <p:cNvPr name="TextBox 58" id="58"/>
          <p:cNvSpPr txBox="true"/>
          <p:nvPr/>
        </p:nvSpPr>
        <p:spPr>
          <a:xfrm rot="0">
            <a:off x="1463040" y="7494270"/>
            <a:ext cx="15316200" cy="1238250"/>
          </a:xfrm>
          <a:prstGeom prst="rect">
            <a:avLst/>
          </a:prstGeom>
        </p:spPr>
        <p:txBody>
          <a:bodyPr anchor="t" rtlCol="false" tIns="0" lIns="0" bIns="0" rIns="0">
            <a:spAutoFit/>
          </a:bodyPr>
          <a:lstStyle/>
          <a:p>
            <a:pPr algn="l">
              <a:lnSpc>
                <a:spcPts val="2764"/>
              </a:lnSpc>
            </a:pPr>
            <a:r>
              <a:rPr lang="en-US" sz="1800">
                <a:solidFill>
                  <a:srgbClr val="23262F"/>
                </a:solidFill>
                <a:latin typeface="Calibri (MS)"/>
                <a:ea typeface="Calibri (MS)"/>
                <a:cs typeface="Calibri (MS)"/>
                <a:sym typeface="Calibri (MS)"/>
              </a:rPr>
              <a:t>Under RA 8792, an electronic document “shall not be denied legal effect... solely on the ground that it is in electronic form.” The emailed approval counts.</a:t>
            </a:r>
          </a:p>
        </p:txBody>
      </p:sp>
      <p:grpSp>
        <p:nvGrpSpPr>
          <p:cNvPr name="Group 59" id="59"/>
          <p:cNvGrpSpPr/>
          <p:nvPr/>
        </p:nvGrpSpPr>
        <p:grpSpPr>
          <a:xfrm rot="0">
            <a:off x="685800" y="9710928"/>
            <a:ext cx="10972800" cy="411480"/>
            <a:chOff x="0" y="0"/>
            <a:chExt cx="14630400" cy="548640"/>
          </a:xfrm>
        </p:grpSpPr>
        <p:sp>
          <p:nvSpPr>
            <p:cNvPr name="Freeform 60" id="60"/>
            <p:cNvSpPr/>
            <p:nvPr/>
          </p:nvSpPr>
          <p:spPr>
            <a:xfrm flipH="false" flipV="false" rot="0">
              <a:off x="0" y="0"/>
              <a:ext cx="14630400" cy="548640"/>
            </a:xfrm>
            <a:custGeom>
              <a:avLst/>
              <a:gdLst/>
              <a:ahLst/>
              <a:cxnLst/>
              <a:rect r="r" b="b" t="t" l="l"/>
              <a:pathLst>
                <a:path h="548640" w="14630400">
                  <a:moveTo>
                    <a:pt x="0" y="0"/>
                  </a:moveTo>
                  <a:lnTo>
                    <a:pt x="14630400" y="0"/>
                  </a:lnTo>
                  <a:lnTo>
                    <a:pt x="14630400" y="548640"/>
                  </a:lnTo>
                  <a:lnTo>
                    <a:pt x="0" y="548640"/>
                  </a:lnTo>
                  <a:close/>
                </a:path>
              </a:pathLst>
            </a:custGeom>
            <a:blipFill>
              <a:blip r:embed="rId2">
                <a:alphaModFix amt="0"/>
              </a:blip>
              <a:stretch>
                <a:fillRect l="0" t="-469601" r="0" b="-469601"/>
              </a:stretch>
            </a:blipFill>
          </p:spPr>
        </p:sp>
        <p:sp>
          <p:nvSpPr>
            <p:cNvPr name="TextBox 61" id="61"/>
            <p:cNvSpPr txBox="true"/>
            <p:nvPr/>
          </p:nvSpPr>
          <p:spPr>
            <a:xfrm>
              <a:off x="0" y="-38100"/>
              <a:ext cx="14630400" cy="586740"/>
            </a:xfrm>
            <a:prstGeom prst="rect">
              <a:avLst/>
            </a:prstGeom>
          </p:spPr>
          <p:txBody>
            <a:bodyPr anchor="ctr" rtlCol="false" tIns="0" lIns="0" bIns="0" rIns="0"/>
            <a:lstStyle/>
            <a:p>
              <a:pPr algn="l">
                <a:lnSpc>
                  <a:spcPts val="1800"/>
                </a:lnSpc>
              </a:pPr>
              <a:r>
                <a:rPr lang="en-US" sz="1500">
                  <a:solidFill>
                    <a:srgbClr val="6B7280"/>
                  </a:solidFill>
                  <a:latin typeface="Calibri (MS)"/>
                  <a:ea typeface="Calibri (MS)"/>
                  <a:cs typeface="Calibri (MS)"/>
                  <a:sym typeface="Calibri (MS)"/>
                </a:rPr>
                <a:t>Davao del Norte Provincial Government — Cybersecurity Seminar</a:t>
              </a:r>
            </a:p>
          </p:txBody>
        </p:sp>
      </p:grpSp>
      <p:grpSp>
        <p:nvGrpSpPr>
          <p:cNvPr name="Group 62" id="62"/>
          <p:cNvGrpSpPr/>
          <p:nvPr/>
        </p:nvGrpSpPr>
        <p:grpSpPr>
          <a:xfrm rot="0">
            <a:off x="16911828" y="9710928"/>
            <a:ext cx="685800" cy="411480"/>
            <a:chOff x="0" y="0"/>
            <a:chExt cx="914400" cy="548640"/>
          </a:xfrm>
        </p:grpSpPr>
        <p:sp>
          <p:nvSpPr>
            <p:cNvPr name="Freeform 63" id="63"/>
            <p:cNvSpPr/>
            <p:nvPr/>
          </p:nvSpPr>
          <p:spPr>
            <a:xfrm flipH="false" flipV="false" rot="0">
              <a:off x="0" y="0"/>
              <a:ext cx="914400" cy="548640"/>
            </a:xfrm>
            <a:custGeom>
              <a:avLst/>
              <a:gdLst/>
              <a:ahLst/>
              <a:cxnLst/>
              <a:rect r="r" b="b" t="t" l="l"/>
              <a:pathLst>
                <a:path h="548640" w="914400">
                  <a:moveTo>
                    <a:pt x="0" y="0"/>
                  </a:moveTo>
                  <a:lnTo>
                    <a:pt x="914400" y="0"/>
                  </a:lnTo>
                  <a:lnTo>
                    <a:pt x="914400" y="548640"/>
                  </a:lnTo>
                  <a:lnTo>
                    <a:pt x="0" y="548640"/>
                  </a:lnTo>
                  <a:close/>
                </a:path>
              </a:pathLst>
            </a:custGeom>
            <a:blipFill>
              <a:blip r:embed="rId2">
                <a:alphaModFix amt="0"/>
              </a:blip>
              <a:stretch>
                <a:fillRect l="-26982" t="0" r="-26982" b="0"/>
              </a:stretch>
            </a:blipFill>
          </p:spPr>
        </p:sp>
        <p:sp>
          <p:nvSpPr>
            <p:cNvPr name="TextBox 64" id="64"/>
            <p:cNvSpPr txBox="true"/>
            <p:nvPr/>
          </p:nvSpPr>
          <p:spPr>
            <a:xfrm>
              <a:off x="0" y="-38100"/>
              <a:ext cx="914400" cy="586740"/>
            </a:xfrm>
            <a:prstGeom prst="rect">
              <a:avLst/>
            </a:prstGeom>
          </p:spPr>
          <p:txBody>
            <a:bodyPr anchor="ctr" rtlCol="false" tIns="0" lIns="0" bIns="0" rIns="0"/>
            <a:lstStyle/>
            <a:p>
              <a:pPr algn="r">
                <a:lnSpc>
                  <a:spcPts val="1800"/>
                </a:lnSpc>
              </a:pPr>
              <a:r>
                <a:rPr lang="en-US" sz="1500">
                  <a:solidFill>
                    <a:srgbClr val="6B7280"/>
                  </a:solidFill>
                  <a:latin typeface="Calibri (MS)"/>
                  <a:ea typeface="Calibri (MS)"/>
                  <a:cs typeface="Calibri (MS)"/>
                  <a:sym typeface="Calibri (MS)"/>
                </a:rPr>
                <a:t>16</a:t>
              </a:r>
            </a:p>
          </p:txBody>
        </p:sp>
      </p:grpSp>
    </p:spTree>
  </p:cSld>
  <p:clrMapOvr>
    <a:masterClrMapping/>
  </p:clrMapOvr>
</p:sld>
</file>

<file path=ppt/slides/slide13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60120" y="685800"/>
            <a:ext cx="13716000" cy="411480"/>
            <a:chOff x="0" y="0"/>
            <a:chExt cx="18288000" cy="548640"/>
          </a:xfrm>
        </p:grpSpPr>
        <p:sp>
          <p:nvSpPr>
            <p:cNvPr name="Freeform 3" id="3"/>
            <p:cNvSpPr/>
            <p:nvPr/>
          </p:nvSpPr>
          <p:spPr>
            <a:xfrm flipH="false" flipV="false" rot="0">
              <a:off x="0" y="0"/>
              <a:ext cx="18288000" cy="548640"/>
            </a:xfrm>
            <a:custGeom>
              <a:avLst/>
              <a:gdLst/>
              <a:ahLst/>
              <a:cxnLst/>
              <a:rect r="r" b="b" t="t" l="l"/>
              <a:pathLst>
                <a:path h="548640" w="18288000">
                  <a:moveTo>
                    <a:pt x="0" y="0"/>
                  </a:moveTo>
                  <a:lnTo>
                    <a:pt x="18288000" y="0"/>
                  </a:lnTo>
                  <a:lnTo>
                    <a:pt x="18288000" y="548640"/>
                  </a:lnTo>
                  <a:lnTo>
                    <a:pt x="0" y="548640"/>
                  </a:lnTo>
                  <a:close/>
                </a:path>
              </a:pathLst>
            </a:custGeom>
            <a:blipFill>
              <a:blip r:embed="rId2">
                <a:alphaModFix amt="0"/>
              </a:blip>
              <a:stretch>
                <a:fillRect l="0" t="-599501" r="0" b="-599501"/>
              </a:stretch>
            </a:blipFill>
          </p:spPr>
        </p:sp>
        <p:sp>
          <p:nvSpPr>
            <p:cNvPr name="TextBox 4" id="4"/>
            <p:cNvSpPr txBox="true"/>
            <p:nvPr/>
          </p:nvSpPr>
          <p:spPr>
            <a:xfrm>
              <a:off x="0" y="-38100"/>
              <a:ext cx="18288000" cy="586740"/>
            </a:xfrm>
            <a:prstGeom prst="rect">
              <a:avLst/>
            </a:prstGeom>
          </p:spPr>
          <p:txBody>
            <a:bodyPr anchor="ctr" rtlCol="false" tIns="0" lIns="0" bIns="0" rIns="0"/>
            <a:lstStyle/>
            <a:p>
              <a:pPr algn="l">
                <a:lnSpc>
                  <a:spcPts val="2160"/>
                </a:lnSpc>
              </a:pPr>
              <a:r>
                <a:rPr lang="en-US" b="true" sz="1800" spc="225">
                  <a:solidFill>
                    <a:srgbClr val="00B4D8"/>
                  </a:solidFill>
                  <a:latin typeface="Calibri (MS) Bold"/>
                  <a:ea typeface="Calibri (MS) Bold"/>
                  <a:cs typeface="Calibri (MS) Bold"/>
                  <a:sym typeface="Calibri (MS) Bold"/>
                </a:rPr>
                <a:t>PH CYBER LAW SORT · SCENARIO</a:t>
              </a:r>
            </a:p>
          </p:txBody>
        </p:sp>
      </p:grpSp>
      <p:grpSp>
        <p:nvGrpSpPr>
          <p:cNvPr name="Group 5" id="5"/>
          <p:cNvGrpSpPr/>
          <p:nvPr/>
        </p:nvGrpSpPr>
        <p:grpSpPr>
          <a:xfrm rot="0">
            <a:off x="960120" y="1069848"/>
            <a:ext cx="10972800" cy="822960"/>
            <a:chOff x="0" y="0"/>
            <a:chExt cx="14630400" cy="1097280"/>
          </a:xfrm>
        </p:grpSpPr>
        <p:sp>
          <p:nvSpPr>
            <p:cNvPr name="Freeform 6" id="6"/>
            <p:cNvSpPr/>
            <p:nvPr/>
          </p:nvSpPr>
          <p:spPr>
            <a:xfrm flipH="false" flipV="false" rot="0">
              <a:off x="0" y="0"/>
              <a:ext cx="14630400" cy="1097280"/>
            </a:xfrm>
            <a:custGeom>
              <a:avLst/>
              <a:gdLst/>
              <a:ahLst/>
              <a:cxnLst/>
              <a:rect r="r" b="b" t="t" l="l"/>
              <a:pathLst>
                <a:path h="1097280" w="14630400">
                  <a:moveTo>
                    <a:pt x="0" y="0"/>
                  </a:moveTo>
                  <a:lnTo>
                    <a:pt x="14630400" y="0"/>
                  </a:lnTo>
                  <a:lnTo>
                    <a:pt x="14630400" y="1097280"/>
                  </a:lnTo>
                  <a:lnTo>
                    <a:pt x="0" y="1097280"/>
                  </a:lnTo>
                  <a:close/>
                </a:path>
              </a:pathLst>
            </a:custGeom>
            <a:blipFill>
              <a:blip r:embed="rId2">
                <a:alphaModFix amt="0"/>
              </a:blip>
              <a:stretch>
                <a:fillRect l="0" t="-209800" r="0" b="-209800"/>
              </a:stretch>
            </a:blipFill>
          </p:spPr>
        </p:sp>
        <p:sp>
          <p:nvSpPr>
            <p:cNvPr name="TextBox 7" id="7"/>
            <p:cNvSpPr txBox="true"/>
            <p:nvPr/>
          </p:nvSpPr>
          <p:spPr>
            <a:xfrm>
              <a:off x="0" y="0"/>
              <a:ext cx="14630400" cy="1097280"/>
            </a:xfrm>
            <a:prstGeom prst="rect">
              <a:avLst/>
            </a:prstGeom>
          </p:spPr>
          <p:txBody>
            <a:bodyPr anchor="ctr" rtlCol="false" tIns="0" lIns="0" bIns="0" rIns="0"/>
            <a:lstStyle/>
            <a:p>
              <a:pPr algn="l">
                <a:lnSpc>
                  <a:spcPts val="4680"/>
                </a:lnSpc>
              </a:pPr>
              <a:r>
                <a:rPr lang="en-US" sz="3900" b="true">
                  <a:solidFill>
                    <a:srgbClr val="1E2761"/>
                  </a:solidFill>
                  <a:latin typeface="Cambria Bold"/>
                  <a:ea typeface="Cambria Bold"/>
                  <a:cs typeface="Cambria Bold"/>
                  <a:sym typeface="Cambria Bold"/>
                </a:rPr>
                <a:t>Scenario 4</a:t>
              </a:r>
            </a:p>
          </p:txBody>
        </p:sp>
      </p:grpSp>
      <p:grpSp>
        <p:nvGrpSpPr>
          <p:cNvPr name="Group 8" id="8"/>
          <p:cNvGrpSpPr/>
          <p:nvPr/>
        </p:nvGrpSpPr>
        <p:grpSpPr>
          <a:xfrm rot="0">
            <a:off x="960120" y="1810512"/>
            <a:ext cx="8229600" cy="411480"/>
            <a:chOff x="0" y="0"/>
            <a:chExt cx="10972800" cy="548640"/>
          </a:xfrm>
        </p:grpSpPr>
        <p:sp>
          <p:nvSpPr>
            <p:cNvPr name="Freeform 9" id="9"/>
            <p:cNvSpPr/>
            <p:nvPr/>
          </p:nvSpPr>
          <p:spPr>
            <a:xfrm flipH="false" flipV="false" rot="0">
              <a:off x="0" y="0"/>
              <a:ext cx="10972800" cy="548640"/>
            </a:xfrm>
            <a:custGeom>
              <a:avLst/>
              <a:gdLst/>
              <a:ahLst/>
              <a:cxnLst/>
              <a:rect r="r" b="b" t="t" l="l"/>
              <a:pathLst>
                <a:path h="548640" w="10972800">
                  <a:moveTo>
                    <a:pt x="0" y="0"/>
                  </a:moveTo>
                  <a:lnTo>
                    <a:pt x="10972800" y="0"/>
                  </a:lnTo>
                  <a:lnTo>
                    <a:pt x="10972800" y="548640"/>
                  </a:lnTo>
                  <a:lnTo>
                    <a:pt x="0" y="548640"/>
                  </a:lnTo>
                  <a:close/>
                </a:path>
              </a:pathLst>
            </a:custGeom>
            <a:blipFill>
              <a:blip r:embed="rId2">
                <a:alphaModFix amt="0"/>
              </a:blip>
              <a:stretch>
                <a:fillRect l="0" t="-339700" r="0" b="-339700"/>
              </a:stretch>
            </a:blipFill>
          </p:spPr>
        </p:sp>
        <p:sp>
          <p:nvSpPr>
            <p:cNvPr name="TextBox 10" id="10"/>
            <p:cNvSpPr txBox="true"/>
            <p:nvPr/>
          </p:nvSpPr>
          <p:spPr>
            <a:xfrm>
              <a:off x="0" y="-28575"/>
              <a:ext cx="10972800" cy="577215"/>
            </a:xfrm>
            <a:prstGeom prst="rect">
              <a:avLst/>
            </a:prstGeom>
          </p:spPr>
          <p:txBody>
            <a:bodyPr anchor="ctr" rtlCol="false" tIns="0" lIns="0" bIns="0" rIns="0"/>
            <a:lstStyle/>
            <a:p>
              <a:pPr algn="l">
                <a:lnSpc>
                  <a:spcPts val="1980"/>
                </a:lnSpc>
              </a:pPr>
              <a:r>
                <a:rPr lang="en-US" sz="1650">
                  <a:solidFill>
                    <a:srgbClr val="6B7280"/>
                  </a:solidFill>
                  <a:latin typeface="Calibri (MS)"/>
                  <a:ea typeface="Calibri (MS)"/>
                  <a:cs typeface="Calibri (MS)"/>
                  <a:sym typeface="Calibri (MS)"/>
                </a:rPr>
                <a:t>4 of 15</a:t>
              </a:r>
            </a:p>
          </p:txBody>
        </p:sp>
      </p:grpSp>
      <p:grpSp>
        <p:nvGrpSpPr>
          <p:cNvPr name="Group 11" id="11"/>
          <p:cNvGrpSpPr/>
          <p:nvPr/>
        </p:nvGrpSpPr>
        <p:grpSpPr>
          <a:xfrm rot="0">
            <a:off x="960120" y="2537460"/>
            <a:ext cx="16322040" cy="2811780"/>
            <a:chOff x="0" y="0"/>
            <a:chExt cx="21762720" cy="3749040"/>
          </a:xfrm>
        </p:grpSpPr>
        <p:sp>
          <p:nvSpPr>
            <p:cNvPr name="Freeform 12" id="12"/>
            <p:cNvSpPr/>
            <p:nvPr/>
          </p:nvSpPr>
          <p:spPr>
            <a:xfrm flipH="false" flipV="false" rot="0">
              <a:off x="0" y="0"/>
              <a:ext cx="21762720" cy="3749040"/>
            </a:xfrm>
            <a:custGeom>
              <a:avLst/>
              <a:gdLst/>
              <a:ahLst/>
              <a:cxnLst/>
              <a:rect r="r" b="b" t="t" l="l"/>
              <a:pathLst>
                <a:path h="3749040" w="21762720">
                  <a:moveTo>
                    <a:pt x="0" y="182880"/>
                  </a:moveTo>
                  <a:cubicBezTo>
                    <a:pt x="0" y="81915"/>
                    <a:pt x="81915" y="0"/>
                    <a:pt x="182880" y="0"/>
                  </a:cubicBezTo>
                  <a:lnTo>
                    <a:pt x="21579839" y="0"/>
                  </a:lnTo>
                  <a:cubicBezTo>
                    <a:pt x="21680804" y="0"/>
                    <a:pt x="21762720" y="81915"/>
                    <a:pt x="21762720" y="182880"/>
                  </a:cubicBezTo>
                  <a:lnTo>
                    <a:pt x="21762720" y="3566160"/>
                  </a:lnTo>
                  <a:cubicBezTo>
                    <a:pt x="21762720" y="3667125"/>
                    <a:pt x="21680804" y="3749040"/>
                    <a:pt x="21579839" y="3749040"/>
                  </a:cubicBezTo>
                  <a:lnTo>
                    <a:pt x="182880" y="3749040"/>
                  </a:lnTo>
                  <a:cubicBezTo>
                    <a:pt x="81915" y="3749040"/>
                    <a:pt x="0" y="3667125"/>
                    <a:pt x="0" y="3566160"/>
                  </a:cubicBezTo>
                  <a:close/>
                </a:path>
              </a:pathLst>
            </a:custGeom>
            <a:solidFill>
              <a:srgbClr val="F4F7FC"/>
            </a:solidFill>
          </p:spPr>
        </p:sp>
      </p:grpSp>
      <p:grpSp>
        <p:nvGrpSpPr>
          <p:cNvPr name="Group 13" id="13"/>
          <p:cNvGrpSpPr/>
          <p:nvPr/>
        </p:nvGrpSpPr>
        <p:grpSpPr>
          <a:xfrm rot="0">
            <a:off x="1440180" y="2811780"/>
            <a:ext cx="15361920" cy="2263140"/>
            <a:chOff x="0" y="0"/>
            <a:chExt cx="20482560" cy="3017520"/>
          </a:xfrm>
        </p:grpSpPr>
        <p:sp>
          <p:nvSpPr>
            <p:cNvPr name="Freeform 14" id="14"/>
            <p:cNvSpPr/>
            <p:nvPr/>
          </p:nvSpPr>
          <p:spPr>
            <a:xfrm flipH="false" flipV="false" rot="0">
              <a:off x="0" y="0"/>
              <a:ext cx="20482561" cy="3017520"/>
            </a:xfrm>
            <a:custGeom>
              <a:avLst/>
              <a:gdLst/>
              <a:ahLst/>
              <a:cxnLst/>
              <a:rect r="r" b="b" t="t" l="l"/>
              <a:pathLst>
                <a:path h="3017520" w="20482561">
                  <a:moveTo>
                    <a:pt x="0" y="0"/>
                  </a:moveTo>
                  <a:lnTo>
                    <a:pt x="20482561" y="0"/>
                  </a:lnTo>
                  <a:lnTo>
                    <a:pt x="20482561" y="3017520"/>
                  </a:lnTo>
                  <a:lnTo>
                    <a:pt x="0" y="3017520"/>
                  </a:lnTo>
                  <a:close/>
                </a:path>
              </a:pathLst>
            </a:custGeom>
            <a:blipFill>
              <a:blip r:embed="rId2">
                <a:alphaModFix amt="0"/>
              </a:blip>
              <a:stretch>
                <a:fillRect l="0" t="-82262" r="0" b="-82262"/>
              </a:stretch>
            </a:blipFill>
          </p:spPr>
        </p:sp>
        <p:sp>
          <p:nvSpPr>
            <p:cNvPr name="TextBox 15" id="15"/>
            <p:cNvSpPr txBox="true"/>
            <p:nvPr/>
          </p:nvSpPr>
          <p:spPr>
            <a:xfrm>
              <a:off x="0" y="-104775"/>
              <a:ext cx="20482560" cy="3122295"/>
            </a:xfrm>
            <a:prstGeom prst="rect">
              <a:avLst/>
            </a:prstGeom>
          </p:spPr>
          <p:txBody>
            <a:bodyPr anchor="ctr" rtlCol="false" tIns="0" lIns="0" bIns="0" rIns="0"/>
            <a:lstStyle/>
            <a:p>
              <a:pPr algn="l">
                <a:lnSpc>
                  <a:spcPts val="4147"/>
                </a:lnSpc>
              </a:pPr>
              <a:r>
                <a:rPr lang="en-US" sz="2700" i="true">
                  <a:solidFill>
                    <a:srgbClr val="23262F"/>
                  </a:solidFill>
                  <a:latin typeface="Cambria Italics"/>
                  <a:ea typeface="Cambria Italics"/>
                  <a:cs typeface="Cambria Italics"/>
                  <a:sym typeface="Cambria Italics"/>
                </a:rPr>
                <a:t>"An IT contractor logs into the payroll system out of curiosity, using login credentials an employee never deactivated after leaving."</a:t>
              </a:r>
            </a:p>
          </p:txBody>
        </p:sp>
      </p:grpSp>
      <p:sp>
        <p:nvSpPr>
          <p:cNvPr name="TextBox 16" id="16"/>
          <p:cNvSpPr txBox="true"/>
          <p:nvPr/>
        </p:nvSpPr>
        <p:spPr>
          <a:xfrm rot="0">
            <a:off x="1051560" y="5604510"/>
            <a:ext cx="16139160" cy="864870"/>
          </a:xfrm>
          <a:prstGeom prst="rect">
            <a:avLst/>
          </a:prstGeom>
        </p:spPr>
        <p:txBody>
          <a:bodyPr anchor="t" rtlCol="false" tIns="0" lIns="0" bIns="0" rIns="0">
            <a:spAutoFit/>
          </a:bodyPr>
          <a:lstStyle/>
          <a:p>
            <a:pPr algn="ctr">
              <a:lnSpc>
                <a:spcPts val="3402"/>
              </a:lnSpc>
            </a:pPr>
            <a:r>
              <a:rPr lang="en-US" sz="2100" i="true">
                <a:solidFill>
                  <a:srgbClr val="6B7280"/>
                </a:solidFill>
                <a:latin typeface="Calibri (MS) Italics"/>
                <a:ea typeface="Calibri (MS) Italics"/>
                <a:cs typeface="Calibri (MS) Italics"/>
                <a:sym typeface="Calibri (MS) Italics"/>
              </a:rPr>
              <a:t>Which law or DICT issuance governs this? Discuss, then we'll reveal the answer.</a:t>
            </a:r>
          </a:p>
        </p:txBody>
      </p:sp>
      <p:grpSp>
        <p:nvGrpSpPr>
          <p:cNvPr name="Group 17" id="17"/>
          <p:cNvGrpSpPr/>
          <p:nvPr/>
        </p:nvGrpSpPr>
        <p:grpSpPr>
          <a:xfrm rot="0">
            <a:off x="950595" y="6779895"/>
            <a:ext cx="5162550" cy="910590"/>
            <a:chOff x="0" y="0"/>
            <a:chExt cx="6883400" cy="1214120"/>
          </a:xfrm>
        </p:grpSpPr>
        <p:sp>
          <p:nvSpPr>
            <p:cNvPr name="Freeform 18" id="18"/>
            <p:cNvSpPr/>
            <p:nvPr/>
          </p:nvSpPr>
          <p:spPr>
            <a:xfrm flipH="false" flipV="false" rot="0">
              <a:off x="0" y="0"/>
              <a:ext cx="6883400" cy="1214120"/>
            </a:xfrm>
            <a:custGeom>
              <a:avLst/>
              <a:gdLst/>
              <a:ahLst/>
              <a:cxnLst/>
              <a:rect r="r" b="b" t="t" l="l"/>
              <a:pathLst>
                <a:path h="1214120" w="6883400">
                  <a:moveTo>
                    <a:pt x="0" y="168148"/>
                  </a:moveTo>
                  <a:cubicBezTo>
                    <a:pt x="0" y="75311"/>
                    <a:pt x="75311" y="0"/>
                    <a:pt x="168148" y="0"/>
                  </a:cubicBezTo>
                  <a:lnTo>
                    <a:pt x="6715252" y="0"/>
                  </a:lnTo>
                  <a:cubicBezTo>
                    <a:pt x="6808089" y="0"/>
                    <a:pt x="6883400" y="75311"/>
                    <a:pt x="6883400" y="168148"/>
                  </a:cubicBezTo>
                  <a:lnTo>
                    <a:pt x="6883400" y="1045972"/>
                  </a:lnTo>
                  <a:cubicBezTo>
                    <a:pt x="6883400" y="1138809"/>
                    <a:pt x="6808089" y="1214120"/>
                    <a:pt x="6715252" y="1214120"/>
                  </a:cubicBezTo>
                  <a:lnTo>
                    <a:pt x="168148" y="1214120"/>
                  </a:lnTo>
                  <a:cubicBezTo>
                    <a:pt x="75311" y="1214120"/>
                    <a:pt x="0" y="1138809"/>
                    <a:pt x="0" y="1045972"/>
                  </a:cubicBezTo>
                  <a:close/>
                </a:path>
              </a:pathLst>
            </a:custGeom>
            <a:solidFill>
              <a:srgbClr val="F4F7FC"/>
            </a:solidFill>
            <a:ln w="19050" cap="sq">
              <a:solidFill>
                <a:srgbClr val="D7DCEC"/>
              </a:solidFill>
              <a:prstDash val="solid"/>
              <a:miter/>
            </a:ln>
          </p:spPr>
        </p:sp>
      </p:grpSp>
      <p:grpSp>
        <p:nvGrpSpPr>
          <p:cNvPr name="Group 19" id="19"/>
          <p:cNvGrpSpPr/>
          <p:nvPr/>
        </p:nvGrpSpPr>
        <p:grpSpPr>
          <a:xfrm rot="0">
            <a:off x="960120" y="6858000"/>
            <a:ext cx="5143500" cy="589788"/>
            <a:chOff x="0" y="0"/>
            <a:chExt cx="6858000" cy="786384"/>
          </a:xfrm>
        </p:grpSpPr>
        <p:sp>
          <p:nvSpPr>
            <p:cNvPr name="Freeform 20" id="20"/>
            <p:cNvSpPr/>
            <p:nvPr/>
          </p:nvSpPr>
          <p:spPr>
            <a:xfrm flipH="false" flipV="false" rot="0">
              <a:off x="0" y="0"/>
              <a:ext cx="6858000" cy="786384"/>
            </a:xfrm>
            <a:custGeom>
              <a:avLst/>
              <a:gdLst/>
              <a:ahLst/>
              <a:cxnLst/>
              <a:rect r="r" b="b" t="t" l="l"/>
              <a:pathLst>
                <a:path h="786384" w="6858000">
                  <a:moveTo>
                    <a:pt x="0" y="0"/>
                  </a:moveTo>
                  <a:lnTo>
                    <a:pt x="6858000" y="0"/>
                  </a:lnTo>
                  <a:lnTo>
                    <a:pt x="6858000" y="786384"/>
                  </a:lnTo>
                  <a:lnTo>
                    <a:pt x="0" y="786384"/>
                  </a:lnTo>
                  <a:close/>
                </a:path>
              </a:pathLst>
            </a:custGeom>
            <a:blipFill>
              <a:blip r:embed="rId2">
                <a:alphaModFix amt="0"/>
              </a:blip>
              <a:stretch>
                <a:fillRect l="0" t="-119927" r="0" b="-119927"/>
              </a:stretch>
            </a:blipFill>
          </p:spPr>
        </p:sp>
        <p:sp>
          <p:nvSpPr>
            <p:cNvPr name="TextBox 21" id="21"/>
            <p:cNvSpPr txBox="true"/>
            <p:nvPr/>
          </p:nvSpPr>
          <p:spPr>
            <a:xfrm>
              <a:off x="0" y="-38100"/>
              <a:ext cx="6858000" cy="824484"/>
            </a:xfrm>
            <a:prstGeom prst="rect">
              <a:avLst/>
            </a:prstGeom>
          </p:spPr>
          <p:txBody>
            <a:bodyPr anchor="ctr" rtlCol="false" tIns="0" lIns="0" bIns="0" rIns="0"/>
            <a:lstStyle/>
            <a:p>
              <a:pPr algn="ctr">
                <a:lnSpc>
                  <a:spcPts val="2250"/>
                </a:lnSpc>
              </a:pPr>
              <a:r>
                <a:rPr lang="en-US" sz="1875">
                  <a:solidFill>
                    <a:srgbClr val="6B7280"/>
                  </a:solidFill>
                  <a:latin typeface="Calibri (MS)"/>
                  <a:ea typeface="Calibri (MS)"/>
                  <a:cs typeface="Calibri (MS)"/>
                  <a:sym typeface="Calibri (MS)"/>
                </a:rPr>
                <a:t>E-Commerce Act</a:t>
              </a:r>
            </a:p>
          </p:txBody>
        </p:sp>
      </p:grpSp>
      <p:grpSp>
        <p:nvGrpSpPr>
          <p:cNvPr name="Group 22" id="22"/>
          <p:cNvGrpSpPr/>
          <p:nvPr/>
        </p:nvGrpSpPr>
        <p:grpSpPr>
          <a:xfrm rot="0">
            <a:off x="960120" y="7296912"/>
            <a:ext cx="5143500" cy="329184"/>
            <a:chOff x="0" y="0"/>
            <a:chExt cx="6858000" cy="438912"/>
          </a:xfrm>
        </p:grpSpPr>
        <p:sp>
          <p:nvSpPr>
            <p:cNvPr name="Freeform 23" id="23"/>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24" id="24"/>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9AA3B8"/>
                  </a:solidFill>
                  <a:latin typeface="Arimo"/>
                  <a:ea typeface="Arimo"/>
                  <a:cs typeface="Arimo"/>
                  <a:sym typeface="Arimo"/>
                </a:rPr>
                <a:t>ECA</a:t>
              </a:r>
            </a:p>
          </p:txBody>
        </p:sp>
      </p:grpSp>
      <p:grpSp>
        <p:nvGrpSpPr>
          <p:cNvPr name="Group 25" id="25"/>
          <p:cNvGrpSpPr/>
          <p:nvPr/>
        </p:nvGrpSpPr>
        <p:grpSpPr>
          <a:xfrm rot="0">
            <a:off x="6533007" y="6779895"/>
            <a:ext cx="5162550" cy="910590"/>
            <a:chOff x="0" y="0"/>
            <a:chExt cx="6883400" cy="1214120"/>
          </a:xfrm>
        </p:grpSpPr>
        <p:sp>
          <p:nvSpPr>
            <p:cNvPr name="Freeform 26" id="26"/>
            <p:cNvSpPr/>
            <p:nvPr/>
          </p:nvSpPr>
          <p:spPr>
            <a:xfrm flipH="false" flipV="false" rot="0">
              <a:off x="0" y="0"/>
              <a:ext cx="6883400" cy="1214120"/>
            </a:xfrm>
            <a:custGeom>
              <a:avLst/>
              <a:gdLst/>
              <a:ahLst/>
              <a:cxnLst/>
              <a:rect r="r" b="b" t="t" l="l"/>
              <a:pathLst>
                <a:path h="1214120" w="6883400">
                  <a:moveTo>
                    <a:pt x="0" y="168148"/>
                  </a:moveTo>
                  <a:cubicBezTo>
                    <a:pt x="0" y="75311"/>
                    <a:pt x="75311" y="0"/>
                    <a:pt x="168148" y="0"/>
                  </a:cubicBezTo>
                  <a:lnTo>
                    <a:pt x="6715252" y="0"/>
                  </a:lnTo>
                  <a:cubicBezTo>
                    <a:pt x="6808089" y="0"/>
                    <a:pt x="6883400" y="75311"/>
                    <a:pt x="6883400" y="168148"/>
                  </a:cubicBezTo>
                  <a:lnTo>
                    <a:pt x="6883400" y="1045972"/>
                  </a:lnTo>
                  <a:cubicBezTo>
                    <a:pt x="6883400" y="1138809"/>
                    <a:pt x="6808089" y="1214120"/>
                    <a:pt x="6715252" y="1214120"/>
                  </a:cubicBezTo>
                  <a:lnTo>
                    <a:pt x="168148" y="1214120"/>
                  </a:lnTo>
                  <a:cubicBezTo>
                    <a:pt x="75311" y="1214120"/>
                    <a:pt x="0" y="1138809"/>
                    <a:pt x="0" y="1045972"/>
                  </a:cubicBezTo>
                  <a:close/>
                </a:path>
              </a:pathLst>
            </a:custGeom>
            <a:solidFill>
              <a:srgbClr val="F4F7FC"/>
            </a:solidFill>
            <a:ln w="19050" cap="sq">
              <a:solidFill>
                <a:srgbClr val="D7DCEC"/>
              </a:solidFill>
              <a:prstDash val="solid"/>
              <a:miter/>
            </a:ln>
          </p:spPr>
        </p:sp>
      </p:grpSp>
      <p:grpSp>
        <p:nvGrpSpPr>
          <p:cNvPr name="Group 27" id="27"/>
          <p:cNvGrpSpPr/>
          <p:nvPr/>
        </p:nvGrpSpPr>
        <p:grpSpPr>
          <a:xfrm rot="0">
            <a:off x="6542532" y="6858000"/>
            <a:ext cx="5143500" cy="589788"/>
            <a:chOff x="0" y="0"/>
            <a:chExt cx="6858000" cy="786384"/>
          </a:xfrm>
        </p:grpSpPr>
        <p:sp>
          <p:nvSpPr>
            <p:cNvPr name="Freeform 28" id="28"/>
            <p:cNvSpPr/>
            <p:nvPr/>
          </p:nvSpPr>
          <p:spPr>
            <a:xfrm flipH="false" flipV="false" rot="0">
              <a:off x="0" y="0"/>
              <a:ext cx="6858000" cy="786384"/>
            </a:xfrm>
            <a:custGeom>
              <a:avLst/>
              <a:gdLst/>
              <a:ahLst/>
              <a:cxnLst/>
              <a:rect r="r" b="b" t="t" l="l"/>
              <a:pathLst>
                <a:path h="786384" w="6858000">
                  <a:moveTo>
                    <a:pt x="0" y="0"/>
                  </a:moveTo>
                  <a:lnTo>
                    <a:pt x="6858000" y="0"/>
                  </a:lnTo>
                  <a:lnTo>
                    <a:pt x="6858000" y="786384"/>
                  </a:lnTo>
                  <a:lnTo>
                    <a:pt x="0" y="786384"/>
                  </a:lnTo>
                  <a:close/>
                </a:path>
              </a:pathLst>
            </a:custGeom>
            <a:blipFill>
              <a:blip r:embed="rId2">
                <a:alphaModFix amt="0"/>
              </a:blip>
              <a:stretch>
                <a:fillRect l="0" t="-119927" r="0" b="-119927"/>
              </a:stretch>
            </a:blipFill>
          </p:spPr>
        </p:sp>
        <p:sp>
          <p:nvSpPr>
            <p:cNvPr name="TextBox 29" id="29"/>
            <p:cNvSpPr txBox="true"/>
            <p:nvPr/>
          </p:nvSpPr>
          <p:spPr>
            <a:xfrm>
              <a:off x="0" y="-38100"/>
              <a:ext cx="6858000" cy="824484"/>
            </a:xfrm>
            <a:prstGeom prst="rect">
              <a:avLst/>
            </a:prstGeom>
          </p:spPr>
          <p:txBody>
            <a:bodyPr anchor="ctr" rtlCol="false" tIns="0" lIns="0" bIns="0" rIns="0"/>
            <a:lstStyle/>
            <a:p>
              <a:pPr algn="ctr">
                <a:lnSpc>
                  <a:spcPts val="2250"/>
                </a:lnSpc>
              </a:pPr>
              <a:r>
                <a:rPr lang="en-US" sz="1875">
                  <a:solidFill>
                    <a:srgbClr val="6B7280"/>
                  </a:solidFill>
                  <a:latin typeface="Calibri (MS)"/>
                  <a:ea typeface="Calibri (MS)"/>
                  <a:cs typeface="Calibri (MS)"/>
                  <a:sym typeface="Calibri (MS)"/>
                </a:rPr>
                <a:t>Cybercrime Act</a:t>
              </a:r>
            </a:p>
          </p:txBody>
        </p:sp>
      </p:grpSp>
      <p:grpSp>
        <p:nvGrpSpPr>
          <p:cNvPr name="Group 30" id="30"/>
          <p:cNvGrpSpPr/>
          <p:nvPr/>
        </p:nvGrpSpPr>
        <p:grpSpPr>
          <a:xfrm rot="0">
            <a:off x="6542532" y="7296912"/>
            <a:ext cx="5143500" cy="329184"/>
            <a:chOff x="0" y="0"/>
            <a:chExt cx="6858000" cy="438912"/>
          </a:xfrm>
        </p:grpSpPr>
        <p:sp>
          <p:nvSpPr>
            <p:cNvPr name="Freeform 31" id="31"/>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32" id="32"/>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9AA3B8"/>
                  </a:solidFill>
                  <a:latin typeface="Arimo"/>
                  <a:ea typeface="Arimo"/>
                  <a:cs typeface="Arimo"/>
                  <a:sym typeface="Arimo"/>
                </a:rPr>
                <a:t>CPA</a:t>
              </a:r>
            </a:p>
          </p:txBody>
        </p:sp>
      </p:grpSp>
      <p:grpSp>
        <p:nvGrpSpPr>
          <p:cNvPr name="Group 33" id="33"/>
          <p:cNvGrpSpPr/>
          <p:nvPr/>
        </p:nvGrpSpPr>
        <p:grpSpPr>
          <a:xfrm rot="0">
            <a:off x="950595" y="7945755"/>
            <a:ext cx="5162550" cy="910590"/>
            <a:chOff x="0" y="0"/>
            <a:chExt cx="6883400" cy="1214120"/>
          </a:xfrm>
        </p:grpSpPr>
        <p:sp>
          <p:nvSpPr>
            <p:cNvPr name="Freeform 34" id="34"/>
            <p:cNvSpPr/>
            <p:nvPr/>
          </p:nvSpPr>
          <p:spPr>
            <a:xfrm flipH="false" flipV="false" rot="0">
              <a:off x="0" y="0"/>
              <a:ext cx="6883400" cy="1214120"/>
            </a:xfrm>
            <a:custGeom>
              <a:avLst/>
              <a:gdLst/>
              <a:ahLst/>
              <a:cxnLst/>
              <a:rect r="r" b="b" t="t" l="l"/>
              <a:pathLst>
                <a:path h="1214120" w="6883400">
                  <a:moveTo>
                    <a:pt x="0" y="168148"/>
                  </a:moveTo>
                  <a:cubicBezTo>
                    <a:pt x="0" y="75311"/>
                    <a:pt x="75311" y="0"/>
                    <a:pt x="168148" y="0"/>
                  </a:cubicBezTo>
                  <a:lnTo>
                    <a:pt x="6715252" y="0"/>
                  </a:lnTo>
                  <a:cubicBezTo>
                    <a:pt x="6808089" y="0"/>
                    <a:pt x="6883400" y="75311"/>
                    <a:pt x="6883400" y="168148"/>
                  </a:cubicBezTo>
                  <a:lnTo>
                    <a:pt x="6883400" y="1045972"/>
                  </a:lnTo>
                  <a:cubicBezTo>
                    <a:pt x="6883400" y="1138809"/>
                    <a:pt x="6808089" y="1214120"/>
                    <a:pt x="6715252" y="1214120"/>
                  </a:cubicBezTo>
                  <a:lnTo>
                    <a:pt x="168148" y="1214120"/>
                  </a:lnTo>
                  <a:cubicBezTo>
                    <a:pt x="75311" y="1214120"/>
                    <a:pt x="0" y="1138809"/>
                    <a:pt x="0" y="1045972"/>
                  </a:cubicBezTo>
                  <a:close/>
                </a:path>
              </a:pathLst>
            </a:custGeom>
            <a:solidFill>
              <a:srgbClr val="F4F7FC"/>
            </a:solidFill>
            <a:ln w="19050" cap="sq">
              <a:solidFill>
                <a:srgbClr val="D7DCEC"/>
              </a:solidFill>
              <a:prstDash val="solid"/>
              <a:miter/>
            </a:ln>
          </p:spPr>
        </p:sp>
      </p:grpSp>
      <p:grpSp>
        <p:nvGrpSpPr>
          <p:cNvPr name="Group 35" id="35"/>
          <p:cNvGrpSpPr/>
          <p:nvPr/>
        </p:nvGrpSpPr>
        <p:grpSpPr>
          <a:xfrm rot="0">
            <a:off x="960120" y="8023860"/>
            <a:ext cx="5143500" cy="589788"/>
            <a:chOff x="0" y="0"/>
            <a:chExt cx="6858000" cy="786384"/>
          </a:xfrm>
        </p:grpSpPr>
        <p:sp>
          <p:nvSpPr>
            <p:cNvPr name="Freeform 36" id="36"/>
            <p:cNvSpPr/>
            <p:nvPr/>
          </p:nvSpPr>
          <p:spPr>
            <a:xfrm flipH="false" flipV="false" rot="0">
              <a:off x="0" y="0"/>
              <a:ext cx="6858000" cy="786384"/>
            </a:xfrm>
            <a:custGeom>
              <a:avLst/>
              <a:gdLst/>
              <a:ahLst/>
              <a:cxnLst/>
              <a:rect r="r" b="b" t="t" l="l"/>
              <a:pathLst>
                <a:path h="786384" w="6858000">
                  <a:moveTo>
                    <a:pt x="0" y="0"/>
                  </a:moveTo>
                  <a:lnTo>
                    <a:pt x="6858000" y="0"/>
                  </a:lnTo>
                  <a:lnTo>
                    <a:pt x="6858000" y="786384"/>
                  </a:lnTo>
                  <a:lnTo>
                    <a:pt x="0" y="786384"/>
                  </a:lnTo>
                  <a:close/>
                </a:path>
              </a:pathLst>
            </a:custGeom>
            <a:blipFill>
              <a:blip r:embed="rId2">
                <a:alphaModFix amt="0"/>
              </a:blip>
              <a:stretch>
                <a:fillRect l="0" t="-119927" r="0" b="-119927"/>
              </a:stretch>
            </a:blipFill>
          </p:spPr>
        </p:sp>
        <p:sp>
          <p:nvSpPr>
            <p:cNvPr name="TextBox 37" id="37"/>
            <p:cNvSpPr txBox="true"/>
            <p:nvPr/>
          </p:nvSpPr>
          <p:spPr>
            <a:xfrm>
              <a:off x="0" y="-38100"/>
              <a:ext cx="6858000" cy="824484"/>
            </a:xfrm>
            <a:prstGeom prst="rect">
              <a:avLst/>
            </a:prstGeom>
          </p:spPr>
          <p:txBody>
            <a:bodyPr anchor="ctr" rtlCol="false" tIns="0" lIns="0" bIns="0" rIns="0"/>
            <a:lstStyle/>
            <a:p>
              <a:pPr algn="ctr">
                <a:lnSpc>
                  <a:spcPts val="2250"/>
                </a:lnSpc>
              </a:pPr>
              <a:r>
                <a:rPr lang="en-US" sz="1875">
                  <a:solidFill>
                    <a:srgbClr val="6B7280"/>
                  </a:solidFill>
                  <a:latin typeface="Calibri (MS)"/>
                  <a:ea typeface="Calibri (MS)"/>
                  <a:cs typeface="Calibri (MS)"/>
                  <a:sym typeface="Calibri (MS)"/>
                </a:rPr>
                <a:t>Data Privacy Act</a:t>
              </a:r>
            </a:p>
          </p:txBody>
        </p:sp>
      </p:grpSp>
      <p:grpSp>
        <p:nvGrpSpPr>
          <p:cNvPr name="Group 38" id="38"/>
          <p:cNvGrpSpPr/>
          <p:nvPr/>
        </p:nvGrpSpPr>
        <p:grpSpPr>
          <a:xfrm rot="0">
            <a:off x="960120" y="8462772"/>
            <a:ext cx="5143500" cy="329184"/>
            <a:chOff x="0" y="0"/>
            <a:chExt cx="6858000" cy="438912"/>
          </a:xfrm>
        </p:grpSpPr>
        <p:sp>
          <p:nvSpPr>
            <p:cNvPr name="Freeform 39" id="39"/>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40" id="40"/>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9AA3B8"/>
                  </a:solidFill>
                  <a:latin typeface="Arimo"/>
                  <a:ea typeface="Arimo"/>
                  <a:cs typeface="Arimo"/>
                  <a:sym typeface="Arimo"/>
                </a:rPr>
                <a:t>DPA</a:t>
              </a:r>
            </a:p>
          </p:txBody>
        </p:sp>
      </p:grpSp>
      <p:grpSp>
        <p:nvGrpSpPr>
          <p:cNvPr name="Group 41" id="41"/>
          <p:cNvGrpSpPr/>
          <p:nvPr/>
        </p:nvGrpSpPr>
        <p:grpSpPr>
          <a:xfrm rot="0">
            <a:off x="6533007" y="7945755"/>
            <a:ext cx="5162550" cy="910590"/>
            <a:chOff x="0" y="0"/>
            <a:chExt cx="6883400" cy="1214120"/>
          </a:xfrm>
        </p:grpSpPr>
        <p:sp>
          <p:nvSpPr>
            <p:cNvPr name="Freeform 42" id="42"/>
            <p:cNvSpPr/>
            <p:nvPr/>
          </p:nvSpPr>
          <p:spPr>
            <a:xfrm flipH="false" flipV="false" rot="0">
              <a:off x="0" y="0"/>
              <a:ext cx="6883400" cy="1214120"/>
            </a:xfrm>
            <a:custGeom>
              <a:avLst/>
              <a:gdLst/>
              <a:ahLst/>
              <a:cxnLst/>
              <a:rect r="r" b="b" t="t" l="l"/>
              <a:pathLst>
                <a:path h="1214120" w="6883400">
                  <a:moveTo>
                    <a:pt x="0" y="168148"/>
                  </a:moveTo>
                  <a:cubicBezTo>
                    <a:pt x="0" y="75311"/>
                    <a:pt x="75311" y="0"/>
                    <a:pt x="168148" y="0"/>
                  </a:cubicBezTo>
                  <a:lnTo>
                    <a:pt x="6715252" y="0"/>
                  </a:lnTo>
                  <a:cubicBezTo>
                    <a:pt x="6808089" y="0"/>
                    <a:pt x="6883400" y="75311"/>
                    <a:pt x="6883400" y="168148"/>
                  </a:cubicBezTo>
                  <a:lnTo>
                    <a:pt x="6883400" y="1045972"/>
                  </a:lnTo>
                  <a:cubicBezTo>
                    <a:pt x="6883400" y="1138809"/>
                    <a:pt x="6808089" y="1214120"/>
                    <a:pt x="6715252" y="1214120"/>
                  </a:cubicBezTo>
                  <a:lnTo>
                    <a:pt x="168148" y="1214120"/>
                  </a:lnTo>
                  <a:cubicBezTo>
                    <a:pt x="75311" y="1214120"/>
                    <a:pt x="0" y="1138809"/>
                    <a:pt x="0" y="1045972"/>
                  </a:cubicBezTo>
                  <a:close/>
                </a:path>
              </a:pathLst>
            </a:custGeom>
            <a:solidFill>
              <a:srgbClr val="F4F7FC"/>
            </a:solidFill>
            <a:ln w="19050" cap="sq">
              <a:solidFill>
                <a:srgbClr val="D7DCEC"/>
              </a:solidFill>
              <a:prstDash val="solid"/>
              <a:miter/>
            </a:ln>
          </p:spPr>
        </p:sp>
      </p:grpSp>
      <p:grpSp>
        <p:nvGrpSpPr>
          <p:cNvPr name="Group 43" id="43"/>
          <p:cNvGrpSpPr/>
          <p:nvPr/>
        </p:nvGrpSpPr>
        <p:grpSpPr>
          <a:xfrm rot="0">
            <a:off x="6542532" y="8023860"/>
            <a:ext cx="5143500" cy="589788"/>
            <a:chOff x="0" y="0"/>
            <a:chExt cx="6858000" cy="786384"/>
          </a:xfrm>
        </p:grpSpPr>
        <p:sp>
          <p:nvSpPr>
            <p:cNvPr name="Freeform 44" id="44"/>
            <p:cNvSpPr/>
            <p:nvPr/>
          </p:nvSpPr>
          <p:spPr>
            <a:xfrm flipH="false" flipV="false" rot="0">
              <a:off x="0" y="0"/>
              <a:ext cx="6858000" cy="786384"/>
            </a:xfrm>
            <a:custGeom>
              <a:avLst/>
              <a:gdLst/>
              <a:ahLst/>
              <a:cxnLst/>
              <a:rect r="r" b="b" t="t" l="l"/>
              <a:pathLst>
                <a:path h="786384" w="6858000">
                  <a:moveTo>
                    <a:pt x="0" y="0"/>
                  </a:moveTo>
                  <a:lnTo>
                    <a:pt x="6858000" y="0"/>
                  </a:lnTo>
                  <a:lnTo>
                    <a:pt x="6858000" y="786384"/>
                  </a:lnTo>
                  <a:lnTo>
                    <a:pt x="0" y="786384"/>
                  </a:lnTo>
                  <a:close/>
                </a:path>
              </a:pathLst>
            </a:custGeom>
            <a:blipFill>
              <a:blip r:embed="rId2">
                <a:alphaModFix amt="0"/>
              </a:blip>
              <a:stretch>
                <a:fillRect l="0" t="-119927" r="0" b="-119927"/>
              </a:stretch>
            </a:blipFill>
          </p:spPr>
        </p:sp>
        <p:sp>
          <p:nvSpPr>
            <p:cNvPr name="TextBox 45" id="45"/>
            <p:cNvSpPr txBox="true"/>
            <p:nvPr/>
          </p:nvSpPr>
          <p:spPr>
            <a:xfrm>
              <a:off x="0" y="-38100"/>
              <a:ext cx="6858000" cy="824484"/>
            </a:xfrm>
            <a:prstGeom prst="rect">
              <a:avLst/>
            </a:prstGeom>
          </p:spPr>
          <p:txBody>
            <a:bodyPr anchor="ctr" rtlCol="false" tIns="0" lIns="0" bIns="0" rIns="0"/>
            <a:lstStyle/>
            <a:p>
              <a:pPr algn="ctr">
                <a:lnSpc>
                  <a:spcPts val="2250"/>
                </a:lnSpc>
              </a:pPr>
              <a:r>
                <a:rPr lang="en-US" sz="1875">
                  <a:solidFill>
                    <a:srgbClr val="6B7280"/>
                  </a:solidFill>
                  <a:latin typeface="Calibri (MS)"/>
                  <a:ea typeface="Calibri (MS)"/>
                  <a:cs typeface="Calibri (MS)"/>
                  <a:sym typeface="Calibri (MS)"/>
                </a:rPr>
                <a:t>DICT Act / NCSP</a:t>
              </a:r>
            </a:p>
          </p:txBody>
        </p:sp>
      </p:grpSp>
      <p:grpSp>
        <p:nvGrpSpPr>
          <p:cNvPr name="Group 46" id="46"/>
          <p:cNvGrpSpPr/>
          <p:nvPr/>
        </p:nvGrpSpPr>
        <p:grpSpPr>
          <a:xfrm rot="0">
            <a:off x="6542532" y="8462772"/>
            <a:ext cx="5143500" cy="329184"/>
            <a:chOff x="0" y="0"/>
            <a:chExt cx="6858000" cy="438912"/>
          </a:xfrm>
        </p:grpSpPr>
        <p:sp>
          <p:nvSpPr>
            <p:cNvPr name="Freeform 47" id="47"/>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48" id="48"/>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9AA3B8"/>
                  </a:solidFill>
                  <a:latin typeface="Arimo"/>
                  <a:ea typeface="Arimo"/>
                  <a:cs typeface="Arimo"/>
                  <a:sym typeface="Arimo"/>
                </a:rPr>
                <a:t>DICT</a:t>
              </a:r>
            </a:p>
          </p:txBody>
        </p:sp>
      </p:grpSp>
      <p:grpSp>
        <p:nvGrpSpPr>
          <p:cNvPr name="Group 49" id="49"/>
          <p:cNvGrpSpPr/>
          <p:nvPr/>
        </p:nvGrpSpPr>
        <p:grpSpPr>
          <a:xfrm rot="0">
            <a:off x="12115419" y="6779895"/>
            <a:ext cx="5162550" cy="2076450"/>
            <a:chOff x="0" y="0"/>
            <a:chExt cx="6883400" cy="2768600"/>
          </a:xfrm>
        </p:grpSpPr>
        <p:sp>
          <p:nvSpPr>
            <p:cNvPr name="Freeform 50" id="50"/>
            <p:cNvSpPr/>
            <p:nvPr/>
          </p:nvSpPr>
          <p:spPr>
            <a:xfrm flipH="false" flipV="false" rot="0">
              <a:off x="0" y="0"/>
              <a:ext cx="6883400" cy="2768600"/>
            </a:xfrm>
            <a:custGeom>
              <a:avLst/>
              <a:gdLst/>
              <a:ahLst/>
              <a:cxnLst/>
              <a:rect r="r" b="b" t="t" l="l"/>
              <a:pathLst>
                <a:path h="2768600" w="6883400">
                  <a:moveTo>
                    <a:pt x="0" y="166116"/>
                  </a:moveTo>
                  <a:cubicBezTo>
                    <a:pt x="0" y="74422"/>
                    <a:pt x="74422" y="0"/>
                    <a:pt x="166116" y="0"/>
                  </a:cubicBezTo>
                  <a:lnTo>
                    <a:pt x="6717284" y="0"/>
                  </a:lnTo>
                  <a:cubicBezTo>
                    <a:pt x="6808978" y="0"/>
                    <a:pt x="6883400" y="74422"/>
                    <a:pt x="6883400" y="166116"/>
                  </a:cubicBezTo>
                  <a:lnTo>
                    <a:pt x="6883400" y="2602484"/>
                  </a:lnTo>
                  <a:cubicBezTo>
                    <a:pt x="6883400" y="2694178"/>
                    <a:pt x="6808978" y="2768600"/>
                    <a:pt x="6717284" y="2768600"/>
                  </a:cubicBezTo>
                  <a:lnTo>
                    <a:pt x="166116" y="2768600"/>
                  </a:lnTo>
                  <a:cubicBezTo>
                    <a:pt x="74422" y="2768600"/>
                    <a:pt x="0" y="2694178"/>
                    <a:pt x="0" y="2602484"/>
                  </a:cubicBezTo>
                  <a:close/>
                </a:path>
              </a:pathLst>
            </a:custGeom>
            <a:solidFill>
              <a:srgbClr val="F4F7FC"/>
            </a:solidFill>
            <a:ln w="19050" cap="sq">
              <a:solidFill>
                <a:srgbClr val="D7DCEC"/>
              </a:solidFill>
              <a:prstDash val="solid"/>
              <a:miter/>
            </a:ln>
          </p:spPr>
        </p:sp>
      </p:grpSp>
      <p:grpSp>
        <p:nvGrpSpPr>
          <p:cNvPr name="Group 51" id="51"/>
          <p:cNvGrpSpPr/>
          <p:nvPr/>
        </p:nvGrpSpPr>
        <p:grpSpPr>
          <a:xfrm rot="0">
            <a:off x="12124944" y="6858000"/>
            <a:ext cx="5143500" cy="1755648"/>
            <a:chOff x="0" y="0"/>
            <a:chExt cx="6858000" cy="2340864"/>
          </a:xfrm>
        </p:grpSpPr>
        <p:sp>
          <p:nvSpPr>
            <p:cNvPr name="Freeform 52" id="52"/>
            <p:cNvSpPr/>
            <p:nvPr/>
          </p:nvSpPr>
          <p:spPr>
            <a:xfrm flipH="false" flipV="false" rot="0">
              <a:off x="0" y="0"/>
              <a:ext cx="6858000" cy="2340864"/>
            </a:xfrm>
            <a:custGeom>
              <a:avLst/>
              <a:gdLst/>
              <a:ahLst/>
              <a:cxnLst/>
              <a:rect r="r" b="b" t="t" l="l"/>
              <a:pathLst>
                <a:path h="2340864" w="6858000">
                  <a:moveTo>
                    <a:pt x="0" y="0"/>
                  </a:moveTo>
                  <a:lnTo>
                    <a:pt x="6858000" y="0"/>
                  </a:lnTo>
                  <a:lnTo>
                    <a:pt x="6858000" y="2340864"/>
                  </a:lnTo>
                  <a:lnTo>
                    <a:pt x="0" y="2340864"/>
                  </a:lnTo>
                  <a:close/>
                </a:path>
              </a:pathLst>
            </a:custGeom>
            <a:blipFill>
              <a:blip r:embed="rId2">
                <a:alphaModFix amt="0"/>
              </a:blip>
              <a:stretch>
                <a:fillRect l="0" t="-7085" r="0" b="-7085"/>
              </a:stretch>
            </a:blipFill>
          </p:spPr>
        </p:sp>
        <p:sp>
          <p:nvSpPr>
            <p:cNvPr name="TextBox 53" id="53"/>
            <p:cNvSpPr txBox="true"/>
            <p:nvPr/>
          </p:nvSpPr>
          <p:spPr>
            <a:xfrm>
              <a:off x="0" y="-38100"/>
              <a:ext cx="6858000" cy="2378964"/>
            </a:xfrm>
            <a:prstGeom prst="rect">
              <a:avLst/>
            </a:prstGeom>
          </p:spPr>
          <p:txBody>
            <a:bodyPr anchor="ctr" rtlCol="false" tIns="0" lIns="0" bIns="0" rIns="0"/>
            <a:lstStyle/>
            <a:p>
              <a:pPr algn="ctr">
                <a:lnSpc>
                  <a:spcPts val="2250"/>
                </a:lnSpc>
              </a:pPr>
              <a:r>
                <a:rPr lang="en-US" sz="1875">
                  <a:solidFill>
                    <a:srgbClr val="6B7280"/>
                  </a:solidFill>
                  <a:latin typeface="Calibri (MS)"/>
                  <a:ea typeface="Calibri (MS)"/>
                  <a:cs typeface="Calibri (MS)"/>
                  <a:sym typeface="Calibri (MS)"/>
                </a:rPr>
                <a:t>Critical Infra. Protection</a:t>
              </a:r>
            </a:p>
          </p:txBody>
        </p:sp>
      </p:grpSp>
      <p:grpSp>
        <p:nvGrpSpPr>
          <p:cNvPr name="Group 54" id="54"/>
          <p:cNvGrpSpPr/>
          <p:nvPr/>
        </p:nvGrpSpPr>
        <p:grpSpPr>
          <a:xfrm rot="0">
            <a:off x="12124944" y="8462772"/>
            <a:ext cx="5143500" cy="329184"/>
            <a:chOff x="0" y="0"/>
            <a:chExt cx="6858000" cy="438912"/>
          </a:xfrm>
        </p:grpSpPr>
        <p:sp>
          <p:nvSpPr>
            <p:cNvPr name="Freeform 55" id="55"/>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56" id="56"/>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9AA3B8"/>
                  </a:solidFill>
                  <a:latin typeface="Arimo"/>
                  <a:ea typeface="Arimo"/>
                  <a:cs typeface="Arimo"/>
                  <a:sym typeface="Arimo"/>
                </a:rPr>
                <a:t>CII</a:t>
              </a:r>
            </a:p>
          </p:txBody>
        </p:sp>
      </p:grpSp>
      <p:grpSp>
        <p:nvGrpSpPr>
          <p:cNvPr name="Group 57" id="57"/>
          <p:cNvGrpSpPr/>
          <p:nvPr/>
        </p:nvGrpSpPr>
        <p:grpSpPr>
          <a:xfrm rot="0">
            <a:off x="685800" y="9710928"/>
            <a:ext cx="10972800" cy="411480"/>
            <a:chOff x="0" y="0"/>
            <a:chExt cx="14630400" cy="548640"/>
          </a:xfrm>
        </p:grpSpPr>
        <p:sp>
          <p:nvSpPr>
            <p:cNvPr name="Freeform 58" id="58"/>
            <p:cNvSpPr/>
            <p:nvPr/>
          </p:nvSpPr>
          <p:spPr>
            <a:xfrm flipH="false" flipV="false" rot="0">
              <a:off x="0" y="0"/>
              <a:ext cx="14630400" cy="548640"/>
            </a:xfrm>
            <a:custGeom>
              <a:avLst/>
              <a:gdLst/>
              <a:ahLst/>
              <a:cxnLst/>
              <a:rect r="r" b="b" t="t" l="l"/>
              <a:pathLst>
                <a:path h="548640" w="14630400">
                  <a:moveTo>
                    <a:pt x="0" y="0"/>
                  </a:moveTo>
                  <a:lnTo>
                    <a:pt x="14630400" y="0"/>
                  </a:lnTo>
                  <a:lnTo>
                    <a:pt x="14630400" y="548640"/>
                  </a:lnTo>
                  <a:lnTo>
                    <a:pt x="0" y="548640"/>
                  </a:lnTo>
                  <a:close/>
                </a:path>
              </a:pathLst>
            </a:custGeom>
            <a:blipFill>
              <a:blip r:embed="rId2">
                <a:alphaModFix amt="0"/>
              </a:blip>
              <a:stretch>
                <a:fillRect l="0" t="-469601" r="0" b="-469601"/>
              </a:stretch>
            </a:blipFill>
          </p:spPr>
        </p:sp>
        <p:sp>
          <p:nvSpPr>
            <p:cNvPr name="TextBox 59" id="59"/>
            <p:cNvSpPr txBox="true"/>
            <p:nvPr/>
          </p:nvSpPr>
          <p:spPr>
            <a:xfrm>
              <a:off x="0" y="-38100"/>
              <a:ext cx="14630400" cy="586740"/>
            </a:xfrm>
            <a:prstGeom prst="rect">
              <a:avLst/>
            </a:prstGeom>
          </p:spPr>
          <p:txBody>
            <a:bodyPr anchor="ctr" rtlCol="false" tIns="0" lIns="0" bIns="0" rIns="0"/>
            <a:lstStyle/>
            <a:p>
              <a:pPr algn="l">
                <a:lnSpc>
                  <a:spcPts val="1800"/>
                </a:lnSpc>
              </a:pPr>
              <a:r>
                <a:rPr lang="en-US" sz="1500">
                  <a:solidFill>
                    <a:srgbClr val="6B7280"/>
                  </a:solidFill>
                  <a:latin typeface="Calibri (MS)"/>
                  <a:ea typeface="Calibri (MS)"/>
                  <a:cs typeface="Calibri (MS)"/>
                  <a:sym typeface="Calibri (MS)"/>
                </a:rPr>
                <a:t>Davao del Norte Provincial Government — Cybersecurity Seminar</a:t>
              </a:r>
            </a:p>
          </p:txBody>
        </p:sp>
      </p:grpSp>
      <p:grpSp>
        <p:nvGrpSpPr>
          <p:cNvPr name="Group 60" id="60"/>
          <p:cNvGrpSpPr/>
          <p:nvPr/>
        </p:nvGrpSpPr>
        <p:grpSpPr>
          <a:xfrm rot="0">
            <a:off x="16911828" y="9710928"/>
            <a:ext cx="685800" cy="411480"/>
            <a:chOff x="0" y="0"/>
            <a:chExt cx="914400" cy="548640"/>
          </a:xfrm>
        </p:grpSpPr>
        <p:sp>
          <p:nvSpPr>
            <p:cNvPr name="Freeform 61" id="61"/>
            <p:cNvSpPr/>
            <p:nvPr/>
          </p:nvSpPr>
          <p:spPr>
            <a:xfrm flipH="false" flipV="false" rot="0">
              <a:off x="0" y="0"/>
              <a:ext cx="914400" cy="548640"/>
            </a:xfrm>
            <a:custGeom>
              <a:avLst/>
              <a:gdLst/>
              <a:ahLst/>
              <a:cxnLst/>
              <a:rect r="r" b="b" t="t" l="l"/>
              <a:pathLst>
                <a:path h="548640" w="914400">
                  <a:moveTo>
                    <a:pt x="0" y="0"/>
                  </a:moveTo>
                  <a:lnTo>
                    <a:pt x="914400" y="0"/>
                  </a:lnTo>
                  <a:lnTo>
                    <a:pt x="914400" y="548640"/>
                  </a:lnTo>
                  <a:lnTo>
                    <a:pt x="0" y="548640"/>
                  </a:lnTo>
                  <a:close/>
                </a:path>
              </a:pathLst>
            </a:custGeom>
            <a:blipFill>
              <a:blip r:embed="rId2">
                <a:alphaModFix amt="0"/>
              </a:blip>
              <a:stretch>
                <a:fillRect l="-26982" t="0" r="-26982" b="0"/>
              </a:stretch>
            </a:blipFill>
          </p:spPr>
        </p:sp>
        <p:sp>
          <p:nvSpPr>
            <p:cNvPr name="TextBox 62" id="62"/>
            <p:cNvSpPr txBox="true"/>
            <p:nvPr/>
          </p:nvSpPr>
          <p:spPr>
            <a:xfrm>
              <a:off x="0" y="-38100"/>
              <a:ext cx="914400" cy="586740"/>
            </a:xfrm>
            <a:prstGeom prst="rect">
              <a:avLst/>
            </a:prstGeom>
          </p:spPr>
          <p:txBody>
            <a:bodyPr anchor="ctr" rtlCol="false" tIns="0" lIns="0" bIns="0" rIns="0"/>
            <a:lstStyle/>
            <a:p>
              <a:pPr algn="r">
                <a:lnSpc>
                  <a:spcPts val="1800"/>
                </a:lnSpc>
              </a:pPr>
              <a:r>
                <a:rPr lang="en-US" sz="1500">
                  <a:solidFill>
                    <a:srgbClr val="6B7280"/>
                  </a:solidFill>
                  <a:latin typeface="Calibri (MS)"/>
                  <a:ea typeface="Calibri (MS)"/>
                  <a:cs typeface="Calibri (MS)"/>
                  <a:sym typeface="Calibri (MS)"/>
                </a:rPr>
                <a:t>17</a:t>
              </a:r>
            </a:p>
          </p:txBody>
        </p:sp>
      </p:grpSp>
    </p:spTree>
  </p:cSld>
  <p:clrMapOvr>
    <a:masterClrMapping/>
  </p:clrMapOvr>
</p:sld>
</file>

<file path=ppt/slides/slide13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60120" y="685800"/>
            <a:ext cx="13716000" cy="411480"/>
            <a:chOff x="0" y="0"/>
            <a:chExt cx="18288000" cy="548640"/>
          </a:xfrm>
        </p:grpSpPr>
        <p:sp>
          <p:nvSpPr>
            <p:cNvPr name="Freeform 3" id="3"/>
            <p:cNvSpPr/>
            <p:nvPr/>
          </p:nvSpPr>
          <p:spPr>
            <a:xfrm flipH="false" flipV="false" rot="0">
              <a:off x="0" y="0"/>
              <a:ext cx="18288000" cy="548640"/>
            </a:xfrm>
            <a:custGeom>
              <a:avLst/>
              <a:gdLst/>
              <a:ahLst/>
              <a:cxnLst/>
              <a:rect r="r" b="b" t="t" l="l"/>
              <a:pathLst>
                <a:path h="548640" w="18288000">
                  <a:moveTo>
                    <a:pt x="0" y="0"/>
                  </a:moveTo>
                  <a:lnTo>
                    <a:pt x="18288000" y="0"/>
                  </a:lnTo>
                  <a:lnTo>
                    <a:pt x="18288000" y="548640"/>
                  </a:lnTo>
                  <a:lnTo>
                    <a:pt x="0" y="548640"/>
                  </a:lnTo>
                  <a:close/>
                </a:path>
              </a:pathLst>
            </a:custGeom>
            <a:blipFill>
              <a:blip r:embed="rId2">
                <a:alphaModFix amt="0"/>
              </a:blip>
              <a:stretch>
                <a:fillRect l="0" t="-599501" r="0" b="-599501"/>
              </a:stretch>
            </a:blipFill>
          </p:spPr>
        </p:sp>
        <p:sp>
          <p:nvSpPr>
            <p:cNvPr name="TextBox 4" id="4"/>
            <p:cNvSpPr txBox="true"/>
            <p:nvPr/>
          </p:nvSpPr>
          <p:spPr>
            <a:xfrm>
              <a:off x="0" y="-38100"/>
              <a:ext cx="18288000" cy="586740"/>
            </a:xfrm>
            <a:prstGeom prst="rect">
              <a:avLst/>
            </a:prstGeom>
          </p:spPr>
          <p:txBody>
            <a:bodyPr anchor="ctr" rtlCol="false" tIns="0" lIns="0" bIns="0" rIns="0"/>
            <a:lstStyle/>
            <a:p>
              <a:pPr algn="l">
                <a:lnSpc>
                  <a:spcPts val="2160"/>
                </a:lnSpc>
              </a:pPr>
              <a:r>
                <a:rPr lang="en-US" b="true" sz="1800" spc="225">
                  <a:solidFill>
                    <a:srgbClr val="00B4D8"/>
                  </a:solidFill>
                  <a:latin typeface="Calibri (MS) Bold"/>
                  <a:ea typeface="Calibri (MS) Bold"/>
                  <a:cs typeface="Calibri (MS) Bold"/>
                  <a:sym typeface="Calibri (MS) Bold"/>
                </a:rPr>
                <a:t>PH CYBER LAW SORT · ANSWER</a:t>
              </a:r>
            </a:p>
          </p:txBody>
        </p:sp>
      </p:grpSp>
      <p:grpSp>
        <p:nvGrpSpPr>
          <p:cNvPr name="Group 5" id="5"/>
          <p:cNvGrpSpPr/>
          <p:nvPr/>
        </p:nvGrpSpPr>
        <p:grpSpPr>
          <a:xfrm rot="0">
            <a:off x="960120" y="1069848"/>
            <a:ext cx="10972800" cy="822960"/>
            <a:chOff x="0" y="0"/>
            <a:chExt cx="14630400" cy="1097280"/>
          </a:xfrm>
        </p:grpSpPr>
        <p:sp>
          <p:nvSpPr>
            <p:cNvPr name="Freeform 6" id="6"/>
            <p:cNvSpPr/>
            <p:nvPr/>
          </p:nvSpPr>
          <p:spPr>
            <a:xfrm flipH="false" flipV="false" rot="0">
              <a:off x="0" y="0"/>
              <a:ext cx="14630400" cy="1097280"/>
            </a:xfrm>
            <a:custGeom>
              <a:avLst/>
              <a:gdLst/>
              <a:ahLst/>
              <a:cxnLst/>
              <a:rect r="r" b="b" t="t" l="l"/>
              <a:pathLst>
                <a:path h="1097280" w="14630400">
                  <a:moveTo>
                    <a:pt x="0" y="0"/>
                  </a:moveTo>
                  <a:lnTo>
                    <a:pt x="14630400" y="0"/>
                  </a:lnTo>
                  <a:lnTo>
                    <a:pt x="14630400" y="1097280"/>
                  </a:lnTo>
                  <a:lnTo>
                    <a:pt x="0" y="1097280"/>
                  </a:lnTo>
                  <a:close/>
                </a:path>
              </a:pathLst>
            </a:custGeom>
            <a:blipFill>
              <a:blip r:embed="rId2">
                <a:alphaModFix amt="0"/>
              </a:blip>
              <a:stretch>
                <a:fillRect l="0" t="-209800" r="0" b="-209800"/>
              </a:stretch>
            </a:blipFill>
          </p:spPr>
        </p:sp>
        <p:sp>
          <p:nvSpPr>
            <p:cNvPr name="TextBox 7" id="7"/>
            <p:cNvSpPr txBox="true"/>
            <p:nvPr/>
          </p:nvSpPr>
          <p:spPr>
            <a:xfrm>
              <a:off x="0" y="0"/>
              <a:ext cx="14630400" cy="1097280"/>
            </a:xfrm>
            <a:prstGeom prst="rect">
              <a:avLst/>
            </a:prstGeom>
          </p:spPr>
          <p:txBody>
            <a:bodyPr anchor="ctr" rtlCol="false" tIns="0" lIns="0" bIns="0" rIns="0"/>
            <a:lstStyle/>
            <a:p>
              <a:pPr algn="l">
                <a:lnSpc>
                  <a:spcPts val="4680"/>
                </a:lnSpc>
              </a:pPr>
              <a:r>
                <a:rPr lang="en-US" sz="3900" b="true">
                  <a:solidFill>
                    <a:srgbClr val="1E2761"/>
                  </a:solidFill>
                  <a:latin typeface="Cambria Bold"/>
                  <a:ea typeface="Cambria Bold"/>
                  <a:cs typeface="Cambria Bold"/>
                  <a:sym typeface="Cambria Bold"/>
                </a:rPr>
                <a:t>Scenario 4 — Answer</a:t>
              </a:r>
            </a:p>
          </p:txBody>
        </p:sp>
      </p:grpSp>
      <p:grpSp>
        <p:nvGrpSpPr>
          <p:cNvPr name="Group 8" id="8"/>
          <p:cNvGrpSpPr/>
          <p:nvPr/>
        </p:nvGrpSpPr>
        <p:grpSpPr>
          <a:xfrm rot="0">
            <a:off x="960120" y="1810512"/>
            <a:ext cx="8229600" cy="411480"/>
            <a:chOff x="0" y="0"/>
            <a:chExt cx="10972800" cy="548640"/>
          </a:xfrm>
        </p:grpSpPr>
        <p:sp>
          <p:nvSpPr>
            <p:cNvPr name="Freeform 9" id="9"/>
            <p:cNvSpPr/>
            <p:nvPr/>
          </p:nvSpPr>
          <p:spPr>
            <a:xfrm flipH="false" flipV="false" rot="0">
              <a:off x="0" y="0"/>
              <a:ext cx="10972800" cy="548640"/>
            </a:xfrm>
            <a:custGeom>
              <a:avLst/>
              <a:gdLst/>
              <a:ahLst/>
              <a:cxnLst/>
              <a:rect r="r" b="b" t="t" l="l"/>
              <a:pathLst>
                <a:path h="548640" w="10972800">
                  <a:moveTo>
                    <a:pt x="0" y="0"/>
                  </a:moveTo>
                  <a:lnTo>
                    <a:pt x="10972800" y="0"/>
                  </a:lnTo>
                  <a:lnTo>
                    <a:pt x="10972800" y="548640"/>
                  </a:lnTo>
                  <a:lnTo>
                    <a:pt x="0" y="548640"/>
                  </a:lnTo>
                  <a:close/>
                </a:path>
              </a:pathLst>
            </a:custGeom>
            <a:blipFill>
              <a:blip r:embed="rId2">
                <a:alphaModFix amt="0"/>
              </a:blip>
              <a:stretch>
                <a:fillRect l="0" t="-339700" r="0" b="-339700"/>
              </a:stretch>
            </a:blipFill>
          </p:spPr>
        </p:sp>
        <p:sp>
          <p:nvSpPr>
            <p:cNvPr name="TextBox 10" id="10"/>
            <p:cNvSpPr txBox="true"/>
            <p:nvPr/>
          </p:nvSpPr>
          <p:spPr>
            <a:xfrm>
              <a:off x="0" y="-28575"/>
              <a:ext cx="10972800" cy="577215"/>
            </a:xfrm>
            <a:prstGeom prst="rect">
              <a:avLst/>
            </a:prstGeom>
          </p:spPr>
          <p:txBody>
            <a:bodyPr anchor="ctr" rtlCol="false" tIns="0" lIns="0" bIns="0" rIns="0"/>
            <a:lstStyle/>
            <a:p>
              <a:pPr algn="l">
                <a:lnSpc>
                  <a:spcPts val="1980"/>
                </a:lnSpc>
              </a:pPr>
              <a:r>
                <a:rPr lang="en-US" sz="1650">
                  <a:solidFill>
                    <a:srgbClr val="6B7280"/>
                  </a:solidFill>
                  <a:latin typeface="Calibri (MS)"/>
                  <a:ea typeface="Calibri (MS)"/>
                  <a:cs typeface="Calibri (MS)"/>
                  <a:sym typeface="Calibri (MS)"/>
                </a:rPr>
                <a:t>4 of 15</a:t>
              </a:r>
            </a:p>
          </p:txBody>
        </p:sp>
      </p:grpSp>
      <p:grpSp>
        <p:nvGrpSpPr>
          <p:cNvPr name="Group 11" id="11"/>
          <p:cNvGrpSpPr/>
          <p:nvPr/>
        </p:nvGrpSpPr>
        <p:grpSpPr>
          <a:xfrm rot="0">
            <a:off x="960120" y="2537460"/>
            <a:ext cx="16322040" cy="2057400"/>
            <a:chOff x="0" y="0"/>
            <a:chExt cx="21762720" cy="2743200"/>
          </a:xfrm>
        </p:grpSpPr>
        <p:sp>
          <p:nvSpPr>
            <p:cNvPr name="Freeform 12" id="12"/>
            <p:cNvSpPr/>
            <p:nvPr/>
          </p:nvSpPr>
          <p:spPr>
            <a:xfrm flipH="false" flipV="false" rot="0">
              <a:off x="0" y="0"/>
              <a:ext cx="21762720" cy="2743200"/>
            </a:xfrm>
            <a:custGeom>
              <a:avLst/>
              <a:gdLst/>
              <a:ahLst/>
              <a:cxnLst/>
              <a:rect r="r" b="b" t="t" l="l"/>
              <a:pathLst>
                <a:path h="2743200" w="21762720">
                  <a:moveTo>
                    <a:pt x="0" y="182880"/>
                  </a:moveTo>
                  <a:cubicBezTo>
                    <a:pt x="0" y="81915"/>
                    <a:pt x="81915" y="0"/>
                    <a:pt x="182880" y="0"/>
                  </a:cubicBezTo>
                  <a:lnTo>
                    <a:pt x="21579839" y="0"/>
                  </a:lnTo>
                  <a:cubicBezTo>
                    <a:pt x="21680804" y="0"/>
                    <a:pt x="21762720" y="81915"/>
                    <a:pt x="21762720" y="182880"/>
                  </a:cubicBezTo>
                  <a:lnTo>
                    <a:pt x="21762720" y="2560320"/>
                  </a:lnTo>
                  <a:cubicBezTo>
                    <a:pt x="21762720" y="2661285"/>
                    <a:pt x="21680804" y="2743200"/>
                    <a:pt x="21579839" y="2743200"/>
                  </a:cubicBezTo>
                  <a:lnTo>
                    <a:pt x="182880" y="2743200"/>
                  </a:lnTo>
                  <a:cubicBezTo>
                    <a:pt x="81915" y="2743200"/>
                    <a:pt x="0" y="2661285"/>
                    <a:pt x="0" y="2560320"/>
                  </a:cubicBezTo>
                  <a:close/>
                </a:path>
              </a:pathLst>
            </a:custGeom>
            <a:solidFill>
              <a:srgbClr val="F4F7FC"/>
            </a:solidFill>
          </p:spPr>
        </p:sp>
      </p:grpSp>
      <p:grpSp>
        <p:nvGrpSpPr>
          <p:cNvPr name="Group 13" id="13"/>
          <p:cNvGrpSpPr/>
          <p:nvPr/>
        </p:nvGrpSpPr>
        <p:grpSpPr>
          <a:xfrm rot="0">
            <a:off x="1440180" y="2743200"/>
            <a:ext cx="15361920" cy="1645920"/>
            <a:chOff x="0" y="0"/>
            <a:chExt cx="20482560" cy="2194560"/>
          </a:xfrm>
        </p:grpSpPr>
        <p:sp>
          <p:nvSpPr>
            <p:cNvPr name="Freeform 14" id="14"/>
            <p:cNvSpPr/>
            <p:nvPr/>
          </p:nvSpPr>
          <p:spPr>
            <a:xfrm flipH="false" flipV="false" rot="0">
              <a:off x="0" y="0"/>
              <a:ext cx="20482561" cy="2194560"/>
            </a:xfrm>
            <a:custGeom>
              <a:avLst/>
              <a:gdLst/>
              <a:ahLst/>
              <a:cxnLst/>
              <a:rect r="r" b="b" t="t" l="l"/>
              <a:pathLst>
                <a:path h="2194560" w="20482561">
                  <a:moveTo>
                    <a:pt x="0" y="0"/>
                  </a:moveTo>
                  <a:lnTo>
                    <a:pt x="20482561" y="0"/>
                  </a:lnTo>
                  <a:lnTo>
                    <a:pt x="20482561" y="2194560"/>
                  </a:lnTo>
                  <a:lnTo>
                    <a:pt x="0" y="2194560"/>
                  </a:lnTo>
                  <a:close/>
                </a:path>
              </a:pathLst>
            </a:custGeom>
            <a:blipFill>
              <a:blip r:embed="rId2">
                <a:alphaModFix amt="0"/>
              </a:blip>
              <a:stretch>
                <a:fillRect l="0" t="-131860" r="0" b="-131860"/>
              </a:stretch>
            </a:blipFill>
          </p:spPr>
        </p:sp>
        <p:sp>
          <p:nvSpPr>
            <p:cNvPr name="TextBox 15" id="15"/>
            <p:cNvSpPr txBox="true"/>
            <p:nvPr/>
          </p:nvSpPr>
          <p:spPr>
            <a:xfrm>
              <a:off x="0" y="-66675"/>
              <a:ext cx="20482560" cy="2261235"/>
            </a:xfrm>
            <a:prstGeom prst="rect">
              <a:avLst/>
            </a:prstGeom>
          </p:spPr>
          <p:txBody>
            <a:bodyPr anchor="ctr" rtlCol="false" tIns="0" lIns="0" bIns="0" rIns="0"/>
            <a:lstStyle/>
            <a:p>
              <a:pPr algn="l">
                <a:lnSpc>
                  <a:spcPts val="3487"/>
                </a:lnSpc>
              </a:pPr>
              <a:r>
                <a:rPr lang="en-US" sz="2325" i="true">
                  <a:solidFill>
                    <a:srgbClr val="23262F"/>
                  </a:solidFill>
                  <a:latin typeface="Cambria Italics"/>
                  <a:ea typeface="Cambria Italics"/>
                  <a:cs typeface="Cambria Italics"/>
                  <a:sym typeface="Cambria Italics"/>
                </a:rPr>
                <a:t>"An IT contractor logs into the payroll system out of curiosity, using login credentials an employee never deactivated after leaving."</a:t>
              </a:r>
            </a:p>
          </p:txBody>
        </p:sp>
      </p:grpSp>
      <p:grpSp>
        <p:nvGrpSpPr>
          <p:cNvPr name="Group 16" id="16"/>
          <p:cNvGrpSpPr/>
          <p:nvPr/>
        </p:nvGrpSpPr>
        <p:grpSpPr>
          <a:xfrm rot="0">
            <a:off x="950595" y="4928235"/>
            <a:ext cx="5162550" cy="842010"/>
            <a:chOff x="0" y="0"/>
            <a:chExt cx="6883400" cy="1122680"/>
          </a:xfrm>
        </p:grpSpPr>
        <p:sp>
          <p:nvSpPr>
            <p:cNvPr name="Freeform 17" id="17"/>
            <p:cNvSpPr/>
            <p:nvPr/>
          </p:nvSpPr>
          <p:spPr>
            <a:xfrm flipH="false" flipV="false" rot="0">
              <a:off x="0" y="0"/>
              <a:ext cx="6883400" cy="1122680"/>
            </a:xfrm>
            <a:custGeom>
              <a:avLst/>
              <a:gdLst/>
              <a:ahLst/>
              <a:cxnLst/>
              <a:rect r="r" b="b" t="t" l="l"/>
              <a:pathLst>
                <a:path h="1122680" w="6883400">
                  <a:moveTo>
                    <a:pt x="0" y="168402"/>
                  </a:moveTo>
                  <a:cubicBezTo>
                    <a:pt x="0" y="75438"/>
                    <a:pt x="75438" y="0"/>
                    <a:pt x="168402" y="0"/>
                  </a:cubicBezTo>
                  <a:lnTo>
                    <a:pt x="6714998" y="0"/>
                  </a:lnTo>
                  <a:cubicBezTo>
                    <a:pt x="6807962" y="0"/>
                    <a:pt x="6883400" y="75438"/>
                    <a:pt x="6883400" y="168402"/>
                  </a:cubicBezTo>
                  <a:lnTo>
                    <a:pt x="6883400" y="954278"/>
                  </a:lnTo>
                  <a:cubicBezTo>
                    <a:pt x="6883400" y="1047242"/>
                    <a:pt x="6807962" y="1122680"/>
                    <a:pt x="6714998" y="1122680"/>
                  </a:cubicBezTo>
                  <a:lnTo>
                    <a:pt x="168402" y="1122680"/>
                  </a:lnTo>
                  <a:cubicBezTo>
                    <a:pt x="75438" y="1122680"/>
                    <a:pt x="0" y="1047242"/>
                    <a:pt x="0" y="954278"/>
                  </a:cubicBezTo>
                  <a:close/>
                </a:path>
              </a:pathLst>
            </a:custGeom>
            <a:solidFill>
              <a:srgbClr val="F4F7FC"/>
            </a:solidFill>
            <a:ln w="19050" cap="sq">
              <a:solidFill>
                <a:srgbClr val="D7DCEC"/>
              </a:solidFill>
              <a:prstDash val="solid"/>
              <a:miter/>
            </a:ln>
          </p:spPr>
        </p:sp>
      </p:grpSp>
      <p:grpSp>
        <p:nvGrpSpPr>
          <p:cNvPr name="Group 18" id="18"/>
          <p:cNvGrpSpPr/>
          <p:nvPr/>
        </p:nvGrpSpPr>
        <p:grpSpPr>
          <a:xfrm rot="0">
            <a:off x="960120" y="5006340"/>
            <a:ext cx="5143500" cy="521208"/>
            <a:chOff x="0" y="0"/>
            <a:chExt cx="6858000" cy="694944"/>
          </a:xfrm>
        </p:grpSpPr>
        <p:sp>
          <p:nvSpPr>
            <p:cNvPr name="Freeform 19" id="19"/>
            <p:cNvSpPr/>
            <p:nvPr/>
          </p:nvSpPr>
          <p:spPr>
            <a:xfrm flipH="false" flipV="false" rot="0">
              <a:off x="0" y="0"/>
              <a:ext cx="6858000" cy="694944"/>
            </a:xfrm>
            <a:custGeom>
              <a:avLst/>
              <a:gdLst/>
              <a:ahLst/>
              <a:cxnLst/>
              <a:rect r="r" b="b" t="t" l="l"/>
              <a:pathLst>
                <a:path h="694944" w="6858000">
                  <a:moveTo>
                    <a:pt x="0" y="0"/>
                  </a:moveTo>
                  <a:lnTo>
                    <a:pt x="6858000" y="0"/>
                  </a:lnTo>
                  <a:lnTo>
                    <a:pt x="6858000" y="694944"/>
                  </a:lnTo>
                  <a:lnTo>
                    <a:pt x="0" y="694944"/>
                  </a:lnTo>
                  <a:close/>
                </a:path>
              </a:pathLst>
            </a:custGeom>
            <a:blipFill>
              <a:blip r:embed="rId2">
                <a:alphaModFix amt="0"/>
              </a:blip>
              <a:stretch>
                <a:fillRect l="0" t="-142286" r="0" b="-142286"/>
              </a:stretch>
            </a:blipFill>
          </p:spPr>
        </p:sp>
        <p:sp>
          <p:nvSpPr>
            <p:cNvPr name="TextBox 20" id="20"/>
            <p:cNvSpPr txBox="true"/>
            <p:nvPr/>
          </p:nvSpPr>
          <p:spPr>
            <a:xfrm>
              <a:off x="0" y="-38100"/>
              <a:ext cx="6858000" cy="733044"/>
            </a:xfrm>
            <a:prstGeom prst="rect">
              <a:avLst/>
            </a:prstGeom>
          </p:spPr>
          <p:txBody>
            <a:bodyPr anchor="ctr" rtlCol="false" tIns="0" lIns="0" bIns="0" rIns="0"/>
            <a:lstStyle/>
            <a:p>
              <a:pPr algn="ctr">
                <a:lnSpc>
                  <a:spcPts val="2250"/>
                </a:lnSpc>
              </a:pPr>
              <a:r>
                <a:rPr lang="en-US" sz="1875">
                  <a:solidFill>
                    <a:srgbClr val="6B7280"/>
                  </a:solidFill>
                  <a:latin typeface="Calibri (MS)"/>
                  <a:ea typeface="Calibri (MS)"/>
                  <a:cs typeface="Calibri (MS)"/>
                  <a:sym typeface="Calibri (MS)"/>
                </a:rPr>
                <a:t>E-Commerce Act</a:t>
              </a:r>
            </a:p>
          </p:txBody>
        </p:sp>
      </p:grpSp>
      <p:grpSp>
        <p:nvGrpSpPr>
          <p:cNvPr name="Group 21" id="21"/>
          <p:cNvGrpSpPr/>
          <p:nvPr/>
        </p:nvGrpSpPr>
        <p:grpSpPr>
          <a:xfrm rot="0">
            <a:off x="960120" y="5376672"/>
            <a:ext cx="5143500" cy="329184"/>
            <a:chOff x="0" y="0"/>
            <a:chExt cx="6858000" cy="438912"/>
          </a:xfrm>
        </p:grpSpPr>
        <p:sp>
          <p:nvSpPr>
            <p:cNvPr name="Freeform 22" id="22"/>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23" id="23"/>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9AA3B8"/>
                  </a:solidFill>
                  <a:latin typeface="Arimo"/>
                  <a:ea typeface="Arimo"/>
                  <a:cs typeface="Arimo"/>
                  <a:sym typeface="Arimo"/>
                </a:rPr>
                <a:t>ECA</a:t>
              </a:r>
            </a:p>
          </p:txBody>
        </p:sp>
      </p:grpSp>
      <p:grpSp>
        <p:nvGrpSpPr>
          <p:cNvPr name="Group 24" id="24"/>
          <p:cNvGrpSpPr/>
          <p:nvPr/>
        </p:nvGrpSpPr>
        <p:grpSpPr>
          <a:xfrm rot="0">
            <a:off x="6533007" y="4928235"/>
            <a:ext cx="5162550" cy="842010"/>
            <a:chOff x="0" y="0"/>
            <a:chExt cx="6883400" cy="1122680"/>
          </a:xfrm>
        </p:grpSpPr>
        <p:sp>
          <p:nvSpPr>
            <p:cNvPr name="Freeform 25" id="25"/>
            <p:cNvSpPr/>
            <p:nvPr/>
          </p:nvSpPr>
          <p:spPr>
            <a:xfrm flipH="false" flipV="false" rot="0">
              <a:off x="0" y="0"/>
              <a:ext cx="6883400" cy="1122680"/>
            </a:xfrm>
            <a:custGeom>
              <a:avLst/>
              <a:gdLst/>
              <a:ahLst/>
              <a:cxnLst/>
              <a:rect r="r" b="b" t="t" l="l"/>
              <a:pathLst>
                <a:path h="1122680" w="6883400">
                  <a:moveTo>
                    <a:pt x="0" y="168402"/>
                  </a:moveTo>
                  <a:cubicBezTo>
                    <a:pt x="0" y="75438"/>
                    <a:pt x="75438" y="0"/>
                    <a:pt x="168402" y="0"/>
                  </a:cubicBezTo>
                  <a:lnTo>
                    <a:pt x="6714998" y="0"/>
                  </a:lnTo>
                  <a:cubicBezTo>
                    <a:pt x="6807962" y="0"/>
                    <a:pt x="6883400" y="75438"/>
                    <a:pt x="6883400" y="168402"/>
                  </a:cubicBezTo>
                  <a:lnTo>
                    <a:pt x="6883400" y="954278"/>
                  </a:lnTo>
                  <a:cubicBezTo>
                    <a:pt x="6883400" y="1047242"/>
                    <a:pt x="6807962" y="1122680"/>
                    <a:pt x="6714998" y="1122680"/>
                  </a:cubicBezTo>
                  <a:lnTo>
                    <a:pt x="168402" y="1122680"/>
                  </a:lnTo>
                  <a:cubicBezTo>
                    <a:pt x="75438" y="1122680"/>
                    <a:pt x="0" y="1047242"/>
                    <a:pt x="0" y="954278"/>
                  </a:cubicBezTo>
                  <a:close/>
                </a:path>
              </a:pathLst>
            </a:custGeom>
            <a:solidFill>
              <a:srgbClr val="C1272D"/>
            </a:solidFill>
            <a:ln w="19050" cap="sq">
              <a:solidFill>
                <a:srgbClr val="C1272D"/>
              </a:solidFill>
              <a:prstDash val="solid"/>
              <a:miter/>
            </a:ln>
          </p:spPr>
        </p:sp>
      </p:grpSp>
      <p:grpSp>
        <p:nvGrpSpPr>
          <p:cNvPr name="Group 26" id="26"/>
          <p:cNvGrpSpPr/>
          <p:nvPr/>
        </p:nvGrpSpPr>
        <p:grpSpPr>
          <a:xfrm rot="0">
            <a:off x="6542532" y="5006340"/>
            <a:ext cx="5143500" cy="521208"/>
            <a:chOff x="0" y="0"/>
            <a:chExt cx="6858000" cy="694944"/>
          </a:xfrm>
        </p:grpSpPr>
        <p:sp>
          <p:nvSpPr>
            <p:cNvPr name="Freeform 27" id="27"/>
            <p:cNvSpPr/>
            <p:nvPr/>
          </p:nvSpPr>
          <p:spPr>
            <a:xfrm flipH="false" flipV="false" rot="0">
              <a:off x="0" y="0"/>
              <a:ext cx="6858000" cy="694944"/>
            </a:xfrm>
            <a:custGeom>
              <a:avLst/>
              <a:gdLst/>
              <a:ahLst/>
              <a:cxnLst/>
              <a:rect r="r" b="b" t="t" l="l"/>
              <a:pathLst>
                <a:path h="694944" w="6858000">
                  <a:moveTo>
                    <a:pt x="0" y="0"/>
                  </a:moveTo>
                  <a:lnTo>
                    <a:pt x="6858000" y="0"/>
                  </a:lnTo>
                  <a:lnTo>
                    <a:pt x="6858000" y="694944"/>
                  </a:lnTo>
                  <a:lnTo>
                    <a:pt x="0" y="694944"/>
                  </a:lnTo>
                  <a:close/>
                </a:path>
              </a:pathLst>
            </a:custGeom>
            <a:blipFill>
              <a:blip r:embed="rId2">
                <a:alphaModFix amt="0"/>
              </a:blip>
              <a:stretch>
                <a:fillRect l="0" t="-142286" r="0" b="-142286"/>
              </a:stretch>
            </a:blipFill>
          </p:spPr>
        </p:sp>
        <p:sp>
          <p:nvSpPr>
            <p:cNvPr name="TextBox 28" id="28"/>
            <p:cNvSpPr txBox="true"/>
            <p:nvPr/>
          </p:nvSpPr>
          <p:spPr>
            <a:xfrm>
              <a:off x="0" y="-38100"/>
              <a:ext cx="6858000" cy="733044"/>
            </a:xfrm>
            <a:prstGeom prst="rect">
              <a:avLst/>
            </a:prstGeom>
          </p:spPr>
          <p:txBody>
            <a:bodyPr anchor="ctr" rtlCol="false" tIns="0" lIns="0" bIns="0" rIns="0"/>
            <a:lstStyle/>
            <a:p>
              <a:pPr algn="ctr">
                <a:lnSpc>
                  <a:spcPts val="2250"/>
                </a:lnSpc>
              </a:pPr>
              <a:r>
                <a:rPr lang="en-US" sz="1875" b="true">
                  <a:solidFill>
                    <a:srgbClr val="FFFFFF"/>
                  </a:solidFill>
                  <a:latin typeface="Calibri (MS) Bold"/>
                  <a:ea typeface="Calibri (MS) Bold"/>
                  <a:cs typeface="Calibri (MS) Bold"/>
                  <a:sym typeface="Calibri (MS) Bold"/>
                </a:rPr>
                <a:t>✓  Cybercrime Act</a:t>
              </a:r>
            </a:p>
          </p:txBody>
        </p:sp>
      </p:grpSp>
      <p:grpSp>
        <p:nvGrpSpPr>
          <p:cNvPr name="Group 29" id="29"/>
          <p:cNvGrpSpPr/>
          <p:nvPr/>
        </p:nvGrpSpPr>
        <p:grpSpPr>
          <a:xfrm rot="0">
            <a:off x="6542532" y="5376672"/>
            <a:ext cx="5143500" cy="329184"/>
            <a:chOff x="0" y="0"/>
            <a:chExt cx="6858000" cy="438912"/>
          </a:xfrm>
        </p:grpSpPr>
        <p:sp>
          <p:nvSpPr>
            <p:cNvPr name="Freeform 30" id="30"/>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31" id="31"/>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FFFFFF"/>
                  </a:solidFill>
                  <a:latin typeface="Arimo"/>
                  <a:ea typeface="Arimo"/>
                  <a:cs typeface="Arimo"/>
                  <a:sym typeface="Arimo"/>
                </a:rPr>
                <a:t>CPA</a:t>
              </a:r>
            </a:p>
          </p:txBody>
        </p:sp>
      </p:grpSp>
      <p:grpSp>
        <p:nvGrpSpPr>
          <p:cNvPr name="Group 32" id="32"/>
          <p:cNvGrpSpPr/>
          <p:nvPr/>
        </p:nvGrpSpPr>
        <p:grpSpPr>
          <a:xfrm rot="0">
            <a:off x="950595" y="5998083"/>
            <a:ext cx="5162550" cy="842010"/>
            <a:chOff x="0" y="0"/>
            <a:chExt cx="6883400" cy="1122680"/>
          </a:xfrm>
        </p:grpSpPr>
        <p:sp>
          <p:nvSpPr>
            <p:cNvPr name="Freeform 33" id="33"/>
            <p:cNvSpPr/>
            <p:nvPr/>
          </p:nvSpPr>
          <p:spPr>
            <a:xfrm flipH="false" flipV="false" rot="0">
              <a:off x="0" y="0"/>
              <a:ext cx="6883400" cy="1122680"/>
            </a:xfrm>
            <a:custGeom>
              <a:avLst/>
              <a:gdLst/>
              <a:ahLst/>
              <a:cxnLst/>
              <a:rect r="r" b="b" t="t" l="l"/>
              <a:pathLst>
                <a:path h="1122680" w="6883400">
                  <a:moveTo>
                    <a:pt x="0" y="168402"/>
                  </a:moveTo>
                  <a:cubicBezTo>
                    <a:pt x="0" y="75438"/>
                    <a:pt x="75438" y="0"/>
                    <a:pt x="168402" y="0"/>
                  </a:cubicBezTo>
                  <a:lnTo>
                    <a:pt x="6714998" y="0"/>
                  </a:lnTo>
                  <a:cubicBezTo>
                    <a:pt x="6807962" y="0"/>
                    <a:pt x="6883400" y="75438"/>
                    <a:pt x="6883400" y="168402"/>
                  </a:cubicBezTo>
                  <a:lnTo>
                    <a:pt x="6883400" y="954278"/>
                  </a:lnTo>
                  <a:cubicBezTo>
                    <a:pt x="6883400" y="1047242"/>
                    <a:pt x="6807962" y="1122680"/>
                    <a:pt x="6714998" y="1122680"/>
                  </a:cubicBezTo>
                  <a:lnTo>
                    <a:pt x="168402" y="1122680"/>
                  </a:lnTo>
                  <a:cubicBezTo>
                    <a:pt x="75438" y="1122680"/>
                    <a:pt x="0" y="1047242"/>
                    <a:pt x="0" y="954278"/>
                  </a:cubicBezTo>
                  <a:close/>
                </a:path>
              </a:pathLst>
            </a:custGeom>
            <a:solidFill>
              <a:srgbClr val="F4F7FC"/>
            </a:solidFill>
            <a:ln w="19050" cap="sq">
              <a:solidFill>
                <a:srgbClr val="D7DCEC"/>
              </a:solidFill>
              <a:prstDash val="solid"/>
              <a:miter/>
            </a:ln>
          </p:spPr>
        </p:sp>
      </p:grpSp>
      <p:grpSp>
        <p:nvGrpSpPr>
          <p:cNvPr name="Group 34" id="34"/>
          <p:cNvGrpSpPr/>
          <p:nvPr/>
        </p:nvGrpSpPr>
        <p:grpSpPr>
          <a:xfrm rot="0">
            <a:off x="960120" y="6076188"/>
            <a:ext cx="5143500" cy="521208"/>
            <a:chOff x="0" y="0"/>
            <a:chExt cx="6858000" cy="694944"/>
          </a:xfrm>
        </p:grpSpPr>
        <p:sp>
          <p:nvSpPr>
            <p:cNvPr name="Freeform 35" id="35"/>
            <p:cNvSpPr/>
            <p:nvPr/>
          </p:nvSpPr>
          <p:spPr>
            <a:xfrm flipH="false" flipV="false" rot="0">
              <a:off x="0" y="0"/>
              <a:ext cx="6858000" cy="694944"/>
            </a:xfrm>
            <a:custGeom>
              <a:avLst/>
              <a:gdLst/>
              <a:ahLst/>
              <a:cxnLst/>
              <a:rect r="r" b="b" t="t" l="l"/>
              <a:pathLst>
                <a:path h="694944" w="6858000">
                  <a:moveTo>
                    <a:pt x="0" y="0"/>
                  </a:moveTo>
                  <a:lnTo>
                    <a:pt x="6858000" y="0"/>
                  </a:lnTo>
                  <a:lnTo>
                    <a:pt x="6858000" y="694944"/>
                  </a:lnTo>
                  <a:lnTo>
                    <a:pt x="0" y="694944"/>
                  </a:lnTo>
                  <a:close/>
                </a:path>
              </a:pathLst>
            </a:custGeom>
            <a:blipFill>
              <a:blip r:embed="rId2">
                <a:alphaModFix amt="0"/>
              </a:blip>
              <a:stretch>
                <a:fillRect l="0" t="-142286" r="0" b="-142286"/>
              </a:stretch>
            </a:blipFill>
          </p:spPr>
        </p:sp>
        <p:sp>
          <p:nvSpPr>
            <p:cNvPr name="TextBox 36" id="36"/>
            <p:cNvSpPr txBox="true"/>
            <p:nvPr/>
          </p:nvSpPr>
          <p:spPr>
            <a:xfrm>
              <a:off x="0" y="-38100"/>
              <a:ext cx="6858000" cy="733044"/>
            </a:xfrm>
            <a:prstGeom prst="rect">
              <a:avLst/>
            </a:prstGeom>
          </p:spPr>
          <p:txBody>
            <a:bodyPr anchor="ctr" rtlCol="false" tIns="0" lIns="0" bIns="0" rIns="0"/>
            <a:lstStyle/>
            <a:p>
              <a:pPr algn="ctr">
                <a:lnSpc>
                  <a:spcPts val="2250"/>
                </a:lnSpc>
              </a:pPr>
              <a:r>
                <a:rPr lang="en-US" sz="1875">
                  <a:solidFill>
                    <a:srgbClr val="6B7280"/>
                  </a:solidFill>
                  <a:latin typeface="Calibri (MS)"/>
                  <a:ea typeface="Calibri (MS)"/>
                  <a:cs typeface="Calibri (MS)"/>
                  <a:sym typeface="Calibri (MS)"/>
                </a:rPr>
                <a:t>Data Privacy Act</a:t>
              </a:r>
            </a:p>
          </p:txBody>
        </p:sp>
      </p:grpSp>
      <p:grpSp>
        <p:nvGrpSpPr>
          <p:cNvPr name="Group 37" id="37"/>
          <p:cNvGrpSpPr/>
          <p:nvPr/>
        </p:nvGrpSpPr>
        <p:grpSpPr>
          <a:xfrm rot="0">
            <a:off x="960120" y="6446520"/>
            <a:ext cx="5143500" cy="329184"/>
            <a:chOff x="0" y="0"/>
            <a:chExt cx="6858000" cy="438912"/>
          </a:xfrm>
        </p:grpSpPr>
        <p:sp>
          <p:nvSpPr>
            <p:cNvPr name="Freeform 38" id="38"/>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39" id="39"/>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9AA3B8"/>
                  </a:solidFill>
                  <a:latin typeface="Arimo"/>
                  <a:ea typeface="Arimo"/>
                  <a:cs typeface="Arimo"/>
                  <a:sym typeface="Arimo"/>
                </a:rPr>
                <a:t>DPA</a:t>
              </a:r>
            </a:p>
          </p:txBody>
        </p:sp>
      </p:grpSp>
      <p:grpSp>
        <p:nvGrpSpPr>
          <p:cNvPr name="Group 40" id="40"/>
          <p:cNvGrpSpPr/>
          <p:nvPr/>
        </p:nvGrpSpPr>
        <p:grpSpPr>
          <a:xfrm rot="0">
            <a:off x="6533007" y="5998083"/>
            <a:ext cx="5162550" cy="842010"/>
            <a:chOff x="0" y="0"/>
            <a:chExt cx="6883400" cy="1122680"/>
          </a:xfrm>
        </p:grpSpPr>
        <p:sp>
          <p:nvSpPr>
            <p:cNvPr name="Freeform 41" id="41"/>
            <p:cNvSpPr/>
            <p:nvPr/>
          </p:nvSpPr>
          <p:spPr>
            <a:xfrm flipH="false" flipV="false" rot="0">
              <a:off x="0" y="0"/>
              <a:ext cx="6883400" cy="1122680"/>
            </a:xfrm>
            <a:custGeom>
              <a:avLst/>
              <a:gdLst/>
              <a:ahLst/>
              <a:cxnLst/>
              <a:rect r="r" b="b" t="t" l="l"/>
              <a:pathLst>
                <a:path h="1122680" w="6883400">
                  <a:moveTo>
                    <a:pt x="0" y="168402"/>
                  </a:moveTo>
                  <a:cubicBezTo>
                    <a:pt x="0" y="75438"/>
                    <a:pt x="75438" y="0"/>
                    <a:pt x="168402" y="0"/>
                  </a:cubicBezTo>
                  <a:lnTo>
                    <a:pt x="6714998" y="0"/>
                  </a:lnTo>
                  <a:cubicBezTo>
                    <a:pt x="6807962" y="0"/>
                    <a:pt x="6883400" y="75438"/>
                    <a:pt x="6883400" y="168402"/>
                  </a:cubicBezTo>
                  <a:lnTo>
                    <a:pt x="6883400" y="954278"/>
                  </a:lnTo>
                  <a:cubicBezTo>
                    <a:pt x="6883400" y="1047242"/>
                    <a:pt x="6807962" y="1122680"/>
                    <a:pt x="6714998" y="1122680"/>
                  </a:cubicBezTo>
                  <a:lnTo>
                    <a:pt x="168402" y="1122680"/>
                  </a:lnTo>
                  <a:cubicBezTo>
                    <a:pt x="75438" y="1122680"/>
                    <a:pt x="0" y="1047242"/>
                    <a:pt x="0" y="954278"/>
                  </a:cubicBezTo>
                  <a:close/>
                </a:path>
              </a:pathLst>
            </a:custGeom>
            <a:solidFill>
              <a:srgbClr val="F4F7FC"/>
            </a:solidFill>
            <a:ln w="19050" cap="sq">
              <a:solidFill>
                <a:srgbClr val="D7DCEC"/>
              </a:solidFill>
              <a:prstDash val="solid"/>
              <a:miter/>
            </a:ln>
          </p:spPr>
        </p:sp>
      </p:grpSp>
      <p:grpSp>
        <p:nvGrpSpPr>
          <p:cNvPr name="Group 42" id="42"/>
          <p:cNvGrpSpPr/>
          <p:nvPr/>
        </p:nvGrpSpPr>
        <p:grpSpPr>
          <a:xfrm rot="0">
            <a:off x="6542532" y="6076188"/>
            <a:ext cx="5143500" cy="521208"/>
            <a:chOff x="0" y="0"/>
            <a:chExt cx="6858000" cy="694944"/>
          </a:xfrm>
        </p:grpSpPr>
        <p:sp>
          <p:nvSpPr>
            <p:cNvPr name="Freeform 43" id="43"/>
            <p:cNvSpPr/>
            <p:nvPr/>
          </p:nvSpPr>
          <p:spPr>
            <a:xfrm flipH="false" flipV="false" rot="0">
              <a:off x="0" y="0"/>
              <a:ext cx="6858000" cy="694944"/>
            </a:xfrm>
            <a:custGeom>
              <a:avLst/>
              <a:gdLst/>
              <a:ahLst/>
              <a:cxnLst/>
              <a:rect r="r" b="b" t="t" l="l"/>
              <a:pathLst>
                <a:path h="694944" w="6858000">
                  <a:moveTo>
                    <a:pt x="0" y="0"/>
                  </a:moveTo>
                  <a:lnTo>
                    <a:pt x="6858000" y="0"/>
                  </a:lnTo>
                  <a:lnTo>
                    <a:pt x="6858000" y="694944"/>
                  </a:lnTo>
                  <a:lnTo>
                    <a:pt x="0" y="694944"/>
                  </a:lnTo>
                  <a:close/>
                </a:path>
              </a:pathLst>
            </a:custGeom>
            <a:blipFill>
              <a:blip r:embed="rId2">
                <a:alphaModFix amt="0"/>
              </a:blip>
              <a:stretch>
                <a:fillRect l="0" t="-142286" r="0" b="-142286"/>
              </a:stretch>
            </a:blipFill>
          </p:spPr>
        </p:sp>
        <p:sp>
          <p:nvSpPr>
            <p:cNvPr name="TextBox 44" id="44"/>
            <p:cNvSpPr txBox="true"/>
            <p:nvPr/>
          </p:nvSpPr>
          <p:spPr>
            <a:xfrm>
              <a:off x="0" y="-38100"/>
              <a:ext cx="6858000" cy="733044"/>
            </a:xfrm>
            <a:prstGeom prst="rect">
              <a:avLst/>
            </a:prstGeom>
          </p:spPr>
          <p:txBody>
            <a:bodyPr anchor="ctr" rtlCol="false" tIns="0" lIns="0" bIns="0" rIns="0"/>
            <a:lstStyle/>
            <a:p>
              <a:pPr algn="ctr">
                <a:lnSpc>
                  <a:spcPts val="2250"/>
                </a:lnSpc>
              </a:pPr>
              <a:r>
                <a:rPr lang="en-US" sz="1875">
                  <a:solidFill>
                    <a:srgbClr val="6B7280"/>
                  </a:solidFill>
                  <a:latin typeface="Calibri (MS)"/>
                  <a:ea typeface="Calibri (MS)"/>
                  <a:cs typeface="Calibri (MS)"/>
                  <a:sym typeface="Calibri (MS)"/>
                </a:rPr>
                <a:t>DICT Act / NCSP</a:t>
              </a:r>
            </a:p>
          </p:txBody>
        </p:sp>
      </p:grpSp>
      <p:grpSp>
        <p:nvGrpSpPr>
          <p:cNvPr name="Group 45" id="45"/>
          <p:cNvGrpSpPr/>
          <p:nvPr/>
        </p:nvGrpSpPr>
        <p:grpSpPr>
          <a:xfrm rot="0">
            <a:off x="6542532" y="6446520"/>
            <a:ext cx="5143500" cy="329184"/>
            <a:chOff x="0" y="0"/>
            <a:chExt cx="6858000" cy="438912"/>
          </a:xfrm>
        </p:grpSpPr>
        <p:sp>
          <p:nvSpPr>
            <p:cNvPr name="Freeform 46" id="46"/>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47" id="47"/>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9AA3B8"/>
                  </a:solidFill>
                  <a:latin typeface="Arimo"/>
                  <a:ea typeface="Arimo"/>
                  <a:cs typeface="Arimo"/>
                  <a:sym typeface="Arimo"/>
                </a:rPr>
                <a:t>DICT</a:t>
              </a:r>
            </a:p>
          </p:txBody>
        </p:sp>
      </p:grpSp>
      <p:grpSp>
        <p:nvGrpSpPr>
          <p:cNvPr name="Group 48" id="48"/>
          <p:cNvGrpSpPr/>
          <p:nvPr/>
        </p:nvGrpSpPr>
        <p:grpSpPr>
          <a:xfrm rot="0">
            <a:off x="12115419" y="4928235"/>
            <a:ext cx="5162550" cy="1911858"/>
            <a:chOff x="0" y="0"/>
            <a:chExt cx="6883400" cy="2549144"/>
          </a:xfrm>
        </p:grpSpPr>
        <p:sp>
          <p:nvSpPr>
            <p:cNvPr name="Freeform 49" id="49"/>
            <p:cNvSpPr/>
            <p:nvPr/>
          </p:nvSpPr>
          <p:spPr>
            <a:xfrm flipH="false" flipV="false" rot="0">
              <a:off x="0" y="0"/>
              <a:ext cx="6883400" cy="2549144"/>
            </a:xfrm>
            <a:custGeom>
              <a:avLst/>
              <a:gdLst/>
              <a:ahLst/>
              <a:cxnLst/>
              <a:rect r="r" b="b" t="t" l="l"/>
              <a:pathLst>
                <a:path h="2549144" w="6883400">
                  <a:moveTo>
                    <a:pt x="0" y="166243"/>
                  </a:moveTo>
                  <a:cubicBezTo>
                    <a:pt x="0" y="74422"/>
                    <a:pt x="74422" y="0"/>
                    <a:pt x="166243" y="0"/>
                  </a:cubicBezTo>
                  <a:lnTo>
                    <a:pt x="6717157" y="0"/>
                  </a:lnTo>
                  <a:cubicBezTo>
                    <a:pt x="6808978" y="0"/>
                    <a:pt x="6883400" y="74422"/>
                    <a:pt x="6883400" y="166243"/>
                  </a:cubicBezTo>
                  <a:lnTo>
                    <a:pt x="6883400" y="2382901"/>
                  </a:lnTo>
                  <a:cubicBezTo>
                    <a:pt x="6883400" y="2474722"/>
                    <a:pt x="6808978" y="2549144"/>
                    <a:pt x="6717157" y="2549144"/>
                  </a:cubicBezTo>
                  <a:lnTo>
                    <a:pt x="166243" y="2549144"/>
                  </a:lnTo>
                  <a:cubicBezTo>
                    <a:pt x="74422" y="2549144"/>
                    <a:pt x="0" y="2474722"/>
                    <a:pt x="0" y="2382901"/>
                  </a:cubicBezTo>
                  <a:close/>
                </a:path>
              </a:pathLst>
            </a:custGeom>
            <a:solidFill>
              <a:srgbClr val="F4F7FC"/>
            </a:solidFill>
            <a:ln w="19050" cap="sq">
              <a:solidFill>
                <a:srgbClr val="D7DCEC"/>
              </a:solidFill>
              <a:prstDash val="solid"/>
              <a:miter/>
            </a:ln>
          </p:spPr>
        </p:sp>
      </p:grpSp>
      <p:grpSp>
        <p:nvGrpSpPr>
          <p:cNvPr name="Group 50" id="50"/>
          <p:cNvGrpSpPr/>
          <p:nvPr/>
        </p:nvGrpSpPr>
        <p:grpSpPr>
          <a:xfrm rot="0">
            <a:off x="12124944" y="5006340"/>
            <a:ext cx="5143500" cy="1591056"/>
            <a:chOff x="0" y="0"/>
            <a:chExt cx="6858000" cy="2121408"/>
          </a:xfrm>
        </p:grpSpPr>
        <p:sp>
          <p:nvSpPr>
            <p:cNvPr name="Freeform 51" id="51"/>
            <p:cNvSpPr/>
            <p:nvPr/>
          </p:nvSpPr>
          <p:spPr>
            <a:xfrm flipH="false" flipV="false" rot="0">
              <a:off x="0" y="0"/>
              <a:ext cx="6858000" cy="2121408"/>
            </a:xfrm>
            <a:custGeom>
              <a:avLst/>
              <a:gdLst/>
              <a:ahLst/>
              <a:cxnLst/>
              <a:rect r="r" b="b" t="t" l="l"/>
              <a:pathLst>
                <a:path h="2121408" w="6858000">
                  <a:moveTo>
                    <a:pt x="0" y="0"/>
                  </a:moveTo>
                  <a:lnTo>
                    <a:pt x="6858000" y="0"/>
                  </a:lnTo>
                  <a:lnTo>
                    <a:pt x="6858000" y="2121408"/>
                  </a:lnTo>
                  <a:lnTo>
                    <a:pt x="0" y="2121408"/>
                  </a:lnTo>
                  <a:close/>
                </a:path>
              </a:pathLst>
            </a:custGeom>
            <a:blipFill>
              <a:blip r:embed="rId2">
                <a:alphaModFix amt="0"/>
              </a:blip>
              <a:stretch>
                <a:fillRect l="0" t="-12990" r="0" b="-12990"/>
              </a:stretch>
            </a:blipFill>
          </p:spPr>
        </p:sp>
        <p:sp>
          <p:nvSpPr>
            <p:cNvPr name="TextBox 52" id="52"/>
            <p:cNvSpPr txBox="true"/>
            <p:nvPr/>
          </p:nvSpPr>
          <p:spPr>
            <a:xfrm>
              <a:off x="0" y="-38100"/>
              <a:ext cx="6858000" cy="2159508"/>
            </a:xfrm>
            <a:prstGeom prst="rect">
              <a:avLst/>
            </a:prstGeom>
          </p:spPr>
          <p:txBody>
            <a:bodyPr anchor="ctr" rtlCol="false" tIns="0" lIns="0" bIns="0" rIns="0"/>
            <a:lstStyle/>
            <a:p>
              <a:pPr algn="ctr">
                <a:lnSpc>
                  <a:spcPts val="2250"/>
                </a:lnSpc>
              </a:pPr>
              <a:r>
                <a:rPr lang="en-US" sz="1875">
                  <a:solidFill>
                    <a:srgbClr val="6B7280"/>
                  </a:solidFill>
                  <a:latin typeface="Calibri (MS)"/>
                  <a:ea typeface="Calibri (MS)"/>
                  <a:cs typeface="Calibri (MS)"/>
                  <a:sym typeface="Calibri (MS)"/>
                </a:rPr>
                <a:t>Critical Infra. Protection</a:t>
              </a:r>
            </a:p>
          </p:txBody>
        </p:sp>
      </p:grpSp>
      <p:grpSp>
        <p:nvGrpSpPr>
          <p:cNvPr name="Group 53" id="53"/>
          <p:cNvGrpSpPr/>
          <p:nvPr/>
        </p:nvGrpSpPr>
        <p:grpSpPr>
          <a:xfrm rot="0">
            <a:off x="12124944" y="6446520"/>
            <a:ext cx="5143500" cy="329184"/>
            <a:chOff x="0" y="0"/>
            <a:chExt cx="6858000" cy="438912"/>
          </a:xfrm>
        </p:grpSpPr>
        <p:sp>
          <p:nvSpPr>
            <p:cNvPr name="Freeform 54" id="54"/>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55" id="55"/>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9AA3B8"/>
                  </a:solidFill>
                  <a:latin typeface="Arimo"/>
                  <a:ea typeface="Arimo"/>
                  <a:cs typeface="Arimo"/>
                  <a:sym typeface="Arimo"/>
                </a:rPr>
                <a:t>CII</a:t>
              </a:r>
            </a:p>
          </p:txBody>
        </p:sp>
      </p:grpSp>
      <p:grpSp>
        <p:nvGrpSpPr>
          <p:cNvPr name="Group 56" id="56"/>
          <p:cNvGrpSpPr/>
          <p:nvPr/>
        </p:nvGrpSpPr>
        <p:grpSpPr>
          <a:xfrm rot="0">
            <a:off x="950595" y="7328535"/>
            <a:ext cx="16341090" cy="1596390"/>
            <a:chOff x="0" y="0"/>
            <a:chExt cx="21788120" cy="2128520"/>
          </a:xfrm>
        </p:grpSpPr>
        <p:sp>
          <p:nvSpPr>
            <p:cNvPr name="Freeform 57" id="57"/>
            <p:cNvSpPr/>
            <p:nvPr/>
          </p:nvSpPr>
          <p:spPr>
            <a:xfrm flipH="false" flipV="false" rot="0">
              <a:off x="0" y="0"/>
              <a:ext cx="21788120" cy="2128520"/>
            </a:xfrm>
            <a:custGeom>
              <a:avLst/>
              <a:gdLst/>
              <a:ahLst/>
              <a:cxnLst/>
              <a:rect r="r" b="b" t="t" l="l"/>
              <a:pathLst>
                <a:path h="2128520" w="21788120">
                  <a:moveTo>
                    <a:pt x="0" y="185039"/>
                  </a:moveTo>
                  <a:cubicBezTo>
                    <a:pt x="0" y="82931"/>
                    <a:pt x="82931" y="0"/>
                    <a:pt x="185039" y="0"/>
                  </a:cubicBezTo>
                  <a:lnTo>
                    <a:pt x="21603081" y="0"/>
                  </a:lnTo>
                  <a:cubicBezTo>
                    <a:pt x="21705317" y="0"/>
                    <a:pt x="21788120" y="82931"/>
                    <a:pt x="21788120" y="185039"/>
                  </a:cubicBezTo>
                  <a:lnTo>
                    <a:pt x="21788120" y="1943481"/>
                  </a:lnTo>
                  <a:cubicBezTo>
                    <a:pt x="21788120" y="2045716"/>
                    <a:pt x="21705190" y="2128520"/>
                    <a:pt x="21603081" y="2128520"/>
                  </a:cubicBezTo>
                  <a:lnTo>
                    <a:pt x="185039" y="2128520"/>
                  </a:lnTo>
                  <a:cubicBezTo>
                    <a:pt x="82931" y="2128520"/>
                    <a:pt x="0" y="2045589"/>
                    <a:pt x="0" y="1943481"/>
                  </a:cubicBezTo>
                  <a:close/>
                </a:path>
              </a:pathLst>
            </a:custGeom>
            <a:solidFill>
              <a:srgbClr val="FBF9F4"/>
            </a:solidFill>
            <a:ln w="19050" cap="sq">
              <a:solidFill>
                <a:srgbClr val="EFE6D2"/>
              </a:solidFill>
              <a:prstDash val="solid"/>
              <a:miter/>
            </a:ln>
          </p:spPr>
        </p:sp>
      </p:grpSp>
      <p:sp>
        <p:nvSpPr>
          <p:cNvPr name="TextBox 58" id="58"/>
          <p:cNvSpPr txBox="true"/>
          <p:nvPr/>
        </p:nvSpPr>
        <p:spPr>
          <a:xfrm rot="0">
            <a:off x="1463040" y="7494270"/>
            <a:ext cx="15316200" cy="1238250"/>
          </a:xfrm>
          <a:prstGeom prst="rect">
            <a:avLst/>
          </a:prstGeom>
        </p:spPr>
        <p:txBody>
          <a:bodyPr anchor="t" rtlCol="false" tIns="0" lIns="0" bIns="0" rIns="0">
            <a:spAutoFit/>
          </a:bodyPr>
          <a:lstStyle/>
          <a:p>
            <a:pPr algn="l">
              <a:lnSpc>
                <a:spcPts val="2764"/>
              </a:lnSpc>
            </a:pPr>
            <a:r>
              <a:rPr lang="en-US" sz="1800">
                <a:solidFill>
                  <a:srgbClr val="23262F"/>
                </a:solidFill>
                <a:latin typeface="Calibri (MS)"/>
                <a:ea typeface="Calibri (MS)"/>
                <a:cs typeface="Calibri (MS)"/>
                <a:sym typeface="Calibri (MS)"/>
              </a:rPr>
              <a:t>Unauthorized entry into a computer system is illegal access under RA 10175, the Cybercrime Prevention Act — punishable by prisión mayor (roughly 6 to 12 years) and/or a fine starting at ₱200,000.</a:t>
            </a:r>
          </a:p>
        </p:txBody>
      </p:sp>
      <p:grpSp>
        <p:nvGrpSpPr>
          <p:cNvPr name="Group 59" id="59"/>
          <p:cNvGrpSpPr/>
          <p:nvPr/>
        </p:nvGrpSpPr>
        <p:grpSpPr>
          <a:xfrm rot="0">
            <a:off x="685800" y="9710928"/>
            <a:ext cx="10972800" cy="411480"/>
            <a:chOff x="0" y="0"/>
            <a:chExt cx="14630400" cy="548640"/>
          </a:xfrm>
        </p:grpSpPr>
        <p:sp>
          <p:nvSpPr>
            <p:cNvPr name="Freeform 60" id="60"/>
            <p:cNvSpPr/>
            <p:nvPr/>
          </p:nvSpPr>
          <p:spPr>
            <a:xfrm flipH="false" flipV="false" rot="0">
              <a:off x="0" y="0"/>
              <a:ext cx="14630400" cy="548640"/>
            </a:xfrm>
            <a:custGeom>
              <a:avLst/>
              <a:gdLst/>
              <a:ahLst/>
              <a:cxnLst/>
              <a:rect r="r" b="b" t="t" l="l"/>
              <a:pathLst>
                <a:path h="548640" w="14630400">
                  <a:moveTo>
                    <a:pt x="0" y="0"/>
                  </a:moveTo>
                  <a:lnTo>
                    <a:pt x="14630400" y="0"/>
                  </a:lnTo>
                  <a:lnTo>
                    <a:pt x="14630400" y="548640"/>
                  </a:lnTo>
                  <a:lnTo>
                    <a:pt x="0" y="548640"/>
                  </a:lnTo>
                  <a:close/>
                </a:path>
              </a:pathLst>
            </a:custGeom>
            <a:blipFill>
              <a:blip r:embed="rId2">
                <a:alphaModFix amt="0"/>
              </a:blip>
              <a:stretch>
                <a:fillRect l="0" t="-469601" r="0" b="-469601"/>
              </a:stretch>
            </a:blipFill>
          </p:spPr>
        </p:sp>
        <p:sp>
          <p:nvSpPr>
            <p:cNvPr name="TextBox 61" id="61"/>
            <p:cNvSpPr txBox="true"/>
            <p:nvPr/>
          </p:nvSpPr>
          <p:spPr>
            <a:xfrm>
              <a:off x="0" y="-38100"/>
              <a:ext cx="14630400" cy="586740"/>
            </a:xfrm>
            <a:prstGeom prst="rect">
              <a:avLst/>
            </a:prstGeom>
          </p:spPr>
          <p:txBody>
            <a:bodyPr anchor="ctr" rtlCol="false" tIns="0" lIns="0" bIns="0" rIns="0"/>
            <a:lstStyle/>
            <a:p>
              <a:pPr algn="l">
                <a:lnSpc>
                  <a:spcPts val="1800"/>
                </a:lnSpc>
              </a:pPr>
              <a:r>
                <a:rPr lang="en-US" sz="1500">
                  <a:solidFill>
                    <a:srgbClr val="6B7280"/>
                  </a:solidFill>
                  <a:latin typeface="Calibri (MS)"/>
                  <a:ea typeface="Calibri (MS)"/>
                  <a:cs typeface="Calibri (MS)"/>
                  <a:sym typeface="Calibri (MS)"/>
                </a:rPr>
                <a:t>Davao del Norte Provincial Government — Cybersecurity Seminar</a:t>
              </a:r>
            </a:p>
          </p:txBody>
        </p:sp>
      </p:grpSp>
      <p:grpSp>
        <p:nvGrpSpPr>
          <p:cNvPr name="Group 62" id="62"/>
          <p:cNvGrpSpPr/>
          <p:nvPr/>
        </p:nvGrpSpPr>
        <p:grpSpPr>
          <a:xfrm rot="0">
            <a:off x="16911828" y="9710928"/>
            <a:ext cx="685800" cy="411480"/>
            <a:chOff x="0" y="0"/>
            <a:chExt cx="914400" cy="548640"/>
          </a:xfrm>
        </p:grpSpPr>
        <p:sp>
          <p:nvSpPr>
            <p:cNvPr name="Freeform 63" id="63"/>
            <p:cNvSpPr/>
            <p:nvPr/>
          </p:nvSpPr>
          <p:spPr>
            <a:xfrm flipH="false" flipV="false" rot="0">
              <a:off x="0" y="0"/>
              <a:ext cx="914400" cy="548640"/>
            </a:xfrm>
            <a:custGeom>
              <a:avLst/>
              <a:gdLst/>
              <a:ahLst/>
              <a:cxnLst/>
              <a:rect r="r" b="b" t="t" l="l"/>
              <a:pathLst>
                <a:path h="548640" w="914400">
                  <a:moveTo>
                    <a:pt x="0" y="0"/>
                  </a:moveTo>
                  <a:lnTo>
                    <a:pt x="914400" y="0"/>
                  </a:lnTo>
                  <a:lnTo>
                    <a:pt x="914400" y="548640"/>
                  </a:lnTo>
                  <a:lnTo>
                    <a:pt x="0" y="548640"/>
                  </a:lnTo>
                  <a:close/>
                </a:path>
              </a:pathLst>
            </a:custGeom>
            <a:blipFill>
              <a:blip r:embed="rId2">
                <a:alphaModFix amt="0"/>
              </a:blip>
              <a:stretch>
                <a:fillRect l="-26982" t="0" r="-26982" b="0"/>
              </a:stretch>
            </a:blipFill>
          </p:spPr>
        </p:sp>
        <p:sp>
          <p:nvSpPr>
            <p:cNvPr name="TextBox 64" id="64"/>
            <p:cNvSpPr txBox="true"/>
            <p:nvPr/>
          </p:nvSpPr>
          <p:spPr>
            <a:xfrm>
              <a:off x="0" y="-38100"/>
              <a:ext cx="914400" cy="586740"/>
            </a:xfrm>
            <a:prstGeom prst="rect">
              <a:avLst/>
            </a:prstGeom>
          </p:spPr>
          <p:txBody>
            <a:bodyPr anchor="ctr" rtlCol="false" tIns="0" lIns="0" bIns="0" rIns="0"/>
            <a:lstStyle/>
            <a:p>
              <a:pPr algn="r">
                <a:lnSpc>
                  <a:spcPts val="1800"/>
                </a:lnSpc>
              </a:pPr>
              <a:r>
                <a:rPr lang="en-US" sz="1500">
                  <a:solidFill>
                    <a:srgbClr val="6B7280"/>
                  </a:solidFill>
                  <a:latin typeface="Calibri (MS)"/>
                  <a:ea typeface="Calibri (MS)"/>
                  <a:cs typeface="Calibri (MS)"/>
                  <a:sym typeface="Calibri (MS)"/>
                </a:rPr>
                <a:t>18</a:t>
              </a:r>
            </a:p>
          </p:txBody>
        </p:sp>
      </p:grpSp>
    </p:spTree>
  </p:cSld>
  <p:clrMapOvr>
    <a:masterClrMapping/>
  </p:clrMapOvr>
</p:sld>
</file>

<file path=ppt/slides/slide13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60120" y="685800"/>
            <a:ext cx="13716000" cy="411480"/>
            <a:chOff x="0" y="0"/>
            <a:chExt cx="18288000" cy="548640"/>
          </a:xfrm>
        </p:grpSpPr>
        <p:sp>
          <p:nvSpPr>
            <p:cNvPr name="Freeform 3" id="3"/>
            <p:cNvSpPr/>
            <p:nvPr/>
          </p:nvSpPr>
          <p:spPr>
            <a:xfrm flipH="false" flipV="false" rot="0">
              <a:off x="0" y="0"/>
              <a:ext cx="18288000" cy="548640"/>
            </a:xfrm>
            <a:custGeom>
              <a:avLst/>
              <a:gdLst/>
              <a:ahLst/>
              <a:cxnLst/>
              <a:rect r="r" b="b" t="t" l="l"/>
              <a:pathLst>
                <a:path h="548640" w="18288000">
                  <a:moveTo>
                    <a:pt x="0" y="0"/>
                  </a:moveTo>
                  <a:lnTo>
                    <a:pt x="18288000" y="0"/>
                  </a:lnTo>
                  <a:lnTo>
                    <a:pt x="18288000" y="548640"/>
                  </a:lnTo>
                  <a:lnTo>
                    <a:pt x="0" y="548640"/>
                  </a:lnTo>
                  <a:close/>
                </a:path>
              </a:pathLst>
            </a:custGeom>
            <a:blipFill>
              <a:blip r:embed="rId2">
                <a:alphaModFix amt="0"/>
              </a:blip>
              <a:stretch>
                <a:fillRect l="0" t="-599501" r="0" b="-599501"/>
              </a:stretch>
            </a:blipFill>
          </p:spPr>
        </p:sp>
        <p:sp>
          <p:nvSpPr>
            <p:cNvPr name="TextBox 4" id="4"/>
            <p:cNvSpPr txBox="true"/>
            <p:nvPr/>
          </p:nvSpPr>
          <p:spPr>
            <a:xfrm>
              <a:off x="0" y="-38100"/>
              <a:ext cx="18288000" cy="586740"/>
            </a:xfrm>
            <a:prstGeom prst="rect">
              <a:avLst/>
            </a:prstGeom>
          </p:spPr>
          <p:txBody>
            <a:bodyPr anchor="ctr" rtlCol="false" tIns="0" lIns="0" bIns="0" rIns="0"/>
            <a:lstStyle/>
            <a:p>
              <a:pPr algn="l">
                <a:lnSpc>
                  <a:spcPts val="2160"/>
                </a:lnSpc>
              </a:pPr>
              <a:r>
                <a:rPr lang="en-US" b="true" sz="1800" spc="225">
                  <a:solidFill>
                    <a:srgbClr val="00B4D8"/>
                  </a:solidFill>
                  <a:latin typeface="Calibri (MS) Bold"/>
                  <a:ea typeface="Calibri (MS) Bold"/>
                  <a:cs typeface="Calibri (MS) Bold"/>
                  <a:sym typeface="Calibri (MS) Bold"/>
                </a:rPr>
                <a:t>PH CYBER LAW SORT · SCENARIO</a:t>
              </a:r>
            </a:p>
          </p:txBody>
        </p:sp>
      </p:grpSp>
      <p:grpSp>
        <p:nvGrpSpPr>
          <p:cNvPr name="Group 5" id="5"/>
          <p:cNvGrpSpPr/>
          <p:nvPr/>
        </p:nvGrpSpPr>
        <p:grpSpPr>
          <a:xfrm rot="0">
            <a:off x="960120" y="1069848"/>
            <a:ext cx="10972800" cy="822960"/>
            <a:chOff x="0" y="0"/>
            <a:chExt cx="14630400" cy="1097280"/>
          </a:xfrm>
        </p:grpSpPr>
        <p:sp>
          <p:nvSpPr>
            <p:cNvPr name="Freeform 6" id="6"/>
            <p:cNvSpPr/>
            <p:nvPr/>
          </p:nvSpPr>
          <p:spPr>
            <a:xfrm flipH="false" flipV="false" rot="0">
              <a:off x="0" y="0"/>
              <a:ext cx="14630400" cy="1097280"/>
            </a:xfrm>
            <a:custGeom>
              <a:avLst/>
              <a:gdLst/>
              <a:ahLst/>
              <a:cxnLst/>
              <a:rect r="r" b="b" t="t" l="l"/>
              <a:pathLst>
                <a:path h="1097280" w="14630400">
                  <a:moveTo>
                    <a:pt x="0" y="0"/>
                  </a:moveTo>
                  <a:lnTo>
                    <a:pt x="14630400" y="0"/>
                  </a:lnTo>
                  <a:lnTo>
                    <a:pt x="14630400" y="1097280"/>
                  </a:lnTo>
                  <a:lnTo>
                    <a:pt x="0" y="1097280"/>
                  </a:lnTo>
                  <a:close/>
                </a:path>
              </a:pathLst>
            </a:custGeom>
            <a:blipFill>
              <a:blip r:embed="rId2">
                <a:alphaModFix amt="0"/>
              </a:blip>
              <a:stretch>
                <a:fillRect l="0" t="-209800" r="0" b="-209800"/>
              </a:stretch>
            </a:blipFill>
          </p:spPr>
        </p:sp>
        <p:sp>
          <p:nvSpPr>
            <p:cNvPr name="TextBox 7" id="7"/>
            <p:cNvSpPr txBox="true"/>
            <p:nvPr/>
          </p:nvSpPr>
          <p:spPr>
            <a:xfrm>
              <a:off x="0" y="0"/>
              <a:ext cx="14630400" cy="1097280"/>
            </a:xfrm>
            <a:prstGeom prst="rect">
              <a:avLst/>
            </a:prstGeom>
          </p:spPr>
          <p:txBody>
            <a:bodyPr anchor="ctr" rtlCol="false" tIns="0" lIns="0" bIns="0" rIns="0"/>
            <a:lstStyle/>
            <a:p>
              <a:pPr algn="l">
                <a:lnSpc>
                  <a:spcPts val="4680"/>
                </a:lnSpc>
              </a:pPr>
              <a:r>
                <a:rPr lang="en-US" sz="3900" b="true">
                  <a:solidFill>
                    <a:srgbClr val="1E2761"/>
                  </a:solidFill>
                  <a:latin typeface="Cambria Bold"/>
                  <a:ea typeface="Cambria Bold"/>
                  <a:cs typeface="Cambria Bold"/>
                  <a:sym typeface="Cambria Bold"/>
                </a:rPr>
                <a:t>Scenario 5</a:t>
              </a:r>
            </a:p>
          </p:txBody>
        </p:sp>
      </p:grpSp>
      <p:grpSp>
        <p:nvGrpSpPr>
          <p:cNvPr name="Group 8" id="8"/>
          <p:cNvGrpSpPr/>
          <p:nvPr/>
        </p:nvGrpSpPr>
        <p:grpSpPr>
          <a:xfrm rot="0">
            <a:off x="960120" y="1810512"/>
            <a:ext cx="8229600" cy="411480"/>
            <a:chOff x="0" y="0"/>
            <a:chExt cx="10972800" cy="548640"/>
          </a:xfrm>
        </p:grpSpPr>
        <p:sp>
          <p:nvSpPr>
            <p:cNvPr name="Freeform 9" id="9"/>
            <p:cNvSpPr/>
            <p:nvPr/>
          </p:nvSpPr>
          <p:spPr>
            <a:xfrm flipH="false" flipV="false" rot="0">
              <a:off x="0" y="0"/>
              <a:ext cx="10972800" cy="548640"/>
            </a:xfrm>
            <a:custGeom>
              <a:avLst/>
              <a:gdLst/>
              <a:ahLst/>
              <a:cxnLst/>
              <a:rect r="r" b="b" t="t" l="l"/>
              <a:pathLst>
                <a:path h="548640" w="10972800">
                  <a:moveTo>
                    <a:pt x="0" y="0"/>
                  </a:moveTo>
                  <a:lnTo>
                    <a:pt x="10972800" y="0"/>
                  </a:lnTo>
                  <a:lnTo>
                    <a:pt x="10972800" y="548640"/>
                  </a:lnTo>
                  <a:lnTo>
                    <a:pt x="0" y="548640"/>
                  </a:lnTo>
                  <a:close/>
                </a:path>
              </a:pathLst>
            </a:custGeom>
            <a:blipFill>
              <a:blip r:embed="rId2">
                <a:alphaModFix amt="0"/>
              </a:blip>
              <a:stretch>
                <a:fillRect l="0" t="-339700" r="0" b="-339700"/>
              </a:stretch>
            </a:blipFill>
          </p:spPr>
        </p:sp>
        <p:sp>
          <p:nvSpPr>
            <p:cNvPr name="TextBox 10" id="10"/>
            <p:cNvSpPr txBox="true"/>
            <p:nvPr/>
          </p:nvSpPr>
          <p:spPr>
            <a:xfrm>
              <a:off x="0" y="-28575"/>
              <a:ext cx="10972800" cy="577215"/>
            </a:xfrm>
            <a:prstGeom prst="rect">
              <a:avLst/>
            </a:prstGeom>
          </p:spPr>
          <p:txBody>
            <a:bodyPr anchor="ctr" rtlCol="false" tIns="0" lIns="0" bIns="0" rIns="0"/>
            <a:lstStyle/>
            <a:p>
              <a:pPr algn="l">
                <a:lnSpc>
                  <a:spcPts val="1980"/>
                </a:lnSpc>
              </a:pPr>
              <a:r>
                <a:rPr lang="en-US" sz="1650">
                  <a:solidFill>
                    <a:srgbClr val="6B7280"/>
                  </a:solidFill>
                  <a:latin typeface="Calibri (MS)"/>
                  <a:ea typeface="Calibri (MS)"/>
                  <a:cs typeface="Calibri (MS)"/>
                  <a:sym typeface="Calibri (MS)"/>
                </a:rPr>
                <a:t>5 of 15</a:t>
              </a:r>
            </a:p>
          </p:txBody>
        </p:sp>
      </p:grpSp>
      <p:grpSp>
        <p:nvGrpSpPr>
          <p:cNvPr name="Group 11" id="11"/>
          <p:cNvGrpSpPr/>
          <p:nvPr/>
        </p:nvGrpSpPr>
        <p:grpSpPr>
          <a:xfrm rot="0">
            <a:off x="960120" y="2537460"/>
            <a:ext cx="16322040" cy="2811780"/>
            <a:chOff x="0" y="0"/>
            <a:chExt cx="21762720" cy="3749040"/>
          </a:xfrm>
        </p:grpSpPr>
        <p:sp>
          <p:nvSpPr>
            <p:cNvPr name="Freeform 12" id="12"/>
            <p:cNvSpPr/>
            <p:nvPr/>
          </p:nvSpPr>
          <p:spPr>
            <a:xfrm flipH="false" flipV="false" rot="0">
              <a:off x="0" y="0"/>
              <a:ext cx="21762720" cy="3749040"/>
            </a:xfrm>
            <a:custGeom>
              <a:avLst/>
              <a:gdLst/>
              <a:ahLst/>
              <a:cxnLst/>
              <a:rect r="r" b="b" t="t" l="l"/>
              <a:pathLst>
                <a:path h="3749040" w="21762720">
                  <a:moveTo>
                    <a:pt x="0" y="182880"/>
                  </a:moveTo>
                  <a:cubicBezTo>
                    <a:pt x="0" y="81915"/>
                    <a:pt x="81915" y="0"/>
                    <a:pt x="182880" y="0"/>
                  </a:cubicBezTo>
                  <a:lnTo>
                    <a:pt x="21579839" y="0"/>
                  </a:lnTo>
                  <a:cubicBezTo>
                    <a:pt x="21680804" y="0"/>
                    <a:pt x="21762720" y="81915"/>
                    <a:pt x="21762720" y="182880"/>
                  </a:cubicBezTo>
                  <a:lnTo>
                    <a:pt x="21762720" y="3566160"/>
                  </a:lnTo>
                  <a:cubicBezTo>
                    <a:pt x="21762720" y="3667125"/>
                    <a:pt x="21680804" y="3749040"/>
                    <a:pt x="21579839" y="3749040"/>
                  </a:cubicBezTo>
                  <a:lnTo>
                    <a:pt x="182880" y="3749040"/>
                  </a:lnTo>
                  <a:cubicBezTo>
                    <a:pt x="81915" y="3749040"/>
                    <a:pt x="0" y="3667125"/>
                    <a:pt x="0" y="3566160"/>
                  </a:cubicBezTo>
                  <a:close/>
                </a:path>
              </a:pathLst>
            </a:custGeom>
            <a:solidFill>
              <a:srgbClr val="F4F7FC"/>
            </a:solidFill>
          </p:spPr>
        </p:sp>
      </p:grpSp>
      <p:grpSp>
        <p:nvGrpSpPr>
          <p:cNvPr name="Group 13" id="13"/>
          <p:cNvGrpSpPr/>
          <p:nvPr/>
        </p:nvGrpSpPr>
        <p:grpSpPr>
          <a:xfrm rot="0">
            <a:off x="1440180" y="2811780"/>
            <a:ext cx="15361920" cy="2263140"/>
            <a:chOff x="0" y="0"/>
            <a:chExt cx="20482560" cy="3017520"/>
          </a:xfrm>
        </p:grpSpPr>
        <p:sp>
          <p:nvSpPr>
            <p:cNvPr name="Freeform 14" id="14"/>
            <p:cNvSpPr/>
            <p:nvPr/>
          </p:nvSpPr>
          <p:spPr>
            <a:xfrm flipH="false" flipV="false" rot="0">
              <a:off x="0" y="0"/>
              <a:ext cx="20482561" cy="3017520"/>
            </a:xfrm>
            <a:custGeom>
              <a:avLst/>
              <a:gdLst/>
              <a:ahLst/>
              <a:cxnLst/>
              <a:rect r="r" b="b" t="t" l="l"/>
              <a:pathLst>
                <a:path h="3017520" w="20482561">
                  <a:moveTo>
                    <a:pt x="0" y="0"/>
                  </a:moveTo>
                  <a:lnTo>
                    <a:pt x="20482561" y="0"/>
                  </a:lnTo>
                  <a:lnTo>
                    <a:pt x="20482561" y="3017520"/>
                  </a:lnTo>
                  <a:lnTo>
                    <a:pt x="0" y="3017520"/>
                  </a:lnTo>
                  <a:close/>
                </a:path>
              </a:pathLst>
            </a:custGeom>
            <a:blipFill>
              <a:blip r:embed="rId2">
                <a:alphaModFix amt="0"/>
              </a:blip>
              <a:stretch>
                <a:fillRect l="0" t="-82262" r="0" b="-82262"/>
              </a:stretch>
            </a:blipFill>
          </p:spPr>
        </p:sp>
        <p:sp>
          <p:nvSpPr>
            <p:cNvPr name="TextBox 15" id="15"/>
            <p:cNvSpPr txBox="true"/>
            <p:nvPr/>
          </p:nvSpPr>
          <p:spPr>
            <a:xfrm>
              <a:off x="0" y="-104775"/>
              <a:ext cx="20482560" cy="3122295"/>
            </a:xfrm>
            <a:prstGeom prst="rect">
              <a:avLst/>
            </a:prstGeom>
          </p:spPr>
          <p:txBody>
            <a:bodyPr anchor="ctr" rtlCol="false" tIns="0" lIns="0" bIns="0" rIns="0"/>
            <a:lstStyle/>
            <a:p>
              <a:pPr algn="l">
                <a:lnSpc>
                  <a:spcPts val="4147"/>
                </a:lnSpc>
              </a:pPr>
              <a:r>
                <a:rPr lang="en-US" sz="2700" i="true">
                  <a:solidFill>
                    <a:srgbClr val="23262F"/>
                  </a:solidFill>
                  <a:latin typeface="Cambria Italics"/>
                  <a:ea typeface="Cambria Italics"/>
                  <a:cs typeface="Cambria Italics"/>
                  <a:sym typeface="Cambria Italics"/>
                </a:rPr>
                <a:t>"Someone creates a fake Facebook page impersonating the provincial administrator to solicit money from residents."</a:t>
              </a:r>
            </a:p>
          </p:txBody>
        </p:sp>
      </p:grpSp>
      <p:sp>
        <p:nvSpPr>
          <p:cNvPr name="TextBox 16" id="16"/>
          <p:cNvSpPr txBox="true"/>
          <p:nvPr/>
        </p:nvSpPr>
        <p:spPr>
          <a:xfrm rot="0">
            <a:off x="1051560" y="5604510"/>
            <a:ext cx="16139160" cy="864870"/>
          </a:xfrm>
          <a:prstGeom prst="rect">
            <a:avLst/>
          </a:prstGeom>
        </p:spPr>
        <p:txBody>
          <a:bodyPr anchor="t" rtlCol="false" tIns="0" lIns="0" bIns="0" rIns="0">
            <a:spAutoFit/>
          </a:bodyPr>
          <a:lstStyle/>
          <a:p>
            <a:pPr algn="ctr">
              <a:lnSpc>
                <a:spcPts val="3402"/>
              </a:lnSpc>
            </a:pPr>
            <a:r>
              <a:rPr lang="en-US" sz="2100" i="true">
                <a:solidFill>
                  <a:srgbClr val="6B7280"/>
                </a:solidFill>
                <a:latin typeface="Calibri (MS) Italics"/>
                <a:ea typeface="Calibri (MS) Italics"/>
                <a:cs typeface="Calibri (MS) Italics"/>
                <a:sym typeface="Calibri (MS) Italics"/>
              </a:rPr>
              <a:t>Which law or DICT issuance governs this? Discuss, then we'll reveal the answer.</a:t>
            </a:r>
          </a:p>
        </p:txBody>
      </p:sp>
      <p:grpSp>
        <p:nvGrpSpPr>
          <p:cNvPr name="Group 17" id="17"/>
          <p:cNvGrpSpPr/>
          <p:nvPr/>
        </p:nvGrpSpPr>
        <p:grpSpPr>
          <a:xfrm rot="0">
            <a:off x="950595" y="6779895"/>
            <a:ext cx="5162550" cy="910590"/>
            <a:chOff x="0" y="0"/>
            <a:chExt cx="6883400" cy="1214120"/>
          </a:xfrm>
        </p:grpSpPr>
        <p:sp>
          <p:nvSpPr>
            <p:cNvPr name="Freeform 18" id="18"/>
            <p:cNvSpPr/>
            <p:nvPr/>
          </p:nvSpPr>
          <p:spPr>
            <a:xfrm flipH="false" flipV="false" rot="0">
              <a:off x="0" y="0"/>
              <a:ext cx="6883400" cy="1214120"/>
            </a:xfrm>
            <a:custGeom>
              <a:avLst/>
              <a:gdLst/>
              <a:ahLst/>
              <a:cxnLst/>
              <a:rect r="r" b="b" t="t" l="l"/>
              <a:pathLst>
                <a:path h="1214120" w="6883400">
                  <a:moveTo>
                    <a:pt x="0" y="168148"/>
                  </a:moveTo>
                  <a:cubicBezTo>
                    <a:pt x="0" y="75311"/>
                    <a:pt x="75311" y="0"/>
                    <a:pt x="168148" y="0"/>
                  </a:cubicBezTo>
                  <a:lnTo>
                    <a:pt x="6715252" y="0"/>
                  </a:lnTo>
                  <a:cubicBezTo>
                    <a:pt x="6808089" y="0"/>
                    <a:pt x="6883400" y="75311"/>
                    <a:pt x="6883400" y="168148"/>
                  </a:cubicBezTo>
                  <a:lnTo>
                    <a:pt x="6883400" y="1045972"/>
                  </a:lnTo>
                  <a:cubicBezTo>
                    <a:pt x="6883400" y="1138809"/>
                    <a:pt x="6808089" y="1214120"/>
                    <a:pt x="6715252" y="1214120"/>
                  </a:cubicBezTo>
                  <a:lnTo>
                    <a:pt x="168148" y="1214120"/>
                  </a:lnTo>
                  <a:cubicBezTo>
                    <a:pt x="75311" y="1214120"/>
                    <a:pt x="0" y="1138809"/>
                    <a:pt x="0" y="1045972"/>
                  </a:cubicBezTo>
                  <a:close/>
                </a:path>
              </a:pathLst>
            </a:custGeom>
            <a:solidFill>
              <a:srgbClr val="F4F7FC"/>
            </a:solidFill>
            <a:ln w="19050" cap="sq">
              <a:solidFill>
                <a:srgbClr val="D7DCEC"/>
              </a:solidFill>
              <a:prstDash val="solid"/>
              <a:miter/>
            </a:ln>
          </p:spPr>
        </p:sp>
      </p:grpSp>
      <p:grpSp>
        <p:nvGrpSpPr>
          <p:cNvPr name="Group 19" id="19"/>
          <p:cNvGrpSpPr/>
          <p:nvPr/>
        </p:nvGrpSpPr>
        <p:grpSpPr>
          <a:xfrm rot="0">
            <a:off x="960120" y="6858000"/>
            <a:ext cx="5143500" cy="589788"/>
            <a:chOff x="0" y="0"/>
            <a:chExt cx="6858000" cy="786384"/>
          </a:xfrm>
        </p:grpSpPr>
        <p:sp>
          <p:nvSpPr>
            <p:cNvPr name="Freeform 20" id="20"/>
            <p:cNvSpPr/>
            <p:nvPr/>
          </p:nvSpPr>
          <p:spPr>
            <a:xfrm flipH="false" flipV="false" rot="0">
              <a:off x="0" y="0"/>
              <a:ext cx="6858000" cy="786384"/>
            </a:xfrm>
            <a:custGeom>
              <a:avLst/>
              <a:gdLst/>
              <a:ahLst/>
              <a:cxnLst/>
              <a:rect r="r" b="b" t="t" l="l"/>
              <a:pathLst>
                <a:path h="786384" w="6858000">
                  <a:moveTo>
                    <a:pt x="0" y="0"/>
                  </a:moveTo>
                  <a:lnTo>
                    <a:pt x="6858000" y="0"/>
                  </a:lnTo>
                  <a:lnTo>
                    <a:pt x="6858000" y="786384"/>
                  </a:lnTo>
                  <a:lnTo>
                    <a:pt x="0" y="786384"/>
                  </a:lnTo>
                  <a:close/>
                </a:path>
              </a:pathLst>
            </a:custGeom>
            <a:blipFill>
              <a:blip r:embed="rId2">
                <a:alphaModFix amt="0"/>
              </a:blip>
              <a:stretch>
                <a:fillRect l="0" t="-119927" r="0" b="-119927"/>
              </a:stretch>
            </a:blipFill>
          </p:spPr>
        </p:sp>
        <p:sp>
          <p:nvSpPr>
            <p:cNvPr name="TextBox 21" id="21"/>
            <p:cNvSpPr txBox="true"/>
            <p:nvPr/>
          </p:nvSpPr>
          <p:spPr>
            <a:xfrm>
              <a:off x="0" y="-38100"/>
              <a:ext cx="6858000" cy="824484"/>
            </a:xfrm>
            <a:prstGeom prst="rect">
              <a:avLst/>
            </a:prstGeom>
          </p:spPr>
          <p:txBody>
            <a:bodyPr anchor="ctr" rtlCol="false" tIns="0" lIns="0" bIns="0" rIns="0"/>
            <a:lstStyle/>
            <a:p>
              <a:pPr algn="ctr">
                <a:lnSpc>
                  <a:spcPts val="2250"/>
                </a:lnSpc>
              </a:pPr>
              <a:r>
                <a:rPr lang="en-US" sz="1875">
                  <a:solidFill>
                    <a:srgbClr val="6B7280"/>
                  </a:solidFill>
                  <a:latin typeface="Calibri (MS)"/>
                  <a:ea typeface="Calibri (MS)"/>
                  <a:cs typeface="Calibri (MS)"/>
                  <a:sym typeface="Calibri (MS)"/>
                </a:rPr>
                <a:t>E-Commerce Act</a:t>
              </a:r>
            </a:p>
          </p:txBody>
        </p:sp>
      </p:grpSp>
      <p:grpSp>
        <p:nvGrpSpPr>
          <p:cNvPr name="Group 22" id="22"/>
          <p:cNvGrpSpPr/>
          <p:nvPr/>
        </p:nvGrpSpPr>
        <p:grpSpPr>
          <a:xfrm rot="0">
            <a:off x="960120" y="7296912"/>
            <a:ext cx="5143500" cy="329184"/>
            <a:chOff x="0" y="0"/>
            <a:chExt cx="6858000" cy="438912"/>
          </a:xfrm>
        </p:grpSpPr>
        <p:sp>
          <p:nvSpPr>
            <p:cNvPr name="Freeform 23" id="23"/>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24" id="24"/>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9AA3B8"/>
                  </a:solidFill>
                  <a:latin typeface="Arimo"/>
                  <a:ea typeface="Arimo"/>
                  <a:cs typeface="Arimo"/>
                  <a:sym typeface="Arimo"/>
                </a:rPr>
                <a:t>ECA</a:t>
              </a:r>
            </a:p>
          </p:txBody>
        </p:sp>
      </p:grpSp>
      <p:grpSp>
        <p:nvGrpSpPr>
          <p:cNvPr name="Group 25" id="25"/>
          <p:cNvGrpSpPr/>
          <p:nvPr/>
        </p:nvGrpSpPr>
        <p:grpSpPr>
          <a:xfrm rot="0">
            <a:off x="6533007" y="6779895"/>
            <a:ext cx="5162550" cy="910590"/>
            <a:chOff x="0" y="0"/>
            <a:chExt cx="6883400" cy="1214120"/>
          </a:xfrm>
        </p:grpSpPr>
        <p:sp>
          <p:nvSpPr>
            <p:cNvPr name="Freeform 26" id="26"/>
            <p:cNvSpPr/>
            <p:nvPr/>
          </p:nvSpPr>
          <p:spPr>
            <a:xfrm flipH="false" flipV="false" rot="0">
              <a:off x="0" y="0"/>
              <a:ext cx="6883400" cy="1214120"/>
            </a:xfrm>
            <a:custGeom>
              <a:avLst/>
              <a:gdLst/>
              <a:ahLst/>
              <a:cxnLst/>
              <a:rect r="r" b="b" t="t" l="l"/>
              <a:pathLst>
                <a:path h="1214120" w="6883400">
                  <a:moveTo>
                    <a:pt x="0" y="168148"/>
                  </a:moveTo>
                  <a:cubicBezTo>
                    <a:pt x="0" y="75311"/>
                    <a:pt x="75311" y="0"/>
                    <a:pt x="168148" y="0"/>
                  </a:cubicBezTo>
                  <a:lnTo>
                    <a:pt x="6715252" y="0"/>
                  </a:lnTo>
                  <a:cubicBezTo>
                    <a:pt x="6808089" y="0"/>
                    <a:pt x="6883400" y="75311"/>
                    <a:pt x="6883400" y="168148"/>
                  </a:cubicBezTo>
                  <a:lnTo>
                    <a:pt x="6883400" y="1045972"/>
                  </a:lnTo>
                  <a:cubicBezTo>
                    <a:pt x="6883400" y="1138809"/>
                    <a:pt x="6808089" y="1214120"/>
                    <a:pt x="6715252" y="1214120"/>
                  </a:cubicBezTo>
                  <a:lnTo>
                    <a:pt x="168148" y="1214120"/>
                  </a:lnTo>
                  <a:cubicBezTo>
                    <a:pt x="75311" y="1214120"/>
                    <a:pt x="0" y="1138809"/>
                    <a:pt x="0" y="1045972"/>
                  </a:cubicBezTo>
                  <a:close/>
                </a:path>
              </a:pathLst>
            </a:custGeom>
            <a:solidFill>
              <a:srgbClr val="F4F7FC"/>
            </a:solidFill>
            <a:ln w="19050" cap="sq">
              <a:solidFill>
                <a:srgbClr val="D7DCEC"/>
              </a:solidFill>
              <a:prstDash val="solid"/>
              <a:miter/>
            </a:ln>
          </p:spPr>
        </p:sp>
      </p:grpSp>
      <p:grpSp>
        <p:nvGrpSpPr>
          <p:cNvPr name="Group 27" id="27"/>
          <p:cNvGrpSpPr/>
          <p:nvPr/>
        </p:nvGrpSpPr>
        <p:grpSpPr>
          <a:xfrm rot="0">
            <a:off x="6542532" y="6858000"/>
            <a:ext cx="5143500" cy="589788"/>
            <a:chOff x="0" y="0"/>
            <a:chExt cx="6858000" cy="786384"/>
          </a:xfrm>
        </p:grpSpPr>
        <p:sp>
          <p:nvSpPr>
            <p:cNvPr name="Freeform 28" id="28"/>
            <p:cNvSpPr/>
            <p:nvPr/>
          </p:nvSpPr>
          <p:spPr>
            <a:xfrm flipH="false" flipV="false" rot="0">
              <a:off x="0" y="0"/>
              <a:ext cx="6858000" cy="786384"/>
            </a:xfrm>
            <a:custGeom>
              <a:avLst/>
              <a:gdLst/>
              <a:ahLst/>
              <a:cxnLst/>
              <a:rect r="r" b="b" t="t" l="l"/>
              <a:pathLst>
                <a:path h="786384" w="6858000">
                  <a:moveTo>
                    <a:pt x="0" y="0"/>
                  </a:moveTo>
                  <a:lnTo>
                    <a:pt x="6858000" y="0"/>
                  </a:lnTo>
                  <a:lnTo>
                    <a:pt x="6858000" y="786384"/>
                  </a:lnTo>
                  <a:lnTo>
                    <a:pt x="0" y="786384"/>
                  </a:lnTo>
                  <a:close/>
                </a:path>
              </a:pathLst>
            </a:custGeom>
            <a:blipFill>
              <a:blip r:embed="rId2">
                <a:alphaModFix amt="0"/>
              </a:blip>
              <a:stretch>
                <a:fillRect l="0" t="-119927" r="0" b="-119927"/>
              </a:stretch>
            </a:blipFill>
          </p:spPr>
        </p:sp>
        <p:sp>
          <p:nvSpPr>
            <p:cNvPr name="TextBox 29" id="29"/>
            <p:cNvSpPr txBox="true"/>
            <p:nvPr/>
          </p:nvSpPr>
          <p:spPr>
            <a:xfrm>
              <a:off x="0" y="-38100"/>
              <a:ext cx="6858000" cy="824484"/>
            </a:xfrm>
            <a:prstGeom prst="rect">
              <a:avLst/>
            </a:prstGeom>
          </p:spPr>
          <p:txBody>
            <a:bodyPr anchor="ctr" rtlCol="false" tIns="0" lIns="0" bIns="0" rIns="0"/>
            <a:lstStyle/>
            <a:p>
              <a:pPr algn="ctr">
                <a:lnSpc>
                  <a:spcPts val="2250"/>
                </a:lnSpc>
              </a:pPr>
              <a:r>
                <a:rPr lang="en-US" sz="1875">
                  <a:solidFill>
                    <a:srgbClr val="6B7280"/>
                  </a:solidFill>
                  <a:latin typeface="Calibri (MS)"/>
                  <a:ea typeface="Calibri (MS)"/>
                  <a:cs typeface="Calibri (MS)"/>
                  <a:sym typeface="Calibri (MS)"/>
                </a:rPr>
                <a:t>Cybercrime Act</a:t>
              </a:r>
            </a:p>
          </p:txBody>
        </p:sp>
      </p:grpSp>
      <p:grpSp>
        <p:nvGrpSpPr>
          <p:cNvPr name="Group 30" id="30"/>
          <p:cNvGrpSpPr/>
          <p:nvPr/>
        </p:nvGrpSpPr>
        <p:grpSpPr>
          <a:xfrm rot="0">
            <a:off x="6542532" y="7296912"/>
            <a:ext cx="5143500" cy="329184"/>
            <a:chOff x="0" y="0"/>
            <a:chExt cx="6858000" cy="438912"/>
          </a:xfrm>
        </p:grpSpPr>
        <p:sp>
          <p:nvSpPr>
            <p:cNvPr name="Freeform 31" id="31"/>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32" id="32"/>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9AA3B8"/>
                  </a:solidFill>
                  <a:latin typeface="Arimo"/>
                  <a:ea typeface="Arimo"/>
                  <a:cs typeface="Arimo"/>
                  <a:sym typeface="Arimo"/>
                </a:rPr>
                <a:t>CPA</a:t>
              </a:r>
            </a:p>
          </p:txBody>
        </p:sp>
      </p:grpSp>
      <p:grpSp>
        <p:nvGrpSpPr>
          <p:cNvPr name="Group 33" id="33"/>
          <p:cNvGrpSpPr/>
          <p:nvPr/>
        </p:nvGrpSpPr>
        <p:grpSpPr>
          <a:xfrm rot="0">
            <a:off x="950595" y="7945755"/>
            <a:ext cx="5162550" cy="910590"/>
            <a:chOff x="0" y="0"/>
            <a:chExt cx="6883400" cy="1214120"/>
          </a:xfrm>
        </p:grpSpPr>
        <p:sp>
          <p:nvSpPr>
            <p:cNvPr name="Freeform 34" id="34"/>
            <p:cNvSpPr/>
            <p:nvPr/>
          </p:nvSpPr>
          <p:spPr>
            <a:xfrm flipH="false" flipV="false" rot="0">
              <a:off x="0" y="0"/>
              <a:ext cx="6883400" cy="1214120"/>
            </a:xfrm>
            <a:custGeom>
              <a:avLst/>
              <a:gdLst/>
              <a:ahLst/>
              <a:cxnLst/>
              <a:rect r="r" b="b" t="t" l="l"/>
              <a:pathLst>
                <a:path h="1214120" w="6883400">
                  <a:moveTo>
                    <a:pt x="0" y="168148"/>
                  </a:moveTo>
                  <a:cubicBezTo>
                    <a:pt x="0" y="75311"/>
                    <a:pt x="75311" y="0"/>
                    <a:pt x="168148" y="0"/>
                  </a:cubicBezTo>
                  <a:lnTo>
                    <a:pt x="6715252" y="0"/>
                  </a:lnTo>
                  <a:cubicBezTo>
                    <a:pt x="6808089" y="0"/>
                    <a:pt x="6883400" y="75311"/>
                    <a:pt x="6883400" y="168148"/>
                  </a:cubicBezTo>
                  <a:lnTo>
                    <a:pt x="6883400" y="1045972"/>
                  </a:lnTo>
                  <a:cubicBezTo>
                    <a:pt x="6883400" y="1138809"/>
                    <a:pt x="6808089" y="1214120"/>
                    <a:pt x="6715252" y="1214120"/>
                  </a:cubicBezTo>
                  <a:lnTo>
                    <a:pt x="168148" y="1214120"/>
                  </a:lnTo>
                  <a:cubicBezTo>
                    <a:pt x="75311" y="1214120"/>
                    <a:pt x="0" y="1138809"/>
                    <a:pt x="0" y="1045972"/>
                  </a:cubicBezTo>
                  <a:close/>
                </a:path>
              </a:pathLst>
            </a:custGeom>
            <a:solidFill>
              <a:srgbClr val="F4F7FC"/>
            </a:solidFill>
            <a:ln w="19050" cap="sq">
              <a:solidFill>
                <a:srgbClr val="D7DCEC"/>
              </a:solidFill>
              <a:prstDash val="solid"/>
              <a:miter/>
            </a:ln>
          </p:spPr>
        </p:sp>
      </p:grpSp>
      <p:grpSp>
        <p:nvGrpSpPr>
          <p:cNvPr name="Group 35" id="35"/>
          <p:cNvGrpSpPr/>
          <p:nvPr/>
        </p:nvGrpSpPr>
        <p:grpSpPr>
          <a:xfrm rot="0">
            <a:off x="960120" y="8023860"/>
            <a:ext cx="5143500" cy="589788"/>
            <a:chOff x="0" y="0"/>
            <a:chExt cx="6858000" cy="786384"/>
          </a:xfrm>
        </p:grpSpPr>
        <p:sp>
          <p:nvSpPr>
            <p:cNvPr name="Freeform 36" id="36"/>
            <p:cNvSpPr/>
            <p:nvPr/>
          </p:nvSpPr>
          <p:spPr>
            <a:xfrm flipH="false" flipV="false" rot="0">
              <a:off x="0" y="0"/>
              <a:ext cx="6858000" cy="786384"/>
            </a:xfrm>
            <a:custGeom>
              <a:avLst/>
              <a:gdLst/>
              <a:ahLst/>
              <a:cxnLst/>
              <a:rect r="r" b="b" t="t" l="l"/>
              <a:pathLst>
                <a:path h="786384" w="6858000">
                  <a:moveTo>
                    <a:pt x="0" y="0"/>
                  </a:moveTo>
                  <a:lnTo>
                    <a:pt x="6858000" y="0"/>
                  </a:lnTo>
                  <a:lnTo>
                    <a:pt x="6858000" y="786384"/>
                  </a:lnTo>
                  <a:lnTo>
                    <a:pt x="0" y="786384"/>
                  </a:lnTo>
                  <a:close/>
                </a:path>
              </a:pathLst>
            </a:custGeom>
            <a:blipFill>
              <a:blip r:embed="rId2">
                <a:alphaModFix amt="0"/>
              </a:blip>
              <a:stretch>
                <a:fillRect l="0" t="-119927" r="0" b="-119927"/>
              </a:stretch>
            </a:blipFill>
          </p:spPr>
        </p:sp>
        <p:sp>
          <p:nvSpPr>
            <p:cNvPr name="TextBox 37" id="37"/>
            <p:cNvSpPr txBox="true"/>
            <p:nvPr/>
          </p:nvSpPr>
          <p:spPr>
            <a:xfrm>
              <a:off x="0" y="-38100"/>
              <a:ext cx="6858000" cy="824484"/>
            </a:xfrm>
            <a:prstGeom prst="rect">
              <a:avLst/>
            </a:prstGeom>
          </p:spPr>
          <p:txBody>
            <a:bodyPr anchor="ctr" rtlCol="false" tIns="0" lIns="0" bIns="0" rIns="0"/>
            <a:lstStyle/>
            <a:p>
              <a:pPr algn="ctr">
                <a:lnSpc>
                  <a:spcPts val="2250"/>
                </a:lnSpc>
              </a:pPr>
              <a:r>
                <a:rPr lang="en-US" sz="1875">
                  <a:solidFill>
                    <a:srgbClr val="6B7280"/>
                  </a:solidFill>
                  <a:latin typeface="Calibri (MS)"/>
                  <a:ea typeface="Calibri (MS)"/>
                  <a:cs typeface="Calibri (MS)"/>
                  <a:sym typeface="Calibri (MS)"/>
                </a:rPr>
                <a:t>Data Privacy Act</a:t>
              </a:r>
            </a:p>
          </p:txBody>
        </p:sp>
      </p:grpSp>
      <p:grpSp>
        <p:nvGrpSpPr>
          <p:cNvPr name="Group 38" id="38"/>
          <p:cNvGrpSpPr/>
          <p:nvPr/>
        </p:nvGrpSpPr>
        <p:grpSpPr>
          <a:xfrm rot="0">
            <a:off x="960120" y="8462772"/>
            <a:ext cx="5143500" cy="329184"/>
            <a:chOff x="0" y="0"/>
            <a:chExt cx="6858000" cy="438912"/>
          </a:xfrm>
        </p:grpSpPr>
        <p:sp>
          <p:nvSpPr>
            <p:cNvPr name="Freeform 39" id="39"/>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40" id="40"/>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9AA3B8"/>
                  </a:solidFill>
                  <a:latin typeface="Arimo"/>
                  <a:ea typeface="Arimo"/>
                  <a:cs typeface="Arimo"/>
                  <a:sym typeface="Arimo"/>
                </a:rPr>
                <a:t>DPA</a:t>
              </a:r>
            </a:p>
          </p:txBody>
        </p:sp>
      </p:grpSp>
      <p:grpSp>
        <p:nvGrpSpPr>
          <p:cNvPr name="Group 41" id="41"/>
          <p:cNvGrpSpPr/>
          <p:nvPr/>
        </p:nvGrpSpPr>
        <p:grpSpPr>
          <a:xfrm rot="0">
            <a:off x="6533007" y="7945755"/>
            <a:ext cx="5162550" cy="910590"/>
            <a:chOff x="0" y="0"/>
            <a:chExt cx="6883400" cy="1214120"/>
          </a:xfrm>
        </p:grpSpPr>
        <p:sp>
          <p:nvSpPr>
            <p:cNvPr name="Freeform 42" id="42"/>
            <p:cNvSpPr/>
            <p:nvPr/>
          </p:nvSpPr>
          <p:spPr>
            <a:xfrm flipH="false" flipV="false" rot="0">
              <a:off x="0" y="0"/>
              <a:ext cx="6883400" cy="1214120"/>
            </a:xfrm>
            <a:custGeom>
              <a:avLst/>
              <a:gdLst/>
              <a:ahLst/>
              <a:cxnLst/>
              <a:rect r="r" b="b" t="t" l="l"/>
              <a:pathLst>
                <a:path h="1214120" w="6883400">
                  <a:moveTo>
                    <a:pt x="0" y="168148"/>
                  </a:moveTo>
                  <a:cubicBezTo>
                    <a:pt x="0" y="75311"/>
                    <a:pt x="75311" y="0"/>
                    <a:pt x="168148" y="0"/>
                  </a:cubicBezTo>
                  <a:lnTo>
                    <a:pt x="6715252" y="0"/>
                  </a:lnTo>
                  <a:cubicBezTo>
                    <a:pt x="6808089" y="0"/>
                    <a:pt x="6883400" y="75311"/>
                    <a:pt x="6883400" y="168148"/>
                  </a:cubicBezTo>
                  <a:lnTo>
                    <a:pt x="6883400" y="1045972"/>
                  </a:lnTo>
                  <a:cubicBezTo>
                    <a:pt x="6883400" y="1138809"/>
                    <a:pt x="6808089" y="1214120"/>
                    <a:pt x="6715252" y="1214120"/>
                  </a:cubicBezTo>
                  <a:lnTo>
                    <a:pt x="168148" y="1214120"/>
                  </a:lnTo>
                  <a:cubicBezTo>
                    <a:pt x="75311" y="1214120"/>
                    <a:pt x="0" y="1138809"/>
                    <a:pt x="0" y="1045972"/>
                  </a:cubicBezTo>
                  <a:close/>
                </a:path>
              </a:pathLst>
            </a:custGeom>
            <a:solidFill>
              <a:srgbClr val="F4F7FC"/>
            </a:solidFill>
            <a:ln w="19050" cap="sq">
              <a:solidFill>
                <a:srgbClr val="D7DCEC"/>
              </a:solidFill>
              <a:prstDash val="solid"/>
              <a:miter/>
            </a:ln>
          </p:spPr>
        </p:sp>
      </p:grpSp>
      <p:grpSp>
        <p:nvGrpSpPr>
          <p:cNvPr name="Group 43" id="43"/>
          <p:cNvGrpSpPr/>
          <p:nvPr/>
        </p:nvGrpSpPr>
        <p:grpSpPr>
          <a:xfrm rot="0">
            <a:off x="6542532" y="8023860"/>
            <a:ext cx="5143500" cy="589788"/>
            <a:chOff x="0" y="0"/>
            <a:chExt cx="6858000" cy="786384"/>
          </a:xfrm>
        </p:grpSpPr>
        <p:sp>
          <p:nvSpPr>
            <p:cNvPr name="Freeform 44" id="44"/>
            <p:cNvSpPr/>
            <p:nvPr/>
          </p:nvSpPr>
          <p:spPr>
            <a:xfrm flipH="false" flipV="false" rot="0">
              <a:off x="0" y="0"/>
              <a:ext cx="6858000" cy="786384"/>
            </a:xfrm>
            <a:custGeom>
              <a:avLst/>
              <a:gdLst/>
              <a:ahLst/>
              <a:cxnLst/>
              <a:rect r="r" b="b" t="t" l="l"/>
              <a:pathLst>
                <a:path h="786384" w="6858000">
                  <a:moveTo>
                    <a:pt x="0" y="0"/>
                  </a:moveTo>
                  <a:lnTo>
                    <a:pt x="6858000" y="0"/>
                  </a:lnTo>
                  <a:lnTo>
                    <a:pt x="6858000" y="786384"/>
                  </a:lnTo>
                  <a:lnTo>
                    <a:pt x="0" y="786384"/>
                  </a:lnTo>
                  <a:close/>
                </a:path>
              </a:pathLst>
            </a:custGeom>
            <a:blipFill>
              <a:blip r:embed="rId2">
                <a:alphaModFix amt="0"/>
              </a:blip>
              <a:stretch>
                <a:fillRect l="0" t="-119927" r="0" b="-119927"/>
              </a:stretch>
            </a:blipFill>
          </p:spPr>
        </p:sp>
        <p:sp>
          <p:nvSpPr>
            <p:cNvPr name="TextBox 45" id="45"/>
            <p:cNvSpPr txBox="true"/>
            <p:nvPr/>
          </p:nvSpPr>
          <p:spPr>
            <a:xfrm>
              <a:off x="0" y="-38100"/>
              <a:ext cx="6858000" cy="824484"/>
            </a:xfrm>
            <a:prstGeom prst="rect">
              <a:avLst/>
            </a:prstGeom>
          </p:spPr>
          <p:txBody>
            <a:bodyPr anchor="ctr" rtlCol="false" tIns="0" lIns="0" bIns="0" rIns="0"/>
            <a:lstStyle/>
            <a:p>
              <a:pPr algn="ctr">
                <a:lnSpc>
                  <a:spcPts val="2250"/>
                </a:lnSpc>
              </a:pPr>
              <a:r>
                <a:rPr lang="en-US" sz="1875">
                  <a:solidFill>
                    <a:srgbClr val="6B7280"/>
                  </a:solidFill>
                  <a:latin typeface="Calibri (MS)"/>
                  <a:ea typeface="Calibri (MS)"/>
                  <a:cs typeface="Calibri (MS)"/>
                  <a:sym typeface="Calibri (MS)"/>
                </a:rPr>
                <a:t>DICT Act / NCSP</a:t>
              </a:r>
            </a:p>
          </p:txBody>
        </p:sp>
      </p:grpSp>
      <p:grpSp>
        <p:nvGrpSpPr>
          <p:cNvPr name="Group 46" id="46"/>
          <p:cNvGrpSpPr/>
          <p:nvPr/>
        </p:nvGrpSpPr>
        <p:grpSpPr>
          <a:xfrm rot="0">
            <a:off x="6542532" y="8462772"/>
            <a:ext cx="5143500" cy="329184"/>
            <a:chOff x="0" y="0"/>
            <a:chExt cx="6858000" cy="438912"/>
          </a:xfrm>
        </p:grpSpPr>
        <p:sp>
          <p:nvSpPr>
            <p:cNvPr name="Freeform 47" id="47"/>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48" id="48"/>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9AA3B8"/>
                  </a:solidFill>
                  <a:latin typeface="Arimo"/>
                  <a:ea typeface="Arimo"/>
                  <a:cs typeface="Arimo"/>
                  <a:sym typeface="Arimo"/>
                </a:rPr>
                <a:t>DICT</a:t>
              </a:r>
            </a:p>
          </p:txBody>
        </p:sp>
      </p:grpSp>
      <p:grpSp>
        <p:nvGrpSpPr>
          <p:cNvPr name="Group 49" id="49"/>
          <p:cNvGrpSpPr/>
          <p:nvPr/>
        </p:nvGrpSpPr>
        <p:grpSpPr>
          <a:xfrm rot="0">
            <a:off x="12115419" y="6779895"/>
            <a:ext cx="5162550" cy="2076450"/>
            <a:chOff x="0" y="0"/>
            <a:chExt cx="6883400" cy="2768600"/>
          </a:xfrm>
        </p:grpSpPr>
        <p:sp>
          <p:nvSpPr>
            <p:cNvPr name="Freeform 50" id="50"/>
            <p:cNvSpPr/>
            <p:nvPr/>
          </p:nvSpPr>
          <p:spPr>
            <a:xfrm flipH="false" flipV="false" rot="0">
              <a:off x="0" y="0"/>
              <a:ext cx="6883400" cy="2768600"/>
            </a:xfrm>
            <a:custGeom>
              <a:avLst/>
              <a:gdLst/>
              <a:ahLst/>
              <a:cxnLst/>
              <a:rect r="r" b="b" t="t" l="l"/>
              <a:pathLst>
                <a:path h="2768600" w="6883400">
                  <a:moveTo>
                    <a:pt x="0" y="166116"/>
                  </a:moveTo>
                  <a:cubicBezTo>
                    <a:pt x="0" y="74422"/>
                    <a:pt x="74422" y="0"/>
                    <a:pt x="166116" y="0"/>
                  </a:cubicBezTo>
                  <a:lnTo>
                    <a:pt x="6717284" y="0"/>
                  </a:lnTo>
                  <a:cubicBezTo>
                    <a:pt x="6808978" y="0"/>
                    <a:pt x="6883400" y="74422"/>
                    <a:pt x="6883400" y="166116"/>
                  </a:cubicBezTo>
                  <a:lnTo>
                    <a:pt x="6883400" y="2602484"/>
                  </a:lnTo>
                  <a:cubicBezTo>
                    <a:pt x="6883400" y="2694178"/>
                    <a:pt x="6808978" y="2768600"/>
                    <a:pt x="6717284" y="2768600"/>
                  </a:cubicBezTo>
                  <a:lnTo>
                    <a:pt x="166116" y="2768600"/>
                  </a:lnTo>
                  <a:cubicBezTo>
                    <a:pt x="74422" y="2768600"/>
                    <a:pt x="0" y="2694178"/>
                    <a:pt x="0" y="2602484"/>
                  </a:cubicBezTo>
                  <a:close/>
                </a:path>
              </a:pathLst>
            </a:custGeom>
            <a:solidFill>
              <a:srgbClr val="F4F7FC"/>
            </a:solidFill>
            <a:ln w="19050" cap="sq">
              <a:solidFill>
                <a:srgbClr val="D7DCEC"/>
              </a:solidFill>
              <a:prstDash val="solid"/>
              <a:miter/>
            </a:ln>
          </p:spPr>
        </p:sp>
      </p:grpSp>
      <p:grpSp>
        <p:nvGrpSpPr>
          <p:cNvPr name="Group 51" id="51"/>
          <p:cNvGrpSpPr/>
          <p:nvPr/>
        </p:nvGrpSpPr>
        <p:grpSpPr>
          <a:xfrm rot="0">
            <a:off x="12124944" y="6858000"/>
            <a:ext cx="5143500" cy="1755648"/>
            <a:chOff x="0" y="0"/>
            <a:chExt cx="6858000" cy="2340864"/>
          </a:xfrm>
        </p:grpSpPr>
        <p:sp>
          <p:nvSpPr>
            <p:cNvPr name="Freeform 52" id="52"/>
            <p:cNvSpPr/>
            <p:nvPr/>
          </p:nvSpPr>
          <p:spPr>
            <a:xfrm flipH="false" flipV="false" rot="0">
              <a:off x="0" y="0"/>
              <a:ext cx="6858000" cy="2340864"/>
            </a:xfrm>
            <a:custGeom>
              <a:avLst/>
              <a:gdLst/>
              <a:ahLst/>
              <a:cxnLst/>
              <a:rect r="r" b="b" t="t" l="l"/>
              <a:pathLst>
                <a:path h="2340864" w="6858000">
                  <a:moveTo>
                    <a:pt x="0" y="0"/>
                  </a:moveTo>
                  <a:lnTo>
                    <a:pt x="6858000" y="0"/>
                  </a:lnTo>
                  <a:lnTo>
                    <a:pt x="6858000" y="2340864"/>
                  </a:lnTo>
                  <a:lnTo>
                    <a:pt x="0" y="2340864"/>
                  </a:lnTo>
                  <a:close/>
                </a:path>
              </a:pathLst>
            </a:custGeom>
            <a:blipFill>
              <a:blip r:embed="rId2">
                <a:alphaModFix amt="0"/>
              </a:blip>
              <a:stretch>
                <a:fillRect l="0" t="-7085" r="0" b="-7085"/>
              </a:stretch>
            </a:blipFill>
          </p:spPr>
        </p:sp>
        <p:sp>
          <p:nvSpPr>
            <p:cNvPr name="TextBox 53" id="53"/>
            <p:cNvSpPr txBox="true"/>
            <p:nvPr/>
          </p:nvSpPr>
          <p:spPr>
            <a:xfrm>
              <a:off x="0" y="-38100"/>
              <a:ext cx="6858000" cy="2378964"/>
            </a:xfrm>
            <a:prstGeom prst="rect">
              <a:avLst/>
            </a:prstGeom>
          </p:spPr>
          <p:txBody>
            <a:bodyPr anchor="ctr" rtlCol="false" tIns="0" lIns="0" bIns="0" rIns="0"/>
            <a:lstStyle/>
            <a:p>
              <a:pPr algn="ctr">
                <a:lnSpc>
                  <a:spcPts val="2250"/>
                </a:lnSpc>
              </a:pPr>
              <a:r>
                <a:rPr lang="en-US" sz="1875">
                  <a:solidFill>
                    <a:srgbClr val="6B7280"/>
                  </a:solidFill>
                  <a:latin typeface="Calibri (MS)"/>
                  <a:ea typeface="Calibri (MS)"/>
                  <a:cs typeface="Calibri (MS)"/>
                  <a:sym typeface="Calibri (MS)"/>
                </a:rPr>
                <a:t>Critical Infra. Protection</a:t>
              </a:r>
            </a:p>
          </p:txBody>
        </p:sp>
      </p:grpSp>
      <p:grpSp>
        <p:nvGrpSpPr>
          <p:cNvPr name="Group 54" id="54"/>
          <p:cNvGrpSpPr/>
          <p:nvPr/>
        </p:nvGrpSpPr>
        <p:grpSpPr>
          <a:xfrm rot="0">
            <a:off x="12124944" y="8462772"/>
            <a:ext cx="5143500" cy="329184"/>
            <a:chOff x="0" y="0"/>
            <a:chExt cx="6858000" cy="438912"/>
          </a:xfrm>
        </p:grpSpPr>
        <p:sp>
          <p:nvSpPr>
            <p:cNvPr name="Freeform 55" id="55"/>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56" id="56"/>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9AA3B8"/>
                  </a:solidFill>
                  <a:latin typeface="Arimo"/>
                  <a:ea typeface="Arimo"/>
                  <a:cs typeface="Arimo"/>
                  <a:sym typeface="Arimo"/>
                </a:rPr>
                <a:t>CII</a:t>
              </a:r>
            </a:p>
          </p:txBody>
        </p:sp>
      </p:grpSp>
      <p:grpSp>
        <p:nvGrpSpPr>
          <p:cNvPr name="Group 57" id="57"/>
          <p:cNvGrpSpPr/>
          <p:nvPr/>
        </p:nvGrpSpPr>
        <p:grpSpPr>
          <a:xfrm rot="0">
            <a:off x="685800" y="9710928"/>
            <a:ext cx="10972800" cy="411480"/>
            <a:chOff x="0" y="0"/>
            <a:chExt cx="14630400" cy="548640"/>
          </a:xfrm>
        </p:grpSpPr>
        <p:sp>
          <p:nvSpPr>
            <p:cNvPr name="Freeform 58" id="58"/>
            <p:cNvSpPr/>
            <p:nvPr/>
          </p:nvSpPr>
          <p:spPr>
            <a:xfrm flipH="false" flipV="false" rot="0">
              <a:off x="0" y="0"/>
              <a:ext cx="14630400" cy="548640"/>
            </a:xfrm>
            <a:custGeom>
              <a:avLst/>
              <a:gdLst/>
              <a:ahLst/>
              <a:cxnLst/>
              <a:rect r="r" b="b" t="t" l="l"/>
              <a:pathLst>
                <a:path h="548640" w="14630400">
                  <a:moveTo>
                    <a:pt x="0" y="0"/>
                  </a:moveTo>
                  <a:lnTo>
                    <a:pt x="14630400" y="0"/>
                  </a:lnTo>
                  <a:lnTo>
                    <a:pt x="14630400" y="548640"/>
                  </a:lnTo>
                  <a:lnTo>
                    <a:pt x="0" y="548640"/>
                  </a:lnTo>
                  <a:close/>
                </a:path>
              </a:pathLst>
            </a:custGeom>
            <a:blipFill>
              <a:blip r:embed="rId2">
                <a:alphaModFix amt="0"/>
              </a:blip>
              <a:stretch>
                <a:fillRect l="0" t="-469601" r="0" b="-469601"/>
              </a:stretch>
            </a:blipFill>
          </p:spPr>
        </p:sp>
        <p:sp>
          <p:nvSpPr>
            <p:cNvPr name="TextBox 59" id="59"/>
            <p:cNvSpPr txBox="true"/>
            <p:nvPr/>
          </p:nvSpPr>
          <p:spPr>
            <a:xfrm>
              <a:off x="0" y="-38100"/>
              <a:ext cx="14630400" cy="586740"/>
            </a:xfrm>
            <a:prstGeom prst="rect">
              <a:avLst/>
            </a:prstGeom>
          </p:spPr>
          <p:txBody>
            <a:bodyPr anchor="ctr" rtlCol="false" tIns="0" lIns="0" bIns="0" rIns="0"/>
            <a:lstStyle/>
            <a:p>
              <a:pPr algn="l">
                <a:lnSpc>
                  <a:spcPts val="1800"/>
                </a:lnSpc>
              </a:pPr>
              <a:r>
                <a:rPr lang="en-US" sz="1500">
                  <a:solidFill>
                    <a:srgbClr val="6B7280"/>
                  </a:solidFill>
                  <a:latin typeface="Calibri (MS)"/>
                  <a:ea typeface="Calibri (MS)"/>
                  <a:cs typeface="Calibri (MS)"/>
                  <a:sym typeface="Calibri (MS)"/>
                </a:rPr>
                <a:t>Davao del Norte Provincial Government — Cybersecurity Seminar</a:t>
              </a:r>
            </a:p>
          </p:txBody>
        </p:sp>
      </p:grpSp>
      <p:grpSp>
        <p:nvGrpSpPr>
          <p:cNvPr name="Group 60" id="60"/>
          <p:cNvGrpSpPr/>
          <p:nvPr/>
        </p:nvGrpSpPr>
        <p:grpSpPr>
          <a:xfrm rot="0">
            <a:off x="16911828" y="9710928"/>
            <a:ext cx="685800" cy="411480"/>
            <a:chOff x="0" y="0"/>
            <a:chExt cx="914400" cy="548640"/>
          </a:xfrm>
        </p:grpSpPr>
        <p:sp>
          <p:nvSpPr>
            <p:cNvPr name="Freeform 61" id="61"/>
            <p:cNvSpPr/>
            <p:nvPr/>
          </p:nvSpPr>
          <p:spPr>
            <a:xfrm flipH="false" flipV="false" rot="0">
              <a:off x="0" y="0"/>
              <a:ext cx="914400" cy="548640"/>
            </a:xfrm>
            <a:custGeom>
              <a:avLst/>
              <a:gdLst/>
              <a:ahLst/>
              <a:cxnLst/>
              <a:rect r="r" b="b" t="t" l="l"/>
              <a:pathLst>
                <a:path h="548640" w="914400">
                  <a:moveTo>
                    <a:pt x="0" y="0"/>
                  </a:moveTo>
                  <a:lnTo>
                    <a:pt x="914400" y="0"/>
                  </a:lnTo>
                  <a:lnTo>
                    <a:pt x="914400" y="548640"/>
                  </a:lnTo>
                  <a:lnTo>
                    <a:pt x="0" y="548640"/>
                  </a:lnTo>
                  <a:close/>
                </a:path>
              </a:pathLst>
            </a:custGeom>
            <a:blipFill>
              <a:blip r:embed="rId2">
                <a:alphaModFix amt="0"/>
              </a:blip>
              <a:stretch>
                <a:fillRect l="-26982" t="0" r="-26982" b="0"/>
              </a:stretch>
            </a:blipFill>
          </p:spPr>
        </p:sp>
        <p:sp>
          <p:nvSpPr>
            <p:cNvPr name="TextBox 62" id="62"/>
            <p:cNvSpPr txBox="true"/>
            <p:nvPr/>
          </p:nvSpPr>
          <p:spPr>
            <a:xfrm>
              <a:off x="0" y="-38100"/>
              <a:ext cx="914400" cy="586740"/>
            </a:xfrm>
            <a:prstGeom prst="rect">
              <a:avLst/>
            </a:prstGeom>
          </p:spPr>
          <p:txBody>
            <a:bodyPr anchor="ctr" rtlCol="false" tIns="0" lIns="0" bIns="0" rIns="0"/>
            <a:lstStyle/>
            <a:p>
              <a:pPr algn="r">
                <a:lnSpc>
                  <a:spcPts val="1800"/>
                </a:lnSpc>
              </a:pPr>
              <a:r>
                <a:rPr lang="en-US" sz="1500">
                  <a:solidFill>
                    <a:srgbClr val="6B7280"/>
                  </a:solidFill>
                  <a:latin typeface="Calibri (MS)"/>
                  <a:ea typeface="Calibri (MS)"/>
                  <a:cs typeface="Calibri (MS)"/>
                  <a:sym typeface="Calibri (MS)"/>
                </a:rPr>
                <a:t>19</a:t>
              </a:r>
            </a:p>
          </p:txBody>
        </p:sp>
      </p:grpSp>
    </p:spTree>
  </p:cSld>
  <p:clrMapOvr>
    <a:masterClrMapping/>
  </p:clrMapOvr>
</p:sld>
</file>

<file path=ppt/slides/slide13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60120" y="685800"/>
            <a:ext cx="13716000" cy="411480"/>
            <a:chOff x="0" y="0"/>
            <a:chExt cx="18288000" cy="548640"/>
          </a:xfrm>
        </p:grpSpPr>
        <p:sp>
          <p:nvSpPr>
            <p:cNvPr name="Freeform 3" id="3"/>
            <p:cNvSpPr/>
            <p:nvPr/>
          </p:nvSpPr>
          <p:spPr>
            <a:xfrm flipH="false" flipV="false" rot="0">
              <a:off x="0" y="0"/>
              <a:ext cx="18288000" cy="548640"/>
            </a:xfrm>
            <a:custGeom>
              <a:avLst/>
              <a:gdLst/>
              <a:ahLst/>
              <a:cxnLst/>
              <a:rect r="r" b="b" t="t" l="l"/>
              <a:pathLst>
                <a:path h="548640" w="18288000">
                  <a:moveTo>
                    <a:pt x="0" y="0"/>
                  </a:moveTo>
                  <a:lnTo>
                    <a:pt x="18288000" y="0"/>
                  </a:lnTo>
                  <a:lnTo>
                    <a:pt x="18288000" y="548640"/>
                  </a:lnTo>
                  <a:lnTo>
                    <a:pt x="0" y="548640"/>
                  </a:lnTo>
                  <a:close/>
                </a:path>
              </a:pathLst>
            </a:custGeom>
            <a:blipFill>
              <a:blip r:embed="rId2">
                <a:alphaModFix amt="0"/>
              </a:blip>
              <a:stretch>
                <a:fillRect l="0" t="-599501" r="0" b="-599501"/>
              </a:stretch>
            </a:blipFill>
          </p:spPr>
        </p:sp>
        <p:sp>
          <p:nvSpPr>
            <p:cNvPr name="TextBox 4" id="4"/>
            <p:cNvSpPr txBox="true"/>
            <p:nvPr/>
          </p:nvSpPr>
          <p:spPr>
            <a:xfrm>
              <a:off x="0" y="-38100"/>
              <a:ext cx="18288000" cy="586740"/>
            </a:xfrm>
            <a:prstGeom prst="rect">
              <a:avLst/>
            </a:prstGeom>
          </p:spPr>
          <p:txBody>
            <a:bodyPr anchor="ctr" rtlCol="false" tIns="0" lIns="0" bIns="0" rIns="0"/>
            <a:lstStyle/>
            <a:p>
              <a:pPr algn="l">
                <a:lnSpc>
                  <a:spcPts val="2160"/>
                </a:lnSpc>
              </a:pPr>
              <a:r>
                <a:rPr lang="en-US" b="true" sz="1800" spc="225">
                  <a:solidFill>
                    <a:srgbClr val="00B4D8"/>
                  </a:solidFill>
                  <a:latin typeface="Calibri (MS) Bold"/>
                  <a:ea typeface="Calibri (MS) Bold"/>
                  <a:cs typeface="Calibri (MS) Bold"/>
                  <a:sym typeface="Calibri (MS) Bold"/>
                </a:rPr>
                <a:t>PH CYBER LAW SORT · ANSWER</a:t>
              </a:r>
            </a:p>
          </p:txBody>
        </p:sp>
      </p:grpSp>
      <p:grpSp>
        <p:nvGrpSpPr>
          <p:cNvPr name="Group 5" id="5"/>
          <p:cNvGrpSpPr/>
          <p:nvPr/>
        </p:nvGrpSpPr>
        <p:grpSpPr>
          <a:xfrm rot="0">
            <a:off x="960120" y="1069848"/>
            <a:ext cx="10972800" cy="822960"/>
            <a:chOff x="0" y="0"/>
            <a:chExt cx="14630400" cy="1097280"/>
          </a:xfrm>
        </p:grpSpPr>
        <p:sp>
          <p:nvSpPr>
            <p:cNvPr name="Freeform 6" id="6"/>
            <p:cNvSpPr/>
            <p:nvPr/>
          </p:nvSpPr>
          <p:spPr>
            <a:xfrm flipH="false" flipV="false" rot="0">
              <a:off x="0" y="0"/>
              <a:ext cx="14630400" cy="1097280"/>
            </a:xfrm>
            <a:custGeom>
              <a:avLst/>
              <a:gdLst/>
              <a:ahLst/>
              <a:cxnLst/>
              <a:rect r="r" b="b" t="t" l="l"/>
              <a:pathLst>
                <a:path h="1097280" w="14630400">
                  <a:moveTo>
                    <a:pt x="0" y="0"/>
                  </a:moveTo>
                  <a:lnTo>
                    <a:pt x="14630400" y="0"/>
                  </a:lnTo>
                  <a:lnTo>
                    <a:pt x="14630400" y="1097280"/>
                  </a:lnTo>
                  <a:lnTo>
                    <a:pt x="0" y="1097280"/>
                  </a:lnTo>
                  <a:close/>
                </a:path>
              </a:pathLst>
            </a:custGeom>
            <a:blipFill>
              <a:blip r:embed="rId2">
                <a:alphaModFix amt="0"/>
              </a:blip>
              <a:stretch>
                <a:fillRect l="0" t="-209800" r="0" b="-209800"/>
              </a:stretch>
            </a:blipFill>
          </p:spPr>
        </p:sp>
        <p:sp>
          <p:nvSpPr>
            <p:cNvPr name="TextBox 7" id="7"/>
            <p:cNvSpPr txBox="true"/>
            <p:nvPr/>
          </p:nvSpPr>
          <p:spPr>
            <a:xfrm>
              <a:off x="0" y="0"/>
              <a:ext cx="14630400" cy="1097280"/>
            </a:xfrm>
            <a:prstGeom prst="rect">
              <a:avLst/>
            </a:prstGeom>
          </p:spPr>
          <p:txBody>
            <a:bodyPr anchor="ctr" rtlCol="false" tIns="0" lIns="0" bIns="0" rIns="0"/>
            <a:lstStyle/>
            <a:p>
              <a:pPr algn="l">
                <a:lnSpc>
                  <a:spcPts val="4680"/>
                </a:lnSpc>
              </a:pPr>
              <a:r>
                <a:rPr lang="en-US" sz="3900" b="true">
                  <a:solidFill>
                    <a:srgbClr val="1E2761"/>
                  </a:solidFill>
                  <a:latin typeface="Cambria Bold"/>
                  <a:ea typeface="Cambria Bold"/>
                  <a:cs typeface="Cambria Bold"/>
                  <a:sym typeface="Cambria Bold"/>
                </a:rPr>
                <a:t>Scenario 5 — Answer</a:t>
              </a:r>
            </a:p>
          </p:txBody>
        </p:sp>
      </p:grpSp>
      <p:grpSp>
        <p:nvGrpSpPr>
          <p:cNvPr name="Group 8" id="8"/>
          <p:cNvGrpSpPr/>
          <p:nvPr/>
        </p:nvGrpSpPr>
        <p:grpSpPr>
          <a:xfrm rot="0">
            <a:off x="960120" y="1810512"/>
            <a:ext cx="8229600" cy="411480"/>
            <a:chOff x="0" y="0"/>
            <a:chExt cx="10972800" cy="548640"/>
          </a:xfrm>
        </p:grpSpPr>
        <p:sp>
          <p:nvSpPr>
            <p:cNvPr name="Freeform 9" id="9"/>
            <p:cNvSpPr/>
            <p:nvPr/>
          </p:nvSpPr>
          <p:spPr>
            <a:xfrm flipH="false" flipV="false" rot="0">
              <a:off x="0" y="0"/>
              <a:ext cx="10972800" cy="548640"/>
            </a:xfrm>
            <a:custGeom>
              <a:avLst/>
              <a:gdLst/>
              <a:ahLst/>
              <a:cxnLst/>
              <a:rect r="r" b="b" t="t" l="l"/>
              <a:pathLst>
                <a:path h="548640" w="10972800">
                  <a:moveTo>
                    <a:pt x="0" y="0"/>
                  </a:moveTo>
                  <a:lnTo>
                    <a:pt x="10972800" y="0"/>
                  </a:lnTo>
                  <a:lnTo>
                    <a:pt x="10972800" y="548640"/>
                  </a:lnTo>
                  <a:lnTo>
                    <a:pt x="0" y="548640"/>
                  </a:lnTo>
                  <a:close/>
                </a:path>
              </a:pathLst>
            </a:custGeom>
            <a:blipFill>
              <a:blip r:embed="rId2">
                <a:alphaModFix amt="0"/>
              </a:blip>
              <a:stretch>
                <a:fillRect l="0" t="-339700" r="0" b="-339700"/>
              </a:stretch>
            </a:blipFill>
          </p:spPr>
        </p:sp>
        <p:sp>
          <p:nvSpPr>
            <p:cNvPr name="TextBox 10" id="10"/>
            <p:cNvSpPr txBox="true"/>
            <p:nvPr/>
          </p:nvSpPr>
          <p:spPr>
            <a:xfrm>
              <a:off x="0" y="-28575"/>
              <a:ext cx="10972800" cy="577215"/>
            </a:xfrm>
            <a:prstGeom prst="rect">
              <a:avLst/>
            </a:prstGeom>
          </p:spPr>
          <p:txBody>
            <a:bodyPr anchor="ctr" rtlCol="false" tIns="0" lIns="0" bIns="0" rIns="0"/>
            <a:lstStyle/>
            <a:p>
              <a:pPr algn="l">
                <a:lnSpc>
                  <a:spcPts val="1980"/>
                </a:lnSpc>
              </a:pPr>
              <a:r>
                <a:rPr lang="en-US" sz="1650">
                  <a:solidFill>
                    <a:srgbClr val="6B7280"/>
                  </a:solidFill>
                  <a:latin typeface="Calibri (MS)"/>
                  <a:ea typeface="Calibri (MS)"/>
                  <a:cs typeface="Calibri (MS)"/>
                  <a:sym typeface="Calibri (MS)"/>
                </a:rPr>
                <a:t>5 of 15</a:t>
              </a:r>
            </a:p>
          </p:txBody>
        </p:sp>
      </p:grpSp>
      <p:grpSp>
        <p:nvGrpSpPr>
          <p:cNvPr name="Group 11" id="11"/>
          <p:cNvGrpSpPr/>
          <p:nvPr/>
        </p:nvGrpSpPr>
        <p:grpSpPr>
          <a:xfrm rot="0">
            <a:off x="960120" y="2537460"/>
            <a:ext cx="16322040" cy="2057400"/>
            <a:chOff x="0" y="0"/>
            <a:chExt cx="21762720" cy="2743200"/>
          </a:xfrm>
        </p:grpSpPr>
        <p:sp>
          <p:nvSpPr>
            <p:cNvPr name="Freeform 12" id="12"/>
            <p:cNvSpPr/>
            <p:nvPr/>
          </p:nvSpPr>
          <p:spPr>
            <a:xfrm flipH="false" flipV="false" rot="0">
              <a:off x="0" y="0"/>
              <a:ext cx="21762720" cy="2743200"/>
            </a:xfrm>
            <a:custGeom>
              <a:avLst/>
              <a:gdLst/>
              <a:ahLst/>
              <a:cxnLst/>
              <a:rect r="r" b="b" t="t" l="l"/>
              <a:pathLst>
                <a:path h="2743200" w="21762720">
                  <a:moveTo>
                    <a:pt x="0" y="182880"/>
                  </a:moveTo>
                  <a:cubicBezTo>
                    <a:pt x="0" y="81915"/>
                    <a:pt x="81915" y="0"/>
                    <a:pt x="182880" y="0"/>
                  </a:cubicBezTo>
                  <a:lnTo>
                    <a:pt x="21579839" y="0"/>
                  </a:lnTo>
                  <a:cubicBezTo>
                    <a:pt x="21680804" y="0"/>
                    <a:pt x="21762720" y="81915"/>
                    <a:pt x="21762720" y="182880"/>
                  </a:cubicBezTo>
                  <a:lnTo>
                    <a:pt x="21762720" y="2560320"/>
                  </a:lnTo>
                  <a:cubicBezTo>
                    <a:pt x="21762720" y="2661285"/>
                    <a:pt x="21680804" y="2743200"/>
                    <a:pt x="21579839" y="2743200"/>
                  </a:cubicBezTo>
                  <a:lnTo>
                    <a:pt x="182880" y="2743200"/>
                  </a:lnTo>
                  <a:cubicBezTo>
                    <a:pt x="81915" y="2743200"/>
                    <a:pt x="0" y="2661285"/>
                    <a:pt x="0" y="2560320"/>
                  </a:cubicBezTo>
                  <a:close/>
                </a:path>
              </a:pathLst>
            </a:custGeom>
            <a:solidFill>
              <a:srgbClr val="F4F7FC"/>
            </a:solidFill>
          </p:spPr>
        </p:sp>
      </p:grpSp>
      <p:grpSp>
        <p:nvGrpSpPr>
          <p:cNvPr name="Group 13" id="13"/>
          <p:cNvGrpSpPr/>
          <p:nvPr/>
        </p:nvGrpSpPr>
        <p:grpSpPr>
          <a:xfrm rot="0">
            <a:off x="1440180" y="2743200"/>
            <a:ext cx="15361920" cy="1645920"/>
            <a:chOff x="0" y="0"/>
            <a:chExt cx="20482560" cy="2194560"/>
          </a:xfrm>
        </p:grpSpPr>
        <p:sp>
          <p:nvSpPr>
            <p:cNvPr name="Freeform 14" id="14"/>
            <p:cNvSpPr/>
            <p:nvPr/>
          </p:nvSpPr>
          <p:spPr>
            <a:xfrm flipH="false" flipV="false" rot="0">
              <a:off x="0" y="0"/>
              <a:ext cx="20482561" cy="2194560"/>
            </a:xfrm>
            <a:custGeom>
              <a:avLst/>
              <a:gdLst/>
              <a:ahLst/>
              <a:cxnLst/>
              <a:rect r="r" b="b" t="t" l="l"/>
              <a:pathLst>
                <a:path h="2194560" w="20482561">
                  <a:moveTo>
                    <a:pt x="0" y="0"/>
                  </a:moveTo>
                  <a:lnTo>
                    <a:pt x="20482561" y="0"/>
                  </a:lnTo>
                  <a:lnTo>
                    <a:pt x="20482561" y="2194560"/>
                  </a:lnTo>
                  <a:lnTo>
                    <a:pt x="0" y="2194560"/>
                  </a:lnTo>
                  <a:close/>
                </a:path>
              </a:pathLst>
            </a:custGeom>
            <a:blipFill>
              <a:blip r:embed="rId2">
                <a:alphaModFix amt="0"/>
              </a:blip>
              <a:stretch>
                <a:fillRect l="0" t="-131860" r="0" b="-131860"/>
              </a:stretch>
            </a:blipFill>
          </p:spPr>
        </p:sp>
        <p:sp>
          <p:nvSpPr>
            <p:cNvPr name="TextBox 15" id="15"/>
            <p:cNvSpPr txBox="true"/>
            <p:nvPr/>
          </p:nvSpPr>
          <p:spPr>
            <a:xfrm>
              <a:off x="0" y="-66675"/>
              <a:ext cx="20482560" cy="2261235"/>
            </a:xfrm>
            <a:prstGeom prst="rect">
              <a:avLst/>
            </a:prstGeom>
          </p:spPr>
          <p:txBody>
            <a:bodyPr anchor="ctr" rtlCol="false" tIns="0" lIns="0" bIns="0" rIns="0"/>
            <a:lstStyle/>
            <a:p>
              <a:pPr algn="l">
                <a:lnSpc>
                  <a:spcPts val="3487"/>
                </a:lnSpc>
              </a:pPr>
              <a:r>
                <a:rPr lang="en-US" sz="2325" i="true">
                  <a:solidFill>
                    <a:srgbClr val="23262F"/>
                  </a:solidFill>
                  <a:latin typeface="Cambria Italics"/>
                  <a:ea typeface="Cambria Italics"/>
                  <a:cs typeface="Cambria Italics"/>
                  <a:sym typeface="Cambria Italics"/>
                </a:rPr>
                <a:t>"Someone creates a fake Facebook page impersonating the provincial administrator to solicit money from residents."</a:t>
              </a:r>
            </a:p>
          </p:txBody>
        </p:sp>
      </p:grpSp>
      <p:grpSp>
        <p:nvGrpSpPr>
          <p:cNvPr name="Group 16" id="16"/>
          <p:cNvGrpSpPr/>
          <p:nvPr/>
        </p:nvGrpSpPr>
        <p:grpSpPr>
          <a:xfrm rot="0">
            <a:off x="950595" y="4928235"/>
            <a:ext cx="5162550" cy="842010"/>
            <a:chOff x="0" y="0"/>
            <a:chExt cx="6883400" cy="1122680"/>
          </a:xfrm>
        </p:grpSpPr>
        <p:sp>
          <p:nvSpPr>
            <p:cNvPr name="Freeform 17" id="17"/>
            <p:cNvSpPr/>
            <p:nvPr/>
          </p:nvSpPr>
          <p:spPr>
            <a:xfrm flipH="false" flipV="false" rot="0">
              <a:off x="0" y="0"/>
              <a:ext cx="6883400" cy="1122680"/>
            </a:xfrm>
            <a:custGeom>
              <a:avLst/>
              <a:gdLst/>
              <a:ahLst/>
              <a:cxnLst/>
              <a:rect r="r" b="b" t="t" l="l"/>
              <a:pathLst>
                <a:path h="1122680" w="6883400">
                  <a:moveTo>
                    <a:pt x="0" y="168402"/>
                  </a:moveTo>
                  <a:cubicBezTo>
                    <a:pt x="0" y="75438"/>
                    <a:pt x="75438" y="0"/>
                    <a:pt x="168402" y="0"/>
                  </a:cubicBezTo>
                  <a:lnTo>
                    <a:pt x="6714998" y="0"/>
                  </a:lnTo>
                  <a:cubicBezTo>
                    <a:pt x="6807962" y="0"/>
                    <a:pt x="6883400" y="75438"/>
                    <a:pt x="6883400" y="168402"/>
                  </a:cubicBezTo>
                  <a:lnTo>
                    <a:pt x="6883400" y="954278"/>
                  </a:lnTo>
                  <a:cubicBezTo>
                    <a:pt x="6883400" y="1047242"/>
                    <a:pt x="6807962" y="1122680"/>
                    <a:pt x="6714998" y="1122680"/>
                  </a:cubicBezTo>
                  <a:lnTo>
                    <a:pt x="168402" y="1122680"/>
                  </a:lnTo>
                  <a:cubicBezTo>
                    <a:pt x="75438" y="1122680"/>
                    <a:pt x="0" y="1047242"/>
                    <a:pt x="0" y="954278"/>
                  </a:cubicBezTo>
                  <a:close/>
                </a:path>
              </a:pathLst>
            </a:custGeom>
            <a:solidFill>
              <a:srgbClr val="F4F7FC"/>
            </a:solidFill>
            <a:ln w="19050" cap="sq">
              <a:solidFill>
                <a:srgbClr val="D7DCEC"/>
              </a:solidFill>
              <a:prstDash val="solid"/>
              <a:miter/>
            </a:ln>
          </p:spPr>
        </p:sp>
      </p:grpSp>
      <p:grpSp>
        <p:nvGrpSpPr>
          <p:cNvPr name="Group 18" id="18"/>
          <p:cNvGrpSpPr/>
          <p:nvPr/>
        </p:nvGrpSpPr>
        <p:grpSpPr>
          <a:xfrm rot="0">
            <a:off x="960120" y="5006340"/>
            <a:ext cx="5143500" cy="521208"/>
            <a:chOff x="0" y="0"/>
            <a:chExt cx="6858000" cy="694944"/>
          </a:xfrm>
        </p:grpSpPr>
        <p:sp>
          <p:nvSpPr>
            <p:cNvPr name="Freeform 19" id="19"/>
            <p:cNvSpPr/>
            <p:nvPr/>
          </p:nvSpPr>
          <p:spPr>
            <a:xfrm flipH="false" flipV="false" rot="0">
              <a:off x="0" y="0"/>
              <a:ext cx="6858000" cy="694944"/>
            </a:xfrm>
            <a:custGeom>
              <a:avLst/>
              <a:gdLst/>
              <a:ahLst/>
              <a:cxnLst/>
              <a:rect r="r" b="b" t="t" l="l"/>
              <a:pathLst>
                <a:path h="694944" w="6858000">
                  <a:moveTo>
                    <a:pt x="0" y="0"/>
                  </a:moveTo>
                  <a:lnTo>
                    <a:pt x="6858000" y="0"/>
                  </a:lnTo>
                  <a:lnTo>
                    <a:pt x="6858000" y="694944"/>
                  </a:lnTo>
                  <a:lnTo>
                    <a:pt x="0" y="694944"/>
                  </a:lnTo>
                  <a:close/>
                </a:path>
              </a:pathLst>
            </a:custGeom>
            <a:blipFill>
              <a:blip r:embed="rId2">
                <a:alphaModFix amt="0"/>
              </a:blip>
              <a:stretch>
                <a:fillRect l="0" t="-142286" r="0" b="-142286"/>
              </a:stretch>
            </a:blipFill>
          </p:spPr>
        </p:sp>
        <p:sp>
          <p:nvSpPr>
            <p:cNvPr name="TextBox 20" id="20"/>
            <p:cNvSpPr txBox="true"/>
            <p:nvPr/>
          </p:nvSpPr>
          <p:spPr>
            <a:xfrm>
              <a:off x="0" y="-38100"/>
              <a:ext cx="6858000" cy="733044"/>
            </a:xfrm>
            <a:prstGeom prst="rect">
              <a:avLst/>
            </a:prstGeom>
          </p:spPr>
          <p:txBody>
            <a:bodyPr anchor="ctr" rtlCol="false" tIns="0" lIns="0" bIns="0" rIns="0"/>
            <a:lstStyle/>
            <a:p>
              <a:pPr algn="ctr">
                <a:lnSpc>
                  <a:spcPts val="2250"/>
                </a:lnSpc>
              </a:pPr>
              <a:r>
                <a:rPr lang="en-US" sz="1875">
                  <a:solidFill>
                    <a:srgbClr val="6B7280"/>
                  </a:solidFill>
                  <a:latin typeface="Calibri (MS)"/>
                  <a:ea typeface="Calibri (MS)"/>
                  <a:cs typeface="Calibri (MS)"/>
                  <a:sym typeface="Calibri (MS)"/>
                </a:rPr>
                <a:t>E-Commerce Act</a:t>
              </a:r>
            </a:p>
          </p:txBody>
        </p:sp>
      </p:grpSp>
      <p:grpSp>
        <p:nvGrpSpPr>
          <p:cNvPr name="Group 21" id="21"/>
          <p:cNvGrpSpPr/>
          <p:nvPr/>
        </p:nvGrpSpPr>
        <p:grpSpPr>
          <a:xfrm rot="0">
            <a:off x="960120" y="5376672"/>
            <a:ext cx="5143500" cy="329184"/>
            <a:chOff x="0" y="0"/>
            <a:chExt cx="6858000" cy="438912"/>
          </a:xfrm>
        </p:grpSpPr>
        <p:sp>
          <p:nvSpPr>
            <p:cNvPr name="Freeform 22" id="22"/>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23" id="23"/>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9AA3B8"/>
                  </a:solidFill>
                  <a:latin typeface="Arimo"/>
                  <a:ea typeface="Arimo"/>
                  <a:cs typeface="Arimo"/>
                  <a:sym typeface="Arimo"/>
                </a:rPr>
                <a:t>ECA</a:t>
              </a:r>
            </a:p>
          </p:txBody>
        </p:sp>
      </p:grpSp>
      <p:grpSp>
        <p:nvGrpSpPr>
          <p:cNvPr name="Group 24" id="24"/>
          <p:cNvGrpSpPr/>
          <p:nvPr/>
        </p:nvGrpSpPr>
        <p:grpSpPr>
          <a:xfrm rot="0">
            <a:off x="6533007" y="4928235"/>
            <a:ext cx="5162550" cy="842010"/>
            <a:chOff x="0" y="0"/>
            <a:chExt cx="6883400" cy="1122680"/>
          </a:xfrm>
        </p:grpSpPr>
        <p:sp>
          <p:nvSpPr>
            <p:cNvPr name="Freeform 25" id="25"/>
            <p:cNvSpPr/>
            <p:nvPr/>
          </p:nvSpPr>
          <p:spPr>
            <a:xfrm flipH="false" flipV="false" rot="0">
              <a:off x="0" y="0"/>
              <a:ext cx="6883400" cy="1122680"/>
            </a:xfrm>
            <a:custGeom>
              <a:avLst/>
              <a:gdLst/>
              <a:ahLst/>
              <a:cxnLst/>
              <a:rect r="r" b="b" t="t" l="l"/>
              <a:pathLst>
                <a:path h="1122680" w="6883400">
                  <a:moveTo>
                    <a:pt x="0" y="168402"/>
                  </a:moveTo>
                  <a:cubicBezTo>
                    <a:pt x="0" y="75438"/>
                    <a:pt x="75438" y="0"/>
                    <a:pt x="168402" y="0"/>
                  </a:cubicBezTo>
                  <a:lnTo>
                    <a:pt x="6714998" y="0"/>
                  </a:lnTo>
                  <a:cubicBezTo>
                    <a:pt x="6807962" y="0"/>
                    <a:pt x="6883400" y="75438"/>
                    <a:pt x="6883400" y="168402"/>
                  </a:cubicBezTo>
                  <a:lnTo>
                    <a:pt x="6883400" y="954278"/>
                  </a:lnTo>
                  <a:cubicBezTo>
                    <a:pt x="6883400" y="1047242"/>
                    <a:pt x="6807962" y="1122680"/>
                    <a:pt x="6714998" y="1122680"/>
                  </a:cubicBezTo>
                  <a:lnTo>
                    <a:pt x="168402" y="1122680"/>
                  </a:lnTo>
                  <a:cubicBezTo>
                    <a:pt x="75438" y="1122680"/>
                    <a:pt x="0" y="1047242"/>
                    <a:pt x="0" y="954278"/>
                  </a:cubicBezTo>
                  <a:close/>
                </a:path>
              </a:pathLst>
            </a:custGeom>
            <a:solidFill>
              <a:srgbClr val="C1272D"/>
            </a:solidFill>
            <a:ln w="19050" cap="sq">
              <a:solidFill>
                <a:srgbClr val="C1272D"/>
              </a:solidFill>
              <a:prstDash val="solid"/>
              <a:miter/>
            </a:ln>
          </p:spPr>
        </p:sp>
      </p:grpSp>
      <p:grpSp>
        <p:nvGrpSpPr>
          <p:cNvPr name="Group 26" id="26"/>
          <p:cNvGrpSpPr/>
          <p:nvPr/>
        </p:nvGrpSpPr>
        <p:grpSpPr>
          <a:xfrm rot="0">
            <a:off x="6542532" y="5006340"/>
            <a:ext cx="5143500" cy="521208"/>
            <a:chOff x="0" y="0"/>
            <a:chExt cx="6858000" cy="694944"/>
          </a:xfrm>
        </p:grpSpPr>
        <p:sp>
          <p:nvSpPr>
            <p:cNvPr name="Freeform 27" id="27"/>
            <p:cNvSpPr/>
            <p:nvPr/>
          </p:nvSpPr>
          <p:spPr>
            <a:xfrm flipH="false" flipV="false" rot="0">
              <a:off x="0" y="0"/>
              <a:ext cx="6858000" cy="694944"/>
            </a:xfrm>
            <a:custGeom>
              <a:avLst/>
              <a:gdLst/>
              <a:ahLst/>
              <a:cxnLst/>
              <a:rect r="r" b="b" t="t" l="l"/>
              <a:pathLst>
                <a:path h="694944" w="6858000">
                  <a:moveTo>
                    <a:pt x="0" y="0"/>
                  </a:moveTo>
                  <a:lnTo>
                    <a:pt x="6858000" y="0"/>
                  </a:lnTo>
                  <a:lnTo>
                    <a:pt x="6858000" y="694944"/>
                  </a:lnTo>
                  <a:lnTo>
                    <a:pt x="0" y="694944"/>
                  </a:lnTo>
                  <a:close/>
                </a:path>
              </a:pathLst>
            </a:custGeom>
            <a:blipFill>
              <a:blip r:embed="rId2">
                <a:alphaModFix amt="0"/>
              </a:blip>
              <a:stretch>
                <a:fillRect l="0" t="-142286" r="0" b="-142286"/>
              </a:stretch>
            </a:blipFill>
          </p:spPr>
        </p:sp>
        <p:sp>
          <p:nvSpPr>
            <p:cNvPr name="TextBox 28" id="28"/>
            <p:cNvSpPr txBox="true"/>
            <p:nvPr/>
          </p:nvSpPr>
          <p:spPr>
            <a:xfrm>
              <a:off x="0" y="-38100"/>
              <a:ext cx="6858000" cy="733044"/>
            </a:xfrm>
            <a:prstGeom prst="rect">
              <a:avLst/>
            </a:prstGeom>
          </p:spPr>
          <p:txBody>
            <a:bodyPr anchor="ctr" rtlCol="false" tIns="0" lIns="0" bIns="0" rIns="0"/>
            <a:lstStyle/>
            <a:p>
              <a:pPr algn="ctr">
                <a:lnSpc>
                  <a:spcPts val="2250"/>
                </a:lnSpc>
              </a:pPr>
              <a:r>
                <a:rPr lang="en-US" sz="1875" b="true">
                  <a:solidFill>
                    <a:srgbClr val="FFFFFF"/>
                  </a:solidFill>
                  <a:latin typeface="Calibri (MS) Bold"/>
                  <a:ea typeface="Calibri (MS) Bold"/>
                  <a:cs typeface="Calibri (MS) Bold"/>
                  <a:sym typeface="Calibri (MS) Bold"/>
                </a:rPr>
                <a:t>✓  Cybercrime Act</a:t>
              </a:r>
            </a:p>
          </p:txBody>
        </p:sp>
      </p:grpSp>
      <p:grpSp>
        <p:nvGrpSpPr>
          <p:cNvPr name="Group 29" id="29"/>
          <p:cNvGrpSpPr/>
          <p:nvPr/>
        </p:nvGrpSpPr>
        <p:grpSpPr>
          <a:xfrm rot="0">
            <a:off x="6542532" y="5376672"/>
            <a:ext cx="5143500" cy="329184"/>
            <a:chOff x="0" y="0"/>
            <a:chExt cx="6858000" cy="438912"/>
          </a:xfrm>
        </p:grpSpPr>
        <p:sp>
          <p:nvSpPr>
            <p:cNvPr name="Freeform 30" id="30"/>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31" id="31"/>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FFFFFF"/>
                  </a:solidFill>
                  <a:latin typeface="Arimo"/>
                  <a:ea typeface="Arimo"/>
                  <a:cs typeface="Arimo"/>
                  <a:sym typeface="Arimo"/>
                </a:rPr>
                <a:t>CPA</a:t>
              </a:r>
            </a:p>
          </p:txBody>
        </p:sp>
      </p:grpSp>
      <p:grpSp>
        <p:nvGrpSpPr>
          <p:cNvPr name="Group 32" id="32"/>
          <p:cNvGrpSpPr/>
          <p:nvPr/>
        </p:nvGrpSpPr>
        <p:grpSpPr>
          <a:xfrm rot="0">
            <a:off x="950595" y="5998083"/>
            <a:ext cx="5162550" cy="842010"/>
            <a:chOff x="0" y="0"/>
            <a:chExt cx="6883400" cy="1122680"/>
          </a:xfrm>
        </p:grpSpPr>
        <p:sp>
          <p:nvSpPr>
            <p:cNvPr name="Freeform 33" id="33"/>
            <p:cNvSpPr/>
            <p:nvPr/>
          </p:nvSpPr>
          <p:spPr>
            <a:xfrm flipH="false" flipV="false" rot="0">
              <a:off x="0" y="0"/>
              <a:ext cx="6883400" cy="1122680"/>
            </a:xfrm>
            <a:custGeom>
              <a:avLst/>
              <a:gdLst/>
              <a:ahLst/>
              <a:cxnLst/>
              <a:rect r="r" b="b" t="t" l="l"/>
              <a:pathLst>
                <a:path h="1122680" w="6883400">
                  <a:moveTo>
                    <a:pt x="0" y="168402"/>
                  </a:moveTo>
                  <a:cubicBezTo>
                    <a:pt x="0" y="75438"/>
                    <a:pt x="75438" y="0"/>
                    <a:pt x="168402" y="0"/>
                  </a:cubicBezTo>
                  <a:lnTo>
                    <a:pt x="6714998" y="0"/>
                  </a:lnTo>
                  <a:cubicBezTo>
                    <a:pt x="6807962" y="0"/>
                    <a:pt x="6883400" y="75438"/>
                    <a:pt x="6883400" y="168402"/>
                  </a:cubicBezTo>
                  <a:lnTo>
                    <a:pt x="6883400" y="954278"/>
                  </a:lnTo>
                  <a:cubicBezTo>
                    <a:pt x="6883400" y="1047242"/>
                    <a:pt x="6807962" y="1122680"/>
                    <a:pt x="6714998" y="1122680"/>
                  </a:cubicBezTo>
                  <a:lnTo>
                    <a:pt x="168402" y="1122680"/>
                  </a:lnTo>
                  <a:cubicBezTo>
                    <a:pt x="75438" y="1122680"/>
                    <a:pt x="0" y="1047242"/>
                    <a:pt x="0" y="954278"/>
                  </a:cubicBezTo>
                  <a:close/>
                </a:path>
              </a:pathLst>
            </a:custGeom>
            <a:solidFill>
              <a:srgbClr val="F4F7FC"/>
            </a:solidFill>
            <a:ln w="19050" cap="sq">
              <a:solidFill>
                <a:srgbClr val="D7DCEC"/>
              </a:solidFill>
              <a:prstDash val="solid"/>
              <a:miter/>
            </a:ln>
          </p:spPr>
        </p:sp>
      </p:grpSp>
      <p:grpSp>
        <p:nvGrpSpPr>
          <p:cNvPr name="Group 34" id="34"/>
          <p:cNvGrpSpPr/>
          <p:nvPr/>
        </p:nvGrpSpPr>
        <p:grpSpPr>
          <a:xfrm rot="0">
            <a:off x="960120" y="6076188"/>
            <a:ext cx="5143500" cy="521208"/>
            <a:chOff x="0" y="0"/>
            <a:chExt cx="6858000" cy="694944"/>
          </a:xfrm>
        </p:grpSpPr>
        <p:sp>
          <p:nvSpPr>
            <p:cNvPr name="Freeform 35" id="35"/>
            <p:cNvSpPr/>
            <p:nvPr/>
          </p:nvSpPr>
          <p:spPr>
            <a:xfrm flipH="false" flipV="false" rot="0">
              <a:off x="0" y="0"/>
              <a:ext cx="6858000" cy="694944"/>
            </a:xfrm>
            <a:custGeom>
              <a:avLst/>
              <a:gdLst/>
              <a:ahLst/>
              <a:cxnLst/>
              <a:rect r="r" b="b" t="t" l="l"/>
              <a:pathLst>
                <a:path h="694944" w="6858000">
                  <a:moveTo>
                    <a:pt x="0" y="0"/>
                  </a:moveTo>
                  <a:lnTo>
                    <a:pt x="6858000" y="0"/>
                  </a:lnTo>
                  <a:lnTo>
                    <a:pt x="6858000" y="694944"/>
                  </a:lnTo>
                  <a:lnTo>
                    <a:pt x="0" y="694944"/>
                  </a:lnTo>
                  <a:close/>
                </a:path>
              </a:pathLst>
            </a:custGeom>
            <a:blipFill>
              <a:blip r:embed="rId2">
                <a:alphaModFix amt="0"/>
              </a:blip>
              <a:stretch>
                <a:fillRect l="0" t="-142286" r="0" b="-142286"/>
              </a:stretch>
            </a:blipFill>
          </p:spPr>
        </p:sp>
        <p:sp>
          <p:nvSpPr>
            <p:cNvPr name="TextBox 36" id="36"/>
            <p:cNvSpPr txBox="true"/>
            <p:nvPr/>
          </p:nvSpPr>
          <p:spPr>
            <a:xfrm>
              <a:off x="0" y="-38100"/>
              <a:ext cx="6858000" cy="733044"/>
            </a:xfrm>
            <a:prstGeom prst="rect">
              <a:avLst/>
            </a:prstGeom>
          </p:spPr>
          <p:txBody>
            <a:bodyPr anchor="ctr" rtlCol="false" tIns="0" lIns="0" bIns="0" rIns="0"/>
            <a:lstStyle/>
            <a:p>
              <a:pPr algn="ctr">
                <a:lnSpc>
                  <a:spcPts val="2250"/>
                </a:lnSpc>
              </a:pPr>
              <a:r>
                <a:rPr lang="en-US" sz="1875">
                  <a:solidFill>
                    <a:srgbClr val="6B7280"/>
                  </a:solidFill>
                  <a:latin typeface="Calibri (MS)"/>
                  <a:ea typeface="Calibri (MS)"/>
                  <a:cs typeface="Calibri (MS)"/>
                  <a:sym typeface="Calibri (MS)"/>
                </a:rPr>
                <a:t>Data Privacy Act</a:t>
              </a:r>
            </a:p>
          </p:txBody>
        </p:sp>
      </p:grpSp>
      <p:grpSp>
        <p:nvGrpSpPr>
          <p:cNvPr name="Group 37" id="37"/>
          <p:cNvGrpSpPr/>
          <p:nvPr/>
        </p:nvGrpSpPr>
        <p:grpSpPr>
          <a:xfrm rot="0">
            <a:off x="960120" y="6446520"/>
            <a:ext cx="5143500" cy="329184"/>
            <a:chOff x="0" y="0"/>
            <a:chExt cx="6858000" cy="438912"/>
          </a:xfrm>
        </p:grpSpPr>
        <p:sp>
          <p:nvSpPr>
            <p:cNvPr name="Freeform 38" id="38"/>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39" id="39"/>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9AA3B8"/>
                  </a:solidFill>
                  <a:latin typeface="Arimo"/>
                  <a:ea typeface="Arimo"/>
                  <a:cs typeface="Arimo"/>
                  <a:sym typeface="Arimo"/>
                </a:rPr>
                <a:t>DPA</a:t>
              </a:r>
            </a:p>
          </p:txBody>
        </p:sp>
      </p:grpSp>
      <p:grpSp>
        <p:nvGrpSpPr>
          <p:cNvPr name="Group 40" id="40"/>
          <p:cNvGrpSpPr/>
          <p:nvPr/>
        </p:nvGrpSpPr>
        <p:grpSpPr>
          <a:xfrm rot="0">
            <a:off x="6533007" y="5998083"/>
            <a:ext cx="5162550" cy="842010"/>
            <a:chOff x="0" y="0"/>
            <a:chExt cx="6883400" cy="1122680"/>
          </a:xfrm>
        </p:grpSpPr>
        <p:sp>
          <p:nvSpPr>
            <p:cNvPr name="Freeform 41" id="41"/>
            <p:cNvSpPr/>
            <p:nvPr/>
          </p:nvSpPr>
          <p:spPr>
            <a:xfrm flipH="false" flipV="false" rot="0">
              <a:off x="0" y="0"/>
              <a:ext cx="6883400" cy="1122680"/>
            </a:xfrm>
            <a:custGeom>
              <a:avLst/>
              <a:gdLst/>
              <a:ahLst/>
              <a:cxnLst/>
              <a:rect r="r" b="b" t="t" l="l"/>
              <a:pathLst>
                <a:path h="1122680" w="6883400">
                  <a:moveTo>
                    <a:pt x="0" y="168402"/>
                  </a:moveTo>
                  <a:cubicBezTo>
                    <a:pt x="0" y="75438"/>
                    <a:pt x="75438" y="0"/>
                    <a:pt x="168402" y="0"/>
                  </a:cubicBezTo>
                  <a:lnTo>
                    <a:pt x="6714998" y="0"/>
                  </a:lnTo>
                  <a:cubicBezTo>
                    <a:pt x="6807962" y="0"/>
                    <a:pt x="6883400" y="75438"/>
                    <a:pt x="6883400" y="168402"/>
                  </a:cubicBezTo>
                  <a:lnTo>
                    <a:pt x="6883400" y="954278"/>
                  </a:lnTo>
                  <a:cubicBezTo>
                    <a:pt x="6883400" y="1047242"/>
                    <a:pt x="6807962" y="1122680"/>
                    <a:pt x="6714998" y="1122680"/>
                  </a:cubicBezTo>
                  <a:lnTo>
                    <a:pt x="168402" y="1122680"/>
                  </a:lnTo>
                  <a:cubicBezTo>
                    <a:pt x="75438" y="1122680"/>
                    <a:pt x="0" y="1047242"/>
                    <a:pt x="0" y="954278"/>
                  </a:cubicBezTo>
                  <a:close/>
                </a:path>
              </a:pathLst>
            </a:custGeom>
            <a:solidFill>
              <a:srgbClr val="F4F7FC"/>
            </a:solidFill>
            <a:ln w="19050" cap="sq">
              <a:solidFill>
                <a:srgbClr val="D7DCEC"/>
              </a:solidFill>
              <a:prstDash val="solid"/>
              <a:miter/>
            </a:ln>
          </p:spPr>
        </p:sp>
      </p:grpSp>
      <p:grpSp>
        <p:nvGrpSpPr>
          <p:cNvPr name="Group 42" id="42"/>
          <p:cNvGrpSpPr/>
          <p:nvPr/>
        </p:nvGrpSpPr>
        <p:grpSpPr>
          <a:xfrm rot="0">
            <a:off x="6542532" y="6076188"/>
            <a:ext cx="5143500" cy="521208"/>
            <a:chOff x="0" y="0"/>
            <a:chExt cx="6858000" cy="694944"/>
          </a:xfrm>
        </p:grpSpPr>
        <p:sp>
          <p:nvSpPr>
            <p:cNvPr name="Freeform 43" id="43"/>
            <p:cNvSpPr/>
            <p:nvPr/>
          </p:nvSpPr>
          <p:spPr>
            <a:xfrm flipH="false" flipV="false" rot="0">
              <a:off x="0" y="0"/>
              <a:ext cx="6858000" cy="694944"/>
            </a:xfrm>
            <a:custGeom>
              <a:avLst/>
              <a:gdLst/>
              <a:ahLst/>
              <a:cxnLst/>
              <a:rect r="r" b="b" t="t" l="l"/>
              <a:pathLst>
                <a:path h="694944" w="6858000">
                  <a:moveTo>
                    <a:pt x="0" y="0"/>
                  </a:moveTo>
                  <a:lnTo>
                    <a:pt x="6858000" y="0"/>
                  </a:lnTo>
                  <a:lnTo>
                    <a:pt x="6858000" y="694944"/>
                  </a:lnTo>
                  <a:lnTo>
                    <a:pt x="0" y="694944"/>
                  </a:lnTo>
                  <a:close/>
                </a:path>
              </a:pathLst>
            </a:custGeom>
            <a:blipFill>
              <a:blip r:embed="rId2">
                <a:alphaModFix amt="0"/>
              </a:blip>
              <a:stretch>
                <a:fillRect l="0" t="-142286" r="0" b="-142286"/>
              </a:stretch>
            </a:blipFill>
          </p:spPr>
        </p:sp>
        <p:sp>
          <p:nvSpPr>
            <p:cNvPr name="TextBox 44" id="44"/>
            <p:cNvSpPr txBox="true"/>
            <p:nvPr/>
          </p:nvSpPr>
          <p:spPr>
            <a:xfrm>
              <a:off x="0" y="-38100"/>
              <a:ext cx="6858000" cy="733044"/>
            </a:xfrm>
            <a:prstGeom prst="rect">
              <a:avLst/>
            </a:prstGeom>
          </p:spPr>
          <p:txBody>
            <a:bodyPr anchor="ctr" rtlCol="false" tIns="0" lIns="0" bIns="0" rIns="0"/>
            <a:lstStyle/>
            <a:p>
              <a:pPr algn="ctr">
                <a:lnSpc>
                  <a:spcPts val="2250"/>
                </a:lnSpc>
              </a:pPr>
              <a:r>
                <a:rPr lang="en-US" sz="1875">
                  <a:solidFill>
                    <a:srgbClr val="6B7280"/>
                  </a:solidFill>
                  <a:latin typeface="Calibri (MS)"/>
                  <a:ea typeface="Calibri (MS)"/>
                  <a:cs typeface="Calibri (MS)"/>
                  <a:sym typeface="Calibri (MS)"/>
                </a:rPr>
                <a:t>DICT Act / NCSP</a:t>
              </a:r>
            </a:p>
          </p:txBody>
        </p:sp>
      </p:grpSp>
      <p:grpSp>
        <p:nvGrpSpPr>
          <p:cNvPr name="Group 45" id="45"/>
          <p:cNvGrpSpPr/>
          <p:nvPr/>
        </p:nvGrpSpPr>
        <p:grpSpPr>
          <a:xfrm rot="0">
            <a:off x="6542532" y="6446520"/>
            <a:ext cx="5143500" cy="329184"/>
            <a:chOff x="0" y="0"/>
            <a:chExt cx="6858000" cy="438912"/>
          </a:xfrm>
        </p:grpSpPr>
        <p:sp>
          <p:nvSpPr>
            <p:cNvPr name="Freeform 46" id="46"/>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47" id="47"/>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9AA3B8"/>
                  </a:solidFill>
                  <a:latin typeface="Arimo"/>
                  <a:ea typeface="Arimo"/>
                  <a:cs typeface="Arimo"/>
                  <a:sym typeface="Arimo"/>
                </a:rPr>
                <a:t>DICT</a:t>
              </a:r>
            </a:p>
          </p:txBody>
        </p:sp>
      </p:grpSp>
      <p:grpSp>
        <p:nvGrpSpPr>
          <p:cNvPr name="Group 48" id="48"/>
          <p:cNvGrpSpPr/>
          <p:nvPr/>
        </p:nvGrpSpPr>
        <p:grpSpPr>
          <a:xfrm rot="0">
            <a:off x="12115419" y="4928235"/>
            <a:ext cx="5162550" cy="1911858"/>
            <a:chOff x="0" y="0"/>
            <a:chExt cx="6883400" cy="2549144"/>
          </a:xfrm>
        </p:grpSpPr>
        <p:sp>
          <p:nvSpPr>
            <p:cNvPr name="Freeform 49" id="49"/>
            <p:cNvSpPr/>
            <p:nvPr/>
          </p:nvSpPr>
          <p:spPr>
            <a:xfrm flipH="false" flipV="false" rot="0">
              <a:off x="0" y="0"/>
              <a:ext cx="6883400" cy="2549144"/>
            </a:xfrm>
            <a:custGeom>
              <a:avLst/>
              <a:gdLst/>
              <a:ahLst/>
              <a:cxnLst/>
              <a:rect r="r" b="b" t="t" l="l"/>
              <a:pathLst>
                <a:path h="2549144" w="6883400">
                  <a:moveTo>
                    <a:pt x="0" y="166243"/>
                  </a:moveTo>
                  <a:cubicBezTo>
                    <a:pt x="0" y="74422"/>
                    <a:pt x="74422" y="0"/>
                    <a:pt x="166243" y="0"/>
                  </a:cubicBezTo>
                  <a:lnTo>
                    <a:pt x="6717157" y="0"/>
                  </a:lnTo>
                  <a:cubicBezTo>
                    <a:pt x="6808978" y="0"/>
                    <a:pt x="6883400" y="74422"/>
                    <a:pt x="6883400" y="166243"/>
                  </a:cubicBezTo>
                  <a:lnTo>
                    <a:pt x="6883400" y="2382901"/>
                  </a:lnTo>
                  <a:cubicBezTo>
                    <a:pt x="6883400" y="2474722"/>
                    <a:pt x="6808978" y="2549144"/>
                    <a:pt x="6717157" y="2549144"/>
                  </a:cubicBezTo>
                  <a:lnTo>
                    <a:pt x="166243" y="2549144"/>
                  </a:lnTo>
                  <a:cubicBezTo>
                    <a:pt x="74422" y="2549144"/>
                    <a:pt x="0" y="2474722"/>
                    <a:pt x="0" y="2382901"/>
                  </a:cubicBezTo>
                  <a:close/>
                </a:path>
              </a:pathLst>
            </a:custGeom>
            <a:solidFill>
              <a:srgbClr val="F4F7FC"/>
            </a:solidFill>
            <a:ln w="19050" cap="sq">
              <a:solidFill>
                <a:srgbClr val="D7DCEC"/>
              </a:solidFill>
              <a:prstDash val="solid"/>
              <a:miter/>
            </a:ln>
          </p:spPr>
        </p:sp>
      </p:grpSp>
      <p:grpSp>
        <p:nvGrpSpPr>
          <p:cNvPr name="Group 50" id="50"/>
          <p:cNvGrpSpPr/>
          <p:nvPr/>
        </p:nvGrpSpPr>
        <p:grpSpPr>
          <a:xfrm rot="0">
            <a:off x="12124944" y="5006340"/>
            <a:ext cx="5143500" cy="1591056"/>
            <a:chOff x="0" y="0"/>
            <a:chExt cx="6858000" cy="2121408"/>
          </a:xfrm>
        </p:grpSpPr>
        <p:sp>
          <p:nvSpPr>
            <p:cNvPr name="Freeform 51" id="51"/>
            <p:cNvSpPr/>
            <p:nvPr/>
          </p:nvSpPr>
          <p:spPr>
            <a:xfrm flipH="false" flipV="false" rot="0">
              <a:off x="0" y="0"/>
              <a:ext cx="6858000" cy="2121408"/>
            </a:xfrm>
            <a:custGeom>
              <a:avLst/>
              <a:gdLst/>
              <a:ahLst/>
              <a:cxnLst/>
              <a:rect r="r" b="b" t="t" l="l"/>
              <a:pathLst>
                <a:path h="2121408" w="6858000">
                  <a:moveTo>
                    <a:pt x="0" y="0"/>
                  </a:moveTo>
                  <a:lnTo>
                    <a:pt x="6858000" y="0"/>
                  </a:lnTo>
                  <a:lnTo>
                    <a:pt x="6858000" y="2121408"/>
                  </a:lnTo>
                  <a:lnTo>
                    <a:pt x="0" y="2121408"/>
                  </a:lnTo>
                  <a:close/>
                </a:path>
              </a:pathLst>
            </a:custGeom>
            <a:blipFill>
              <a:blip r:embed="rId2">
                <a:alphaModFix amt="0"/>
              </a:blip>
              <a:stretch>
                <a:fillRect l="0" t="-12990" r="0" b="-12990"/>
              </a:stretch>
            </a:blipFill>
          </p:spPr>
        </p:sp>
        <p:sp>
          <p:nvSpPr>
            <p:cNvPr name="TextBox 52" id="52"/>
            <p:cNvSpPr txBox="true"/>
            <p:nvPr/>
          </p:nvSpPr>
          <p:spPr>
            <a:xfrm>
              <a:off x="0" y="-38100"/>
              <a:ext cx="6858000" cy="2159508"/>
            </a:xfrm>
            <a:prstGeom prst="rect">
              <a:avLst/>
            </a:prstGeom>
          </p:spPr>
          <p:txBody>
            <a:bodyPr anchor="ctr" rtlCol="false" tIns="0" lIns="0" bIns="0" rIns="0"/>
            <a:lstStyle/>
            <a:p>
              <a:pPr algn="ctr">
                <a:lnSpc>
                  <a:spcPts val="2250"/>
                </a:lnSpc>
              </a:pPr>
              <a:r>
                <a:rPr lang="en-US" sz="1875">
                  <a:solidFill>
                    <a:srgbClr val="6B7280"/>
                  </a:solidFill>
                  <a:latin typeface="Calibri (MS)"/>
                  <a:ea typeface="Calibri (MS)"/>
                  <a:cs typeface="Calibri (MS)"/>
                  <a:sym typeface="Calibri (MS)"/>
                </a:rPr>
                <a:t>Critical Infra. Protection</a:t>
              </a:r>
            </a:p>
          </p:txBody>
        </p:sp>
      </p:grpSp>
      <p:grpSp>
        <p:nvGrpSpPr>
          <p:cNvPr name="Group 53" id="53"/>
          <p:cNvGrpSpPr/>
          <p:nvPr/>
        </p:nvGrpSpPr>
        <p:grpSpPr>
          <a:xfrm rot="0">
            <a:off x="12124944" y="6446520"/>
            <a:ext cx="5143500" cy="329184"/>
            <a:chOff x="0" y="0"/>
            <a:chExt cx="6858000" cy="438912"/>
          </a:xfrm>
        </p:grpSpPr>
        <p:sp>
          <p:nvSpPr>
            <p:cNvPr name="Freeform 54" id="54"/>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55" id="55"/>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9AA3B8"/>
                  </a:solidFill>
                  <a:latin typeface="Arimo"/>
                  <a:ea typeface="Arimo"/>
                  <a:cs typeface="Arimo"/>
                  <a:sym typeface="Arimo"/>
                </a:rPr>
                <a:t>CII</a:t>
              </a:r>
            </a:p>
          </p:txBody>
        </p:sp>
      </p:grpSp>
      <p:grpSp>
        <p:nvGrpSpPr>
          <p:cNvPr name="Group 56" id="56"/>
          <p:cNvGrpSpPr/>
          <p:nvPr/>
        </p:nvGrpSpPr>
        <p:grpSpPr>
          <a:xfrm rot="0">
            <a:off x="950595" y="7328535"/>
            <a:ext cx="16341090" cy="1596390"/>
            <a:chOff x="0" y="0"/>
            <a:chExt cx="21788120" cy="2128520"/>
          </a:xfrm>
        </p:grpSpPr>
        <p:sp>
          <p:nvSpPr>
            <p:cNvPr name="Freeform 57" id="57"/>
            <p:cNvSpPr/>
            <p:nvPr/>
          </p:nvSpPr>
          <p:spPr>
            <a:xfrm flipH="false" flipV="false" rot="0">
              <a:off x="0" y="0"/>
              <a:ext cx="21788120" cy="2128520"/>
            </a:xfrm>
            <a:custGeom>
              <a:avLst/>
              <a:gdLst/>
              <a:ahLst/>
              <a:cxnLst/>
              <a:rect r="r" b="b" t="t" l="l"/>
              <a:pathLst>
                <a:path h="2128520" w="21788120">
                  <a:moveTo>
                    <a:pt x="0" y="185039"/>
                  </a:moveTo>
                  <a:cubicBezTo>
                    <a:pt x="0" y="82931"/>
                    <a:pt x="82931" y="0"/>
                    <a:pt x="185039" y="0"/>
                  </a:cubicBezTo>
                  <a:lnTo>
                    <a:pt x="21603081" y="0"/>
                  </a:lnTo>
                  <a:cubicBezTo>
                    <a:pt x="21705317" y="0"/>
                    <a:pt x="21788120" y="82931"/>
                    <a:pt x="21788120" y="185039"/>
                  </a:cubicBezTo>
                  <a:lnTo>
                    <a:pt x="21788120" y="1943481"/>
                  </a:lnTo>
                  <a:cubicBezTo>
                    <a:pt x="21788120" y="2045716"/>
                    <a:pt x="21705190" y="2128520"/>
                    <a:pt x="21603081" y="2128520"/>
                  </a:cubicBezTo>
                  <a:lnTo>
                    <a:pt x="185039" y="2128520"/>
                  </a:lnTo>
                  <a:cubicBezTo>
                    <a:pt x="82931" y="2128520"/>
                    <a:pt x="0" y="2045589"/>
                    <a:pt x="0" y="1943481"/>
                  </a:cubicBezTo>
                  <a:close/>
                </a:path>
              </a:pathLst>
            </a:custGeom>
            <a:solidFill>
              <a:srgbClr val="FBF9F4"/>
            </a:solidFill>
            <a:ln w="19050" cap="sq">
              <a:solidFill>
                <a:srgbClr val="EFE6D2"/>
              </a:solidFill>
              <a:prstDash val="solid"/>
              <a:miter/>
            </a:ln>
          </p:spPr>
        </p:sp>
      </p:grpSp>
      <p:sp>
        <p:nvSpPr>
          <p:cNvPr name="TextBox 58" id="58"/>
          <p:cNvSpPr txBox="true"/>
          <p:nvPr/>
        </p:nvSpPr>
        <p:spPr>
          <a:xfrm rot="0">
            <a:off x="1463040" y="7494270"/>
            <a:ext cx="15316200" cy="1238250"/>
          </a:xfrm>
          <a:prstGeom prst="rect">
            <a:avLst/>
          </a:prstGeom>
        </p:spPr>
        <p:txBody>
          <a:bodyPr anchor="t" rtlCol="false" tIns="0" lIns="0" bIns="0" rIns="0">
            <a:spAutoFit/>
          </a:bodyPr>
          <a:lstStyle/>
          <a:p>
            <a:pPr algn="l">
              <a:lnSpc>
                <a:spcPts val="2764"/>
              </a:lnSpc>
            </a:pPr>
            <a:r>
              <a:rPr lang="en-US" sz="1800">
                <a:solidFill>
                  <a:srgbClr val="23262F"/>
                </a:solidFill>
                <a:latin typeface="Calibri (MS)"/>
                <a:ea typeface="Calibri (MS)"/>
                <a:cs typeface="Calibri (MS)"/>
                <a:sym typeface="Calibri (MS)"/>
              </a:rPr>
              <a:t>Using someone else's identity online to deceive or gain something is computer-related identity theft under RA 10175 — prisión mayor and/or a fine starting at ₱100,000.</a:t>
            </a:r>
          </a:p>
        </p:txBody>
      </p:sp>
      <p:grpSp>
        <p:nvGrpSpPr>
          <p:cNvPr name="Group 59" id="59"/>
          <p:cNvGrpSpPr/>
          <p:nvPr/>
        </p:nvGrpSpPr>
        <p:grpSpPr>
          <a:xfrm rot="0">
            <a:off x="685800" y="9710928"/>
            <a:ext cx="10972800" cy="411480"/>
            <a:chOff x="0" y="0"/>
            <a:chExt cx="14630400" cy="548640"/>
          </a:xfrm>
        </p:grpSpPr>
        <p:sp>
          <p:nvSpPr>
            <p:cNvPr name="Freeform 60" id="60"/>
            <p:cNvSpPr/>
            <p:nvPr/>
          </p:nvSpPr>
          <p:spPr>
            <a:xfrm flipH="false" flipV="false" rot="0">
              <a:off x="0" y="0"/>
              <a:ext cx="14630400" cy="548640"/>
            </a:xfrm>
            <a:custGeom>
              <a:avLst/>
              <a:gdLst/>
              <a:ahLst/>
              <a:cxnLst/>
              <a:rect r="r" b="b" t="t" l="l"/>
              <a:pathLst>
                <a:path h="548640" w="14630400">
                  <a:moveTo>
                    <a:pt x="0" y="0"/>
                  </a:moveTo>
                  <a:lnTo>
                    <a:pt x="14630400" y="0"/>
                  </a:lnTo>
                  <a:lnTo>
                    <a:pt x="14630400" y="548640"/>
                  </a:lnTo>
                  <a:lnTo>
                    <a:pt x="0" y="548640"/>
                  </a:lnTo>
                  <a:close/>
                </a:path>
              </a:pathLst>
            </a:custGeom>
            <a:blipFill>
              <a:blip r:embed="rId2">
                <a:alphaModFix amt="0"/>
              </a:blip>
              <a:stretch>
                <a:fillRect l="0" t="-469601" r="0" b="-469601"/>
              </a:stretch>
            </a:blipFill>
          </p:spPr>
        </p:sp>
        <p:sp>
          <p:nvSpPr>
            <p:cNvPr name="TextBox 61" id="61"/>
            <p:cNvSpPr txBox="true"/>
            <p:nvPr/>
          </p:nvSpPr>
          <p:spPr>
            <a:xfrm>
              <a:off x="0" y="-38100"/>
              <a:ext cx="14630400" cy="586740"/>
            </a:xfrm>
            <a:prstGeom prst="rect">
              <a:avLst/>
            </a:prstGeom>
          </p:spPr>
          <p:txBody>
            <a:bodyPr anchor="ctr" rtlCol="false" tIns="0" lIns="0" bIns="0" rIns="0"/>
            <a:lstStyle/>
            <a:p>
              <a:pPr algn="l">
                <a:lnSpc>
                  <a:spcPts val="1800"/>
                </a:lnSpc>
              </a:pPr>
              <a:r>
                <a:rPr lang="en-US" sz="1500">
                  <a:solidFill>
                    <a:srgbClr val="6B7280"/>
                  </a:solidFill>
                  <a:latin typeface="Calibri (MS)"/>
                  <a:ea typeface="Calibri (MS)"/>
                  <a:cs typeface="Calibri (MS)"/>
                  <a:sym typeface="Calibri (MS)"/>
                </a:rPr>
                <a:t>Davao del Norte Provincial Government — Cybersecurity Seminar</a:t>
              </a:r>
            </a:p>
          </p:txBody>
        </p:sp>
      </p:grpSp>
      <p:grpSp>
        <p:nvGrpSpPr>
          <p:cNvPr name="Group 62" id="62"/>
          <p:cNvGrpSpPr/>
          <p:nvPr/>
        </p:nvGrpSpPr>
        <p:grpSpPr>
          <a:xfrm rot="0">
            <a:off x="16911828" y="9710928"/>
            <a:ext cx="685800" cy="411480"/>
            <a:chOff x="0" y="0"/>
            <a:chExt cx="914400" cy="548640"/>
          </a:xfrm>
        </p:grpSpPr>
        <p:sp>
          <p:nvSpPr>
            <p:cNvPr name="Freeform 63" id="63"/>
            <p:cNvSpPr/>
            <p:nvPr/>
          </p:nvSpPr>
          <p:spPr>
            <a:xfrm flipH="false" flipV="false" rot="0">
              <a:off x="0" y="0"/>
              <a:ext cx="914400" cy="548640"/>
            </a:xfrm>
            <a:custGeom>
              <a:avLst/>
              <a:gdLst/>
              <a:ahLst/>
              <a:cxnLst/>
              <a:rect r="r" b="b" t="t" l="l"/>
              <a:pathLst>
                <a:path h="548640" w="914400">
                  <a:moveTo>
                    <a:pt x="0" y="0"/>
                  </a:moveTo>
                  <a:lnTo>
                    <a:pt x="914400" y="0"/>
                  </a:lnTo>
                  <a:lnTo>
                    <a:pt x="914400" y="548640"/>
                  </a:lnTo>
                  <a:lnTo>
                    <a:pt x="0" y="548640"/>
                  </a:lnTo>
                  <a:close/>
                </a:path>
              </a:pathLst>
            </a:custGeom>
            <a:blipFill>
              <a:blip r:embed="rId2">
                <a:alphaModFix amt="0"/>
              </a:blip>
              <a:stretch>
                <a:fillRect l="-26982" t="0" r="-26982" b="0"/>
              </a:stretch>
            </a:blipFill>
          </p:spPr>
        </p:sp>
        <p:sp>
          <p:nvSpPr>
            <p:cNvPr name="TextBox 64" id="64"/>
            <p:cNvSpPr txBox="true"/>
            <p:nvPr/>
          </p:nvSpPr>
          <p:spPr>
            <a:xfrm>
              <a:off x="0" y="-38100"/>
              <a:ext cx="914400" cy="586740"/>
            </a:xfrm>
            <a:prstGeom prst="rect">
              <a:avLst/>
            </a:prstGeom>
          </p:spPr>
          <p:txBody>
            <a:bodyPr anchor="ctr" rtlCol="false" tIns="0" lIns="0" bIns="0" rIns="0"/>
            <a:lstStyle/>
            <a:p>
              <a:pPr algn="r">
                <a:lnSpc>
                  <a:spcPts val="1800"/>
                </a:lnSpc>
              </a:pPr>
              <a:r>
                <a:rPr lang="en-US" sz="1500">
                  <a:solidFill>
                    <a:srgbClr val="6B7280"/>
                  </a:solidFill>
                  <a:latin typeface="Calibri (MS)"/>
                  <a:ea typeface="Calibri (MS)"/>
                  <a:cs typeface="Calibri (MS)"/>
                  <a:sym typeface="Calibri (MS)"/>
                </a:rPr>
                <a:t>20</a:t>
              </a:r>
            </a:p>
          </p:txBody>
        </p:sp>
      </p:grpSp>
    </p:spTree>
  </p:cSld>
  <p:clrMapOvr>
    <a:masterClrMapping/>
  </p:clrMapOvr>
</p:sld>
</file>

<file path=ppt/slides/slide13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60120" y="685800"/>
            <a:ext cx="13716000" cy="411480"/>
            <a:chOff x="0" y="0"/>
            <a:chExt cx="18288000" cy="548640"/>
          </a:xfrm>
        </p:grpSpPr>
        <p:sp>
          <p:nvSpPr>
            <p:cNvPr name="Freeform 3" id="3"/>
            <p:cNvSpPr/>
            <p:nvPr/>
          </p:nvSpPr>
          <p:spPr>
            <a:xfrm flipH="false" flipV="false" rot="0">
              <a:off x="0" y="0"/>
              <a:ext cx="18288000" cy="548640"/>
            </a:xfrm>
            <a:custGeom>
              <a:avLst/>
              <a:gdLst/>
              <a:ahLst/>
              <a:cxnLst/>
              <a:rect r="r" b="b" t="t" l="l"/>
              <a:pathLst>
                <a:path h="548640" w="18288000">
                  <a:moveTo>
                    <a:pt x="0" y="0"/>
                  </a:moveTo>
                  <a:lnTo>
                    <a:pt x="18288000" y="0"/>
                  </a:lnTo>
                  <a:lnTo>
                    <a:pt x="18288000" y="548640"/>
                  </a:lnTo>
                  <a:lnTo>
                    <a:pt x="0" y="548640"/>
                  </a:lnTo>
                  <a:close/>
                </a:path>
              </a:pathLst>
            </a:custGeom>
            <a:blipFill>
              <a:blip r:embed="rId2">
                <a:alphaModFix amt="0"/>
              </a:blip>
              <a:stretch>
                <a:fillRect l="0" t="-599501" r="0" b="-599501"/>
              </a:stretch>
            </a:blipFill>
          </p:spPr>
        </p:sp>
        <p:sp>
          <p:nvSpPr>
            <p:cNvPr name="TextBox 4" id="4"/>
            <p:cNvSpPr txBox="true"/>
            <p:nvPr/>
          </p:nvSpPr>
          <p:spPr>
            <a:xfrm>
              <a:off x="0" y="-38100"/>
              <a:ext cx="18288000" cy="586740"/>
            </a:xfrm>
            <a:prstGeom prst="rect">
              <a:avLst/>
            </a:prstGeom>
          </p:spPr>
          <p:txBody>
            <a:bodyPr anchor="ctr" rtlCol="false" tIns="0" lIns="0" bIns="0" rIns="0"/>
            <a:lstStyle/>
            <a:p>
              <a:pPr algn="l">
                <a:lnSpc>
                  <a:spcPts val="2160"/>
                </a:lnSpc>
              </a:pPr>
              <a:r>
                <a:rPr lang="en-US" b="true" sz="1800" spc="225">
                  <a:solidFill>
                    <a:srgbClr val="00B4D8"/>
                  </a:solidFill>
                  <a:latin typeface="Calibri (MS) Bold"/>
                  <a:ea typeface="Calibri (MS) Bold"/>
                  <a:cs typeface="Calibri (MS) Bold"/>
                  <a:sym typeface="Calibri (MS) Bold"/>
                </a:rPr>
                <a:t>PH CYBER LAW SORT · SCENARIO</a:t>
              </a:r>
            </a:p>
          </p:txBody>
        </p:sp>
      </p:grpSp>
      <p:grpSp>
        <p:nvGrpSpPr>
          <p:cNvPr name="Group 5" id="5"/>
          <p:cNvGrpSpPr/>
          <p:nvPr/>
        </p:nvGrpSpPr>
        <p:grpSpPr>
          <a:xfrm rot="0">
            <a:off x="960120" y="1069848"/>
            <a:ext cx="10972800" cy="822960"/>
            <a:chOff x="0" y="0"/>
            <a:chExt cx="14630400" cy="1097280"/>
          </a:xfrm>
        </p:grpSpPr>
        <p:sp>
          <p:nvSpPr>
            <p:cNvPr name="Freeform 6" id="6"/>
            <p:cNvSpPr/>
            <p:nvPr/>
          </p:nvSpPr>
          <p:spPr>
            <a:xfrm flipH="false" flipV="false" rot="0">
              <a:off x="0" y="0"/>
              <a:ext cx="14630400" cy="1097280"/>
            </a:xfrm>
            <a:custGeom>
              <a:avLst/>
              <a:gdLst/>
              <a:ahLst/>
              <a:cxnLst/>
              <a:rect r="r" b="b" t="t" l="l"/>
              <a:pathLst>
                <a:path h="1097280" w="14630400">
                  <a:moveTo>
                    <a:pt x="0" y="0"/>
                  </a:moveTo>
                  <a:lnTo>
                    <a:pt x="14630400" y="0"/>
                  </a:lnTo>
                  <a:lnTo>
                    <a:pt x="14630400" y="1097280"/>
                  </a:lnTo>
                  <a:lnTo>
                    <a:pt x="0" y="1097280"/>
                  </a:lnTo>
                  <a:close/>
                </a:path>
              </a:pathLst>
            </a:custGeom>
            <a:blipFill>
              <a:blip r:embed="rId2">
                <a:alphaModFix amt="0"/>
              </a:blip>
              <a:stretch>
                <a:fillRect l="0" t="-209800" r="0" b="-209800"/>
              </a:stretch>
            </a:blipFill>
          </p:spPr>
        </p:sp>
        <p:sp>
          <p:nvSpPr>
            <p:cNvPr name="TextBox 7" id="7"/>
            <p:cNvSpPr txBox="true"/>
            <p:nvPr/>
          </p:nvSpPr>
          <p:spPr>
            <a:xfrm>
              <a:off x="0" y="0"/>
              <a:ext cx="14630400" cy="1097280"/>
            </a:xfrm>
            <a:prstGeom prst="rect">
              <a:avLst/>
            </a:prstGeom>
          </p:spPr>
          <p:txBody>
            <a:bodyPr anchor="ctr" rtlCol="false" tIns="0" lIns="0" bIns="0" rIns="0"/>
            <a:lstStyle/>
            <a:p>
              <a:pPr algn="l">
                <a:lnSpc>
                  <a:spcPts val="4680"/>
                </a:lnSpc>
              </a:pPr>
              <a:r>
                <a:rPr lang="en-US" sz="3900" b="true">
                  <a:solidFill>
                    <a:srgbClr val="1E2761"/>
                  </a:solidFill>
                  <a:latin typeface="Cambria Bold"/>
                  <a:ea typeface="Cambria Bold"/>
                  <a:cs typeface="Cambria Bold"/>
                  <a:sym typeface="Cambria Bold"/>
                </a:rPr>
                <a:t>Scenario 6</a:t>
              </a:r>
            </a:p>
          </p:txBody>
        </p:sp>
      </p:grpSp>
      <p:grpSp>
        <p:nvGrpSpPr>
          <p:cNvPr name="Group 8" id="8"/>
          <p:cNvGrpSpPr/>
          <p:nvPr/>
        </p:nvGrpSpPr>
        <p:grpSpPr>
          <a:xfrm rot="0">
            <a:off x="960120" y="1810512"/>
            <a:ext cx="8229600" cy="411480"/>
            <a:chOff x="0" y="0"/>
            <a:chExt cx="10972800" cy="548640"/>
          </a:xfrm>
        </p:grpSpPr>
        <p:sp>
          <p:nvSpPr>
            <p:cNvPr name="Freeform 9" id="9"/>
            <p:cNvSpPr/>
            <p:nvPr/>
          </p:nvSpPr>
          <p:spPr>
            <a:xfrm flipH="false" flipV="false" rot="0">
              <a:off x="0" y="0"/>
              <a:ext cx="10972800" cy="548640"/>
            </a:xfrm>
            <a:custGeom>
              <a:avLst/>
              <a:gdLst/>
              <a:ahLst/>
              <a:cxnLst/>
              <a:rect r="r" b="b" t="t" l="l"/>
              <a:pathLst>
                <a:path h="548640" w="10972800">
                  <a:moveTo>
                    <a:pt x="0" y="0"/>
                  </a:moveTo>
                  <a:lnTo>
                    <a:pt x="10972800" y="0"/>
                  </a:lnTo>
                  <a:lnTo>
                    <a:pt x="10972800" y="548640"/>
                  </a:lnTo>
                  <a:lnTo>
                    <a:pt x="0" y="548640"/>
                  </a:lnTo>
                  <a:close/>
                </a:path>
              </a:pathLst>
            </a:custGeom>
            <a:blipFill>
              <a:blip r:embed="rId2">
                <a:alphaModFix amt="0"/>
              </a:blip>
              <a:stretch>
                <a:fillRect l="0" t="-339700" r="0" b="-339700"/>
              </a:stretch>
            </a:blipFill>
          </p:spPr>
        </p:sp>
        <p:sp>
          <p:nvSpPr>
            <p:cNvPr name="TextBox 10" id="10"/>
            <p:cNvSpPr txBox="true"/>
            <p:nvPr/>
          </p:nvSpPr>
          <p:spPr>
            <a:xfrm>
              <a:off x="0" y="-28575"/>
              <a:ext cx="10972800" cy="577215"/>
            </a:xfrm>
            <a:prstGeom prst="rect">
              <a:avLst/>
            </a:prstGeom>
          </p:spPr>
          <p:txBody>
            <a:bodyPr anchor="ctr" rtlCol="false" tIns="0" lIns="0" bIns="0" rIns="0"/>
            <a:lstStyle/>
            <a:p>
              <a:pPr algn="l">
                <a:lnSpc>
                  <a:spcPts val="1980"/>
                </a:lnSpc>
              </a:pPr>
              <a:r>
                <a:rPr lang="en-US" sz="1650">
                  <a:solidFill>
                    <a:srgbClr val="6B7280"/>
                  </a:solidFill>
                  <a:latin typeface="Calibri (MS)"/>
                  <a:ea typeface="Calibri (MS)"/>
                  <a:cs typeface="Calibri (MS)"/>
                  <a:sym typeface="Calibri (MS)"/>
                </a:rPr>
                <a:t>6 of 15</a:t>
              </a:r>
            </a:p>
          </p:txBody>
        </p:sp>
      </p:grpSp>
      <p:grpSp>
        <p:nvGrpSpPr>
          <p:cNvPr name="Group 11" id="11"/>
          <p:cNvGrpSpPr/>
          <p:nvPr/>
        </p:nvGrpSpPr>
        <p:grpSpPr>
          <a:xfrm rot="0">
            <a:off x="960120" y="2537460"/>
            <a:ext cx="16322040" cy="2811780"/>
            <a:chOff x="0" y="0"/>
            <a:chExt cx="21762720" cy="3749040"/>
          </a:xfrm>
        </p:grpSpPr>
        <p:sp>
          <p:nvSpPr>
            <p:cNvPr name="Freeform 12" id="12"/>
            <p:cNvSpPr/>
            <p:nvPr/>
          </p:nvSpPr>
          <p:spPr>
            <a:xfrm flipH="false" flipV="false" rot="0">
              <a:off x="0" y="0"/>
              <a:ext cx="21762720" cy="3749040"/>
            </a:xfrm>
            <a:custGeom>
              <a:avLst/>
              <a:gdLst/>
              <a:ahLst/>
              <a:cxnLst/>
              <a:rect r="r" b="b" t="t" l="l"/>
              <a:pathLst>
                <a:path h="3749040" w="21762720">
                  <a:moveTo>
                    <a:pt x="0" y="182880"/>
                  </a:moveTo>
                  <a:cubicBezTo>
                    <a:pt x="0" y="81915"/>
                    <a:pt x="81915" y="0"/>
                    <a:pt x="182880" y="0"/>
                  </a:cubicBezTo>
                  <a:lnTo>
                    <a:pt x="21579839" y="0"/>
                  </a:lnTo>
                  <a:cubicBezTo>
                    <a:pt x="21680804" y="0"/>
                    <a:pt x="21762720" y="81915"/>
                    <a:pt x="21762720" y="182880"/>
                  </a:cubicBezTo>
                  <a:lnTo>
                    <a:pt x="21762720" y="3566160"/>
                  </a:lnTo>
                  <a:cubicBezTo>
                    <a:pt x="21762720" y="3667125"/>
                    <a:pt x="21680804" y="3749040"/>
                    <a:pt x="21579839" y="3749040"/>
                  </a:cubicBezTo>
                  <a:lnTo>
                    <a:pt x="182880" y="3749040"/>
                  </a:lnTo>
                  <a:cubicBezTo>
                    <a:pt x="81915" y="3749040"/>
                    <a:pt x="0" y="3667125"/>
                    <a:pt x="0" y="3566160"/>
                  </a:cubicBezTo>
                  <a:close/>
                </a:path>
              </a:pathLst>
            </a:custGeom>
            <a:solidFill>
              <a:srgbClr val="F4F7FC"/>
            </a:solidFill>
          </p:spPr>
        </p:sp>
      </p:grpSp>
      <p:grpSp>
        <p:nvGrpSpPr>
          <p:cNvPr name="Group 13" id="13"/>
          <p:cNvGrpSpPr/>
          <p:nvPr/>
        </p:nvGrpSpPr>
        <p:grpSpPr>
          <a:xfrm rot="0">
            <a:off x="1440180" y="2811780"/>
            <a:ext cx="15361920" cy="2263140"/>
            <a:chOff x="0" y="0"/>
            <a:chExt cx="20482560" cy="3017520"/>
          </a:xfrm>
        </p:grpSpPr>
        <p:sp>
          <p:nvSpPr>
            <p:cNvPr name="Freeform 14" id="14"/>
            <p:cNvSpPr/>
            <p:nvPr/>
          </p:nvSpPr>
          <p:spPr>
            <a:xfrm flipH="false" flipV="false" rot="0">
              <a:off x="0" y="0"/>
              <a:ext cx="20482561" cy="3017520"/>
            </a:xfrm>
            <a:custGeom>
              <a:avLst/>
              <a:gdLst/>
              <a:ahLst/>
              <a:cxnLst/>
              <a:rect r="r" b="b" t="t" l="l"/>
              <a:pathLst>
                <a:path h="3017520" w="20482561">
                  <a:moveTo>
                    <a:pt x="0" y="0"/>
                  </a:moveTo>
                  <a:lnTo>
                    <a:pt x="20482561" y="0"/>
                  </a:lnTo>
                  <a:lnTo>
                    <a:pt x="20482561" y="3017520"/>
                  </a:lnTo>
                  <a:lnTo>
                    <a:pt x="0" y="3017520"/>
                  </a:lnTo>
                  <a:close/>
                </a:path>
              </a:pathLst>
            </a:custGeom>
            <a:blipFill>
              <a:blip r:embed="rId2">
                <a:alphaModFix amt="0"/>
              </a:blip>
              <a:stretch>
                <a:fillRect l="0" t="-82262" r="0" b="-82262"/>
              </a:stretch>
            </a:blipFill>
          </p:spPr>
        </p:sp>
        <p:sp>
          <p:nvSpPr>
            <p:cNvPr name="TextBox 15" id="15"/>
            <p:cNvSpPr txBox="true"/>
            <p:nvPr/>
          </p:nvSpPr>
          <p:spPr>
            <a:xfrm>
              <a:off x="0" y="-104775"/>
              <a:ext cx="20482560" cy="3122295"/>
            </a:xfrm>
            <a:prstGeom prst="rect">
              <a:avLst/>
            </a:prstGeom>
          </p:spPr>
          <p:txBody>
            <a:bodyPr anchor="ctr" rtlCol="false" tIns="0" lIns="0" bIns="0" rIns="0"/>
            <a:lstStyle/>
            <a:p>
              <a:pPr algn="l">
                <a:lnSpc>
                  <a:spcPts val="4147"/>
                </a:lnSpc>
              </a:pPr>
              <a:r>
                <a:rPr lang="en-US" sz="2700" i="true">
                  <a:solidFill>
                    <a:srgbClr val="23262F"/>
                  </a:solidFill>
                  <a:latin typeface="Cambria Italics"/>
                  <a:ea typeface="Cambria Italics"/>
                  <a:cs typeface="Cambria Italics"/>
                  <a:sym typeface="Cambria Italics"/>
                </a:rPr>
                <a:t>"A former employee posts defamatory, false accusations about a department head in a public Facebook group."</a:t>
              </a:r>
            </a:p>
          </p:txBody>
        </p:sp>
      </p:grpSp>
      <p:sp>
        <p:nvSpPr>
          <p:cNvPr name="TextBox 16" id="16"/>
          <p:cNvSpPr txBox="true"/>
          <p:nvPr/>
        </p:nvSpPr>
        <p:spPr>
          <a:xfrm rot="0">
            <a:off x="1051560" y="5604510"/>
            <a:ext cx="16139160" cy="864870"/>
          </a:xfrm>
          <a:prstGeom prst="rect">
            <a:avLst/>
          </a:prstGeom>
        </p:spPr>
        <p:txBody>
          <a:bodyPr anchor="t" rtlCol="false" tIns="0" lIns="0" bIns="0" rIns="0">
            <a:spAutoFit/>
          </a:bodyPr>
          <a:lstStyle/>
          <a:p>
            <a:pPr algn="ctr">
              <a:lnSpc>
                <a:spcPts val="3402"/>
              </a:lnSpc>
            </a:pPr>
            <a:r>
              <a:rPr lang="en-US" sz="2100" i="true">
                <a:solidFill>
                  <a:srgbClr val="6B7280"/>
                </a:solidFill>
                <a:latin typeface="Calibri (MS) Italics"/>
                <a:ea typeface="Calibri (MS) Italics"/>
                <a:cs typeface="Calibri (MS) Italics"/>
                <a:sym typeface="Calibri (MS) Italics"/>
              </a:rPr>
              <a:t>Which law or DICT issuance governs this? Discuss, then we'll reveal the answer.</a:t>
            </a:r>
          </a:p>
        </p:txBody>
      </p:sp>
      <p:grpSp>
        <p:nvGrpSpPr>
          <p:cNvPr name="Group 17" id="17"/>
          <p:cNvGrpSpPr/>
          <p:nvPr/>
        </p:nvGrpSpPr>
        <p:grpSpPr>
          <a:xfrm rot="0">
            <a:off x="950595" y="6779895"/>
            <a:ext cx="5162550" cy="910590"/>
            <a:chOff x="0" y="0"/>
            <a:chExt cx="6883400" cy="1214120"/>
          </a:xfrm>
        </p:grpSpPr>
        <p:sp>
          <p:nvSpPr>
            <p:cNvPr name="Freeform 18" id="18"/>
            <p:cNvSpPr/>
            <p:nvPr/>
          </p:nvSpPr>
          <p:spPr>
            <a:xfrm flipH="false" flipV="false" rot="0">
              <a:off x="0" y="0"/>
              <a:ext cx="6883400" cy="1214120"/>
            </a:xfrm>
            <a:custGeom>
              <a:avLst/>
              <a:gdLst/>
              <a:ahLst/>
              <a:cxnLst/>
              <a:rect r="r" b="b" t="t" l="l"/>
              <a:pathLst>
                <a:path h="1214120" w="6883400">
                  <a:moveTo>
                    <a:pt x="0" y="168148"/>
                  </a:moveTo>
                  <a:cubicBezTo>
                    <a:pt x="0" y="75311"/>
                    <a:pt x="75311" y="0"/>
                    <a:pt x="168148" y="0"/>
                  </a:cubicBezTo>
                  <a:lnTo>
                    <a:pt x="6715252" y="0"/>
                  </a:lnTo>
                  <a:cubicBezTo>
                    <a:pt x="6808089" y="0"/>
                    <a:pt x="6883400" y="75311"/>
                    <a:pt x="6883400" y="168148"/>
                  </a:cubicBezTo>
                  <a:lnTo>
                    <a:pt x="6883400" y="1045972"/>
                  </a:lnTo>
                  <a:cubicBezTo>
                    <a:pt x="6883400" y="1138809"/>
                    <a:pt x="6808089" y="1214120"/>
                    <a:pt x="6715252" y="1214120"/>
                  </a:cubicBezTo>
                  <a:lnTo>
                    <a:pt x="168148" y="1214120"/>
                  </a:lnTo>
                  <a:cubicBezTo>
                    <a:pt x="75311" y="1214120"/>
                    <a:pt x="0" y="1138809"/>
                    <a:pt x="0" y="1045972"/>
                  </a:cubicBezTo>
                  <a:close/>
                </a:path>
              </a:pathLst>
            </a:custGeom>
            <a:solidFill>
              <a:srgbClr val="F4F7FC"/>
            </a:solidFill>
            <a:ln w="19050" cap="sq">
              <a:solidFill>
                <a:srgbClr val="D7DCEC"/>
              </a:solidFill>
              <a:prstDash val="solid"/>
              <a:miter/>
            </a:ln>
          </p:spPr>
        </p:sp>
      </p:grpSp>
      <p:grpSp>
        <p:nvGrpSpPr>
          <p:cNvPr name="Group 19" id="19"/>
          <p:cNvGrpSpPr/>
          <p:nvPr/>
        </p:nvGrpSpPr>
        <p:grpSpPr>
          <a:xfrm rot="0">
            <a:off x="960120" y="6858000"/>
            <a:ext cx="5143500" cy="589788"/>
            <a:chOff x="0" y="0"/>
            <a:chExt cx="6858000" cy="786384"/>
          </a:xfrm>
        </p:grpSpPr>
        <p:sp>
          <p:nvSpPr>
            <p:cNvPr name="Freeform 20" id="20"/>
            <p:cNvSpPr/>
            <p:nvPr/>
          </p:nvSpPr>
          <p:spPr>
            <a:xfrm flipH="false" flipV="false" rot="0">
              <a:off x="0" y="0"/>
              <a:ext cx="6858000" cy="786384"/>
            </a:xfrm>
            <a:custGeom>
              <a:avLst/>
              <a:gdLst/>
              <a:ahLst/>
              <a:cxnLst/>
              <a:rect r="r" b="b" t="t" l="l"/>
              <a:pathLst>
                <a:path h="786384" w="6858000">
                  <a:moveTo>
                    <a:pt x="0" y="0"/>
                  </a:moveTo>
                  <a:lnTo>
                    <a:pt x="6858000" y="0"/>
                  </a:lnTo>
                  <a:lnTo>
                    <a:pt x="6858000" y="786384"/>
                  </a:lnTo>
                  <a:lnTo>
                    <a:pt x="0" y="786384"/>
                  </a:lnTo>
                  <a:close/>
                </a:path>
              </a:pathLst>
            </a:custGeom>
            <a:blipFill>
              <a:blip r:embed="rId2">
                <a:alphaModFix amt="0"/>
              </a:blip>
              <a:stretch>
                <a:fillRect l="0" t="-119927" r="0" b="-119927"/>
              </a:stretch>
            </a:blipFill>
          </p:spPr>
        </p:sp>
        <p:sp>
          <p:nvSpPr>
            <p:cNvPr name="TextBox 21" id="21"/>
            <p:cNvSpPr txBox="true"/>
            <p:nvPr/>
          </p:nvSpPr>
          <p:spPr>
            <a:xfrm>
              <a:off x="0" y="-38100"/>
              <a:ext cx="6858000" cy="824484"/>
            </a:xfrm>
            <a:prstGeom prst="rect">
              <a:avLst/>
            </a:prstGeom>
          </p:spPr>
          <p:txBody>
            <a:bodyPr anchor="ctr" rtlCol="false" tIns="0" lIns="0" bIns="0" rIns="0"/>
            <a:lstStyle/>
            <a:p>
              <a:pPr algn="ctr">
                <a:lnSpc>
                  <a:spcPts val="2250"/>
                </a:lnSpc>
              </a:pPr>
              <a:r>
                <a:rPr lang="en-US" sz="1875">
                  <a:solidFill>
                    <a:srgbClr val="6B7280"/>
                  </a:solidFill>
                  <a:latin typeface="Calibri (MS)"/>
                  <a:ea typeface="Calibri (MS)"/>
                  <a:cs typeface="Calibri (MS)"/>
                  <a:sym typeface="Calibri (MS)"/>
                </a:rPr>
                <a:t>E-Commerce Act</a:t>
              </a:r>
            </a:p>
          </p:txBody>
        </p:sp>
      </p:grpSp>
      <p:grpSp>
        <p:nvGrpSpPr>
          <p:cNvPr name="Group 22" id="22"/>
          <p:cNvGrpSpPr/>
          <p:nvPr/>
        </p:nvGrpSpPr>
        <p:grpSpPr>
          <a:xfrm rot="0">
            <a:off x="960120" y="7296912"/>
            <a:ext cx="5143500" cy="329184"/>
            <a:chOff x="0" y="0"/>
            <a:chExt cx="6858000" cy="438912"/>
          </a:xfrm>
        </p:grpSpPr>
        <p:sp>
          <p:nvSpPr>
            <p:cNvPr name="Freeform 23" id="23"/>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24" id="24"/>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9AA3B8"/>
                  </a:solidFill>
                  <a:latin typeface="Arimo"/>
                  <a:ea typeface="Arimo"/>
                  <a:cs typeface="Arimo"/>
                  <a:sym typeface="Arimo"/>
                </a:rPr>
                <a:t>ECA</a:t>
              </a:r>
            </a:p>
          </p:txBody>
        </p:sp>
      </p:grpSp>
      <p:grpSp>
        <p:nvGrpSpPr>
          <p:cNvPr name="Group 25" id="25"/>
          <p:cNvGrpSpPr/>
          <p:nvPr/>
        </p:nvGrpSpPr>
        <p:grpSpPr>
          <a:xfrm rot="0">
            <a:off x="6533007" y="6779895"/>
            <a:ext cx="5162550" cy="910590"/>
            <a:chOff x="0" y="0"/>
            <a:chExt cx="6883400" cy="1214120"/>
          </a:xfrm>
        </p:grpSpPr>
        <p:sp>
          <p:nvSpPr>
            <p:cNvPr name="Freeform 26" id="26"/>
            <p:cNvSpPr/>
            <p:nvPr/>
          </p:nvSpPr>
          <p:spPr>
            <a:xfrm flipH="false" flipV="false" rot="0">
              <a:off x="0" y="0"/>
              <a:ext cx="6883400" cy="1214120"/>
            </a:xfrm>
            <a:custGeom>
              <a:avLst/>
              <a:gdLst/>
              <a:ahLst/>
              <a:cxnLst/>
              <a:rect r="r" b="b" t="t" l="l"/>
              <a:pathLst>
                <a:path h="1214120" w="6883400">
                  <a:moveTo>
                    <a:pt x="0" y="168148"/>
                  </a:moveTo>
                  <a:cubicBezTo>
                    <a:pt x="0" y="75311"/>
                    <a:pt x="75311" y="0"/>
                    <a:pt x="168148" y="0"/>
                  </a:cubicBezTo>
                  <a:lnTo>
                    <a:pt x="6715252" y="0"/>
                  </a:lnTo>
                  <a:cubicBezTo>
                    <a:pt x="6808089" y="0"/>
                    <a:pt x="6883400" y="75311"/>
                    <a:pt x="6883400" y="168148"/>
                  </a:cubicBezTo>
                  <a:lnTo>
                    <a:pt x="6883400" y="1045972"/>
                  </a:lnTo>
                  <a:cubicBezTo>
                    <a:pt x="6883400" y="1138809"/>
                    <a:pt x="6808089" y="1214120"/>
                    <a:pt x="6715252" y="1214120"/>
                  </a:cubicBezTo>
                  <a:lnTo>
                    <a:pt x="168148" y="1214120"/>
                  </a:lnTo>
                  <a:cubicBezTo>
                    <a:pt x="75311" y="1214120"/>
                    <a:pt x="0" y="1138809"/>
                    <a:pt x="0" y="1045972"/>
                  </a:cubicBezTo>
                  <a:close/>
                </a:path>
              </a:pathLst>
            </a:custGeom>
            <a:solidFill>
              <a:srgbClr val="F4F7FC"/>
            </a:solidFill>
            <a:ln w="19050" cap="sq">
              <a:solidFill>
                <a:srgbClr val="D7DCEC"/>
              </a:solidFill>
              <a:prstDash val="solid"/>
              <a:miter/>
            </a:ln>
          </p:spPr>
        </p:sp>
      </p:grpSp>
      <p:grpSp>
        <p:nvGrpSpPr>
          <p:cNvPr name="Group 27" id="27"/>
          <p:cNvGrpSpPr/>
          <p:nvPr/>
        </p:nvGrpSpPr>
        <p:grpSpPr>
          <a:xfrm rot="0">
            <a:off x="6542532" y="6858000"/>
            <a:ext cx="5143500" cy="589788"/>
            <a:chOff x="0" y="0"/>
            <a:chExt cx="6858000" cy="786384"/>
          </a:xfrm>
        </p:grpSpPr>
        <p:sp>
          <p:nvSpPr>
            <p:cNvPr name="Freeform 28" id="28"/>
            <p:cNvSpPr/>
            <p:nvPr/>
          </p:nvSpPr>
          <p:spPr>
            <a:xfrm flipH="false" flipV="false" rot="0">
              <a:off x="0" y="0"/>
              <a:ext cx="6858000" cy="786384"/>
            </a:xfrm>
            <a:custGeom>
              <a:avLst/>
              <a:gdLst/>
              <a:ahLst/>
              <a:cxnLst/>
              <a:rect r="r" b="b" t="t" l="l"/>
              <a:pathLst>
                <a:path h="786384" w="6858000">
                  <a:moveTo>
                    <a:pt x="0" y="0"/>
                  </a:moveTo>
                  <a:lnTo>
                    <a:pt x="6858000" y="0"/>
                  </a:lnTo>
                  <a:lnTo>
                    <a:pt x="6858000" y="786384"/>
                  </a:lnTo>
                  <a:lnTo>
                    <a:pt x="0" y="786384"/>
                  </a:lnTo>
                  <a:close/>
                </a:path>
              </a:pathLst>
            </a:custGeom>
            <a:blipFill>
              <a:blip r:embed="rId2">
                <a:alphaModFix amt="0"/>
              </a:blip>
              <a:stretch>
                <a:fillRect l="0" t="-119927" r="0" b="-119927"/>
              </a:stretch>
            </a:blipFill>
          </p:spPr>
        </p:sp>
        <p:sp>
          <p:nvSpPr>
            <p:cNvPr name="TextBox 29" id="29"/>
            <p:cNvSpPr txBox="true"/>
            <p:nvPr/>
          </p:nvSpPr>
          <p:spPr>
            <a:xfrm>
              <a:off x="0" y="-38100"/>
              <a:ext cx="6858000" cy="824484"/>
            </a:xfrm>
            <a:prstGeom prst="rect">
              <a:avLst/>
            </a:prstGeom>
          </p:spPr>
          <p:txBody>
            <a:bodyPr anchor="ctr" rtlCol="false" tIns="0" lIns="0" bIns="0" rIns="0"/>
            <a:lstStyle/>
            <a:p>
              <a:pPr algn="ctr">
                <a:lnSpc>
                  <a:spcPts val="2250"/>
                </a:lnSpc>
              </a:pPr>
              <a:r>
                <a:rPr lang="en-US" sz="1875">
                  <a:solidFill>
                    <a:srgbClr val="6B7280"/>
                  </a:solidFill>
                  <a:latin typeface="Calibri (MS)"/>
                  <a:ea typeface="Calibri (MS)"/>
                  <a:cs typeface="Calibri (MS)"/>
                  <a:sym typeface="Calibri (MS)"/>
                </a:rPr>
                <a:t>Cybercrime Act</a:t>
              </a:r>
            </a:p>
          </p:txBody>
        </p:sp>
      </p:grpSp>
      <p:grpSp>
        <p:nvGrpSpPr>
          <p:cNvPr name="Group 30" id="30"/>
          <p:cNvGrpSpPr/>
          <p:nvPr/>
        </p:nvGrpSpPr>
        <p:grpSpPr>
          <a:xfrm rot="0">
            <a:off x="6542532" y="7296912"/>
            <a:ext cx="5143500" cy="329184"/>
            <a:chOff x="0" y="0"/>
            <a:chExt cx="6858000" cy="438912"/>
          </a:xfrm>
        </p:grpSpPr>
        <p:sp>
          <p:nvSpPr>
            <p:cNvPr name="Freeform 31" id="31"/>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32" id="32"/>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9AA3B8"/>
                  </a:solidFill>
                  <a:latin typeface="Arimo"/>
                  <a:ea typeface="Arimo"/>
                  <a:cs typeface="Arimo"/>
                  <a:sym typeface="Arimo"/>
                </a:rPr>
                <a:t>CPA</a:t>
              </a:r>
            </a:p>
          </p:txBody>
        </p:sp>
      </p:grpSp>
      <p:grpSp>
        <p:nvGrpSpPr>
          <p:cNvPr name="Group 33" id="33"/>
          <p:cNvGrpSpPr/>
          <p:nvPr/>
        </p:nvGrpSpPr>
        <p:grpSpPr>
          <a:xfrm rot="0">
            <a:off x="950595" y="7945755"/>
            <a:ext cx="5162550" cy="910590"/>
            <a:chOff x="0" y="0"/>
            <a:chExt cx="6883400" cy="1214120"/>
          </a:xfrm>
        </p:grpSpPr>
        <p:sp>
          <p:nvSpPr>
            <p:cNvPr name="Freeform 34" id="34"/>
            <p:cNvSpPr/>
            <p:nvPr/>
          </p:nvSpPr>
          <p:spPr>
            <a:xfrm flipH="false" flipV="false" rot="0">
              <a:off x="0" y="0"/>
              <a:ext cx="6883400" cy="1214120"/>
            </a:xfrm>
            <a:custGeom>
              <a:avLst/>
              <a:gdLst/>
              <a:ahLst/>
              <a:cxnLst/>
              <a:rect r="r" b="b" t="t" l="l"/>
              <a:pathLst>
                <a:path h="1214120" w="6883400">
                  <a:moveTo>
                    <a:pt x="0" y="168148"/>
                  </a:moveTo>
                  <a:cubicBezTo>
                    <a:pt x="0" y="75311"/>
                    <a:pt x="75311" y="0"/>
                    <a:pt x="168148" y="0"/>
                  </a:cubicBezTo>
                  <a:lnTo>
                    <a:pt x="6715252" y="0"/>
                  </a:lnTo>
                  <a:cubicBezTo>
                    <a:pt x="6808089" y="0"/>
                    <a:pt x="6883400" y="75311"/>
                    <a:pt x="6883400" y="168148"/>
                  </a:cubicBezTo>
                  <a:lnTo>
                    <a:pt x="6883400" y="1045972"/>
                  </a:lnTo>
                  <a:cubicBezTo>
                    <a:pt x="6883400" y="1138809"/>
                    <a:pt x="6808089" y="1214120"/>
                    <a:pt x="6715252" y="1214120"/>
                  </a:cubicBezTo>
                  <a:lnTo>
                    <a:pt x="168148" y="1214120"/>
                  </a:lnTo>
                  <a:cubicBezTo>
                    <a:pt x="75311" y="1214120"/>
                    <a:pt x="0" y="1138809"/>
                    <a:pt x="0" y="1045972"/>
                  </a:cubicBezTo>
                  <a:close/>
                </a:path>
              </a:pathLst>
            </a:custGeom>
            <a:solidFill>
              <a:srgbClr val="F4F7FC"/>
            </a:solidFill>
            <a:ln w="19050" cap="sq">
              <a:solidFill>
                <a:srgbClr val="D7DCEC"/>
              </a:solidFill>
              <a:prstDash val="solid"/>
              <a:miter/>
            </a:ln>
          </p:spPr>
        </p:sp>
      </p:grpSp>
      <p:grpSp>
        <p:nvGrpSpPr>
          <p:cNvPr name="Group 35" id="35"/>
          <p:cNvGrpSpPr/>
          <p:nvPr/>
        </p:nvGrpSpPr>
        <p:grpSpPr>
          <a:xfrm rot="0">
            <a:off x="960120" y="8023860"/>
            <a:ext cx="5143500" cy="589788"/>
            <a:chOff x="0" y="0"/>
            <a:chExt cx="6858000" cy="786384"/>
          </a:xfrm>
        </p:grpSpPr>
        <p:sp>
          <p:nvSpPr>
            <p:cNvPr name="Freeform 36" id="36"/>
            <p:cNvSpPr/>
            <p:nvPr/>
          </p:nvSpPr>
          <p:spPr>
            <a:xfrm flipH="false" flipV="false" rot="0">
              <a:off x="0" y="0"/>
              <a:ext cx="6858000" cy="786384"/>
            </a:xfrm>
            <a:custGeom>
              <a:avLst/>
              <a:gdLst/>
              <a:ahLst/>
              <a:cxnLst/>
              <a:rect r="r" b="b" t="t" l="l"/>
              <a:pathLst>
                <a:path h="786384" w="6858000">
                  <a:moveTo>
                    <a:pt x="0" y="0"/>
                  </a:moveTo>
                  <a:lnTo>
                    <a:pt x="6858000" y="0"/>
                  </a:lnTo>
                  <a:lnTo>
                    <a:pt x="6858000" y="786384"/>
                  </a:lnTo>
                  <a:lnTo>
                    <a:pt x="0" y="786384"/>
                  </a:lnTo>
                  <a:close/>
                </a:path>
              </a:pathLst>
            </a:custGeom>
            <a:blipFill>
              <a:blip r:embed="rId2">
                <a:alphaModFix amt="0"/>
              </a:blip>
              <a:stretch>
                <a:fillRect l="0" t="-119927" r="0" b="-119927"/>
              </a:stretch>
            </a:blipFill>
          </p:spPr>
        </p:sp>
        <p:sp>
          <p:nvSpPr>
            <p:cNvPr name="TextBox 37" id="37"/>
            <p:cNvSpPr txBox="true"/>
            <p:nvPr/>
          </p:nvSpPr>
          <p:spPr>
            <a:xfrm>
              <a:off x="0" y="-38100"/>
              <a:ext cx="6858000" cy="824484"/>
            </a:xfrm>
            <a:prstGeom prst="rect">
              <a:avLst/>
            </a:prstGeom>
          </p:spPr>
          <p:txBody>
            <a:bodyPr anchor="ctr" rtlCol="false" tIns="0" lIns="0" bIns="0" rIns="0"/>
            <a:lstStyle/>
            <a:p>
              <a:pPr algn="ctr">
                <a:lnSpc>
                  <a:spcPts val="2250"/>
                </a:lnSpc>
              </a:pPr>
              <a:r>
                <a:rPr lang="en-US" sz="1875">
                  <a:solidFill>
                    <a:srgbClr val="6B7280"/>
                  </a:solidFill>
                  <a:latin typeface="Calibri (MS)"/>
                  <a:ea typeface="Calibri (MS)"/>
                  <a:cs typeface="Calibri (MS)"/>
                  <a:sym typeface="Calibri (MS)"/>
                </a:rPr>
                <a:t>Data Privacy Act</a:t>
              </a:r>
            </a:p>
          </p:txBody>
        </p:sp>
      </p:grpSp>
      <p:grpSp>
        <p:nvGrpSpPr>
          <p:cNvPr name="Group 38" id="38"/>
          <p:cNvGrpSpPr/>
          <p:nvPr/>
        </p:nvGrpSpPr>
        <p:grpSpPr>
          <a:xfrm rot="0">
            <a:off x="960120" y="8462772"/>
            <a:ext cx="5143500" cy="329184"/>
            <a:chOff x="0" y="0"/>
            <a:chExt cx="6858000" cy="438912"/>
          </a:xfrm>
        </p:grpSpPr>
        <p:sp>
          <p:nvSpPr>
            <p:cNvPr name="Freeform 39" id="39"/>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40" id="40"/>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9AA3B8"/>
                  </a:solidFill>
                  <a:latin typeface="Arimo"/>
                  <a:ea typeface="Arimo"/>
                  <a:cs typeface="Arimo"/>
                  <a:sym typeface="Arimo"/>
                </a:rPr>
                <a:t>DPA</a:t>
              </a:r>
            </a:p>
          </p:txBody>
        </p:sp>
      </p:grpSp>
      <p:grpSp>
        <p:nvGrpSpPr>
          <p:cNvPr name="Group 41" id="41"/>
          <p:cNvGrpSpPr/>
          <p:nvPr/>
        </p:nvGrpSpPr>
        <p:grpSpPr>
          <a:xfrm rot="0">
            <a:off x="6533007" y="7945755"/>
            <a:ext cx="5162550" cy="910590"/>
            <a:chOff x="0" y="0"/>
            <a:chExt cx="6883400" cy="1214120"/>
          </a:xfrm>
        </p:grpSpPr>
        <p:sp>
          <p:nvSpPr>
            <p:cNvPr name="Freeform 42" id="42"/>
            <p:cNvSpPr/>
            <p:nvPr/>
          </p:nvSpPr>
          <p:spPr>
            <a:xfrm flipH="false" flipV="false" rot="0">
              <a:off x="0" y="0"/>
              <a:ext cx="6883400" cy="1214120"/>
            </a:xfrm>
            <a:custGeom>
              <a:avLst/>
              <a:gdLst/>
              <a:ahLst/>
              <a:cxnLst/>
              <a:rect r="r" b="b" t="t" l="l"/>
              <a:pathLst>
                <a:path h="1214120" w="6883400">
                  <a:moveTo>
                    <a:pt x="0" y="168148"/>
                  </a:moveTo>
                  <a:cubicBezTo>
                    <a:pt x="0" y="75311"/>
                    <a:pt x="75311" y="0"/>
                    <a:pt x="168148" y="0"/>
                  </a:cubicBezTo>
                  <a:lnTo>
                    <a:pt x="6715252" y="0"/>
                  </a:lnTo>
                  <a:cubicBezTo>
                    <a:pt x="6808089" y="0"/>
                    <a:pt x="6883400" y="75311"/>
                    <a:pt x="6883400" y="168148"/>
                  </a:cubicBezTo>
                  <a:lnTo>
                    <a:pt x="6883400" y="1045972"/>
                  </a:lnTo>
                  <a:cubicBezTo>
                    <a:pt x="6883400" y="1138809"/>
                    <a:pt x="6808089" y="1214120"/>
                    <a:pt x="6715252" y="1214120"/>
                  </a:cubicBezTo>
                  <a:lnTo>
                    <a:pt x="168148" y="1214120"/>
                  </a:lnTo>
                  <a:cubicBezTo>
                    <a:pt x="75311" y="1214120"/>
                    <a:pt x="0" y="1138809"/>
                    <a:pt x="0" y="1045972"/>
                  </a:cubicBezTo>
                  <a:close/>
                </a:path>
              </a:pathLst>
            </a:custGeom>
            <a:solidFill>
              <a:srgbClr val="F4F7FC"/>
            </a:solidFill>
            <a:ln w="19050" cap="sq">
              <a:solidFill>
                <a:srgbClr val="D7DCEC"/>
              </a:solidFill>
              <a:prstDash val="solid"/>
              <a:miter/>
            </a:ln>
          </p:spPr>
        </p:sp>
      </p:grpSp>
      <p:grpSp>
        <p:nvGrpSpPr>
          <p:cNvPr name="Group 43" id="43"/>
          <p:cNvGrpSpPr/>
          <p:nvPr/>
        </p:nvGrpSpPr>
        <p:grpSpPr>
          <a:xfrm rot="0">
            <a:off x="6542532" y="8023860"/>
            <a:ext cx="5143500" cy="589788"/>
            <a:chOff x="0" y="0"/>
            <a:chExt cx="6858000" cy="786384"/>
          </a:xfrm>
        </p:grpSpPr>
        <p:sp>
          <p:nvSpPr>
            <p:cNvPr name="Freeform 44" id="44"/>
            <p:cNvSpPr/>
            <p:nvPr/>
          </p:nvSpPr>
          <p:spPr>
            <a:xfrm flipH="false" flipV="false" rot="0">
              <a:off x="0" y="0"/>
              <a:ext cx="6858000" cy="786384"/>
            </a:xfrm>
            <a:custGeom>
              <a:avLst/>
              <a:gdLst/>
              <a:ahLst/>
              <a:cxnLst/>
              <a:rect r="r" b="b" t="t" l="l"/>
              <a:pathLst>
                <a:path h="786384" w="6858000">
                  <a:moveTo>
                    <a:pt x="0" y="0"/>
                  </a:moveTo>
                  <a:lnTo>
                    <a:pt x="6858000" y="0"/>
                  </a:lnTo>
                  <a:lnTo>
                    <a:pt x="6858000" y="786384"/>
                  </a:lnTo>
                  <a:lnTo>
                    <a:pt x="0" y="786384"/>
                  </a:lnTo>
                  <a:close/>
                </a:path>
              </a:pathLst>
            </a:custGeom>
            <a:blipFill>
              <a:blip r:embed="rId2">
                <a:alphaModFix amt="0"/>
              </a:blip>
              <a:stretch>
                <a:fillRect l="0" t="-119927" r="0" b="-119927"/>
              </a:stretch>
            </a:blipFill>
          </p:spPr>
        </p:sp>
        <p:sp>
          <p:nvSpPr>
            <p:cNvPr name="TextBox 45" id="45"/>
            <p:cNvSpPr txBox="true"/>
            <p:nvPr/>
          </p:nvSpPr>
          <p:spPr>
            <a:xfrm>
              <a:off x="0" y="-38100"/>
              <a:ext cx="6858000" cy="824484"/>
            </a:xfrm>
            <a:prstGeom prst="rect">
              <a:avLst/>
            </a:prstGeom>
          </p:spPr>
          <p:txBody>
            <a:bodyPr anchor="ctr" rtlCol="false" tIns="0" lIns="0" bIns="0" rIns="0"/>
            <a:lstStyle/>
            <a:p>
              <a:pPr algn="ctr">
                <a:lnSpc>
                  <a:spcPts val="2250"/>
                </a:lnSpc>
              </a:pPr>
              <a:r>
                <a:rPr lang="en-US" sz="1875">
                  <a:solidFill>
                    <a:srgbClr val="6B7280"/>
                  </a:solidFill>
                  <a:latin typeface="Calibri (MS)"/>
                  <a:ea typeface="Calibri (MS)"/>
                  <a:cs typeface="Calibri (MS)"/>
                  <a:sym typeface="Calibri (MS)"/>
                </a:rPr>
                <a:t>DICT Act / NCSP</a:t>
              </a:r>
            </a:p>
          </p:txBody>
        </p:sp>
      </p:grpSp>
      <p:grpSp>
        <p:nvGrpSpPr>
          <p:cNvPr name="Group 46" id="46"/>
          <p:cNvGrpSpPr/>
          <p:nvPr/>
        </p:nvGrpSpPr>
        <p:grpSpPr>
          <a:xfrm rot="0">
            <a:off x="6542532" y="8462772"/>
            <a:ext cx="5143500" cy="329184"/>
            <a:chOff x="0" y="0"/>
            <a:chExt cx="6858000" cy="438912"/>
          </a:xfrm>
        </p:grpSpPr>
        <p:sp>
          <p:nvSpPr>
            <p:cNvPr name="Freeform 47" id="47"/>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48" id="48"/>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9AA3B8"/>
                  </a:solidFill>
                  <a:latin typeface="Arimo"/>
                  <a:ea typeface="Arimo"/>
                  <a:cs typeface="Arimo"/>
                  <a:sym typeface="Arimo"/>
                </a:rPr>
                <a:t>DICT</a:t>
              </a:r>
            </a:p>
          </p:txBody>
        </p:sp>
      </p:grpSp>
      <p:grpSp>
        <p:nvGrpSpPr>
          <p:cNvPr name="Group 49" id="49"/>
          <p:cNvGrpSpPr/>
          <p:nvPr/>
        </p:nvGrpSpPr>
        <p:grpSpPr>
          <a:xfrm rot="0">
            <a:off x="12115419" y="6779895"/>
            <a:ext cx="5162550" cy="2076450"/>
            <a:chOff x="0" y="0"/>
            <a:chExt cx="6883400" cy="2768600"/>
          </a:xfrm>
        </p:grpSpPr>
        <p:sp>
          <p:nvSpPr>
            <p:cNvPr name="Freeform 50" id="50"/>
            <p:cNvSpPr/>
            <p:nvPr/>
          </p:nvSpPr>
          <p:spPr>
            <a:xfrm flipH="false" flipV="false" rot="0">
              <a:off x="0" y="0"/>
              <a:ext cx="6883400" cy="2768600"/>
            </a:xfrm>
            <a:custGeom>
              <a:avLst/>
              <a:gdLst/>
              <a:ahLst/>
              <a:cxnLst/>
              <a:rect r="r" b="b" t="t" l="l"/>
              <a:pathLst>
                <a:path h="2768600" w="6883400">
                  <a:moveTo>
                    <a:pt x="0" y="166116"/>
                  </a:moveTo>
                  <a:cubicBezTo>
                    <a:pt x="0" y="74422"/>
                    <a:pt x="74422" y="0"/>
                    <a:pt x="166116" y="0"/>
                  </a:cubicBezTo>
                  <a:lnTo>
                    <a:pt x="6717284" y="0"/>
                  </a:lnTo>
                  <a:cubicBezTo>
                    <a:pt x="6808978" y="0"/>
                    <a:pt x="6883400" y="74422"/>
                    <a:pt x="6883400" y="166116"/>
                  </a:cubicBezTo>
                  <a:lnTo>
                    <a:pt x="6883400" y="2602484"/>
                  </a:lnTo>
                  <a:cubicBezTo>
                    <a:pt x="6883400" y="2694178"/>
                    <a:pt x="6808978" y="2768600"/>
                    <a:pt x="6717284" y="2768600"/>
                  </a:cubicBezTo>
                  <a:lnTo>
                    <a:pt x="166116" y="2768600"/>
                  </a:lnTo>
                  <a:cubicBezTo>
                    <a:pt x="74422" y="2768600"/>
                    <a:pt x="0" y="2694178"/>
                    <a:pt x="0" y="2602484"/>
                  </a:cubicBezTo>
                  <a:close/>
                </a:path>
              </a:pathLst>
            </a:custGeom>
            <a:solidFill>
              <a:srgbClr val="F4F7FC"/>
            </a:solidFill>
            <a:ln w="19050" cap="sq">
              <a:solidFill>
                <a:srgbClr val="D7DCEC"/>
              </a:solidFill>
              <a:prstDash val="solid"/>
              <a:miter/>
            </a:ln>
          </p:spPr>
        </p:sp>
      </p:grpSp>
      <p:grpSp>
        <p:nvGrpSpPr>
          <p:cNvPr name="Group 51" id="51"/>
          <p:cNvGrpSpPr/>
          <p:nvPr/>
        </p:nvGrpSpPr>
        <p:grpSpPr>
          <a:xfrm rot="0">
            <a:off x="12124944" y="6858000"/>
            <a:ext cx="5143500" cy="1755648"/>
            <a:chOff x="0" y="0"/>
            <a:chExt cx="6858000" cy="2340864"/>
          </a:xfrm>
        </p:grpSpPr>
        <p:sp>
          <p:nvSpPr>
            <p:cNvPr name="Freeform 52" id="52"/>
            <p:cNvSpPr/>
            <p:nvPr/>
          </p:nvSpPr>
          <p:spPr>
            <a:xfrm flipH="false" flipV="false" rot="0">
              <a:off x="0" y="0"/>
              <a:ext cx="6858000" cy="2340864"/>
            </a:xfrm>
            <a:custGeom>
              <a:avLst/>
              <a:gdLst/>
              <a:ahLst/>
              <a:cxnLst/>
              <a:rect r="r" b="b" t="t" l="l"/>
              <a:pathLst>
                <a:path h="2340864" w="6858000">
                  <a:moveTo>
                    <a:pt x="0" y="0"/>
                  </a:moveTo>
                  <a:lnTo>
                    <a:pt x="6858000" y="0"/>
                  </a:lnTo>
                  <a:lnTo>
                    <a:pt x="6858000" y="2340864"/>
                  </a:lnTo>
                  <a:lnTo>
                    <a:pt x="0" y="2340864"/>
                  </a:lnTo>
                  <a:close/>
                </a:path>
              </a:pathLst>
            </a:custGeom>
            <a:blipFill>
              <a:blip r:embed="rId2">
                <a:alphaModFix amt="0"/>
              </a:blip>
              <a:stretch>
                <a:fillRect l="0" t="-7085" r="0" b="-7085"/>
              </a:stretch>
            </a:blipFill>
          </p:spPr>
        </p:sp>
        <p:sp>
          <p:nvSpPr>
            <p:cNvPr name="TextBox 53" id="53"/>
            <p:cNvSpPr txBox="true"/>
            <p:nvPr/>
          </p:nvSpPr>
          <p:spPr>
            <a:xfrm>
              <a:off x="0" y="-38100"/>
              <a:ext cx="6858000" cy="2378964"/>
            </a:xfrm>
            <a:prstGeom prst="rect">
              <a:avLst/>
            </a:prstGeom>
          </p:spPr>
          <p:txBody>
            <a:bodyPr anchor="ctr" rtlCol="false" tIns="0" lIns="0" bIns="0" rIns="0"/>
            <a:lstStyle/>
            <a:p>
              <a:pPr algn="ctr">
                <a:lnSpc>
                  <a:spcPts val="2250"/>
                </a:lnSpc>
              </a:pPr>
              <a:r>
                <a:rPr lang="en-US" sz="1875">
                  <a:solidFill>
                    <a:srgbClr val="6B7280"/>
                  </a:solidFill>
                  <a:latin typeface="Calibri (MS)"/>
                  <a:ea typeface="Calibri (MS)"/>
                  <a:cs typeface="Calibri (MS)"/>
                  <a:sym typeface="Calibri (MS)"/>
                </a:rPr>
                <a:t>Critical Infra. Protection</a:t>
              </a:r>
            </a:p>
          </p:txBody>
        </p:sp>
      </p:grpSp>
      <p:grpSp>
        <p:nvGrpSpPr>
          <p:cNvPr name="Group 54" id="54"/>
          <p:cNvGrpSpPr/>
          <p:nvPr/>
        </p:nvGrpSpPr>
        <p:grpSpPr>
          <a:xfrm rot="0">
            <a:off x="12124944" y="8462772"/>
            <a:ext cx="5143500" cy="329184"/>
            <a:chOff x="0" y="0"/>
            <a:chExt cx="6858000" cy="438912"/>
          </a:xfrm>
        </p:grpSpPr>
        <p:sp>
          <p:nvSpPr>
            <p:cNvPr name="Freeform 55" id="55"/>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56" id="56"/>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9AA3B8"/>
                  </a:solidFill>
                  <a:latin typeface="Arimo"/>
                  <a:ea typeface="Arimo"/>
                  <a:cs typeface="Arimo"/>
                  <a:sym typeface="Arimo"/>
                </a:rPr>
                <a:t>CII</a:t>
              </a:r>
            </a:p>
          </p:txBody>
        </p:sp>
      </p:grpSp>
      <p:grpSp>
        <p:nvGrpSpPr>
          <p:cNvPr name="Group 57" id="57"/>
          <p:cNvGrpSpPr/>
          <p:nvPr/>
        </p:nvGrpSpPr>
        <p:grpSpPr>
          <a:xfrm rot="0">
            <a:off x="685800" y="9710928"/>
            <a:ext cx="10972800" cy="411480"/>
            <a:chOff x="0" y="0"/>
            <a:chExt cx="14630400" cy="548640"/>
          </a:xfrm>
        </p:grpSpPr>
        <p:sp>
          <p:nvSpPr>
            <p:cNvPr name="Freeform 58" id="58"/>
            <p:cNvSpPr/>
            <p:nvPr/>
          </p:nvSpPr>
          <p:spPr>
            <a:xfrm flipH="false" flipV="false" rot="0">
              <a:off x="0" y="0"/>
              <a:ext cx="14630400" cy="548640"/>
            </a:xfrm>
            <a:custGeom>
              <a:avLst/>
              <a:gdLst/>
              <a:ahLst/>
              <a:cxnLst/>
              <a:rect r="r" b="b" t="t" l="l"/>
              <a:pathLst>
                <a:path h="548640" w="14630400">
                  <a:moveTo>
                    <a:pt x="0" y="0"/>
                  </a:moveTo>
                  <a:lnTo>
                    <a:pt x="14630400" y="0"/>
                  </a:lnTo>
                  <a:lnTo>
                    <a:pt x="14630400" y="548640"/>
                  </a:lnTo>
                  <a:lnTo>
                    <a:pt x="0" y="548640"/>
                  </a:lnTo>
                  <a:close/>
                </a:path>
              </a:pathLst>
            </a:custGeom>
            <a:blipFill>
              <a:blip r:embed="rId2">
                <a:alphaModFix amt="0"/>
              </a:blip>
              <a:stretch>
                <a:fillRect l="0" t="-469601" r="0" b="-469601"/>
              </a:stretch>
            </a:blipFill>
          </p:spPr>
        </p:sp>
        <p:sp>
          <p:nvSpPr>
            <p:cNvPr name="TextBox 59" id="59"/>
            <p:cNvSpPr txBox="true"/>
            <p:nvPr/>
          </p:nvSpPr>
          <p:spPr>
            <a:xfrm>
              <a:off x="0" y="-38100"/>
              <a:ext cx="14630400" cy="586740"/>
            </a:xfrm>
            <a:prstGeom prst="rect">
              <a:avLst/>
            </a:prstGeom>
          </p:spPr>
          <p:txBody>
            <a:bodyPr anchor="ctr" rtlCol="false" tIns="0" lIns="0" bIns="0" rIns="0"/>
            <a:lstStyle/>
            <a:p>
              <a:pPr algn="l">
                <a:lnSpc>
                  <a:spcPts val="1800"/>
                </a:lnSpc>
              </a:pPr>
              <a:r>
                <a:rPr lang="en-US" sz="1500">
                  <a:solidFill>
                    <a:srgbClr val="6B7280"/>
                  </a:solidFill>
                  <a:latin typeface="Calibri (MS)"/>
                  <a:ea typeface="Calibri (MS)"/>
                  <a:cs typeface="Calibri (MS)"/>
                  <a:sym typeface="Calibri (MS)"/>
                </a:rPr>
                <a:t>Davao del Norte Provincial Government — Cybersecurity Seminar</a:t>
              </a:r>
            </a:p>
          </p:txBody>
        </p:sp>
      </p:grpSp>
      <p:grpSp>
        <p:nvGrpSpPr>
          <p:cNvPr name="Group 60" id="60"/>
          <p:cNvGrpSpPr/>
          <p:nvPr/>
        </p:nvGrpSpPr>
        <p:grpSpPr>
          <a:xfrm rot="0">
            <a:off x="16911828" y="9710928"/>
            <a:ext cx="685800" cy="411480"/>
            <a:chOff x="0" y="0"/>
            <a:chExt cx="914400" cy="548640"/>
          </a:xfrm>
        </p:grpSpPr>
        <p:sp>
          <p:nvSpPr>
            <p:cNvPr name="Freeform 61" id="61"/>
            <p:cNvSpPr/>
            <p:nvPr/>
          </p:nvSpPr>
          <p:spPr>
            <a:xfrm flipH="false" flipV="false" rot="0">
              <a:off x="0" y="0"/>
              <a:ext cx="914400" cy="548640"/>
            </a:xfrm>
            <a:custGeom>
              <a:avLst/>
              <a:gdLst/>
              <a:ahLst/>
              <a:cxnLst/>
              <a:rect r="r" b="b" t="t" l="l"/>
              <a:pathLst>
                <a:path h="548640" w="914400">
                  <a:moveTo>
                    <a:pt x="0" y="0"/>
                  </a:moveTo>
                  <a:lnTo>
                    <a:pt x="914400" y="0"/>
                  </a:lnTo>
                  <a:lnTo>
                    <a:pt x="914400" y="548640"/>
                  </a:lnTo>
                  <a:lnTo>
                    <a:pt x="0" y="548640"/>
                  </a:lnTo>
                  <a:close/>
                </a:path>
              </a:pathLst>
            </a:custGeom>
            <a:blipFill>
              <a:blip r:embed="rId2">
                <a:alphaModFix amt="0"/>
              </a:blip>
              <a:stretch>
                <a:fillRect l="-26982" t="0" r="-26982" b="0"/>
              </a:stretch>
            </a:blipFill>
          </p:spPr>
        </p:sp>
        <p:sp>
          <p:nvSpPr>
            <p:cNvPr name="TextBox 62" id="62"/>
            <p:cNvSpPr txBox="true"/>
            <p:nvPr/>
          </p:nvSpPr>
          <p:spPr>
            <a:xfrm>
              <a:off x="0" y="-38100"/>
              <a:ext cx="914400" cy="586740"/>
            </a:xfrm>
            <a:prstGeom prst="rect">
              <a:avLst/>
            </a:prstGeom>
          </p:spPr>
          <p:txBody>
            <a:bodyPr anchor="ctr" rtlCol="false" tIns="0" lIns="0" bIns="0" rIns="0"/>
            <a:lstStyle/>
            <a:p>
              <a:pPr algn="r">
                <a:lnSpc>
                  <a:spcPts val="1800"/>
                </a:lnSpc>
              </a:pPr>
              <a:r>
                <a:rPr lang="en-US" sz="1500">
                  <a:solidFill>
                    <a:srgbClr val="6B7280"/>
                  </a:solidFill>
                  <a:latin typeface="Calibri (MS)"/>
                  <a:ea typeface="Calibri (MS)"/>
                  <a:cs typeface="Calibri (MS)"/>
                  <a:sym typeface="Calibri (MS)"/>
                </a:rPr>
                <a:t>21</a:t>
              </a:r>
            </a:p>
          </p:txBody>
        </p:sp>
      </p:grpSp>
    </p:spTree>
  </p:cSld>
  <p:clrMapOvr>
    <a:masterClrMapping/>
  </p:clrMapOvr>
</p:sld>
</file>

<file path=ppt/slides/slide13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60120" y="685800"/>
            <a:ext cx="13716000" cy="411480"/>
            <a:chOff x="0" y="0"/>
            <a:chExt cx="18288000" cy="548640"/>
          </a:xfrm>
        </p:grpSpPr>
        <p:sp>
          <p:nvSpPr>
            <p:cNvPr name="Freeform 3" id="3"/>
            <p:cNvSpPr/>
            <p:nvPr/>
          </p:nvSpPr>
          <p:spPr>
            <a:xfrm flipH="false" flipV="false" rot="0">
              <a:off x="0" y="0"/>
              <a:ext cx="18288000" cy="548640"/>
            </a:xfrm>
            <a:custGeom>
              <a:avLst/>
              <a:gdLst/>
              <a:ahLst/>
              <a:cxnLst/>
              <a:rect r="r" b="b" t="t" l="l"/>
              <a:pathLst>
                <a:path h="548640" w="18288000">
                  <a:moveTo>
                    <a:pt x="0" y="0"/>
                  </a:moveTo>
                  <a:lnTo>
                    <a:pt x="18288000" y="0"/>
                  </a:lnTo>
                  <a:lnTo>
                    <a:pt x="18288000" y="548640"/>
                  </a:lnTo>
                  <a:lnTo>
                    <a:pt x="0" y="548640"/>
                  </a:lnTo>
                  <a:close/>
                </a:path>
              </a:pathLst>
            </a:custGeom>
            <a:blipFill>
              <a:blip r:embed="rId2">
                <a:alphaModFix amt="0"/>
              </a:blip>
              <a:stretch>
                <a:fillRect l="0" t="-599501" r="0" b="-599501"/>
              </a:stretch>
            </a:blipFill>
          </p:spPr>
        </p:sp>
        <p:sp>
          <p:nvSpPr>
            <p:cNvPr name="TextBox 4" id="4"/>
            <p:cNvSpPr txBox="true"/>
            <p:nvPr/>
          </p:nvSpPr>
          <p:spPr>
            <a:xfrm>
              <a:off x="0" y="-38100"/>
              <a:ext cx="18288000" cy="586740"/>
            </a:xfrm>
            <a:prstGeom prst="rect">
              <a:avLst/>
            </a:prstGeom>
          </p:spPr>
          <p:txBody>
            <a:bodyPr anchor="ctr" rtlCol="false" tIns="0" lIns="0" bIns="0" rIns="0"/>
            <a:lstStyle/>
            <a:p>
              <a:pPr algn="l">
                <a:lnSpc>
                  <a:spcPts val="2160"/>
                </a:lnSpc>
              </a:pPr>
              <a:r>
                <a:rPr lang="en-US" b="true" sz="1800" spc="225">
                  <a:solidFill>
                    <a:srgbClr val="00B4D8"/>
                  </a:solidFill>
                  <a:latin typeface="Calibri (MS) Bold"/>
                  <a:ea typeface="Calibri (MS) Bold"/>
                  <a:cs typeface="Calibri (MS) Bold"/>
                  <a:sym typeface="Calibri (MS) Bold"/>
                </a:rPr>
                <a:t>PH CYBER LAW SORT · ANSWER</a:t>
              </a:r>
            </a:p>
          </p:txBody>
        </p:sp>
      </p:grpSp>
      <p:grpSp>
        <p:nvGrpSpPr>
          <p:cNvPr name="Group 5" id="5"/>
          <p:cNvGrpSpPr/>
          <p:nvPr/>
        </p:nvGrpSpPr>
        <p:grpSpPr>
          <a:xfrm rot="0">
            <a:off x="960120" y="1069848"/>
            <a:ext cx="10972800" cy="822960"/>
            <a:chOff x="0" y="0"/>
            <a:chExt cx="14630400" cy="1097280"/>
          </a:xfrm>
        </p:grpSpPr>
        <p:sp>
          <p:nvSpPr>
            <p:cNvPr name="Freeform 6" id="6"/>
            <p:cNvSpPr/>
            <p:nvPr/>
          </p:nvSpPr>
          <p:spPr>
            <a:xfrm flipH="false" flipV="false" rot="0">
              <a:off x="0" y="0"/>
              <a:ext cx="14630400" cy="1097280"/>
            </a:xfrm>
            <a:custGeom>
              <a:avLst/>
              <a:gdLst/>
              <a:ahLst/>
              <a:cxnLst/>
              <a:rect r="r" b="b" t="t" l="l"/>
              <a:pathLst>
                <a:path h="1097280" w="14630400">
                  <a:moveTo>
                    <a:pt x="0" y="0"/>
                  </a:moveTo>
                  <a:lnTo>
                    <a:pt x="14630400" y="0"/>
                  </a:lnTo>
                  <a:lnTo>
                    <a:pt x="14630400" y="1097280"/>
                  </a:lnTo>
                  <a:lnTo>
                    <a:pt x="0" y="1097280"/>
                  </a:lnTo>
                  <a:close/>
                </a:path>
              </a:pathLst>
            </a:custGeom>
            <a:blipFill>
              <a:blip r:embed="rId2">
                <a:alphaModFix amt="0"/>
              </a:blip>
              <a:stretch>
                <a:fillRect l="0" t="-209800" r="0" b="-209800"/>
              </a:stretch>
            </a:blipFill>
          </p:spPr>
        </p:sp>
        <p:sp>
          <p:nvSpPr>
            <p:cNvPr name="TextBox 7" id="7"/>
            <p:cNvSpPr txBox="true"/>
            <p:nvPr/>
          </p:nvSpPr>
          <p:spPr>
            <a:xfrm>
              <a:off x="0" y="0"/>
              <a:ext cx="14630400" cy="1097280"/>
            </a:xfrm>
            <a:prstGeom prst="rect">
              <a:avLst/>
            </a:prstGeom>
          </p:spPr>
          <p:txBody>
            <a:bodyPr anchor="ctr" rtlCol="false" tIns="0" lIns="0" bIns="0" rIns="0"/>
            <a:lstStyle/>
            <a:p>
              <a:pPr algn="l">
                <a:lnSpc>
                  <a:spcPts val="4680"/>
                </a:lnSpc>
              </a:pPr>
              <a:r>
                <a:rPr lang="en-US" sz="3900" b="true">
                  <a:solidFill>
                    <a:srgbClr val="1E2761"/>
                  </a:solidFill>
                  <a:latin typeface="Cambria Bold"/>
                  <a:ea typeface="Cambria Bold"/>
                  <a:cs typeface="Cambria Bold"/>
                  <a:sym typeface="Cambria Bold"/>
                </a:rPr>
                <a:t>Scenario 6 — Answer</a:t>
              </a:r>
            </a:p>
          </p:txBody>
        </p:sp>
      </p:grpSp>
      <p:grpSp>
        <p:nvGrpSpPr>
          <p:cNvPr name="Group 8" id="8"/>
          <p:cNvGrpSpPr/>
          <p:nvPr/>
        </p:nvGrpSpPr>
        <p:grpSpPr>
          <a:xfrm rot="0">
            <a:off x="960120" y="1810512"/>
            <a:ext cx="8229600" cy="411480"/>
            <a:chOff x="0" y="0"/>
            <a:chExt cx="10972800" cy="548640"/>
          </a:xfrm>
        </p:grpSpPr>
        <p:sp>
          <p:nvSpPr>
            <p:cNvPr name="Freeform 9" id="9"/>
            <p:cNvSpPr/>
            <p:nvPr/>
          </p:nvSpPr>
          <p:spPr>
            <a:xfrm flipH="false" flipV="false" rot="0">
              <a:off x="0" y="0"/>
              <a:ext cx="10972800" cy="548640"/>
            </a:xfrm>
            <a:custGeom>
              <a:avLst/>
              <a:gdLst/>
              <a:ahLst/>
              <a:cxnLst/>
              <a:rect r="r" b="b" t="t" l="l"/>
              <a:pathLst>
                <a:path h="548640" w="10972800">
                  <a:moveTo>
                    <a:pt x="0" y="0"/>
                  </a:moveTo>
                  <a:lnTo>
                    <a:pt x="10972800" y="0"/>
                  </a:lnTo>
                  <a:lnTo>
                    <a:pt x="10972800" y="548640"/>
                  </a:lnTo>
                  <a:lnTo>
                    <a:pt x="0" y="548640"/>
                  </a:lnTo>
                  <a:close/>
                </a:path>
              </a:pathLst>
            </a:custGeom>
            <a:blipFill>
              <a:blip r:embed="rId2">
                <a:alphaModFix amt="0"/>
              </a:blip>
              <a:stretch>
                <a:fillRect l="0" t="-339700" r="0" b="-339700"/>
              </a:stretch>
            </a:blipFill>
          </p:spPr>
        </p:sp>
        <p:sp>
          <p:nvSpPr>
            <p:cNvPr name="TextBox 10" id="10"/>
            <p:cNvSpPr txBox="true"/>
            <p:nvPr/>
          </p:nvSpPr>
          <p:spPr>
            <a:xfrm>
              <a:off x="0" y="-28575"/>
              <a:ext cx="10972800" cy="577215"/>
            </a:xfrm>
            <a:prstGeom prst="rect">
              <a:avLst/>
            </a:prstGeom>
          </p:spPr>
          <p:txBody>
            <a:bodyPr anchor="ctr" rtlCol="false" tIns="0" lIns="0" bIns="0" rIns="0"/>
            <a:lstStyle/>
            <a:p>
              <a:pPr algn="l">
                <a:lnSpc>
                  <a:spcPts val="1980"/>
                </a:lnSpc>
              </a:pPr>
              <a:r>
                <a:rPr lang="en-US" sz="1650">
                  <a:solidFill>
                    <a:srgbClr val="6B7280"/>
                  </a:solidFill>
                  <a:latin typeface="Calibri (MS)"/>
                  <a:ea typeface="Calibri (MS)"/>
                  <a:cs typeface="Calibri (MS)"/>
                  <a:sym typeface="Calibri (MS)"/>
                </a:rPr>
                <a:t>6 of 15</a:t>
              </a:r>
            </a:p>
          </p:txBody>
        </p:sp>
      </p:grpSp>
      <p:grpSp>
        <p:nvGrpSpPr>
          <p:cNvPr name="Group 11" id="11"/>
          <p:cNvGrpSpPr/>
          <p:nvPr/>
        </p:nvGrpSpPr>
        <p:grpSpPr>
          <a:xfrm rot="0">
            <a:off x="960120" y="2537460"/>
            <a:ext cx="16322040" cy="2057400"/>
            <a:chOff x="0" y="0"/>
            <a:chExt cx="21762720" cy="2743200"/>
          </a:xfrm>
        </p:grpSpPr>
        <p:sp>
          <p:nvSpPr>
            <p:cNvPr name="Freeform 12" id="12"/>
            <p:cNvSpPr/>
            <p:nvPr/>
          </p:nvSpPr>
          <p:spPr>
            <a:xfrm flipH="false" flipV="false" rot="0">
              <a:off x="0" y="0"/>
              <a:ext cx="21762720" cy="2743200"/>
            </a:xfrm>
            <a:custGeom>
              <a:avLst/>
              <a:gdLst/>
              <a:ahLst/>
              <a:cxnLst/>
              <a:rect r="r" b="b" t="t" l="l"/>
              <a:pathLst>
                <a:path h="2743200" w="21762720">
                  <a:moveTo>
                    <a:pt x="0" y="182880"/>
                  </a:moveTo>
                  <a:cubicBezTo>
                    <a:pt x="0" y="81915"/>
                    <a:pt x="81915" y="0"/>
                    <a:pt x="182880" y="0"/>
                  </a:cubicBezTo>
                  <a:lnTo>
                    <a:pt x="21579839" y="0"/>
                  </a:lnTo>
                  <a:cubicBezTo>
                    <a:pt x="21680804" y="0"/>
                    <a:pt x="21762720" y="81915"/>
                    <a:pt x="21762720" y="182880"/>
                  </a:cubicBezTo>
                  <a:lnTo>
                    <a:pt x="21762720" y="2560320"/>
                  </a:lnTo>
                  <a:cubicBezTo>
                    <a:pt x="21762720" y="2661285"/>
                    <a:pt x="21680804" y="2743200"/>
                    <a:pt x="21579839" y="2743200"/>
                  </a:cubicBezTo>
                  <a:lnTo>
                    <a:pt x="182880" y="2743200"/>
                  </a:lnTo>
                  <a:cubicBezTo>
                    <a:pt x="81915" y="2743200"/>
                    <a:pt x="0" y="2661285"/>
                    <a:pt x="0" y="2560320"/>
                  </a:cubicBezTo>
                  <a:close/>
                </a:path>
              </a:pathLst>
            </a:custGeom>
            <a:solidFill>
              <a:srgbClr val="F4F7FC"/>
            </a:solidFill>
          </p:spPr>
        </p:sp>
      </p:grpSp>
      <p:grpSp>
        <p:nvGrpSpPr>
          <p:cNvPr name="Group 13" id="13"/>
          <p:cNvGrpSpPr/>
          <p:nvPr/>
        </p:nvGrpSpPr>
        <p:grpSpPr>
          <a:xfrm rot="0">
            <a:off x="1440180" y="2743200"/>
            <a:ext cx="15361920" cy="1645920"/>
            <a:chOff x="0" y="0"/>
            <a:chExt cx="20482560" cy="2194560"/>
          </a:xfrm>
        </p:grpSpPr>
        <p:sp>
          <p:nvSpPr>
            <p:cNvPr name="Freeform 14" id="14"/>
            <p:cNvSpPr/>
            <p:nvPr/>
          </p:nvSpPr>
          <p:spPr>
            <a:xfrm flipH="false" flipV="false" rot="0">
              <a:off x="0" y="0"/>
              <a:ext cx="20482561" cy="2194560"/>
            </a:xfrm>
            <a:custGeom>
              <a:avLst/>
              <a:gdLst/>
              <a:ahLst/>
              <a:cxnLst/>
              <a:rect r="r" b="b" t="t" l="l"/>
              <a:pathLst>
                <a:path h="2194560" w="20482561">
                  <a:moveTo>
                    <a:pt x="0" y="0"/>
                  </a:moveTo>
                  <a:lnTo>
                    <a:pt x="20482561" y="0"/>
                  </a:lnTo>
                  <a:lnTo>
                    <a:pt x="20482561" y="2194560"/>
                  </a:lnTo>
                  <a:lnTo>
                    <a:pt x="0" y="2194560"/>
                  </a:lnTo>
                  <a:close/>
                </a:path>
              </a:pathLst>
            </a:custGeom>
            <a:blipFill>
              <a:blip r:embed="rId2">
                <a:alphaModFix amt="0"/>
              </a:blip>
              <a:stretch>
                <a:fillRect l="0" t="-131860" r="0" b="-131860"/>
              </a:stretch>
            </a:blipFill>
          </p:spPr>
        </p:sp>
        <p:sp>
          <p:nvSpPr>
            <p:cNvPr name="TextBox 15" id="15"/>
            <p:cNvSpPr txBox="true"/>
            <p:nvPr/>
          </p:nvSpPr>
          <p:spPr>
            <a:xfrm>
              <a:off x="0" y="-66675"/>
              <a:ext cx="20482560" cy="2261235"/>
            </a:xfrm>
            <a:prstGeom prst="rect">
              <a:avLst/>
            </a:prstGeom>
          </p:spPr>
          <p:txBody>
            <a:bodyPr anchor="ctr" rtlCol="false" tIns="0" lIns="0" bIns="0" rIns="0"/>
            <a:lstStyle/>
            <a:p>
              <a:pPr algn="l">
                <a:lnSpc>
                  <a:spcPts val="3487"/>
                </a:lnSpc>
              </a:pPr>
              <a:r>
                <a:rPr lang="en-US" sz="2325" i="true">
                  <a:solidFill>
                    <a:srgbClr val="23262F"/>
                  </a:solidFill>
                  <a:latin typeface="Cambria Italics"/>
                  <a:ea typeface="Cambria Italics"/>
                  <a:cs typeface="Cambria Italics"/>
                  <a:sym typeface="Cambria Italics"/>
                </a:rPr>
                <a:t>"A former employee posts defamatory, false accusations about a department head in a public Facebook group."</a:t>
              </a:r>
            </a:p>
          </p:txBody>
        </p:sp>
      </p:grpSp>
      <p:grpSp>
        <p:nvGrpSpPr>
          <p:cNvPr name="Group 16" id="16"/>
          <p:cNvGrpSpPr/>
          <p:nvPr/>
        </p:nvGrpSpPr>
        <p:grpSpPr>
          <a:xfrm rot="0">
            <a:off x="950595" y="4928235"/>
            <a:ext cx="5162550" cy="842010"/>
            <a:chOff x="0" y="0"/>
            <a:chExt cx="6883400" cy="1122680"/>
          </a:xfrm>
        </p:grpSpPr>
        <p:sp>
          <p:nvSpPr>
            <p:cNvPr name="Freeform 17" id="17"/>
            <p:cNvSpPr/>
            <p:nvPr/>
          </p:nvSpPr>
          <p:spPr>
            <a:xfrm flipH="false" flipV="false" rot="0">
              <a:off x="0" y="0"/>
              <a:ext cx="6883400" cy="1122680"/>
            </a:xfrm>
            <a:custGeom>
              <a:avLst/>
              <a:gdLst/>
              <a:ahLst/>
              <a:cxnLst/>
              <a:rect r="r" b="b" t="t" l="l"/>
              <a:pathLst>
                <a:path h="1122680" w="6883400">
                  <a:moveTo>
                    <a:pt x="0" y="168402"/>
                  </a:moveTo>
                  <a:cubicBezTo>
                    <a:pt x="0" y="75438"/>
                    <a:pt x="75438" y="0"/>
                    <a:pt x="168402" y="0"/>
                  </a:cubicBezTo>
                  <a:lnTo>
                    <a:pt x="6714998" y="0"/>
                  </a:lnTo>
                  <a:cubicBezTo>
                    <a:pt x="6807962" y="0"/>
                    <a:pt x="6883400" y="75438"/>
                    <a:pt x="6883400" y="168402"/>
                  </a:cubicBezTo>
                  <a:lnTo>
                    <a:pt x="6883400" y="954278"/>
                  </a:lnTo>
                  <a:cubicBezTo>
                    <a:pt x="6883400" y="1047242"/>
                    <a:pt x="6807962" y="1122680"/>
                    <a:pt x="6714998" y="1122680"/>
                  </a:cubicBezTo>
                  <a:lnTo>
                    <a:pt x="168402" y="1122680"/>
                  </a:lnTo>
                  <a:cubicBezTo>
                    <a:pt x="75438" y="1122680"/>
                    <a:pt x="0" y="1047242"/>
                    <a:pt x="0" y="954278"/>
                  </a:cubicBezTo>
                  <a:close/>
                </a:path>
              </a:pathLst>
            </a:custGeom>
            <a:solidFill>
              <a:srgbClr val="F4F7FC"/>
            </a:solidFill>
            <a:ln w="19050" cap="sq">
              <a:solidFill>
                <a:srgbClr val="D7DCEC"/>
              </a:solidFill>
              <a:prstDash val="solid"/>
              <a:miter/>
            </a:ln>
          </p:spPr>
        </p:sp>
      </p:grpSp>
      <p:grpSp>
        <p:nvGrpSpPr>
          <p:cNvPr name="Group 18" id="18"/>
          <p:cNvGrpSpPr/>
          <p:nvPr/>
        </p:nvGrpSpPr>
        <p:grpSpPr>
          <a:xfrm rot="0">
            <a:off x="960120" y="5006340"/>
            <a:ext cx="5143500" cy="521208"/>
            <a:chOff x="0" y="0"/>
            <a:chExt cx="6858000" cy="694944"/>
          </a:xfrm>
        </p:grpSpPr>
        <p:sp>
          <p:nvSpPr>
            <p:cNvPr name="Freeform 19" id="19"/>
            <p:cNvSpPr/>
            <p:nvPr/>
          </p:nvSpPr>
          <p:spPr>
            <a:xfrm flipH="false" flipV="false" rot="0">
              <a:off x="0" y="0"/>
              <a:ext cx="6858000" cy="694944"/>
            </a:xfrm>
            <a:custGeom>
              <a:avLst/>
              <a:gdLst/>
              <a:ahLst/>
              <a:cxnLst/>
              <a:rect r="r" b="b" t="t" l="l"/>
              <a:pathLst>
                <a:path h="694944" w="6858000">
                  <a:moveTo>
                    <a:pt x="0" y="0"/>
                  </a:moveTo>
                  <a:lnTo>
                    <a:pt x="6858000" y="0"/>
                  </a:lnTo>
                  <a:lnTo>
                    <a:pt x="6858000" y="694944"/>
                  </a:lnTo>
                  <a:lnTo>
                    <a:pt x="0" y="694944"/>
                  </a:lnTo>
                  <a:close/>
                </a:path>
              </a:pathLst>
            </a:custGeom>
            <a:blipFill>
              <a:blip r:embed="rId2">
                <a:alphaModFix amt="0"/>
              </a:blip>
              <a:stretch>
                <a:fillRect l="0" t="-142286" r="0" b="-142286"/>
              </a:stretch>
            </a:blipFill>
          </p:spPr>
        </p:sp>
        <p:sp>
          <p:nvSpPr>
            <p:cNvPr name="TextBox 20" id="20"/>
            <p:cNvSpPr txBox="true"/>
            <p:nvPr/>
          </p:nvSpPr>
          <p:spPr>
            <a:xfrm>
              <a:off x="0" y="-38100"/>
              <a:ext cx="6858000" cy="733044"/>
            </a:xfrm>
            <a:prstGeom prst="rect">
              <a:avLst/>
            </a:prstGeom>
          </p:spPr>
          <p:txBody>
            <a:bodyPr anchor="ctr" rtlCol="false" tIns="0" lIns="0" bIns="0" rIns="0"/>
            <a:lstStyle/>
            <a:p>
              <a:pPr algn="ctr">
                <a:lnSpc>
                  <a:spcPts val="2250"/>
                </a:lnSpc>
              </a:pPr>
              <a:r>
                <a:rPr lang="en-US" sz="1875">
                  <a:solidFill>
                    <a:srgbClr val="6B7280"/>
                  </a:solidFill>
                  <a:latin typeface="Calibri (MS)"/>
                  <a:ea typeface="Calibri (MS)"/>
                  <a:cs typeface="Calibri (MS)"/>
                  <a:sym typeface="Calibri (MS)"/>
                </a:rPr>
                <a:t>E-Commerce Act</a:t>
              </a:r>
            </a:p>
          </p:txBody>
        </p:sp>
      </p:grpSp>
      <p:grpSp>
        <p:nvGrpSpPr>
          <p:cNvPr name="Group 21" id="21"/>
          <p:cNvGrpSpPr/>
          <p:nvPr/>
        </p:nvGrpSpPr>
        <p:grpSpPr>
          <a:xfrm rot="0">
            <a:off x="960120" y="5376672"/>
            <a:ext cx="5143500" cy="329184"/>
            <a:chOff x="0" y="0"/>
            <a:chExt cx="6858000" cy="438912"/>
          </a:xfrm>
        </p:grpSpPr>
        <p:sp>
          <p:nvSpPr>
            <p:cNvPr name="Freeform 22" id="22"/>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23" id="23"/>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9AA3B8"/>
                  </a:solidFill>
                  <a:latin typeface="Arimo"/>
                  <a:ea typeface="Arimo"/>
                  <a:cs typeface="Arimo"/>
                  <a:sym typeface="Arimo"/>
                </a:rPr>
                <a:t>ECA</a:t>
              </a:r>
            </a:p>
          </p:txBody>
        </p:sp>
      </p:grpSp>
      <p:grpSp>
        <p:nvGrpSpPr>
          <p:cNvPr name="Group 24" id="24"/>
          <p:cNvGrpSpPr/>
          <p:nvPr/>
        </p:nvGrpSpPr>
        <p:grpSpPr>
          <a:xfrm rot="0">
            <a:off x="6533007" y="4928235"/>
            <a:ext cx="5162550" cy="842010"/>
            <a:chOff x="0" y="0"/>
            <a:chExt cx="6883400" cy="1122680"/>
          </a:xfrm>
        </p:grpSpPr>
        <p:sp>
          <p:nvSpPr>
            <p:cNvPr name="Freeform 25" id="25"/>
            <p:cNvSpPr/>
            <p:nvPr/>
          </p:nvSpPr>
          <p:spPr>
            <a:xfrm flipH="false" flipV="false" rot="0">
              <a:off x="0" y="0"/>
              <a:ext cx="6883400" cy="1122680"/>
            </a:xfrm>
            <a:custGeom>
              <a:avLst/>
              <a:gdLst/>
              <a:ahLst/>
              <a:cxnLst/>
              <a:rect r="r" b="b" t="t" l="l"/>
              <a:pathLst>
                <a:path h="1122680" w="6883400">
                  <a:moveTo>
                    <a:pt x="0" y="168402"/>
                  </a:moveTo>
                  <a:cubicBezTo>
                    <a:pt x="0" y="75438"/>
                    <a:pt x="75438" y="0"/>
                    <a:pt x="168402" y="0"/>
                  </a:cubicBezTo>
                  <a:lnTo>
                    <a:pt x="6714998" y="0"/>
                  </a:lnTo>
                  <a:cubicBezTo>
                    <a:pt x="6807962" y="0"/>
                    <a:pt x="6883400" y="75438"/>
                    <a:pt x="6883400" y="168402"/>
                  </a:cubicBezTo>
                  <a:lnTo>
                    <a:pt x="6883400" y="954278"/>
                  </a:lnTo>
                  <a:cubicBezTo>
                    <a:pt x="6883400" y="1047242"/>
                    <a:pt x="6807962" y="1122680"/>
                    <a:pt x="6714998" y="1122680"/>
                  </a:cubicBezTo>
                  <a:lnTo>
                    <a:pt x="168402" y="1122680"/>
                  </a:lnTo>
                  <a:cubicBezTo>
                    <a:pt x="75438" y="1122680"/>
                    <a:pt x="0" y="1047242"/>
                    <a:pt x="0" y="954278"/>
                  </a:cubicBezTo>
                  <a:close/>
                </a:path>
              </a:pathLst>
            </a:custGeom>
            <a:solidFill>
              <a:srgbClr val="C1272D"/>
            </a:solidFill>
            <a:ln w="19050" cap="sq">
              <a:solidFill>
                <a:srgbClr val="C1272D"/>
              </a:solidFill>
              <a:prstDash val="solid"/>
              <a:miter/>
            </a:ln>
          </p:spPr>
        </p:sp>
      </p:grpSp>
      <p:grpSp>
        <p:nvGrpSpPr>
          <p:cNvPr name="Group 26" id="26"/>
          <p:cNvGrpSpPr/>
          <p:nvPr/>
        </p:nvGrpSpPr>
        <p:grpSpPr>
          <a:xfrm rot="0">
            <a:off x="6542532" y="5006340"/>
            <a:ext cx="5143500" cy="521208"/>
            <a:chOff x="0" y="0"/>
            <a:chExt cx="6858000" cy="694944"/>
          </a:xfrm>
        </p:grpSpPr>
        <p:sp>
          <p:nvSpPr>
            <p:cNvPr name="Freeform 27" id="27"/>
            <p:cNvSpPr/>
            <p:nvPr/>
          </p:nvSpPr>
          <p:spPr>
            <a:xfrm flipH="false" flipV="false" rot="0">
              <a:off x="0" y="0"/>
              <a:ext cx="6858000" cy="694944"/>
            </a:xfrm>
            <a:custGeom>
              <a:avLst/>
              <a:gdLst/>
              <a:ahLst/>
              <a:cxnLst/>
              <a:rect r="r" b="b" t="t" l="l"/>
              <a:pathLst>
                <a:path h="694944" w="6858000">
                  <a:moveTo>
                    <a:pt x="0" y="0"/>
                  </a:moveTo>
                  <a:lnTo>
                    <a:pt x="6858000" y="0"/>
                  </a:lnTo>
                  <a:lnTo>
                    <a:pt x="6858000" y="694944"/>
                  </a:lnTo>
                  <a:lnTo>
                    <a:pt x="0" y="694944"/>
                  </a:lnTo>
                  <a:close/>
                </a:path>
              </a:pathLst>
            </a:custGeom>
            <a:blipFill>
              <a:blip r:embed="rId2">
                <a:alphaModFix amt="0"/>
              </a:blip>
              <a:stretch>
                <a:fillRect l="0" t="-142286" r="0" b="-142286"/>
              </a:stretch>
            </a:blipFill>
          </p:spPr>
        </p:sp>
        <p:sp>
          <p:nvSpPr>
            <p:cNvPr name="TextBox 28" id="28"/>
            <p:cNvSpPr txBox="true"/>
            <p:nvPr/>
          </p:nvSpPr>
          <p:spPr>
            <a:xfrm>
              <a:off x="0" y="-38100"/>
              <a:ext cx="6858000" cy="733044"/>
            </a:xfrm>
            <a:prstGeom prst="rect">
              <a:avLst/>
            </a:prstGeom>
          </p:spPr>
          <p:txBody>
            <a:bodyPr anchor="ctr" rtlCol="false" tIns="0" lIns="0" bIns="0" rIns="0"/>
            <a:lstStyle/>
            <a:p>
              <a:pPr algn="ctr">
                <a:lnSpc>
                  <a:spcPts val="2250"/>
                </a:lnSpc>
              </a:pPr>
              <a:r>
                <a:rPr lang="en-US" sz="1875" b="true">
                  <a:solidFill>
                    <a:srgbClr val="FFFFFF"/>
                  </a:solidFill>
                  <a:latin typeface="Calibri (MS) Bold"/>
                  <a:ea typeface="Calibri (MS) Bold"/>
                  <a:cs typeface="Calibri (MS) Bold"/>
                  <a:sym typeface="Calibri (MS) Bold"/>
                </a:rPr>
                <a:t>✓  Cybercrime Act</a:t>
              </a:r>
            </a:p>
          </p:txBody>
        </p:sp>
      </p:grpSp>
      <p:grpSp>
        <p:nvGrpSpPr>
          <p:cNvPr name="Group 29" id="29"/>
          <p:cNvGrpSpPr/>
          <p:nvPr/>
        </p:nvGrpSpPr>
        <p:grpSpPr>
          <a:xfrm rot="0">
            <a:off x="6542532" y="5376672"/>
            <a:ext cx="5143500" cy="329184"/>
            <a:chOff x="0" y="0"/>
            <a:chExt cx="6858000" cy="438912"/>
          </a:xfrm>
        </p:grpSpPr>
        <p:sp>
          <p:nvSpPr>
            <p:cNvPr name="Freeform 30" id="30"/>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31" id="31"/>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FFFFFF"/>
                  </a:solidFill>
                  <a:latin typeface="Arimo"/>
                  <a:ea typeface="Arimo"/>
                  <a:cs typeface="Arimo"/>
                  <a:sym typeface="Arimo"/>
                </a:rPr>
                <a:t>CPA</a:t>
              </a:r>
            </a:p>
          </p:txBody>
        </p:sp>
      </p:grpSp>
      <p:grpSp>
        <p:nvGrpSpPr>
          <p:cNvPr name="Group 32" id="32"/>
          <p:cNvGrpSpPr/>
          <p:nvPr/>
        </p:nvGrpSpPr>
        <p:grpSpPr>
          <a:xfrm rot="0">
            <a:off x="950595" y="5998083"/>
            <a:ext cx="5162550" cy="842010"/>
            <a:chOff x="0" y="0"/>
            <a:chExt cx="6883400" cy="1122680"/>
          </a:xfrm>
        </p:grpSpPr>
        <p:sp>
          <p:nvSpPr>
            <p:cNvPr name="Freeform 33" id="33"/>
            <p:cNvSpPr/>
            <p:nvPr/>
          </p:nvSpPr>
          <p:spPr>
            <a:xfrm flipH="false" flipV="false" rot="0">
              <a:off x="0" y="0"/>
              <a:ext cx="6883400" cy="1122680"/>
            </a:xfrm>
            <a:custGeom>
              <a:avLst/>
              <a:gdLst/>
              <a:ahLst/>
              <a:cxnLst/>
              <a:rect r="r" b="b" t="t" l="l"/>
              <a:pathLst>
                <a:path h="1122680" w="6883400">
                  <a:moveTo>
                    <a:pt x="0" y="168402"/>
                  </a:moveTo>
                  <a:cubicBezTo>
                    <a:pt x="0" y="75438"/>
                    <a:pt x="75438" y="0"/>
                    <a:pt x="168402" y="0"/>
                  </a:cubicBezTo>
                  <a:lnTo>
                    <a:pt x="6714998" y="0"/>
                  </a:lnTo>
                  <a:cubicBezTo>
                    <a:pt x="6807962" y="0"/>
                    <a:pt x="6883400" y="75438"/>
                    <a:pt x="6883400" y="168402"/>
                  </a:cubicBezTo>
                  <a:lnTo>
                    <a:pt x="6883400" y="954278"/>
                  </a:lnTo>
                  <a:cubicBezTo>
                    <a:pt x="6883400" y="1047242"/>
                    <a:pt x="6807962" y="1122680"/>
                    <a:pt x="6714998" y="1122680"/>
                  </a:cubicBezTo>
                  <a:lnTo>
                    <a:pt x="168402" y="1122680"/>
                  </a:lnTo>
                  <a:cubicBezTo>
                    <a:pt x="75438" y="1122680"/>
                    <a:pt x="0" y="1047242"/>
                    <a:pt x="0" y="954278"/>
                  </a:cubicBezTo>
                  <a:close/>
                </a:path>
              </a:pathLst>
            </a:custGeom>
            <a:solidFill>
              <a:srgbClr val="F4F7FC"/>
            </a:solidFill>
            <a:ln w="19050" cap="sq">
              <a:solidFill>
                <a:srgbClr val="D7DCEC"/>
              </a:solidFill>
              <a:prstDash val="solid"/>
              <a:miter/>
            </a:ln>
          </p:spPr>
        </p:sp>
      </p:grpSp>
      <p:grpSp>
        <p:nvGrpSpPr>
          <p:cNvPr name="Group 34" id="34"/>
          <p:cNvGrpSpPr/>
          <p:nvPr/>
        </p:nvGrpSpPr>
        <p:grpSpPr>
          <a:xfrm rot="0">
            <a:off x="960120" y="6076188"/>
            <a:ext cx="5143500" cy="521208"/>
            <a:chOff x="0" y="0"/>
            <a:chExt cx="6858000" cy="694944"/>
          </a:xfrm>
        </p:grpSpPr>
        <p:sp>
          <p:nvSpPr>
            <p:cNvPr name="Freeform 35" id="35"/>
            <p:cNvSpPr/>
            <p:nvPr/>
          </p:nvSpPr>
          <p:spPr>
            <a:xfrm flipH="false" flipV="false" rot="0">
              <a:off x="0" y="0"/>
              <a:ext cx="6858000" cy="694944"/>
            </a:xfrm>
            <a:custGeom>
              <a:avLst/>
              <a:gdLst/>
              <a:ahLst/>
              <a:cxnLst/>
              <a:rect r="r" b="b" t="t" l="l"/>
              <a:pathLst>
                <a:path h="694944" w="6858000">
                  <a:moveTo>
                    <a:pt x="0" y="0"/>
                  </a:moveTo>
                  <a:lnTo>
                    <a:pt x="6858000" y="0"/>
                  </a:lnTo>
                  <a:lnTo>
                    <a:pt x="6858000" y="694944"/>
                  </a:lnTo>
                  <a:lnTo>
                    <a:pt x="0" y="694944"/>
                  </a:lnTo>
                  <a:close/>
                </a:path>
              </a:pathLst>
            </a:custGeom>
            <a:blipFill>
              <a:blip r:embed="rId2">
                <a:alphaModFix amt="0"/>
              </a:blip>
              <a:stretch>
                <a:fillRect l="0" t="-142286" r="0" b="-142286"/>
              </a:stretch>
            </a:blipFill>
          </p:spPr>
        </p:sp>
        <p:sp>
          <p:nvSpPr>
            <p:cNvPr name="TextBox 36" id="36"/>
            <p:cNvSpPr txBox="true"/>
            <p:nvPr/>
          </p:nvSpPr>
          <p:spPr>
            <a:xfrm>
              <a:off x="0" y="-38100"/>
              <a:ext cx="6858000" cy="733044"/>
            </a:xfrm>
            <a:prstGeom prst="rect">
              <a:avLst/>
            </a:prstGeom>
          </p:spPr>
          <p:txBody>
            <a:bodyPr anchor="ctr" rtlCol="false" tIns="0" lIns="0" bIns="0" rIns="0"/>
            <a:lstStyle/>
            <a:p>
              <a:pPr algn="ctr">
                <a:lnSpc>
                  <a:spcPts val="2250"/>
                </a:lnSpc>
              </a:pPr>
              <a:r>
                <a:rPr lang="en-US" sz="1875">
                  <a:solidFill>
                    <a:srgbClr val="6B7280"/>
                  </a:solidFill>
                  <a:latin typeface="Calibri (MS)"/>
                  <a:ea typeface="Calibri (MS)"/>
                  <a:cs typeface="Calibri (MS)"/>
                  <a:sym typeface="Calibri (MS)"/>
                </a:rPr>
                <a:t>Data Privacy Act</a:t>
              </a:r>
            </a:p>
          </p:txBody>
        </p:sp>
      </p:grpSp>
      <p:grpSp>
        <p:nvGrpSpPr>
          <p:cNvPr name="Group 37" id="37"/>
          <p:cNvGrpSpPr/>
          <p:nvPr/>
        </p:nvGrpSpPr>
        <p:grpSpPr>
          <a:xfrm rot="0">
            <a:off x="960120" y="6446520"/>
            <a:ext cx="5143500" cy="329184"/>
            <a:chOff x="0" y="0"/>
            <a:chExt cx="6858000" cy="438912"/>
          </a:xfrm>
        </p:grpSpPr>
        <p:sp>
          <p:nvSpPr>
            <p:cNvPr name="Freeform 38" id="38"/>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39" id="39"/>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9AA3B8"/>
                  </a:solidFill>
                  <a:latin typeface="Arimo"/>
                  <a:ea typeface="Arimo"/>
                  <a:cs typeface="Arimo"/>
                  <a:sym typeface="Arimo"/>
                </a:rPr>
                <a:t>DPA</a:t>
              </a:r>
            </a:p>
          </p:txBody>
        </p:sp>
      </p:grpSp>
      <p:grpSp>
        <p:nvGrpSpPr>
          <p:cNvPr name="Group 40" id="40"/>
          <p:cNvGrpSpPr/>
          <p:nvPr/>
        </p:nvGrpSpPr>
        <p:grpSpPr>
          <a:xfrm rot="0">
            <a:off x="6533007" y="5998083"/>
            <a:ext cx="5162550" cy="842010"/>
            <a:chOff x="0" y="0"/>
            <a:chExt cx="6883400" cy="1122680"/>
          </a:xfrm>
        </p:grpSpPr>
        <p:sp>
          <p:nvSpPr>
            <p:cNvPr name="Freeform 41" id="41"/>
            <p:cNvSpPr/>
            <p:nvPr/>
          </p:nvSpPr>
          <p:spPr>
            <a:xfrm flipH="false" flipV="false" rot="0">
              <a:off x="0" y="0"/>
              <a:ext cx="6883400" cy="1122680"/>
            </a:xfrm>
            <a:custGeom>
              <a:avLst/>
              <a:gdLst/>
              <a:ahLst/>
              <a:cxnLst/>
              <a:rect r="r" b="b" t="t" l="l"/>
              <a:pathLst>
                <a:path h="1122680" w="6883400">
                  <a:moveTo>
                    <a:pt x="0" y="168402"/>
                  </a:moveTo>
                  <a:cubicBezTo>
                    <a:pt x="0" y="75438"/>
                    <a:pt x="75438" y="0"/>
                    <a:pt x="168402" y="0"/>
                  </a:cubicBezTo>
                  <a:lnTo>
                    <a:pt x="6714998" y="0"/>
                  </a:lnTo>
                  <a:cubicBezTo>
                    <a:pt x="6807962" y="0"/>
                    <a:pt x="6883400" y="75438"/>
                    <a:pt x="6883400" y="168402"/>
                  </a:cubicBezTo>
                  <a:lnTo>
                    <a:pt x="6883400" y="954278"/>
                  </a:lnTo>
                  <a:cubicBezTo>
                    <a:pt x="6883400" y="1047242"/>
                    <a:pt x="6807962" y="1122680"/>
                    <a:pt x="6714998" y="1122680"/>
                  </a:cubicBezTo>
                  <a:lnTo>
                    <a:pt x="168402" y="1122680"/>
                  </a:lnTo>
                  <a:cubicBezTo>
                    <a:pt x="75438" y="1122680"/>
                    <a:pt x="0" y="1047242"/>
                    <a:pt x="0" y="954278"/>
                  </a:cubicBezTo>
                  <a:close/>
                </a:path>
              </a:pathLst>
            </a:custGeom>
            <a:solidFill>
              <a:srgbClr val="F4F7FC"/>
            </a:solidFill>
            <a:ln w="19050" cap="sq">
              <a:solidFill>
                <a:srgbClr val="D7DCEC"/>
              </a:solidFill>
              <a:prstDash val="solid"/>
              <a:miter/>
            </a:ln>
          </p:spPr>
        </p:sp>
      </p:grpSp>
      <p:grpSp>
        <p:nvGrpSpPr>
          <p:cNvPr name="Group 42" id="42"/>
          <p:cNvGrpSpPr/>
          <p:nvPr/>
        </p:nvGrpSpPr>
        <p:grpSpPr>
          <a:xfrm rot="0">
            <a:off x="6542532" y="6076188"/>
            <a:ext cx="5143500" cy="521208"/>
            <a:chOff x="0" y="0"/>
            <a:chExt cx="6858000" cy="694944"/>
          </a:xfrm>
        </p:grpSpPr>
        <p:sp>
          <p:nvSpPr>
            <p:cNvPr name="Freeform 43" id="43"/>
            <p:cNvSpPr/>
            <p:nvPr/>
          </p:nvSpPr>
          <p:spPr>
            <a:xfrm flipH="false" flipV="false" rot="0">
              <a:off x="0" y="0"/>
              <a:ext cx="6858000" cy="694944"/>
            </a:xfrm>
            <a:custGeom>
              <a:avLst/>
              <a:gdLst/>
              <a:ahLst/>
              <a:cxnLst/>
              <a:rect r="r" b="b" t="t" l="l"/>
              <a:pathLst>
                <a:path h="694944" w="6858000">
                  <a:moveTo>
                    <a:pt x="0" y="0"/>
                  </a:moveTo>
                  <a:lnTo>
                    <a:pt x="6858000" y="0"/>
                  </a:lnTo>
                  <a:lnTo>
                    <a:pt x="6858000" y="694944"/>
                  </a:lnTo>
                  <a:lnTo>
                    <a:pt x="0" y="694944"/>
                  </a:lnTo>
                  <a:close/>
                </a:path>
              </a:pathLst>
            </a:custGeom>
            <a:blipFill>
              <a:blip r:embed="rId2">
                <a:alphaModFix amt="0"/>
              </a:blip>
              <a:stretch>
                <a:fillRect l="0" t="-142286" r="0" b="-142286"/>
              </a:stretch>
            </a:blipFill>
          </p:spPr>
        </p:sp>
        <p:sp>
          <p:nvSpPr>
            <p:cNvPr name="TextBox 44" id="44"/>
            <p:cNvSpPr txBox="true"/>
            <p:nvPr/>
          </p:nvSpPr>
          <p:spPr>
            <a:xfrm>
              <a:off x="0" y="-38100"/>
              <a:ext cx="6858000" cy="733044"/>
            </a:xfrm>
            <a:prstGeom prst="rect">
              <a:avLst/>
            </a:prstGeom>
          </p:spPr>
          <p:txBody>
            <a:bodyPr anchor="ctr" rtlCol="false" tIns="0" lIns="0" bIns="0" rIns="0"/>
            <a:lstStyle/>
            <a:p>
              <a:pPr algn="ctr">
                <a:lnSpc>
                  <a:spcPts val="2250"/>
                </a:lnSpc>
              </a:pPr>
              <a:r>
                <a:rPr lang="en-US" sz="1875">
                  <a:solidFill>
                    <a:srgbClr val="6B7280"/>
                  </a:solidFill>
                  <a:latin typeface="Calibri (MS)"/>
                  <a:ea typeface="Calibri (MS)"/>
                  <a:cs typeface="Calibri (MS)"/>
                  <a:sym typeface="Calibri (MS)"/>
                </a:rPr>
                <a:t>DICT Act / NCSP</a:t>
              </a:r>
            </a:p>
          </p:txBody>
        </p:sp>
      </p:grpSp>
      <p:grpSp>
        <p:nvGrpSpPr>
          <p:cNvPr name="Group 45" id="45"/>
          <p:cNvGrpSpPr/>
          <p:nvPr/>
        </p:nvGrpSpPr>
        <p:grpSpPr>
          <a:xfrm rot="0">
            <a:off x="6542532" y="6446520"/>
            <a:ext cx="5143500" cy="329184"/>
            <a:chOff x="0" y="0"/>
            <a:chExt cx="6858000" cy="438912"/>
          </a:xfrm>
        </p:grpSpPr>
        <p:sp>
          <p:nvSpPr>
            <p:cNvPr name="Freeform 46" id="46"/>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47" id="47"/>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9AA3B8"/>
                  </a:solidFill>
                  <a:latin typeface="Arimo"/>
                  <a:ea typeface="Arimo"/>
                  <a:cs typeface="Arimo"/>
                  <a:sym typeface="Arimo"/>
                </a:rPr>
                <a:t>DICT</a:t>
              </a:r>
            </a:p>
          </p:txBody>
        </p:sp>
      </p:grpSp>
      <p:grpSp>
        <p:nvGrpSpPr>
          <p:cNvPr name="Group 48" id="48"/>
          <p:cNvGrpSpPr/>
          <p:nvPr/>
        </p:nvGrpSpPr>
        <p:grpSpPr>
          <a:xfrm rot="0">
            <a:off x="12115419" y="4928235"/>
            <a:ext cx="5162550" cy="1911858"/>
            <a:chOff x="0" y="0"/>
            <a:chExt cx="6883400" cy="2549144"/>
          </a:xfrm>
        </p:grpSpPr>
        <p:sp>
          <p:nvSpPr>
            <p:cNvPr name="Freeform 49" id="49"/>
            <p:cNvSpPr/>
            <p:nvPr/>
          </p:nvSpPr>
          <p:spPr>
            <a:xfrm flipH="false" flipV="false" rot="0">
              <a:off x="0" y="0"/>
              <a:ext cx="6883400" cy="2549144"/>
            </a:xfrm>
            <a:custGeom>
              <a:avLst/>
              <a:gdLst/>
              <a:ahLst/>
              <a:cxnLst/>
              <a:rect r="r" b="b" t="t" l="l"/>
              <a:pathLst>
                <a:path h="2549144" w="6883400">
                  <a:moveTo>
                    <a:pt x="0" y="166243"/>
                  </a:moveTo>
                  <a:cubicBezTo>
                    <a:pt x="0" y="74422"/>
                    <a:pt x="74422" y="0"/>
                    <a:pt x="166243" y="0"/>
                  </a:cubicBezTo>
                  <a:lnTo>
                    <a:pt x="6717157" y="0"/>
                  </a:lnTo>
                  <a:cubicBezTo>
                    <a:pt x="6808978" y="0"/>
                    <a:pt x="6883400" y="74422"/>
                    <a:pt x="6883400" y="166243"/>
                  </a:cubicBezTo>
                  <a:lnTo>
                    <a:pt x="6883400" y="2382901"/>
                  </a:lnTo>
                  <a:cubicBezTo>
                    <a:pt x="6883400" y="2474722"/>
                    <a:pt x="6808978" y="2549144"/>
                    <a:pt x="6717157" y="2549144"/>
                  </a:cubicBezTo>
                  <a:lnTo>
                    <a:pt x="166243" y="2549144"/>
                  </a:lnTo>
                  <a:cubicBezTo>
                    <a:pt x="74422" y="2549144"/>
                    <a:pt x="0" y="2474722"/>
                    <a:pt x="0" y="2382901"/>
                  </a:cubicBezTo>
                  <a:close/>
                </a:path>
              </a:pathLst>
            </a:custGeom>
            <a:solidFill>
              <a:srgbClr val="F4F7FC"/>
            </a:solidFill>
            <a:ln w="19050" cap="sq">
              <a:solidFill>
                <a:srgbClr val="D7DCEC"/>
              </a:solidFill>
              <a:prstDash val="solid"/>
              <a:miter/>
            </a:ln>
          </p:spPr>
        </p:sp>
      </p:grpSp>
      <p:grpSp>
        <p:nvGrpSpPr>
          <p:cNvPr name="Group 50" id="50"/>
          <p:cNvGrpSpPr/>
          <p:nvPr/>
        </p:nvGrpSpPr>
        <p:grpSpPr>
          <a:xfrm rot="0">
            <a:off x="12124944" y="5006340"/>
            <a:ext cx="5143500" cy="1591056"/>
            <a:chOff x="0" y="0"/>
            <a:chExt cx="6858000" cy="2121408"/>
          </a:xfrm>
        </p:grpSpPr>
        <p:sp>
          <p:nvSpPr>
            <p:cNvPr name="Freeform 51" id="51"/>
            <p:cNvSpPr/>
            <p:nvPr/>
          </p:nvSpPr>
          <p:spPr>
            <a:xfrm flipH="false" flipV="false" rot="0">
              <a:off x="0" y="0"/>
              <a:ext cx="6858000" cy="2121408"/>
            </a:xfrm>
            <a:custGeom>
              <a:avLst/>
              <a:gdLst/>
              <a:ahLst/>
              <a:cxnLst/>
              <a:rect r="r" b="b" t="t" l="l"/>
              <a:pathLst>
                <a:path h="2121408" w="6858000">
                  <a:moveTo>
                    <a:pt x="0" y="0"/>
                  </a:moveTo>
                  <a:lnTo>
                    <a:pt x="6858000" y="0"/>
                  </a:lnTo>
                  <a:lnTo>
                    <a:pt x="6858000" y="2121408"/>
                  </a:lnTo>
                  <a:lnTo>
                    <a:pt x="0" y="2121408"/>
                  </a:lnTo>
                  <a:close/>
                </a:path>
              </a:pathLst>
            </a:custGeom>
            <a:blipFill>
              <a:blip r:embed="rId2">
                <a:alphaModFix amt="0"/>
              </a:blip>
              <a:stretch>
                <a:fillRect l="0" t="-12990" r="0" b="-12990"/>
              </a:stretch>
            </a:blipFill>
          </p:spPr>
        </p:sp>
        <p:sp>
          <p:nvSpPr>
            <p:cNvPr name="TextBox 52" id="52"/>
            <p:cNvSpPr txBox="true"/>
            <p:nvPr/>
          </p:nvSpPr>
          <p:spPr>
            <a:xfrm>
              <a:off x="0" y="-38100"/>
              <a:ext cx="6858000" cy="2159508"/>
            </a:xfrm>
            <a:prstGeom prst="rect">
              <a:avLst/>
            </a:prstGeom>
          </p:spPr>
          <p:txBody>
            <a:bodyPr anchor="ctr" rtlCol="false" tIns="0" lIns="0" bIns="0" rIns="0"/>
            <a:lstStyle/>
            <a:p>
              <a:pPr algn="ctr">
                <a:lnSpc>
                  <a:spcPts val="2250"/>
                </a:lnSpc>
              </a:pPr>
              <a:r>
                <a:rPr lang="en-US" sz="1875">
                  <a:solidFill>
                    <a:srgbClr val="6B7280"/>
                  </a:solidFill>
                  <a:latin typeface="Calibri (MS)"/>
                  <a:ea typeface="Calibri (MS)"/>
                  <a:cs typeface="Calibri (MS)"/>
                  <a:sym typeface="Calibri (MS)"/>
                </a:rPr>
                <a:t>Critical Infra. Protection</a:t>
              </a:r>
            </a:p>
          </p:txBody>
        </p:sp>
      </p:grpSp>
      <p:grpSp>
        <p:nvGrpSpPr>
          <p:cNvPr name="Group 53" id="53"/>
          <p:cNvGrpSpPr/>
          <p:nvPr/>
        </p:nvGrpSpPr>
        <p:grpSpPr>
          <a:xfrm rot="0">
            <a:off x="12124944" y="6446520"/>
            <a:ext cx="5143500" cy="329184"/>
            <a:chOff x="0" y="0"/>
            <a:chExt cx="6858000" cy="438912"/>
          </a:xfrm>
        </p:grpSpPr>
        <p:sp>
          <p:nvSpPr>
            <p:cNvPr name="Freeform 54" id="54"/>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55" id="55"/>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9AA3B8"/>
                  </a:solidFill>
                  <a:latin typeface="Arimo"/>
                  <a:ea typeface="Arimo"/>
                  <a:cs typeface="Arimo"/>
                  <a:sym typeface="Arimo"/>
                </a:rPr>
                <a:t>CII</a:t>
              </a:r>
            </a:p>
          </p:txBody>
        </p:sp>
      </p:grpSp>
      <p:grpSp>
        <p:nvGrpSpPr>
          <p:cNvPr name="Group 56" id="56"/>
          <p:cNvGrpSpPr/>
          <p:nvPr/>
        </p:nvGrpSpPr>
        <p:grpSpPr>
          <a:xfrm rot="0">
            <a:off x="950595" y="7328535"/>
            <a:ext cx="16341090" cy="1596390"/>
            <a:chOff x="0" y="0"/>
            <a:chExt cx="21788120" cy="2128520"/>
          </a:xfrm>
        </p:grpSpPr>
        <p:sp>
          <p:nvSpPr>
            <p:cNvPr name="Freeform 57" id="57"/>
            <p:cNvSpPr/>
            <p:nvPr/>
          </p:nvSpPr>
          <p:spPr>
            <a:xfrm flipH="false" flipV="false" rot="0">
              <a:off x="0" y="0"/>
              <a:ext cx="21788120" cy="2128520"/>
            </a:xfrm>
            <a:custGeom>
              <a:avLst/>
              <a:gdLst/>
              <a:ahLst/>
              <a:cxnLst/>
              <a:rect r="r" b="b" t="t" l="l"/>
              <a:pathLst>
                <a:path h="2128520" w="21788120">
                  <a:moveTo>
                    <a:pt x="0" y="185039"/>
                  </a:moveTo>
                  <a:cubicBezTo>
                    <a:pt x="0" y="82931"/>
                    <a:pt x="82931" y="0"/>
                    <a:pt x="185039" y="0"/>
                  </a:cubicBezTo>
                  <a:lnTo>
                    <a:pt x="21603081" y="0"/>
                  </a:lnTo>
                  <a:cubicBezTo>
                    <a:pt x="21705317" y="0"/>
                    <a:pt x="21788120" y="82931"/>
                    <a:pt x="21788120" y="185039"/>
                  </a:cubicBezTo>
                  <a:lnTo>
                    <a:pt x="21788120" y="1943481"/>
                  </a:lnTo>
                  <a:cubicBezTo>
                    <a:pt x="21788120" y="2045716"/>
                    <a:pt x="21705190" y="2128520"/>
                    <a:pt x="21603081" y="2128520"/>
                  </a:cubicBezTo>
                  <a:lnTo>
                    <a:pt x="185039" y="2128520"/>
                  </a:lnTo>
                  <a:cubicBezTo>
                    <a:pt x="82931" y="2128520"/>
                    <a:pt x="0" y="2045589"/>
                    <a:pt x="0" y="1943481"/>
                  </a:cubicBezTo>
                  <a:close/>
                </a:path>
              </a:pathLst>
            </a:custGeom>
            <a:solidFill>
              <a:srgbClr val="FBF9F4"/>
            </a:solidFill>
            <a:ln w="19050" cap="sq">
              <a:solidFill>
                <a:srgbClr val="EFE6D2"/>
              </a:solidFill>
              <a:prstDash val="solid"/>
              <a:miter/>
            </a:ln>
          </p:spPr>
        </p:sp>
      </p:grpSp>
      <p:sp>
        <p:nvSpPr>
          <p:cNvPr name="TextBox 58" id="58"/>
          <p:cNvSpPr txBox="true"/>
          <p:nvPr/>
        </p:nvSpPr>
        <p:spPr>
          <a:xfrm rot="0">
            <a:off x="1463040" y="7494270"/>
            <a:ext cx="15316200" cy="1238250"/>
          </a:xfrm>
          <a:prstGeom prst="rect">
            <a:avLst/>
          </a:prstGeom>
        </p:spPr>
        <p:txBody>
          <a:bodyPr anchor="t" rtlCol="false" tIns="0" lIns="0" bIns="0" rIns="0">
            <a:spAutoFit/>
          </a:bodyPr>
          <a:lstStyle/>
          <a:p>
            <a:pPr algn="l">
              <a:lnSpc>
                <a:spcPts val="2764"/>
              </a:lnSpc>
            </a:pPr>
            <a:r>
              <a:rPr lang="en-US" sz="1800">
                <a:solidFill>
                  <a:srgbClr val="23262F"/>
                </a:solidFill>
                <a:latin typeface="Calibri (MS)"/>
                <a:ea typeface="Calibri (MS)"/>
                <a:cs typeface="Calibri (MS)"/>
                <a:sym typeface="Calibri (MS)"/>
              </a:rPr>
              <a:t>Defamation committed through a computer system is cyber libel under RA 10175 — it carries a heavier penalty than ordinary libel under the Revised Penal Code specifically because it happened online.</a:t>
            </a:r>
          </a:p>
        </p:txBody>
      </p:sp>
      <p:grpSp>
        <p:nvGrpSpPr>
          <p:cNvPr name="Group 59" id="59"/>
          <p:cNvGrpSpPr/>
          <p:nvPr/>
        </p:nvGrpSpPr>
        <p:grpSpPr>
          <a:xfrm rot="0">
            <a:off x="685800" y="9710928"/>
            <a:ext cx="10972800" cy="411480"/>
            <a:chOff x="0" y="0"/>
            <a:chExt cx="14630400" cy="548640"/>
          </a:xfrm>
        </p:grpSpPr>
        <p:sp>
          <p:nvSpPr>
            <p:cNvPr name="Freeform 60" id="60"/>
            <p:cNvSpPr/>
            <p:nvPr/>
          </p:nvSpPr>
          <p:spPr>
            <a:xfrm flipH="false" flipV="false" rot="0">
              <a:off x="0" y="0"/>
              <a:ext cx="14630400" cy="548640"/>
            </a:xfrm>
            <a:custGeom>
              <a:avLst/>
              <a:gdLst/>
              <a:ahLst/>
              <a:cxnLst/>
              <a:rect r="r" b="b" t="t" l="l"/>
              <a:pathLst>
                <a:path h="548640" w="14630400">
                  <a:moveTo>
                    <a:pt x="0" y="0"/>
                  </a:moveTo>
                  <a:lnTo>
                    <a:pt x="14630400" y="0"/>
                  </a:lnTo>
                  <a:lnTo>
                    <a:pt x="14630400" y="548640"/>
                  </a:lnTo>
                  <a:lnTo>
                    <a:pt x="0" y="548640"/>
                  </a:lnTo>
                  <a:close/>
                </a:path>
              </a:pathLst>
            </a:custGeom>
            <a:blipFill>
              <a:blip r:embed="rId2">
                <a:alphaModFix amt="0"/>
              </a:blip>
              <a:stretch>
                <a:fillRect l="0" t="-469601" r="0" b="-469601"/>
              </a:stretch>
            </a:blipFill>
          </p:spPr>
        </p:sp>
        <p:sp>
          <p:nvSpPr>
            <p:cNvPr name="TextBox 61" id="61"/>
            <p:cNvSpPr txBox="true"/>
            <p:nvPr/>
          </p:nvSpPr>
          <p:spPr>
            <a:xfrm>
              <a:off x="0" y="-38100"/>
              <a:ext cx="14630400" cy="586740"/>
            </a:xfrm>
            <a:prstGeom prst="rect">
              <a:avLst/>
            </a:prstGeom>
          </p:spPr>
          <p:txBody>
            <a:bodyPr anchor="ctr" rtlCol="false" tIns="0" lIns="0" bIns="0" rIns="0"/>
            <a:lstStyle/>
            <a:p>
              <a:pPr algn="l">
                <a:lnSpc>
                  <a:spcPts val="1800"/>
                </a:lnSpc>
              </a:pPr>
              <a:r>
                <a:rPr lang="en-US" sz="1500">
                  <a:solidFill>
                    <a:srgbClr val="6B7280"/>
                  </a:solidFill>
                  <a:latin typeface="Calibri (MS)"/>
                  <a:ea typeface="Calibri (MS)"/>
                  <a:cs typeface="Calibri (MS)"/>
                  <a:sym typeface="Calibri (MS)"/>
                </a:rPr>
                <a:t>Davao del Norte Provincial Government — Cybersecurity Seminar</a:t>
              </a:r>
            </a:p>
          </p:txBody>
        </p:sp>
      </p:grpSp>
      <p:grpSp>
        <p:nvGrpSpPr>
          <p:cNvPr name="Group 62" id="62"/>
          <p:cNvGrpSpPr/>
          <p:nvPr/>
        </p:nvGrpSpPr>
        <p:grpSpPr>
          <a:xfrm rot="0">
            <a:off x="16911828" y="9710928"/>
            <a:ext cx="685800" cy="411480"/>
            <a:chOff x="0" y="0"/>
            <a:chExt cx="914400" cy="548640"/>
          </a:xfrm>
        </p:grpSpPr>
        <p:sp>
          <p:nvSpPr>
            <p:cNvPr name="Freeform 63" id="63"/>
            <p:cNvSpPr/>
            <p:nvPr/>
          </p:nvSpPr>
          <p:spPr>
            <a:xfrm flipH="false" flipV="false" rot="0">
              <a:off x="0" y="0"/>
              <a:ext cx="914400" cy="548640"/>
            </a:xfrm>
            <a:custGeom>
              <a:avLst/>
              <a:gdLst/>
              <a:ahLst/>
              <a:cxnLst/>
              <a:rect r="r" b="b" t="t" l="l"/>
              <a:pathLst>
                <a:path h="548640" w="914400">
                  <a:moveTo>
                    <a:pt x="0" y="0"/>
                  </a:moveTo>
                  <a:lnTo>
                    <a:pt x="914400" y="0"/>
                  </a:lnTo>
                  <a:lnTo>
                    <a:pt x="914400" y="548640"/>
                  </a:lnTo>
                  <a:lnTo>
                    <a:pt x="0" y="548640"/>
                  </a:lnTo>
                  <a:close/>
                </a:path>
              </a:pathLst>
            </a:custGeom>
            <a:blipFill>
              <a:blip r:embed="rId2">
                <a:alphaModFix amt="0"/>
              </a:blip>
              <a:stretch>
                <a:fillRect l="-26982" t="0" r="-26982" b="0"/>
              </a:stretch>
            </a:blipFill>
          </p:spPr>
        </p:sp>
        <p:sp>
          <p:nvSpPr>
            <p:cNvPr name="TextBox 64" id="64"/>
            <p:cNvSpPr txBox="true"/>
            <p:nvPr/>
          </p:nvSpPr>
          <p:spPr>
            <a:xfrm>
              <a:off x="0" y="-38100"/>
              <a:ext cx="914400" cy="586740"/>
            </a:xfrm>
            <a:prstGeom prst="rect">
              <a:avLst/>
            </a:prstGeom>
          </p:spPr>
          <p:txBody>
            <a:bodyPr anchor="ctr" rtlCol="false" tIns="0" lIns="0" bIns="0" rIns="0"/>
            <a:lstStyle/>
            <a:p>
              <a:pPr algn="r">
                <a:lnSpc>
                  <a:spcPts val="1800"/>
                </a:lnSpc>
              </a:pPr>
              <a:r>
                <a:rPr lang="en-US" sz="1500">
                  <a:solidFill>
                    <a:srgbClr val="6B7280"/>
                  </a:solidFill>
                  <a:latin typeface="Calibri (MS)"/>
                  <a:ea typeface="Calibri (MS)"/>
                  <a:cs typeface="Calibri (MS)"/>
                  <a:sym typeface="Calibri (MS)"/>
                </a:rPr>
                <a:t>22</a:t>
              </a:r>
            </a:p>
          </p:txBody>
        </p:sp>
      </p:grpSp>
    </p:spTree>
  </p:cSld>
  <p:clrMapOvr>
    <a:masterClrMapping/>
  </p:clrMapOvr>
</p:sld>
</file>

<file path=ppt/slides/slide13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60120" y="685800"/>
            <a:ext cx="13716000" cy="411480"/>
            <a:chOff x="0" y="0"/>
            <a:chExt cx="18288000" cy="548640"/>
          </a:xfrm>
        </p:grpSpPr>
        <p:sp>
          <p:nvSpPr>
            <p:cNvPr name="Freeform 3" id="3"/>
            <p:cNvSpPr/>
            <p:nvPr/>
          </p:nvSpPr>
          <p:spPr>
            <a:xfrm flipH="false" flipV="false" rot="0">
              <a:off x="0" y="0"/>
              <a:ext cx="18288000" cy="548640"/>
            </a:xfrm>
            <a:custGeom>
              <a:avLst/>
              <a:gdLst/>
              <a:ahLst/>
              <a:cxnLst/>
              <a:rect r="r" b="b" t="t" l="l"/>
              <a:pathLst>
                <a:path h="548640" w="18288000">
                  <a:moveTo>
                    <a:pt x="0" y="0"/>
                  </a:moveTo>
                  <a:lnTo>
                    <a:pt x="18288000" y="0"/>
                  </a:lnTo>
                  <a:lnTo>
                    <a:pt x="18288000" y="548640"/>
                  </a:lnTo>
                  <a:lnTo>
                    <a:pt x="0" y="548640"/>
                  </a:lnTo>
                  <a:close/>
                </a:path>
              </a:pathLst>
            </a:custGeom>
            <a:blipFill>
              <a:blip r:embed="rId2">
                <a:alphaModFix amt="0"/>
              </a:blip>
              <a:stretch>
                <a:fillRect l="0" t="-599501" r="0" b="-599501"/>
              </a:stretch>
            </a:blipFill>
          </p:spPr>
        </p:sp>
        <p:sp>
          <p:nvSpPr>
            <p:cNvPr name="TextBox 4" id="4"/>
            <p:cNvSpPr txBox="true"/>
            <p:nvPr/>
          </p:nvSpPr>
          <p:spPr>
            <a:xfrm>
              <a:off x="0" y="-38100"/>
              <a:ext cx="18288000" cy="586740"/>
            </a:xfrm>
            <a:prstGeom prst="rect">
              <a:avLst/>
            </a:prstGeom>
          </p:spPr>
          <p:txBody>
            <a:bodyPr anchor="ctr" rtlCol="false" tIns="0" lIns="0" bIns="0" rIns="0"/>
            <a:lstStyle/>
            <a:p>
              <a:pPr algn="l">
                <a:lnSpc>
                  <a:spcPts val="2160"/>
                </a:lnSpc>
              </a:pPr>
              <a:r>
                <a:rPr lang="en-US" b="true" sz="1800" spc="225">
                  <a:solidFill>
                    <a:srgbClr val="00B4D8"/>
                  </a:solidFill>
                  <a:latin typeface="Calibri (MS) Bold"/>
                  <a:ea typeface="Calibri (MS) Bold"/>
                  <a:cs typeface="Calibri (MS) Bold"/>
                  <a:sym typeface="Calibri (MS) Bold"/>
                </a:rPr>
                <a:t>PH CYBER LAW SORT · SCENARIO</a:t>
              </a:r>
            </a:p>
          </p:txBody>
        </p:sp>
      </p:grpSp>
      <p:grpSp>
        <p:nvGrpSpPr>
          <p:cNvPr name="Group 5" id="5"/>
          <p:cNvGrpSpPr/>
          <p:nvPr/>
        </p:nvGrpSpPr>
        <p:grpSpPr>
          <a:xfrm rot="0">
            <a:off x="960120" y="1069848"/>
            <a:ext cx="10972800" cy="822960"/>
            <a:chOff x="0" y="0"/>
            <a:chExt cx="14630400" cy="1097280"/>
          </a:xfrm>
        </p:grpSpPr>
        <p:sp>
          <p:nvSpPr>
            <p:cNvPr name="Freeform 6" id="6"/>
            <p:cNvSpPr/>
            <p:nvPr/>
          </p:nvSpPr>
          <p:spPr>
            <a:xfrm flipH="false" flipV="false" rot="0">
              <a:off x="0" y="0"/>
              <a:ext cx="14630400" cy="1097280"/>
            </a:xfrm>
            <a:custGeom>
              <a:avLst/>
              <a:gdLst/>
              <a:ahLst/>
              <a:cxnLst/>
              <a:rect r="r" b="b" t="t" l="l"/>
              <a:pathLst>
                <a:path h="1097280" w="14630400">
                  <a:moveTo>
                    <a:pt x="0" y="0"/>
                  </a:moveTo>
                  <a:lnTo>
                    <a:pt x="14630400" y="0"/>
                  </a:lnTo>
                  <a:lnTo>
                    <a:pt x="14630400" y="1097280"/>
                  </a:lnTo>
                  <a:lnTo>
                    <a:pt x="0" y="1097280"/>
                  </a:lnTo>
                  <a:close/>
                </a:path>
              </a:pathLst>
            </a:custGeom>
            <a:blipFill>
              <a:blip r:embed="rId2">
                <a:alphaModFix amt="0"/>
              </a:blip>
              <a:stretch>
                <a:fillRect l="0" t="-209800" r="0" b="-209800"/>
              </a:stretch>
            </a:blipFill>
          </p:spPr>
        </p:sp>
        <p:sp>
          <p:nvSpPr>
            <p:cNvPr name="TextBox 7" id="7"/>
            <p:cNvSpPr txBox="true"/>
            <p:nvPr/>
          </p:nvSpPr>
          <p:spPr>
            <a:xfrm>
              <a:off x="0" y="0"/>
              <a:ext cx="14630400" cy="1097280"/>
            </a:xfrm>
            <a:prstGeom prst="rect">
              <a:avLst/>
            </a:prstGeom>
          </p:spPr>
          <p:txBody>
            <a:bodyPr anchor="ctr" rtlCol="false" tIns="0" lIns="0" bIns="0" rIns="0"/>
            <a:lstStyle/>
            <a:p>
              <a:pPr algn="l">
                <a:lnSpc>
                  <a:spcPts val="4680"/>
                </a:lnSpc>
              </a:pPr>
              <a:r>
                <a:rPr lang="en-US" sz="3900" b="true">
                  <a:solidFill>
                    <a:srgbClr val="1E2761"/>
                  </a:solidFill>
                  <a:latin typeface="Cambria Bold"/>
                  <a:ea typeface="Cambria Bold"/>
                  <a:cs typeface="Cambria Bold"/>
                  <a:sym typeface="Cambria Bold"/>
                </a:rPr>
                <a:t>Scenario 7</a:t>
              </a:r>
            </a:p>
          </p:txBody>
        </p:sp>
      </p:grpSp>
      <p:grpSp>
        <p:nvGrpSpPr>
          <p:cNvPr name="Group 8" id="8"/>
          <p:cNvGrpSpPr/>
          <p:nvPr/>
        </p:nvGrpSpPr>
        <p:grpSpPr>
          <a:xfrm rot="0">
            <a:off x="960120" y="1810512"/>
            <a:ext cx="8229600" cy="411480"/>
            <a:chOff x="0" y="0"/>
            <a:chExt cx="10972800" cy="548640"/>
          </a:xfrm>
        </p:grpSpPr>
        <p:sp>
          <p:nvSpPr>
            <p:cNvPr name="Freeform 9" id="9"/>
            <p:cNvSpPr/>
            <p:nvPr/>
          </p:nvSpPr>
          <p:spPr>
            <a:xfrm flipH="false" flipV="false" rot="0">
              <a:off x="0" y="0"/>
              <a:ext cx="10972800" cy="548640"/>
            </a:xfrm>
            <a:custGeom>
              <a:avLst/>
              <a:gdLst/>
              <a:ahLst/>
              <a:cxnLst/>
              <a:rect r="r" b="b" t="t" l="l"/>
              <a:pathLst>
                <a:path h="548640" w="10972800">
                  <a:moveTo>
                    <a:pt x="0" y="0"/>
                  </a:moveTo>
                  <a:lnTo>
                    <a:pt x="10972800" y="0"/>
                  </a:lnTo>
                  <a:lnTo>
                    <a:pt x="10972800" y="548640"/>
                  </a:lnTo>
                  <a:lnTo>
                    <a:pt x="0" y="548640"/>
                  </a:lnTo>
                  <a:close/>
                </a:path>
              </a:pathLst>
            </a:custGeom>
            <a:blipFill>
              <a:blip r:embed="rId2">
                <a:alphaModFix amt="0"/>
              </a:blip>
              <a:stretch>
                <a:fillRect l="0" t="-339700" r="0" b="-339700"/>
              </a:stretch>
            </a:blipFill>
          </p:spPr>
        </p:sp>
        <p:sp>
          <p:nvSpPr>
            <p:cNvPr name="TextBox 10" id="10"/>
            <p:cNvSpPr txBox="true"/>
            <p:nvPr/>
          </p:nvSpPr>
          <p:spPr>
            <a:xfrm>
              <a:off x="0" y="-28575"/>
              <a:ext cx="10972800" cy="577215"/>
            </a:xfrm>
            <a:prstGeom prst="rect">
              <a:avLst/>
            </a:prstGeom>
          </p:spPr>
          <p:txBody>
            <a:bodyPr anchor="ctr" rtlCol="false" tIns="0" lIns="0" bIns="0" rIns="0"/>
            <a:lstStyle/>
            <a:p>
              <a:pPr algn="l">
                <a:lnSpc>
                  <a:spcPts val="1980"/>
                </a:lnSpc>
              </a:pPr>
              <a:r>
                <a:rPr lang="en-US" sz="1650">
                  <a:solidFill>
                    <a:srgbClr val="6B7280"/>
                  </a:solidFill>
                  <a:latin typeface="Calibri (MS)"/>
                  <a:ea typeface="Calibri (MS)"/>
                  <a:cs typeface="Calibri (MS)"/>
                  <a:sym typeface="Calibri (MS)"/>
                </a:rPr>
                <a:t>7 of 15</a:t>
              </a:r>
            </a:p>
          </p:txBody>
        </p:sp>
      </p:grpSp>
      <p:grpSp>
        <p:nvGrpSpPr>
          <p:cNvPr name="Group 11" id="11"/>
          <p:cNvGrpSpPr/>
          <p:nvPr/>
        </p:nvGrpSpPr>
        <p:grpSpPr>
          <a:xfrm rot="0">
            <a:off x="960120" y="2537460"/>
            <a:ext cx="16322040" cy="2811780"/>
            <a:chOff x="0" y="0"/>
            <a:chExt cx="21762720" cy="3749040"/>
          </a:xfrm>
        </p:grpSpPr>
        <p:sp>
          <p:nvSpPr>
            <p:cNvPr name="Freeform 12" id="12"/>
            <p:cNvSpPr/>
            <p:nvPr/>
          </p:nvSpPr>
          <p:spPr>
            <a:xfrm flipH="false" flipV="false" rot="0">
              <a:off x="0" y="0"/>
              <a:ext cx="21762720" cy="3749040"/>
            </a:xfrm>
            <a:custGeom>
              <a:avLst/>
              <a:gdLst/>
              <a:ahLst/>
              <a:cxnLst/>
              <a:rect r="r" b="b" t="t" l="l"/>
              <a:pathLst>
                <a:path h="3749040" w="21762720">
                  <a:moveTo>
                    <a:pt x="0" y="182880"/>
                  </a:moveTo>
                  <a:cubicBezTo>
                    <a:pt x="0" y="81915"/>
                    <a:pt x="81915" y="0"/>
                    <a:pt x="182880" y="0"/>
                  </a:cubicBezTo>
                  <a:lnTo>
                    <a:pt x="21579839" y="0"/>
                  </a:lnTo>
                  <a:cubicBezTo>
                    <a:pt x="21680804" y="0"/>
                    <a:pt x="21762720" y="81915"/>
                    <a:pt x="21762720" y="182880"/>
                  </a:cubicBezTo>
                  <a:lnTo>
                    <a:pt x="21762720" y="3566160"/>
                  </a:lnTo>
                  <a:cubicBezTo>
                    <a:pt x="21762720" y="3667125"/>
                    <a:pt x="21680804" y="3749040"/>
                    <a:pt x="21579839" y="3749040"/>
                  </a:cubicBezTo>
                  <a:lnTo>
                    <a:pt x="182880" y="3749040"/>
                  </a:lnTo>
                  <a:cubicBezTo>
                    <a:pt x="81915" y="3749040"/>
                    <a:pt x="0" y="3667125"/>
                    <a:pt x="0" y="3566160"/>
                  </a:cubicBezTo>
                  <a:close/>
                </a:path>
              </a:pathLst>
            </a:custGeom>
            <a:solidFill>
              <a:srgbClr val="F4F7FC"/>
            </a:solidFill>
          </p:spPr>
        </p:sp>
      </p:grpSp>
      <p:grpSp>
        <p:nvGrpSpPr>
          <p:cNvPr name="Group 13" id="13"/>
          <p:cNvGrpSpPr/>
          <p:nvPr/>
        </p:nvGrpSpPr>
        <p:grpSpPr>
          <a:xfrm rot="0">
            <a:off x="1440180" y="2811780"/>
            <a:ext cx="15361920" cy="2263140"/>
            <a:chOff x="0" y="0"/>
            <a:chExt cx="20482560" cy="3017520"/>
          </a:xfrm>
        </p:grpSpPr>
        <p:sp>
          <p:nvSpPr>
            <p:cNvPr name="Freeform 14" id="14"/>
            <p:cNvSpPr/>
            <p:nvPr/>
          </p:nvSpPr>
          <p:spPr>
            <a:xfrm flipH="false" flipV="false" rot="0">
              <a:off x="0" y="0"/>
              <a:ext cx="20482561" cy="3017520"/>
            </a:xfrm>
            <a:custGeom>
              <a:avLst/>
              <a:gdLst/>
              <a:ahLst/>
              <a:cxnLst/>
              <a:rect r="r" b="b" t="t" l="l"/>
              <a:pathLst>
                <a:path h="3017520" w="20482561">
                  <a:moveTo>
                    <a:pt x="0" y="0"/>
                  </a:moveTo>
                  <a:lnTo>
                    <a:pt x="20482561" y="0"/>
                  </a:lnTo>
                  <a:lnTo>
                    <a:pt x="20482561" y="3017520"/>
                  </a:lnTo>
                  <a:lnTo>
                    <a:pt x="0" y="3017520"/>
                  </a:lnTo>
                  <a:close/>
                </a:path>
              </a:pathLst>
            </a:custGeom>
            <a:blipFill>
              <a:blip r:embed="rId2">
                <a:alphaModFix amt="0"/>
              </a:blip>
              <a:stretch>
                <a:fillRect l="0" t="-82262" r="0" b="-82262"/>
              </a:stretch>
            </a:blipFill>
          </p:spPr>
        </p:sp>
        <p:sp>
          <p:nvSpPr>
            <p:cNvPr name="TextBox 15" id="15"/>
            <p:cNvSpPr txBox="true"/>
            <p:nvPr/>
          </p:nvSpPr>
          <p:spPr>
            <a:xfrm>
              <a:off x="0" y="-104775"/>
              <a:ext cx="20482560" cy="3122295"/>
            </a:xfrm>
            <a:prstGeom prst="rect">
              <a:avLst/>
            </a:prstGeom>
          </p:spPr>
          <p:txBody>
            <a:bodyPr anchor="ctr" rtlCol="false" tIns="0" lIns="0" bIns="0" rIns="0"/>
            <a:lstStyle/>
            <a:p>
              <a:pPr algn="l">
                <a:lnSpc>
                  <a:spcPts val="4147"/>
                </a:lnSpc>
              </a:pPr>
              <a:r>
                <a:rPr lang="en-US" sz="2700" i="true">
                  <a:solidFill>
                    <a:srgbClr val="23262F"/>
                  </a:solidFill>
                  <a:latin typeface="Cambria Italics"/>
                  <a:ea typeface="Cambria Italics"/>
                  <a:cs typeface="Cambria Italics"/>
                  <a:sym typeface="Cambria Italics"/>
                </a:rPr>
                <a:t>"A phishing email tricks an employee into wiring provincial funds to a fraudulent bank account."</a:t>
              </a:r>
            </a:p>
          </p:txBody>
        </p:sp>
      </p:grpSp>
      <p:sp>
        <p:nvSpPr>
          <p:cNvPr name="TextBox 16" id="16"/>
          <p:cNvSpPr txBox="true"/>
          <p:nvPr/>
        </p:nvSpPr>
        <p:spPr>
          <a:xfrm rot="0">
            <a:off x="1051560" y="5604510"/>
            <a:ext cx="16139160" cy="864870"/>
          </a:xfrm>
          <a:prstGeom prst="rect">
            <a:avLst/>
          </a:prstGeom>
        </p:spPr>
        <p:txBody>
          <a:bodyPr anchor="t" rtlCol="false" tIns="0" lIns="0" bIns="0" rIns="0">
            <a:spAutoFit/>
          </a:bodyPr>
          <a:lstStyle/>
          <a:p>
            <a:pPr algn="ctr">
              <a:lnSpc>
                <a:spcPts val="3402"/>
              </a:lnSpc>
            </a:pPr>
            <a:r>
              <a:rPr lang="en-US" sz="2100" i="true">
                <a:solidFill>
                  <a:srgbClr val="6B7280"/>
                </a:solidFill>
                <a:latin typeface="Calibri (MS) Italics"/>
                <a:ea typeface="Calibri (MS) Italics"/>
                <a:cs typeface="Calibri (MS) Italics"/>
                <a:sym typeface="Calibri (MS) Italics"/>
              </a:rPr>
              <a:t>Which law or DICT issuance governs this? Discuss, then we'll reveal the answer.</a:t>
            </a:r>
          </a:p>
        </p:txBody>
      </p:sp>
      <p:grpSp>
        <p:nvGrpSpPr>
          <p:cNvPr name="Group 17" id="17"/>
          <p:cNvGrpSpPr/>
          <p:nvPr/>
        </p:nvGrpSpPr>
        <p:grpSpPr>
          <a:xfrm rot="0">
            <a:off x="950595" y="6779895"/>
            <a:ext cx="5162550" cy="910590"/>
            <a:chOff x="0" y="0"/>
            <a:chExt cx="6883400" cy="1214120"/>
          </a:xfrm>
        </p:grpSpPr>
        <p:sp>
          <p:nvSpPr>
            <p:cNvPr name="Freeform 18" id="18"/>
            <p:cNvSpPr/>
            <p:nvPr/>
          </p:nvSpPr>
          <p:spPr>
            <a:xfrm flipH="false" flipV="false" rot="0">
              <a:off x="0" y="0"/>
              <a:ext cx="6883400" cy="1214120"/>
            </a:xfrm>
            <a:custGeom>
              <a:avLst/>
              <a:gdLst/>
              <a:ahLst/>
              <a:cxnLst/>
              <a:rect r="r" b="b" t="t" l="l"/>
              <a:pathLst>
                <a:path h="1214120" w="6883400">
                  <a:moveTo>
                    <a:pt x="0" y="168148"/>
                  </a:moveTo>
                  <a:cubicBezTo>
                    <a:pt x="0" y="75311"/>
                    <a:pt x="75311" y="0"/>
                    <a:pt x="168148" y="0"/>
                  </a:cubicBezTo>
                  <a:lnTo>
                    <a:pt x="6715252" y="0"/>
                  </a:lnTo>
                  <a:cubicBezTo>
                    <a:pt x="6808089" y="0"/>
                    <a:pt x="6883400" y="75311"/>
                    <a:pt x="6883400" y="168148"/>
                  </a:cubicBezTo>
                  <a:lnTo>
                    <a:pt x="6883400" y="1045972"/>
                  </a:lnTo>
                  <a:cubicBezTo>
                    <a:pt x="6883400" y="1138809"/>
                    <a:pt x="6808089" y="1214120"/>
                    <a:pt x="6715252" y="1214120"/>
                  </a:cubicBezTo>
                  <a:lnTo>
                    <a:pt x="168148" y="1214120"/>
                  </a:lnTo>
                  <a:cubicBezTo>
                    <a:pt x="75311" y="1214120"/>
                    <a:pt x="0" y="1138809"/>
                    <a:pt x="0" y="1045972"/>
                  </a:cubicBezTo>
                  <a:close/>
                </a:path>
              </a:pathLst>
            </a:custGeom>
            <a:solidFill>
              <a:srgbClr val="F4F7FC"/>
            </a:solidFill>
            <a:ln w="19050" cap="sq">
              <a:solidFill>
                <a:srgbClr val="D7DCEC"/>
              </a:solidFill>
              <a:prstDash val="solid"/>
              <a:miter/>
            </a:ln>
          </p:spPr>
        </p:sp>
      </p:grpSp>
      <p:grpSp>
        <p:nvGrpSpPr>
          <p:cNvPr name="Group 19" id="19"/>
          <p:cNvGrpSpPr/>
          <p:nvPr/>
        </p:nvGrpSpPr>
        <p:grpSpPr>
          <a:xfrm rot="0">
            <a:off x="960120" y="6858000"/>
            <a:ext cx="5143500" cy="589788"/>
            <a:chOff x="0" y="0"/>
            <a:chExt cx="6858000" cy="786384"/>
          </a:xfrm>
        </p:grpSpPr>
        <p:sp>
          <p:nvSpPr>
            <p:cNvPr name="Freeform 20" id="20"/>
            <p:cNvSpPr/>
            <p:nvPr/>
          </p:nvSpPr>
          <p:spPr>
            <a:xfrm flipH="false" flipV="false" rot="0">
              <a:off x="0" y="0"/>
              <a:ext cx="6858000" cy="786384"/>
            </a:xfrm>
            <a:custGeom>
              <a:avLst/>
              <a:gdLst/>
              <a:ahLst/>
              <a:cxnLst/>
              <a:rect r="r" b="b" t="t" l="l"/>
              <a:pathLst>
                <a:path h="786384" w="6858000">
                  <a:moveTo>
                    <a:pt x="0" y="0"/>
                  </a:moveTo>
                  <a:lnTo>
                    <a:pt x="6858000" y="0"/>
                  </a:lnTo>
                  <a:lnTo>
                    <a:pt x="6858000" y="786384"/>
                  </a:lnTo>
                  <a:lnTo>
                    <a:pt x="0" y="786384"/>
                  </a:lnTo>
                  <a:close/>
                </a:path>
              </a:pathLst>
            </a:custGeom>
            <a:blipFill>
              <a:blip r:embed="rId2">
                <a:alphaModFix amt="0"/>
              </a:blip>
              <a:stretch>
                <a:fillRect l="0" t="-119927" r="0" b="-119927"/>
              </a:stretch>
            </a:blipFill>
          </p:spPr>
        </p:sp>
        <p:sp>
          <p:nvSpPr>
            <p:cNvPr name="TextBox 21" id="21"/>
            <p:cNvSpPr txBox="true"/>
            <p:nvPr/>
          </p:nvSpPr>
          <p:spPr>
            <a:xfrm>
              <a:off x="0" y="-38100"/>
              <a:ext cx="6858000" cy="824484"/>
            </a:xfrm>
            <a:prstGeom prst="rect">
              <a:avLst/>
            </a:prstGeom>
          </p:spPr>
          <p:txBody>
            <a:bodyPr anchor="ctr" rtlCol="false" tIns="0" lIns="0" bIns="0" rIns="0"/>
            <a:lstStyle/>
            <a:p>
              <a:pPr algn="ctr">
                <a:lnSpc>
                  <a:spcPts val="2250"/>
                </a:lnSpc>
              </a:pPr>
              <a:r>
                <a:rPr lang="en-US" sz="1875">
                  <a:solidFill>
                    <a:srgbClr val="6B7280"/>
                  </a:solidFill>
                  <a:latin typeface="Calibri (MS)"/>
                  <a:ea typeface="Calibri (MS)"/>
                  <a:cs typeface="Calibri (MS)"/>
                  <a:sym typeface="Calibri (MS)"/>
                </a:rPr>
                <a:t>E-Commerce Act</a:t>
              </a:r>
            </a:p>
          </p:txBody>
        </p:sp>
      </p:grpSp>
      <p:grpSp>
        <p:nvGrpSpPr>
          <p:cNvPr name="Group 22" id="22"/>
          <p:cNvGrpSpPr/>
          <p:nvPr/>
        </p:nvGrpSpPr>
        <p:grpSpPr>
          <a:xfrm rot="0">
            <a:off x="960120" y="7296912"/>
            <a:ext cx="5143500" cy="329184"/>
            <a:chOff x="0" y="0"/>
            <a:chExt cx="6858000" cy="438912"/>
          </a:xfrm>
        </p:grpSpPr>
        <p:sp>
          <p:nvSpPr>
            <p:cNvPr name="Freeform 23" id="23"/>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24" id="24"/>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9AA3B8"/>
                  </a:solidFill>
                  <a:latin typeface="Arimo"/>
                  <a:ea typeface="Arimo"/>
                  <a:cs typeface="Arimo"/>
                  <a:sym typeface="Arimo"/>
                </a:rPr>
                <a:t>ECA</a:t>
              </a:r>
            </a:p>
          </p:txBody>
        </p:sp>
      </p:grpSp>
      <p:grpSp>
        <p:nvGrpSpPr>
          <p:cNvPr name="Group 25" id="25"/>
          <p:cNvGrpSpPr/>
          <p:nvPr/>
        </p:nvGrpSpPr>
        <p:grpSpPr>
          <a:xfrm rot="0">
            <a:off x="6533007" y="6779895"/>
            <a:ext cx="5162550" cy="910590"/>
            <a:chOff x="0" y="0"/>
            <a:chExt cx="6883400" cy="1214120"/>
          </a:xfrm>
        </p:grpSpPr>
        <p:sp>
          <p:nvSpPr>
            <p:cNvPr name="Freeform 26" id="26"/>
            <p:cNvSpPr/>
            <p:nvPr/>
          </p:nvSpPr>
          <p:spPr>
            <a:xfrm flipH="false" flipV="false" rot="0">
              <a:off x="0" y="0"/>
              <a:ext cx="6883400" cy="1214120"/>
            </a:xfrm>
            <a:custGeom>
              <a:avLst/>
              <a:gdLst/>
              <a:ahLst/>
              <a:cxnLst/>
              <a:rect r="r" b="b" t="t" l="l"/>
              <a:pathLst>
                <a:path h="1214120" w="6883400">
                  <a:moveTo>
                    <a:pt x="0" y="168148"/>
                  </a:moveTo>
                  <a:cubicBezTo>
                    <a:pt x="0" y="75311"/>
                    <a:pt x="75311" y="0"/>
                    <a:pt x="168148" y="0"/>
                  </a:cubicBezTo>
                  <a:lnTo>
                    <a:pt x="6715252" y="0"/>
                  </a:lnTo>
                  <a:cubicBezTo>
                    <a:pt x="6808089" y="0"/>
                    <a:pt x="6883400" y="75311"/>
                    <a:pt x="6883400" y="168148"/>
                  </a:cubicBezTo>
                  <a:lnTo>
                    <a:pt x="6883400" y="1045972"/>
                  </a:lnTo>
                  <a:cubicBezTo>
                    <a:pt x="6883400" y="1138809"/>
                    <a:pt x="6808089" y="1214120"/>
                    <a:pt x="6715252" y="1214120"/>
                  </a:cubicBezTo>
                  <a:lnTo>
                    <a:pt x="168148" y="1214120"/>
                  </a:lnTo>
                  <a:cubicBezTo>
                    <a:pt x="75311" y="1214120"/>
                    <a:pt x="0" y="1138809"/>
                    <a:pt x="0" y="1045972"/>
                  </a:cubicBezTo>
                  <a:close/>
                </a:path>
              </a:pathLst>
            </a:custGeom>
            <a:solidFill>
              <a:srgbClr val="F4F7FC"/>
            </a:solidFill>
            <a:ln w="19050" cap="sq">
              <a:solidFill>
                <a:srgbClr val="D7DCEC"/>
              </a:solidFill>
              <a:prstDash val="solid"/>
              <a:miter/>
            </a:ln>
          </p:spPr>
        </p:sp>
      </p:grpSp>
      <p:grpSp>
        <p:nvGrpSpPr>
          <p:cNvPr name="Group 27" id="27"/>
          <p:cNvGrpSpPr/>
          <p:nvPr/>
        </p:nvGrpSpPr>
        <p:grpSpPr>
          <a:xfrm rot="0">
            <a:off x="6542532" y="6858000"/>
            <a:ext cx="5143500" cy="589788"/>
            <a:chOff x="0" y="0"/>
            <a:chExt cx="6858000" cy="786384"/>
          </a:xfrm>
        </p:grpSpPr>
        <p:sp>
          <p:nvSpPr>
            <p:cNvPr name="Freeform 28" id="28"/>
            <p:cNvSpPr/>
            <p:nvPr/>
          </p:nvSpPr>
          <p:spPr>
            <a:xfrm flipH="false" flipV="false" rot="0">
              <a:off x="0" y="0"/>
              <a:ext cx="6858000" cy="786384"/>
            </a:xfrm>
            <a:custGeom>
              <a:avLst/>
              <a:gdLst/>
              <a:ahLst/>
              <a:cxnLst/>
              <a:rect r="r" b="b" t="t" l="l"/>
              <a:pathLst>
                <a:path h="786384" w="6858000">
                  <a:moveTo>
                    <a:pt x="0" y="0"/>
                  </a:moveTo>
                  <a:lnTo>
                    <a:pt x="6858000" y="0"/>
                  </a:lnTo>
                  <a:lnTo>
                    <a:pt x="6858000" y="786384"/>
                  </a:lnTo>
                  <a:lnTo>
                    <a:pt x="0" y="786384"/>
                  </a:lnTo>
                  <a:close/>
                </a:path>
              </a:pathLst>
            </a:custGeom>
            <a:blipFill>
              <a:blip r:embed="rId2">
                <a:alphaModFix amt="0"/>
              </a:blip>
              <a:stretch>
                <a:fillRect l="0" t="-119927" r="0" b="-119927"/>
              </a:stretch>
            </a:blipFill>
          </p:spPr>
        </p:sp>
        <p:sp>
          <p:nvSpPr>
            <p:cNvPr name="TextBox 29" id="29"/>
            <p:cNvSpPr txBox="true"/>
            <p:nvPr/>
          </p:nvSpPr>
          <p:spPr>
            <a:xfrm>
              <a:off x="0" y="-38100"/>
              <a:ext cx="6858000" cy="824484"/>
            </a:xfrm>
            <a:prstGeom prst="rect">
              <a:avLst/>
            </a:prstGeom>
          </p:spPr>
          <p:txBody>
            <a:bodyPr anchor="ctr" rtlCol="false" tIns="0" lIns="0" bIns="0" rIns="0"/>
            <a:lstStyle/>
            <a:p>
              <a:pPr algn="ctr">
                <a:lnSpc>
                  <a:spcPts val="2250"/>
                </a:lnSpc>
              </a:pPr>
              <a:r>
                <a:rPr lang="en-US" sz="1875">
                  <a:solidFill>
                    <a:srgbClr val="6B7280"/>
                  </a:solidFill>
                  <a:latin typeface="Calibri (MS)"/>
                  <a:ea typeface="Calibri (MS)"/>
                  <a:cs typeface="Calibri (MS)"/>
                  <a:sym typeface="Calibri (MS)"/>
                </a:rPr>
                <a:t>Cybercrime Act</a:t>
              </a:r>
            </a:p>
          </p:txBody>
        </p:sp>
      </p:grpSp>
      <p:grpSp>
        <p:nvGrpSpPr>
          <p:cNvPr name="Group 30" id="30"/>
          <p:cNvGrpSpPr/>
          <p:nvPr/>
        </p:nvGrpSpPr>
        <p:grpSpPr>
          <a:xfrm rot="0">
            <a:off x="6542532" y="7296912"/>
            <a:ext cx="5143500" cy="329184"/>
            <a:chOff x="0" y="0"/>
            <a:chExt cx="6858000" cy="438912"/>
          </a:xfrm>
        </p:grpSpPr>
        <p:sp>
          <p:nvSpPr>
            <p:cNvPr name="Freeform 31" id="31"/>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32" id="32"/>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9AA3B8"/>
                  </a:solidFill>
                  <a:latin typeface="Arimo"/>
                  <a:ea typeface="Arimo"/>
                  <a:cs typeface="Arimo"/>
                  <a:sym typeface="Arimo"/>
                </a:rPr>
                <a:t>CPA</a:t>
              </a:r>
            </a:p>
          </p:txBody>
        </p:sp>
      </p:grpSp>
      <p:grpSp>
        <p:nvGrpSpPr>
          <p:cNvPr name="Group 33" id="33"/>
          <p:cNvGrpSpPr/>
          <p:nvPr/>
        </p:nvGrpSpPr>
        <p:grpSpPr>
          <a:xfrm rot="0">
            <a:off x="950595" y="7945755"/>
            <a:ext cx="5162550" cy="910590"/>
            <a:chOff x="0" y="0"/>
            <a:chExt cx="6883400" cy="1214120"/>
          </a:xfrm>
        </p:grpSpPr>
        <p:sp>
          <p:nvSpPr>
            <p:cNvPr name="Freeform 34" id="34"/>
            <p:cNvSpPr/>
            <p:nvPr/>
          </p:nvSpPr>
          <p:spPr>
            <a:xfrm flipH="false" flipV="false" rot="0">
              <a:off x="0" y="0"/>
              <a:ext cx="6883400" cy="1214120"/>
            </a:xfrm>
            <a:custGeom>
              <a:avLst/>
              <a:gdLst/>
              <a:ahLst/>
              <a:cxnLst/>
              <a:rect r="r" b="b" t="t" l="l"/>
              <a:pathLst>
                <a:path h="1214120" w="6883400">
                  <a:moveTo>
                    <a:pt x="0" y="168148"/>
                  </a:moveTo>
                  <a:cubicBezTo>
                    <a:pt x="0" y="75311"/>
                    <a:pt x="75311" y="0"/>
                    <a:pt x="168148" y="0"/>
                  </a:cubicBezTo>
                  <a:lnTo>
                    <a:pt x="6715252" y="0"/>
                  </a:lnTo>
                  <a:cubicBezTo>
                    <a:pt x="6808089" y="0"/>
                    <a:pt x="6883400" y="75311"/>
                    <a:pt x="6883400" y="168148"/>
                  </a:cubicBezTo>
                  <a:lnTo>
                    <a:pt x="6883400" y="1045972"/>
                  </a:lnTo>
                  <a:cubicBezTo>
                    <a:pt x="6883400" y="1138809"/>
                    <a:pt x="6808089" y="1214120"/>
                    <a:pt x="6715252" y="1214120"/>
                  </a:cubicBezTo>
                  <a:lnTo>
                    <a:pt x="168148" y="1214120"/>
                  </a:lnTo>
                  <a:cubicBezTo>
                    <a:pt x="75311" y="1214120"/>
                    <a:pt x="0" y="1138809"/>
                    <a:pt x="0" y="1045972"/>
                  </a:cubicBezTo>
                  <a:close/>
                </a:path>
              </a:pathLst>
            </a:custGeom>
            <a:solidFill>
              <a:srgbClr val="F4F7FC"/>
            </a:solidFill>
            <a:ln w="19050" cap="sq">
              <a:solidFill>
                <a:srgbClr val="D7DCEC"/>
              </a:solidFill>
              <a:prstDash val="solid"/>
              <a:miter/>
            </a:ln>
          </p:spPr>
        </p:sp>
      </p:grpSp>
      <p:grpSp>
        <p:nvGrpSpPr>
          <p:cNvPr name="Group 35" id="35"/>
          <p:cNvGrpSpPr/>
          <p:nvPr/>
        </p:nvGrpSpPr>
        <p:grpSpPr>
          <a:xfrm rot="0">
            <a:off x="960120" y="8023860"/>
            <a:ext cx="5143500" cy="589788"/>
            <a:chOff x="0" y="0"/>
            <a:chExt cx="6858000" cy="786384"/>
          </a:xfrm>
        </p:grpSpPr>
        <p:sp>
          <p:nvSpPr>
            <p:cNvPr name="Freeform 36" id="36"/>
            <p:cNvSpPr/>
            <p:nvPr/>
          </p:nvSpPr>
          <p:spPr>
            <a:xfrm flipH="false" flipV="false" rot="0">
              <a:off x="0" y="0"/>
              <a:ext cx="6858000" cy="786384"/>
            </a:xfrm>
            <a:custGeom>
              <a:avLst/>
              <a:gdLst/>
              <a:ahLst/>
              <a:cxnLst/>
              <a:rect r="r" b="b" t="t" l="l"/>
              <a:pathLst>
                <a:path h="786384" w="6858000">
                  <a:moveTo>
                    <a:pt x="0" y="0"/>
                  </a:moveTo>
                  <a:lnTo>
                    <a:pt x="6858000" y="0"/>
                  </a:lnTo>
                  <a:lnTo>
                    <a:pt x="6858000" y="786384"/>
                  </a:lnTo>
                  <a:lnTo>
                    <a:pt x="0" y="786384"/>
                  </a:lnTo>
                  <a:close/>
                </a:path>
              </a:pathLst>
            </a:custGeom>
            <a:blipFill>
              <a:blip r:embed="rId2">
                <a:alphaModFix amt="0"/>
              </a:blip>
              <a:stretch>
                <a:fillRect l="0" t="-119927" r="0" b="-119927"/>
              </a:stretch>
            </a:blipFill>
          </p:spPr>
        </p:sp>
        <p:sp>
          <p:nvSpPr>
            <p:cNvPr name="TextBox 37" id="37"/>
            <p:cNvSpPr txBox="true"/>
            <p:nvPr/>
          </p:nvSpPr>
          <p:spPr>
            <a:xfrm>
              <a:off x="0" y="-38100"/>
              <a:ext cx="6858000" cy="824484"/>
            </a:xfrm>
            <a:prstGeom prst="rect">
              <a:avLst/>
            </a:prstGeom>
          </p:spPr>
          <p:txBody>
            <a:bodyPr anchor="ctr" rtlCol="false" tIns="0" lIns="0" bIns="0" rIns="0"/>
            <a:lstStyle/>
            <a:p>
              <a:pPr algn="ctr">
                <a:lnSpc>
                  <a:spcPts val="2250"/>
                </a:lnSpc>
              </a:pPr>
              <a:r>
                <a:rPr lang="en-US" sz="1875">
                  <a:solidFill>
                    <a:srgbClr val="6B7280"/>
                  </a:solidFill>
                  <a:latin typeface="Calibri (MS)"/>
                  <a:ea typeface="Calibri (MS)"/>
                  <a:cs typeface="Calibri (MS)"/>
                  <a:sym typeface="Calibri (MS)"/>
                </a:rPr>
                <a:t>Data Privacy Act</a:t>
              </a:r>
            </a:p>
          </p:txBody>
        </p:sp>
      </p:grpSp>
      <p:grpSp>
        <p:nvGrpSpPr>
          <p:cNvPr name="Group 38" id="38"/>
          <p:cNvGrpSpPr/>
          <p:nvPr/>
        </p:nvGrpSpPr>
        <p:grpSpPr>
          <a:xfrm rot="0">
            <a:off x="960120" y="8462772"/>
            <a:ext cx="5143500" cy="329184"/>
            <a:chOff x="0" y="0"/>
            <a:chExt cx="6858000" cy="438912"/>
          </a:xfrm>
        </p:grpSpPr>
        <p:sp>
          <p:nvSpPr>
            <p:cNvPr name="Freeform 39" id="39"/>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40" id="40"/>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9AA3B8"/>
                  </a:solidFill>
                  <a:latin typeface="Arimo"/>
                  <a:ea typeface="Arimo"/>
                  <a:cs typeface="Arimo"/>
                  <a:sym typeface="Arimo"/>
                </a:rPr>
                <a:t>DPA</a:t>
              </a:r>
            </a:p>
          </p:txBody>
        </p:sp>
      </p:grpSp>
      <p:grpSp>
        <p:nvGrpSpPr>
          <p:cNvPr name="Group 41" id="41"/>
          <p:cNvGrpSpPr/>
          <p:nvPr/>
        </p:nvGrpSpPr>
        <p:grpSpPr>
          <a:xfrm rot="0">
            <a:off x="6533007" y="7945755"/>
            <a:ext cx="5162550" cy="910590"/>
            <a:chOff x="0" y="0"/>
            <a:chExt cx="6883400" cy="1214120"/>
          </a:xfrm>
        </p:grpSpPr>
        <p:sp>
          <p:nvSpPr>
            <p:cNvPr name="Freeform 42" id="42"/>
            <p:cNvSpPr/>
            <p:nvPr/>
          </p:nvSpPr>
          <p:spPr>
            <a:xfrm flipH="false" flipV="false" rot="0">
              <a:off x="0" y="0"/>
              <a:ext cx="6883400" cy="1214120"/>
            </a:xfrm>
            <a:custGeom>
              <a:avLst/>
              <a:gdLst/>
              <a:ahLst/>
              <a:cxnLst/>
              <a:rect r="r" b="b" t="t" l="l"/>
              <a:pathLst>
                <a:path h="1214120" w="6883400">
                  <a:moveTo>
                    <a:pt x="0" y="168148"/>
                  </a:moveTo>
                  <a:cubicBezTo>
                    <a:pt x="0" y="75311"/>
                    <a:pt x="75311" y="0"/>
                    <a:pt x="168148" y="0"/>
                  </a:cubicBezTo>
                  <a:lnTo>
                    <a:pt x="6715252" y="0"/>
                  </a:lnTo>
                  <a:cubicBezTo>
                    <a:pt x="6808089" y="0"/>
                    <a:pt x="6883400" y="75311"/>
                    <a:pt x="6883400" y="168148"/>
                  </a:cubicBezTo>
                  <a:lnTo>
                    <a:pt x="6883400" y="1045972"/>
                  </a:lnTo>
                  <a:cubicBezTo>
                    <a:pt x="6883400" y="1138809"/>
                    <a:pt x="6808089" y="1214120"/>
                    <a:pt x="6715252" y="1214120"/>
                  </a:cubicBezTo>
                  <a:lnTo>
                    <a:pt x="168148" y="1214120"/>
                  </a:lnTo>
                  <a:cubicBezTo>
                    <a:pt x="75311" y="1214120"/>
                    <a:pt x="0" y="1138809"/>
                    <a:pt x="0" y="1045972"/>
                  </a:cubicBezTo>
                  <a:close/>
                </a:path>
              </a:pathLst>
            </a:custGeom>
            <a:solidFill>
              <a:srgbClr val="F4F7FC"/>
            </a:solidFill>
            <a:ln w="19050" cap="sq">
              <a:solidFill>
                <a:srgbClr val="D7DCEC"/>
              </a:solidFill>
              <a:prstDash val="solid"/>
              <a:miter/>
            </a:ln>
          </p:spPr>
        </p:sp>
      </p:grpSp>
      <p:grpSp>
        <p:nvGrpSpPr>
          <p:cNvPr name="Group 43" id="43"/>
          <p:cNvGrpSpPr/>
          <p:nvPr/>
        </p:nvGrpSpPr>
        <p:grpSpPr>
          <a:xfrm rot="0">
            <a:off x="6542532" y="8023860"/>
            <a:ext cx="5143500" cy="589788"/>
            <a:chOff x="0" y="0"/>
            <a:chExt cx="6858000" cy="786384"/>
          </a:xfrm>
        </p:grpSpPr>
        <p:sp>
          <p:nvSpPr>
            <p:cNvPr name="Freeform 44" id="44"/>
            <p:cNvSpPr/>
            <p:nvPr/>
          </p:nvSpPr>
          <p:spPr>
            <a:xfrm flipH="false" flipV="false" rot="0">
              <a:off x="0" y="0"/>
              <a:ext cx="6858000" cy="786384"/>
            </a:xfrm>
            <a:custGeom>
              <a:avLst/>
              <a:gdLst/>
              <a:ahLst/>
              <a:cxnLst/>
              <a:rect r="r" b="b" t="t" l="l"/>
              <a:pathLst>
                <a:path h="786384" w="6858000">
                  <a:moveTo>
                    <a:pt x="0" y="0"/>
                  </a:moveTo>
                  <a:lnTo>
                    <a:pt x="6858000" y="0"/>
                  </a:lnTo>
                  <a:lnTo>
                    <a:pt x="6858000" y="786384"/>
                  </a:lnTo>
                  <a:lnTo>
                    <a:pt x="0" y="786384"/>
                  </a:lnTo>
                  <a:close/>
                </a:path>
              </a:pathLst>
            </a:custGeom>
            <a:blipFill>
              <a:blip r:embed="rId2">
                <a:alphaModFix amt="0"/>
              </a:blip>
              <a:stretch>
                <a:fillRect l="0" t="-119927" r="0" b="-119927"/>
              </a:stretch>
            </a:blipFill>
          </p:spPr>
        </p:sp>
        <p:sp>
          <p:nvSpPr>
            <p:cNvPr name="TextBox 45" id="45"/>
            <p:cNvSpPr txBox="true"/>
            <p:nvPr/>
          </p:nvSpPr>
          <p:spPr>
            <a:xfrm>
              <a:off x="0" y="-38100"/>
              <a:ext cx="6858000" cy="824484"/>
            </a:xfrm>
            <a:prstGeom prst="rect">
              <a:avLst/>
            </a:prstGeom>
          </p:spPr>
          <p:txBody>
            <a:bodyPr anchor="ctr" rtlCol="false" tIns="0" lIns="0" bIns="0" rIns="0"/>
            <a:lstStyle/>
            <a:p>
              <a:pPr algn="ctr">
                <a:lnSpc>
                  <a:spcPts val="2250"/>
                </a:lnSpc>
              </a:pPr>
              <a:r>
                <a:rPr lang="en-US" sz="1875">
                  <a:solidFill>
                    <a:srgbClr val="6B7280"/>
                  </a:solidFill>
                  <a:latin typeface="Calibri (MS)"/>
                  <a:ea typeface="Calibri (MS)"/>
                  <a:cs typeface="Calibri (MS)"/>
                  <a:sym typeface="Calibri (MS)"/>
                </a:rPr>
                <a:t>DICT Act / NCSP</a:t>
              </a:r>
            </a:p>
          </p:txBody>
        </p:sp>
      </p:grpSp>
      <p:grpSp>
        <p:nvGrpSpPr>
          <p:cNvPr name="Group 46" id="46"/>
          <p:cNvGrpSpPr/>
          <p:nvPr/>
        </p:nvGrpSpPr>
        <p:grpSpPr>
          <a:xfrm rot="0">
            <a:off x="6542532" y="8462772"/>
            <a:ext cx="5143500" cy="329184"/>
            <a:chOff x="0" y="0"/>
            <a:chExt cx="6858000" cy="438912"/>
          </a:xfrm>
        </p:grpSpPr>
        <p:sp>
          <p:nvSpPr>
            <p:cNvPr name="Freeform 47" id="47"/>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48" id="48"/>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9AA3B8"/>
                  </a:solidFill>
                  <a:latin typeface="Arimo"/>
                  <a:ea typeface="Arimo"/>
                  <a:cs typeface="Arimo"/>
                  <a:sym typeface="Arimo"/>
                </a:rPr>
                <a:t>DICT</a:t>
              </a:r>
            </a:p>
          </p:txBody>
        </p:sp>
      </p:grpSp>
      <p:grpSp>
        <p:nvGrpSpPr>
          <p:cNvPr name="Group 49" id="49"/>
          <p:cNvGrpSpPr/>
          <p:nvPr/>
        </p:nvGrpSpPr>
        <p:grpSpPr>
          <a:xfrm rot="0">
            <a:off x="12115419" y="6779895"/>
            <a:ext cx="5162550" cy="2076450"/>
            <a:chOff x="0" y="0"/>
            <a:chExt cx="6883400" cy="2768600"/>
          </a:xfrm>
        </p:grpSpPr>
        <p:sp>
          <p:nvSpPr>
            <p:cNvPr name="Freeform 50" id="50"/>
            <p:cNvSpPr/>
            <p:nvPr/>
          </p:nvSpPr>
          <p:spPr>
            <a:xfrm flipH="false" flipV="false" rot="0">
              <a:off x="0" y="0"/>
              <a:ext cx="6883400" cy="2768600"/>
            </a:xfrm>
            <a:custGeom>
              <a:avLst/>
              <a:gdLst/>
              <a:ahLst/>
              <a:cxnLst/>
              <a:rect r="r" b="b" t="t" l="l"/>
              <a:pathLst>
                <a:path h="2768600" w="6883400">
                  <a:moveTo>
                    <a:pt x="0" y="166116"/>
                  </a:moveTo>
                  <a:cubicBezTo>
                    <a:pt x="0" y="74422"/>
                    <a:pt x="74422" y="0"/>
                    <a:pt x="166116" y="0"/>
                  </a:cubicBezTo>
                  <a:lnTo>
                    <a:pt x="6717284" y="0"/>
                  </a:lnTo>
                  <a:cubicBezTo>
                    <a:pt x="6808978" y="0"/>
                    <a:pt x="6883400" y="74422"/>
                    <a:pt x="6883400" y="166116"/>
                  </a:cubicBezTo>
                  <a:lnTo>
                    <a:pt x="6883400" y="2602484"/>
                  </a:lnTo>
                  <a:cubicBezTo>
                    <a:pt x="6883400" y="2694178"/>
                    <a:pt x="6808978" y="2768600"/>
                    <a:pt x="6717284" y="2768600"/>
                  </a:cubicBezTo>
                  <a:lnTo>
                    <a:pt x="166116" y="2768600"/>
                  </a:lnTo>
                  <a:cubicBezTo>
                    <a:pt x="74422" y="2768600"/>
                    <a:pt x="0" y="2694178"/>
                    <a:pt x="0" y="2602484"/>
                  </a:cubicBezTo>
                  <a:close/>
                </a:path>
              </a:pathLst>
            </a:custGeom>
            <a:solidFill>
              <a:srgbClr val="F4F7FC"/>
            </a:solidFill>
            <a:ln w="19050" cap="sq">
              <a:solidFill>
                <a:srgbClr val="D7DCEC"/>
              </a:solidFill>
              <a:prstDash val="solid"/>
              <a:miter/>
            </a:ln>
          </p:spPr>
        </p:sp>
      </p:grpSp>
      <p:grpSp>
        <p:nvGrpSpPr>
          <p:cNvPr name="Group 51" id="51"/>
          <p:cNvGrpSpPr/>
          <p:nvPr/>
        </p:nvGrpSpPr>
        <p:grpSpPr>
          <a:xfrm rot="0">
            <a:off x="12124944" y="6858000"/>
            <a:ext cx="5143500" cy="1755648"/>
            <a:chOff x="0" y="0"/>
            <a:chExt cx="6858000" cy="2340864"/>
          </a:xfrm>
        </p:grpSpPr>
        <p:sp>
          <p:nvSpPr>
            <p:cNvPr name="Freeform 52" id="52"/>
            <p:cNvSpPr/>
            <p:nvPr/>
          </p:nvSpPr>
          <p:spPr>
            <a:xfrm flipH="false" flipV="false" rot="0">
              <a:off x="0" y="0"/>
              <a:ext cx="6858000" cy="2340864"/>
            </a:xfrm>
            <a:custGeom>
              <a:avLst/>
              <a:gdLst/>
              <a:ahLst/>
              <a:cxnLst/>
              <a:rect r="r" b="b" t="t" l="l"/>
              <a:pathLst>
                <a:path h="2340864" w="6858000">
                  <a:moveTo>
                    <a:pt x="0" y="0"/>
                  </a:moveTo>
                  <a:lnTo>
                    <a:pt x="6858000" y="0"/>
                  </a:lnTo>
                  <a:lnTo>
                    <a:pt x="6858000" y="2340864"/>
                  </a:lnTo>
                  <a:lnTo>
                    <a:pt x="0" y="2340864"/>
                  </a:lnTo>
                  <a:close/>
                </a:path>
              </a:pathLst>
            </a:custGeom>
            <a:blipFill>
              <a:blip r:embed="rId2">
                <a:alphaModFix amt="0"/>
              </a:blip>
              <a:stretch>
                <a:fillRect l="0" t="-7085" r="0" b="-7085"/>
              </a:stretch>
            </a:blipFill>
          </p:spPr>
        </p:sp>
        <p:sp>
          <p:nvSpPr>
            <p:cNvPr name="TextBox 53" id="53"/>
            <p:cNvSpPr txBox="true"/>
            <p:nvPr/>
          </p:nvSpPr>
          <p:spPr>
            <a:xfrm>
              <a:off x="0" y="-38100"/>
              <a:ext cx="6858000" cy="2378964"/>
            </a:xfrm>
            <a:prstGeom prst="rect">
              <a:avLst/>
            </a:prstGeom>
          </p:spPr>
          <p:txBody>
            <a:bodyPr anchor="ctr" rtlCol="false" tIns="0" lIns="0" bIns="0" rIns="0"/>
            <a:lstStyle/>
            <a:p>
              <a:pPr algn="ctr">
                <a:lnSpc>
                  <a:spcPts val="2250"/>
                </a:lnSpc>
              </a:pPr>
              <a:r>
                <a:rPr lang="en-US" sz="1875">
                  <a:solidFill>
                    <a:srgbClr val="6B7280"/>
                  </a:solidFill>
                  <a:latin typeface="Calibri (MS)"/>
                  <a:ea typeface="Calibri (MS)"/>
                  <a:cs typeface="Calibri (MS)"/>
                  <a:sym typeface="Calibri (MS)"/>
                </a:rPr>
                <a:t>Critical Infra. Protection</a:t>
              </a:r>
            </a:p>
          </p:txBody>
        </p:sp>
      </p:grpSp>
      <p:grpSp>
        <p:nvGrpSpPr>
          <p:cNvPr name="Group 54" id="54"/>
          <p:cNvGrpSpPr/>
          <p:nvPr/>
        </p:nvGrpSpPr>
        <p:grpSpPr>
          <a:xfrm rot="0">
            <a:off x="12124944" y="8462772"/>
            <a:ext cx="5143500" cy="329184"/>
            <a:chOff x="0" y="0"/>
            <a:chExt cx="6858000" cy="438912"/>
          </a:xfrm>
        </p:grpSpPr>
        <p:sp>
          <p:nvSpPr>
            <p:cNvPr name="Freeform 55" id="55"/>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56" id="56"/>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9AA3B8"/>
                  </a:solidFill>
                  <a:latin typeface="Arimo"/>
                  <a:ea typeface="Arimo"/>
                  <a:cs typeface="Arimo"/>
                  <a:sym typeface="Arimo"/>
                </a:rPr>
                <a:t>CII</a:t>
              </a:r>
            </a:p>
          </p:txBody>
        </p:sp>
      </p:grpSp>
      <p:grpSp>
        <p:nvGrpSpPr>
          <p:cNvPr name="Group 57" id="57"/>
          <p:cNvGrpSpPr/>
          <p:nvPr/>
        </p:nvGrpSpPr>
        <p:grpSpPr>
          <a:xfrm rot="0">
            <a:off x="685800" y="9710928"/>
            <a:ext cx="10972800" cy="411480"/>
            <a:chOff x="0" y="0"/>
            <a:chExt cx="14630400" cy="548640"/>
          </a:xfrm>
        </p:grpSpPr>
        <p:sp>
          <p:nvSpPr>
            <p:cNvPr name="Freeform 58" id="58"/>
            <p:cNvSpPr/>
            <p:nvPr/>
          </p:nvSpPr>
          <p:spPr>
            <a:xfrm flipH="false" flipV="false" rot="0">
              <a:off x="0" y="0"/>
              <a:ext cx="14630400" cy="548640"/>
            </a:xfrm>
            <a:custGeom>
              <a:avLst/>
              <a:gdLst/>
              <a:ahLst/>
              <a:cxnLst/>
              <a:rect r="r" b="b" t="t" l="l"/>
              <a:pathLst>
                <a:path h="548640" w="14630400">
                  <a:moveTo>
                    <a:pt x="0" y="0"/>
                  </a:moveTo>
                  <a:lnTo>
                    <a:pt x="14630400" y="0"/>
                  </a:lnTo>
                  <a:lnTo>
                    <a:pt x="14630400" y="548640"/>
                  </a:lnTo>
                  <a:lnTo>
                    <a:pt x="0" y="548640"/>
                  </a:lnTo>
                  <a:close/>
                </a:path>
              </a:pathLst>
            </a:custGeom>
            <a:blipFill>
              <a:blip r:embed="rId2">
                <a:alphaModFix amt="0"/>
              </a:blip>
              <a:stretch>
                <a:fillRect l="0" t="-469601" r="0" b="-469601"/>
              </a:stretch>
            </a:blipFill>
          </p:spPr>
        </p:sp>
        <p:sp>
          <p:nvSpPr>
            <p:cNvPr name="TextBox 59" id="59"/>
            <p:cNvSpPr txBox="true"/>
            <p:nvPr/>
          </p:nvSpPr>
          <p:spPr>
            <a:xfrm>
              <a:off x="0" y="-38100"/>
              <a:ext cx="14630400" cy="586740"/>
            </a:xfrm>
            <a:prstGeom prst="rect">
              <a:avLst/>
            </a:prstGeom>
          </p:spPr>
          <p:txBody>
            <a:bodyPr anchor="ctr" rtlCol="false" tIns="0" lIns="0" bIns="0" rIns="0"/>
            <a:lstStyle/>
            <a:p>
              <a:pPr algn="l">
                <a:lnSpc>
                  <a:spcPts val="1800"/>
                </a:lnSpc>
              </a:pPr>
              <a:r>
                <a:rPr lang="en-US" sz="1500">
                  <a:solidFill>
                    <a:srgbClr val="6B7280"/>
                  </a:solidFill>
                  <a:latin typeface="Calibri (MS)"/>
                  <a:ea typeface="Calibri (MS)"/>
                  <a:cs typeface="Calibri (MS)"/>
                  <a:sym typeface="Calibri (MS)"/>
                </a:rPr>
                <a:t>Davao del Norte Provincial Government — Cybersecurity Seminar</a:t>
              </a:r>
            </a:p>
          </p:txBody>
        </p:sp>
      </p:grpSp>
      <p:grpSp>
        <p:nvGrpSpPr>
          <p:cNvPr name="Group 60" id="60"/>
          <p:cNvGrpSpPr/>
          <p:nvPr/>
        </p:nvGrpSpPr>
        <p:grpSpPr>
          <a:xfrm rot="0">
            <a:off x="16911828" y="9710928"/>
            <a:ext cx="685800" cy="411480"/>
            <a:chOff x="0" y="0"/>
            <a:chExt cx="914400" cy="548640"/>
          </a:xfrm>
        </p:grpSpPr>
        <p:sp>
          <p:nvSpPr>
            <p:cNvPr name="Freeform 61" id="61"/>
            <p:cNvSpPr/>
            <p:nvPr/>
          </p:nvSpPr>
          <p:spPr>
            <a:xfrm flipH="false" flipV="false" rot="0">
              <a:off x="0" y="0"/>
              <a:ext cx="914400" cy="548640"/>
            </a:xfrm>
            <a:custGeom>
              <a:avLst/>
              <a:gdLst/>
              <a:ahLst/>
              <a:cxnLst/>
              <a:rect r="r" b="b" t="t" l="l"/>
              <a:pathLst>
                <a:path h="548640" w="914400">
                  <a:moveTo>
                    <a:pt x="0" y="0"/>
                  </a:moveTo>
                  <a:lnTo>
                    <a:pt x="914400" y="0"/>
                  </a:lnTo>
                  <a:lnTo>
                    <a:pt x="914400" y="548640"/>
                  </a:lnTo>
                  <a:lnTo>
                    <a:pt x="0" y="548640"/>
                  </a:lnTo>
                  <a:close/>
                </a:path>
              </a:pathLst>
            </a:custGeom>
            <a:blipFill>
              <a:blip r:embed="rId2">
                <a:alphaModFix amt="0"/>
              </a:blip>
              <a:stretch>
                <a:fillRect l="-26982" t="0" r="-26982" b="0"/>
              </a:stretch>
            </a:blipFill>
          </p:spPr>
        </p:sp>
        <p:sp>
          <p:nvSpPr>
            <p:cNvPr name="TextBox 62" id="62"/>
            <p:cNvSpPr txBox="true"/>
            <p:nvPr/>
          </p:nvSpPr>
          <p:spPr>
            <a:xfrm>
              <a:off x="0" y="-38100"/>
              <a:ext cx="914400" cy="586740"/>
            </a:xfrm>
            <a:prstGeom prst="rect">
              <a:avLst/>
            </a:prstGeom>
          </p:spPr>
          <p:txBody>
            <a:bodyPr anchor="ctr" rtlCol="false" tIns="0" lIns="0" bIns="0" rIns="0"/>
            <a:lstStyle/>
            <a:p>
              <a:pPr algn="r">
                <a:lnSpc>
                  <a:spcPts val="1800"/>
                </a:lnSpc>
              </a:pPr>
              <a:r>
                <a:rPr lang="en-US" sz="1500">
                  <a:solidFill>
                    <a:srgbClr val="6B7280"/>
                  </a:solidFill>
                  <a:latin typeface="Calibri (MS)"/>
                  <a:ea typeface="Calibri (MS)"/>
                  <a:cs typeface="Calibri (MS)"/>
                  <a:sym typeface="Calibri (MS)"/>
                </a:rPr>
                <a:t>23</a:t>
              </a:r>
            </a:p>
          </p:txBody>
        </p:sp>
      </p:grpSp>
    </p:spTree>
  </p:cSld>
  <p:clrMapOvr>
    <a:masterClrMapping/>
  </p:clrMapOvr>
</p:sld>
</file>

<file path=ppt/slides/slide14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60120" y="685800"/>
            <a:ext cx="13716000" cy="411480"/>
            <a:chOff x="0" y="0"/>
            <a:chExt cx="18288000" cy="548640"/>
          </a:xfrm>
        </p:grpSpPr>
        <p:sp>
          <p:nvSpPr>
            <p:cNvPr name="Freeform 3" id="3"/>
            <p:cNvSpPr/>
            <p:nvPr/>
          </p:nvSpPr>
          <p:spPr>
            <a:xfrm flipH="false" flipV="false" rot="0">
              <a:off x="0" y="0"/>
              <a:ext cx="18288000" cy="548640"/>
            </a:xfrm>
            <a:custGeom>
              <a:avLst/>
              <a:gdLst/>
              <a:ahLst/>
              <a:cxnLst/>
              <a:rect r="r" b="b" t="t" l="l"/>
              <a:pathLst>
                <a:path h="548640" w="18288000">
                  <a:moveTo>
                    <a:pt x="0" y="0"/>
                  </a:moveTo>
                  <a:lnTo>
                    <a:pt x="18288000" y="0"/>
                  </a:lnTo>
                  <a:lnTo>
                    <a:pt x="18288000" y="548640"/>
                  </a:lnTo>
                  <a:lnTo>
                    <a:pt x="0" y="548640"/>
                  </a:lnTo>
                  <a:close/>
                </a:path>
              </a:pathLst>
            </a:custGeom>
            <a:blipFill>
              <a:blip r:embed="rId2">
                <a:alphaModFix amt="0"/>
              </a:blip>
              <a:stretch>
                <a:fillRect l="0" t="-599501" r="0" b="-599501"/>
              </a:stretch>
            </a:blipFill>
          </p:spPr>
        </p:sp>
        <p:sp>
          <p:nvSpPr>
            <p:cNvPr name="TextBox 4" id="4"/>
            <p:cNvSpPr txBox="true"/>
            <p:nvPr/>
          </p:nvSpPr>
          <p:spPr>
            <a:xfrm>
              <a:off x="0" y="-38100"/>
              <a:ext cx="18288000" cy="586740"/>
            </a:xfrm>
            <a:prstGeom prst="rect">
              <a:avLst/>
            </a:prstGeom>
          </p:spPr>
          <p:txBody>
            <a:bodyPr anchor="ctr" rtlCol="false" tIns="0" lIns="0" bIns="0" rIns="0"/>
            <a:lstStyle/>
            <a:p>
              <a:pPr algn="l">
                <a:lnSpc>
                  <a:spcPts val="2160"/>
                </a:lnSpc>
              </a:pPr>
              <a:r>
                <a:rPr lang="en-US" b="true" sz="1800" spc="225">
                  <a:solidFill>
                    <a:srgbClr val="00B4D8"/>
                  </a:solidFill>
                  <a:latin typeface="Calibri (MS) Bold"/>
                  <a:ea typeface="Calibri (MS) Bold"/>
                  <a:cs typeface="Calibri (MS) Bold"/>
                  <a:sym typeface="Calibri (MS) Bold"/>
                </a:rPr>
                <a:t>PH CYBER LAW SORT · ANSWER</a:t>
              </a:r>
            </a:p>
          </p:txBody>
        </p:sp>
      </p:grpSp>
      <p:grpSp>
        <p:nvGrpSpPr>
          <p:cNvPr name="Group 5" id="5"/>
          <p:cNvGrpSpPr/>
          <p:nvPr/>
        </p:nvGrpSpPr>
        <p:grpSpPr>
          <a:xfrm rot="0">
            <a:off x="960120" y="1069848"/>
            <a:ext cx="10972800" cy="822960"/>
            <a:chOff x="0" y="0"/>
            <a:chExt cx="14630400" cy="1097280"/>
          </a:xfrm>
        </p:grpSpPr>
        <p:sp>
          <p:nvSpPr>
            <p:cNvPr name="Freeform 6" id="6"/>
            <p:cNvSpPr/>
            <p:nvPr/>
          </p:nvSpPr>
          <p:spPr>
            <a:xfrm flipH="false" flipV="false" rot="0">
              <a:off x="0" y="0"/>
              <a:ext cx="14630400" cy="1097280"/>
            </a:xfrm>
            <a:custGeom>
              <a:avLst/>
              <a:gdLst/>
              <a:ahLst/>
              <a:cxnLst/>
              <a:rect r="r" b="b" t="t" l="l"/>
              <a:pathLst>
                <a:path h="1097280" w="14630400">
                  <a:moveTo>
                    <a:pt x="0" y="0"/>
                  </a:moveTo>
                  <a:lnTo>
                    <a:pt x="14630400" y="0"/>
                  </a:lnTo>
                  <a:lnTo>
                    <a:pt x="14630400" y="1097280"/>
                  </a:lnTo>
                  <a:lnTo>
                    <a:pt x="0" y="1097280"/>
                  </a:lnTo>
                  <a:close/>
                </a:path>
              </a:pathLst>
            </a:custGeom>
            <a:blipFill>
              <a:blip r:embed="rId2">
                <a:alphaModFix amt="0"/>
              </a:blip>
              <a:stretch>
                <a:fillRect l="0" t="-209800" r="0" b="-209800"/>
              </a:stretch>
            </a:blipFill>
          </p:spPr>
        </p:sp>
        <p:sp>
          <p:nvSpPr>
            <p:cNvPr name="TextBox 7" id="7"/>
            <p:cNvSpPr txBox="true"/>
            <p:nvPr/>
          </p:nvSpPr>
          <p:spPr>
            <a:xfrm>
              <a:off x="0" y="0"/>
              <a:ext cx="14630400" cy="1097280"/>
            </a:xfrm>
            <a:prstGeom prst="rect">
              <a:avLst/>
            </a:prstGeom>
          </p:spPr>
          <p:txBody>
            <a:bodyPr anchor="ctr" rtlCol="false" tIns="0" lIns="0" bIns="0" rIns="0"/>
            <a:lstStyle/>
            <a:p>
              <a:pPr algn="l">
                <a:lnSpc>
                  <a:spcPts val="4680"/>
                </a:lnSpc>
              </a:pPr>
              <a:r>
                <a:rPr lang="en-US" sz="3900" b="true">
                  <a:solidFill>
                    <a:srgbClr val="1E2761"/>
                  </a:solidFill>
                  <a:latin typeface="Cambria Bold"/>
                  <a:ea typeface="Cambria Bold"/>
                  <a:cs typeface="Cambria Bold"/>
                  <a:sym typeface="Cambria Bold"/>
                </a:rPr>
                <a:t>Scenario 7 — Answer</a:t>
              </a:r>
            </a:p>
          </p:txBody>
        </p:sp>
      </p:grpSp>
      <p:grpSp>
        <p:nvGrpSpPr>
          <p:cNvPr name="Group 8" id="8"/>
          <p:cNvGrpSpPr/>
          <p:nvPr/>
        </p:nvGrpSpPr>
        <p:grpSpPr>
          <a:xfrm rot="0">
            <a:off x="960120" y="1810512"/>
            <a:ext cx="8229600" cy="411480"/>
            <a:chOff x="0" y="0"/>
            <a:chExt cx="10972800" cy="548640"/>
          </a:xfrm>
        </p:grpSpPr>
        <p:sp>
          <p:nvSpPr>
            <p:cNvPr name="Freeform 9" id="9"/>
            <p:cNvSpPr/>
            <p:nvPr/>
          </p:nvSpPr>
          <p:spPr>
            <a:xfrm flipH="false" flipV="false" rot="0">
              <a:off x="0" y="0"/>
              <a:ext cx="10972800" cy="548640"/>
            </a:xfrm>
            <a:custGeom>
              <a:avLst/>
              <a:gdLst/>
              <a:ahLst/>
              <a:cxnLst/>
              <a:rect r="r" b="b" t="t" l="l"/>
              <a:pathLst>
                <a:path h="548640" w="10972800">
                  <a:moveTo>
                    <a:pt x="0" y="0"/>
                  </a:moveTo>
                  <a:lnTo>
                    <a:pt x="10972800" y="0"/>
                  </a:lnTo>
                  <a:lnTo>
                    <a:pt x="10972800" y="548640"/>
                  </a:lnTo>
                  <a:lnTo>
                    <a:pt x="0" y="548640"/>
                  </a:lnTo>
                  <a:close/>
                </a:path>
              </a:pathLst>
            </a:custGeom>
            <a:blipFill>
              <a:blip r:embed="rId2">
                <a:alphaModFix amt="0"/>
              </a:blip>
              <a:stretch>
                <a:fillRect l="0" t="-339700" r="0" b="-339700"/>
              </a:stretch>
            </a:blipFill>
          </p:spPr>
        </p:sp>
        <p:sp>
          <p:nvSpPr>
            <p:cNvPr name="TextBox 10" id="10"/>
            <p:cNvSpPr txBox="true"/>
            <p:nvPr/>
          </p:nvSpPr>
          <p:spPr>
            <a:xfrm>
              <a:off x="0" y="-28575"/>
              <a:ext cx="10972800" cy="577215"/>
            </a:xfrm>
            <a:prstGeom prst="rect">
              <a:avLst/>
            </a:prstGeom>
          </p:spPr>
          <p:txBody>
            <a:bodyPr anchor="ctr" rtlCol="false" tIns="0" lIns="0" bIns="0" rIns="0"/>
            <a:lstStyle/>
            <a:p>
              <a:pPr algn="l">
                <a:lnSpc>
                  <a:spcPts val="1980"/>
                </a:lnSpc>
              </a:pPr>
              <a:r>
                <a:rPr lang="en-US" sz="1650">
                  <a:solidFill>
                    <a:srgbClr val="6B7280"/>
                  </a:solidFill>
                  <a:latin typeface="Calibri (MS)"/>
                  <a:ea typeface="Calibri (MS)"/>
                  <a:cs typeface="Calibri (MS)"/>
                  <a:sym typeface="Calibri (MS)"/>
                </a:rPr>
                <a:t>7 of 15</a:t>
              </a:r>
            </a:p>
          </p:txBody>
        </p:sp>
      </p:grpSp>
      <p:grpSp>
        <p:nvGrpSpPr>
          <p:cNvPr name="Group 11" id="11"/>
          <p:cNvGrpSpPr/>
          <p:nvPr/>
        </p:nvGrpSpPr>
        <p:grpSpPr>
          <a:xfrm rot="0">
            <a:off x="960120" y="2537460"/>
            <a:ext cx="16322040" cy="2057400"/>
            <a:chOff x="0" y="0"/>
            <a:chExt cx="21762720" cy="2743200"/>
          </a:xfrm>
        </p:grpSpPr>
        <p:sp>
          <p:nvSpPr>
            <p:cNvPr name="Freeform 12" id="12"/>
            <p:cNvSpPr/>
            <p:nvPr/>
          </p:nvSpPr>
          <p:spPr>
            <a:xfrm flipH="false" flipV="false" rot="0">
              <a:off x="0" y="0"/>
              <a:ext cx="21762720" cy="2743200"/>
            </a:xfrm>
            <a:custGeom>
              <a:avLst/>
              <a:gdLst/>
              <a:ahLst/>
              <a:cxnLst/>
              <a:rect r="r" b="b" t="t" l="l"/>
              <a:pathLst>
                <a:path h="2743200" w="21762720">
                  <a:moveTo>
                    <a:pt x="0" y="182880"/>
                  </a:moveTo>
                  <a:cubicBezTo>
                    <a:pt x="0" y="81915"/>
                    <a:pt x="81915" y="0"/>
                    <a:pt x="182880" y="0"/>
                  </a:cubicBezTo>
                  <a:lnTo>
                    <a:pt x="21579839" y="0"/>
                  </a:lnTo>
                  <a:cubicBezTo>
                    <a:pt x="21680804" y="0"/>
                    <a:pt x="21762720" y="81915"/>
                    <a:pt x="21762720" y="182880"/>
                  </a:cubicBezTo>
                  <a:lnTo>
                    <a:pt x="21762720" y="2560320"/>
                  </a:lnTo>
                  <a:cubicBezTo>
                    <a:pt x="21762720" y="2661285"/>
                    <a:pt x="21680804" y="2743200"/>
                    <a:pt x="21579839" y="2743200"/>
                  </a:cubicBezTo>
                  <a:lnTo>
                    <a:pt x="182880" y="2743200"/>
                  </a:lnTo>
                  <a:cubicBezTo>
                    <a:pt x="81915" y="2743200"/>
                    <a:pt x="0" y="2661285"/>
                    <a:pt x="0" y="2560320"/>
                  </a:cubicBezTo>
                  <a:close/>
                </a:path>
              </a:pathLst>
            </a:custGeom>
            <a:solidFill>
              <a:srgbClr val="F4F7FC"/>
            </a:solidFill>
          </p:spPr>
        </p:sp>
      </p:grpSp>
      <p:grpSp>
        <p:nvGrpSpPr>
          <p:cNvPr name="Group 13" id="13"/>
          <p:cNvGrpSpPr/>
          <p:nvPr/>
        </p:nvGrpSpPr>
        <p:grpSpPr>
          <a:xfrm rot="0">
            <a:off x="1440180" y="2743200"/>
            <a:ext cx="15361920" cy="1645920"/>
            <a:chOff x="0" y="0"/>
            <a:chExt cx="20482560" cy="2194560"/>
          </a:xfrm>
        </p:grpSpPr>
        <p:sp>
          <p:nvSpPr>
            <p:cNvPr name="Freeform 14" id="14"/>
            <p:cNvSpPr/>
            <p:nvPr/>
          </p:nvSpPr>
          <p:spPr>
            <a:xfrm flipH="false" flipV="false" rot="0">
              <a:off x="0" y="0"/>
              <a:ext cx="20482561" cy="2194560"/>
            </a:xfrm>
            <a:custGeom>
              <a:avLst/>
              <a:gdLst/>
              <a:ahLst/>
              <a:cxnLst/>
              <a:rect r="r" b="b" t="t" l="l"/>
              <a:pathLst>
                <a:path h="2194560" w="20482561">
                  <a:moveTo>
                    <a:pt x="0" y="0"/>
                  </a:moveTo>
                  <a:lnTo>
                    <a:pt x="20482561" y="0"/>
                  </a:lnTo>
                  <a:lnTo>
                    <a:pt x="20482561" y="2194560"/>
                  </a:lnTo>
                  <a:lnTo>
                    <a:pt x="0" y="2194560"/>
                  </a:lnTo>
                  <a:close/>
                </a:path>
              </a:pathLst>
            </a:custGeom>
            <a:blipFill>
              <a:blip r:embed="rId2">
                <a:alphaModFix amt="0"/>
              </a:blip>
              <a:stretch>
                <a:fillRect l="0" t="-131860" r="0" b="-131860"/>
              </a:stretch>
            </a:blipFill>
          </p:spPr>
        </p:sp>
        <p:sp>
          <p:nvSpPr>
            <p:cNvPr name="TextBox 15" id="15"/>
            <p:cNvSpPr txBox="true"/>
            <p:nvPr/>
          </p:nvSpPr>
          <p:spPr>
            <a:xfrm>
              <a:off x="0" y="-66675"/>
              <a:ext cx="20482560" cy="2261235"/>
            </a:xfrm>
            <a:prstGeom prst="rect">
              <a:avLst/>
            </a:prstGeom>
          </p:spPr>
          <p:txBody>
            <a:bodyPr anchor="ctr" rtlCol="false" tIns="0" lIns="0" bIns="0" rIns="0"/>
            <a:lstStyle/>
            <a:p>
              <a:pPr algn="l">
                <a:lnSpc>
                  <a:spcPts val="3487"/>
                </a:lnSpc>
              </a:pPr>
              <a:r>
                <a:rPr lang="en-US" sz="2325" i="true">
                  <a:solidFill>
                    <a:srgbClr val="23262F"/>
                  </a:solidFill>
                  <a:latin typeface="Cambria Italics"/>
                  <a:ea typeface="Cambria Italics"/>
                  <a:cs typeface="Cambria Italics"/>
                  <a:sym typeface="Cambria Italics"/>
                </a:rPr>
                <a:t>"A phishing email tricks an employee into wiring provincial funds to a fraudulent bank account."</a:t>
              </a:r>
            </a:p>
          </p:txBody>
        </p:sp>
      </p:grpSp>
      <p:grpSp>
        <p:nvGrpSpPr>
          <p:cNvPr name="Group 16" id="16"/>
          <p:cNvGrpSpPr/>
          <p:nvPr/>
        </p:nvGrpSpPr>
        <p:grpSpPr>
          <a:xfrm rot="0">
            <a:off x="950595" y="4928235"/>
            <a:ext cx="5162550" cy="842010"/>
            <a:chOff x="0" y="0"/>
            <a:chExt cx="6883400" cy="1122680"/>
          </a:xfrm>
        </p:grpSpPr>
        <p:sp>
          <p:nvSpPr>
            <p:cNvPr name="Freeform 17" id="17"/>
            <p:cNvSpPr/>
            <p:nvPr/>
          </p:nvSpPr>
          <p:spPr>
            <a:xfrm flipH="false" flipV="false" rot="0">
              <a:off x="0" y="0"/>
              <a:ext cx="6883400" cy="1122680"/>
            </a:xfrm>
            <a:custGeom>
              <a:avLst/>
              <a:gdLst/>
              <a:ahLst/>
              <a:cxnLst/>
              <a:rect r="r" b="b" t="t" l="l"/>
              <a:pathLst>
                <a:path h="1122680" w="6883400">
                  <a:moveTo>
                    <a:pt x="0" y="168402"/>
                  </a:moveTo>
                  <a:cubicBezTo>
                    <a:pt x="0" y="75438"/>
                    <a:pt x="75438" y="0"/>
                    <a:pt x="168402" y="0"/>
                  </a:cubicBezTo>
                  <a:lnTo>
                    <a:pt x="6714998" y="0"/>
                  </a:lnTo>
                  <a:cubicBezTo>
                    <a:pt x="6807962" y="0"/>
                    <a:pt x="6883400" y="75438"/>
                    <a:pt x="6883400" y="168402"/>
                  </a:cubicBezTo>
                  <a:lnTo>
                    <a:pt x="6883400" y="954278"/>
                  </a:lnTo>
                  <a:cubicBezTo>
                    <a:pt x="6883400" y="1047242"/>
                    <a:pt x="6807962" y="1122680"/>
                    <a:pt x="6714998" y="1122680"/>
                  </a:cubicBezTo>
                  <a:lnTo>
                    <a:pt x="168402" y="1122680"/>
                  </a:lnTo>
                  <a:cubicBezTo>
                    <a:pt x="75438" y="1122680"/>
                    <a:pt x="0" y="1047242"/>
                    <a:pt x="0" y="954278"/>
                  </a:cubicBezTo>
                  <a:close/>
                </a:path>
              </a:pathLst>
            </a:custGeom>
            <a:solidFill>
              <a:srgbClr val="F4F7FC"/>
            </a:solidFill>
            <a:ln w="19050" cap="sq">
              <a:solidFill>
                <a:srgbClr val="D7DCEC"/>
              </a:solidFill>
              <a:prstDash val="solid"/>
              <a:miter/>
            </a:ln>
          </p:spPr>
        </p:sp>
      </p:grpSp>
      <p:grpSp>
        <p:nvGrpSpPr>
          <p:cNvPr name="Group 18" id="18"/>
          <p:cNvGrpSpPr/>
          <p:nvPr/>
        </p:nvGrpSpPr>
        <p:grpSpPr>
          <a:xfrm rot="0">
            <a:off x="960120" y="5006340"/>
            <a:ext cx="5143500" cy="521208"/>
            <a:chOff x="0" y="0"/>
            <a:chExt cx="6858000" cy="694944"/>
          </a:xfrm>
        </p:grpSpPr>
        <p:sp>
          <p:nvSpPr>
            <p:cNvPr name="Freeform 19" id="19"/>
            <p:cNvSpPr/>
            <p:nvPr/>
          </p:nvSpPr>
          <p:spPr>
            <a:xfrm flipH="false" flipV="false" rot="0">
              <a:off x="0" y="0"/>
              <a:ext cx="6858000" cy="694944"/>
            </a:xfrm>
            <a:custGeom>
              <a:avLst/>
              <a:gdLst/>
              <a:ahLst/>
              <a:cxnLst/>
              <a:rect r="r" b="b" t="t" l="l"/>
              <a:pathLst>
                <a:path h="694944" w="6858000">
                  <a:moveTo>
                    <a:pt x="0" y="0"/>
                  </a:moveTo>
                  <a:lnTo>
                    <a:pt x="6858000" y="0"/>
                  </a:lnTo>
                  <a:lnTo>
                    <a:pt x="6858000" y="694944"/>
                  </a:lnTo>
                  <a:lnTo>
                    <a:pt x="0" y="694944"/>
                  </a:lnTo>
                  <a:close/>
                </a:path>
              </a:pathLst>
            </a:custGeom>
            <a:blipFill>
              <a:blip r:embed="rId2">
                <a:alphaModFix amt="0"/>
              </a:blip>
              <a:stretch>
                <a:fillRect l="0" t="-142286" r="0" b="-142286"/>
              </a:stretch>
            </a:blipFill>
          </p:spPr>
        </p:sp>
        <p:sp>
          <p:nvSpPr>
            <p:cNvPr name="TextBox 20" id="20"/>
            <p:cNvSpPr txBox="true"/>
            <p:nvPr/>
          </p:nvSpPr>
          <p:spPr>
            <a:xfrm>
              <a:off x="0" y="-38100"/>
              <a:ext cx="6858000" cy="733044"/>
            </a:xfrm>
            <a:prstGeom prst="rect">
              <a:avLst/>
            </a:prstGeom>
          </p:spPr>
          <p:txBody>
            <a:bodyPr anchor="ctr" rtlCol="false" tIns="0" lIns="0" bIns="0" rIns="0"/>
            <a:lstStyle/>
            <a:p>
              <a:pPr algn="ctr">
                <a:lnSpc>
                  <a:spcPts val="2250"/>
                </a:lnSpc>
              </a:pPr>
              <a:r>
                <a:rPr lang="en-US" sz="1875">
                  <a:solidFill>
                    <a:srgbClr val="6B7280"/>
                  </a:solidFill>
                  <a:latin typeface="Calibri (MS)"/>
                  <a:ea typeface="Calibri (MS)"/>
                  <a:cs typeface="Calibri (MS)"/>
                  <a:sym typeface="Calibri (MS)"/>
                </a:rPr>
                <a:t>E-Commerce Act</a:t>
              </a:r>
            </a:p>
          </p:txBody>
        </p:sp>
      </p:grpSp>
      <p:grpSp>
        <p:nvGrpSpPr>
          <p:cNvPr name="Group 21" id="21"/>
          <p:cNvGrpSpPr/>
          <p:nvPr/>
        </p:nvGrpSpPr>
        <p:grpSpPr>
          <a:xfrm rot="0">
            <a:off x="960120" y="5376672"/>
            <a:ext cx="5143500" cy="329184"/>
            <a:chOff x="0" y="0"/>
            <a:chExt cx="6858000" cy="438912"/>
          </a:xfrm>
        </p:grpSpPr>
        <p:sp>
          <p:nvSpPr>
            <p:cNvPr name="Freeform 22" id="22"/>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23" id="23"/>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9AA3B8"/>
                  </a:solidFill>
                  <a:latin typeface="Arimo"/>
                  <a:ea typeface="Arimo"/>
                  <a:cs typeface="Arimo"/>
                  <a:sym typeface="Arimo"/>
                </a:rPr>
                <a:t>ECA</a:t>
              </a:r>
            </a:p>
          </p:txBody>
        </p:sp>
      </p:grpSp>
      <p:grpSp>
        <p:nvGrpSpPr>
          <p:cNvPr name="Group 24" id="24"/>
          <p:cNvGrpSpPr/>
          <p:nvPr/>
        </p:nvGrpSpPr>
        <p:grpSpPr>
          <a:xfrm rot="0">
            <a:off x="6533007" y="4928235"/>
            <a:ext cx="5162550" cy="842010"/>
            <a:chOff x="0" y="0"/>
            <a:chExt cx="6883400" cy="1122680"/>
          </a:xfrm>
        </p:grpSpPr>
        <p:sp>
          <p:nvSpPr>
            <p:cNvPr name="Freeform 25" id="25"/>
            <p:cNvSpPr/>
            <p:nvPr/>
          </p:nvSpPr>
          <p:spPr>
            <a:xfrm flipH="false" flipV="false" rot="0">
              <a:off x="0" y="0"/>
              <a:ext cx="6883400" cy="1122680"/>
            </a:xfrm>
            <a:custGeom>
              <a:avLst/>
              <a:gdLst/>
              <a:ahLst/>
              <a:cxnLst/>
              <a:rect r="r" b="b" t="t" l="l"/>
              <a:pathLst>
                <a:path h="1122680" w="6883400">
                  <a:moveTo>
                    <a:pt x="0" y="168402"/>
                  </a:moveTo>
                  <a:cubicBezTo>
                    <a:pt x="0" y="75438"/>
                    <a:pt x="75438" y="0"/>
                    <a:pt x="168402" y="0"/>
                  </a:cubicBezTo>
                  <a:lnTo>
                    <a:pt x="6714998" y="0"/>
                  </a:lnTo>
                  <a:cubicBezTo>
                    <a:pt x="6807962" y="0"/>
                    <a:pt x="6883400" y="75438"/>
                    <a:pt x="6883400" y="168402"/>
                  </a:cubicBezTo>
                  <a:lnTo>
                    <a:pt x="6883400" y="954278"/>
                  </a:lnTo>
                  <a:cubicBezTo>
                    <a:pt x="6883400" y="1047242"/>
                    <a:pt x="6807962" y="1122680"/>
                    <a:pt x="6714998" y="1122680"/>
                  </a:cubicBezTo>
                  <a:lnTo>
                    <a:pt x="168402" y="1122680"/>
                  </a:lnTo>
                  <a:cubicBezTo>
                    <a:pt x="75438" y="1122680"/>
                    <a:pt x="0" y="1047242"/>
                    <a:pt x="0" y="954278"/>
                  </a:cubicBezTo>
                  <a:close/>
                </a:path>
              </a:pathLst>
            </a:custGeom>
            <a:solidFill>
              <a:srgbClr val="C1272D"/>
            </a:solidFill>
            <a:ln w="19050" cap="sq">
              <a:solidFill>
                <a:srgbClr val="C1272D"/>
              </a:solidFill>
              <a:prstDash val="solid"/>
              <a:miter/>
            </a:ln>
          </p:spPr>
        </p:sp>
      </p:grpSp>
      <p:grpSp>
        <p:nvGrpSpPr>
          <p:cNvPr name="Group 26" id="26"/>
          <p:cNvGrpSpPr/>
          <p:nvPr/>
        </p:nvGrpSpPr>
        <p:grpSpPr>
          <a:xfrm rot="0">
            <a:off x="6542532" y="5006340"/>
            <a:ext cx="5143500" cy="521208"/>
            <a:chOff x="0" y="0"/>
            <a:chExt cx="6858000" cy="694944"/>
          </a:xfrm>
        </p:grpSpPr>
        <p:sp>
          <p:nvSpPr>
            <p:cNvPr name="Freeform 27" id="27"/>
            <p:cNvSpPr/>
            <p:nvPr/>
          </p:nvSpPr>
          <p:spPr>
            <a:xfrm flipH="false" flipV="false" rot="0">
              <a:off x="0" y="0"/>
              <a:ext cx="6858000" cy="694944"/>
            </a:xfrm>
            <a:custGeom>
              <a:avLst/>
              <a:gdLst/>
              <a:ahLst/>
              <a:cxnLst/>
              <a:rect r="r" b="b" t="t" l="l"/>
              <a:pathLst>
                <a:path h="694944" w="6858000">
                  <a:moveTo>
                    <a:pt x="0" y="0"/>
                  </a:moveTo>
                  <a:lnTo>
                    <a:pt x="6858000" y="0"/>
                  </a:lnTo>
                  <a:lnTo>
                    <a:pt x="6858000" y="694944"/>
                  </a:lnTo>
                  <a:lnTo>
                    <a:pt x="0" y="694944"/>
                  </a:lnTo>
                  <a:close/>
                </a:path>
              </a:pathLst>
            </a:custGeom>
            <a:blipFill>
              <a:blip r:embed="rId2">
                <a:alphaModFix amt="0"/>
              </a:blip>
              <a:stretch>
                <a:fillRect l="0" t="-142286" r="0" b="-142286"/>
              </a:stretch>
            </a:blipFill>
          </p:spPr>
        </p:sp>
        <p:sp>
          <p:nvSpPr>
            <p:cNvPr name="TextBox 28" id="28"/>
            <p:cNvSpPr txBox="true"/>
            <p:nvPr/>
          </p:nvSpPr>
          <p:spPr>
            <a:xfrm>
              <a:off x="0" y="-38100"/>
              <a:ext cx="6858000" cy="733044"/>
            </a:xfrm>
            <a:prstGeom prst="rect">
              <a:avLst/>
            </a:prstGeom>
          </p:spPr>
          <p:txBody>
            <a:bodyPr anchor="ctr" rtlCol="false" tIns="0" lIns="0" bIns="0" rIns="0"/>
            <a:lstStyle/>
            <a:p>
              <a:pPr algn="ctr">
                <a:lnSpc>
                  <a:spcPts val="2250"/>
                </a:lnSpc>
              </a:pPr>
              <a:r>
                <a:rPr lang="en-US" sz="1875" b="true">
                  <a:solidFill>
                    <a:srgbClr val="FFFFFF"/>
                  </a:solidFill>
                  <a:latin typeface="Calibri (MS) Bold"/>
                  <a:ea typeface="Calibri (MS) Bold"/>
                  <a:cs typeface="Calibri (MS) Bold"/>
                  <a:sym typeface="Calibri (MS) Bold"/>
                </a:rPr>
                <a:t>✓  Cybercrime Act</a:t>
              </a:r>
            </a:p>
          </p:txBody>
        </p:sp>
      </p:grpSp>
      <p:grpSp>
        <p:nvGrpSpPr>
          <p:cNvPr name="Group 29" id="29"/>
          <p:cNvGrpSpPr/>
          <p:nvPr/>
        </p:nvGrpSpPr>
        <p:grpSpPr>
          <a:xfrm rot="0">
            <a:off x="6542532" y="5376672"/>
            <a:ext cx="5143500" cy="329184"/>
            <a:chOff x="0" y="0"/>
            <a:chExt cx="6858000" cy="438912"/>
          </a:xfrm>
        </p:grpSpPr>
        <p:sp>
          <p:nvSpPr>
            <p:cNvPr name="Freeform 30" id="30"/>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31" id="31"/>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FFFFFF"/>
                  </a:solidFill>
                  <a:latin typeface="Arimo"/>
                  <a:ea typeface="Arimo"/>
                  <a:cs typeface="Arimo"/>
                  <a:sym typeface="Arimo"/>
                </a:rPr>
                <a:t>CPA</a:t>
              </a:r>
            </a:p>
          </p:txBody>
        </p:sp>
      </p:grpSp>
      <p:grpSp>
        <p:nvGrpSpPr>
          <p:cNvPr name="Group 32" id="32"/>
          <p:cNvGrpSpPr/>
          <p:nvPr/>
        </p:nvGrpSpPr>
        <p:grpSpPr>
          <a:xfrm rot="0">
            <a:off x="950595" y="5998083"/>
            <a:ext cx="5162550" cy="842010"/>
            <a:chOff x="0" y="0"/>
            <a:chExt cx="6883400" cy="1122680"/>
          </a:xfrm>
        </p:grpSpPr>
        <p:sp>
          <p:nvSpPr>
            <p:cNvPr name="Freeform 33" id="33"/>
            <p:cNvSpPr/>
            <p:nvPr/>
          </p:nvSpPr>
          <p:spPr>
            <a:xfrm flipH="false" flipV="false" rot="0">
              <a:off x="0" y="0"/>
              <a:ext cx="6883400" cy="1122680"/>
            </a:xfrm>
            <a:custGeom>
              <a:avLst/>
              <a:gdLst/>
              <a:ahLst/>
              <a:cxnLst/>
              <a:rect r="r" b="b" t="t" l="l"/>
              <a:pathLst>
                <a:path h="1122680" w="6883400">
                  <a:moveTo>
                    <a:pt x="0" y="168402"/>
                  </a:moveTo>
                  <a:cubicBezTo>
                    <a:pt x="0" y="75438"/>
                    <a:pt x="75438" y="0"/>
                    <a:pt x="168402" y="0"/>
                  </a:cubicBezTo>
                  <a:lnTo>
                    <a:pt x="6714998" y="0"/>
                  </a:lnTo>
                  <a:cubicBezTo>
                    <a:pt x="6807962" y="0"/>
                    <a:pt x="6883400" y="75438"/>
                    <a:pt x="6883400" y="168402"/>
                  </a:cubicBezTo>
                  <a:lnTo>
                    <a:pt x="6883400" y="954278"/>
                  </a:lnTo>
                  <a:cubicBezTo>
                    <a:pt x="6883400" y="1047242"/>
                    <a:pt x="6807962" y="1122680"/>
                    <a:pt x="6714998" y="1122680"/>
                  </a:cubicBezTo>
                  <a:lnTo>
                    <a:pt x="168402" y="1122680"/>
                  </a:lnTo>
                  <a:cubicBezTo>
                    <a:pt x="75438" y="1122680"/>
                    <a:pt x="0" y="1047242"/>
                    <a:pt x="0" y="954278"/>
                  </a:cubicBezTo>
                  <a:close/>
                </a:path>
              </a:pathLst>
            </a:custGeom>
            <a:solidFill>
              <a:srgbClr val="F4F7FC"/>
            </a:solidFill>
            <a:ln w="19050" cap="sq">
              <a:solidFill>
                <a:srgbClr val="D7DCEC"/>
              </a:solidFill>
              <a:prstDash val="solid"/>
              <a:miter/>
            </a:ln>
          </p:spPr>
        </p:sp>
      </p:grpSp>
      <p:grpSp>
        <p:nvGrpSpPr>
          <p:cNvPr name="Group 34" id="34"/>
          <p:cNvGrpSpPr/>
          <p:nvPr/>
        </p:nvGrpSpPr>
        <p:grpSpPr>
          <a:xfrm rot="0">
            <a:off x="960120" y="6076188"/>
            <a:ext cx="5143500" cy="521208"/>
            <a:chOff x="0" y="0"/>
            <a:chExt cx="6858000" cy="694944"/>
          </a:xfrm>
        </p:grpSpPr>
        <p:sp>
          <p:nvSpPr>
            <p:cNvPr name="Freeform 35" id="35"/>
            <p:cNvSpPr/>
            <p:nvPr/>
          </p:nvSpPr>
          <p:spPr>
            <a:xfrm flipH="false" flipV="false" rot="0">
              <a:off x="0" y="0"/>
              <a:ext cx="6858000" cy="694944"/>
            </a:xfrm>
            <a:custGeom>
              <a:avLst/>
              <a:gdLst/>
              <a:ahLst/>
              <a:cxnLst/>
              <a:rect r="r" b="b" t="t" l="l"/>
              <a:pathLst>
                <a:path h="694944" w="6858000">
                  <a:moveTo>
                    <a:pt x="0" y="0"/>
                  </a:moveTo>
                  <a:lnTo>
                    <a:pt x="6858000" y="0"/>
                  </a:lnTo>
                  <a:lnTo>
                    <a:pt x="6858000" y="694944"/>
                  </a:lnTo>
                  <a:lnTo>
                    <a:pt x="0" y="694944"/>
                  </a:lnTo>
                  <a:close/>
                </a:path>
              </a:pathLst>
            </a:custGeom>
            <a:blipFill>
              <a:blip r:embed="rId2">
                <a:alphaModFix amt="0"/>
              </a:blip>
              <a:stretch>
                <a:fillRect l="0" t="-142286" r="0" b="-142286"/>
              </a:stretch>
            </a:blipFill>
          </p:spPr>
        </p:sp>
        <p:sp>
          <p:nvSpPr>
            <p:cNvPr name="TextBox 36" id="36"/>
            <p:cNvSpPr txBox="true"/>
            <p:nvPr/>
          </p:nvSpPr>
          <p:spPr>
            <a:xfrm>
              <a:off x="0" y="-38100"/>
              <a:ext cx="6858000" cy="733044"/>
            </a:xfrm>
            <a:prstGeom prst="rect">
              <a:avLst/>
            </a:prstGeom>
          </p:spPr>
          <p:txBody>
            <a:bodyPr anchor="ctr" rtlCol="false" tIns="0" lIns="0" bIns="0" rIns="0"/>
            <a:lstStyle/>
            <a:p>
              <a:pPr algn="ctr">
                <a:lnSpc>
                  <a:spcPts val="2250"/>
                </a:lnSpc>
              </a:pPr>
              <a:r>
                <a:rPr lang="en-US" sz="1875">
                  <a:solidFill>
                    <a:srgbClr val="6B7280"/>
                  </a:solidFill>
                  <a:latin typeface="Calibri (MS)"/>
                  <a:ea typeface="Calibri (MS)"/>
                  <a:cs typeface="Calibri (MS)"/>
                  <a:sym typeface="Calibri (MS)"/>
                </a:rPr>
                <a:t>Data Privacy Act</a:t>
              </a:r>
            </a:p>
          </p:txBody>
        </p:sp>
      </p:grpSp>
      <p:grpSp>
        <p:nvGrpSpPr>
          <p:cNvPr name="Group 37" id="37"/>
          <p:cNvGrpSpPr/>
          <p:nvPr/>
        </p:nvGrpSpPr>
        <p:grpSpPr>
          <a:xfrm rot="0">
            <a:off x="960120" y="6446520"/>
            <a:ext cx="5143500" cy="329184"/>
            <a:chOff x="0" y="0"/>
            <a:chExt cx="6858000" cy="438912"/>
          </a:xfrm>
        </p:grpSpPr>
        <p:sp>
          <p:nvSpPr>
            <p:cNvPr name="Freeform 38" id="38"/>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39" id="39"/>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9AA3B8"/>
                  </a:solidFill>
                  <a:latin typeface="Arimo"/>
                  <a:ea typeface="Arimo"/>
                  <a:cs typeface="Arimo"/>
                  <a:sym typeface="Arimo"/>
                </a:rPr>
                <a:t>DPA</a:t>
              </a:r>
            </a:p>
          </p:txBody>
        </p:sp>
      </p:grpSp>
      <p:grpSp>
        <p:nvGrpSpPr>
          <p:cNvPr name="Group 40" id="40"/>
          <p:cNvGrpSpPr/>
          <p:nvPr/>
        </p:nvGrpSpPr>
        <p:grpSpPr>
          <a:xfrm rot="0">
            <a:off x="6533007" y="5998083"/>
            <a:ext cx="5162550" cy="842010"/>
            <a:chOff x="0" y="0"/>
            <a:chExt cx="6883400" cy="1122680"/>
          </a:xfrm>
        </p:grpSpPr>
        <p:sp>
          <p:nvSpPr>
            <p:cNvPr name="Freeform 41" id="41"/>
            <p:cNvSpPr/>
            <p:nvPr/>
          </p:nvSpPr>
          <p:spPr>
            <a:xfrm flipH="false" flipV="false" rot="0">
              <a:off x="0" y="0"/>
              <a:ext cx="6883400" cy="1122680"/>
            </a:xfrm>
            <a:custGeom>
              <a:avLst/>
              <a:gdLst/>
              <a:ahLst/>
              <a:cxnLst/>
              <a:rect r="r" b="b" t="t" l="l"/>
              <a:pathLst>
                <a:path h="1122680" w="6883400">
                  <a:moveTo>
                    <a:pt x="0" y="168402"/>
                  </a:moveTo>
                  <a:cubicBezTo>
                    <a:pt x="0" y="75438"/>
                    <a:pt x="75438" y="0"/>
                    <a:pt x="168402" y="0"/>
                  </a:cubicBezTo>
                  <a:lnTo>
                    <a:pt x="6714998" y="0"/>
                  </a:lnTo>
                  <a:cubicBezTo>
                    <a:pt x="6807962" y="0"/>
                    <a:pt x="6883400" y="75438"/>
                    <a:pt x="6883400" y="168402"/>
                  </a:cubicBezTo>
                  <a:lnTo>
                    <a:pt x="6883400" y="954278"/>
                  </a:lnTo>
                  <a:cubicBezTo>
                    <a:pt x="6883400" y="1047242"/>
                    <a:pt x="6807962" y="1122680"/>
                    <a:pt x="6714998" y="1122680"/>
                  </a:cubicBezTo>
                  <a:lnTo>
                    <a:pt x="168402" y="1122680"/>
                  </a:lnTo>
                  <a:cubicBezTo>
                    <a:pt x="75438" y="1122680"/>
                    <a:pt x="0" y="1047242"/>
                    <a:pt x="0" y="954278"/>
                  </a:cubicBezTo>
                  <a:close/>
                </a:path>
              </a:pathLst>
            </a:custGeom>
            <a:solidFill>
              <a:srgbClr val="F4F7FC"/>
            </a:solidFill>
            <a:ln w="19050" cap="sq">
              <a:solidFill>
                <a:srgbClr val="D7DCEC"/>
              </a:solidFill>
              <a:prstDash val="solid"/>
              <a:miter/>
            </a:ln>
          </p:spPr>
        </p:sp>
      </p:grpSp>
      <p:grpSp>
        <p:nvGrpSpPr>
          <p:cNvPr name="Group 42" id="42"/>
          <p:cNvGrpSpPr/>
          <p:nvPr/>
        </p:nvGrpSpPr>
        <p:grpSpPr>
          <a:xfrm rot="0">
            <a:off x="6542532" y="6076188"/>
            <a:ext cx="5143500" cy="521208"/>
            <a:chOff x="0" y="0"/>
            <a:chExt cx="6858000" cy="694944"/>
          </a:xfrm>
        </p:grpSpPr>
        <p:sp>
          <p:nvSpPr>
            <p:cNvPr name="Freeform 43" id="43"/>
            <p:cNvSpPr/>
            <p:nvPr/>
          </p:nvSpPr>
          <p:spPr>
            <a:xfrm flipH="false" flipV="false" rot="0">
              <a:off x="0" y="0"/>
              <a:ext cx="6858000" cy="694944"/>
            </a:xfrm>
            <a:custGeom>
              <a:avLst/>
              <a:gdLst/>
              <a:ahLst/>
              <a:cxnLst/>
              <a:rect r="r" b="b" t="t" l="l"/>
              <a:pathLst>
                <a:path h="694944" w="6858000">
                  <a:moveTo>
                    <a:pt x="0" y="0"/>
                  </a:moveTo>
                  <a:lnTo>
                    <a:pt x="6858000" y="0"/>
                  </a:lnTo>
                  <a:lnTo>
                    <a:pt x="6858000" y="694944"/>
                  </a:lnTo>
                  <a:lnTo>
                    <a:pt x="0" y="694944"/>
                  </a:lnTo>
                  <a:close/>
                </a:path>
              </a:pathLst>
            </a:custGeom>
            <a:blipFill>
              <a:blip r:embed="rId2">
                <a:alphaModFix amt="0"/>
              </a:blip>
              <a:stretch>
                <a:fillRect l="0" t="-142286" r="0" b="-142286"/>
              </a:stretch>
            </a:blipFill>
          </p:spPr>
        </p:sp>
        <p:sp>
          <p:nvSpPr>
            <p:cNvPr name="TextBox 44" id="44"/>
            <p:cNvSpPr txBox="true"/>
            <p:nvPr/>
          </p:nvSpPr>
          <p:spPr>
            <a:xfrm>
              <a:off x="0" y="-38100"/>
              <a:ext cx="6858000" cy="733044"/>
            </a:xfrm>
            <a:prstGeom prst="rect">
              <a:avLst/>
            </a:prstGeom>
          </p:spPr>
          <p:txBody>
            <a:bodyPr anchor="ctr" rtlCol="false" tIns="0" lIns="0" bIns="0" rIns="0"/>
            <a:lstStyle/>
            <a:p>
              <a:pPr algn="ctr">
                <a:lnSpc>
                  <a:spcPts val="2250"/>
                </a:lnSpc>
              </a:pPr>
              <a:r>
                <a:rPr lang="en-US" sz="1875">
                  <a:solidFill>
                    <a:srgbClr val="6B7280"/>
                  </a:solidFill>
                  <a:latin typeface="Calibri (MS)"/>
                  <a:ea typeface="Calibri (MS)"/>
                  <a:cs typeface="Calibri (MS)"/>
                  <a:sym typeface="Calibri (MS)"/>
                </a:rPr>
                <a:t>DICT Act / NCSP</a:t>
              </a:r>
            </a:p>
          </p:txBody>
        </p:sp>
      </p:grpSp>
      <p:grpSp>
        <p:nvGrpSpPr>
          <p:cNvPr name="Group 45" id="45"/>
          <p:cNvGrpSpPr/>
          <p:nvPr/>
        </p:nvGrpSpPr>
        <p:grpSpPr>
          <a:xfrm rot="0">
            <a:off x="6542532" y="6446520"/>
            <a:ext cx="5143500" cy="329184"/>
            <a:chOff x="0" y="0"/>
            <a:chExt cx="6858000" cy="438912"/>
          </a:xfrm>
        </p:grpSpPr>
        <p:sp>
          <p:nvSpPr>
            <p:cNvPr name="Freeform 46" id="46"/>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47" id="47"/>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9AA3B8"/>
                  </a:solidFill>
                  <a:latin typeface="Arimo"/>
                  <a:ea typeface="Arimo"/>
                  <a:cs typeface="Arimo"/>
                  <a:sym typeface="Arimo"/>
                </a:rPr>
                <a:t>DICT</a:t>
              </a:r>
            </a:p>
          </p:txBody>
        </p:sp>
      </p:grpSp>
      <p:grpSp>
        <p:nvGrpSpPr>
          <p:cNvPr name="Group 48" id="48"/>
          <p:cNvGrpSpPr/>
          <p:nvPr/>
        </p:nvGrpSpPr>
        <p:grpSpPr>
          <a:xfrm rot="0">
            <a:off x="12115419" y="4928235"/>
            <a:ext cx="5162550" cy="1911858"/>
            <a:chOff x="0" y="0"/>
            <a:chExt cx="6883400" cy="2549144"/>
          </a:xfrm>
        </p:grpSpPr>
        <p:sp>
          <p:nvSpPr>
            <p:cNvPr name="Freeform 49" id="49"/>
            <p:cNvSpPr/>
            <p:nvPr/>
          </p:nvSpPr>
          <p:spPr>
            <a:xfrm flipH="false" flipV="false" rot="0">
              <a:off x="0" y="0"/>
              <a:ext cx="6883400" cy="2549144"/>
            </a:xfrm>
            <a:custGeom>
              <a:avLst/>
              <a:gdLst/>
              <a:ahLst/>
              <a:cxnLst/>
              <a:rect r="r" b="b" t="t" l="l"/>
              <a:pathLst>
                <a:path h="2549144" w="6883400">
                  <a:moveTo>
                    <a:pt x="0" y="166243"/>
                  </a:moveTo>
                  <a:cubicBezTo>
                    <a:pt x="0" y="74422"/>
                    <a:pt x="74422" y="0"/>
                    <a:pt x="166243" y="0"/>
                  </a:cubicBezTo>
                  <a:lnTo>
                    <a:pt x="6717157" y="0"/>
                  </a:lnTo>
                  <a:cubicBezTo>
                    <a:pt x="6808978" y="0"/>
                    <a:pt x="6883400" y="74422"/>
                    <a:pt x="6883400" y="166243"/>
                  </a:cubicBezTo>
                  <a:lnTo>
                    <a:pt x="6883400" y="2382901"/>
                  </a:lnTo>
                  <a:cubicBezTo>
                    <a:pt x="6883400" y="2474722"/>
                    <a:pt x="6808978" y="2549144"/>
                    <a:pt x="6717157" y="2549144"/>
                  </a:cubicBezTo>
                  <a:lnTo>
                    <a:pt x="166243" y="2549144"/>
                  </a:lnTo>
                  <a:cubicBezTo>
                    <a:pt x="74422" y="2549144"/>
                    <a:pt x="0" y="2474722"/>
                    <a:pt x="0" y="2382901"/>
                  </a:cubicBezTo>
                  <a:close/>
                </a:path>
              </a:pathLst>
            </a:custGeom>
            <a:solidFill>
              <a:srgbClr val="F4F7FC"/>
            </a:solidFill>
            <a:ln w="19050" cap="sq">
              <a:solidFill>
                <a:srgbClr val="D7DCEC"/>
              </a:solidFill>
              <a:prstDash val="solid"/>
              <a:miter/>
            </a:ln>
          </p:spPr>
        </p:sp>
      </p:grpSp>
      <p:grpSp>
        <p:nvGrpSpPr>
          <p:cNvPr name="Group 50" id="50"/>
          <p:cNvGrpSpPr/>
          <p:nvPr/>
        </p:nvGrpSpPr>
        <p:grpSpPr>
          <a:xfrm rot="0">
            <a:off x="12124944" y="5006340"/>
            <a:ext cx="5143500" cy="1591056"/>
            <a:chOff x="0" y="0"/>
            <a:chExt cx="6858000" cy="2121408"/>
          </a:xfrm>
        </p:grpSpPr>
        <p:sp>
          <p:nvSpPr>
            <p:cNvPr name="Freeform 51" id="51"/>
            <p:cNvSpPr/>
            <p:nvPr/>
          </p:nvSpPr>
          <p:spPr>
            <a:xfrm flipH="false" flipV="false" rot="0">
              <a:off x="0" y="0"/>
              <a:ext cx="6858000" cy="2121408"/>
            </a:xfrm>
            <a:custGeom>
              <a:avLst/>
              <a:gdLst/>
              <a:ahLst/>
              <a:cxnLst/>
              <a:rect r="r" b="b" t="t" l="l"/>
              <a:pathLst>
                <a:path h="2121408" w="6858000">
                  <a:moveTo>
                    <a:pt x="0" y="0"/>
                  </a:moveTo>
                  <a:lnTo>
                    <a:pt x="6858000" y="0"/>
                  </a:lnTo>
                  <a:lnTo>
                    <a:pt x="6858000" y="2121408"/>
                  </a:lnTo>
                  <a:lnTo>
                    <a:pt x="0" y="2121408"/>
                  </a:lnTo>
                  <a:close/>
                </a:path>
              </a:pathLst>
            </a:custGeom>
            <a:blipFill>
              <a:blip r:embed="rId2">
                <a:alphaModFix amt="0"/>
              </a:blip>
              <a:stretch>
                <a:fillRect l="0" t="-12990" r="0" b="-12990"/>
              </a:stretch>
            </a:blipFill>
          </p:spPr>
        </p:sp>
        <p:sp>
          <p:nvSpPr>
            <p:cNvPr name="TextBox 52" id="52"/>
            <p:cNvSpPr txBox="true"/>
            <p:nvPr/>
          </p:nvSpPr>
          <p:spPr>
            <a:xfrm>
              <a:off x="0" y="-38100"/>
              <a:ext cx="6858000" cy="2159508"/>
            </a:xfrm>
            <a:prstGeom prst="rect">
              <a:avLst/>
            </a:prstGeom>
          </p:spPr>
          <p:txBody>
            <a:bodyPr anchor="ctr" rtlCol="false" tIns="0" lIns="0" bIns="0" rIns="0"/>
            <a:lstStyle/>
            <a:p>
              <a:pPr algn="ctr">
                <a:lnSpc>
                  <a:spcPts val="2250"/>
                </a:lnSpc>
              </a:pPr>
              <a:r>
                <a:rPr lang="en-US" sz="1875">
                  <a:solidFill>
                    <a:srgbClr val="6B7280"/>
                  </a:solidFill>
                  <a:latin typeface="Calibri (MS)"/>
                  <a:ea typeface="Calibri (MS)"/>
                  <a:cs typeface="Calibri (MS)"/>
                  <a:sym typeface="Calibri (MS)"/>
                </a:rPr>
                <a:t>Critical Infra. Protection</a:t>
              </a:r>
            </a:p>
          </p:txBody>
        </p:sp>
      </p:grpSp>
      <p:grpSp>
        <p:nvGrpSpPr>
          <p:cNvPr name="Group 53" id="53"/>
          <p:cNvGrpSpPr/>
          <p:nvPr/>
        </p:nvGrpSpPr>
        <p:grpSpPr>
          <a:xfrm rot="0">
            <a:off x="12124944" y="6446520"/>
            <a:ext cx="5143500" cy="329184"/>
            <a:chOff x="0" y="0"/>
            <a:chExt cx="6858000" cy="438912"/>
          </a:xfrm>
        </p:grpSpPr>
        <p:sp>
          <p:nvSpPr>
            <p:cNvPr name="Freeform 54" id="54"/>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55" id="55"/>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9AA3B8"/>
                  </a:solidFill>
                  <a:latin typeface="Arimo"/>
                  <a:ea typeface="Arimo"/>
                  <a:cs typeface="Arimo"/>
                  <a:sym typeface="Arimo"/>
                </a:rPr>
                <a:t>CII</a:t>
              </a:r>
            </a:p>
          </p:txBody>
        </p:sp>
      </p:grpSp>
      <p:grpSp>
        <p:nvGrpSpPr>
          <p:cNvPr name="Group 56" id="56"/>
          <p:cNvGrpSpPr/>
          <p:nvPr/>
        </p:nvGrpSpPr>
        <p:grpSpPr>
          <a:xfrm rot="0">
            <a:off x="950595" y="7328535"/>
            <a:ext cx="16341090" cy="1596390"/>
            <a:chOff x="0" y="0"/>
            <a:chExt cx="21788120" cy="2128520"/>
          </a:xfrm>
        </p:grpSpPr>
        <p:sp>
          <p:nvSpPr>
            <p:cNvPr name="Freeform 57" id="57"/>
            <p:cNvSpPr/>
            <p:nvPr/>
          </p:nvSpPr>
          <p:spPr>
            <a:xfrm flipH="false" flipV="false" rot="0">
              <a:off x="0" y="0"/>
              <a:ext cx="21788120" cy="2128520"/>
            </a:xfrm>
            <a:custGeom>
              <a:avLst/>
              <a:gdLst/>
              <a:ahLst/>
              <a:cxnLst/>
              <a:rect r="r" b="b" t="t" l="l"/>
              <a:pathLst>
                <a:path h="2128520" w="21788120">
                  <a:moveTo>
                    <a:pt x="0" y="185039"/>
                  </a:moveTo>
                  <a:cubicBezTo>
                    <a:pt x="0" y="82931"/>
                    <a:pt x="82931" y="0"/>
                    <a:pt x="185039" y="0"/>
                  </a:cubicBezTo>
                  <a:lnTo>
                    <a:pt x="21603081" y="0"/>
                  </a:lnTo>
                  <a:cubicBezTo>
                    <a:pt x="21705317" y="0"/>
                    <a:pt x="21788120" y="82931"/>
                    <a:pt x="21788120" y="185039"/>
                  </a:cubicBezTo>
                  <a:lnTo>
                    <a:pt x="21788120" y="1943481"/>
                  </a:lnTo>
                  <a:cubicBezTo>
                    <a:pt x="21788120" y="2045716"/>
                    <a:pt x="21705190" y="2128520"/>
                    <a:pt x="21603081" y="2128520"/>
                  </a:cubicBezTo>
                  <a:lnTo>
                    <a:pt x="185039" y="2128520"/>
                  </a:lnTo>
                  <a:cubicBezTo>
                    <a:pt x="82931" y="2128520"/>
                    <a:pt x="0" y="2045589"/>
                    <a:pt x="0" y="1943481"/>
                  </a:cubicBezTo>
                  <a:close/>
                </a:path>
              </a:pathLst>
            </a:custGeom>
            <a:solidFill>
              <a:srgbClr val="FBF9F4"/>
            </a:solidFill>
            <a:ln w="19050" cap="sq">
              <a:solidFill>
                <a:srgbClr val="EFE6D2"/>
              </a:solidFill>
              <a:prstDash val="solid"/>
              <a:miter/>
            </a:ln>
          </p:spPr>
        </p:sp>
      </p:grpSp>
      <p:sp>
        <p:nvSpPr>
          <p:cNvPr name="TextBox 58" id="58"/>
          <p:cNvSpPr txBox="true"/>
          <p:nvPr/>
        </p:nvSpPr>
        <p:spPr>
          <a:xfrm rot="0">
            <a:off x="1463040" y="7494270"/>
            <a:ext cx="15316200" cy="1238250"/>
          </a:xfrm>
          <a:prstGeom prst="rect">
            <a:avLst/>
          </a:prstGeom>
        </p:spPr>
        <p:txBody>
          <a:bodyPr anchor="t" rtlCol="false" tIns="0" lIns="0" bIns="0" rIns="0">
            <a:spAutoFit/>
          </a:bodyPr>
          <a:lstStyle/>
          <a:p>
            <a:pPr algn="l">
              <a:lnSpc>
                <a:spcPts val="2764"/>
              </a:lnSpc>
            </a:pPr>
            <a:r>
              <a:rPr lang="en-US" sz="1800">
                <a:solidFill>
                  <a:srgbClr val="23262F"/>
                </a:solidFill>
                <a:latin typeface="Calibri (MS)"/>
                <a:ea typeface="Calibri (MS)"/>
                <a:cs typeface="Calibri (MS)"/>
                <a:sym typeface="Calibri (MS)"/>
              </a:rPr>
              <a:t>Deceiving someone through a computer system to cause financial loss is computer-related fraud under RA 10175 — prisión mayor and/or a fine starting at ₱200,000.</a:t>
            </a:r>
          </a:p>
        </p:txBody>
      </p:sp>
      <p:grpSp>
        <p:nvGrpSpPr>
          <p:cNvPr name="Group 59" id="59"/>
          <p:cNvGrpSpPr/>
          <p:nvPr/>
        </p:nvGrpSpPr>
        <p:grpSpPr>
          <a:xfrm rot="0">
            <a:off x="685800" y="9710928"/>
            <a:ext cx="10972800" cy="411480"/>
            <a:chOff x="0" y="0"/>
            <a:chExt cx="14630400" cy="548640"/>
          </a:xfrm>
        </p:grpSpPr>
        <p:sp>
          <p:nvSpPr>
            <p:cNvPr name="Freeform 60" id="60"/>
            <p:cNvSpPr/>
            <p:nvPr/>
          </p:nvSpPr>
          <p:spPr>
            <a:xfrm flipH="false" flipV="false" rot="0">
              <a:off x="0" y="0"/>
              <a:ext cx="14630400" cy="548640"/>
            </a:xfrm>
            <a:custGeom>
              <a:avLst/>
              <a:gdLst/>
              <a:ahLst/>
              <a:cxnLst/>
              <a:rect r="r" b="b" t="t" l="l"/>
              <a:pathLst>
                <a:path h="548640" w="14630400">
                  <a:moveTo>
                    <a:pt x="0" y="0"/>
                  </a:moveTo>
                  <a:lnTo>
                    <a:pt x="14630400" y="0"/>
                  </a:lnTo>
                  <a:lnTo>
                    <a:pt x="14630400" y="548640"/>
                  </a:lnTo>
                  <a:lnTo>
                    <a:pt x="0" y="548640"/>
                  </a:lnTo>
                  <a:close/>
                </a:path>
              </a:pathLst>
            </a:custGeom>
            <a:blipFill>
              <a:blip r:embed="rId2">
                <a:alphaModFix amt="0"/>
              </a:blip>
              <a:stretch>
                <a:fillRect l="0" t="-469601" r="0" b="-469601"/>
              </a:stretch>
            </a:blipFill>
          </p:spPr>
        </p:sp>
        <p:sp>
          <p:nvSpPr>
            <p:cNvPr name="TextBox 61" id="61"/>
            <p:cNvSpPr txBox="true"/>
            <p:nvPr/>
          </p:nvSpPr>
          <p:spPr>
            <a:xfrm>
              <a:off x="0" y="-38100"/>
              <a:ext cx="14630400" cy="586740"/>
            </a:xfrm>
            <a:prstGeom prst="rect">
              <a:avLst/>
            </a:prstGeom>
          </p:spPr>
          <p:txBody>
            <a:bodyPr anchor="ctr" rtlCol="false" tIns="0" lIns="0" bIns="0" rIns="0"/>
            <a:lstStyle/>
            <a:p>
              <a:pPr algn="l">
                <a:lnSpc>
                  <a:spcPts val="1800"/>
                </a:lnSpc>
              </a:pPr>
              <a:r>
                <a:rPr lang="en-US" sz="1500">
                  <a:solidFill>
                    <a:srgbClr val="6B7280"/>
                  </a:solidFill>
                  <a:latin typeface="Calibri (MS)"/>
                  <a:ea typeface="Calibri (MS)"/>
                  <a:cs typeface="Calibri (MS)"/>
                  <a:sym typeface="Calibri (MS)"/>
                </a:rPr>
                <a:t>Davao del Norte Provincial Government — Cybersecurity Seminar</a:t>
              </a:r>
            </a:p>
          </p:txBody>
        </p:sp>
      </p:grpSp>
      <p:grpSp>
        <p:nvGrpSpPr>
          <p:cNvPr name="Group 62" id="62"/>
          <p:cNvGrpSpPr/>
          <p:nvPr/>
        </p:nvGrpSpPr>
        <p:grpSpPr>
          <a:xfrm rot="0">
            <a:off x="16911828" y="9710928"/>
            <a:ext cx="685800" cy="411480"/>
            <a:chOff x="0" y="0"/>
            <a:chExt cx="914400" cy="548640"/>
          </a:xfrm>
        </p:grpSpPr>
        <p:sp>
          <p:nvSpPr>
            <p:cNvPr name="Freeform 63" id="63"/>
            <p:cNvSpPr/>
            <p:nvPr/>
          </p:nvSpPr>
          <p:spPr>
            <a:xfrm flipH="false" flipV="false" rot="0">
              <a:off x="0" y="0"/>
              <a:ext cx="914400" cy="548640"/>
            </a:xfrm>
            <a:custGeom>
              <a:avLst/>
              <a:gdLst/>
              <a:ahLst/>
              <a:cxnLst/>
              <a:rect r="r" b="b" t="t" l="l"/>
              <a:pathLst>
                <a:path h="548640" w="914400">
                  <a:moveTo>
                    <a:pt x="0" y="0"/>
                  </a:moveTo>
                  <a:lnTo>
                    <a:pt x="914400" y="0"/>
                  </a:lnTo>
                  <a:lnTo>
                    <a:pt x="914400" y="548640"/>
                  </a:lnTo>
                  <a:lnTo>
                    <a:pt x="0" y="548640"/>
                  </a:lnTo>
                  <a:close/>
                </a:path>
              </a:pathLst>
            </a:custGeom>
            <a:blipFill>
              <a:blip r:embed="rId2">
                <a:alphaModFix amt="0"/>
              </a:blip>
              <a:stretch>
                <a:fillRect l="-26982" t="0" r="-26982" b="0"/>
              </a:stretch>
            </a:blipFill>
          </p:spPr>
        </p:sp>
        <p:sp>
          <p:nvSpPr>
            <p:cNvPr name="TextBox 64" id="64"/>
            <p:cNvSpPr txBox="true"/>
            <p:nvPr/>
          </p:nvSpPr>
          <p:spPr>
            <a:xfrm>
              <a:off x="0" y="-38100"/>
              <a:ext cx="914400" cy="586740"/>
            </a:xfrm>
            <a:prstGeom prst="rect">
              <a:avLst/>
            </a:prstGeom>
          </p:spPr>
          <p:txBody>
            <a:bodyPr anchor="ctr" rtlCol="false" tIns="0" lIns="0" bIns="0" rIns="0"/>
            <a:lstStyle/>
            <a:p>
              <a:pPr algn="r">
                <a:lnSpc>
                  <a:spcPts val="1800"/>
                </a:lnSpc>
              </a:pPr>
              <a:r>
                <a:rPr lang="en-US" sz="1500">
                  <a:solidFill>
                    <a:srgbClr val="6B7280"/>
                  </a:solidFill>
                  <a:latin typeface="Calibri (MS)"/>
                  <a:ea typeface="Calibri (MS)"/>
                  <a:cs typeface="Calibri (MS)"/>
                  <a:sym typeface="Calibri (MS)"/>
                </a:rPr>
                <a:t>24</a:t>
              </a:r>
            </a:p>
          </p:txBody>
        </p:sp>
      </p:grpSp>
    </p:spTree>
  </p:cSld>
  <p:clrMapOvr>
    <a:masterClrMapping/>
  </p:clrMapOvr>
</p:sld>
</file>

<file path=ppt/slides/slide14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60120" y="685800"/>
            <a:ext cx="13716000" cy="411480"/>
            <a:chOff x="0" y="0"/>
            <a:chExt cx="18288000" cy="548640"/>
          </a:xfrm>
        </p:grpSpPr>
        <p:sp>
          <p:nvSpPr>
            <p:cNvPr name="Freeform 3" id="3"/>
            <p:cNvSpPr/>
            <p:nvPr/>
          </p:nvSpPr>
          <p:spPr>
            <a:xfrm flipH="false" flipV="false" rot="0">
              <a:off x="0" y="0"/>
              <a:ext cx="18288000" cy="548640"/>
            </a:xfrm>
            <a:custGeom>
              <a:avLst/>
              <a:gdLst/>
              <a:ahLst/>
              <a:cxnLst/>
              <a:rect r="r" b="b" t="t" l="l"/>
              <a:pathLst>
                <a:path h="548640" w="18288000">
                  <a:moveTo>
                    <a:pt x="0" y="0"/>
                  </a:moveTo>
                  <a:lnTo>
                    <a:pt x="18288000" y="0"/>
                  </a:lnTo>
                  <a:lnTo>
                    <a:pt x="18288000" y="548640"/>
                  </a:lnTo>
                  <a:lnTo>
                    <a:pt x="0" y="548640"/>
                  </a:lnTo>
                  <a:close/>
                </a:path>
              </a:pathLst>
            </a:custGeom>
            <a:blipFill>
              <a:blip r:embed="rId2">
                <a:alphaModFix amt="0"/>
              </a:blip>
              <a:stretch>
                <a:fillRect l="0" t="-599501" r="0" b="-599501"/>
              </a:stretch>
            </a:blipFill>
          </p:spPr>
        </p:sp>
        <p:sp>
          <p:nvSpPr>
            <p:cNvPr name="TextBox 4" id="4"/>
            <p:cNvSpPr txBox="true"/>
            <p:nvPr/>
          </p:nvSpPr>
          <p:spPr>
            <a:xfrm>
              <a:off x="0" y="-38100"/>
              <a:ext cx="18288000" cy="586740"/>
            </a:xfrm>
            <a:prstGeom prst="rect">
              <a:avLst/>
            </a:prstGeom>
          </p:spPr>
          <p:txBody>
            <a:bodyPr anchor="ctr" rtlCol="false" tIns="0" lIns="0" bIns="0" rIns="0"/>
            <a:lstStyle/>
            <a:p>
              <a:pPr algn="l">
                <a:lnSpc>
                  <a:spcPts val="2160"/>
                </a:lnSpc>
              </a:pPr>
              <a:r>
                <a:rPr lang="en-US" b="true" sz="1800" spc="225">
                  <a:solidFill>
                    <a:srgbClr val="00B4D8"/>
                  </a:solidFill>
                  <a:latin typeface="Calibri (MS) Bold"/>
                  <a:ea typeface="Calibri (MS) Bold"/>
                  <a:cs typeface="Calibri (MS) Bold"/>
                  <a:sym typeface="Calibri (MS) Bold"/>
                </a:rPr>
                <a:t>PH CYBER LAW SORT · SCENARIO</a:t>
              </a:r>
            </a:p>
          </p:txBody>
        </p:sp>
      </p:grpSp>
      <p:grpSp>
        <p:nvGrpSpPr>
          <p:cNvPr name="Group 5" id="5"/>
          <p:cNvGrpSpPr/>
          <p:nvPr/>
        </p:nvGrpSpPr>
        <p:grpSpPr>
          <a:xfrm rot="0">
            <a:off x="960120" y="1069848"/>
            <a:ext cx="10972800" cy="822960"/>
            <a:chOff x="0" y="0"/>
            <a:chExt cx="14630400" cy="1097280"/>
          </a:xfrm>
        </p:grpSpPr>
        <p:sp>
          <p:nvSpPr>
            <p:cNvPr name="Freeform 6" id="6"/>
            <p:cNvSpPr/>
            <p:nvPr/>
          </p:nvSpPr>
          <p:spPr>
            <a:xfrm flipH="false" flipV="false" rot="0">
              <a:off x="0" y="0"/>
              <a:ext cx="14630400" cy="1097280"/>
            </a:xfrm>
            <a:custGeom>
              <a:avLst/>
              <a:gdLst/>
              <a:ahLst/>
              <a:cxnLst/>
              <a:rect r="r" b="b" t="t" l="l"/>
              <a:pathLst>
                <a:path h="1097280" w="14630400">
                  <a:moveTo>
                    <a:pt x="0" y="0"/>
                  </a:moveTo>
                  <a:lnTo>
                    <a:pt x="14630400" y="0"/>
                  </a:lnTo>
                  <a:lnTo>
                    <a:pt x="14630400" y="1097280"/>
                  </a:lnTo>
                  <a:lnTo>
                    <a:pt x="0" y="1097280"/>
                  </a:lnTo>
                  <a:close/>
                </a:path>
              </a:pathLst>
            </a:custGeom>
            <a:blipFill>
              <a:blip r:embed="rId2">
                <a:alphaModFix amt="0"/>
              </a:blip>
              <a:stretch>
                <a:fillRect l="0" t="-209800" r="0" b="-209800"/>
              </a:stretch>
            </a:blipFill>
          </p:spPr>
        </p:sp>
        <p:sp>
          <p:nvSpPr>
            <p:cNvPr name="TextBox 7" id="7"/>
            <p:cNvSpPr txBox="true"/>
            <p:nvPr/>
          </p:nvSpPr>
          <p:spPr>
            <a:xfrm>
              <a:off x="0" y="0"/>
              <a:ext cx="14630400" cy="1097280"/>
            </a:xfrm>
            <a:prstGeom prst="rect">
              <a:avLst/>
            </a:prstGeom>
          </p:spPr>
          <p:txBody>
            <a:bodyPr anchor="ctr" rtlCol="false" tIns="0" lIns="0" bIns="0" rIns="0"/>
            <a:lstStyle/>
            <a:p>
              <a:pPr algn="l">
                <a:lnSpc>
                  <a:spcPts val="4680"/>
                </a:lnSpc>
              </a:pPr>
              <a:r>
                <a:rPr lang="en-US" sz="3900" b="true">
                  <a:solidFill>
                    <a:srgbClr val="1E2761"/>
                  </a:solidFill>
                  <a:latin typeface="Cambria Bold"/>
                  <a:ea typeface="Cambria Bold"/>
                  <a:cs typeface="Cambria Bold"/>
                  <a:sym typeface="Cambria Bold"/>
                </a:rPr>
                <a:t>Scenario 8</a:t>
              </a:r>
            </a:p>
          </p:txBody>
        </p:sp>
      </p:grpSp>
      <p:grpSp>
        <p:nvGrpSpPr>
          <p:cNvPr name="Group 8" id="8"/>
          <p:cNvGrpSpPr/>
          <p:nvPr/>
        </p:nvGrpSpPr>
        <p:grpSpPr>
          <a:xfrm rot="0">
            <a:off x="960120" y="1810512"/>
            <a:ext cx="8229600" cy="411480"/>
            <a:chOff x="0" y="0"/>
            <a:chExt cx="10972800" cy="548640"/>
          </a:xfrm>
        </p:grpSpPr>
        <p:sp>
          <p:nvSpPr>
            <p:cNvPr name="Freeform 9" id="9"/>
            <p:cNvSpPr/>
            <p:nvPr/>
          </p:nvSpPr>
          <p:spPr>
            <a:xfrm flipH="false" flipV="false" rot="0">
              <a:off x="0" y="0"/>
              <a:ext cx="10972800" cy="548640"/>
            </a:xfrm>
            <a:custGeom>
              <a:avLst/>
              <a:gdLst/>
              <a:ahLst/>
              <a:cxnLst/>
              <a:rect r="r" b="b" t="t" l="l"/>
              <a:pathLst>
                <a:path h="548640" w="10972800">
                  <a:moveTo>
                    <a:pt x="0" y="0"/>
                  </a:moveTo>
                  <a:lnTo>
                    <a:pt x="10972800" y="0"/>
                  </a:lnTo>
                  <a:lnTo>
                    <a:pt x="10972800" y="548640"/>
                  </a:lnTo>
                  <a:lnTo>
                    <a:pt x="0" y="548640"/>
                  </a:lnTo>
                  <a:close/>
                </a:path>
              </a:pathLst>
            </a:custGeom>
            <a:blipFill>
              <a:blip r:embed="rId2">
                <a:alphaModFix amt="0"/>
              </a:blip>
              <a:stretch>
                <a:fillRect l="0" t="-339700" r="0" b="-339700"/>
              </a:stretch>
            </a:blipFill>
          </p:spPr>
        </p:sp>
        <p:sp>
          <p:nvSpPr>
            <p:cNvPr name="TextBox 10" id="10"/>
            <p:cNvSpPr txBox="true"/>
            <p:nvPr/>
          </p:nvSpPr>
          <p:spPr>
            <a:xfrm>
              <a:off x="0" y="-28575"/>
              <a:ext cx="10972800" cy="577215"/>
            </a:xfrm>
            <a:prstGeom prst="rect">
              <a:avLst/>
            </a:prstGeom>
          </p:spPr>
          <p:txBody>
            <a:bodyPr anchor="ctr" rtlCol="false" tIns="0" lIns="0" bIns="0" rIns="0"/>
            <a:lstStyle/>
            <a:p>
              <a:pPr algn="l">
                <a:lnSpc>
                  <a:spcPts val="1980"/>
                </a:lnSpc>
              </a:pPr>
              <a:r>
                <a:rPr lang="en-US" sz="1650">
                  <a:solidFill>
                    <a:srgbClr val="6B7280"/>
                  </a:solidFill>
                  <a:latin typeface="Calibri (MS)"/>
                  <a:ea typeface="Calibri (MS)"/>
                  <a:cs typeface="Calibri (MS)"/>
                  <a:sym typeface="Calibri (MS)"/>
                </a:rPr>
                <a:t>8 of 15</a:t>
              </a:r>
            </a:p>
          </p:txBody>
        </p:sp>
      </p:grpSp>
      <p:grpSp>
        <p:nvGrpSpPr>
          <p:cNvPr name="Group 11" id="11"/>
          <p:cNvGrpSpPr/>
          <p:nvPr/>
        </p:nvGrpSpPr>
        <p:grpSpPr>
          <a:xfrm rot="0">
            <a:off x="960120" y="2537460"/>
            <a:ext cx="16322040" cy="2811780"/>
            <a:chOff x="0" y="0"/>
            <a:chExt cx="21762720" cy="3749040"/>
          </a:xfrm>
        </p:grpSpPr>
        <p:sp>
          <p:nvSpPr>
            <p:cNvPr name="Freeform 12" id="12"/>
            <p:cNvSpPr/>
            <p:nvPr/>
          </p:nvSpPr>
          <p:spPr>
            <a:xfrm flipH="false" flipV="false" rot="0">
              <a:off x="0" y="0"/>
              <a:ext cx="21762720" cy="3749040"/>
            </a:xfrm>
            <a:custGeom>
              <a:avLst/>
              <a:gdLst/>
              <a:ahLst/>
              <a:cxnLst/>
              <a:rect r="r" b="b" t="t" l="l"/>
              <a:pathLst>
                <a:path h="3749040" w="21762720">
                  <a:moveTo>
                    <a:pt x="0" y="182880"/>
                  </a:moveTo>
                  <a:cubicBezTo>
                    <a:pt x="0" y="81915"/>
                    <a:pt x="81915" y="0"/>
                    <a:pt x="182880" y="0"/>
                  </a:cubicBezTo>
                  <a:lnTo>
                    <a:pt x="21579839" y="0"/>
                  </a:lnTo>
                  <a:cubicBezTo>
                    <a:pt x="21680804" y="0"/>
                    <a:pt x="21762720" y="81915"/>
                    <a:pt x="21762720" y="182880"/>
                  </a:cubicBezTo>
                  <a:lnTo>
                    <a:pt x="21762720" y="3566160"/>
                  </a:lnTo>
                  <a:cubicBezTo>
                    <a:pt x="21762720" y="3667125"/>
                    <a:pt x="21680804" y="3749040"/>
                    <a:pt x="21579839" y="3749040"/>
                  </a:cubicBezTo>
                  <a:lnTo>
                    <a:pt x="182880" y="3749040"/>
                  </a:lnTo>
                  <a:cubicBezTo>
                    <a:pt x="81915" y="3749040"/>
                    <a:pt x="0" y="3667125"/>
                    <a:pt x="0" y="3566160"/>
                  </a:cubicBezTo>
                  <a:close/>
                </a:path>
              </a:pathLst>
            </a:custGeom>
            <a:solidFill>
              <a:srgbClr val="F4F7FC"/>
            </a:solidFill>
          </p:spPr>
        </p:sp>
      </p:grpSp>
      <p:grpSp>
        <p:nvGrpSpPr>
          <p:cNvPr name="Group 13" id="13"/>
          <p:cNvGrpSpPr/>
          <p:nvPr/>
        </p:nvGrpSpPr>
        <p:grpSpPr>
          <a:xfrm rot="0">
            <a:off x="1440180" y="2811780"/>
            <a:ext cx="15361920" cy="2263140"/>
            <a:chOff x="0" y="0"/>
            <a:chExt cx="20482560" cy="3017520"/>
          </a:xfrm>
        </p:grpSpPr>
        <p:sp>
          <p:nvSpPr>
            <p:cNvPr name="Freeform 14" id="14"/>
            <p:cNvSpPr/>
            <p:nvPr/>
          </p:nvSpPr>
          <p:spPr>
            <a:xfrm flipH="false" flipV="false" rot="0">
              <a:off x="0" y="0"/>
              <a:ext cx="20482561" cy="3017520"/>
            </a:xfrm>
            <a:custGeom>
              <a:avLst/>
              <a:gdLst/>
              <a:ahLst/>
              <a:cxnLst/>
              <a:rect r="r" b="b" t="t" l="l"/>
              <a:pathLst>
                <a:path h="3017520" w="20482561">
                  <a:moveTo>
                    <a:pt x="0" y="0"/>
                  </a:moveTo>
                  <a:lnTo>
                    <a:pt x="20482561" y="0"/>
                  </a:lnTo>
                  <a:lnTo>
                    <a:pt x="20482561" y="3017520"/>
                  </a:lnTo>
                  <a:lnTo>
                    <a:pt x="0" y="3017520"/>
                  </a:lnTo>
                  <a:close/>
                </a:path>
              </a:pathLst>
            </a:custGeom>
            <a:blipFill>
              <a:blip r:embed="rId2">
                <a:alphaModFix amt="0"/>
              </a:blip>
              <a:stretch>
                <a:fillRect l="0" t="-82262" r="0" b="-82262"/>
              </a:stretch>
            </a:blipFill>
          </p:spPr>
        </p:sp>
        <p:sp>
          <p:nvSpPr>
            <p:cNvPr name="TextBox 15" id="15"/>
            <p:cNvSpPr txBox="true"/>
            <p:nvPr/>
          </p:nvSpPr>
          <p:spPr>
            <a:xfrm>
              <a:off x="0" y="-104775"/>
              <a:ext cx="20482560" cy="3122295"/>
            </a:xfrm>
            <a:prstGeom prst="rect">
              <a:avLst/>
            </a:prstGeom>
          </p:spPr>
          <p:txBody>
            <a:bodyPr anchor="ctr" rtlCol="false" tIns="0" lIns="0" bIns="0" rIns="0"/>
            <a:lstStyle/>
            <a:p>
              <a:pPr algn="l">
                <a:lnSpc>
                  <a:spcPts val="4147"/>
                </a:lnSpc>
              </a:pPr>
              <a:r>
                <a:rPr lang="en-US" sz="2700" i="true">
                  <a:solidFill>
                    <a:srgbClr val="23262F"/>
                  </a:solidFill>
                  <a:latin typeface="Cambria Italics"/>
                  <a:ea typeface="Cambria Italics"/>
                  <a:cs typeface="Cambria Italics"/>
                  <a:sym typeface="Cambria Italics"/>
                </a:rPr>
                <a:t>"A staff member accidentally emails a spreadsheet of residents' PhilHealth numbers to the wrong department."</a:t>
              </a:r>
            </a:p>
          </p:txBody>
        </p:sp>
      </p:grpSp>
      <p:sp>
        <p:nvSpPr>
          <p:cNvPr name="TextBox 16" id="16"/>
          <p:cNvSpPr txBox="true"/>
          <p:nvPr/>
        </p:nvSpPr>
        <p:spPr>
          <a:xfrm rot="0">
            <a:off x="1051560" y="5604510"/>
            <a:ext cx="16139160" cy="864870"/>
          </a:xfrm>
          <a:prstGeom prst="rect">
            <a:avLst/>
          </a:prstGeom>
        </p:spPr>
        <p:txBody>
          <a:bodyPr anchor="t" rtlCol="false" tIns="0" lIns="0" bIns="0" rIns="0">
            <a:spAutoFit/>
          </a:bodyPr>
          <a:lstStyle/>
          <a:p>
            <a:pPr algn="ctr">
              <a:lnSpc>
                <a:spcPts val="3402"/>
              </a:lnSpc>
            </a:pPr>
            <a:r>
              <a:rPr lang="en-US" sz="2100" i="true">
                <a:solidFill>
                  <a:srgbClr val="6B7280"/>
                </a:solidFill>
                <a:latin typeface="Calibri (MS) Italics"/>
                <a:ea typeface="Calibri (MS) Italics"/>
                <a:cs typeface="Calibri (MS) Italics"/>
                <a:sym typeface="Calibri (MS) Italics"/>
              </a:rPr>
              <a:t>Which law or DICT issuance governs this? Discuss, then we'll reveal the answer.</a:t>
            </a:r>
          </a:p>
        </p:txBody>
      </p:sp>
      <p:grpSp>
        <p:nvGrpSpPr>
          <p:cNvPr name="Group 17" id="17"/>
          <p:cNvGrpSpPr/>
          <p:nvPr/>
        </p:nvGrpSpPr>
        <p:grpSpPr>
          <a:xfrm rot="0">
            <a:off x="950595" y="6779895"/>
            <a:ext cx="5162550" cy="910590"/>
            <a:chOff x="0" y="0"/>
            <a:chExt cx="6883400" cy="1214120"/>
          </a:xfrm>
        </p:grpSpPr>
        <p:sp>
          <p:nvSpPr>
            <p:cNvPr name="Freeform 18" id="18"/>
            <p:cNvSpPr/>
            <p:nvPr/>
          </p:nvSpPr>
          <p:spPr>
            <a:xfrm flipH="false" flipV="false" rot="0">
              <a:off x="0" y="0"/>
              <a:ext cx="6883400" cy="1214120"/>
            </a:xfrm>
            <a:custGeom>
              <a:avLst/>
              <a:gdLst/>
              <a:ahLst/>
              <a:cxnLst/>
              <a:rect r="r" b="b" t="t" l="l"/>
              <a:pathLst>
                <a:path h="1214120" w="6883400">
                  <a:moveTo>
                    <a:pt x="0" y="168148"/>
                  </a:moveTo>
                  <a:cubicBezTo>
                    <a:pt x="0" y="75311"/>
                    <a:pt x="75311" y="0"/>
                    <a:pt x="168148" y="0"/>
                  </a:cubicBezTo>
                  <a:lnTo>
                    <a:pt x="6715252" y="0"/>
                  </a:lnTo>
                  <a:cubicBezTo>
                    <a:pt x="6808089" y="0"/>
                    <a:pt x="6883400" y="75311"/>
                    <a:pt x="6883400" y="168148"/>
                  </a:cubicBezTo>
                  <a:lnTo>
                    <a:pt x="6883400" y="1045972"/>
                  </a:lnTo>
                  <a:cubicBezTo>
                    <a:pt x="6883400" y="1138809"/>
                    <a:pt x="6808089" y="1214120"/>
                    <a:pt x="6715252" y="1214120"/>
                  </a:cubicBezTo>
                  <a:lnTo>
                    <a:pt x="168148" y="1214120"/>
                  </a:lnTo>
                  <a:cubicBezTo>
                    <a:pt x="75311" y="1214120"/>
                    <a:pt x="0" y="1138809"/>
                    <a:pt x="0" y="1045972"/>
                  </a:cubicBezTo>
                  <a:close/>
                </a:path>
              </a:pathLst>
            </a:custGeom>
            <a:solidFill>
              <a:srgbClr val="F4F7FC"/>
            </a:solidFill>
            <a:ln w="19050" cap="sq">
              <a:solidFill>
                <a:srgbClr val="D7DCEC"/>
              </a:solidFill>
              <a:prstDash val="solid"/>
              <a:miter/>
            </a:ln>
          </p:spPr>
        </p:sp>
      </p:grpSp>
      <p:grpSp>
        <p:nvGrpSpPr>
          <p:cNvPr name="Group 19" id="19"/>
          <p:cNvGrpSpPr/>
          <p:nvPr/>
        </p:nvGrpSpPr>
        <p:grpSpPr>
          <a:xfrm rot="0">
            <a:off x="960120" y="6858000"/>
            <a:ext cx="5143500" cy="589788"/>
            <a:chOff x="0" y="0"/>
            <a:chExt cx="6858000" cy="786384"/>
          </a:xfrm>
        </p:grpSpPr>
        <p:sp>
          <p:nvSpPr>
            <p:cNvPr name="Freeform 20" id="20"/>
            <p:cNvSpPr/>
            <p:nvPr/>
          </p:nvSpPr>
          <p:spPr>
            <a:xfrm flipH="false" flipV="false" rot="0">
              <a:off x="0" y="0"/>
              <a:ext cx="6858000" cy="786384"/>
            </a:xfrm>
            <a:custGeom>
              <a:avLst/>
              <a:gdLst/>
              <a:ahLst/>
              <a:cxnLst/>
              <a:rect r="r" b="b" t="t" l="l"/>
              <a:pathLst>
                <a:path h="786384" w="6858000">
                  <a:moveTo>
                    <a:pt x="0" y="0"/>
                  </a:moveTo>
                  <a:lnTo>
                    <a:pt x="6858000" y="0"/>
                  </a:lnTo>
                  <a:lnTo>
                    <a:pt x="6858000" y="786384"/>
                  </a:lnTo>
                  <a:lnTo>
                    <a:pt x="0" y="786384"/>
                  </a:lnTo>
                  <a:close/>
                </a:path>
              </a:pathLst>
            </a:custGeom>
            <a:blipFill>
              <a:blip r:embed="rId2">
                <a:alphaModFix amt="0"/>
              </a:blip>
              <a:stretch>
                <a:fillRect l="0" t="-119927" r="0" b="-119927"/>
              </a:stretch>
            </a:blipFill>
          </p:spPr>
        </p:sp>
        <p:sp>
          <p:nvSpPr>
            <p:cNvPr name="TextBox 21" id="21"/>
            <p:cNvSpPr txBox="true"/>
            <p:nvPr/>
          </p:nvSpPr>
          <p:spPr>
            <a:xfrm>
              <a:off x="0" y="-38100"/>
              <a:ext cx="6858000" cy="824484"/>
            </a:xfrm>
            <a:prstGeom prst="rect">
              <a:avLst/>
            </a:prstGeom>
          </p:spPr>
          <p:txBody>
            <a:bodyPr anchor="ctr" rtlCol="false" tIns="0" lIns="0" bIns="0" rIns="0"/>
            <a:lstStyle/>
            <a:p>
              <a:pPr algn="ctr">
                <a:lnSpc>
                  <a:spcPts val="2250"/>
                </a:lnSpc>
              </a:pPr>
              <a:r>
                <a:rPr lang="en-US" sz="1875">
                  <a:solidFill>
                    <a:srgbClr val="6B7280"/>
                  </a:solidFill>
                  <a:latin typeface="Calibri (MS)"/>
                  <a:ea typeface="Calibri (MS)"/>
                  <a:cs typeface="Calibri (MS)"/>
                  <a:sym typeface="Calibri (MS)"/>
                </a:rPr>
                <a:t>E-Commerce Act</a:t>
              </a:r>
            </a:p>
          </p:txBody>
        </p:sp>
      </p:grpSp>
      <p:grpSp>
        <p:nvGrpSpPr>
          <p:cNvPr name="Group 22" id="22"/>
          <p:cNvGrpSpPr/>
          <p:nvPr/>
        </p:nvGrpSpPr>
        <p:grpSpPr>
          <a:xfrm rot="0">
            <a:off x="960120" y="7296912"/>
            <a:ext cx="5143500" cy="329184"/>
            <a:chOff x="0" y="0"/>
            <a:chExt cx="6858000" cy="438912"/>
          </a:xfrm>
        </p:grpSpPr>
        <p:sp>
          <p:nvSpPr>
            <p:cNvPr name="Freeform 23" id="23"/>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24" id="24"/>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9AA3B8"/>
                  </a:solidFill>
                  <a:latin typeface="Arimo"/>
                  <a:ea typeface="Arimo"/>
                  <a:cs typeface="Arimo"/>
                  <a:sym typeface="Arimo"/>
                </a:rPr>
                <a:t>ECA</a:t>
              </a:r>
            </a:p>
          </p:txBody>
        </p:sp>
      </p:grpSp>
      <p:grpSp>
        <p:nvGrpSpPr>
          <p:cNvPr name="Group 25" id="25"/>
          <p:cNvGrpSpPr/>
          <p:nvPr/>
        </p:nvGrpSpPr>
        <p:grpSpPr>
          <a:xfrm rot="0">
            <a:off x="6533007" y="6779895"/>
            <a:ext cx="5162550" cy="910590"/>
            <a:chOff x="0" y="0"/>
            <a:chExt cx="6883400" cy="1214120"/>
          </a:xfrm>
        </p:grpSpPr>
        <p:sp>
          <p:nvSpPr>
            <p:cNvPr name="Freeform 26" id="26"/>
            <p:cNvSpPr/>
            <p:nvPr/>
          </p:nvSpPr>
          <p:spPr>
            <a:xfrm flipH="false" flipV="false" rot="0">
              <a:off x="0" y="0"/>
              <a:ext cx="6883400" cy="1214120"/>
            </a:xfrm>
            <a:custGeom>
              <a:avLst/>
              <a:gdLst/>
              <a:ahLst/>
              <a:cxnLst/>
              <a:rect r="r" b="b" t="t" l="l"/>
              <a:pathLst>
                <a:path h="1214120" w="6883400">
                  <a:moveTo>
                    <a:pt x="0" y="168148"/>
                  </a:moveTo>
                  <a:cubicBezTo>
                    <a:pt x="0" y="75311"/>
                    <a:pt x="75311" y="0"/>
                    <a:pt x="168148" y="0"/>
                  </a:cubicBezTo>
                  <a:lnTo>
                    <a:pt x="6715252" y="0"/>
                  </a:lnTo>
                  <a:cubicBezTo>
                    <a:pt x="6808089" y="0"/>
                    <a:pt x="6883400" y="75311"/>
                    <a:pt x="6883400" y="168148"/>
                  </a:cubicBezTo>
                  <a:lnTo>
                    <a:pt x="6883400" y="1045972"/>
                  </a:lnTo>
                  <a:cubicBezTo>
                    <a:pt x="6883400" y="1138809"/>
                    <a:pt x="6808089" y="1214120"/>
                    <a:pt x="6715252" y="1214120"/>
                  </a:cubicBezTo>
                  <a:lnTo>
                    <a:pt x="168148" y="1214120"/>
                  </a:lnTo>
                  <a:cubicBezTo>
                    <a:pt x="75311" y="1214120"/>
                    <a:pt x="0" y="1138809"/>
                    <a:pt x="0" y="1045972"/>
                  </a:cubicBezTo>
                  <a:close/>
                </a:path>
              </a:pathLst>
            </a:custGeom>
            <a:solidFill>
              <a:srgbClr val="F4F7FC"/>
            </a:solidFill>
            <a:ln w="19050" cap="sq">
              <a:solidFill>
                <a:srgbClr val="D7DCEC"/>
              </a:solidFill>
              <a:prstDash val="solid"/>
              <a:miter/>
            </a:ln>
          </p:spPr>
        </p:sp>
      </p:grpSp>
      <p:grpSp>
        <p:nvGrpSpPr>
          <p:cNvPr name="Group 27" id="27"/>
          <p:cNvGrpSpPr/>
          <p:nvPr/>
        </p:nvGrpSpPr>
        <p:grpSpPr>
          <a:xfrm rot="0">
            <a:off x="6542532" y="6858000"/>
            <a:ext cx="5143500" cy="589788"/>
            <a:chOff x="0" y="0"/>
            <a:chExt cx="6858000" cy="786384"/>
          </a:xfrm>
        </p:grpSpPr>
        <p:sp>
          <p:nvSpPr>
            <p:cNvPr name="Freeform 28" id="28"/>
            <p:cNvSpPr/>
            <p:nvPr/>
          </p:nvSpPr>
          <p:spPr>
            <a:xfrm flipH="false" flipV="false" rot="0">
              <a:off x="0" y="0"/>
              <a:ext cx="6858000" cy="786384"/>
            </a:xfrm>
            <a:custGeom>
              <a:avLst/>
              <a:gdLst/>
              <a:ahLst/>
              <a:cxnLst/>
              <a:rect r="r" b="b" t="t" l="l"/>
              <a:pathLst>
                <a:path h="786384" w="6858000">
                  <a:moveTo>
                    <a:pt x="0" y="0"/>
                  </a:moveTo>
                  <a:lnTo>
                    <a:pt x="6858000" y="0"/>
                  </a:lnTo>
                  <a:lnTo>
                    <a:pt x="6858000" y="786384"/>
                  </a:lnTo>
                  <a:lnTo>
                    <a:pt x="0" y="786384"/>
                  </a:lnTo>
                  <a:close/>
                </a:path>
              </a:pathLst>
            </a:custGeom>
            <a:blipFill>
              <a:blip r:embed="rId2">
                <a:alphaModFix amt="0"/>
              </a:blip>
              <a:stretch>
                <a:fillRect l="0" t="-119927" r="0" b="-119927"/>
              </a:stretch>
            </a:blipFill>
          </p:spPr>
        </p:sp>
        <p:sp>
          <p:nvSpPr>
            <p:cNvPr name="TextBox 29" id="29"/>
            <p:cNvSpPr txBox="true"/>
            <p:nvPr/>
          </p:nvSpPr>
          <p:spPr>
            <a:xfrm>
              <a:off x="0" y="-38100"/>
              <a:ext cx="6858000" cy="824484"/>
            </a:xfrm>
            <a:prstGeom prst="rect">
              <a:avLst/>
            </a:prstGeom>
          </p:spPr>
          <p:txBody>
            <a:bodyPr anchor="ctr" rtlCol="false" tIns="0" lIns="0" bIns="0" rIns="0"/>
            <a:lstStyle/>
            <a:p>
              <a:pPr algn="ctr">
                <a:lnSpc>
                  <a:spcPts val="2250"/>
                </a:lnSpc>
              </a:pPr>
              <a:r>
                <a:rPr lang="en-US" sz="1875">
                  <a:solidFill>
                    <a:srgbClr val="6B7280"/>
                  </a:solidFill>
                  <a:latin typeface="Calibri (MS)"/>
                  <a:ea typeface="Calibri (MS)"/>
                  <a:cs typeface="Calibri (MS)"/>
                  <a:sym typeface="Calibri (MS)"/>
                </a:rPr>
                <a:t>Cybercrime Act</a:t>
              </a:r>
            </a:p>
          </p:txBody>
        </p:sp>
      </p:grpSp>
      <p:grpSp>
        <p:nvGrpSpPr>
          <p:cNvPr name="Group 30" id="30"/>
          <p:cNvGrpSpPr/>
          <p:nvPr/>
        </p:nvGrpSpPr>
        <p:grpSpPr>
          <a:xfrm rot="0">
            <a:off x="6542532" y="7296912"/>
            <a:ext cx="5143500" cy="329184"/>
            <a:chOff x="0" y="0"/>
            <a:chExt cx="6858000" cy="438912"/>
          </a:xfrm>
        </p:grpSpPr>
        <p:sp>
          <p:nvSpPr>
            <p:cNvPr name="Freeform 31" id="31"/>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32" id="32"/>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9AA3B8"/>
                  </a:solidFill>
                  <a:latin typeface="Arimo"/>
                  <a:ea typeface="Arimo"/>
                  <a:cs typeface="Arimo"/>
                  <a:sym typeface="Arimo"/>
                </a:rPr>
                <a:t>CPA</a:t>
              </a:r>
            </a:p>
          </p:txBody>
        </p:sp>
      </p:grpSp>
      <p:grpSp>
        <p:nvGrpSpPr>
          <p:cNvPr name="Group 33" id="33"/>
          <p:cNvGrpSpPr/>
          <p:nvPr/>
        </p:nvGrpSpPr>
        <p:grpSpPr>
          <a:xfrm rot="0">
            <a:off x="950595" y="7945755"/>
            <a:ext cx="5162550" cy="910590"/>
            <a:chOff x="0" y="0"/>
            <a:chExt cx="6883400" cy="1214120"/>
          </a:xfrm>
        </p:grpSpPr>
        <p:sp>
          <p:nvSpPr>
            <p:cNvPr name="Freeform 34" id="34"/>
            <p:cNvSpPr/>
            <p:nvPr/>
          </p:nvSpPr>
          <p:spPr>
            <a:xfrm flipH="false" flipV="false" rot="0">
              <a:off x="0" y="0"/>
              <a:ext cx="6883400" cy="1214120"/>
            </a:xfrm>
            <a:custGeom>
              <a:avLst/>
              <a:gdLst/>
              <a:ahLst/>
              <a:cxnLst/>
              <a:rect r="r" b="b" t="t" l="l"/>
              <a:pathLst>
                <a:path h="1214120" w="6883400">
                  <a:moveTo>
                    <a:pt x="0" y="168148"/>
                  </a:moveTo>
                  <a:cubicBezTo>
                    <a:pt x="0" y="75311"/>
                    <a:pt x="75311" y="0"/>
                    <a:pt x="168148" y="0"/>
                  </a:cubicBezTo>
                  <a:lnTo>
                    <a:pt x="6715252" y="0"/>
                  </a:lnTo>
                  <a:cubicBezTo>
                    <a:pt x="6808089" y="0"/>
                    <a:pt x="6883400" y="75311"/>
                    <a:pt x="6883400" y="168148"/>
                  </a:cubicBezTo>
                  <a:lnTo>
                    <a:pt x="6883400" y="1045972"/>
                  </a:lnTo>
                  <a:cubicBezTo>
                    <a:pt x="6883400" y="1138809"/>
                    <a:pt x="6808089" y="1214120"/>
                    <a:pt x="6715252" y="1214120"/>
                  </a:cubicBezTo>
                  <a:lnTo>
                    <a:pt x="168148" y="1214120"/>
                  </a:lnTo>
                  <a:cubicBezTo>
                    <a:pt x="75311" y="1214120"/>
                    <a:pt x="0" y="1138809"/>
                    <a:pt x="0" y="1045972"/>
                  </a:cubicBezTo>
                  <a:close/>
                </a:path>
              </a:pathLst>
            </a:custGeom>
            <a:solidFill>
              <a:srgbClr val="F4F7FC"/>
            </a:solidFill>
            <a:ln w="19050" cap="sq">
              <a:solidFill>
                <a:srgbClr val="D7DCEC"/>
              </a:solidFill>
              <a:prstDash val="solid"/>
              <a:miter/>
            </a:ln>
          </p:spPr>
        </p:sp>
      </p:grpSp>
      <p:grpSp>
        <p:nvGrpSpPr>
          <p:cNvPr name="Group 35" id="35"/>
          <p:cNvGrpSpPr/>
          <p:nvPr/>
        </p:nvGrpSpPr>
        <p:grpSpPr>
          <a:xfrm rot="0">
            <a:off x="960120" y="8023860"/>
            <a:ext cx="5143500" cy="589788"/>
            <a:chOff x="0" y="0"/>
            <a:chExt cx="6858000" cy="786384"/>
          </a:xfrm>
        </p:grpSpPr>
        <p:sp>
          <p:nvSpPr>
            <p:cNvPr name="Freeform 36" id="36"/>
            <p:cNvSpPr/>
            <p:nvPr/>
          </p:nvSpPr>
          <p:spPr>
            <a:xfrm flipH="false" flipV="false" rot="0">
              <a:off x="0" y="0"/>
              <a:ext cx="6858000" cy="786384"/>
            </a:xfrm>
            <a:custGeom>
              <a:avLst/>
              <a:gdLst/>
              <a:ahLst/>
              <a:cxnLst/>
              <a:rect r="r" b="b" t="t" l="l"/>
              <a:pathLst>
                <a:path h="786384" w="6858000">
                  <a:moveTo>
                    <a:pt x="0" y="0"/>
                  </a:moveTo>
                  <a:lnTo>
                    <a:pt x="6858000" y="0"/>
                  </a:lnTo>
                  <a:lnTo>
                    <a:pt x="6858000" y="786384"/>
                  </a:lnTo>
                  <a:lnTo>
                    <a:pt x="0" y="786384"/>
                  </a:lnTo>
                  <a:close/>
                </a:path>
              </a:pathLst>
            </a:custGeom>
            <a:blipFill>
              <a:blip r:embed="rId2">
                <a:alphaModFix amt="0"/>
              </a:blip>
              <a:stretch>
                <a:fillRect l="0" t="-119927" r="0" b="-119927"/>
              </a:stretch>
            </a:blipFill>
          </p:spPr>
        </p:sp>
        <p:sp>
          <p:nvSpPr>
            <p:cNvPr name="TextBox 37" id="37"/>
            <p:cNvSpPr txBox="true"/>
            <p:nvPr/>
          </p:nvSpPr>
          <p:spPr>
            <a:xfrm>
              <a:off x="0" y="-38100"/>
              <a:ext cx="6858000" cy="824484"/>
            </a:xfrm>
            <a:prstGeom prst="rect">
              <a:avLst/>
            </a:prstGeom>
          </p:spPr>
          <p:txBody>
            <a:bodyPr anchor="ctr" rtlCol="false" tIns="0" lIns="0" bIns="0" rIns="0"/>
            <a:lstStyle/>
            <a:p>
              <a:pPr algn="ctr">
                <a:lnSpc>
                  <a:spcPts val="2250"/>
                </a:lnSpc>
              </a:pPr>
              <a:r>
                <a:rPr lang="en-US" sz="1875">
                  <a:solidFill>
                    <a:srgbClr val="6B7280"/>
                  </a:solidFill>
                  <a:latin typeface="Calibri (MS)"/>
                  <a:ea typeface="Calibri (MS)"/>
                  <a:cs typeface="Calibri (MS)"/>
                  <a:sym typeface="Calibri (MS)"/>
                </a:rPr>
                <a:t>Data Privacy Act</a:t>
              </a:r>
            </a:p>
          </p:txBody>
        </p:sp>
      </p:grpSp>
      <p:grpSp>
        <p:nvGrpSpPr>
          <p:cNvPr name="Group 38" id="38"/>
          <p:cNvGrpSpPr/>
          <p:nvPr/>
        </p:nvGrpSpPr>
        <p:grpSpPr>
          <a:xfrm rot="0">
            <a:off x="960120" y="8462772"/>
            <a:ext cx="5143500" cy="329184"/>
            <a:chOff x="0" y="0"/>
            <a:chExt cx="6858000" cy="438912"/>
          </a:xfrm>
        </p:grpSpPr>
        <p:sp>
          <p:nvSpPr>
            <p:cNvPr name="Freeform 39" id="39"/>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40" id="40"/>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9AA3B8"/>
                  </a:solidFill>
                  <a:latin typeface="Arimo"/>
                  <a:ea typeface="Arimo"/>
                  <a:cs typeface="Arimo"/>
                  <a:sym typeface="Arimo"/>
                </a:rPr>
                <a:t>DPA</a:t>
              </a:r>
            </a:p>
          </p:txBody>
        </p:sp>
      </p:grpSp>
      <p:grpSp>
        <p:nvGrpSpPr>
          <p:cNvPr name="Group 41" id="41"/>
          <p:cNvGrpSpPr/>
          <p:nvPr/>
        </p:nvGrpSpPr>
        <p:grpSpPr>
          <a:xfrm rot="0">
            <a:off x="6533007" y="7945755"/>
            <a:ext cx="5162550" cy="910590"/>
            <a:chOff x="0" y="0"/>
            <a:chExt cx="6883400" cy="1214120"/>
          </a:xfrm>
        </p:grpSpPr>
        <p:sp>
          <p:nvSpPr>
            <p:cNvPr name="Freeform 42" id="42"/>
            <p:cNvSpPr/>
            <p:nvPr/>
          </p:nvSpPr>
          <p:spPr>
            <a:xfrm flipH="false" flipV="false" rot="0">
              <a:off x="0" y="0"/>
              <a:ext cx="6883400" cy="1214120"/>
            </a:xfrm>
            <a:custGeom>
              <a:avLst/>
              <a:gdLst/>
              <a:ahLst/>
              <a:cxnLst/>
              <a:rect r="r" b="b" t="t" l="l"/>
              <a:pathLst>
                <a:path h="1214120" w="6883400">
                  <a:moveTo>
                    <a:pt x="0" y="168148"/>
                  </a:moveTo>
                  <a:cubicBezTo>
                    <a:pt x="0" y="75311"/>
                    <a:pt x="75311" y="0"/>
                    <a:pt x="168148" y="0"/>
                  </a:cubicBezTo>
                  <a:lnTo>
                    <a:pt x="6715252" y="0"/>
                  </a:lnTo>
                  <a:cubicBezTo>
                    <a:pt x="6808089" y="0"/>
                    <a:pt x="6883400" y="75311"/>
                    <a:pt x="6883400" y="168148"/>
                  </a:cubicBezTo>
                  <a:lnTo>
                    <a:pt x="6883400" y="1045972"/>
                  </a:lnTo>
                  <a:cubicBezTo>
                    <a:pt x="6883400" y="1138809"/>
                    <a:pt x="6808089" y="1214120"/>
                    <a:pt x="6715252" y="1214120"/>
                  </a:cubicBezTo>
                  <a:lnTo>
                    <a:pt x="168148" y="1214120"/>
                  </a:lnTo>
                  <a:cubicBezTo>
                    <a:pt x="75311" y="1214120"/>
                    <a:pt x="0" y="1138809"/>
                    <a:pt x="0" y="1045972"/>
                  </a:cubicBezTo>
                  <a:close/>
                </a:path>
              </a:pathLst>
            </a:custGeom>
            <a:solidFill>
              <a:srgbClr val="F4F7FC"/>
            </a:solidFill>
            <a:ln w="19050" cap="sq">
              <a:solidFill>
                <a:srgbClr val="D7DCEC"/>
              </a:solidFill>
              <a:prstDash val="solid"/>
              <a:miter/>
            </a:ln>
          </p:spPr>
        </p:sp>
      </p:grpSp>
      <p:grpSp>
        <p:nvGrpSpPr>
          <p:cNvPr name="Group 43" id="43"/>
          <p:cNvGrpSpPr/>
          <p:nvPr/>
        </p:nvGrpSpPr>
        <p:grpSpPr>
          <a:xfrm rot="0">
            <a:off x="6542532" y="8023860"/>
            <a:ext cx="5143500" cy="589788"/>
            <a:chOff x="0" y="0"/>
            <a:chExt cx="6858000" cy="786384"/>
          </a:xfrm>
        </p:grpSpPr>
        <p:sp>
          <p:nvSpPr>
            <p:cNvPr name="Freeform 44" id="44"/>
            <p:cNvSpPr/>
            <p:nvPr/>
          </p:nvSpPr>
          <p:spPr>
            <a:xfrm flipH="false" flipV="false" rot="0">
              <a:off x="0" y="0"/>
              <a:ext cx="6858000" cy="786384"/>
            </a:xfrm>
            <a:custGeom>
              <a:avLst/>
              <a:gdLst/>
              <a:ahLst/>
              <a:cxnLst/>
              <a:rect r="r" b="b" t="t" l="l"/>
              <a:pathLst>
                <a:path h="786384" w="6858000">
                  <a:moveTo>
                    <a:pt x="0" y="0"/>
                  </a:moveTo>
                  <a:lnTo>
                    <a:pt x="6858000" y="0"/>
                  </a:lnTo>
                  <a:lnTo>
                    <a:pt x="6858000" y="786384"/>
                  </a:lnTo>
                  <a:lnTo>
                    <a:pt x="0" y="786384"/>
                  </a:lnTo>
                  <a:close/>
                </a:path>
              </a:pathLst>
            </a:custGeom>
            <a:blipFill>
              <a:blip r:embed="rId2">
                <a:alphaModFix amt="0"/>
              </a:blip>
              <a:stretch>
                <a:fillRect l="0" t="-119927" r="0" b="-119927"/>
              </a:stretch>
            </a:blipFill>
          </p:spPr>
        </p:sp>
        <p:sp>
          <p:nvSpPr>
            <p:cNvPr name="TextBox 45" id="45"/>
            <p:cNvSpPr txBox="true"/>
            <p:nvPr/>
          </p:nvSpPr>
          <p:spPr>
            <a:xfrm>
              <a:off x="0" y="-38100"/>
              <a:ext cx="6858000" cy="824484"/>
            </a:xfrm>
            <a:prstGeom prst="rect">
              <a:avLst/>
            </a:prstGeom>
          </p:spPr>
          <p:txBody>
            <a:bodyPr anchor="ctr" rtlCol="false" tIns="0" lIns="0" bIns="0" rIns="0"/>
            <a:lstStyle/>
            <a:p>
              <a:pPr algn="ctr">
                <a:lnSpc>
                  <a:spcPts val="2250"/>
                </a:lnSpc>
              </a:pPr>
              <a:r>
                <a:rPr lang="en-US" sz="1875">
                  <a:solidFill>
                    <a:srgbClr val="6B7280"/>
                  </a:solidFill>
                  <a:latin typeface="Calibri (MS)"/>
                  <a:ea typeface="Calibri (MS)"/>
                  <a:cs typeface="Calibri (MS)"/>
                  <a:sym typeface="Calibri (MS)"/>
                </a:rPr>
                <a:t>DICT Act / NCSP</a:t>
              </a:r>
            </a:p>
          </p:txBody>
        </p:sp>
      </p:grpSp>
      <p:grpSp>
        <p:nvGrpSpPr>
          <p:cNvPr name="Group 46" id="46"/>
          <p:cNvGrpSpPr/>
          <p:nvPr/>
        </p:nvGrpSpPr>
        <p:grpSpPr>
          <a:xfrm rot="0">
            <a:off x="6542532" y="8462772"/>
            <a:ext cx="5143500" cy="329184"/>
            <a:chOff x="0" y="0"/>
            <a:chExt cx="6858000" cy="438912"/>
          </a:xfrm>
        </p:grpSpPr>
        <p:sp>
          <p:nvSpPr>
            <p:cNvPr name="Freeform 47" id="47"/>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48" id="48"/>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9AA3B8"/>
                  </a:solidFill>
                  <a:latin typeface="Arimo"/>
                  <a:ea typeface="Arimo"/>
                  <a:cs typeface="Arimo"/>
                  <a:sym typeface="Arimo"/>
                </a:rPr>
                <a:t>DICT</a:t>
              </a:r>
            </a:p>
          </p:txBody>
        </p:sp>
      </p:grpSp>
      <p:grpSp>
        <p:nvGrpSpPr>
          <p:cNvPr name="Group 49" id="49"/>
          <p:cNvGrpSpPr/>
          <p:nvPr/>
        </p:nvGrpSpPr>
        <p:grpSpPr>
          <a:xfrm rot="0">
            <a:off x="12115419" y="6779895"/>
            <a:ext cx="5162550" cy="2076450"/>
            <a:chOff x="0" y="0"/>
            <a:chExt cx="6883400" cy="2768600"/>
          </a:xfrm>
        </p:grpSpPr>
        <p:sp>
          <p:nvSpPr>
            <p:cNvPr name="Freeform 50" id="50"/>
            <p:cNvSpPr/>
            <p:nvPr/>
          </p:nvSpPr>
          <p:spPr>
            <a:xfrm flipH="false" flipV="false" rot="0">
              <a:off x="0" y="0"/>
              <a:ext cx="6883400" cy="2768600"/>
            </a:xfrm>
            <a:custGeom>
              <a:avLst/>
              <a:gdLst/>
              <a:ahLst/>
              <a:cxnLst/>
              <a:rect r="r" b="b" t="t" l="l"/>
              <a:pathLst>
                <a:path h="2768600" w="6883400">
                  <a:moveTo>
                    <a:pt x="0" y="166116"/>
                  </a:moveTo>
                  <a:cubicBezTo>
                    <a:pt x="0" y="74422"/>
                    <a:pt x="74422" y="0"/>
                    <a:pt x="166116" y="0"/>
                  </a:cubicBezTo>
                  <a:lnTo>
                    <a:pt x="6717284" y="0"/>
                  </a:lnTo>
                  <a:cubicBezTo>
                    <a:pt x="6808978" y="0"/>
                    <a:pt x="6883400" y="74422"/>
                    <a:pt x="6883400" y="166116"/>
                  </a:cubicBezTo>
                  <a:lnTo>
                    <a:pt x="6883400" y="2602484"/>
                  </a:lnTo>
                  <a:cubicBezTo>
                    <a:pt x="6883400" y="2694178"/>
                    <a:pt x="6808978" y="2768600"/>
                    <a:pt x="6717284" y="2768600"/>
                  </a:cubicBezTo>
                  <a:lnTo>
                    <a:pt x="166116" y="2768600"/>
                  </a:lnTo>
                  <a:cubicBezTo>
                    <a:pt x="74422" y="2768600"/>
                    <a:pt x="0" y="2694178"/>
                    <a:pt x="0" y="2602484"/>
                  </a:cubicBezTo>
                  <a:close/>
                </a:path>
              </a:pathLst>
            </a:custGeom>
            <a:solidFill>
              <a:srgbClr val="F4F7FC"/>
            </a:solidFill>
            <a:ln w="19050" cap="sq">
              <a:solidFill>
                <a:srgbClr val="D7DCEC"/>
              </a:solidFill>
              <a:prstDash val="solid"/>
              <a:miter/>
            </a:ln>
          </p:spPr>
        </p:sp>
      </p:grpSp>
      <p:grpSp>
        <p:nvGrpSpPr>
          <p:cNvPr name="Group 51" id="51"/>
          <p:cNvGrpSpPr/>
          <p:nvPr/>
        </p:nvGrpSpPr>
        <p:grpSpPr>
          <a:xfrm rot="0">
            <a:off x="12124944" y="6858000"/>
            <a:ext cx="5143500" cy="1755648"/>
            <a:chOff x="0" y="0"/>
            <a:chExt cx="6858000" cy="2340864"/>
          </a:xfrm>
        </p:grpSpPr>
        <p:sp>
          <p:nvSpPr>
            <p:cNvPr name="Freeform 52" id="52"/>
            <p:cNvSpPr/>
            <p:nvPr/>
          </p:nvSpPr>
          <p:spPr>
            <a:xfrm flipH="false" flipV="false" rot="0">
              <a:off x="0" y="0"/>
              <a:ext cx="6858000" cy="2340864"/>
            </a:xfrm>
            <a:custGeom>
              <a:avLst/>
              <a:gdLst/>
              <a:ahLst/>
              <a:cxnLst/>
              <a:rect r="r" b="b" t="t" l="l"/>
              <a:pathLst>
                <a:path h="2340864" w="6858000">
                  <a:moveTo>
                    <a:pt x="0" y="0"/>
                  </a:moveTo>
                  <a:lnTo>
                    <a:pt x="6858000" y="0"/>
                  </a:lnTo>
                  <a:lnTo>
                    <a:pt x="6858000" y="2340864"/>
                  </a:lnTo>
                  <a:lnTo>
                    <a:pt x="0" y="2340864"/>
                  </a:lnTo>
                  <a:close/>
                </a:path>
              </a:pathLst>
            </a:custGeom>
            <a:blipFill>
              <a:blip r:embed="rId2">
                <a:alphaModFix amt="0"/>
              </a:blip>
              <a:stretch>
                <a:fillRect l="0" t="-7085" r="0" b="-7085"/>
              </a:stretch>
            </a:blipFill>
          </p:spPr>
        </p:sp>
        <p:sp>
          <p:nvSpPr>
            <p:cNvPr name="TextBox 53" id="53"/>
            <p:cNvSpPr txBox="true"/>
            <p:nvPr/>
          </p:nvSpPr>
          <p:spPr>
            <a:xfrm>
              <a:off x="0" y="-38100"/>
              <a:ext cx="6858000" cy="2378964"/>
            </a:xfrm>
            <a:prstGeom prst="rect">
              <a:avLst/>
            </a:prstGeom>
          </p:spPr>
          <p:txBody>
            <a:bodyPr anchor="ctr" rtlCol="false" tIns="0" lIns="0" bIns="0" rIns="0"/>
            <a:lstStyle/>
            <a:p>
              <a:pPr algn="ctr">
                <a:lnSpc>
                  <a:spcPts val="2250"/>
                </a:lnSpc>
              </a:pPr>
              <a:r>
                <a:rPr lang="en-US" sz="1875">
                  <a:solidFill>
                    <a:srgbClr val="6B7280"/>
                  </a:solidFill>
                  <a:latin typeface="Calibri (MS)"/>
                  <a:ea typeface="Calibri (MS)"/>
                  <a:cs typeface="Calibri (MS)"/>
                  <a:sym typeface="Calibri (MS)"/>
                </a:rPr>
                <a:t>Critical Infra. Protection</a:t>
              </a:r>
            </a:p>
          </p:txBody>
        </p:sp>
      </p:grpSp>
      <p:grpSp>
        <p:nvGrpSpPr>
          <p:cNvPr name="Group 54" id="54"/>
          <p:cNvGrpSpPr/>
          <p:nvPr/>
        </p:nvGrpSpPr>
        <p:grpSpPr>
          <a:xfrm rot="0">
            <a:off x="12124944" y="8462772"/>
            <a:ext cx="5143500" cy="329184"/>
            <a:chOff x="0" y="0"/>
            <a:chExt cx="6858000" cy="438912"/>
          </a:xfrm>
        </p:grpSpPr>
        <p:sp>
          <p:nvSpPr>
            <p:cNvPr name="Freeform 55" id="55"/>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56" id="56"/>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9AA3B8"/>
                  </a:solidFill>
                  <a:latin typeface="Arimo"/>
                  <a:ea typeface="Arimo"/>
                  <a:cs typeface="Arimo"/>
                  <a:sym typeface="Arimo"/>
                </a:rPr>
                <a:t>CII</a:t>
              </a:r>
            </a:p>
          </p:txBody>
        </p:sp>
      </p:grpSp>
      <p:grpSp>
        <p:nvGrpSpPr>
          <p:cNvPr name="Group 57" id="57"/>
          <p:cNvGrpSpPr/>
          <p:nvPr/>
        </p:nvGrpSpPr>
        <p:grpSpPr>
          <a:xfrm rot="0">
            <a:off x="685800" y="9710928"/>
            <a:ext cx="10972800" cy="411480"/>
            <a:chOff x="0" y="0"/>
            <a:chExt cx="14630400" cy="548640"/>
          </a:xfrm>
        </p:grpSpPr>
        <p:sp>
          <p:nvSpPr>
            <p:cNvPr name="Freeform 58" id="58"/>
            <p:cNvSpPr/>
            <p:nvPr/>
          </p:nvSpPr>
          <p:spPr>
            <a:xfrm flipH="false" flipV="false" rot="0">
              <a:off x="0" y="0"/>
              <a:ext cx="14630400" cy="548640"/>
            </a:xfrm>
            <a:custGeom>
              <a:avLst/>
              <a:gdLst/>
              <a:ahLst/>
              <a:cxnLst/>
              <a:rect r="r" b="b" t="t" l="l"/>
              <a:pathLst>
                <a:path h="548640" w="14630400">
                  <a:moveTo>
                    <a:pt x="0" y="0"/>
                  </a:moveTo>
                  <a:lnTo>
                    <a:pt x="14630400" y="0"/>
                  </a:lnTo>
                  <a:lnTo>
                    <a:pt x="14630400" y="548640"/>
                  </a:lnTo>
                  <a:lnTo>
                    <a:pt x="0" y="548640"/>
                  </a:lnTo>
                  <a:close/>
                </a:path>
              </a:pathLst>
            </a:custGeom>
            <a:blipFill>
              <a:blip r:embed="rId2">
                <a:alphaModFix amt="0"/>
              </a:blip>
              <a:stretch>
                <a:fillRect l="0" t="-469601" r="0" b="-469601"/>
              </a:stretch>
            </a:blipFill>
          </p:spPr>
        </p:sp>
        <p:sp>
          <p:nvSpPr>
            <p:cNvPr name="TextBox 59" id="59"/>
            <p:cNvSpPr txBox="true"/>
            <p:nvPr/>
          </p:nvSpPr>
          <p:spPr>
            <a:xfrm>
              <a:off x="0" y="-38100"/>
              <a:ext cx="14630400" cy="586740"/>
            </a:xfrm>
            <a:prstGeom prst="rect">
              <a:avLst/>
            </a:prstGeom>
          </p:spPr>
          <p:txBody>
            <a:bodyPr anchor="ctr" rtlCol="false" tIns="0" lIns="0" bIns="0" rIns="0"/>
            <a:lstStyle/>
            <a:p>
              <a:pPr algn="l">
                <a:lnSpc>
                  <a:spcPts val="1800"/>
                </a:lnSpc>
              </a:pPr>
              <a:r>
                <a:rPr lang="en-US" sz="1500">
                  <a:solidFill>
                    <a:srgbClr val="6B7280"/>
                  </a:solidFill>
                  <a:latin typeface="Calibri (MS)"/>
                  <a:ea typeface="Calibri (MS)"/>
                  <a:cs typeface="Calibri (MS)"/>
                  <a:sym typeface="Calibri (MS)"/>
                </a:rPr>
                <a:t>Davao del Norte Provincial Government — Cybersecurity Seminar</a:t>
              </a:r>
            </a:p>
          </p:txBody>
        </p:sp>
      </p:grpSp>
      <p:grpSp>
        <p:nvGrpSpPr>
          <p:cNvPr name="Group 60" id="60"/>
          <p:cNvGrpSpPr/>
          <p:nvPr/>
        </p:nvGrpSpPr>
        <p:grpSpPr>
          <a:xfrm rot="0">
            <a:off x="16911828" y="9710928"/>
            <a:ext cx="685800" cy="411480"/>
            <a:chOff x="0" y="0"/>
            <a:chExt cx="914400" cy="548640"/>
          </a:xfrm>
        </p:grpSpPr>
        <p:sp>
          <p:nvSpPr>
            <p:cNvPr name="Freeform 61" id="61"/>
            <p:cNvSpPr/>
            <p:nvPr/>
          </p:nvSpPr>
          <p:spPr>
            <a:xfrm flipH="false" flipV="false" rot="0">
              <a:off x="0" y="0"/>
              <a:ext cx="914400" cy="548640"/>
            </a:xfrm>
            <a:custGeom>
              <a:avLst/>
              <a:gdLst/>
              <a:ahLst/>
              <a:cxnLst/>
              <a:rect r="r" b="b" t="t" l="l"/>
              <a:pathLst>
                <a:path h="548640" w="914400">
                  <a:moveTo>
                    <a:pt x="0" y="0"/>
                  </a:moveTo>
                  <a:lnTo>
                    <a:pt x="914400" y="0"/>
                  </a:lnTo>
                  <a:lnTo>
                    <a:pt x="914400" y="548640"/>
                  </a:lnTo>
                  <a:lnTo>
                    <a:pt x="0" y="548640"/>
                  </a:lnTo>
                  <a:close/>
                </a:path>
              </a:pathLst>
            </a:custGeom>
            <a:blipFill>
              <a:blip r:embed="rId2">
                <a:alphaModFix amt="0"/>
              </a:blip>
              <a:stretch>
                <a:fillRect l="-26982" t="0" r="-26982" b="0"/>
              </a:stretch>
            </a:blipFill>
          </p:spPr>
        </p:sp>
        <p:sp>
          <p:nvSpPr>
            <p:cNvPr name="TextBox 62" id="62"/>
            <p:cNvSpPr txBox="true"/>
            <p:nvPr/>
          </p:nvSpPr>
          <p:spPr>
            <a:xfrm>
              <a:off x="0" y="-38100"/>
              <a:ext cx="914400" cy="586740"/>
            </a:xfrm>
            <a:prstGeom prst="rect">
              <a:avLst/>
            </a:prstGeom>
          </p:spPr>
          <p:txBody>
            <a:bodyPr anchor="ctr" rtlCol="false" tIns="0" lIns="0" bIns="0" rIns="0"/>
            <a:lstStyle/>
            <a:p>
              <a:pPr algn="r">
                <a:lnSpc>
                  <a:spcPts val="1800"/>
                </a:lnSpc>
              </a:pPr>
              <a:r>
                <a:rPr lang="en-US" sz="1500">
                  <a:solidFill>
                    <a:srgbClr val="6B7280"/>
                  </a:solidFill>
                  <a:latin typeface="Calibri (MS)"/>
                  <a:ea typeface="Calibri (MS)"/>
                  <a:cs typeface="Calibri (MS)"/>
                  <a:sym typeface="Calibri (MS)"/>
                </a:rPr>
                <a:t>25</a:t>
              </a:r>
            </a:p>
          </p:txBody>
        </p:sp>
      </p:grpSp>
    </p:spTree>
  </p:cSld>
  <p:clrMapOvr>
    <a:masterClrMapping/>
  </p:clrMapOvr>
</p:sld>
</file>

<file path=ppt/slides/slide14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60120" y="685800"/>
            <a:ext cx="13716000" cy="411480"/>
            <a:chOff x="0" y="0"/>
            <a:chExt cx="18288000" cy="548640"/>
          </a:xfrm>
        </p:grpSpPr>
        <p:sp>
          <p:nvSpPr>
            <p:cNvPr name="Freeform 3" id="3"/>
            <p:cNvSpPr/>
            <p:nvPr/>
          </p:nvSpPr>
          <p:spPr>
            <a:xfrm flipH="false" flipV="false" rot="0">
              <a:off x="0" y="0"/>
              <a:ext cx="18288000" cy="548640"/>
            </a:xfrm>
            <a:custGeom>
              <a:avLst/>
              <a:gdLst/>
              <a:ahLst/>
              <a:cxnLst/>
              <a:rect r="r" b="b" t="t" l="l"/>
              <a:pathLst>
                <a:path h="548640" w="18288000">
                  <a:moveTo>
                    <a:pt x="0" y="0"/>
                  </a:moveTo>
                  <a:lnTo>
                    <a:pt x="18288000" y="0"/>
                  </a:lnTo>
                  <a:lnTo>
                    <a:pt x="18288000" y="548640"/>
                  </a:lnTo>
                  <a:lnTo>
                    <a:pt x="0" y="548640"/>
                  </a:lnTo>
                  <a:close/>
                </a:path>
              </a:pathLst>
            </a:custGeom>
            <a:blipFill>
              <a:blip r:embed="rId2">
                <a:alphaModFix amt="0"/>
              </a:blip>
              <a:stretch>
                <a:fillRect l="0" t="-599501" r="0" b="-599501"/>
              </a:stretch>
            </a:blipFill>
          </p:spPr>
        </p:sp>
        <p:sp>
          <p:nvSpPr>
            <p:cNvPr name="TextBox 4" id="4"/>
            <p:cNvSpPr txBox="true"/>
            <p:nvPr/>
          </p:nvSpPr>
          <p:spPr>
            <a:xfrm>
              <a:off x="0" y="-38100"/>
              <a:ext cx="18288000" cy="586740"/>
            </a:xfrm>
            <a:prstGeom prst="rect">
              <a:avLst/>
            </a:prstGeom>
          </p:spPr>
          <p:txBody>
            <a:bodyPr anchor="ctr" rtlCol="false" tIns="0" lIns="0" bIns="0" rIns="0"/>
            <a:lstStyle/>
            <a:p>
              <a:pPr algn="l">
                <a:lnSpc>
                  <a:spcPts val="2160"/>
                </a:lnSpc>
              </a:pPr>
              <a:r>
                <a:rPr lang="en-US" b="true" sz="1800" spc="225">
                  <a:solidFill>
                    <a:srgbClr val="00B4D8"/>
                  </a:solidFill>
                  <a:latin typeface="Calibri (MS) Bold"/>
                  <a:ea typeface="Calibri (MS) Bold"/>
                  <a:cs typeface="Calibri (MS) Bold"/>
                  <a:sym typeface="Calibri (MS) Bold"/>
                </a:rPr>
                <a:t>PH CYBER LAW SORT · ANSWER</a:t>
              </a:r>
            </a:p>
          </p:txBody>
        </p:sp>
      </p:grpSp>
      <p:grpSp>
        <p:nvGrpSpPr>
          <p:cNvPr name="Group 5" id="5"/>
          <p:cNvGrpSpPr/>
          <p:nvPr/>
        </p:nvGrpSpPr>
        <p:grpSpPr>
          <a:xfrm rot="0">
            <a:off x="960120" y="1069848"/>
            <a:ext cx="10972800" cy="822960"/>
            <a:chOff x="0" y="0"/>
            <a:chExt cx="14630400" cy="1097280"/>
          </a:xfrm>
        </p:grpSpPr>
        <p:sp>
          <p:nvSpPr>
            <p:cNvPr name="Freeform 6" id="6"/>
            <p:cNvSpPr/>
            <p:nvPr/>
          </p:nvSpPr>
          <p:spPr>
            <a:xfrm flipH="false" flipV="false" rot="0">
              <a:off x="0" y="0"/>
              <a:ext cx="14630400" cy="1097280"/>
            </a:xfrm>
            <a:custGeom>
              <a:avLst/>
              <a:gdLst/>
              <a:ahLst/>
              <a:cxnLst/>
              <a:rect r="r" b="b" t="t" l="l"/>
              <a:pathLst>
                <a:path h="1097280" w="14630400">
                  <a:moveTo>
                    <a:pt x="0" y="0"/>
                  </a:moveTo>
                  <a:lnTo>
                    <a:pt x="14630400" y="0"/>
                  </a:lnTo>
                  <a:lnTo>
                    <a:pt x="14630400" y="1097280"/>
                  </a:lnTo>
                  <a:lnTo>
                    <a:pt x="0" y="1097280"/>
                  </a:lnTo>
                  <a:close/>
                </a:path>
              </a:pathLst>
            </a:custGeom>
            <a:blipFill>
              <a:blip r:embed="rId2">
                <a:alphaModFix amt="0"/>
              </a:blip>
              <a:stretch>
                <a:fillRect l="0" t="-209800" r="0" b="-209800"/>
              </a:stretch>
            </a:blipFill>
          </p:spPr>
        </p:sp>
        <p:sp>
          <p:nvSpPr>
            <p:cNvPr name="TextBox 7" id="7"/>
            <p:cNvSpPr txBox="true"/>
            <p:nvPr/>
          </p:nvSpPr>
          <p:spPr>
            <a:xfrm>
              <a:off x="0" y="0"/>
              <a:ext cx="14630400" cy="1097280"/>
            </a:xfrm>
            <a:prstGeom prst="rect">
              <a:avLst/>
            </a:prstGeom>
          </p:spPr>
          <p:txBody>
            <a:bodyPr anchor="ctr" rtlCol="false" tIns="0" lIns="0" bIns="0" rIns="0"/>
            <a:lstStyle/>
            <a:p>
              <a:pPr algn="l">
                <a:lnSpc>
                  <a:spcPts val="4680"/>
                </a:lnSpc>
              </a:pPr>
              <a:r>
                <a:rPr lang="en-US" sz="3900" b="true">
                  <a:solidFill>
                    <a:srgbClr val="1E2761"/>
                  </a:solidFill>
                  <a:latin typeface="Cambria Bold"/>
                  <a:ea typeface="Cambria Bold"/>
                  <a:cs typeface="Cambria Bold"/>
                  <a:sym typeface="Cambria Bold"/>
                </a:rPr>
                <a:t>Scenario 8 — Answer</a:t>
              </a:r>
            </a:p>
          </p:txBody>
        </p:sp>
      </p:grpSp>
      <p:grpSp>
        <p:nvGrpSpPr>
          <p:cNvPr name="Group 8" id="8"/>
          <p:cNvGrpSpPr/>
          <p:nvPr/>
        </p:nvGrpSpPr>
        <p:grpSpPr>
          <a:xfrm rot="0">
            <a:off x="960120" y="1810512"/>
            <a:ext cx="8229600" cy="411480"/>
            <a:chOff x="0" y="0"/>
            <a:chExt cx="10972800" cy="548640"/>
          </a:xfrm>
        </p:grpSpPr>
        <p:sp>
          <p:nvSpPr>
            <p:cNvPr name="Freeform 9" id="9"/>
            <p:cNvSpPr/>
            <p:nvPr/>
          </p:nvSpPr>
          <p:spPr>
            <a:xfrm flipH="false" flipV="false" rot="0">
              <a:off x="0" y="0"/>
              <a:ext cx="10972800" cy="548640"/>
            </a:xfrm>
            <a:custGeom>
              <a:avLst/>
              <a:gdLst/>
              <a:ahLst/>
              <a:cxnLst/>
              <a:rect r="r" b="b" t="t" l="l"/>
              <a:pathLst>
                <a:path h="548640" w="10972800">
                  <a:moveTo>
                    <a:pt x="0" y="0"/>
                  </a:moveTo>
                  <a:lnTo>
                    <a:pt x="10972800" y="0"/>
                  </a:lnTo>
                  <a:lnTo>
                    <a:pt x="10972800" y="548640"/>
                  </a:lnTo>
                  <a:lnTo>
                    <a:pt x="0" y="548640"/>
                  </a:lnTo>
                  <a:close/>
                </a:path>
              </a:pathLst>
            </a:custGeom>
            <a:blipFill>
              <a:blip r:embed="rId2">
                <a:alphaModFix amt="0"/>
              </a:blip>
              <a:stretch>
                <a:fillRect l="0" t="-339700" r="0" b="-339700"/>
              </a:stretch>
            </a:blipFill>
          </p:spPr>
        </p:sp>
        <p:sp>
          <p:nvSpPr>
            <p:cNvPr name="TextBox 10" id="10"/>
            <p:cNvSpPr txBox="true"/>
            <p:nvPr/>
          </p:nvSpPr>
          <p:spPr>
            <a:xfrm>
              <a:off x="0" y="-28575"/>
              <a:ext cx="10972800" cy="577215"/>
            </a:xfrm>
            <a:prstGeom prst="rect">
              <a:avLst/>
            </a:prstGeom>
          </p:spPr>
          <p:txBody>
            <a:bodyPr anchor="ctr" rtlCol="false" tIns="0" lIns="0" bIns="0" rIns="0"/>
            <a:lstStyle/>
            <a:p>
              <a:pPr algn="l">
                <a:lnSpc>
                  <a:spcPts val="1980"/>
                </a:lnSpc>
              </a:pPr>
              <a:r>
                <a:rPr lang="en-US" sz="1650">
                  <a:solidFill>
                    <a:srgbClr val="6B7280"/>
                  </a:solidFill>
                  <a:latin typeface="Calibri (MS)"/>
                  <a:ea typeface="Calibri (MS)"/>
                  <a:cs typeface="Calibri (MS)"/>
                  <a:sym typeface="Calibri (MS)"/>
                </a:rPr>
                <a:t>8 of 15</a:t>
              </a:r>
            </a:p>
          </p:txBody>
        </p:sp>
      </p:grpSp>
      <p:grpSp>
        <p:nvGrpSpPr>
          <p:cNvPr name="Group 11" id="11"/>
          <p:cNvGrpSpPr/>
          <p:nvPr/>
        </p:nvGrpSpPr>
        <p:grpSpPr>
          <a:xfrm rot="0">
            <a:off x="960120" y="2537460"/>
            <a:ext cx="16322040" cy="2057400"/>
            <a:chOff x="0" y="0"/>
            <a:chExt cx="21762720" cy="2743200"/>
          </a:xfrm>
        </p:grpSpPr>
        <p:sp>
          <p:nvSpPr>
            <p:cNvPr name="Freeform 12" id="12"/>
            <p:cNvSpPr/>
            <p:nvPr/>
          </p:nvSpPr>
          <p:spPr>
            <a:xfrm flipH="false" flipV="false" rot="0">
              <a:off x="0" y="0"/>
              <a:ext cx="21762720" cy="2743200"/>
            </a:xfrm>
            <a:custGeom>
              <a:avLst/>
              <a:gdLst/>
              <a:ahLst/>
              <a:cxnLst/>
              <a:rect r="r" b="b" t="t" l="l"/>
              <a:pathLst>
                <a:path h="2743200" w="21762720">
                  <a:moveTo>
                    <a:pt x="0" y="182880"/>
                  </a:moveTo>
                  <a:cubicBezTo>
                    <a:pt x="0" y="81915"/>
                    <a:pt x="81915" y="0"/>
                    <a:pt x="182880" y="0"/>
                  </a:cubicBezTo>
                  <a:lnTo>
                    <a:pt x="21579839" y="0"/>
                  </a:lnTo>
                  <a:cubicBezTo>
                    <a:pt x="21680804" y="0"/>
                    <a:pt x="21762720" y="81915"/>
                    <a:pt x="21762720" y="182880"/>
                  </a:cubicBezTo>
                  <a:lnTo>
                    <a:pt x="21762720" y="2560320"/>
                  </a:lnTo>
                  <a:cubicBezTo>
                    <a:pt x="21762720" y="2661285"/>
                    <a:pt x="21680804" y="2743200"/>
                    <a:pt x="21579839" y="2743200"/>
                  </a:cubicBezTo>
                  <a:lnTo>
                    <a:pt x="182880" y="2743200"/>
                  </a:lnTo>
                  <a:cubicBezTo>
                    <a:pt x="81915" y="2743200"/>
                    <a:pt x="0" y="2661285"/>
                    <a:pt x="0" y="2560320"/>
                  </a:cubicBezTo>
                  <a:close/>
                </a:path>
              </a:pathLst>
            </a:custGeom>
            <a:solidFill>
              <a:srgbClr val="F4F7FC"/>
            </a:solidFill>
          </p:spPr>
        </p:sp>
      </p:grpSp>
      <p:grpSp>
        <p:nvGrpSpPr>
          <p:cNvPr name="Group 13" id="13"/>
          <p:cNvGrpSpPr/>
          <p:nvPr/>
        </p:nvGrpSpPr>
        <p:grpSpPr>
          <a:xfrm rot="0">
            <a:off x="1440180" y="2743200"/>
            <a:ext cx="15361920" cy="1645920"/>
            <a:chOff x="0" y="0"/>
            <a:chExt cx="20482560" cy="2194560"/>
          </a:xfrm>
        </p:grpSpPr>
        <p:sp>
          <p:nvSpPr>
            <p:cNvPr name="Freeform 14" id="14"/>
            <p:cNvSpPr/>
            <p:nvPr/>
          </p:nvSpPr>
          <p:spPr>
            <a:xfrm flipH="false" flipV="false" rot="0">
              <a:off x="0" y="0"/>
              <a:ext cx="20482561" cy="2194560"/>
            </a:xfrm>
            <a:custGeom>
              <a:avLst/>
              <a:gdLst/>
              <a:ahLst/>
              <a:cxnLst/>
              <a:rect r="r" b="b" t="t" l="l"/>
              <a:pathLst>
                <a:path h="2194560" w="20482561">
                  <a:moveTo>
                    <a:pt x="0" y="0"/>
                  </a:moveTo>
                  <a:lnTo>
                    <a:pt x="20482561" y="0"/>
                  </a:lnTo>
                  <a:lnTo>
                    <a:pt x="20482561" y="2194560"/>
                  </a:lnTo>
                  <a:lnTo>
                    <a:pt x="0" y="2194560"/>
                  </a:lnTo>
                  <a:close/>
                </a:path>
              </a:pathLst>
            </a:custGeom>
            <a:blipFill>
              <a:blip r:embed="rId2">
                <a:alphaModFix amt="0"/>
              </a:blip>
              <a:stretch>
                <a:fillRect l="0" t="-131860" r="0" b="-131860"/>
              </a:stretch>
            </a:blipFill>
          </p:spPr>
        </p:sp>
        <p:sp>
          <p:nvSpPr>
            <p:cNvPr name="TextBox 15" id="15"/>
            <p:cNvSpPr txBox="true"/>
            <p:nvPr/>
          </p:nvSpPr>
          <p:spPr>
            <a:xfrm>
              <a:off x="0" y="-66675"/>
              <a:ext cx="20482560" cy="2261235"/>
            </a:xfrm>
            <a:prstGeom prst="rect">
              <a:avLst/>
            </a:prstGeom>
          </p:spPr>
          <p:txBody>
            <a:bodyPr anchor="ctr" rtlCol="false" tIns="0" lIns="0" bIns="0" rIns="0"/>
            <a:lstStyle/>
            <a:p>
              <a:pPr algn="l">
                <a:lnSpc>
                  <a:spcPts val="3487"/>
                </a:lnSpc>
              </a:pPr>
              <a:r>
                <a:rPr lang="en-US" sz="2325" i="true">
                  <a:solidFill>
                    <a:srgbClr val="23262F"/>
                  </a:solidFill>
                  <a:latin typeface="Cambria Italics"/>
                  <a:ea typeface="Cambria Italics"/>
                  <a:cs typeface="Cambria Italics"/>
                  <a:sym typeface="Cambria Italics"/>
                </a:rPr>
                <a:t>"A staff member accidentally emails a spreadsheet of residents' PhilHealth numbers to the wrong department."</a:t>
              </a:r>
            </a:p>
          </p:txBody>
        </p:sp>
      </p:grpSp>
      <p:grpSp>
        <p:nvGrpSpPr>
          <p:cNvPr name="Group 16" id="16"/>
          <p:cNvGrpSpPr/>
          <p:nvPr/>
        </p:nvGrpSpPr>
        <p:grpSpPr>
          <a:xfrm rot="0">
            <a:off x="950595" y="4928235"/>
            <a:ext cx="5162550" cy="842010"/>
            <a:chOff x="0" y="0"/>
            <a:chExt cx="6883400" cy="1122680"/>
          </a:xfrm>
        </p:grpSpPr>
        <p:sp>
          <p:nvSpPr>
            <p:cNvPr name="Freeform 17" id="17"/>
            <p:cNvSpPr/>
            <p:nvPr/>
          </p:nvSpPr>
          <p:spPr>
            <a:xfrm flipH="false" flipV="false" rot="0">
              <a:off x="0" y="0"/>
              <a:ext cx="6883400" cy="1122680"/>
            </a:xfrm>
            <a:custGeom>
              <a:avLst/>
              <a:gdLst/>
              <a:ahLst/>
              <a:cxnLst/>
              <a:rect r="r" b="b" t="t" l="l"/>
              <a:pathLst>
                <a:path h="1122680" w="6883400">
                  <a:moveTo>
                    <a:pt x="0" y="168402"/>
                  </a:moveTo>
                  <a:cubicBezTo>
                    <a:pt x="0" y="75438"/>
                    <a:pt x="75438" y="0"/>
                    <a:pt x="168402" y="0"/>
                  </a:cubicBezTo>
                  <a:lnTo>
                    <a:pt x="6714998" y="0"/>
                  </a:lnTo>
                  <a:cubicBezTo>
                    <a:pt x="6807962" y="0"/>
                    <a:pt x="6883400" y="75438"/>
                    <a:pt x="6883400" y="168402"/>
                  </a:cubicBezTo>
                  <a:lnTo>
                    <a:pt x="6883400" y="954278"/>
                  </a:lnTo>
                  <a:cubicBezTo>
                    <a:pt x="6883400" y="1047242"/>
                    <a:pt x="6807962" y="1122680"/>
                    <a:pt x="6714998" y="1122680"/>
                  </a:cubicBezTo>
                  <a:lnTo>
                    <a:pt x="168402" y="1122680"/>
                  </a:lnTo>
                  <a:cubicBezTo>
                    <a:pt x="75438" y="1122680"/>
                    <a:pt x="0" y="1047242"/>
                    <a:pt x="0" y="954278"/>
                  </a:cubicBezTo>
                  <a:close/>
                </a:path>
              </a:pathLst>
            </a:custGeom>
            <a:solidFill>
              <a:srgbClr val="F4F7FC"/>
            </a:solidFill>
            <a:ln w="19050" cap="sq">
              <a:solidFill>
                <a:srgbClr val="D7DCEC"/>
              </a:solidFill>
              <a:prstDash val="solid"/>
              <a:miter/>
            </a:ln>
          </p:spPr>
        </p:sp>
      </p:grpSp>
      <p:grpSp>
        <p:nvGrpSpPr>
          <p:cNvPr name="Group 18" id="18"/>
          <p:cNvGrpSpPr/>
          <p:nvPr/>
        </p:nvGrpSpPr>
        <p:grpSpPr>
          <a:xfrm rot="0">
            <a:off x="960120" y="5006340"/>
            <a:ext cx="5143500" cy="521208"/>
            <a:chOff x="0" y="0"/>
            <a:chExt cx="6858000" cy="694944"/>
          </a:xfrm>
        </p:grpSpPr>
        <p:sp>
          <p:nvSpPr>
            <p:cNvPr name="Freeform 19" id="19"/>
            <p:cNvSpPr/>
            <p:nvPr/>
          </p:nvSpPr>
          <p:spPr>
            <a:xfrm flipH="false" flipV="false" rot="0">
              <a:off x="0" y="0"/>
              <a:ext cx="6858000" cy="694944"/>
            </a:xfrm>
            <a:custGeom>
              <a:avLst/>
              <a:gdLst/>
              <a:ahLst/>
              <a:cxnLst/>
              <a:rect r="r" b="b" t="t" l="l"/>
              <a:pathLst>
                <a:path h="694944" w="6858000">
                  <a:moveTo>
                    <a:pt x="0" y="0"/>
                  </a:moveTo>
                  <a:lnTo>
                    <a:pt x="6858000" y="0"/>
                  </a:lnTo>
                  <a:lnTo>
                    <a:pt x="6858000" y="694944"/>
                  </a:lnTo>
                  <a:lnTo>
                    <a:pt x="0" y="694944"/>
                  </a:lnTo>
                  <a:close/>
                </a:path>
              </a:pathLst>
            </a:custGeom>
            <a:blipFill>
              <a:blip r:embed="rId2">
                <a:alphaModFix amt="0"/>
              </a:blip>
              <a:stretch>
                <a:fillRect l="0" t="-142286" r="0" b="-142286"/>
              </a:stretch>
            </a:blipFill>
          </p:spPr>
        </p:sp>
        <p:sp>
          <p:nvSpPr>
            <p:cNvPr name="TextBox 20" id="20"/>
            <p:cNvSpPr txBox="true"/>
            <p:nvPr/>
          </p:nvSpPr>
          <p:spPr>
            <a:xfrm>
              <a:off x="0" y="-38100"/>
              <a:ext cx="6858000" cy="733044"/>
            </a:xfrm>
            <a:prstGeom prst="rect">
              <a:avLst/>
            </a:prstGeom>
          </p:spPr>
          <p:txBody>
            <a:bodyPr anchor="ctr" rtlCol="false" tIns="0" lIns="0" bIns="0" rIns="0"/>
            <a:lstStyle/>
            <a:p>
              <a:pPr algn="ctr">
                <a:lnSpc>
                  <a:spcPts val="2250"/>
                </a:lnSpc>
              </a:pPr>
              <a:r>
                <a:rPr lang="en-US" sz="1875">
                  <a:solidFill>
                    <a:srgbClr val="6B7280"/>
                  </a:solidFill>
                  <a:latin typeface="Calibri (MS)"/>
                  <a:ea typeface="Calibri (MS)"/>
                  <a:cs typeface="Calibri (MS)"/>
                  <a:sym typeface="Calibri (MS)"/>
                </a:rPr>
                <a:t>E-Commerce Act</a:t>
              </a:r>
            </a:p>
          </p:txBody>
        </p:sp>
      </p:grpSp>
      <p:grpSp>
        <p:nvGrpSpPr>
          <p:cNvPr name="Group 21" id="21"/>
          <p:cNvGrpSpPr/>
          <p:nvPr/>
        </p:nvGrpSpPr>
        <p:grpSpPr>
          <a:xfrm rot="0">
            <a:off x="960120" y="5376672"/>
            <a:ext cx="5143500" cy="329184"/>
            <a:chOff x="0" y="0"/>
            <a:chExt cx="6858000" cy="438912"/>
          </a:xfrm>
        </p:grpSpPr>
        <p:sp>
          <p:nvSpPr>
            <p:cNvPr name="Freeform 22" id="22"/>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23" id="23"/>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9AA3B8"/>
                  </a:solidFill>
                  <a:latin typeface="Arimo"/>
                  <a:ea typeface="Arimo"/>
                  <a:cs typeface="Arimo"/>
                  <a:sym typeface="Arimo"/>
                </a:rPr>
                <a:t>ECA</a:t>
              </a:r>
            </a:p>
          </p:txBody>
        </p:sp>
      </p:grpSp>
      <p:grpSp>
        <p:nvGrpSpPr>
          <p:cNvPr name="Group 24" id="24"/>
          <p:cNvGrpSpPr/>
          <p:nvPr/>
        </p:nvGrpSpPr>
        <p:grpSpPr>
          <a:xfrm rot="0">
            <a:off x="6533007" y="4928235"/>
            <a:ext cx="5162550" cy="842010"/>
            <a:chOff x="0" y="0"/>
            <a:chExt cx="6883400" cy="1122680"/>
          </a:xfrm>
        </p:grpSpPr>
        <p:sp>
          <p:nvSpPr>
            <p:cNvPr name="Freeform 25" id="25"/>
            <p:cNvSpPr/>
            <p:nvPr/>
          </p:nvSpPr>
          <p:spPr>
            <a:xfrm flipH="false" flipV="false" rot="0">
              <a:off x="0" y="0"/>
              <a:ext cx="6883400" cy="1122680"/>
            </a:xfrm>
            <a:custGeom>
              <a:avLst/>
              <a:gdLst/>
              <a:ahLst/>
              <a:cxnLst/>
              <a:rect r="r" b="b" t="t" l="l"/>
              <a:pathLst>
                <a:path h="1122680" w="6883400">
                  <a:moveTo>
                    <a:pt x="0" y="168402"/>
                  </a:moveTo>
                  <a:cubicBezTo>
                    <a:pt x="0" y="75438"/>
                    <a:pt x="75438" y="0"/>
                    <a:pt x="168402" y="0"/>
                  </a:cubicBezTo>
                  <a:lnTo>
                    <a:pt x="6714998" y="0"/>
                  </a:lnTo>
                  <a:cubicBezTo>
                    <a:pt x="6807962" y="0"/>
                    <a:pt x="6883400" y="75438"/>
                    <a:pt x="6883400" y="168402"/>
                  </a:cubicBezTo>
                  <a:lnTo>
                    <a:pt x="6883400" y="954278"/>
                  </a:lnTo>
                  <a:cubicBezTo>
                    <a:pt x="6883400" y="1047242"/>
                    <a:pt x="6807962" y="1122680"/>
                    <a:pt x="6714998" y="1122680"/>
                  </a:cubicBezTo>
                  <a:lnTo>
                    <a:pt x="168402" y="1122680"/>
                  </a:lnTo>
                  <a:cubicBezTo>
                    <a:pt x="75438" y="1122680"/>
                    <a:pt x="0" y="1047242"/>
                    <a:pt x="0" y="954278"/>
                  </a:cubicBezTo>
                  <a:close/>
                </a:path>
              </a:pathLst>
            </a:custGeom>
            <a:solidFill>
              <a:srgbClr val="F4F7FC"/>
            </a:solidFill>
            <a:ln w="19050" cap="sq">
              <a:solidFill>
                <a:srgbClr val="D7DCEC"/>
              </a:solidFill>
              <a:prstDash val="solid"/>
              <a:miter/>
            </a:ln>
          </p:spPr>
        </p:sp>
      </p:grpSp>
      <p:grpSp>
        <p:nvGrpSpPr>
          <p:cNvPr name="Group 26" id="26"/>
          <p:cNvGrpSpPr/>
          <p:nvPr/>
        </p:nvGrpSpPr>
        <p:grpSpPr>
          <a:xfrm rot="0">
            <a:off x="6542532" y="5006340"/>
            <a:ext cx="5143500" cy="521208"/>
            <a:chOff x="0" y="0"/>
            <a:chExt cx="6858000" cy="694944"/>
          </a:xfrm>
        </p:grpSpPr>
        <p:sp>
          <p:nvSpPr>
            <p:cNvPr name="Freeform 27" id="27"/>
            <p:cNvSpPr/>
            <p:nvPr/>
          </p:nvSpPr>
          <p:spPr>
            <a:xfrm flipH="false" flipV="false" rot="0">
              <a:off x="0" y="0"/>
              <a:ext cx="6858000" cy="694944"/>
            </a:xfrm>
            <a:custGeom>
              <a:avLst/>
              <a:gdLst/>
              <a:ahLst/>
              <a:cxnLst/>
              <a:rect r="r" b="b" t="t" l="l"/>
              <a:pathLst>
                <a:path h="694944" w="6858000">
                  <a:moveTo>
                    <a:pt x="0" y="0"/>
                  </a:moveTo>
                  <a:lnTo>
                    <a:pt x="6858000" y="0"/>
                  </a:lnTo>
                  <a:lnTo>
                    <a:pt x="6858000" y="694944"/>
                  </a:lnTo>
                  <a:lnTo>
                    <a:pt x="0" y="694944"/>
                  </a:lnTo>
                  <a:close/>
                </a:path>
              </a:pathLst>
            </a:custGeom>
            <a:blipFill>
              <a:blip r:embed="rId2">
                <a:alphaModFix amt="0"/>
              </a:blip>
              <a:stretch>
                <a:fillRect l="0" t="-142286" r="0" b="-142286"/>
              </a:stretch>
            </a:blipFill>
          </p:spPr>
        </p:sp>
        <p:sp>
          <p:nvSpPr>
            <p:cNvPr name="TextBox 28" id="28"/>
            <p:cNvSpPr txBox="true"/>
            <p:nvPr/>
          </p:nvSpPr>
          <p:spPr>
            <a:xfrm>
              <a:off x="0" y="-38100"/>
              <a:ext cx="6858000" cy="733044"/>
            </a:xfrm>
            <a:prstGeom prst="rect">
              <a:avLst/>
            </a:prstGeom>
          </p:spPr>
          <p:txBody>
            <a:bodyPr anchor="ctr" rtlCol="false" tIns="0" lIns="0" bIns="0" rIns="0"/>
            <a:lstStyle/>
            <a:p>
              <a:pPr algn="ctr">
                <a:lnSpc>
                  <a:spcPts val="2250"/>
                </a:lnSpc>
              </a:pPr>
              <a:r>
                <a:rPr lang="en-US" sz="1875">
                  <a:solidFill>
                    <a:srgbClr val="6B7280"/>
                  </a:solidFill>
                  <a:latin typeface="Calibri (MS)"/>
                  <a:ea typeface="Calibri (MS)"/>
                  <a:cs typeface="Calibri (MS)"/>
                  <a:sym typeface="Calibri (MS)"/>
                </a:rPr>
                <a:t>Cybercrime Act</a:t>
              </a:r>
            </a:p>
          </p:txBody>
        </p:sp>
      </p:grpSp>
      <p:grpSp>
        <p:nvGrpSpPr>
          <p:cNvPr name="Group 29" id="29"/>
          <p:cNvGrpSpPr/>
          <p:nvPr/>
        </p:nvGrpSpPr>
        <p:grpSpPr>
          <a:xfrm rot="0">
            <a:off x="6542532" y="5376672"/>
            <a:ext cx="5143500" cy="329184"/>
            <a:chOff x="0" y="0"/>
            <a:chExt cx="6858000" cy="438912"/>
          </a:xfrm>
        </p:grpSpPr>
        <p:sp>
          <p:nvSpPr>
            <p:cNvPr name="Freeform 30" id="30"/>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31" id="31"/>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9AA3B8"/>
                  </a:solidFill>
                  <a:latin typeface="Arimo"/>
                  <a:ea typeface="Arimo"/>
                  <a:cs typeface="Arimo"/>
                  <a:sym typeface="Arimo"/>
                </a:rPr>
                <a:t>CPA</a:t>
              </a:r>
            </a:p>
          </p:txBody>
        </p:sp>
      </p:grpSp>
      <p:grpSp>
        <p:nvGrpSpPr>
          <p:cNvPr name="Group 32" id="32"/>
          <p:cNvGrpSpPr/>
          <p:nvPr/>
        </p:nvGrpSpPr>
        <p:grpSpPr>
          <a:xfrm rot="0">
            <a:off x="950595" y="5998083"/>
            <a:ext cx="5162550" cy="842010"/>
            <a:chOff x="0" y="0"/>
            <a:chExt cx="6883400" cy="1122680"/>
          </a:xfrm>
        </p:grpSpPr>
        <p:sp>
          <p:nvSpPr>
            <p:cNvPr name="Freeform 33" id="33"/>
            <p:cNvSpPr/>
            <p:nvPr/>
          </p:nvSpPr>
          <p:spPr>
            <a:xfrm flipH="false" flipV="false" rot="0">
              <a:off x="0" y="0"/>
              <a:ext cx="6883400" cy="1122680"/>
            </a:xfrm>
            <a:custGeom>
              <a:avLst/>
              <a:gdLst/>
              <a:ahLst/>
              <a:cxnLst/>
              <a:rect r="r" b="b" t="t" l="l"/>
              <a:pathLst>
                <a:path h="1122680" w="6883400">
                  <a:moveTo>
                    <a:pt x="0" y="168402"/>
                  </a:moveTo>
                  <a:cubicBezTo>
                    <a:pt x="0" y="75438"/>
                    <a:pt x="75438" y="0"/>
                    <a:pt x="168402" y="0"/>
                  </a:cubicBezTo>
                  <a:lnTo>
                    <a:pt x="6714998" y="0"/>
                  </a:lnTo>
                  <a:cubicBezTo>
                    <a:pt x="6807962" y="0"/>
                    <a:pt x="6883400" y="75438"/>
                    <a:pt x="6883400" y="168402"/>
                  </a:cubicBezTo>
                  <a:lnTo>
                    <a:pt x="6883400" y="954278"/>
                  </a:lnTo>
                  <a:cubicBezTo>
                    <a:pt x="6883400" y="1047242"/>
                    <a:pt x="6807962" y="1122680"/>
                    <a:pt x="6714998" y="1122680"/>
                  </a:cubicBezTo>
                  <a:lnTo>
                    <a:pt x="168402" y="1122680"/>
                  </a:lnTo>
                  <a:cubicBezTo>
                    <a:pt x="75438" y="1122680"/>
                    <a:pt x="0" y="1047242"/>
                    <a:pt x="0" y="954278"/>
                  </a:cubicBezTo>
                  <a:close/>
                </a:path>
              </a:pathLst>
            </a:custGeom>
            <a:solidFill>
              <a:srgbClr val="6C4FD1"/>
            </a:solidFill>
            <a:ln w="19050" cap="sq">
              <a:solidFill>
                <a:srgbClr val="6C4FD1"/>
              </a:solidFill>
              <a:prstDash val="solid"/>
              <a:miter/>
            </a:ln>
          </p:spPr>
        </p:sp>
      </p:grpSp>
      <p:grpSp>
        <p:nvGrpSpPr>
          <p:cNvPr name="Group 34" id="34"/>
          <p:cNvGrpSpPr/>
          <p:nvPr/>
        </p:nvGrpSpPr>
        <p:grpSpPr>
          <a:xfrm rot="0">
            <a:off x="960120" y="6076188"/>
            <a:ext cx="5143500" cy="521208"/>
            <a:chOff x="0" y="0"/>
            <a:chExt cx="6858000" cy="694944"/>
          </a:xfrm>
        </p:grpSpPr>
        <p:sp>
          <p:nvSpPr>
            <p:cNvPr name="Freeform 35" id="35"/>
            <p:cNvSpPr/>
            <p:nvPr/>
          </p:nvSpPr>
          <p:spPr>
            <a:xfrm flipH="false" flipV="false" rot="0">
              <a:off x="0" y="0"/>
              <a:ext cx="6858000" cy="694944"/>
            </a:xfrm>
            <a:custGeom>
              <a:avLst/>
              <a:gdLst/>
              <a:ahLst/>
              <a:cxnLst/>
              <a:rect r="r" b="b" t="t" l="l"/>
              <a:pathLst>
                <a:path h="694944" w="6858000">
                  <a:moveTo>
                    <a:pt x="0" y="0"/>
                  </a:moveTo>
                  <a:lnTo>
                    <a:pt x="6858000" y="0"/>
                  </a:lnTo>
                  <a:lnTo>
                    <a:pt x="6858000" y="694944"/>
                  </a:lnTo>
                  <a:lnTo>
                    <a:pt x="0" y="694944"/>
                  </a:lnTo>
                  <a:close/>
                </a:path>
              </a:pathLst>
            </a:custGeom>
            <a:blipFill>
              <a:blip r:embed="rId2">
                <a:alphaModFix amt="0"/>
              </a:blip>
              <a:stretch>
                <a:fillRect l="0" t="-142286" r="0" b="-142286"/>
              </a:stretch>
            </a:blipFill>
          </p:spPr>
        </p:sp>
        <p:sp>
          <p:nvSpPr>
            <p:cNvPr name="TextBox 36" id="36"/>
            <p:cNvSpPr txBox="true"/>
            <p:nvPr/>
          </p:nvSpPr>
          <p:spPr>
            <a:xfrm>
              <a:off x="0" y="-38100"/>
              <a:ext cx="6858000" cy="733044"/>
            </a:xfrm>
            <a:prstGeom prst="rect">
              <a:avLst/>
            </a:prstGeom>
          </p:spPr>
          <p:txBody>
            <a:bodyPr anchor="ctr" rtlCol="false" tIns="0" lIns="0" bIns="0" rIns="0"/>
            <a:lstStyle/>
            <a:p>
              <a:pPr algn="ctr">
                <a:lnSpc>
                  <a:spcPts val="2250"/>
                </a:lnSpc>
              </a:pPr>
              <a:r>
                <a:rPr lang="en-US" sz="1875" b="true">
                  <a:solidFill>
                    <a:srgbClr val="FFFFFF"/>
                  </a:solidFill>
                  <a:latin typeface="Calibri (MS) Bold"/>
                  <a:ea typeface="Calibri (MS) Bold"/>
                  <a:cs typeface="Calibri (MS) Bold"/>
                  <a:sym typeface="Calibri (MS) Bold"/>
                </a:rPr>
                <a:t>✓  Data Privacy Act</a:t>
              </a:r>
            </a:p>
          </p:txBody>
        </p:sp>
      </p:grpSp>
      <p:grpSp>
        <p:nvGrpSpPr>
          <p:cNvPr name="Group 37" id="37"/>
          <p:cNvGrpSpPr/>
          <p:nvPr/>
        </p:nvGrpSpPr>
        <p:grpSpPr>
          <a:xfrm rot="0">
            <a:off x="960120" y="6446520"/>
            <a:ext cx="5143500" cy="329184"/>
            <a:chOff x="0" y="0"/>
            <a:chExt cx="6858000" cy="438912"/>
          </a:xfrm>
        </p:grpSpPr>
        <p:sp>
          <p:nvSpPr>
            <p:cNvPr name="Freeform 38" id="38"/>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39" id="39"/>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FFFFFF"/>
                  </a:solidFill>
                  <a:latin typeface="Arimo"/>
                  <a:ea typeface="Arimo"/>
                  <a:cs typeface="Arimo"/>
                  <a:sym typeface="Arimo"/>
                </a:rPr>
                <a:t>DPA</a:t>
              </a:r>
            </a:p>
          </p:txBody>
        </p:sp>
      </p:grpSp>
      <p:grpSp>
        <p:nvGrpSpPr>
          <p:cNvPr name="Group 40" id="40"/>
          <p:cNvGrpSpPr/>
          <p:nvPr/>
        </p:nvGrpSpPr>
        <p:grpSpPr>
          <a:xfrm rot="0">
            <a:off x="6533007" y="5998083"/>
            <a:ext cx="5162550" cy="842010"/>
            <a:chOff x="0" y="0"/>
            <a:chExt cx="6883400" cy="1122680"/>
          </a:xfrm>
        </p:grpSpPr>
        <p:sp>
          <p:nvSpPr>
            <p:cNvPr name="Freeform 41" id="41"/>
            <p:cNvSpPr/>
            <p:nvPr/>
          </p:nvSpPr>
          <p:spPr>
            <a:xfrm flipH="false" flipV="false" rot="0">
              <a:off x="0" y="0"/>
              <a:ext cx="6883400" cy="1122680"/>
            </a:xfrm>
            <a:custGeom>
              <a:avLst/>
              <a:gdLst/>
              <a:ahLst/>
              <a:cxnLst/>
              <a:rect r="r" b="b" t="t" l="l"/>
              <a:pathLst>
                <a:path h="1122680" w="6883400">
                  <a:moveTo>
                    <a:pt x="0" y="168402"/>
                  </a:moveTo>
                  <a:cubicBezTo>
                    <a:pt x="0" y="75438"/>
                    <a:pt x="75438" y="0"/>
                    <a:pt x="168402" y="0"/>
                  </a:cubicBezTo>
                  <a:lnTo>
                    <a:pt x="6714998" y="0"/>
                  </a:lnTo>
                  <a:cubicBezTo>
                    <a:pt x="6807962" y="0"/>
                    <a:pt x="6883400" y="75438"/>
                    <a:pt x="6883400" y="168402"/>
                  </a:cubicBezTo>
                  <a:lnTo>
                    <a:pt x="6883400" y="954278"/>
                  </a:lnTo>
                  <a:cubicBezTo>
                    <a:pt x="6883400" y="1047242"/>
                    <a:pt x="6807962" y="1122680"/>
                    <a:pt x="6714998" y="1122680"/>
                  </a:cubicBezTo>
                  <a:lnTo>
                    <a:pt x="168402" y="1122680"/>
                  </a:lnTo>
                  <a:cubicBezTo>
                    <a:pt x="75438" y="1122680"/>
                    <a:pt x="0" y="1047242"/>
                    <a:pt x="0" y="954278"/>
                  </a:cubicBezTo>
                  <a:close/>
                </a:path>
              </a:pathLst>
            </a:custGeom>
            <a:solidFill>
              <a:srgbClr val="F4F7FC"/>
            </a:solidFill>
            <a:ln w="19050" cap="sq">
              <a:solidFill>
                <a:srgbClr val="D7DCEC"/>
              </a:solidFill>
              <a:prstDash val="solid"/>
              <a:miter/>
            </a:ln>
          </p:spPr>
        </p:sp>
      </p:grpSp>
      <p:grpSp>
        <p:nvGrpSpPr>
          <p:cNvPr name="Group 42" id="42"/>
          <p:cNvGrpSpPr/>
          <p:nvPr/>
        </p:nvGrpSpPr>
        <p:grpSpPr>
          <a:xfrm rot="0">
            <a:off x="6542532" y="6076188"/>
            <a:ext cx="5143500" cy="521208"/>
            <a:chOff x="0" y="0"/>
            <a:chExt cx="6858000" cy="694944"/>
          </a:xfrm>
        </p:grpSpPr>
        <p:sp>
          <p:nvSpPr>
            <p:cNvPr name="Freeform 43" id="43"/>
            <p:cNvSpPr/>
            <p:nvPr/>
          </p:nvSpPr>
          <p:spPr>
            <a:xfrm flipH="false" flipV="false" rot="0">
              <a:off x="0" y="0"/>
              <a:ext cx="6858000" cy="694944"/>
            </a:xfrm>
            <a:custGeom>
              <a:avLst/>
              <a:gdLst/>
              <a:ahLst/>
              <a:cxnLst/>
              <a:rect r="r" b="b" t="t" l="l"/>
              <a:pathLst>
                <a:path h="694944" w="6858000">
                  <a:moveTo>
                    <a:pt x="0" y="0"/>
                  </a:moveTo>
                  <a:lnTo>
                    <a:pt x="6858000" y="0"/>
                  </a:lnTo>
                  <a:lnTo>
                    <a:pt x="6858000" y="694944"/>
                  </a:lnTo>
                  <a:lnTo>
                    <a:pt x="0" y="694944"/>
                  </a:lnTo>
                  <a:close/>
                </a:path>
              </a:pathLst>
            </a:custGeom>
            <a:blipFill>
              <a:blip r:embed="rId2">
                <a:alphaModFix amt="0"/>
              </a:blip>
              <a:stretch>
                <a:fillRect l="0" t="-142286" r="0" b="-142286"/>
              </a:stretch>
            </a:blipFill>
          </p:spPr>
        </p:sp>
        <p:sp>
          <p:nvSpPr>
            <p:cNvPr name="TextBox 44" id="44"/>
            <p:cNvSpPr txBox="true"/>
            <p:nvPr/>
          </p:nvSpPr>
          <p:spPr>
            <a:xfrm>
              <a:off x="0" y="-38100"/>
              <a:ext cx="6858000" cy="733044"/>
            </a:xfrm>
            <a:prstGeom prst="rect">
              <a:avLst/>
            </a:prstGeom>
          </p:spPr>
          <p:txBody>
            <a:bodyPr anchor="ctr" rtlCol="false" tIns="0" lIns="0" bIns="0" rIns="0"/>
            <a:lstStyle/>
            <a:p>
              <a:pPr algn="ctr">
                <a:lnSpc>
                  <a:spcPts val="2250"/>
                </a:lnSpc>
              </a:pPr>
              <a:r>
                <a:rPr lang="en-US" sz="1875">
                  <a:solidFill>
                    <a:srgbClr val="6B7280"/>
                  </a:solidFill>
                  <a:latin typeface="Calibri (MS)"/>
                  <a:ea typeface="Calibri (MS)"/>
                  <a:cs typeface="Calibri (MS)"/>
                  <a:sym typeface="Calibri (MS)"/>
                </a:rPr>
                <a:t>DICT Act / NCSP</a:t>
              </a:r>
            </a:p>
          </p:txBody>
        </p:sp>
      </p:grpSp>
      <p:grpSp>
        <p:nvGrpSpPr>
          <p:cNvPr name="Group 45" id="45"/>
          <p:cNvGrpSpPr/>
          <p:nvPr/>
        </p:nvGrpSpPr>
        <p:grpSpPr>
          <a:xfrm rot="0">
            <a:off x="6542532" y="6446520"/>
            <a:ext cx="5143500" cy="329184"/>
            <a:chOff x="0" y="0"/>
            <a:chExt cx="6858000" cy="438912"/>
          </a:xfrm>
        </p:grpSpPr>
        <p:sp>
          <p:nvSpPr>
            <p:cNvPr name="Freeform 46" id="46"/>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47" id="47"/>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9AA3B8"/>
                  </a:solidFill>
                  <a:latin typeface="Arimo"/>
                  <a:ea typeface="Arimo"/>
                  <a:cs typeface="Arimo"/>
                  <a:sym typeface="Arimo"/>
                </a:rPr>
                <a:t>DICT</a:t>
              </a:r>
            </a:p>
          </p:txBody>
        </p:sp>
      </p:grpSp>
      <p:grpSp>
        <p:nvGrpSpPr>
          <p:cNvPr name="Group 48" id="48"/>
          <p:cNvGrpSpPr/>
          <p:nvPr/>
        </p:nvGrpSpPr>
        <p:grpSpPr>
          <a:xfrm rot="0">
            <a:off x="12115419" y="4928235"/>
            <a:ext cx="5162550" cy="1911858"/>
            <a:chOff x="0" y="0"/>
            <a:chExt cx="6883400" cy="2549144"/>
          </a:xfrm>
        </p:grpSpPr>
        <p:sp>
          <p:nvSpPr>
            <p:cNvPr name="Freeform 49" id="49"/>
            <p:cNvSpPr/>
            <p:nvPr/>
          </p:nvSpPr>
          <p:spPr>
            <a:xfrm flipH="false" flipV="false" rot="0">
              <a:off x="0" y="0"/>
              <a:ext cx="6883400" cy="2549144"/>
            </a:xfrm>
            <a:custGeom>
              <a:avLst/>
              <a:gdLst/>
              <a:ahLst/>
              <a:cxnLst/>
              <a:rect r="r" b="b" t="t" l="l"/>
              <a:pathLst>
                <a:path h="2549144" w="6883400">
                  <a:moveTo>
                    <a:pt x="0" y="166243"/>
                  </a:moveTo>
                  <a:cubicBezTo>
                    <a:pt x="0" y="74422"/>
                    <a:pt x="74422" y="0"/>
                    <a:pt x="166243" y="0"/>
                  </a:cubicBezTo>
                  <a:lnTo>
                    <a:pt x="6717157" y="0"/>
                  </a:lnTo>
                  <a:cubicBezTo>
                    <a:pt x="6808978" y="0"/>
                    <a:pt x="6883400" y="74422"/>
                    <a:pt x="6883400" y="166243"/>
                  </a:cubicBezTo>
                  <a:lnTo>
                    <a:pt x="6883400" y="2382901"/>
                  </a:lnTo>
                  <a:cubicBezTo>
                    <a:pt x="6883400" y="2474722"/>
                    <a:pt x="6808978" y="2549144"/>
                    <a:pt x="6717157" y="2549144"/>
                  </a:cubicBezTo>
                  <a:lnTo>
                    <a:pt x="166243" y="2549144"/>
                  </a:lnTo>
                  <a:cubicBezTo>
                    <a:pt x="74422" y="2549144"/>
                    <a:pt x="0" y="2474722"/>
                    <a:pt x="0" y="2382901"/>
                  </a:cubicBezTo>
                  <a:close/>
                </a:path>
              </a:pathLst>
            </a:custGeom>
            <a:solidFill>
              <a:srgbClr val="F4F7FC"/>
            </a:solidFill>
            <a:ln w="19050" cap="sq">
              <a:solidFill>
                <a:srgbClr val="D7DCEC"/>
              </a:solidFill>
              <a:prstDash val="solid"/>
              <a:miter/>
            </a:ln>
          </p:spPr>
        </p:sp>
      </p:grpSp>
      <p:grpSp>
        <p:nvGrpSpPr>
          <p:cNvPr name="Group 50" id="50"/>
          <p:cNvGrpSpPr/>
          <p:nvPr/>
        </p:nvGrpSpPr>
        <p:grpSpPr>
          <a:xfrm rot="0">
            <a:off x="12124944" y="5006340"/>
            <a:ext cx="5143500" cy="1591056"/>
            <a:chOff x="0" y="0"/>
            <a:chExt cx="6858000" cy="2121408"/>
          </a:xfrm>
        </p:grpSpPr>
        <p:sp>
          <p:nvSpPr>
            <p:cNvPr name="Freeform 51" id="51"/>
            <p:cNvSpPr/>
            <p:nvPr/>
          </p:nvSpPr>
          <p:spPr>
            <a:xfrm flipH="false" flipV="false" rot="0">
              <a:off x="0" y="0"/>
              <a:ext cx="6858000" cy="2121408"/>
            </a:xfrm>
            <a:custGeom>
              <a:avLst/>
              <a:gdLst/>
              <a:ahLst/>
              <a:cxnLst/>
              <a:rect r="r" b="b" t="t" l="l"/>
              <a:pathLst>
                <a:path h="2121408" w="6858000">
                  <a:moveTo>
                    <a:pt x="0" y="0"/>
                  </a:moveTo>
                  <a:lnTo>
                    <a:pt x="6858000" y="0"/>
                  </a:lnTo>
                  <a:lnTo>
                    <a:pt x="6858000" y="2121408"/>
                  </a:lnTo>
                  <a:lnTo>
                    <a:pt x="0" y="2121408"/>
                  </a:lnTo>
                  <a:close/>
                </a:path>
              </a:pathLst>
            </a:custGeom>
            <a:blipFill>
              <a:blip r:embed="rId2">
                <a:alphaModFix amt="0"/>
              </a:blip>
              <a:stretch>
                <a:fillRect l="0" t="-12990" r="0" b="-12990"/>
              </a:stretch>
            </a:blipFill>
          </p:spPr>
        </p:sp>
        <p:sp>
          <p:nvSpPr>
            <p:cNvPr name="TextBox 52" id="52"/>
            <p:cNvSpPr txBox="true"/>
            <p:nvPr/>
          </p:nvSpPr>
          <p:spPr>
            <a:xfrm>
              <a:off x="0" y="-38100"/>
              <a:ext cx="6858000" cy="2159508"/>
            </a:xfrm>
            <a:prstGeom prst="rect">
              <a:avLst/>
            </a:prstGeom>
          </p:spPr>
          <p:txBody>
            <a:bodyPr anchor="ctr" rtlCol="false" tIns="0" lIns="0" bIns="0" rIns="0"/>
            <a:lstStyle/>
            <a:p>
              <a:pPr algn="ctr">
                <a:lnSpc>
                  <a:spcPts val="2250"/>
                </a:lnSpc>
              </a:pPr>
              <a:r>
                <a:rPr lang="en-US" sz="1875">
                  <a:solidFill>
                    <a:srgbClr val="6B7280"/>
                  </a:solidFill>
                  <a:latin typeface="Calibri (MS)"/>
                  <a:ea typeface="Calibri (MS)"/>
                  <a:cs typeface="Calibri (MS)"/>
                  <a:sym typeface="Calibri (MS)"/>
                </a:rPr>
                <a:t>Critical Infra. Protection</a:t>
              </a:r>
            </a:p>
          </p:txBody>
        </p:sp>
      </p:grpSp>
      <p:grpSp>
        <p:nvGrpSpPr>
          <p:cNvPr name="Group 53" id="53"/>
          <p:cNvGrpSpPr/>
          <p:nvPr/>
        </p:nvGrpSpPr>
        <p:grpSpPr>
          <a:xfrm rot="0">
            <a:off x="12124944" y="6446520"/>
            <a:ext cx="5143500" cy="329184"/>
            <a:chOff x="0" y="0"/>
            <a:chExt cx="6858000" cy="438912"/>
          </a:xfrm>
        </p:grpSpPr>
        <p:sp>
          <p:nvSpPr>
            <p:cNvPr name="Freeform 54" id="54"/>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55" id="55"/>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9AA3B8"/>
                  </a:solidFill>
                  <a:latin typeface="Arimo"/>
                  <a:ea typeface="Arimo"/>
                  <a:cs typeface="Arimo"/>
                  <a:sym typeface="Arimo"/>
                </a:rPr>
                <a:t>CII</a:t>
              </a:r>
            </a:p>
          </p:txBody>
        </p:sp>
      </p:grpSp>
      <p:grpSp>
        <p:nvGrpSpPr>
          <p:cNvPr name="Group 56" id="56"/>
          <p:cNvGrpSpPr/>
          <p:nvPr/>
        </p:nvGrpSpPr>
        <p:grpSpPr>
          <a:xfrm rot="0">
            <a:off x="950595" y="7328535"/>
            <a:ext cx="16341090" cy="1596390"/>
            <a:chOff x="0" y="0"/>
            <a:chExt cx="21788120" cy="2128520"/>
          </a:xfrm>
        </p:grpSpPr>
        <p:sp>
          <p:nvSpPr>
            <p:cNvPr name="Freeform 57" id="57"/>
            <p:cNvSpPr/>
            <p:nvPr/>
          </p:nvSpPr>
          <p:spPr>
            <a:xfrm flipH="false" flipV="false" rot="0">
              <a:off x="0" y="0"/>
              <a:ext cx="21788120" cy="2128520"/>
            </a:xfrm>
            <a:custGeom>
              <a:avLst/>
              <a:gdLst/>
              <a:ahLst/>
              <a:cxnLst/>
              <a:rect r="r" b="b" t="t" l="l"/>
              <a:pathLst>
                <a:path h="2128520" w="21788120">
                  <a:moveTo>
                    <a:pt x="0" y="185039"/>
                  </a:moveTo>
                  <a:cubicBezTo>
                    <a:pt x="0" y="82931"/>
                    <a:pt x="82931" y="0"/>
                    <a:pt x="185039" y="0"/>
                  </a:cubicBezTo>
                  <a:lnTo>
                    <a:pt x="21603081" y="0"/>
                  </a:lnTo>
                  <a:cubicBezTo>
                    <a:pt x="21705317" y="0"/>
                    <a:pt x="21788120" y="82931"/>
                    <a:pt x="21788120" y="185039"/>
                  </a:cubicBezTo>
                  <a:lnTo>
                    <a:pt x="21788120" y="1943481"/>
                  </a:lnTo>
                  <a:cubicBezTo>
                    <a:pt x="21788120" y="2045716"/>
                    <a:pt x="21705190" y="2128520"/>
                    <a:pt x="21603081" y="2128520"/>
                  </a:cubicBezTo>
                  <a:lnTo>
                    <a:pt x="185039" y="2128520"/>
                  </a:lnTo>
                  <a:cubicBezTo>
                    <a:pt x="82931" y="2128520"/>
                    <a:pt x="0" y="2045589"/>
                    <a:pt x="0" y="1943481"/>
                  </a:cubicBezTo>
                  <a:close/>
                </a:path>
              </a:pathLst>
            </a:custGeom>
            <a:solidFill>
              <a:srgbClr val="FBF9F4"/>
            </a:solidFill>
            <a:ln w="19050" cap="sq">
              <a:solidFill>
                <a:srgbClr val="EFE6D2"/>
              </a:solidFill>
              <a:prstDash val="solid"/>
              <a:miter/>
            </a:ln>
          </p:spPr>
        </p:sp>
      </p:grpSp>
      <p:sp>
        <p:nvSpPr>
          <p:cNvPr name="TextBox 58" id="58"/>
          <p:cNvSpPr txBox="true"/>
          <p:nvPr/>
        </p:nvSpPr>
        <p:spPr>
          <a:xfrm rot="0">
            <a:off x="1463040" y="7494270"/>
            <a:ext cx="15316200" cy="1238250"/>
          </a:xfrm>
          <a:prstGeom prst="rect">
            <a:avLst/>
          </a:prstGeom>
        </p:spPr>
        <p:txBody>
          <a:bodyPr anchor="t" rtlCol="false" tIns="0" lIns="0" bIns="0" rIns="0">
            <a:spAutoFit/>
          </a:bodyPr>
          <a:lstStyle/>
          <a:p>
            <a:pPr algn="l">
              <a:lnSpc>
                <a:spcPts val="2764"/>
              </a:lnSpc>
            </a:pPr>
            <a:r>
              <a:rPr lang="en-US" sz="1800">
                <a:solidFill>
                  <a:srgbClr val="23262F"/>
                </a:solidFill>
                <a:latin typeface="Calibri (MS)"/>
                <a:ea typeface="Calibri (MS)"/>
                <a:cs typeface="Calibri (MS)"/>
                <a:sym typeface="Calibri (MS)"/>
              </a:rPr>
              <a:t>This is a personal data breach under the Data Privacy Act (RA 10173). If it's reportable, the National Privacy Commission and affected residents must be notified within 72 hours of the office becoming aware of it.</a:t>
            </a:r>
          </a:p>
        </p:txBody>
      </p:sp>
      <p:grpSp>
        <p:nvGrpSpPr>
          <p:cNvPr name="Group 59" id="59"/>
          <p:cNvGrpSpPr/>
          <p:nvPr/>
        </p:nvGrpSpPr>
        <p:grpSpPr>
          <a:xfrm rot="0">
            <a:off x="685800" y="9710928"/>
            <a:ext cx="10972800" cy="411480"/>
            <a:chOff x="0" y="0"/>
            <a:chExt cx="14630400" cy="548640"/>
          </a:xfrm>
        </p:grpSpPr>
        <p:sp>
          <p:nvSpPr>
            <p:cNvPr name="Freeform 60" id="60"/>
            <p:cNvSpPr/>
            <p:nvPr/>
          </p:nvSpPr>
          <p:spPr>
            <a:xfrm flipH="false" flipV="false" rot="0">
              <a:off x="0" y="0"/>
              <a:ext cx="14630400" cy="548640"/>
            </a:xfrm>
            <a:custGeom>
              <a:avLst/>
              <a:gdLst/>
              <a:ahLst/>
              <a:cxnLst/>
              <a:rect r="r" b="b" t="t" l="l"/>
              <a:pathLst>
                <a:path h="548640" w="14630400">
                  <a:moveTo>
                    <a:pt x="0" y="0"/>
                  </a:moveTo>
                  <a:lnTo>
                    <a:pt x="14630400" y="0"/>
                  </a:lnTo>
                  <a:lnTo>
                    <a:pt x="14630400" y="548640"/>
                  </a:lnTo>
                  <a:lnTo>
                    <a:pt x="0" y="548640"/>
                  </a:lnTo>
                  <a:close/>
                </a:path>
              </a:pathLst>
            </a:custGeom>
            <a:blipFill>
              <a:blip r:embed="rId2">
                <a:alphaModFix amt="0"/>
              </a:blip>
              <a:stretch>
                <a:fillRect l="0" t="-469601" r="0" b="-469601"/>
              </a:stretch>
            </a:blipFill>
          </p:spPr>
        </p:sp>
        <p:sp>
          <p:nvSpPr>
            <p:cNvPr name="TextBox 61" id="61"/>
            <p:cNvSpPr txBox="true"/>
            <p:nvPr/>
          </p:nvSpPr>
          <p:spPr>
            <a:xfrm>
              <a:off x="0" y="-38100"/>
              <a:ext cx="14630400" cy="586740"/>
            </a:xfrm>
            <a:prstGeom prst="rect">
              <a:avLst/>
            </a:prstGeom>
          </p:spPr>
          <p:txBody>
            <a:bodyPr anchor="ctr" rtlCol="false" tIns="0" lIns="0" bIns="0" rIns="0"/>
            <a:lstStyle/>
            <a:p>
              <a:pPr algn="l">
                <a:lnSpc>
                  <a:spcPts val="1800"/>
                </a:lnSpc>
              </a:pPr>
              <a:r>
                <a:rPr lang="en-US" sz="1500">
                  <a:solidFill>
                    <a:srgbClr val="6B7280"/>
                  </a:solidFill>
                  <a:latin typeface="Calibri (MS)"/>
                  <a:ea typeface="Calibri (MS)"/>
                  <a:cs typeface="Calibri (MS)"/>
                  <a:sym typeface="Calibri (MS)"/>
                </a:rPr>
                <a:t>Davao del Norte Provincial Government — Cybersecurity Seminar</a:t>
              </a:r>
            </a:p>
          </p:txBody>
        </p:sp>
      </p:grpSp>
      <p:grpSp>
        <p:nvGrpSpPr>
          <p:cNvPr name="Group 62" id="62"/>
          <p:cNvGrpSpPr/>
          <p:nvPr/>
        </p:nvGrpSpPr>
        <p:grpSpPr>
          <a:xfrm rot="0">
            <a:off x="16911828" y="9710928"/>
            <a:ext cx="685800" cy="411480"/>
            <a:chOff x="0" y="0"/>
            <a:chExt cx="914400" cy="548640"/>
          </a:xfrm>
        </p:grpSpPr>
        <p:sp>
          <p:nvSpPr>
            <p:cNvPr name="Freeform 63" id="63"/>
            <p:cNvSpPr/>
            <p:nvPr/>
          </p:nvSpPr>
          <p:spPr>
            <a:xfrm flipH="false" flipV="false" rot="0">
              <a:off x="0" y="0"/>
              <a:ext cx="914400" cy="548640"/>
            </a:xfrm>
            <a:custGeom>
              <a:avLst/>
              <a:gdLst/>
              <a:ahLst/>
              <a:cxnLst/>
              <a:rect r="r" b="b" t="t" l="l"/>
              <a:pathLst>
                <a:path h="548640" w="914400">
                  <a:moveTo>
                    <a:pt x="0" y="0"/>
                  </a:moveTo>
                  <a:lnTo>
                    <a:pt x="914400" y="0"/>
                  </a:lnTo>
                  <a:lnTo>
                    <a:pt x="914400" y="548640"/>
                  </a:lnTo>
                  <a:lnTo>
                    <a:pt x="0" y="548640"/>
                  </a:lnTo>
                  <a:close/>
                </a:path>
              </a:pathLst>
            </a:custGeom>
            <a:blipFill>
              <a:blip r:embed="rId2">
                <a:alphaModFix amt="0"/>
              </a:blip>
              <a:stretch>
                <a:fillRect l="-26982" t="0" r="-26982" b="0"/>
              </a:stretch>
            </a:blipFill>
          </p:spPr>
        </p:sp>
        <p:sp>
          <p:nvSpPr>
            <p:cNvPr name="TextBox 64" id="64"/>
            <p:cNvSpPr txBox="true"/>
            <p:nvPr/>
          </p:nvSpPr>
          <p:spPr>
            <a:xfrm>
              <a:off x="0" y="-38100"/>
              <a:ext cx="914400" cy="586740"/>
            </a:xfrm>
            <a:prstGeom prst="rect">
              <a:avLst/>
            </a:prstGeom>
          </p:spPr>
          <p:txBody>
            <a:bodyPr anchor="ctr" rtlCol="false" tIns="0" lIns="0" bIns="0" rIns="0"/>
            <a:lstStyle/>
            <a:p>
              <a:pPr algn="r">
                <a:lnSpc>
                  <a:spcPts val="1800"/>
                </a:lnSpc>
              </a:pPr>
              <a:r>
                <a:rPr lang="en-US" sz="1500">
                  <a:solidFill>
                    <a:srgbClr val="6B7280"/>
                  </a:solidFill>
                  <a:latin typeface="Calibri (MS)"/>
                  <a:ea typeface="Calibri (MS)"/>
                  <a:cs typeface="Calibri (MS)"/>
                  <a:sym typeface="Calibri (MS)"/>
                </a:rPr>
                <a:t>26</a:t>
              </a:r>
            </a:p>
          </p:txBody>
        </p:sp>
      </p:grpSp>
    </p:spTree>
  </p:cSld>
  <p:clrMapOvr>
    <a:masterClrMapping/>
  </p:clrMapOvr>
</p:sld>
</file>

<file path=ppt/slides/slide14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60120" y="685800"/>
            <a:ext cx="13716000" cy="411480"/>
            <a:chOff x="0" y="0"/>
            <a:chExt cx="18288000" cy="548640"/>
          </a:xfrm>
        </p:grpSpPr>
        <p:sp>
          <p:nvSpPr>
            <p:cNvPr name="Freeform 3" id="3"/>
            <p:cNvSpPr/>
            <p:nvPr/>
          </p:nvSpPr>
          <p:spPr>
            <a:xfrm flipH="false" flipV="false" rot="0">
              <a:off x="0" y="0"/>
              <a:ext cx="18288000" cy="548640"/>
            </a:xfrm>
            <a:custGeom>
              <a:avLst/>
              <a:gdLst/>
              <a:ahLst/>
              <a:cxnLst/>
              <a:rect r="r" b="b" t="t" l="l"/>
              <a:pathLst>
                <a:path h="548640" w="18288000">
                  <a:moveTo>
                    <a:pt x="0" y="0"/>
                  </a:moveTo>
                  <a:lnTo>
                    <a:pt x="18288000" y="0"/>
                  </a:lnTo>
                  <a:lnTo>
                    <a:pt x="18288000" y="548640"/>
                  </a:lnTo>
                  <a:lnTo>
                    <a:pt x="0" y="548640"/>
                  </a:lnTo>
                  <a:close/>
                </a:path>
              </a:pathLst>
            </a:custGeom>
            <a:blipFill>
              <a:blip r:embed="rId2">
                <a:alphaModFix amt="0"/>
              </a:blip>
              <a:stretch>
                <a:fillRect l="0" t="-599501" r="0" b="-599501"/>
              </a:stretch>
            </a:blipFill>
          </p:spPr>
        </p:sp>
        <p:sp>
          <p:nvSpPr>
            <p:cNvPr name="TextBox 4" id="4"/>
            <p:cNvSpPr txBox="true"/>
            <p:nvPr/>
          </p:nvSpPr>
          <p:spPr>
            <a:xfrm>
              <a:off x="0" y="-38100"/>
              <a:ext cx="18288000" cy="586740"/>
            </a:xfrm>
            <a:prstGeom prst="rect">
              <a:avLst/>
            </a:prstGeom>
          </p:spPr>
          <p:txBody>
            <a:bodyPr anchor="ctr" rtlCol="false" tIns="0" lIns="0" bIns="0" rIns="0"/>
            <a:lstStyle/>
            <a:p>
              <a:pPr algn="l">
                <a:lnSpc>
                  <a:spcPts val="2160"/>
                </a:lnSpc>
              </a:pPr>
              <a:r>
                <a:rPr lang="en-US" b="true" sz="1800" spc="225">
                  <a:solidFill>
                    <a:srgbClr val="00B4D8"/>
                  </a:solidFill>
                  <a:latin typeface="Calibri (MS) Bold"/>
                  <a:ea typeface="Calibri (MS) Bold"/>
                  <a:cs typeface="Calibri (MS) Bold"/>
                  <a:sym typeface="Calibri (MS) Bold"/>
                </a:rPr>
                <a:t>PH CYBER LAW SORT · SCENARIO</a:t>
              </a:r>
            </a:p>
          </p:txBody>
        </p:sp>
      </p:grpSp>
      <p:grpSp>
        <p:nvGrpSpPr>
          <p:cNvPr name="Group 5" id="5"/>
          <p:cNvGrpSpPr/>
          <p:nvPr/>
        </p:nvGrpSpPr>
        <p:grpSpPr>
          <a:xfrm rot="0">
            <a:off x="960120" y="1069848"/>
            <a:ext cx="10972800" cy="822960"/>
            <a:chOff x="0" y="0"/>
            <a:chExt cx="14630400" cy="1097280"/>
          </a:xfrm>
        </p:grpSpPr>
        <p:sp>
          <p:nvSpPr>
            <p:cNvPr name="Freeform 6" id="6"/>
            <p:cNvSpPr/>
            <p:nvPr/>
          </p:nvSpPr>
          <p:spPr>
            <a:xfrm flipH="false" flipV="false" rot="0">
              <a:off x="0" y="0"/>
              <a:ext cx="14630400" cy="1097280"/>
            </a:xfrm>
            <a:custGeom>
              <a:avLst/>
              <a:gdLst/>
              <a:ahLst/>
              <a:cxnLst/>
              <a:rect r="r" b="b" t="t" l="l"/>
              <a:pathLst>
                <a:path h="1097280" w="14630400">
                  <a:moveTo>
                    <a:pt x="0" y="0"/>
                  </a:moveTo>
                  <a:lnTo>
                    <a:pt x="14630400" y="0"/>
                  </a:lnTo>
                  <a:lnTo>
                    <a:pt x="14630400" y="1097280"/>
                  </a:lnTo>
                  <a:lnTo>
                    <a:pt x="0" y="1097280"/>
                  </a:lnTo>
                  <a:close/>
                </a:path>
              </a:pathLst>
            </a:custGeom>
            <a:blipFill>
              <a:blip r:embed="rId2">
                <a:alphaModFix amt="0"/>
              </a:blip>
              <a:stretch>
                <a:fillRect l="0" t="-209800" r="0" b="-209800"/>
              </a:stretch>
            </a:blipFill>
          </p:spPr>
        </p:sp>
        <p:sp>
          <p:nvSpPr>
            <p:cNvPr name="TextBox 7" id="7"/>
            <p:cNvSpPr txBox="true"/>
            <p:nvPr/>
          </p:nvSpPr>
          <p:spPr>
            <a:xfrm>
              <a:off x="0" y="0"/>
              <a:ext cx="14630400" cy="1097280"/>
            </a:xfrm>
            <a:prstGeom prst="rect">
              <a:avLst/>
            </a:prstGeom>
          </p:spPr>
          <p:txBody>
            <a:bodyPr anchor="ctr" rtlCol="false" tIns="0" lIns="0" bIns="0" rIns="0"/>
            <a:lstStyle/>
            <a:p>
              <a:pPr algn="l">
                <a:lnSpc>
                  <a:spcPts val="4680"/>
                </a:lnSpc>
              </a:pPr>
              <a:r>
                <a:rPr lang="en-US" sz="3900" b="true">
                  <a:solidFill>
                    <a:srgbClr val="1E2761"/>
                  </a:solidFill>
                  <a:latin typeface="Cambria Bold"/>
                  <a:ea typeface="Cambria Bold"/>
                  <a:cs typeface="Cambria Bold"/>
                  <a:sym typeface="Cambria Bold"/>
                </a:rPr>
                <a:t>Scenario 9</a:t>
              </a:r>
            </a:p>
          </p:txBody>
        </p:sp>
      </p:grpSp>
      <p:grpSp>
        <p:nvGrpSpPr>
          <p:cNvPr name="Group 8" id="8"/>
          <p:cNvGrpSpPr/>
          <p:nvPr/>
        </p:nvGrpSpPr>
        <p:grpSpPr>
          <a:xfrm rot="0">
            <a:off x="960120" y="1810512"/>
            <a:ext cx="8229600" cy="411480"/>
            <a:chOff x="0" y="0"/>
            <a:chExt cx="10972800" cy="548640"/>
          </a:xfrm>
        </p:grpSpPr>
        <p:sp>
          <p:nvSpPr>
            <p:cNvPr name="Freeform 9" id="9"/>
            <p:cNvSpPr/>
            <p:nvPr/>
          </p:nvSpPr>
          <p:spPr>
            <a:xfrm flipH="false" flipV="false" rot="0">
              <a:off x="0" y="0"/>
              <a:ext cx="10972800" cy="548640"/>
            </a:xfrm>
            <a:custGeom>
              <a:avLst/>
              <a:gdLst/>
              <a:ahLst/>
              <a:cxnLst/>
              <a:rect r="r" b="b" t="t" l="l"/>
              <a:pathLst>
                <a:path h="548640" w="10972800">
                  <a:moveTo>
                    <a:pt x="0" y="0"/>
                  </a:moveTo>
                  <a:lnTo>
                    <a:pt x="10972800" y="0"/>
                  </a:lnTo>
                  <a:lnTo>
                    <a:pt x="10972800" y="548640"/>
                  </a:lnTo>
                  <a:lnTo>
                    <a:pt x="0" y="548640"/>
                  </a:lnTo>
                  <a:close/>
                </a:path>
              </a:pathLst>
            </a:custGeom>
            <a:blipFill>
              <a:blip r:embed="rId2">
                <a:alphaModFix amt="0"/>
              </a:blip>
              <a:stretch>
                <a:fillRect l="0" t="-339700" r="0" b="-339700"/>
              </a:stretch>
            </a:blipFill>
          </p:spPr>
        </p:sp>
        <p:sp>
          <p:nvSpPr>
            <p:cNvPr name="TextBox 10" id="10"/>
            <p:cNvSpPr txBox="true"/>
            <p:nvPr/>
          </p:nvSpPr>
          <p:spPr>
            <a:xfrm>
              <a:off x="0" y="-28575"/>
              <a:ext cx="10972800" cy="577215"/>
            </a:xfrm>
            <a:prstGeom prst="rect">
              <a:avLst/>
            </a:prstGeom>
          </p:spPr>
          <p:txBody>
            <a:bodyPr anchor="ctr" rtlCol="false" tIns="0" lIns="0" bIns="0" rIns="0"/>
            <a:lstStyle/>
            <a:p>
              <a:pPr algn="l">
                <a:lnSpc>
                  <a:spcPts val="1980"/>
                </a:lnSpc>
              </a:pPr>
              <a:r>
                <a:rPr lang="en-US" sz="1650">
                  <a:solidFill>
                    <a:srgbClr val="6B7280"/>
                  </a:solidFill>
                  <a:latin typeface="Calibri (MS)"/>
                  <a:ea typeface="Calibri (MS)"/>
                  <a:cs typeface="Calibri (MS)"/>
                  <a:sym typeface="Calibri (MS)"/>
                </a:rPr>
                <a:t>9 of 15</a:t>
              </a:r>
            </a:p>
          </p:txBody>
        </p:sp>
      </p:grpSp>
      <p:grpSp>
        <p:nvGrpSpPr>
          <p:cNvPr name="Group 11" id="11"/>
          <p:cNvGrpSpPr/>
          <p:nvPr/>
        </p:nvGrpSpPr>
        <p:grpSpPr>
          <a:xfrm rot="0">
            <a:off x="960120" y="2537460"/>
            <a:ext cx="16322040" cy="2811780"/>
            <a:chOff x="0" y="0"/>
            <a:chExt cx="21762720" cy="3749040"/>
          </a:xfrm>
        </p:grpSpPr>
        <p:sp>
          <p:nvSpPr>
            <p:cNvPr name="Freeform 12" id="12"/>
            <p:cNvSpPr/>
            <p:nvPr/>
          </p:nvSpPr>
          <p:spPr>
            <a:xfrm flipH="false" flipV="false" rot="0">
              <a:off x="0" y="0"/>
              <a:ext cx="21762720" cy="3749040"/>
            </a:xfrm>
            <a:custGeom>
              <a:avLst/>
              <a:gdLst/>
              <a:ahLst/>
              <a:cxnLst/>
              <a:rect r="r" b="b" t="t" l="l"/>
              <a:pathLst>
                <a:path h="3749040" w="21762720">
                  <a:moveTo>
                    <a:pt x="0" y="182880"/>
                  </a:moveTo>
                  <a:cubicBezTo>
                    <a:pt x="0" y="81915"/>
                    <a:pt x="81915" y="0"/>
                    <a:pt x="182880" y="0"/>
                  </a:cubicBezTo>
                  <a:lnTo>
                    <a:pt x="21579839" y="0"/>
                  </a:lnTo>
                  <a:cubicBezTo>
                    <a:pt x="21680804" y="0"/>
                    <a:pt x="21762720" y="81915"/>
                    <a:pt x="21762720" y="182880"/>
                  </a:cubicBezTo>
                  <a:lnTo>
                    <a:pt x="21762720" y="3566160"/>
                  </a:lnTo>
                  <a:cubicBezTo>
                    <a:pt x="21762720" y="3667125"/>
                    <a:pt x="21680804" y="3749040"/>
                    <a:pt x="21579839" y="3749040"/>
                  </a:cubicBezTo>
                  <a:lnTo>
                    <a:pt x="182880" y="3749040"/>
                  </a:lnTo>
                  <a:cubicBezTo>
                    <a:pt x="81915" y="3749040"/>
                    <a:pt x="0" y="3667125"/>
                    <a:pt x="0" y="3566160"/>
                  </a:cubicBezTo>
                  <a:close/>
                </a:path>
              </a:pathLst>
            </a:custGeom>
            <a:solidFill>
              <a:srgbClr val="F4F7FC"/>
            </a:solidFill>
          </p:spPr>
        </p:sp>
      </p:grpSp>
      <p:grpSp>
        <p:nvGrpSpPr>
          <p:cNvPr name="Group 13" id="13"/>
          <p:cNvGrpSpPr/>
          <p:nvPr/>
        </p:nvGrpSpPr>
        <p:grpSpPr>
          <a:xfrm rot="0">
            <a:off x="1440180" y="2811780"/>
            <a:ext cx="15361920" cy="2263140"/>
            <a:chOff x="0" y="0"/>
            <a:chExt cx="20482560" cy="3017520"/>
          </a:xfrm>
        </p:grpSpPr>
        <p:sp>
          <p:nvSpPr>
            <p:cNvPr name="Freeform 14" id="14"/>
            <p:cNvSpPr/>
            <p:nvPr/>
          </p:nvSpPr>
          <p:spPr>
            <a:xfrm flipH="false" flipV="false" rot="0">
              <a:off x="0" y="0"/>
              <a:ext cx="20482561" cy="3017520"/>
            </a:xfrm>
            <a:custGeom>
              <a:avLst/>
              <a:gdLst/>
              <a:ahLst/>
              <a:cxnLst/>
              <a:rect r="r" b="b" t="t" l="l"/>
              <a:pathLst>
                <a:path h="3017520" w="20482561">
                  <a:moveTo>
                    <a:pt x="0" y="0"/>
                  </a:moveTo>
                  <a:lnTo>
                    <a:pt x="20482561" y="0"/>
                  </a:lnTo>
                  <a:lnTo>
                    <a:pt x="20482561" y="3017520"/>
                  </a:lnTo>
                  <a:lnTo>
                    <a:pt x="0" y="3017520"/>
                  </a:lnTo>
                  <a:close/>
                </a:path>
              </a:pathLst>
            </a:custGeom>
            <a:blipFill>
              <a:blip r:embed="rId2">
                <a:alphaModFix amt="0"/>
              </a:blip>
              <a:stretch>
                <a:fillRect l="0" t="-82262" r="0" b="-82262"/>
              </a:stretch>
            </a:blipFill>
          </p:spPr>
        </p:sp>
        <p:sp>
          <p:nvSpPr>
            <p:cNvPr name="TextBox 15" id="15"/>
            <p:cNvSpPr txBox="true"/>
            <p:nvPr/>
          </p:nvSpPr>
          <p:spPr>
            <a:xfrm>
              <a:off x="0" y="-104775"/>
              <a:ext cx="20482560" cy="3122295"/>
            </a:xfrm>
            <a:prstGeom prst="rect">
              <a:avLst/>
            </a:prstGeom>
          </p:spPr>
          <p:txBody>
            <a:bodyPr anchor="ctr" rtlCol="false" tIns="0" lIns="0" bIns="0" rIns="0"/>
            <a:lstStyle/>
            <a:p>
              <a:pPr algn="l">
                <a:lnSpc>
                  <a:spcPts val="4147"/>
                </a:lnSpc>
              </a:pPr>
              <a:r>
                <a:rPr lang="en-US" sz="2700" i="true">
                  <a:solidFill>
                    <a:srgbClr val="23262F"/>
                  </a:solidFill>
                  <a:latin typeface="Cambria Italics"/>
                  <a:ea typeface="Cambria Italics"/>
                  <a:cs typeface="Cambria Italics"/>
                  <a:sym typeface="Cambria Italics"/>
                </a:rPr>
                <a:t>"HR wants to know how quickly they're legally required to notify the National Privacy Commission after discovering a breach."</a:t>
              </a:r>
            </a:p>
          </p:txBody>
        </p:sp>
      </p:grpSp>
      <p:sp>
        <p:nvSpPr>
          <p:cNvPr name="TextBox 16" id="16"/>
          <p:cNvSpPr txBox="true"/>
          <p:nvPr/>
        </p:nvSpPr>
        <p:spPr>
          <a:xfrm rot="0">
            <a:off x="1051560" y="5604510"/>
            <a:ext cx="16139160" cy="864870"/>
          </a:xfrm>
          <a:prstGeom prst="rect">
            <a:avLst/>
          </a:prstGeom>
        </p:spPr>
        <p:txBody>
          <a:bodyPr anchor="t" rtlCol="false" tIns="0" lIns="0" bIns="0" rIns="0">
            <a:spAutoFit/>
          </a:bodyPr>
          <a:lstStyle/>
          <a:p>
            <a:pPr algn="ctr">
              <a:lnSpc>
                <a:spcPts val="3402"/>
              </a:lnSpc>
            </a:pPr>
            <a:r>
              <a:rPr lang="en-US" sz="2100" i="true">
                <a:solidFill>
                  <a:srgbClr val="6B7280"/>
                </a:solidFill>
                <a:latin typeface="Calibri (MS) Italics"/>
                <a:ea typeface="Calibri (MS) Italics"/>
                <a:cs typeface="Calibri (MS) Italics"/>
                <a:sym typeface="Calibri (MS) Italics"/>
              </a:rPr>
              <a:t>Which law or DICT issuance governs this? Discuss, then we'll reveal the answer.</a:t>
            </a:r>
          </a:p>
        </p:txBody>
      </p:sp>
      <p:grpSp>
        <p:nvGrpSpPr>
          <p:cNvPr name="Group 17" id="17"/>
          <p:cNvGrpSpPr/>
          <p:nvPr/>
        </p:nvGrpSpPr>
        <p:grpSpPr>
          <a:xfrm rot="0">
            <a:off x="950595" y="6779895"/>
            <a:ext cx="5162550" cy="910590"/>
            <a:chOff x="0" y="0"/>
            <a:chExt cx="6883400" cy="1214120"/>
          </a:xfrm>
        </p:grpSpPr>
        <p:sp>
          <p:nvSpPr>
            <p:cNvPr name="Freeform 18" id="18"/>
            <p:cNvSpPr/>
            <p:nvPr/>
          </p:nvSpPr>
          <p:spPr>
            <a:xfrm flipH="false" flipV="false" rot="0">
              <a:off x="0" y="0"/>
              <a:ext cx="6883400" cy="1214120"/>
            </a:xfrm>
            <a:custGeom>
              <a:avLst/>
              <a:gdLst/>
              <a:ahLst/>
              <a:cxnLst/>
              <a:rect r="r" b="b" t="t" l="l"/>
              <a:pathLst>
                <a:path h="1214120" w="6883400">
                  <a:moveTo>
                    <a:pt x="0" y="168148"/>
                  </a:moveTo>
                  <a:cubicBezTo>
                    <a:pt x="0" y="75311"/>
                    <a:pt x="75311" y="0"/>
                    <a:pt x="168148" y="0"/>
                  </a:cubicBezTo>
                  <a:lnTo>
                    <a:pt x="6715252" y="0"/>
                  </a:lnTo>
                  <a:cubicBezTo>
                    <a:pt x="6808089" y="0"/>
                    <a:pt x="6883400" y="75311"/>
                    <a:pt x="6883400" y="168148"/>
                  </a:cubicBezTo>
                  <a:lnTo>
                    <a:pt x="6883400" y="1045972"/>
                  </a:lnTo>
                  <a:cubicBezTo>
                    <a:pt x="6883400" y="1138809"/>
                    <a:pt x="6808089" y="1214120"/>
                    <a:pt x="6715252" y="1214120"/>
                  </a:cubicBezTo>
                  <a:lnTo>
                    <a:pt x="168148" y="1214120"/>
                  </a:lnTo>
                  <a:cubicBezTo>
                    <a:pt x="75311" y="1214120"/>
                    <a:pt x="0" y="1138809"/>
                    <a:pt x="0" y="1045972"/>
                  </a:cubicBezTo>
                  <a:close/>
                </a:path>
              </a:pathLst>
            </a:custGeom>
            <a:solidFill>
              <a:srgbClr val="F4F7FC"/>
            </a:solidFill>
            <a:ln w="19050" cap="sq">
              <a:solidFill>
                <a:srgbClr val="D7DCEC"/>
              </a:solidFill>
              <a:prstDash val="solid"/>
              <a:miter/>
            </a:ln>
          </p:spPr>
        </p:sp>
      </p:grpSp>
      <p:grpSp>
        <p:nvGrpSpPr>
          <p:cNvPr name="Group 19" id="19"/>
          <p:cNvGrpSpPr/>
          <p:nvPr/>
        </p:nvGrpSpPr>
        <p:grpSpPr>
          <a:xfrm rot="0">
            <a:off x="960120" y="6858000"/>
            <a:ext cx="5143500" cy="589788"/>
            <a:chOff x="0" y="0"/>
            <a:chExt cx="6858000" cy="786384"/>
          </a:xfrm>
        </p:grpSpPr>
        <p:sp>
          <p:nvSpPr>
            <p:cNvPr name="Freeform 20" id="20"/>
            <p:cNvSpPr/>
            <p:nvPr/>
          </p:nvSpPr>
          <p:spPr>
            <a:xfrm flipH="false" flipV="false" rot="0">
              <a:off x="0" y="0"/>
              <a:ext cx="6858000" cy="786384"/>
            </a:xfrm>
            <a:custGeom>
              <a:avLst/>
              <a:gdLst/>
              <a:ahLst/>
              <a:cxnLst/>
              <a:rect r="r" b="b" t="t" l="l"/>
              <a:pathLst>
                <a:path h="786384" w="6858000">
                  <a:moveTo>
                    <a:pt x="0" y="0"/>
                  </a:moveTo>
                  <a:lnTo>
                    <a:pt x="6858000" y="0"/>
                  </a:lnTo>
                  <a:lnTo>
                    <a:pt x="6858000" y="786384"/>
                  </a:lnTo>
                  <a:lnTo>
                    <a:pt x="0" y="786384"/>
                  </a:lnTo>
                  <a:close/>
                </a:path>
              </a:pathLst>
            </a:custGeom>
            <a:blipFill>
              <a:blip r:embed="rId2">
                <a:alphaModFix amt="0"/>
              </a:blip>
              <a:stretch>
                <a:fillRect l="0" t="-119927" r="0" b="-119927"/>
              </a:stretch>
            </a:blipFill>
          </p:spPr>
        </p:sp>
        <p:sp>
          <p:nvSpPr>
            <p:cNvPr name="TextBox 21" id="21"/>
            <p:cNvSpPr txBox="true"/>
            <p:nvPr/>
          </p:nvSpPr>
          <p:spPr>
            <a:xfrm>
              <a:off x="0" y="-38100"/>
              <a:ext cx="6858000" cy="824484"/>
            </a:xfrm>
            <a:prstGeom prst="rect">
              <a:avLst/>
            </a:prstGeom>
          </p:spPr>
          <p:txBody>
            <a:bodyPr anchor="ctr" rtlCol="false" tIns="0" lIns="0" bIns="0" rIns="0"/>
            <a:lstStyle/>
            <a:p>
              <a:pPr algn="ctr">
                <a:lnSpc>
                  <a:spcPts val="2250"/>
                </a:lnSpc>
              </a:pPr>
              <a:r>
                <a:rPr lang="en-US" sz="1875">
                  <a:solidFill>
                    <a:srgbClr val="6B7280"/>
                  </a:solidFill>
                  <a:latin typeface="Calibri (MS)"/>
                  <a:ea typeface="Calibri (MS)"/>
                  <a:cs typeface="Calibri (MS)"/>
                  <a:sym typeface="Calibri (MS)"/>
                </a:rPr>
                <a:t>E-Commerce Act</a:t>
              </a:r>
            </a:p>
          </p:txBody>
        </p:sp>
      </p:grpSp>
      <p:grpSp>
        <p:nvGrpSpPr>
          <p:cNvPr name="Group 22" id="22"/>
          <p:cNvGrpSpPr/>
          <p:nvPr/>
        </p:nvGrpSpPr>
        <p:grpSpPr>
          <a:xfrm rot="0">
            <a:off x="960120" y="7296912"/>
            <a:ext cx="5143500" cy="329184"/>
            <a:chOff x="0" y="0"/>
            <a:chExt cx="6858000" cy="438912"/>
          </a:xfrm>
        </p:grpSpPr>
        <p:sp>
          <p:nvSpPr>
            <p:cNvPr name="Freeform 23" id="23"/>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24" id="24"/>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9AA3B8"/>
                  </a:solidFill>
                  <a:latin typeface="Arimo"/>
                  <a:ea typeface="Arimo"/>
                  <a:cs typeface="Arimo"/>
                  <a:sym typeface="Arimo"/>
                </a:rPr>
                <a:t>ECA</a:t>
              </a:r>
            </a:p>
          </p:txBody>
        </p:sp>
      </p:grpSp>
      <p:grpSp>
        <p:nvGrpSpPr>
          <p:cNvPr name="Group 25" id="25"/>
          <p:cNvGrpSpPr/>
          <p:nvPr/>
        </p:nvGrpSpPr>
        <p:grpSpPr>
          <a:xfrm rot="0">
            <a:off x="6533007" y="6779895"/>
            <a:ext cx="5162550" cy="910590"/>
            <a:chOff x="0" y="0"/>
            <a:chExt cx="6883400" cy="1214120"/>
          </a:xfrm>
        </p:grpSpPr>
        <p:sp>
          <p:nvSpPr>
            <p:cNvPr name="Freeform 26" id="26"/>
            <p:cNvSpPr/>
            <p:nvPr/>
          </p:nvSpPr>
          <p:spPr>
            <a:xfrm flipH="false" flipV="false" rot="0">
              <a:off x="0" y="0"/>
              <a:ext cx="6883400" cy="1214120"/>
            </a:xfrm>
            <a:custGeom>
              <a:avLst/>
              <a:gdLst/>
              <a:ahLst/>
              <a:cxnLst/>
              <a:rect r="r" b="b" t="t" l="l"/>
              <a:pathLst>
                <a:path h="1214120" w="6883400">
                  <a:moveTo>
                    <a:pt x="0" y="168148"/>
                  </a:moveTo>
                  <a:cubicBezTo>
                    <a:pt x="0" y="75311"/>
                    <a:pt x="75311" y="0"/>
                    <a:pt x="168148" y="0"/>
                  </a:cubicBezTo>
                  <a:lnTo>
                    <a:pt x="6715252" y="0"/>
                  </a:lnTo>
                  <a:cubicBezTo>
                    <a:pt x="6808089" y="0"/>
                    <a:pt x="6883400" y="75311"/>
                    <a:pt x="6883400" y="168148"/>
                  </a:cubicBezTo>
                  <a:lnTo>
                    <a:pt x="6883400" y="1045972"/>
                  </a:lnTo>
                  <a:cubicBezTo>
                    <a:pt x="6883400" y="1138809"/>
                    <a:pt x="6808089" y="1214120"/>
                    <a:pt x="6715252" y="1214120"/>
                  </a:cubicBezTo>
                  <a:lnTo>
                    <a:pt x="168148" y="1214120"/>
                  </a:lnTo>
                  <a:cubicBezTo>
                    <a:pt x="75311" y="1214120"/>
                    <a:pt x="0" y="1138809"/>
                    <a:pt x="0" y="1045972"/>
                  </a:cubicBezTo>
                  <a:close/>
                </a:path>
              </a:pathLst>
            </a:custGeom>
            <a:solidFill>
              <a:srgbClr val="F4F7FC"/>
            </a:solidFill>
            <a:ln w="19050" cap="sq">
              <a:solidFill>
                <a:srgbClr val="D7DCEC"/>
              </a:solidFill>
              <a:prstDash val="solid"/>
              <a:miter/>
            </a:ln>
          </p:spPr>
        </p:sp>
      </p:grpSp>
      <p:grpSp>
        <p:nvGrpSpPr>
          <p:cNvPr name="Group 27" id="27"/>
          <p:cNvGrpSpPr/>
          <p:nvPr/>
        </p:nvGrpSpPr>
        <p:grpSpPr>
          <a:xfrm rot="0">
            <a:off x="6542532" y="6858000"/>
            <a:ext cx="5143500" cy="589788"/>
            <a:chOff x="0" y="0"/>
            <a:chExt cx="6858000" cy="786384"/>
          </a:xfrm>
        </p:grpSpPr>
        <p:sp>
          <p:nvSpPr>
            <p:cNvPr name="Freeform 28" id="28"/>
            <p:cNvSpPr/>
            <p:nvPr/>
          </p:nvSpPr>
          <p:spPr>
            <a:xfrm flipH="false" flipV="false" rot="0">
              <a:off x="0" y="0"/>
              <a:ext cx="6858000" cy="786384"/>
            </a:xfrm>
            <a:custGeom>
              <a:avLst/>
              <a:gdLst/>
              <a:ahLst/>
              <a:cxnLst/>
              <a:rect r="r" b="b" t="t" l="l"/>
              <a:pathLst>
                <a:path h="786384" w="6858000">
                  <a:moveTo>
                    <a:pt x="0" y="0"/>
                  </a:moveTo>
                  <a:lnTo>
                    <a:pt x="6858000" y="0"/>
                  </a:lnTo>
                  <a:lnTo>
                    <a:pt x="6858000" y="786384"/>
                  </a:lnTo>
                  <a:lnTo>
                    <a:pt x="0" y="786384"/>
                  </a:lnTo>
                  <a:close/>
                </a:path>
              </a:pathLst>
            </a:custGeom>
            <a:blipFill>
              <a:blip r:embed="rId2">
                <a:alphaModFix amt="0"/>
              </a:blip>
              <a:stretch>
                <a:fillRect l="0" t="-119927" r="0" b="-119927"/>
              </a:stretch>
            </a:blipFill>
          </p:spPr>
        </p:sp>
        <p:sp>
          <p:nvSpPr>
            <p:cNvPr name="TextBox 29" id="29"/>
            <p:cNvSpPr txBox="true"/>
            <p:nvPr/>
          </p:nvSpPr>
          <p:spPr>
            <a:xfrm>
              <a:off x="0" y="-38100"/>
              <a:ext cx="6858000" cy="824484"/>
            </a:xfrm>
            <a:prstGeom prst="rect">
              <a:avLst/>
            </a:prstGeom>
          </p:spPr>
          <p:txBody>
            <a:bodyPr anchor="ctr" rtlCol="false" tIns="0" lIns="0" bIns="0" rIns="0"/>
            <a:lstStyle/>
            <a:p>
              <a:pPr algn="ctr">
                <a:lnSpc>
                  <a:spcPts val="2250"/>
                </a:lnSpc>
              </a:pPr>
              <a:r>
                <a:rPr lang="en-US" sz="1875">
                  <a:solidFill>
                    <a:srgbClr val="6B7280"/>
                  </a:solidFill>
                  <a:latin typeface="Calibri (MS)"/>
                  <a:ea typeface="Calibri (MS)"/>
                  <a:cs typeface="Calibri (MS)"/>
                  <a:sym typeface="Calibri (MS)"/>
                </a:rPr>
                <a:t>Cybercrime Act</a:t>
              </a:r>
            </a:p>
          </p:txBody>
        </p:sp>
      </p:grpSp>
      <p:grpSp>
        <p:nvGrpSpPr>
          <p:cNvPr name="Group 30" id="30"/>
          <p:cNvGrpSpPr/>
          <p:nvPr/>
        </p:nvGrpSpPr>
        <p:grpSpPr>
          <a:xfrm rot="0">
            <a:off x="6542532" y="7296912"/>
            <a:ext cx="5143500" cy="329184"/>
            <a:chOff x="0" y="0"/>
            <a:chExt cx="6858000" cy="438912"/>
          </a:xfrm>
        </p:grpSpPr>
        <p:sp>
          <p:nvSpPr>
            <p:cNvPr name="Freeform 31" id="31"/>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32" id="32"/>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9AA3B8"/>
                  </a:solidFill>
                  <a:latin typeface="Arimo"/>
                  <a:ea typeface="Arimo"/>
                  <a:cs typeface="Arimo"/>
                  <a:sym typeface="Arimo"/>
                </a:rPr>
                <a:t>CPA</a:t>
              </a:r>
            </a:p>
          </p:txBody>
        </p:sp>
      </p:grpSp>
      <p:grpSp>
        <p:nvGrpSpPr>
          <p:cNvPr name="Group 33" id="33"/>
          <p:cNvGrpSpPr/>
          <p:nvPr/>
        </p:nvGrpSpPr>
        <p:grpSpPr>
          <a:xfrm rot="0">
            <a:off x="950595" y="7945755"/>
            <a:ext cx="5162550" cy="910590"/>
            <a:chOff x="0" y="0"/>
            <a:chExt cx="6883400" cy="1214120"/>
          </a:xfrm>
        </p:grpSpPr>
        <p:sp>
          <p:nvSpPr>
            <p:cNvPr name="Freeform 34" id="34"/>
            <p:cNvSpPr/>
            <p:nvPr/>
          </p:nvSpPr>
          <p:spPr>
            <a:xfrm flipH="false" flipV="false" rot="0">
              <a:off x="0" y="0"/>
              <a:ext cx="6883400" cy="1214120"/>
            </a:xfrm>
            <a:custGeom>
              <a:avLst/>
              <a:gdLst/>
              <a:ahLst/>
              <a:cxnLst/>
              <a:rect r="r" b="b" t="t" l="l"/>
              <a:pathLst>
                <a:path h="1214120" w="6883400">
                  <a:moveTo>
                    <a:pt x="0" y="168148"/>
                  </a:moveTo>
                  <a:cubicBezTo>
                    <a:pt x="0" y="75311"/>
                    <a:pt x="75311" y="0"/>
                    <a:pt x="168148" y="0"/>
                  </a:cubicBezTo>
                  <a:lnTo>
                    <a:pt x="6715252" y="0"/>
                  </a:lnTo>
                  <a:cubicBezTo>
                    <a:pt x="6808089" y="0"/>
                    <a:pt x="6883400" y="75311"/>
                    <a:pt x="6883400" y="168148"/>
                  </a:cubicBezTo>
                  <a:lnTo>
                    <a:pt x="6883400" y="1045972"/>
                  </a:lnTo>
                  <a:cubicBezTo>
                    <a:pt x="6883400" y="1138809"/>
                    <a:pt x="6808089" y="1214120"/>
                    <a:pt x="6715252" y="1214120"/>
                  </a:cubicBezTo>
                  <a:lnTo>
                    <a:pt x="168148" y="1214120"/>
                  </a:lnTo>
                  <a:cubicBezTo>
                    <a:pt x="75311" y="1214120"/>
                    <a:pt x="0" y="1138809"/>
                    <a:pt x="0" y="1045972"/>
                  </a:cubicBezTo>
                  <a:close/>
                </a:path>
              </a:pathLst>
            </a:custGeom>
            <a:solidFill>
              <a:srgbClr val="F4F7FC"/>
            </a:solidFill>
            <a:ln w="19050" cap="sq">
              <a:solidFill>
                <a:srgbClr val="D7DCEC"/>
              </a:solidFill>
              <a:prstDash val="solid"/>
              <a:miter/>
            </a:ln>
          </p:spPr>
        </p:sp>
      </p:grpSp>
      <p:grpSp>
        <p:nvGrpSpPr>
          <p:cNvPr name="Group 35" id="35"/>
          <p:cNvGrpSpPr/>
          <p:nvPr/>
        </p:nvGrpSpPr>
        <p:grpSpPr>
          <a:xfrm rot="0">
            <a:off x="960120" y="8023860"/>
            <a:ext cx="5143500" cy="589788"/>
            <a:chOff x="0" y="0"/>
            <a:chExt cx="6858000" cy="786384"/>
          </a:xfrm>
        </p:grpSpPr>
        <p:sp>
          <p:nvSpPr>
            <p:cNvPr name="Freeform 36" id="36"/>
            <p:cNvSpPr/>
            <p:nvPr/>
          </p:nvSpPr>
          <p:spPr>
            <a:xfrm flipH="false" flipV="false" rot="0">
              <a:off x="0" y="0"/>
              <a:ext cx="6858000" cy="786384"/>
            </a:xfrm>
            <a:custGeom>
              <a:avLst/>
              <a:gdLst/>
              <a:ahLst/>
              <a:cxnLst/>
              <a:rect r="r" b="b" t="t" l="l"/>
              <a:pathLst>
                <a:path h="786384" w="6858000">
                  <a:moveTo>
                    <a:pt x="0" y="0"/>
                  </a:moveTo>
                  <a:lnTo>
                    <a:pt x="6858000" y="0"/>
                  </a:lnTo>
                  <a:lnTo>
                    <a:pt x="6858000" y="786384"/>
                  </a:lnTo>
                  <a:lnTo>
                    <a:pt x="0" y="786384"/>
                  </a:lnTo>
                  <a:close/>
                </a:path>
              </a:pathLst>
            </a:custGeom>
            <a:blipFill>
              <a:blip r:embed="rId2">
                <a:alphaModFix amt="0"/>
              </a:blip>
              <a:stretch>
                <a:fillRect l="0" t="-119927" r="0" b="-119927"/>
              </a:stretch>
            </a:blipFill>
          </p:spPr>
        </p:sp>
        <p:sp>
          <p:nvSpPr>
            <p:cNvPr name="TextBox 37" id="37"/>
            <p:cNvSpPr txBox="true"/>
            <p:nvPr/>
          </p:nvSpPr>
          <p:spPr>
            <a:xfrm>
              <a:off x="0" y="-38100"/>
              <a:ext cx="6858000" cy="824484"/>
            </a:xfrm>
            <a:prstGeom prst="rect">
              <a:avLst/>
            </a:prstGeom>
          </p:spPr>
          <p:txBody>
            <a:bodyPr anchor="ctr" rtlCol="false" tIns="0" lIns="0" bIns="0" rIns="0"/>
            <a:lstStyle/>
            <a:p>
              <a:pPr algn="ctr">
                <a:lnSpc>
                  <a:spcPts val="2250"/>
                </a:lnSpc>
              </a:pPr>
              <a:r>
                <a:rPr lang="en-US" sz="1875">
                  <a:solidFill>
                    <a:srgbClr val="6B7280"/>
                  </a:solidFill>
                  <a:latin typeface="Calibri (MS)"/>
                  <a:ea typeface="Calibri (MS)"/>
                  <a:cs typeface="Calibri (MS)"/>
                  <a:sym typeface="Calibri (MS)"/>
                </a:rPr>
                <a:t>Data Privacy Act</a:t>
              </a:r>
            </a:p>
          </p:txBody>
        </p:sp>
      </p:grpSp>
      <p:grpSp>
        <p:nvGrpSpPr>
          <p:cNvPr name="Group 38" id="38"/>
          <p:cNvGrpSpPr/>
          <p:nvPr/>
        </p:nvGrpSpPr>
        <p:grpSpPr>
          <a:xfrm rot="0">
            <a:off x="960120" y="8462772"/>
            <a:ext cx="5143500" cy="329184"/>
            <a:chOff x="0" y="0"/>
            <a:chExt cx="6858000" cy="438912"/>
          </a:xfrm>
        </p:grpSpPr>
        <p:sp>
          <p:nvSpPr>
            <p:cNvPr name="Freeform 39" id="39"/>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40" id="40"/>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9AA3B8"/>
                  </a:solidFill>
                  <a:latin typeface="Arimo"/>
                  <a:ea typeface="Arimo"/>
                  <a:cs typeface="Arimo"/>
                  <a:sym typeface="Arimo"/>
                </a:rPr>
                <a:t>DPA</a:t>
              </a:r>
            </a:p>
          </p:txBody>
        </p:sp>
      </p:grpSp>
      <p:grpSp>
        <p:nvGrpSpPr>
          <p:cNvPr name="Group 41" id="41"/>
          <p:cNvGrpSpPr/>
          <p:nvPr/>
        </p:nvGrpSpPr>
        <p:grpSpPr>
          <a:xfrm rot="0">
            <a:off x="6533007" y="7945755"/>
            <a:ext cx="5162550" cy="910590"/>
            <a:chOff x="0" y="0"/>
            <a:chExt cx="6883400" cy="1214120"/>
          </a:xfrm>
        </p:grpSpPr>
        <p:sp>
          <p:nvSpPr>
            <p:cNvPr name="Freeform 42" id="42"/>
            <p:cNvSpPr/>
            <p:nvPr/>
          </p:nvSpPr>
          <p:spPr>
            <a:xfrm flipH="false" flipV="false" rot="0">
              <a:off x="0" y="0"/>
              <a:ext cx="6883400" cy="1214120"/>
            </a:xfrm>
            <a:custGeom>
              <a:avLst/>
              <a:gdLst/>
              <a:ahLst/>
              <a:cxnLst/>
              <a:rect r="r" b="b" t="t" l="l"/>
              <a:pathLst>
                <a:path h="1214120" w="6883400">
                  <a:moveTo>
                    <a:pt x="0" y="168148"/>
                  </a:moveTo>
                  <a:cubicBezTo>
                    <a:pt x="0" y="75311"/>
                    <a:pt x="75311" y="0"/>
                    <a:pt x="168148" y="0"/>
                  </a:cubicBezTo>
                  <a:lnTo>
                    <a:pt x="6715252" y="0"/>
                  </a:lnTo>
                  <a:cubicBezTo>
                    <a:pt x="6808089" y="0"/>
                    <a:pt x="6883400" y="75311"/>
                    <a:pt x="6883400" y="168148"/>
                  </a:cubicBezTo>
                  <a:lnTo>
                    <a:pt x="6883400" y="1045972"/>
                  </a:lnTo>
                  <a:cubicBezTo>
                    <a:pt x="6883400" y="1138809"/>
                    <a:pt x="6808089" y="1214120"/>
                    <a:pt x="6715252" y="1214120"/>
                  </a:cubicBezTo>
                  <a:lnTo>
                    <a:pt x="168148" y="1214120"/>
                  </a:lnTo>
                  <a:cubicBezTo>
                    <a:pt x="75311" y="1214120"/>
                    <a:pt x="0" y="1138809"/>
                    <a:pt x="0" y="1045972"/>
                  </a:cubicBezTo>
                  <a:close/>
                </a:path>
              </a:pathLst>
            </a:custGeom>
            <a:solidFill>
              <a:srgbClr val="F4F7FC"/>
            </a:solidFill>
            <a:ln w="19050" cap="sq">
              <a:solidFill>
                <a:srgbClr val="D7DCEC"/>
              </a:solidFill>
              <a:prstDash val="solid"/>
              <a:miter/>
            </a:ln>
          </p:spPr>
        </p:sp>
      </p:grpSp>
      <p:grpSp>
        <p:nvGrpSpPr>
          <p:cNvPr name="Group 43" id="43"/>
          <p:cNvGrpSpPr/>
          <p:nvPr/>
        </p:nvGrpSpPr>
        <p:grpSpPr>
          <a:xfrm rot="0">
            <a:off x="6542532" y="8023860"/>
            <a:ext cx="5143500" cy="589788"/>
            <a:chOff x="0" y="0"/>
            <a:chExt cx="6858000" cy="786384"/>
          </a:xfrm>
        </p:grpSpPr>
        <p:sp>
          <p:nvSpPr>
            <p:cNvPr name="Freeform 44" id="44"/>
            <p:cNvSpPr/>
            <p:nvPr/>
          </p:nvSpPr>
          <p:spPr>
            <a:xfrm flipH="false" flipV="false" rot="0">
              <a:off x="0" y="0"/>
              <a:ext cx="6858000" cy="786384"/>
            </a:xfrm>
            <a:custGeom>
              <a:avLst/>
              <a:gdLst/>
              <a:ahLst/>
              <a:cxnLst/>
              <a:rect r="r" b="b" t="t" l="l"/>
              <a:pathLst>
                <a:path h="786384" w="6858000">
                  <a:moveTo>
                    <a:pt x="0" y="0"/>
                  </a:moveTo>
                  <a:lnTo>
                    <a:pt x="6858000" y="0"/>
                  </a:lnTo>
                  <a:lnTo>
                    <a:pt x="6858000" y="786384"/>
                  </a:lnTo>
                  <a:lnTo>
                    <a:pt x="0" y="786384"/>
                  </a:lnTo>
                  <a:close/>
                </a:path>
              </a:pathLst>
            </a:custGeom>
            <a:blipFill>
              <a:blip r:embed="rId2">
                <a:alphaModFix amt="0"/>
              </a:blip>
              <a:stretch>
                <a:fillRect l="0" t="-119927" r="0" b="-119927"/>
              </a:stretch>
            </a:blipFill>
          </p:spPr>
        </p:sp>
        <p:sp>
          <p:nvSpPr>
            <p:cNvPr name="TextBox 45" id="45"/>
            <p:cNvSpPr txBox="true"/>
            <p:nvPr/>
          </p:nvSpPr>
          <p:spPr>
            <a:xfrm>
              <a:off x="0" y="-38100"/>
              <a:ext cx="6858000" cy="824484"/>
            </a:xfrm>
            <a:prstGeom prst="rect">
              <a:avLst/>
            </a:prstGeom>
          </p:spPr>
          <p:txBody>
            <a:bodyPr anchor="ctr" rtlCol="false" tIns="0" lIns="0" bIns="0" rIns="0"/>
            <a:lstStyle/>
            <a:p>
              <a:pPr algn="ctr">
                <a:lnSpc>
                  <a:spcPts val="2250"/>
                </a:lnSpc>
              </a:pPr>
              <a:r>
                <a:rPr lang="en-US" sz="1875">
                  <a:solidFill>
                    <a:srgbClr val="6B7280"/>
                  </a:solidFill>
                  <a:latin typeface="Calibri (MS)"/>
                  <a:ea typeface="Calibri (MS)"/>
                  <a:cs typeface="Calibri (MS)"/>
                  <a:sym typeface="Calibri (MS)"/>
                </a:rPr>
                <a:t>DICT Act / NCSP</a:t>
              </a:r>
            </a:p>
          </p:txBody>
        </p:sp>
      </p:grpSp>
      <p:grpSp>
        <p:nvGrpSpPr>
          <p:cNvPr name="Group 46" id="46"/>
          <p:cNvGrpSpPr/>
          <p:nvPr/>
        </p:nvGrpSpPr>
        <p:grpSpPr>
          <a:xfrm rot="0">
            <a:off x="6542532" y="8462772"/>
            <a:ext cx="5143500" cy="329184"/>
            <a:chOff x="0" y="0"/>
            <a:chExt cx="6858000" cy="438912"/>
          </a:xfrm>
        </p:grpSpPr>
        <p:sp>
          <p:nvSpPr>
            <p:cNvPr name="Freeform 47" id="47"/>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48" id="48"/>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9AA3B8"/>
                  </a:solidFill>
                  <a:latin typeface="Arimo"/>
                  <a:ea typeface="Arimo"/>
                  <a:cs typeface="Arimo"/>
                  <a:sym typeface="Arimo"/>
                </a:rPr>
                <a:t>DICT</a:t>
              </a:r>
            </a:p>
          </p:txBody>
        </p:sp>
      </p:grpSp>
      <p:grpSp>
        <p:nvGrpSpPr>
          <p:cNvPr name="Group 49" id="49"/>
          <p:cNvGrpSpPr/>
          <p:nvPr/>
        </p:nvGrpSpPr>
        <p:grpSpPr>
          <a:xfrm rot="0">
            <a:off x="12115419" y="6779895"/>
            <a:ext cx="5162550" cy="2076450"/>
            <a:chOff x="0" y="0"/>
            <a:chExt cx="6883400" cy="2768600"/>
          </a:xfrm>
        </p:grpSpPr>
        <p:sp>
          <p:nvSpPr>
            <p:cNvPr name="Freeform 50" id="50"/>
            <p:cNvSpPr/>
            <p:nvPr/>
          </p:nvSpPr>
          <p:spPr>
            <a:xfrm flipH="false" flipV="false" rot="0">
              <a:off x="0" y="0"/>
              <a:ext cx="6883400" cy="2768600"/>
            </a:xfrm>
            <a:custGeom>
              <a:avLst/>
              <a:gdLst/>
              <a:ahLst/>
              <a:cxnLst/>
              <a:rect r="r" b="b" t="t" l="l"/>
              <a:pathLst>
                <a:path h="2768600" w="6883400">
                  <a:moveTo>
                    <a:pt x="0" y="166116"/>
                  </a:moveTo>
                  <a:cubicBezTo>
                    <a:pt x="0" y="74422"/>
                    <a:pt x="74422" y="0"/>
                    <a:pt x="166116" y="0"/>
                  </a:cubicBezTo>
                  <a:lnTo>
                    <a:pt x="6717284" y="0"/>
                  </a:lnTo>
                  <a:cubicBezTo>
                    <a:pt x="6808978" y="0"/>
                    <a:pt x="6883400" y="74422"/>
                    <a:pt x="6883400" y="166116"/>
                  </a:cubicBezTo>
                  <a:lnTo>
                    <a:pt x="6883400" y="2602484"/>
                  </a:lnTo>
                  <a:cubicBezTo>
                    <a:pt x="6883400" y="2694178"/>
                    <a:pt x="6808978" y="2768600"/>
                    <a:pt x="6717284" y="2768600"/>
                  </a:cubicBezTo>
                  <a:lnTo>
                    <a:pt x="166116" y="2768600"/>
                  </a:lnTo>
                  <a:cubicBezTo>
                    <a:pt x="74422" y="2768600"/>
                    <a:pt x="0" y="2694178"/>
                    <a:pt x="0" y="2602484"/>
                  </a:cubicBezTo>
                  <a:close/>
                </a:path>
              </a:pathLst>
            </a:custGeom>
            <a:solidFill>
              <a:srgbClr val="F4F7FC"/>
            </a:solidFill>
            <a:ln w="19050" cap="sq">
              <a:solidFill>
                <a:srgbClr val="D7DCEC"/>
              </a:solidFill>
              <a:prstDash val="solid"/>
              <a:miter/>
            </a:ln>
          </p:spPr>
        </p:sp>
      </p:grpSp>
      <p:grpSp>
        <p:nvGrpSpPr>
          <p:cNvPr name="Group 51" id="51"/>
          <p:cNvGrpSpPr/>
          <p:nvPr/>
        </p:nvGrpSpPr>
        <p:grpSpPr>
          <a:xfrm rot="0">
            <a:off x="12124944" y="6858000"/>
            <a:ext cx="5143500" cy="1755648"/>
            <a:chOff x="0" y="0"/>
            <a:chExt cx="6858000" cy="2340864"/>
          </a:xfrm>
        </p:grpSpPr>
        <p:sp>
          <p:nvSpPr>
            <p:cNvPr name="Freeform 52" id="52"/>
            <p:cNvSpPr/>
            <p:nvPr/>
          </p:nvSpPr>
          <p:spPr>
            <a:xfrm flipH="false" flipV="false" rot="0">
              <a:off x="0" y="0"/>
              <a:ext cx="6858000" cy="2340864"/>
            </a:xfrm>
            <a:custGeom>
              <a:avLst/>
              <a:gdLst/>
              <a:ahLst/>
              <a:cxnLst/>
              <a:rect r="r" b="b" t="t" l="l"/>
              <a:pathLst>
                <a:path h="2340864" w="6858000">
                  <a:moveTo>
                    <a:pt x="0" y="0"/>
                  </a:moveTo>
                  <a:lnTo>
                    <a:pt x="6858000" y="0"/>
                  </a:lnTo>
                  <a:lnTo>
                    <a:pt x="6858000" y="2340864"/>
                  </a:lnTo>
                  <a:lnTo>
                    <a:pt x="0" y="2340864"/>
                  </a:lnTo>
                  <a:close/>
                </a:path>
              </a:pathLst>
            </a:custGeom>
            <a:blipFill>
              <a:blip r:embed="rId2">
                <a:alphaModFix amt="0"/>
              </a:blip>
              <a:stretch>
                <a:fillRect l="0" t="-7085" r="0" b="-7085"/>
              </a:stretch>
            </a:blipFill>
          </p:spPr>
        </p:sp>
        <p:sp>
          <p:nvSpPr>
            <p:cNvPr name="TextBox 53" id="53"/>
            <p:cNvSpPr txBox="true"/>
            <p:nvPr/>
          </p:nvSpPr>
          <p:spPr>
            <a:xfrm>
              <a:off x="0" y="-38100"/>
              <a:ext cx="6858000" cy="2378964"/>
            </a:xfrm>
            <a:prstGeom prst="rect">
              <a:avLst/>
            </a:prstGeom>
          </p:spPr>
          <p:txBody>
            <a:bodyPr anchor="ctr" rtlCol="false" tIns="0" lIns="0" bIns="0" rIns="0"/>
            <a:lstStyle/>
            <a:p>
              <a:pPr algn="ctr">
                <a:lnSpc>
                  <a:spcPts val="2250"/>
                </a:lnSpc>
              </a:pPr>
              <a:r>
                <a:rPr lang="en-US" sz="1875">
                  <a:solidFill>
                    <a:srgbClr val="6B7280"/>
                  </a:solidFill>
                  <a:latin typeface="Calibri (MS)"/>
                  <a:ea typeface="Calibri (MS)"/>
                  <a:cs typeface="Calibri (MS)"/>
                  <a:sym typeface="Calibri (MS)"/>
                </a:rPr>
                <a:t>Critical Infra. Protection</a:t>
              </a:r>
            </a:p>
          </p:txBody>
        </p:sp>
      </p:grpSp>
      <p:grpSp>
        <p:nvGrpSpPr>
          <p:cNvPr name="Group 54" id="54"/>
          <p:cNvGrpSpPr/>
          <p:nvPr/>
        </p:nvGrpSpPr>
        <p:grpSpPr>
          <a:xfrm rot="0">
            <a:off x="12124944" y="8462772"/>
            <a:ext cx="5143500" cy="329184"/>
            <a:chOff x="0" y="0"/>
            <a:chExt cx="6858000" cy="438912"/>
          </a:xfrm>
        </p:grpSpPr>
        <p:sp>
          <p:nvSpPr>
            <p:cNvPr name="Freeform 55" id="55"/>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56" id="56"/>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9AA3B8"/>
                  </a:solidFill>
                  <a:latin typeface="Arimo"/>
                  <a:ea typeface="Arimo"/>
                  <a:cs typeface="Arimo"/>
                  <a:sym typeface="Arimo"/>
                </a:rPr>
                <a:t>CII</a:t>
              </a:r>
            </a:p>
          </p:txBody>
        </p:sp>
      </p:grpSp>
      <p:grpSp>
        <p:nvGrpSpPr>
          <p:cNvPr name="Group 57" id="57"/>
          <p:cNvGrpSpPr/>
          <p:nvPr/>
        </p:nvGrpSpPr>
        <p:grpSpPr>
          <a:xfrm rot="0">
            <a:off x="685800" y="9710928"/>
            <a:ext cx="10972800" cy="411480"/>
            <a:chOff x="0" y="0"/>
            <a:chExt cx="14630400" cy="548640"/>
          </a:xfrm>
        </p:grpSpPr>
        <p:sp>
          <p:nvSpPr>
            <p:cNvPr name="Freeform 58" id="58"/>
            <p:cNvSpPr/>
            <p:nvPr/>
          </p:nvSpPr>
          <p:spPr>
            <a:xfrm flipH="false" flipV="false" rot="0">
              <a:off x="0" y="0"/>
              <a:ext cx="14630400" cy="548640"/>
            </a:xfrm>
            <a:custGeom>
              <a:avLst/>
              <a:gdLst/>
              <a:ahLst/>
              <a:cxnLst/>
              <a:rect r="r" b="b" t="t" l="l"/>
              <a:pathLst>
                <a:path h="548640" w="14630400">
                  <a:moveTo>
                    <a:pt x="0" y="0"/>
                  </a:moveTo>
                  <a:lnTo>
                    <a:pt x="14630400" y="0"/>
                  </a:lnTo>
                  <a:lnTo>
                    <a:pt x="14630400" y="548640"/>
                  </a:lnTo>
                  <a:lnTo>
                    <a:pt x="0" y="548640"/>
                  </a:lnTo>
                  <a:close/>
                </a:path>
              </a:pathLst>
            </a:custGeom>
            <a:blipFill>
              <a:blip r:embed="rId2">
                <a:alphaModFix amt="0"/>
              </a:blip>
              <a:stretch>
                <a:fillRect l="0" t="-469601" r="0" b="-469601"/>
              </a:stretch>
            </a:blipFill>
          </p:spPr>
        </p:sp>
        <p:sp>
          <p:nvSpPr>
            <p:cNvPr name="TextBox 59" id="59"/>
            <p:cNvSpPr txBox="true"/>
            <p:nvPr/>
          </p:nvSpPr>
          <p:spPr>
            <a:xfrm>
              <a:off x="0" y="-38100"/>
              <a:ext cx="14630400" cy="586740"/>
            </a:xfrm>
            <a:prstGeom prst="rect">
              <a:avLst/>
            </a:prstGeom>
          </p:spPr>
          <p:txBody>
            <a:bodyPr anchor="ctr" rtlCol="false" tIns="0" lIns="0" bIns="0" rIns="0"/>
            <a:lstStyle/>
            <a:p>
              <a:pPr algn="l">
                <a:lnSpc>
                  <a:spcPts val="1800"/>
                </a:lnSpc>
              </a:pPr>
              <a:r>
                <a:rPr lang="en-US" sz="1500">
                  <a:solidFill>
                    <a:srgbClr val="6B7280"/>
                  </a:solidFill>
                  <a:latin typeface="Calibri (MS)"/>
                  <a:ea typeface="Calibri (MS)"/>
                  <a:cs typeface="Calibri (MS)"/>
                  <a:sym typeface="Calibri (MS)"/>
                </a:rPr>
                <a:t>Davao del Norte Provincial Government — Cybersecurity Seminar</a:t>
              </a:r>
            </a:p>
          </p:txBody>
        </p:sp>
      </p:grpSp>
      <p:grpSp>
        <p:nvGrpSpPr>
          <p:cNvPr name="Group 60" id="60"/>
          <p:cNvGrpSpPr/>
          <p:nvPr/>
        </p:nvGrpSpPr>
        <p:grpSpPr>
          <a:xfrm rot="0">
            <a:off x="16911828" y="9710928"/>
            <a:ext cx="685800" cy="411480"/>
            <a:chOff x="0" y="0"/>
            <a:chExt cx="914400" cy="548640"/>
          </a:xfrm>
        </p:grpSpPr>
        <p:sp>
          <p:nvSpPr>
            <p:cNvPr name="Freeform 61" id="61"/>
            <p:cNvSpPr/>
            <p:nvPr/>
          </p:nvSpPr>
          <p:spPr>
            <a:xfrm flipH="false" flipV="false" rot="0">
              <a:off x="0" y="0"/>
              <a:ext cx="914400" cy="548640"/>
            </a:xfrm>
            <a:custGeom>
              <a:avLst/>
              <a:gdLst/>
              <a:ahLst/>
              <a:cxnLst/>
              <a:rect r="r" b="b" t="t" l="l"/>
              <a:pathLst>
                <a:path h="548640" w="914400">
                  <a:moveTo>
                    <a:pt x="0" y="0"/>
                  </a:moveTo>
                  <a:lnTo>
                    <a:pt x="914400" y="0"/>
                  </a:lnTo>
                  <a:lnTo>
                    <a:pt x="914400" y="548640"/>
                  </a:lnTo>
                  <a:lnTo>
                    <a:pt x="0" y="548640"/>
                  </a:lnTo>
                  <a:close/>
                </a:path>
              </a:pathLst>
            </a:custGeom>
            <a:blipFill>
              <a:blip r:embed="rId2">
                <a:alphaModFix amt="0"/>
              </a:blip>
              <a:stretch>
                <a:fillRect l="-26982" t="0" r="-26982" b="0"/>
              </a:stretch>
            </a:blipFill>
          </p:spPr>
        </p:sp>
        <p:sp>
          <p:nvSpPr>
            <p:cNvPr name="TextBox 62" id="62"/>
            <p:cNvSpPr txBox="true"/>
            <p:nvPr/>
          </p:nvSpPr>
          <p:spPr>
            <a:xfrm>
              <a:off x="0" y="-38100"/>
              <a:ext cx="914400" cy="586740"/>
            </a:xfrm>
            <a:prstGeom prst="rect">
              <a:avLst/>
            </a:prstGeom>
          </p:spPr>
          <p:txBody>
            <a:bodyPr anchor="ctr" rtlCol="false" tIns="0" lIns="0" bIns="0" rIns="0"/>
            <a:lstStyle/>
            <a:p>
              <a:pPr algn="r">
                <a:lnSpc>
                  <a:spcPts val="1800"/>
                </a:lnSpc>
              </a:pPr>
              <a:r>
                <a:rPr lang="en-US" sz="1500">
                  <a:solidFill>
                    <a:srgbClr val="6B7280"/>
                  </a:solidFill>
                  <a:latin typeface="Calibri (MS)"/>
                  <a:ea typeface="Calibri (MS)"/>
                  <a:cs typeface="Calibri (MS)"/>
                  <a:sym typeface="Calibri (MS)"/>
                </a:rPr>
                <a:t>27</a:t>
              </a:r>
            </a:p>
          </p:txBody>
        </p:sp>
      </p:grpSp>
    </p:spTree>
  </p:cSld>
  <p:clrMapOvr>
    <a:masterClrMapping/>
  </p:clrMapOvr>
</p:sld>
</file>

<file path=ppt/slides/slide14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60120" y="685800"/>
            <a:ext cx="13716000" cy="411480"/>
            <a:chOff x="0" y="0"/>
            <a:chExt cx="18288000" cy="548640"/>
          </a:xfrm>
        </p:grpSpPr>
        <p:sp>
          <p:nvSpPr>
            <p:cNvPr name="Freeform 3" id="3"/>
            <p:cNvSpPr/>
            <p:nvPr/>
          </p:nvSpPr>
          <p:spPr>
            <a:xfrm flipH="false" flipV="false" rot="0">
              <a:off x="0" y="0"/>
              <a:ext cx="18288000" cy="548640"/>
            </a:xfrm>
            <a:custGeom>
              <a:avLst/>
              <a:gdLst/>
              <a:ahLst/>
              <a:cxnLst/>
              <a:rect r="r" b="b" t="t" l="l"/>
              <a:pathLst>
                <a:path h="548640" w="18288000">
                  <a:moveTo>
                    <a:pt x="0" y="0"/>
                  </a:moveTo>
                  <a:lnTo>
                    <a:pt x="18288000" y="0"/>
                  </a:lnTo>
                  <a:lnTo>
                    <a:pt x="18288000" y="548640"/>
                  </a:lnTo>
                  <a:lnTo>
                    <a:pt x="0" y="548640"/>
                  </a:lnTo>
                  <a:close/>
                </a:path>
              </a:pathLst>
            </a:custGeom>
            <a:blipFill>
              <a:blip r:embed="rId2">
                <a:alphaModFix amt="0"/>
              </a:blip>
              <a:stretch>
                <a:fillRect l="0" t="-599501" r="0" b="-599501"/>
              </a:stretch>
            </a:blipFill>
          </p:spPr>
        </p:sp>
        <p:sp>
          <p:nvSpPr>
            <p:cNvPr name="TextBox 4" id="4"/>
            <p:cNvSpPr txBox="true"/>
            <p:nvPr/>
          </p:nvSpPr>
          <p:spPr>
            <a:xfrm>
              <a:off x="0" y="-38100"/>
              <a:ext cx="18288000" cy="586740"/>
            </a:xfrm>
            <a:prstGeom prst="rect">
              <a:avLst/>
            </a:prstGeom>
          </p:spPr>
          <p:txBody>
            <a:bodyPr anchor="ctr" rtlCol="false" tIns="0" lIns="0" bIns="0" rIns="0"/>
            <a:lstStyle/>
            <a:p>
              <a:pPr algn="l">
                <a:lnSpc>
                  <a:spcPts val="2160"/>
                </a:lnSpc>
              </a:pPr>
              <a:r>
                <a:rPr lang="en-US" b="true" sz="1800" spc="225">
                  <a:solidFill>
                    <a:srgbClr val="00B4D8"/>
                  </a:solidFill>
                  <a:latin typeface="Calibri (MS) Bold"/>
                  <a:ea typeface="Calibri (MS) Bold"/>
                  <a:cs typeface="Calibri (MS) Bold"/>
                  <a:sym typeface="Calibri (MS) Bold"/>
                </a:rPr>
                <a:t>PH CYBER LAW SORT · ANSWER</a:t>
              </a:r>
            </a:p>
          </p:txBody>
        </p:sp>
      </p:grpSp>
      <p:grpSp>
        <p:nvGrpSpPr>
          <p:cNvPr name="Group 5" id="5"/>
          <p:cNvGrpSpPr/>
          <p:nvPr/>
        </p:nvGrpSpPr>
        <p:grpSpPr>
          <a:xfrm rot="0">
            <a:off x="960120" y="1069848"/>
            <a:ext cx="10972800" cy="822960"/>
            <a:chOff x="0" y="0"/>
            <a:chExt cx="14630400" cy="1097280"/>
          </a:xfrm>
        </p:grpSpPr>
        <p:sp>
          <p:nvSpPr>
            <p:cNvPr name="Freeform 6" id="6"/>
            <p:cNvSpPr/>
            <p:nvPr/>
          </p:nvSpPr>
          <p:spPr>
            <a:xfrm flipH="false" flipV="false" rot="0">
              <a:off x="0" y="0"/>
              <a:ext cx="14630400" cy="1097280"/>
            </a:xfrm>
            <a:custGeom>
              <a:avLst/>
              <a:gdLst/>
              <a:ahLst/>
              <a:cxnLst/>
              <a:rect r="r" b="b" t="t" l="l"/>
              <a:pathLst>
                <a:path h="1097280" w="14630400">
                  <a:moveTo>
                    <a:pt x="0" y="0"/>
                  </a:moveTo>
                  <a:lnTo>
                    <a:pt x="14630400" y="0"/>
                  </a:lnTo>
                  <a:lnTo>
                    <a:pt x="14630400" y="1097280"/>
                  </a:lnTo>
                  <a:lnTo>
                    <a:pt x="0" y="1097280"/>
                  </a:lnTo>
                  <a:close/>
                </a:path>
              </a:pathLst>
            </a:custGeom>
            <a:blipFill>
              <a:blip r:embed="rId2">
                <a:alphaModFix amt="0"/>
              </a:blip>
              <a:stretch>
                <a:fillRect l="0" t="-209800" r="0" b="-209800"/>
              </a:stretch>
            </a:blipFill>
          </p:spPr>
        </p:sp>
        <p:sp>
          <p:nvSpPr>
            <p:cNvPr name="TextBox 7" id="7"/>
            <p:cNvSpPr txBox="true"/>
            <p:nvPr/>
          </p:nvSpPr>
          <p:spPr>
            <a:xfrm>
              <a:off x="0" y="0"/>
              <a:ext cx="14630400" cy="1097280"/>
            </a:xfrm>
            <a:prstGeom prst="rect">
              <a:avLst/>
            </a:prstGeom>
          </p:spPr>
          <p:txBody>
            <a:bodyPr anchor="ctr" rtlCol="false" tIns="0" lIns="0" bIns="0" rIns="0"/>
            <a:lstStyle/>
            <a:p>
              <a:pPr algn="l">
                <a:lnSpc>
                  <a:spcPts val="4680"/>
                </a:lnSpc>
              </a:pPr>
              <a:r>
                <a:rPr lang="en-US" sz="3900" b="true">
                  <a:solidFill>
                    <a:srgbClr val="1E2761"/>
                  </a:solidFill>
                  <a:latin typeface="Cambria Bold"/>
                  <a:ea typeface="Cambria Bold"/>
                  <a:cs typeface="Cambria Bold"/>
                  <a:sym typeface="Cambria Bold"/>
                </a:rPr>
                <a:t>Scenario 9 — Answer</a:t>
              </a:r>
            </a:p>
          </p:txBody>
        </p:sp>
      </p:grpSp>
      <p:grpSp>
        <p:nvGrpSpPr>
          <p:cNvPr name="Group 8" id="8"/>
          <p:cNvGrpSpPr/>
          <p:nvPr/>
        </p:nvGrpSpPr>
        <p:grpSpPr>
          <a:xfrm rot="0">
            <a:off x="960120" y="1810512"/>
            <a:ext cx="8229600" cy="411480"/>
            <a:chOff x="0" y="0"/>
            <a:chExt cx="10972800" cy="548640"/>
          </a:xfrm>
        </p:grpSpPr>
        <p:sp>
          <p:nvSpPr>
            <p:cNvPr name="Freeform 9" id="9"/>
            <p:cNvSpPr/>
            <p:nvPr/>
          </p:nvSpPr>
          <p:spPr>
            <a:xfrm flipH="false" flipV="false" rot="0">
              <a:off x="0" y="0"/>
              <a:ext cx="10972800" cy="548640"/>
            </a:xfrm>
            <a:custGeom>
              <a:avLst/>
              <a:gdLst/>
              <a:ahLst/>
              <a:cxnLst/>
              <a:rect r="r" b="b" t="t" l="l"/>
              <a:pathLst>
                <a:path h="548640" w="10972800">
                  <a:moveTo>
                    <a:pt x="0" y="0"/>
                  </a:moveTo>
                  <a:lnTo>
                    <a:pt x="10972800" y="0"/>
                  </a:lnTo>
                  <a:lnTo>
                    <a:pt x="10972800" y="548640"/>
                  </a:lnTo>
                  <a:lnTo>
                    <a:pt x="0" y="548640"/>
                  </a:lnTo>
                  <a:close/>
                </a:path>
              </a:pathLst>
            </a:custGeom>
            <a:blipFill>
              <a:blip r:embed="rId2">
                <a:alphaModFix amt="0"/>
              </a:blip>
              <a:stretch>
                <a:fillRect l="0" t="-339700" r="0" b="-339700"/>
              </a:stretch>
            </a:blipFill>
          </p:spPr>
        </p:sp>
        <p:sp>
          <p:nvSpPr>
            <p:cNvPr name="TextBox 10" id="10"/>
            <p:cNvSpPr txBox="true"/>
            <p:nvPr/>
          </p:nvSpPr>
          <p:spPr>
            <a:xfrm>
              <a:off x="0" y="-28575"/>
              <a:ext cx="10972800" cy="577215"/>
            </a:xfrm>
            <a:prstGeom prst="rect">
              <a:avLst/>
            </a:prstGeom>
          </p:spPr>
          <p:txBody>
            <a:bodyPr anchor="ctr" rtlCol="false" tIns="0" lIns="0" bIns="0" rIns="0"/>
            <a:lstStyle/>
            <a:p>
              <a:pPr algn="l">
                <a:lnSpc>
                  <a:spcPts val="1980"/>
                </a:lnSpc>
              </a:pPr>
              <a:r>
                <a:rPr lang="en-US" sz="1650">
                  <a:solidFill>
                    <a:srgbClr val="6B7280"/>
                  </a:solidFill>
                  <a:latin typeface="Calibri (MS)"/>
                  <a:ea typeface="Calibri (MS)"/>
                  <a:cs typeface="Calibri (MS)"/>
                  <a:sym typeface="Calibri (MS)"/>
                </a:rPr>
                <a:t>9 of 15</a:t>
              </a:r>
            </a:p>
          </p:txBody>
        </p:sp>
      </p:grpSp>
      <p:grpSp>
        <p:nvGrpSpPr>
          <p:cNvPr name="Group 11" id="11"/>
          <p:cNvGrpSpPr/>
          <p:nvPr/>
        </p:nvGrpSpPr>
        <p:grpSpPr>
          <a:xfrm rot="0">
            <a:off x="960120" y="2537460"/>
            <a:ext cx="16322040" cy="2057400"/>
            <a:chOff x="0" y="0"/>
            <a:chExt cx="21762720" cy="2743200"/>
          </a:xfrm>
        </p:grpSpPr>
        <p:sp>
          <p:nvSpPr>
            <p:cNvPr name="Freeform 12" id="12"/>
            <p:cNvSpPr/>
            <p:nvPr/>
          </p:nvSpPr>
          <p:spPr>
            <a:xfrm flipH="false" flipV="false" rot="0">
              <a:off x="0" y="0"/>
              <a:ext cx="21762720" cy="2743200"/>
            </a:xfrm>
            <a:custGeom>
              <a:avLst/>
              <a:gdLst/>
              <a:ahLst/>
              <a:cxnLst/>
              <a:rect r="r" b="b" t="t" l="l"/>
              <a:pathLst>
                <a:path h="2743200" w="21762720">
                  <a:moveTo>
                    <a:pt x="0" y="182880"/>
                  </a:moveTo>
                  <a:cubicBezTo>
                    <a:pt x="0" y="81915"/>
                    <a:pt x="81915" y="0"/>
                    <a:pt x="182880" y="0"/>
                  </a:cubicBezTo>
                  <a:lnTo>
                    <a:pt x="21579839" y="0"/>
                  </a:lnTo>
                  <a:cubicBezTo>
                    <a:pt x="21680804" y="0"/>
                    <a:pt x="21762720" y="81915"/>
                    <a:pt x="21762720" y="182880"/>
                  </a:cubicBezTo>
                  <a:lnTo>
                    <a:pt x="21762720" y="2560320"/>
                  </a:lnTo>
                  <a:cubicBezTo>
                    <a:pt x="21762720" y="2661285"/>
                    <a:pt x="21680804" y="2743200"/>
                    <a:pt x="21579839" y="2743200"/>
                  </a:cubicBezTo>
                  <a:lnTo>
                    <a:pt x="182880" y="2743200"/>
                  </a:lnTo>
                  <a:cubicBezTo>
                    <a:pt x="81915" y="2743200"/>
                    <a:pt x="0" y="2661285"/>
                    <a:pt x="0" y="2560320"/>
                  </a:cubicBezTo>
                  <a:close/>
                </a:path>
              </a:pathLst>
            </a:custGeom>
            <a:solidFill>
              <a:srgbClr val="F4F7FC"/>
            </a:solidFill>
          </p:spPr>
        </p:sp>
      </p:grpSp>
      <p:grpSp>
        <p:nvGrpSpPr>
          <p:cNvPr name="Group 13" id="13"/>
          <p:cNvGrpSpPr/>
          <p:nvPr/>
        </p:nvGrpSpPr>
        <p:grpSpPr>
          <a:xfrm rot="0">
            <a:off x="1440180" y="2743200"/>
            <a:ext cx="15361920" cy="1645920"/>
            <a:chOff x="0" y="0"/>
            <a:chExt cx="20482560" cy="2194560"/>
          </a:xfrm>
        </p:grpSpPr>
        <p:sp>
          <p:nvSpPr>
            <p:cNvPr name="Freeform 14" id="14"/>
            <p:cNvSpPr/>
            <p:nvPr/>
          </p:nvSpPr>
          <p:spPr>
            <a:xfrm flipH="false" flipV="false" rot="0">
              <a:off x="0" y="0"/>
              <a:ext cx="20482561" cy="2194560"/>
            </a:xfrm>
            <a:custGeom>
              <a:avLst/>
              <a:gdLst/>
              <a:ahLst/>
              <a:cxnLst/>
              <a:rect r="r" b="b" t="t" l="l"/>
              <a:pathLst>
                <a:path h="2194560" w="20482561">
                  <a:moveTo>
                    <a:pt x="0" y="0"/>
                  </a:moveTo>
                  <a:lnTo>
                    <a:pt x="20482561" y="0"/>
                  </a:lnTo>
                  <a:lnTo>
                    <a:pt x="20482561" y="2194560"/>
                  </a:lnTo>
                  <a:lnTo>
                    <a:pt x="0" y="2194560"/>
                  </a:lnTo>
                  <a:close/>
                </a:path>
              </a:pathLst>
            </a:custGeom>
            <a:blipFill>
              <a:blip r:embed="rId2">
                <a:alphaModFix amt="0"/>
              </a:blip>
              <a:stretch>
                <a:fillRect l="0" t="-131860" r="0" b="-131860"/>
              </a:stretch>
            </a:blipFill>
          </p:spPr>
        </p:sp>
        <p:sp>
          <p:nvSpPr>
            <p:cNvPr name="TextBox 15" id="15"/>
            <p:cNvSpPr txBox="true"/>
            <p:nvPr/>
          </p:nvSpPr>
          <p:spPr>
            <a:xfrm>
              <a:off x="0" y="-66675"/>
              <a:ext cx="20482560" cy="2261235"/>
            </a:xfrm>
            <a:prstGeom prst="rect">
              <a:avLst/>
            </a:prstGeom>
          </p:spPr>
          <p:txBody>
            <a:bodyPr anchor="ctr" rtlCol="false" tIns="0" lIns="0" bIns="0" rIns="0"/>
            <a:lstStyle/>
            <a:p>
              <a:pPr algn="l">
                <a:lnSpc>
                  <a:spcPts val="3487"/>
                </a:lnSpc>
              </a:pPr>
              <a:r>
                <a:rPr lang="en-US" sz="2325" i="true">
                  <a:solidFill>
                    <a:srgbClr val="23262F"/>
                  </a:solidFill>
                  <a:latin typeface="Cambria Italics"/>
                  <a:ea typeface="Cambria Italics"/>
                  <a:cs typeface="Cambria Italics"/>
                  <a:sym typeface="Cambria Italics"/>
                </a:rPr>
                <a:t>"HR wants to know how quickly they're legally required to notify the National Privacy Commission after discovering a breach."</a:t>
              </a:r>
            </a:p>
          </p:txBody>
        </p:sp>
      </p:grpSp>
      <p:grpSp>
        <p:nvGrpSpPr>
          <p:cNvPr name="Group 16" id="16"/>
          <p:cNvGrpSpPr/>
          <p:nvPr/>
        </p:nvGrpSpPr>
        <p:grpSpPr>
          <a:xfrm rot="0">
            <a:off x="950595" y="4928235"/>
            <a:ext cx="5162550" cy="842010"/>
            <a:chOff x="0" y="0"/>
            <a:chExt cx="6883400" cy="1122680"/>
          </a:xfrm>
        </p:grpSpPr>
        <p:sp>
          <p:nvSpPr>
            <p:cNvPr name="Freeform 17" id="17"/>
            <p:cNvSpPr/>
            <p:nvPr/>
          </p:nvSpPr>
          <p:spPr>
            <a:xfrm flipH="false" flipV="false" rot="0">
              <a:off x="0" y="0"/>
              <a:ext cx="6883400" cy="1122680"/>
            </a:xfrm>
            <a:custGeom>
              <a:avLst/>
              <a:gdLst/>
              <a:ahLst/>
              <a:cxnLst/>
              <a:rect r="r" b="b" t="t" l="l"/>
              <a:pathLst>
                <a:path h="1122680" w="6883400">
                  <a:moveTo>
                    <a:pt x="0" y="168402"/>
                  </a:moveTo>
                  <a:cubicBezTo>
                    <a:pt x="0" y="75438"/>
                    <a:pt x="75438" y="0"/>
                    <a:pt x="168402" y="0"/>
                  </a:cubicBezTo>
                  <a:lnTo>
                    <a:pt x="6714998" y="0"/>
                  </a:lnTo>
                  <a:cubicBezTo>
                    <a:pt x="6807962" y="0"/>
                    <a:pt x="6883400" y="75438"/>
                    <a:pt x="6883400" y="168402"/>
                  </a:cubicBezTo>
                  <a:lnTo>
                    <a:pt x="6883400" y="954278"/>
                  </a:lnTo>
                  <a:cubicBezTo>
                    <a:pt x="6883400" y="1047242"/>
                    <a:pt x="6807962" y="1122680"/>
                    <a:pt x="6714998" y="1122680"/>
                  </a:cubicBezTo>
                  <a:lnTo>
                    <a:pt x="168402" y="1122680"/>
                  </a:lnTo>
                  <a:cubicBezTo>
                    <a:pt x="75438" y="1122680"/>
                    <a:pt x="0" y="1047242"/>
                    <a:pt x="0" y="954278"/>
                  </a:cubicBezTo>
                  <a:close/>
                </a:path>
              </a:pathLst>
            </a:custGeom>
            <a:solidFill>
              <a:srgbClr val="F4F7FC"/>
            </a:solidFill>
            <a:ln w="19050" cap="sq">
              <a:solidFill>
                <a:srgbClr val="D7DCEC"/>
              </a:solidFill>
              <a:prstDash val="solid"/>
              <a:miter/>
            </a:ln>
          </p:spPr>
        </p:sp>
      </p:grpSp>
      <p:grpSp>
        <p:nvGrpSpPr>
          <p:cNvPr name="Group 18" id="18"/>
          <p:cNvGrpSpPr/>
          <p:nvPr/>
        </p:nvGrpSpPr>
        <p:grpSpPr>
          <a:xfrm rot="0">
            <a:off x="960120" y="5006340"/>
            <a:ext cx="5143500" cy="521208"/>
            <a:chOff x="0" y="0"/>
            <a:chExt cx="6858000" cy="694944"/>
          </a:xfrm>
        </p:grpSpPr>
        <p:sp>
          <p:nvSpPr>
            <p:cNvPr name="Freeform 19" id="19"/>
            <p:cNvSpPr/>
            <p:nvPr/>
          </p:nvSpPr>
          <p:spPr>
            <a:xfrm flipH="false" flipV="false" rot="0">
              <a:off x="0" y="0"/>
              <a:ext cx="6858000" cy="694944"/>
            </a:xfrm>
            <a:custGeom>
              <a:avLst/>
              <a:gdLst/>
              <a:ahLst/>
              <a:cxnLst/>
              <a:rect r="r" b="b" t="t" l="l"/>
              <a:pathLst>
                <a:path h="694944" w="6858000">
                  <a:moveTo>
                    <a:pt x="0" y="0"/>
                  </a:moveTo>
                  <a:lnTo>
                    <a:pt x="6858000" y="0"/>
                  </a:lnTo>
                  <a:lnTo>
                    <a:pt x="6858000" y="694944"/>
                  </a:lnTo>
                  <a:lnTo>
                    <a:pt x="0" y="694944"/>
                  </a:lnTo>
                  <a:close/>
                </a:path>
              </a:pathLst>
            </a:custGeom>
            <a:blipFill>
              <a:blip r:embed="rId2">
                <a:alphaModFix amt="0"/>
              </a:blip>
              <a:stretch>
                <a:fillRect l="0" t="-142286" r="0" b="-142286"/>
              </a:stretch>
            </a:blipFill>
          </p:spPr>
        </p:sp>
        <p:sp>
          <p:nvSpPr>
            <p:cNvPr name="TextBox 20" id="20"/>
            <p:cNvSpPr txBox="true"/>
            <p:nvPr/>
          </p:nvSpPr>
          <p:spPr>
            <a:xfrm>
              <a:off x="0" y="-38100"/>
              <a:ext cx="6858000" cy="733044"/>
            </a:xfrm>
            <a:prstGeom prst="rect">
              <a:avLst/>
            </a:prstGeom>
          </p:spPr>
          <p:txBody>
            <a:bodyPr anchor="ctr" rtlCol="false" tIns="0" lIns="0" bIns="0" rIns="0"/>
            <a:lstStyle/>
            <a:p>
              <a:pPr algn="ctr">
                <a:lnSpc>
                  <a:spcPts val="2250"/>
                </a:lnSpc>
              </a:pPr>
              <a:r>
                <a:rPr lang="en-US" sz="1875">
                  <a:solidFill>
                    <a:srgbClr val="6B7280"/>
                  </a:solidFill>
                  <a:latin typeface="Calibri (MS)"/>
                  <a:ea typeface="Calibri (MS)"/>
                  <a:cs typeface="Calibri (MS)"/>
                  <a:sym typeface="Calibri (MS)"/>
                </a:rPr>
                <a:t>E-Commerce Act</a:t>
              </a:r>
            </a:p>
          </p:txBody>
        </p:sp>
      </p:grpSp>
      <p:grpSp>
        <p:nvGrpSpPr>
          <p:cNvPr name="Group 21" id="21"/>
          <p:cNvGrpSpPr/>
          <p:nvPr/>
        </p:nvGrpSpPr>
        <p:grpSpPr>
          <a:xfrm rot="0">
            <a:off x="960120" y="5376672"/>
            <a:ext cx="5143500" cy="329184"/>
            <a:chOff x="0" y="0"/>
            <a:chExt cx="6858000" cy="438912"/>
          </a:xfrm>
        </p:grpSpPr>
        <p:sp>
          <p:nvSpPr>
            <p:cNvPr name="Freeform 22" id="22"/>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23" id="23"/>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9AA3B8"/>
                  </a:solidFill>
                  <a:latin typeface="Arimo"/>
                  <a:ea typeface="Arimo"/>
                  <a:cs typeface="Arimo"/>
                  <a:sym typeface="Arimo"/>
                </a:rPr>
                <a:t>ECA</a:t>
              </a:r>
            </a:p>
          </p:txBody>
        </p:sp>
      </p:grpSp>
      <p:grpSp>
        <p:nvGrpSpPr>
          <p:cNvPr name="Group 24" id="24"/>
          <p:cNvGrpSpPr/>
          <p:nvPr/>
        </p:nvGrpSpPr>
        <p:grpSpPr>
          <a:xfrm rot="0">
            <a:off x="6533007" y="4928235"/>
            <a:ext cx="5162550" cy="842010"/>
            <a:chOff x="0" y="0"/>
            <a:chExt cx="6883400" cy="1122680"/>
          </a:xfrm>
        </p:grpSpPr>
        <p:sp>
          <p:nvSpPr>
            <p:cNvPr name="Freeform 25" id="25"/>
            <p:cNvSpPr/>
            <p:nvPr/>
          </p:nvSpPr>
          <p:spPr>
            <a:xfrm flipH="false" flipV="false" rot="0">
              <a:off x="0" y="0"/>
              <a:ext cx="6883400" cy="1122680"/>
            </a:xfrm>
            <a:custGeom>
              <a:avLst/>
              <a:gdLst/>
              <a:ahLst/>
              <a:cxnLst/>
              <a:rect r="r" b="b" t="t" l="l"/>
              <a:pathLst>
                <a:path h="1122680" w="6883400">
                  <a:moveTo>
                    <a:pt x="0" y="168402"/>
                  </a:moveTo>
                  <a:cubicBezTo>
                    <a:pt x="0" y="75438"/>
                    <a:pt x="75438" y="0"/>
                    <a:pt x="168402" y="0"/>
                  </a:cubicBezTo>
                  <a:lnTo>
                    <a:pt x="6714998" y="0"/>
                  </a:lnTo>
                  <a:cubicBezTo>
                    <a:pt x="6807962" y="0"/>
                    <a:pt x="6883400" y="75438"/>
                    <a:pt x="6883400" y="168402"/>
                  </a:cubicBezTo>
                  <a:lnTo>
                    <a:pt x="6883400" y="954278"/>
                  </a:lnTo>
                  <a:cubicBezTo>
                    <a:pt x="6883400" y="1047242"/>
                    <a:pt x="6807962" y="1122680"/>
                    <a:pt x="6714998" y="1122680"/>
                  </a:cubicBezTo>
                  <a:lnTo>
                    <a:pt x="168402" y="1122680"/>
                  </a:lnTo>
                  <a:cubicBezTo>
                    <a:pt x="75438" y="1122680"/>
                    <a:pt x="0" y="1047242"/>
                    <a:pt x="0" y="954278"/>
                  </a:cubicBezTo>
                  <a:close/>
                </a:path>
              </a:pathLst>
            </a:custGeom>
            <a:solidFill>
              <a:srgbClr val="F4F7FC"/>
            </a:solidFill>
            <a:ln w="19050" cap="sq">
              <a:solidFill>
                <a:srgbClr val="D7DCEC"/>
              </a:solidFill>
              <a:prstDash val="solid"/>
              <a:miter/>
            </a:ln>
          </p:spPr>
        </p:sp>
      </p:grpSp>
      <p:grpSp>
        <p:nvGrpSpPr>
          <p:cNvPr name="Group 26" id="26"/>
          <p:cNvGrpSpPr/>
          <p:nvPr/>
        </p:nvGrpSpPr>
        <p:grpSpPr>
          <a:xfrm rot="0">
            <a:off x="6542532" y="5006340"/>
            <a:ext cx="5143500" cy="521208"/>
            <a:chOff x="0" y="0"/>
            <a:chExt cx="6858000" cy="694944"/>
          </a:xfrm>
        </p:grpSpPr>
        <p:sp>
          <p:nvSpPr>
            <p:cNvPr name="Freeform 27" id="27"/>
            <p:cNvSpPr/>
            <p:nvPr/>
          </p:nvSpPr>
          <p:spPr>
            <a:xfrm flipH="false" flipV="false" rot="0">
              <a:off x="0" y="0"/>
              <a:ext cx="6858000" cy="694944"/>
            </a:xfrm>
            <a:custGeom>
              <a:avLst/>
              <a:gdLst/>
              <a:ahLst/>
              <a:cxnLst/>
              <a:rect r="r" b="b" t="t" l="l"/>
              <a:pathLst>
                <a:path h="694944" w="6858000">
                  <a:moveTo>
                    <a:pt x="0" y="0"/>
                  </a:moveTo>
                  <a:lnTo>
                    <a:pt x="6858000" y="0"/>
                  </a:lnTo>
                  <a:lnTo>
                    <a:pt x="6858000" y="694944"/>
                  </a:lnTo>
                  <a:lnTo>
                    <a:pt x="0" y="694944"/>
                  </a:lnTo>
                  <a:close/>
                </a:path>
              </a:pathLst>
            </a:custGeom>
            <a:blipFill>
              <a:blip r:embed="rId2">
                <a:alphaModFix amt="0"/>
              </a:blip>
              <a:stretch>
                <a:fillRect l="0" t="-142286" r="0" b="-142286"/>
              </a:stretch>
            </a:blipFill>
          </p:spPr>
        </p:sp>
        <p:sp>
          <p:nvSpPr>
            <p:cNvPr name="TextBox 28" id="28"/>
            <p:cNvSpPr txBox="true"/>
            <p:nvPr/>
          </p:nvSpPr>
          <p:spPr>
            <a:xfrm>
              <a:off x="0" y="-38100"/>
              <a:ext cx="6858000" cy="733044"/>
            </a:xfrm>
            <a:prstGeom prst="rect">
              <a:avLst/>
            </a:prstGeom>
          </p:spPr>
          <p:txBody>
            <a:bodyPr anchor="ctr" rtlCol="false" tIns="0" lIns="0" bIns="0" rIns="0"/>
            <a:lstStyle/>
            <a:p>
              <a:pPr algn="ctr">
                <a:lnSpc>
                  <a:spcPts val="2250"/>
                </a:lnSpc>
              </a:pPr>
              <a:r>
                <a:rPr lang="en-US" sz="1875">
                  <a:solidFill>
                    <a:srgbClr val="6B7280"/>
                  </a:solidFill>
                  <a:latin typeface="Calibri (MS)"/>
                  <a:ea typeface="Calibri (MS)"/>
                  <a:cs typeface="Calibri (MS)"/>
                  <a:sym typeface="Calibri (MS)"/>
                </a:rPr>
                <a:t>Cybercrime Act</a:t>
              </a:r>
            </a:p>
          </p:txBody>
        </p:sp>
      </p:grpSp>
      <p:grpSp>
        <p:nvGrpSpPr>
          <p:cNvPr name="Group 29" id="29"/>
          <p:cNvGrpSpPr/>
          <p:nvPr/>
        </p:nvGrpSpPr>
        <p:grpSpPr>
          <a:xfrm rot="0">
            <a:off x="6542532" y="5376672"/>
            <a:ext cx="5143500" cy="329184"/>
            <a:chOff x="0" y="0"/>
            <a:chExt cx="6858000" cy="438912"/>
          </a:xfrm>
        </p:grpSpPr>
        <p:sp>
          <p:nvSpPr>
            <p:cNvPr name="Freeform 30" id="30"/>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31" id="31"/>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9AA3B8"/>
                  </a:solidFill>
                  <a:latin typeface="Arimo"/>
                  <a:ea typeface="Arimo"/>
                  <a:cs typeface="Arimo"/>
                  <a:sym typeface="Arimo"/>
                </a:rPr>
                <a:t>CPA</a:t>
              </a:r>
            </a:p>
          </p:txBody>
        </p:sp>
      </p:grpSp>
      <p:grpSp>
        <p:nvGrpSpPr>
          <p:cNvPr name="Group 32" id="32"/>
          <p:cNvGrpSpPr/>
          <p:nvPr/>
        </p:nvGrpSpPr>
        <p:grpSpPr>
          <a:xfrm rot="0">
            <a:off x="950595" y="5998083"/>
            <a:ext cx="5162550" cy="842010"/>
            <a:chOff x="0" y="0"/>
            <a:chExt cx="6883400" cy="1122680"/>
          </a:xfrm>
        </p:grpSpPr>
        <p:sp>
          <p:nvSpPr>
            <p:cNvPr name="Freeform 33" id="33"/>
            <p:cNvSpPr/>
            <p:nvPr/>
          </p:nvSpPr>
          <p:spPr>
            <a:xfrm flipH="false" flipV="false" rot="0">
              <a:off x="0" y="0"/>
              <a:ext cx="6883400" cy="1122680"/>
            </a:xfrm>
            <a:custGeom>
              <a:avLst/>
              <a:gdLst/>
              <a:ahLst/>
              <a:cxnLst/>
              <a:rect r="r" b="b" t="t" l="l"/>
              <a:pathLst>
                <a:path h="1122680" w="6883400">
                  <a:moveTo>
                    <a:pt x="0" y="168402"/>
                  </a:moveTo>
                  <a:cubicBezTo>
                    <a:pt x="0" y="75438"/>
                    <a:pt x="75438" y="0"/>
                    <a:pt x="168402" y="0"/>
                  </a:cubicBezTo>
                  <a:lnTo>
                    <a:pt x="6714998" y="0"/>
                  </a:lnTo>
                  <a:cubicBezTo>
                    <a:pt x="6807962" y="0"/>
                    <a:pt x="6883400" y="75438"/>
                    <a:pt x="6883400" y="168402"/>
                  </a:cubicBezTo>
                  <a:lnTo>
                    <a:pt x="6883400" y="954278"/>
                  </a:lnTo>
                  <a:cubicBezTo>
                    <a:pt x="6883400" y="1047242"/>
                    <a:pt x="6807962" y="1122680"/>
                    <a:pt x="6714998" y="1122680"/>
                  </a:cubicBezTo>
                  <a:lnTo>
                    <a:pt x="168402" y="1122680"/>
                  </a:lnTo>
                  <a:cubicBezTo>
                    <a:pt x="75438" y="1122680"/>
                    <a:pt x="0" y="1047242"/>
                    <a:pt x="0" y="954278"/>
                  </a:cubicBezTo>
                  <a:close/>
                </a:path>
              </a:pathLst>
            </a:custGeom>
            <a:solidFill>
              <a:srgbClr val="6C4FD1"/>
            </a:solidFill>
            <a:ln w="19050" cap="sq">
              <a:solidFill>
                <a:srgbClr val="6C4FD1"/>
              </a:solidFill>
              <a:prstDash val="solid"/>
              <a:miter/>
            </a:ln>
          </p:spPr>
        </p:sp>
      </p:grpSp>
      <p:grpSp>
        <p:nvGrpSpPr>
          <p:cNvPr name="Group 34" id="34"/>
          <p:cNvGrpSpPr/>
          <p:nvPr/>
        </p:nvGrpSpPr>
        <p:grpSpPr>
          <a:xfrm rot="0">
            <a:off x="960120" y="6076188"/>
            <a:ext cx="5143500" cy="521208"/>
            <a:chOff x="0" y="0"/>
            <a:chExt cx="6858000" cy="694944"/>
          </a:xfrm>
        </p:grpSpPr>
        <p:sp>
          <p:nvSpPr>
            <p:cNvPr name="Freeform 35" id="35"/>
            <p:cNvSpPr/>
            <p:nvPr/>
          </p:nvSpPr>
          <p:spPr>
            <a:xfrm flipH="false" flipV="false" rot="0">
              <a:off x="0" y="0"/>
              <a:ext cx="6858000" cy="694944"/>
            </a:xfrm>
            <a:custGeom>
              <a:avLst/>
              <a:gdLst/>
              <a:ahLst/>
              <a:cxnLst/>
              <a:rect r="r" b="b" t="t" l="l"/>
              <a:pathLst>
                <a:path h="694944" w="6858000">
                  <a:moveTo>
                    <a:pt x="0" y="0"/>
                  </a:moveTo>
                  <a:lnTo>
                    <a:pt x="6858000" y="0"/>
                  </a:lnTo>
                  <a:lnTo>
                    <a:pt x="6858000" y="694944"/>
                  </a:lnTo>
                  <a:lnTo>
                    <a:pt x="0" y="694944"/>
                  </a:lnTo>
                  <a:close/>
                </a:path>
              </a:pathLst>
            </a:custGeom>
            <a:blipFill>
              <a:blip r:embed="rId2">
                <a:alphaModFix amt="0"/>
              </a:blip>
              <a:stretch>
                <a:fillRect l="0" t="-142286" r="0" b="-142286"/>
              </a:stretch>
            </a:blipFill>
          </p:spPr>
        </p:sp>
        <p:sp>
          <p:nvSpPr>
            <p:cNvPr name="TextBox 36" id="36"/>
            <p:cNvSpPr txBox="true"/>
            <p:nvPr/>
          </p:nvSpPr>
          <p:spPr>
            <a:xfrm>
              <a:off x="0" y="-38100"/>
              <a:ext cx="6858000" cy="733044"/>
            </a:xfrm>
            <a:prstGeom prst="rect">
              <a:avLst/>
            </a:prstGeom>
          </p:spPr>
          <p:txBody>
            <a:bodyPr anchor="ctr" rtlCol="false" tIns="0" lIns="0" bIns="0" rIns="0"/>
            <a:lstStyle/>
            <a:p>
              <a:pPr algn="ctr">
                <a:lnSpc>
                  <a:spcPts val="2250"/>
                </a:lnSpc>
              </a:pPr>
              <a:r>
                <a:rPr lang="en-US" sz="1875" b="true">
                  <a:solidFill>
                    <a:srgbClr val="FFFFFF"/>
                  </a:solidFill>
                  <a:latin typeface="Calibri (MS) Bold"/>
                  <a:ea typeface="Calibri (MS) Bold"/>
                  <a:cs typeface="Calibri (MS) Bold"/>
                  <a:sym typeface="Calibri (MS) Bold"/>
                </a:rPr>
                <a:t>✓  Data Privacy Act</a:t>
              </a:r>
            </a:p>
          </p:txBody>
        </p:sp>
      </p:grpSp>
      <p:grpSp>
        <p:nvGrpSpPr>
          <p:cNvPr name="Group 37" id="37"/>
          <p:cNvGrpSpPr/>
          <p:nvPr/>
        </p:nvGrpSpPr>
        <p:grpSpPr>
          <a:xfrm rot="0">
            <a:off x="960120" y="6446520"/>
            <a:ext cx="5143500" cy="329184"/>
            <a:chOff x="0" y="0"/>
            <a:chExt cx="6858000" cy="438912"/>
          </a:xfrm>
        </p:grpSpPr>
        <p:sp>
          <p:nvSpPr>
            <p:cNvPr name="Freeform 38" id="38"/>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39" id="39"/>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FFFFFF"/>
                  </a:solidFill>
                  <a:latin typeface="Arimo"/>
                  <a:ea typeface="Arimo"/>
                  <a:cs typeface="Arimo"/>
                  <a:sym typeface="Arimo"/>
                </a:rPr>
                <a:t>DPA</a:t>
              </a:r>
            </a:p>
          </p:txBody>
        </p:sp>
      </p:grpSp>
      <p:grpSp>
        <p:nvGrpSpPr>
          <p:cNvPr name="Group 40" id="40"/>
          <p:cNvGrpSpPr/>
          <p:nvPr/>
        </p:nvGrpSpPr>
        <p:grpSpPr>
          <a:xfrm rot="0">
            <a:off x="6533007" y="5998083"/>
            <a:ext cx="5162550" cy="842010"/>
            <a:chOff x="0" y="0"/>
            <a:chExt cx="6883400" cy="1122680"/>
          </a:xfrm>
        </p:grpSpPr>
        <p:sp>
          <p:nvSpPr>
            <p:cNvPr name="Freeform 41" id="41"/>
            <p:cNvSpPr/>
            <p:nvPr/>
          </p:nvSpPr>
          <p:spPr>
            <a:xfrm flipH="false" flipV="false" rot="0">
              <a:off x="0" y="0"/>
              <a:ext cx="6883400" cy="1122680"/>
            </a:xfrm>
            <a:custGeom>
              <a:avLst/>
              <a:gdLst/>
              <a:ahLst/>
              <a:cxnLst/>
              <a:rect r="r" b="b" t="t" l="l"/>
              <a:pathLst>
                <a:path h="1122680" w="6883400">
                  <a:moveTo>
                    <a:pt x="0" y="168402"/>
                  </a:moveTo>
                  <a:cubicBezTo>
                    <a:pt x="0" y="75438"/>
                    <a:pt x="75438" y="0"/>
                    <a:pt x="168402" y="0"/>
                  </a:cubicBezTo>
                  <a:lnTo>
                    <a:pt x="6714998" y="0"/>
                  </a:lnTo>
                  <a:cubicBezTo>
                    <a:pt x="6807962" y="0"/>
                    <a:pt x="6883400" y="75438"/>
                    <a:pt x="6883400" y="168402"/>
                  </a:cubicBezTo>
                  <a:lnTo>
                    <a:pt x="6883400" y="954278"/>
                  </a:lnTo>
                  <a:cubicBezTo>
                    <a:pt x="6883400" y="1047242"/>
                    <a:pt x="6807962" y="1122680"/>
                    <a:pt x="6714998" y="1122680"/>
                  </a:cubicBezTo>
                  <a:lnTo>
                    <a:pt x="168402" y="1122680"/>
                  </a:lnTo>
                  <a:cubicBezTo>
                    <a:pt x="75438" y="1122680"/>
                    <a:pt x="0" y="1047242"/>
                    <a:pt x="0" y="954278"/>
                  </a:cubicBezTo>
                  <a:close/>
                </a:path>
              </a:pathLst>
            </a:custGeom>
            <a:solidFill>
              <a:srgbClr val="F4F7FC"/>
            </a:solidFill>
            <a:ln w="19050" cap="sq">
              <a:solidFill>
                <a:srgbClr val="D7DCEC"/>
              </a:solidFill>
              <a:prstDash val="solid"/>
              <a:miter/>
            </a:ln>
          </p:spPr>
        </p:sp>
      </p:grpSp>
      <p:grpSp>
        <p:nvGrpSpPr>
          <p:cNvPr name="Group 42" id="42"/>
          <p:cNvGrpSpPr/>
          <p:nvPr/>
        </p:nvGrpSpPr>
        <p:grpSpPr>
          <a:xfrm rot="0">
            <a:off x="6542532" y="6076188"/>
            <a:ext cx="5143500" cy="521208"/>
            <a:chOff x="0" y="0"/>
            <a:chExt cx="6858000" cy="694944"/>
          </a:xfrm>
        </p:grpSpPr>
        <p:sp>
          <p:nvSpPr>
            <p:cNvPr name="Freeform 43" id="43"/>
            <p:cNvSpPr/>
            <p:nvPr/>
          </p:nvSpPr>
          <p:spPr>
            <a:xfrm flipH="false" flipV="false" rot="0">
              <a:off x="0" y="0"/>
              <a:ext cx="6858000" cy="694944"/>
            </a:xfrm>
            <a:custGeom>
              <a:avLst/>
              <a:gdLst/>
              <a:ahLst/>
              <a:cxnLst/>
              <a:rect r="r" b="b" t="t" l="l"/>
              <a:pathLst>
                <a:path h="694944" w="6858000">
                  <a:moveTo>
                    <a:pt x="0" y="0"/>
                  </a:moveTo>
                  <a:lnTo>
                    <a:pt x="6858000" y="0"/>
                  </a:lnTo>
                  <a:lnTo>
                    <a:pt x="6858000" y="694944"/>
                  </a:lnTo>
                  <a:lnTo>
                    <a:pt x="0" y="694944"/>
                  </a:lnTo>
                  <a:close/>
                </a:path>
              </a:pathLst>
            </a:custGeom>
            <a:blipFill>
              <a:blip r:embed="rId2">
                <a:alphaModFix amt="0"/>
              </a:blip>
              <a:stretch>
                <a:fillRect l="0" t="-142286" r="0" b="-142286"/>
              </a:stretch>
            </a:blipFill>
          </p:spPr>
        </p:sp>
        <p:sp>
          <p:nvSpPr>
            <p:cNvPr name="TextBox 44" id="44"/>
            <p:cNvSpPr txBox="true"/>
            <p:nvPr/>
          </p:nvSpPr>
          <p:spPr>
            <a:xfrm>
              <a:off x="0" y="-38100"/>
              <a:ext cx="6858000" cy="733044"/>
            </a:xfrm>
            <a:prstGeom prst="rect">
              <a:avLst/>
            </a:prstGeom>
          </p:spPr>
          <p:txBody>
            <a:bodyPr anchor="ctr" rtlCol="false" tIns="0" lIns="0" bIns="0" rIns="0"/>
            <a:lstStyle/>
            <a:p>
              <a:pPr algn="ctr">
                <a:lnSpc>
                  <a:spcPts val="2250"/>
                </a:lnSpc>
              </a:pPr>
              <a:r>
                <a:rPr lang="en-US" sz="1875">
                  <a:solidFill>
                    <a:srgbClr val="6B7280"/>
                  </a:solidFill>
                  <a:latin typeface="Calibri (MS)"/>
                  <a:ea typeface="Calibri (MS)"/>
                  <a:cs typeface="Calibri (MS)"/>
                  <a:sym typeface="Calibri (MS)"/>
                </a:rPr>
                <a:t>DICT Act / NCSP</a:t>
              </a:r>
            </a:p>
          </p:txBody>
        </p:sp>
      </p:grpSp>
      <p:grpSp>
        <p:nvGrpSpPr>
          <p:cNvPr name="Group 45" id="45"/>
          <p:cNvGrpSpPr/>
          <p:nvPr/>
        </p:nvGrpSpPr>
        <p:grpSpPr>
          <a:xfrm rot="0">
            <a:off x="6542532" y="6446520"/>
            <a:ext cx="5143500" cy="329184"/>
            <a:chOff x="0" y="0"/>
            <a:chExt cx="6858000" cy="438912"/>
          </a:xfrm>
        </p:grpSpPr>
        <p:sp>
          <p:nvSpPr>
            <p:cNvPr name="Freeform 46" id="46"/>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47" id="47"/>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9AA3B8"/>
                  </a:solidFill>
                  <a:latin typeface="Arimo"/>
                  <a:ea typeface="Arimo"/>
                  <a:cs typeface="Arimo"/>
                  <a:sym typeface="Arimo"/>
                </a:rPr>
                <a:t>DICT</a:t>
              </a:r>
            </a:p>
          </p:txBody>
        </p:sp>
      </p:grpSp>
      <p:grpSp>
        <p:nvGrpSpPr>
          <p:cNvPr name="Group 48" id="48"/>
          <p:cNvGrpSpPr/>
          <p:nvPr/>
        </p:nvGrpSpPr>
        <p:grpSpPr>
          <a:xfrm rot="0">
            <a:off x="12115419" y="4928235"/>
            <a:ext cx="5162550" cy="1911858"/>
            <a:chOff x="0" y="0"/>
            <a:chExt cx="6883400" cy="2549144"/>
          </a:xfrm>
        </p:grpSpPr>
        <p:sp>
          <p:nvSpPr>
            <p:cNvPr name="Freeform 49" id="49"/>
            <p:cNvSpPr/>
            <p:nvPr/>
          </p:nvSpPr>
          <p:spPr>
            <a:xfrm flipH="false" flipV="false" rot="0">
              <a:off x="0" y="0"/>
              <a:ext cx="6883400" cy="2549144"/>
            </a:xfrm>
            <a:custGeom>
              <a:avLst/>
              <a:gdLst/>
              <a:ahLst/>
              <a:cxnLst/>
              <a:rect r="r" b="b" t="t" l="l"/>
              <a:pathLst>
                <a:path h="2549144" w="6883400">
                  <a:moveTo>
                    <a:pt x="0" y="166243"/>
                  </a:moveTo>
                  <a:cubicBezTo>
                    <a:pt x="0" y="74422"/>
                    <a:pt x="74422" y="0"/>
                    <a:pt x="166243" y="0"/>
                  </a:cubicBezTo>
                  <a:lnTo>
                    <a:pt x="6717157" y="0"/>
                  </a:lnTo>
                  <a:cubicBezTo>
                    <a:pt x="6808978" y="0"/>
                    <a:pt x="6883400" y="74422"/>
                    <a:pt x="6883400" y="166243"/>
                  </a:cubicBezTo>
                  <a:lnTo>
                    <a:pt x="6883400" y="2382901"/>
                  </a:lnTo>
                  <a:cubicBezTo>
                    <a:pt x="6883400" y="2474722"/>
                    <a:pt x="6808978" y="2549144"/>
                    <a:pt x="6717157" y="2549144"/>
                  </a:cubicBezTo>
                  <a:lnTo>
                    <a:pt x="166243" y="2549144"/>
                  </a:lnTo>
                  <a:cubicBezTo>
                    <a:pt x="74422" y="2549144"/>
                    <a:pt x="0" y="2474722"/>
                    <a:pt x="0" y="2382901"/>
                  </a:cubicBezTo>
                  <a:close/>
                </a:path>
              </a:pathLst>
            </a:custGeom>
            <a:solidFill>
              <a:srgbClr val="F4F7FC"/>
            </a:solidFill>
            <a:ln w="19050" cap="sq">
              <a:solidFill>
                <a:srgbClr val="D7DCEC"/>
              </a:solidFill>
              <a:prstDash val="solid"/>
              <a:miter/>
            </a:ln>
          </p:spPr>
        </p:sp>
      </p:grpSp>
      <p:grpSp>
        <p:nvGrpSpPr>
          <p:cNvPr name="Group 50" id="50"/>
          <p:cNvGrpSpPr/>
          <p:nvPr/>
        </p:nvGrpSpPr>
        <p:grpSpPr>
          <a:xfrm rot="0">
            <a:off x="12124944" y="5006340"/>
            <a:ext cx="5143500" cy="1591056"/>
            <a:chOff x="0" y="0"/>
            <a:chExt cx="6858000" cy="2121408"/>
          </a:xfrm>
        </p:grpSpPr>
        <p:sp>
          <p:nvSpPr>
            <p:cNvPr name="Freeform 51" id="51"/>
            <p:cNvSpPr/>
            <p:nvPr/>
          </p:nvSpPr>
          <p:spPr>
            <a:xfrm flipH="false" flipV="false" rot="0">
              <a:off x="0" y="0"/>
              <a:ext cx="6858000" cy="2121408"/>
            </a:xfrm>
            <a:custGeom>
              <a:avLst/>
              <a:gdLst/>
              <a:ahLst/>
              <a:cxnLst/>
              <a:rect r="r" b="b" t="t" l="l"/>
              <a:pathLst>
                <a:path h="2121408" w="6858000">
                  <a:moveTo>
                    <a:pt x="0" y="0"/>
                  </a:moveTo>
                  <a:lnTo>
                    <a:pt x="6858000" y="0"/>
                  </a:lnTo>
                  <a:lnTo>
                    <a:pt x="6858000" y="2121408"/>
                  </a:lnTo>
                  <a:lnTo>
                    <a:pt x="0" y="2121408"/>
                  </a:lnTo>
                  <a:close/>
                </a:path>
              </a:pathLst>
            </a:custGeom>
            <a:blipFill>
              <a:blip r:embed="rId2">
                <a:alphaModFix amt="0"/>
              </a:blip>
              <a:stretch>
                <a:fillRect l="0" t="-12990" r="0" b="-12990"/>
              </a:stretch>
            </a:blipFill>
          </p:spPr>
        </p:sp>
        <p:sp>
          <p:nvSpPr>
            <p:cNvPr name="TextBox 52" id="52"/>
            <p:cNvSpPr txBox="true"/>
            <p:nvPr/>
          </p:nvSpPr>
          <p:spPr>
            <a:xfrm>
              <a:off x="0" y="-38100"/>
              <a:ext cx="6858000" cy="2159508"/>
            </a:xfrm>
            <a:prstGeom prst="rect">
              <a:avLst/>
            </a:prstGeom>
          </p:spPr>
          <p:txBody>
            <a:bodyPr anchor="ctr" rtlCol="false" tIns="0" lIns="0" bIns="0" rIns="0"/>
            <a:lstStyle/>
            <a:p>
              <a:pPr algn="ctr">
                <a:lnSpc>
                  <a:spcPts val="2250"/>
                </a:lnSpc>
              </a:pPr>
              <a:r>
                <a:rPr lang="en-US" sz="1875">
                  <a:solidFill>
                    <a:srgbClr val="6B7280"/>
                  </a:solidFill>
                  <a:latin typeface="Calibri (MS)"/>
                  <a:ea typeface="Calibri (MS)"/>
                  <a:cs typeface="Calibri (MS)"/>
                  <a:sym typeface="Calibri (MS)"/>
                </a:rPr>
                <a:t>Critical Infra. Protection</a:t>
              </a:r>
            </a:p>
          </p:txBody>
        </p:sp>
      </p:grpSp>
      <p:grpSp>
        <p:nvGrpSpPr>
          <p:cNvPr name="Group 53" id="53"/>
          <p:cNvGrpSpPr/>
          <p:nvPr/>
        </p:nvGrpSpPr>
        <p:grpSpPr>
          <a:xfrm rot="0">
            <a:off x="12124944" y="6446520"/>
            <a:ext cx="5143500" cy="329184"/>
            <a:chOff x="0" y="0"/>
            <a:chExt cx="6858000" cy="438912"/>
          </a:xfrm>
        </p:grpSpPr>
        <p:sp>
          <p:nvSpPr>
            <p:cNvPr name="Freeform 54" id="54"/>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55" id="55"/>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9AA3B8"/>
                  </a:solidFill>
                  <a:latin typeface="Arimo"/>
                  <a:ea typeface="Arimo"/>
                  <a:cs typeface="Arimo"/>
                  <a:sym typeface="Arimo"/>
                </a:rPr>
                <a:t>CII</a:t>
              </a:r>
            </a:p>
          </p:txBody>
        </p:sp>
      </p:grpSp>
      <p:grpSp>
        <p:nvGrpSpPr>
          <p:cNvPr name="Group 56" id="56"/>
          <p:cNvGrpSpPr/>
          <p:nvPr/>
        </p:nvGrpSpPr>
        <p:grpSpPr>
          <a:xfrm rot="0">
            <a:off x="950595" y="7328535"/>
            <a:ext cx="16341090" cy="1596390"/>
            <a:chOff x="0" y="0"/>
            <a:chExt cx="21788120" cy="2128520"/>
          </a:xfrm>
        </p:grpSpPr>
        <p:sp>
          <p:nvSpPr>
            <p:cNvPr name="Freeform 57" id="57"/>
            <p:cNvSpPr/>
            <p:nvPr/>
          </p:nvSpPr>
          <p:spPr>
            <a:xfrm flipH="false" flipV="false" rot="0">
              <a:off x="0" y="0"/>
              <a:ext cx="21788120" cy="2128520"/>
            </a:xfrm>
            <a:custGeom>
              <a:avLst/>
              <a:gdLst/>
              <a:ahLst/>
              <a:cxnLst/>
              <a:rect r="r" b="b" t="t" l="l"/>
              <a:pathLst>
                <a:path h="2128520" w="21788120">
                  <a:moveTo>
                    <a:pt x="0" y="185039"/>
                  </a:moveTo>
                  <a:cubicBezTo>
                    <a:pt x="0" y="82931"/>
                    <a:pt x="82931" y="0"/>
                    <a:pt x="185039" y="0"/>
                  </a:cubicBezTo>
                  <a:lnTo>
                    <a:pt x="21603081" y="0"/>
                  </a:lnTo>
                  <a:cubicBezTo>
                    <a:pt x="21705317" y="0"/>
                    <a:pt x="21788120" y="82931"/>
                    <a:pt x="21788120" y="185039"/>
                  </a:cubicBezTo>
                  <a:lnTo>
                    <a:pt x="21788120" y="1943481"/>
                  </a:lnTo>
                  <a:cubicBezTo>
                    <a:pt x="21788120" y="2045716"/>
                    <a:pt x="21705190" y="2128520"/>
                    <a:pt x="21603081" y="2128520"/>
                  </a:cubicBezTo>
                  <a:lnTo>
                    <a:pt x="185039" y="2128520"/>
                  </a:lnTo>
                  <a:cubicBezTo>
                    <a:pt x="82931" y="2128520"/>
                    <a:pt x="0" y="2045589"/>
                    <a:pt x="0" y="1943481"/>
                  </a:cubicBezTo>
                  <a:close/>
                </a:path>
              </a:pathLst>
            </a:custGeom>
            <a:solidFill>
              <a:srgbClr val="FBF9F4"/>
            </a:solidFill>
            <a:ln w="19050" cap="sq">
              <a:solidFill>
                <a:srgbClr val="EFE6D2"/>
              </a:solidFill>
              <a:prstDash val="solid"/>
              <a:miter/>
            </a:ln>
          </p:spPr>
        </p:sp>
      </p:grpSp>
      <p:sp>
        <p:nvSpPr>
          <p:cNvPr name="TextBox 58" id="58"/>
          <p:cNvSpPr txBox="true"/>
          <p:nvPr/>
        </p:nvSpPr>
        <p:spPr>
          <a:xfrm rot="0">
            <a:off x="1463040" y="7494270"/>
            <a:ext cx="15316200" cy="1238250"/>
          </a:xfrm>
          <a:prstGeom prst="rect">
            <a:avLst/>
          </a:prstGeom>
        </p:spPr>
        <p:txBody>
          <a:bodyPr anchor="t" rtlCol="false" tIns="0" lIns="0" bIns="0" rIns="0">
            <a:spAutoFit/>
          </a:bodyPr>
          <a:lstStyle/>
          <a:p>
            <a:pPr algn="l">
              <a:lnSpc>
                <a:spcPts val="2764"/>
              </a:lnSpc>
            </a:pPr>
            <a:r>
              <a:rPr lang="en-US" sz="1800">
                <a:solidFill>
                  <a:srgbClr val="23262F"/>
                </a:solidFill>
                <a:latin typeface="Calibri (MS)"/>
                <a:ea typeface="Calibri (MS)"/>
                <a:cs typeface="Calibri (MS)"/>
                <a:sym typeface="Calibri (MS)"/>
              </a:rPr>
              <a:t>RA 10173's implementing rules (NPC Circular 16-03) set a 72-hour window from the moment the breach is known or reasonably believed to have occurred — with a fuller report due within 5 days after.</a:t>
            </a:r>
          </a:p>
        </p:txBody>
      </p:sp>
      <p:grpSp>
        <p:nvGrpSpPr>
          <p:cNvPr name="Group 59" id="59"/>
          <p:cNvGrpSpPr/>
          <p:nvPr/>
        </p:nvGrpSpPr>
        <p:grpSpPr>
          <a:xfrm rot="0">
            <a:off x="685800" y="9710928"/>
            <a:ext cx="10972800" cy="411480"/>
            <a:chOff x="0" y="0"/>
            <a:chExt cx="14630400" cy="548640"/>
          </a:xfrm>
        </p:grpSpPr>
        <p:sp>
          <p:nvSpPr>
            <p:cNvPr name="Freeform 60" id="60"/>
            <p:cNvSpPr/>
            <p:nvPr/>
          </p:nvSpPr>
          <p:spPr>
            <a:xfrm flipH="false" flipV="false" rot="0">
              <a:off x="0" y="0"/>
              <a:ext cx="14630400" cy="548640"/>
            </a:xfrm>
            <a:custGeom>
              <a:avLst/>
              <a:gdLst/>
              <a:ahLst/>
              <a:cxnLst/>
              <a:rect r="r" b="b" t="t" l="l"/>
              <a:pathLst>
                <a:path h="548640" w="14630400">
                  <a:moveTo>
                    <a:pt x="0" y="0"/>
                  </a:moveTo>
                  <a:lnTo>
                    <a:pt x="14630400" y="0"/>
                  </a:lnTo>
                  <a:lnTo>
                    <a:pt x="14630400" y="548640"/>
                  </a:lnTo>
                  <a:lnTo>
                    <a:pt x="0" y="548640"/>
                  </a:lnTo>
                  <a:close/>
                </a:path>
              </a:pathLst>
            </a:custGeom>
            <a:blipFill>
              <a:blip r:embed="rId2">
                <a:alphaModFix amt="0"/>
              </a:blip>
              <a:stretch>
                <a:fillRect l="0" t="-469601" r="0" b="-469601"/>
              </a:stretch>
            </a:blipFill>
          </p:spPr>
        </p:sp>
        <p:sp>
          <p:nvSpPr>
            <p:cNvPr name="TextBox 61" id="61"/>
            <p:cNvSpPr txBox="true"/>
            <p:nvPr/>
          </p:nvSpPr>
          <p:spPr>
            <a:xfrm>
              <a:off x="0" y="-38100"/>
              <a:ext cx="14630400" cy="586740"/>
            </a:xfrm>
            <a:prstGeom prst="rect">
              <a:avLst/>
            </a:prstGeom>
          </p:spPr>
          <p:txBody>
            <a:bodyPr anchor="ctr" rtlCol="false" tIns="0" lIns="0" bIns="0" rIns="0"/>
            <a:lstStyle/>
            <a:p>
              <a:pPr algn="l">
                <a:lnSpc>
                  <a:spcPts val="1800"/>
                </a:lnSpc>
              </a:pPr>
              <a:r>
                <a:rPr lang="en-US" sz="1500">
                  <a:solidFill>
                    <a:srgbClr val="6B7280"/>
                  </a:solidFill>
                  <a:latin typeface="Calibri (MS)"/>
                  <a:ea typeface="Calibri (MS)"/>
                  <a:cs typeface="Calibri (MS)"/>
                  <a:sym typeface="Calibri (MS)"/>
                </a:rPr>
                <a:t>Davao del Norte Provincial Government — Cybersecurity Seminar</a:t>
              </a:r>
            </a:p>
          </p:txBody>
        </p:sp>
      </p:grpSp>
      <p:grpSp>
        <p:nvGrpSpPr>
          <p:cNvPr name="Group 62" id="62"/>
          <p:cNvGrpSpPr/>
          <p:nvPr/>
        </p:nvGrpSpPr>
        <p:grpSpPr>
          <a:xfrm rot="0">
            <a:off x="16911828" y="9710928"/>
            <a:ext cx="685800" cy="411480"/>
            <a:chOff x="0" y="0"/>
            <a:chExt cx="914400" cy="548640"/>
          </a:xfrm>
        </p:grpSpPr>
        <p:sp>
          <p:nvSpPr>
            <p:cNvPr name="Freeform 63" id="63"/>
            <p:cNvSpPr/>
            <p:nvPr/>
          </p:nvSpPr>
          <p:spPr>
            <a:xfrm flipH="false" flipV="false" rot="0">
              <a:off x="0" y="0"/>
              <a:ext cx="914400" cy="548640"/>
            </a:xfrm>
            <a:custGeom>
              <a:avLst/>
              <a:gdLst/>
              <a:ahLst/>
              <a:cxnLst/>
              <a:rect r="r" b="b" t="t" l="l"/>
              <a:pathLst>
                <a:path h="548640" w="914400">
                  <a:moveTo>
                    <a:pt x="0" y="0"/>
                  </a:moveTo>
                  <a:lnTo>
                    <a:pt x="914400" y="0"/>
                  </a:lnTo>
                  <a:lnTo>
                    <a:pt x="914400" y="548640"/>
                  </a:lnTo>
                  <a:lnTo>
                    <a:pt x="0" y="548640"/>
                  </a:lnTo>
                  <a:close/>
                </a:path>
              </a:pathLst>
            </a:custGeom>
            <a:blipFill>
              <a:blip r:embed="rId2">
                <a:alphaModFix amt="0"/>
              </a:blip>
              <a:stretch>
                <a:fillRect l="-26982" t="0" r="-26982" b="0"/>
              </a:stretch>
            </a:blipFill>
          </p:spPr>
        </p:sp>
        <p:sp>
          <p:nvSpPr>
            <p:cNvPr name="TextBox 64" id="64"/>
            <p:cNvSpPr txBox="true"/>
            <p:nvPr/>
          </p:nvSpPr>
          <p:spPr>
            <a:xfrm>
              <a:off x="0" y="-38100"/>
              <a:ext cx="914400" cy="586740"/>
            </a:xfrm>
            <a:prstGeom prst="rect">
              <a:avLst/>
            </a:prstGeom>
          </p:spPr>
          <p:txBody>
            <a:bodyPr anchor="ctr" rtlCol="false" tIns="0" lIns="0" bIns="0" rIns="0"/>
            <a:lstStyle/>
            <a:p>
              <a:pPr algn="r">
                <a:lnSpc>
                  <a:spcPts val="1800"/>
                </a:lnSpc>
              </a:pPr>
              <a:r>
                <a:rPr lang="en-US" sz="1500">
                  <a:solidFill>
                    <a:srgbClr val="6B7280"/>
                  </a:solidFill>
                  <a:latin typeface="Calibri (MS)"/>
                  <a:ea typeface="Calibri (MS)"/>
                  <a:cs typeface="Calibri (MS)"/>
                  <a:sym typeface="Calibri (MS)"/>
                </a:rPr>
                <a:t>28</a:t>
              </a:r>
            </a:p>
          </p:txBody>
        </p:sp>
      </p:grpSp>
    </p:spTree>
  </p:cSld>
  <p:clrMapOvr>
    <a:masterClrMapping/>
  </p:clrMapOvr>
</p:sld>
</file>

<file path=ppt/slides/slide14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60120" y="685800"/>
            <a:ext cx="13716000" cy="411480"/>
            <a:chOff x="0" y="0"/>
            <a:chExt cx="18288000" cy="548640"/>
          </a:xfrm>
        </p:grpSpPr>
        <p:sp>
          <p:nvSpPr>
            <p:cNvPr name="Freeform 3" id="3"/>
            <p:cNvSpPr/>
            <p:nvPr/>
          </p:nvSpPr>
          <p:spPr>
            <a:xfrm flipH="false" flipV="false" rot="0">
              <a:off x="0" y="0"/>
              <a:ext cx="18288000" cy="548640"/>
            </a:xfrm>
            <a:custGeom>
              <a:avLst/>
              <a:gdLst/>
              <a:ahLst/>
              <a:cxnLst/>
              <a:rect r="r" b="b" t="t" l="l"/>
              <a:pathLst>
                <a:path h="548640" w="18288000">
                  <a:moveTo>
                    <a:pt x="0" y="0"/>
                  </a:moveTo>
                  <a:lnTo>
                    <a:pt x="18288000" y="0"/>
                  </a:lnTo>
                  <a:lnTo>
                    <a:pt x="18288000" y="548640"/>
                  </a:lnTo>
                  <a:lnTo>
                    <a:pt x="0" y="548640"/>
                  </a:lnTo>
                  <a:close/>
                </a:path>
              </a:pathLst>
            </a:custGeom>
            <a:blipFill>
              <a:blip r:embed="rId2">
                <a:alphaModFix amt="0"/>
              </a:blip>
              <a:stretch>
                <a:fillRect l="0" t="-599501" r="0" b="-599501"/>
              </a:stretch>
            </a:blipFill>
          </p:spPr>
        </p:sp>
        <p:sp>
          <p:nvSpPr>
            <p:cNvPr name="TextBox 4" id="4"/>
            <p:cNvSpPr txBox="true"/>
            <p:nvPr/>
          </p:nvSpPr>
          <p:spPr>
            <a:xfrm>
              <a:off x="0" y="-38100"/>
              <a:ext cx="18288000" cy="586740"/>
            </a:xfrm>
            <a:prstGeom prst="rect">
              <a:avLst/>
            </a:prstGeom>
          </p:spPr>
          <p:txBody>
            <a:bodyPr anchor="ctr" rtlCol="false" tIns="0" lIns="0" bIns="0" rIns="0"/>
            <a:lstStyle/>
            <a:p>
              <a:pPr algn="l">
                <a:lnSpc>
                  <a:spcPts val="2160"/>
                </a:lnSpc>
              </a:pPr>
              <a:r>
                <a:rPr lang="en-US" b="true" sz="1800" spc="225">
                  <a:solidFill>
                    <a:srgbClr val="00B4D8"/>
                  </a:solidFill>
                  <a:latin typeface="Calibri (MS) Bold"/>
                  <a:ea typeface="Calibri (MS) Bold"/>
                  <a:cs typeface="Calibri (MS) Bold"/>
                  <a:sym typeface="Calibri (MS) Bold"/>
                </a:rPr>
                <a:t>PH CYBER LAW SORT · SCENARIO</a:t>
              </a:r>
            </a:p>
          </p:txBody>
        </p:sp>
      </p:grpSp>
      <p:grpSp>
        <p:nvGrpSpPr>
          <p:cNvPr name="Group 5" id="5"/>
          <p:cNvGrpSpPr/>
          <p:nvPr/>
        </p:nvGrpSpPr>
        <p:grpSpPr>
          <a:xfrm rot="0">
            <a:off x="960120" y="1069848"/>
            <a:ext cx="10972800" cy="822960"/>
            <a:chOff x="0" y="0"/>
            <a:chExt cx="14630400" cy="1097280"/>
          </a:xfrm>
        </p:grpSpPr>
        <p:sp>
          <p:nvSpPr>
            <p:cNvPr name="Freeform 6" id="6"/>
            <p:cNvSpPr/>
            <p:nvPr/>
          </p:nvSpPr>
          <p:spPr>
            <a:xfrm flipH="false" flipV="false" rot="0">
              <a:off x="0" y="0"/>
              <a:ext cx="14630400" cy="1097280"/>
            </a:xfrm>
            <a:custGeom>
              <a:avLst/>
              <a:gdLst/>
              <a:ahLst/>
              <a:cxnLst/>
              <a:rect r="r" b="b" t="t" l="l"/>
              <a:pathLst>
                <a:path h="1097280" w="14630400">
                  <a:moveTo>
                    <a:pt x="0" y="0"/>
                  </a:moveTo>
                  <a:lnTo>
                    <a:pt x="14630400" y="0"/>
                  </a:lnTo>
                  <a:lnTo>
                    <a:pt x="14630400" y="1097280"/>
                  </a:lnTo>
                  <a:lnTo>
                    <a:pt x="0" y="1097280"/>
                  </a:lnTo>
                  <a:close/>
                </a:path>
              </a:pathLst>
            </a:custGeom>
            <a:blipFill>
              <a:blip r:embed="rId2">
                <a:alphaModFix amt="0"/>
              </a:blip>
              <a:stretch>
                <a:fillRect l="0" t="-209800" r="0" b="-209800"/>
              </a:stretch>
            </a:blipFill>
          </p:spPr>
        </p:sp>
        <p:sp>
          <p:nvSpPr>
            <p:cNvPr name="TextBox 7" id="7"/>
            <p:cNvSpPr txBox="true"/>
            <p:nvPr/>
          </p:nvSpPr>
          <p:spPr>
            <a:xfrm>
              <a:off x="0" y="0"/>
              <a:ext cx="14630400" cy="1097280"/>
            </a:xfrm>
            <a:prstGeom prst="rect">
              <a:avLst/>
            </a:prstGeom>
          </p:spPr>
          <p:txBody>
            <a:bodyPr anchor="ctr" rtlCol="false" tIns="0" lIns="0" bIns="0" rIns="0"/>
            <a:lstStyle/>
            <a:p>
              <a:pPr algn="l">
                <a:lnSpc>
                  <a:spcPts val="4680"/>
                </a:lnSpc>
              </a:pPr>
              <a:r>
                <a:rPr lang="en-US" sz="3900" b="true">
                  <a:solidFill>
                    <a:srgbClr val="1E2761"/>
                  </a:solidFill>
                  <a:latin typeface="Cambria Bold"/>
                  <a:ea typeface="Cambria Bold"/>
                  <a:cs typeface="Cambria Bold"/>
                  <a:sym typeface="Cambria Bold"/>
                </a:rPr>
                <a:t>Scenario 10</a:t>
              </a:r>
            </a:p>
          </p:txBody>
        </p:sp>
      </p:grpSp>
      <p:grpSp>
        <p:nvGrpSpPr>
          <p:cNvPr name="Group 8" id="8"/>
          <p:cNvGrpSpPr/>
          <p:nvPr/>
        </p:nvGrpSpPr>
        <p:grpSpPr>
          <a:xfrm rot="0">
            <a:off x="960120" y="1810512"/>
            <a:ext cx="8229600" cy="411480"/>
            <a:chOff x="0" y="0"/>
            <a:chExt cx="10972800" cy="548640"/>
          </a:xfrm>
        </p:grpSpPr>
        <p:sp>
          <p:nvSpPr>
            <p:cNvPr name="Freeform 9" id="9"/>
            <p:cNvSpPr/>
            <p:nvPr/>
          </p:nvSpPr>
          <p:spPr>
            <a:xfrm flipH="false" flipV="false" rot="0">
              <a:off x="0" y="0"/>
              <a:ext cx="10972800" cy="548640"/>
            </a:xfrm>
            <a:custGeom>
              <a:avLst/>
              <a:gdLst/>
              <a:ahLst/>
              <a:cxnLst/>
              <a:rect r="r" b="b" t="t" l="l"/>
              <a:pathLst>
                <a:path h="548640" w="10972800">
                  <a:moveTo>
                    <a:pt x="0" y="0"/>
                  </a:moveTo>
                  <a:lnTo>
                    <a:pt x="10972800" y="0"/>
                  </a:lnTo>
                  <a:lnTo>
                    <a:pt x="10972800" y="548640"/>
                  </a:lnTo>
                  <a:lnTo>
                    <a:pt x="0" y="548640"/>
                  </a:lnTo>
                  <a:close/>
                </a:path>
              </a:pathLst>
            </a:custGeom>
            <a:blipFill>
              <a:blip r:embed="rId2">
                <a:alphaModFix amt="0"/>
              </a:blip>
              <a:stretch>
                <a:fillRect l="0" t="-339700" r="0" b="-339700"/>
              </a:stretch>
            </a:blipFill>
          </p:spPr>
        </p:sp>
        <p:sp>
          <p:nvSpPr>
            <p:cNvPr name="TextBox 10" id="10"/>
            <p:cNvSpPr txBox="true"/>
            <p:nvPr/>
          </p:nvSpPr>
          <p:spPr>
            <a:xfrm>
              <a:off x="0" y="-28575"/>
              <a:ext cx="10972800" cy="577215"/>
            </a:xfrm>
            <a:prstGeom prst="rect">
              <a:avLst/>
            </a:prstGeom>
          </p:spPr>
          <p:txBody>
            <a:bodyPr anchor="ctr" rtlCol="false" tIns="0" lIns="0" bIns="0" rIns="0"/>
            <a:lstStyle/>
            <a:p>
              <a:pPr algn="l">
                <a:lnSpc>
                  <a:spcPts val="1980"/>
                </a:lnSpc>
              </a:pPr>
              <a:r>
                <a:rPr lang="en-US" sz="1650">
                  <a:solidFill>
                    <a:srgbClr val="6B7280"/>
                  </a:solidFill>
                  <a:latin typeface="Calibri (MS)"/>
                  <a:ea typeface="Calibri (MS)"/>
                  <a:cs typeface="Calibri (MS)"/>
                  <a:sym typeface="Calibri (MS)"/>
                </a:rPr>
                <a:t>10 of 15</a:t>
              </a:r>
            </a:p>
          </p:txBody>
        </p:sp>
      </p:grpSp>
      <p:grpSp>
        <p:nvGrpSpPr>
          <p:cNvPr name="Group 11" id="11"/>
          <p:cNvGrpSpPr/>
          <p:nvPr/>
        </p:nvGrpSpPr>
        <p:grpSpPr>
          <a:xfrm rot="0">
            <a:off x="960120" y="2537460"/>
            <a:ext cx="16322040" cy="2811780"/>
            <a:chOff x="0" y="0"/>
            <a:chExt cx="21762720" cy="3749040"/>
          </a:xfrm>
        </p:grpSpPr>
        <p:sp>
          <p:nvSpPr>
            <p:cNvPr name="Freeform 12" id="12"/>
            <p:cNvSpPr/>
            <p:nvPr/>
          </p:nvSpPr>
          <p:spPr>
            <a:xfrm flipH="false" flipV="false" rot="0">
              <a:off x="0" y="0"/>
              <a:ext cx="21762720" cy="3749040"/>
            </a:xfrm>
            <a:custGeom>
              <a:avLst/>
              <a:gdLst/>
              <a:ahLst/>
              <a:cxnLst/>
              <a:rect r="r" b="b" t="t" l="l"/>
              <a:pathLst>
                <a:path h="3749040" w="21762720">
                  <a:moveTo>
                    <a:pt x="0" y="182880"/>
                  </a:moveTo>
                  <a:cubicBezTo>
                    <a:pt x="0" y="81915"/>
                    <a:pt x="81915" y="0"/>
                    <a:pt x="182880" y="0"/>
                  </a:cubicBezTo>
                  <a:lnTo>
                    <a:pt x="21579839" y="0"/>
                  </a:lnTo>
                  <a:cubicBezTo>
                    <a:pt x="21680804" y="0"/>
                    <a:pt x="21762720" y="81915"/>
                    <a:pt x="21762720" y="182880"/>
                  </a:cubicBezTo>
                  <a:lnTo>
                    <a:pt x="21762720" y="3566160"/>
                  </a:lnTo>
                  <a:cubicBezTo>
                    <a:pt x="21762720" y="3667125"/>
                    <a:pt x="21680804" y="3749040"/>
                    <a:pt x="21579839" y="3749040"/>
                  </a:cubicBezTo>
                  <a:lnTo>
                    <a:pt x="182880" y="3749040"/>
                  </a:lnTo>
                  <a:cubicBezTo>
                    <a:pt x="81915" y="3749040"/>
                    <a:pt x="0" y="3667125"/>
                    <a:pt x="0" y="3566160"/>
                  </a:cubicBezTo>
                  <a:close/>
                </a:path>
              </a:pathLst>
            </a:custGeom>
            <a:solidFill>
              <a:srgbClr val="F4F7FC"/>
            </a:solidFill>
          </p:spPr>
        </p:sp>
      </p:grpSp>
      <p:grpSp>
        <p:nvGrpSpPr>
          <p:cNvPr name="Group 13" id="13"/>
          <p:cNvGrpSpPr/>
          <p:nvPr/>
        </p:nvGrpSpPr>
        <p:grpSpPr>
          <a:xfrm rot="0">
            <a:off x="1440180" y="2811780"/>
            <a:ext cx="15361920" cy="2263140"/>
            <a:chOff x="0" y="0"/>
            <a:chExt cx="20482560" cy="3017520"/>
          </a:xfrm>
        </p:grpSpPr>
        <p:sp>
          <p:nvSpPr>
            <p:cNvPr name="Freeform 14" id="14"/>
            <p:cNvSpPr/>
            <p:nvPr/>
          </p:nvSpPr>
          <p:spPr>
            <a:xfrm flipH="false" flipV="false" rot="0">
              <a:off x="0" y="0"/>
              <a:ext cx="20482561" cy="3017520"/>
            </a:xfrm>
            <a:custGeom>
              <a:avLst/>
              <a:gdLst/>
              <a:ahLst/>
              <a:cxnLst/>
              <a:rect r="r" b="b" t="t" l="l"/>
              <a:pathLst>
                <a:path h="3017520" w="20482561">
                  <a:moveTo>
                    <a:pt x="0" y="0"/>
                  </a:moveTo>
                  <a:lnTo>
                    <a:pt x="20482561" y="0"/>
                  </a:lnTo>
                  <a:lnTo>
                    <a:pt x="20482561" y="3017520"/>
                  </a:lnTo>
                  <a:lnTo>
                    <a:pt x="0" y="3017520"/>
                  </a:lnTo>
                  <a:close/>
                </a:path>
              </a:pathLst>
            </a:custGeom>
            <a:blipFill>
              <a:blip r:embed="rId2">
                <a:alphaModFix amt="0"/>
              </a:blip>
              <a:stretch>
                <a:fillRect l="0" t="-82262" r="0" b="-82262"/>
              </a:stretch>
            </a:blipFill>
          </p:spPr>
        </p:sp>
        <p:sp>
          <p:nvSpPr>
            <p:cNvPr name="TextBox 15" id="15"/>
            <p:cNvSpPr txBox="true"/>
            <p:nvPr/>
          </p:nvSpPr>
          <p:spPr>
            <a:xfrm>
              <a:off x="0" y="-104775"/>
              <a:ext cx="20482560" cy="3122295"/>
            </a:xfrm>
            <a:prstGeom prst="rect">
              <a:avLst/>
            </a:prstGeom>
          </p:spPr>
          <p:txBody>
            <a:bodyPr anchor="ctr" rtlCol="false" tIns="0" lIns="0" bIns="0" rIns="0"/>
            <a:lstStyle/>
            <a:p>
              <a:pPr algn="l">
                <a:lnSpc>
                  <a:spcPts val="4147"/>
                </a:lnSpc>
              </a:pPr>
              <a:r>
                <a:rPr lang="en-US" sz="2700" i="true">
                  <a:solidFill>
                    <a:srgbClr val="23262F"/>
                  </a:solidFill>
                  <a:latin typeface="Cambria Italics"/>
                  <a:ea typeface="Cambria Italics"/>
                  <a:cs typeface="Cambria Italics"/>
                  <a:sym typeface="Cambria Italics"/>
                </a:rPr>
                <a:t>"The province needs to formally designate someone accountable for privacy compliance across every department."</a:t>
              </a:r>
            </a:p>
          </p:txBody>
        </p:sp>
      </p:grpSp>
      <p:sp>
        <p:nvSpPr>
          <p:cNvPr name="TextBox 16" id="16"/>
          <p:cNvSpPr txBox="true"/>
          <p:nvPr/>
        </p:nvSpPr>
        <p:spPr>
          <a:xfrm rot="0">
            <a:off x="1051560" y="5604510"/>
            <a:ext cx="16139160" cy="864870"/>
          </a:xfrm>
          <a:prstGeom prst="rect">
            <a:avLst/>
          </a:prstGeom>
        </p:spPr>
        <p:txBody>
          <a:bodyPr anchor="t" rtlCol="false" tIns="0" lIns="0" bIns="0" rIns="0">
            <a:spAutoFit/>
          </a:bodyPr>
          <a:lstStyle/>
          <a:p>
            <a:pPr algn="ctr">
              <a:lnSpc>
                <a:spcPts val="3402"/>
              </a:lnSpc>
            </a:pPr>
            <a:r>
              <a:rPr lang="en-US" sz="2100" i="true">
                <a:solidFill>
                  <a:srgbClr val="6B7280"/>
                </a:solidFill>
                <a:latin typeface="Calibri (MS) Italics"/>
                <a:ea typeface="Calibri (MS) Italics"/>
                <a:cs typeface="Calibri (MS) Italics"/>
                <a:sym typeface="Calibri (MS) Italics"/>
              </a:rPr>
              <a:t>Which law or DICT issuance governs this? Discuss, then we'll reveal the answer.</a:t>
            </a:r>
          </a:p>
        </p:txBody>
      </p:sp>
      <p:grpSp>
        <p:nvGrpSpPr>
          <p:cNvPr name="Group 17" id="17"/>
          <p:cNvGrpSpPr/>
          <p:nvPr/>
        </p:nvGrpSpPr>
        <p:grpSpPr>
          <a:xfrm rot="0">
            <a:off x="950595" y="6779895"/>
            <a:ext cx="5162550" cy="910590"/>
            <a:chOff x="0" y="0"/>
            <a:chExt cx="6883400" cy="1214120"/>
          </a:xfrm>
        </p:grpSpPr>
        <p:sp>
          <p:nvSpPr>
            <p:cNvPr name="Freeform 18" id="18"/>
            <p:cNvSpPr/>
            <p:nvPr/>
          </p:nvSpPr>
          <p:spPr>
            <a:xfrm flipH="false" flipV="false" rot="0">
              <a:off x="0" y="0"/>
              <a:ext cx="6883400" cy="1214120"/>
            </a:xfrm>
            <a:custGeom>
              <a:avLst/>
              <a:gdLst/>
              <a:ahLst/>
              <a:cxnLst/>
              <a:rect r="r" b="b" t="t" l="l"/>
              <a:pathLst>
                <a:path h="1214120" w="6883400">
                  <a:moveTo>
                    <a:pt x="0" y="168148"/>
                  </a:moveTo>
                  <a:cubicBezTo>
                    <a:pt x="0" y="75311"/>
                    <a:pt x="75311" y="0"/>
                    <a:pt x="168148" y="0"/>
                  </a:cubicBezTo>
                  <a:lnTo>
                    <a:pt x="6715252" y="0"/>
                  </a:lnTo>
                  <a:cubicBezTo>
                    <a:pt x="6808089" y="0"/>
                    <a:pt x="6883400" y="75311"/>
                    <a:pt x="6883400" y="168148"/>
                  </a:cubicBezTo>
                  <a:lnTo>
                    <a:pt x="6883400" y="1045972"/>
                  </a:lnTo>
                  <a:cubicBezTo>
                    <a:pt x="6883400" y="1138809"/>
                    <a:pt x="6808089" y="1214120"/>
                    <a:pt x="6715252" y="1214120"/>
                  </a:cubicBezTo>
                  <a:lnTo>
                    <a:pt x="168148" y="1214120"/>
                  </a:lnTo>
                  <a:cubicBezTo>
                    <a:pt x="75311" y="1214120"/>
                    <a:pt x="0" y="1138809"/>
                    <a:pt x="0" y="1045972"/>
                  </a:cubicBezTo>
                  <a:close/>
                </a:path>
              </a:pathLst>
            </a:custGeom>
            <a:solidFill>
              <a:srgbClr val="F4F7FC"/>
            </a:solidFill>
            <a:ln w="19050" cap="sq">
              <a:solidFill>
                <a:srgbClr val="D7DCEC"/>
              </a:solidFill>
              <a:prstDash val="solid"/>
              <a:miter/>
            </a:ln>
          </p:spPr>
        </p:sp>
      </p:grpSp>
      <p:grpSp>
        <p:nvGrpSpPr>
          <p:cNvPr name="Group 19" id="19"/>
          <p:cNvGrpSpPr/>
          <p:nvPr/>
        </p:nvGrpSpPr>
        <p:grpSpPr>
          <a:xfrm rot="0">
            <a:off x="960120" y="6858000"/>
            <a:ext cx="5143500" cy="589788"/>
            <a:chOff x="0" y="0"/>
            <a:chExt cx="6858000" cy="786384"/>
          </a:xfrm>
        </p:grpSpPr>
        <p:sp>
          <p:nvSpPr>
            <p:cNvPr name="Freeform 20" id="20"/>
            <p:cNvSpPr/>
            <p:nvPr/>
          </p:nvSpPr>
          <p:spPr>
            <a:xfrm flipH="false" flipV="false" rot="0">
              <a:off x="0" y="0"/>
              <a:ext cx="6858000" cy="786384"/>
            </a:xfrm>
            <a:custGeom>
              <a:avLst/>
              <a:gdLst/>
              <a:ahLst/>
              <a:cxnLst/>
              <a:rect r="r" b="b" t="t" l="l"/>
              <a:pathLst>
                <a:path h="786384" w="6858000">
                  <a:moveTo>
                    <a:pt x="0" y="0"/>
                  </a:moveTo>
                  <a:lnTo>
                    <a:pt x="6858000" y="0"/>
                  </a:lnTo>
                  <a:lnTo>
                    <a:pt x="6858000" y="786384"/>
                  </a:lnTo>
                  <a:lnTo>
                    <a:pt x="0" y="786384"/>
                  </a:lnTo>
                  <a:close/>
                </a:path>
              </a:pathLst>
            </a:custGeom>
            <a:blipFill>
              <a:blip r:embed="rId2">
                <a:alphaModFix amt="0"/>
              </a:blip>
              <a:stretch>
                <a:fillRect l="0" t="-119927" r="0" b="-119927"/>
              </a:stretch>
            </a:blipFill>
          </p:spPr>
        </p:sp>
        <p:sp>
          <p:nvSpPr>
            <p:cNvPr name="TextBox 21" id="21"/>
            <p:cNvSpPr txBox="true"/>
            <p:nvPr/>
          </p:nvSpPr>
          <p:spPr>
            <a:xfrm>
              <a:off x="0" y="-38100"/>
              <a:ext cx="6858000" cy="824484"/>
            </a:xfrm>
            <a:prstGeom prst="rect">
              <a:avLst/>
            </a:prstGeom>
          </p:spPr>
          <p:txBody>
            <a:bodyPr anchor="ctr" rtlCol="false" tIns="0" lIns="0" bIns="0" rIns="0"/>
            <a:lstStyle/>
            <a:p>
              <a:pPr algn="ctr">
                <a:lnSpc>
                  <a:spcPts val="2250"/>
                </a:lnSpc>
              </a:pPr>
              <a:r>
                <a:rPr lang="en-US" sz="1875">
                  <a:solidFill>
                    <a:srgbClr val="6B7280"/>
                  </a:solidFill>
                  <a:latin typeface="Calibri (MS)"/>
                  <a:ea typeface="Calibri (MS)"/>
                  <a:cs typeface="Calibri (MS)"/>
                  <a:sym typeface="Calibri (MS)"/>
                </a:rPr>
                <a:t>E-Commerce Act</a:t>
              </a:r>
            </a:p>
          </p:txBody>
        </p:sp>
      </p:grpSp>
      <p:grpSp>
        <p:nvGrpSpPr>
          <p:cNvPr name="Group 22" id="22"/>
          <p:cNvGrpSpPr/>
          <p:nvPr/>
        </p:nvGrpSpPr>
        <p:grpSpPr>
          <a:xfrm rot="0">
            <a:off x="960120" y="7296912"/>
            <a:ext cx="5143500" cy="329184"/>
            <a:chOff x="0" y="0"/>
            <a:chExt cx="6858000" cy="438912"/>
          </a:xfrm>
        </p:grpSpPr>
        <p:sp>
          <p:nvSpPr>
            <p:cNvPr name="Freeform 23" id="23"/>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24" id="24"/>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9AA3B8"/>
                  </a:solidFill>
                  <a:latin typeface="Arimo"/>
                  <a:ea typeface="Arimo"/>
                  <a:cs typeface="Arimo"/>
                  <a:sym typeface="Arimo"/>
                </a:rPr>
                <a:t>ECA</a:t>
              </a:r>
            </a:p>
          </p:txBody>
        </p:sp>
      </p:grpSp>
      <p:grpSp>
        <p:nvGrpSpPr>
          <p:cNvPr name="Group 25" id="25"/>
          <p:cNvGrpSpPr/>
          <p:nvPr/>
        </p:nvGrpSpPr>
        <p:grpSpPr>
          <a:xfrm rot="0">
            <a:off x="6533007" y="6779895"/>
            <a:ext cx="5162550" cy="910590"/>
            <a:chOff x="0" y="0"/>
            <a:chExt cx="6883400" cy="1214120"/>
          </a:xfrm>
        </p:grpSpPr>
        <p:sp>
          <p:nvSpPr>
            <p:cNvPr name="Freeform 26" id="26"/>
            <p:cNvSpPr/>
            <p:nvPr/>
          </p:nvSpPr>
          <p:spPr>
            <a:xfrm flipH="false" flipV="false" rot="0">
              <a:off x="0" y="0"/>
              <a:ext cx="6883400" cy="1214120"/>
            </a:xfrm>
            <a:custGeom>
              <a:avLst/>
              <a:gdLst/>
              <a:ahLst/>
              <a:cxnLst/>
              <a:rect r="r" b="b" t="t" l="l"/>
              <a:pathLst>
                <a:path h="1214120" w="6883400">
                  <a:moveTo>
                    <a:pt x="0" y="168148"/>
                  </a:moveTo>
                  <a:cubicBezTo>
                    <a:pt x="0" y="75311"/>
                    <a:pt x="75311" y="0"/>
                    <a:pt x="168148" y="0"/>
                  </a:cubicBezTo>
                  <a:lnTo>
                    <a:pt x="6715252" y="0"/>
                  </a:lnTo>
                  <a:cubicBezTo>
                    <a:pt x="6808089" y="0"/>
                    <a:pt x="6883400" y="75311"/>
                    <a:pt x="6883400" y="168148"/>
                  </a:cubicBezTo>
                  <a:lnTo>
                    <a:pt x="6883400" y="1045972"/>
                  </a:lnTo>
                  <a:cubicBezTo>
                    <a:pt x="6883400" y="1138809"/>
                    <a:pt x="6808089" y="1214120"/>
                    <a:pt x="6715252" y="1214120"/>
                  </a:cubicBezTo>
                  <a:lnTo>
                    <a:pt x="168148" y="1214120"/>
                  </a:lnTo>
                  <a:cubicBezTo>
                    <a:pt x="75311" y="1214120"/>
                    <a:pt x="0" y="1138809"/>
                    <a:pt x="0" y="1045972"/>
                  </a:cubicBezTo>
                  <a:close/>
                </a:path>
              </a:pathLst>
            </a:custGeom>
            <a:solidFill>
              <a:srgbClr val="F4F7FC"/>
            </a:solidFill>
            <a:ln w="19050" cap="sq">
              <a:solidFill>
                <a:srgbClr val="D7DCEC"/>
              </a:solidFill>
              <a:prstDash val="solid"/>
              <a:miter/>
            </a:ln>
          </p:spPr>
        </p:sp>
      </p:grpSp>
      <p:grpSp>
        <p:nvGrpSpPr>
          <p:cNvPr name="Group 27" id="27"/>
          <p:cNvGrpSpPr/>
          <p:nvPr/>
        </p:nvGrpSpPr>
        <p:grpSpPr>
          <a:xfrm rot="0">
            <a:off x="6542532" y="6858000"/>
            <a:ext cx="5143500" cy="589788"/>
            <a:chOff x="0" y="0"/>
            <a:chExt cx="6858000" cy="786384"/>
          </a:xfrm>
        </p:grpSpPr>
        <p:sp>
          <p:nvSpPr>
            <p:cNvPr name="Freeform 28" id="28"/>
            <p:cNvSpPr/>
            <p:nvPr/>
          </p:nvSpPr>
          <p:spPr>
            <a:xfrm flipH="false" flipV="false" rot="0">
              <a:off x="0" y="0"/>
              <a:ext cx="6858000" cy="786384"/>
            </a:xfrm>
            <a:custGeom>
              <a:avLst/>
              <a:gdLst/>
              <a:ahLst/>
              <a:cxnLst/>
              <a:rect r="r" b="b" t="t" l="l"/>
              <a:pathLst>
                <a:path h="786384" w="6858000">
                  <a:moveTo>
                    <a:pt x="0" y="0"/>
                  </a:moveTo>
                  <a:lnTo>
                    <a:pt x="6858000" y="0"/>
                  </a:lnTo>
                  <a:lnTo>
                    <a:pt x="6858000" y="786384"/>
                  </a:lnTo>
                  <a:lnTo>
                    <a:pt x="0" y="786384"/>
                  </a:lnTo>
                  <a:close/>
                </a:path>
              </a:pathLst>
            </a:custGeom>
            <a:blipFill>
              <a:blip r:embed="rId2">
                <a:alphaModFix amt="0"/>
              </a:blip>
              <a:stretch>
                <a:fillRect l="0" t="-119927" r="0" b="-119927"/>
              </a:stretch>
            </a:blipFill>
          </p:spPr>
        </p:sp>
        <p:sp>
          <p:nvSpPr>
            <p:cNvPr name="TextBox 29" id="29"/>
            <p:cNvSpPr txBox="true"/>
            <p:nvPr/>
          </p:nvSpPr>
          <p:spPr>
            <a:xfrm>
              <a:off x="0" y="-38100"/>
              <a:ext cx="6858000" cy="824484"/>
            </a:xfrm>
            <a:prstGeom prst="rect">
              <a:avLst/>
            </a:prstGeom>
          </p:spPr>
          <p:txBody>
            <a:bodyPr anchor="ctr" rtlCol="false" tIns="0" lIns="0" bIns="0" rIns="0"/>
            <a:lstStyle/>
            <a:p>
              <a:pPr algn="ctr">
                <a:lnSpc>
                  <a:spcPts val="2250"/>
                </a:lnSpc>
              </a:pPr>
              <a:r>
                <a:rPr lang="en-US" sz="1875">
                  <a:solidFill>
                    <a:srgbClr val="6B7280"/>
                  </a:solidFill>
                  <a:latin typeface="Calibri (MS)"/>
                  <a:ea typeface="Calibri (MS)"/>
                  <a:cs typeface="Calibri (MS)"/>
                  <a:sym typeface="Calibri (MS)"/>
                </a:rPr>
                <a:t>Cybercrime Act</a:t>
              </a:r>
            </a:p>
          </p:txBody>
        </p:sp>
      </p:grpSp>
      <p:grpSp>
        <p:nvGrpSpPr>
          <p:cNvPr name="Group 30" id="30"/>
          <p:cNvGrpSpPr/>
          <p:nvPr/>
        </p:nvGrpSpPr>
        <p:grpSpPr>
          <a:xfrm rot="0">
            <a:off x="6542532" y="7296912"/>
            <a:ext cx="5143500" cy="329184"/>
            <a:chOff x="0" y="0"/>
            <a:chExt cx="6858000" cy="438912"/>
          </a:xfrm>
        </p:grpSpPr>
        <p:sp>
          <p:nvSpPr>
            <p:cNvPr name="Freeform 31" id="31"/>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32" id="32"/>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9AA3B8"/>
                  </a:solidFill>
                  <a:latin typeface="Arimo"/>
                  <a:ea typeface="Arimo"/>
                  <a:cs typeface="Arimo"/>
                  <a:sym typeface="Arimo"/>
                </a:rPr>
                <a:t>CPA</a:t>
              </a:r>
            </a:p>
          </p:txBody>
        </p:sp>
      </p:grpSp>
      <p:grpSp>
        <p:nvGrpSpPr>
          <p:cNvPr name="Group 33" id="33"/>
          <p:cNvGrpSpPr/>
          <p:nvPr/>
        </p:nvGrpSpPr>
        <p:grpSpPr>
          <a:xfrm rot="0">
            <a:off x="950595" y="7945755"/>
            <a:ext cx="5162550" cy="910590"/>
            <a:chOff x="0" y="0"/>
            <a:chExt cx="6883400" cy="1214120"/>
          </a:xfrm>
        </p:grpSpPr>
        <p:sp>
          <p:nvSpPr>
            <p:cNvPr name="Freeform 34" id="34"/>
            <p:cNvSpPr/>
            <p:nvPr/>
          </p:nvSpPr>
          <p:spPr>
            <a:xfrm flipH="false" flipV="false" rot="0">
              <a:off x="0" y="0"/>
              <a:ext cx="6883400" cy="1214120"/>
            </a:xfrm>
            <a:custGeom>
              <a:avLst/>
              <a:gdLst/>
              <a:ahLst/>
              <a:cxnLst/>
              <a:rect r="r" b="b" t="t" l="l"/>
              <a:pathLst>
                <a:path h="1214120" w="6883400">
                  <a:moveTo>
                    <a:pt x="0" y="168148"/>
                  </a:moveTo>
                  <a:cubicBezTo>
                    <a:pt x="0" y="75311"/>
                    <a:pt x="75311" y="0"/>
                    <a:pt x="168148" y="0"/>
                  </a:cubicBezTo>
                  <a:lnTo>
                    <a:pt x="6715252" y="0"/>
                  </a:lnTo>
                  <a:cubicBezTo>
                    <a:pt x="6808089" y="0"/>
                    <a:pt x="6883400" y="75311"/>
                    <a:pt x="6883400" y="168148"/>
                  </a:cubicBezTo>
                  <a:lnTo>
                    <a:pt x="6883400" y="1045972"/>
                  </a:lnTo>
                  <a:cubicBezTo>
                    <a:pt x="6883400" y="1138809"/>
                    <a:pt x="6808089" y="1214120"/>
                    <a:pt x="6715252" y="1214120"/>
                  </a:cubicBezTo>
                  <a:lnTo>
                    <a:pt x="168148" y="1214120"/>
                  </a:lnTo>
                  <a:cubicBezTo>
                    <a:pt x="75311" y="1214120"/>
                    <a:pt x="0" y="1138809"/>
                    <a:pt x="0" y="1045972"/>
                  </a:cubicBezTo>
                  <a:close/>
                </a:path>
              </a:pathLst>
            </a:custGeom>
            <a:solidFill>
              <a:srgbClr val="F4F7FC"/>
            </a:solidFill>
            <a:ln w="19050" cap="sq">
              <a:solidFill>
                <a:srgbClr val="D7DCEC"/>
              </a:solidFill>
              <a:prstDash val="solid"/>
              <a:miter/>
            </a:ln>
          </p:spPr>
        </p:sp>
      </p:grpSp>
      <p:grpSp>
        <p:nvGrpSpPr>
          <p:cNvPr name="Group 35" id="35"/>
          <p:cNvGrpSpPr/>
          <p:nvPr/>
        </p:nvGrpSpPr>
        <p:grpSpPr>
          <a:xfrm rot="0">
            <a:off x="960120" y="8023860"/>
            <a:ext cx="5143500" cy="589788"/>
            <a:chOff x="0" y="0"/>
            <a:chExt cx="6858000" cy="786384"/>
          </a:xfrm>
        </p:grpSpPr>
        <p:sp>
          <p:nvSpPr>
            <p:cNvPr name="Freeform 36" id="36"/>
            <p:cNvSpPr/>
            <p:nvPr/>
          </p:nvSpPr>
          <p:spPr>
            <a:xfrm flipH="false" flipV="false" rot="0">
              <a:off x="0" y="0"/>
              <a:ext cx="6858000" cy="786384"/>
            </a:xfrm>
            <a:custGeom>
              <a:avLst/>
              <a:gdLst/>
              <a:ahLst/>
              <a:cxnLst/>
              <a:rect r="r" b="b" t="t" l="l"/>
              <a:pathLst>
                <a:path h="786384" w="6858000">
                  <a:moveTo>
                    <a:pt x="0" y="0"/>
                  </a:moveTo>
                  <a:lnTo>
                    <a:pt x="6858000" y="0"/>
                  </a:lnTo>
                  <a:lnTo>
                    <a:pt x="6858000" y="786384"/>
                  </a:lnTo>
                  <a:lnTo>
                    <a:pt x="0" y="786384"/>
                  </a:lnTo>
                  <a:close/>
                </a:path>
              </a:pathLst>
            </a:custGeom>
            <a:blipFill>
              <a:blip r:embed="rId2">
                <a:alphaModFix amt="0"/>
              </a:blip>
              <a:stretch>
                <a:fillRect l="0" t="-119927" r="0" b="-119927"/>
              </a:stretch>
            </a:blipFill>
          </p:spPr>
        </p:sp>
        <p:sp>
          <p:nvSpPr>
            <p:cNvPr name="TextBox 37" id="37"/>
            <p:cNvSpPr txBox="true"/>
            <p:nvPr/>
          </p:nvSpPr>
          <p:spPr>
            <a:xfrm>
              <a:off x="0" y="-38100"/>
              <a:ext cx="6858000" cy="824484"/>
            </a:xfrm>
            <a:prstGeom prst="rect">
              <a:avLst/>
            </a:prstGeom>
          </p:spPr>
          <p:txBody>
            <a:bodyPr anchor="ctr" rtlCol="false" tIns="0" lIns="0" bIns="0" rIns="0"/>
            <a:lstStyle/>
            <a:p>
              <a:pPr algn="ctr">
                <a:lnSpc>
                  <a:spcPts val="2250"/>
                </a:lnSpc>
              </a:pPr>
              <a:r>
                <a:rPr lang="en-US" sz="1875">
                  <a:solidFill>
                    <a:srgbClr val="6B7280"/>
                  </a:solidFill>
                  <a:latin typeface="Calibri (MS)"/>
                  <a:ea typeface="Calibri (MS)"/>
                  <a:cs typeface="Calibri (MS)"/>
                  <a:sym typeface="Calibri (MS)"/>
                </a:rPr>
                <a:t>Data Privacy Act</a:t>
              </a:r>
            </a:p>
          </p:txBody>
        </p:sp>
      </p:grpSp>
      <p:grpSp>
        <p:nvGrpSpPr>
          <p:cNvPr name="Group 38" id="38"/>
          <p:cNvGrpSpPr/>
          <p:nvPr/>
        </p:nvGrpSpPr>
        <p:grpSpPr>
          <a:xfrm rot="0">
            <a:off x="960120" y="8462772"/>
            <a:ext cx="5143500" cy="329184"/>
            <a:chOff x="0" y="0"/>
            <a:chExt cx="6858000" cy="438912"/>
          </a:xfrm>
        </p:grpSpPr>
        <p:sp>
          <p:nvSpPr>
            <p:cNvPr name="Freeform 39" id="39"/>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40" id="40"/>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9AA3B8"/>
                  </a:solidFill>
                  <a:latin typeface="Arimo"/>
                  <a:ea typeface="Arimo"/>
                  <a:cs typeface="Arimo"/>
                  <a:sym typeface="Arimo"/>
                </a:rPr>
                <a:t>DPA</a:t>
              </a:r>
            </a:p>
          </p:txBody>
        </p:sp>
      </p:grpSp>
      <p:grpSp>
        <p:nvGrpSpPr>
          <p:cNvPr name="Group 41" id="41"/>
          <p:cNvGrpSpPr/>
          <p:nvPr/>
        </p:nvGrpSpPr>
        <p:grpSpPr>
          <a:xfrm rot="0">
            <a:off x="6533007" y="7945755"/>
            <a:ext cx="5162550" cy="910590"/>
            <a:chOff x="0" y="0"/>
            <a:chExt cx="6883400" cy="1214120"/>
          </a:xfrm>
        </p:grpSpPr>
        <p:sp>
          <p:nvSpPr>
            <p:cNvPr name="Freeform 42" id="42"/>
            <p:cNvSpPr/>
            <p:nvPr/>
          </p:nvSpPr>
          <p:spPr>
            <a:xfrm flipH="false" flipV="false" rot="0">
              <a:off x="0" y="0"/>
              <a:ext cx="6883400" cy="1214120"/>
            </a:xfrm>
            <a:custGeom>
              <a:avLst/>
              <a:gdLst/>
              <a:ahLst/>
              <a:cxnLst/>
              <a:rect r="r" b="b" t="t" l="l"/>
              <a:pathLst>
                <a:path h="1214120" w="6883400">
                  <a:moveTo>
                    <a:pt x="0" y="168148"/>
                  </a:moveTo>
                  <a:cubicBezTo>
                    <a:pt x="0" y="75311"/>
                    <a:pt x="75311" y="0"/>
                    <a:pt x="168148" y="0"/>
                  </a:cubicBezTo>
                  <a:lnTo>
                    <a:pt x="6715252" y="0"/>
                  </a:lnTo>
                  <a:cubicBezTo>
                    <a:pt x="6808089" y="0"/>
                    <a:pt x="6883400" y="75311"/>
                    <a:pt x="6883400" y="168148"/>
                  </a:cubicBezTo>
                  <a:lnTo>
                    <a:pt x="6883400" y="1045972"/>
                  </a:lnTo>
                  <a:cubicBezTo>
                    <a:pt x="6883400" y="1138809"/>
                    <a:pt x="6808089" y="1214120"/>
                    <a:pt x="6715252" y="1214120"/>
                  </a:cubicBezTo>
                  <a:lnTo>
                    <a:pt x="168148" y="1214120"/>
                  </a:lnTo>
                  <a:cubicBezTo>
                    <a:pt x="75311" y="1214120"/>
                    <a:pt x="0" y="1138809"/>
                    <a:pt x="0" y="1045972"/>
                  </a:cubicBezTo>
                  <a:close/>
                </a:path>
              </a:pathLst>
            </a:custGeom>
            <a:solidFill>
              <a:srgbClr val="F4F7FC"/>
            </a:solidFill>
            <a:ln w="19050" cap="sq">
              <a:solidFill>
                <a:srgbClr val="D7DCEC"/>
              </a:solidFill>
              <a:prstDash val="solid"/>
              <a:miter/>
            </a:ln>
          </p:spPr>
        </p:sp>
      </p:grpSp>
      <p:grpSp>
        <p:nvGrpSpPr>
          <p:cNvPr name="Group 43" id="43"/>
          <p:cNvGrpSpPr/>
          <p:nvPr/>
        </p:nvGrpSpPr>
        <p:grpSpPr>
          <a:xfrm rot="0">
            <a:off x="6542532" y="8023860"/>
            <a:ext cx="5143500" cy="589788"/>
            <a:chOff x="0" y="0"/>
            <a:chExt cx="6858000" cy="786384"/>
          </a:xfrm>
        </p:grpSpPr>
        <p:sp>
          <p:nvSpPr>
            <p:cNvPr name="Freeform 44" id="44"/>
            <p:cNvSpPr/>
            <p:nvPr/>
          </p:nvSpPr>
          <p:spPr>
            <a:xfrm flipH="false" flipV="false" rot="0">
              <a:off x="0" y="0"/>
              <a:ext cx="6858000" cy="786384"/>
            </a:xfrm>
            <a:custGeom>
              <a:avLst/>
              <a:gdLst/>
              <a:ahLst/>
              <a:cxnLst/>
              <a:rect r="r" b="b" t="t" l="l"/>
              <a:pathLst>
                <a:path h="786384" w="6858000">
                  <a:moveTo>
                    <a:pt x="0" y="0"/>
                  </a:moveTo>
                  <a:lnTo>
                    <a:pt x="6858000" y="0"/>
                  </a:lnTo>
                  <a:lnTo>
                    <a:pt x="6858000" y="786384"/>
                  </a:lnTo>
                  <a:lnTo>
                    <a:pt x="0" y="786384"/>
                  </a:lnTo>
                  <a:close/>
                </a:path>
              </a:pathLst>
            </a:custGeom>
            <a:blipFill>
              <a:blip r:embed="rId2">
                <a:alphaModFix amt="0"/>
              </a:blip>
              <a:stretch>
                <a:fillRect l="0" t="-119927" r="0" b="-119927"/>
              </a:stretch>
            </a:blipFill>
          </p:spPr>
        </p:sp>
        <p:sp>
          <p:nvSpPr>
            <p:cNvPr name="TextBox 45" id="45"/>
            <p:cNvSpPr txBox="true"/>
            <p:nvPr/>
          </p:nvSpPr>
          <p:spPr>
            <a:xfrm>
              <a:off x="0" y="-38100"/>
              <a:ext cx="6858000" cy="824484"/>
            </a:xfrm>
            <a:prstGeom prst="rect">
              <a:avLst/>
            </a:prstGeom>
          </p:spPr>
          <p:txBody>
            <a:bodyPr anchor="ctr" rtlCol="false" tIns="0" lIns="0" bIns="0" rIns="0"/>
            <a:lstStyle/>
            <a:p>
              <a:pPr algn="ctr">
                <a:lnSpc>
                  <a:spcPts val="2250"/>
                </a:lnSpc>
              </a:pPr>
              <a:r>
                <a:rPr lang="en-US" sz="1875">
                  <a:solidFill>
                    <a:srgbClr val="6B7280"/>
                  </a:solidFill>
                  <a:latin typeface="Calibri (MS)"/>
                  <a:ea typeface="Calibri (MS)"/>
                  <a:cs typeface="Calibri (MS)"/>
                  <a:sym typeface="Calibri (MS)"/>
                </a:rPr>
                <a:t>DICT Act / NCSP</a:t>
              </a:r>
            </a:p>
          </p:txBody>
        </p:sp>
      </p:grpSp>
      <p:grpSp>
        <p:nvGrpSpPr>
          <p:cNvPr name="Group 46" id="46"/>
          <p:cNvGrpSpPr/>
          <p:nvPr/>
        </p:nvGrpSpPr>
        <p:grpSpPr>
          <a:xfrm rot="0">
            <a:off x="6542532" y="8462772"/>
            <a:ext cx="5143500" cy="329184"/>
            <a:chOff x="0" y="0"/>
            <a:chExt cx="6858000" cy="438912"/>
          </a:xfrm>
        </p:grpSpPr>
        <p:sp>
          <p:nvSpPr>
            <p:cNvPr name="Freeform 47" id="47"/>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48" id="48"/>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9AA3B8"/>
                  </a:solidFill>
                  <a:latin typeface="Arimo"/>
                  <a:ea typeface="Arimo"/>
                  <a:cs typeface="Arimo"/>
                  <a:sym typeface="Arimo"/>
                </a:rPr>
                <a:t>DICT</a:t>
              </a:r>
            </a:p>
          </p:txBody>
        </p:sp>
      </p:grpSp>
      <p:grpSp>
        <p:nvGrpSpPr>
          <p:cNvPr name="Group 49" id="49"/>
          <p:cNvGrpSpPr/>
          <p:nvPr/>
        </p:nvGrpSpPr>
        <p:grpSpPr>
          <a:xfrm rot="0">
            <a:off x="12115419" y="6779895"/>
            <a:ext cx="5162550" cy="2076450"/>
            <a:chOff x="0" y="0"/>
            <a:chExt cx="6883400" cy="2768600"/>
          </a:xfrm>
        </p:grpSpPr>
        <p:sp>
          <p:nvSpPr>
            <p:cNvPr name="Freeform 50" id="50"/>
            <p:cNvSpPr/>
            <p:nvPr/>
          </p:nvSpPr>
          <p:spPr>
            <a:xfrm flipH="false" flipV="false" rot="0">
              <a:off x="0" y="0"/>
              <a:ext cx="6883400" cy="2768600"/>
            </a:xfrm>
            <a:custGeom>
              <a:avLst/>
              <a:gdLst/>
              <a:ahLst/>
              <a:cxnLst/>
              <a:rect r="r" b="b" t="t" l="l"/>
              <a:pathLst>
                <a:path h="2768600" w="6883400">
                  <a:moveTo>
                    <a:pt x="0" y="166116"/>
                  </a:moveTo>
                  <a:cubicBezTo>
                    <a:pt x="0" y="74422"/>
                    <a:pt x="74422" y="0"/>
                    <a:pt x="166116" y="0"/>
                  </a:cubicBezTo>
                  <a:lnTo>
                    <a:pt x="6717284" y="0"/>
                  </a:lnTo>
                  <a:cubicBezTo>
                    <a:pt x="6808978" y="0"/>
                    <a:pt x="6883400" y="74422"/>
                    <a:pt x="6883400" y="166116"/>
                  </a:cubicBezTo>
                  <a:lnTo>
                    <a:pt x="6883400" y="2602484"/>
                  </a:lnTo>
                  <a:cubicBezTo>
                    <a:pt x="6883400" y="2694178"/>
                    <a:pt x="6808978" y="2768600"/>
                    <a:pt x="6717284" y="2768600"/>
                  </a:cubicBezTo>
                  <a:lnTo>
                    <a:pt x="166116" y="2768600"/>
                  </a:lnTo>
                  <a:cubicBezTo>
                    <a:pt x="74422" y="2768600"/>
                    <a:pt x="0" y="2694178"/>
                    <a:pt x="0" y="2602484"/>
                  </a:cubicBezTo>
                  <a:close/>
                </a:path>
              </a:pathLst>
            </a:custGeom>
            <a:solidFill>
              <a:srgbClr val="F4F7FC"/>
            </a:solidFill>
            <a:ln w="19050" cap="sq">
              <a:solidFill>
                <a:srgbClr val="D7DCEC"/>
              </a:solidFill>
              <a:prstDash val="solid"/>
              <a:miter/>
            </a:ln>
          </p:spPr>
        </p:sp>
      </p:grpSp>
      <p:grpSp>
        <p:nvGrpSpPr>
          <p:cNvPr name="Group 51" id="51"/>
          <p:cNvGrpSpPr/>
          <p:nvPr/>
        </p:nvGrpSpPr>
        <p:grpSpPr>
          <a:xfrm rot="0">
            <a:off x="12124944" y="6858000"/>
            <a:ext cx="5143500" cy="1755648"/>
            <a:chOff x="0" y="0"/>
            <a:chExt cx="6858000" cy="2340864"/>
          </a:xfrm>
        </p:grpSpPr>
        <p:sp>
          <p:nvSpPr>
            <p:cNvPr name="Freeform 52" id="52"/>
            <p:cNvSpPr/>
            <p:nvPr/>
          </p:nvSpPr>
          <p:spPr>
            <a:xfrm flipH="false" flipV="false" rot="0">
              <a:off x="0" y="0"/>
              <a:ext cx="6858000" cy="2340864"/>
            </a:xfrm>
            <a:custGeom>
              <a:avLst/>
              <a:gdLst/>
              <a:ahLst/>
              <a:cxnLst/>
              <a:rect r="r" b="b" t="t" l="l"/>
              <a:pathLst>
                <a:path h="2340864" w="6858000">
                  <a:moveTo>
                    <a:pt x="0" y="0"/>
                  </a:moveTo>
                  <a:lnTo>
                    <a:pt x="6858000" y="0"/>
                  </a:lnTo>
                  <a:lnTo>
                    <a:pt x="6858000" y="2340864"/>
                  </a:lnTo>
                  <a:lnTo>
                    <a:pt x="0" y="2340864"/>
                  </a:lnTo>
                  <a:close/>
                </a:path>
              </a:pathLst>
            </a:custGeom>
            <a:blipFill>
              <a:blip r:embed="rId2">
                <a:alphaModFix amt="0"/>
              </a:blip>
              <a:stretch>
                <a:fillRect l="0" t="-7085" r="0" b="-7085"/>
              </a:stretch>
            </a:blipFill>
          </p:spPr>
        </p:sp>
        <p:sp>
          <p:nvSpPr>
            <p:cNvPr name="TextBox 53" id="53"/>
            <p:cNvSpPr txBox="true"/>
            <p:nvPr/>
          </p:nvSpPr>
          <p:spPr>
            <a:xfrm>
              <a:off x="0" y="-38100"/>
              <a:ext cx="6858000" cy="2378964"/>
            </a:xfrm>
            <a:prstGeom prst="rect">
              <a:avLst/>
            </a:prstGeom>
          </p:spPr>
          <p:txBody>
            <a:bodyPr anchor="ctr" rtlCol="false" tIns="0" lIns="0" bIns="0" rIns="0"/>
            <a:lstStyle/>
            <a:p>
              <a:pPr algn="ctr">
                <a:lnSpc>
                  <a:spcPts val="2250"/>
                </a:lnSpc>
              </a:pPr>
              <a:r>
                <a:rPr lang="en-US" sz="1875">
                  <a:solidFill>
                    <a:srgbClr val="6B7280"/>
                  </a:solidFill>
                  <a:latin typeface="Calibri (MS)"/>
                  <a:ea typeface="Calibri (MS)"/>
                  <a:cs typeface="Calibri (MS)"/>
                  <a:sym typeface="Calibri (MS)"/>
                </a:rPr>
                <a:t>Critical Infra. Protection</a:t>
              </a:r>
            </a:p>
          </p:txBody>
        </p:sp>
      </p:grpSp>
      <p:grpSp>
        <p:nvGrpSpPr>
          <p:cNvPr name="Group 54" id="54"/>
          <p:cNvGrpSpPr/>
          <p:nvPr/>
        </p:nvGrpSpPr>
        <p:grpSpPr>
          <a:xfrm rot="0">
            <a:off x="12124944" y="8462772"/>
            <a:ext cx="5143500" cy="329184"/>
            <a:chOff x="0" y="0"/>
            <a:chExt cx="6858000" cy="438912"/>
          </a:xfrm>
        </p:grpSpPr>
        <p:sp>
          <p:nvSpPr>
            <p:cNvPr name="Freeform 55" id="55"/>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56" id="56"/>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9AA3B8"/>
                  </a:solidFill>
                  <a:latin typeface="Arimo"/>
                  <a:ea typeface="Arimo"/>
                  <a:cs typeface="Arimo"/>
                  <a:sym typeface="Arimo"/>
                </a:rPr>
                <a:t>CII</a:t>
              </a:r>
            </a:p>
          </p:txBody>
        </p:sp>
      </p:grpSp>
      <p:grpSp>
        <p:nvGrpSpPr>
          <p:cNvPr name="Group 57" id="57"/>
          <p:cNvGrpSpPr/>
          <p:nvPr/>
        </p:nvGrpSpPr>
        <p:grpSpPr>
          <a:xfrm rot="0">
            <a:off x="685800" y="9710928"/>
            <a:ext cx="10972800" cy="411480"/>
            <a:chOff x="0" y="0"/>
            <a:chExt cx="14630400" cy="548640"/>
          </a:xfrm>
        </p:grpSpPr>
        <p:sp>
          <p:nvSpPr>
            <p:cNvPr name="Freeform 58" id="58"/>
            <p:cNvSpPr/>
            <p:nvPr/>
          </p:nvSpPr>
          <p:spPr>
            <a:xfrm flipH="false" flipV="false" rot="0">
              <a:off x="0" y="0"/>
              <a:ext cx="14630400" cy="548640"/>
            </a:xfrm>
            <a:custGeom>
              <a:avLst/>
              <a:gdLst/>
              <a:ahLst/>
              <a:cxnLst/>
              <a:rect r="r" b="b" t="t" l="l"/>
              <a:pathLst>
                <a:path h="548640" w="14630400">
                  <a:moveTo>
                    <a:pt x="0" y="0"/>
                  </a:moveTo>
                  <a:lnTo>
                    <a:pt x="14630400" y="0"/>
                  </a:lnTo>
                  <a:lnTo>
                    <a:pt x="14630400" y="548640"/>
                  </a:lnTo>
                  <a:lnTo>
                    <a:pt x="0" y="548640"/>
                  </a:lnTo>
                  <a:close/>
                </a:path>
              </a:pathLst>
            </a:custGeom>
            <a:blipFill>
              <a:blip r:embed="rId2">
                <a:alphaModFix amt="0"/>
              </a:blip>
              <a:stretch>
                <a:fillRect l="0" t="-469601" r="0" b="-469601"/>
              </a:stretch>
            </a:blipFill>
          </p:spPr>
        </p:sp>
        <p:sp>
          <p:nvSpPr>
            <p:cNvPr name="TextBox 59" id="59"/>
            <p:cNvSpPr txBox="true"/>
            <p:nvPr/>
          </p:nvSpPr>
          <p:spPr>
            <a:xfrm>
              <a:off x="0" y="-38100"/>
              <a:ext cx="14630400" cy="586740"/>
            </a:xfrm>
            <a:prstGeom prst="rect">
              <a:avLst/>
            </a:prstGeom>
          </p:spPr>
          <p:txBody>
            <a:bodyPr anchor="ctr" rtlCol="false" tIns="0" lIns="0" bIns="0" rIns="0"/>
            <a:lstStyle/>
            <a:p>
              <a:pPr algn="l">
                <a:lnSpc>
                  <a:spcPts val="1800"/>
                </a:lnSpc>
              </a:pPr>
              <a:r>
                <a:rPr lang="en-US" sz="1500">
                  <a:solidFill>
                    <a:srgbClr val="6B7280"/>
                  </a:solidFill>
                  <a:latin typeface="Calibri (MS)"/>
                  <a:ea typeface="Calibri (MS)"/>
                  <a:cs typeface="Calibri (MS)"/>
                  <a:sym typeface="Calibri (MS)"/>
                </a:rPr>
                <a:t>Davao del Norte Provincial Government — Cybersecurity Seminar</a:t>
              </a:r>
            </a:p>
          </p:txBody>
        </p:sp>
      </p:grpSp>
      <p:grpSp>
        <p:nvGrpSpPr>
          <p:cNvPr name="Group 60" id="60"/>
          <p:cNvGrpSpPr/>
          <p:nvPr/>
        </p:nvGrpSpPr>
        <p:grpSpPr>
          <a:xfrm rot="0">
            <a:off x="16911828" y="9710928"/>
            <a:ext cx="685800" cy="411480"/>
            <a:chOff x="0" y="0"/>
            <a:chExt cx="914400" cy="548640"/>
          </a:xfrm>
        </p:grpSpPr>
        <p:sp>
          <p:nvSpPr>
            <p:cNvPr name="Freeform 61" id="61"/>
            <p:cNvSpPr/>
            <p:nvPr/>
          </p:nvSpPr>
          <p:spPr>
            <a:xfrm flipH="false" flipV="false" rot="0">
              <a:off x="0" y="0"/>
              <a:ext cx="914400" cy="548640"/>
            </a:xfrm>
            <a:custGeom>
              <a:avLst/>
              <a:gdLst/>
              <a:ahLst/>
              <a:cxnLst/>
              <a:rect r="r" b="b" t="t" l="l"/>
              <a:pathLst>
                <a:path h="548640" w="914400">
                  <a:moveTo>
                    <a:pt x="0" y="0"/>
                  </a:moveTo>
                  <a:lnTo>
                    <a:pt x="914400" y="0"/>
                  </a:lnTo>
                  <a:lnTo>
                    <a:pt x="914400" y="548640"/>
                  </a:lnTo>
                  <a:lnTo>
                    <a:pt x="0" y="548640"/>
                  </a:lnTo>
                  <a:close/>
                </a:path>
              </a:pathLst>
            </a:custGeom>
            <a:blipFill>
              <a:blip r:embed="rId2">
                <a:alphaModFix amt="0"/>
              </a:blip>
              <a:stretch>
                <a:fillRect l="-26982" t="0" r="-26982" b="0"/>
              </a:stretch>
            </a:blipFill>
          </p:spPr>
        </p:sp>
        <p:sp>
          <p:nvSpPr>
            <p:cNvPr name="TextBox 62" id="62"/>
            <p:cNvSpPr txBox="true"/>
            <p:nvPr/>
          </p:nvSpPr>
          <p:spPr>
            <a:xfrm>
              <a:off x="0" y="-38100"/>
              <a:ext cx="914400" cy="586740"/>
            </a:xfrm>
            <a:prstGeom prst="rect">
              <a:avLst/>
            </a:prstGeom>
          </p:spPr>
          <p:txBody>
            <a:bodyPr anchor="ctr" rtlCol="false" tIns="0" lIns="0" bIns="0" rIns="0"/>
            <a:lstStyle/>
            <a:p>
              <a:pPr algn="r">
                <a:lnSpc>
                  <a:spcPts val="1800"/>
                </a:lnSpc>
              </a:pPr>
              <a:r>
                <a:rPr lang="en-US" sz="1500">
                  <a:solidFill>
                    <a:srgbClr val="6B7280"/>
                  </a:solidFill>
                  <a:latin typeface="Calibri (MS)"/>
                  <a:ea typeface="Calibri (MS)"/>
                  <a:cs typeface="Calibri (MS)"/>
                  <a:sym typeface="Calibri (MS)"/>
                </a:rPr>
                <a:t>29</a:t>
              </a:r>
            </a:p>
          </p:txBody>
        </p:sp>
      </p:grpSp>
    </p:spTree>
  </p:cSld>
  <p:clrMapOvr>
    <a:masterClrMapping/>
  </p:clrMapOvr>
</p:sld>
</file>

<file path=ppt/slides/slide14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60120" y="685800"/>
            <a:ext cx="13716000" cy="411480"/>
            <a:chOff x="0" y="0"/>
            <a:chExt cx="18288000" cy="548640"/>
          </a:xfrm>
        </p:grpSpPr>
        <p:sp>
          <p:nvSpPr>
            <p:cNvPr name="Freeform 3" id="3"/>
            <p:cNvSpPr/>
            <p:nvPr/>
          </p:nvSpPr>
          <p:spPr>
            <a:xfrm flipH="false" flipV="false" rot="0">
              <a:off x="0" y="0"/>
              <a:ext cx="18288000" cy="548640"/>
            </a:xfrm>
            <a:custGeom>
              <a:avLst/>
              <a:gdLst/>
              <a:ahLst/>
              <a:cxnLst/>
              <a:rect r="r" b="b" t="t" l="l"/>
              <a:pathLst>
                <a:path h="548640" w="18288000">
                  <a:moveTo>
                    <a:pt x="0" y="0"/>
                  </a:moveTo>
                  <a:lnTo>
                    <a:pt x="18288000" y="0"/>
                  </a:lnTo>
                  <a:lnTo>
                    <a:pt x="18288000" y="548640"/>
                  </a:lnTo>
                  <a:lnTo>
                    <a:pt x="0" y="548640"/>
                  </a:lnTo>
                  <a:close/>
                </a:path>
              </a:pathLst>
            </a:custGeom>
            <a:blipFill>
              <a:blip r:embed="rId2">
                <a:alphaModFix amt="0"/>
              </a:blip>
              <a:stretch>
                <a:fillRect l="0" t="-599501" r="0" b="-599501"/>
              </a:stretch>
            </a:blipFill>
          </p:spPr>
        </p:sp>
        <p:sp>
          <p:nvSpPr>
            <p:cNvPr name="TextBox 4" id="4"/>
            <p:cNvSpPr txBox="true"/>
            <p:nvPr/>
          </p:nvSpPr>
          <p:spPr>
            <a:xfrm>
              <a:off x="0" y="-38100"/>
              <a:ext cx="18288000" cy="586740"/>
            </a:xfrm>
            <a:prstGeom prst="rect">
              <a:avLst/>
            </a:prstGeom>
          </p:spPr>
          <p:txBody>
            <a:bodyPr anchor="ctr" rtlCol="false" tIns="0" lIns="0" bIns="0" rIns="0"/>
            <a:lstStyle/>
            <a:p>
              <a:pPr algn="l">
                <a:lnSpc>
                  <a:spcPts val="2160"/>
                </a:lnSpc>
              </a:pPr>
              <a:r>
                <a:rPr lang="en-US" b="true" sz="1800" spc="225">
                  <a:solidFill>
                    <a:srgbClr val="00B4D8"/>
                  </a:solidFill>
                  <a:latin typeface="Calibri (MS) Bold"/>
                  <a:ea typeface="Calibri (MS) Bold"/>
                  <a:cs typeface="Calibri (MS) Bold"/>
                  <a:sym typeface="Calibri (MS) Bold"/>
                </a:rPr>
                <a:t>PH CYBER LAW SORT · ANSWER</a:t>
              </a:r>
            </a:p>
          </p:txBody>
        </p:sp>
      </p:grpSp>
      <p:grpSp>
        <p:nvGrpSpPr>
          <p:cNvPr name="Group 5" id="5"/>
          <p:cNvGrpSpPr/>
          <p:nvPr/>
        </p:nvGrpSpPr>
        <p:grpSpPr>
          <a:xfrm rot="0">
            <a:off x="960120" y="1069848"/>
            <a:ext cx="10972800" cy="822960"/>
            <a:chOff x="0" y="0"/>
            <a:chExt cx="14630400" cy="1097280"/>
          </a:xfrm>
        </p:grpSpPr>
        <p:sp>
          <p:nvSpPr>
            <p:cNvPr name="Freeform 6" id="6"/>
            <p:cNvSpPr/>
            <p:nvPr/>
          </p:nvSpPr>
          <p:spPr>
            <a:xfrm flipH="false" flipV="false" rot="0">
              <a:off x="0" y="0"/>
              <a:ext cx="14630400" cy="1097280"/>
            </a:xfrm>
            <a:custGeom>
              <a:avLst/>
              <a:gdLst/>
              <a:ahLst/>
              <a:cxnLst/>
              <a:rect r="r" b="b" t="t" l="l"/>
              <a:pathLst>
                <a:path h="1097280" w="14630400">
                  <a:moveTo>
                    <a:pt x="0" y="0"/>
                  </a:moveTo>
                  <a:lnTo>
                    <a:pt x="14630400" y="0"/>
                  </a:lnTo>
                  <a:lnTo>
                    <a:pt x="14630400" y="1097280"/>
                  </a:lnTo>
                  <a:lnTo>
                    <a:pt x="0" y="1097280"/>
                  </a:lnTo>
                  <a:close/>
                </a:path>
              </a:pathLst>
            </a:custGeom>
            <a:blipFill>
              <a:blip r:embed="rId2">
                <a:alphaModFix amt="0"/>
              </a:blip>
              <a:stretch>
                <a:fillRect l="0" t="-209800" r="0" b="-209800"/>
              </a:stretch>
            </a:blipFill>
          </p:spPr>
        </p:sp>
        <p:sp>
          <p:nvSpPr>
            <p:cNvPr name="TextBox 7" id="7"/>
            <p:cNvSpPr txBox="true"/>
            <p:nvPr/>
          </p:nvSpPr>
          <p:spPr>
            <a:xfrm>
              <a:off x="0" y="0"/>
              <a:ext cx="14630400" cy="1097280"/>
            </a:xfrm>
            <a:prstGeom prst="rect">
              <a:avLst/>
            </a:prstGeom>
          </p:spPr>
          <p:txBody>
            <a:bodyPr anchor="ctr" rtlCol="false" tIns="0" lIns="0" bIns="0" rIns="0"/>
            <a:lstStyle/>
            <a:p>
              <a:pPr algn="l">
                <a:lnSpc>
                  <a:spcPts val="4680"/>
                </a:lnSpc>
              </a:pPr>
              <a:r>
                <a:rPr lang="en-US" sz="3900" b="true">
                  <a:solidFill>
                    <a:srgbClr val="1E2761"/>
                  </a:solidFill>
                  <a:latin typeface="Cambria Bold"/>
                  <a:ea typeface="Cambria Bold"/>
                  <a:cs typeface="Cambria Bold"/>
                  <a:sym typeface="Cambria Bold"/>
                </a:rPr>
                <a:t>Scenario 10 — Answer</a:t>
              </a:r>
            </a:p>
          </p:txBody>
        </p:sp>
      </p:grpSp>
      <p:grpSp>
        <p:nvGrpSpPr>
          <p:cNvPr name="Group 8" id="8"/>
          <p:cNvGrpSpPr/>
          <p:nvPr/>
        </p:nvGrpSpPr>
        <p:grpSpPr>
          <a:xfrm rot="0">
            <a:off x="960120" y="1810512"/>
            <a:ext cx="8229600" cy="411480"/>
            <a:chOff x="0" y="0"/>
            <a:chExt cx="10972800" cy="548640"/>
          </a:xfrm>
        </p:grpSpPr>
        <p:sp>
          <p:nvSpPr>
            <p:cNvPr name="Freeform 9" id="9"/>
            <p:cNvSpPr/>
            <p:nvPr/>
          </p:nvSpPr>
          <p:spPr>
            <a:xfrm flipH="false" flipV="false" rot="0">
              <a:off x="0" y="0"/>
              <a:ext cx="10972800" cy="548640"/>
            </a:xfrm>
            <a:custGeom>
              <a:avLst/>
              <a:gdLst/>
              <a:ahLst/>
              <a:cxnLst/>
              <a:rect r="r" b="b" t="t" l="l"/>
              <a:pathLst>
                <a:path h="548640" w="10972800">
                  <a:moveTo>
                    <a:pt x="0" y="0"/>
                  </a:moveTo>
                  <a:lnTo>
                    <a:pt x="10972800" y="0"/>
                  </a:lnTo>
                  <a:lnTo>
                    <a:pt x="10972800" y="548640"/>
                  </a:lnTo>
                  <a:lnTo>
                    <a:pt x="0" y="548640"/>
                  </a:lnTo>
                  <a:close/>
                </a:path>
              </a:pathLst>
            </a:custGeom>
            <a:blipFill>
              <a:blip r:embed="rId2">
                <a:alphaModFix amt="0"/>
              </a:blip>
              <a:stretch>
                <a:fillRect l="0" t="-339700" r="0" b="-339700"/>
              </a:stretch>
            </a:blipFill>
          </p:spPr>
        </p:sp>
        <p:sp>
          <p:nvSpPr>
            <p:cNvPr name="TextBox 10" id="10"/>
            <p:cNvSpPr txBox="true"/>
            <p:nvPr/>
          </p:nvSpPr>
          <p:spPr>
            <a:xfrm>
              <a:off x="0" y="-28575"/>
              <a:ext cx="10972800" cy="577215"/>
            </a:xfrm>
            <a:prstGeom prst="rect">
              <a:avLst/>
            </a:prstGeom>
          </p:spPr>
          <p:txBody>
            <a:bodyPr anchor="ctr" rtlCol="false" tIns="0" lIns="0" bIns="0" rIns="0"/>
            <a:lstStyle/>
            <a:p>
              <a:pPr algn="l">
                <a:lnSpc>
                  <a:spcPts val="1980"/>
                </a:lnSpc>
              </a:pPr>
              <a:r>
                <a:rPr lang="en-US" sz="1650">
                  <a:solidFill>
                    <a:srgbClr val="6B7280"/>
                  </a:solidFill>
                  <a:latin typeface="Calibri (MS)"/>
                  <a:ea typeface="Calibri (MS)"/>
                  <a:cs typeface="Calibri (MS)"/>
                  <a:sym typeface="Calibri (MS)"/>
                </a:rPr>
                <a:t>10 of 15</a:t>
              </a:r>
            </a:p>
          </p:txBody>
        </p:sp>
      </p:grpSp>
      <p:grpSp>
        <p:nvGrpSpPr>
          <p:cNvPr name="Group 11" id="11"/>
          <p:cNvGrpSpPr/>
          <p:nvPr/>
        </p:nvGrpSpPr>
        <p:grpSpPr>
          <a:xfrm rot="0">
            <a:off x="960120" y="2537460"/>
            <a:ext cx="16322040" cy="2057400"/>
            <a:chOff x="0" y="0"/>
            <a:chExt cx="21762720" cy="2743200"/>
          </a:xfrm>
        </p:grpSpPr>
        <p:sp>
          <p:nvSpPr>
            <p:cNvPr name="Freeform 12" id="12"/>
            <p:cNvSpPr/>
            <p:nvPr/>
          </p:nvSpPr>
          <p:spPr>
            <a:xfrm flipH="false" flipV="false" rot="0">
              <a:off x="0" y="0"/>
              <a:ext cx="21762720" cy="2743200"/>
            </a:xfrm>
            <a:custGeom>
              <a:avLst/>
              <a:gdLst/>
              <a:ahLst/>
              <a:cxnLst/>
              <a:rect r="r" b="b" t="t" l="l"/>
              <a:pathLst>
                <a:path h="2743200" w="21762720">
                  <a:moveTo>
                    <a:pt x="0" y="182880"/>
                  </a:moveTo>
                  <a:cubicBezTo>
                    <a:pt x="0" y="81915"/>
                    <a:pt x="81915" y="0"/>
                    <a:pt x="182880" y="0"/>
                  </a:cubicBezTo>
                  <a:lnTo>
                    <a:pt x="21579839" y="0"/>
                  </a:lnTo>
                  <a:cubicBezTo>
                    <a:pt x="21680804" y="0"/>
                    <a:pt x="21762720" y="81915"/>
                    <a:pt x="21762720" y="182880"/>
                  </a:cubicBezTo>
                  <a:lnTo>
                    <a:pt x="21762720" y="2560320"/>
                  </a:lnTo>
                  <a:cubicBezTo>
                    <a:pt x="21762720" y="2661285"/>
                    <a:pt x="21680804" y="2743200"/>
                    <a:pt x="21579839" y="2743200"/>
                  </a:cubicBezTo>
                  <a:lnTo>
                    <a:pt x="182880" y="2743200"/>
                  </a:lnTo>
                  <a:cubicBezTo>
                    <a:pt x="81915" y="2743200"/>
                    <a:pt x="0" y="2661285"/>
                    <a:pt x="0" y="2560320"/>
                  </a:cubicBezTo>
                  <a:close/>
                </a:path>
              </a:pathLst>
            </a:custGeom>
            <a:solidFill>
              <a:srgbClr val="F4F7FC"/>
            </a:solidFill>
          </p:spPr>
        </p:sp>
      </p:grpSp>
      <p:grpSp>
        <p:nvGrpSpPr>
          <p:cNvPr name="Group 13" id="13"/>
          <p:cNvGrpSpPr/>
          <p:nvPr/>
        </p:nvGrpSpPr>
        <p:grpSpPr>
          <a:xfrm rot="0">
            <a:off x="1440180" y="2743200"/>
            <a:ext cx="15361920" cy="1645920"/>
            <a:chOff x="0" y="0"/>
            <a:chExt cx="20482560" cy="2194560"/>
          </a:xfrm>
        </p:grpSpPr>
        <p:sp>
          <p:nvSpPr>
            <p:cNvPr name="Freeform 14" id="14"/>
            <p:cNvSpPr/>
            <p:nvPr/>
          </p:nvSpPr>
          <p:spPr>
            <a:xfrm flipH="false" flipV="false" rot="0">
              <a:off x="0" y="0"/>
              <a:ext cx="20482561" cy="2194560"/>
            </a:xfrm>
            <a:custGeom>
              <a:avLst/>
              <a:gdLst/>
              <a:ahLst/>
              <a:cxnLst/>
              <a:rect r="r" b="b" t="t" l="l"/>
              <a:pathLst>
                <a:path h="2194560" w="20482561">
                  <a:moveTo>
                    <a:pt x="0" y="0"/>
                  </a:moveTo>
                  <a:lnTo>
                    <a:pt x="20482561" y="0"/>
                  </a:lnTo>
                  <a:lnTo>
                    <a:pt x="20482561" y="2194560"/>
                  </a:lnTo>
                  <a:lnTo>
                    <a:pt x="0" y="2194560"/>
                  </a:lnTo>
                  <a:close/>
                </a:path>
              </a:pathLst>
            </a:custGeom>
            <a:blipFill>
              <a:blip r:embed="rId2">
                <a:alphaModFix amt="0"/>
              </a:blip>
              <a:stretch>
                <a:fillRect l="0" t="-131860" r="0" b="-131860"/>
              </a:stretch>
            </a:blipFill>
          </p:spPr>
        </p:sp>
        <p:sp>
          <p:nvSpPr>
            <p:cNvPr name="TextBox 15" id="15"/>
            <p:cNvSpPr txBox="true"/>
            <p:nvPr/>
          </p:nvSpPr>
          <p:spPr>
            <a:xfrm>
              <a:off x="0" y="-66675"/>
              <a:ext cx="20482560" cy="2261235"/>
            </a:xfrm>
            <a:prstGeom prst="rect">
              <a:avLst/>
            </a:prstGeom>
          </p:spPr>
          <p:txBody>
            <a:bodyPr anchor="ctr" rtlCol="false" tIns="0" lIns="0" bIns="0" rIns="0"/>
            <a:lstStyle/>
            <a:p>
              <a:pPr algn="l">
                <a:lnSpc>
                  <a:spcPts val="3487"/>
                </a:lnSpc>
              </a:pPr>
              <a:r>
                <a:rPr lang="en-US" sz="2325" i="true">
                  <a:solidFill>
                    <a:srgbClr val="23262F"/>
                  </a:solidFill>
                  <a:latin typeface="Cambria Italics"/>
                  <a:ea typeface="Cambria Italics"/>
                  <a:cs typeface="Cambria Italics"/>
                  <a:sym typeface="Cambria Italics"/>
                </a:rPr>
                <a:t>"The province needs to formally designate someone accountable for privacy compliance across every department."</a:t>
              </a:r>
            </a:p>
          </p:txBody>
        </p:sp>
      </p:grpSp>
      <p:grpSp>
        <p:nvGrpSpPr>
          <p:cNvPr name="Group 16" id="16"/>
          <p:cNvGrpSpPr/>
          <p:nvPr/>
        </p:nvGrpSpPr>
        <p:grpSpPr>
          <a:xfrm rot="0">
            <a:off x="950595" y="4928235"/>
            <a:ext cx="5162550" cy="842010"/>
            <a:chOff x="0" y="0"/>
            <a:chExt cx="6883400" cy="1122680"/>
          </a:xfrm>
        </p:grpSpPr>
        <p:sp>
          <p:nvSpPr>
            <p:cNvPr name="Freeform 17" id="17"/>
            <p:cNvSpPr/>
            <p:nvPr/>
          </p:nvSpPr>
          <p:spPr>
            <a:xfrm flipH="false" flipV="false" rot="0">
              <a:off x="0" y="0"/>
              <a:ext cx="6883400" cy="1122680"/>
            </a:xfrm>
            <a:custGeom>
              <a:avLst/>
              <a:gdLst/>
              <a:ahLst/>
              <a:cxnLst/>
              <a:rect r="r" b="b" t="t" l="l"/>
              <a:pathLst>
                <a:path h="1122680" w="6883400">
                  <a:moveTo>
                    <a:pt x="0" y="168402"/>
                  </a:moveTo>
                  <a:cubicBezTo>
                    <a:pt x="0" y="75438"/>
                    <a:pt x="75438" y="0"/>
                    <a:pt x="168402" y="0"/>
                  </a:cubicBezTo>
                  <a:lnTo>
                    <a:pt x="6714998" y="0"/>
                  </a:lnTo>
                  <a:cubicBezTo>
                    <a:pt x="6807962" y="0"/>
                    <a:pt x="6883400" y="75438"/>
                    <a:pt x="6883400" y="168402"/>
                  </a:cubicBezTo>
                  <a:lnTo>
                    <a:pt x="6883400" y="954278"/>
                  </a:lnTo>
                  <a:cubicBezTo>
                    <a:pt x="6883400" y="1047242"/>
                    <a:pt x="6807962" y="1122680"/>
                    <a:pt x="6714998" y="1122680"/>
                  </a:cubicBezTo>
                  <a:lnTo>
                    <a:pt x="168402" y="1122680"/>
                  </a:lnTo>
                  <a:cubicBezTo>
                    <a:pt x="75438" y="1122680"/>
                    <a:pt x="0" y="1047242"/>
                    <a:pt x="0" y="954278"/>
                  </a:cubicBezTo>
                  <a:close/>
                </a:path>
              </a:pathLst>
            </a:custGeom>
            <a:solidFill>
              <a:srgbClr val="F4F7FC"/>
            </a:solidFill>
            <a:ln w="19050" cap="sq">
              <a:solidFill>
                <a:srgbClr val="D7DCEC"/>
              </a:solidFill>
              <a:prstDash val="solid"/>
              <a:miter/>
            </a:ln>
          </p:spPr>
        </p:sp>
      </p:grpSp>
      <p:grpSp>
        <p:nvGrpSpPr>
          <p:cNvPr name="Group 18" id="18"/>
          <p:cNvGrpSpPr/>
          <p:nvPr/>
        </p:nvGrpSpPr>
        <p:grpSpPr>
          <a:xfrm rot="0">
            <a:off x="960120" y="5006340"/>
            <a:ext cx="5143500" cy="521208"/>
            <a:chOff x="0" y="0"/>
            <a:chExt cx="6858000" cy="694944"/>
          </a:xfrm>
        </p:grpSpPr>
        <p:sp>
          <p:nvSpPr>
            <p:cNvPr name="Freeform 19" id="19"/>
            <p:cNvSpPr/>
            <p:nvPr/>
          </p:nvSpPr>
          <p:spPr>
            <a:xfrm flipH="false" flipV="false" rot="0">
              <a:off x="0" y="0"/>
              <a:ext cx="6858000" cy="694944"/>
            </a:xfrm>
            <a:custGeom>
              <a:avLst/>
              <a:gdLst/>
              <a:ahLst/>
              <a:cxnLst/>
              <a:rect r="r" b="b" t="t" l="l"/>
              <a:pathLst>
                <a:path h="694944" w="6858000">
                  <a:moveTo>
                    <a:pt x="0" y="0"/>
                  </a:moveTo>
                  <a:lnTo>
                    <a:pt x="6858000" y="0"/>
                  </a:lnTo>
                  <a:lnTo>
                    <a:pt x="6858000" y="694944"/>
                  </a:lnTo>
                  <a:lnTo>
                    <a:pt x="0" y="694944"/>
                  </a:lnTo>
                  <a:close/>
                </a:path>
              </a:pathLst>
            </a:custGeom>
            <a:blipFill>
              <a:blip r:embed="rId2">
                <a:alphaModFix amt="0"/>
              </a:blip>
              <a:stretch>
                <a:fillRect l="0" t="-142286" r="0" b="-142286"/>
              </a:stretch>
            </a:blipFill>
          </p:spPr>
        </p:sp>
        <p:sp>
          <p:nvSpPr>
            <p:cNvPr name="TextBox 20" id="20"/>
            <p:cNvSpPr txBox="true"/>
            <p:nvPr/>
          </p:nvSpPr>
          <p:spPr>
            <a:xfrm>
              <a:off x="0" y="-38100"/>
              <a:ext cx="6858000" cy="733044"/>
            </a:xfrm>
            <a:prstGeom prst="rect">
              <a:avLst/>
            </a:prstGeom>
          </p:spPr>
          <p:txBody>
            <a:bodyPr anchor="ctr" rtlCol="false" tIns="0" lIns="0" bIns="0" rIns="0"/>
            <a:lstStyle/>
            <a:p>
              <a:pPr algn="ctr">
                <a:lnSpc>
                  <a:spcPts val="2250"/>
                </a:lnSpc>
              </a:pPr>
              <a:r>
                <a:rPr lang="en-US" sz="1875">
                  <a:solidFill>
                    <a:srgbClr val="6B7280"/>
                  </a:solidFill>
                  <a:latin typeface="Calibri (MS)"/>
                  <a:ea typeface="Calibri (MS)"/>
                  <a:cs typeface="Calibri (MS)"/>
                  <a:sym typeface="Calibri (MS)"/>
                </a:rPr>
                <a:t>E-Commerce Act</a:t>
              </a:r>
            </a:p>
          </p:txBody>
        </p:sp>
      </p:grpSp>
      <p:grpSp>
        <p:nvGrpSpPr>
          <p:cNvPr name="Group 21" id="21"/>
          <p:cNvGrpSpPr/>
          <p:nvPr/>
        </p:nvGrpSpPr>
        <p:grpSpPr>
          <a:xfrm rot="0">
            <a:off x="960120" y="5376672"/>
            <a:ext cx="5143500" cy="329184"/>
            <a:chOff x="0" y="0"/>
            <a:chExt cx="6858000" cy="438912"/>
          </a:xfrm>
        </p:grpSpPr>
        <p:sp>
          <p:nvSpPr>
            <p:cNvPr name="Freeform 22" id="22"/>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23" id="23"/>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9AA3B8"/>
                  </a:solidFill>
                  <a:latin typeface="Arimo"/>
                  <a:ea typeface="Arimo"/>
                  <a:cs typeface="Arimo"/>
                  <a:sym typeface="Arimo"/>
                </a:rPr>
                <a:t>ECA</a:t>
              </a:r>
            </a:p>
          </p:txBody>
        </p:sp>
      </p:grpSp>
      <p:grpSp>
        <p:nvGrpSpPr>
          <p:cNvPr name="Group 24" id="24"/>
          <p:cNvGrpSpPr/>
          <p:nvPr/>
        </p:nvGrpSpPr>
        <p:grpSpPr>
          <a:xfrm rot="0">
            <a:off x="6533007" y="4928235"/>
            <a:ext cx="5162550" cy="842010"/>
            <a:chOff x="0" y="0"/>
            <a:chExt cx="6883400" cy="1122680"/>
          </a:xfrm>
        </p:grpSpPr>
        <p:sp>
          <p:nvSpPr>
            <p:cNvPr name="Freeform 25" id="25"/>
            <p:cNvSpPr/>
            <p:nvPr/>
          </p:nvSpPr>
          <p:spPr>
            <a:xfrm flipH="false" flipV="false" rot="0">
              <a:off x="0" y="0"/>
              <a:ext cx="6883400" cy="1122680"/>
            </a:xfrm>
            <a:custGeom>
              <a:avLst/>
              <a:gdLst/>
              <a:ahLst/>
              <a:cxnLst/>
              <a:rect r="r" b="b" t="t" l="l"/>
              <a:pathLst>
                <a:path h="1122680" w="6883400">
                  <a:moveTo>
                    <a:pt x="0" y="168402"/>
                  </a:moveTo>
                  <a:cubicBezTo>
                    <a:pt x="0" y="75438"/>
                    <a:pt x="75438" y="0"/>
                    <a:pt x="168402" y="0"/>
                  </a:cubicBezTo>
                  <a:lnTo>
                    <a:pt x="6714998" y="0"/>
                  </a:lnTo>
                  <a:cubicBezTo>
                    <a:pt x="6807962" y="0"/>
                    <a:pt x="6883400" y="75438"/>
                    <a:pt x="6883400" y="168402"/>
                  </a:cubicBezTo>
                  <a:lnTo>
                    <a:pt x="6883400" y="954278"/>
                  </a:lnTo>
                  <a:cubicBezTo>
                    <a:pt x="6883400" y="1047242"/>
                    <a:pt x="6807962" y="1122680"/>
                    <a:pt x="6714998" y="1122680"/>
                  </a:cubicBezTo>
                  <a:lnTo>
                    <a:pt x="168402" y="1122680"/>
                  </a:lnTo>
                  <a:cubicBezTo>
                    <a:pt x="75438" y="1122680"/>
                    <a:pt x="0" y="1047242"/>
                    <a:pt x="0" y="954278"/>
                  </a:cubicBezTo>
                  <a:close/>
                </a:path>
              </a:pathLst>
            </a:custGeom>
            <a:solidFill>
              <a:srgbClr val="F4F7FC"/>
            </a:solidFill>
            <a:ln w="19050" cap="sq">
              <a:solidFill>
                <a:srgbClr val="D7DCEC"/>
              </a:solidFill>
              <a:prstDash val="solid"/>
              <a:miter/>
            </a:ln>
          </p:spPr>
        </p:sp>
      </p:grpSp>
      <p:grpSp>
        <p:nvGrpSpPr>
          <p:cNvPr name="Group 26" id="26"/>
          <p:cNvGrpSpPr/>
          <p:nvPr/>
        </p:nvGrpSpPr>
        <p:grpSpPr>
          <a:xfrm rot="0">
            <a:off x="6542532" y="5006340"/>
            <a:ext cx="5143500" cy="521208"/>
            <a:chOff x="0" y="0"/>
            <a:chExt cx="6858000" cy="694944"/>
          </a:xfrm>
        </p:grpSpPr>
        <p:sp>
          <p:nvSpPr>
            <p:cNvPr name="Freeform 27" id="27"/>
            <p:cNvSpPr/>
            <p:nvPr/>
          </p:nvSpPr>
          <p:spPr>
            <a:xfrm flipH="false" flipV="false" rot="0">
              <a:off x="0" y="0"/>
              <a:ext cx="6858000" cy="694944"/>
            </a:xfrm>
            <a:custGeom>
              <a:avLst/>
              <a:gdLst/>
              <a:ahLst/>
              <a:cxnLst/>
              <a:rect r="r" b="b" t="t" l="l"/>
              <a:pathLst>
                <a:path h="694944" w="6858000">
                  <a:moveTo>
                    <a:pt x="0" y="0"/>
                  </a:moveTo>
                  <a:lnTo>
                    <a:pt x="6858000" y="0"/>
                  </a:lnTo>
                  <a:lnTo>
                    <a:pt x="6858000" y="694944"/>
                  </a:lnTo>
                  <a:lnTo>
                    <a:pt x="0" y="694944"/>
                  </a:lnTo>
                  <a:close/>
                </a:path>
              </a:pathLst>
            </a:custGeom>
            <a:blipFill>
              <a:blip r:embed="rId2">
                <a:alphaModFix amt="0"/>
              </a:blip>
              <a:stretch>
                <a:fillRect l="0" t="-142286" r="0" b="-142286"/>
              </a:stretch>
            </a:blipFill>
          </p:spPr>
        </p:sp>
        <p:sp>
          <p:nvSpPr>
            <p:cNvPr name="TextBox 28" id="28"/>
            <p:cNvSpPr txBox="true"/>
            <p:nvPr/>
          </p:nvSpPr>
          <p:spPr>
            <a:xfrm>
              <a:off x="0" y="-38100"/>
              <a:ext cx="6858000" cy="733044"/>
            </a:xfrm>
            <a:prstGeom prst="rect">
              <a:avLst/>
            </a:prstGeom>
          </p:spPr>
          <p:txBody>
            <a:bodyPr anchor="ctr" rtlCol="false" tIns="0" lIns="0" bIns="0" rIns="0"/>
            <a:lstStyle/>
            <a:p>
              <a:pPr algn="ctr">
                <a:lnSpc>
                  <a:spcPts val="2250"/>
                </a:lnSpc>
              </a:pPr>
              <a:r>
                <a:rPr lang="en-US" sz="1875">
                  <a:solidFill>
                    <a:srgbClr val="6B7280"/>
                  </a:solidFill>
                  <a:latin typeface="Calibri (MS)"/>
                  <a:ea typeface="Calibri (MS)"/>
                  <a:cs typeface="Calibri (MS)"/>
                  <a:sym typeface="Calibri (MS)"/>
                </a:rPr>
                <a:t>Cybercrime Act</a:t>
              </a:r>
            </a:p>
          </p:txBody>
        </p:sp>
      </p:grpSp>
      <p:grpSp>
        <p:nvGrpSpPr>
          <p:cNvPr name="Group 29" id="29"/>
          <p:cNvGrpSpPr/>
          <p:nvPr/>
        </p:nvGrpSpPr>
        <p:grpSpPr>
          <a:xfrm rot="0">
            <a:off x="6542532" y="5376672"/>
            <a:ext cx="5143500" cy="329184"/>
            <a:chOff x="0" y="0"/>
            <a:chExt cx="6858000" cy="438912"/>
          </a:xfrm>
        </p:grpSpPr>
        <p:sp>
          <p:nvSpPr>
            <p:cNvPr name="Freeform 30" id="30"/>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31" id="31"/>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9AA3B8"/>
                  </a:solidFill>
                  <a:latin typeface="Arimo"/>
                  <a:ea typeface="Arimo"/>
                  <a:cs typeface="Arimo"/>
                  <a:sym typeface="Arimo"/>
                </a:rPr>
                <a:t>CPA</a:t>
              </a:r>
            </a:p>
          </p:txBody>
        </p:sp>
      </p:grpSp>
      <p:grpSp>
        <p:nvGrpSpPr>
          <p:cNvPr name="Group 32" id="32"/>
          <p:cNvGrpSpPr/>
          <p:nvPr/>
        </p:nvGrpSpPr>
        <p:grpSpPr>
          <a:xfrm rot="0">
            <a:off x="950595" y="5998083"/>
            <a:ext cx="5162550" cy="842010"/>
            <a:chOff x="0" y="0"/>
            <a:chExt cx="6883400" cy="1122680"/>
          </a:xfrm>
        </p:grpSpPr>
        <p:sp>
          <p:nvSpPr>
            <p:cNvPr name="Freeform 33" id="33"/>
            <p:cNvSpPr/>
            <p:nvPr/>
          </p:nvSpPr>
          <p:spPr>
            <a:xfrm flipH="false" flipV="false" rot="0">
              <a:off x="0" y="0"/>
              <a:ext cx="6883400" cy="1122680"/>
            </a:xfrm>
            <a:custGeom>
              <a:avLst/>
              <a:gdLst/>
              <a:ahLst/>
              <a:cxnLst/>
              <a:rect r="r" b="b" t="t" l="l"/>
              <a:pathLst>
                <a:path h="1122680" w="6883400">
                  <a:moveTo>
                    <a:pt x="0" y="168402"/>
                  </a:moveTo>
                  <a:cubicBezTo>
                    <a:pt x="0" y="75438"/>
                    <a:pt x="75438" y="0"/>
                    <a:pt x="168402" y="0"/>
                  </a:cubicBezTo>
                  <a:lnTo>
                    <a:pt x="6714998" y="0"/>
                  </a:lnTo>
                  <a:cubicBezTo>
                    <a:pt x="6807962" y="0"/>
                    <a:pt x="6883400" y="75438"/>
                    <a:pt x="6883400" y="168402"/>
                  </a:cubicBezTo>
                  <a:lnTo>
                    <a:pt x="6883400" y="954278"/>
                  </a:lnTo>
                  <a:cubicBezTo>
                    <a:pt x="6883400" y="1047242"/>
                    <a:pt x="6807962" y="1122680"/>
                    <a:pt x="6714998" y="1122680"/>
                  </a:cubicBezTo>
                  <a:lnTo>
                    <a:pt x="168402" y="1122680"/>
                  </a:lnTo>
                  <a:cubicBezTo>
                    <a:pt x="75438" y="1122680"/>
                    <a:pt x="0" y="1047242"/>
                    <a:pt x="0" y="954278"/>
                  </a:cubicBezTo>
                  <a:close/>
                </a:path>
              </a:pathLst>
            </a:custGeom>
            <a:solidFill>
              <a:srgbClr val="6C4FD1"/>
            </a:solidFill>
            <a:ln w="19050" cap="sq">
              <a:solidFill>
                <a:srgbClr val="6C4FD1"/>
              </a:solidFill>
              <a:prstDash val="solid"/>
              <a:miter/>
            </a:ln>
          </p:spPr>
        </p:sp>
      </p:grpSp>
      <p:grpSp>
        <p:nvGrpSpPr>
          <p:cNvPr name="Group 34" id="34"/>
          <p:cNvGrpSpPr/>
          <p:nvPr/>
        </p:nvGrpSpPr>
        <p:grpSpPr>
          <a:xfrm rot="0">
            <a:off x="960120" y="6076188"/>
            <a:ext cx="5143500" cy="521208"/>
            <a:chOff x="0" y="0"/>
            <a:chExt cx="6858000" cy="694944"/>
          </a:xfrm>
        </p:grpSpPr>
        <p:sp>
          <p:nvSpPr>
            <p:cNvPr name="Freeform 35" id="35"/>
            <p:cNvSpPr/>
            <p:nvPr/>
          </p:nvSpPr>
          <p:spPr>
            <a:xfrm flipH="false" flipV="false" rot="0">
              <a:off x="0" y="0"/>
              <a:ext cx="6858000" cy="694944"/>
            </a:xfrm>
            <a:custGeom>
              <a:avLst/>
              <a:gdLst/>
              <a:ahLst/>
              <a:cxnLst/>
              <a:rect r="r" b="b" t="t" l="l"/>
              <a:pathLst>
                <a:path h="694944" w="6858000">
                  <a:moveTo>
                    <a:pt x="0" y="0"/>
                  </a:moveTo>
                  <a:lnTo>
                    <a:pt x="6858000" y="0"/>
                  </a:lnTo>
                  <a:lnTo>
                    <a:pt x="6858000" y="694944"/>
                  </a:lnTo>
                  <a:lnTo>
                    <a:pt x="0" y="694944"/>
                  </a:lnTo>
                  <a:close/>
                </a:path>
              </a:pathLst>
            </a:custGeom>
            <a:blipFill>
              <a:blip r:embed="rId2">
                <a:alphaModFix amt="0"/>
              </a:blip>
              <a:stretch>
                <a:fillRect l="0" t="-142286" r="0" b="-142286"/>
              </a:stretch>
            </a:blipFill>
          </p:spPr>
        </p:sp>
        <p:sp>
          <p:nvSpPr>
            <p:cNvPr name="TextBox 36" id="36"/>
            <p:cNvSpPr txBox="true"/>
            <p:nvPr/>
          </p:nvSpPr>
          <p:spPr>
            <a:xfrm>
              <a:off x="0" y="-38100"/>
              <a:ext cx="6858000" cy="733044"/>
            </a:xfrm>
            <a:prstGeom prst="rect">
              <a:avLst/>
            </a:prstGeom>
          </p:spPr>
          <p:txBody>
            <a:bodyPr anchor="ctr" rtlCol="false" tIns="0" lIns="0" bIns="0" rIns="0"/>
            <a:lstStyle/>
            <a:p>
              <a:pPr algn="ctr">
                <a:lnSpc>
                  <a:spcPts val="2250"/>
                </a:lnSpc>
              </a:pPr>
              <a:r>
                <a:rPr lang="en-US" sz="1875" b="true">
                  <a:solidFill>
                    <a:srgbClr val="FFFFFF"/>
                  </a:solidFill>
                  <a:latin typeface="Calibri (MS) Bold"/>
                  <a:ea typeface="Calibri (MS) Bold"/>
                  <a:cs typeface="Calibri (MS) Bold"/>
                  <a:sym typeface="Calibri (MS) Bold"/>
                </a:rPr>
                <a:t>✓  Data Privacy Act</a:t>
              </a:r>
            </a:p>
          </p:txBody>
        </p:sp>
      </p:grpSp>
      <p:grpSp>
        <p:nvGrpSpPr>
          <p:cNvPr name="Group 37" id="37"/>
          <p:cNvGrpSpPr/>
          <p:nvPr/>
        </p:nvGrpSpPr>
        <p:grpSpPr>
          <a:xfrm rot="0">
            <a:off x="960120" y="6446520"/>
            <a:ext cx="5143500" cy="329184"/>
            <a:chOff x="0" y="0"/>
            <a:chExt cx="6858000" cy="438912"/>
          </a:xfrm>
        </p:grpSpPr>
        <p:sp>
          <p:nvSpPr>
            <p:cNvPr name="Freeform 38" id="38"/>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39" id="39"/>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FFFFFF"/>
                  </a:solidFill>
                  <a:latin typeface="Arimo"/>
                  <a:ea typeface="Arimo"/>
                  <a:cs typeface="Arimo"/>
                  <a:sym typeface="Arimo"/>
                </a:rPr>
                <a:t>DPA</a:t>
              </a:r>
            </a:p>
          </p:txBody>
        </p:sp>
      </p:grpSp>
      <p:grpSp>
        <p:nvGrpSpPr>
          <p:cNvPr name="Group 40" id="40"/>
          <p:cNvGrpSpPr/>
          <p:nvPr/>
        </p:nvGrpSpPr>
        <p:grpSpPr>
          <a:xfrm rot="0">
            <a:off x="6533007" y="5998083"/>
            <a:ext cx="5162550" cy="842010"/>
            <a:chOff x="0" y="0"/>
            <a:chExt cx="6883400" cy="1122680"/>
          </a:xfrm>
        </p:grpSpPr>
        <p:sp>
          <p:nvSpPr>
            <p:cNvPr name="Freeform 41" id="41"/>
            <p:cNvSpPr/>
            <p:nvPr/>
          </p:nvSpPr>
          <p:spPr>
            <a:xfrm flipH="false" flipV="false" rot="0">
              <a:off x="0" y="0"/>
              <a:ext cx="6883400" cy="1122680"/>
            </a:xfrm>
            <a:custGeom>
              <a:avLst/>
              <a:gdLst/>
              <a:ahLst/>
              <a:cxnLst/>
              <a:rect r="r" b="b" t="t" l="l"/>
              <a:pathLst>
                <a:path h="1122680" w="6883400">
                  <a:moveTo>
                    <a:pt x="0" y="168402"/>
                  </a:moveTo>
                  <a:cubicBezTo>
                    <a:pt x="0" y="75438"/>
                    <a:pt x="75438" y="0"/>
                    <a:pt x="168402" y="0"/>
                  </a:cubicBezTo>
                  <a:lnTo>
                    <a:pt x="6714998" y="0"/>
                  </a:lnTo>
                  <a:cubicBezTo>
                    <a:pt x="6807962" y="0"/>
                    <a:pt x="6883400" y="75438"/>
                    <a:pt x="6883400" y="168402"/>
                  </a:cubicBezTo>
                  <a:lnTo>
                    <a:pt x="6883400" y="954278"/>
                  </a:lnTo>
                  <a:cubicBezTo>
                    <a:pt x="6883400" y="1047242"/>
                    <a:pt x="6807962" y="1122680"/>
                    <a:pt x="6714998" y="1122680"/>
                  </a:cubicBezTo>
                  <a:lnTo>
                    <a:pt x="168402" y="1122680"/>
                  </a:lnTo>
                  <a:cubicBezTo>
                    <a:pt x="75438" y="1122680"/>
                    <a:pt x="0" y="1047242"/>
                    <a:pt x="0" y="954278"/>
                  </a:cubicBezTo>
                  <a:close/>
                </a:path>
              </a:pathLst>
            </a:custGeom>
            <a:solidFill>
              <a:srgbClr val="F4F7FC"/>
            </a:solidFill>
            <a:ln w="19050" cap="sq">
              <a:solidFill>
                <a:srgbClr val="D7DCEC"/>
              </a:solidFill>
              <a:prstDash val="solid"/>
              <a:miter/>
            </a:ln>
          </p:spPr>
        </p:sp>
      </p:grpSp>
      <p:grpSp>
        <p:nvGrpSpPr>
          <p:cNvPr name="Group 42" id="42"/>
          <p:cNvGrpSpPr/>
          <p:nvPr/>
        </p:nvGrpSpPr>
        <p:grpSpPr>
          <a:xfrm rot="0">
            <a:off x="6542532" y="6076188"/>
            <a:ext cx="5143500" cy="521208"/>
            <a:chOff x="0" y="0"/>
            <a:chExt cx="6858000" cy="694944"/>
          </a:xfrm>
        </p:grpSpPr>
        <p:sp>
          <p:nvSpPr>
            <p:cNvPr name="Freeform 43" id="43"/>
            <p:cNvSpPr/>
            <p:nvPr/>
          </p:nvSpPr>
          <p:spPr>
            <a:xfrm flipH="false" flipV="false" rot="0">
              <a:off x="0" y="0"/>
              <a:ext cx="6858000" cy="694944"/>
            </a:xfrm>
            <a:custGeom>
              <a:avLst/>
              <a:gdLst/>
              <a:ahLst/>
              <a:cxnLst/>
              <a:rect r="r" b="b" t="t" l="l"/>
              <a:pathLst>
                <a:path h="694944" w="6858000">
                  <a:moveTo>
                    <a:pt x="0" y="0"/>
                  </a:moveTo>
                  <a:lnTo>
                    <a:pt x="6858000" y="0"/>
                  </a:lnTo>
                  <a:lnTo>
                    <a:pt x="6858000" y="694944"/>
                  </a:lnTo>
                  <a:lnTo>
                    <a:pt x="0" y="694944"/>
                  </a:lnTo>
                  <a:close/>
                </a:path>
              </a:pathLst>
            </a:custGeom>
            <a:blipFill>
              <a:blip r:embed="rId2">
                <a:alphaModFix amt="0"/>
              </a:blip>
              <a:stretch>
                <a:fillRect l="0" t="-142286" r="0" b="-142286"/>
              </a:stretch>
            </a:blipFill>
          </p:spPr>
        </p:sp>
        <p:sp>
          <p:nvSpPr>
            <p:cNvPr name="TextBox 44" id="44"/>
            <p:cNvSpPr txBox="true"/>
            <p:nvPr/>
          </p:nvSpPr>
          <p:spPr>
            <a:xfrm>
              <a:off x="0" y="-38100"/>
              <a:ext cx="6858000" cy="733044"/>
            </a:xfrm>
            <a:prstGeom prst="rect">
              <a:avLst/>
            </a:prstGeom>
          </p:spPr>
          <p:txBody>
            <a:bodyPr anchor="ctr" rtlCol="false" tIns="0" lIns="0" bIns="0" rIns="0"/>
            <a:lstStyle/>
            <a:p>
              <a:pPr algn="ctr">
                <a:lnSpc>
                  <a:spcPts val="2250"/>
                </a:lnSpc>
              </a:pPr>
              <a:r>
                <a:rPr lang="en-US" sz="1875">
                  <a:solidFill>
                    <a:srgbClr val="6B7280"/>
                  </a:solidFill>
                  <a:latin typeface="Calibri (MS)"/>
                  <a:ea typeface="Calibri (MS)"/>
                  <a:cs typeface="Calibri (MS)"/>
                  <a:sym typeface="Calibri (MS)"/>
                </a:rPr>
                <a:t>DICT Act / NCSP</a:t>
              </a:r>
            </a:p>
          </p:txBody>
        </p:sp>
      </p:grpSp>
      <p:grpSp>
        <p:nvGrpSpPr>
          <p:cNvPr name="Group 45" id="45"/>
          <p:cNvGrpSpPr/>
          <p:nvPr/>
        </p:nvGrpSpPr>
        <p:grpSpPr>
          <a:xfrm rot="0">
            <a:off x="6542532" y="6446520"/>
            <a:ext cx="5143500" cy="329184"/>
            <a:chOff x="0" y="0"/>
            <a:chExt cx="6858000" cy="438912"/>
          </a:xfrm>
        </p:grpSpPr>
        <p:sp>
          <p:nvSpPr>
            <p:cNvPr name="Freeform 46" id="46"/>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47" id="47"/>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9AA3B8"/>
                  </a:solidFill>
                  <a:latin typeface="Arimo"/>
                  <a:ea typeface="Arimo"/>
                  <a:cs typeface="Arimo"/>
                  <a:sym typeface="Arimo"/>
                </a:rPr>
                <a:t>DICT</a:t>
              </a:r>
            </a:p>
          </p:txBody>
        </p:sp>
      </p:grpSp>
      <p:grpSp>
        <p:nvGrpSpPr>
          <p:cNvPr name="Group 48" id="48"/>
          <p:cNvGrpSpPr/>
          <p:nvPr/>
        </p:nvGrpSpPr>
        <p:grpSpPr>
          <a:xfrm rot="0">
            <a:off x="12115419" y="4928235"/>
            <a:ext cx="5162550" cy="1911858"/>
            <a:chOff x="0" y="0"/>
            <a:chExt cx="6883400" cy="2549144"/>
          </a:xfrm>
        </p:grpSpPr>
        <p:sp>
          <p:nvSpPr>
            <p:cNvPr name="Freeform 49" id="49"/>
            <p:cNvSpPr/>
            <p:nvPr/>
          </p:nvSpPr>
          <p:spPr>
            <a:xfrm flipH="false" flipV="false" rot="0">
              <a:off x="0" y="0"/>
              <a:ext cx="6883400" cy="2549144"/>
            </a:xfrm>
            <a:custGeom>
              <a:avLst/>
              <a:gdLst/>
              <a:ahLst/>
              <a:cxnLst/>
              <a:rect r="r" b="b" t="t" l="l"/>
              <a:pathLst>
                <a:path h="2549144" w="6883400">
                  <a:moveTo>
                    <a:pt x="0" y="166243"/>
                  </a:moveTo>
                  <a:cubicBezTo>
                    <a:pt x="0" y="74422"/>
                    <a:pt x="74422" y="0"/>
                    <a:pt x="166243" y="0"/>
                  </a:cubicBezTo>
                  <a:lnTo>
                    <a:pt x="6717157" y="0"/>
                  </a:lnTo>
                  <a:cubicBezTo>
                    <a:pt x="6808978" y="0"/>
                    <a:pt x="6883400" y="74422"/>
                    <a:pt x="6883400" y="166243"/>
                  </a:cubicBezTo>
                  <a:lnTo>
                    <a:pt x="6883400" y="2382901"/>
                  </a:lnTo>
                  <a:cubicBezTo>
                    <a:pt x="6883400" y="2474722"/>
                    <a:pt x="6808978" y="2549144"/>
                    <a:pt x="6717157" y="2549144"/>
                  </a:cubicBezTo>
                  <a:lnTo>
                    <a:pt x="166243" y="2549144"/>
                  </a:lnTo>
                  <a:cubicBezTo>
                    <a:pt x="74422" y="2549144"/>
                    <a:pt x="0" y="2474722"/>
                    <a:pt x="0" y="2382901"/>
                  </a:cubicBezTo>
                  <a:close/>
                </a:path>
              </a:pathLst>
            </a:custGeom>
            <a:solidFill>
              <a:srgbClr val="F4F7FC"/>
            </a:solidFill>
            <a:ln w="19050" cap="sq">
              <a:solidFill>
                <a:srgbClr val="D7DCEC"/>
              </a:solidFill>
              <a:prstDash val="solid"/>
              <a:miter/>
            </a:ln>
          </p:spPr>
        </p:sp>
      </p:grpSp>
      <p:grpSp>
        <p:nvGrpSpPr>
          <p:cNvPr name="Group 50" id="50"/>
          <p:cNvGrpSpPr/>
          <p:nvPr/>
        </p:nvGrpSpPr>
        <p:grpSpPr>
          <a:xfrm rot="0">
            <a:off x="12124944" y="5006340"/>
            <a:ext cx="5143500" cy="1591056"/>
            <a:chOff x="0" y="0"/>
            <a:chExt cx="6858000" cy="2121408"/>
          </a:xfrm>
        </p:grpSpPr>
        <p:sp>
          <p:nvSpPr>
            <p:cNvPr name="Freeform 51" id="51"/>
            <p:cNvSpPr/>
            <p:nvPr/>
          </p:nvSpPr>
          <p:spPr>
            <a:xfrm flipH="false" flipV="false" rot="0">
              <a:off x="0" y="0"/>
              <a:ext cx="6858000" cy="2121408"/>
            </a:xfrm>
            <a:custGeom>
              <a:avLst/>
              <a:gdLst/>
              <a:ahLst/>
              <a:cxnLst/>
              <a:rect r="r" b="b" t="t" l="l"/>
              <a:pathLst>
                <a:path h="2121408" w="6858000">
                  <a:moveTo>
                    <a:pt x="0" y="0"/>
                  </a:moveTo>
                  <a:lnTo>
                    <a:pt x="6858000" y="0"/>
                  </a:lnTo>
                  <a:lnTo>
                    <a:pt x="6858000" y="2121408"/>
                  </a:lnTo>
                  <a:lnTo>
                    <a:pt x="0" y="2121408"/>
                  </a:lnTo>
                  <a:close/>
                </a:path>
              </a:pathLst>
            </a:custGeom>
            <a:blipFill>
              <a:blip r:embed="rId2">
                <a:alphaModFix amt="0"/>
              </a:blip>
              <a:stretch>
                <a:fillRect l="0" t="-12990" r="0" b="-12990"/>
              </a:stretch>
            </a:blipFill>
          </p:spPr>
        </p:sp>
        <p:sp>
          <p:nvSpPr>
            <p:cNvPr name="TextBox 52" id="52"/>
            <p:cNvSpPr txBox="true"/>
            <p:nvPr/>
          </p:nvSpPr>
          <p:spPr>
            <a:xfrm>
              <a:off x="0" y="-38100"/>
              <a:ext cx="6858000" cy="2159508"/>
            </a:xfrm>
            <a:prstGeom prst="rect">
              <a:avLst/>
            </a:prstGeom>
          </p:spPr>
          <p:txBody>
            <a:bodyPr anchor="ctr" rtlCol="false" tIns="0" lIns="0" bIns="0" rIns="0"/>
            <a:lstStyle/>
            <a:p>
              <a:pPr algn="ctr">
                <a:lnSpc>
                  <a:spcPts val="2250"/>
                </a:lnSpc>
              </a:pPr>
              <a:r>
                <a:rPr lang="en-US" sz="1875">
                  <a:solidFill>
                    <a:srgbClr val="6B7280"/>
                  </a:solidFill>
                  <a:latin typeface="Calibri (MS)"/>
                  <a:ea typeface="Calibri (MS)"/>
                  <a:cs typeface="Calibri (MS)"/>
                  <a:sym typeface="Calibri (MS)"/>
                </a:rPr>
                <a:t>Critical Infra. Protection</a:t>
              </a:r>
            </a:p>
          </p:txBody>
        </p:sp>
      </p:grpSp>
      <p:grpSp>
        <p:nvGrpSpPr>
          <p:cNvPr name="Group 53" id="53"/>
          <p:cNvGrpSpPr/>
          <p:nvPr/>
        </p:nvGrpSpPr>
        <p:grpSpPr>
          <a:xfrm rot="0">
            <a:off x="12124944" y="6446520"/>
            <a:ext cx="5143500" cy="329184"/>
            <a:chOff x="0" y="0"/>
            <a:chExt cx="6858000" cy="438912"/>
          </a:xfrm>
        </p:grpSpPr>
        <p:sp>
          <p:nvSpPr>
            <p:cNvPr name="Freeform 54" id="54"/>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55" id="55"/>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9AA3B8"/>
                  </a:solidFill>
                  <a:latin typeface="Arimo"/>
                  <a:ea typeface="Arimo"/>
                  <a:cs typeface="Arimo"/>
                  <a:sym typeface="Arimo"/>
                </a:rPr>
                <a:t>CII</a:t>
              </a:r>
            </a:p>
          </p:txBody>
        </p:sp>
      </p:grpSp>
      <p:grpSp>
        <p:nvGrpSpPr>
          <p:cNvPr name="Group 56" id="56"/>
          <p:cNvGrpSpPr/>
          <p:nvPr/>
        </p:nvGrpSpPr>
        <p:grpSpPr>
          <a:xfrm rot="0">
            <a:off x="950595" y="7328535"/>
            <a:ext cx="16341090" cy="1596390"/>
            <a:chOff x="0" y="0"/>
            <a:chExt cx="21788120" cy="2128520"/>
          </a:xfrm>
        </p:grpSpPr>
        <p:sp>
          <p:nvSpPr>
            <p:cNvPr name="Freeform 57" id="57"/>
            <p:cNvSpPr/>
            <p:nvPr/>
          </p:nvSpPr>
          <p:spPr>
            <a:xfrm flipH="false" flipV="false" rot="0">
              <a:off x="0" y="0"/>
              <a:ext cx="21788120" cy="2128520"/>
            </a:xfrm>
            <a:custGeom>
              <a:avLst/>
              <a:gdLst/>
              <a:ahLst/>
              <a:cxnLst/>
              <a:rect r="r" b="b" t="t" l="l"/>
              <a:pathLst>
                <a:path h="2128520" w="21788120">
                  <a:moveTo>
                    <a:pt x="0" y="185039"/>
                  </a:moveTo>
                  <a:cubicBezTo>
                    <a:pt x="0" y="82931"/>
                    <a:pt x="82931" y="0"/>
                    <a:pt x="185039" y="0"/>
                  </a:cubicBezTo>
                  <a:lnTo>
                    <a:pt x="21603081" y="0"/>
                  </a:lnTo>
                  <a:cubicBezTo>
                    <a:pt x="21705317" y="0"/>
                    <a:pt x="21788120" y="82931"/>
                    <a:pt x="21788120" y="185039"/>
                  </a:cubicBezTo>
                  <a:lnTo>
                    <a:pt x="21788120" y="1943481"/>
                  </a:lnTo>
                  <a:cubicBezTo>
                    <a:pt x="21788120" y="2045716"/>
                    <a:pt x="21705190" y="2128520"/>
                    <a:pt x="21603081" y="2128520"/>
                  </a:cubicBezTo>
                  <a:lnTo>
                    <a:pt x="185039" y="2128520"/>
                  </a:lnTo>
                  <a:cubicBezTo>
                    <a:pt x="82931" y="2128520"/>
                    <a:pt x="0" y="2045589"/>
                    <a:pt x="0" y="1943481"/>
                  </a:cubicBezTo>
                  <a:close/>
                </a:path>
              </a:pathLst>
            </a:custGeom>
            <a:solidFill>
              <a:srgbClr val="FBF9F4"/>
            </a:solidFill>
            <a:ln w="19050" cap="sq">
              <a:solidFill>
                <a:srgbClr val="EFE6D2"/>
              </a:solidFill>
              <a:prstDash val="solid"/>
              <a:miter/>
            </a:ln>
          </p:spPr>
        </p:sp>
      </p:grpSp>
      <p:sp>
        <p:nvSpPr>
          <p:cNvPr name="TextBox 58" id="58"/>
          <p:cNvSpPr txBox="true"/>
          <p:nvPr/>
        </p:nvSpPr>
        <p:spPr>
          <a:xfrm rot="0">
            <a:off x="1463040" y="7494270"/>
            <a:ext cx="15316200" cy="1238250"/>
          </a:xfrm>
          <a:prstGeom prst="rect">
            <a:avLst/>
          </a:prstGeom>
        </p:spPr>
        <p:txBody>
          <a:bodyPr anchor="t" rtlCol="false" tIns="0" lIns="0" bIns="0" rIns="0">
            <a:spAutoFit/>
          </a:bodyPr>
          <a:lstStyle/>
          <a:p>
            <a:pPr algn="l">
              <a:lnSpc>
                <a:spcPts val="2764"/>
              </a:lnSpc>
            </a:pPr>
            <a:r>
              <a:rPr lang="en-US" sz="1800">
                <a:solidFill>
                  <a:srgbClr val="23262F"/>
                </a:solidFill>
                <a:latin typeface="Calibri (MS)"/>
                <a:ea typeface="Calibri (MS)"/>
                <a:cs typeface="Calibri (MS)"/>
                <a:sym typeface="Calibri (MS)"/>
              </a:rPr>
              <a:t>Every government office handling personal data is required to appoint a Data Protection Officer — a requirement built out from the Data Privacy Act through National Privacy Commission circulars, and specifically directed at LGUs through DILG Memorandum Circular 2024-135.</a:t>
            </a:r>
          </a:p>
        </p:txBody>
      </p:sp>
      <p:grpSp>
        <p:nvGrpSpPr>
          <p:cNvPr name="Group 59" id="59"/>
          <p:cNvGrpSpPr/>
          <p:nvPr/>
        </p:nvGrpSpPr>
        <p:grpSpPr>
          <a:xfrm rot="0">
            <a:off x="685800" y="9710928"/>
            <a:ext cx="10972800" cy="411480"/>
            <a:chOff x="0" y="0"/>
            <a:chExt cx="14630400" cy="548640"/>
          </a:xfrm>
        </p:grpSpPr>
        <p:sp>
          <p:nvSpPr>
            <p:cNvPr name="Freeform 60" id="60"/>
            <p:cNvSpPr/>
            <p:nvPr/>
          </p:nvSpPr>
          <p:spPr>
            <a:xfrm flipH="false" flipV="false" rot="0">
              <a:off x="0" y="0"/>
              <a:ext cx="14630400" cy="548640"/>
            </a:xfrm>
            <a:custGeom>
              <a:avLst/>
              <a:gdLst/>
              <a:ahLst/>
              <a:cxnLst/>
              <a:rect r="r" b="b" t="t" l="l"/>
              <a:pathLst>
                <a:path h="548640" w="14630400">
                  <a:moveTo>
                    <a:pt x="0" y="0"/>
                  </a:moveTo>
                  <a:lnTo>
                    <a:pt x="14630400" y="0"/>
                  </a:lnTo>
                  <a:lnTo>
                    <a:pt x="14630400" y="548640"/>
                  </a:lnTo>
                  <a:lnTo>
                    <a:pt x="0" y="548640"/>
                  </a:lnTo>
                  <a:close/>
                </a:path>
              </a:pathLst>
            </a:custGeom>
            <a:blipFill>
              <a:blip r:embed="rId2">
                <a:alphaModFix amt="0"/>
              </a:blip>
              <a:stretch>
                <a:fillRect l="0" t="-469601" r="0" b="-469601"/>
              </a:stretch>
            </a:blipFill>
          </p:spPr>
        </p:sp>
        <p:sp>
          <p:nvSpPr>
            <p:cNvPr name="TextBox 61" id="61"/>
            <p:cNvSpPr txBox="true"/>
            <p:nvPr/>
          </p:nvSpPr>
          <p:spPr>
            <a:xfrm>
              <a:off x="0" y="-38100"/>
              <a:ext cx="14630400" cy="586740"/>
            </a:xfrm>
            <a:prstGeom prst="rect">
              <a:avLst/>
            </a:prstGeom>
          </p:spPr>
          <p:txBody>
            <a:bodyPr anchor="ctr" rtlCol="false" tIns="0" lIns="0" bIns="0" rIns="0"/>
            <a:lstStyle/>
            <a:p>
              <a:pPr algn="l">
                <a:lnSpc>
                  <a:spcPts val="1800"/>
                </a:lnSpc>
              </a:pPr>
              <a:r>
                <a:rPr lang="en-US" sz="1500">
                  <a:solidFill>
                    <a:srgbClr val="6B7280"/>
                  </a:solidFill>
                  <a:latin typeface="Calibri (MS)"/>
                  <a:ea typeface="Calibri (MS)"/>
                  <a:cs typeface="Calibri (MS)"/>
                  <a:sym typeface="Calibri (MS)"/>
                </a:rPr>
                <a:t>Davao del Norte Provincial Government — Cybersecurity Seminar</a:t>
              </a:r>
            </a:p>
          </p:txBody>
        </p:sp>
      </p:grpSp>
      <p:grpSp>
        <p:nvGrpSpPr>
          <p:cNvPr name="Group 62" id="62"/>
          <p:cNvGrpSpPr/>
          <p:nvPr/>
        </p:nvGrpSpPr>
        <p:grpSpPr>
          <a:xfrm rot="0">
            <a:off x="16911828" y="9710928"/>
            <a:ext cx="685800" cy="411480"/>
            <a:chOff x="0" y="0"/>
            <a:chExt cx="914400" cy="548640"/>
          </a:xfrm>
        </p:grpSpPr>
        <p:sp>
          <p:nvSpPr>
            <p:cNvPr name="Freeform 63" id="63"/>
            <p:cNvSpPr/>
            <p:nvPr/>
          </p:nvSpPr>
          <p:spPr>
            <a:xfrm flipH="false" flipV="false" rot="0">
              <a:off x="0" y="0"/>
              <a:ext cx="914400" cy="548640"/>
            </a:xfrm>
            <a:custGeom>
              <a:avLst/>
              <a:gdLst/>
              <a:ahLst/>
              <a:cxnLst/>
              <a:rect r="r" b="b" t="t" l="l"/>
              <a:pathLst>
                <a:path h="548640" w="914400">
                  <a:moveTo>
                    <a:pt x="0" y="0"/>
                  </a:moveTo>
                  <a:lnTo>
                    <a:pt x="914400" y="0"/>
                  </a:lnTo>
                  <a:lnTo>
                    <a:pt x="914400" y="548640"/>
                  </a:lnTo>
                  <a:lnTo>
                    <a:pt x="0" y="548640"/>
                  </a:lnTo>
                  <a:close/>
                </a:path>
              </a:pathLst>
            </a:custGeom>
            <a:blipFill>
              <a:blip r:embed="rId2">
                <a:alphaModFix amt="0"/>
              </a:blip>
              <a:stretch>
                <a:fillRect l="-26982" t="0" r="-26982" b="0"/>
              </a:stretch>
            </a:blipFill>
          </p:spPr>
        </p:sp>
        <p:sp>
          <p:nvSpPr>
            <p:cNvPr name="TextBox 64" id="64"/>
            <p:cNvSpPr txBox="true"/>
            <p:nvPr/>
          </p:nvSpPr>
          <p:spPr>
            <a:xfrm>
              <a:off x="0" y="-38100"/>
              <a:ext cx="914400" cy="586740"/>
            </a:xfrm>
            <a:prstGeom prst="rect">
              <a:avLst/>
            </a:prstGeom>
          </p:spPr>
          <p:txBody>
            <a:bodyPr anchor="ctr" rtlCol="false" tIns="0" lIns="0" bIns="0" rIns="0"/>
            <a:lstStyle/>
            <a:p>
              <a:pPr algn="r">
                <a:lnSpc>
                  <a:spcPts val="1800"/>
                </a:lnSpc>
              </a:pPr>
              <a:r>
                <a:rPr lang="en-US" sz="1500">
                  <a:solidFill>
                    <a:srgbClr val="6B7280"/>
                  </a:solidFill>
                  <a:latin typeface="Calibri (MS)"/>
                  <a:ea typeface="Calibri (MS)"/>
                  <a:cs typeface="Calibri (MS)"/>
                  <a:sym typeface="Calibri (MS)"/>
                </a:rPr>
                <a:t>30</a:t>
              </a:r>
            </a:p>
          </p:txBody>
        </p:sp>
      </p:grpSp>
    </p:spTree>
  </p:cSld>
  <p:clrMapOvr>
    <a:masterClrMapping/>
  </p:clrMapOvr>
</p:sld>
</file>

<file path=ppt/slides/slide14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60120" y="685800"/>
            <a:ext cx="13716000" cy="411480"/>
            <a:chOff x="0" y="0"/>
            <a:chExt cx="18288000" cy="548640"/>
          </a:xfrm>
        </p:grpSpPr>
        <p:sp>
          <p:nvSpPr>
            <p:cNvPr name="Freeform 3" id="3"/>
            <p:cNvSpPr/>
            <p:nvPr/>
          </p:nvSpPr>
          <p:spPr>
            <a:xfrm flipH="false" flipV="false" rot="0">
              <a:off x="0" y="0"/>
              <a:ext cx="18288000" cy="548640"/>
            </a:xfrm>
            <a:custGeom>
              <a:avLst/>
              <a:gdLst/>
              <a:ahLst/>
              <a:cxnLst/>
              <a:rect r="r" b="b" t="t" l="l"/>
              <a:pathLst>
                <a:path h="548640" w="18288000">
                  <a:moveTo>
                    <a:pt x="0" y="0"/>
                  </a:moveTo>
                  <a:lnTo>
                    <a:pt x="18288000" y="0"/>
                  </a:lnTo>
                  <a:lnTo>
                    <a:pt x="18288000" y="548640"/>
                  </a:lnTo>
                  <a:lnTo>
                    <a:pt x="0" y="548640"/>
                  </a:lnTo>
                  <a:close/>
                </a:path>
              </a:pathLst>
            </a:custGeom>
            <a:blipFill>
              <a:blip r:embed="rId2">
                <a:alphaModFix amt="0"/>
              </a:blip>
              <a:stretch>
                <a:fillRect l="0" t="-599501" r="0" b="-599501"/>
              </a:stretch>
            </a:blipFill>
          </p:spPr>
        </p:sp>
        <p:sp>
          <p:nvSpPr>
            <p:cNvPr name="TextBox 4" id="4"/>
            <p:cNvSpPr txBox="true"/>
            <p:nvPr/>
          </p:nvSpPr>
          <p:spPr>
            <a:xfrm>
              <a:off x="0" y="-38100"/>
              <a:ext cx="18288000" cy="586740"/>
            </a:xfrm>
            <a:prstGeom prst="rect">
              <a:avLst/>
            </a:prstGeom>
          </p:spPr>
          <p:txBody>
            <a:bodyPr anchor="ctr" rtlCol="false" tIns="0" lIns="0" bIns="0" rIns="0"/>
            <a:lstStyle/>
            <a:p>
              <a:pPr algn="l">
                <a:lnSpc>
                  <a:spcPts val="2160"/>
                </a:lnSpc>
              </a:pPr>
              <a:r>
                <a:rPr lang="en-US" b="true" sz="1800" spc="225">
                  <a:solidFill>
                    <a:srgbClr val="00B4D8"/>
                  </a:solidFill>
                  <a:latin typeface="Calibri (MS) Bold"/>
                  <a:ea typeface="Calibri (MS) Bold"/>
                  <a:cs typeface="Calibri (MS) Bold"/>
                  <a:sym typeface="Calibri (MS) Bold"/>
                </a:rPr>
                <a:t>PH CYBER LAW SORT · SCENARIO</a:t>
              </a:r>
            </a:p>
          </p:txBody>
        </p:sp>
      </p:grpSp>
      <p:grpSp>
        <p:nvGrpSpPr>
          <p:cNvPr name="Group 5" id="5"/>
          <p:cNvGrpSpPr/>
          <p:nvPr/>
        </p:nvGrpSpPr>
        <p:grpSpPr>
          <a:xfrm rot="0">
            <a:off x="960120" y="1069848"/>
            <a:ext cx="10972800" cy="822960"/>
            <a:chOff x="0" y="0"/>
            <a:chExt cx="14630400" cy="1097280"/>
          </a:xfrm>
        </p:grpSpPr>
        <p:sp>
          <p:nvSpPr>
            <p:cNvPr name="Freeform 6" id="6"/>
            <p:cNvSpPr/>
            <p:nvPr/>
          </p:nvSpPr>
          <p:spPr>
            <a:xfrm flipH="false" flipV="false" rot="0">
              <a:off x="0" y="0"/>
              <a:ext cx="14630400" cy="1097280"/>
            </a:xfrm>
            <a:custGeom>
              <a:avLst/>
              <a:gdLst/>
              <a:ahLst/>
              <a:cxnLst/>
              <a:rect r="r" b="b" t="t" l="l"/>
              <a:pathLst>
                <a:path h="1097280" w="14630400">
                  <a:moveTo>
                    <a:pt x="0" y="0"/>
                  </a:moveTo>
                  <a:lnTo>
                    <a:pt x="14630400" y="0"/>
                  </a:lnTo>
                  <a:lnTo>
                    <a:pt x="14630400" y="1097280"/>
                  </a:lnTo>
                  <a:lnTo>
                    <a:pt x="0" y="1097280"/>
                  </a:lnTo>
                  <a:close/>
                </a:path>
              </a:pathLst>
            </a:custGeom>
            <a:blipFill>
              <a:blip r:embed="rId2">
                <a:alphaModFix amt="0"/>
              </a:blip>
              <a:stretch>
                <a:fillRect l="0" t="-209800" r="0" b="-209800"/>
              </a:stretch>
            </a:blipFill>
          </p:spPr>
        </p:sp>
        <p:sp>
          <p:nvSpPr>
            <p:cNvPr name="TextBox 7" id="7"/>
            <p:cNvSpPr txBox="true"/>
            <p:nvPr/>
          </p:nvSpPr>
          <p:spPr>
            <a:xfrm>
              <a:off x="0" y="0"/>
              <a:ext cx="14630400" cy="1097280"/>
            </a:xfrm>
            <a:prstGeom prst="rect">
              <a:avLst/>
            </a:prstGeom>
          </p:spPr>
          <p:txBody>
            <a:bodyPr anchor="ctr" rtlCol="false" tIns="0" lIns="0" bIns="0" rIns="0"/>
            <a:lstStyle/>
            <a:p>
              <a:pPr algn="l">
                <a:lnSpc>
                  <a:spcPts val="4680"/>
                </a:lnSpc>
              </a:pPr>
              <a:r>
                <a:rPr lang="en-US" sz="3900" b="true">
                  <a:solidFill>
                    <a:srgbClr val="1E2761"/>
                  </a:solidFill>
                  <a:latin typeface="Cambria Bold"/>
                  <a:ea typeface="Cambria Bold"/>
                  <a:cs typeface="Cambria Bold"/>
                  <a:sym typeface="Cambria Bold"/>
                </a:rPr>
                <a:t>Scenario 11</a:t>
              </a:r>
            </a:p>
          </p:txBody>
        </p:sp>
      </p:grpSp>
      <p:grpSp>
        <p:nvGrpSpPr>
          <p:cNvPr name="Group 8" id="8"/>
          <p:cNvGrpSpPr/>
          <p:nvPr/>
        </p:nvGrpSpPr>
        <p:grpSpPr>
          <a:xfrm rot="0">
            <a:off x="960120" y="1810512"/>
            <a:ext cx="8229600" cy="411480"/>
            <a:chOff x="0" y="0"/>
            <a:chExt cx="10972800" cy="548640"/>
          </a:xfrm>
        </p:grpSpPr>
        <p:sp>
          <p:nvSpPr>
            <p:cNvPr name="Freeform 9" id="9"/>
            <p:cNvSpPr/>
            <p:nvPr/>
          </p:nvSpPr>
          <p:spPr>
            <a:xfrm flipH="false" flipV="false" rot="0">
              <a:off x="0" y="0"/>
              <a:ext cx="10972800" cy="548640"/>
            </a:xfrm>
            <a:custGeom>
              <a:avLst/>
              <a:gdLst/>
              <a:ahLst/>
              <a:cxnLst/>
              <a:rect r="r" b="b" t="t" l="l"/>
              <a:pathLst>
                <a:path h="548640" w="10972800">
                  <a:moveTo>
                    <a:pt x="0" y="0"/>
                  </a:moveTo>
                  <a:lnTo>
                    <a:pt x="10972800" y="0"/>
                  </a:lnTo>
                  <a:lnTo>
                    <a:pt x="10972800" y="548640"/>
                  </a:lnTo>
                  <a:lnTo>
                    <a:pt x="0" y="548640"/>
                  </a:lnTo>
                  <a:close/>
                </a:path>
              </a:pathLst>
            </a:custGeom>
            <a:blipFill>
              <a:blip r:embed="rId2">
                <a:alphaModFix amt="0"/>
              </a:blip>
              <a:stretch>
                <a:fillRect l="0" t="-339700" r="0" b="-339700"/>
              </a:stretch>
            </a:blipFill>
          </p:spPr>
        </p:sp>
        <p:sp>
          <p:nvSpPr>
            <p:cNvPr name="TextBox 10" id="10"/>
            <p:cNvSpPr txBox="true"/>
            <p:nvPr/>
          </p:nvSpPr>
          <p:spPr>
            <a:xfrm>
              <a:off x="0" y="-28575"/>
              <a:ext cx="10972800" cy="577215"/>
            </a:xfrm>
            <a:prstGeom prst="rect">
              <a:avLst/>
            </a:prstGeom>
          </p:spPr>
          <p:txBody>
            <a:bodyPr anchor="ctr" rtlCol="false" tIns="0" lIns="0" bIns="0" rIns="0"/>
            <a:lstStyle/>
            <a:p>
              <a:pPr algn="l">
                <a:lnSpc>
                  <a:spcPts val="1980"/>
                </a:lnSpc>
              </a:pPr>
              <a:r>
                <a:rPr lang="en-US" sz="1650">
                  <a:solidFill>
                    <a:srgbClr val="6B7280"/>
                  </a:solidFill>
                  <a:latin typeface="Calibri (MS)"/>
                  <a:ea typeface="Calibri (MS)"/>
                  <a:cs typeface="Calibri (MS)"/>
                  <a:sym typeface="Calibri (MS)"/>
                </a:rPr>
                <a:t>11 of 15</a:t>
              </a:r>
            </a:p>
          </p:txBody>
        </p:sp>
      </p:grpSp>
      <p:grpSp>
        <p:nvGrpSpPr>
          <p:cNvPr name="Group 11" id="11"/>
          <p:cNvGrpSpPr/>
          <p:nvPr/>
        </p:nvGrpSpPr>
        <p:grpSpPr>
          <a:xfrm rot="0">
            <a:off x="960120" y="2537460"/>
            <a:ext cx="16322040" cy="2811780"/>
            <a:chOff x="0" y="0"/>
            <a:chExt cx="21762720" cy="3749040"/>
          </a:xfrm>
        </p:grpSpPr>
        <p:sp>
          <p:nvSpPr>
            <p:cNvPr name="Freeform 12" id="12"/>
            <p:cNvSpPr/>
            <p:nvPr/>
          </p:nvSpPr>
          <p:spPr>
            <a:xfrm flipH="false" flipV="false" rot="0">
              <a:off x="0" y="0"/>
              <a:ext cx="21762720" cy="3749040"/>
            </a:xfrm>
            <a:custGeom>
              <a:avLst/>
              <a:gdLst/>
              <a:ahLst/>
              <a:cxnLst/>
              <a:rect r="r" b="b" t="t" l="l"/>
              <a:pathLst>
                <a:path h="3749040" w="21762720">
                  <a:moveTo>
                    <a:pt x="0" y="182880"/>
                  </a:moveTo>
                  <a:cubicBezTo>
                    <a:pt x="0" y="81915"/>
                    <a:pt x="81915" y="0"/>
                    <a:pt x="182880" y="0"/>
                  </a:cubicBezTo>
                  <a:lnTo>
                    <a:pt x="21579839" y="0"/>
                  </a:lnTo>
                  <a:cubicBezTo>
                    <a:pt x="21680804" y="0"/>
                    <a:pt x="21762720" y="81915"/>
                    <a:pt x="21762720" y="182880"/>
                  </a:cubicBezTo>
                  <a:lnTo>
                    <a:pt x="21762720" y="3566160"/>
                  </a:lnTo>
                  <a:cubicBezTo>
                    <a:pt x="21762720" y="3667125"/>
                    <a:pt x="21680804" y="3749040"/>
                    <a:pt x="21579839" y="3749040"/>
                  </a:cubicBezTo>
                  <a:lnTo>
                    <a:pt x="182880" y="3749040"/>
                  </a:lnTo>
                  <a:cubicBezTo>
                    <a:pt x="81915" y="3749040"/>
                    <a:pt x="0" y="3667125"/>
                    <a:pt x="0" y="3566160"/>
                  </a:cubicBezTo>
                  <a:close/>
                </a:path>
              </a:pathLst>
            </a:custGeom>
            <a:solidFill>
              <a:srgbClr val="F4F7FC"/>
            </a:solidFill>
          </p:spPr>
        </p:sp>
      </p:grpSp>
      <p:grpSp>
        <p:nvGrpSpPr>
          <p:cNvPr name="Group 13" id="13"/>
          <p:cNvGrpSpPr/>
          <p:nvPr/>
        </p:nvGrpSpPr>
        <p:grpSpPr>
          <a:xfrm rot="0">
            <a:off x="1440180" y="2811780"/>
            <a:ext cx="15361920" cy="2263140"/>
            <a:chOff x="0" y="0"/>
            <a:chExt cx="20482560" cy="3017520"/>
          </a:xfrm>
        </p:grpSpPr>
        <p:sp>
          <p:nvSpPr>
            <p:cNvPr name="Freeform 14" id="14"/>
            <p:cNvSpPr/>
            <p:nvPr/>
          </p:nvSpPr>
          <p:spPr>
            <a:xfrm flipH="false" flipV="false" rot="0">
              <a:off x="0" y="0"/>
              <a:ext cx="20482561" cy="3017520"/>
            </a:xfrm>
            <a:custGeom>
              <a:avLst/>
              <a:gdLst/>
              <a:ahLst/>
              <a:cxnLst/>
              <a:rect r="r" b="b" t="t" l="l"/>
              <a:pathLst>
                <a:path h="3017520" w="20482561">
                  <a:moveTo>
                    <a:pt x="0" y="0"/>
                  </a:moveTo>
                  <a:lnTo>
                    <a:pt x="20482561" y="0"/>
                  </a:lnTo>
                  <a:lnTo>
                    <a:pt x="20482561" y="3017520"/>
                  </a:lnTo>
                  <a:lnTo>
                    <a:pt x="0" y="3017520"/>
                  </a:lnTo>
                  <a:close/>
                </a:path>
              </a:pathLst>
            </a:custGeom>
            <a:blipFill>
              <a:blip r:embed="rId2">
                <a:alphaModFix amt="0"/>
              </a:blip>
              <a:stretch>
                <a:fillRect l="0" t="-82262" r="0" b="-82262"/>
              </a:stretch>
            </a:blipFill>
          </p:spPr>
        </p:sp>
        <p:sp>
          <p:nvSpPr>
            <p:cNvPr name="TextBox 15" id="15"/>
            <p:cNvSpPr txBox="true"/>
            <p:nvPr/>
          </p:nvSpPr>
          <p:spPr>
            <a:xfrm>
              <a:off x="0" y="-104775"/>
              <a:ext cx="20482560" cy="3122295"/>
            </a:xfrm>
            <a:prstGeom prst="rect">
              <a:avLst/>
            </a:prstGeom>
          </p:spPr>
          <p:txBody>
            <a:bodyPr anchor="ctr" rtlCol="false" tIns="0" lIns="0" bIns="0" rIns="0"/>
            <a:lstStyle/>
            <a:p>
              <a:pPr algn="l">
                <a:lnSpc>
                  <a:spcPts val="4147"/>
                </a:lnSpc>
              </a:pPr>
              <a:r>
                <a:rPr lang="en-US" sz="2700" i="true">
                  <a:solidFill>
                    <a:srgbClr val="23262F"/>
                  </a:solidFill>
                  <a:latin typeface="Cambria Italics"/>
                  <a:ea typeface="Cambria Italics"/>
                  <a:cs typeface="Cambria Italics"/>
                  <a:sym typeface="Cambria Italics"/>
                </a:rPr>
                <a:t>"Old resident records containing names, addresses, and health information are thrown into a public dumpster instead of being destroyed securely."</a:t>
              </a:r>
            </a:p>
          </p:txBody>
        </p:sp>
      </p:grpSp>
      <p:sp>
        <p:nvSpPr>
          <p:cNvPr name="TextBox 16" id="16"/>
          <p:cNvSpPr txBox="true"/>
          <p:nvPr/>
        </p:nvSpPr>
        <p:spPr>
          <a:xfrm rot="0">
            <a:off x="1051560" y="5604510"/>
            <a:ext cx="16139160" cy="864870"/>
          </a:xfrm>
          <a:prstGeom prst="rect">
            <a:avLst/>
          </a:prstGeom>
        </p:spPr>
        <p:txBody>
          <a:bodyPr anchor="t" rtlCol="false" tIns="0" lIns="0" bIns="0" rIns="0">
            <a:spAutoFit/>
          </a:bodyPr>
          <a:lstStyle/>
          <a:p>
            <a:pPr algn="ctr">
              <a:lnSpc>
                <a:spcPts val="3402"/>
              </a:lnSpc>
            </a:pPr>
            <a:r>
              <a:rPr lang="en-US" sz="2100" i="true">
                <a:solidFill>
                  <a:srgbClr val="6B7280"/>
                </a:solidFill>
                <a:latin typeface="Calibri (MS) Italics"/>
                <a:ea typeface="Calibri (MS) Italics"/>
                <a:cs typeface="Calibri (MS) Italics"/>
                <a:sym typeface="Calibri (MS) Italics"/>
              </a:rPr>
              <a:t>Which law or DICT issuance governs this? Discuss, then we'll reveal the answer.</a:t>
            </a:r>
          </a:p>
        </p:txBody>
      </p:sp>
      <p:grpSp>
        <p:nvGrpSpPr>
          <p:cNvPr name="Group 17" id="17"/>
          <p:cNvGrpSpPr/>
          <p:nvPr/>
        </p:nvGrpSpPr>
        <p:grpSpPr>
          <a:xfrm rot="0">
            <a:off x="950595" y="6779895"/>
            <a:ext cx="5162550" cy="910590"/>
            <a:chOff x="0" y="0"/>
            <a:chExt cx="6883400" cy="1214120"/>
          </a:xfrm>
        </p:grpSpPr>
        <p:sp>
          <p:nvSpPr>
            <p:cNvPr name="Freeform 18" id="18"/>
            <p:cNvSpPr/>
            <p:nvPr/>
          </p:nvSpPr>
          <p:spPr>
            <a:xfrm flipH="false" flipV="false" rot="0">
              <a:off x="0" y="0"/>
              <a:ext cx="6883400" cy="1214120"/>
            </a:xfrm>
            <a:custGeom>
              <a:avLst/>
              <a:gdLst/>
              <a:ahLst/>
              <a:cxnLst/>
              <a:rect r="r" b="b" t="t" l="l"/>
              <a:pathLst>
                <a:path h="1214120" w="6883400">
                  <a:moveTo>
                    <a:pt x="0" y="168148"/>
                  </a:moveTo>
                  <a:cubicBezTo>
                    <a:pt x="0" y="75311"/>
                    <a:pt x="75311" y="0"/>
                    <a:pt x="168148" y="0"/>
                  </a:cubicBezTo>
                  <a:lnTo>
                    <a:pt x="6715252" y="0"/>
                  </a:lnTo>
                  <a:cubicBezTo>
                    <a:pt x="6808089" y="0"/>
                    <a:pt x="6883400" y="75311"/>
                    <a:pt x="6883400" y="168148"/>
                  </a:cubicBezTo>
                  <a:lnTo>
                    <a:pt x="6883400" y="1045972"/>
                  </a:lnTo>
                  <a:cubicBezTo>
                    <a:pt x="6883400" y="1138809"/>
                    <a:pt x="6808089" y="1214120"/>
                    <a:pt x="6715252" y="1214120"/>
                  </a:cubicBezTo>
                  <a:lnTo>
                    <a:pt x="168148" y="1214120"/>
                  </a:lnTo>
                  <a:cubicBezTo>
                    <a:pt x="75311" y="1214120"/>
                    <a:pt x="0" y="1138809"/>
                    <a:pt x="0" y="1045972"/>
                  </a:cubicBezTo>
                  <a:close/>
                </a:path>
              </a:pathLst>
            </a:custGeom>
            <a:solidFill>
              <a:srgbClr val="F4F7FC"/>
            </a:solidFill>
            <a:ln w="19050" cap="sq">
              <a:solidFill>
                <a:srgbClr val="D7DCEC"/>
              </a:solidFill>
              <a:prstDash val="solid"/>
              <a:miter/>
            </a:ln>
          </p:spPr>
        </p:sp>
      </p:grpSp>
      <p:grpSp>
        <p:nvGrpSpPr>
          <p:cNvPr name="Group 19" id="19"/>
          <p:cNvGrpSpPr/>
          <p:nvPr/>
        </p:nvGrpSpPr>
        <p:grpSpPr>
          <a:xfrm rot="0">
            <a:off x="960120" y="6858000"/>
            <a:ext cx="5143500" cy="589788"/>
            <a:chOff x="0" y="0"/>
            <a:chExt cx="6858000" cy="786384"/>
          </a:xfrm>
        </p:grpSpPr>
        <p:sp>
          <p:nvSpPr>
            <p:cNvPr name="Freeform 20" id="20"/>
            <p:cNvSpPr/>
            <p:nvPr/>
          </p:nvSpPr>
          <p:spPr>
            <a:xfrm flipH="false" flipV="false" rot="0">
              <a:off x="0" y="0"/>
              <a:ext cx="6858000" cy="786384"/>
            </a:xfrm>
            <a:custGeom>
              <a:avLst/>
              <a:gdLst/>
              <a:ahLst/>
              <a:cxnLst/>
              <a:rect r="r" b="b" t="t" l="l"/>
              <a:pathLst>
                <a:path h="786384" w="6858000">
                  <a:moveTo>
                    <a:pt x="0" y="0"/>
                  </a:moveTo>
                  <a:lnTo>
                    <a:pt x="6858000" y="0"/>
                  </a:lnTo>
                  <a:lnTo>
                    <a:pt x="6858000" y="786384"/>
                  </a:lnTo>
                  <a:lnTo>
                    <a:pt x="0" y="786384"/>
                  </a:lnTo>
                  <a:close/>
                </a:path>
              </a:pathLst>
            </a:custGeom>
            <a:blipFill>
              <a:blip r:embed="rId2">
                <a:alphaModFix amt="0"/>
              </a:blip>
              <a:stretch>
                <a:fillRect l="0" t="-119927" r="0" b="-119927"/>
              </a:stretch>
            </a:blipFill>
          </p:spPr>
        </p:sp>
        <p:sp>
          <p:nvSpPr>
            <p:cNvPr name="TextBox 21" id="21"/>
            <p:cNvSpPr txBox="true"/>
            <p:nvPr/>
          </p:nvSpPr>
          <p:spPr>
            <a:xfrm>
              <a:off x="0" y="-38100"/>
              <a:ext cx="6858000" cy="824484"/>
            </a:xfrm>
            <a:prstGeom prst="rect">
              <a:avLst/>
            </a:prstGeom>
          </p:spPr>
          <p:txBody>
            <a:bodyPr anchor="ctr" rtlCol="false" tIns="0" lIns="0" bIns="0" rIns="0"/>
            <a:lstStyle/>
            <a:p>
              <a:pPr algn="ctr">
                <a:lnSpc>
                  <a:spcPts val="2250"/>
                </a:lnSpc>
              </a:pPr>
              <a:r>
                <a:rPr lang="en-US" sz="1875">
                  <a:solidFill>
                    <a:srgbClr val="6B7280"/>
                  </a:solidFill>
                  <a:latin typeface="Calibri (MS)"/>
                  <a:ea typeface="Calibri (MS)"/>
                  <a:cs typeface="Calibri (MS)"/>
                  <a:sym typeface="Calibri (MS)"/>
                </a:rPr>
                <a:t>E-Commerce Act</a:t>
              </a:r>
            </a:p>
          </p:txBody>
        </p:sp>
      </p:grpSp>
      <p:grpSp>
        <p:nvGrpSpPr>
          <p:cNvPr name="Group 22" id="22"/>
          <p:cNvGrpSpPr/>
          <p:nvPr/>
        </p:nvGrpSpPr>
        <p:grpSpPr>
          <a:xfrm rot="0">
            <a:off x="960120" y="7296912"/>
            <a:ext cx="5143500" cy="329184"/>
            <a:chOff x="0" y="0"/>
            <a:chExt cx="6858000" cy="438912"/>
          </a:xfrm>
        </p:grpSpPr>
        <p:sp>
          <p:nvSpPr>
            <p:cNvPr name="Freeform 23" id="23"/>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24" id="24"/>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9AA3B8"/>
                  </a:solidFill>
                  <a:latin typeface="Arimo"/>
                  <a:ea typeface="Arimo"/>
                  <a:cs typeface="Arimo"/>
                  <a:sym typeface="Arimo"/>
                </a:rPr>
                <a:t>ECA</a:t>
              </a:r>
            </a:p>
          </p:txBody>
        </p:sp>
      </p:grpSp>
      <p:grpSp>
        <p:nvGrpSpPr>
          <p:cNvPr name="Group 25" id="25"/>
          <p:cNvGrpSpPr/>
          <p:nvPr/>
        </p:nvGrpSpPr>
        <p:grpSpPr>
          <a:xfrm rot="0">
            <a:off x="6533007" y="6779895"/>
            <a:ext cx="5162550" cy="910590"/>
            <a:chOff x="0" y="0"/>
            <a:chExt cx="6883400" cy="1214120"/>
          </a:xfrm>
        </p:grpSpPr>
        <p:sp>
          <p:nvSpPr>
            <p:cNvPr name="Freeform 26" id="26"/>
            <p:cNvSpPr/>
            <p:nvPr/>
          </p:nvSpPr>
          <p:spPr>
            <a:xfrm flipH="false" flipV="false" rot="0">
              <a:off x="0" y="0"/>
              <a:ext cx="6883400" cy="1214120"/>
            </a:xfrm>
            <a:custGeom>
              <a:avLst/>
              <a:gdLst/>
              <a:ahLst/>
              <a:cxnLst/>
              <a:rect r="r" b="b" t="t" l="l"/>
              <a:pathLst>
                <a:path h="1214120" w="6883400">
                  <a:moveTo>
                    <a:pt x="0" y="168148"/>
                  </a:moveTo>
                  <a:cubicBezTo>
                    <a:pt x="0" y="75311"/>
                    <a:pt x="75311" y="0"/>
                    <a:pt x="168148" y="0"/>
                  </a:cubicBezTo>
                  <a:lnTo>
                    <a:pt x="6715252" y="0"/>
                  </a:lnTo>
                  <a:cubicBezTo>
                    <a:pt x="6808089" y="0"/>
                    <a:pt x="6883400" y="75311"/>
                    <a:pt x="6883400" y="168148"/>
                  </a:cubicBezTo>
                  <a:lnTo>
                    <a:pt x="6883400" y="1045972"/>
                  </a:lnTo>
                  <a:cubicBezTo>
                    <a:pt x="6883400" y="1138809"/>
                    <a:pt x="6808089" y="1214120"/>
                    <a:pt x="6715252" y="1214120"/>
                  </a:cubicBezTo>
                  <a:lnTo>
                    <a:pt x="168148" y="1214120"/>
                  </a:lnTo>
                  <a:cubicBezTo>
                    <a:pt x="75311" y="1214120"/>
                    <a:pt x="0" y="1138809"/>
                    <a:pt x="0" y="1045972"/>
                  </a:cubicBezTo>
                  <a:close/>
                </a:path>
              </a:pathLst>
            </a:custGeom>
            <a:solidFill>
              <a:srgbClr val="F4F7FC"/>
            </a:solidFill>
            <a:ln w="19050" cap="sq">
              <a:solidFill>
                <a:srgbClr val="D7DCEC"/>
              </a:solidFill>
              <a:prstDash val="solid"/>
              <a:miter/>
            </a:ln>
          </p:spPr>
        </p:sp>
      </p:grpSp>
      <p:grpSp>
        <p:nvGrpSpPr>
          <p:cNvPr name="Group 27" id="27"/>
          <p:cNvGrpSpPr/>
          <p:nvPr/>
        </p:nvGrpSpPr>
        <p:grpSpPr>
          <a:xfrm rot="0">
            <a:off x="6542532" y="6858000"/>
            <a:ext cx="5143500" cy="589788"/>
            <a:chOff x="0" y="0"/>
            <a:chExt cx="6858000" cy="786384"/>
          </a:xfrm>
        </p:grpSpPr>
        <p:sp>
          <p:nvSpPr>
            <p:cNvPr name="Freeform 28" id="28"/>
            <p:cNvSpPr/>
            <p:nvPr/>
          </p:nvSpPr>
          <p:spPr>
            <a:xfrm flipH="false" flipV="false" rot="0">
              <a:off x="0" y="0"/>
              <a:ext cx="6858000" cy="786384"/>
            </a:xfrm>
            <a:custGeom>
              <a:avLst/>
              <a:gdLst/>
              <a:ahLst/>
              <a:cxnLst/>
              <a:rect r="r" b="b" t="t" l="l"/>
              <a:pathLst>
                <a:path h="786384" w="6858000">
                  <a:moveTo>
                    <a:pt x="0" y="0"/>
                  </a:moveTo>
                  <a:lnTo>
                    <a:pt x="6858000" y="0"/>
                  </a:lnTo>
                  <a:lnTo>
                    <a:pt x="6858000" y="786384"/>
                  </a:lnTo>
                  <a:lnTo>
                    <a:pt x="0" y="786384"/>
                  </a:lnTo>
                  <a:close/>
                </a:path>
              </a:pathLst>
            </a:custGeom>
            <a:blipFill>
              <a:blip r:embed="rId2">
                <a:alphaModFix amt="0"/>
              </a:blip>
              <a:stretch>
                <a:fillRect l="0" t="-119927" r="0" b="-119927"/>
              </a:stretch>
            </a:blipFill>
          </p:spPr>
        </p:sp>
        <p:sp>
          <p:nvSpPr>
            <p:cNvPr name="TextBox 29" id="29"/>
            <p:cNvSpPr txBox="true"/>
            <p:nvPr/>
          </p:nvSpPr>
          <p:spPr>
            <a:xfrm>
              <a:off x="0" y="-38100"/>
              <a:ext cx="6858000" cy="824484"/>
            </a:xfrm>
            <a:prstGeom prst="rect">
              <a:avLst/>
            </a:prstGeom>
          </p:spPr>
          <p:txBody>
            <a:bodyPr anchor="ctr" rtlCol="false" tIns="0" lIns="0" bIns="0" rIns="0"/>
            <a:lstStyle/>
            <a:p>
              <a:pPr algn="ctr">
                <a:lnSpc>
                  <a:spcPts val="2250"/>
                </a:lnSpc>
              </a:pPr>
              <a:r>
                <a:rPr lang="en-US" sz="1875">
                  <a:solidFill>
                    <a:srgbClr val="6B7280"/>
                  </a:solidFill>
                  <a:latin typeface="Calibri (MS)"/>
                  <a:ea typeface="Calibri (MS)"/>
                  <a:cs typeface="Calibri (MS)"/>
                  <a:sym typeface="Calibri (MS)"/>
                </a:rPr>
                <a:t>Cybercrime Act</a:t>
              </a:r>
            </a:p>
          </p:txBody>
        </p:sp>
      </p:grpSp>
      <p:grpSp>
        <p:nvGrpSpPr>
          <p:cNvPr name="Group 30" id="30"/>
          <p:cNvGrpSpPr/>
          <p:nvPr/>
        </p:nvGrpSpPr>
        <p:grpSpPr>
          <a:xfrm rot="0">
            <a:off x="6542532" y="7296912"/>
            <a:ext cx="5143500" cy="329184"/>
            <a:chOff x="0" y="0"/>
            <a:chExt cx="6858000" cy="438912"/>
          </a:xfrm>
        </p:grpSpPr>
        <p:sp>
          <p:nvSpPr>
            <p:cNvPr name="Freeform 31" id="31"/>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32" id="32"/>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9AA3B8"/>
                  </a:solidFill>
                  <a:latin typeface="Arimo"/>
                  <a:ea typeface="Arimo"/>
                  <a:cs typeface="Arimo"/>
                  <a:sym typeface="Arimo"/>
                </a:rPr>
                <a:t>CPA</a:t>
              </a:r>
            </a:p>
          </p:txBody>
        </p:sp>
      </p:grpSp>
      <p:grpSp>
        <p:nvGrpSpPr>
          <p:cNvPr name="Group 33" id="33"/>
          <p:cNvGrpSpPr/>
          <p:nvPr/>
        </p:nvGrpSpPr>
        <p:grpSpPr>
          <a:xfrm rot="0">
            <a:off x="950595" y="7945755"/>
            <a:ext cx="5162550" cy="910590"/>
            <a:chOff x="0" y="0"/>
            <a:chExt cx="6883400" cy="1214120"/>
          </a:xfrm>
        </p:grpSpPr>
        <p:sp>
          <p:nvSpPr>
            <p:cNvPr name="Freeform 34" id="34"/>
            <p:cNvSpPr/>
            <p:nvPr/>
          </p:nvSpPr>
          <p:spPr>
            <a:xfrm flipH="false" flipV="false" rot="0">
              <a:off x="0" y="0"/>
              <a:ext cx="6883400" cy="1214120"/>
            </a:xfrm>
            <a:custGeom>
              <a:avLst/>
              <a:gdLst/>
              <a:ahLst/>
              <a:cxnLst/>
              <a:rect r="r" b="b" t="t" l="l"/>
              <a:pathLst>
                <a:path h="1214120" w="6883400">
                  <a:moveTo>
                    <a:pt x="0" y="168148"/>
                  </a:moveTo>
                  <a:cubicBezTo>
                    <a:pt x="0" y="75311"/>
                    <a:pt x="75311" y="0"/>
                    <a:pt x="168148" y="0"/>
                  </a:cubicBezTo>
                  <a:lnTo>
                    <a:pt x="6715252" y="0"/>
                  </a:lnTo>
                  <a:cubicBezTo>
                    <a:pt x="6808089" y="0"/>
                    <a:pt x="6883400" y="75311"/>
                    <a:pt x="6883400" y="168148"/>
                  </a:cubicBezTo>
                  <a:lnTo>
                    <a:pt x="6883400" y="1045972"/>
                  </a:lnTo>
                  <a:cubicBezTo>
                    <a:pt x="6883400" y="1138809"/>
                    <a:pt x="6808089" y="1214120"/>
                    <a:pt x="6715252" y="1214120"/>
                  </a:cubicBezTo>
                  <a:lnTo>
                    <a:pt x="168148" y="1214120"/>
                  </a:lnTo>
                  <a:cubicBezTo>
                    <a:pt x="75311" y="1214120"/>
                    <a:pt x="0" y="1138809"/>
                    <a:pt x="0" y="1045972"/>
                  </a:cubicBezTo>
                  <a:close/>
                </a:path>
              </a:pathLst>
            </a:custGeom>
            <a:solidFill>
              <a:srgbClr val="F4F7FC"/>
            </a:solidFill>
            <a:ln w="19050" cap="sq">
              <a:solidFill>
                <a:srgbClr val="D7DCEC"/>
              </a:solidFill>
              <a:prstDash val="solid"/>
              <a:miter/>
            </a:ln>
          </p:spPr>
        </p:sp>
      </p:grpSp>
      <p:grpSp>
        <p:nvGrpSpPr>
          <p:cNvPr name="Group 35" id="35"/>
          <p:cNvGrpSpPr/>
          <p:nvPr/>
        </p:nvGrpSpPr>
        <p:grpSpPr>
          <a:xfrm rot="0">
            <a:off x="960120" y="8023860"/>
            <a:ext cx="5143500" cy="589788"/>
            <a:chOff x="0" y="0"/>
            <a:chExt cx="6858000" cy="786384"/>
          </a:xfrm>
        </p:grpSpPr>
        <p:sp>
          <p:nvSpPr>
            <p:cNvPr name="Freeform 36" id="36"/>
            <p:cNvSpPr/>
            <p:nvPr/>
          </p:nvSpPr>
          <p:spPr>
            <a:xfrm flipH="false" flipV="false" rot="0">
              <a:off x="0" y="0"/>
              <a:ext cx="6858000" cy="786384"/>
            </a:xfrm>
            <a:custGeom>
              <a:avLst/>
              <a:gdLst/>
              <a:ahLst/>
              <a:cxnLst/>
              <a:rect r="r" b="b" t="t" l="l"/>
              <a:pathLst>
                <a:path h="786384" w="6858000">
                  <a:moveTo>
                    <a:pt x="0" y="0"/>
                  </a:moveTo>
                  <a:lnTo>
                    <a:pt x="6858000" y="0"/>
                  </a:lnTo>
                  <a:lnTo>
                    <a:pt x="6858000" y="786384"/>
                  </a:lnTo>
                  <a:lnTo>
                    <a:pt x="0" y="786384"/>
                  </a:lnTo>
                  <a:close/>
                </a:path>
              </a:pathLst>
            </a:custGeom>
            <a:blipFill>
              <a:blip r:embed="rId2">
                <a:alphaModFix amt="0"/>
              </a:blip>
              <a:stretch>
                <a:fillRect l="0" t="-119927" r="0" b="-119927"/>
              </a:stretch>
            </a:blipFill>
          </p:spPr>
        </p:sp>
        <p:sp>
          <p:nvSpPr>
            <p:cNvPr name="TextBox 37" id="37"/>
            <p:cNvSpPr txBox="true"/>
            <p:nvPr/>
          </p:nvSpPr>
          <p:spPr>
            <a:xfrm>
              <a:off x="0" y="-38100"/>
              <a:ext cx="6858000" cy="824484"/>
            </a:xfrm>
            <a:prstGeom prst="rect">
              <a:avLst/>
            </a:prstGeom>
          </p:spPr>
          <p:txBody>
            <a:bodyPr anchor="ctr" rtlCol="false" tIns="0" lIns="0" bIns="0" rIns="0"/>
            <a:lstStyle/>
            <a:p>
              <a:pPr algn="ctr">
                <a:lnSpc>
                  <a:spcPts val="2250"/>
                </a:lnSpc>
              </a:pPr>
              <a:r>
                <a:rPr lang="en-US" sz="1875">
                  <a:solidFill>
                    <a:srgbClr val="6B7280"/>
                  </a:solidFill>
                  <a:latin typeface="Calibri (MS)"/>
                  <a:ea typeface="Calibri (MS)"/>
                  <a:cs typeface="Calibri (MS)"/>
                  <a:sym typeface="Calibri (MS)"/>
                </a:rPr>
                <a:t>Data Privacy Act</a:t>
              </a:r>
            </a:p>
          </p:txBody>
        </p:sp>
      </p:grpSp>
      <p:grpSp>
        <p:nvGrpSpPr>
          <p:cNvPr name="Group 38" id="38"/>
          <p:cNvGrpSpPr/>
          <p:nvPr/>
        </p:nvGrpSpPr>
        <p:grpSpPr>
          <a:xfrm rot="0">
            <a:off x="960120" y="8462772"/>
            <a:ext cx="5143500" cy="329184"/>
            <a:chOff x="0" y="0"/>
            <a:chExt cx="6858000" cy="438912"/>
          </a:xfrm>
        </p:grpSpPr>
        <p:sp>
          <p:nvSpPr>
            <p:cNvPr name="Freeform 39" id="39"/>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40" id="40"/>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9AA3B8"/>
                  </a:solidFill>
                  <a:latin typeface="Arimo"/>
                  <a:ea typeface="Arimo"/>
                  <a:cs typeface="Arimo"/>
                  <a:sym typeface="Arimo"/>
                </a:rPr>
                <a:t>DPA</a:t>
              </a:r>
            </a:p>
          </p:txBody>
        </p:sp>
      </p:grpSp>
      <p:grpSp>
        <p:nvGrpSpPr>
          <p:cNvPr name="Group 41" id="41"/>
          <p:cNvGrpSpPr/>
          <p:nvPr/>
        </p:nvGrpSpPr>
        <p:grpSpPr>
          <a:xfrm rot="0">
            <a:off x="6533007" y="7945755"/>
            <a:ext cx="5162550" cy="910590"/>
            <a:chOff x="0" y="0"/>
            <a:chExt cx="6883400" cy="1214120"/>
          </a:xfrm>
        </p:grpSpPr>
        <p:sp>
          <p:nvSpPr>
            <p:cNvPr name="Freeform 42" id="42"/>
            <p:cNvSpPr/>
            <p:nvPr/>
          </p:nvSpPr>
          <p:spPr>
            <a:xfrm flipH="false" flipV="false" rot="0">
              <a:off x="0" y="0"/>
              <a:ext cx="6883400" cy="1214120"/>
            </a:xfrm>
            <a:custGeom>
              <a:avLst/>
              <a:gdLst/>
              <a:ahLst/>
              <a:cxnLst/>
              <a:rect r="r" b="b" t="t" l="l"/>
              <a:pathLst>
                <a:path h="1214120" w="6883400">
                  <a:moveTo>
                    <a:pt x="0" y="168148"/>
                  </a:moveTo>
                  <a:cubicBezTo>
                    <a:pt x="0" y="75311"/>
                    <a:pt x="75311" y="0"/>
                    <a:pt x="168148" y="0"/>
                  </a:cubicBezTo>
                  <a:lnTo>
                    <a:pt x="6715252" y="0"/>
                  </a:lnTo>
                  <a:cubicBezTo>
                    <a:pt x="6808089" y="0"/>
                    <a:pt x="6883400" y="75311"/>
                    <a:pt x="6883400" y="168148"/>
                  </a:cubicBezTo>
                  <a:lnTo>
                    <a:pt x="6883400" y="1045972"/>
                  </a:lnTo>
                  <a:cubicBezTo>
                    <a:pt x="6883400" y="1138809"/>
                    <a:pt x="6808089" y="1214120"/>
                    <a:pt x="6715252" y="1214120"/>
                  </a:cubicBezTo>
                  <a:lnTo>
                    <a:pt x="168148" y="1214120"/>
                  </a:lnTo>
                  <a:cubicBezTo>
                    <a:pt x="75311" y="1214120"/>
                    <a:pt x="0" y="1138809"/>
                    <a:pt x="0" y="1045972"/>
                  </a:cubicBezTo>
                  <a:close/>
                </a:path>
              </a:pathLst>
            </a:custGeom>
            <a:solidFill>
              <a:srgbClr val="F4F7FC"/>
            </a:solidFill>
            <a:ln w="19050" cap="sq">
              <a:solidFill>
                <a:srgbClr val="D7DCEC"/>
              </a:solidFill>
              <a:prstDash val="solid"/>
              <a:miter/>
            </a:ln>
          </p:spPr>
        </p:sp>
      </p:grpSp>
      <p:grpSp>
        <p:nvGrpSpPr>
          <p:cNvPr name="Group 43" id="43"/>
          <p:cNvGrpSpPr/>
          <p:nvPr/>
        </p:nvGrpSpPr>
        <p:grpSpPr>
          <a:xfrm rot="0">
            <a:off x="6542532" y="8023860"/>
            <a:ext cx="5143500" cy="589788"/>
            <a:chOff x="0" y="0"/>
            <a:chExt cx="6858000" cy="786384"/>
          </a:xfrm>
        </p:grpSpPr>
        <p:sp>
          <p:nvSpPr>
            <p:cNvPr name="Freeform 44" id="44"/>
            <p:cNvSpPr/>
            <p:nvPr/>
          </p:nvSpPr>
          <p:spPr>
            <a:xfrm flipH="false" flipV="false" rot="0">
              <a:off x="0" y="0"/>
              <a:ext cx="6858000" cy="786384"/>
            </a:xfrm>
            <a:custGeom>
              <a:avLst/>
              <a:gdLst/>
              <a:ahLst/>
              <a:cxnLst/>
              <a:rect r="r" b="b" t="t" l="l"/>
              <a:pathLst>
                <a:path h="786384" w="6858000">
                  <a:moveTo>
                    <a:pt x="0" y="0"/>
                  </a:moveTo>
                  <a:lnTo>
                    <a:pt x="6858000" y="0"/>
                  </a:lnTo>
                  <a:lnTo>
                    <a:pt x="6858000" y="786384"/>
                  </a:lnTo>
                  <a:lnTo>
                    <a:pt x="0" y="786384"/>
                  </a:lnTo>
                  <a:close/>
                </a:path>
              </a:pathLst>
            </a:custGeom>
            <a:blipFill>
              <a:blip r:embed="rId2">
                <a:alphaModFix amt="0"/>
              </a:blip>
              <a:stretch>
                <a:fillRect l="0" t="-119927" r="0" b="-119927"/>
              </a:stretch>
            </a:blipFill>
          </p:spPr>
        </p:sp>
        <p:sp>
          <p:nvSpPr>
            <p:cNvPr name="TextBox 45" id="45"/>
            <p:cNvSpPr txBox="true"/>
            <p:nvPr/>
          </p:nvSpPr>
          <p:spPr>
            <a:xfrm>
              <a:off x="0" y="-38100"/>
              <a:ext cx="6858000" cy="824484"/>
            </a:xfrm>
            <a:prstGeom prst="rect">
              <a:avLst/>
            </a:prstGeom>
          </p:spPr>
          <p:txBody>
            <a:bodyPr anchor="ctr" rtlCol="false" tIns="0" lIns="0" bIns="0" rIns="0"/>
            <a:lstStyle/>
            <a:p>
              <a:pPr algn="ctr">
                <a:lnSpc>
                  <a:spcPts val="2250"/>
                </a:lnSpc>
              </a:pPr>
              <a:r>
                <a:rPr lang="en-US" sz="1875">
                  <a:solidFill>
                    <a:srgbClr val="6B7280"/>
                  </a:solidFill>
                  <a:latin typeface="Calibri (MS)"/>
                  <a:ea typeface="Calibri (MS)"/>
                  <a:cs typeface="Calibri (MS)"/>
                  <a:sym typeface="Calibri (MS)"/>
                </a:rPr>
                <a:t>DICT Act / NCSP</a:t>
              </a:r>
            </a:p>
          </p:txBody>
        </p:sp>
      </p:grpSp>
      <p:grpSp>
        <p:nvGrpSpPr>
          <p:cNvPr name="Group 46" id="46"/>
          <p:cNvGrpSpPr/>
          <p:nvPr/>
        </p:nvGrpSpPr>
        <p:grpSpPr>
          <a:xfrm rot="0">
            <a:off x="6542532" y="8462772"/>
            <a:ext cx="5143500" cy="329184"/>
            <a:chOff x="0" y="0"/>
            <a:chExt cx="6858000" cy="438912"/>
          </a:xfrm>
        </p:grpSpPr>
        <p:sp>
          <p:nvSpPr>
            <p:cNvPr name="Freeform 47" id="47"/>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48" id="48"/>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9AA3B8"/>
                  </a:solidFill>
                  <a:latin typeface="Arimo"/>
                  <a:ea typeface="Arimo"/>
                  <a:cs typeface="Arimo"/>
                  <a:sym typeface="Arimo"/>
                </a:rPr>
                <a:t>DICT</a:t>
              </a:r>
            </a:p>
          </p:txBody>
        </p:sp>
      </p:grpSp>
      <p:grpSp>
        <p:nvGrpSpPr>
          <p:cNvPr name="Group 49" id="49"/>
          <p:cNvGrpSpPr/>
          <p:nvPr/>
        </p:nvGrpSpPr>
        <p:grpSpPr>
          <a:xfrm rot="0">
            <a:off x="12115419" y="6779895"/>
            <a:ext cx="5162550" cy="2076450"/>
            <a:chOff x="0" y="0"/>
            <a:chExt cx="6883400" cy="2768600"/>
          </a:xfrm>
        </p:grpSpPr>
        <p:sp>
          <p:nvSpPr>
            <p:cNvPr name="Freeform 50" id="50"/>
            <p:cNvSpPr/>
            <p:nvPr/>
          </p:nvSpPr>
          <p:spPr>
            <a:xfrm flipH="false" flipV="false" rot="0">
              <a:off x="0" y="0"/>
              <a:ext cx="6883400" cy="2768600"/>
            </a:xfrm>
            <a:custGeom>
              <a:avLst/>
              <a:gdLst/>
              <a:ahLst/>
              <a:cxnLst/>
              <a:rect r="r" b="b" t="t" l="l"/>
              <a:pathLst>
                <a:path h="2768600" w="6883400">
                  <a:moveTo>
                    <a:pt x="0" y="166116"/>
                  </a:moveTo>
                  <a:cubicBezTo>
                    <a:pt x="0" y="74422"/>
                    <a:pt x="74422" y="0"/>
                    <a:pt x="166116" y="0"/>
                  </a:cubicBezTo>
                  <a:lnTo>
                    <a:pt x="6717284" y="0"/>
                  </a:lnTo>
                  <a:cubicBezTo>
                    <a:pt x="6808978" y="0"/>
                    <a:pt x="6883400" y="74422"/>
                    <a:pt x="6883400" y="166116"/>
                  </a:cubicBezTo>
                  <a:lnTo>
                    <a:pt x="6883400" y="2602484"/>
                  </a:lnTo>
                  <a:cubicBezTo>
                    <a:pt x="6883400" y="2694178"/>
                    <a:pt x="6808978" y="2768600"/>
                    <a:pt x="6717284" y="2768600"/>
                  </a:cubicBezTo>
                  <a:lnTo>
                    <a:pt x="166116" y="2768600"/>
                  </a:lnTo>
                  <a:cubicBezTo>
                    <a:pt x="74422" y="2768600"/>
                    <a:pt x="0" y="2694178"/>
                    <a:pt x="0" y="2602484"/>
                  </a:cubicBezTo>
                  <a:close/>
                </a:path>
              </a:pathLst>
            </a:custGeom>
            <a:solidFill>
              <a:srgbClr val="F4F7FC"/>
            </a:solidFill>
            <a:ln w="19050" cap="sq">
              <a:solidFill>
                <a:srgbClr val="D7DCEC"/>
              </a:solidFill>
              <a:prstDash val="solid"/>
              <a:miter/>
            </a:ln>
          </p:spPr>
        </p:sp>
      </p:grpSp>
      <p:grpSp>
        <p:nvGrpSpPr>
          <p:cNvPr name="Group 51" id="51"/>
          <p:cNvGrpSpPr/>
          <p:nvPr/>
        </p:nvGrpSpPr>
        <p:grpSpPr>
          <a:xfrm rot="0">
            <a:off x="12124944" y="6858000"/>
            <a:ext cx="5143500" cy="1755648"/>
            <a:chOff x="0" y="0"/>
            <a:chExt cx="6858000" cy="2340864"/>
          </a:xfrm>
        </p:grpSpPr>
        <p:sp>
          <p:nvSpPr>
            <p:cNvPr name="Freeform 52" id="52"/>
            <p:cNvSpPr/>
            <p:nvPr/>
          </p:nvSpPr>
          <p:spPr>
            <a:xfrm flipH="false" flipV="false" rot="0">
              <a:off x="0" y="0"/>
              <a:ext cx="6858000" cy="2340864"/>
            </a:xfrm>
            <a:custGeom>
              <a:avLst/>
              <a:gdLst/>
              <a:ahLst/>
              <a:cxnLst/>
              <a:rect r="r" b="b" t="t" l="l"/>
              <a:pathLst>
                <a:path h="2340864" w="6858000">
                  <a:moveTo>
                    <a:pt x="0" y="0"/>
                  </a:moveTo>
                  <a:lnTo>
                    <a:pt x="6858000" y="0"/>
                  </a:lnTo>
                  <a:lnTo>
                    <a:pt x="6858000" y="2340864"/>
                  </a:lnTo>
                  <a:lnTo>
                    <a:pt x="0" y="2340864"/>
                  </a:lnTo>
                  <a:close/>
                </a:path>
              </a:pathLst>
            </a:custGeom>
            <a:blipFill>
              <a:blip r:embed="rId2">
                <a:alphaModFix amt="0"/>
              </a:blip>
              <a:stretch>
                <a:fillRect l="0" t="-7085" r="0" b="-7085"/>
              </a:stretch>
            </a:blipFill>
          </p:spPr>
        </p:sp>
        <p:sp>
          <p:nvSpPr>
            <p:cNvPr name="TextBox 53" id="53"/>
            <p:cNvSpPr txBox="true"/>
            <p:nvPr/>
          </p:nvSpPr>
          <p:spPr>
            <a:xfrm>
              <a:off x="0" y="-38100"/>
              <a:ext cx="6858000" cy="2378964"/>
            </a:xfrm>
            <a:prstGeom prst="rect">
              <a:avLst/>
            </a:prstGeom>
          </p:spPr>
          <p:txBody>
            <a:bodyPr anchor="ctr" rtlCol="false" tIns="0" lIns="0" bIns="0" rIns="0"/>
            <a:lstStyle/>
            <a:p>
              <a:pPr algn="ctr">
                <a:lnSpc>
                  <a:spcPts val="2250"/>
                </a:lnSpc>
              </a:pPr>
              <a:r>
                <a:rPr lang="en-US" sz="1875">
                  <a:solidFill>
                    <a:srgbClr val="6B7280"/>
                  </a:solidFill>
                  <a:latin typeface="Calibri (MS)"/>
                  <a:ea typeface="Calibri (MS)"/>
                  <a:cs typeface="Calibri (MS)"/>
                  <a:sym typeface="Calibri (MS)"/>
                </a:rPr>
                <a:t>Critical Infra. Protection</a:t>
              </a:r>
            </a:p>
          </p:txBody>
        </p:sp>
      </p:grpSp>
      <p:grpSp>
        <p:nvGrpSpPr>
          <p:cNvPr name="Group 54" id="54"/>
          <p:cNvGrpSpPr/>
          <p:nvPr/>
        </p:nvGrpSpPr>
        <p:grpSpPr>
          <a:xfrm rot="0">
            <a:off x="12124944" y="8462772"/>
            <a:ext cx="5143500" cy="329184"/>
            <a:chOff x="0" y="0"/>
            <a:chExt cx="6858000" cy="438912"/>
          </a:xfrm>
        </p:grpSpPr>
        <p:sp>
          <p:nvSpPr>
            <p:cNvPr name="Freeform 55" id="55"/>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56" id="56"/>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9AA3B8"/>
                  </a:solidFill>
                  <a:latin typeface="Arimo"/>
                  <a:ea typeface="Arimo"/>
                  <a:cs typeface="Arimo"/>
                  <a:sym typeface="Arimo"/>
                </a:rPr>
                <a:t>CII</a:t>
              </a:r>
            </a:p>
          </p:txBody>
        </p:sp>
      </p:grpSp>
      <p:grpSp>
        <p:nvGrpSpPr>
          <p:cNvPr name="Group 57" id="57"/>
          <p:cNvGrpSpPr/>
          <p:nvPr/>
        </p:nvGrpSpPr>
        <p:grpSpPr>
          <a:xfrm rot="0">
            <a:off x="685800" y="9710928"/>
            <a:ext cx="10972800" cy="411480"/>
            <a:chOff x="0" y="0"/>
            <a:chExt cx="14630400" cy="548640"/>
          </a:xfrm>
        </p:grpSpPr>
        <p:sp>
          <p:nvSpPr>
            <p:cNvPr name="Freeform 58" id="58"/>
            <p:cNvSpPr/>
            <p:nvPr/>
          </p:nvSpPr>
          <p:spPr>
            <a:xfrm flipH="false" flipV="false" rot="0">
              <a:off x="0" y="0"/>
              <a:ext cx="14630400" cy="548640"/>
            </a:xfrm>
            <a:custGeom>
              <a:avLst/>
              <a:gdLst/>
              <a:ahLst/>
              <a:cxnLst/>
              <a:rect r="r" b="b" t="t" l="l"/>
              <a:pathLst>
                <a:path h="548640" w="14630400">
                  <a:moveTo>
                    <a:pt x="0" y="0"/>
                  </a:moveTo>
                  <a:lnTo>
                    <a:pt x="14630400" y="0"/>
                  </a:lnTo>
                  <a:lnTo>
                    <a:pt x="14630400" y="548640"/>
                  </a:lnTo>
                  <a:lnTo>
                    <a:pt x="0" y="548640"/>
                  </a:lnTo>
                  <a:close/>
                </a:path>
              </a:pathLst>
            </a:custGeom>
            <a:blipFill>
              <a:blip r:embed="rId2">
                <a:alphaModFix amt="0"/>
              </a:blip>
              <a:stretch>
                <a:fillRect l="0" t="-469601" r="0" b="-469601"/>
              </a:stretch>
            </a:blipFill>
          </p:spPr>
        </p:sp>
        <p:sp>
          <p:nvSpPr>
            <p:cNvPr name="TextBox 59" id="59"/>
            <p:cNvSpPr txBox="true"/>
            <p:nvPr/>
          </p:nvSpPr>
          <p:spPr>
            <a:xfrm>
              <a:off x="0" y="-38100"/>
              <a:ext cx="14630400" cy="586740"/>
            </a:xfrm>
            <a:prstGeom prst="rect">
              <a:avLst/>
            </a:prstGeom>
          </p:spPr>
          <p:txBody>
            <a:bodyPr anchor="ctr" rtlCol="false" tIns="0" lIns="0" bIns="0" rIns="0"/>
            <a:lstStyle/>
            <a:p>
              <a:pPr algn="l">
                <a:lnSpc>
                  <a:spcPts val="1800"/>
                </a:lnSpc>
              </a:pPr>
              <a:r>
                <a:rPr lang="en-US" sz="1500">
                  <a:solidFill>
                    <a:srgbClr val="6B7280"/>
                  </a:solidFill>
                  <a:latin typeface="Calibri (MS)"/>
                  <a:ea typeface="Calibri (MS)"/>
                  <a:cs typeface="Calibri (MS)"/>
                  <a:sym typeface="Calibri (MS)"/>
                </a:rPr>
                <a:t>Davao del Norte Provincial Government — Cybersecurity Seminar</a:t>
              </a:r>
            </a:p>
          </p:txBody>
        </p:sp>
      </p:grpSp>
      <p:grpSp>
        <p:nvGrpSpPr>
          <p:cNvPr name="Group 60" id="60"/>
          <p:cNvGrpSpPr/>
          <p:nvPr/>
        </p:nvGrpSpPr>
        <p:grpSpPr>
          <a:xfrm rot="0">
            <a:off x="16911828" y="9710928"/>
            <a:ext cx="685800" cy="411480"/>
            <a:chOff x="0" y="0"/>
            <a:chExt cx="914400" cy="548640"/>
          </a:xfrm>
        </p:grpSpPr>
        <p:sp>
          <p:nvSpPr>
            <p:cNvPr name="Freeform 61" id="61"/>
            <p:cNvSpPr/>
            <p:nvPr/>
          </p:nvSpPr>
          <p:spPr>
            <a:xfrm flipH="false" flipV="false" rot="0">
              <a:off x="0" y="0"/>
              <a:ext cx="914400" cy="548640"/>
            </a:xfrm>
            <a:custGeom>
              <a:avLst/>
              <a:gdLst/>
              <a:ahLst/>
              <a:cxnLst/>
              <a:rect r="r" b="b" t="t" l="l"/>
              <a:pathLst>
                <a:path h="548640" w="914400">
                  <a:moveTo>
                    <a:pt x="0" y="0"/>
                  </a:moveTo>
                  <a:lnTo>
                    <a:pt x="914400" y="0"/>
                  </a:lnTo>
                  <a:lnTo>
                    <a:pt x="914400" y="548640"/>
                  </a:lnTo>
                  <a:lnTo>
                    <a:pt x="0" y="548640"/>
                  </a:lnTo>
                  <a:close/>
                </a:path>
              </a:pathLst>
            </a:custGeom>
            <a:blipFill>
              <a:blip r:embed="rId2">
                <a:alphaModFix amt="0"/>
              </a:blip>
              <a:stretch>
                <a:fillRect l="-26982" t="0" r="-26982" b="0"/>
              </a:stretch>
            </a:blipFill>
          </p:spPr>
        </p:sp>
        <p:sp>
          <p:nvSpPr>
            <p:cNvPr name="TextBox 62" id="62"/>
            <p:cNvSpPr txBox="true"/>
            <p:nvPr/>
          </p:nvSpPr>
          <p:spPr>
            <a:xfrm>
              <a:off x="0" y="-38100"/>
              <a:ext cx="914400" cy="586740"/>
            </a:xfrm>
            <a:prstGeom prst="rect">
              <a:avLst/>
            </a:prstGeom>
          </p:spPr>
          <p:txBody>
            <a:bodyPr anchor="ctr" rtlCol="false" tIns="0" lIns="0" bIns="0" rIns="0"/>
            <a:lstStyle/>
            <a:p>
              <a:pPr algn="r">
                <a:lnSpc>
                  <a:spcPts val="1800"/>
                </a:lnSpc>
              </a:pPr>
              <a:r>
                <a:rPr lang="en-US" sz="1500">
                  <a:solidFill>
                    <a:srgbClr val="6B7280"/>
                  </a:solidFill>
                  <a:latin typeface="Calibri (MS)"/>
                  <a:ea typeface="Calibri (MS)"/>
                  <a:cs typeface="Calibri (MS)"/>
                  <a:sym typeface="Calibri (MS)"/>
                </a:rPr>
                <a:t>31</a:t>
              </a:r>
            </a:p>
          </p:txBody>
        </p:sp>
      </p:grpSp>
    </p:spTree>
  </p:cSld>
  <p:clrMapOvr>
    <a:masterClrMapping/>
  </p:clrMapOvr>
</p:sld>
</file>

<file path=ppt/slides/slide14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60120" y="685800"/>
            <a:ext cx="13716000" cy="411480"/>
            <a:chOff x="0" y="0"/>
            <a:chExt cx="18288000" cy="548640"/>
          </a:xfrm>
        </p:grpSpPr>
        <p:sp>
          <p:nvSpPr>
            <p:cNvPr name="Freeform 3" id="3"/>
            <p:cNvSpPr/>
            <p:nvPr/>
          </p:nvSpPr>
          <p:spPr>
            <a:xfrm flipH="false" flipV="false" rot="0">
              <a:off x="0" y="0"/>
              <a:ext cx="18288000" cy="548640"/>
            </a:xfrm>
            <a:custGeom>
              <a:avLst/>
              <a:gdLst/>
              <a:ahLst/>
              <a:cxnLst/>
              <a:rect r="r" b="b" t="t" l="l"/>
              <a:pathLst>
                <a:path h="548640" w="18288000">
                  <a:moveTo>
                    <a:pt x="0" y="0"/>
                  </a:moveTo>
                  <a:lnTo>
                    <a:pt x="18288000" y="0"/>
                  </a:lnTo>
                  <a:lnTo>
                    <a:pt x="18288000" y="548640"/>
                  </a:lnTo>
                  <a:lnTo>
                    <a:pt x="0" y="548640"/>
                  </a:lnTo>
                  <a:close/>
                </a:path>
              </a:pathLst>
            </a:custGeom>
            <a:blipFill>
              <a:blip r:embed="rId2">
                <a:alphaModFix amt="0"/>
              </a:blip>
              <a:stretch>
                <a:fillRect l="0" t="-599501" r="0" b="-599501"/>
              </a:stretch>
            </a:blipFill>
          </p:spPr>
        </p:sp>
        <p:sp>
          <p:nvSpPr>
            <p:cNvPr name="TextBox 4" id="4"/>
            <p:cNvSpPr txBox="true"/>
            <p:nvPr/>
          </p:nvSpPr>
          <p:spPr>
            <a:xfrm>
              <a:off x="0" y="-38100"/>
              <a:ext cx="18288000" cy="586740"/>
            </a:xfrm>
            <a:prstGeom prst="rect">
              <a:avLst/>
            </a:prstGeom>
          </p:spPr>
          <p:txBody>
            <a:bodyPr anchor="ctr" rtlCol="false" tIns="0" lIns="0" bIns="0" rIns="0"/>
            <a:lstStyle/>
            <a:p>
              <a:pPr algn="l">
                <a:lnSpc>
                  <a:spcPts val="2160"/>
                </a:lnSpc>
              </a:pPr>
              <a:r>
                <a:rPr lang="en-US" b="true" sz="1800" spc="225">
                  <a:solidFill>
                    <a:srgbClr val="00B4D8"/>
                  </a:solidFill>
                  <a:latin typeface="Calibri (MS) Bold"/>
                  <a:ea typeface="Calibri (MS) Bold"/>
                  <a:cs typeface="Calibri (MS) Bold"/>
                  <a:sym typeface="Calibri (MS) Bold"/>
                </a:rPr>
                <a:t>PH CYBER LAW SORT · ANSWER</a:t>
              </a:r>
            </a:p>
          </p:txBody>
        </p:sp>
      </p:grpSp>
      <p:grpSp>
        <p:nvGrpSpPr>
          <p:cNvPr name="Group 5" id="5"/>
          <p:cNvGrpSpPr/>
          <p:nvPr/>
        </p:nvGrpSpPr>
        <p:grpSpPr>
          <a:xfrm rot="0">
            <a:off x="960120" y="1069848"/>
            <a:ext cx="10972800" cy="822960"/>
            <a:chOff x="0" y="0"/>
            <a:chExt cx="14630400" cy="1097280"/>
          </a:xfrm>
        </p:grpSpPr>
        <p:sp>
          <p:nvSpPr>
            <p:cNvPr name="Freeform 6" id="6"/>
            <p:cNvSpPr/>
            <p:nvPr/>
          </p:nvSpPr>
          <p:spPr>
            <a:xfrm flipH="false" flipV="false" rot="0">
              <a:off x="0" y="0"/>
              <a:ext cx="14630400" cy="1097280"/>
            </a:xfrm>
            <a:custGeom>
              <a:avLst/>
              <a:gdLst/>
              <a:ahLst/>
              <a:cxnLst/>
              <a:rect r="r" b="b" t="t" l="l"/>
              <a:pathLst>
                <a:path h="1097280" w="14630400">
                  <a:moveTo>
                    <a:pt x="0" y="0"/>
                  </a:moveTo>
                  <a:lnTo>
                    <a:pt x="14630400" y="0"/>
                  </a:lnTo>
                  <a:lnTo>
                    <a:pt x="14630400" y="1097280"/>
                  </a:lnTo>
                  <a:lnTo>
                    <a:pt x="0" y="1097280"/>
                  </a:lnTo>
                  <a:close/>
                </a:path>
              </a:pathLst>
            </a:custGeom>
            <a:blipFill>
              <a:blip r:embed="rId2">
                <a:alphaModFix amt="0"/>
              </a:blip>
              <a:stretch>
                <a:fillRect l="0" t="-209800" r="0" b="-209800"/>
              </a:stretch>
            </a:blipFill>
          </p:spPr>
        </p:sp>
        <p:sp>
          <p:nvSpPr>
            <p:cNvPr name="TextBox 7" id="7"/>
            <p:cNvSpPr txBox="true"/>
            <p:nvPr/>
          </p:nvSpPr>
          <p:spPr>
            <a:xfrm>
              <a:off x="0" y="0"/>
              <a:ext cx="14630400" cy="1097280"/>
            </a:xfrm>
            <a:prstGeom prst="rect">
              <a:avLst/>
            </a:prstGeom>
          </p:spPr>
          <p:txBody>
            <a:bodyPr anchor="ctr" rtlCol="false" tIns="0" lIns="0" bIns="0" rIns="0"/>
            <a:lstStyle/>
            <a:p>
              <a:pPr algn="l">
                <a:lnSpc>
                  <a:spcPts val="4680"/>
                </a:lnSpc>
              </a:pPr>
              <a:r>
                <a:rPr lang="en-US" sz="3900" b="true">
                  <a:solidFill>
                    <a:srgbClr val="1E2761"/>
                  </a:solidFill>
                  <a:latin typeface="Cambria Bold"/>
                  <a:ea typeface="Cambria Bold"/>
                  <a:cs typeface="Cambria Bold"/>
                  <a:sym typeface="Cambria Bold"/>
                </a:rPr>
                <a:t>Scenario 11 — Answer</a:t>
              </a:r>
            </a:p>
          </p:txBody>
        </p:sp>
      </p:grpSp>
      <p:grpSp>
        <p:nvGrpSpPr>
          <p:cNvPr name="Group 8" id="8"/>
          <p:cNvGrpSpPr/>
          <p:nvPr/>
        </p:nvGrpSpPr>
        <p:grpSpPr>
          <a:xfrm rot="0">
            <a:off x="960120" y="1810512"/>
            <a:ext cx="8229600" cy="411480"/>
            <a:chOff x="0" y="0"/>
            <a:chExt cx="10972800" cy="548640"/>
          </a:xfrm>
        </p:grpSpPr>
        <p:sp>
          <p:nvSpPr>
            <p:cNvPr name="Freeform 9" id="9"/>
            <p:cNvSpPr/>
            <p:nvPr/>
          </p:nvSpPr>
          <p:spPr>
            <a:xfrm flipH="false" flipV="false" rot="0">
              <a:off x="0" y="0"/>
              <a:ext cx="10972800" cy="548640"/>
            </a:xfrm>
            <a:custGeom>
              <a:avLst/>
              <a:gdLst/>
              <a:ahLst/>
              <a:cxnLst/>
              <a:rect r="r" b="b" t="t" l="l"/>
              <a:pathLst>
                <a:path h="548640" w="10972800">
                  <a:moveTo>
                    <a:pt x="0" y="0"/>
                  </a:moveTo>
                  <a:lnTo>
                    <a:pt x="10972800" y="0"/>
                  </a:lnTo>
                  <a:lnTo>
                    <a:pt x="10972800" y="548640"/>
                  </a:lnTo>
                  <a:lnTo>
                    <a:pt x="0" y="548640"/>
                  </a:lnTo>
                  <a:close/>
                </a:path>
              </a:pathLst>
            </a:custGeom>
            <a:blipFill>
              <a:blip r:embed="rId2">
                <a:alphaModFix amt="0"/>
              </a:blip>
              <a:stretch>
                <a:fillRect l="0" t="-339700" r="0" b="-339700"/>
              </a:stretch>
            </a:blipFill>
          </p:spPr>
        </p:sp>
        <p:sp>
          <p:nvSpPr>
            <p:cNvPr name="TextBox 10" id="10"/>
            <p:cNvSpPr txBox="true"/>
            <p:nvPr/>
          </p:nvSpPr>
          <p:spPr>
            <a:xfrm>
              <a:off x="0" y="-28575"/>
              <a:ext cx="10972800" cy="577215"/>
            </a:xfrm>
            <a:prstGeom prst="rect">
              <a:avLst/>
            </a:prstGeom>
          </p:spPr>
          <p:txBody>
            <a:bodyPr anchor="ctr" rtlCol="false" tIns="0" lIns="0" bIns="0" rIns="0"/>
            <a:lstStyle/>
            <a:p>
              <a:pPr algn="l">
                <a:lnSpc>
                  <a:spcPts val="1980"/>
                </a:lnSpc>
              </a:pPr>
              <a:r>
                <a:rPr lang="en-US" sz="1650">
                  <a:solidFill>
                    <a:srgbClr val="6B7280"/>
                  </a:solidFill>
                  <a:latin typeface="Calibri (MS)"/>
                  <a:ea typeface="Calibri (MS)"/>
                  <a:cs typeface="Calibri (MS)"/>
                  <a:sym typeface="Calibri (MS)"/>
                </a:rPr>
                <a:t>11 of 15</a:t>
              </a:r>
            </a:p>
          </p:txBody>
        </p:sp>
      </p:grpSp>
      <p:grpSp>
        <p:nvGrpSpPr>
          <p:cNvPr name="Group 11" id="11"/>
          <p:cNvGrpSpPr/>
          <p:nvPr/>
        </p:nvGrpSpPr>
        <p:grpSpPr>
          <a:xfrm rot="0">
            <a:off x="960120" y="2537460"/>
            <a:ext cx="16322040" cy="2057400"/>
            <a:chOff x="0" y="0"/>
            <a:chExt cx="21762720" cy="2743200"/>
          </a:xfrm>
        </p:grpSpPr>
        <p:sp>
          <p:nvSpPr>
            <p:cNvPr name="Freeform 12" id="12"/>
            <p:cNvSpPr/>
            <p:nvPr/>
          </p:nvSpPr>
          <p:spPr>
            <a:xfrm flipH="false" flipV="false" rot="0">
              <a:off x="0" y="0"/>
              <a:ext cx="21762720" cy="2743200"/>
            </a:xfrm>
            <a:custGeom>
              <a:avLst/>
              <a:gdLst/>
              <a:ahLst/>
              <a:cxnLst/>
              <a:rect r="r" b="b" t="t" l="l"/>
              <a:pathLst>
                <a:path h="2743200" w="21762720">
                  <a:moveTo>
                    <a:pt x="0" y="182880"/>
                  </a:moveTo>
                  <a:cubicBezTo>
                    <a:pt x="0" y="81915"/>
                    <a:pt x="81915" y="0"/>
                    <a:pt x="182880" y="0"/>
                  </a:cubicBezTo>
                  <a:lnTo>
                    <a:pt x="21579839" y="0"/>
                  </a:lnTo>
                  <a:cubicBezTo>
                    <a:pt x="21680804" y="0"/>
                    <a:pt x="21762720" y="81915"/>
                    <a:pt x="21762720" y="182880"/>
                  </a:cubicBezTo>
                  <a:lnTo>
                    <a:pt x="21762720" y="2560320"/>
                  </a:lnTo>
                  <a:cubicBezTo>
                    <a:pt x="21762720" y="2661285"/>
                    <a:pt x="21680804" y="2743200"/>
                    <a:pt x="21579839" y="2743200"/>
                  </a:cubicBezTo>
                  <a:lnTo>
                    <a:pt x="182880" y="2743200"/>
                  </a:lnTo>
                  <a:cubicBezTo>
                    <a:pt x="81915" y="2743200"/>
                    <a:pt x="0" y="2661285"/>
                    <a:pt x="0" y="2560320"/>
                  </a:cubicBezTo>
                  <a:close/>
                </a:path>
              </a:pathLst>
            </a:custGeom>
            <a:solidFill>
              <a:srgbClr val="F4F7FC"/>
            </a:solidFill>
          </p:spPr>
        </p:sp>
      </p:grpSp>
      <p:grpSp>
        <p:nvGrpSpPr>
          <p:cNvPr name="Group 13" id="13"/>
          <p:cNvGrpSpPr/>
          <p:nvPr/>
        </p:nvGrpSpPr>
        <p:grpSpPr>
          <a:xfrm rot="0">
            <a:off x="1440180" y="2743200"/>
            <a:ext cx="15361920" cy="1645920"/>
            <a:chOff x="0" y="0"/>
            <a:chExt cx="20482560" cy="2194560"/>
          </a:xfrm>
        </p:grpSpPr>
        <p:sp>
          <p:nvSpPr>
            <p:cNvPr name="Freeform 14" id="14"/>
            <p:cNvSpPr/>
            <p:nvPr/>
          </p:nvSpPr>
          <p:spPr>
            <a:xfrm flipH="false" flipV="false" rot="0">
              <a:off x="0" y="0"/>
              <a:ext cx="20482561" cy="2194560"/>
            </a:xfrm>
            <a:custGeom>
              <a:avLst/>
              <a:gdLst/>
              <a:ahLst/>
              <a:cxnLst/>
              <a:rect r="r" b="b" t="t" l="l"/>
              <a:pathLst>
                <a:path h="2194560" w="20482561">
                  <a:moveTo>
                    <a:pt x="0" y="0"/>
                  </a:moveTo>
                  <a:lnTo>
                    <a:pt x="20482561" y="0"/>
                  </a:lnTo>
                  <a:lnTo>
                    <a:pt x="20482561" y="2194560"/>
                  </a:lnTo>
                  <a:lnTo>
                    <a:pt x="0" y="2194560"/>
                  </a:lnTo>
                  <a:close/>
                </a:path>
              </a:pathLst>
            </a:custGeom>
            <a:blipFill>
              <a:blip r:embed="rId2">
                <a:alphaModFix amt="0"/>
              </a:blip>
              <a:stretch>
                <a:fillRect l="0" t="-131860" r="0" b="-131860"/>
              </a:stretch>
            </a:blipFill>
          </p:spPr>
        </p:sp>
        <p:sp>
          <p:nvSpPr>
            <p:cNvPr name="TextBox 15" id="15"/>
            <p:cNvSpPr txBox="true"/>
            <p:nvPr/>
          </p:nvSpPr>
          <p:spPr>
            <a:xfrm>
              <a:off x="0" y="-66675"/>
              <a:ext cx="20482560" cy="2261235"/>
            </a:xfrm>
            <a:prstGeom prst="rect">
              <a:avLst/>
            </a:prstGeom>
          </p:spPr>
          <p:txBody>
            <a:bodyPr anchor="ctr" rtlCol="false" tIns="0" lIns="0" bIns="0" rIns="0"/>
            <a:lstStyle/>
            <a:p>
              <a:pPr algn="l">
                <a:lnSpc>
                  <a:spcPts val="3487"/>
                </a:lnSpc>
              </a:pPr>
              <a:r>
                <a:rPr lang="en-US" sz="2325" i="true">
                  <a:solidFill>
                    <a:srgbClr val="23262F"/>
                  </a:solidFill>
                  <a:latin typeface="Cambria Italics"/>
                  <a:ea typeface="Cambria Italics"/>
                  <a:cs typeface="Cambria Italics"/>
                  <a:sym typeface="Cambria Italics"/>
                </a:rPr>
                <a:t>"Old resident records containing names, addresses, and health information are thrown into a public dumpster instead of being destroyed securely."</a:t>
              </a:r>
            </a:p>
          </p:txBody>
        </p:sp>
      </p:grpSp>
      <p:grpSp>
        <p:nvGrpSpPr>
          <p:cNvPr name="Group 16" id="16"/>
          <p:cNvGrpSpPr/>
          <p:nvPr/>
        </p:nvGrpSpPr>
        <p:grpSpPr>
          <a:xfrm rot="0">
            <a:off x="950595" y="4928235"/>
            <a:ext cx="5162550" cy="842010"/>
            <a:chOff x="0" y="0"/>
            <a:chExt cx="6883400" cy="1122680"/>
          </a:xfrm>
        </p:grpSpPr>
        <p:sp>
          <p:nvSpPr>
            <p:cNvPr name="Freeform 17" id="17"/>
            <p:cNvSpPr/>
            <p:nvPr/>
          </p:nvSpPr>
          <p:spPr>
            <a:xfrm flipH="false" flipV="false" rot="0">
              <a:off x="0" y="0"/>
              <a:ext cx="6883400" cy="1122680"/>
            </a:xfrm>
            <a:custGeom>
              <a:avLst/>
              <a:gdLst/>
              <a:ahLst/>
              <a:cxnLst/>
              <a:rect r="r" b="b" t="t" l="l"/>
              <a:pathLst>
                <a:path h="1122680" w="6883400">
                  <a:moveTo>
                    <a:pt x="0" y="168402"/>
                  </a:moveTo>
                  <a:cubicBezTo>
                    <a:pt x="0" y="75438"/>
                    <a:pt x="75438" y="0"/>
                    <a:pt x="168402" y="0"/>
                  </a:cubicBezTo>
                  <a:lnTo>
                    <a:pt x="6714998" y="0"/>
                  </a:lnTo>
                  <a:cubicBezTo>
                    <a:pt x="6807962" y="0"/>
                    <a:pt x="6883400" y="75438"/>
                    <a:pt x="6883400" y="168402"/>
                  </a:cubicBezTo>
                  <a:lnTo>
                    <a:pt x="6883400" y="954278"/>
                  </a:lnTo>
                  <a:cubicBezTo>
                    <a:pt x="6883400" y="1047242"/>
                    <a:pt x="6807962" y="1122680"/>
                    <a:pt x="6714998" y="1122680"/>
                  </a:cubicBezTo>
                  <a:lnTo>
                    <a:pt x="168402" y="1122680"/>
                  </a:lnTo>
                  <a:cubicBezTo>
                    <a:pt x="75438" y="1122680"/>
                    <a:pt x="0" y="1047242"/>
                    <a:pt x="0" y="954278"/>
                  </a:cubicBezTo>
                  <a:close/>
                </a:path>
              </a:pathLst>
            </a:custGeom>
            <a:solidFill>
              <a:srgbClr val="F4F7FC"/>
            </a:solidFill>
            <a:ln w="19050" cap="sq">
              <a:solidFill>
                <a:srgbClr val="D7DCEC"/>
              </a:solidFill>
              <a:prstDash val="solid"/>
              <a:miter/>
            </a:ln>
          </p:spPr>
        </p:sp>
      </p:grpSp>
      <p:grpSp>
        <p:nvGrpSpPr>
          <p:cNvPr name="Group 18" id="18"/>
          <p:cNvGrpSpPr/>
          <p:nvPr/>
        </p:nvGrpSpPr>
        <p:grpSpPr>
          <a:xfrm rot="0">
            <a:off x="960120" y="5006340"/>
            <a:ext cx="5143500" cy="521208"/>
            <a:chOff x="0" y="0"/>
            <a:chExt cx="6858000" cy="694944"/>
          </a:xfrm>
        </p:grpSpPr>
        <p:sp>
          <p:nvSpPr>
            <p:cNvPr name="Freeform 19" id="19"/>
            <p:cNvSpPr/>
            <p:nvPr/>
          </p:nvSpPr>
          <p:spPr>
            <a:xfrm flipH="false" flipV="false" rot="0">
              <a:off x="0" y="0"/>
              <a:ext cx="6858000" cy="694944"/>
            </a:xfrm>
            <a:custGeom>
              <a:avLst/>
              <a:gdLst/>
              <a:ahLst/>
              <a:cxnLst/>
              <a:rect r="r" b="b" t="t" l="l"/>
              <a:pathLst>
                <a:path h="694944" w="6858000">
                  <a:moveTo>
                    <a:pt x="0" y="0"/>
                  </a:moveTo>
                  <a:lnTo>
                    <a:pt x="6858000" y="0"/>
                  </a:lnTo>
                  <a:lnTo>
                    <a:pt x="6858000" y="694944"/>
                  </a:lnTo>
                  <a:lnTo>
                    <a:pt x="0" y="694944"/>
                  </a:lnTo>
                  <a:close/>
                </a:path>
              </a:pathLst>
            </a:custGeom>
            <a:blipFill>
              <a:blip r:embed="rId2">
                <a:alphaModFix amt="0"/>
              </a:blip>
              <a:stretch>
                <a:fillRect l="0" t="-142286" r="0" b="-142286"/>
              </a:stretch>
            </a:blipFill>
          </p:spPr>
        </p:sp>
        <p:sp>
          <p:nvSpPr>
            <p:cNvPr name="TextBox 20" id="20"/>
            <p:cNvSpPr txBox="true"/>
            <p:nvPr/>
          </p:nvSpPr>
          <p:spPr>
            <a:xfrm>
              <a:off x="0" y="-38100"/>
              <a:ext cx="6858000" cy="733044"/>
            </a:xfrm>
            <a:prstGeom prst="rect">
              <a:avLst/>
            </a:prstGeom>
          </p:spPr>
          <p:txBody>
            <a:bodyPr anchor="ctr" rtlCol="false" tIns="0" lIns="0" bIns="0" rIns="0"/>
            <a:lstStyle/>
            <a:p>
              <a:pPr algn="ctr">
                <a:lnSpc>
                  <a:spcPts val="2250"/>
                </a:lnSpc>
              </a:pPr>
              <a:r>
                <a:rPr lang="en-US" sz="1875">
                  <a:solidFill>
                    <a:srgbClr val="6B7280"/>
                  </a:solidFill>
                  <a:latin typeface="Calibri (MS)"/>
                  <a:ea typeface="Calibri (MS)"/>
                  <a:cs typeface="Calibri (MS)"/>
                  <a:sym typeface="Calibri (MS)"/>
                </a:rPr>
                <a:t>E-Commerce Act</a:t>
              </a:r>
            </a:p>
          </p:txBody>
        </p:sp>
      </p:grpSp>
      <p:grpSp>
        <p:nvGrpSpPr>
          <p:cNvPr name="Group 21" id="21"/>
          <p:cNvGrpSpPr/>
          <p:nvPr/>
        </p:nvGrpSpPr>
        <p:grpSpPr>
          <a:xfrm rot="0">
            <a:off x="960120" y="5376672"/>
            <a:ext cx="5143500" cy="329184"/>
            <a:chOff x="0" y="0"/>
            <a:chExt cx="6858000" cy="438912"/>
          </a:xfrm>
        </p:grpSpPr>
        <p:sp>
          <p:nvSpPr>
            <p:cNvPr name="Freeform 22" id="22"/>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23" id="23"/>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9AA3B8"/>
                  </a:solidFill>
                  <a:latin typeface="Arimo"/>
                  <a:ea typeface="Arimo"/>
                  <a:cs typeface="Arimo"/>
                  <a:sym typeface="Arimo"/>
                </a:rPr>
                <a:t>ECA</a:t>
              </a:r>
            </a:p>
          </p:txBody>
        </p:sp>
      </p:grpSp>
      <p:grpSp>
        <p:nvGrpSpPr>
          <p:cNvPr name="Group 24" id="24"/>
          <p:cNvGrpSpPr/>
          <p:nvPr/>
        </p:nvGrpSpPr>
        <p:grpSpPr>
          <a:xfrm rot="0">
            <a:off x="6533007" y="4928235"/>
            <a:ext cx="5162550" cy="842010"/>
            <a:chOff x="0" y="0"/>
            <a:chExt cx="6883400" cy="1122680"/>
          </a:xfrm>
        </p:grpSpPr>
        <p:sp>
          <p:nvSpPr>
            <p:cNvPr name="Freeform 25" id="25"/>
            <p:cNvSpPr/>
            <p:nvPr/>
          </p:nvSpPr>
          <p:spPr>
            <a:xfrm flipH="false" flipV="false" rot="0">
              <a:off x="0" y="0"/>
              <a:ext cx="6883400" cy="1122680"/>
            </a:xfrm>
            <a:custGeom>
              <a:avLst/>
              <a:gdLst/>
              <a:ahLst/>
              <a:cxnLst/>
              <a:rect r="r" b="b" t="t" l="l"/>
              <a:pathLst>
                <a:path h="1122680" w="6883400">
                  <a:moveTo>
                    <a:pt x="0" y="168402"/>
                  </a:moveTo>
                  <a:cubicBezTo>
                    <a:pt x="0" y="75438"/>
                    <a:pt x="75438" y="0"/>
                    <a:pt x="168402" y="0"/>
                  </a:cubicBezTo>
                  <a:lnTo>
                    <a:pt x="6714998" y="0"/>
                  </a:lnTo>
                  <a:cubicBezTo>
                    <a:pt x="6807962" y="0"/>
                    <a:pt x="6883400" y="75438"/>
                    <a:pt x="6883400" y="168402"/>
                  </a:cubicBezTo>
                  <a:lnTo>
                    <a:pt x="6883400" y="954278"/>
                  </a:lnTo>
                  <a:cubicBezTo>
                    <a:pt x="6883400" y="1047242"/>
                    <a:pt x="6807962" y="1122680"/>
                    <a:pt x="6714998" y="1122680"/>
                  </a:cubicBezTo>
                  <a:lnTo>
                    <a:pt x="168402" y="1122680"/>
                  </a:lnTo>
                  <a:cubicBezTo>
                    <a:pt x="75438" y="1122680"/>
                    <a:pt x="0" y="1047242"/>
                    <a:pt x="0" y="954278"/>
                  </a:cubicBezTo>
                  <a:close/>
                </a:path>
              </a:pathLst>
            </a:custGeom>
            <a:solidFill>
              <a:srgbClr val="F4F7FC"/>
            </a:solidFill>
            <a:ln w="19050" cap="sq">
              <a:solidFill>
                <a:srgbClr val="D7DCEC"/>
              </a:solidFill>
              <a:prstDash val="solid"/>
              <a:miter/>
            </a:ln>
          </p:spPr>
        </p:sp>
      </p:grpSp>
      <p:grpSp>
        <p:nvGrpSpPr>
          <p:cNvPr name="Group 26" id="26"/>
          <p:cNvGrpSpPr/>
          <p:nvPr/>
        </p:nvGrpSpPr>
        <p:grpSpPr>
          <a:xfrm rot="0">
            <a:off x="6542532" y="5006340"/>
            <a:ext cx="5143500" cy="521208"/>
            <a:chOff x="0" y="0"/>
            <a:chExt cx="6858000" cy="694944"/>
          </a:xfrm>
        </p:grpSpPr>
        <p:sp>
          <p:nvSpPr>
            <p:cNvPr name="Freeform 27" id="27"/>
            <p:cNvSpPr/>
            <p:nvPr/>
          </p:nvSpPr>
          <p:spPr>
            <a:xfrm flipH="false" flipV="false" rot="0">
              <a:off x="0" y="0"/>
              <a:ext cx="6858000" cy="694944"/>
            </a:xfrm>
            <a:custGeom>
              <a:avLst/>
              <a:gdLst/>
              <a:ahLst/>
              <a:cxnLst/>
              <a:rect r="r" b="b" t="t" l="l"/>
              <a:pathLst>
                <a:path h="694944" w="6858000">
                  <a:moveTo>
                    <a:pt x="0" y="0"/>
                  </a:moveTo>
                  <a:lnTo>
                    <a:pt x="6858000" y="0"/>
                  </a:lnTo>
                  <a:lnTo>
                    <a:pt x="6858000" y="694944"/>
                  </a:lnTo>
                  <a:lnTo>
                    <a:pt x="0" y="694944"/>
                  </a:lnTo>
                  <a:close/>
                </a:path>
              </a:pathLst>
            </a:custGeom>
            <a:blipFill>
              <a:blip r:embed="rId2">
                <a:alphaModFix amt="0"/>
              </a:blip>
              <a:stretch>
                <a:fillRect l="0" t="-142286" r="0" b="-142286"/>
              </a:stretch>
            </a:blipFill>
          </p:spPr>
        </p:sp>
        <p:sp>
          <p:nvSpPr>
            <p:cNvPr name="TextBox 28" id="28"/>
            <p:cNvSpPr txBox="true"/>
            <p:nvPr/>
          </p:nvSpPr>
          <p:spPr>
            <a:xfrm>
              <a:off x="0" y="-38100"/>
              <a:ext cx="6858000" cy="733044"/>
            </a:xfrm>
            <a:prstGeom prst="rect">
              <a:avLst/>
            </a:prstGeom>
          </p:spPr>
          <p:txBody>
            <a:bodyPr anchor="ctr" rtlCol="false" tIns="0" lIns="0" bIns="0" rIns="0"/>
            <a:lstStyle/>
            <a:p>
              <a:pPr algn="ctr">
                <a:lnSpc>
                  <a:spcPts val="2250"/>
                </a:lnSpc>
              </a:pPr>
              <a:r>
                <a:rPr lang="en-US" sz="1875">
                  <a:solidFill>
                    <a:srgbClr val="6B7280"/>
                  </a:solidFill>
                  <a:latin typeface="Calibri (MS)"/>
                  <a:ea typeface="Calibri (MS)"/>
                  <a:cs typeface="Calibri (MS)"/>
                  <a:sym typeface="Calibri (MS)"/>
                </a:rPr>
                <a:t>Cybercrime Act</a:t>
              </a:r>
            </a:p>
          </p:txBody>
        </p:sp>
      </p:grpSp>
      <p:grpSp>
        <p:nvGrpSpPr>
          <p:cNvPr name="Group 29" id="29"/>
          <p:cNvGrpSpPr/>
          <p:nvPr/>
        </p:nvGrpSpPr>
        <p:grpSpPr>
          <a:xfrm rot="0">
            <a:off x="6542532" y="5376672"/>
            <a:ext cx="5143500" cy="329184"/>
            <a:chOff x="0" y="0"/>
            <a:chExt cx="6858000" cy="438912"/>
          </a:xfrm>
        </p:grpSpPr>
        <p:sp>
          <p:nvSpPr>
            <p:cNvPr name="Freeform 30" id="30"/>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31" id="31"/>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9AA3B8"/>
                  </a:solidFill>
                  <a:latin typeface="Arimo"/>
                  <a:ea typeface="Arimo"/>
                  <a:cs typeface="Arimo"/>
                  <a:sym typeface="Arimo"/>
                </a:rPr>
                <a:t>CPA</a:t>
              </a:r>
            </a:p>
          </p:txBody>
        </p:sp>
      </p:grpSp>
      <p:grpSp>
        <p:nvGrpSpPr>
          <p:cNvPr name="Group 32" id="32"/>
          <p:cNvGrpSpPr/>
          <p:nvPr/>
        </p:nvGrpSpPr>
        <p:grpSpPr>
          <a:xfrm rot="0">
            <a:off x="950595" y="5998083"/>
            <a:ext cx="5162550" cy="842010"/>
            <a:chOff x="0" y="0"/>
            <a:chExt cx="6883400" cy="1122680"/>
          </a:xfrm>
        </p:grpSpPr>
        <p:sp>
          <p:nvSpPr>
            <p:cNvPr name="Freeform 33" id="33"/>
            <p:cNvSpPr/>
            <p:nvPr/>
          </p:nvSpPr>
          <p:spPr>
            <a:xfrm flipH="false" flipV="false" rot="0">
              <a:off x="0" y="0"/>
              <a:ext cx="6883400" cy="1122680"/>
            </a:xfrm>
            <a:custGeom>
              <a:avLst/>
              <a:gdLst/>
              <a:ahLst/>
              <a:cxnLst/>
              <a:rect r="r" b="b" t="t" l="l"/>
              <a:pathLst>
                <a:path h="1122680" w="6883400">
                  <a:moveTo>
                    <a:pt x="0" y="168402"/>
                  </a:moveTo>
                  <a:cubicBezTo>
                    <a:pt x="0" y="75438"/>
                    <a:pt x="75438" y="0"/>
                    <a:pt x="168402" y="0"/>
                  </a:cubicBezTo>
                  <a:lnTo>
                    <a:pt x="6714998" y="0"/>
                  </a:lnTo>
                  <a:cubicBezTo>
                    <a:pt x="6807962" y="0"/>
                    <a:pt x="6883400" y="75438"/>
                    <a:pt x="6883400" y="168402"/>
                  </a:cubicBezTo>
                  <a:lnTo>
                    <a:pt x="6883400" y="954278"/>
                  </a:lnTo>
                  <a:cubicBezTo>
                    <a:pt x="6883400" y="1047242"/>
                    <a:pt x="6807962" y="1122680"/>
                    <a:pt x="6714998" y="1122680"/>
                  </a:cubicBezTo>
                  <a:lnTo>
                    <a:pt x="168402" y="1122680"/>
                  </a:lnTo>
                  <a:cubicBezTo>
                    <a:pt x="75438" y="1122680"/>
                    <a:pt x="0" y="1047242"/>
                    <a:pt x="0" y="954278"/>
                  </a:cubicBezTo>
                  <a:close/>
                </a:path>
              </a:pathLst>
            </a:custGeom>
            <a:solidFill>
              <a:srgbClr val="6C4FD1"/>
            </a:solidFill>
            <a:ln w="19050" cap="sq">
              <a:solidFill>
                <a:srgbClr val="6C4FD1"/>
              </a:solidFill>
              <a:prstDash val="solid"/>
              <a:miter/>
            </a:ln>
          </p:spPr>
        </p:sp>
      </p:grpSp>
      <p:grpSp>
        <p:nvGrpSpPr>
          <p:cNvPr name="Group 34" id="34"/>
          <p:cNvGrpSpPr/>
          <p:nvPr/>
        </p:nvGrpSpPr>
        <p:grpSpPr>
          <a:xfrm rot="0">
            <a:off x="960120" y="6076188"/>
            <a:ext cx="5143500" cy="521208"/>
            <a:chOff x="0" y="0"/>
            <a:chExt cx="6858000" cy="694944"/>
          </a:xfrm>
        </p:grpSpPr>
        <p:sp>
          <p:nvSpPr>
            <p:cNvPr name="Freeform 35" id="35"/>
            <p:cNvSpPr/>
            <p:nvPr/>
          </p:nvSpPr>
          <p:spPr>
            <a:xfrm flipH="false" flipV="false" rot="0">
              <a:off x="0" y="0"/>
              <a:ext cx="6858000" cy="694944"/>
            </a:xfrm>
            <a:custGeom>
              <a:avLst/>
              <a:gdLst/>
              <a:ahLst/>
              <a:cxnLst/>
              <a:rect r="r" b="b" t="t" l="l"/>
              <a:pathLst>
                <a:path h="694944" w="6858000">
                  <a:moveTo>
                    <a:pt x="0" y="0"/>
                  </a:moveTo>
                  <a:lnTo>
                    <a:pt x="6858000" y="0"/>
                  </a:lnTo>
                  <a:lnTo>
                    <a:pt x="6858000" y="694944"/>
                  </a:lnTo>
                  <a:lnTo>
                    <a:pt x="0" y="694944"/>
                  </a:lnTo>
                  <a:close/>
                </a:path>
              </a:pathLst>
            </a:custGeom>
            <a:blipFill>
              <a:blip r:embed="rId2">
                <a:alphaModFix amt="0"/>
              </a:blip>
              <a:stretch>
                <a:fillRect l="0" t="-142286" r="0" b="-142286"/>
              </a:stretch>
            </a:blipFill>
          </p:spPr>
        </p:sp>
        <p:sp>
          <p:nvSpPr>
            <p:cNvPr name="TextBox 36" id="36"/>
            <p:cNvSpPr txBox="true"/>
            <p:nvPr/>
          </p:nvSpPr>
          <p:spPr>
            <a:xfrm>
              <a:off x="0" y="-38100"/>
              <a:ext cx="6858000" cy="733044"/>
            </a:xfrm>
            <a:prstGeom prst="rect">
              <a:avLst/>
            </a:prstGeom>
          </p:spPr>
          <p:txBody>
            <a:bodyPr anchor="ctr" rtlCol="false" tIns="0" lIns="0" bIns="0" rIns="0"/>
            <a:lstStyle/>
            <a:p>
              <a:pPr algn="ctr">
                <a:lnSpc>
                  <a:spcPts val="2250"/>
                </a:lnSpc>
              </a:pPr>
              <a:r>
                <a:rPr lang="en-US" sz="1875" b="true">
                  <a:solidFill>
                    <a:srgbClr val="FFFFFF"/>
                  </a:solidFill>
                  <a:latin typeface="Calibri (MS) Bold"/>
                  <a:ea typeface="Calibri (MS) Bold"/>
                  <a:cs typeface="Calibri (MS) Bold"/>
                  <a:sym typeface="Calibri (MS) Bold"/>
                </a:rPr>
                <a:t>✓  Data Privacy Act</a:t>
              </a:r>
            </a:p>
          </p:txBody>
        </p:sp>
      </p:grpSp>
      <p:grpSp>
        <p:nvGrpSpPr>
          <p:cNvPr name="Group 37" id="37"/>
          <p:cNvGrpSpPr/>
          <p:nvPr/>
        </p:nvGrpSpPr>
        <p:grpSpPr>
          <a:xfrm rot="0">
            <a:off x="960120" y="6446520"/>
            <a:ext cx="5143500" cy="329184"/>
            <a:chOff x="0" y="0"/>
            <a:chExt cx="6858000" cy="438912"/>
          </a:xfrm>
        </p:grpSpPr>
        <p:sp>
          <p:nvSpPr>
            <p:cNvPr name="Freeform 38" id="38"/>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39" id="39"/>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FFFFFF"/>
                  </a:solidFill>
                  <a:latin typeface="Arimo"/>
                  <a:ea typeface="Arimo"/>
                  <a:cs typeface="Arimo"/>
                  <a:sym typeface="Arimo"/>
                </a:rPr>
                <a:t>DPA</a:t>
              </a:r>
            </a:p>
          </p:txBody>
        </p:sp>
      </p:grpSp>
      <p:grpSp>
        <p:nvGrpSpPr>
          <p:cNvPr name="Group 40" id="40"/>
          <p:cNvGrpSpPr/>
          <p:nvPr/>
        </p:nvGrpSpPr>
        <p:grpSpPr>
          <a:xfrm rot="0">
            <a:off x="6533007" y="5998083"/>
            <a:ext cx="5162550" cy="842010"/>
            <a:chOff x="0" y="0"/>
            <a:chExt cx="6883400" cy="1122680"/>
          </a:xfrm>
        </p:grpSpPr>
        <p:sp>
          <p:nvSpPr>
            <p:cNvPr name="Freeform 41" id="41"/>
            <p:cNvSpPr/>
            <p:nvPr/>
          </p:nvSpPr>
          <p:spPr>
            <a:xfrm flipH="false" flipV="false" rot="0">
              <a:off x="0" y="0"/>
              <a:ext cx="6883400" cy="1122680"/>
            </a:xfrm>
            <a:custGeom>
              <a:avLst/>
              <a:gdLst/>
              <a:ahLst/>
              <a:cxnLst/>
              <a:rect r="r" b="b" t="t" l="l"/>
              <a:pathLst>
                <a:path h="1122680" w="6883400">
                  <a:moveTo>
                    <a:pt x="0" y="168402"/>
                  </a:moveTo>
                  <a:cubicBezTo>
                    <a:pt x="0" y="75438"/>
                    <a:pt x="75438" y="0"/>
                    <a:pt x="168402" y="0"/>
                  </a:cubicBezTo>
                  <a:lnTo>
                    <a:pt x="6714998" y="0"/>
                  </a:lnTo>
                  <a:cubicBezTo>
                    <a:pt x="6807962" y="0"/>
                    <a:pt x="6883400" y="75438"/>
                    <a:pt x="6883400" y="168402"/>
                  </a:cubicBezTo>
                  <a:lnTo>
                    <a:pt x="6883400" y="954278"/>
                  </a:lnTo>
                  <a:cubicBezTo>
                    <a:pt x="6883400" y="1047242"/>
                    <a:pt x="6807962" y="1122680"/>
                    <a:pt x="6714998" y="1122680"/>
                  </a:cubicBezTo>
                  <a:lnTo>
                    <a:pt x="168402" y="1122680"/>
                  </a:lnTo>
                  <a:cubicBezTo>
                    <a:pt x="75438" y="1122680"/>
                    <a:pt x="0" y="1047242"/>
                    <a:pt x="0" y="954278"/>
                  </a:cubicBezTo>
                  <a:close/>
                </a:path>
              </a:pathLst>
            </a:custGeom>
            <a:solidFill>
              <a:srgbClr val="F4F7FC"/>
            </a:solidFill>
            <a:ln w="19050" cap="sq">
              <a:solidFill>
                <a:srgbClr val="D7DCEC"/>
              </a:solidFill>
              <a:prstDash val="solid"/>
              <a:miter/>
            </a:ln>
          </p:spPr>
        </p:sp>
      </p:grpSp>
      <p:grpSp>
        <p:nvGrpSpPr>
          <p:cNvPr name="Group 42" id="42"/>
          <p:cNvGrpSpPr/>
          <p:nvPr/>
        </p:nvGrpSpPr>
        <p:grpSpPr>
          <a:xfrm rot="0">
            <a:off x="6542532" y="6076188"/>
            <a:ext cx="5143500" cy="521208"/>
            <a:chOff x="0" y="0"/>
            <a:chExt cx="6858000" cy="694944"/>
          </a:xfrm>
        </p:grpSpPr>
        <p:sp>
          <p:nvSpPr>
            <p:cNvPr name="Freeform 43" id="43"/>
            <p:cNvSpPr/>
            <p:nvPr/>
          </p:nvSpPr>
          <p:spPr>
            <a:xfrm flipH="false" flipV="false" rot="0">
              <a:off x="0" y="0"/>
              <a:ext cx="6858000" cy="694944"/>
            </a:xfrm>
            <a:custGeom>
              <a:avLst/>
              <a:gdLst/>
              <a:ahLst/>
              <a:cxnLst/>
              <a:rect r="r" b="b" t="t" l="l"/>
              <a:pathLst>
                <a:path h="694944" w="6858000">
                  <a:moveTo>
                    <a:pt x="0" y="0"/>
                  </a:moveTo>
                  <a:lnTo>
                    <a:pt x="6858000" y="0"/>
                  </a:lnTo>
                  <a:lnTo>
                    <a:pt x="6858000" y="694944"/>
                  </a:lnTo>
                  <a:lnTo>
                    <a:pt x="0" y="694944"/>
                  </a:lnTo>
                  <a:close/>
                </a:path>
              </a:pathLst>
            </a:custGeom>
            <a:blipFill>
              <a:blip r:embed="rId2">
                <a:alphaModFix amt="0"/>
              </a:blip>
              <a:stretch>
                <a:fillRect l="0" t="-142286" r="0" b="-142286"/>
              </a:stretch>
            </a:blipFill>
          </p:spPr>
        </p:sp>
        <p:sp>
          <p:nvSpPr>
            <p:cNvPr name="TextBox 44" id="44"/>
            <p:cNvSpPr txBox="true"/>
            <p:nvPr/>
          </p:nvSpPr>
          <p:spPr>
            <a:xfrm>
              <a:off x="0" y="-38100"/>
              <a:ext cx="6858000" cy="733044"/>
            </a:xfrm>
            <a:prstGeom prst="rect">
              <a:avLst/>
            </a:prstGeom>
          </p:spPr>
          <p:txBody>
            <a:bodyPr anchor="ctr" rtlCol="false" tIns="0" lIns="0" bIns="0" rIns="0"/>
            <a:lstStyle/>
            <a:p>
              <a:pPr algn="ctr">
                <a:lnSpc>
                  <a:spcPts val="2250"/>
                </a:lnSpc>
              </a:pPr>
              <a:r>
                <a:rPr lang="en-US" sz="1875">
                  <a:solidFill>
                    <a:srgbClr val="6B7280"/>
                  </a:solidFill>
                  <a:latin typeface="Calibri (MS)"/>
                  <a:ea typeface="Calibri (MS)"/>
                  <a:cs typeface="Calibri (MS)"/>
                  <a:sym typeface="Calibri (MS)"/>
                </a:rPr>
                <a:t>DICT Act / NCSP</a:t>
              </a:r>
            </a:p>
          </p:txBody>
        </p:sp>
      </p:grpSp>
      <p:grpSp>
        <p:nvGrpSpPr>
          <p:cNvPr name="Group 45" id="45"/>
          <p:cNvGrpSpPr/>
          <p:nvPr/>
        </p:nvGrpSpPr>
        <p:grpSpPr>
          <a:xfrm rot="0">
            <a:off x="6542532" y="6446520"/>
            <a:ext cx="5143500" cy="329184"/>
            <a:chOff x="0" y="0"/>
            <a:chExt cx="6858000" cy="438912"/>
          </a:xfrm>
        </p:grpSpPr>
        <p:sp>
          <p:nvSpPr>
            <p:cNvPr name="Freeform 46" id="46"/>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47" id="47"/>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9AA3B8"/>
                  </a:solidFill>
                  <a:latin typeface="Arimo"/>
                  <a:ea typeface="Arimo"/>
                  <a:cs typeface="Arimo"/>
                  <a:sym typeface="Arimo"/>
                </a:rPr>
                <a:t>DICT</a:t>
              </a:r>
            </a:p>
          </p:txBody>
        </p:sp>
      </p:grpSp>
      <p:grpSp>
        <p:nvGrpSpPr>
          <p:cNvPr name="Group 48" id="48"/>
          <p:cNvGrpSpPr/>
          <p:nvPr/>
        </p:nvGrpSpPr>
        <p:grpSpPr>
          <a:xfrm rot="0">
            <a:off x="12115419" y="4928235"/>
            <a:ext cx="5162550" cy="1911858"/>
            <a:chOff x="0" y="0"/>
            <a:chExt cx="6883400" cy="2549144"/>
          </a:xfrm>
        </p:grpSpPr>
        <p:sp>
          <p:nvSpPr>
            <p:cNvPr name="Freeform 49" id="49"/>
            <p:cNvSpPr/>
            <p:nvPr/>
          </p:nvSpPr>
          <p:spPr>
            <a:xfrm flipH="false" flipV="false" rot="0">
              <a:off x="0" y="0"/>
              <a:ext cx="6883400" cy="2549144"/>
            </a:xfrm>
            <a:custGeom>
              <a:avLst/>
              <a:gdLst/>
              <a:ahLst/>
              <a:cxnLst/>
              <a:rect r="r" b="b" t="t" l="l"/>
              <a:pathLst>
                <a:path h="2549144" w="6883400">
                  <a:moveTo>
                    <a:pt x="0" y="166243"/>
                  </a:moveTo>
                  <a:cubicBezTo>
                    <a:pt x="0" y="74422"/>
                    <a:pt x="74422" y="0"/>
                    <a:pt x="166243" y="0"/>
                  </a:cubicBezTo>
                  <a:lnTo>
                    <a:pt x="6717157" y="0"/>
                  </a:lnTo>
                  <a:cubicBezTo>
                    <a:pt x="6808978" y="0"/>
                    <a:pt x="6883400" y="74422"/>
                    <a:pt x="6883400" y="166243"/>
                  </a:cubicBezTo>
                  <a:lnTo>
                    <a:pt x="6883400" y="2382901"/>
                  </a:lnTo>
                  <a:cubicBezTo>
                    <a:pt x="6883400" y="2474722"/>
                    <a:pt x="6808978" y="2549144"/>
                    <a:pt x="6717157" y="2549144"/>
                  </a:cubicBezTo>
                  <a:lnTo>
                    <a:pt x="166243" y="2549144"/>
                  </a:lnTo>
                  <a:cubicBezTo>
                    <a:pt x="74422" y="2549144"/>
                    <a:pt x="0" y="2474722"/>
                    <a:pt x="0" y="2382901"/>
                  </a:cubicBezTo>
                  <a:close/>
                </a:path>
              </a:pathLst>
            </a:custGeom>
            <a:solidFill>
              <a:srgbClr val="F4F7FC"/>
            </a:solidFill>
            <a:ln w="19050" cap="sq">
              <a:solidFill>
                <a:srgbClr val="D7DCEC"/>
              </a:solidFill>
              <a:prstDash val="solid"/>
              <a:miter/>
            </a:ln>
          </p:spPr>
        </p:sp>
      </p:grpSp>
      <p:grpSp>
        <p:nvGrpSpPr>
          <p:cNvPr name="Group 50" id="50"/>
          <p:cNvGrpSpPr/>
          <p:nvPr/>
        </p:nvGrpSpPr>
        <p:grpSpPr>
          <a:xfrm rot="0">
            <a:off x="12124944" y="5006340"/>
            <a:ext cx="5143500" cy="1591056"/>
            <a:chOff x="0" y="0"/>
            <a:chExt cx="6858000" cy="2121408"/>
          </a:xfrm>
        </p:grpSpPr>
        <p:sp>
          <p:nvSpPr>
            <p:cNvPr name="Freeform 51" id="51"/>
            <p:cNvSpPr/>
            <p:nvPr/>
          </p:nvSpPr>
          <p:spPr>
            <a:xfrm flipH="false" flipV="false" rot="0">
              <a:off x="0" y="0"/>
              <a:ext cx="6858000" cy="2121408"/>
            </a:xfrm>
            <a:custGeom>
              <a:avLst/>
              <a:gdLst/>
              <a:ahLst/>
              <a:cxnLst/>
              <a:rect r="r" b="b" t="t" l="l"/>
              <a:pathLst>
                <a:path h="2121408" w="6858000">
                  <a:moveTo>
                    <a:pt x="0" y="0"/>
                  </a:moveTo>
                  <a:lnTo>
                    <a:pt x="6858000" y="0"/>
                  </a:lnTo>
                  <a:lnTo>
                    <a:pt x="6858000" y="2121408"/>
                  </a:lnTo>
                  <a:lnTo>
                    <a:pt x="0" y="2121408"/>
                  </a:lnTo>
                  <a:close/>
                </a:path>
              </a:pathLst>
            </a:custGeom>
            <a:blipFill>
              <a:blip r:embed="rId2">
                <a:alphaModFix amt="0"/>
              </a:blip>
              <a:stretch>
                <a:fillRect l="0" t="-12990" r="0" b="-12990"/>
              </a:stretch>
            </a:blipFill>
          </p:spPr>
        </p:sp>
        <p:sp>
          <p:nvSpPr>
            <p:cNvPr name="TextBox 52" id="52"/>
            <p:cNvSpPr txBox="true"/>
            <p:nvPr/>
          </p:nvSpPr>
          <p:spPr>
            <a:xfrm>
              <a:off x="0" y="-38100"/>
              <a:ext cx="6858000" cy="2159508"/>
            </a:xfrm>
            <a:prstGeom prst="rect">
              <a:avLst/>
            </a:prstGeom>
          </p:spPr>
          <p:txBody>
            <a:bodyPr anchor="ctr" rtlCol="false" tIns="0" lIns="0" bIns="0" rIns="0"/>
            <a:lstStyle/>
            <a:p>
              <a:pPr algn="ctr">
                <a:lnSpc>
                  <a:spcPts val="2250"/>
                </a:lnSpc>
              </a:pPr>
              <a:r>
                <a:rPr lang="en-US" sz="1875">
                  <a:solidFill>
                    <a:srgbClr val="6B7280"/>
                  </a:solidFill>
                  <a:latin typeface="Calibri (MS)"/>
                  <a:ea typeface="Calibri (MS)"/>
                  <a:cs typeface="Calibri (MS)"/>
                  <a:sym typeface="Calibri (MS)"/>
                </a:rPr>
                <a:t>Critical Infra. Protection</a:t>
              </a:r>
            </a:p>
          </p:txBody>
        </p:sp>
      </p:grpSp>
      <p:grpSp>
        <p:nvGrpSpPr>
          <p:cNvPr name="Group 53" id="53"/>
          <p:cNvGrpSpPr/>
          <p:nvPr/>
        </p:nvGrpSpPr>
        <p:grpSpPr>
          <a:xfrm rot="0">
            <a:off x="12124944" y="6446520"/>
            <a:ext cx="5143500" cy="329184"/>
            <a:chOff x="0" y="0"/>
            <a:chExt cx="6858000" cy="438912"/>
          </a:xfrm>
        </p:grpSpPr>
        <p:sp>
          <p:nvSpPr>
            <p:cNvPr name="Freeform 54" id="54"/>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55" id="55"/>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9AA3B8"/>
                  </a:solidFill>
                  <a:latin typeface="Arimo"/>
                  <a:ea typeface="Arimo"/>
                  <a:cs typeface="Arimo"/>
                  <a:sym typeface="Arimo"/>
                </a:rPr>
                <a:t>CII</a:t>
              </a:r>
            </a:p>
          </p:txBody>
        </p:sp>
      </p:grpSp>
      <p:grpSp>
        <p:nvGrpSpPr>
          <p:cNvPr name="Group 56" id="56"/>
          <p:cNvGrpSpPr/>
          <p:nvPr/>
        </p:nvGrpSpPr>
        <p:grpSpPr>
          <a:xfrm rot="0">
            <a:off x="950595" y="7328535"/>
            <a:ext cx="16341090" cy="1596390"/>
            <a:chOff x="0" y="0"/>
            <a:chExt cx="21788120" cy="2128520"/>
          </a:xfrm>
        </p:grpSpPr>
        <p:sp>
          <p:nvSpPr>
            <p:cNvPr name="Freeform 57" id="57"/>
            <p:cNvSpPr/>
            <p:nvPr/>
          </p:nvSpPr>
          <p:spPr>
            <a:xfrm flipH="false" flipV="false" rot="0">
              <a:off x="0" y="0"/>
              <a:ext cx="21788120" cy="2128520"/>
            </a:xfrm>
            <a:custGeom>
              <a:avLst/>
              <a:gdLst/>
              <a:ahLst/>
              <a:cxnLst/>
              <a:rect r="r" b="b" t="t" l="l"/>
              <a:pathLst>
                <a:path h="2128520" w="21788120">
                  <a:moveTo>
                    <a:pt x="0" y="185039"/>
                  </a:moveTo>
                  <a:cubicBezTo>
                    <a:pt x="0" y="82931"/>
                    <a:pt x="82931" y="0"/>
                    <a:pt x="185039" y="0"/>
                  </a:cubicBezTo>
                  <a:lnTo>
                    <a:pt x="21603081" y="0"/>
                  </a:lnTo>
                  <a:cubicBezTo>
                    <a:pt x="21705317" y="0"/>
                    <a:pt x="21788120" y="82931"/>
                    <a:pt x="21788120" y="185039"/>
                  </a:cubicBezTo>
                  <a:lnTo>
                    <a:pt x="21788120" y="1943481"/>
                  </a:lnTo>
                  <a:cubicBezTo>
                    <a:pt x="21788120" y="2045716"/>
                    <a:pt x="21705190" y="2128520"/>
                    <a:pt x="21603081" y="2128520"/>
                  </a:cubicBezTo>
                  <a:lnTo>
                    <a:pt x="185039" y="2128520"/>
                  </a:lnTo>
                  <a:cubicBezTo>
                    <a:pt x="82931" y="2128520"/>
                    <a:pt x="0" y="2045589"/>
                    <a:pt x="0" y="1943481"/>
                  </a:cubicBezTo>
                  <a:close/>
                </a:path>
              </a:pathLst>
            </a:custGeom>
            <a:solidFill>
              <a:srgbClr val="FBF9F4"/>
            </a:solidFill>
            <a:ln w="19050" cap="sq">
              <a:solidFill>
                <a:srgbClr val="EFE6D2"/>
              </a:solidFill>
              <a:prstDash val="solid"/>
              <a:miter/>
            </a:ln>
          </p:spPr>
        </p:sp>
      </p:grpSp>
      <p:sp>
        <p:nvSpPr>
          <p:cNvPr name="TextBox 58" id="58"/>
          <p:cNvSpPr txBox="true"/>
          <p:nvPr/>
        </p:nvSpPr>
        <p:spPr>
          <a:xfrm rot="0">
            <a:off x="1463040" y="7494270"/>
            <a:ext cx="15316200" cy="1238250"/>
          </a:xfrm>
          <a:prstGeom prst="rect">
            <a:avLst/>
          </a:prstGeom>
        </p:spPr>
        <p:txBody>
          <a:bodyPr anchor="t" rtlCol="false" tIns="0" lIns="0" bIns="0" rIns="0">
            <a:spAutoFit/>
          </a:bodyPr>
          <a:lstStyle/>
          <a:p>
            <a:pPr algn="l">
              <a:lnSpc>
                <a:spcPts val="2764"/>
              </a:lnSpc>
            </a:pPr>
            <a:r>
              <a:rPr lang="en-US" sz="1800">
                <a:solidFill>
                  <a:srgbClr val="23262F"/>
                </a:solidFill>
                <a:latin typeface="Calibri (MS)"/>
                <a:ea typeface="Calibri (MS)"/>
                <a:cs typeface="Calibri (MS)"/>
                <a:sym typeface="Calibri (MS)"/>
              </a:rPr>
              <a:t>Improper disposal of sensitive personal information is a specific offense under RA 10173 — punishable by imprisonment and a fine of up to ₱1,000,000.</a:t>
            </a:r>
          </a:p>
        </p:txBody>
      </p:sp>
      <p:grpSp>
        <p:nvGrpSpPr>
          <p:cNvPr name="Group 59" id="59"/>
          <p:cNvGrpSpPr/>
          <p:nvPr/>
        </p:nvGrpSpPr>
        <p:grpSpPr>
          <a:xfrm rot="0">
            <a:off x="685800" y="9710928"/>
            <a:ext cx="10972800" cy="411480"/>
            <a:chOff x="0" y="0"/>
            <a:chExt cx="14630400" cy="548640"/>
          </a:xfrm>
        </p:grpSpPr>
        <p:sp>
          <p:nvSpPr>
            <p:cNvPr name="Freeform 60" id="60"/>
            <p:cNvSpPr/>
            <p:nvPr/>
          </p:nvSpPr>
          <p:spPr>
            <a:xfrm flipH="false" flipV="false" rot="0">
              <a:off x="0" y="0"/>
              <a:ext cx="14630400" cy="548640"/>
            </a:xfrm>
            <a:custGeom>
              <a:avLst/>
              <a:gdLst/>
              <a:ahLst/>
              <a:cxnLst/>
              <a:rect r="r" b="b" t="t" l="l"/>
              <a:pathLst>
                <a:path h="548640" w="14630400">
                  <a:moveTo>
                    <a:pt x="0" y="0"/>
                  </a:moveTo>
                  <a:lnTo>
                    <a:pt x="14630400" y="0"/>
                  </a:lnTo>
                  <a:lnTo>
                    <a:pt x="14630400" y="548640"/>
                  </a:lnTo>
                  <a:lnTo>
                    <a:pt x="0" y="548640"/>
                  </a:lnTo>
                  <a:close/>
                </a:path>
              </a:pathLst>
            </a:custGeom>
            <a:blipFill>
              <a:blip r:embed="rId2">
                <a:alphaModFix amt="0"/>
              </a:blip>
              <a:stretch>
                <a:fillRect l="0" t="-469601" r="0" b="-469601"/>
              </a:stretch>
            </a:blipFill>
          </p:spPr>
        </p:sp>
        <p:sp>
          <p:nvSpPr>
            <p:cNvPr name="TextBox 61" id="61"/>
            <p:cNvSpPr txBox="true"/>
            <p:nvPr/>
          </p:nvSpPr>
          <p:spPr>
            <a:xfrm>
              <a:off x="0" y="-38100"/>
              <a:ext cx="14630400" cy="586740"/>
            </a:xfrm>
            <a:prstGeom prst="rect">
              <a:avLst/>
            </a:prstGeom>
          </p:spPr>
          <p:txBody>
            <a:bodyPr anchor="ctr" rtlCol="false" tIns="0" lIns="0" bIns="0" rIns="0"/>
            <a:lstStyle/>
            <a:p>
              <a:pPr algn="l">
                <a:lnSpc>
                  <a:spcPts val="1800"/>
                </a:lnSpc>
              </a:pPr>
              <a:r>
                <a:rPr lang="en-US" sz="1500">
                  <a:solidFill>
                    <a:srgbClr val="6B7280"/>
                  </a:solidFill>
                  <a:latin typeface="Calibri (MS)"/>
                  <a:ea typeface="Calibri (MS)"/>
                  <a:cs typeface="Calibri (MS)"/>
                  <a:sym typeface="Calibri (MS)"/>
                </a:rPr>
                <a:t>Davao del Norte Provincial Government — Cybersecurity Seminar</a:t>
              </a:r>
            </a:p>
          </p:txBody>
        </p:sp>
      </p:grpSp>
      <p:grpSp>
        <p:nvGrpSpPr>
          <p:cNvPr name="Group 62" id="62"/>
          <p:cNvGrpSpPr/>
          <p:nvPr/>
        </p:nvGrpSpPr>
        <p:grpSpPr>
          <a:xfrm rot="0">
            <a:off x="16911828" y="9710928"/>
            <a:ext cx="685800" cy="411480"/>
            <a:chOff x="0" y="0"/>
            <a:chExt cx="914400" cy="548640"/>
          </a:xfrm>
        </p:grpSpPr>
        <p:sp>
          <p:nvSpPr>
            <p:cNvPr name="Freeform 63" id="63"/>
            <p:cNvSpPr/>
            <p:nvPr/>
          </p:nvSpPr>
          <p:spPr>
            <a:xfrm flipH="false" flipV="false" rot="0">
              <a:off x="0" y="0"/>
              <a:ext cx="914400" cy="548640"/>
            </a:xfrm>
            <a:custGeom>
              <a:avLst/>
              <a:gdLst/>
              <a:ahLst/>
              <a:cxnLst/>
              <a:rect r="r" b="b" t="t" l="l"/>
              <a:pathLst>
                <a:path h="548640" w="914400">
                  <a:moveTo>
                    <a:pt x="0" y="0"/>
                  </a:moveTo>
                  <a:lnTo>
                    <a:pt x="914400" y="0"/>
                  </a:lnTo>
                  <a:lnTo>
                    <a:pt x="914400" y="548640"/>
                  </a:lnTo>
                  <a:lnTo>
                    <a:pt x="0" y="548640"/>
                  </a:lnTo>
                  <a:close/>
                </a:path>
              </a:pathLst>
            </a:custGeom>
            <a:blipFill>
              <a:blip r:embed="rId2">
                <a:alphaModFix amt="0"/>
              </a:blip>
              <a:stretch>
                <a:fillRect l="-26982" t="0" r="-26982" b="0"/>
              </a:stretch>
            </a:blipFill>
          </p:spPr>
        </p:sp>
        <p:sp>
          <p:nvSpPr>
            <p:cNvPr name="TextBox 64" id="64"/>
            <p:cNvSpPr txBox="true"/>
            <p:nvPr/>
          </p:nvSpPr>
          <p:spPr>
            <a:xfrm>
              <a:off x="0" y="-38100"/>
              <a:ext cx="914400" cy="586740"/>
            </a:xfrm>
            <a:prstGeom prst="rect">
              <a:avLst/>
            </a:prstGeom>
          </p:spPr>
          <p:txBody>
            <a:bodyPr anchor="ctr" rtlCol="false" tIns="0" lIns="0" bIns="0" rIns="0"/>
            <a:lstStyle/>
            <a:p>
              <a:pPr algn="r">
                <a:lnSpc>
                  <a:spcPts val="1800"/>
                </a:lnSpc>
              </a:pPr>
              <a:r>
                <a:rPr lang="en-US" sz="1500">
                  <a:solidFill>
                    <a:srgbClr val="6B7280"/>
                  </a:solidFill>
                  <a:latin typeface="Calibri (MS)"/>
                  <a:ea typeface="Calibri (MS)"/>
                  <a:cs typeface="Calibri (MS)"/>
                  <a:sym typeface="Calibri (MS)"/>
                </a:rPr>
                <a:t>32</a:t>
              </a:r>
            </a:p>
          </p:txBody>
        </p:sp>
      </p:grpSp>
    </p:spTree>
  </p:cSld>
  <p:clrMapOvr>
    <a:masterClrMapping/>
  </p:clrMapOvr>
</p:sld>
</file>

<file path=ppt/slides/slide14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60120" y="685800"/>
            <a:ext cx="13716000" cy="411480"/>
            <a:chOff x="0" y="0"/>
            <a:chExt cx="18288000" cy="548640"/>
          </a:xfrm>
        </p:grpSpPr>
        <p:sp>
          <p:nvSpPr>
            <p:cNvPr name="Freeform 3" id="3"/>
            <p:cNvSpPr/>
            <p:nvPr/>
          </p:nvSpPr>
          <p:spPr>
            <a:xfrm flipH="false" flipV="false" rot="0">
              <a:off x="0" y="0"/>
              <a:ext cx="18288000" cy="548640"/>
            </a:xfrm>
            <a:custGeom>
              <a:avLst/>
              <a:gdLst/>
              <a:ahLst/>
              <a:cxnLst/>
              <a:rect r="r" b="b" t="t" l="l"/>
              <a:pathLst>
                <a:path h="548640" w="18288000">
                  <a:moveTo>
                    <a:pt x="0" y="0"/>
                  </a:moveTo>
                  <a:lnTo>
                    <a:pt x="18288000" y="0"/>
                  </a:lnTo>
                  <a:lnTo>
                    <a:pt x="18288000" y="548640"/>
                  </a:lnTo>
                  <a:lnTo>
                    <a:pt x="0" y="548640"/>
                  </a:lnTo>
                  <a:close/>
                </a:path>
              </a:pathLst>
            </a:custGeom>
            <a:blipFill>
              <a:blip r:embed="rId2">
                <a:alphaModFix amt="0"/>
              </a:blip>
              <a:stretch>
                <a:fillRect l="0" t="-599501" r="0" b="-599501"/>
              </a:stretch>
            </a:blipFill>
          </p:spPr>
        </p:sp>
        <p:sp>
          <p:nvSpPr>
            <p:cNvPr name="TextBox 4" id="4"/>
            <p:cNvSpPr txBox="true"/>
            <p:nvPr/>
          </p:nvSpPr>
          <p:spPr>
            <a:xfrm>
              <a:off x="0" y="-38100"/>
              <a:ext cx="18288000" cy="586740"/>
            </a:xfrm>
            <a:prstGeom prst="rect">
              <a:avLst/>
            </a:prstGeom>
          </p:spPr>
          <p:txBody>
            <a:bodyPr anchor="ctr" rtlCol="false" tIns="0" lIns="0" bIns="0" rIns="0"/>
            <a:lstStyle/>
            <a:p>
              <a:pPr algn="l">
                <a:lnSpc>
                  <a:spcPts val="2160"/>
                </a:lnSpc>
              </a:pPr>
              <a:r>
                <a:rPr lang="en-US" b="true" sz="1800" spc="225">
                  <a:solidFill>
                    <a:srgbClr val="00B4D8"/>
                  </a:solidFill>
                  <a:latin typeface="Calibri (MS) Bold"/>
                  <a:ea typeface="Calibri (MS) Bold"/>
                  <a:cs typeface="Calibri (MS) Bold"/>
                  <a:sym typeface="Calibri (MS) Bold"/>
                </a:rPr>
                <a:t>PH CYBER LAW SORT · SCENARIO</a:t>
              </a:r>
            </a:p>
          </p:txBody>
        </p:sp>
      </p:grpSp>
      <p:grpSp>
        <p:nvGrpSpPr>
          <p:cNvPr name="Group 5" id="5"/>
          <p:cNvGrpSpPr/>
          <p:nvPr/>
        </p:nvGrpSpPr>
        <p:grpSpPr>
          <a:xfrm rot="0">
            <a:off x="960120" y="1069848"/>
            <a:ext cx="10972800" cy="822960"/>
            <a:chOff x="0" y="0"/>
            <a:chExt cx="14630400" cy="1097280"/>
          </a:xfrm>
        </p:grpSpPr>
        <p:sp>
          <p:nvSpPr>
            <p:cNvPr name="Freeform 6" id="6"/>
            <p:cNvSpPr/>
            <p:nvPr/>
          </p:nvSpPr>
          <p:spPr>
            <a:xfrm flipH="false" flipV="false" rot="0">
              <a:off x="0" y="0"/>
              <a:ext cx="14630400" cy="1097280"/>
            </a:xfrm>
            <a:custGeom>
              <a:avLst/>
              <a:gdLst/>
              <a:ahLst/>
              <a:cxnLst/>
              <a:rect r="r" b="b" t="t" l="l"/>
              <a:pathLst>
                <a:path h="1097280" w="14630400">
                  <a:moveTo>
                    <a:pt x="0" y="0"/>
                  </a:moveTo>
                  <a:lnTo>
                    <a:pt x="14630400" y="0"/>
                  </a:lnTo>
                  <a:lnTo>
                    <a:pt x="14630400" y="1097280"/>
                  </a:lnTo>
                  <a:lnTo>
                    <a:pt x="0" y="1097280"/>
                  </a:lnTo>
                  <a:close/>
                </a:path>
              </a:pathLst>
            </a:custGeom>
            <a:blipFill>
              <a:blip r:embed="rId2">
                <a:alphaModFix amt="0"/>
              </a:blip>
              <a:stretch>
                <a:fillRect l="0" t="-209800" r="0" b="-209800"/>
              </a:stretch>
            </a:blipFill>
          </p:spPr>
        </p:sp>
        <p:sp>
          <p:nvSpPr>
            <p:cNvPr name="TextBox 7" id="7"/>
            <p:cNvSpPr txBox="true"/>
            <p:nvPr/>
          </p:nvSpPr>
          <p:spPr>
            <a:xfrm>
              <a:off x="0" y="0"/>
              <a:ext cx="14630400" cy="1097280"/>
            </a:xfrm>
            <a:prstGeom prst="rect">
              <a:avLst/>
            </a:prstGeom>
          </p:spPr>
          <p:txBody>
            <a:bodyPr anchor="ctr" rtlCol="false" tIns="0" lIns="0" bIns="0" rIns="0"/>
            <a:lstStyle/>
            <a:p>
              <a:pPr algn="l">
                <a:lnSpc>
                  <a:spcPts val="4680"/>
                </a:lnSpc>
              </a:pPr>
              <a:r>
                <a:rPr lang="en-US" sz="3900" b="true">
                  <a:solidFill>
                    <a:srgbClr val="1E2761"/>
                  </a:solidFill>
                  <a:latin typeface="Cambria Bold"/>
                  <a:ea typeface="Cambria Bold"/>
                  <a:cs typeface="Cambria Bold"/>
                  <a:sym typeface="Cambria Bold"/>
                </a:rPr>
                <a:t>Scenario 12</a:t>
              </a:r>
            </a:p>
          </p:txBody>
        </p:sp>
      </p:grpSp>
      <p:grpSp>
        <p:nvGrpSpPr>
          <p:cNvPr name="Group 8" id="8"/>
          <p:cNvGrpSpPr/>
          <p:nvPr/>
        </p:nvGrpSpPr>
        <p:grpSpPr>
          <a:xfrm rot="0">
            <a:off x="960120" y="1810512"/>
            <a:ext cx="8229600" cy="411480"/>
            <a:chOff x="0" y="0"/>
            <a:chExt cx="10972800" cy="548640"/>
          </a:xfrm>
        </p:grpSpPr>
        <p:sp>
          <p:nvSpPr>
            <p:cNvPr name="Freeform 9" id="9"/>
            <p:cNvSpPr/>
            <p:nvPr/>
          </p:nvSpPr>
          <p:spPr>
            <a:xfrm flipH="false" flipV="false" rot="0">
              <a:off x="0" y="0"/>
              <a:ext cx="10972800" cy="548640"/>
            </a:xfrm>
            <a:custGeom>
              <a:avLst/>
              <a:gdLst/>
              <a:ahLst/>
              <a:cxnLst/>
              <a:rect r="r" b="b" t="t" l="l"/>
              <a:pathLst>
                <a:path h="548640" w="10972800">
                  <a:moveTo>
                    <a:pt x="0" y="0"/>
                  </a:moveTo>
                  <a:lnTo>
                    <a:pt x="10972800" y="0"/>
                  </a:lnTo>
                  <a:lnTo>
                    <a:pt x="10972800" y="548640"/>
                  </a:lnTo>
                  <a:lnTo>
                    <a:pt x="0" y="548640"/>
                  </a:lnTo>
                  <a:close/>
                </a:path>
              </a:pathLst>
            </a:custGeom>
            <a:blipFill>
              <a:blip r:embed="rId2">
                <a:alphaModFix amt="0"/>
              </a:blip>
              <a:stretch>
                <a:fillRect l="0" t="-339700" r="0" b="-339700"/>
              </a:stretch>
            </a:blipFill>
          </p:spPr>
        </p:sp>
        <p:sp>
          <p:nvSpPr>
            <p:cNvPr name="TextBox 10" id="10"/>
            <p:cNvSpPr txBox="true"/>
            <p:nvPr/>
          </p:nvSpPr>
          <p:spPr>
            <a:xfrm>
              <a:off x="0" y="-28575"/>
              <a:ext cx="10972800" cy="577215"/>
            </a:xfrm>
            <a:prstGeom prst="rect">
              <a:avLst/>
            </a:prstGeom>
          </p:spPr>
          <p:txBody>
            <a:bodyPr anchor="ctr" rtlCol="false" tIns="0" lIns="0" bIns="0" rIns="0"/>
            <a:lstStyle/>
            <a:p>
              <a:pPr algn="l">
                <a:lnSpc>
                  <a:spcPts val="1980"/>
                </a:lnSpc>
              </a:pPr>
              <a:r>
                <a:rPr lang="en-US" sz="1650">
                  <a:solidFill>
                    <a:srgbClr val="6B7280"/>
                  </a:solidFill>
                  <a:latin typeface="Calibri (MS)"/>
                  <a:ea typeface="Calibri (MS)"/>
                  <a:cs typeface="Calibri (MS)"/>
                  <a:sym typeface="Calibri (MS)"/>
                </a:rPr>
                <a:t>12 of 15</a:t>
              </a:r>
            </a:p>
          </p:txBody>
        </p:sp>
      </p:grpSp>
      <p:grpSp>
        <p:nvGrpSpPr>
          <p:cNvPr name="Group 11" id="11"/>
          <p:cNvGrpSpPr/>
          <p:nvPr/>
        </p:nvGrpSpPr>
        <p:grpSpPr>
          <a:xfrm rot="0">
            <a:off x="960120" y="2537460"/>
            <a:ext cx="16322040" cy="2811780"/>
            <a:chOff x="0" y="0"/>
            <a:chExt cx="21762720" cy="3749040"/>
          </a:xfrm>
        </p:grpSpPr>
        <p:sp>
          <p:nvSpPr>
            <p:cNvPr name="Freeform 12" id="12"/>
            <p:cNvSpPr/>
            <p:nvPr/>
          </p:nvSpPr>
          <p:spPr>
            <a:xfrm flipH="false" flipV="false" rot="0">
              <a:off x="0" y="0"/>
              <a:ext cx="21762720" cy="3749040"/>
            </a:xfrm>
            <a:custGeom>
              <a:avLst/>
              <a:gdLst/>
              <a:ahLst/>
              <a:cxnLst/>
              <a:rect r="r" b="b" t="t" l="l"/>
              <a:pathLst>
                <a:path h="3749040" w="21762720">
                  <a:moveTo>
                    <a:pt x="0" y="182880"/>
                  </a:moveTo>
                  <a:cubicBezTo>
                    <a:pt x="0" y="81915"/>
                    <a:pt x="81915" y="0"/>
                    <a:pt x="182880" y="0"/>
                  </a:cubicBezTo>
                  <a:lnTo>
                    <a:pt x="21579839" y="0"/>
                  </a:lnTo>
                  <a:cubicBezTo>
                    <a:pt x="21680804" y="0"/>
                    <a:pt x="21762720" y="81915"/>
                    <a:pt x="21762720" y="182880"/>
                  </a:cubicBezTo>
                  <a:lnTo>
                    <a:pt x="21762720" y="3566160"/>
                  </a:lnTo>
                  <a:cubicBezTo>
                    <a:pt x="21762720" y="3667125"/>
                    <a:pt x="21680804" y="3749040"/>
                    <a:pt x="21579839" y="3749040"/>
                  </a:cubicBezTo>
                  <a:lnTo>
                    <a:pt x="182880" y="3749040"/>
                  </a:lnTo>
                  <a:cubicBezTo>
                    <a:pt x="81915" y="3749040"/>
                    <a:pt x="0" y="3667125"/>
                    <a:pt x="0" y="3566160"/>
                  </a:cubicBezTo>
                  <a:close/>
                </a:path>
              </a:pathLst>
            </a:custGeom>
            <a:solidFill>
              <a:srgbClr val="F4F7FC"/>
            </a:solidFill>
          </p:spPr>
        </p:sp>
      </p:grpSp>
      <p:grpSp>
        <p:nvGrpSpPr>
          <p:cNvPr name="Group 13" id="13"/>
          <p:cNvGrpSpPr/>
          <p:nvPr/>
        </p:nvGrpSpPr>
        <p:grpSpPr>
          <a:xfrm rot="0">
            <a:off x="1440180" y="2811780"/>
            <a:ext cx="15361920" cy="2263140"/>
            <a:chOff x="0" y="0"/>
            <a:chExt cx="20482560" cy="3017520"/>
          </a:xfrm>
        </p:grpSpPr>
        <p:sp>
          <p:nvSpPr>
            <p:cNvPr name="Freeform 14" id="14"/>
            <p:cNvSpPr/>
            <p:nvPr/>
          </p:nvSpPr>
          <p:spPr>
            <a:xfrm flipH="false" flipV="false" rot="0">
              <a:off x="0" y="0"/>
              <a:ext cx="20482561" cy="3017520"/>
            </a:xfrm>
            <a:custGeom>
              <a:avLst/>
              <a:gdLst/>
              <a:ahLst/>
              <a:cxnLst/>
              <a:rect r="r" b="b" t="t" l="l"/>
              <a:pathLst>
                <a:path h="3017520" w="20482561">
                  <a:moveTo>
                    <a:pt x="0" y="0"/>
                  </a:moveTo>
                  <a:lnTo>
                    <a:pt x="20482561" y="0"/>
                  </a:lnTo>
                  <a:lnTo>
                    <a:pt x="20482561" y="3017520"/>
                  </a:lnTo>
                  <a:lnTo>
                    <a:pt x="0" y="3017520"/>
                  </a:lnTo>
                  <a:close/>
                </a:path>
              </a:pathLst>
            </a:custGeom>
            <a:blipFill>
              <a:blip r:embed="rId2">
                <a:alphaModFix amt="0"/>
              </a:blip>
              <a:stretch>
                <a:fillRect l="0" t="-82262" r="0" b="-82262"/>
              </a:stretch>
            </a:blipFill>
          </p:spPr>
        </p:sp>
        <p:sp>
          <p:nvSpPr>
            <p:cNvPr name="TextBox 15" id="15"/>
            <p:cNvSpPr txBox="true"/>
            <p:nvPr/>
          </p:nvSpPr>
          <p:spPr>
            <a:xfrm>
              <a:off x="0" y="-104775"/>
              <a:ext cx="20482560" cy="3122295"/>
            </a:xfrm>
            <a:prstGeom prst="rect">
              <a:avLst/>
            </a:prstGeom>
          </p:spPr>
          <p:txBody>
            <a:bodyPr anchor="ctr" rtlCol="false" tIns="0" lIns="0" bIns="0" rIns="0"/>
            <a:lstStyle/>
            <a:p>
              <a:pPr algn="l">
                <a:lnSpc>
                  <a:spcPts val="4147"/>
                </a:lnSpc>
              </a:pPr>
              <a:r>
                <a:rPr lang="en-US" sz="2700" i="true">
                  <a:solidFill>
                    <a:srgbClr val="23262F"/>
                  </a:solidFill>
                  <a:latin typeface="Cambria Italics"/>
                  <a:ea typeface="Cambria Italics"/>
                  <a:cs typeface="Cambria Italics"/>
                  <a:sym typeface="Cambria Italics"/>
                </a:rPr>
                <a:t>"A local official asks which national agency is responsible for setting the country's overall cybersecurity policy and standards."</a:t>
              </a:r>
            </a:p>
          </p:txBody>
        </p:sp>
      </p:grpSp>
      <p:sp>
        <p:nvSpPr>
          <p:cNvPr name="TextBox 16" id="16"/>
          <p:cNvSpPr txBox="true"/>
          <p:nvPr/>
        </p:nvSpPr>
        <p:spPr>
          <a:xfrm rot="0">
            <a:off x="1051560" y="5604510"/>
            <a:ext cx="16139160" cy="864870"/>
          </a:xfrm>
          <a:prstGeom prst="rect">
            <a:avLst/>
          </a:prstGeom>
        </p:spPr>
        <p:txBody>
          <a:bodyPr anchor="t" rtlCol="false" tIns="0" lIns="0" bIns="0" rIns="0">
            <a:spAutoFit/>
          </a:bodyPr>
          <a:lstStyle/>
          <a:p>
            <a:pPr algn="ctr">
              <a:lnSpc>
                <a:spcPts val="3402"/>
              </a:lnSpc>
            </a:pPr>
            <a:r>
              <a:rPr lang="en-US" sz="2100" i="true">
                <a:solidFill>
                  <a:srgbClr val="6B7280"/>
                </a:solidFill>
                <a:latin typeface="Calibri (MS) Italics"/>
                <a:ea typeface="Calibri (MS) Italics"/>
                <a:cs typeface="Calibri (MS) Italics"/>
                <a:sym typeface="Calibri (MS) Italics"/>
              </a:rPr>
              <a:t>Which law or DICT issuance governs this? Discuss, then we'll reveal the answer.</a:t>
            </a:r>
          </a:p>
        </p:txBody>
      </p:sp>
      <p:grpSp>
        <p:nvGrpSpPr>
          <p:cNvPr name="Group 17" id="17"/>
          <p:cNvGrpSpPr/>
          <p:nvPr/>
        </p:nvGrpSpPr>
        <p:grpSpPr>
          <a:xfrm rot="0">
            <a:off x="950595" y="6779895"/>
            <a:ext cx="5162550" cy="910590"/>
            <a:chOff x="0" y="0"/>
            <a:chExt cx="6883400" cy="1214120"/>
          </a:xfrm>
        </p:grpSpPr>
        <p:sp>
          <p:nvSpPr>
            <p:cNvPr name="Freeform 18" id="18"/>
            <p:cNvSpPr/>
            <p:nvPr/>
          </p:nvSpPr>
          <p:spPr>
            <a:xfrm flipH="false" flipV="false" rot="0">
              <a:off x="0" y="0"/>
              <a:ext cx="6883400" cy="1214120"/>
            </a:xfrm>
            <a:custGeom>
              <a:avLst/>
              <a:gdLst/>
              <a:ahLst/>
              <a:cxnLst/>
              <a:rect r="r" b="b" t="t" l="l"/>
              <a:pathLst>
                <a:path h="1214120" w="6883400">
                  <a:moveTo>
                    <a:pt x="0" y="168148"/>
                  </a:moveTo>
                  <a:cubicBezTo>
                    <a:pt x="0" y="75311"/>
                    <a:pt x="75311" y="0"/>
                    <a:pt x="168148" y="0"/>
                  </a:cubicBezTo>
                  <a:lnTo>
                    <a:pt x="6715252" y="0"/>
                  </a:lnTo>
                  <a:cubicBezTo>
                    <a:pt x="6808089" y="0"/>
                    <a:pt x="6883400" y="75311"/>
                    <a:pt x="6883400" y="168148"/>
                  </a:cubicBezTo>
                  <a:lnTo>
                    <a:pt x="6883400" y="1045972"/>
                  </a:lnTo>
                  <a:cubicBezTo>
                    <a:pt x="6883400" y="1138809"/>
                    <a:pt x="6808089" y="1214120"/>
                    <a:pt x="6715252" y="1214120"/>
                  </a:cubicBezTo>
                  <a:lnTo>
                    <a:pt x="168148" y="1214120"/>
                  </a:lnTo>
                  <a:cubicBezTo>
                    <a:pt x="75311" y="1214120"/>
                    <a:pt x="0" y="1138809"/>
                    <a:pt x="0" y="1045972"/>
                  </a:cubicBezTo>
                  <a:close/>
                </a:path>
              </a:pathLst>
            </a:custGeom>
            <a:solidFill>
              <a:srgbClr val="F4F7FC"/>
            </a:solidFill>
            <a:ln w="19050" cap="sq">
              <a:solidFill>
                <a:srgbClr val="D7DCEC"/>
              </a:solidFill>
              <a:prstDash val="solid"/>
              <a:miter/>
            </a:ln>
          </p:spPr>
        </p:sp>
      </p:grpSp>
      <p:grpSp>
        <p:nvGrpSpPr>
          <p:cNvPr name="Group 19" id="19"/>
          <p:cNvGrpSpPr/>
          <p:nvPr/>
        </p:nvGrpSpPr>
        <p:grpSpPr>
          <a:xfrm rot="0">
            <a:off x="960120" y="6858000"/>
            <a:ext cx="5143500" cy="589788"/>
            <a:chOff x="0" y="0"/>
            <a:chExt cx="6858000" cy="786384"/>
          </a:xfrm>
        </p:grpSpPr>
        <p:sp>
          <p:nvSpPr>
            <p:cNvPr name="Freeform 20" id="20"/>
            <p:cNvSpPr/>
            <p:nvPr/>
          </p:nvSpPr>
          <p:spPr>
            <a:xfrm flipH="false" flipV="false" rot="0">
              <a:off x="0" y="0"/>
              <a:ext cx="6858000" cy="786384"/>
            </a:xfrm>
            <a:custGeom>
              <a:avLst/>
              <a:gdLst/>
              <a:ahLst/>
              <a:cxnLst/>
              <a:rect r="r" b="b" t="t" l="l"/>
              <a:pathLst>
                <a:path h="786384" w="6858000">
                  <a:moveTo>
                    <a:pt x="0" y="0"/>
                  </a:moveTo>
                  <a:lnTo>
                    <a:pt x="6858000" y="0"/>
                  </a:lnTo>
                  <a:lnTo>
                    <a:pt x="6858000" y="786384"/>
                  </a:lnTo>
                  <a:lnTo>
                    <a:pt x="0" y="786384"/>
                  </a:lnTo>
                  <a:close/>
                </a:path>
              </a:pathLst>
            </a:custGeom>
            <a:blipFill>
              <a:blip r:embed="rId2">
                <a:alphaModFix amt="0"/>
              </a:blip>
              <a:stretch>
                <a:fillRect l="0" t="-119927" r="0" b="-119927"/>
              </a:stretch>
            </a:blipFill>
          </p:spPr>
        </p:sp>
        <p:sp>
          <p:nvSpPr>
            <p:cNvPr name="TextBox 21" id="21"/>
            <p:cNvSpPr txBox="true"/>
            <p:nvPr/>
          </p:nvSpPr>
          <p:spPr>
            <a:xfrm>
              <a:off x="0" y="-38100"/>
              <a:ext cx="6858000" cy="824484"/>
            </a:xfrm>
            <a:prstGeom prst="rect">
              <a:avLst/>
            </a:prstGeom>
          </p:spPr>
          <p:txBody>
            <a:bodyPr anchor="ctr" rtlCol="false" tIns="0" lIns="0" bIns="0" rIns="0"/>
            <a:lstStyle/>
            <a:p>
              <a:pPr algn="ctr">
                <a:lnSpc>
                  <a:spcPts val="2250"/>
                </a:lnSpc>
              </a:pPr>
              <a:r>
                <a:rPr lang="en-US" sz="1875">
                  <a:solidFill>
                    <a:srgbClr val="6B7280"/>
                  </a:solidFill>
                  <a:latin typeface="Calibri (MS)"/>
                  <a:ea typeface="Calibri (MS)"/>
                  <a:cs typeface="Calibri (MS)"/>
                  <a:sym typeface="Calibri (MS)"/>
                </a:rPr>
                <a:t>E-Commerce Act</a:t>
              </a:r>
            </a:p>
          </p:txBody>
        </p:sp>
      </p:grpSp>
      <p:grpSp>
        <p:nvGrpSpPr>
          <p:cNvPr name="Group 22" id="22"/>
          <p:cNvGrpSpPr/>
          <p:nvPr/>
        </p:nvGrpSpPr>
        <p:grpSpPr>
          <a:xfrm rot="0">
            <a:off x="960120" y="7296912"/>
            <a:ext cx="5143500" cy="329184"/>
            <a:chOff x="0" y="0"/>
            <a:chExt cx="6858000" cy="438912"/>
          </a:xfrm>
        </p:grpSpPr>
        <p:sp>
          <p:nvSpPr>
            <p:cNvPr name="Freeform 23" id="23"/>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24" id="24"/>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9AA3B8"/>
                  </a:solidFill>
                  <a:latin typeface="Arimo"/>
                  <a:ea typeface="Arimo"/>
                  <a:cs typeface="Arimo"/>
                  <a:sym typeface="Arimo"/>
                </a:rPr>
                <a:t>ECA</a:t>
              </a:r>
            </a:p>
          </p:txBody>
        </p:sp>
      </p:grpSp>
      <p:grpSp>
        <p:nvGrpSpPr>
          <p:cNvPr name="Group 25" id="25"/>
          <p:cNvGrpSpPr/>
          <p:nvPr/>
        </p:nvGrpSpPr>
        <p:grpSpPr>
          <a:xfrm rot="0">
            <a:off x="6533007" y="6779895"/>
            <a:ext cx="5162550" cy="910590"/>
            <a:chOff x="0" y="0"/>
            <a:chExt cx="6883400" cy="1214120"/>
          </a:xfrm>
        </p:grpSpPr>
        <p:sp>
          <p:nvSpPr>
            <p:cNvPr name="Freeform 26" id="26"/>
            <p:cNvSpPr/>
            <p:nvPr/>
          </p:nvSpPr>
          <p:spPr>
            <a:xfrm flipH="false" flipV="false" rot="0">
              <a:off x="0" y="0"/>
              <a:ext cx="6883400" cy="1214120"/>
            </a:xfrm>
            <a:custGeom>
              <a:avLst/>
              <a:gdLst/>
              <a:ahLst/>
              <a:cxnLst/>
              <a:rect r="r" b="b" t="t" l="l"/>
              <a:pathLst>
                <a:path h="1214120" w="6883400">
                  <a:moveTo>
                    <a:pt x="0" y="168148"/>
                  </a:moveTo>
                  <a:cubicBezTo>
                    <a:pt x="0" y="75311"/>
                    <a:pt x="75311" y="0"/>
                    <a:pt x="168148" y="0"/>
                  </a:cubicBezTo>
                  <a:lnTo>
                    <a:pt x="6715252" y="0"/>
                  </a:lnTo>
                  <a:cubicBezTo>
                    <a:pt x="6808089" y="0"/>
                    <a:pt x="6883400" y="75311"/>
                    <a:pt x="6883400" y="168148"/>
                  </a:cubicBezTo>
                  <a:lnTo>
                    <a:pt x="6883400" y="1045972"/>
                  </a:lnTo>
                  <a:cubicBezTo>
                    <a:pt x="6883400" y="1138809"/>
                    <a:pt x="6808089" y="1214120"/>
                    <a:pt x="6715252" y="1214120"/>
                  </a:cubicBezTo>
                  <a:lnTo>
                    <a:pt x="168148" y="1214120"/>
                  </a:lnTo>
                  <a:cubicBezTo>
                    <a:pt x="75311" y="1214120"/>
                    <a:pt x="0" y="1138809"/>
                    <a:pt x="0" y="1045972"/>
                  </a:cubicBezTo>
                  <a:close/>
                </a:path>
              </a:pathLst>
            </a:custGeom>
            <a:solidFill>
              <a:srgbClr val="F4F7FC"/>
            </a:solidFill>
            <a:ln w="19050" cap="sq">
              <a:solidFill>
                <a:srgbClr val="D7DCEC"/>
              </a:solidFill>
              <a:prstDash val="solid"/>
              <a:miter/>
            </a:ln>
          </p:spPr>
        </p:sp>
      </p:grpSp>
      <p:grpSp>
        <p:nvGrpSpPr>
          <p:cNvPr name="Group 27" id="27"/>
          <p:cNvGrpSpPr/>
          <p:nvPr/>
        </p:nvGrpSpPr>
        <p:grpSpPr>
          <a:xfrm rot="0">
            <a:off x="6542532" y="6858000"/>
            <a:ext cx="5143500" cy="589788"/>
            <a:chOff x="0" y="0"/>
            <a:chExt cx="6858000" cy="786384"/>
          </a:xfrm>
        </p:grpSpPr>
        <p:sp>
          <p:nvSpPr>
            <p:cNvPr name="Freeform 28" id="28"/>
            <p:cNvSpPr/>
            <p:nvPr/>
          </p:nvSpPr>
          <p:spPr>
            <a:xfrm flipH="false" flipV="false" rot="0">
              <a:off x="0" y="0"/>
              <a:ext cx="6858000" cy="786384"/>
            </a:xfrm>
            <a:custGeom>
              <a:avLst/>
              <a:gdLst/>
              <a:ahLst/>
              <a:cxnLst/>
              <a:rect r="r" b="b" t="t" l="l"/>
              <a:pathLst>
                <a:path h="786384" w="6858000">
                  <a:moveTo>
                    <a:pt x="0" y="0"/>
                  </a:moveTo>
                  <a:lnTo>
                    <a:pt x="6858000" y="0"/>
                  </a:lnTo>
                  <a:lnTo>
                    <a:pt x="6858000" y="786384"/>
                  </a:lnTo>
                  <a:lnTo>
                    <a:pt x="0" y="786384"/>
                  </a:lnTo>
                  <a:close/>
                </a:path>
              </a:pathLst>
            </a:custGeom>
            <a:blipFill>
              <a:blip r:embed="rId2">
                <a:alphaModFix amt="0"/>
              </a:blip>
              <a:stretch>
                <a:fillRect l="0" t="-119927" r="0" b="-119927"/>
              </a:stretch>
            </a:blipFill>
          </p:spPr>
        </p:sp>
        <p:sp>
          <p:nvSpPr>
            <p:cNvPr name="TextBox 29" id="29"/>
            <p:cNvSpPr txBox="true"/>
            <p:nvPr/>
          </p:nvSpPr>
          <p:spPr>
            <a:xfrm>
              <a:off x="0" y="-38100"/>
              <a:ext cx="6858000" cy="824484"/>
            </a:xfrm>
            <a:prstGeom prst="rect">
              <a:avLst/>
            </a:prstGeom>
          </p:spPr>
          <p:txBody>
            <a:bodyPr anchor="ctr" rtlCol="false" tIns="0" lIns="0" bIns="0" rIns="0"/>
            <a:lstStyle/>
            <a:p>
              <a:pPr algn="ctr">
                <a:lnSpc>
                  <a:spcPts val="2250"/>
                </a:lnSpc>
              </a:pPr>
              <a:r>
                <a:rPr lang="en-US" sz="1875">
                  <a:solidFill>
                    <a:srgbClr val="6B7280"/>
                  </a:solidFill>
                  <a:latin typeface="Calibri (MS)"/>
                  <a:ea typeface="Calibri (MS)"/>
                  <a:cs typeface="Calibri (MS)"/>
                  <a:sym typeface="Calibri (MS)"/>
                </a:rPr>
                <a:t>Cybercrime Act</a:t>
              </a:r>
            </a:p>
          </p:txBody>
        </p:sp>
      </p:grpSp>
      <p:grpSp>
        <p:nvGrpSpPr>
          <p:cNvPr name="Group 30" id="30"/>
          <p:cNvGrpSpPr/>
          <p:nvPr/>
        </p:nvGrpSpPr>
        <p:grpSpPr>
          <a:xfrm rot="0">
            <a:off x="6542532" y="7296912"/>
            <a:ext cx="5143500" cy="329184"/>
            <a:chOff x="0" y="0"/>
            <a:chExt cx="6858000" cy="438912"/>
          </a:xfrm>
        </p:grpSpPr>
        <p:sp>
          <p:nvSpPr>
            <p:cNvPr name="Freeform 31" id="31"/>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32" id="32"/>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9AA3B8"/>
                  </a:solidFill>
                  <a:latin typeface="Arimo"/>
                  <a:ea typeface="Arimo"/>
                  <a:cs typeface="Arimo"/>
                  <a:sym typeface="Arimo"/>
                </a:rPr>
                <a:t>CPA</a:t>
              </a:r>
            </a:p>
          </p:txBody>
        </p:sp>
      </p:grpSp>
      <p:grpSp>
        <p:nvGrpSpPr>
          <p:cNvPr name="Group 33" id="33"/>
          <p:cNvGrpSpPr/>
          <p:nvPr/>
        </p:nvGrpSpPr>
        <p:grpSpPr>
          <a:xfrm rot="0">
            <a:off x="950595" y="7945755"/>
            <a:ext cx="5162550" cy="910590"/>
            <a:chOff x="0" y="0"/>
            <a:chExt cx="6883400" cy="1214120"/>
          </a:xfrm>
        </p:grpSpPr>
        <p:sp>
          <p:nvSpPr>
            <p:cNvPr name="Freeform 34" id="34"/>
            <p:cNvSpPr/>
            <p:nvPr/>
          </p:nvSpPr>
          <p:spPr>
            <a:xfrm flipH="false" flipV="false" rot="0">
              <a:off x="0" y="0"/>
              <a:ext cx="6883400" cy="1214120"/>
            </a:xfrm>
            <a:custGeom>
              <a:avLst/>
              <a:gdLst/>
              <a:ahLst/>
              <a:cxnLst/>
              <a:rect r="r" b="b" t="t" l="l"/>
              <a:pathLst>
                <a:path h="1214120" w="6883400">
                  <a:moveTo>
                    <a:pt x="0" y="168148"/>
                  </a:moveTo>
                  <a:cubicBezTo>
                    <a:pt x="0" y="75311"/>
                    <a:pt x="75311" y="0"/>
                    <a:pt x="168148" y="0"/>
                  </a:cubicBezTo>
                  <a:lnTo>
                    <a:pt x="6715252" y="0"/>
                  </a:lnTo>
                  <a:cubicBezTo>
                    <a:pt x="6808089" y="0"/>
                    <a:pt x="6883400" y="75311"/>
                    <a:pt x="6883400" y="168148"/>
                  </a:cubicBezTo>
                  <a:lnTo>
                    <a:pt x="6883400" y="1045972"/>
                  </a:lnTo>
                  <a:cubicBezTo>
                    <a:pt x="6883400" y="1138809"/>
                    <a:pt x="6808089" y="1214120"/>
                    <a:pt x="6715252" y="1214120"/>
                  </a:cubicBezTo>
                  <a:lnTo>
                    <a:pt x="168148" y="1214120"/>
                  </a:lnTo>
                  <a:cubicBezTo>
                    <a:pt x="75311" y="1214120"/>
                    <a:pt x="0" y="1138809"/>
                    <a:pt x="0" y="1045972"/>
                  </a:cubicBezTo>
                  <a:close/>
                </a:path>
              </a:pathLst>
            </a:custGeom>
            <a:solidFill>
              <a:srgbClr val="F4F7FC"/>
            </a:solidFill>
            <a:ln w="19050" cap="sq">
              <a:solidFill>
                <a:srgbClr val="D7DCEC"/>
              </a:solidFill>
              <a:prstDash val="solid"/>
              <a:miter/>
            </a:ln>
          </p:spPr>
        </p:sp>
      </p:grpSp>
      <p:grpSp>
        <p:nvGrpSpPr>
          <p:cNvPr name="Group 35" id="35"/>
          <p:cNvGrpSpPr/>
          <p:nvPr/>
        </p:nvGrpSpPr>
        <p:grpSpPr>
          <a:xfrm rot="0">
            <a:off x="960120" y="8023860"/>
            <a:ext cx="5143500" cy="589788"/>
            <a:chOff x="0" y="0"/>
            <a:chExt cx="6858000" cy="786384"/>
          </a:xfrm>
        </p:grpSpPr>
        <p:sp>
          <p:nvSpPr>
            <p:cNvPr name="Freeform 36" id="36"/>
            <p:cNvSpPr/>
            <p:nvPr/>
          </p:nvSpPr>
          <p:spPr>
            <a:xfrm flipH="false" flipV="false" rot="0">
              <a:off x="0" y="0"/>
              <a:ext cx="6858000" cy="786384"/>
            </a:xfrm>
            <a:custGeom>
              <a:avLst/>
              <a:gdLst/>
              <a:ahLst/>
              <a:cxnLst/>
              <a:rect r="r" b="b" t="t" l="l"/>
              <a:pathLst>
                <a:path h="786384" w="6858000">
                  <a:moveTo>
                    <a:pt x="0" y="0"/>
                  </a:moveTo>
                  <a:lnTo>
                    <a:pt x="6858000" y="0"/>
                  </a:lnTo>
                  <a:lnTo>
                    <a:pt x="6858000" y="786384"/>
                  </a:lnTo>
                  <a:lnTo>
                    <a:pt x="0" y="786384"/>
                  </a:lnTo>
                  <a:close/>
                </a:path>
              </a:pathLst>
            </a:custGeom>
            <a:blipFill>
              <a:blip r:embed="rId2">
                <a:alphaModFix amt="0"/>
              </a:blip>
              <a:stretch>
                <a:fillRect l="0" t="-119927" r="0" b="-119927"/>
              </a:stretch>
            </a:blipFill>
          </p:spPr>
        </p:sp>
        <p:sp>
          <p:nvSpPr>
            <p:cNvPr name="TextBox 37" id="37"/>
            <p:cNvSpPr txBox="true"/>
            <p:nvPr/>
          </p:nvSpPr>
          <p:spPr>
            <a:xfrm>
              <a:off x="0" y="-38100"/>
              <a:ext cx="6858000" cy="824484"/>
            </a:xfrm>
            <a:prstGeom prst="rect">
              <a:avLst/>
            </a:prstGeom>
          </p:spPr>
          <p:txBody>
            <a:bodyPr anchor="ctr" rtlCol="false" tIns="0" lIns="0" bIns="0" rIns="0"/>
            <a:lstStyle/>
            <a:p>
              <a:pPr algn="ctr">
                <a:lnSpc>
                  <a:spcPts val="2250"/>
                </a:lnSpc>
              </a:pPr>
              <a:r>
                <a:rPr lang="en-US" sz="1875">
                  <a:solidFill>
                    <a:srgbClr val="6B7280"/>
                  </a:solidFill>
                  <a:latin typeface="Calibri (MS)"/>
                  <a:ea typeface="Calibri (MS)"/>
                  <a:cs typeface="Calibri (MS)"/>
                  <a:sym typeface="Calibri (MS)"/>
                </a:rPr>
                <a:t>Data Privacy Act</a:t>
              </a:r>
            </a:p>
          </p:txBody>
        </p:sp>
      </p:grpSp>
      <p:grpSp>
        <p:nvGrpSpPr>
          <p:cNvPr name="Group 38" id="38"/>
          <p:cNvGrpSpPr/>
          <p:nvPr/>
        </p:nvGrpSpPr>
        <p:grpSpPr>
          <a:xfrm rot="0">
            <a:off x="960120" y="8462772"/>
            <a:ext cx="5143500" cy="329184"/>
            <a:chOff x="0" y="0"/>
            <a:chExt cx="6858000" cy="438912"/>
          </a:xfrm>
        </p:grpSpPr>
        <p:sp>
          <p:nvSpPr>
            <p:cNvPr name="Freeform 39" id="39"/>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40" id="40"/>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9AA3B8"/>
                  </a:solidFill>
                  <a:latin typeface="Arimo"/>
                  <a:ea typeface="Arimo"/>
                  <a:cs typeface="Arimo"/>
                  <a:sym typeface="Arimo"/>
                </a:rPr>
                <a:t>DPA</a:t>
              </a:r>
            </a:p>
          </p:txBody>
        </p:sp>
      </p:grpSp>
      <p:grpSp>
        <p:nvGrpSpPr>
          <p:cNvPr name="Group 41" id="41"/>
          <p:cNvGrpSpPr/>
          <p:nvPr/>
        </p:nvGrpSpPr>
        <p:grpSpPr>
          <a:xfrm rot="0">
            <a:off x="6533007" y="7945755"/>
            <a:ext cx="5162550" cy="910590"/>
            <a:chOff x="0" y="0"/>
            <a:chExt cx="6883400" cy="1214120"/>
          </a:xfrm>
        </p:grpSpPr>
        <p:sp>
          <p:nvSpPr>
            <p:cNvPr name="Freeform 42" id="42"/>
            <p:cNvSpPr/>
            <p:nvPr/>
          </p:nvSpPr>
          <p:spPr>
            <a:xfrm flipH="false" flipV="false" rot="0">
              <a:off x="0" y="0"/>
              <a:ext cx="6883400" cy="1214120"/>
            </a:xfrm>
            <a:custGeom>
              <a:avLst/>
              <a:gdLst/>
              <a:ahLst/>
              <a:cxnLst/>
              <a:rect r="r" b="b" t="t" l="l"/>
              <a:pathLst>
                <a:path h="1214120" w="6883400">
                  <a:moveTo>
                    <a:pt x="0" y="168148"/>
                  </a:moveTo>
                  <a:cubicBezTo>
                    <a:pt x="0" y="75311"/>
                    <a:pt x="75311" y="0"/>
                    <a:pt x="168148" y="0"/>
                  </a:cubicBezTo>
                  <a:lnTo>
                    <a:pt x="6715252" y="0"/>
                  </a:lnTo>
                  <a:cubicBezTo>
                    <a:pt x="6808089" y="0"/>
                    <a:pt x="6883400" y="75311"/>
                    <a:pt x="6883400" y="168148"/>
                  </a:cubicBezTo>
                  <a:lnTo>
                    <a:pt x="6883400" y="1045972"/>
                  </a:lnTo>
                  <a:cubicBezTo>
                    <a:pt x="6883400" y="1138809"/>
                    <a:pt x="6808089" y="1214120"/>
                    <a:pt x="6715252" y="1214120"/>
                  </a:cubicBezTo>
                  <a:lnTo>
                    <a:pt x="168148" y="1214120"/>
                  </a:lnTo>
                  <a:cubicBezTo>
                    <a:pt x="75311" y="1214120"/>
                    <a:pt x="0" y="1138809"/>
                    <a:pt x="0" y="1045972"/>
                  </a:cubicBezTo>
                  <a:close/>
                </a:path>
              </a:pathLst>
            </a:custGeom>
            <a:solidFill>
              <a:srgbClr val="F4F7FC"/>
            </a:solidFill>
            <a:ln w="19050" cap="sq">
              <a:solidFill>
                <a:srgbClr val="D7DCEC"/>
              </a:solidFill>
              <a:prstDash val="solid"/>
              <a:miter/>
            </a:ln>
          </p:spPr>
        </p:sp>
      </p:grpSp>
      <p:grpSp>
        <p:nvGrpSpPr>
          <p:cNvPr name="Group 43" id="43"/>
          <p:cNvGrpSpPr/>
          <p:nvPr/>
        </p:nvGrpSpPr>
        <p:grpSpPr>
          <a:xfrm rot="0">
            <a:off x="6542532" y="8023860"/>
            <a:ext cx="5143500" cy="589788"/>
            <a:chOff x="0" y="0"/>
            <a:chExt cx="6858000" cy="786384"/>
          </a:xfrm>
        </p:grpSpPr>
        <p:sp>
          <p:nvSpPr>
            <p:cNvPr name="Freeform 44" id="44"/>
            <p:cNvSpPr/>
            <p:nvPr/>
          </p:nvSpPr>
          <p:spPr>
            <a:xfrm flipH="false" flipV="false" rot="0">
              <a:off x="0" y="0"/>
              <a:ext cx="6858000" cy="786384"/>
            </a:xfrm>
            <a:custGeom>
              <a:avLst/>
              <a:gdLst/>
              <a:ahLst/>
              <a:cxnLst/>
              <a:rect r="r" b="b" t="t" l="l"/>
              <a:pathLst>
                <a:path h="786384" w="6858000">
                  <a:moveTo>
                    <a:pt x="0" y="0"/>
                  </a:moveTo>
                  <a:lnTo>
                    <a:pt x="6858000" y="0"/>
                  </a:lnTo>
                  <a:lnTo>
                    <a:pt x="6858000" y="786384"/>
                  </a:lnTo>
                  <a:lnTo>
                    <a:pt x="0" y="786384"/>
                  </a:lnTo>
                  <a:close/>
                </a:path>
              </a:pathLst>
            </a:custGeom>
            <a:blipFill>
              <a:blip r:embed="rId2">
                <a:alphaModFix amt="0"/>
              </a:blip>
              <a:stretch>
                <a:fillRect l="0" t="-119927" r="0" b="-119927"/>
              </a:stretch>
            </a:blipFill>
          </p:spPr>
        </p:sp>
        <p:sp>
          <p:nvSpPr>
            <p:cNvPr name="TextBox 45" id="45"/>
            <p:cNvSpPr txBox="true"/>
            <p:nvPr/>
          </p:nvSpPr>
          <p:spPr>
            <a:xfrm>
              <a:off x="0" y="-38100"/>
              <a:ext cx="6858000" cy="824484"/>
            </a:xfrm>
            <a:prstGeom prst="rect">
              <a:avLst/>
            </a:prstGeom>
          </p:spPr>
          <p:txBody>
            <a:bodyPr anchor="ctr" rtlCol="false" tIns="0" lIns="0" bIns="0" rIns="0"/>
            <a:lstStyle/>
            <a:p>
              <a:pPr algn="ctr">
                <a:lnSpc>
                  <a:spcPts val="2250"/>
                </a:lnSpc>
              </a:pPr>
              <a:r>
                <a:rPr lang="en-US" sz="1875">
                  <a:solidFill>
                    <a:srgbClr val="6B7280"/>
                  </a:solidFill>
                  <a:latin typeface="Calibri (MS)"/>
                  <a:ea typeface="Calibri (MS)"/>
                  <a:cs typeface="Calibri (MS)"/>
                  <a:sym typeface="Calibri (MS)"/>
                </a:rPr>
                <a:t>DICT Act / NCSP</a:t>
              </a:r>
            </a:p>
          </p:txBody>
        </p:sp>
      </p:grpSp>
      <p:grpSp>
        <p:nvGrpSpPr>
          <p:cNvPr name="Group 46" id="46"/>
          <p:cNvGrpSpPr/>
          <p:nvPr/>
        </p:nvGrpSpPr>
        <p:grpSpPr>
          <a:xfrm rot="0">
            <a:off x="6542532" y="8462772"/>
            <a:ext cx="5143500" cy="329184"/>
            <a:chOff x="0" y="0"/>
            <a:chExt cx="6858000" cy="438912"/>
          </a:xfrm>
        </p:grpSpPr>
        <p:sp>
          <p:nvSpPr>
            <p:cNvPr name="Freeform 47" id="47"/>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48" id="48"/>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9AA3B8"/>
                  </a:solidFill>
                  <a:latin typeface="Arimo"/>
                  <a:ea typeface="Arimo"/>
                  <a:cs typeface="Arimo"/>
                  <a:sym typeface="Arimo"/>
                </a:rPr>
                <a:t>DICT</a:t>
              </a:r>
            </a:p>
          </p:txBody>
        </p:sp>
      </p:grpSp>
      <p:grpSp>
        <p:nvGrpSpPr>
          <p:cNvPr name="Group 49" id="49"/>
          <p:cNvGrpSpPr/>
          <p:nvPr/>
        </p:nvGrpSpPr>
        <p:grpSpPr>
          <a:xfrm rot="0">
            <a:off x="12115419" y="6779895"/>
            <a:ext cx="5162550" cy="2076450"/>
            <a:chOff x="0" y="0"/>
            <a:chExt cx="6883400" cy="2768600"/>
          </a:xfrm>
        </p:grpSpPr>
        <p:sp>
          <p:nvSpPr>
            <p:cNvPr name="Freeform 50" id="50"/>
            <p:cNvSpPr/>
            <p:nvPr/>
          </p:nvSpPr>
          <p:spPr>
            <a:xfrm flipH="false" flipV="false" rot="0">
              <a:off x="0" y="0"/>
              <a:ext cx="6883400" cy="2768600"/>
            </a:xfrm>
            <a:custGeom>
              <a:avLst/>
              <a:gdLst/>
              <a:ahLst/>
              <a:cxnLst/>
              <a:rect r="r" b="b" t="t" l="l"/>
              <a:pathLst>
                <a:path h="2768600" w="6883400">
                  <a:moveTo>
                    <a:pt x="0" y="166116"/>
                  </a:moveTo>
                  <a:cubicBezTo>
                    <a:pt x="0" y="74422"/>
                    <a:pt x="74422" y="0"/>
                    <a:pt x="166116" y="0"/>
                  </a:cubicBezTo>
                  <a:lnTo>
                    <a:pt x="6717284" y="0"/>
                  </a:lnTo>
                  <a:cubicBezTo>
                    <a:pt x="6808978" y="0"/>
                    <a:pt x="6883400" y="74422"/>
                    <a:pt x="6883400" y="166116"/>
                  </a:cubicBezTo>
                  <a:lnTo>
                    <a:pt x="6883400" y="2602484"/>
                  </a:lnTo>
                  <a:cubicBezTo>
                    <a:pt x="6883400" y="2694178"/>
                    <a:pt x="6808978" y="2768600"/>
                    <a:pt x="6717284" y="2768600"/>
                  </a:cubicBezTo>
                  <a:lnTo>
                    <a:pt x="166116" y="2768600"/>
                  </a:lnTo>
                  <a:cubicBezTo>
                    <a:pt x="74422" y="2768600"/>
                    <a:pt x="0" y="2694178"/>
                    <a:pt x="0" y="2602484"/>
                  </a:cubicBezTo>
                  <a:close/>
                </a:path>
              </a:pathLst>
            </a:custGeom>
            <a:solidFill>
              <a:srgbClr val="F4F7FC"/>
            </a:solidFill>
            <a:ln w="19050" cap="sq">
              <a:solidFill>
                <a:srgbClr val="D7DCEC"/>
              </a:solidFill>
              <a:prstDash val="solid"/>
              <a:miter/>
            </a:ln>
          </p:spPr>
        </p:sp>
      </p:grpSp>
      <p:grpSp>
        <p:nvGrpSpPr>
          <p:cNvPr name="Group 51" id="51"/>
          <p:cNvGrpSpPr/>
          <p:nvPr/>
        </p:nvGrpSpPr>
        <p:grpSpPr>
          <a:xfrm rot="0">
            <a:off x="12124944" y="6858000"/>
            <a:ext cx="5143500" cy="1755648"/>
            <a:chOff x="0" y="0"/>
            <a:chExt cx="6858000" cy="2340864"/>
          </a:xfrm>
        </p:grpSpPr>
        <p:sp>
          <p:nvSpPr>
            <p:cNvPr name="Freeform 52" id="52"/>
            <p:cNvSpPr/>
            <p:nvPr/>
          </p:nvSpPr>
          <p:spPr>
            <a:xfrm flipH="false" flipV="false" rot="0">
              <a:off x="0" y="0"/>
              <a:ext cx="6858000" cy="2340864"/>
            </a:xfrm>
            <a:custGeom>
              <a:avLst/>
              <a:gdLst/>
              <a:ahLst/>
              <a:cxnLst/>
              <a:rect r="r" b="b" t="t" l="l"/>
              <a:pathLst>
                <a:path h="2340864" w="6858000">
                  <a:moveTo>
                    <a:pt x="0" y="0"/>
                  </a:moveTo>
                  <a:lnTo>
                    <a:pt x="6858000" y="0"/>
                  </a:lnTo>
                  <a:lnTo>
                    <a:pt x="6858000" y="2340864"/>
                  </a:lnTo>
                  <a:lnTo>
                    <a:pt x="0" y="2340864"/>
                  </a:lnTo>
                  <a:close/>
                </a:path>
              </a:pathLst>
            </a:custGeom>
            <a:blipFill>
              <a:blip r:embed="rId2">
                <a:alphaModFix amt="0"/>
              </a:blip>
              <a:stretch>
                <a:fillRect l="0" t="-7085" r="0" b="-7085"/>
              </a:stretch>
            </a:blipFill>
          </p:spPr>
        </p:sp>
        <p:sp>
          <p:nvSpPr>
            <p:cNvPr name="TextBox 53" id="53"/>
            <p:cNvSpPr txBox="true"/>
            <p:nvPr/>
          </p:nvSpPr>
          <p:spPr>
            <a:xfrm>
              <a:off x="0" y="-38100"/>
              <a:ext cx="6858000" cy="2378964"/>
            </a:xfrm>
            <a:prstGeom prst="rect">
              <a:avLst/>
            </a:prstGeom>
          </p:spPr>
          <p:txBody>
            <a:bodyPr anchor="ctr" rtlCol="false" tIns="0" lIns="0" bIns="0" rIns="0"/>
            <a:lstStyle/>
            <a:p>
              <a:pPr algn="ctr">
                <a:lnSpc>
                  <a:spcPts val="2250"/>
                </a:lnSpc>
              </a:pPr>
              <a:r>
                <a:rPr lang="en-US" sz="1875">
                  <a:solidFill>
                    <a:srgbClr val="6B7280"/>
                  </a:solidFill>
                  <a:latin typeface="Calibri (MS)"/>
                  <a:ea typeface="Calibri (MS)"/>
                  <a:cs typeface="Calibri (MS)"/>
                  <a:sym typeface="Calibri (MS)"/>
                </a:rPr>
                <a:t>Critical Infra. Protection</a:t>
              </a:r>
            </a:p>
          </p:txBody>
        </p:sp>
      </p:grpSp>
      <p:grpSp>
        <p:nvGrpSpPr>
          <p:cNvPr name="Group 54" id="54"/>
          <p:cNvGrpSpPr/>
          <p:nvPr/>
        </p:nvGrpSpPr>
        <p:grpSpPr>
          <a:xfrm rot="0">
            <a:off x="12124944" y="8462772"/>
            <a:ext cx="5143500" cy="329184"/>
            <a:chOff x="0" y="0"/>
            <a:chExt cx="6858000" cy="438912"/>
          </a:xfrm>
        </p:grpSpPr>
        <p:sp>
          <p:nvSpPr>
            <p:cNvPr name="Freeform 55" id="55"/>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56" id="56"/>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9AA3B8"/>
                  </a:solidFill>
                  <a:latin typeface="Arimo"/>
                  <a:ea typeface="Arimo"/>
                  <a:cs typeface="Arimo"/>
                  <a:sym typeface="Arimo"/>
                </a:rPr>
                <a:t>CII</a:t>
              </a:r>
            </a:p>
          </p:txBody>
        </p:sp>
      </p:grpSp>
      <p:grpSp>
        <p:nvGrpSpPr>
          <p:cNvPr name="Group 57" id="57"/>
          <p:cNvGrpSpPr/>
          <p:nvPr/>
        </p:nvGrpSpPr>
        <p:grpSpPr>
          <a:xfrm rot="0">
            <a:off x="685800" y="9710928"/>
            <a:ext cx="10972800" cy="411480"/>
            <a:chOff x="0" y="0"/>
            <a:chExt cx="14630400" cy="548640"/>
          </a:xfrm>
        </p:grpSpPr>
        <p:sp>
          <p:nvSpPr>
            <p:cNvPr name="Freeform 58" id="58"/>
            <p:cNvSpPr/>
            <p:nvPr/>
          </p:nvSpPr>
          <p:spPr>
            <a:xfrm flipH="false" flipV="false" rot="0">
              <a:off x="0" y="0"/>
              <a:ext cx="14630400" cy="548640"/>
            </a:xfrm>
            <a:custGeom>
              <a:avLst/>
              <a:gdLst/>
              <a:ahLst/>
              <a:cxnLst/>
              <a:rect r="r" b="b" t="t" l="l"/>
              <a:pathLst>
                <a:path h="548640" w="14630400">
                  <a:moveTo>
                    <a:pt x="0" y="0"/>
                  </a:moveTo>
                  <a:lnTo>
                    <a:pt x="14630400" y="0"/>
                  </a:lnTo>
                  <a:lnTo>
                    <a:pt x="14630400" y="548640"/>
                  </a:lnTo>
                  <a:lnTo>
                    <a:pt x="0" y="548640"/>
                  </a:lnTo>
                  <a:close/>
                </a:path>
              </a:pathLst>
            </a:custGeom>
            <a:blipFill>
              <a:blip r:embed="rId2">
                <a:alphaModFix amt="0"/>
              </a:blip>
              <a:stretch>
                <a:fillRect l="0" t="-469601" r="0" b="-469601"/>
              </a:stretch>
            </a:blipFill>
          </p:spPr>
        </p:sp>
        <p:sp>
          <p:nvSpPr>
            <p:cNvPr name="TextBox 59" id="59"/>
            <p:cNvSpPr txBox="true"/>
            <p:nvPr/>
          </p:nvSpPr>
          <p:spPr>
            <a:xfrm>
              <a:off x="0" y="-38100"/>
              <a:ext cx="14630400" cy="586740"/>
            </a:xfrm>
            <a:prstGeom prst="rect">
              <a:avLst/>
            </a:prstGeom>
          </p:spPr>
          <p:txBody>
            <a:bodyPr anchor="ctr" rtlCol="false" tIns="0" lIns="0" bIns="0" rIns="0"/>
            <a:lstStyle/>
            <a:p>
              <a:pPr algn="l">
                <a:lnSpc>
                  <a:spcPts val="1800"/>
                </a:lnSpc>
              </a:pPr>
              <a:r>
                <a:rPr lang="en-US" sz="1500">
                  <a:solidFill>
                    <a:srgbClr val="6B7280"/>
                  </a:solidFill>
                  <a:latin typeface="Calibri (MS)"/>
                  <a:ea typeface="Calibri (MS)"/>
                  <a:cs typeface="Calibri (MS)"/>
                  <a:sym typeface="Calibri (MS)"/>
                </a:rPr>
                <a:t>Davao del Norte Provincial Government — Cybersecurity Seminar</a:t>
              </a:r>
            </a:p>
          </p:txBody>
        </p:sp>
      </p:grpSp>
      <p:grpSp>
        <p:nvGrpSpPr>
          <p:cNvPr name="Group 60" id="60"/>
          <p:cNvGrpSpPr/>
          <p:nvPr/>
        </p:nvGrpSpPr>
        <p:grpSpPr>
          <a:xfrm rot="0">
            <a:off x="16911828" y="9710928"/>
            <a:ext cx="685800" cy="411480"/>
            <a:chOff x="0" y="0"/>
            <a:chExt cx="914400" cy="548640"/>
          </a:xfrm>
        </p:grpSpPr>
        <p:sp>
          <p:nvSpPr>
            <p:cNvPr name="Freeform 61" id="61"/>
            <p:cNvSpPr/>
            <p:nvPr/>
          </p:nvSpPr>
          <p:spPr>
            <a:xfrm flipH="false" flipV="false" rot="0">
              <a:off x="0" y="0"/>
              <a:ext cx="914400" cy="548640"/>
            </a:xfrm>
            <a:custGeom>
              <a:avLst/>
              <a:gdLst/>
              <a:ahLst/>
              <a:cxnLst/>
              <a:rect r="r" b="b" t="t" l="l"/>
              <a:pathLst>
                <a:path h="548640" w="914400">
                  <a:moveTo>
                    <a:pt x="0" y="0"/>
                  </a:moveTo>
                  <a:lnTo>
                    <a:pt x="914400" y="0"/>
                  </a:lnTo>
                  <a:lnTo>
                    <a:pt x="914400" y="548640"/>
                  </a:lnTo>
                  <a:lnTo>
                    <a:pt x="0" y="548640"/>
                  </a:lnTo>
                  <a:close/>
                </a:path>
              </a:pathLst>
            </a:custGeom>
            <a:blipFill>
              <a:blip r:embed="rId2">
                <a:alphaModFix amt="0"/>
              </a:blip>
              <a:stretch>
                <a:fillRect l="-26982" t="0" r="-26982" b="0"/>
              </a:stretch>
            </a:blipFill>
          </p:spPr>
        </p:sp>
        <p:sp>
          <p:nvSpPr>
            <p:cNvPr name="TextBox 62" id="62"/>
            <p:cNvSpPr txBox="true"/>
            <p:nvPr/>
          </p:nvSpPr>
          <p:spPr>
            <a:xfrm>
              <a:off x="0" y="-38100"/>
              <a:ext cx="914400" cy="586740"/>
            </a:xfrm>
            <a:prstGeom prst="rect">
              <a:avLst/>
            </a:prstGeom>
          </p:spPr>
          <p:txBody>
            <a:bodyPr anchor="ctr" rtlCol="false" tIns="0" lIns="0" bIns="0" rIns="0"/>
            <a:lstStyle/>
            <a:p>
              <a:pPr algn="r">
                <a:lnSpc>
                  <a:spcPts val="1800"/>
                </a:lnSpc>
              </a:pPr>
              <a:r>
                <a:rPr lang="en-US" sz="1500">
                  <a:solidFill>
                    <a:srgbClr val="6B7280"/>
                  </a:solidFill>
                  <a:latin typeface="Calibri (MS)"/>
                  <a:ea typeface="Calibri (MS)"/>
                  <a:cs typeface="Calibri (MS)"/>
                  <a:sym typeface="Calibri (MS)"/>
                </a:rPr>
                <a:t>33</a:t>
              </a:r>
            </a:p>
          </p:txBody>
        </p:sp>
      </p:grpSp>
    </p:spTree>
  </p:cSld>
  <p:clrMapOvr>
    <a:masterClrMapping/>
  </p:clrMapOvr>
</p:sld>
</file>

<file path=ppt/slides/slide15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60120" y="685800"/>
            <a:ext cx="13716000" cy="411480"/>
            <a:chOff x="0" y="0"/>
            <a:chExt cx="18288000" cy="548640"/>
          </a:xfrm>
        </p:grpSpPr>
        <p:sp>
          <p:nvSpPr>
            <p:cNvPr name="Freeform 3" id="3"/>
            <p:cNvSpPr/>
            <p:nvPr/>
          </p:nvSpPr>
          <p:spPr>
            <a:xfrm flipH="false" flipV="false" rot="0">
              <a:off x="0" y="0"/>
              <a:ext cx="18288000" cy="548640"/>
            </a:xfrm>
            <a:custGeom>
              <a:avLst/>
              <a:gdLst/>
              <a:ahLst/>
              <a:cxnLst/>
              <a:rect r="r" b="b" t="t" l="l"/>
              <a:pathLst>
                <a:path h="548640" w="18288000">
                  <a:moveTo>
                    <a:pt x="0" y="0"/>
                  </a:moveTo>
                  <a:lnTo>
                    <a:pt x="18288000" y="0"/>
                  </a:lnTo>
                  <a:lnTo>
                    <a:pt x="18288000" y="548640"/>
                  </a:lnTo>
                  <a:lnTo>
                    <a:pt x="0" y="548640"/>
                  </a:lnTo>
                  <a:close/>
                </a:path>
              </a:pathLst>
            </a:custGeom>
            <a:blipFill>
              <a:blip r:embed="rId2">
                <a:alphaModFix amt="0"/>
              </a:blip>
              <a:stretch>
                <a:fillRect l="0" t="-599501" r="0" b="-599501"/>
              </a:stretch>
            </a:blipFill>
          </p:spPr>
        </p:sp>
        <p:sp>
          <p:nvSpPr>
            <p:cNvPr name="TextBox 4" id="4"/>
            <p:cNvSpPr txBox="true"/>
            <p:nvPr/>
          </p:nvSpPr>
          <p:spPr>
            <a:xfrm>
              <a:off x="0" y="-38100"/>
              <a:ext cx="18288000" cy="586740"/>
            </a:xfrm>
            <a:prstGeom prst="rect">
              <a:avLst/>
            </a:prstGeom>
          </p:spPr>
          <p:txBody>
            <a:bodyPr anchor="ctr" rtlCol="false" tIns="0" lIns="0" bIns="0" rIns="0"/>
            <a:lstStyle/>
            <a:p>
              <a:pPr algn="l">
                <a:lnSpc>
                  <a:spcPts val="2160"/>
                </a:lnSpc>
              </a:pPr>
              <a:r>
                <a:rPr lang="en-US" b="true" sz="1800" spc="225">
                  <a:solidFill>
                    <a:srgbClr val="00B4D8"/>
                  </a:solidFill>
                  <a:latin typeface="Calibri (MS) Bold"/>
                  <a:ea typeface="Calibri (MS) Bold"/>
                  <a:cs typeface="Calibri (MS) Bold"/>
                  <a:sym typeface="Calibri (MS) Bold"/>
                </a:rPr>
                <a:t>PH CYBER LAW SORT · ANSWER</a:t>
              </a:r>
            </a:p>
          </p:txBody>
        </p:sp>
      </p:grpSp>
      <p:grpSp>
        <p:nvGrpSpPr>
          <p:cNvPr name="Group 5" id="5"/>
          <p:cNvGrpSpPr/>
          <p:nvPr/>
        </p:nvGrpSpPr>
        <p:grpSpPr>
          <a:xfrm rot="0">
            <a:off x="960120" y="1069848"/>
            <a:ext cx="10972800" cy="822960"/>
            <a:chOff x="0" y="0"/>
            <a:chExt cx="14630400" cy="1097280"/>
          </a:xfrm>
        </p:grpSpPr>
        <p:sp>
          <p:nvSpPr>
            <p:cNvPr name="Freeform 6" id="6"/>
            <p:cNvSpPr/>
            <p:nvPr/>
          </p:nvSpPr>
          <p:spPr>
            <a:xfrm flipH="false" flipV="false" rot="0">
              <a:off x="0" y="0"/>
              <a:ext cx="14630400" cy="1097280"/>
            </a:xfrm>
            <a:custGeom>
              <a:avLst/>
              <a:gdLst/>
              <a:ahLst/>
              <a:cxnLst/>
              <a:rect r="r" b="b" t="t" l="l"/>
              <a:pathLst>
                <a:path h="1097280" w="14630400">
                  <a:moveTo>
                    <a:pt x="0" y="0"/>
                  </a:moveTo>
                  <a:lnTo>
                    <a:pt x="14630400" y="0"/>
                  </a:lnTo>
                  <a:lnTo>
                    <a:pt x="14630400" y="1097280"/>
                  </a:lnTo>
                  <a:lnTo>
                    <a:pt x="0" y="1097280"/>
                  </a:lnTo>
                  <a:close/>
                </a:path>
              </a:pathLst>
            </a:custGeom>
            <a:blipFill>
              <a:blip r:embed="rId2">
                <a:alphaModFix amt="0"/>
              </a:blip>
              <a:stretch>
                <a:fillRect l="0" t="-209800" r="0" b="-209800"/>
              </a:stretch>
            </a:blipFill>
          </p:spPr>
        </p:sp>
        <p:sp>
          <p:nvSpPr>
            <p:cNvPr name="TextBox 7" id="7"/>
            <p:cNvSpPr txBox="true"/>
            <p:nvPr/>
          </p:nvSpPr>
          <p:spPr>
            <a:xfrm>
              <a:off x="0" y="0"/>
              <a:ext cx="14630400" cy="1097280"/>
            </a:xfrm>
            <a:prstGeom prst="rect">
              <a:avLst/>
            </a:prstGeom>
          </p:spPr>
          <p:txBody>
            <a:bodyPr anchor="ctr" rtlCol="false" tIns="0" lIns="0" bIns="0" rIns="0"/>
            <a:lstStyle/>
            <a:p>
              <a:pPr algn="l">
                <a:lnSpc>
                  <a:spcPts val="4680"/>
                </a:lnSpc>
              </a:pPr>
              <a:r>
                <a:rPr lang="en-US" sz="3900" b="true">
                  <a:solidFill>
                    <a:srgbClr val="1E2761"/>
                  </a:solidFill>
                  <a:latin typeface="Cambria Bold"/>
                  <a:ea typeface="Cambria Bold"/>
                  <a:cs typeface="Cambria Bold"/>
                  <a:sym typeface="Cambria Bold"/>
                </a:rPr>
                <a:t>Scenario 12 — Answer</a:t>
              </a:r>
            </a:p>
          </p:txBody>
        </p:sp>
      </p:grpSp>
      <p:grpSp>
        <p:nvGrpSpPr>
          <p:cNvPr name="Group 8" id="8"/>
          <p:cNvGrpSpPr/>
          <p:nvPr/>
        </p:nvGrpSpPr>
        <p:grpSpPr>
          <a:xfrm rot="0">
            <a:off x="960120" y="1810512"/>
            <a:ext cx="8229600" cy="411480"/>
            <a:chOff x="0" y="0"/>
            <a:chExt cx="10972800" cy="548640"/>
          </a:xfrm>
        </p:grpSpPr>
        <p:sp>
          <p:nvSpPr>
            <p:cNvPr name="Freeform 9" id="9"/>
            <p:cNvSpPr/>
            <p:nvPr/>
          </p:nvSpPr>
          <p:spPr>
            <a:xfrm flipH="false" flipV="false" rot="0">
              <a:off x="0" y="0"/>
              <a:ext cx="10972800" cy="548640"/>
            </a:xfrm>
            <a:custGeom>
              <a:avLst/>
              <a:gdLst/>
              <a:ahLst/>
              <a:cxnLst/>
              <a:rect r="r" b="b" t="t" l="l"/>
              <a:pathLst>
                <a:path h="548640" w="10972800">
                  <a:moveTo>
                    <a:pt x="0" y="0"/>
                  </a:moveTo>
                  <a:lnTo>
                    <a:pt x="10972800" y="0"/>
                  </a:lnTo>
                  <a:lnTo>
                    <a:pt x="10972800" y="548640"/>
                  </a:lnTo>
                  <a:lnTo>
                    <a:pt x="0" y="548640"/>
                  </a:lnTo>
                  <a:close/>
                </a:path>
              </a:pathLst>
            </a:custGeom>
            <a:blipFill>
              <a:blip r:embed="rId2">
                <a:alphaModFix amt="0"/>
              </a:blip>
              <a:stretch>
                <a:fillRect l="0" t="-339700" r="0" b="-339700"/>
              </a:stretch>
            </a:blipFill>
          </p:spPr>
        </p:sp>
        <p:sp>
          <p:nvSpPr>
            <p:cNvPr name="TextBox 10" id="10"/>
            <p:cNvSpPr txBox="true"/>
            <p:nvPr/>
          </p:nvSpPr>
          <p:spPr>
            <a:xfrm>
              <a:off x="0" y="-28575"/>
              <a:ext cx="10972800" cy="577215"/>
            </a:xfrm>
            <a:prstGeom prst="rect">
              <a:avLst/>
            </a:prstGeom>
          </p:spPr>
          <p:txBody>
            <a:bodyPr anchor="ctr" rtlCol="false" tIns="0" lIns="0" bIns="0" rIns="0"/>
            <a:lstStyle/>
            <a:p>
              <a:pPr algn="l">
                <a:lnSpc>
                  <a:spcPts val="1980"/>
                </a:lnSpc>
              </a:pPr>
              <a:r>
                <a:rPr lang="en-US" sz="1650">
                  <a:solidFill>
                    <a:srgbClr val="6B7280"/>
                  </a:solidFill>
                  <a:latin typeface="Calibri (MS)"/>
                  <a:ea typeface="Calibri (MS)"/>
                  <a:cs typeface="Calibri (MS)"/>
                  <a:sym typeface="Calibri (MS)"/>
                </a:rPr>
                <a:t>12 of 15</a:t>
              </a:r>
            </a:p>
          </p:txBody>
        </p:sp>
      </p:grpSp>
      <p:grpSp>
        <p:nvGrpSpPr>
          <p:cNvPr name="Group 11" id="11"/>
          <p:cNvGrpSpPr/>
          <p:nvPr/>
        </p:nvGrpSpPr>
        <p:grpSpPr>
          <a:xfrm rot="0">
            <a:off x="960120" y="2537460"/>
            <a:ext cx="16322040" cy="2057400"/>
            <a:chOff x="0" y="0"/>
            <a:chExt cx="21762720" cy="2743200"/>
          </a:xfrm>
        </p:grpSpPr>
        <p:sp>
          <p:nvSpPr>
            <p:cNvPr name="Freeform 12" id="12"/>
            <p:cNvSpPr/>
            <p:nvPr/>
          </p:nvSpPr>
          <p:spPr>
            <a:xfrm flipH="false" flipV="false" rot="0">
              <a:off x="0" y="0"/>
              <a:ext cx="21762720" cy="2743200"/>
            </a:xfrm>
            <a:custGeom>
              <a:avLst/>
              <a:gdLst/>
              <a:ahLst/>
              <a:cxnLst/>
              <a:rect r="r" b="b" t="t" l="l"/>
              <a:pathLst>
                <a:path h="2743200" w="21762720">
                  <a:moveTo>
                    <a:pt x="0" y="182880"/>
                  </a:moveTo>
                  <a:cubicBezTo>
                    <a:pt x="0" y="81915"/>
                    <a:pt x="81915" y="0"/>
                    <a:pt x="182880" y="0"/>
                  </a:cubicBezTo>
                  <a:lnTo>
                    <a:pt x="21579839" y="0"/>
                  </a:lnTo>
                  <a:cubicBezTo>
                    <a:pt x="21680804" y="0"/>
                    <a:pt x="21762720" y="81915"/>
                    <a:pt x="21762720" y="182880"/>
                  </a:cubicBezTo>
                  <a:lnTo>
                    <a:pt x="21762720" y="2560320"/>
                  </a:lnTo>
                  <a:cubicBezTo>
                    <a:pt x="21762720" y="2661285"/>
                    <a:pt x="21680804" y="2743200"/>
                    <a:pt x="21579839" y="2743200"/>
                  </a:cubicBezTo>
                  <a:lnTo>
                    <a:pt x="182880" y="2743200"/>
                  </a:lnTo>
                  <a:cubicBezTo>
                    <a:pt x="81915" y="2743200"/>
                    <a:pt x="0" y="2661285"/>
                    <a:pt x="0" y="2560320"/>
                  </a:cubicBezTo>
                  <a:close/>
                </a:path>
              </a:pathLst>
            </a:custGeom>
            <a:solidFill>
              <a:srgbClr val="F4F7FC"/>
            </a:solidFill>
          </p:spPr>
        </p:sp>
      </p:grpSp>
      <p:grpSp>
        <p:nvGrpSpPr>
          <p:cNvPr name="Group 13" id="13"/>
          <p:cNvGrpSpPr/>
          <p:nvPr/>
        </p:nvGrpSpPr>
        <p:grpSpPr>
          <a:xfrm rot="0">
            <a:off x="1440180" y="2743200"/>
            <a:ext cx="15361920" cy="1645920"/>
            <a:chOff x="0" y="0"/>
            <a:chExt cx="20482560" cy="2194560"/>
          </a:xfrm>
        </p:grpSpPr>
        <p:sp>
          <p:nvSpPr>
            <p:cNvPr name="Freeform 14" id="14"/>
            <p:cNvSpPr/>
            <p:nvPr/>
          </p:nvSpPr>
          <p:spPr>
            <a:xfrm flipH="false" flipV="false" rot="0">
              <a:off x="0" y="0"/>
              <a:ext cx="20482561" cy="2194560"/>
            </a:xfrm>
            <a:custGeom>
              <a:avLst/>
              <a:gdLst/>
              <a:ahLst/>
              <a:cxnLst/>
              <a:rect r="r" b="b" t="t" l="l"/>
              <a:pathLst>
                <a:path h="2194560" w="20482561">
                  <a:moveTo>
                    <a:pt x="0" y="0"/>
                  </a:moveTo>
                  <a:lnTo>
                    <a:pt x="20482561" y="0"/>
                  </a:lnTo>
                  <a:lnTo>
                    <a:pt x="20482561" y="2194560"/>
                  </a:lnTo>
                  <a:lnTo>
                    <a:pt x="0" y="2194560"/>
                  </a:lnTo>
                  <a:close/>
                </a:path>
              </a:pathLst>
            </a:custGeom>
            <a:blipFill>
              <a:blip r:embed="rId2">
                <a:alphaModFix amt="0"/>
              </a:blip>
              <a:stretch>
                <a:fillRect l="0" t="-131860" r="0" b="-131860"/>
              </a:stretch>
            </a:blipFill>
          </p:spPr>
        </p:sp>
        <p:sp>
          <p:nvSpPr>
            <p:cNvPr name="TextBox 15" id="15"/>
            <p:cNvSpPr txBox="true"/>
            <p:nvPr/>
          </p:nvSpPr>
          <p:spPr>
            <a:xfrm>
              <a:off x="0" y="-66675"/>
              <a:ext cx="20482560" cy="2261235"/>
            </a:xfrm>
            <a:prstGeom prst="rect">
              <a:avLst/>
            </a:prstGeom>
          </p:spPr>
          <p:txBody>
            <a:bodyPr anchor="ctr" rtlCol="false" tIns="0" lIns="0" bIns="0" rIns="0"/>
            <a:lstStyle/>
            <a:p>
              <a:pPr algn="l">
                <a:lnSpc>
                  <a:spcPts val="3487"/>
                </a:lnSpc>
              </a:pPr>
              <a:r>
                <a:rPr lang="en-US" sz="2325" i="true">
                  <a:solidFill>
                    <a:srgbClr val="23262F"/>
                  </a:solidFill>
                  <a:latin typeface="Cambria Italics"/>
                  <a:ea typeface="Cambria Italics"/>
                  <a:cs typeface="Cambria Italics"/>
                  <a:sym typeface="Cambria Italics"/>
                </a:rPr>
                <a:t>"A local official asks which national agency is responsible for setting the country's overall cybersecurity policy and standards."</a:t>
              </a:r>
            </a:p>
          </p:txBody>
        </p:sp>
      </p:grpSp>
      <p:grpSp>
        <p:nvGrpSpPr>
          <p:cNvPr name="Group 16" id="16"/>
          <p:cNvGrpSpPr/>
          <p:nvPr/>
        </p:nvGrpSpPr>
        <p:grpSpPr>
          <a:xfrm rot="0">
            <a:off x="950595" y="4928235"/>
            <a:ext cx="5162550" cy="842010"/>
            <a:chOff x="0" y="0"/>
            <a:chExt cx="6883400" cy="1122680"/>
          </a:xfrm>
        </p:grpSpPr>
        <p:sp>
          <p:nvSpPr>
            <p:cNvPr name="Freeform 17" id="17"/>
            <p:cNvSpPr/>
            <p:nvPr/>
          </p:nvSpPr>
          <p:spPr>
            <a:xfrm flipH="false" flipV="false" rot="0">
              <a:off x="0" y="0"/>
              <a:ext cx="6883400" cy="1122680"/>
            </a:xfrm>
            <a:custGeom>
              <a:avLst/>
              <a:gdLst/>
              <a:ahLst/>
              <a:cxnLst/>
              <a:rect r="r" b="b" t="t" l="l"/>
              <a:pathLst>
                <a:path h="1122680" w="6883400">
                  <a:moveTo>
                    <a:pt x="0" y="168402"/>
                  </a:moveTo>
                  <a:cubicBezTo>
                    <a:pt x="0" y="75438"/>
                    <a:pt x="75438" y="0"/>
                    <a:pt x="168402" y="0"/>
                  </a:cubicBezTo>
                  <a:lnTo>
                    <a:pt x="6714998" y="0"/>
                  </a:lnTo>
                  <a:cubicBezTo>
                    <a:pt x="6807962" y="0"/>
                    <a:pt x="6883400" y="75438"/>
                    <a:pt x="6883400" y="168402"/>
                  </a:cubicBezTo>
                  <a:lnTo>
                    <a:pt x="6883400" y="954278"/>
                  </a:lnTo>
                  <a:cubicBezTo>
                    <a:pt x="6883400" y="1047242"/>
                    <a:pt x="6807962" y="1122680"/>
                    <a:pt x="6714998" y="1122680"/>
                  </a:cubicBezTo>
                  <a:lnTo>
                    <a:pt x="168402" y="1122680"/>
                  </a:lnTo>
                  <a:cubicBezTo>
                    <a:pt x="75438" y="1122680"/>
                    <a:pt x="0" y="1047242"/>
                    <a:pt x="0" y="954278"/>
                  </a:cubicBezTo>
                  <a:close/>
                </a:path>
              </a:pathLst>
            </a:custGeom>
            <a:solidFill>
              <a:srgbClr val="F4F7FC"/>
            </a:solidFill>
            <a:ln w="19050" cap="sq">
              <a:solidFill>
                <a:srgbClr val="D7DCEC"/>
              </a:solidFill>
              <a:prstDash val="solid"/>
              <a:miter/>
            </a:ln>
          </p:spPr>
        </p:sp>
      </p:grpSp>
      <p:grpSp>
        <p:nvGrpSpPr>
          <p:cNvPr name="Group 18" id="18"/>
          <p:cNvGrpSpPr/>
          <p:nvPr/>
        </p:nvGrpSpPr>
        <p:grpSpPr>
          <a:xfrm rot="0">
            <a:off x="960120" y="5006340"/>
            <a:ext cx="5143500" cy="521208"/>
            <a:chOff x="0" y="0"/>
            <a:chExt cx="6858000" cy="694944"/>
          </a:xfrm>
        </p:grpSpPr>
        <p:sp>
          <p:nvSpPr>
            <p:cNvPr name="Freeform 19" id="19"/>
            <p:cNvSpPr/>
            <p:nvPr/>
          </p:nvSpPr>
          <p:spPr>
            <a:xfrm flipH="false" flipV="false" rot="0">
              <a:off x="0" y="0"/>
              <a:ext cx="6858000" cy="694944"/>
            </a:xfrm>
            <a:custGeom>
              <a:avLst/>
              <a:gdLst/>
              <a:ahLst/>
              <a:cxnLst/>
              <a:rect r="r" b="b" t="t" l="l"/>
              <a:pathLst>
                <a:path h="694944" w="6858000">
                  <a:moveTo>
                    <a:pt x="0" y="0"/>
                  </a:moveTo>
                  <a:lnTo>
                    <a:pt x="6858000" y="0"/>
                  </a:lnTo>
                  <a:lnTo>
                    <a:pt x="6858000" y="694944"/>
                  </a:lnTo>
                  <a:lnTo>
                    <a:pt x="0" y="694944"/>
                  </a:lnTo>
                  <a:close/>
                </a:path>
              </a:pathLst>
            </a:custGeom>
            <a:blipFill>
              <a:blip r:embed="rId2">
                <a:alphaModFix amt="0"/>
              </a:blip>
              <a:stretch>
                <a:fillRect l="0" t="-142286" r="0" b="-142286"/>
              </a:stretch>
            </a:blipFill>
          </p:spPr>
        </p:sp>
        <p:sp>
          <p:nvSpPr>
            <p:cNvPr name="TextBox 20" id="20"/>
            <p:cNvSpPr txBox="true"/>
            <p:nvPr/>
          </p:nvSpPr>
          <p:spPr>
            <a:xfrm>
              <a:off x="0" y="-38100"/>
              <a:ext cx="6858000" cy="733044"/>
            </a:xfrm>
            <a:prstGeom prst="rect">
              <a:avLst/>
            </a:prstGeom>
          </p:spPr>
          <p:txBody>
            <a:bodyPr anchor="ctr" rtlCol="false" tIns="0" lIns="0" bIns="0" rIns="0"/>
            <a:lstStyle/>
            <a:p>
              <a:pPr algn="ctr">
                <a:lnSpc>
                  <a:spcPts val="2250"/>
                </a:lnSpc>
              </a:pPr>
              <a:r>
                <a:rPr lang="en-US" sz="1875">
                  <a:solidFill>
                    <a:srgbClr val="6B7280"/>
                  </a:solidFill>
                  <a:latin typeface="Calibri (MS)"/>
                  <a:ea typeface="Calibri (MS)"/>
                  <a:cs typeface="Calibri (MS)"/>
                  <a:sym typeface="Calibri (MS)"/>
                </a:rPr>
                <a:t>E-Commerce Act</a:t>
              </a:r>
            </a:p>
          </p:txBody>
        </p:sp>
      </p:grpSp>
      <p:grpSp>
        <p:nvGrpSpPr>
          <p:cNvPr name="Group 21" id="21"/>
          <p:cNvGrpSpPr/>
          <p:nvPr/>
        </p:nvGrpSpPr>
        <p:grpSpPr>
          <a:xfrm rot="0">
            <a:off x="960120" y="5376672"/>
            <a:ext cx="5143500" cy="329184"/>
            <a:chOff x="0" y="0"/>
            <a:chExt cx="6858000" cy="438912"/>
          </a:xfrm>
        </p:grpSpPr>
        <p:sp>
          <p:nvSpPr>
            <p:cNvPr name="Freeform 22" id="22"/>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23" id="23"/>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9AA3B8"/>
                  </a:solidFill>
                  <a:latin typeface="Arimo"/>
                  <a:ea typeface="Arimo"/>
                  <a:cs typeface="Arimo"/>
                  <a:sym typeface="Arimo"/>
                </a:rPr>
                <a:t>ECA</a:t>
              </a:r>
            </a:p>
          </p:txBody>
        </p:sp>
      </p:grpSp>
      <p:grpSp>
        <p:nvGrpSpPr>
          <p:cNvPr name="Group 24" id="24"/>
          <p:cNvGrpSpPr/>
          <p:nvPr/>
        </p:nvGrpSpPr>
        <p:grpSpPr>
          <a:xfrm rot="0">
            <a:off x="6533007" y="4928235"/>
            <a:ext cx="5162550" cy="842010"/>
            <a:chOff x="0" y="0"/>
            <a:chExt cx="6883400" cy="1122680"/>
          </a:xfrm>
        </p:grpSpPr>
        <p:sp>
          <p:nvSpPr>
            <p:cNvPr name="Freeform 25" id="25"/>
            <p:cNvSpPr/>
            <p:nvPr/>
          </p:nvSpPr>
          <p:spPr>
            <a:xfrm flipH="false" flipV="false" rot="0">
              <a:off x="0" y="0"/>
              <a:ext cx="6883400" cy="1122680"/>
            </a:xfrm>
            <a:custGeom>
              <a:avLst/>
              <a:gdLst/>
              <a:ahLst/>
              <a:cxnLst/>
              <a:rect r="r" b="b" t="t" l="l"/>
              <a:pathLst>
                <a:path h="1122680" w="6883400">
                  <a:moveTo>
                    <a:pt x="0" y="168402"/>
                  </a:moveTo>
                  <a:cubicBezTo>
                    <a:pt x="0" y="75438"/>
                    <a:pt x="75438" y="0"/>
                    <a:pt x="168402" y="0"/>
                  </a:cubicBezTo>
                  <a:lnTo>
                    <a:pt x="6714998" y="0"/>
                  </a:lnTo>
                  <a:cubicBezTo>
                    <a:pt x="6807962" y="0"/>
                    <a:pt x="6883400" y="75438"/>
                    <a:pt x="6883400" y="168402"/>
                  </a:cubicBezTo>
                  <a:lnTo>
                    <a:pt x="6883400" y="954278"/>
                  </a:lnTo>
                  <a:cubicBezTo>
                    <a:pt x="6883400" y="1047242"/>
                    <a:pt x="6807962" y="1122680"/>
                    <a:pt x="6714998" y="1122680"/>
                  </a:cubicBezTo>
                  <a:lnTo>
                    <a:pt x="168402" y="1122680"/>
                  </a:lnTo>
                  <a:cubicBezTo>
                    <a:pt x="75438" y="1122680"/>
                    <a:pt x="0" y="1047242"/>
                    <a:pt x="0" y="954278"/>
                  </a:cubicBezTo>
                  <a:close/>
                </a:path>
              </a:pathLst>
            </a:custGeom>
            <a:solidFill>
              <a:srgbClr val="F4F7FC"/>
            </a:solidFill>
            <a:ln w="19050" cap="sq">
              <a:solidFill>
                <a:srgbClr val="D7DCEC"/>
              </a:solidFill>
              <a:prstDash val="solid"/>
              <a:miter/>
            </a:ln>
          </p:spPr>
        </p:sp>
      </p:grpSp>
      <p:grpSp>
        <p:nvGrpSpPr>
          <p:cNvPr name="Group 26" id="26"/>
          <p:cNvGrpSpPr/>
          <p:nvPr/>
        </p:nvGrpSpPr>
        <p:grpSpPr>
          <a:xfrm rot="0">
            <a:off x="6542532" y="5006340"/>
            <a:ext cx="5143500" cy="521208"/>
            <a:chOff x="0" y="0"/>
            <a:chExt cx="6858000" cy="694944"/>
          </a:xfrm>
        </p:grpSpPr>
        <p:sp>
          <p:nvSpPr>
            <p:cNvPr name="Freeform 27" id="27"/>
            <p:cNvSpPr/>
            <p:nvPr/>
          </p:nvSpPr>
          <p:spPr>
            <a:xfrm flipH="false" flipV="false" rot="0">
              <a:off x="0" y="0"/>
              <a:ext cx="6858000" cy="694944"/>
            </a:xfrm>
            <a:custGeom>
              <a:avLst/>
              <a:gdLst/>
              <a:ahLst/>
              <a:cxnLst/>
              <a:rect r="r" b="b" t="t" l="l"/>
              <a:pathLst>
                <a:path h="694944" w="6858000">
                  <a:moveTo>
                    <a:pt x="0" y="0"/>
                  </a:moveTo>
                  <a:lnTo>
                    <a:pt x="6858000" y="0"/>
                  </a:lnTo>
                  <a:lnTo>
                    <a:pt x="6858000" y="694944"/>
                  </a:lnTo>
                  <a:lnTo>
                    <a:pt x="0" y="694944"/>
                  </a:lnTo>
                  <a:close/>
                </a:path>
              </a:pathLst>
            </a:custGeom>
            <a:blipFill>
              <a:blip r:embed="rId2">
                <a:alphaModFix amt="0"/>
              </a:blip>
              <a:stretch>
                <a:fillRect l="0" t="-142286" r="0" b="-142286"/>
              </a:stretch>
            </a:blipFill>
          </p:spPr>
        </p:sp>
        <p:sp>
          <p:nvSpPr>
            <p:cNvPr name="TextBox 28" id="28"/>
            <p:cNvSpPr txBox="true"/>
            <p:nvPr/>
          </p:nvSpPr>
          <p:spPr>
            <a:xfrm>
              <a:off x="0" y="-38100"/>
              <a:ext cx="6858000" cy="733044"/>
            </a:xfrm>
            <a:prstGeom prst="rect">
              <a:avLst/>
            </a:prstGeom>
          </p:spPr>
          <p:txBody>
            <a:bodyPr anchor="ctr" rtlCol="false" tIns="0" lIns="0" bIns="0" rIns="0"/>
            <a:lstStyle/>
            <a:p>
              <a:pPr algn="ctr">
                <a:lnSpc>
                  <a:spcPts val="2250"/>
                </a:lnSpc>
              </a:pPr>
              <a:r>
                <a:rPr lang="en-US" sz="1875">
                  <a:solidFill>
                    <a:srgbClr val="6B7280"/>
                  </a:solidFill>
                  <a:latin typeface="Calibri (MS)"/>
                  <a:ea typeface="Calibri (MS)"/>
                  <a:cs typeface="Calibri (MS)"/>
                  <a:sym typeface="Calibri (MS)"/>
                </a:rPr>
                <a:t>Cybercrime Act</a:t>
              </a:r>
            </a:p>
          </p:txBody>
        </p:sp>
      </p:grpSp>
      <p:grpSp>
        <p:nvGrpSpPr>
          <p:cNvPr name="Group 29" id="29"/>
          <p:cNvGrpSpPr/>
          <p:nvPr/>
        </p:nvGrpSpPr>
        <p:grpSpPr>
          <a:xfrm rot="0">
            <a:off x="6542532" y="5376672"/>
            <a:ext cx="5143500" cy="329184"/>
            <a:chOff x="0" y="0"/>
            <a:chExt cx="6858000" cy="438912"/>
          </a:xfrm>
        </p:grpSpPr>
        <p:sp>
          <p:nvSpPr>
            <p:cNvPr name="Freeform 30" id="30"/>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31" id="31"/>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9AA3B8"/>
                  </a:solidFill>
                  <a:latin typeface="Arimo"/>
                  <a:ea typeface="Arimo"/>
                  <a:cs typeface="Arimo"/>
                  <a:sym typeface="Arimo"/>
                </a:rPr>
                <a:t>CPA</a:t>
              </a:r>
            </a:p>
          </p:txBody>
        </p:sp>
      </p:grpSp>
      <p:grpSp>
        <p:nvGrpSpPr>
          <p:cNvPr name="Group 32" id="32"/>
          <p:cNvGrpSpPr/>
          <p:nvPr/>
        </p:nvGrpSpPr>
        <p:grpSpPr>
          <a:xfrm rot="0">
            <a:off x="950595" y="5998083"/>
            <a:ext cx="5162550" cy="842010"/>
            <a:chOff x="0" y="0"/>
            <a:chExt cx="6883400" cy="1122680"/>
          </a:xfrm>
        </p:grpSpPr>
        <p:sp>
          <p:nvSpPr>
            <p:cNvPr name="Freeform 33" id="33"/>
            <p:cNvSpPr/>
            <p:nvPr/>
          </p:nvSpPr>
          <p:spPr>
            <a:xfrm flipH="false" flipV="false" rot="0">
              <a:off x="0" y="0"/>
              <a:ext cx="6883400" cy="1122680"/>
            </a:xfrm>
            <a:custGeom>
              <a:avLst/>
              <a:gdLst/>
              <a:ahLst/>
              <a:cxnLst/>
              <a:rect r="r" b="b" t="t" l="l"/>
              <a:pathLst>
                <a:path h="1122680" w="6883400">
                  <a:moveTo>
                    <a:pt x="0" y="168402"/>
                  </a:moveTo>
                  <a:cubicBezTo>
                    <a:pt x="0" y="75438"/>
                    <a:pt x="75438" y="0"/>
                    <a:pt x="168402" y="0"/>
                  </a:cubicBezTo>
                  <a:lnTo>
                    <a:pt x="6714998" y="0"/>
                  </a:lnTo>
                  <a:cubicBezTo>
                    <a:pt x="6807962" y="0"/>
                    <a:pt x="6883400" y="75438"/>
                    <a:pt x="6883400" y="168402"/>
                  </a:cubicBezTo>
                  <a:lnTo>
                    <a:pt x="6883400" y="954278"/>
                  </a:lnTo>
                  <a:cubicBezTo>
                    <a:pt x="6883400" y="1047242"/>
                    <a:pt x="6807962" y="1122680"/>
                    <a:pt x="6714998" y="1122680"/>
                  </a:cubicBezTo>
                  <a:lnTo>
                    <a:pt x="168402" y="1122680"/>
                  </a:lnTo>
                  <a:cubicBezTo>
                    <a:pt x="75438" y="1122680"/>
                    <a:pt x="0" y="1047242"/>
                    <a:pt x="0" y="954278"/>
                  </a:cubicBezTo>
                  <a:close/>
                </a:path>
              </a:pathLst>
            </a:custGeom>
            <a:solidFill>
              <a:srgbClr val="F4F7FC"/>
            </a:solidFill>
            <a:ln w="19050" cap="sq">
              <a:solidFill>
                <a:srgbClr val="D7DCEC"/>
              </a:solidFill>
              <a:prstDash val="solid"/>
              <a:miter/>
            </a:ln>
          </p:spPr>
        </p:sp>
      </p:grpSp>
      <p:grpSp>
        <p:nvGrpSpPr>
          <p:cNvPr name="Group 34" id="34"/>
          <p:cNvGrpSpPr/>
          <p:nvPr/>
        </p:nvGrpSpPr>
        <p:grpSpPr>
          <a:xfrm rot="0">
            <a:off x="960120" y="6076188"/>
            <a:ext cx="5143500" cy="521208"/>
            <a:chOff x="0" y="0"/>
            <a:chExt cx="6858000" cy="694944"/>
          </a:xfrm>
        </p:grpSpPr>
        <p:sp>
          <p:nvSpPr>
            <p:cNvPr name="Freeform 35" id="35"/>
            <p:cNvSpPr/>
            <p:nvPr/>
          </p:nvSpPr>
          <p:spPr>
            <a:xfrm flipH="false" flipV="false" rot="0">
              <a:off x="0" y="0"/>
              <a:ext cx="6858000" cy="694944"/>
            </a:xfrm>
            <a:custGeom>
              <a:avLst/>
              <a:gdLst/>
              <a:ahLst/>
              <a:cxnLst/>
              <a:rect r="r" b="b" t="t" l="l"/>
              <a:pathLst>
                <a:path h="694944" w="6858000">
                  <a:moveTo>
                    <a:pt x="0" y="0"/>
                  </a:moveTo>
                  <a:lnTo>
                    <a:pt x="6858000" y="0"/>
                  </a:lnTo>
                  <a:lnTo>
                    <a:pt x="6858000" y="694944"/>
                  </a:lnTo>
                  <a:lnTo>
                    <a:pt x="0" y="694944"/>
                  </a:lnTo>
                  <a:close/>
                </a:path>
              </a:pathLst>
            </a:custGeom>
            <a:blipFill>
              <a:blip r:embed="rId2">
                <a:alphaModFix amt="0"/>
              </a:blip>
              <a:stretch>
                <a:fillRect l="0" t="-142286" r="0" b="-142286"/>
              </a:stretch>
            </a:blipFill>
          </p:spPr>
        </p:sp>
        <p:sp>
          <p:nvSpPr>
            <p:cNvPr name="TextBox 36" id="36"/>
            <p:cNvSpPr txBox="true"/>
            <p:nvPr/>
          </p:nvSpPr>
          <p:spPr>
            <a:xfrm>
              <a:off x="0" y="-38100"/>
              <a:ext cx="6858000" cy="733044"/>
            </a:xfrm>
            <a:prstGeom prst="rect">
              <a:avLst/>
            </a:prstGeom>
          </p:spPr>
          <p:txBody>
            <a:bodyPr anchor="ctr" rtlCol="false" tIns="0" lIns="0" bIns="0" rIns="0"/>
            <a:lstStyle/>
            <a:p>
              <a:pPr algn="ctr">
                <a:lnSpc>
                  <a:spcPts val="2250"/>
                </a:lnSpc>
              </a:pPr>
              <a:r>
                <a:rPr lang="en-US" sz="1875">
                  <a:solidFill>
                    <a:srgbClr val="6B7280"/>
                  </a:solidFill>
                  <a:latin typeface="Calibri (MS)"/>
                  <a:ea typeface="Calibri (MS)"/>
                  <a:cs typeface="Calibri (MS)"/>
                  <a:sym typeface="Calibri (MS)"/>
                </a:rPr>
                <a:t>Data Privacy Act</a:t>
              </a:r>
            </a:p>
          </p:txBody>
        </p:sp>
      </p:grpSp>
      <p:grpSp>
        <p:nvGrpSpPr>
          <p:cNvPr name="Group 37" id="37"/>
          <p:cNvGrpSpPr/>
          <p:nvPr/>
        </p:nvGrpSpPr>
        <p:grpSpPr>
          <a:xfrm rot="0">
            <a:off x="960120" y="6446520"/>
            <a:ext cx="5143500" cy="329184"/>
            <a:chOff x="0" y="0"/>
            <a:chExt cx="6858000" cy="438912"/>
          </a:xfrm>
        </p:grpSpPr>
        <p:sp>
          <p:nvSpPr>
            <p:cNvPr name="Freeform 38" id="38"/>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39" id="39"/>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9AA3B8"/>
                  </a:solidFill>
                  <a:latin typeface="Arimo"/>
                  <a:ea typeface="Arimo"/>
                  <a:cs typeface="Arimo"/>
                  <a:sym typeface="Arimo"/>
                </a:rPr>
                <a:t>DPA</a:t>
              </a:r>
            </a:p>
          </p:txBody>
        </p:sp>
      </p:grpSp>
      <p:grpSp>
        <p:nvGrpSpPr>
          <p:cNvPr name="Group 40" id="40"/>
          <p:cNvGrpSpPr/>
          <p:nvPr/>
        </p:nvGrpSpPr>
        <p:grpSpPr>
          <a:xfrm rot="0">
            <a:off x="6533007" y="5998083"/>
            <a:ext cx="5162550" cy="842010"/>
            <a:chOff x="0" y="0"/>
            <a:chExt cx="6883400" cy="1122680"/>
          </a:xfrm>
        </p:grpSpPr>
        <p:sp>
          <p:nvSpPr>
            <p:cNvPr name="Freeform 41" id="41"/>
            <p:cNvSpPr/>
            <p:nvPr/>
          </p:nvSpPr>
          <p:spPr>
            <a:xfrm flipH="false" flipV="false" rot="0">
              <a:off x="0" y="0"/>
              <a:ext cx="6883400" cy="1122680"/>
            </a:xfrm>
            <a:custGeom>
              <a:avLst/>
              <a:gdLst/>
              <a:ahLst/>
              <a:cxnLst/>
              <a:rect r="r" b="b" t="t" l="l"/>
              <a:pathLst>
                <a:path h="1122680" w="6883400">
                  <a:moveTo>
                    <a:pt x="0" y="168402"/>
                  </a:moveTo>
                  <a:cubicBezTo>
                    <a:pt x="0" y="75438"/>
                    <a:pt x="75438" y="0"/>
                    <a:pt x="168402" y="0"/>
                  </a:cubicBezTo>
                  <a:lnTo>
                    <a:pt x="6714998" y="0"/>
                  </a:lnTo>
                  <a:cubicBezTo>
                    <a:pt x="6807962" y="0"/>
                    <a:pt x="6883400" y="75438"/>
                    <a:pt x="6883400" y="168402"/>
                  </a:cubicBezTo>
                  <a:lnTo>
                    <a:pt x="6883400" y="954278"/>
                  </a:lnTo>
                  <a:cubicBezTo>
                    <a:pt x="6883400" y="1047242"/>
                    <a:pt x="6807962" y="1122680"/>
                    <a:pt x="6714998" y="1122680"/>
                  </a:cubicBezTo>
                  <a:lnTo>
                    <a:pt x="168402" y="1122680"/>
                  </a:lnTo>
                  <a:cubicBezTo>
                    <a:pt x="75438" y="1122680"/>
                    <a:pt x="0" y="1047242"/>
                    <a:pt x="0" y="954278"/>
                  </a:cubicBezTo>
                  <a:close/>
                </a:path>
              </a:pathLst>
            </a:custGeom>
            <a:solidFill>
              <a:srgbClr val="0F8A6E"/>
            </a:solidFill>
            <a:ln w="19050" cap="sq">
              <a:solidFill>
                <a:srgbClr val="0F8A6E"/>
              </a:solidFill>
              <a:prstDash val="solid"/>
              <a:miter/>
            </a:ln>
          </p:spPr>
        </p:sp>
      </p:grpSp>
      <p:grpSp>
        <p:nvGrpSpPr>
          <p:cNvPr name="Group 42" id="42"/>
          <p:cNvGrpSpPr/>
          <p:nvPr/>
        </p:nvGrpSpPr>
        <p:grpSpPr>
          <a:xfrm rot="0">
            <a:off x="6542532" y="6076188"/>
            <a:ext cx="5143500" cy="521208"/>
            <a:chOff x="0" y="0"/>
            <a:chExt cx="6858000" cy="694944"/>
          </a:xfrm>
        </p:grpSpPr>
        <p:sp>
          <p:nvSpPr>
            <p:cNvPr name="Freeform 43" id="43"/>
            <p:cNvSpPr/>
            <p:nvPr/>
          </p:nvSpPr>
          <p:spPr>
            <a:xfrm flipH="false" flipV="false" rot="0">
              <a:off x="0" y="0"/>
              <a:ext cx="6858000" cy="694944"/>
            </a:xfrm>
            <a:custGeom>
              <a:avLst/>
              <a:gdLst/>
              <a:ahLst/>
              <a:cxnLst/>
              <a:rect r="r" b="b" t="t" l="l"/>
              <a:pathLst>
                <a:path h="694944" w="6858000">
                  <a:moveTo>
                    <a:pt x="0" y="0"/>
                  </a:moveTo>
                  <a:lnTo>
                    <a:pt x="6858000" y="0"/>
                  </a:lnTo>
                  <a:lnTo>
                    <a:pt x="6858000" y="694944"/>
                  </a:lnTo>
                  <a:lnTo>
                    <a:pt x="0" y="694944"/>
                  </a:lnTo>
                  <a:close/>
                </a:path>
              </a:pathLst>
            </a:custGeom>
            <a:blipFill>
              <a:blip r:embed="rId2">
                <a:alphaModFix amt="0"/>
              </a:blip>
              <a:stretch>
                <a:fillRect l="0" t="-142286" r="0" b="-142286"/>
              </a:stretch>
            </a:blipFill>
          </p:spPr>
        </p:sp>
        <p:sp>
          <p:nvSpPr>
            <p:cNvPr name="TextBox 44" id="44"/>
            <p:cNvSpPr txBox="true"/>
            <p:nvPr/>
          </p:nvSpPr>
          <p:spPr>
            <a:xfrm>
              <a:off x="0" y="-38100"/>
              <a:ext cx="6858000" cy="733044"/>
            </a:xfrm>
            <a:prstGeom prst="rect">
              <a:avLst/>
            </a:prstGeom>
          </p:spPr>
          <p:txBody>
            <a:bodyPr anchor="ctr" rtlCol="false" tIns="0" lIns="0" bIns="0" rIns="0"/>
            <a:lstStyle/>
            <a:p>
              <a:pPr algn="ctr">
                <a:lnSpc>
                  <a:spcPts val="2250"/>
                </a:lnSpc>
              </a:pPr>
              <a:r>
                <a:rPr lang="en-US" sz="1875" b="true">
                  <a:solidFill>
                    <a:srgbClr val="FFFFFF"/>
                  </a:solidFill>
                  <a:latin typeface="Calibri (MS) Bold"/>
                  <a:ea typeface="Calibri (MS) Bold"/>
                  <a:cs typeface="Calibri (MS) Bold"/>
                  <a:sym typeface="Calibri (MS) Bold"/>
                </a:rPr>
                <a:t>✓  DICT Act / NCSP</a:t>
              </a:r>
            </a:p>
          </p:txBody>
        </p:sp>
      </p:grpSp>
      <p:grpSp>
        <p:nvGrpSpPr>
          <p:cNvPr name="Group 45" id="45"/>
          <p:cNvGrpSpPr/>
          <p:nvPr/>
        </p:nvGrpSpPr>
        <p:grpSpPr>
          <a:xfrm rot="0">
            <a:off x="6542532" y="6446520"/>
            <a:ext cx="5143500" cy="329184"/>
            <a:chOff x="0" y="0"/>
            <a:chExt cx="6858000" cy="438912"/>
          </a:xfrm>
        </p:grpSpPr>
        <p:sp>
          <p:nvSpPr>
            <p:cNvPr name="Freeform 46" id="46"/>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47" id="47"/>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FFFFFF"/>
                  </a:solidFill>
                  <a:latin typeface="Arimo"/>
                  <a:ea typeface="Arimo"/>
                  <a:cs typeface="Arimo"/>
                  <a:sym typeface="Arimo"/>
                </a:rPr>
                <a:t>DICT</a:t>
              </a:r>
            </a:p>
          </p:txBody>
        </p:sp>
      </p:grpSp>
      <p:grpSp>
        <p:nvGrpSpPr>
          <p:cNvPr name="Group 48" id="48"/>
          <p:cNvGrpSpPr/>
          <p:nvPr/>
        </p:nvGrpSpPr>
        <p:grpSpPr>
          <a:xfrm rot="0">
            <a:off x="12115419" y="4928235"/>
            <a:ext cx="5162550" cy="1911858"/>
            <a:chOff x="0" y="0"/>
            <a:chExt cx="6883400" cy="2549144"/>
          </a:xfrm>
        </p:grpSpPr>
        <p:sp>
          <p:nvSpPr>
            <p:cNvPr name="Freeform 49" id="49"/>
            <p:cNvSpPr/>
            <p:nvPr/>
          </p:nvSpPr>
          <p:spPr>
            <a:xfrm flipH="false" flipV="false" rot="0">
              <a:off x="0" y="0"/>
              <a:ext cx="6883400" cy="2549144"/>
            </a:xfrm>
            <a:custGeom>
              <a:avLst/>
              <a:gdLst/>
              <a:ahLst/>
              <a:cxnLst/>
              <a:rect r="r" b="b" t="t" l="l"/>
              <a:pathLst>
                <a:path h="2549144" w="6883400">
                  <a:moveTo>
                    <a:pt x="0" y="166243"/>
                  </a:moveTo>
                  <a:cubicBezTo>
                    <a:pt x="0" y="74422"/>
                    <a:pt x="74422" y="0"/>
                    <a:pt x="166243" y="0"/>
                  </a:cubicBezTo>
                  <a:lnTo>
                    <a:pt x="6717157" y="0"/>
                  </a:lnTo>
                  <a:cubicBezTo>
                    <a:pt x="6808978" y="0"/>
                    <a:pt x="6883400" y="74422"/>
                    <a:pt x="6883400" y="166243"/>
                  </a:cubicBezTo>
                  <a:lnTo>
                    <a:pt x="6883400" y="2382901"/>
                  </a:lnTo>
                  <a:cubicBezTo>
                    <a:pt x="6883400" y="2474722"/>
                    <a:pt x="6808978" y="2549144"/>
                    <a:pt x="6717157" y="2549144"/>
                  </a:cubicBezTo>
                  <a:lnTo>
                    <a:pt x="166243" y="2549144"/>
                  </a:lnTo>
                  <a:cubicBezTo>
                    <a:pt x="74422" y="2549144"/>
                    <a:pt x="0" y="2474722"/>
                    <a:pt x="0" y="2382901"/>
                  </a:cubicBezTo>
                  <a:close/>
                </a:path>
              </a:pathLst>
            </a:custGeom>
            <a:solidFill>
              <a:srgbClr val="F4F7FC"/>
            </a:solidFill>
            <a:ln w="19050" cap="sq">
              <a:solidFill>
                <a:srgbClr val="D7DCEC"/>
              </a:solidFill>
              <a:prstDash val="solid"/>
              <a:miter/>
            </a:ln>
          </p:spPr>
        </p:sp>
      </p:grpSp>
      <p:grpSp>
        <p:nvGrpSpPr>
          <p:cNvPr name="Group 50" id="50"/>
          <p:cNvGrpSpPr/>
          <p:nvPr/>
        </p:nvGrpSpPr>
        <p:grpSpPr>
          <a:xfrm rot="0">
            <a:off x="12124944" y="5006340"/>
            <a:ext cx="5143500" cy="1591056"/>
            <a:chOff x="0" y="0"/>
            <a:chExt cx="6858000" cy="2121408"/>
          </a:xfrm>
        </p:grpSpPr>
        <p:sp>
          <p:nvSpPr>
            <p:cNvPr name="Freeform 51" id="51"/>
            <p:cNvSpPr/>
            <p:nvPr/>
          </p:nvSpPr>
          <p:spPr>
            <a:xfrm flipH="false" flipV="false" rot="0">
              <a:off x="0" y="0"/>
              <a:ext cx="6858000" cy="2121408"/>
            </a:xfrm>
            <a:custGeom>
              <a:avLst/>
              <a:gdLst/>
              <a:ahLst/>
              <a:cxnLst/>
              <a:rect r="r" b="b" t="t" l="l"/>
              <a:pathLst>
                <a:path h="2121408" w="6858000">
                  <a:moveTo>
                    <a:pt x="0" y="0"/>
                  </a:moveTo>
                  <a:lnTo>
                    <a:pt x="6858000" y="0"/>
                  </a:lnTo>
                  <a:lnTo>
                    <a:pt x="6858000" y="2121408"/>
                  </a:lnTo>
                  <a:lnTo>
                    <a:pt x="0" y="2121408"/>
                  </a:lnTo>
                  <a:close/>
                </a:path>
              </a:pathLst>
            </a:custGeom>
            <a:blipFill>
              <a:blip r:embed="rId2">
                <a:alphaModFix amt="0"/>
              </a:blip>
              <a:stretch>
                <a:fillRect l="0" t="-12990" r="0" b="-12990"/>
              </a:stretch>
            </a:blipFill>
          </p:spPr>
        </p:sp>
        <p:sp>
          <p:nvSpPr>
            <p:cNvPr name="TextBox 52" id="52"/>
            <p:cNvSpPr txBox="true"/>
            <p:nvPr/>
          </p:nvSpPr>
          <p:spPr>
            <a:xfrm>
              <a:off x="0" y="-38100"/>
              <a:ext cx="6858000" cy="2159508"/>
            </a:xfrm>
            <a:prstGeom prst="rect">
              <a:avLst/>
            </a:prstGeom>
          </p:spPr>
          <p:txBody>
            <a:bodyPr anchor="ctr" rtlCol="false" tIns="0" lIns="0" bIns="0" rIns="0"/>
            <a:lstStyle/>
            <a:p>
              <a:pPr algn="ctr">
                <a:lnSpc>
                  <a:spcPts val="2250"/>
                </a:lnSpc>
              </a:pPr>
              <a:r>
                <a:rPr lang="en-US" sz="1875">
                  <a:solidFill>
                    <a:srgbClr val="6B7280"/>
                  </a:solidFill>
                  <a:latin typeface="Calibri (MS)"/>
                  <a:ea typeface="Calibri (MS)"/>
                  <a:cs typeface="Calibri (MS)"/>
                  <a:sym typeface="Calibri (MS)"/>
                </a:rPr>
                <a:t>Critical Infra. Protection</a:t>
              </a:r>
            </a:p>
          </p:txBody>
        </p:sp>
      </p:grpSp>
      <p:grpSp>
        <p:nvGrpSpPr>
          <p:cNvPr name="Group 53" id="53"/>
          <p:cNvGrpSpPr/>
          <p:nvPr/>
        </p:nvGrpSpPr>
        <p:grpSpPr>
          <a:xfrm rot="0">
            <a:off x="12124944" y="6446520"/>
            <a:ext cx="5143500" cy="329184"/>
            <a:chOff x="0" y="0"/>
            <a:chExt cx="6858000" cy="438912"/>
          </a:xfrm>
        </p:grpSpPr>
        <p:sp>
          <p:nvSpPr>
            <p:cNvPr name="Freeform 54" id="54"/>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55" id="55"/>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9AA3B8"/>
                  </a:solidFill>
                  <a:latin typeface="Arimo"/>
                  <a:ea typeface="Arimo"/>
                  <a:cs typeface="Arimo"/>
                  <a:sym typeface="Arimo"/>
                </a:rPr>
                <a:t>CII</a:t>
              </a:r>
            </a:p>
          </p:txBody>
        </p:sp>
      </p:grpSp>
      <p:grpSp>
        <p:nvGrpSpPr>
          <p:cNvPr name="Group 56" id="56"/>
          <p:cNvGrpSpPr/>
          <p:nvPr/>
        </p:nvGrpSpPr>
        <p:grpSpPr>
          <a:xfrm rot="0">
            <a:off x="950595" y="7328535"/>
            <a:ext cx="16341090" cy="1596390"/>
            <a:chOff x="0" y="0"/>
            <a:chExt cx="21788120" cy="2128520"/>
          </a:xfrm>
        </p:grpSpPr>
        <p:sp>
          <p:nvSpPr>
            <p:cNvPr name="Freeform 57" id="57"/>
            <p:cNvSpPr/>
            <p:nvPr/>
          </p:nvSpPr>
          <p:spPr>
            <a:xfrm flipH="false" flipV="false" rot="0">
              <a:off x="0" y="0"/>
              <a:ext cx="21788120" cy="2128520"/>
            </a:xfrm>
            <a:custGeom>
              <a:avLst/>
              <a:gdLst/>
              <a:ahLst/>
              <a:cxnLst/>
              <a:rect r="r" b="b" t="t" l="l"/>
              <a:pathLst>
                <a:path h="2128520" w="21788120">
                  <a:moveTo>
                    <a:pt x="0" y="185039"/>
                  </a:moveTo>
                  <a:cubicBezTo>
                    <a:pt x="0" y="82931"/>
                    <a:pt x="82931" y="0"/>
                    <a:pt x="185039" y="0"/>
                  </a:cubicBezTo>
                  <a:lnTo>
                    <a:pt x="21603081" y="0"/>
                  </a:lnTo>
                  <a:cubicBezTo>
                    <a:pt x="21705317" y="0"/>
                    <a:pt x="21788120" y="82931"/>
                    <a:pt x="21788120" y="185039"/>
                  </a:cubicBezTo>
                  <a:lnTo>
                    <a:pt x="21788120" y="1943481"/>
                  </a:lnTo>
                  <a:cubicBezTo>
                    <a:pt x="21788120" y="2045716"/>
                    <a:pt x="21705190" y="2128520"/>
                    <a:pt x="21603081" y="2128520"/>
                  </a:cubicBezTo>
                  <a:lnTo>
                    <a:pt x="185039" y="2128520"/>
                  </a:lnTo>
                  <a:cubicBezTo>
                    <a:pt x="82931" y="2128520"/>
                    <a:pt x="0" y="2045589"/>
                    <a:pt x="0" y="1943481"/>
                  </a:cubicBezTo>
                  <a:close/>
                </a:path>
              </a:pathLst>
            </a:custGeom>
            <a:solidFill>
              <a:srgbClr val="FBF9F4"/>
            </a:solidFill>
            <a:ln w="19050" cap="sq">
              <a:solidFill>
                <a:srgbClr val="EFE6D2"/>
              </a:solidFill>
              <a:prstDash val="solid"/>
              <a:miter/>
            </a:ln>
          </p:spPr>
        </p:sp>
      </p:grpSp>
      <p:sp>
        <p:nvSpPr>
          <p:cNvPr name="TextBox 58" id="58"/>
          <p:cNvSpPr txBox="true"/>
          <p:nvPr/>
        </p:nvSpPr>
        <p:spPr>
          <a:xfrm rot="0">
            <a:off x="1463040" y="7494270"/>
            <a:ext cx="15316200" cy="1238250"/>
          </a:xfrm>
          <a:prstGeom prst="rect">
            <a:avLst/>
          </a:prstGeom>
        </p:spPr>
        <p:txBody>
          <a:bodyPr anchor="t" rtlCol="false" tIns="0" lIns="0" bIns="0" rIns="0">
            <a:spAutoFit/>
          </a:bodyPr>
          <a:lstStyle/>
          <a:p>
            <a:pPr algn="l">
              <a:lnSpc>
                <a:spcPts val="2764"/>
              </a:lnSpc>
            </a:pPr>
            <a:r>
              <a:rPr lang="en-US" sz="1800">
                <a:solidFill>
                  <a:srgbClr val="23262F"/>
                </a:solidFill>
                <a:latin typeface="Calibri (MS)"/>
                <a:ea typeface="Calibri (MS)"/>
                <a:cs typeface="Calibri (MS)"/>
                <a:sym typeface="Calibri (MS)"/>
              </a:rPr>
              <a:t>That's the Department of Information and Communications Technology (DICT), created by RA 10844 (the DICT Act of 2015) — the agency that sets national ICT and cybersecurity policy that provincial offices align to.</a:t>
            </a:r>
          </a:p>
        </p:txBody>
      </p:sp>
      <p:grpSp>
        <p:nvGrpSpPr>
          <p:cNvPr name="Group 59" id="59"/>
          <p:cNvGrpSpPr/>
          <p:nvPr/>
        </p:nvGrpSpPr>
        <p:grpSpPr>
          <a:xfrm rot="0">
            <a:off x="685800" y="9710928"/>
            <a:ext cx="10972800" cy="411480"/>
            <a:chOff x="0" y="0"/>
            <a:chExt cx="14630400" cy="548640"/>
          </a:xfrm>
        </p:grpSpPr>
        <p:sp>
          <p:nvSpPr>
            <p:cNvPr name="Freeform 60" id="60"/>
            <p:cNvSpPr/>
            <p:nvPr/>
          </p:nvSpPr>
          <p:spPr>
            <a:xfrm flipH="false" flipV="false" rot="0">
              <a:off x="0" y="0"/>
              <a:ext cx="14630400" cy="548640"/>
            </a:xfrm>
            <a:custGeom>
              <a:avLst/>
              <a:gdLst/>
              <a:ahLst/>
              <a:cxnLst/>
              <a:rect r="r" b="b" t="t" l="l"/>
              <a:pathLst>
                <a:path h="548640" w="14630400">
                  <a:moveTo>
                    <a:pt x="0" y="0"/>
                  </a:moveTo>
                  <a:lnTo>
                    <a:pt x="14630400" y="0"/>
                  </a:lnTo>
                  <a:lnTo>
                    <a:pt x="14630400" y="548640"/>
                  </a:lnTo>
                  <a:lnTo>
                    <a:pt x="0" y="548640"/>
                  </a:lnTo>
                  <a:close/>
                </a:path>
              </a:pathLst>
            </a:custGeom>
            <a:blipFill>
              <a:blip r:embed="rId2">
                <a:alphaModFix amt="0"/>
              </a:blip>
              <a:stretch>
                <a:fillRect l="0" t="-469601" r="0" b="-469601"/>
              </a:stretch>
            </a:blipFill>
          </p:spPr>
        </p:sp>
        <p:sp>
          <p:nvSpPr>
            <p:cNvPr name="TextBox 61" id="61"/>
            <p:cNvSpPr txBox="true"/>
            <p:nvPr/>
          </p:nvSpPr>
          <p:spPr>
            <a:xfrm>
              <a:off x="0" y="-38100"/>
              <a:ext cx="14630400" cy="586740"/>
            </a:xfrm>
            <a:prstGeom prst="rect">
              <a:avLst/>
            </a:prstGeom>
          </p:spPr>
          <p:txBody>
            <a:bodyPr anchor="ctr" rtlCol="false" tIns="0" lIns="0" bIns="0" rIns="0"/>
            <a:lstStyle/>
            <a:p>
              <a:pPr algn="l">
                <a:lnSpc>
                  <a:spcPts val="1800"/>
                </a:lnSpc>
              </a:pPr>
              <a:r>
                <a:rPr lang="en-US" sz="1500">
                  <a:solidFill>
                    <a:srgbClr val="6B7280"/>
                  </a:solidFill>
                  <a:latin typeface="Calibri (MS)"/>
                  <a:ea typeface="Calibri (MS)"/>
                  <a:cs typeface="Calibri (MS)"/>
                  <a:sym typeface="Calibri (MS)"/>
                </a:rPr>
                <a:t>Davao del Norte Provincial Government — Cybersecurity Seminar</a:t>
              </a:r>
            </a:p>
          </p:txBody>
        </p:sp>
      </p:grpSp>
      <p:grpSp>
        <p:nvGrpSpPr>
          <p:cNvPr name="Group 62" id="62"/>
          <p:cNvGrpSpPr/>
          <p:nvPr/>
        </p:nvGrpSpPr>
        <p:grpSpPr>
          <a:xfrm rot="0">
            <a:off x="16911828" y="9710928"/>
            <a:ext cx="685800" cy="411480"/>
            <a:chOff x="0" y="0"/>
            <a:chExt cx="914400" cy="548640"/>
          </a:xfrm>
        </p:grpSpPr>
        <p:sp>
          <p:nvSpPr>
            <p:cNvPr name="Freeform 63" id="63"/>
            <p:cNvSpPr/>
            <p:nvPr/>
          </p:nvSpPr>
          <p:spPr>
            <a:xfrm flipH="false" flipV="false" rot="0">
              <a:off x="0" y="0"/>
              <a:ext cx="914400" cy="548640"/>
            </a:xfrm>
            <a:custGeom>
              <a:avLst/>
              <a:gdLst/>
              <a:ahLst/>
              <a:cxnLst/>
              <a:rect r="r" b="b" t="t" l="l"/>
              <a:pathLst>
                <a:path h="548640" w="914400">
                  <a:moveTo>
                    <a:pt x="0" y="0"/>
                  </a:moveTo>
                  <a:lnTo>
                    <a:pt x="914400" y="0"/>
                  </a:lnTo>
                  <a:lnTo>
                    <a:pt x="914400" y="548640"/>
                  </a:lnTo>
                  <a:lnTo>
                    <a:pt x="0" y="548640"/>
                  </a:lnTo>
                  <a:close/>
                </a:path>
              </a:pathLst>
            </a:custGeom>
            <a:blipFill>
              <a:blip r:embed="rId2">
                <a:alphaModFix amt="0"/>
              </a:blip>
              <a:stretch>
                <a:fillRect l="-26982" t="0" r="-26982" b="0"/>
              </a:stretch>
            </a:blipFill>
          </p:spPr>
        </p:sp>
        <p:sp>
          <p:nvSpPr>
            <p:cNvPr name="TextBox 64" id="64"/>
            <p:cNvSpPr txBox="true"/>
            <p:nvPr/>
          </p:nvSpPr>
          <p:spPr>
            <a:xfrm>
              <a:off x="0" y="-38100"/>
              <a:ext cx="914400" cy="586740"/>
            </a:xfrm>
            <a:prstGeom prst="rect">
              <a:avLst/>
            </a:prstGeom>
          </p:spPr>
          <p:txBody>
            <a:bodyPr anchor="ctr" rtlCol="false" tIns="0" lIns="0" bIns="0" rIns="0"/>
            <a:lstStyle/>
            <a:p>
              <a:pPr algn="r">
                <a:lnSpc>
                  <a:spcPts val="1800"/>
                </a:lnSpc>
              </a:pPr>
              <a:r>
                <a:rPr lang="en-US" sz="1500">
                  <a:solidFill>
                    <a:srgbClr val="6B7280"/>
                  </a:solidFill>
                  <a:latin typeface="Calibri (MS)"/>
                  <a:ea typeface="Calibri (MS)"/>
                  <a:cs typeface="Calibri (MS)"/>
                  <a:sym typeface="Calibri (MS)"/>
                </a:rPr>
                <a:t>34</a:t>
              </a:r>
            </a:p>
          </p:txBody>
        </p:sp>
      </p:grpSp>
    </p:spTree>
  </p:cSld>
  <p:clrMapOvr>
    <a:masterClrMapping/>
  </p:clrMapOvr>
</p:sld>
</file>

<file path=ppt/slides/slide15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60120" y="685800"/>
            <a:ext cx="13716000" cy="411480"/>
            <a:chOff x="0" y="0"/>
            <a:chExt cx="18288000" cy="548640"/>
          </a:xfrm>
        </p:grpSpPr>
        <p:sp>
          <p:nvSpPr>
            <p:cNvPr name="Freeform 3" id="3"/>
            <p:cNvSpPr/>
            <p:nvPr/>
          </p:nvSpPr>
          <p:spPr>
            <a:xfrm flipH="false" flipV="false" rot="0">
              <a:off x="0" y="0"/>
              <a:ext cx="18288000" cy="548640"/>
            </a:xfrm>
            <a:custGeom>
              <a:avLst/>
              <a:gdLst/>
              <a:ahLst/>
              <a:cxnLst/>
              <a:rect r="r" b="b" t="t" l="l"/>
              <a:pathLst>
                <a:path h="548640" w="18288000">
                  <a:moveTo>
                    <a:pt x="0" y="0"/>
                  </a:moveTo>
                  <a:lnTo>
                    <a:pt x="18288000" y="0"/>
                  </a:lnTo>
                  <a:lnTo>
                    <a:pt x="18288000" y="548640"/>
                  </a:lnTo>
                  <a:lnTo>
                    <a:pt x="0" y="548640"/>
                  </a:lnTo>
                  <a:close/>
                </a:path>
              </a:pathLst>
            </a:custGeom>
            <a:blipFill>
              <a:blip r:embed="rId2">
                <a:alphaModFix amt="0"/>
              </a:blip>
              <a:stretch>
                <a:fillRect l="0" t="-599501" r="0" b="-599501"/>
              </a:stretch>
            </a:blipFill>
          </p:spPr>
        </p:sp>
        <p:sp>
          <p:nvSpPr>
            <p:cNvPr name="TextBox 4" id="4"/>
            <p:cNvSpPr txBox="true"/>
            <p:nvPr/>
          </p:nvSpPr>
          <p:spPr>
            <a:xfrm>
              <a:off x="0" y="-38100"/>
              <a:ext cx="18288000" cy="586740"/>
            </a:xfrm>
            <a:prstGeom prst="rect">
              <a:avLst/>
            </a:prstGeom>
          </p:spPr>
          <p:txBody>
            <a:bodyPr anchor="ctr" rtlCol="false" tIns="0" lIns="0" bIns="0" rIns="0"/>
            <a:lstStyle/>
            <a:p>
              <a:pPr algn="l">
                <a:lnSpc>
                  <a:spcPts val="2160"/>
                </a:lnSpc>
              </a:pPr>
              <a:r>
                <a:rPr lang="en-US" b="true" sz="1800" spc="225">
                  <a:solidFill>
                    <a:srgbClr val="00B4D8"/>
                  </a:solidFill>
                  <a:latin typeface="Calibri (MS) Bold"/>
                  <a:ea typeface="Calibri (MS) Bold"/>
                  <a:cs typeface="Calibri (MS) Bold"/>
                  <a:sym typeface="Calibri (MS) Bold"/>
                </a:rPr>
                <a:t>PH CYBER LAW SORT · SCENARIO</a:t>
              </a:r>
            </a:p>
          </p:txBody>
        </p:sp>
      </p:grpSp>
      <p:grpSp>
        <p:nvGrpSpPr>
          <p:cNvPr name="Group 5" id="5"/>
          <p:cNvGrpSpPr/>
          <p:nvPr/>
        </p:nvGrpSpPr>
        <p:grpSpPr>
          <a:xfrm rot="0">
            <a:off x="960120" y="1069848"/>
            <a:ext cx="10972800" cy="822960"/>
            <a:chOff x="0" y="0"/>
            <a:chExt cx="14630400" cy="1097280"/>
          </a:xfrm>
        </p:grpSpPr>
        <p:sp>
          <p:nvSpPr>
            <p:cNvPr name="Freeform 6" id="6"/>
            <p:cNvSpPr/>
            <p:nvPr/>
          </p:nvSpPr>
          <p:spPr>
            <a:xfrm flipH="false" flipV="false" rot="0">
              <a:off x="0" y="0"/>
              <a:ext cx="14630400" cy="1097280"/>
            </a:xfrm>
            <a:custGeom>
              <a:avLst/>
              <a:gdLst/>
              <a:ahLst/>
              <a:cxnLst/>
              <a:rect r="r" b="b" t="t" l="l"/>
              <a:pathLst>
                <a:path h="1097280" w="14630400">
                  <a:moveTo>
                    <a:pt x="0" y="0"/>
                  </a:moveTo>
                  <a:lnTo>
                    <a:pt x="14630400" y="0"/>
                  </a:lnTo>
                  <a:lnTo>
                    <a:pt x="14630400" y="1097280"/>
                  </a:lnTo>
                  <a:lnTo>
                    <a:pt x="0" y="1097280"/>
                  </a:lnTo>
                  <a:close/>
                </a:path>
              </a:pathLst>
            </a:custGeom>
            <a:blipFill>
              <a:blip r:embed="rId2">
                <a:alphaModFix amt="0"/>
              </a:blip>
              <a:stretch>
                <a:fillRect l="0" t="-209800" r="0" b="-209800"/>
              </a:stretch>
            </a:blipFill>
          </p:spPr>
        </p:sp>
        <p:sp>
          <p:nvSpPr>
            <p:cNvPr name="TextBox 7" id="7"/>
            <p:cNvSpPr txBox="true"/>
            <p:nvPr/>
          </p:nvSpPr>
          <p:spPr>
            <a:xfrm>
              <a:off x="0" y="0"/>
              <a:ext cx="14630400" cy="1097280"/>
            </a:xfrm>
            <a:prstGeom prst="rect">
              <a:avLst/>
            </a:prstGeom>
          </p:spPr>
          <p:txBody>
            <a:bodyPr anchor="ctr" rtlCol="false" tIns="0" lIns="0" bIns="0" rIns="0"/>
            <a:lstStyle/>
            <a:p>
              <a:pPr algn="l">
                <a:lnSpc>
                  <a:spcPts val="4680"/>
                </a:lnSpc>
              </a:pPr>
              <a:r>
                <a:rPr lang="en-US" sz="3900" b="true">
                  <a:solidFill>
                    <a:srgbClr val="1E2761"/>
                  </a:solidFill>
                  <a:latin typeface="Cambria Bold"/>
                  <a:ea typeface="Cambria Bold"/>
                  <a:cs typeface="Cambria Bold"/>
                  <a:sym typeface="Cambria Bold"/>
                </a:rPr>
                <a:t>Scenario 13</a:t>
              </a:r>
            </a:p>
          </p:txBody>
        </p:sp>
      </p:grpSp>
      <p:grpSp>
        <p:nvGrpSpPr>
          <p:cNvPr name="Group 8" id="8"/>
          <p:cNvGrpSpPr/>
          <p:nvPr/>
        </p:nvGrpSpPr>
        <p:grpSpPr>
          <a:xfrm rot="0">
            <a:off x="960120" y="1810512"/>
            <a:ext cx="8229600" cy="411480"/>
            <a:chOff x="0" y="0"/>
            <a:chExt cx="10972800" cy="548640"/>
          </a:xfrm>
        </p:grpSpPr>
        <p:sp>
          <p:nvSpPr>
            <p:cNvPr name="Freeform 9" id="9"/>
            <p:cNvSpPr/>
            <p:nvPr/>
          </p:nvSpPr>
          <p:spPr>
            <a:xfrm flipH="false" flipV="false" rot="0">
              <a:off x="0" y="0"/>
              <a:ext cx="10972800" cy="548640"/>
            </a:xfrm>
            <a:custGeom>
              <a:avLst/>
              <a:gdLst/>
              <a:ahLst/>
              <a:cxnLst/>
              <a:rect r="r" b="b" t="t" l="l"/>
              <a:pathLst>
                <a:path h="548640" w="10972800">
                  <a:moveTo>
                    <a:pt x="0" y="0"/>
                  </a:moveTo>
                  <a:lnTo>
                    <a:pt x="10972800" y="0"/>
                  </a:lnTo>
                  <a:lnTo>
                    <a:pt x="10972800" y="548640"/>
                  </a:lnTo>
                  <a:lnTo>
                    <a:pt x="0" y="548640"/>
                  </a:lnTo>
                  <a:close/>
                </a:path>
              </a:pathLst>
            </a:custGeom>
            <a:blipFill>
              <a:blip r:embed="rId2">
                <a:alphaModFix amt="0"/>
              </a:blip>
              <a:stretch>
                <a:fillRect l="0" t="-339700" r="0" b="-339700"/>
              </a:stretch>
            </a:blipFill>
          </p:spPr>
        </p:sp>
        <p:sp>
          <p:nvSpPr>
            <p:cNvPr name="TextBox 10" id="10"/>
            <p:cNvSpPr txBox="true"/>
            <p:nvPr/>
          </p:nvSpPr>
          <p:spPr>
            <a:xfrm>
              <a:off x="0" y="-28575"/>
              <a:ext cx="10972800" cy="577215"/>
            </a:xfrm>
            <a:prstGeom prst="rect">
              <a:avLst/>
            </a:prstGeom>
          </p:spPr>
          <p:txBody>
            <a:bodyPr anchor="ctr" rtlCol="false" tIns="0" lIns="0" bIns="0" rIns="0"/>
            <a:lstStyle/>
            <a:p>
              <a:pPr algn="l">
                <a:lnSpc>
                  <a:spcPts val="1980"/>
                </a:lnSpc>
              </a:pPr>
              <a:r>
                <a:rPr lang="en-US" sz="1650">
                  <a:solidFill>
                    <a:srgbClr val="6B7280"/>
                  </a:solidFill>
                  <a:latin typeface="Calibri (MS)"/>
                  <a:ea typeface="Calibri (MS)"/>
                  <a:cs typeface="Calibri (MS)"/>
                  <a:sym typeface="Calibri (MS)"/>
                </a:rPr>
                <a:t>13 of 15</a:t>
              </a:r>
            </a:p>
          </p:txBody>
        </p:sp>
      </p:grpSp>
      <p:grpSp>
        <p:nvGrpSpPr>
          <p:cNvPr name="Group 11" id="11"/>
          <p:cNvGrpSpPr/>
          <p:nvPr/>
        </p:nvGrpSpPr>
        <p:grpSpPr>
          <a:xfrm rot="0">
            <a:off x="960120" y="2537460"/>
            <a:ext cx="16322040" cy="2811780"/>
            <a:chOff x="0" y="0"/>
            <a:chExt cx="21762720" cy="3749040"/>
          </a:xfrm>
        </p:grpSpPr>
        <p:sp>
          <p:nvSpPr>
            <p:cNvPr name="Freeform 12" id="12"/>
            <p:cNvSpPr/>
            <p:nvPr/>
          </p:nvSpPr>
          <p:spPr>
            <a:xfrm flipH="false" flipV="false" rot="0">
              <a:off x="0" y="0"/>
              <a:ext cx="21762720" cy="3749040"/>
            </a:xfrm>
            <a:custGeom>
              <a:avLst/>
              <a:gdLst/>
              <a:ahLst/>
              <a:cxnLst/>
              <a:rect r="r" b="b" t="t" l="l"/>
              <a:pathLst>
                <a:path h="3749040" w="21762720">
                  <a:moveTo>
                    <a:pt x="0" y="182880"/>
                  </a:moveTo>
                  <a:cubicBezTo>
                    <a:pt x="0" y="81915"/>
                    <a:pt x="81915" y="0"/>
                    <a:pt x="182880" y="0"/>
                  </a:cubicBezTo>
                  <a:lnTo>
                    <a:pt x="21579839" y="0"/>
                  </a:lnTo>
                  <a:cubicBezTo>
                    <a:pt x="21680804" y="0"/>
                    <a:pt x="21762720" y="81915"/>
                    <a:pt x="21762720" y="182880"/>
                  </a:cubicBezTo>
                  <a:lnTo>
                    <a:pt x="21762720" y="3566160"/>
                  </a:lnTo>
                  <a:cubicBezTo>
                    <a:pt x="21762720" y="3667125"/>
                    <a:pt x="21680804" y="3749040"/>
                    <a:pt x="21579839" y="3749040"/>
                  </a:cubicBezTo>
                  <a:lnTo>
                    <a:pt x="182880" y="3749040"/>
                  </a:lnTo>
                  <a:cubicBezTo>
                    <a:pt x="81915" y="3749040"/>
                    <a:pt x="0" y="3667125"/>
                    <a:pt x="0" y="3566160"/>
                  </a:cubicBezTo>
                  <a:close/>
                </a:path>
              </a:pathLst>
            </a:custGeom>
            <a:solidFill>
              <a:srgbClr val="F4F7FC"/>
            </a:solidFill>
          </p:spPr>
        </p:sp>
      </p:grpSp>
      <p:grpSp>
        <p:nvGrpSpPr>
          <p:cNvPr name="Group 13" id="13"/>
          <p:cNvGrpSpPr/>
          <p:nvPr/>
        </p:nvGrpSpPr>
        <p:grpSpPr>
          <a:xfrm rot="0">
            <a:off x="1440180" y="2811780"/>
            <a:ext cx="15361920" cy="2263140"/>
            <a:chOff x="0" y="0"/>
            <a:chExt cx="20482560" cy="3017520"/>
          </a:xfrm>
        </p:grpSpPr>
        <p:sp>
          <p:nvSpPr>
            <p:cNvPr name="Freeform 14" id="14"/>
            <p:cNvSpPr/>
            <p:nvPr/>
          </p:nvSpPr>
          <p:spPr>
            <a:xfrm flipH="false" flipV="false" rot="0">
              <a:off x="0" y="0"/>
              <a:ext cx="20482561" cy="3017520"/>
            </a:xfrm>
            <a:custGeom>
              <a:avLst/>
              <a:gdLst/>
              <a:ahLst/>
              <a:cxnLst/>
              <a:rect r="r" b="b" t="t" l="l"/>
              <a:pathLst>
                <a:path h="3017520" w="20482561">
                  <a:moveTo>
                    <a:pt x="0" y="0"/>
                  </a:moveTo>
                  <a:lnTo>
                    <a:pt x="20482561" y="0"/>
                  </a:lnTo>
                  <a:lnTo>
                    <a:pt x="20482561" y="3017520"/>
                  </a:lnTo>
                  <a:lnTo>
                    <a:pt x="0" y="3017520"/>
                  </a:lnTo>
                  <a:close/>
                </a:path>
              </a:pathLst>
            </a:custGeom>
            <a:blipFill>
              <a:blip r:embed="rId2">
                <a:alphaModFix amt="0"/>
              </a:blip>
              <a:stretch>
                <a:fillRect l="0" t="-82262" r="0" b="-82262"/>
              </a:stretch>
            </a:blipFill>
          </p:spPr>
        </p:sp>
        <p:sp>
          <p:nvSpPr>
            <p:cNvPr name="TextBox 15" id="15"/>
            <p:cNvSpPr txBox="true"/>
            <p:nvPr/>
          </p:nvSpPr>
          <p:spPr>
            <a:xfrm>
              <a:off x="0" y="-104775"/>
              <a:ext cx="20482560" cy="3122295"/>
            </a:xfrm>
            <a:prstGeom prst="rect">
              <a:avLst/>
            </a:prstGeom>
          </p:spPr>
          <p:txBody>
            <a:bodyPr anchor="ctr" rtlCol="false" tIns="0" lIns="0" bIns="0" rIns="0"/>
            <a:lstStyle/>
            <a:p>
              <a:pPr algn="l">
                <a:lnSpc>
                  <a:spcPts val="4147"/>
                </a:lnSpc>
              </a:pPr>
              <a:r>
                <a:rPr lang="en-US" sz="2700" i="true">
                  <a:solidFill>
                    <a:srgbClr val="23262F"/>
                  </a:solidFill>
                  <a:latin typeface="Cambria Italics"/>
                  <a:ea typeface="Cambria Italics"/>
                  <a:cs typeface="Cambria Italics"/>
                  <a:sym typeface="Cambria Italics"/>
                </a:rPr>
                <a:t>"The provincial IT officer wants to see the government's current national roadmap and priorities for cybersecurity over the next several years."</a:t>
              </a:r>
            </a:p>
          </p:txBody>
        </p:sp>
      </p:grpSp>
      <p:sp>
        <p:nvSpPr>
          <p:cNvPr name="TextBox 16" id="16"/>
          <p:cNvSpPr txBox="true"/>
          <p:nvPr/>
        </p:nvSpPr>
        <p:spPr>
          <a:xfrm rot="0">
            <a:off x="1051560" y="5604510"/>
            <a:ext cx="16139160" cy="864870"/>
          </a:xfrm>
          <a:prstGeom prst="rect">
            <a:avLst/>
          </a:prstGeom>
        </p:spPr>
        <p:txBody>
          <a:bodyPr anchor="t" rtlCol="false" tIns="0" lIns="0" bIns="0" rIns="0">
            <a:spAutoFit/>
          </a:bodyPr>
          <a:lstStyle/>
          <a:p>
            <a:pPr algn="ctr">
              <a:lnSpc>
                <a:spcPts val="3402"/>
              </a:lnSpc>
            </a:pPr>
            <a:r>
              <a:rPr lang="en-US" sz="2100" i="true">
                <a:solidFill>
                  <a:srgbClr val="6B7280"/>
                </a:solidFill>
                <a:latin typeface="Calibri (MS) Italics"/>
                <a:ea typeface="Calibri (MS) Italics"/>
                <a:cs typeface="Calibri (MS) Italics"/>
                <a:sym typeface="Calibri (MS) Italics"/>
              </a:rPr>
              <a:t>Which law or DICT issuance governs this? Discuss, then we'll reveal the answer.</a:t>
            </a:r>
          </a:p>
        </p:txBody>
      </p:sp>
      <p:grpSp>
        <p:nvGrpSpPr>
          <p:cNvPr name="Group 17" id="17"/>
          <p:cNvGrpSpPr/>
          <p:nvPr/>
        </p:nvGrpSpPr>
        <p:grpSpPr>
          <a:xfrm rot="0">
            <a:off x="950595" y="6779895"/>
            <a:ext cx="5162550" cy="910590"/>
            <a:chOff x="0" y="0"/>
            <a:chExt cx="6883400" cy="1214120"/>
          </a:xfrm>
        </p:grpSpPr>
        <p:sp>
          <p:nvSpPr>
            <p:cNvPr name="Freeform 18" id="18"/>
            <p:cNvSpPr/>
            <p:nvPr/>
          </p:nvSpPr>
          <p:spPr>
            <a:xfrm flipH="false" flipV="false" rot="0">
              <a:off x="0" y="0"/>
              <a:ext cx="6883400" cy="1214120"/>
            </a:xfrm>
            <a:custGeom>
              <a:avLst/>
              <a:gdLst/>
              <a:ahLst/>
              <a:cxnLst/>
              <a:rect r="r" b="b" t="t" l="l"/>
              <a:pathLst>
                <a:path h="1214120" w="6883400">
                  <a:moveTo>
                    <a:pt x="0" y="168148"/>
                  </a:moveTo>
                  <a:cubicBezTo>
                    <a:pt x="0" y="75311"/>
                    <a:pt x="75311" y="0"/>
                    <a:pt x="168148" y="0"/>
                  </a:cubicBezTo>
                  <a:lnTo>
                    <a:pt x="6715252" y="0"/>
                  </a:lnTo>
                  <a:cubicBezTo>
                    <a:pt x="6808089" y="0"/>
                    <a:pt x="6883400" y="75311"/>
                    <a:pt x="6883400" y="168148"/>
                  </a:cubicBezTo>
                  <a:lnTo>
                    <a:pt x="6883400" y="1045972"/>
                  </a:lnTo>
                  <a:cubicBezTo>
                    <a:pt x="6883400" y="1138809"/>
                    <a:pt x="6808089" y="1214120"/>
                    <a:pt x="6715252" y="1214120"/>
                  </a:cubicBezTo>
                  <a:lnTo>
                    <a:pt x="168148" y="1214120"/>
                  </a:lnTo>
                  <a:cubicBezTo>
                    <a:pt x="75311" y="1214120"/>
                    <a:pt x="0" y="1138809"/>
                    <a:pt x="0" y="1045972"/>
                  </a:cubicBezTo>
                  <a:close/>
                </a:path>
              </a:pathLst>
            </a:custGeom>
            <a:solidFill>
              <a:srgbClr val="F4F7FC"/>
            </a:solidFill>
            <a:ln w="19050" cap="sq">
              <a:solidFill>
                <a:srgbClr val="D7DCEC"/>
              </a:solidFill>
              <a:prstDash val="solid"/>
              <a:miter/>
            </a:ln>
          </p:spPr>
        </p:sp>
      </p:grpSp>
      <p:grpSp>
        <p:nvGrpSpPr>
          <p:cNvPr name="Group 19" id="19"/>
          <p:cNvGrpSpPr/>
          <p:nvPr/>
        </p:nvGrpSpPr>
        <p:grpSpPr>
          <a:xfrm rot="0">
            <a:off x="960120" y="6858000"/>
            <a:ext cx="5143500" cy="589788"/>
            <a:chOff x="0" y="0"/>
            <a:chExt cx="6858000" cy="786384"/>
          </a:xfrm>
        </p:grpSpPr>
        <p:sp>
          <p:nvSpPr>
            <p:cNvPr name="Freeform 20" id="20"/>
            <p:cNvSpPr/>
            <p:nvPr/>
          </p:nvSpPr>
          <p:spPr>
            <a:xfrm flipH="false" flipV="false" rot="0">
              <a:off x="0" y="0"/>
              <a:ext cx="6858000" cy="786384"/>
            </a:xfrm>
            <a:custGeom>
              <a:avLst/>
              <a:gdLst/>
              <a:ahLst/>
              <a:cxnLst/>
              <a:rect r="r" b="b" t="t" l="l"/>
              <a:pathLst>
                <a:path h="786384" w="6858000">
                  <a:moveTo>
                    <a:pt x="0" y="0"/>
                  </a:moveTo>
                  <a:lnTo>
                    <a:pt x="6858000" y="0"/>
                  </a:lnTo>
                  <a:lnTo>
                    <a:pt x="6858000" y="786384"/>
                  </a:lnTo>
                  <a:lnTo>
                    <a:pt x="0" y="786384"/>
                  </a:lnTo>
                  <a:close/>
                </a:path>
              </a:pathLst>
            </a:custGeom>
            <a:blipFill>
              <a:blip r:embed="rId2">
                <a:alphaModFix amt="0"/>
              </a:blip>
              <a:stretch>
                <a:fillRect l="0" t="-119927" r="0" b="-119927"/>
              </a:stretch>
            </a:blipFill>
          </p:spPr>
        </p:sp>
        <p:sp>
          <p:nvSpPr>
            <p:cNvPr name="TextBox 21" id="21"/>
            <p:cNvSpPr txBox="true"/>
            <p:nvPr/>
          </p:nvSpPr>
          <p:spPr>
            <a:xfrm>
              <a:off x="0" y="-38100"/>
              <a:ext cx="6858000" cy="824484"/>
            </a:xfrm>
            <a:prstGeom prst="rect">
              <a:avLst/>
            </a:prstGeom>
          </p:spPr>
          <p:txBody>
            <a:bodyPr anchor="ctr" rtlCol="false" tIns="0" lIns="0" bIns="0" rIns="0"/>
            <a:lstStyle/>
            <a:p>
              <a:pPr algn="ctr">
                <a:lnSpc>
                  <a:spcPts val="2250"/>
                </a:lnSpc>
              </a:pPr>
              <a:r>
                <a:rPr lang="en-US" sz="1875">
                  <a:solidFill>
                    <a:srgbClr val="6B7280"/>
                  </a:solidFill>
                  <a:latin typeface="Calibri (MS)"/>
                  <a:ea typeface="Calibri (MS)"/>
                  <a:cs typeface="Calibri (MS)"/>
                  <a:sym typeface="Calibri (MS)"/>
                </a:rPr>
                <a:t>E-Commerce Act</a:t>
              </a:r>
            </a:p>
          </p:txBody>
        </p:sp>
      </p:grpSp>
      <p:grpSp>
        <p:nvGrpSpPr>
          <p:cNvPr name="Group 22" id="22"/>
          <p:cNvGrpSpPr/>
          <p:nvPr/>
        </p:nvGrpSpPr>
        <p:grpSpPr>
          <a:xfrm rot="0">
            <a:off x="960120" y="7296912"/>
            <a:ext cx="5143500" cy="329184"/>
            <a:chOff x="0" y="0"/>
            <a:chExt cx="6858000" cy="438912"/>
          </a:xfrm>
        </p:grpSpPr>
        <p:sp>
          <p:nvSpPr>
            <p:cNvPr name="Freeform 23" id="23"/>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24" id="24"/>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9AA3B8"/>
                  </a:solidFill>
                  <a:latin typeface="Arimo"/>
                  <a:ea typeface="Arimo"/>
                  <a:cs typeface="Arimo"/>
                  <a:sym typeface="Arimo"/>
                </a:rPr>
                <a:t>ECA</a:t>
              </a:r>
            </a:p>
          </p:txBody>
        </p:sp>
      </p:grpSp>
      <p:grpSp>
        <p:nvGrpSpPr>
          <p:cNvPr name="Group 25" id="25"/>
          <p:cNvGrpSpPr/>
          <p:nvPr/>
        </p:nvGrpSpPr>
        <p:grpSpPr>
          <a:xfrm rot="0">
            <a:off x="6533007" y="6779895"/>
            <a:ext cx="5162550" cy="910590"/>
            <a:chOff x="0" y="0"/>
            <a:chExt cx="6883400" cy="1214120"/>
          </a:xfrm>
        </p:grpSpPr>
        <p:sp>
          <p:nvSpPr>
            <p:cNvPr name="Freeform 26" id="26"/>
            <p:cNvSpPr/>
            <p:nvPr/>
          </p:nvSpPr>
          <p:spPr>
            <a:xfrm flipH="false" flipV="false" rot="0">
              <a:off x="0" y="0"/>
              <a:ext cx="6883400" cy="1214120"/>
            </a:xfrm>
            <a:custGeom>
              <a:avLst/>
              <a:gdLst/>
              <a:ahLst/>
              <a:cxnLst/>
              <a:rect r="r" b="b" t="t" l="l"/>
              <a:pathLst>
                <a:path h="1214120" w="6883400">
                  <a:moveTo>
                    <a:pt x="0" y="168148"/>
                  </a:moveTo>
                  <a:cubicBezTo>
                    <a:pt x="0" y="75311"/>
                    <a:pt x="75311" y="0"/>
                    <a:pt x="168148" y="0"/>
                  </a:cubicBezTo>
                  <a:lnTo>
                    <a:pt x="6715252" y="0"/>
                  </a:lnTo>
                  <a:cubicBezTo>
                    <a:pt x="6808089" y="0"/>
                    <a:pt x="6883400" y="75311"/>
                    <a:pt x="6883400" y="168148"/>
                  </a:cubicBezTo>
                  <a:lnTo>
                    <a:pt x="6883400" y="1045972"/>
                  </a:lnTo>
                  <a:cubicBezTo>
                    <a:pt x="6883400" y="1138809"/>
                    <a:pt x="6808089" y="1214120"/>
                    <a:pt x="6715252" y="1214120"/>
                  </a:cubicBezTo>
                  <a:lnTo>
                    <a:pt x="168148" y="1214120"/>
                  </a:lnTo>
                  <a:cubicBezTo>
                    <a:pt x="75311" y="1214120"/>
                    <a:pt x="0" y="1138809"/>
                    <a:pt x="0" y="1045972"/>
                  </a:cubicBezTo>
                  <a:close/>
                </a:path>
              </a:pathLst>
            </a:custGeom>
            <a:solidFill>
              <a:srgbClr val="F4F7FC"/>
            </a:solidFill>
            <a:ln w="19050" cap="sq">
              <a:solidFill>
                <a:srgbClr val="D7DCEC"/>
              </a:solidFill>
              <a:prstDash val="solid"/>
              <a:miter/>
            </a:ln>
          </p:spPr>
        </p:sp>
      </p:grpSp>
      <p:grpSp>
        <p:nvGrpSpPr>
          <p:cNvPr name="Group 27" id="27"/>
          <p:cNvGrpSpPr/>
          <p:nvPr/>
        </p:nvGrpSpPr>
        <p:grpSpPr>
          <a:xfrm rot="0">
            <a:off x="6542532" y="6858000"/>
            <a:ext cx="5143500" cy="589788"/>
            <a:chOff x="0" y="0"/>
            <a:chExt cx="6858000" cy="786384"/>
          </a:xfrm>
        </p:grpSpPr>
        <p:sp>
          <p:nvSpPr>
            <p:cNvPr name="Freeform 28" id="28"/>
            <p:cNvSpPr/>
            <p:nvPr/>
          </p:nvSpPr>
          <p:spPr>
            <a:xfrm flipH="false" flipV="false" rot="0">
              <a:off x="0" y="0"/>
              <a:ext cx="6858000" cy="786384"/>
            </a:xfrm>
            <a:custGeom>
              <a:avLst/>
              <a:gdLst/>
              <a:ahLst/>
              <a:cxnLst/>
              <a:rect r="r" b="b" t="t" l="l"/>
              <a:pathLst>
                <a:path h="786384" w="6858000">
                  <a:moveTo>
                    <a:pt x="0" y="0"/>
                  </a:moveTo>
                  <a:lnTo>
                    <a:pt x="6858000" y="0"/>
                  </a:lnTo>
                  <a:lnTo>
                    <a:pt x="6858000" y="786384"/>
                  </a:lnTo>
                  <a:lnTo>
                    <a:pt x="0" y="786384"/>
                  </a:lnTo>
                  <a:close/>
                </a:path>
              </a:pathLst>
            </a:custGeom>
            <a:blipFill>
              <a:blip r:embed="rId2">
                <a:alphaModFix amt="0"/>
              </a:blip>
              <a:stretch>
                <a:fillRect l="0" t="-119927" r="0" b="-119927"/>
              </a:stretch>
            </a:blipFill>
          </p:spPr>
        </p:sp>
        <p:sp>
          <p:nvSpPr>
            <p:cNvPr name="TextBox 29" id="29"/>
            <p:cNvSpPr txBox="true"/>
            <p:nvPr/>
          </p:nvSpPr>
          <p:spPr>
            <a:xfrm>
              <a:off x="0" y="-38100"/>
              <a:ext cx="6858000" cy="824484"/>
            </a:xfrm>
            <a:prstGeom prst="rect">
              <a:avLst/>
            </a:prstGeom>
          </p:spPr>
          <p:txBody>
            <a:bodyPr anchor="ctr" rtlCol="false" tIns="0" lIns="0" bIns="0" rIns="0"/>
            <a:lstStyle/>
            <a:p>
              <a:pPr algn="ctr">
                <a:lnSpc>
                  <a:spcPts val="2250"/>
                </a:lnSpc>
              </a:pPr>
              <a:r>
                <a:rPr lang="en-US" sz="1875">
                  <a:solidFill>
                    <a:srgbClr val="6B7280"/>
                  </a:solidFill>
                  <a:latin typeface="Calibri (MS)"/>
                  <a:ea typeface="Calibri (MS)"/>
                  <a:cs typeface="Calibri (MS)"/>
                  <a:sym typeface="Calibri (MS)"/>
                </a:rPr>
                <a:t>Cybercrime Act</a:t>
              </a:r>
            </a:p>
          </p:txBody>
        </p:sp>
      </p:grpSp>
      <p:grpSp>
        <p:nvGrpSpPr>
          <p:cNvPr name="Group 30" id="30"/>
          <p:cNvGrpSpPr/>
          <p:nvPr/>
        </p:nvGrpSpPr>
        <p:grpSpPr>
          <a:xfrm rot="0">
            <a:off x="6542532" y="7296912"/>
            <a:ext cx="5143500" cy="329184"/>
            <a:chOff x="0" y="0"/>
            <a:chExt cx="6858000" cy="438912"/>
          </a:xfrm>
        </p:grpSpPr>
        <p:sp>
          <p:nvSpPr>
            <p:cNvPr name="Freeform 31" id="31"/>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32" id="32"/>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9AA3B8"/>
                  </a:solidFill>
                  <a:latin typeface="Arimo"/>
                  <a:ea typeface="Arimo"/>
                  <a:cs typeface="Arimo"/>
                  <a:sym typeface="Arimo"/>
                </a:rPr>
                <a:t>CPA</a:t>
              </a:r>
            </a:p>
          </p:txBody>
        </p:sp>
      </p:grpSp>
      <p:grpSp>
        <p:nvGrpSpPr>
          <p:cNvPr name="Group 33" id="33"/>
          <p:cNvGrpSpPr/>
          <p:nvPr/>
        </p:nvGrpSpPr>
        <p:grpSpPr>
          <a:xfrm rot="0">
            <a:off x="950595" y="7945755"/>
            <a:ext cx="5162550" cy="910590"/>
            <a:chOff x="0" y="0"/>
            <a:chExt cx="6883400" cy="1214120"/>
          </a:xfrm>
        </p:grpSpPr>
        <p:sp>
          <p:nvSpPr>
            <p:cNvPr name="Freeform 34" id="34"/>
            <p:cNvSpPr/>
            <p:nvPr/>
          </p:nvSpPr>
          <p:spPr>
            <a:xfrm flipH="false" flipV="false" rot="0">
              <a:off x="0" y="0"/>
              <a:ext cx="6883400" cy="1214120"/>
            </a:xfrm>
            <a:custGeom>
              <a:avLst/>
              <a:gdLst/>
              <a:ahLst/>
              <a:cxnLst/>
              <a:rect r="r" b="b" t="t" l="l"/>
              <a:pathLst>
                <a:path h="1214120" w="6883400">
                  <a:moveTo>
                    <a:pt x="0" y="168148"/>
                  </a:moveTo>
                  <a:cubicBezTo>
                    <a:pt x="0" y="75311"/>
                    <a:pt x="75311" y="0"/>
                    <a:pt x="168148" y="0"/>
                  </a:cubicBezTo>
                  <a:lnTo>
                    <a:pt x="6715252" y="0"/>
                  </a:lnTo>
                  <a:cubicBezTo>
                    <a:pt x="6808089" y="0"/>
                    <a:pt x="6883400" y="75311"/>
                    <a:pt x="6883400" y="168148"/>
                  </a:cubicBezTo>
                  <a:lnTo>
                    <a:pt x="6883400" y="1045972"/>
                  </a:lnTo>
                  <a:cubicBezTo>
                    <a:pt x="6883400" y="1138809"/>
                    <a:pt x="6808089" y="1214120"/>
                    <a:pt x="6715252" y="1214120"/>
                  </a:cubicBezTo>
                  <a:lnTo>
                    <a:pt x="168148" y="1214120"/>
                  </a:lnTo>
                  <a:cubicBezTo>
                    <a:pt x="75311" y="1214120"/>
                    <a:pt x="0" y="1138809"/>
                    <a:pt x="0" y="1045972"/>
                  </a:cubicBezTo>
                  <a:close/>
                </a:path>
              </a:pathLst>
            </a:custGeom>
            <a:solidFill>
              <a:srgbClr val="F4F7FC"/>
            </a:solidFill>
            <a:ln w="19050" cap="sq">
              <a:solidFill>
                <a:srgbClr val="D7DCEC"/>
              </a:solidFill>
              <a:prstDash val="solid"/>
              <a:miter/>
            </a:ln>
          </p:spPr>
        </p:sp>
      </p:grpSp>
      <p:grpSp>
        <p:nvGrpSpPr>
          <p:cNvPr name="Group 35" id="35"/>
          <p:cNvGrpSpPr/>
          <p:nvPr/>
        </p:nvGrpSpPr>
        <p:grpSpPr>
          <a:xfrm rot="0">
            <a:off x="960120" y="8023860"/>
            <a:ext cx="5143500" cy="589788"/>
            <a:chOff x="0" y="0"/>
            <a:chExt cx="6858000" cy="786384"/>
          </a:xfrm>
        </p:grpSpPr>
        <p:sp>
          <p:nvSpPr>
            <p:cNvPr name="Freeform 36" id="36"/>
            <p:cNvSpPr/>
            <p:nvPr/>
          </p:nvSpPr>
          <p:spPr>
            <a:xfrm flipH="false" flipV="false" rot="0">
              <a:off x="0" y="0"/>
              <a:ext cx="6858000" cy="786384"/>
            </a:xfrm>
            <a:custGeom>
              <a:avLst/>
              <a:gdLst/>
              <a:ahLst/>
              <a:cxnLst/>
              <a:rect r="r" b="b" t="t" l="l"/>
              <a:pathLst>
                <a:path h="786384" w="6858000">
                  <a:moveTo>
                    <a:pt x="0" y="0"/>
                  </a:moveTo>
                  <a:lnTo>
                    <a:pt x="6858000" y="0"/>
                  </a:lnTo>
                  <a:lnTo>
                    <a:pt x="6858000" y="786384"/>
                  </a:lnTo>
                  <a:lnTo>
                    <a:pt x="0" y="786384"/>
                  </a:lnTo>
                  <a:close/>
                </a:path>
              </a:pathLst>
            </a:custGeom>
            <a:blipFill>
              <a:blip r:embed="rId2">
                <a:alphaModFix amt="0"/>
              </a:blip>
              <a:stretch>
                <a:fillRect l="0" t="-119927" r="0" b="-119927"/>
              </a:stretch>
            </a:blipFill>
          </p:spPr>
        </p:sp>
        <p:sp>
          <p:nvSpPr>
            <p:cNvPr name="TextBox 37" id="37"/>
            <p:cNvSpPr txBox="true"/>
            <p:nvPr/>
          </p:nvSpPr>
          <p:spPr>
            <a:xfrm>
              <a:off x="0" y="-38100"/>
              <a:ext cx="6858000" cy="824484"/>
            </a:xfrm>
            <a:prstGeom prst="rect">
              <a:avLst/>
            </a:prstGeom>
          </p:spPr>
          <p:txBody>
            <a:bodyPr anchor="ctr" rtlCol="false" tIns="0" lIns="0" bIns="0" rIns="0"/>
            <a:lstStyle/>
            <a:p>
              <a:pPr algn="ctr">
                <a:lnSpc>
                  <a:spcPts val="2250"/>
                </a:lnSpc>
              </a:pPr>
              <a:r>
                <a:rPr lang="en-US" sz="1875">
                  <a:solidFill>
                    <a:srgbClr val="6B7280"/>
                  </a:solidFill>
                  <a:latin typeface="Calibri (MS)"/>
                  <a:ea typeface="Calibri (MS)"/>
                  <a:cs typeface="Calibri (MS)"/>
                  <a:sym typeface="Calibri (MS)"/>
                </a:rPr>
                <a:t>Data Privacy Act</a:t>
              </a:r>
            </a:p>
          </p:txBody>
        </p:sp>
      </p:grpSp>
      <p:grpSp>
        <p:nvGrpSpPr>
          <p:cNvPr name="Group 38" id="38"/>
          <p:cNvGrpSpPr/>
          <p:nvPr/>
        </p:nvGrpSpPr>
        <p:grpSpPr>
          <a:xfrm rot="0">
            <a:off x="960120" y="8462772"/>
            <a:ext cx="5143500" cy="329184"/>
            <a:chOff x="0" y="0"/>
            <a:chExt cx="6858000" cy="438912"/>
          </a:xfrm>
        </p:grpSpPr>
        <p:sp>
          <p:nvSpPr>
            <p:cNvPr name="Freeform 39" id="39"/>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40" id="40"/>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9AA3B8"/>
                  </a:solidFill>
                  <a:latin typeface="Arimo"/>
                  <a:ea typeface="Arimo"/>
                  <a:cs typeface="Arimo"/>
                  <a:sym typeface="Arimo"/>
                </a:rPr>
                <a:t>DPA</a:t>
              </a:r>
            </a:p>
          </p:txBody>
        </p:sp>
      </p:grpSp>
      <p:grpSp>
        <p:nvGrpSpPr>
          <p:cNvPr name="Group 41" id="41"/>
          <p:cNvGrpSpPr/>
          <p:nvPr/>
        </p:nvGrpSpPr>
        <p:grpSpPr>
          <a:xfrm rot="0">
            <a:off x="6533007" y="7945755"/>
            <a:ext cx="5162550" cy="910590"/>
            <a:chOff x="0" y="0"/>
            <a:chExt cx="6883400" cy="1214120"/>
          </a:xfrm>
        </p:grpSpPr>
        <p:sp>
          <p:nvSpPr>
            <p:cNvPr name="Freeform 42" id="42"/>
            <p:cNvSpPr/>
            <p:nvPr/>
          </p:nvSpPr>
          <p:spPr>
            <a:xfrm flipH="false" flipV="false" rot="0">
              <a:off x="0" y="0"/>
              <a:ext cx="6883400" cy="1214120"/>
            </a:xfrm>
            <a:custGeom>
              <a:avLst/>
              <a:gdLst/>
              <a:ahLst/>
              <a:cxnLst/>
              <a:rect r="r" b="b" t="t" l="l"/>
              <a:pathLst>
                <a:path h="1214120" w="6883400">
                  <a:moveTo>
                    <a:pt x="0" y="168148"/>
                  </a:moveTo>
                  <a:cubicBezTo>
                    <a:pt x="0" y="75311"/>
                    <a:pt x="75311" y="0"/>
                    <a:pt x="168148" y="0"/>
                  </a:cubicBezTo>
                  <a:lnTo>
                    <a:pt x="6715252" y="0"/>
                  </a:lnTo>
                  <a:cubicBezTo>
                    <a:pt x="6808089" y="0"/>
                    <a:pt x="6883400" y="75311"/>
                    <a:pt x="6883400" y="168148"/>
                  </a:cubicBezTo>
                  <a:lnTo>
                    <a:pt x="6883400" y="1045972"/>
                  </a:lnTo>
                  <a:cubicBezTo>
                    <a:pt x="6883400" y="1138809"/>
                    <a:pt x="6808089" y="1214120"/>
                    <a:pt x="6715252" y="1214120"/>
                  </a:cubicBezTo>
                  <a:lnTo>
                    <a:pt x="168148" y="1214120"/>
                  </a:lnTo>
                  <a:cubicBezTo>
                    <a:pt x="75311" y="1214120"/>
                    <a:pt x="0" y="1138809"/>
                    <a:pt x="0" y="1045972"/>
                  </a:cubicBezTo>
                  <a:close/>
                </a:path>
              </a:pathLst>
            </a:custGeom>
            <a:solidFill>
              <a:srgbClr val="F4F7FC"/>
            </a:solidFill>
            <a:ln w="19050" cap="sq">
              <a:solidFill>
                <a:srgbClr val="D7DCEC"/>
              </a:solidFill>
              <a:prstDash val="solid"/>
              <a:miter/>
            </a:ln>
          </p:spPr>
        </p:sp>
      </p:grpSp>
      <p:grpSp>
        <p:nvGrpSpPr>
          <p:cNvPr name="Group 43" id="43"/>
          <p:cNvGrpSpPr/>
          <p:nvPr/>
        </p:nvGrpSpPr>
        <p:grpSpPr>
          <a:xfrm rot="0">
            <a:off x="6542532" y="8023860"/>
            <a:ext cx="5143500" cy="589788"/>
            <a:chOff x="0" y="0"/>
            <a:chExt cx="6858000" cy="786384"/>
          </a:xfrm>
        </p:grpSpPr>
        <p:sp>
          <p:nvSpPr>
            <p:cNvPr name="Freeform 44" id="44"/>
            <p:cNvSpPr/>
            <p:nvPr/>
          </p:nvSpPr>
          <p:spPr>
            <a:xfrm flipH="false" flipV="false" rot="0">
              <a:off x="0" y="0"/>
              <a:ext cx="6858000" cy="786384"/>
            </a:xfrm>
            <a:custGeom>
              <a:avLst/>
              <a:gdLst/>
              <a:ahLst/>
              <a:cxnLst/>
              <a:rect r="r" b="b" t="t" l="l"/>
              <a:pathLst>
                <a:path h="786384" w="6858000">
                  <a:moveTo>
                    <a:pt x="0" y="0"/>
                  </a:moveTo>
                  <a:lnTo>
                    <a:pt x="6858000" y="0"/>
                  </a:lnTo>
                  <a:lnTo>
                    <a:pt x="6858000" y="786384"/>
                  </a:lnTo>
                  <a:lnTo>
                    <a:pt x="0" y="786384"/>
                  </a:lnTo>
                  <a:close/>
                </a:path>
              </a:pathLst>
            </a:custGeom>
            <a:blipFill>
              <a:blip r:embed="rId2">
                <a:alphaModFix amt="0"/>
              </a:blip>
              <a:stretch>
                <a:fillRect l="0" t="-119927" r="0" b="-119927"/>
              </a:stretch>
            </a:blipFill>
          </p:spPr>
        </p:sp>
        <p:sp>
          <p:nvSpPr>
            <p:cNvPr name="TextBox 45" id="45"/>
            <p:cNvSpPr txBox="true"/>
            <p:nvPr/>
          </p:nvSpPr>
          <p:spPr>
            <a:xfrm>
              <a:off x="0" y="-38100"/>
              <a:ext cx="6858000" cy="824484"/>
            </a:xfrm>
            <a:prstGeom prst="rect">
              <a:avLst/>
            </a:prstGeom>
          </p:spPr>
          <p:txBody>
            <a:bodyPr anchor="ctr" rtlCol="false" tIns="0" lIns="0" bIns="0" rIns="0"/>
            <a:lstStyle/>
            <a:p>
              <a:pPr algn="ctr">
                <a:lnSpc>
                  <a:spcPts val="2250"/>
                </a:lnSpc>
              </a:pPr>
              <a:r>
                <a:rPr lang="en-US" sz="1875">
                  <a:solidFill>
                    <a:srgbClr val="6B7280"/>
                  </a:solidFill>
                  <a:latin typeface="Calibri (MS)"/>
                  <a:ea typeface="Calibri (MS)"/>
                  <a:cs typeface="Calibri (MS)"/>
                  <a:sym typeface="Calibri (MS)"/>
                </a:rPr>
                <a:t>DICT Act / NCSP</a:t>
              </a:r>
            </a:p>
          </p:txBody>
        </p:sp>
      </p:grpSp>
      <p:grpSp>
        <p:nvGrpSpPr>
          <p:cNvPr name="Group 46" id="46"/>
          <p:cNvGrpSpPr/>
          <p:nvPr/>
        </p:nvGrpSpPr>
        <p:grpSpPr>
          <a:xfrm rot="0">
            <a:off x="6542532" y="8462772"/>
            <a:ext cx="5143500" cy="329184"/>
            <a:chOff x="0" y="0"/>
            <a:chExt cx="6858000" cy="438912"/>
          </a:xfrm>
        </p:grpSpPr>
        <p:sp>
          <p:nvSpPr>
            <p:cNvPr name="Freeform 47" id="47"/>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48" id="48"/>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9AA3B8"/>
                  </a:solidFill>
                  <a:latin typeface="Arimo"/>
                  <a:ea typeface="Arimo"/>
                  <a:cs typeface="Arimo"/>
                  <a:sym typeface="Arimo"/>
                </a:rPr>
                <a:t>DICT</a:t>
              </a:r>
            </a:p>
          </p:txBody>
        </p:sp>
      </p:grpSp>
      <p:grpSp>
        <p:nvGrpSpPr>
          <p:cNvPr name="Group 49" id="49"/>
          <p:cNvGrpSpPr/>
          <p:nvPr/>
        </p:nvGrpSpPr>
        <p:grpSpPr>
          <a:xfrm rot="0">
            <a:off x="12115419" y="6779895"/>
            <a:ext cx="5162550" cy="2076450"/>
            <a:chOff x="0" y="0"/>
            <a:chExt cx="6883400" cy="2768600"/>
          </a:xfrm>
        </p:grpSpPr>
        <p:sp>
          <p:nvSpPr>
            <p:cNvPr name="Freeform 50" id="50"/>
            <p:cNvSpPr/>
            <p:nvPr/>
          </p:nvSpPr>
          <p:spPr>
            <a:xfrm flipH="false" flipV="false" rot="0">
              <a:off x="0" y="0"/>
              <a:ext cx="6883400" cy="2768600"/>
            </a:xfrm>
            <a:custGeom>
              <a:avLst/>
              <a:gdLst/>
              <a:ahLst/>
              <a:cxnLst/>
              <a:rect r="r" b="b" t="t" l="l"/>
              <a:pathLst>
                <a:path h="2768600" w="6883400">
                  <a:moveTo>
                    <a:pt x="0" y="166116"/>
                  </a:moveTo>
                  <a:cubicBezTo>
                    <a:pt x="0" y="74422"/>
                    <a:pt x="74422" y="0"/>
                    <a:pt x="166116" y="0"/>
                  </a:cubicBezTo>
                  <a:lnTo>
                    <a:pt x="6717284" y="0"/>
                  </a:lnTo>
                  <a:cubicBezTo>
                    <a:pt x="6808978" y="0"/>
                    <a:pt x="6883400" y="74422"/>
                    <a:pt x="6883400" y="166116"/>
                  </a:cubicBezTo>
                  <a:lnTo>
                    <a:pt x="6883400" y="2602484"/>
                  </a:lnTo>
                  <a:cubicBezTo>
                    <a:pt x="6883400" y="2694178"/>
                    <a:pt x="6808978" y="2768600"/>
                    <a:pt x="6717284" y="2768600"/>
                  </a:cubicBezTo>
                  <a:lnTo>
                    <a:pt x="166116" y="2768600"/>
                  </a:lnTo>
                  <a:cubicBezTo>
                    <a:pt x="74422" y="2768600"/>
                    <a:pt x="0" y="2694178"/>
                    <a:pt x="0" y="2602484"/>
                  </a:cubicBezTo>
                  <a:close/>
                </a:path>
              </a:pathLst>
            </a:custGeom>
            <a:solidFill>
              <a:srgbClr val="F4F7FC"/>
            </a:solidFill>
            <a:ln w="19050" cap="sq">
              <a:solidFill>
                <a:srgbClr val="D7DCEC"/>
              </a:solidFill>
              <a:prstDash val="solid"/>
              <a:miter/>
            </a:ln>
          </p:spPr>
        </p:sp>
      </p:grpSp>
      <p:grpSp>
        <p:nvGrpSpPr>
          <p:cNvPr name="Group 51" id="51"/>
          <p:cNvGrpSpPr/>
          <p:nvPr/>
        </p:nvGrpSpPr>
        <p:grpSpPr>
          <a:xfrm rot="0">
            <a:off x="12124944" y="6858000"/>
            <a:ext cx="5143500" cy="1755648"/>
            <a:chOff x="0" y="0"/>
            <a:chExt cx="6858000" cy="2340864"/>
          </a:xfrm>
        </p:grpSpPr>
        <p:sp>
          <p:nvSpPr>
            <p:cNvPr name="Freeform 52" id="52"/>
            <p:cNvSpPr/>
            <p:nvPr/>
          </p:nvSpPr>
          <p:spPr>
            <a:xfrm flipH="false" flipV="false" rot="0">
              <a:off x="0" y="0"/>
              <a:ext cx="6858000" cy="2340864"/>
            </a:xfrm>
            <a:custGeom>
              <a:avLst/>
              <a:gdLst/>
              <a:ahLst/>
              <a:cxnLst/>
              <a:rect r="r" b="b" t="t" l="l"/>
              <a:pathLst>
                <a:path h="2340864" w="6858000">
                  <a:moveTo>
                    <a:pt x="0" y="0"/>
                  </a:moveTo>
                  <a:lnTo>
                    <a:pt x="6858000" y="0"/>
                  </a:lnTo>
                  <a:lnTo>
                    <a:pt x="6858000" y="2340864"/>
                  </a:lnTo>
                  <a:lnTo>
                    <a:pt x="0" y="2340864"/>
                  </a:lnTo>
                  <a:close/>
                </a:path>
              </a:pathLst>
            </a:custGeom>
            <a:blipFill>
              <a:blip r:embed="rId2">
                <a:alphaModFix amt="0"/>
              </a:blip>
              <a:stretch>
                <a:fillRect l="0" t="-7085" r="0" b="-7085"/>
              </a:stretch>
            </a:blipFill>
          </p:spPr>
        </p:sp>
        <p:sp>
          <p:nvSpPr>
            <p:cNvPr name="TextBox 53" id="53"/>
            <p:cNvSpPr txBox="true"/>
            <p:nvPr/>
          </p:nvSpPr>
          <p:spPr>
            <a:xfrm>
              <a:off x="0" y="-38100"/>
              <a:ext cx="6858000" cy="2378964"/>
            </a:xfrm>
            <a:prstGeom prst="rect">
              <a:avLst/>
            </a:prstGeom>
          </p:spPr>
          <p:txBody>
            <a:bodyPr anchor="ctr" rtlCol="false" tIns="0" lIns="0" bIns="0" rIns="0"/>
            <a:lstStyle/>
            <a:p>
              <a:pPr algn="ctr">
                <a:lnSpc>
                  <a:spcPts val="2250"/>
                </a:lnSpc>
              </a:pPr>
              <a:r>
                <a:rPr lang="en-US" sz="1875">
                  <a:solidFill>
                    <a:srgbClr val="6B7280"/>
                  </a:solidFill>
                  <a:latin typeface="Calibri (MS)"/>
                  <a:ea typeface="Calibri (MS)"/>
                  <a:cs typeface="Calibri (MS)"/>
                  <a:sym typeface="Calibri (MS)"/>
                </a:rPr>
                <a:t>Critical Infra. Protection</a:t>
              </a:r>
            </a:p>
          </p:txBody>
        </p:sp>
      </p:grpSp>
      <p:grpSp>
        <p:nvGrpSpPr>
          <p:cNvPr name="Group 54" id="54"/>
          <p:cNvGrpSpPr/>
          <p:nvPr/>
        </p:nvGrpSpPr>
        <p:grpSpPr>
          <a:xfrm rot="0">
            <a:off x="12124944" y="8462772"/>
            <a:ext cx="5143500" cy="329184"/>
            <a:chOff x="0" y="0"/>
            <a:chExt cx="6858000" cy="438912"/>
          </a:xfrm>
        </p:grpSpPr>
        <p:sp>
          <p:nvSpPr>
            <p:cNvPr name="Freeform 55" id="55"/>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56" id="56"/>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9AA3B8"/>
                  </a:solidFill>
                  <a:latin typeface="Arimo"/>
                  <a:ea typeface="Arimo"/>
                  <a:cs typeface="Arimo"/>
                  <a:sym typeface="Arimo"/>
                </a:rPr>
                <a:t>CII</a:t>
              </a:r>
            </a:p>
          </p:txBody>
        </p:sp>
      </p:grpSp>
      <p:grpSp>
        <p:nvGrpSpPr>
          <p:cNvPr name="Group 57" id="57"/>
          <p:cNvGrpSpPr/>
          <p:nvPr/>
        </p:nvGrpSpPr>
        <p:grpSpPr>
          <a:xfrm rot="0">
            <a:off x="685800" y="9710928"/>
            <a:ext cx="10972800" cy="411480"/>
            <a:chOff x="0" y="0"/>
            <a:chExt cx="14630400" cy="548640"/>
          </a:xfrm>
        </p:grpSpPr>
        <p:sp>
          <p:nvSpPr>
            <p:cNvPr name="Freeform 58" id="58"/>
            <p:cNvSpPr/>
            <p:nvPr/>
          </p:nvSpPr>
          <p:spPr>
            <a:xfrm flipH="false" flipV="false" rot="0">
              <a:off x="0" y="0"/>
              <a:ext cx="14630400" cy="548640"/>
            </a:xfrm>
            <a:custGeom>
              <a:avLst/>
              <a:gdLst/>
              <a:ahLst/>
              <a:cxnLst/>
              <a:rect r="r" b="b" t="t" l="l"/>
              <a:pathLst>
                <a:path h="548640" w="14630400">
                  <a:moveTo>
                    <a:pt x="0" y="0"/>
                  </a:moveTo>
                  <a:lnTo>
                    <a:pt x="14630400" y="0"/>
                  </a:lnTo>
                  <a:lnTo>
                    <a:pt x="14630400" y="548640"/>
                  </a:lnTo>
                  <a:lnTo>
                    <a:pt x="0" y="548640"/>
                  </a:lnTo>
                  <a:close/>
                </a:path>
              </a:pathLst>
            </a:custGeom>
            <a:blipFill>
              <a:blip r:embed="rId2">
                <a:alphaModFix amt="0"/>
              </a:blip>
              <a:stretch>
                <a:fillRect l="0" t="-469601" r="0" b="-469601"/>
              </a:stretch>
            </a:blipFill>
          </p:spPr>
        </p:sp>
        <p:sp>
          <p:nvSpPr>
            <p:cNvPr name="TextBox 59" id="59"/>
            <p:cNvSpPr txBox="true"/>
            <p:nvPr/>
          </p:nvSpPr>
          <p:spPr>
            <a:xfrm>
              <a:off x="0" y="-38100"/>
              <a:ext cx="14630400" cy="586740"/>
            </a:xfrm>
            <a:prstGeom prst="rect">
              <a:avLst/>
            </a:prstGeom>
          </p:spPr>
          <p:txBody>
            <a:bodyPr anchor="ctr" rtlCol="false" tIns="0" lIns="0" bIns="0" rIns="0"/>
            <a:lstStyle/>
            <a:p>
              <a:pPr algn="l">
                <a:lnSpc>
                  <a:spcPts val="1800"/>
                </a:lnSpc>
              </a:pPr>
              <a:r>
                <a:rPr lang="en-US" sz="1500">
                  <a:solidFill>
                    <a:srgbClr val="6B7280"/>
                  </a:solidFill>
                  <a:latin typeface="Calibri (MS)"/>
                  <a:ea typeface="Calibri (MS)"/>
                  <a:cs typeface="Calibri (MS)"/>
                  <a:sym typeface="Calibri (MS)"/>
                </a:rPr>
                <a:t>Davao del Norte Provincial Government — Cybersecurity Seminar</a:t>
              </a:r>
            </a:p>
          </p:txBody>
        </p:sp>
      </p:grpSp>
      <p:grpSp>
        <p:nvGrpSpPr>
          <p:cNvPr name="Group 60" id="60"/>
          <p:cNvGrpSpPr/>
          <p:nvPr/>
        </p:nvGrpSpPr>
        <p:grpSpPr>
          <a:xfrm rot="0">
            <a:off x="16911828" y="9710928"/>
            <a:ext cx="685800" cy="411480"/>
            <a:chOff x="0" y="0"/>
            <a:chExt cx="914400" cy="548640"/>
          </a:xfrm>
        </p:grpSpPr>
        <p:sp>
          <p:nvSpPr>
            <p:cNvPr name="Freeform 61" id="61"/>
            <p:cNvSpPr/>
            <p:nvPr/>
          </p:nvSpPr>
          <p:spPr>
            <a:xfrm flipH="false" flipV="false" rot="0">
              <a:off x="0" y="0"/>
              <a:ext cx="914400" cy="548640"/>
            </a:xfrm>
            <a:custGeom>
              <a:avLst/>
              <a:gdLst/>
              <a:ahLst/>
              <a:cxnLst/>
              <a:rect r="r" b="b" t="t" l="l"/>
              <a:pathLst>
                <a:path h="548640" w="914400">
                  <a:moveTo>
                    <a:pt x="0" y="0"/>
                  </a:moveTo>
                  <a:lnTo>
                    <a:pt x="914400" y="0"/>
                  </a:lnTo>
                  <a:lnTo>
                    <a:pt x="914400" y="548640"/>
                  </a:lnTo>
                  <a:lnTo>
                    <a:pt x="0" y="548640"/>
                  </a:lnTo>
                  <a:close/>
                </a:path>
              </a:pathLst>
            </a:custGeom>
            <a:blipFill>
              <a:blip r:embed="rId2">
                <a:alphaModFix amt="0"/>
              </a:blip>
              <a:stretch>
                <a:fillRect l="-26982" t="0" r="-26982" b="0"/>
              </a:stretch>
            </a:blipFill>
          </p:spPr>
        </p:sp>
        <p:sp>
          <p:nvSpPr>
            <p:cNvPr name="TextBox 62" id="62"/>
            <p:cNvSpPr txBox="true"/>
            <p:nvPr/>
          </p:nvSpPr>
          <p:spPr>
            <a:xfrm>
              <a:off x="0" y="-38100"/>
              <a:ext cx="914400" cy="586740"/>
            </a:xfrm>
            <a:prstGeom prst="rect">
              <a:avLst/>
            </a:prstGeom>
          </p:spPr>
          <p:txBody>
            <a:bodyPr anchor="ctr" rtlCol="false" tIns="0" lIns="0" bIns="0" rIns="0"/>
            <a:lstStyle/>
            <a:p>
              <a:pPr algn="r">
                <a:lnSpc>
                  <a:spcPts val="1800"/>
                </a:lnSpc>
              </a:pPr>
              <a:r>
                <a:rPr lang="en-US" sz="1500">
                  <a:solidFill>
                    <a:srgbClr val="6B7280"/>
                  </a:solidFill>
                  <a:latin typeface="Calibri (MS)"/>
                  <a:ea typeface="Calibri (MS)"/>
                  <a:cs typeface="Calibri (MS)"/>
                  <a:sym typeface="Calibri (MS)"/>
                </a:rPr>
                <a:t>35</a:t>
              </a:r>
            </a:p>
          </p:txBody>
        </p:sp>
      </p:grpSp>
    </p:spTree>
  </p:cSld>
  <p:clrMapOvr>
    <a:masterClrMapping/>
  </p:clrMapOvr>
</p:sld>
</file>

<file path=ppt/slides/slide15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60120" y="685800"/>
            <a:ext cx="13716000" cy="411480"/>
            <a:chOff x="0" y="0"/>
            <a:chExt cx="18288000" cy="548640"/>
          </a:xfrm>
        </p:grpSpPr>
        <p:sp>
          <p:nvSpPr>
            <p:cNvPr name="Freeform 3" id="3"/>
            <p:cNvSpPr/>
            <p:nvPr/>
          </p:nvSpPr>
          <p:spPr>
            <a:xfrm flipH="false" flipV="false" rot="0">
              <a:off x="0" y="0"/>
              <a:ext cx="18288000" cy="548640"/>
            </a:xfrm>
            <a:custGeom>
              <a:avLst/>
              <a:gdLst/>
              <a:ahLst/>
              <a:cxnLst/>
              <a:rect r="r" b="b" t="t" l="l"/>
              <a:pathLst>
                <a:path h="548640" w="18288000">
                  <a:moveTo>
                    <a:pt x="0" y="0"/>
                  </a:moveTo>
                  <a:lnTo>
                    <a:pt x="18288000" y="0"/>
                  </a:lnTo>
                  <a:lnTo>
                    <a:pt x="18288000" y="548640"/>
                  </a:lnTo>
                  <a:lnTo>
                    <a:pt x="0" y="548640"/>
                  </a:lnTo>
                  <a:close/>
                </a:path>
              </a:pathLst>
            </a:custGeom>
            <a:blipFill>
              <a:blip r:embed="rId2">
                <a:alphaModFix amt="0"/>
              </a:blip>
              <a:stretch>
                <a:fillRect l="0" t="-599501" r="0" b="-599501"/>
              </a:stretch>
            </a:blipFill>
          </p:spPr>
        </p:sp>
        <p:sp>
          <p:nvSpPr>
            <p:cNvPr name="TextBox 4" id="4"/>
            <p:cNvSpPr txBox="true"/>
            <p:nvPr/>
          </p:nvSpPr>
          <p:spPr>
            <a:xfrm>
              <a:off x="0" y="-38100"/>
              <a:ext cx="18288000" cy="586740"/>
            </a:xfrm>
            <a:prstGeom prst="rect">
              <a:avLst/>
            </a:prstGeom>
          </p:spPr>
          <p:txBody>
            <a:bodyPr anchor="ctr" rtlCol="false" tIns="0" lIns="0" bIns="0" rIns="0"/>
            <a:lstStyle/>
            <a:p>
              <a:pPr algn="l">
                <a:lnSpc>
                  <a:spcPts val="2160"/>
                </a:lnSpc>
              </a:pPr>
              <a:r>
                <a:rPr lang="en-US" b="true" sz="1800" spc="225">
                  <a:solidFill>
                    <a:srgbClr val="00B4D8"/>
                  </a:solidFill>
                  <a:latin typeface="Calibri (MS) Bold"/>
                  <a:ea typeface="Calibri (MS) Bold"/>
                  <a:cs typeface="Calibri (MS) Bold"/>
                  <a:sym typeface="Calibri (MS) Bold"/>
                </a:rPr>
                <a:t>PH CYBER LAW SORT · ANSWER</a:t>
              </a:r>
            </a:p>
          </p:txBody>
        </p:sp>
      </p:grpSp>
      <p:grpSp>
        <p:nvGrpSpPr>
          <p:cNvPr name="Group 5" id="5"/>
          <p:cNvGrpSpPr/>
          <p:nvPr/>
        </p:nvGrpSpPr>
        <p:grpSpPr>
          <a:xfrm rot="0">
            <a:off x="960120" y="1069848"/>
            <a:ext cx="10972800" cy="822960"/>
            <a:chOff x="0" y="0"/>
            <a:chExt cx="14630400" cy="1097280"/>
          </a:xfrm>
        </p:grpSpPr>
        <p:sp>
          <p:nvSpPr>
            <p:cNvPr name="Freeform 6" id="6"/>
            <p:cNvSpPr/>
            <p:nvPr/>
          </p:nvSpPr>
          <p:spPr>
            <a:xfrm flipH="false" flipV="false" rot="0">
              <a:off x="0" y="0"/>
              <a:ext cx="14630400" cy="1097280"/>
            </a:xfrm>
            <a:custGeom>
              <a:avLst/>
              <a:gdLst/>
              <a:ahLst/>
              <a:cxnLst/>
              <a:rect r="r" b="b" t="t" l="l"/>
              <a:pathLst>
                <a:path h="1097280" w="14630400">
                  <a:moveTo>
                    <a:pt x="0" y="0"/>
                  </a:moveTo>
                  <a:lnTo>
                    <a:pt x="14630400" y="0"/>
                  </a:lnTo>
                  <a:lnTo>
                    <a:pt x="14630400" y="1097280"/>
                  </a:lnTo>
                  <a:lnTo>
                    <a:pt x="0" y="1097280"/>
                  </a:lnTo>
                  <a:close/>
                </a:path>
              </a:pathLst>
            </a:custGeom>
            <a:blipFill>
              <a:blip r:embed="rId2">
                <a:alphaModFix amt="0"/>
              </a:blip>
              <a:stretch>
                <a:fillRect l="0" t="-209800" r="0" b="-209800"/>
              </a:stretch>
            </a:blipFill>
          </p:spPr>
        </p:sp>
        <p:sp>
          <p:nvSpPr>
            <p:cNvPr name="TextBox 7" id="7"/>
            <p:cNvSpPr txBox="true"/>
            <p:nvPr/>
          </p:nvSpPr>
          <p:spPr>
            <a:xfrm>
              <a:off x="0" y="0"/>
              <a:ext cx="14630400" cy="1097280"/>
            </a:xfrm>
            <a:prstGeom prst="rect">
              <a:avLst/>
            </a:prstGeom>
          </p:spPr>
          <p:txBody>
            <a:bodyPr anchor="ctr" rtlCol="false" tIns="0" lIns="0" bIns="0" rIns="0"/>
            <a:lstStyle/>
            <a:p>
              <a:pPr algn="l">
                <a:lnSpc>
                  <a:spcPts val="4680"/>
                </a:lnSpc>
              </a:pPr>
              <a:r>
                <a:rPr lang="en-US" sz="3900" b="true">
                  <a:solidFill>
                    <a:srgbClr val="1E2761"/>
                  </a:solidFill>
                  <a:latin typeface="Cambria Bold"/>
                  <a:ea typeface="Cambria Bold"/>
                  <a:cs typeface="Cambria Bold"/>
                  <a:sym typeface="Cambria Bold"/>
                </a:rPr>
                <a:t>Scenario 13 — Answer</a:t>
              </a:r>
            </a:p>
          </p:txBody>
        </p:sp>
      </p:grpSp>
      <p:grpSp>
        <p:nvGrpSpPr>
          <p:cNvPr name="Group 8" id="8"/>
          <p:cNvGrpSpPr/>
          <p:nvPr/>
        </p:nvGrpSpPr>
        <p:grpSpPr>
          <a:xfrm rot="0">
            <a:off x="960120" y="1810512"/>
            <a:ext cx="8229600" cy="411480"/>
            <a:chOff x="0" y="0"/>
            <a:chExt cx="10972800" cy="548640"/>
          </a:xfrm>
        </p:grpSpPr>
        <p:sp>
          <p:nvSpPr>
            <p:cNvPr name="Freeform 9" id="9"/>
            <p:cNvSpPr/>
            <p:nvPr/>
          </p:nvSpPr>
          <p:spPr>
            <a:xfrm flipH="false" flipV="false" rot="0">
              <a:off x="0" y="0"/>
              <a:ext cx="10972800" cy="548640"/>
            </a:xfrm>
            <a:custGeom>
              <a:avLst/>
              <a:gdLst/>
              <a:ahLst/>
              <a:cxnLst/>
              <a:rect r="r" b="b" t="t" l="l"/>
              <a:pathLst>
                <a:path h="548640" w="10972800">
                  <a:moveTo>
                    <a:pt x="0" y="0"/>
                  </a:moveTo>
                  <a:lnTo>
                    <a:pt x="10972800" y="0"/>
                  </a:lnTo>
                  <a:lnTo>
                    <a:pt x="10972800" y="548640"/>
                  </a:lnTo>
                  <a:lnTo>
                    <a:pt x="0" y="548640"/>
                  </a:lnTo>
                  <a:close/>
                </a:path>
              </a:pathLst>
            </a:custGeom>
            <a:blipFill>
              <a:blip r:embed="rId2">
                <a:alphaModFix amt="0"/>
              </a:blip>
              <a:stretch>
                <a:fillRect l="0" t="-339700" r="0" b="-339700"/>
              </a:stretch>
            </a:blipFill>
          </p:spPr>
        </p:sp>
        <p:sp>
          <p:nvSpPr>
            <p:cNvPr name="TextBox 10" id="10"/>
            <p:cNvSpPr txBox="true"/>
            <p:nvPr/>
          </p:nvSpPr>
          <p:spPr>
            <a:xfrm>
              <a:off x="0" y="-28575"/>
              <a:ext cx="10972800" cy="577215"/>
            </a:xfrm>
            <a:prstGeom prst="rect">
              <a:avLst/>
            </a:prstGeom>
          </p:spPr>
          <p:txBody>
            <a:bodyPr anchor="ctr" rtlCol="false" tIns="0" lIns="0" bIns="0" rIns="0"/>
            <a:lstStyle/>
            <a:p>
              <a:pPr algn="l">
                <a:lnSpc>
                  <a:spcPts val="1980"/>
                </a:lnSpc>
              </a:pPr>
              <a:r>
                <a:rPr lang="en-US" sz="1650">
                  <a:solidFill>
                    <a:srgbClr val="6B7280"/>
                  </a:solidFill>
                  <a:latin typeface="Calibri (MS)"/>
                  <a:ea typeface="Calibri (MS)"/>
                  <a:cs typeface="Calibri (MS)"/>
                  <a:sym typeface="Calibri (MS)"/>
                </a:rPr>
                <a:t>13 of 15</a:t>
              </a:r>
            </a:p>
          </p:txBody>
        </p:sp>
      </p:grpSp>
      <p:grpSp>
        <p:nvGrpSpPr>
          <p:cNvPr name="Group 11" id="11"/>
          <p:cNvGrpSpPr/>
          <p:nvPr/>
        </p:nvGrpSpPr>
        <p:grpSpPr>
          <a:xfrm rot="0">
            <a:off x="960120" y="2537460"/>
            <a:ext cx="16322040" cy="2057400"/>
            <a:chOff x="0" y="0"/>
            <a:chExt cx="21762720" cy="2743200"/>
          </a:xfrm>
        </p:grpSpPr>
        <p:sp>
          <p:nvSpPr>
            <p:cNvPr name="Freeform 12" id="12"/>
            <p:cNvSpPr/>
            <p:nvPr/>
          </p:nvSpPr>
          <p:spPr>
            <a:xfrm flipH="false" flipV="false" rot="0">
              <a:off x="0" y="0"/>
              <a:ext cx="21762720" cy="2743200"/>
            </a:xfrm>
            <a:custGeom>
              <a:avLst/>
              <a:gdLst/>
              <a:ahLst/>
              <a:cxnLst/>
              <a:rect r="r" b="b" t="t" l="l"/>
              <a:pathLst>
                <a:path h="2743200" w="21762720">
                  <a:moveTo>
                    <a:pt x="0" y="182880"/>
                  </a:moveTo>
                  <a:cubicBezTo>
                    <a:pt x="0" y="81915"/>
                    <a:pt x="81915" y="0"/>
                    <a:pt x="182880" y="0"/>
                  </a:cubicBezTo>
                  <a:lnTo>
                    <a:pt x="21579839" y="0"/>
                  </a:lnTo>
                  <a:cubicBezTo>
                    <a:pt x="21680804" y="0"/>
                    <a:pt x="21762720" y="81915"/>
                    <a:pt x="21762720" y="182880"/>
                  </a:cubicBezTo>
                  <a:lnTo>
                    <a:pt x="21762720" y="2560320"/>
                  </a:lnTo>
                  <a:cubicBezTo>
                    <a:pt x="21762720" y="2661285"/>
                    <a:pt x="21680804" y="2743200"/>
                    <a:pt x="21579839" y="2743200"/>
                  </a:cubicBezTo>
                  <a:lnTo>
                    <a:pt x="182880" y="2743200"/>
                  </a:lnTo>
                  <a:cubicBezTo>
                    <a:pt x="81915" y="2743200"/>
                    <a:pt x="0" y="2661285"/>
                    <a:pt x="0" y="2560320"/>
                  </a:cubicBezTo>
                  <a:close/>
                </a:path>
              </a:pathLst>
            </a:custGeom>
            <a:solidFill>
              <a:srgbClr val="F4F7FC"/>
            </a:solidFill>
          </p:spPr>
        </p:sp>
      </p:grpSp>
      <p:grpSp>
        <p:nvGrpSpPr>
          <p:cNvPr name="Group 13" id="13"/>
          <p:cNvGrpSpPr/>
          <p:nvPr/>
        </p:nvGrpSpPr>
        <p:grpSpPr>
          <a:xfrm rot="0">
            <a:off x="1440180" y="2743200"/>
            <a:ext cx="15361920" cy="1645920"/>
            <a:chOff x="0" y="0"/>
            <a:chExt cx="20482560" cy="2194560"/>
          </a:xfrm>
        </p:grpSpPr>
        <p:sp>
          <p:nvSpPr>
            <p:cNvPr name="Freeform 14" id="14"/>
            <p:cNvSpPr/>
            <p:nvPr/>
          </p:nvSpPr>
          <p:spPr>
            <a:xfrm flipH="false" flipV="false" rot="0">
              <a:off x="0" y="0"/>
              <a:ext cx="20482561" cy="2194560"/>
            </a:xfrm>
            <a:custGeom>
              <a:avLst/>
              <a:gdLst/>
              <a:ahLst/>
              <a:cxnLst/>
              <a:rect r="r" b="b" t="t" l="l"/>
              <a:pathLst>
                <a:path h="2194560" w="20482561">
                  <a:moveTo>
                    <a:pt x="0" y="0"/>
                  </a:moveTo>
                  <a:lnTo>
                    <a:pt x="20482561" y="0"/>
                  </a:lnTo>
                  <a:lnTo>
                    <a:pt x="20482561" y="2194560"/>
                  </a:lnTo>
                  <a:lnTo>
                    <a:pt x="0" y="2194560"/>
                  </a:lnTo>
                  <a:close/>
                </a:path>
              </a:pathLst>
            </a:custGeom>
            <a:blipFill>
              <a:blip r:embed="rId2">
                <a:alphaModFix amt="0"/>
              </a:blip>
              <a:stretch>
                <a:fillRect l="0" t="-131860" r="0" b="-131860"/>
              </a:stretch>
            </a:blipFill>
          </p:spPr>
        </p:sp>
        <p:sp>
          <p:nvSpPr>
            <p:cNvPr name="TextBox 15" id="15"/>
            <p:cNvSpPr txBox="true"/>
            <p:nvPr/>
          </p:nvSpPr>
          <p:spPr>
            <a:xfrm>
              <a:off x="0" y="-66675"/>
              <a:ext cx="20482560" cy="2261235"/>
            </a:xfrm>
            <a:prstGeom prst="rect">
              <a:avLst/>
            </a:prstGeom>
          </p:spPr>
          <p:txBody>
            <a:bodyPr anchor="ctr" rtlCol="false" tIns="0" lIns="0" bIns="0" rIns="0"/>
            <a:lstStyle/>
            <a:p>
              <a:pPr algn="l">
                <a:lnSpc>
                  <a:spcPts val="3487"/>
                </a:lnSpc>
              </a:pPr>
              <a:r>
                <a:rPr lang="en-US" sz="2325" i="true">
                  <a:solidFill>
                    <a:srgbClr val="23262F"/>
                  </a:solidFill>
                  <a:latin typeface="Cambria Italics"/>
                  <a:ea typeface="Cambria Italics"/>
                  <a:cs typeface="Cambria Italics"/>
                  <a:sym typeface="Cambria Italics"/>
                </a:rPr>
                <a:t>"The provincial IT officer wants to see the government's current national roadmap and priorities for cybersecurity over the next several years."</a:t>
              </a:r>
            </a:p>
          </p:txBody>
        </p:sp>
      </p:grpSp>
      <p:grpSp>
        <p:nvGrpSpPr>
          <p:cNvPr name="Group 16" id="16"/>
          <p:cNvGrpSpPr/>
          <p:nvPr/>
        </p:nvGrpSpPr>
        <p:grpSpPr>
          <a:xfrm rot="0">
            <a:off x="950595" y="4928235"/>
            <a:ext cx="5162550" cy="842010"/>
            <a:chOff x="0" y="0"/>
            <a:chExt cx="6883400" cy="1122680"/>
          </a:xfrm>
        </p:grpSpPr>
        <p:sp>
          <p:nvSpPr>
            <p:cNvPr name="Freeform 17" id="17"/>
            <p:cNvSpPr/>
            <p:nvPr/>
          </p:nvSpPr>
          <p:spPr>
            <a:xfrm flipH="false" flipV="false" rot="0">
              <a:off x="0" y="0"/>
              <a:ext cx="6883400" cy="1122680"/>
            </a:xfrm>
            <a:custGeom>
              <a:avLst/>
              <a:gdLst/>
              <a:ahLst/>
              <a:cxnLst/>
              <a:rect r="r" b="b" t="t" l="l"/>
              <a:pathLst>
                <a:path h="1122680" w="6883400">
                  <a:moveTo>
                    <a:pt x="0" y="168402"/>
                  </a:moveTo>
                  <a:cubicBezTo>
                    <a:pt x="0" y="75438"/>
                    <a:pt x="75438" y="0"/>
                    <a:pt x="168402" y="0"/>
                  </a:cubicBezTo>
                  <a:lnTo>
                    <a:pt x="6714998" y="0"/>
                  </a:lnTo>
                  <a:cubicBezTo>
                    <a:pt x="6807962" y="0"/>
                    <a:pt x="6883400" y="75438"/>
                    <a:pt x="6883400" y="168402"/>
                  </a:cubicBezTo>
                  <a:lnTo>
                    <a:pt x="6883400" y="954278"/>
                  </a:lnTo>
                  <a:cubicBezTo>
                    <a:pt x="6883400" y="1047242"/>
                    <a:pt x="6807962" y="1122680"/>
                    <a:pt x="6714998" y="1122680"/>
                  </a:cubicBezTo>
                  <a:lnTo>
                    <a:pt x="168402" y="1122680"/>
                  </a:lnTo>
                  <a:cubicBezTo>
                    <a:pt x="75438" y="1122680"/>
                    <a:pt x="0" y="1047242"/>
                    <a:pt x="0" y="954278"/>
                  </a:cubicBezTo>
                  <a:close/>
                </a:path>
              </a:pathLst>
            </a:custGeom>
            <a:solidFill>
              <a:srgbClr val="F4F7FC"/>
            </a:solidFill>
            <a:ln w="19050" cap="sq">
              <a:solidFill>
                <a:srgbClr val="D7DCEC"/>
              </a:solidFill>
              <a:prstDash val="solid"/>
              <a:miter/>
            </a:ln>
          </p:spPr>
        </p:sp>
      </p:grpSp>
      <p:grpSp>
        <p:nvGrpSpPr>
          <p:cNvPr name="Group 18" id="18"/>
          <p:cNvGrpSpPr/>
          <p:nvPr/>
        </p:nvGrpSpPr>
        <p:grpSpPr>
          <a:xfrm rot="0">
            <a:off x="960120" y="5006340"/>
            <a:ext cx="5143500" cy="521208"/>
            <a:chOff x="0" y="0"/>
            <a:chExt cx="6858000" cy="694944"/>
          </a:xfrm>
        </p:grpSpPr>
        <p:sp>
          <p:nvSpPr>
            <p:cNvPr name="Freeform 19" id="19"/>
            <p:cNvSpPr/>
            <p:nvPr/>
          </p:nvSpPr>
          <p:spPr>
            <a:xfrm flipH="false" flipV="false" rot="0">
              <a:off x="0" y="0"/>
              <a:ext cx="6858000" cy="694944"/>
            </a:xfrm>
            <a:custGeom>
              <a:avLst/>
              <a:gdLst/>
              <a:ahLst/>
              <a:cxnLst/>
              <a:rect r="r" b="b" t="t" l="l"/>
              <a:pathLst>
                <a:path h="694944" w="6858000">
                  <a:moveTo>
                    <a:pt x="0" y="0"/>
                  </a:moveTo>
                  <a:lnTo>
                    <a:pt x="6858000" y="0"/>
                  </a:lnTo>
                  <a:lnTo>
                    <a:pt x="6858000" y="694944"/>
                  </a:lnTo>
                  <a:lnTo>
                    <a:pt x="0" y="694944"/>
                  </a:lnTo>
                  <a:close/>
                </a:path>
              </a:pathLst>
            </a:custGeom>
            <a:blipFill>
              <a:blip r:embed="rId2">
                <a:alphaModFix amt="0"/>
              </a:blip>
              <a:stretch>
                <a:fillRect l="0" t="-142286" r="0" b="-142286"/>
              </a:stretch>
            </a:blipFill>
          </p:spPr>
        </p:sp>
        <p:sp>
          <p:nvSpPr>
            <p:cNvPr name="TextBox 20" id="20"/>
            <p:cNvSpPr txBox="true"/>
            <p:nvPr/>
          </p:nvSpPr>
          <p:spPr>
            <a:xfrm>
              <a:off x="0" y="-38100"/>
              <a:ext cx="6858000" cy="733044"/>
            </a:xfrm>
            <a:prstGeom prst="rect">
              <a:avLst/>
            </a:prstGeom>
          </p:spPr>
          <p:txBody>
            <a:bodyPr anchor="ctr" rtlCol="false" tIns="0" lIns="0" bIns="0" rIns="0"/>
            <a:lstStyle/>
            <a:p>
              <a:pPr algn="ctr">
                <a:lnSpc>
                  <a:spcPts val="2250"/>
                </a:lnSpc>
              </a:pPr>
              <a:r>
                <a:rPr lang="en-US" sz="1875">
                  <a:solidFill>
                    <a:srgbClr val="6B7280"/>
                  </a:solidFill>
                  <a:latin typeface="Calibri (MS)"/>
                  <a:ea typeface="Calibri (MS)"/>
                  <a:cs typeface="Calibri (MS)"/>
                  <a:sym typeface="Calibri (MS)"/>
                </a:rPr>
                <a:t>E-Commerce Act</a:t>
              </a:r>
            </a:p>
          </p:txBody>
        </p:sp>
      </p:grpSp>
      <p:grpSp>
        <p:nvGrpSpPr>
          <p:cNvPr name="Group 21" id="21"/>
          <p:cNvGrpSpPr/>
          <p:nvPr/>
        </p:nvGrpSpPr>
        <p:grpSpPr>
          <a:xfrm rot="0">
            <a:off x="960120" y="5376672"/>
            <a:ext cx="5143500" cy="329184"/>
            <a:chOff x="0" y="0"/>
            <a:chExt cx="6858000" cy="438912"/>
          </a:xfrm>
        </p:grpSpPr>
        <p:sp>
          <p:nvSpPr>
            <p:cNvPr name="Freeform 22" id="22"/>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23" id="23"/>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9AA3B8"/>
                  </a:solidFill>
                  <a:latin typeface="Arimo"/>
                  <a:ea typeface="Arimo"/>
                  <a:cs typeface="Arimo"/>
                  <a:sym typeface="Arimo"/>
                </a:rPr>
                <a:t>ECA</a:t>
              </a:r>
            </a:p>
          </p:txBody>
        </p:sp>
      </p:grpSp>
      <p:grpSp>
        <p:nvGrpSpPr>
          <p:cNvPr name="Group 24" id="24"/>
          <p:cNvGrpSpPr/>
          <p:nvPr/>
        </p:nvGrpSpPr>
        <p:grpSpPr>
          <a:xfrm rot="0">
            <a:off x="6533007" y="4928235"/>
            <a:ext cx="5162550" cy="842010"/>
            <a:chOff x="0" y="0"/>
            <a:chExt cx="6883400" cy="1122680"/>
          </a:xfrm>
        </p:grpSpPr>
        <p:sp>
          <p:nvSpPr>
            <p:cNvPr name="Freeform 25" id="25"/>
            <p:cNvSpPr/>
            <p:nvPr/>
          </p:nvSpPr>
          <p:spPr>
            <a:xfrm flipH="false" flipV="false" rot="0">
              <a:off x="0" y="0"/>
              <a:ext cx="6883400" cy="1122680"/>
            </a:xfrm>
            <a:custGeom>
              <a:avLst/>
              <a:gdLst/>
              <a:ahLst/>
              <a:cxnLst/>
              <a:rect r="r" b="b" t="t" l="l"/>
              <a:pathLst>
                <a:path h="1122680" w="6883400">
                  <a:moveTo>
                    <a:pt x="0" y="168402"/>
                  </a:moveTo>
                  <a:cubicBezTo>
                    <a:pt x="0" y="75438"/>
                    <a:pt x="75438" y="0"/>
                    <a:pt x="168402" y="0"/>
                  </a:cubicBezTo>
                  <a:lnTo>
                    <a:pt x="6714998" y="0"/>
                  </a:lnTo>
                  <a:cubicBezTo>
                    <a:pt x="6807962" y="0"/>
                    <a:pt x="6883400" y="75438"/>
                    <a:pt x="6883400" y="168402"/>
                  </a:cubicBezTo>
                  <a:lnTo>
                    <a:pt x="6883400" y="954278"/>
                  </a:lnTo>
                  <a:cubicBezTo>
                    <a:pt x="6883400" y="1047242"/>
                    <a:pt x="6807962" y="1122680"/>
                    <a:pt x="6714998" y="1122680"/>
                  </a:cubicBezTo>
                  <a:lnTo>
                    <a:pt x="168402" y="1122680"/>
                  </a:lnTo>
                  <a:cubicBezTo>
                    <a:pt x="75438" y="1122680"/>
                    <a:pt x="0" y="1047242"/>
                    <a:pt x="0" y="954278"/>
                  </a:cubicBezTo>
                  <a:close/>
                </a:path>
              </a:pathLst>
            </a:custGeom>
            <a:solidFill>
              <a:srgbClr val="F4F7FC"/>
            </a:solidFill>
            <a:ln w="19050" cap="sq">
              <a:solidFill>
                <a:srgbClr val="D7DCEC"/>
              </a:solidFill>
              <a:prstDash val="solid"/>
              <a:miter/>
            </a:ln>
          </p:spPr>
        </p:sp>
      </p:grpSp>
      <p:grpSp>
        <p:nvGrpSpPr>
          <p:cNvPr name="Group 26" id="26"/>
          <p:cNvGrpSpPr/>
          <p:nvPr/>
        </p:nvGrpSpPr>
        <p:grpSpPr>
          <a:xfrm rot="0">
            <a:off x="6542532" y="5006340"/>
            <a:ext cx="5143500" cy="521208"/>
            <a:chOff x="0" y="0"/>
            <a:chExt cx="6858000" cy="694944"/>
          </a:xfrm>
        </p:grpSpPr>
        <p:sp>
          <p:nvSpPr>
            <p:cNvPr name="Freeform 27" id="27"/>
            <p:cNvSpPr/>
            <p:nvPr/>
          </p:nvSpPr>
          <p:spPr>
            <a:xfrm flipH="false" flipV="false" rot="0">
              <a:off x="0" y="0"/>
              <a:ext cx="6858000" cy="694944"/>
            </a:xfrm>
            <a:custGeom>
              <a:avLst/>
              <a:gdLst/>
              <a:ahLst/>
              <a:cxnLst/>
              <a:rect r="r" b="b" t="t" l="l"/>
              <a:pathLst>
                <a:path h="694944" w="6858000">
                  <a:moveTo>
                    <a:pt x="0" y="0"/>
                  </a:moveTo>
                  <a:lnTo>
                    <a:pt x="6858000" y="0"/>
                  </a:lnTo>
                  <a:lnTo>
                    <a:pt x="6858000" y="694944"/>
                  </a:lnTo>
                  <a:lnTo>
                    <a:pt x="0" y="694944"/>
                  </a:lnTo>
                  <a:close/>
                </a:path>
              </a:pathLst>
            </a:custGeom>
            <a:blipFill>
              <a:blip r:embed="rId2">
                <a:alphaModFix amt="0"/>
              </a:blip>
              <a:stretch>
                <a:fillRect l="0" t="-142286" r="0" b="-142286"/>
              </a:stretch>
            </a:blipFill>
          </p:spPr>
        </p:sp>
        <p:sp>
          <p:nvSpPr>
            <p:cNvPr name="TextBox 28" id="28"/>
            <p:cNvSpPr txBox="true"/>
            <p:nvPr/>
          </p:nvSpPr>
          <p:spPr>
            <a:xfrm>
              <a:off x="0" y="-38100"/>
              <a:ext cx="6858000" cy="733044"/>
            </a:xfrm>
            <a:prstGeom prst="rect">
              <a:avLst/>
            </a:prstGeom>
          </p:spPr>
          <p:txBody>
            <a:bodyPr anchor="ctr" rtlCol="false" tIns="0" lIns="0" bIns="0" rIns="0"/>
            <a:lstStyle/>
            <a:p>
              <a:pPr algn="ctr">
                <a:lnSpc>
                  <a:spcPts val="2250"/>
                </a:lnSpc>
              </a:pPr>
              <a:r>
                <a:rPr lang="en-US" sz="1875">
                  <a:solidFill>
                    <a:srgbClr val="6B7280"/>
                  </a:solidFill>
                  <a:latin typeface="Calibri (MS)"/>
                  <a:ea typeface="Calibri (MS)"/>
                  <a:cs typeface="Calibri (MS)"/>
                  <a:sym typeface="Calibri (MS)"/>
                </a:rPr>
                <a:t>Cybercrime Act</a:t>
              </a:r>
            </a:p>
          </p:txBody>
        </p:sp>
      </p:grpSp>
      <p:grpSp>
        <p:nvGrpSpPr>
          <p:cNvPr name="Group 29" id="29"/>
          <p:cNvGrpSpPr/>
          <p:nvPr/>
        </p:nvGrpSpPr>
        <p:grpSpPr>
          <a:xfrm rot="0">
            <a:off x="6542532" y="5376672"/>
            <a:ext cx="5143500" cy="329184"/>
            <a:chOff x="0" y="0"/>
            <a:chExt cx="6858000" cy="438912"/>
          </a:xfrm>
        </p:grpSpPr>
        <p:sp>
          <p:nvSpPr>
            <p:cNvPr name="Freeform 30" id="30"/>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31" id="31"/>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9AA3B8"/>
                  </a:solidFill>
                  <a:latin typeface="Arimo"/>
                  <a:ea typeface="Arimo"/>
                  <a:cs typeface="Arimo"/>
                  <a:sym typeface="Arimo"/>
                </a:rPr>
                <a:t>CPA</a:t>
              </a:r>
            </a:p>
          </p:txBody>
        </p:sp>
      </p:grpSp>
      <p:grpSp>
        <p:nvGrpSpPr>
          <p:cNvPr name="Group 32" id="32"/>
          <p:cNvGrpSpPr/>
          <p:nvPr/>
        </p:nvGrpSpPr>
        <p:grpSpPr>
          <a:xfrm rot="0">
            <a:off x="950595" y="5998083"/>
            <a:ext cx="5162550" cy="842010"/>
            <a:chOff x="0" y="0"/>
            <a:chExt cx="6883400" cy="1122680"/>
          </a:xfrm>
        </p:grpSpPr>
        <p:sp>
          <p:nvSpPr>
            <p:cNvPr name="Freeform 33" id="33"/>
            <p:cNvSpPr/>
            <p:nvPr/>
          </p:nvSpPr>
          <p:spPr>
            <a:xfrm flipH="false" flipV="false" rot="0">
              <a:off x="0" y="0"/>
              <a:ext cx="6883400" cy="1122680"/>
            </a:xfrm>
            <a:custGeom>
              <a:avLst/>
              <a:gdLst/>
              <a:ahLst/>
              <a:cxnLst/>
              <a:rect r="r" b="b" t="t" l="l"/>
              <a:pathLst>
                <a:path h="1122680" w="6883400">
                  <a:moveTo>
                    <a:pt x="0" y="168402"/>
                  </a:moveTo>
                  <a:cubicBezTo>
                    <a:pt x="0" y="75438"/>
                    <a:pt x="75438" y="0"/>
                    <a:pt x="168402" y="0"/>
                  </a:cubicBezTo>
                  <a:lnTo>
                    <a:pt x="6714998" y="0"/>
                  </a:lnTo>
                  <a:cubicBezTo>
                    <a:pt x="6807962" y="0"/>
                    <a:pt x="6883400" y="75438"/>
                    <a:pt x="6883400" y="168402"/>
                  </a:cubicBezTo>
                  <a:lnTo>
                    <a:pt x="6883400" y="954278"/>
                  </a:lnTo>
                  <a:cubicBezTo>
                    <a:pt x="6883400" y="1047242"/>
                    <a:pt x="6807962" y="1122680"/>
                    <a:pt x="6714998" y="1122680"/>
                  </a:cubicBezTo>
                  <a:lnTo>
                    <a:pt x="168402" y="1122680"/>
                  </a:lnTo>
                  <a:cubicBezTo>
                    <a:pt x="75438" y="1122680"/>
                    <a:pt x="0" y="1047242"/>
                    <a:pt x="0" y="954278"/>
                  </a:cubicBezTo>
                  <a:close/>
                </a:path>
              </a:pathLst>
            </a:custGeom>
            <a:solidFill>
              <a:srgbClr val="F4F7FC"/>
            </a:solidFill>
            <a:ln w="19050" cap="sq">
              <a:solidFill>
                <a:srgbClr val="D7DCEC"/>
              </a:solidFill>
              <a:prstDash val="solid"/>
              <a:miter/>
            </a:ln>
          </p:spPr>
        </p:sp>
      </p:grpSp>
      <p:grpSp>
        <p:nvGrpSpPr>
          <p:cNvPr name="Group 34" id="34"/>
          <p:cNvGrpSpPr/>
          <p:nvPr/>
        </p:nvGrpSpPr>
        <p:grpSpPr>
          <a:xfrm rot="0">
            <a:off x="960120" y="6076188"/>
            <a:ext cx="5143500" cy="521208"/>
            <a:chOff x="0" y="0"/>
            <a:chExt cx="6858000" cy="694944"/>
          </a:xfrm>
        </p:grpSpPr>
        <p:sp>
          <p:nvSpPr>
            <p:cNvPr name="Freeform 35" id="35"/>
            <p:cNvSpPr/>
            <p:nvPr/>
          </p:nvSpPr>
          <p:spPr>
            <a:xfrm flipH="false" flipV="false" rot="0">
              <a:off x="0" y="0"/>
              <a:ext cx="6858000" cy="694944"/>
            </a:xfrm>
            <a:custGeom>
              <a:avLst/>
              <a:gdLst/>
              <a:ahLst/>
              <a:cxnLst/>
              <a:rect r="r" b="b" t="t" l="l"/>
              <a:pathLst>
                <a:path h="694944" w="6858000">
                  <a:moveTo>
                    <a:pt x="0" y="0"/>
                  </a:moveTo>
                  <a:lnTo>
                    <a:pt x="6858000" y="0"/>
                  </a:lnTo>
                  <a:lnTo>
                    <a:pt x="6858000" y="694944"/>
                  </a:lnTo>
                  <a:lnTo>
                    <a:pt x="0" y="694944"/>
                  </a:lnTo>
                  <a:close/>
                </a:path>
              </a:pathLst>
            </a:custGeom>
            <a:blipFill>
              <a:blip r:embed="rId2">
                <a:alphaModFix amt="0"/>
              </a:blip>
              <a:stretch>
                <a:fillRect l="0" t="-142286" r="0" b="-142286"/>
              </a:stretch>
            </a:blipFill>
          </p:spPr>
        </p:sp>
        <p:sp>
          <p:nvSpPr>
            <p:cNvPr name="TextBox 36" id="36"/>
            <p:cNvSpPr txBox="true"/>
            <p:nvPr/>
          </p:nvSpPr>
          <p:spPr>
            <a:xfrm>
              <a:off x="0" y="-38100"/>
              <a:ext cx="6858000" cy="733044"/>
            </a:xfrm>
            <a:prstGeom prst="rect">
              <a:avLst/>
            </a:prstGeom>
          </p:spPr>
          <p:txBody>
            <a:bodyPr anchor="ctr" rtlCol="false" tIns="0" lIns="0" bIns="0" rIns="0"/>
            <a:lstStyle/>
            <a:p>
              <a:pPr algn="ctr">
                <a:lnSpc>
                  <a:spcPts val="2250"/>
                </a:lnSpc>
              </a:pPr>
              <a:r>
                <a:rPr lang="en-US" sz="1875">
                  <a:solidFill>
                    <a:srgbClr val="6B7280"/>
                  </a:solidFill>
                  <a:latin typeface="Calibri (MS)"/>
                  <a:ea typeface="Calibri (MS)"/>
                  <a:cs typeface="Calibri (MS)"/>
                  <a:sym typeface="Calibri (MS)"/>
                </a:rPr>
                <a:t>Data Privacy Act</a:t>
              </a:r>
            </a:p>
          </p:txBody>
        </p:sp>
      </p:grpSp>
      <p:grpSp>
        <p:nvGrpSpPr>
          <p:cNvPr name="Group 37" id="37"/>
          <p:cNvGrpSpPr/>
          <p:nvPr/>
        </p:nvGrpSpPr>
        <p:grpSpPr>
          <a:xfrm rot="0">
            <a:off x="960120" y="6446520"/>
            <a:ext cx="5143500" cy="329184"/>
            <a:chOff x="0" y="0"/>
            <a:chExt cx="6858000" cy="438912"/>
          </a:xfrm>
        </p:grpSpPr>
        <p:sp>
          <p:nvSpPr>
            <p:cNvPr name="Freeform 38" id="38"/>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39" id="39"/>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9AA3B8"/>
                  </a:solidFill>
                  <a:latin typeface="Arimo"/>
                  <a:ea typeface="Arimo"/>
                  <a:cs typeface="Arimo"/>
                  <a:sym typeface="Arimo"/>
                </a:rPr>
                <a:t>DPA</a:t>
              </a:r>
            </a:p>
          </p:txBody>
        </p:sp>
      </p:grpSp>
      <p:grpSp>
        <p:nvGrpSpPr>
          <p:cNvPr name="Group 40" id="40"/>
          <p:cNvGrpSpPr/>
          <p:nvPr/>
        </p:nvGrpSpPr>
        <p:grpSpPr>
          <a:xfrm rot="0">
            <a:off x="6533007" y="5998083"/>
            <a:ext cx="5162550" cy="842010"/>
            <a:chOff x="0" y="0"/>
            <a:chExt cx="6883400" cy="1122680"/>
          </a:xfrm>
        </p:grpSpPr>
        <p:sp>
          <p:nvSpPr>
            <p:cNvPr name="Freeform 41" id="41"/>
            <p:cNvSpPr/>
            <p:nvPr/>
          </p:nvSpPr>
          <p:spPr>
            <a:xfrm flipH="false" flipV="false" rot="0">
              <a:off x="0" y="0"/>
              <a:ext cx="6883400" cy="1122680"/>
            </a:xfrm>
            <a:custGeom>
              <a:avLst/>
              <a:gdLst/>
              <a:ahLst/>
              <a:cxnLst/>
              <a:rect r="r" b="b" t="t" l="l"/>
              <a:pathLst>
                <a:path h="1122680" w="6883400">
                  <a:moveTo>
                    <a:pt x="0" y="168402"/>
                  </a:moveTo>
                  <a:cubicBezTo>
                    <a:pt x="0" y="75438"/>
                    <a:pt x="75438" y="0"/>
                    <a:pt x="168402" y="0"/>
                  </a:cubicBezTo>
                  <a:lnTo>
                    <a:pt x="6714998" y="0"/>
                  </a:lnTo>
                  <a:cubicBezTo>
                    <a:pt x="6807962" y="0"/>
                    <a:pt x="6883400" y="75438"/>
                    <a:pt x="6883400" y="168402"/>
                  </a:cubicBezTo>
                  <a:lnTo>
                    <a:pt x="6883400" y="954278"/>
                  </a:lnTo>
                  <a:cubicBezTo>
                    <a:pt x="6883400" y="1047242"/>
                    <a:pt x="6807962" y="1122680"/>
                    <a:pt x="6714998" y="1122680"/>
                  </a:cubicBezTo>
                  <a:lnTo>
                    <a:pt x="168402" y="1122680"/>
                  </a:lnTo>
                  <a:cubicBezTo>
                    <a:pt x="75438" y="1122680"/>
                    <a:pt x="0" y="1047242"/>
                    <a:pt x="0" y="954278"/>
                  </a:cubicBezTo>
                  <a:close/>
                </a:path>
              </a:pathLst>
            </a:custGeom>
            <a:solidFill>
              <a:srgbClr val="0F8A6E"/>
            </a:solidFill>
            <a:ln w="19050" cap="sq">
              <a:solidFill>
                <a:srgbClr val="0F8A6E"/>
              </a:solidFill>
              <a:prstDash val="solid"/>
              <a:miter/>
            </a:ln>
          </p:spPr>
        </p:sp>
      </p:grpSp>
      <p:grpSp>
        <p:nvGrpSpPr>
          <p:cNvPr name="Group 42" id="42"/>
          <p:cNvGrpSpPr/>
          <p:nvPr/>
        </p:nvGrpSpPr>
        <p:grpSpPr>
          <a:xfrm rot="0">
            <a:off x="6542532" y="6076188"/>
            <a:ext cx="5143500" cy="521208"/>
            <a:chOff x="0" y="0"/>
            <a:chExt cx="6858000" cy="694944"/>
          </a:xfrm>
        </p:grpSpPr>
        <p:sp>
          <p:nvSpPr>
            <p:cNvPr name="Freeform 43" id="43"/>
            <p:cNvSpPr/>
            <p:nvPr/>
          </p:nvSpPr>
          <p:spPr>
            <a:xfrm flipH="false" flipV="false" rot="0">
              <a:off x="0" y="0"/>
              <a:ext cx="6858000" cy="694944"/>
            </a:xfrm>
            <a:custGeom>
              <a:avLst/>
              <a:gdLst/>
              <a:ahLst/>
              <a:cxnLst/>
              <a:rect r="r" b="b" t="t" l="l"/>
              <a:pathLst>
                <a:path h="694944" w="6858000">
                  <a:moveTo>
                    <a:pt x="0" y="0"/>
                  </a:moveTo>
                  <a:lnTo>
                    <a:pt x="6858000" y="0"/>
                  </a:lnTo>
                  <a:lnTo>
                    <a:pt x="6858000" y="694944"/>
                  </a:lnTo>
                  <a:lnTo>
                    <a:pt x="0" y="694944"/>
                  </a:lnTo>
                  <a:close/>
                </a:path>
              </a:pathLst>
            </a:custGeom>
            <a:blipFill>
              <a:blip r:embed="rId2">
                <a:alphaModFix amt="0"/>
              </a:blip>
              <a:stretch>
                <a:fillRect l="0" t="-142286" r="0" b="-142286"/>
              </a:stretch>
            </a:blipFill>
          </p:spPr>
        </p:sp>
        <p:sp>
          <p:nvSpPr>
            <p:cNvPr name="TextBox 44" id="44"/>
            <p:cNvSpPr txBox="true"/>
            <p:nvPr/>
          </p:nvSpPr>
          <p:spPr>
            <a:xfrm>
              <a:off x="0" y="-38100"/>
              <a:ext cx="6858000" cy="733044"/>
            </a:xfrm>
            <a:prstGeom prst="rect">
              <a:avLst/>
            </a:prstGeom>
          </p:spPr>
          <p:txBody>
            <a:bodyPr anchor="ctr" rtlCol="false" tIns="0" lIns="0" bIns="0" rIns="0"/>
            <a:lstStyle/>
            <a:p>
              <a:pPr algn="ctr">
                <a:lnSpc>
                  <a:spcPts val="2250"/>
                </a:lnSpc>
              </a:pPr>
              <a:r>
                <a:rPr lang="en-US" sz="1875" b="true">
                  <a:solidFill>
                    <a:srgbClr val="FFFFFF"/>
                  </a:solidFill>
                  <a:latin typeface="Calibri (MS) Bold"/>
                  <a:ea typeface="Calibri (MS) Bold"/>
                  <a:cs typeface="Calibri (MS) Bold"/>
                  <a:sym typeface="Calibri (MS) Bold"/>
                </a:rPr>
                <a:t>✓  DICT Act / NCSP</a:t>
              </a:r>
            </a:p>
          </p:txBody>
        </p:sp>
      </p:grpSp>
      <p:grpSp>
        <p:nvGrpSpPr>
          <p:cNvPr name="Group 45" id="45"/>
          <p:cNvGrpSpPr/>
          <p:nvPr/>
        </p:nvGrpSpPr>
        <p:grpSpPr>
          <a:xfrm rot="0">
            <a:off x="6542532" y="6446520"/>
            <a:ext cx="5143500" cy="329184"/>
            <a:chOff x="0" y="0"/>
            <a:chExt cx="6858000" cy="438912"/>
          </a:xfrm>
        </p:grpSpPr>
        <p:sp>
          <p:nvSpPr>
            <p:cNvPr name="Freeform 46" id="46"/>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47" id="47"/>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FFFFFF"/>
                  </a:solidFill>
                  <a:latin typeface="Arimo"/>
                  <a:ea typeface="Arimo"/>
                  <a:cs typeface="Arimo"/>
                  <a:sym typeface="Arimo"/>
                </a:rPr>
                <a:t>DICT</a:t>
              </a:r>
            </a:p>
          </p:txBody>
        </p:sp>
      </p:grpSp>
      <p:grpSp>
        <p:nvGrpSpPr>
          <p:cNvPr name="Group 48" id="48"/>
          <p:cNvGrpSpPr/>
          <p:nvPr/>
        </p:nvGrpSpPr>
        <p:grpSpPr>
          <a:xfrm rot="0">
            <a:off x="12115419" y="4928235"/>
            <a:ext cx="5162550" cy="1911858"/>
            <a:chOff x="0" y="0"/>
            <a:chExt cx="6883400" cy="2549144"/>
          </a:xfrm>
        </p:grpSpPr>
        <p:sp>
          <p:nvSpPr>
            <p:cNvPr name="Freeform 49" id="49"/>
            <p:cNvSpPr/>
            <p:nvPr/>
          </p:nvSpPr>
          <p:spPr>
            <a:xfrm flipH="false" flipV="false" rot="0">
              <a:off x="0" y="0"/>
              <a:ext cx="6883400" cy="2549144"/>
            </a:xfrm>
            <a:custGeom>
              <a:avLst/>
              <a:gdLst/>
              <a:ahLst/>
              <a:cxnLst/>
              <a:rect r="r" b="b" t="t" l="l"/>
              <a:pathLst>
                <a:path h="2549144" w="6883400">
                  <a:moveTo>
                    <a:pt x="0" y="166243"/>
                  </a:moveTo>
                  <a:cubicBezTo>
                    <a:pt x="0" y="74422"/>
                    <a:pt x="74422" y="0"/>
                    <a:pt x="166243" y="0"/>
                  </a:cubicBezTo>
                  <a:lnTo>
                    <a:pt x="6717157" y="0"/>
                  </a:lnTo>
                  <a:cubicBezTo>
                    <a:pt x="6808978" y="0"/>
                    <a:pt x="6883400" y="74422"/>
                    <a:pt x="6883400" y="166243"/>
                  </a:cubicBezTo>
                  <a:lnTo>
                    <a:pt x="6883400" y="2382901"/>
                  </a:lnTo>
                  <a:cubicBezTo>
                    <a:pt x="6883400" y="2474722"/>
                    <a:pt x="6808978" y="2549144"/>
                    <a:pt x="6717157" y="2549144"/>
                  </a:cubicBezTo>
                  <a:lnTo>
                    <a:pt x="166243" y="2549144"/>
                  </a:lnTo>
                  <a:cubicBezTo>
                    <a:pt x="74422" y="2549144"/>
                    <a:pt x="0" y="2474722"/>
                    <a:pt x="0" y="2382901"/>
                  </a:cubicBezTo>
                  <a:close/>
                </a:path>
              </a:pathLst>
            </a:custGeom>
            <a:solidFill>
              <a:srgbClr val="F4F7FC"/>
            </a:solidFill>
            <a:ln w="19050" cap="sq">
              <a:solidFill>
                <a:srgbClr val="D7DCEC"/>
              </a:solidFill>
              <a:prstDash val="solid"/>
              <a:miter/>
            </a:ln>
          </p:spPr>
        </p:sp>
      </p:grpSp>
      <p:grpSp>
        <p:nvGrpSpPr>
          <p:cNvPr name="Group 50" id="50"/>
          <p:cNvGrpSpPr/>
          <p:nvPr/>
        </p:nvGrpSpPr>
        <p:grpSpPr>
          <a:xfrm rot="0">
            <a:off x="12124944" y="5006340"/>
            <a:ext cx="5143500" cy="1591056"/>
            <a:chOff x="0" y="0"/>
            <a:chExt cx="6858000" cy="2121408"/>
          </a:xfrm>
        </p:grpSpPr>
        <p:sp>
          <p:nvSpPr>
            <p:cNvPr name="Freeform 51" id="51"/>
            <p:cNvSpPr/>
            <p:nvPr/>
          </p:nvSpPr>
          <p:spPr>
            <a:xfrm flipH="false" flipV="false" rot="0">
              <a:off x="0" y="0"/>
              <a:ext cx="6858000" cy="2121408"/>
            </a:xfrm>
            <a:custGeom>
              <a:avLst/>
              <a:gdLst/>
              <a:ahLst/>
              <a:cxnLst/>
              <a:rect r="r" b="b" t="t" l="l"/>
              <a:pathLst>
                <a:path h="2121408" w="6858000">
                  <a:moveTo>
                    <a:pt x="0" y="0"/>
                  </a:moveTo>
                  <a:lnTo>
                    <a:pt x="6858000" y="0"/>
                  </a:lnTo>
                  <a:lnTo>
                    <a:pt x="6858000" y="2121408"/>
                  </a:lnTo>
                  <a:lnTo>
                    <a:pt x="0" y="2121408"/>
                  </a:lnTo>
                  <a:close/>
                </a:path>
              </a:pathLst>
            </a:custGeom>
            <a:blipFill>
              <a:blip r:embed="rId2">
                <a:alphaModFix amt="0"/>
              </a:blip>
              <a:stretch>
                <a:fillRect l="0" t="-12990" r="0" b="-12990"/>
              </a:stretch>
            </a:blipFill>
          </p:spPr>
        </p:sp>
        <p:sp>
          <p:nvSpPr>
            <p:cNvPr name="TextBox 52" id="52"/>
            <p:cNvSpPr txBox="true"/>
            <p:nvPr/>
          </p:nvSpPr>
          <p:spPr>
            <a:xfrm>
              <a:off x="0" y="-38100"/>
              <a:ext cx="6858000" cy="2159508"/>
            </a:xfrm>
            <a:prstGeom prst="rect">
              <a:avLst/>
            </a:prstGeom>
          </p:spPr>
          <p:txBody>
            <a:bodyPr anchor="ctr" rtlCol="false" tIns="0" lIns="0" bIns="0" rIns="0"/>
            <a:lstStyle/>
            <a:p>
              <a:pPr algn="ctr">
                <a:lnSpc>
                  <a:spcPts val="2250"/>
                </a:lnSpc>
              </a:pPr>
              <a:r>
                <a:rPr lang="en-US" sz="1875">
                  <a:solidFill>
                    <a:srgbClr val="6B7280"/>
                  </a:solidFill>
                  <a:latin typeface="Calibri (MS)"/>
                  <a:ea typeface="Calibri (MS)"/>
                  <a:cs typeface="Calibri (MS)"/>
                  <a:sym typeface="Calibri (MS)"/>
                </a:rPr>
                <a:t>Critical Infra. Protection</a:t>
              </a:r>
            </a:p>
          </p:txBody>
        </p:sp>
      </p:grpSp>
      <p:grpSp>
        <p:nvGrpSpPr>
          <p:cNvPr name="Group 53" id="53"/>
          <p:cNvGrpSpPr/>
          <p:nvPr/>
        </p:nvGrpSpPr>
        <p:grpSpPr>
          <a:xfrm rot="0">
            <a:off x="12124944" y="6446520"/>
            <a:ext cx="5143500" cy="329184"/>
            <a:chOff x="0" y="0"/>
            <a:chExt cx="6858000" cy="438912"/>
          </a:xfrm>
        </p:grpSpPr>
        <p:sp>
          <p:nvSpPr>
            <p:cNvPr name="Freeform 54" id="54"/>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55" id="55"/>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9AA3B8"/>
                  </a:solidFill>
                  <a:latin typeface="Arimo"/>
                  <a:ea typeface="Arimo"/>
                  <a:cs typeface="Arimo"/>
                  <a:sym typeface="Arimo"/>
                </a:rPr>
                <a:t>CII</a:t>
              </a:r>
            </a:p>
          </p:txBody>
        </p:sp>
      </p:grpSp>
      <p:grpSp>
        <p:nvGrpSpPr>
          <p:cNvPr name="Group 56" id="56"/>
          <p:cNvGrpSpPr/>
          <p:nvPr/>
        </p:nvGrpSpPr>
        <p:grpSpPr>
          <a:xfrm rot="0">
            <a:off x="950595" y="7328535"/>
            <a:ext cx="16341090" cy="1596390"/>
            <a:chOff x="0" y="0"/>
            <a:chExt cx="21788120" cy="2128520"/>
          </a:xfrm>
        </p:grpSpPr>
        <p:sp>
          <p:nvSpPr>
            <p:cNvPr name="Freeform 57" id="57"/>
            <p:cNvSpPr/>
            <p:nvPr/>
          </p:nvSpPr>
          <p:spPr>
            <a:xfrm flipH="false" flipV="false" rot="0">
              <a:off x="0" y="0"/>
              <a:ext cx="21788120" cy="2128520"/>
            </a:xfrm>
            <a:custGeom>
              <a:avLst/>
              <a:gdLst/>
              <a:ahLst/>
              <a:cxnLst/>
              <a:rect r="r" b="b" t="t" l="l"/>
              <a:pathLst>
                <a:path h="2128520" w="21788120">
                  <a:moveTo>
                    <a:pt x="0" y="185039"/>
                  </a:moveTo>
                  <a:cubicBezTo>
                    <a:pt x="0" y="82931"/>
                    <a:pt x="82931" y="0"/>
                    <a:pt x="185039" y="0"/>
                  </a:cubicBezTo>
                  <a:lnTo>
                    <a:pt x="21603081" y="0"/>
                  </a:lnTo>
                  <a:cubicBezTo>
                    <a:pt x="21705317" y="0"/>
                    <a:pt x="21788120" y="82931"/>
                    <a:pt x="21788120" y="185039"/>
                  </a:cubicBezTo>
                  <a:lnTo>
                    <a:pt x="21788120" y="1943481"/>
                  </a:lnTo>
                  <a:cubicBezTo>
                    <a:pt x="21788120" y="2045716"/>
                    <a:pt x="21705190" y="2128520"/>
                    <a:pt x="21603081" y="2128520"/>
                  </a:cubicBezTo>
                  <a:lnTo>
                    <a:pt x="185039" y="2128520"/>
                  </a:lnTo>
                  <a:cubicBezTo>
                    <a:pt x="82931" y="2128520"/>
                    <a:pt x="0" y="2045589"/>
                    <a:pt x="0" y="1943481"/>
                  </a:cubicBezTo>
                  <a:close/>
                </a:path>
              </a:pathLst>
            </a:custGeom>
            <a:solidFill>
              <a:srgbClr val="FBF9F4"/>
            </a:solidFill>
            <a:ln w="19050" cap="sq">
              <a:solidFill>
                <a:srgbClr val="EFE6D2"/>
              </a:solidFill>
              <a:prstDash val="solid"/>
              <a:miter/>
            </a:ln>
          </p:spPr>
        </p:sp>
      </p:grpSp>
      <p:sp>
        <p:nvSpPr>
          <p:cNvPr name="TextBox 58" id="58"/>
          <p:cNvSpPr txBox="true"/>
          <p:nvPr/>
        </p:nvSpPr>
        <p:spPr>
          <a:xfrm rot="0">
            <a:off x="1463040" y="7494270"/>
            <a:ext cx="15316200" cy="1238250"/>
          </a:xfrm>
          <a:prstGeom prst="rect">
            <a:avLst/>
          </a:prstGeom>
        </p:spPr>
        <p:txBody>
          <a:bodyPr anchor="t" rtlCol="false" tIns="0" lIns="0" bIns="0" rIns="0">
            <a:spAutoFit/>
          </a:bodyPr>
          <a:lstStyle/>
          <a:p>
            <a:pPr algn="l">
              <a:lnSpc>
                <a:spcPts val="2764"/>
              </a:lnSpc>
            </a:pPr>
            <a:r>
              <a:rPr lang="en-US" sz="1800">
                <a:solidFill>
                  <a:srgbClr val="23262F"/>
                </a:solidFill>
                <a:latin typeface="Calibri (MS)"/>
                <a:ea typeface="Calibri (MS)"/>
                <a:cs typeface="Calibri (MS)"/>
                <a:sym typeface="Calibri (MS)"/>
              </a:rPr>
              <a:t>That's the National Cybersecurity Plan 2023–2028, adopted through Executive Order 58 — DICT's roadmap for national cyber governance, critical infrastructure protection, and workforce development that provincial planning can align with.</a:t>
            </a:r>
          </a:p>
        </p:txBody>
      </p:sp>
      <p:grpSp>
        <p:nvGrpSpPr>
          <p:cNvPr name="Group 59" id="59"/>
          <p:cNvGrpSpPr/>
          <p:nvPr/>
        </p:nvGrpSpPr>
        <p:grpSpPr>
          <a:xfrm rot="0">
            <a:off x="685800" y="9710928"/>
            <a:ext cx="10972800" cy="411480"/>
            <a:chOff x="0" y="0"/>
            <a:chExt cx="14630400" cy="548640"/>
          </a:xfrm>
        </p:grpSpPr>
        <p:sp>
          <p:nvSpPr>
            <p:cNvPr name="Freeform 60" id="60"/>
            <p:cNvSpPr/>
            <p:nvPr/>
          </p:nvSpPr>
          <p:spPr>
            <a:xfrm flipH="false" flipV="false" rot="0">
              <a:off x="0" y="0"/>
              <a:ext cx="14630400" cy="548640"/>
            </a:xfrm>
            <a:custGeom>
              <a:avLst/>
              <a:gdLst/>
              <a:ahLst/>
              <a:cxnLst/>
              <a:rect r="r" b="b" t="t" l="l"/>
              <a:pathLst>
                <a:path h="548640" w="14630400">
                  <a:moveTo>
                    <a:pt x="0" y="0"/>
                  </a:moveTo>
                  <a:lnTo>
                    <a:pt x="14630400" y="0"/>
                  </a:lnTo>
                  <a:lnTo>
                    <a:pt x="14630400" y="548640"/>
                  </a:lnTo>
                  <a:lnTo>
                    <a:pt x="0" y="548640"/>
                  </a:lnTo>
                  <a:close/>
                </a:path>
              </a:pathLst>
            </a:custGeom>
            <a:blipFill>
              <a:blip r:embed="rId2">
                <a:alphaModFix amt="0"/>
              </a:blip>
              <a:stretch>
                <a:fillRect l="0" t="-469601" r="0" b="-469601"/>
              </a:stretch>
            </a:blipFill>
          </p:spPr>
        </p:sp>
        <p:sp>
          <p:nvSpPr>
            <p:cNvPr name="TextBox 61" id="61"/>
            <p:cNvSpPr txBox="true"/>
            <p:nvPr/>
          </p:nvSpPr>
          <p:spPr>
            <a:xfrm>
              <a:off x="0" y="-38100"/>
              <a:ext cx="14630400" cy="586740"/>
            </a:xfrm>
            <a:prstGeom prst="rect">
              <a:avLst/>
            </a:prstGeom>
          </p:spPr>
          <p:txBody>
            <a:bodyPr anchor="ctr" rtlCol="false" tIns="0" lIns="0" bIns="0" rIns="0"/>
            <a:lstStyle/>
            <a:p>
              <a:pPr algn="l">
                <a:lnSpc>
                  <a:spcPts val="1800"/>
                </a:lnSpc>
              </a:pPr>
              <a:r>
                <a:rPr lang="en-US" sz="1500">
                  <a:solidFill>
                    <a:srgbClr val="6B7280"/>
                  </a:solidFill>
                  <a:latin typeface="Calibri (MS)"/>
                  <a:ea typeface="Calibri (MS)"/>
                  <a:cs typeface="Calibri (MS)"/>
                  <a:sym typeface="Calibri (MS)"/>
                </a:rPr>
                <a:t>Davao del Norte Provincial Government — Cybersecurity Seminar</a:t>
              </a:r>
            </a:p>
          </p:txBody>
        </p:sp>
      </p:grpSp>
      <p:grpSp>
        <p:nvGrpSpPr>
          <p:cNvPr name="Group 62" id="62"/>
          <p:cNvGrpSpPr/>
          <p:nvPr/>
        </p:nvGrpSpPr>
        <p:grpSpPr>
          <a:xfrm rot="0">
            <a:off x="16911828" y="9710928"/>
            <a:ext cx="685800" cy="411480"/>
            <a:chOff x="0" y="0"/>
            <a:chExt cx="914400" cy="548640"/>
          </a:xfrm>
        </p:grpSpPr>
        <p:sp>
          <p:nvSpPr>
            <p:cNvPr name="Freeform 63" id="63"/>
            <p:cNvSpPr/>
            <p:nvPr/>
          </p:nvSpPr>
          <p:spPr>
            <a:xfrm flipH="false" flipV="false" rot="0">
              <a:off x="0" y="0"/>
              <a:ext cx="914400" cy="548640"/>
            </a:xfrm>
            <a:custGeom>
              <a:avLst/>
              <a:gdLst/>
              <a:ahLst/>
              <a:cxnLst/>
              <a:rect r="r" b="b" t="t" l="l"/>
              <a:pathLst>
                <a:path h="548640" w="914400">
                  <a:moveTo>
                    <a:pt x="0" y="0"/>
                  </a:moveTo>
                  <a:lnTo>
                    <a:pt x="914400" y="0"/>
                  </a:lnTo>
                  <a:lnTo>
                    <a:pt x="914400" y="548640"/>
                  </a:lnTo>
                  <a:lnTo>
                    <a:pt x="0" y="548640"/>
                  </a:lnTo>
                  <a:close/>
                </a:path>
              </a:pathLst>
            </a:custGeom>
            <a:blipFill>
              <a:blip r:embed="rId2">
                <a:alphaModFix amt="0"/>
              </a:blip>
              <a:stretch>
                <a:fillRect l="-26982" t="0" r="-26982" b="0"/>
              </a:stretch>
            </a:blipFill>
          </p:spPr>
        </p:sp>
        <p:sp>
          <p:nvSpPr>
            <p:cNvPr name="TextBox 64" id="64"/>
            <p:cNvSpPr txBox="true"/>
            <p:nvPr/>
          </p:nvSpPr>
          <p:spPr>
            <a:xfrm>
              <a:off x="0" y="-38100"/>
              <a:ext cx="914400" cy="586740"/>
            </a:xfrm>
            <a:prstGeom prst="rect">
              <a:avLst/>
            </a:prstGeom>
          </p:spPr>
          <p:txBody>
            <a:bodyPr anchor="ctr" rtlCol="false" tIns="0" lIns="0" bIns="0" rIns="0"/>
            <a:lstStyle/>
            <a:p>
              <a:pPr algn="r">
                <a:lnSpc>
                  <a:spcPts val="1800"/>
                </a:lnSpc>
              </a:pPr>
              <a:r>
                <a:rPr lang="en-US" sz="1500">
                  <a:solidFill>
                    <a:srgbClr val="6B7280"/>
                  </a:solidFill>
                  <a:latin typeface="Calibri (MS)"/>
                  <a:ea typeface="Calibri (MS)"/>
                  <a:cs typeface="Calibri (MS)"/>
                  <a:sym typeface="Calibri (MS)"/>
                </a:rPr>
                <a:t>36</a:t>
              </a:r>
            </a:p>
          </p:txBody>
        </p:sp>
      </p:grpSp>
    </p:spTree>
  </p:cSld>
  <p:clrMapOvr>
    <a:masterClrMapping/>
  </p:clrMapOvr>
</p:sld>
</file>

<file path=ppt/slides/slide15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60120" y="685800"/>
            <a:ext cx="13716000" cy="411480"/>
            <a:chOff x="0" y="0"/>
            <a:chExt cx="18288000" cy="548640"/>
          </a:xfrm>
        </p:grpSpPr>
        <p:sp>
          <p:nvSpPr>
            <p:cNvPr name="Freeform 3" id="3"/>
            <p:cNvSpPr/>
            <p:nvPr/>
          </p:nvSpPr>
          <p:spPr>
            <a:xfrm flipH="false" flipV="false" rot="0">
              <a:off x="0" y="0"/>
              <a:ext cx="18288000" cy="548640"/>
            </a:xfrm>
            <a:custGeom>
              <a:avLst/>
              <a:gdLst/>
              <a:ahLst/>
              <a:cxnLst/>
              <a:rect r="r" b="b" t="t" l="l"/>
              <a:pathLst>
                <a:path h="548640" w="18288000">
                  <a:moveTo>
                    <a:pt x="0" y="0"/>
                  </a:moveTo>
                  <a:lnTo>
                    <a:pt x="18288000" y="0"/>
                  </a:lnTo>
                  <a:lnTo>
                    <a:pt x="18288000" y="548640"/>
                  </a:lnTo>
                  <a:lnTo>
                    <a:pt x="0" y="548640"/>
                  </a:lnTo>
                  <a:close/>
                </a:path>
              </a:pathLst>
            </a:custGeom>
            <a:blipFill>
              <a:blip r:embed="rId2">
                <a:alphaModFix amt="0"/>
              </a:blip>
              <a:stretch>
                <a:fillRect l="0" t="-599501" r="0" b="-599501"/>
              </a:stretch>
            </a:blipFill>
          </p:spPr>
        </p:sp>
        <p:sp>
          <p:nvSpPr>
            <p:cNvPr name="TextBox 4" id="4"/>
            <p:cNvSpPr txBox="true"/>
            <p:nvPr/>
          </p:nvSpPr>
          <p:spPr>
            <a:xfrm>
              <a:off x="0" y="-38100"/>
              <a:ext cx="18288000" cy="586740"/>
            </a:xfrm>
            <a:prstGeom prst="rect">
              <a:avLst/>
            </a:prstGeom>
          </p:spPr>
          <p:txBody>
            <a:bodyPr anchor="ctr" rtlCol="false" tIns="0" lIns="0" bIns="0" rIns="0"/>
            <a:lstStyle/>
            <a:p>
              <a:pPr algn="l">
                <a:lnSpc>
                  <a:spcPts val="2160"/>
                </a:lnSpc>
              </a:pPr>
              <a:r>
                <a:rPr lang="en-US" b="true" sz="1800" spc="225">
                  <a:solidFill>
                    <a:srgbClr val="00B4D8"/>
                  </a:solidFill>
                  <a:latin typeface="Calibri (MS) Bold"/>
                  <a:ea typeface="Calibri (MS) Bold"/>
                  <a:cs typeface="Calibri (MS) Bold"/>
                  <a:sym typeface="Calibri (MS) Bold"/>
                </a:rPr>
                <a:t>PH CYBER LAW SORT · SCENARIO</a:t>
              </a:r>
            </a:p>
          </p:txBody>
        </p:sp>
      </p:grpSp>
      <p:grpSp>
        <p:nvGrpSpPr>
          <p:cNvPr name="Group 5" id="5"/>
          <p:cNvGrpSpPr/>
          <p:nvPr/>
        </p:nvGrpSpPr>
        <p:grpSpPr>
          <a:xfrm rot="0">
            <a:off x="960120" y="1069848"/>
            <a:ext cx="10972800" cy="822960"/>
            <a:chOff x="0" y="0"/>
            <a:chExt cx="14630400" cy="1097280"/>
          </a:xfrm>
        </p:grpSpPr>
        <p:sp>
          <p:nvSpPr>
            <p:cNvPr name="Freeform 6" id="6"/>
            <p:cNvSpPr/>
            <p:nvPr/>
          </p:nvSpPr>
          <p:spPr>
            <a:xfrm flipH="false" flipV="false" rot="0">
              <a:off x="0" y="0"/>
              <a:ext cx="14630400" cy="1097280"/>
            </a:xfrm>
            <a:custGeom>
              <a:avLst/>
              <a:gdLst/>
              <a:ahLst/>
              <a:cxnLst/>
              <a:rect r="r" b="b" t="t" l="l"/>
              <a:pathLst>
                <a:path h="1097280" w="14630400">
                  <a:moveTo>
                    <a:pt x="0" y="0"/>
                  </a:moveTo>
                  <a:lnTo>
                    <a:pt x="14630400" y="0"/>
                  </a:lnTo>
                  <a:lnTo>
                    <a:pt x="14630400" y="1097280"/>
                  </a:lnTo>
                  <a:lnTo>
                    <a:pt x="0" y="1097280"/>
                  </a:lnTo>
                  <a:close/>
                </a:path>
              </a:pathLst>
            </a:custGeom>
            <a:blipFill>
              <a:blip r:embed="rId2">
                <a:alphaModFix amt="0"/>
              </a:blip>
              <a:stretch>
                <a:fillRect l="0" t="-209800" r="0" b="-209800"/>
              </a:stretch>
            </a:blipFill>
          </p:spPr>
        </p:sp>
        <p:sp>
          <p:nvSpPr>
            <p:cNvPr name="TextBox 7" id="7"/>
            <p:cNvSpPr txBox="true"/>
            <p:nvPr/>
          </p:nvSpPr>
          <p:spPr>
            <a:xfrm>
              <a:off x="0" y="0"/>
              <a:ext cx="14630400" cy="1097280"/>
            </a:xfrm>
            <a:prstGeom prst="rect">
              <a:avLst/>
            </a:prstGeom>
          </p:spPr>
          <p:txBody>
            <a:bodyPr anchor="ctr" rtlCol="false" tIns="0" lIns="0" bIns="0" rIns="0"/>
            <a:lstStyle/>
            <a:p>
              <a:pPr algn="l">
                <a:lnSpc>
                  <a:spcPts val="4680"/>
                </a:lnSpc>
              </a:pPr>
              <a:r>
                <a:rPr lang="en-US" sz="3900" b="true">
                  <a:solidFill>
                    <a:srgbClr val="1E2761"/>
                  </a:solidFill>
                  <a:latin typeface="Cambria Bold"/>
                  <a:ea typeface="Cambria Bold"/>
                  <a:cs typeface="Cambria Bold"/>
                  <a:sym typeface="Cambria Bold"/>
                </a:rPr>
                <a:t>Scenario 14</a:t>
              </a:r>
            </a:p>
          </p:txBody>
        </p:sp>
      </p:grpSp>
      <p:grpSp>
        <p:nvGrpSpPr>
          <p:cNvPr name="Group 8" id="8"/>
          <p:cNvGrpSpPr/>
          <p:nvPr/>
        </p:nvGrpSpPr>
        <p:grpSpPr>
          <a:xfrm rot="0">
            <a:off x="960120" y="1810512"/>
            <a:ext cx="8229600" cy="411480"/>
            <a:chOff x="0" y="0"/>
            <a:chExt cx="10972800" cy="548640"/>
          </a:xfrm>
        </p:grpSpPr>
        <p:sp>
          <p:nvSpPr>
            <p:cNvPr name="Freeform 9" id="9"/>
            <p:cNvSpPr/>
            <p:nvPr/>
          </p:nvSpPr>
          <p:spPr>
            <a:xfrm flipH="false" flipV="false" rot="0">
              <a:off x="0" y="0"/>
              <a:ext cx="10972800" cy="548640"/>
            </a:xfrm>
            <a:custGeom>
              <a:avLst/>
              <a:gdLst/>
              <a:ahLst/>
              <a:cxnLst/>
              <a:rect r="r" b="b" t="t" l="l"/>
              <a:pathLst>
                <a:path h="548640" w="10972800">
                  <a:moveTo>
                    <a:pt x="0" y="0"/>
                  </a:moveTo>
                  <a:lnTo>
                    <a:pt x="10972800" y="0"/>
                  </a:lnTo>
                  <a:lnTo>
                    <a:pt x="10972800" y="548640"/>
                  </a:lnTo>
                  <a:lnTo>
                    <a:pt x="0" y="548640"/>
                  </a:lnTo>
                  <a:close/>
                </a:path>
              </a:pathLst>
            </a:custGeom>
            <a:blipFill>
              <a:blip r:embed="rId2">
                <a:alphaModFix amt="0"/>
              </a:blip>
              <a:stretch>
                <a:fillRect l="0" t="-339700" r="0" b="-339700"/>
              </a:stretch>
            </a:blipFill>
          </p:spPr>
        </p:sp>
        <p:sp>
          <p:nvSpPr>
            <p:cNvPr name="TextBox 10" id="10"/>
            <p:cNvSpPr txBox="true"/>
            <p:nvPr/>
          </p:nvSpPr>
          <p:spPr>
            <a:xfrm>
              <a:off x="0" y="-28575"/>
              <a:ext cx="10972800" cy="577215"/>
            </a:xfrm>
            <a:prstGeom prst="rect">
              <a:avLst/>
            </a:prstGeom>
          </p:spPr>
          <p:txBody>
            <a:bodyPr anchor="ctr" rtlCol="false" tIns="0" lIns="0" bIns="0" rIns="0"/>
            <a:lstStyle/>
            <a:p>
              <a:pPr algn="l">
                <a:lnSpc>
                  <a:spcPts val="1980"/>
                </a:lnSpc>
              </a:pPr>
              <a:r>
                <a:rPr lang="en-US" sz="1650">
                  <a:solidFill>
                    <a:srgbClr val="6B7280"/>
                  </a:solidFill>
                  <a:latin typeface="Calibri (MS)"/>
                  <a:ea typeface="Calibri (MS)"/>
                  <a:cs typeface="Calibri (MS)"/>
                  <a:sym typeface="Calibri (MS)"/>
                </a:rPr>
                <a:t>14 of 15</a:t>
              </a:r>
            </a:p>
          </p:txBody>
        </p:sp>
      </p:grpSp>
      <p:grpSp>
        <p:nvGrpSpPr>
          <p:cNvPr name="Group 11" id="11"/>
          <p:cNvGrpSpPr/>
          <p:nvPr/>
        </p:nvGrpSpPr>
        <p:grpSpPr>
          <a:xfrm rot="0">
            <a:off x="960120" y="2537460"/>
            <a:ext cx="16322040" cy="2811780"/>
            <a:chOff x="0" y="0"/>
            <a:chExt cx="21762720" cy="3749040"/>
          </a:xfrm>
        </p:grpSpPr>
        <p:sp>
          <p:nvSpPr>
            <p:cNvPr name="Freeform 12" id="12"/>
            <p:cNvSpPr/>
            <p:nvPr/>
          </p:nvSpPr>
          <p:spPr>
            <a:xfrm flipH="false" flipV="false" rot="0">
              <a:off x="0" y="0"/>
              <a:ext cx="21762720" cy="3749040"/>
            </a:xfrm>
            <a:custGeom>
              <a:avLst/>
              <a:gdLst/>
              <a:ahLst/>
              <a:cxnLst/>
              <a:rect r="r" b="b" t="t" l="l"/>
              <a:pathLst>
                <a:path h="3749040" w="21762720">
                  <a:moveTo>
                    <a:pt x="0" y="182880"/>
                  </a:moveTo>
                  <a:cubicBezTo>
                    <a:pt x="0" y="81915"/>
                    <a:pt x="81915" y="0"/>
                    <a:pt x="182880" y="0"/>
                  </a:cubicBezTo>
                  <a:lnTo>
                    <a:pt x="21579839" y="0"/>
                  </a:lnTo>
                  <a:cubicBezTo>
                    <a:pt x="21680804" y="0"/>
                    <a:pt x="21762720" y="81915"/>
                    <a:pt x="21762720" y="182880"/>
                  </a:cubicBezTo>
                  <a:lnTo>
                    <a:pt x="21762720" y="3566160"/>
                  </a:lnTo>
                  <a:cubicBezTo>
                    <a:pt x="21762720" y="3667125"/>
                    <a:pt x="21680804" y="3749040"/>
                    <a:pt x="21579839" y="3749040"/>
                  </a:cubicBezTo>
                  <a:lnTo>
                    <a:pt x="182880" y="3749040"/>
                  </a:lnTo>
                  <a:cubicBezTo>
                    <a:pt x="81915" y="3749040"/>
                    <a:pt x="0" y="3667125"/>
                    <a:pt x="0" y="3566160"/>
                  </a:cubicBezTo>
                  <a:close/>
                </a:path>
              </a:pathLst>
            </a:custGeom>
            <a:solidFill>
              <a:srgbClr val="F4F7FC"/>
            </a:solidFill>
          </p:spPr>
        </p:sp>
      </p:grpSp>
      <p:grpSp>
        <p:nvGrpSpPr>
          <p:cNvPr name="Group 13" id="13"/>
          <p:cNvGrpSpPr/>
          <p:nvPr/>
        </p:nvGrpSpPr>
        <p:grpSpPr>
          <a:xfrm rot="0">
            <a:off x="1440180" y="2811780"/>
            <a:ext cx="15361920" cy="2263140"/>
            <a:chOff x="0" y="0"/>
            <a:chExt cx="20482560" cy="3017520"/>
          </a:xfrm>
        </p:grpSpPr>
        <p:sp>
          <p:nvSpPr>
            <p:cNvPr name="Freeform 14" id="14"/>
            <p:cNvSpPr/>
            <p:nvPr/>
          </p:nvSpPr>
          <p:spPr>
            <a:xfrm flipH="false" flipV="false" rot="0">
              <a:off x="0" y="0"/>
              <a:ext cx="20482561" cy="3017520"/>
            </a:xfrm>
            <a:custGeom>
              <a:avLst/>
              <a:gdLst/>
              <a:ahLst/>
              <a:cxnLst/>
              <a:rect r="r" b="b" t="t" l="l"/>
              <a:pathLst>
                <a:path h="3017520" w="20482561">
                  <a:moveTo>
                    <a:pt x="0" y="0"/>
                  </a:moveTo>
                  <a:lnTo>
                    <a:pt x="20482561" y="0"/>
                  </a:lnTo>
                  <a:lnTo>
                    <a:pt x="20482561" y="3017520"/>
                  </a:lnTo>
                  <a:lnTo>
                    <a:pt x="0" y="3017520"/>
                  </a:lnTo>
                  <a:close/>
                </a:path>
              </a:pathLst>
            </a:custGeom>
            <a:blipFill>
              <a:blip r:embed="rId2">
                <a:alphaModFix amt="0"/>
              </a:blip>
              <a:stretch>
                <a:fillRect l="0" t="-82262" r="0" b="-82262"/>
              </a:stretch>
            </a:blipFill>
          </p:spPr>
        </p:sp>
        <p:sp>
          <p:nvSpPr>
            <p:cNvPr name="TextBox 15" id="15"/>
            <p:cNvSpPr txBox="true"/>
            <p:nvPr/>
          </p:nvSpPr>
          <p:spPr>
            <a:xfrm>
              <a:off x="0" y="-104775"/>
              <a:ext cx="20482560" cy="3122295"/>
            </a:xfrm>
            <a:prstGeom prst="rect">
              <a:avLst/>
            </a:prstGeom>
          </p:spPr>
          <p:txBody>
            <a:bodyPr anchor="ctr" rtlCol="false" tIns="0" lIns="0" bIns="0" rIns="0"/>
            <a:lstStyle/>
            <a:p>
              <a:pPr algn="l">
                <a:lnSpc>
                  <a:spcPts val="4147"/>
                </a:lnSpc>
              </a:pPr>
              <a:r>
                <a:rPr lang="en-US" sz="2700" i="true">
                  <a:solidFill>
                    <a:srgbClr val="23262F"/>
                  </a:solidFill>
                  <a:latin typeface="Cambria Italics"/>
                  <a:ea typeface="Cambria Italics"/>
                  <a:cs typeface="Cambria Italics"/>
                  <a:sym typeface="Cambria Italics"/>
                </a:rPr>
                <a:t>"The province's central server, which residents depend on daily, suffers a confirmed ransomware attack. IT needs to know who to notify and how fast."</a:t>
              </a:r>
            </a:p>
          </p:txBody>
        </p:sp>
      </p:grpSp>
      <p:sp>
        <p:nvSpPr>
          <p:cNvPr name="TextBox 16" id="16"/>
          <p:cNvSpPr txBox="true"/>
          <p:nvPr/>
        </p:nvSpPr>
        <p:spPr>
          <a:xfrm rot="0">
            <a:off x="1051560" y="5604510"/>
            <a:ext cx="16139160" cy="864870"/>
          </a:xfrm>
          <a:prstGeom prst="rect">
            <a:avLst/>
          </a:prstGeom>
        </p:spPr>
        <p:txBody>
          <a:bodyPr anchor="t" rtlCol="false" tIns="0" lIns="0" bIns="0" rIns="0">
            <a:spAutoFit/>
          </a:bodyPr>
          <a:lstStyle/>
          <a:p>
            <a:pPr algn="ctr">
              <a:lnSpc>
                <a:spcPts val="3402"/>
              </a:lnSpc>
            </a:pPr>
            <a:r>
              <a:rPr lang="en-US" sz="2100" i="true">
                <a:solidFill>
                  <a:srgbClr val="6B7280"/>
                </a:solidFill>
                <a:latin typeface="Calibri (MS) Italics"/>
                <a:ea typeface="Calibri (MS) Italics"/>
                <a:cs typeface="Calibri (MS) Italics"/>
                <a:sym typeface="Calibri (MS) Italics"/>
              </a:rPr>
              <a:t>Which law or DICT issuance governs this? Discuss, then we'll reveal the answer.</a:t>
            </a:r>
          </a:p>
        </p:txBody>
      </p:sp>
      <p:grpSp>
        <p:nvGrpSpPr>
          <p:cNvPr name="Group 17" id="17"/>
          <p:cNvGrpSpPr/>
          <p:nvPr/>
        </p:nvGrpSpPr>
        <p:grpSpPr>
          <a:xfrm rot="0">
            <a:off x="950595" y="6779895"/>
            <a:ext cx="5162550" cy="910590"/>
            <a:chOff x="0" y="0"/>
            <a:chExt cx="6883400" cy="1214120"/>
          </a:xfrm>
        </p:grpSpPr>
        <p:sp>
          <p:nvSpPr>
            <p:cNvPr name="Freeform 18" id="18"/>
            <p:cNvSpPr/>
            <p:nvPr/>
          </p:nvSpPr>
          <p:spPr>
            <a:xfrm flipH="false" flipV="false" rot="0">
              <a:off x="0" y="0"/>
              <a:ext cx="6883400" cy="1214120"/>
            </a:xfrm>
            <a:custGeom>
              <a:avLst/>
              <a:gdLst/>
              <a:ahLst/>
              <a:cxnLst/>
              <a:rect r="r" b="b" t="t" l="l"/>
              <a:pathLst>
                <a:path h="1214120" w="6883400">
                  <a:moveTo>
                    <a:pt x="0" y="168148"/>
                  </a:moveTo>
                  <a:cubicBezTo>
                    <a:pt x="0" y="75311"/>
                    <a:pt x="75311" y="0"/>
                    <a:pt x="168148" y="0"/>
                  </a:cubicBezTo>
                  <a:lnTo>
                    <a:pt x="6715252" y="0"/>
                  </a:lnTo>
                  <a:cubicBezTo>
                    <a:pt x="6808089" y="0"/>
                    <a:pt x="6883400" y="75311"/>
                    <a:pt x="6883400" y="168148"/>
                  </a:cubicBezTo>
                  <a:lnTo>
                    <a:pt x="6883400" y="1045972"/>
                  </a:lnTo>
                  <a:cubicBezTo>
                    <a:pt x="6883400" y="1138809"/>
                    <a:pt x="6808089" y="1214120"/>
                    <a:pt x="6715252" y="1214120"/>
                  </a:cubicBezTo>
                  <a:lnTo>
                    <a:pt x="168148" y="1214120"/>
                  </a:lnTo>
                  <a:cubicBezTo>
                    <a:pt x="75311" y="1214120"/>
                    <a:pt x="0" y="1138809"/>
                    <a:pt x="0" y="1045972"/>
                  </a:cubicBezTo>
                  <a:close/>
                </a:path>
              </a:pathLst>
            </a:custGeom>
            <a:solidFill>
              <a:srgbClr val="F4F7FC"/>
            </a:solidFill>
            <a:ln w="19050" cap="sq">
              <a:solidFill>
                <a:srgbClr val="D7DCEC"/>
              </a:solidFill>
              <a:prstDash val="solid"/>
              <a:miter/>
            </a:ln>
          </p:spPr>
        </p:sp>
      </p:grpSp>
      <p:grpSp>
        <p:nvGrpSpPr>
          <p:cNvPr name="Group 19" id="19"/>
          <p:cNvGrpSpPr/>
          <p:nvPr/>
        </p:nvGrpSpPr>
        <p:grpSpPr>
          <a:xfrm rot="0">
            <a:off x="960120" y="6858000"/>
            <a:ext cx="5143500" cy="589788"/>
            <a:chOff x="0" y="0"/>
            <a:chExt cx="6858000" cy="786384"/>
          </a:xfrm>
        </p:grpSpPr>
        <p:sp>
          <p:nvSpPr>
            <p:cNvPr name="Freeform 20" id="20"/>
            <p:cNvSpPr/>
            <p:nvPr/>
          </p:nvSpPr>
          <p:spPr>
            <a:xfrm flipH="false" flipV="false" rot="0">
              <a:off x="0" y="0"/>
              <a:ext cx="6858000" cy="786384"/>
            </a:xfrm>
            <a:custGeom>
              <a:avLst/>
              <a:gdLst/>
              <a:ahLst/>
              <a:cxnLst/>
              <a:rect r="r" b="b" t="t" l="l"/>
              <a:pathLst>
                <a:path h="786384" w="6858000">
                  <a:moveTo>
                    <a:pt x="0" y="0"/>
                  </a:moveTo>
                  <a:lnTo>
                    <a:pt x="6858000" y="0"/>
                  </a:lnTo>
                  <a:lnTo>
                    <a:pt x="6858000" y="786384"/>
                  </a:lnTo>
                  <a:lnTo>
                    <a:pt x="0" y="786384"/>
                  </a:lnTo>
                  <a:close/>
                </a:path>
              </a:pathLst>
            </a:custGeom>
            <a:blipFill>
              <a:blip r:embed="rId2">
                <a:alphaModFix amt="0"/>
              </a:blip>
              <a:stretch>
                <a:fillRect l="0" t="-119927" r="0" b="-119927"/>
              </a:stretch>
            </a:blipFill>
          </p:spPr>
        </p:sp>
        <p:sp>
          <p:nvSpPr>
            <p:cNvPr name="TextBox 21" id="21"/>
            <p:cNvSpPr txBox="true"/>
            <p:nvPr/>
          </p:nvSpPr>
          <p:spPr>
            <a:xfrm>
              <a:off x="0" y="-38100"/>
              <a:ext cx="6858000" cy="824484"/>
            </a:xfrm>
            <a:prstGeom prst="rect">
              <a:avLst/>
            </a:prstGeom>
          </p:spPr>
          <p:txBody>
            <a:bodyPr anchor="ctr" rtlCol="false" tIns="0" lIns="0" bIns="0" rIns="0"/>
            <a:lstStyle/>
            <a:p>
              <a:pPr algn="ctr">
                <a:lnSpc>
                  <a:spcPts val="2250"/>
                </a:lnSpc>
              </a:pPr>
              <a:r>
                <a:rPr lang="en-US" sz="1875">
                  <a:solidFill>
                    <a:srgbClr val="6B7280"/>
                  </a:solidFill>
                  <a:latin typeface="Calibri (MS)"/>
                  <a:ea typeface="Calibri (MS)"/>
                  <a:cs typeface="Calibri (MS)"/>
                  <a:sym typeface="Calibri (MS)"/>
                </a:rPr>
                <a:t>E-Commerce Act</a:t>
              </a:r>
            </a:p>
          </p:txBody>
        </p:sp>
      </p:grpSp>
      <p:grpSp>
        <p:nvGrpSpPr>
          <p:cNvPr name="Group 22" id="22"/>
          <p:cNvGrpSpPr/>
          <p:nvPr/>
        </p:nvGrpSpPr>
        <p:grpSpPr>
          <a:xfrm rot="0">
            <a:off x="960120" y="7296912"/>
            <a:ext cx="5143500" cy="329184"/>
            <a:chOff x="0" y="0"/>
            <a:chExt cx="6858000" cy="438912"/>
          </a:xfrm>
        </p:grpSpPr>
        <p:sp>
          <p:nvSpPr>
            <p:cNvPr name="Freeform 23" id="23"/>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24" id="24"/>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9AA3B8"/>
                  </a:solidFill>
                  <a:latin typeface="Arimo"/>
                  <a:ea typeface="Arimo"/>
                  <a:cs typeface="Arimo"/>
                  <a:sym typeface="Arimo"/>
                </a:rPr>
                <a:t>ECA</a:t>
              </a:r>
            </a:p>
          </p:txBody>
        </p:sp>
      </p:grpSp>
      <p:grpSp>
        <p:nvGrpSpPr>
          <p:cNvPr name="Group 25" id="25"/>
          <p:cNvGrpSpPr/>
          <p:nvPr/>
        </p:nvGrpSpPr>
        <p:grpSpPr>
          <a:xfrm rot="0">
            <a:off x="6533007" y="6779895"/>
            <a:ext cx="5162550" cy="910590"/>
            <a:chOff x="0" y="0"/>
            <a:chExt cx="6883400" cy="1214120"/>
          </a:xfrm>
        </p:grpSpPr>
        <p:sp>
          <p:nvSpPr>
            <p:cNvPr name="Freeform 26" id="26"/>
            <p:cNvSpPr/>
            <p:nvPr/>
          </p:nvSpPr>
          <p:spPr>
            <a:xfrm flipH="false" flipV="false" rot="0">
              <a:off x="0" y="0"/>
              <a:ext cx="6883400" cy="1214120"/>
            </a:xfrm>
            <a:custGeom>
              <a:avLst/>
              <a:gdLst/>
              <a:ahLst/>
              <a:cxnLst/>
              <a:rect r="r" b="b" t="t" l="l"/>
              <a:pathLst>
                <a:path h="1214120" w="6883400">
                  <a:moveTo>
                    <a:pt x="0" y="168148"/>
                  </a:moveTo>
                  <a:cubicBezTo>
                    <a:pt x="0" y="75311"/>
                    <a:pt x="75311" y="0"/>
                    <a:pt x="168148" y="0"/>
                  </a:cubicBezTo>
                  <a:lnTo>
                    <a:pt x="6715252" y="0"/>
                  </a:lnTo>
                  <a:cubicBezTo>
                    <a:pt x="6808089" y="0"/>
                    <a:pt x="6883400" y="75311"/>
                    <a:pt x="6883400" y="168148"/>
                  </a:cubicBezTo>
                  <a:lnTo>
                    <a:pt x="6883400" y="1045972"/>
                  </a:lnTo>
                  <a:cubicBezTo>
                    <a:pt x="6883400" y="1138809"/>
                    <a:pt x="6808089" y="1214120"/>
                    <a:pt x="6715252" y="1214120"/>
                  </a:cubicBezTo>
                  <a:lnTo>
                    <a:pt x="168148" y="1214120"/>
                  </a:lnTo>
                  <a:cubicBezTo>
                    <a:pt x="75311" y="1214120"/>
                    <a:pt x="0" y="1138809"/>
                    <a:pt x="0" y="1045972"/>
                  </a:cubicBezTo>
                  <a:close/>
                </a:path>
              </a:pathLst>
            </a:custGeom>
            <a:solidFill>
              <a:srgbClr val="F4F7FC"/>
            </a:solidFill>
            <a:ln w="19050" cap="sq">
              <a:solidFill>
                <a:srgbClr val="D7DCEC"/>
              </a:solidFill>
              <a:prstDash val="solid"/>
              <a:miter/>
            </a:ln>
          </p:spPr>
        </p:sp>
      </p:grpSp>
      <p:grpSp>
        <p:nvGrpSpPr>
          <p:cNvPr name="Group 27" id="27"/>
          <p:cNvGrpSpPr/>
          <p:nvPr/>
        </p:nvGrpSpPr>
        <p:grpSpPr>
          <a:xfrm rot="0">
            <a:off x="6542532" y="6858000"/>
            <a:ext cx="5143500" cy="589788"/>
            <a:chOff x="0" y="0"/>
            <a:chExt cx="6858000" cy="786384"/>
          </a:xfrm>
        </p:grpSpPr>
        <p:sp>
          <p:nvSpPr>
            <p:cNvPr name="Freeform 28" id="28"/>
            <p:cNvSpPr/>
            <p:nvPr/>
          </p:nvSpPr>
          <p:spPr>
            <a:xfrm flipH="false" flipV="false" rot="0">
              <a:off x="0" y="0"/>
              <a:ext cx="6858000" cy="786384"/>
            </a:xfrm>
            <a:custGeom>
              <a:avLst/>
              <a:gdLst/>
              <a:ahLst/>
              <a:cxnLst/>
              <a:rect r="r" b="b" t="t" l="l"/>
              <a:pathLst>
                <a:path h="786384" w="6858000">
                  <a:moveTo>
                    <a:pt x="0" y="0"/>
                  </a:moveTo>
                  <a:lnTo>
                    <a:pt x="6858000" y="0"/>
                  </a:lnTo>
                  <a:lnTo>
                    <a:pt x="6858000" y="786384"/>
                  </a:lnTo>
                  <a:lnTo>
                    <a:pt x="0" y="786384"/>
                  </a:lnTo>
                  <a:close/>
                </a:path>
              </a:pathLst>
            </a:custGeom>
            <a:blipFill>
              <a:blip r:embed="rId2">
                <a:alphaModFix amt="0"/>
              </a:blip>
              <a:stretch>
                <a:fillRect l="0" t="-119927" r="0" b="-119927"/>
              </a:stretch>
            </a:blipFill>
          </p:spPr>
        </p:sp>
        <p:sp>
          <p:nvSpPr>
            <p:cNvPr name="TextBox 29" id="29"/>
            <p:cNvSpPr txBox="true"/>
            <p:nvPr/>
          </p:nvSpPr>
          <p:spPr>
            <a:xfrm>
              <a:off x="0" y="-38100"/>
              <a:ext cx="6858000" cy="824484"/>
            </a:xfrm>
            <a:prstGeom prst="rect">
              <a:avLst/>
            </a:prstGeom>
          </p:spPr>
          <p:txBody>
            <a:bodyPr anchor="ctr" rtlCol="false" tIns="0" lIns="0" bIns="0" rIns="0"/>
            <a:lstStyle/>
            <a:p>
              <a:pPr algn="ctr">
                <a:lnSpc>
                  <a:spcPts val="2250"/>
                </a:lnSpc>
              </a:pPr>
              <a:r>
                <a:rPr lang="en-US" sz="1875">
                  <a:solidFill>
                    <a:srgbClr val="6B7280"/>
                  </a:solidFill>
                  <a:latin typeface="Calibri (MS)"/>
                  <a:ea typeface="Calibri (MS)"/>
                  <a:cs typeface="Calibri (MS)"/>
                  <a:sym typeface="Calibri (MS)"/>
                </a:rPr>
                <a:t>Cybercrime Act</a:t>
              </a:r>
            </a:p>
          </p:txBody>
        </p:sp>
      </p:grpSp>
      <p:grpSp>
        <p:nvGrpSpPr>
          <p:cNvPr name="Group 30" id="30"/>
          <p:cNvGrpSpPr/>
          <p:nvPr/>
        </p:nvGrpSpPr>
        <p:grpSpPr>
          <a:xfrm rot="0">
            <a:off x="6542532" y="7296912"/>
            <a:ext cx="5143500" cy="329184"/>
            <a:chOff x="0" y="0"/>
            <a:chExt cx="6858000" cy="438912"/>
          </a:xfrm>
        </p:grpSpPr>
        <p:sp>
          <p:nvSpPr>
            <p:cNvPr name="Freeform 31" id="31"/>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32" id="32"/>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9AA3B8"/>
                  </a:solidFill>
                  <a:latin typeface="Arimo"/>
                  <a:ea typeface="Arimo"/>
                  <a:cs typeface="Arimo"/>
                  <a:sym typeface="Arimo"/>
                </a:rPr>
                <a:t>CPA</a:t>
              </a:r>
            </a:p>
          </p:txBody>
        </p:sp>
      </p:grpSp>
      <p:grpSp>
        <p:nvGrpSpPr>
          <p:cNvPr name="Group 33" id="33"/>
          <p:cNvGrpSpPr/>
          <p:nvPr/>
        </p:nvGrpSpPr>
        <p:grpSpPr>
          <a:xfrm rot="0">
            <a:off x="950595" y="7945755"/>
            <a:ext cx="5162550" cy="910590"/>
            <a:chOff x="0" y="0"/>
            <a:chExt cx="6883400" cy="1214120"/>
          </a:xfrm>
        </p:grpSpPr>
        <p:sp>
          <p:nvSpPr>
            <p:cNvPr name="Freeform 34" id="34"/>
            <p:cNvSpPr/>
            <p:nvPr/>
          </p:nvSpPr>
          <p:spPr>
            <a:xfrm flipH="false" flipV="false" rot="0">
              <a:off x="0" y="0"/>
              <a:ext cx="6883400" cy="1214120"/>
            </a:xfrm>
            <a:custGeom>
              <a:avLst/>
              <a:gdLst/>
              <a:ahLst/>
              <a:cxnLst/>
              <a:rect r="r" b="b" t="t" l="l"/>
              <a:pathLst>
                <a:path h="1214120" w="6883400">
                  <a:moveTo>
                    <a:pt x="0" y="168148"/>
                  </a:moveTo>
                  <a:cubicBezTo>
                    <a:pt x="0" y="75311"/>
                    <a:pt x="75311" y="0"/>
                    <a:pt x="168148" y="0"/>
                  </a:cubicBezTo>
                  <a:lnTo>
                    <a:pt x="6715252" y="0"/>
                  </a:lnTo>
                  <a:cubicBezTo>
                    <a:pt x="6808089" y="0"/>
                    <a:pt x="6883400" y="75311"/>
                    <a:pt x="6883400" y="168148"/>
                  </a:cubicBezTo>
                  <a:lnTo>
                    <a:pt x="6883400" y="1045972"/>
                  </a:lnTo>
                  <a:cubicBezTo>
                    <a:pt x="6883400" y="1138809"/>
                    <a:pt x="6808089" y="1214120"/>
                    <a:pt x="6715252" y="1214120"/>
                  </a:cubicBezTo>
                  <a:lnTo>
                    <a:pt x="168148" y="1214120"/>
                  </a:lnTo>
                  <a:cubicBezTo>
                    <a:pt x="75311" y="1214120"/>
                    <a:pt x="0" y="1138809"/>
                    <a:pt x="0" y="1045972"/>
                  </a:cubicBezTo>
                  <a:close/>
                </a:path>
              </a:pathLst>
            </a:custGeom>
            <a:solidFill>
              <a:srgbClr val="F4F7FC"/>
            </a:solidFill>
            <a:ln w="19050" cap="sq">
              <a:solidFill>
                <a:srgbClr val="D7DCEC"/>
              </a:solidFill>
              <a:prstDash val="solid"/>
              <a:miter/>
            </a:ln>
          </p:spPr>
        </p:sp>
      </p:grpSp>
      <p:grpSp>
        <p:nvGrpSpPr>
          <p:cNvPr name="Group 35" id="35"/>
          <p:cNvGrpSpPr/>
          <p:nvPr/>
        </p:nvGrpSpPr>
        <p:grpSpPr>
          <a:xfrm rot="0">
            <a:off x="960120" y="8023860"/>
            <a:ext cx="5143500" cy="589788"/>
            <a:chOff x="0" y="0"/>
            <a:chExt cx="6858000" cy="786384"/>
          </a:xfrm>
        </p:grpSpPr>
        <p:sp>
          <p:nvSpPr>
            <p:cNvPr name="Freeform 36" id="36"/>
            <p:cNvSpPr/>
            <p:nvPr/>
          </p:nvSpPr>
          <p:spPr>
            <a:xfrm flipH="false" flipV="false" rot="0">
              <a:off x="0" y="0"/>
              <a:ext cx="6858000" cy="786384"/>
            </a:xfrm>
            <a:custGeom>
              <a:avLst/>
              <a:gdLst/>
              <a:ahLst/>
              <a:cxnLst/>
              <a:rect r="r" b="b" t="t" l="l"/>
              <a:pathLst>
                <a:path h="786384" w="6858000">
                  <a:moveTo>
                    <a:pt x="0" y="0"/>
                  </a:moveTo>
                  <a:lnTo>
                    <a:pt x="6858000" y="0"/>
                  </a:lnTo>
                  <a:lnTo>
                    <a:pt x="6858000" y="786384"/>
                  </a:lnTo>
                  <a:lnTo>
                    <a:pt x="0" y="786384"/>
                  </a:lnTo>
                  <a:close/>
                </a:path>
              </a:pathLst>
            </a:custGeom>
            <a:blipFill>
              <a:blip r:embed="rId2">
                <a:alphaModFix amt="0"/>
              </a:blip>
              <a:stretch>
                <a:fillRect l="0" t="-119927" r="0" b="-119927"/>
              </a:stretch>
            </a:blipFill>
          </p:spPr>
        </p:sp>
        <p:sp>
          <p:nvSpPr>
            <p:cNvPr name="TextBox 37" id="37"/>
            <p:cNvSpPr txBox="true"/>
            <p:nvPr/>
          </p:nvSpPr>
          <p:spPr>
            <a:xfrm>
              <a:off x="0" y="-38100"/>
              <a:ext cx="6858000" cy="824484"/>
            </a:xfrm>
            <a:prstGeom prst="rect">
              <a:avLst/>
            </a:prstGeom>
          </p:spPr>
          <p:txBody>
            <a:bodyPr anchor="ctr" rtlCol="false" tIns="0" lIns="0" bIns="0" rIns="0"/>
            <a:lstStyle/>
            <a:p>
              <a:pPr algn="ctr">
                <a:lnSpc>
                  <a:spcPts val="2250"/>
                </a:lnSpc>
              </a:pPr>
              <a:r>
                <a:rPr lang="en-US" sz="1875">
                  <a:solidFill>
                    <a:srgbClr val="6B7280"/>
                  </a:solidFill>
                  <a:latin typeface="Calibri (MS)"/>
                  <a:ea typeface="Calibri (MS)"/>
                  <a:cs typeface="Calibri (MS)"/>
                  <a:sym typeface="Calibri (MS)"/>
                </a:rPr>
                <a:t>Data Privacy Act</a:t>
              </a:r>
            </a:p>
          </p:txBody>
        </p:sp>
      </p:grpSp>
      <p:grpSp>
        <p:nvGrpSpPr>
          <p:cNvPr name="Group 38" id="38"/>
          <p:cNvGrpSpPr/>
          <p:nvPr/>
        </p:nvGrpSpPr>
        <p:grpSpPr>
          <a:xfrm rot="0">
            <a:off x="960120" y="8462772"/>
            <a:ext cx="5143500" cy="329184"/>
            <a:chOff x="0" y="0"/>
            <a:chExt cx="6858000" cy="438912"/>
          </a:xfrm>
        </p:grpSpPr>
        <p:sp>
          <p:nvSpPr>
            <p:cNvPr name="Freeform 39" id="39"/>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40" id="40"/>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9AA3B8"/>
                  </a:solidFill>
                  <a:latin typeface="Arimo"/>
                  <a:ea typeface="Arimo"/>
                  <a:cs typeface="Arimo"/>
                  <a:sym typeface="Arimo"/>
                </a:rPr>
                <a:t>DPA</a:t>
              </a:r>
            </a:p>
          </p:txBody>
        </p:sp>
      </p:grpSp>
      <p:grpSp>
        <p:nvGrpSpPr>
          <p:cNvPr name="Group 41" id="41"/>
          <p:cNvGrpSpPr/>
          <p:nvPr/>
        </p:nvGrpSpPr>
        <p:grpSpPr>
          <a:xfrm rot="0">
            <a:off x="6533007" y="7945755"/>
            <a:ext cx="5162550" cy="910590"/>
            <a:chOff x="0" y="0"/>
            <a:chExt cx="6883400" cy="1214120"/>
          </a:xfrm>
        </p:grpSpPr>
        <p:sp>
          <p:nvSpPr>
            <p:cNvPr name="Freeform 42" id="42"/>
            <p:cNvSpPr/>
            <p:nvPr/>
          </p:nvSpPr>
          <p:spPr>
            <a:xfrm flipH="false" flipV="false" rot="0">
              <a:off x="0" y="0"/>
              <a:ext cx="6883400" cy="1214120"/>
            </a:xfrm>
            <a:custGeom>
              <a:avLst/>
              <a:gdLst/>
              <a:ahLst/>
              <a:cxnLst/>
              <a:rect r="r" b="b" t="t" l="l"/>
              <a:pathLst>
                <a:path h="1214120" w="6883400">
                  <a:moveTo>
                    <a:pt x="0" y="168148"/>
                  </a:moveTo>
                  <a:cubicBezTo>
                    <a:pt x="0" y="75311"/>
                    <a:pt x="75311" y="0"/>
                    <a:pt x="168148" y="0"/>
                  </a:cubicBezTo>
                  <a:lnTo>
                    <a:pt x="6715252" y="0"/>
                  </a:lnTo>
                  <a:cubicBezTo>
                    <a:pt x="6808089" y="0"/>
                    <a:pt x="6883400" y="75311"/>
                    <a:pt x="6883400" y="168148"/>
                  </a:cubicBezTo>
                  <a:lnTo>
                    <a:pt x="6883400" y="1045972"/>
                  </a:lnTo>
                  <a:cubicBezTo>
                    <a:pt x="6883400" y="1138809"/>
                    <a:pt x="6808089" y="1214120"/>
                    <a:pt x="6715252" y="1214120"/>
                  </a:cubicBezTo>
                  <a:lnTo>
                    <a:pt x="168148" y="1214120"/>
                  </a:lnTo>
                  <a:cubicBezTo>
                    <a:pt x="75311" y="1214120"/>
                    <a:pt x="0" y="1138809"/>
                    <a:pt x="0" y="1045972"/>
                  </a:cubicBezTo>
                  <a:close/>
                </a:path>
              </a:pathLst>
            </a:custGeom>
            <a:solidFill>
              <a:srgbClr val="F4F7FC"/>
            </a:solidFill>
            <a:ln w="19050" cap="sq">
              <a:solidFill>
                <a:srgbClr val="D7DCEC"/>
              </a:solidFill>
              <a:prstDash val="solid"/>
              <a:miter/>
            </a:ln>
          </p:spPr>
        </p:sp>
      </p:grpSp>
      <p:grpSp>
        <p:nvGrpSpPr>
          <p:cNvPr name="Group 43" id="43"/>
          <p:cNvGrpSpPr/>
          <p:nvPr/>
        </p:nvGrpSpPr>
        <p:grpSpPr>
          <a:xfrm rot="0">
            <a:off x="6542532" y="8023860"/>
            <a:ext cx="5143500" cy="589788"/>
            <a:chOff x="0" y="0"/>
            <a:chExt cx="6858000" cy="786384"/>
          </a:xfrm>
        </p:grpSpPr>
        <p:sp>
          <p:nvSpPr>
            <p:cNvPr name="Freeform 44" id="44"/>
            <p:cNvSpPr/>
            <p:nvPr/>
          </p:nvSpPr>
          <p:spPr>
            <a:xfrm flipH="false" flipV="false" rot="0">
              <a:off x="0" y="0"/>
              <a:ext cx="6858000" cy="786384"/>
            </a:xfrm>
            <a:custGeom>
              <a:avLst/>
              <a:gdLst/>
              <a:ahLst/>
              <a:cxnLst/>
              <a:rect r="r" b="b" t="t" l="l"/>
              <a:pathLst>
                <a:path h="786384" w="6858000">
                  <a:moveTo>
                    <a:pt x="0" y="0"/>
                  </a:moveTo>
                  <a:lnTo>
                    <a:pt x="6858000" y="0"/>
                  </a:lnTo>
                  <a:lnTo>
                    <a:pt x="6858000" y="786384"/>
                  </a:lnTo>
                  <a:lnTo>
                    <a:pt x="0" y="786384"/>
                  </a:lnTo>
                  <a:close/>
                </a:path>
              </a:pathLst>
            </a:custGeom>
            <a:blipFill>
              <a:blip r:embed="rId2">
                <a:alphaModFix amt="0"/>
              </a:blip>
              <a:stretch>
                <a:fillRect l="0" t="-119927" r="0" b="-119927"/>
              </a:stretch>
            </a:blipFill>
          </p:spPr>
        </p:sp>
        <p:sp>
          <p:nvSpPr>
            <p:cNvPr name="TextBox 45" id="45"/>
            <p:cNvSpPr txBox="true"/>
            <p:nvPr/>
          </p:nvSpPr>
          <p:spPr>
            <a:xfrm>
              <a:off x="0" y="-38100"/>
              <a:ext cx="6858000" cy="824484"/>
            </a:xfrm>
            <a:prstGeom prst="rect">
              <a:avLst/>
            </a:prstGeom>
          </p:spPr>
          <p:txBody>
            <a:bodyPr anchor="ctr" rtlCol="false" tIns="0" lIns="0" bIns="0" rIns="0"/>
            <a:lstStyle/>
            <a:p>
              <a:pPr algn="ctr">
                <a:lnSpc>
                  <a:spcPts val="2250"/>
                </a:lnSpc>
              </a:pPr>
              <a:r>
                <a:rPr lang="en-US" sz="1875">
                  <a:solidFill>
                    <a:srgbClr val="6B7280"/>
                  </a:solidFill>
                  <a:latin typeface="Calibri (MS)"/>
                  <a:ea typeface="Calibri (MS)"/>
                  <a:cs typeface="Calibri (MS)"/>
                  <a:sym typeface="Calibri (MS)"/>
                </a:rPr>
                <a:t>DICT Act / NCSP</a:t>
              </a:r>
            </a:p>
          </p:txBody>
        </p:sp>
      </p:grpSp>
      <p:grpSp>
        <p:nvGrpSpPr>
          <p:cNvPr name="Group 46" id="46"/>
          <p:cNvGrpSpPr/>
          <p:nvPr/>
        </p:nvGrpSpPr>
        <p:grpSpPr>
          <a:xfrm rot="0">
            <a:off x="6542532" y="8462772"/>
            <a:ext cx="5143500" cy="329184"/>
            <a:chOff x="0" y="0"/>
            <a:chExt cx="6858000" cy="438912"/>
          </a:xfrm>
        </p:grpSpPr>
        <p:sp>
          <p:nvSpPr>
            <p:cNvPr name="Freeform 47" id="47"/>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48" id="48"/>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9AA3B8"/>
                  </a:solidFill>
                  <a:latin typeface="Arimo"/>
                  <a:ea typeface="Arimo"/>
                  <a:cs typeface="Arimo"/>
                  <a:sym typeface="Arimo"/>
                </a:rPr>
                <a:t>DICT</a:t>
              </a:r>
            </a:p>
          </p:txBody>
        </p:sp>
      </p:grpSp>
      <p:grpSp>
        <p:nvGrpSpPr>
          <p:cNvPr name="Group 49" id="49"/>
          <p:cNvGrpSpPr/>
          <p:nvPr/>
        </p:nvGrpSpPr>
        <p:grpSpPr>
          <a:xfrm rot="0">
            <a:off x="12115419" y="6779895"/>
            <a:ext cx="5162550" cy="2076450"/>
            <a:chOff x="0" y="0"/>
            <a:chExt cx="6883400" cy="2768600"/>
          </a:xfrm>
        </p:grpSpPr>
        <p:sp>
          <p:nvSpPr>
            <p:cNvPr name="Freeform 50" id="50"/>
            <p:cNvSpPr/>
            <p:nvPr/>
          </p:nvSpPr>
          <p:spPr>
            <a:xfrm flipH="false" flipV="false" rot="0">
              <a:off x="0" y="0"/>
              <a:ext cx="6883400" cy="2768600"/>
            </a:xfrm>
            <a:custGeom>
              <a:avLst/>
              <a:gdLst/>
              <a:ahLst/>
              <a:cxnLst/>
              <a:rect r="r" b="b" t="t" l="l"/>
              <a:pathLst>
                <a:path h="2768600" w="6883400">
                  <a:moveTo>
                    <a:pt x="0" y="166116"/>
                  </a:moveTo>
                  <a:cubicBezTo>
                    <a:pt x="0" y="74422"/>
                    <a:pt x="74422" y="0"/>
                    <a:pt x="166116" y="0"/>
                  </a:cubicBezTo>
                  <a:lnTo>
                    <a:pt x="6717284" y="0"/>
                  </a:lnTo>
                  <a:cubicBezTo>
                    <a:pt x="6808978" y="0"/>
                    <a:pt x="6883400" y="74422"/>
                    <a:pt x="6883400" y="166116"/>
                  </a:cubicBezTo>
                  <a:lnTo>
                    <a:pt x="6883400" y="2602484"/>
                  </a:lnTo>
                  <a:cubicBezTo>
                    <a:pt x="6883400" y="2694178"/>
                    <a:pt x="6808978" y="2768600"/>
                    <a:pt x="6717284" y="2768600"/>
                  </a:cubicBezTo>
                  <a:lnTo>
                    <a:pt x="166116" y="2768600"/>
                  </a:lnTo>
                  <a:cubicBezTo>
                    <a:pt x="74422" y="2768600"/>
                    <a:pt x="0" y="2694178"/>
                    <a:pt x="0" y="2602484"/>
                  </a:cubicBezTo>
                  <a:close/>
                </a:path>
              </a:pathLst>
            </a:custGeom>
            <a:solidFill>
              <a:srgbClr val="F4F7FC"/>
            </a:solidFill>
            <a:ln w="19050" cap="sq">
              <a:solidFill>
                <a:srgbClr val="D7DCEC"/>
              </a:solidFill>
              <a:prstDash val="solid"/>
              <a:miter/>
            </a:ln>
          </p:spPr>
        </p:sp>
      </p:grpSp>
      <p:grpSp>
        <p:nvGrpSpPr>
          <p:cNvPr name="Group 51" id="51"/>
          <p:cNvGrpSpPr/>
          <p:nvPr/>
        </p:nvGrpSpPr>
        <p:grpSpPr>
          <a:xfrm rot="0">
            <a:off x="12124944" y="6858000"/>
            <a:ext cx="5143500" cy="1755648"/>
            <a:chOff x="0" y="0"/>
            <a:chExt cx="6858000" cy="2340864"/>
          </a:xfrm>
        </p:grpSpPr>
        <p:sp>
          <p:nvSpPr>
            <p:cNvPr name="Freeform 52" id="52"/>
            <p:cNvSpPr/>
            <p:nvPr/>
          </p:nvSpPr>
          <p:spPr>
            <a:xfrm flipH="false" flipV="false" rot="0">
              <a:off x="0" y="0"/>
              <a:ext cx="6858000" cy="2340864"/>
            </a:xfrm>
            <a:custGeom>
              <a:avLst/>
              <a:gdLst/>
              <a:ahLst/>
              <a:cxnLst/>
              <a:rect r="r" b="b" t="t" l="l"/>
              <a:pathLst>
                <a:path h="2340864" w="6858000">
                  <a:moveTo>
                    <a:pt x="0" y="0"/>
                  </a:moveTo>
                  <a:lnTo>
                    <a:pt x="6858000" y="0"/>
                  </a:lnTo>
                  <a:lnTo>
                    <a:pt x="6858000" y="2340864"/>
                  </a:lnTo>
                  <a:lnTo>
                    <a:pt x="0" y="2340864"/>
                  </a:lnTo>
                  <a:close/>
                </a:path>
              </a:pathLst>
            </a:custGeom>
            <a:blipFill>
              <a:blip r:embed="rId2">
                <a:alphaModFix amt="0"/>
              </a:blip>
              <a:stretch>
                <a:fillRect l="0" t="-7085" r="0" b="-7085"/>
              </a:stretch>
            </a:blipFill>
          </p:spPr>
        </p:sp>
        <p:sp>
          <p:nvSpPr>
            <p:cNvPr name="TextBox 53" id="53"/>
            <p:cNvSpPr txBox="true"/>
            <p:nvPr/>
          </p:nvSpPr>
          <p:spPr>
            <a:xfrm>
              <a:off x="0" y="-38100"/>
              <a:ext cx="6858000" cy="2378964"/>
            </a:xfrm>
            <a:prstGeom prst="rect">
              <a:avLst/>
            </a:prstGeom>
          </p:spPr>
          <p:txBody>
            <a:bodyPr anchor="ctr" rtlCol="false" tIns="0" lIns="0" bIns="0" rIns="0"/>
            <a:lstStyle/>
            <a:p>
              <a:pPr algn="ctr">
                <a:lnSpc>
                  <a:spcPts val="2250"/>
                </a:lnSpc>
              </a:pPr>
              <a:r>
                <a:rPr lang="en-US" sz="1875">
                  <a:solidFill>
                    <a:srgbClr val="6B7280"/>
                  </a:solidFill>
                  <a:latin typeface="Calibri (MS)"/>
                  <a:ea typeface="Calibri (MS)"/>
                  <a:cs typeface="Calibri (MS)"/>
                  <a:sym typeface="Calibri (MS)"/>
                </a:rPr>
                <a:t>Critical Infra. Protection</a:t>
              </a:r>
            </a:p>
          </p:txBody>
        </p:sp>
      </p:grpSp>
      <p:grpSp>
        <p:nvGrpSpPr>
          <p:cNvPr name="Group 54" id="54"/>
          <p:cNvGrpSpPr/>
          <p:nvPr/>
        </p:nvGrpSpPr>
        <p:grpSpPr>
          <a:xfrm rot="0">
            <a:off x="12124944" y="8462772"/>
            <a:ext cx="5143500" cy="329184"/>
            <a:chOff x="0" y="0"/>
            <a:chExt cx="6858000" cy="438912"/>
          </a:xfrm>
        </p:grpSpPr>
        <p:sp>
          <p:nvSpPr>
            <p:cNvPr name="Freeform 55" id="55"/>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56" id="56"/>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9AA3B8"/>
                  </a:solidFill>
                  <a:latin typeface="Arimo"/>
                  <a:ea typeface="Arimo"/>
                  <a:cs typeface="Arimo"/>
                  <a:sym typeface="Arimo"/>
                </a:rPr>
                <a:t>CII</a:t>
              </a:r>
            </a:p>
          </p:txBody>
        </p:sp>
      </p:grpSp>
      <p:grpSp>
        <p:nvGrpSpPr>
          <p:cNvPr name="Group 57" id="57"/>
          <p:cNvGrpSpPr/>
          <p:nvPr/>
        </p:nvGrpSpPr>
        <p:grpSpPr>
          <a:xfrm rot="0">
            <a:off x="685800" y="9710928"/>
            <a:ext cx="10972800" cy="411480"/>
            <a:chOff x="0" y="0"/>
            <a:chExt cx="14630400" cy="548640"/>
          </a:xfrm>
        </p:grpSpPr>
        <p:sp>
          <p:nvSpPr>
            <p:cNvPr name="Freeform 58" id="58"/>
            <p:cNvSpPr/>
            <p:nvPr/>
          </p:nvSpPr>
          <p:spPr>
            <a:xfrm flipH="false" flipV="false" rot="0">
              <a:off x="0" y="0"/>
              <a:ext cx="14630400" cy="548640"/>
            </a:xfrm>
            <a:custGeom>
              <a:avLst/>
              <a:gdLst/>
              <a:ahLst/>
              <a:cxnLst/>
              <a:rect r="r" b="b" t="t" l="l"/>
              <a:pathLst>
                <a:path h="548640" w="14630400">
                  <a:moveTo>
                    <a:pt x="0" y="0"/>
                  </a:moveTo>
                  <a:lnTo>
                    <a:pt x="14630400" y="0"/>
                  </a:lnTo>
                  <a:lnTo>
                    <a:pt x="14630400" y="548640"/>
                  </a:lnTo>
                  <a:lnTo>
                    <a:pt x="0" y="548640"/>
                  </a:lnTo>
                  <a:close/>
                </a:path>
              </a:pathLst>
            </a:custGeom>
            <a:blipFill>
              <a:blip r:embed="rId2">
                <a:alphaModFix amt="0"/>
              </a:blip>
              <a:stretch>
                <a:fillRect l="0" t="-469601" r="0" b="-469601"/>
              </a:stretch>
            </a:blipFill>
          </p:spPr>
        </p:sp>
        <p:sp>
          <p:nvSpPr>
            <p:cNvPr name="TextBox 59" id="59"/>
            <p:cNvSpPr txBox="true"/>
            <p:nvPr/>
          </p:nvSpPr>
          <p:spPr>
            <a:xfrm>
              <a:off x="0" y="-38100"/>
              <a:ext cx="14630400" cy="586740"/>
            </a:xfrm>
            <a:prstGeom prst="rect">
              <a:avLst/>
            </a:prstGeom>
          </p:spPr>
          <p:txBody>
            <a:bodyPr anchor="ctr" rtlCol="false" tIns="0" lIns="0" bIns="0" rIns="0"/>
            <a:lstStyle/>
            <a:p>
              <a:pPr algn="l">
                <a:lnSpc>
                  <a:spcPts val="1800"/>
                </a:lnSpc>
              </a:pPr>
              <a:r>
                <a:rPr lang="en-US" sz="1500">
                  <a:solidFill>
                    <a:srgbClr val="6B7280"/>
                  </a:solidFill>
                  <a:latin typeface="Calibri (MS)"/>
                  <a:ea typeface="Calibri (MS)"/>
                  <a:cs typeface="Calibri (MS)"/>
                  <a:sym typeface="Calibri (MS)"/>
                </a:rPr>
                <a:t>Davao del Norte Provincial Government — Cybersecurity Seminar</a:t>
              </a:r>
            </a:p>
          </p:txBody>
        </p:sp>
      </p:grpSp>
      <p:grpSp>
        <p:nvGrpSpPr>
          <p:cNvPr name="Group 60" id="60"/>
          <p:cNvGrpSpPr/>
          <p:nvPr/>
        </p:nvGrpSpPr>
        <p:grpSpPr>
          <a:xfrm rot="0">
            <a:off x="16911828" y="9710928"/>
            <a:ext cx="685800" cy="411480"/>
            <a:chOff x="0" y="0"/>
            <a:chExt cx="914400" cy="548640"/>
          </a:xfrm>
        </p:grpSpPr>
        <p:sp>
          <p:nvSpPr>
            <p:cNvPr name="Freeform 61" id="61"/>
            <p:cNvSpPr/>
            <p:nvPr/>
          </p:nvSpPr>
          <p:spPr>
            <a:xfrm flipH="false" flipV="false" rot="0">
              <a:off x="0" y="0"/>
              <a:ext cx="914400" cy="548640"/>
            </a:xfrm>
            <a:custGeom>
              <a:avLst/>
              <a:gdLst/>
              <a:ahLst/>
              <a:cxnLst/>
              <a:rect r="r" b="b" t="t" l="l"/>
              <a:pathLst>
                <a:path h="548640" w="914400">
                  <a:moveTo>
                    <a:pt x="0" y="0"/>
                  </a:moveTo>
                  <a:lnTo>
                    <a:pt x="914400" y="0"/>
                  </a:lnTo>
                  <a:lnTo>
                    <a:pt x="914400" y="548640"/>
                  </a:lnTo>
                  <a:lnTo>
                    <a:pt x="0" y="548640"/>
                  </a:lnTo>
                  <a:close/>
                </a:path>
              </a:pathLst>
            </a:custGeom>
            <a:blipFill>
              <a:blip r:embed="rId2">
                <a:alphaModFix amt="0"/>
              </a:blip>
              <a:stretch>
                <a:fillRect l="-26982" t="0" r="-26982" b="0"/>
              </a:stretch>
            </a:blipFill>
          </p:spPr>
        </p:sp>
        <p:sp>
          <p:nvSpPr>
            <p:cNvPr name="TextBox 62" id="62"/>
            <p:cNvSpPr txBox="true"/>
            <p:nvPr/>
          </p:nvSpPr>
          <p:spPr>
            <a:xfrm>
              <a:off x="0" y="-38100"/>
              <a:ext cx="914400" cy="586740"/>
            </a:xfrm>
            <a:prstGeom prst="rect">
              <a:avLst/>
            </a:prstGeom>
          </p:spPr>
          <p:txBody>
            <a:bodyPr anchor="ctr" rtlCol="false" tIns="0" lIns="0" bIns="0" rIns="0"/>
            <a:lstStyle/>
            <a:p>
              <a:pPr algn="r">
                <a:lnSpc>
                  <a:spcPts val="1800"/>
                </a:lnSpc>
              </a:pPr>
              <a:r>
                <a:rPr lang="en-US" sz="1500">
                  <a:solidFill>
                    <a:srgbClr val="6B7280"/>
                  </a:solidFill>
                  <a:latin typeface="Calibri (MS)"/>
                  <a:ea typeface="Calibri (MS)"/>
                  <a:cs typeface="Calibri (MS)"/>
                  <a:sym typeface="Calibri (MS)"/>
                </a:rPr>
                <a:t>37</a:t>
              </a:r>
            </a:p>
          </p:txBody>
        </p:sp>
      </p:grpSp>
    </p:spTree>
  </p:cSld>
  <p:clrMapOvr>
    <a:masterClrMapping/>
  </p:clrMapOvr>
</p:sld>
</file>

<file path=ppt/slides/slide15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60120" y="685800"/>
            <a:ext cx="13716000" cy="411480"/>
            <a:chOff x="0" y="0"/>
            <a:chExt cx="18288000" cy="548640"/>
          </a:xfrm>
        </p:grpSpPr>
        <p:sp>
          <p:nvSpPr>
            <p:cNvPr name="Freeform 3" id="3"/>
            <p:cNvSpPr/>
            <p:nvPr/>
          </p:nvSpPr>
          <p:spPr>
            <a:xfrm flipH="false" flipV="false" rot="0">
              <a:off x="0" y="0"/>
              <a:ext cx="18288000" cy="548640"/>
            </a:xfrm>
            <a:custGeom>
              <a:avLst/>
              <a:gdLst/>
              <a:ahLst/>
              <a:cxnLst/>
              <a:rect r="r" b="b" t="t" l="l"/>
              <a:pathLst>
                <a:path h="548640" w="18288000">
                  <a:moveTo>
                    <a:pt x="0" y="0"/>
                  </a:moveTo>
                  <a:lnTo>
                    <a:pt x="18288000" y="0"/>
                  </a:lnTo>
                  <a:lnTo>
                    <a:pt x="18288000" y="548640"/>
                  </a:lnTo>
                  <a:lnTo>
                    <a:pt x="0" y="548640"/>
                  </a:lnTo>
                  <a:close/>
                </a:path>
              </a:pathLst>
            </a:custGeom>
            <a:blipFill>
              <a:blip r:embed="rId2">
                <a:alphaModFix amt="0"/>
              </a:blip>
              <a:stretch>
                <a:fillRect l="0" t="-599501" r="0" b="-599501"/>
              </a:stretch>
            </a:blipFill>
          </p:spPr>
        </p:sp>
        <p:sp>
          <p:nvSpPr>
            <p:cNvPr name="TextBox 4" id="4"/>
            <p:cNvSpPr txBox="true"/>
            <p:nvPr/>
          </p:nvSpPr>
          <p:spPr>
            <a:xfrm>
              <a:off x="0" y="-38100"/>
              <a:ext cx="18288000" cy="586740"/>
            </a:xfrm>
            <a:prstGeom prst="rect">
              <a:avLst/>
            </a:prstGeom>
          </p:spPr>
          <p:txBody>
            <a:bodyPr anchor="ctr" rtlCol="false" tIns="0" lIns="0" bIns="0" rIns="0"/>
            <a:lstStyle/>
            <a:p>
              <a:pPr algn="l">
                <a:lnSpc>
                  <a:spcPts val="2160"/>
                </a:lnSpc>
              </a:pPr>
              <a:r>
                <a:rPr lang="en-US" b="true" sz="1800" spc="225">
                  <a:solidFill>
                    <a:srgbClr val="00B4D8"/>
                  </a:solidFill>
                  <a:latin typeface="Calibri (MS) Bold"/>
                  <a:ea typeface="Calibri (MS) Bold"/>
                  <a:cs typeface="Calibri (MS) Bold"/>
                  <a:sym typeface="Calibri (MS) Bold"/>
                </a:rPr>
                <a:t>PH CYBER LAW SORT · ANSWER</a:t>
              </a:r>
            </a:p>
          </p:txBody>
        </p:sp>
      </p:grpSp>
      <p:grpSp>
        <p:nvGrpSpPr>
          <p:cNvPr name="Group 5" id="5"/>
          <p:cNvGrpSpPr/>
          <p:nvPr/>
        </p:nvGrpSpPr>
        <p:grpSpPr>
          <a:xfrm rot="0">
            <a:off x="960120" y="1069848"/>
            <a:ext cx="10972800" cy="822960"/>
            <a:chOff x="0" y="0"/>
            <a:chExt cx="14630400" cy="1097280"/>
          </a:xfrm>
        </p:grpSpPr>
        <p:sp>
          <p:nvSpPr>
            <p:cNvPr name="Freeform 6" id="6"/>
            <p:cNvSpPr/>
            <p:nvPr/>
          </p:nvSpPr>
          <p:spPr>
            <a:xfrm flipH="false" flipV="false" rot="0">
              <a:off x="0" y="0"/>
              <a:ext cx="14630400" cy="1097280"/>
            </a:xfrm>
            <a:custGeom>
              <a:avLst/>
              <a:gdLst/>
              <a:ahLst/>
              <a:cxnLst/>
              <a:rect r="r" b="b" t="t" l="l"/>
              <a:pathLst>
                <a:path h="1097280" w="14630400">
                  <a:moveTo>
                    <a:pt x="0" y="0"/>
                  </a:moveTo>
                  <a:lnTo>
                    <a:pt x="14630400" y="0"/>
                  </a:lnTo>
                  <a:lnTo>
                    <a:pt x="14630400" y="1097280"/>
                  </a:lnTo>
                  <a:lnTo>
                    <a:pt x="0" y="1097280"/>
                  </a:lnTo>
                  <a:close/>
                </a:path>
              </a:pathLst>
            </a:custGeom>
            <a:blipFill>
              <a:blip r:embed="rId2">
                <a:alphaModFix amt="0"/>
              </a:blip>
              <a:stretch>
                <a:fillRect l="0" t="-209800" r="0" b="-209800"/>
              </a:stretch>
            </a:blipFill>
          </p:spPr>
        </p:sp>
        <p:sp>
          <p:nvSpPr>
            <p:cNvPr name="TextBox 7" id="7"/>
            <p:cNvSpPr txBox="true"/>
            <p:nvPr/>
          </p:nvSpPr>
          <p:spPr>
            <a:xfrm>
              <a:off x="0" y="0"/>
              <a:ext cx="14630400" cy="1097280"/>
            </a:xfrm>
            <a:prstGeom prst="rect">
              <a:avLst/>
            </a:prstGeom>
          </p:spPr>
          <p:txBody>
            <a:bodyPr anchor="ctr" rtlCol="false" tIns="0" lIns="0" bIns="0" rIns="0"/>
            <a:lstStyle/>
            <a:p>
              <a:pPr algn="l">
                <a:lnSpc>
                  <a:spcPts val="4680"/>
                </a:lnSpc>
              </a:pPr>
              <a:r>
                <a:rPr lang="en-US" sz="3900" b="true">
                  <a:solidFill>
                    <a:srgbClr val="1E2761"/>
                  </a:solidFill>
                  <a:latin typeface="Cambria Bold"/>
                  <a:ea typeface="Cambria Bold"/>
                  <a:cs typeface="Cambria Bold"/>
                  <a:sym typeface="Cambria Bold"/>
                </a:rPr>
                <a:t>Scenario 14 — Answer</a:t>
              </a:r>
            </a:p>
          </p:txBody>
        </p:sp>
      </p:grpSp>
      <p:grpSp>
        <p:nvGrpSpPr>
          <p:cNvPr name="Group 8" id="8"/>
          <p:cNvGrpSpPr/>
          <p:nvPr/>
        </p:nvGrpSpPr>
        <p:grpSpPr>
          <a:xfrm rot="0">
            <a:off x="960120" y="1810512"/>
            <a:ext cx="8229600" cy="411480"/>
            <a:chOff x="0" y="0"/>
            <a:chExt cx="10972800" cy="548640"/>
          </a:xfrm>
        </p:grpSpPr>
        <p:sp>
          <p:nvSpPr>
            <p:cNvPr name="Freeform 9" id="9"/>
            <p:cNvSpPr/>
            <p:nvPr/>
          </p:nvSpPr>
          <p:spPr>
            <a:xfrm flipH="false" flipV="false" rot="0">
              <a:off x="0" y="0"/>
              <a:ext cx="10972800" cy="548640"/>
            </a:xfrm>
            <a:custGeom>
              <a:avLst/>
              <a:gdLst/>
              <a:ahLst/>
              <a:cxnLst/>
              <a:rect r="r" b="b" t="t" l="l"/>
              <a:pathLst>
                <a:path h="548640" w="10972800">
                  <a:moveTo>
                    <a:pt x="0" y="0"/>
                  </a:moveTo>
                  <a:lnTo>
                    <a:pt x="10972800" y="0"/>
                  </a:lnTo>
                  <a:lnTo>
                    <a:pt x="10972800" y="548640"/>
                  </a:lnTo>
                  <a:lnTo>
                    <a:pt x="0" y="548640"/>
                  </a:lnTo>
                  <a:close/>
                </a:path>
              </a:pathLst>
            </a:custGeom>
            <a:blipFill>
              <a:blip r:embed="rId2">
                <a:alphaModFix amt="0"/>
              </a:blip>
              <a:stretch>
                <a:fillRect l="0" t="-339700" r="0" b="-339700"/>
              </a:stretch>
            </a:blipFill>
          </p:spPr>
        </p:sp>
        <p:sp>
          <p:nvSpPr>
            <p:cNvPr name="TextBox 10" id="10"/>
            <p:cNvSpPr txBox="true"/>
            <p:nvPr/>
          </p:nvSpPr>
          <p:spPr>
            <a:xfrm>
              <a:off x="0" y="-28575"/>
              <a:ext cx="10972800" cy="577215"/>
            </a:xfrm>
            <a:prstGeom prst="rect">
              <a:avLst/>
            </a:prstGeom>
          </p:spPr>
          <p:txBody>
            <a:bodyPr anchor="ctr" rtlCol="false" tIns="0" lIns="0" bIns="0" rIns="0"/>
            <a:lstStyle/>
            <a:p>
              <a:pPr algn="l">
                <a:lnSpc>
                  <a:spcPts val="1980"/>
                </a:lnSpc>
              </a:pPr>
              <a:r>
                <a:rPr lang="en-US" sz="1650">
                  <a:solidFill>
                    <a:srgbClr val="6B7280"/>
                  </a:solidFill>
                  <a:latin typeface="Calibri (MS)"/>
                  <a:ea typeface="Calibri (MS)"/>
                  <a:cs typeface="Calibri (MS)"/>
                  <a:sym typeface="Calibri (MS)"/>
                </a:rPr>
                <a:t>14 of 15</a:t>
              </a:r>
            </a:p>
          </p:txBody>
        </p:sp>
      </p:grpSp>
      <p:grpSp>
        <p:nvGrpSpPr>
          <p:cNvPr name="Group 11" id="11"/>
          <p:cNvGrpSpPr/>
          <p:nvPr/>
        </p:nvGrpSpPr>
        <p:grpSpPr>
          <a:xfrm rot="0">
            <a:off x="960120" y="2537460"/>
            <a:ext cx="16322040" cy="2057400"/>
            <a:chOff x="0" y="0"/>
            <a:chExt cx="21762720" cy="2743200"/>
          </a:xfrm>
        </p:grpSpPr>
        <p:sp>
          <p:nvSpPr>
            <p:cNvPr name="Freeform 12" id="12"/>
            <p:cNvSpPr/>
            <p:nvPr/>
          </p:nvSpPr>
          <p:spPr>
            <a:xfrm flipH="false" flipV="false" rot="0">
              <a:off x="0" y="0"/>
              <a:ext cx="21762720" cy="2743200"/>
            </a:xfrm>
            <a:custGeom>
              <a:avLst/>
              <a:gdLst/>
              <a:ahLst/>
              <a:cxnLst/>
              <a:rect r="r" b="b" t="t" l="l"/>
              <a:pathLst>
                <a:path h="2743200" w="21762720">
                  <a:moveTo>
                    <a:pt x="0" y="182880"/>
                  </a:moveTo>
                  <a:cubicBezTo>
                    <a:pt x="0" y="81915"/>
                    <a:pt x="81915" y="0"/>
                    <a:pt x="182880" y="0"/>
                  </a:cubicBezTo>
                  <a:lnTo>
                    <a:pt x="21579839" y="0"/>
                  </a:lnTo>
                  <a:cubicBezTo>
                    <a:pt x="21680804" y="0"/>
                    <a:pt x="21762720" y="81915"/>
                    <a:pt x="21762720" y="182880"/>
                  </a:cubicBezTo>
                  <a:lnTo>
                    <a:pt x="21762720" y="2560320"/>
                  </a:lnTo>
                  <a:cubicBezTo>
                    <a:pt x="21762720" y="2661285"/>
                    <a:pt x="21680804" y="2743200"/>
                    <a:pt x="21579839" y="2743200"/>
                  </a:cubicBezTo>
                  <a:lnTo>
                    <a:pt x="182880" y="2743200"/>
                  </a:lnTo>
                  <a:cubicBezTo>
                    <a:pt x="81915" y="2743200"/>
                    <a:pt x="0" y="2661285"/>
                    <a:pt x="0" y="2560320"/>
                  </a:cubicBezTo>
                  <a:close/>
                </a:path>
              </a:pathLst>
            </a:custGeom>
            <a:solidFill>
              <a:srgbClr val="F4F7FC"/>
            </a:solidFill>
          </p:spPr>
        </p:sp>
      </p:grpSp>
      <p:grpSp>
        <p:nvGrpSpPr>
          <p:cNvPr name="Group 13" id="13"/>
          <p:cNvGrpSpPr/>
          <p:nvPr/>
        </p:nvGrpSpPr>
        <p:grpSpPr>
          <a:xfrm rot="0">
            <a:off x="1440180" y="2743200"/>
            <a:ext cx="15361920" cy="1645920"/>
            <a:chOff x="0" y="0"/>
            <a:chExt cx="20482560" cy="2194560"/>
          </a:xfrm>
        </p:grpSpPr>
        <p:sp>
          <p:nvSpPr>
            <p:cNvPr name="Freeform 14" id="14"/>
            <p:cNvSpPr/>
            <p:nvPr/>
          </p:nvSpPr>
          <p:spPr>
            <a:xfrm flipH="false" flipV="false" rot="0">
              <a:off x="0" y="0"/>
              <a:ext cx="20482561" cy="2194560"/>
            </a:xfrm>
            <a:custGeom>
              <a:avLst/>
              <a:gdLst/>
              <a:ahLst/>
              <a:cxnLst/>
              <a:rect r="r" b="b" t="t" l="l"/>
              <a:pathLst>
                <a:path h="2194560" w="20482561">
                  <a:moveTo>
                    <a:pt x="0" y="0"/>
                  </a:moveTo>
                  <a:lnTo>
                    <a:pt x="20482561" y="0"/>
                  </a:lnTo>
                  <a:lnTo>
                    <a:pt x="20482561" y="2194560"/>
                  </a:lnTo>
                  <a:lnTo>
                    <a:pt x="0" y="2194560"/>
                  </a:lnTo>
                  <a:close/>
                </a:path>
              </a:pathLst>
            </a:custGeom>
            <a:blipFill>
              <a:blip r:embed="rId2">
                <a:alphaModFix amt="0"/>
              </a:blip>
              <a:stretch>
                <a:fillRect l="0" t="-131860" r="0" b="-131860"/>
              </a:stretch>
            </a:blipFill>
          </p:spPr>
        </p:sp>
        <p:sp>
          <p:nvSpPr>
            <p:cNvPr name="TextBox 15" id="15"/>
            <p:cNvSpPr txBox="true"/>
            <p:nvPr/>
          </p:nvSpPr>
          <p:spPr>
            <a:xfrm>
              <a:off x="0" y="-66675"/>
              <a:ext cx="20482560" cy="2261235"/>
            </a:xfrm>
            <a:prstGeom prst="rect">
              <a:avLst/>
            </a:prstGeom>
          </p:spPr>
          <p:txBody>
            <a:bodyPr anchor="ctr" rtlCol="false" tIns="0" lIns="0" bIns="0" rIns="0"/>
            <a:lstStyle/>
            <a:p>
              <a:pPr algn="l">
                <a:lnSpc>
                  <a:spcPts val="3487"/>
                </a:lnSpc>
              </a:pPr>
              <a:r>
                <a:rPr lang="en-US" sz="2325" i="true">
                  <a:solidFill>
                    <a:srgbClr val="23262F"/>
                  </a:solidFill>
                  <a:latin typeface="Cambria Italics"/>
                  <a:ea typeface="Cambria Italics"/>
                  <a:cs typeface="Cambria Italics"/>
                  <a:sym typeface="Cambria Italics"/>
                </a:rPr>
                <a:t>"The province's central server, which residents depend on daily, suffers a confirmed ransomware attack. IT needs to know who to notify and how fast."</a:t>
              </a:r>
            </a:p>
          </p:txBody>
        </p:sp>
      </p:grpSp>
      <p:grpSp>
        <p:nvGrpSpPr>
          <p:cNvPr name="Group 16" id="16"/>
          <p:cNvGrpSpPr/>
          <p:nvPr/>
        </p:nvGrpSpPr>
        <p:grpSpPr>
          <a:xfrm rot="0">
            <a:off x="950595" y="4928235"/>
            <a:ext cx="5162550" cy="842010"/>
            <a:chOff x="0" y="0"/>
            <a:chExt cx="6883400" cy="1122680"/>
          </a:xfrm>
        </p:grpSpPr>
        <p:sp>
          <p:nvSpPr>
            <p:cNvPr name="Freeform 17" id="17"/>
            <p:cNvSpPr/>
            <p:nvPr/>
          </p:nvSpPr>
          <p:spPr>
            <a:xfrm flipH="false" flipV="false" rot="0">
              <a:off x="0" y="0"/>
              <a:ext cx="6883400" cy="1122680"/>
            </a:xfrm>
            <a:custGeom>
              <a:avLst/>
              <a:gdLst/>
              <a:ahLst/>
              <a:cxnLst/>
              <a:rect r="r" b="b" t="t" l="l"/>
              <a:pathLst>
                <a:path h="1122680" w="6883400">
                  <a:moveTo>
                    <a:pt x="0" y="168402"/>
                  </a:moveTo>
                  <a:cubicBezTo>
                    <a:pt x="0" y="75438"/>
                    <a:pt x="75438" y="0"/>
                    <a:pt x="168402" y="0"/>
                  </a:cubicBezTo>
                  <a:lnTo>
                    <a:pt x="6714998" y="0"/>
                  </a:lnTo>
                  <a:cubicBezTo>
                    <a:pt x="6807962" y="0"/>
                    <a:pt x="6883400" y="75438"/>
                    <a:pt x="6883400" y="168402"/>
                  </a:cubicBezTo>
                  <a:lnTo>
                    <a:pt x="6883400" y="954278"/>
                  </a:lnTo>
                  <a:cubicBezTo>
                    <a:pt x="6883400" y="1047242"/>
                    <a:pt x="6807962" y="1122680"/>
                    <a:pt x="6714998" y="1122680"/>
                  </a:cubicBezTo>
                  <a:lnTo>
                    <a:pt x="168402" y="1122680"/>
                  </a:lnTo>
                  <a:cubicBezTo>
                    <a:pt x="75438" y="1122680"/>
                    <a:pt x="0" y="1047242"/>
                    <a:pt x="0" y="954278"/>
                  </a:cubicBezTo>
                  <a:close/>
                </a:path>
              </a:pathLst>
            </a:custGeom>
            <a:solidFill>
              <a:srgbClr val="F4F7FC"/>
            </a:solidFill>
            <a:ln w="19050" cap="sq">
              <a:solidFill>
                <a:srgbClr val="D7DCEC"/>
              </a:solidFill>
              <a:prstDash val="solid"/>
              <a:miter/>
            </a:ln>
          </p:spPr>
        </p:sp>
      </p:grpSp>
      <p:grpSp>
        <p:nvGrpSpPr>
          <p:cNvPr name="Group 18" id="18"/>
          <p:cNvGrpSpPr/>
          <p:nvPr/>
        </p:nvGrpSpPr>
        <p:grpSpPr>
          <a:xfrm rot="0">
            <a:off x="960120" y="5006340"/>
            <a:ext cx="5143500" cy="521208"/>
            <a:chOff x="0" y="0"/>
            <a:chExt cx="6858000" cy="694944"/>
          </a:xfrm>
        </p:grpSpPr>
        <p:sp>
          <p:nvSpPr>
            <p:cNvPr name="Freeform 19" id="19"/>
            <p:cNvSpPr/>
            <p:nvPr/>
          </p:nvSpPr>
          <p:spPr>
            <a:xfrm flipH="false" flipV="false" rot="0">
              <a:off x="0" y="0"/>
              <a:ext cx="6858000" cy="694944"/>
            </a:xfrm>
            <a:custGeom>
              <a:avLst/>
              <a:gdLst/>
              <a:ahLst/>
              <a:cxnLst/>
              <a:rect r="r" b="b" t="t" l="l"/>
              <a:pathLst>
                <a:path h="694944" w="6858000">
                  <a:moveTo>
                    <a:pt x="0" y="0"/>
                  </a:moveTo>
                  <a:lnTo>
                    <a:pt x="6858000" y="0"/>
                  </a:lnTo>
                  <a:lnTo>
                    <a:pt x="6858000" y="694944"/>
                  </a:lnTo>
                  <a:lnTo>
                    <a:pt x="0" y="694944"/>
                  </a:lnTo>
                  <a:close/>
                </a:path>
              </a:pathLst>
            </a:custGeom>
            <a:blipFill>
              <a:blip r:embed="rId2">
                <a:alphaModFix amt="0"/>
              </a:blip>
              <a:stretch>
                <a:fillRect l="0" t="-142286" r="0" b="-142286"/>
              </a:stretch>
            </a:blipFill>
          </p:spPr>
        </p:sp>
        <p:sp>
          <p:nvSpPr>
            <p:cNvPr name="TextBox 20" id="20"/>
            <p:cNvSpPr txBox="true"/>
            <p:nvPr/>
          </p:nvSpPr>
          <p:spPr>
            <a:xfrm>
              <a:off x="0" y="-38100"/>
              <a:ext cx="6858000" cy="733044"/>
            </a:xfrm>
            <a:prstGeom prst="rect">
              <a:avLst/>
            </a:prstGeom>
          </p:spPr>
          <p:txBody>
            <a:bodyPr anchor="ctr" rtlCol="false" tIns="0" lIns="0" bIns="0" rIns="0"/>
            <a:lstStyle/>
            <a:p>
              <a:pPr algn="ctr">
                <a:lnSpc>
                  <a:spcPts val="2250"/>
                </a:lnSpc>
              </a:pPr>
              <a:r>
                <a:rPr lang="en-US" sz="1875">
                  <a:solidFill>
                    <a:srgbClr val="6B7280"/>
                  </a:solidFill>
                  <a:latin typeface="Calibri (MS)"/>
                  <a:ea typeface="Calibri (MS)"/>
                  <a:cs typeface="Calibri (MS)"/>
                  <a:sym typeface="Calibri (MS)"/>
                </a:rPr>
                <a:t>E-Commerce Act</a:t>
              </a:r>
            </a:p>
          </p:txBody>
        </p:sp>
      </p:grpSp>
      <p:grpSp>
        <p:nvGrpSpPr>
          <p:cNvPr name="Group 21" id="21"/>
          <p:cNvGrpSpPr/>
          <p:nvPr/>
        </p:nvGrpSpPr>
        <p:grpSpPr>
          <a:xfrm rot="0">
            <a:off x="960120" y="5376672"/>
            <a:ext cx="5143500" cy="329184"/>
            <a:chOff x="0" y="0"/>
            <a:chExt cx="6858000" cy="438912"/>
          </a:xfrm>
        </p:grpSpPr>
        <p:sp>
          <p:nvSpPr>
            <p:cNvPr name="Freeform 22" id="22"/>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23" id="23"/>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9AA3B8"/>
                  </a:solidFill>
                  <a:latin typeface="Arimo"/>
                  <a:ea typeface="Arimo"/>
                  <a:cs typeface="Arimo"/>
                  <a:sym typeface="Arimo"/>
                </a:rPr>
                <a:t>ECA</a:t>
              </a:r>
            </a:p>
          </p:txBody>
        </p:sp>
      </p:grpSp>
      <p:grpSp>
        <p:nvGrpSpPr>
          <p:cNvPr name="Group 24" id="24"/>
          <p:cNvGrpSpPr/>
          <p:nvPr/>
        </p:nvGrpSpPr>
        <p:grpSpPr>
          <a:xfrm rot="0">
            <a:off x="6533007" y="4928235"/>
            <a:ext cx="5162550" cy="842010"/>
            <a:chOff x="0" y="0"/>
            <a:chExt cx="6883400" cy="1122680"/>
          </a:xfrm>
        </p:grpSpPr>
        <p:sp>
          <p:nvSpPr>
            <p:cNvPr name="Freeform 25" id="25"/>
            <p:cNvSpPr/>
            <p:nvPr/>
          </p:nvSpPr>
          <p:spPr>
            <a:xfrm flipH="false" flipV="false" rot="0">
              <a:off x="0" y="0"/>
              <a:ext cx="6883400" cy="1122680"/>
            </a:xfrm>
            <a:custGeom>
              <a:avLst/>
              <a:gdLst/>
              <a:ahLst/>
              <a:cxnLst/>
              <a:rect r="r" b="b" t="t" l="l"/>
              <a:pathLst>
                <a:path h="1122680" w="6883400">
                  <a:moveTo>
                    <a:pt x="0" y="168402"/>
                  </a:moveTo>
                  <a:cubicBezTo>
                    <a:pt x="0" y="75438"/>
                    <a:pt x="75438" y="0"/>
                    <a:pt x="168402" y="0"/>
                  </a:cubicBezTo>
                  <a:lnTo>
                    <a:pt x="6714998" y="0"/>
                  </a:lnTo>
                  <a:cubicBezTo>
                    <a:pt x="6807962" y="0"/>
                    <a:pt x="6883400" y="75438"/>
                    <a:pt x="6883400" y="168402"/>
                  </a:cubicBezTo>
                  <a:lnTo>
                    <a:pt x="6883400" y="954278"/>
                  </a:lnTo>
                  <a:cubicBezTo>
                    <a:pt x="6883400" y="1047242"/>
                    <a:pt x="6807962" y="1122680"/>
                    <a:pt x="6714998" y="1122680"/>
                  </a:cubicBezTo>
                  <a:lnTo>
                    <a:pt x="168402" y="1122680"/>
                  </a:lnTo>
                  <a:cubicBezTo>
                    <a:pt x="75438" y="1122680"/>
                    <a:pt x="0" y="1047242"/>
                    <a:pt x="0" y="954278"/>
                  </a:cubicBezTo>
                  <a:close/>
                </a:path>
              </a:pathLst>
            </a:custGeom>
            <a:solidFill>
              <a:srgbClr val="F4F7FC"/>
            </a:solidFill>
            <a:ln w="19050" cap="sq">
              <a:solidFill>
                <a:srgbClr val="D7DCEC"/>
              </a:solidFill>
              <a:prstDash val="solid"/>
              <a:miter/>
            </a:ln>
          </p:spPr>
        </p:sp>
      </p:grpSp>
      <p:grpSp>
        <p:nvGrpSpPr>
          <p:cNvPr name="Group 26" id="26"/>
          <p:cNvGrpSpPr/>
          <p:nvPr/>
        </p:nvGrpSpPr>
        <p:grpSpPr>
          <a:xfrm rot="0">
            <a:off x="6542532" y="5006340"/>
            <a:ext cx="5143500" cy="521208"/>
            <a:chOff x="0" y="0"/>
            <a:chExt cx="6858000" cy="694944"/>
          </a:xfrm>
        </p:grpSpPr>
        <p:sp>
          <p:nvSpPr>
            <p:cNvPr name="Freeform 27" id="27"/>
            <p:cNvSpPr/>
            <p:nvPr/>
          </p:nvSpPr>
          <p:spPr>
            <a:xfrm flipH="false" flipV="false" rot="0">
              <a:off x="0" y="0"/>
              <a:ext cx="6858000" cy="694944"/>
            </a:xfrm>
            <a:custGeom>
              <a:avLst/>
              <a:gdLst/>
              <a:ahLst/>
              <a:cxnLst/>
              <a:rect r="r" b="b" t="t" l="l"/>
              <a:pathLst>
                <a:path h="694944" w="6858000">
                  <a:moveTo>
                    <a:pt x="0" y="0"/>
                  </a:moveTo>
                  <a:lnTo>
                    <a:pt x="6858000" y="0"/>
                  </a:lnTo>
                  <a:lnTo>
                    <a:pt x="6858000" y="694944"/>
                  </a:lnTo>
                  <a:lnTo>
                    <a:pt x="0" y="694944"/>
                  </a:lnTo>
                  <a:close/>
                </a:path>
              </a:pathLst>
            </a:custGeom>
            <a:blipFill>
              <a:blip r:embed="rId2">
                <a:alphaModFix amt="0"/>
              </a:blip>
              <a:stretch>
                <a:fillRect l="0" t="-142286" r="0" b="-142286"/>
              </a:stretch>
            </a:blipFill>
          </p:spPr>
        </p:sp>
        <p:sp>
          <p:nvSpPr>
            <p:cNvPr name="TextBox 28" id="28"/>
            <p:cNvSpPr txBox="true"/>
            <p:nvPr/>
          </p:nvSpPr>
          <p:spPr>
            <a:xfrm>
              <a:off x="0" y="-38100"/>
              <a:ext cx="6858000" cy="733044"/>
            </a:xfrm>
            <a:prstGeom prst="rect">
              <a:avLst/>
            </a:prstGeom>
          </p:spPr>
          <p:txBody>
            <a:bodyPr anchor="ctr" rtlCol="false" tIns="0" lIns="0" bIns="0" rIns="0"/>
            <a:lstStyle/>
            <a:p>
              <a:pPr algn="ctr">
                <a:lnSpc>
                  <a:spcPts val="2250"/>
                </a:lnSpc>
              </a:pPr>
              <a:r>
                <a:rPr lang="en-US" sz="1875">
                  <a:solidFill>
                    <a:srgbClr val="6B7280"/>
                  </a:solidFill>
                  <a:latin typeface="Calibri (MS)"/>
                  <a:ea typeface="Calibri (MS)"/>
                  <a:cs typeface="Calibri (MS)"/>
                  <a:sym typeface="Calibri (MS)"/>
                </a:rPr>
                <a:t>Cybercrime Act</a:t>
              </a:r>
            </a:p>
          </p:txBody>
        </p:sp>
      </p:grpSp>
      <p:grpSp>
        <p:nvGrpSpPr>
          <p:cNvPr name="Group 29" id="29"/>
          <p:cNvGrpSpPr/>
          <p:nvPr/>
        </p:nvGrpSpPr>
        <p:grpSpPr>
          <a:xfrm rot="0">
            <a:off x="6542532" y="5376672"/>
            <a:ext cx="5143500" cy="329184"/>
            <a:chOff x="0" y="0"/>
            <a:chExt cx="6858000" cy="438912"/>
          </a:xfrm>
        </p:grpSpPr>
        <p:sp>
          <p:nvSpPr>
            <p:cNvPr name="Freeform 30" id="30"/>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31" id="31"/>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9AA3B8"/>
                  </a:solidFill>
                  <a:latin typeface="Arimo"/>
                  <a:ea typeface="Arimo"/>
                  <a:cs typeface="Arimo"/>
                  <a:sym typeface="Arimo"/>
                </a:rPr>
                <a:t>CPA</a:t>
              </a:r>
            </a:p>
          </p:txBody>
        </p:sp>
      </p:grpSp>
      <p:grpSp>
        <p:nvGrpSpPr>
          <p:cNvPr name="Group 32" id="32"/>
          <p:cNvGrpSpPr/>
          <p:nvPr/>
        </p:nvGrpSpPr>
        <p:grpSpPr>
          <a:xfrm rot="0">
            <a:off x="950595" y="5998083"/>
            <a:ext cx="5162550" cy="842010"/>
            <a:chOff x="0" y="0"/>
            <a:chExt cx="6883400" cy="1122680"/>
          </a:xfrm>
        </p:grpSpPr>
        <p:sp>
          <p:nvSpPr>
            <p:cNvPr name="Freeform 33" id="33"/>
            <p:cNvSpPr/>
            <p:nvPr/>
          </p:nvSpPr>
          <p:spPr>
            <a:xfrm flipH="false" flipV="false" rot="0">
              <a:off x="0" y="0"/>
              <a:ext cx="6883400" cy="1122680"/>
            </a:xfrm>
            <a:custGeom>
              <a:avLst/>
              <a:gdLst/>
              <a:ahLst/>
              <a:cxnLst/>
              <a:rect r="r" b="b" t="t" l="l"/>
              <a:pathLst>
                <a:path h="1122680" w="6883400">
                  <a:moveTo>
                    <a:pt x="0" y="168402"/>
                  </a:moveTo>
                  <a:cubicBezTo>
                    <a:pt x="0" y="75438"/>
                    <a:pt x="75438" y="0"/>
                    <a:pt x="168402" y="0"/>
                  </a:cubicBezTo>
                  <a:lnTo>
                    <a:pt x="6714998" y="0"/>
                  </a:lnTo>
                  <a:cubicBezTo>
                    <a:pt x="6807962" y="0"/>
                    <a:pt x="6883400" y="75438"/>
                    <a:pt x="6883400" y="168402"/>
                  </a:cubicBezTo>
                  <a:lnTo>
                    <a:pt x="6883400" y="954278"/>
                  </a:lnTo>
                  <a:cubicBezTo>
                    <a:pt x="6883400" y="1047242"/>
                    <a:pt x="6807962" y="1122680"/>
                    <a:pt x="6714998" y="1122680"/>
                  </a:cubicBezTo>
                  <a:lnTo>
                    <a:pt x="168402" y="1122680"/>
                  </a:lnTo>
                  <a:cubicBezTo>
                    <a:pt x="75438" y="1122680"/>
                    <a:pt x="0" y="1047242"/>
                    <a:pt x="0" y="954278"/>
                  </a:cubicBezTo>
                  <a:close/>
                </a:path>
              </a:pathLst>
            </a:custGeom>
            <a:solidFill>
              <a:srgbClr val="F4F7FC"/>
            </a:solidFill>
            <a:ln w="19050" cap="sq">
              <a:solidFill>
                <a:srgbClr val="D7DCEC"/>
              </a:solidFill>
              <a:prstDash val="solid"/>
              <a:miter/>
            </a:ln>
          </p:spPr>
        </p:sp>
      </p:grpSp>
      <p:grpSp>
        <p:nvGrpSpPr>
          <p:cNvPr name="Group 34" id="34"/>
          <p:cNvGrpSpPr/>
          <p:nvPr/>
        </p:nvGrpSpPr>
        <p:grpSpPr>
          <a:xfrm rot="0">
            <a:off x="960120" y="6076188"/>
            <a:ext cx="5143500" cy="521208"/>
            <a:chOff x="0" y="0"/>
            <a:chExt cx="6858000" cy="694944"/>
          </a:xfrm>
        </p:grpSpPr>
        <p:sp>
          <p:nvSpPr>
            <p:cNvPr name="Freeform 35" id="35"/>
            <p:cNvSpPr/>
            <p:nvPr/>
          </p:nvSpPr>
          <p:spPr>
            <a:xfrm flipH="false" flipV="false" rot="0">
              <a:off x="0" y="0"/>
              <a:ext cx="6858000" cy="694944"/>
            </a:xfrm>
            <a:custGeom>
              <a:avLst/>
              <a:gdLst/>
              <a:ahLst/>
              <a:cxnLst/>
              <a:rect r="r" b="b" t="t" l="l"/>
              <a:pathLst>
                <a:path h="694944" w="6858000">
                  <a:moveTo>
                    <a:pt x="0" y="0"/>
                  </a:moveTo>
                  <a:lnTo>
                    <a:pt x="6858000" y="0"/>
                  </a:lnTo>
                  <a:lnTo>
                    <a:pt x="6858000" y="694944"/>
                  </a:lnTo>
                  <a:lnTo>
                    <a:pt x="0" y="694944"/>
                  </a:lnTo>
                  <a:close/>
                </a:path>
              </a:pathLst>
            </a:custGeom>
            <a:blipFill>
              <a:blip r:embed="rId2">
                <a:alphaModFix amt="0"/>
              </a:blip>
              <a:stretch>
                <a:fillRect l="0" t="-142286" r="0" b="-142286"/>
              </a:stretch>
            </a:blipFill>
          </p:spPr>
        </p:sp>
        <p:sp>
          <p:nvSpPr>
            <p:cNvPr name="TextBox 36" id="36"/>
            <p:cNvSpPr txBox="true"/>
            <p:nvPr/>
          </p:nvSpPr>
          <p:spPr>
            <a:xfrm>
              <a:off x="0" y="-38100"/>
              <a:ext cx="6858000" cy="733044"/>
            </a:xfrm>
            <a:prstGeom prst="rect">
              <a:avLst/>
            </a:prstGeom>
          </p:spPr>
          <p:txBody>
            <a:bodyPr anchor="ctr" rtlCol="false" tIns="0" lIns="0" bIns="0" rIns="0"/>
            <a:lstStyle/>
            <a:p>
              <a:pPr algn="ctr">
                <a:lnSpc>
                  <a:spcPts val="2250"/>
                </a:lnSpc>
              </a:pPr>
              <a:r>
                <a:rPr lang="en-US" sz="1875">
                  <a:solidFill>
                    <a:srgbClr val="6B7280"/>
                  </a:solidFill>
                  <a:latin typeface="Calibri (MS)"/>
                  <a:ea typeface="Calibri (MS)"/>
                  <a:cs typeface="Calibri (MS)"/>
                  <a:sym typeface="Calibri (MS)"/>
                </a:rPr>
                <a:t>Data Privacy Act</a:t>
              </a:r>
            </a:p>
          </p:txBody>
        </p:sp>
      </p:grpSp>
      <p:grpSp>
        <p:nvGrpSpPr>
          <p:cNvPr name="Group 37" id="37"/>
          <p:cNvGrpSpPr/>
          <p:nvPr/>
        </p:nvGrpSpPr>
        <p:grpSpPr>
          <a:xfrm rot="0">
            <a:off x="960120" y="6446520"/>
            <a:ext cx="5143500" cy="329184"/>
            <a:chOff x="0" y="0"/>
            <a:chExt cx="6858000" cy="438912"/>
          </a:xfrm>
        </p:grpSpPr>
        <p:sp>
          <p:nvSpPr>
            <p:cNvPr name="Freeform 38" id="38"/>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39" id="39"/>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9AA3B8"/>
                  </a:solidFill>
                  <a:latin typeface="Arimo"/>
                  <a:ea typeface="Arimo"/>
                  <a:cs typeface="Arimo"/>
                  <a:sym typeface="Arimo"/>
                </a:rPr>
                <a:t>DPA</a:t>
              </a:r>
            </a:p>
          </p:txBody>
        </p:sp>
      </p:grpSp>
      <p:grpSp>
        <p:nvGrpSpPr>
          <p:cNvPr name="Group 40" id="40"/>
          <p:cNvGrpSpPr/>
          <p:nvPr/>
        </p:nvGrpSpPr>
        <p:grpSpPr>
          <a:xfrm rot="0">
            <a:off x="6533007" y="5998083"/>
            <a:ext cx="5162550" cy="842010"/>
            <a:chOff x="0" y="0"/>
            <a:chExt cx="6883400" cy="1122680"/>
          </a:xfrm>
        </p:grpSpPr>
        <p:sp>
          <p:nvSpPr>
            <p:cNvPr name="Freeform 41" id="41"/>
            <p:cNvSpPr/>
            <p:nvPr/>
          </p:nvSpPr>
          <p:spPr>
            <a:xfrm flipH="false" flipV="false" rot="0">
              <a:off x="0" y="0"/>
              <a:ext cx="6883400" cy="1122680"/>
            </a:xfrm>
            <a:custGeom>
              <a:avLst/>
              <a:gdLst/>
              <a:ahLst/>
              <a:cxnLst/>
              <a:rect r="r" b="b" t="t" l="l"/>
              <a:pathLst>
                <a:path h="1122680" w="6883400">
                  <a:moveTo>
                    <a:pt x="0" y="168402"/>
                  </a:moveTo>
                  <a:cubicBezTo>
                    <a:pt x="0" y="75438"/>
                    <a:pt x="75438" y="0"/>
                    <a:pt x="168402" y="0"/>
                  </a:cubicBezTo>
                  <a:lnTo>
                    <a:pt x="6714998" y="0"/>
                  </a:lnTo>
                  <a:cubicBezTo>
                    <a:pt x="6807962" y="0"/>
                    <a:pt x="6883400" y="75438"/>
                    <a:pt x="6883400" y="168402"/>
                  </a:cubicBezTo>
                  <a:lnTo>
                    <a:pt x="6883400" y="954278"/>
                  </a:lnTo>
                  <a:cubicBezTo>
                    <a:pt x="6883400" y="1047242"/>
                    <a:pt x="6807962" y="1122680"/>
                    <a:pt x="6714998" y="1122680"/>
                  </a:cubicBezTo>
                  <a:lnTo>
                    <a:pt x="168402" y="1122680"/>
                  </a:lnTo>
                  <a:cubicBezTo>
                    <a:pt x="75438" y="1122680"/>
                    <a:pt x="0" y="1047242"/>
                    <a:pt x="0" y="954278"/>
                  </a:cubicBezTo>
                  <a:close/>
                </a:path>
              </a:pathLst>
            </a:custGeom>
            <a:solidFill>
              <a:srgbClr val="F4F7FC"/>
            </a:solidFill>
            <a:ln w="19050" cap="sq">
              <a:solidFill>
                <a:srgbClr val="D7DCEC"/>
              </a:solidFill>
              <a:prstDash val="solid"/>
              <a:miter/>
            </a:ln>
          </p:spPr>
        </p:sp>
      </p:grpSp>
      <p:grpSp>
        <p:nvGrpSpPr>
          <p:cNvPr name="Group 42" id="42"/>
          <p:cNvGrpSpPr/>
          <p:nvPr/>
        </p:nvGrpSpPr>
        <p:grpSpPr>
          <a:xfrm rot="0">
            <a:off x="6542532" y="6076188"/>
            <a:ext cx="5143500" cy="521208"/>
            <a:chOff x="0" y="0"/>
            <a:chExt cx="6858000" cy="694944"/>
          </a:xfrm>
        </p:grpSpPr>
        <p:sp>
          <p:nvSpPr>
            <p:cNvPr name="Freeform 43" id="43"/>
            <p:cNvSpPr/>
            <p:nvPr/>
          </p:nvSpPr>
          <p:spPr>
            <a:xfrm flipH="false" flipV="false" rot="0">
              <a:off x="0" y="0"/>
              <a:ext cx="6858000" cy="694944"/>
            </a:xfrm>
            <a:custGeom>
              <a:avLst/>
              <a:gdLst/>
              <a:ahLst/>
              <a:cxnLst/>
              <a:rect r="r" b="b" t="t" l="l"/>
              <a:pathLst>
                <a:path h="694944" w="6858000">
                  <a:moveTo>
                    <a:pt x="0" y="0"/>
                  </a:moveTo>
                  <a:lnTo>
                    <a:pt x="6858000" y="0"/>
                  </a:lnTo>
                  <a:lnTo>
                    <a:pt x="6858000" y="694944"/>
                  </a:lnTo>
                  <a:lnTo>
                    <a:pt x="0" y="694944"/>
                  </a:lnTo>
                  <a:close/>
                </a:path>
              </a:pathLst>
            </a:custGeom>
            <a:blipFill>
              <a:blip r:embed="rId2">
                <a:alphaModFix amt="0"/>
              </a:blip>
              <a:stretch>
                <a:fillRect l="0" t="-142286" r="0" b="-142286"/>
              </a:stretch>
            </a:blipFill>
          </p:spPr>
        </p:sp>
        <p:sp>
          <p:nvSpPr>
            <p:cNvPr name="TextBox 44" id="44"/>
            <p:cNvSpPr txBox="true"/>
            <p:nvPr/>
          </p:nvSpPr>
          <p:spPr>
            <a:xfrm>
              <a:off x="0" y="-38100"/>
              <a:ext cx="6858000" cy="733044"/>
            </a:xfrm>
            <a:prstGeom prst="rect">
              <a:avLst/>
            </a:prstGeom>
          </p:spPr>
          <p:txBody>
            <a:bodyPr anchor="ctr" rtlCol="false" tIns="0" lIns="0" bIns="0" rIns="0"/>
            <a:lstStyle/>
            <a:p>
              <a:pPr algn="ctr">
                <a:lnSpc>
                  <a:spcPts val="2250"/>
                </a:lnSpc>
              </a:pPr>
              <a:r>
                <a:rPr lang="en-US" sz="1875">
                  <a:solidFill>
                    <a:srgbClr val="6B7280"/>
                  </a:solidFill>
                  <a:latin typeface="Calibri (MS)"/>
                  <a:ea typeface="Calibri (MS)"/>
                  <a:cs typeface="Calibri (MS)"/>
                  <a:sym typeface="Calibri (MS)"/>
                </a:rPr>
                <a:t>DICT Act / NCSP</a:t>
              </a:r>
            </a:p>
          </p:txBody>
        </p:sp>
      </p:grpSp>
      <p:grpSp>
        <p:nvGrpSpPr>
          <p:cNvPr name="Group 45" id="45"/>
          <p:cNvGrpSpPr/>
          <p:nvPr/>
        </p:nvGrpSpPr>
        <p:grpSpPr>
          <a:xfrm rot="0">
            <a:off x="6542532" y="6446520"/>
            <a:ext cx="5143500" cy="329184"/>
            <a:chOff x="0" y="0"/>
            <a:chExt cx="6858000" cy="438912"/>
          </a:xfrm>
        </p:grpSpPr>
        <p:sp>
          <p:nvSpPr>
            <p:cNvPr name="Freeform 46" id="46"/>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47" id="47"/>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9AA3B8"/>
                  </a:solidFill>
                  <a:latin typeface="Arimo"/>
                  <a:ea typeface="Arimo"/>
                  <a:cs typeface="Arimo"/>
                  <a:sym typeface="Arimo"/>
                </a:rPr>
                <a:t>DICT</a:t>
              </a:r>
            </a:p>
          </p:txBody>
        </p:sp>
      </p:grpSp>
      <p:grpSp>
        <p:nvGrpSpPr>
          <p:cNvPr name="Group 48" id="48"/>
          <p:cNvGrpSpPr/>
          <p:nvPr/>
        </p:nvGrpSpPr>
        <p:grpSpPr>
          <a:xfrm rot="0">
            <a:off x="12115419" y="4928235"/>
            <a:ext cx="5162550" cy="1911858"/>
            <a:chOff x="0" y="0"/>
            <a:chExt cx="6883400" cy="2549144"/>
          </a:xfrm>
        </p:grpSpPr>
        <p:sp>
          <p:nvSpPr>
            <p:cNvPr name="Freeform 49" id="49"/>
            <p:cNvSpPr/>
            <p:nvPr/>
          </p:nvSpPr>
          <p:spPr>
            <a:xfrm flipH="false" flipV="false" rot="0">
              <a:off x="0" y="0"/>
              <a:ext cx="6883400" cy="2549144"/>
            </a:xfrm>
            <a:custGeom>
              <a:avLst/>
              <a:gdLst/>
              <a:ahLst/>
              <a:cxnLst/>
              <a:rect r="r" b="b" t="t" l="l"/>
              <a:pathLst>
                <a:path h="2549144" w="6883400">
                  <a:moveTo>
                    <a:pt x="0" y="166243"/>
                  </a:moveTo>
                  <a:cubicBezTo>
                    <a:pt x="0" y="74422"/>
                    <a:pt x="74422" y="0"/>
                    <a:pt x="166243" y="0"/>
                  </a:cubicBezTo>
                  <a:lnTo>
                    <a:pt x="6717157" y="0"/>
                  </a:lnTo>
                  <a:cubicBezTo>
                    <a:pt x="6808978" y="0"/>
                    <a:pt x="6883400" y="74422"/>
                    <a:pt x="6883400" y="166243"/>
                  </a:cubicBezTo>
                  <a:lnTo>
                    <a:pt x="6883400" y="2382901"/>
                  </a:lnTo>
                  <a:cubicBezTo>
                    <a:pt x="6883400" y="2474722"/>
                    <a:pt x="6808978" y="2549144"/>
                    <a:pt x="6717157" y="2549144"/>
                  </a:cubicBezTo>
                  <a:lnTo>
                    <a:pt x="166243" y="2549144"/>
                  </a:lnTo>
                  <a:cubicBezTo>
                    <a:pt x="74422" y="2549144"/>
                    <a:pt x="0" y="2474722"/>
                    <a:pt x="0" y="2382901"/>
                  </a:cubicBezTo>
                  <a:close/>
                </a:path>
              </a:pathLst>
            </a:custGeom>
            <a:solidFill>
              <a:srgbClr val="D9631E"/>
            </a:solidFill>
            <a:ln w="19050" cap="sq">
              <a:solidFill>
                <a:srgbClr val="D9631E"/>
              </a:solidFill>
              <a:prstDash val="solid"/>
              <a:miter/>
            </a:ln>
          </p:spPr>
        </p:sp>
      </p:grpSp>
      <p:grpSp>
        <p:nvGrpSpPr>
          <p:cNvPr name="Group 50" id="50"/>
          <p:cNvGrpSpPr/>
          <p:nvPr/>
        </p:nvGrpSpPr>
        <p:grpSpPr>
          <a:xfrm rot="0">
            <a:off x="12124944" y="5006340"/>
            <a:ext cx="5143500" cy="1591056"/>
            <a:chOff x="0" y="0"/>
            <a:chExt cx="6858000" cy="2121408"/>
          </a:xfrm>
        </p:grpSpPr>
        <p:sp>
          <p:nvSpPr>
            <p:cNvPr name="Freeform 51" id="51"/>
            <p:cNvSpPr/>
            <p:nvPr/>
          </p:nvSpPr>
          <p:spPr>
            <a:xfrm flipH="false" flipV="false" rot="0">
              <a:off x="0" y="0"/>
              <a:ext cx="6858000" cy="2121408"/>
            </a:xfrm>
            <a:custGeom>
              <a:avLst/>
              <a:gdLst/>
              <a:ahLst/>
              <a:cxnLst/>
              <a:rect r="r" b="b" t="t" l="l"/>
              <a:pathLst>
                <a:path h="2121408" w="6858000">
                  <a:moveTo>
                    <a:pt x="0" y="0"/>
                  </a:moveTo>
                  <a:lnTo>
                    <a:pt x="6858000" y="0"/>
                  </a:lnTo>
                  <a:lnTo>
                    <a:pt x="6858000" y="2121408"/>
                  </a:lnTo>
                  <a:lnTo>
                    <a:pt x="0" y="2121408"/>
                  </a:lnTo>
                  <a:close/>
                </a:path>
              </a:pathLst>
            </a:custGeom>
            <a:blipFill>
              <a:blip r:embed="rId2">
                <a:alphaModFix amt="0"/>
              </a:blip>
              <a:stretch>
                <a:fillRect l="0" t="-12990" r="0" b="-12990"/>
              </a:stretch>
            </a:blipFill>
          </p:spPr>
        </p:sp>
        <p:sp>
          <p:nvSpPr>
            <p:cNvPr name="TextBox 52" id="52"/>
            <p:cNvSpPr txBox="true"/>
            <p:nvPr/>
          </p:nvSpPr>
          <p:spPr>
            <a:xfrm>
              <a:off x="0" y="-38100"/>
              <a:ext cx="6858000" cy="2159508"/>
            </a:xfrm>
            <a:prstGeom prst="rect">
              <a:avLst/>
            </a:prstGeom>
          </p:spPr>
          <p:txBody>
            <a:bodyPr anchor="ctr" rtlCol="false" tIns="0" lIns="0" bIns="0" rIns="0"/>
            <a:lstStyle/>
            <a:p>
              <a:pPr algn="ctr">
                <a:lnSpc>
                  <a:spcPts val="2250"/>
                </a:lnSpc>
              </a:pPr>
              <a:r>
                <a:rPr lang="en-US" sz="1875" b="true">
                  <a:solidFill>
                    <a:srgbClr val="FFFFFF"/>
                  </a:solidFill>
                  <a:latin typeface="Calibri (MS) Bold"/>
                  <a:ea typeface="Calibri (MS) Bold"/>
                  <a:cs typeface="Calibri (MS) Bold"/>
                  <a:sym typeface="Calibri (MS) Bold"/>
                </a:rPr>
                <a:t>✓  Critical Infra. Protection</a:t>
              </a:r>
            </a:p>
          </p:txBody>
        </p:sp>
      </p:grpSp>
      <p:grpSp>
        <p:nvGrpSpPr>
          <p:cNvPr name="Group 53" id="53"/>
          <p:cNvGrpSpPr/>
          <p:nvPr/>
        </p:nvGrpSpPr>
        <p:grpSpPr>
          <a:xfrm rot="0">
            <a:off x="12124944" y="6446520"/>
            <a:ext cx="5143500" cy="329184"/>
            <a:chOff x="0" y="0"/>
            <a:chExt cx="6858000" cy="438912"/>
          </a:xfrm>
        </p:grpSpPr>
        <p:sp>
          <p:nvSpPr>
            <p:cNvPr name="Freeform 54" id="54"/>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55" id="55"/>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FFFFFF"/>
                  </a:solidFill>
                  <a:latin typeface="Arimo"/>
                  <a:ea typeface="Arimo"/>
                  <a:cs typeface="Arimo"/>
                  <a:sym typeface="Arimo"/>
                </a:rPr>
                <a:t>CII</a:t>
              </a:r>
            </a:p>
          </p:txBody>
        </p:sp>
      </p:grpSp>
      <p:grpSp>
        <p:nvGrpSpPr>
          <p:cNvPr name="Group 56" id="56"/>
          <p:cNvGrpSpPr/>
          <p:nvPr/>
        </p:nvGrpSpPr>
        <p:grpSpPr>
          <a:xfrm rot="0">
            <a:off x="950595" y="7328535"/>
            <a:ext cx="16341090" cy="1596390"/>
            <a:chOff x="0" y="0"/>
            <a:chExt cx="21788120" cy="2128520"/>
          </a:xfrm>
        </p:grpSpPr>
        <p:sp>
          <p:nvSpPr>
            <p:cNvPr name="Freeform 57" id="57"/>
            <p:cNvSpPr/>
            <p:nvPr/>
          </p:nvSpPr>
          <p:spPr>
            <a:xfrm flipH="false" flipV="false" rot="0">
              <a:off x="0" y="0"/>
              <a:ext cx="21788120" cy="2128520"/>
            </a:xfrm>
            <a:custGeom>
              <a:avLst/>
              <a:gdLst/>
              <a:ahLst/>
              <a:cxnLst/>
              <a:rect r="r" b="b" t="t" l="l"/>
              <a:pathLst>
                <a:path h="2128520" w="21788120">
                  <a:moveTo>
                    <a:pt x="0" y="185039"/>
                  </a:moveTo>
                  <a:cubicBezTo>
                    <a:pt x="0" y="82931"/>
                    <a:pt x="82931" y="0"/>
                    <a:pt x="185039" y="0"/>
                  </a:cubicBezTo>
                  <a:lnTo>
                    <a:pt x="21603081" y="0"/>
                  </a:lnTo>
                  <a:cubicBezTo>
                    <a:pt x="21705317" y="0"/>
                    <a:pt x="21788120" y="82931"/>
                    <a:pt x="21788120" y="185039"/>
                  </a:cubicBezTo>
                  <a:lnTo>
                    <a:pt x="21788120" y="1943481"/>
                  </a:lnTo>
                  <a:cubicBezTo>
                    <a:pt x="21788120" y="2045716"/>
                    <a:pt x="21705190" y="2128520"/>
                    <a:pt x="21603081" y="2128520"/>
                  </a:cubicBezTo>
                  <a:lnTo>
                    <a:pt x="185039" y="2128520"/>
                  </a:lnTo>
                  <a:cubicBezTo>
                    <a:pt x="82931" y="2128520"/>
                    <a:pt x="0" y="2045589"/>
                    <a:pt x="0" y="1943481"/>
                  </a:cubicBezTo>
                  <a:close/>
                </a:path>
              </a:pathLst>
            </a:custGeom>
            <a:solidFill>
              <a:srgbClr val="FBF9F4"/>
            </a:solidFill>
            <a:ln w="19050" cap="sq">
              <a:solidFill>
                <a:srgbClr val="EFE6D2"/>
              </a:solidFill>
              <a:prstDash val="solid"/>
              <a:miter/>
            </a:ln>
          </p:spPr>
        </p:sp>
      </p:grpSp>
      <p:sp>
        <p:nvSpPr>
          <p:cNvPr name="TextBox 58" id="58"/>
          <p:cNvSpPr txBox="true"/>
          <p:nvPr/>
        </p:nvSpPr>
        <p:spPr>
          <a:xfrm rot="0">
            <a:off x="1463040" y="7494270"/>
            <a:ext cx="15316200" cy="1238250"/>
          </a:xfrm>
          <a:prstGeom prst="rect">
            <a:avLst/>
          </a:prstGeom>
        </p:spPr>
        <p:txBody>
          <a:bodyPr anchor="t" rtlCol="false" tIns="0" lIns="0" bIns="0" rIns="0">
            <a:spAutoFit/>
          </a:bodyPr>
          <a:lstStyle/>
          <a:p>
            <a:pPr algn="l">
              <a:lnSpc>
                <a:spcPts val="2764"/>
              </a:lnSpc>
            </a:pPr>
            <a:r>
              <a:rPr lang="en-US" sz="1800">
                <a:solidFill>
                  <a:srgbClr val="23262F"/>
                </a:solidFill>
                <a:latin typeface="Calibri (MS)"/>
                <a:ea typeface="Calibri (MS)"/>
                <a:cs typeface="Calibri (MS)"/>
                <a:sym typeface="Calibri (MS)"/>
              </a:rPr>
              <a:t>DICT Memorandum Circular 005-17 sets a 24-hour reporting window to the national CERT (cert-ph@dict.gov.ph) for covered critical-infrastructure incidents — separate from, and in addition to, any Data Privacy Act breach-notification duty if personal data was involved.</a:t>
            </a:r>
          </a:p>
        </p:txBody>
      </p:sp>
      <p:grpSp>
        <p:nvGrpSpPr>
          <p:cNvPr name="Group 59" id="59"/>
          <p:cNvGrpSpPr/>
          <p:nvPr/>
        </p:nvGrpSpPr>
        <p:grpSpPr>
          <a:xfrm rot="0">
            <a:off x="685800" y="9710928"/>
            <a:ext cx="10972800" cy="411480"/>
            <a:chOff x="0" y="0"/>
            <a:chExt cx="14630400" cy="548640"/>
          </a:xfrm>
        </p:grpSpPr>
        <p:sp>
          <p:nvSpPr>
            <p:cNvPr name="Freeform 60" id="60"/>
            <p:cNvSpPr/>
            <p:nvPr/>
          </p:nvSpPr>
          <p:spPr>
            <a:xfrm flipH="false" flipV="false" rot="0">
              <a:off x="0" y="0"/>
              <a:ext cx="14630400" cy="548640"/>
            </a:xfrm>
            <a:custGeom>
              <a:avLst/>
              <a:gdLst/>
              <a:ahLst/>
              <a:cxnLst/>
              <a:rect r="r" b="b" t="t" l="l"/>
              <a:pathLst>
                <a:path h="548640" w="14630400">
                  <a:moveTo>
                    <a:pt x="0" y="0"/>
                  </a:moveTo>
                  <a:lnTo>
                    <a:pt x="14630400" y="0"/>
                  </a:lnTo>
                  <a:lnTo>
                    <a:pt x="14630400" y="548640"/>
                  </a:lnTo>
                  <a:lnTo>
                    <a:pt x="0" y="548640"/>
                  </a:lnTo>
                  <a:close/>
                </a:path>
              </a:pathLst>
            </a:custGeom>
            <a:blipFill>
              <a:blip r:embed="rId2">
                <a:alphaModFix amt="0"/>
              </a:blip>
              <a:stretch>
                <a:fillRect l="0" t="-469601" r="0" b="-469601"/>
              </a:stretch>
            </a:blipFill>
          </p:spPr>
        </p:sp>
        <p:sp>
          <p:nvSpPr>
            <p:cNvPr name="TextBox 61" id="61"/>
            <p:cNvSpPr txBox="true"/>
            <p:nvPr/>
          </p:nvSpPr>
          <p:spPr>
            <a:xfrm>
              <a:off x="0" y="-38100"/>
              <a:ext cx="14630400" cy="586740"/>
            </a:xfrm>
            <a:prstGeom prst="rect">
              <a:avLst/>
            </a:prstGeom>
          </p:spPr>
          <p:txBody>
            <a:bodyPr anchor="ctr" rtlCol="false" tIns="0" lIns="0" bIns="0" rIns="0"/>
            <a:lstStyle/>
            <a:p>
              <a:pPr algn="l">
                <a:lnSpc>
                  <a:spcPts val="1800"/>
                </a:lnSpc>
              </a:pPr>
              <a:r>
                <a:rPr lang="en-US" sz="1500">
                  <a:solidFill>
                    <a:srgbClr val="6B7280"/>
                  </a:solidFill>
                  <a:latin typeface="Calibri (MS)"/>
                  <a:ea typeface="Calibri (MS)"/>
                  <a:cs typeface="Calibri (MS)"/>
                  <a:sym typeface="Calibri (MS)"/>
                </a:rPr>
                <a:t>Davao del Norte Provincial Government — Cybersecurity Seminar</a:t>
              </a:r>
            </a:p>
          </p:txBody>
        </p:sp>
      </p:grpSp>
      <p:grpSp>
        <p:nvGrpSpPr>
          <p:cNvPr name="Group 62" id="62"/>
          <p:cNvGrpSpPr/>
          <p:nvPr/>
        </p:nvGrpSpPr>
        <p:grpSpPr>
          <a:xfrm rot="0">
            <a:off x="16911828" y="9710928"/>
            <a:ext cx="685800" cy="411480"/>
            <a:chOff x="0" y="0"/>
            <a:chExt cx="914400" cy="548640"/>
          </a:xfrm>
        </p:grpSpPr>
        <p:sp>
          <p:nvSpPr>
            <p:cNvPr name="Freeform 63" id="63"/>
            <p:cNvSpPr/>
            <p:nvPr/>
          </p:nvSpPr>
          <p:spPr>
            <a:xfrm flipH="false" flipV="false" rot="0">
              <a:off x="0" y="0"/>
              <a:ext cx="914400" cy="548640"/>
            </a:xfrm>
            <a:custGeom>
              <a:avLst/>
              <a:gdLst/>
              <a:ahLst/>
              <a:cxnLst/>
              <a:rect r="r" b="b" t="t" l="l"/>
              <a:pathLst>
                <a:path h="548640" w="914400">
                  <a:moveTo>
                    <a:pt x="0" y="0"/>
                  </a:moveTo>
                  <a:lnTo>
                    <a:pt x="914400" y="0"/>
                  </a:lnTo>
                  <a:lnTo>
                    <a:pt x="914400" y="548640"/>
                  </a:lnTo>
                  <a:lnTo>
                    <a:pt x="0" y="548640"/>
                  </a:lnTo>
                  <a:close/>
                </a:path>
              </a:pathLst>
            </a:custGeom>
            <a:blipFill>
              <a:blip r:embed="rId2">
                <a:alphaModFix amt="0"/>
              </a:blip>
              <a:stretch>
                <a:fillRect l="-26982" t="0" r="-26982" b="0"/>
              </a:stretch>
            </a:blipFill>
          </p:spPr>
        </p:sp>
        <p:sp>
          <p:nvSpPr>
            <p:cNvPr name="TextBox 64" id="64"/>
            <p:cNvSpPr txBox="true"/>
            <p:nvPr/>
          </p:nvSpPr>
          <p:spPr>
            <a:xfrm>
              <a:off x="0" y="-38100"/>
              <a:ext cx="914400" cy="586740"/>
            </a:xfrm>
            <a:prstGeom prst="rect">
              <a:avLst/>
            </a:prstGeom>
          </p:spPr>
          <p:txBody>
            <a:bodyPr anchor="ctr" rtlCol="false" tIns="0" lIns="0" bIns="0" rIns="0"/>
            <a:lstStyle/>
            <a:p>
              <a:pPr algn="r">
                <a:lnSpc>
                  <a:spcPts val="1800"/>
                </a:lnSpc>
              </a:pPr>
              <a:r>
                <a:rPr lang="en-US" sz="1500">
                  <a:solidFill>
                    <a:srgbClr val="6B7280"/>
                  </a:solidFill>
                  <a:latin typeface="Calibri (MS)"/>
                  <a:ea typeface="Calibri (MS)"/>
                  <a:cs typeface="Calibri (MS)"/>
                  <a:sym typeface="Calibri (MS)"/>
                </a:rPr>
                <a:t>38</a:t>
              </a:r>
            </a:p>
          </p:txBody>
        </p:sp>
      </p:grpSp>
    </p:spTree>
  </p:cSld>
  <p:clrMapOvr>
    <a:masterClrMapping/>
  </p:clrMapOvr>
</p:sld>
</file>

<file path=ppt/slides/slide15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60120" y="685800"/>
            <a:ext cx="13716000" cy="411480"/>
            <a:chOff x="0" y="0"/>
            <a:chExt cx="18288000" cy="548640"/>
          </a:xfrm>
        </p:grpSpPr>
        <p:sp>
          <p:nvSpPr>
            <p:cNvPr name="Freeform 3" id="3"/>
            <p:cNvSpPr/>
            <p:nvPr/>
          </p:nvSpPr>
          <p:spPr>
            <a:xfrm flipH="false" flipV="false" rot="0">
              <a:off x="0" y="0"/>
              <a:ext cx="18288000" cy="548640"/>
            </a:xfrm>
            <a:custGeom>
              <a:avLst/>
              <a:gdLst/>
              <a:ahLst/>
              <a:cxnLst/>
              <a:rect r="r" b="b" t="t" l="l"/>
              <a:pathLst>
                <a:path h="548640" w="18288000">
                  <a:moveTo>
                    <a:pt x="0" y="0"/>
                  </a:moveTo>
                  <a:lnTo>
                    <a:pt x="18288000" y="0"/>
                  </a:lnTo>
                  <a:lnTo>
                    <a:pt x="18288000" y="548640"/>
                  </a:lnTo>
                  <a:lnTo>
                    <a:pt x="0" y="548640"/>
                  </a:lnTo>
                  <a:close/>
                </a:path>
              </a:pathLst>
            </a:custGeom>
            <a:blipFill>
              <a:blip r:embed="rId2">
                <a:alphaModFix amt="0"/>
              </a:blip>
              <a:stretch>
                <a:fillRect l="0" t="-599501" r="0" b="-599501"/>
              </a:stretch>
            </a:blipFill>
          </p:spPr>
        </p:sp>
        <p:sp>
          <p:nvSpPr>
            <p:cNvPr name="TextBox 4" id="4"/>
            <p:cNvSpPr txBox="true"/>
            <p:nvPr/>
          </p:nvSpPr>
          <p:spPr>
            <a:xfrm>
              <a:off x="0" y="-38100"/>
              <a:ext cx="18288000" cy="586740"/>
            </a:xfrm>
            <a:prstGeom prst="rect">
              <a:avLst/>
            </a:prstGeom>
          </p:spPr>
          <p:txBody>
            <a:bodyPr anchor="ctr" rtlCol="false" tIns="0" lIns="0" bIns="0" rIns="0"/>
            <a:lstStyle/>
            <a:p>
              <a:pPr algn="l">
                <a:lnSpc>
                  <a:spcPts val="2160"/>
                </a:lnSpc>
              </a:pPr>
              <a:r>
                <a:rPr lang="en-US" b="true" sz="1800" spc="225">
                  <a:solidFill>
                    <a:srgbClr val="00B4D8"/>
                  </a:solidFill>
                  <a:latin typeface="Calibri (MS) Bold"/>
                  <a:ea typeface="Calibri (MS) Bold"/>
                  <a:cs typeface="Calibri (MS) Bold"/>
                  <a:sym typeface="Calibri (MS) Bold"/>
                </a:rPr>
                <a:t>PH CYBER LAW SORT · SCENARIO</a:t>
              </a:r>
            </a:p>
          </p:txBody>
        </p:sp>
      </p:grpSp>
      <p:grpSp>
        <p:nvGrpSpPr>
          <p:cNvPr name="Group 5" id="5"/>
          <p:cNvGrpSpPr/>
          <p:nvPr/>
        </p:nvGrpSpPr>
        <p:grpSpPr>
          <a:xfrm rot="0">
            <a:off x="960120" y="1069848"/>
            <a:ext cx="10972800" cy="822960"/>
            <a:chOff x="0" y="0"/>
            <a:chExt cx="14630400" cy="1097280"/>
          </a:xfrm>
        </p:grpSpPr>
        <p:sp>
          <p:nvSpPr>
            <p:cNvPr name="Freeform 6" id="6"/>
            <p:cNvSpPr/>
            <p:nvPr/>
          </p:nvSpPr>
          <p:spPr>
            <a:xfrm flipH="false" flipV="false" rot="0">
              <a:off x="0" y="0"/>
              <a:ext cx="14630400" cy="1097280"/>
            </a:xfrm>
            <a:custGeom>
              <a:avLst/>
              <a:gdLst/>
              <a:ahLst/>
              <a:cxnLst/>
              <a:rect r="r" b="b" t="t" l="l"/>
              <a:pathLst>
                <a:path h="1097280" w="14630400">
                  <a:moveTo>
                    <a:pt x="0" y="0"/>
                  </a:moveTo>
                  <a:lnTo>
                    <a:pt x="14630400" y="0"/>
                  </a:lnTo>
                  <a:lnTo>
                    <a:pt x="14630400" y="1097280"/>
                  </a:lnTo>
                  <a:lnTo>
                    <a:pt x="0" y="1097280"/>
                  </a:lnTo>
                  <a:close/>
                </a:path>
              </a:pathLst>
            </a:custGeom>
            <a:blipFill>
              <a:blip r:embed="rId2">
                <a:alphaModFix amt="0"/>
              </a:blip>
              <a:stretch>
                <a:fillRect l="0" t="-209800" r="0" b="-209800"/>
              </a:stretch>
            </a:blipFill>
          </p:spPr>
        </p:sp>
        <p:sp>
          <p:nvSpPr>
            <p:cNvPr name="TextBox 7" id="7"/>
            <p:cNvSpPr txBox="true"/>
            <p:nvPr/>
          </p:nvSpPr>
          <p:spPr>
            <a:xfrm>
              <a:off x="0" y="0"/>
              <a:ext cx="14630400" cy="1097280"/>
            </a:xfrm>
            <a:prstGeom prst="rect">
              <a:avLst/>
            </a:prstGeom>
          </p:spPr>
          <p:txBody>
            <a:bodyPr anchor="ctr" rtlCol="false" tIns="0" lIns="0" bIns="0" rIns="0"/>
            <a:lstStyle/>
            <a:p>
              <a:pPr algn="l">
                <a:lnSpc>
                  <a:spcPts val="4680"/>
                </a:lnSpc>
              </a:pPr>
              <a:r>
                <a:rPr lang="en-US" sz="3900" b="true">
                  <a:solidFill>
                    <a:srgbClr val="1E2761"/>
                  </a:solidFill>
                  <a:latin typeface="Cambria Bold"/>
                  <a:ea typeface="Cambria Bold"/>
                  <a:cs typeface="Cambria Bold"/>
                  <a:sym typeface="Cambria Bold"/>
                </a:rPr>
                <a:t>Scenario 15</a:t>
              </a:r>
            </a:p>
          </p:txBody>
        </p:sp>
      </p:grpSp>
      <p:grpSp>
        <p:nvGrpSpPr>
          <p:cNvPr name="Group 8" id="8"/>
          <p:cNvGrpSpPr/>
          <p:nvPr/>
        </p:nvGrpSpPr>
        <p:grpSpPr>
          <a:xfrm rot="0">
            <a:off x="960120" y="1810512"/>
            <a:ext cx="8229600" cy="411480"/>
            <a:chOff x="0" y="0"/>
            <a:chExt cx="10972800" cy="548640"/>
          </a:xfrm>
        </p:grpSpPr>
        <p:sp>
          <p:nvSpPr>
            <p:cNvPr name="Freeform 9" id="9"/>
            <p:cNvSpPr/>
            <p:nvPr/>
          </p:nvSpPr>
          <p:spPr>
            <a:xfrm flipH="false" flipV="false" rot="0">
              <a:off x="0" y="0"/>
              <a:ext cx="10972800" cy="548640"/>
            </a:xfrm>
            <a:custGeom>
              <a:avLst/>
              <a:gdLst/>
              <a:ahLst/>
              <a:cxnLst/>
              <a:rect r="r" b="b" t="t" l="l"/>
              <a:pathLst>
                <a:path h="548640" w="10972800">
                  <a:moveTo>
                    <a:pt x="0" y="0"/>
                  </a:moveTo>
                  <a:lnTo>
                    <a:pt x="10972800" y="0"/>
                  </a:lnTo>
                  <a:lnTo>
                    <a:pt x="10972800" y="548640"/>
                  </a:lnTo>
                  <a:lnTo>
                    <a:pt x="0" y="548640"/>
                  </a:lnTo>
                  <a:close/>
                </a:path>
              </a:pathLst>
            </a:custGeom>
            <a:blipFill>
              <a:blip r:embed="rId2">
                <a:alphaModFix amt="0"/>
              </a:blip>
              <a:stretch>
                <a:fillRect l="0" t="-339700" r="0" b="-339700"/>
              </a:stretch>
            </a:blipFill>
          </p:spPr>
        </p:sp>
        <p:sp>
          <p:nvSpPr>
            <p:cNvPr name="TextBox 10" id="10"/>
            <p:cNvSpPr txBox="true"/>
            <p:nvPr/>
          </p:nvSpPr>
          <p:spPr>
            <a:xfrm>
              <a:off x="0" y="-28575"/>
              <a:ext cx="10972800" cy="577215"/>
            </a:xfrm>
            <a:prstGeom prst="rect">
              <a:avLst/>
            </a:prstGeom>
          </p:spPr>
          <p:txBody>
            <a:bodyPr anchor="ctr" rtlCol="false" tIns="0" lIns="0" bIns="0" rIns="0"/>
            <a:lstStyle/>
            <a:p>
              <a:pPr algn="l">
                <a:lnSpc>
                  <a:spcPts val="1980"/>
                </a:lnSpc>
              </a:pPr>
              <a:r>
                <a:rPr lang="en-US" sz="1650">
                  <a:solidFill>
                    <a:srgbClr val="6B7280"/>
                  </a:solidFill>
                  <a:latin typeface="Calibri (MS)"/>
                  <a:ea typeface="Calibri (MS)"/>
                  <a:cs typeface="Calibri (MS)"/>
                  <a:sym typeface="Calibri (MS)"/>
                </a:rPr>
                <a:t>15 of 15</a:t>
              </a:r>
            </a:p>
          </p:txBody>
        </p:sp>
      </p:grpSp>
      <p:grpSp>
        <p:nvGrpSpPr>
          <p:cNvPr name="Group 11" id="11"/>
          <p:cNvGrpSpPr/>
          <p:nvPr/>
        </p:nvGrpSpPr>
        <p:grpSpPr>
          <a:xfrm rot="0">
            <a:off x="960120" y="2537460"/>
            <a:ext cx="16322040" cy="2811780"/>
            <a:chOff x="0" y="0"/>
            <a:chExt cx="21762720" cy="3749040"/>
          </a:xfrm>
        </p:grpSpPr>
        <p:sp>
          <p:nvSpPr>
            <p:cNvPr name="Freeform 12" id="12"/>
            <p:cNvSpPr/>
            <p:nvPr/>
          </p:nvSpPr>
          <p:spPr>
            <a:xfrm flipH="false" flipV="false" rot="0">
              <a:off x="0" y="0"/>
              <a:ext cx="21762720" cy="3749040"/>
            </a:xfrm>
            <a:custGeom>
              <a:avLst/>
              <a:gdLst/>
              <a:ahLst/>
              <a:cxnLst/>
              <a:rect r="r" b="b" t="t" l="l"/>
              <a:pathLst>
                <a:path h="3749040" w="21762720">
                  <a:moveTo>
                    <a:pt x="0" y="182880"/>
                  </a:moveTo>
                  <a:cubicBezTo>
                    <a:pt x="0" y="81915"/>
                    <a:pt x="81915" y="0"/>
                    <a:pt x="182880" y="0"/>
                  </a:cubicBezTo>
                  <a:lnTo>
                    <a:pt x="21579839" y="0"/>
                  </a:lnTo>
                  <a:cubicBezTo>
                    <a:pt x="21680804" y="0"/>
                    <a:pt x="21762720" y="81915"/>
                    <a:pt x="21762720" y="182880"/>
                  </a:cubicBezTo>
                  <a:lnTo>
                    <a:pt x="21762720" y="3566160"/>
                  </a:lnTo>
                  <a:cubicBezTo>
                    <a:pt x="21762720" y="3667125"/>
                    <a:pt x="21680804" y="3749040"/>
                    <a:pt x="21579839" y="3749040"/>
                  </a:cubicBezTo>
                  <a:lnTo>
                    <a:pt x="182880" y="3749040"/>
                  </a:lnTo>
                  <a:cubicBezTo>
                    <a:pt x="81915" y="3749040"/>
                    <a:pt x="0" y="3667125"/>
                    <a:pt x="0" y="3566160"/>
                  </a:cubicBezTo>
                  <a:close/>
                </a:path>
              </a:pathLst>
            </a:custGeom>
            <a:solidFill>
              <a:srgbClr val="F4F7FC"/>
            </a:solidFill>
          </p:spPr>
        </p:sp>
      </p:grpSp>
      <p:grpSp>
        <p:nvGrpSpPr>
          <p:cNvPr name="Group 13" id="13"/>
          <p:cNvGrpSpPr/>
          <p:nvPr/>
        </p:nvGrpSpPr>
        <p:grpSpPr>
          <a:xfrm rot="0">
            <a:off x="1440180" y="2811780"/>
            <a:ext cx="15361920" cy="2263140"/>
            <a:chOff x="0" y="0"/>
            <a:chExt cx="20482560" cy="3017520"/>
          </a:xfrm>
        </p:grpSpPr>
        <p:sp>
          <p:nvSpPr>
            <p:cNvPr name="Freeform 14" id="14"/>
            <p:cNvSpPr/>
            <p:nvPr/>
          </p:nvSpPr>
          <p:spPr>
            <a:xfrm flipH="false" flipV="false" rot="0">
              <a:off x="0" y="0"/>
              <a:ext cx="20482561" cy="3017520"/>
            </a:xfrm>
            <a:custGeom>
              <a:avLst/>
              <a:gdLst/>
              <a:ahLst/>
              <a:cxnLst/>
              <a:rect r="r" b="b" t="t" l="l"/>
              <a:pathLst>
                <a:path h="3017520" w="20482561">
                  <a:moveTo>
                    <a:pt x="0" y="0"/>
                  </a:moveTo>
                  <a:lnTo>
                    <a:pt x="20482561" y="0"/>
                  </a:lnTo>
                  <a:lnTo>
                    <a:pt x="20482561" y="3017520"/>
                  </a:lnTo>
                  <a:lnTo>
                    <a:pt x="0" y="3017520"/>
                  </a:lnTo>
                  <a:close/>
                </a:path>
              </a:pathLst>
            </a:custGeom>
            <a:blipFill>
              <a:blip r:embed="rId2">
                <a:alphaModFix amt="0"/>
              </a:blip>
              <a:stretch>
                <a:fillRect l="0" t="-82262" r="0" b="-82262"/>
              </a:stretch>
            </a:blipFill>
          </p:spPr>
        </p:sp>
        <p:sp>
          <p:nvSpPr>
            <p:cNvPr name="TextBox 15" id="15"/>
            <p:cNvSpPr txBox="true"/>
            <p:nvPr/>
          </p:nvSpPr>
          <p:spPr>
            <a:xfrm>
              <a:off x="0" y="-104775"/>
              <a:ext cx="20482560" cy="3122295"/>
            </a:xfrm>
            <a:prstGeom prst="rect">
              <a:avLst/>
            </a:prstGeom>
          </p:spPr>
          <p:txBody>
            <a:bodyPr anchor="ctr" rtlCol="false" tIns="0" lIns="0" bIns="0" rIns="0"/>
            <a:lstStyle/>
            <a:p>
              <a:pPr algn="l">
                <a:lnSpc>
                  <a:spcPts val="4147"/>
                </a:lnSpc>
              </a:pPr>
              <a:r>
                <a:rPr lang="en-US" sz="2700" i="true">
                  <a:solidFill>
                    <a:srgbClr val="23262F"/>
                  </a:solidFill>
                  <a:latin typeface="Cambria Italics"/>
                  <a:ea typeface="Cambria Italics"/>
                  <a:cs typeface="Cambria Italics"/>
                  <a:sym typeface="Cambria Italics"/>
                </a:rPr>
                <a:t>"The IT office wants to know whether they're required to run a yearly security assessment on their critical systems, and against what standard."</a:t>
              </a:r>
            </a:p>
          </p:txBody>
        </p:sp>
      </p:grpSp>
      <p:sp>
        <p:nvSpPr>
          <p:cNvPr name="TextBox 16" id="16"/>
          <p:cNvSpPr txBox="true"/>
          <p:nvPr/>
        </p:nvSpPr>
        <p:spPr>
          <a:xfrm rot="0">
            <a:off x="1051560" y="5604510"/>
            <a:ext cx="16139160" cy="864870"/>
          </a:xfrm>
          <a:prstGeom prst="rect">
            <a:avLst/>
          </a:prstGeom>
        </p:spPr>
        <p:txBody>
          <a:bodyPr anchor="t" rtlCol="false" tIns="0" lIns="0" bIns="0" rIns="0">
            <a:spAutoFit/>
          </a:bodyPr>
          <a:lstStyle/>
          <a:p>
            <a:pPr algn="ctr">
              <a:lnSpc>
                <a:spcPts val="3402"/>
              </a:lnSpc>
            </a:pPr>
            <a:r>
              <a:rPr lang="en-US" sz="2100" i="true">
                <a:solidFill>
                  <a:srgbClr val="6B7280"/>
                </a:solidFill>
                <a:latin typeface="Calibri (MS) Italics"/>
                <a:ea typeface="Calibri (MS) Italics"/>
                <a:cs typeface="Calibri (MS) Italics"/>
                <a:sym typeface="Calibri (MS) Italics"/>
              </a:rPr>
              <a:t>Which law or DICT issuance governs this? Discuss, then we'll reveal the answer.</a:t>
            </a:r>
          </a:p>
        </p:txBody>
      </p:sp>
      <p:grpSp>
        <p:nvGrpSpPr>
          <p:cNvPr name="Group 17" id="17"/>
          <p:cNvGrpSpPr/>
          <p:nvPr/>
        </p:nvGrpSpPr>
        <p:grpSpPr>
          <a:xfrm rot="0">
            <a:off x="950595" y="6779895"/>
            <a:ext cx="5162550" cy="910590"/>
            <a:chOff x="0" y="0"/>
            <a:chExt cx="6883400" cy="1214120"/>
          </a:xfrm>
        </p:grpSpPr>
        <p:sp>
          <p:nvSpPr>
            <p:cNvPr name="Freeform 18" id="18"/>
            <p:cNvSpPr/>
            <p:nvPr/>
          </p:nvSpPr>
          <p:spPr>
            <a:xfrm flipH="false" flipV="false" rot="0">
              <a:off x="0" y="0"/>
              <a:ext cx="6883400" cy="1214120"/>
            </a:xfrm>
            <a:custGeom>
              <a:avLst/>
              <a:gdLst/>
              <a:ahLst/>
              <a:cxnLst/>
              <a:rect r="r" b="b" t="t" l="l"/>
              <a:pathLst>
                <a:path h="1214120" w="6883400">
                  <a:moveTo>
                    <a:pt x="0" y="168148"/>
                  </a:moveTo>
                  <a:cubicBezTo>
                    <a:pt x="0" y="75311"/>
                    <a:pt x="75311" y="0"/>
                    <a:pt x="168148" y="0"/>
                  </a:cubicBezTo>
                  <a:lnTo>
                    <a:pt x="6715252" y="0"/>
                  </a:lnTo>
                  <a:cubicBezTo>
                    <a:pt x="6808089" y="0"/>
                    <a:pt x="6883400" y="75311"/>
                    <a:pt x="6883400" y="168148"/>
                  </a:cubicBezTo>
                  <a:lnTo>
                    <a:pt x="6883400" y="1045972"/>
                  </a:lnTo>
                  <a:cubicBezTo>
                    <a:pt x="6883400" y="1138809"/>
                    <a:pt x="6808089" y="1214120"/>
                    <a:pt x="6715252" y="1214120"/>
                  </a:cubicBezTo>
                  <a:lnTo>
                    <a:pt x="168148" y="1214120"/>
                  </a:lnTo>
                  <a:cubicBezTo>
                    <a:pt x="75311" y="1214120"/>
                    <a:pt x="0" y="1138809"/>
                    <a:pt x="0" y="1045972"/>
                  </a:cubicBezTo>
                  <a:close/>
                </a:path>
              </a:pathLst>
            </a:custGeom>
            <a:solidFill>
              <a:srgbClr val="F4F7FC"/>
            </a:solidFill>
            <a:ln w="19050" cap="sq">
              <a:solidFill>
                <a:srgbClr val="D7DCEC"/>
              </a:solidFill>
              <a:prstDash val="solid"/>
              <a:miter/>
            </a:ln>
          </p:spPr>
        </p:sp>
      </p:grpSp>
      <p:grpSp>
        <p:nvGrpSpPr>
          <p:cNvPr name="Group 19" id="19"/>
          <p:cNvGrpSpPr/>
          <p:nvPr/>
        </p:nvGrpSpPr>
        <p:grpSpPr>
          <a:xfrm rot="0">
            <a:off x="960120" y="6858000"/>
            <a:ext cx="5143500" cy="589788"/>
            <a:chOff x="0" y="0"/>
            <a:chExt cx="6858000" cy="786384"/>
          </a:xfrm>
        </p:grpSpPr>
        <p:sp>
          <p:nvSpPr>
            <p:cNvPr name="Freeform 20" id="20"/>
            <p:cNvSpPr/>
            <p:nvPr/>
          </p:nvSpPr>
          <p:spPr>
            <a:xfrm flipH="false" flipV="false" rot="0">
              <a:off x="0" y="0"/>
              <a:ext cx="6858000" cy="786384"/>
            </a:xfrm>
            <a:custGeom>
              <a:avLst/>
              <a:gdLst/>
              <a:ahLst/>
              <a:cxnLst/>
              <a:rect r="r" b="b" t="t" l="l"/>
              <a:pathLst>
                <a:path h="786384" w="6858000">
                  <a:moveTo>
                    <a:pt x="0" y="0"/>
                  </a:moveTo>
                  <a:lnTo>
                    <a:pt x="6858000" y="0"/>
                  </a:lnTo>
                  <a:lnTo>
                    <a:pt x="6858000" y="786384"/>
                  </a:lnTo>
                  <a:lnTo>
                    <a:pt x="0" y="786384"/>
                  </a:lnTo>
                  <a:close/>
                </a:path>
              </a:pathLst>
            </a:custGeom>
            <a:blipFill>
              <a:blip r:embed="rId2">
                <a:alphaModFix amt="0"/>
              </a:blip>
              <a:stretch>
                <a:fillRect l="0" t="-119927" r="0" b="-119927"/>
              </a:stretch>
            </a:blipFill>
          </p:spPr>
        </p:sp>
        <p:sp>
          <p:nvSpPr>
            <p:cNvPr name="TextBox 21" id="21"/>
            <p:cNvSpPr txBox="true"/>
            <p:nvPr/>
          </p:nvSpPr>
          <p:spPr>
            <a:xfrm>
              <a:off x="0" y="-38100"/>
              <a:ext cx="6858000" cy="824484"/>
            </a:xfrm>
            <a:prstGeom prst="rect">
              <a:avLst/>
            </a:prstGeom>
          </p:spPr>
          <p:txBody>
            <a:bodyPr anchor="ctr" rtlCol="false" tIns="0" lIns="0" bIns="0" rIns="0"/>
            <a:lstStyle/>
            <a:p>
              <a:pPr algn="ctr">
                <a:lnSpc>
                  <a:spcPts val="2250"/>
                </a:lnSpc>
              </a:pPr>
              <a:r>
                <a:rPr lang="en-US" sz="1875">
                  <a:solidFill>
                    <a:srgbClr val="6B7280"/>
                  </a:solidFill>
                  <a:latin typeface="Calibri (MS)"/>
                  <a:ea typeface="Calibri (MS)"/>
                  <a:cs typeface="Calibri (MS)"/>
                  <a:sym typeface="Calibri (MS)"/>
                </a:rPr>
                <a:t>E-Commerce Act</a:t>
              </a:r>
            </a:p>
          </p:txBody>
        </p:sp>
      </p:grpSp>
      <p:grpSp>
        <p:nvGrpSpPr>
          <p:cNvPr name="Group 22" id="22"/>
          <p:cNvGrpSpPr/>
          <p:nvPr/>
        </p:nvGrpSpPr>
        <p:grpSpPr>
          <a:xfrm rot="0">
            <a:off x="960120" y="7296912"/>
            <a:ext cx="5143500" cy="329184"/>
            <a:chOff x="0" y="0"/>
            <a:chExt cx="6858000" cy="438912"/>
          </a:xfrm>
        </p:grpSpPr>
        <p:sp>
          <p:nvSpPr>
            <p:cNvPr name="Freeform 23" id="23"/>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24" id="24"/>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9AA3B8"/>
                  </a:solidFill>
                  <a:latin typeface="Arimo"/>
                  <a:ea typeface="Arimo"/>
                  <a:cs typeface="Arimo"/>
                  <a:sym typeface="Arimo"/>
                </a:rPr>
                <a:t>ECA</a:t>
              </a:r>
            </a:p>
          </p:txBody>
        </p:sp>
      </p:grpSp>
      <p:grpSp>
        <p:nvGrpSpPr>
          <p:cNvPr name="Group 25" id="25"/>
          <p:cNvGrpSpPr/>
          <p:nvPr/>
        </p:nvGrpSpPr>
        <p:grpSpPr>
          <a:xfrm rot="0">
            <a:off x="6533007" y="6779895"/>
            <a:ext cx="5162550" cy="910590"/>
            <a:chOff x="0" y="0"/>
            <a:chExt cx="6883400" cy="1214120"/>
          </a:xfrm>
        </p:grpSpPr>
        <p:sp>
          <p:nvSpPr>
            <p:cNvPr name="Freeform 26" id="26"/>
            <p:cNvSpPr/>
            <p:nvPr/>
          </p:nvSpPr>
          <p:spPr>
            <a:xfrm flipH="false" flipV="false" rot="0">
              <a:off x="0" y="0"/>
              <a:ext cx="6883400" cy="1214120"/>
            </a:xfrm>
            <a:custGeom>
              <a:avLst/>
              <a:gdLst/>
              <a:ahLst/>
              <a:cxnLst/>
              <a:rect r="r" b="b" t="t" l="l"/>
              <a:pathLst>
                <a:path h="1214120" w="6883400">
                  <a:moveTo>
                    <a:pt x="0" y="168148"/>
                  </a:moveTo>
                  <a:cubicBezTo>
                    <a:pt x="0" y="75311"/>
                    <a:pt x="75311" y="0"/>
                    <a:pt x="168148" y="0"/>
                  </a:cubicBezTo>
                  <a:lnTo>
                    <a:pt x="6715252" y="0"/>
                  </a:lnTo>
                  <a:cubicBezTo>
                    <a:pt x="6808089" y="0"/>
                    <a:pt x="6883400" y="75311"/>
                    <a:pt x="6883400" y="168148"/>
                  </a:cubicBezTo>
                  <a:lnTo>
                    <a:pt x="6883400" y="1045972"/>
                  </a:lnTo>
                  <a:cubicBezTo>
                    <a:pt x="6883400" y="1138809"/>
                    <a:pt x="6808089" y="1214120"/>
                    <a:pt x="6715252" y="1214120"/>
                  </a:cubicBezTo>
                  <a:lnTo>
                    <a:pt x="168148" y="1214120"/>
                  </a:lnTo>
                  <a:cubicBezTo>
                    <a:pt x="75311" y="1214120"/>
                    <a:pt x="0" y="1138809"/>
                    <a:pt x="0" y="1045972"/>
                  </a:cubicBezTo>
                  <a:close/>
                </a:path>
              </a:pathLst>
            </a:custGeom>
            <a:solidFill>
              <a:srgbClr val="F4F7FC"/>
            </a:solidFill>
            <a:ln w="19050" cap="sq">
              <a:solidFill>
                <a:srgbClr val="D7DCEC"/>
              </a:solidFill>
              <a:prstDash val="solid"/>
              <a:miter/>
            </a:ln>
          </p:spPr>
        </p:sp>
      </p:grpSp>
      <p:grpSp>
        <p:nvGrpSpPr>
          <p:cNvPr name="Group 27" id="27"/>
          <p:cNvGrpSpPr/>
          <p:nvPr/>
        </p:nvGrpSpPr>
        <p:grpSpPr>
          <a:xfrm rot="0">
            <a:off x="6542532" y="6858000"/>
            <a:ext cx="5143500" cy="589788"/>
            <a:chOff x="0" y="0"/>
            <a:chExt cx="6858000" cy="786384"/>
          </a:xfrm>
        </p:grpSpPr>
        <p:sp>
          <p:nvSpPr>
            <p:cNvPr name="Freeform 28" id="28"/>
            <p:cNvSpPr/>
            <p:nvPr/>
          </p:nvSpPr>
          <p:spPr>
            <a:xfrm flipH="false" flipV="false" rot="0">
              <a:off x="0" y="0"/>
              <a:ext cx="6858000" cy="786384"/>
            </a:xfrm>
            <a:custGeom>
              <a:avLst/>
              <a:gdLst/>
              <a:ahLst/>
              <a:cxnLst/>
              <a:rect r="r" b="b" t="t" l="l"/>
              <a:pathLst>
                <a:path h="786384" w="6858000">
                  <a:moveTo>
                    <a:pt x="0" y="0"/>
                  </a:moveTo>
                  <a:lnTo>
                    <a:pt x="6858000" y="0"/>
                  </a:lnTo>
                  <a:lnTo>
                    <a:pt x="6858000" y="786384"/>
                  </a:lnTo>
                  <a:lnTo>
                    <a:pt x="0" y="786384"/>
                  </a:lnTo>
                  <a:close/>
                </a:path>
              </a:pathLst>
            </a:custGeom>
            <a:blipFill>
              <a:blip r:embed="rId2">
                <a:alphaModFix amt="0"/>
              </a:blip>
              <a:stretch>
                <a:fillRect l="0" t="-119927" r="0" b="-119927"/>
              </a:stretch>
            </a:blipFill>
          </p:spPr>
        </p:sp>
        <p:sp>
          <p:nvSpPr>
            <p:cNvPr name="TextBox 29" id="29"/>
            <p:cNvSpPr txBox="true"/>
            <p:nvPr/>
          </p:nvSpPr>
          <p:spPr>
            <a:xfrm>
              <a:off x="0" y="-38100"/>
              <a:ext cx="6858000" cy="824484"/>
            </a:xfrm>
            <a:prstGeom prst="rect">
              <a:avLst/>
            </a:prstGeom>
          </p:spPr>
          <p:txBody>
            <a:bodyPr anchor="ctr" rtlCol="false" tIns="0" lIns="0" bIns="0" rIns="0"/>
            <a:lstStyle/>
            <a:p>
              <a:pPr algn="ctr">
                <a:lnSpc>
                  <a:spcPts val="2250"/>
                </a:lnSpc>
              </a:pPr>
              <a:r>
                <a:rPr lang="en-US" sz="1875">
                  <a:solidFill>
                    <a:srgbClr val="6B7280"/>
                  </a:solidFill>
                  <a:latin typeface="Calibri (MS)"/>
                  <a:ea typeface="Calibri (MS)"/>
                  <a:cs typeface="Calibri (MS)"/>
                  <a:sym typeface="Calibri (MS)"/>
                </a:rPr>
                <a:t>Cybercrime Act</a:t>
              </a:r>
            </a:p>
          </p:txBody>
        </p:sp>
      </p:grpSp>
      <p:grpSp>
        <p:nvGrpSpPr>
          <p:cNvPr name="Group 30" id="30"/>
          <p:cNvGrpSpPr/>
          <p:nvPr/>
        </p:nvGrpSpPr>
        <p:grpSpPr>
          <a:xfrm rot="0">
            <a:off x="6542532" y="7296912"/>
            <a:ext cx="5143500" cy="329184"/>
            <a:chOff x="0" y="0"/>
            <a:chExt cx="6858000" cy="438912"/>
          </a:xfrm>
        </p:grpSpPr>
        <p:sp>
          <p:nvSpPr>
            <p:cNvPr name="Freeform 31" id="31"/>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32" id="32"/>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9AA3B8"/>
                  </a:solidFill>
                  <a:latin typeface="Arimo"/>
                  <a:ea typeface="Arimo"/>
                  <a:cs typeface="Arimo"/>
                  <a:sym typeface="Arimo"/>
                </a:rPr>
                <a:t>CPA</a:t>
              </a:r>
            </a:p>
          </p:txBody>
        </p:sp>
      </p:grpSp>
      <p:grpSp>
        <p:nvGrpSpPr>
          <p:cNvPr name="Group 33" id="33"/>
          <p:cNvGrpSpPr/>
          <p:nvPr/>
        </p:nvGrpSpPr>
        <p:grpSpPr>
          <a:xfrm rot="0">
            <a:off x="950595" y="7945755"/>
            <a:ext cx="5162550" cy="910590"/>
            <a:chOff x="0" y="0"/>
            <a:chExt cx="6883400" cy="1214120"/>
          </a:xfrm>
        </p:grpSpPr>
        <p:sp>
          <p:nvSpPr>
            <p:cNvPr name="Freeform 34" id="34"/>
            <p:cNvSpPr/>
            <p:nvPr/>
          </p:nvSpPr>
          <p:spPr>
            <a:xfrm flipH="false" flipV="false" rot="0">
              <a:off x="0" y="0"/>
              <a:ext cx="6883400" cy="1214120"/>
            </a:xfrm>
            <a:custGeom>
              <a:avLst/>
              <a:gdLst/>
              <a:ahLst/>
              <a:cxnLst/>
              <a:rect r="r" b="b" t="t" l="l"/>
              <a:pathLst>
                <a:path h="1214120" w="6883400">
                  <a:moveTo>
                    <a:pt x="0" y="168148"/>
                  </a:moveTo>
                  <a:cubicBezTo>
                    <a:pt x="0" y="75311"/>
                    <a:pt x="75311" y="0"/>
                    <a:pt x="168148" y="0"/>
                  </a:cubicBezTo>
                  <a:lnTo>
                    <a:pt x="6715252" y="0"/>
                  </a:lnTo>
                  <a:cubicBezTo>
                    <a:pt x="6808089" y="0"/>
                    <a:pt x="6883400" y="75311"/>
                    <a:pt x="6883400" y="168148"/>
                  </a:cubicBezTo>
                  <a:lnTo>
                    <a:pt x="6883400" y="1045972"/>
                  </a:lnTo>
                  <a:cubicBezTo>
                    <a:pt x="6883400" y="1138809"/>
                    <a:pt x="6808089" y="1214120"/>
                    <a:pt x="6715252" y="1214120"/>
                  </a:cubicBezTo>
                  <a:lnTo>
                    <a:pt x="168148" y="1214120"/>
                  </a:lnTo>
                  <a:cubicBezTo>
                    <a:pt x="75311" y="1214120"/>
                    <a:pt x="0" y="1138809"/>
                    <a:pt x="0" y="1045972"/>
                  </a:cubicBezTo>
                  <a:close/>
                </a:path>
              </a:pathLst>
            </a:custGeom>
            <a:solidFill>
              <a:srgbClr val="F4F7FC"/>
            </a:solidFill>
            <a:ln w="19050" cap="sq">
              <a:solidFill>
                <a:srgbClr val="D7DCEC"/>
              </a:solidFill>
              <a:prstDash val="solid"/>
              <a:miter/>
            </a:ln>
          </p:spPr>
        </p:sp>
      </p:grpSp>
      <p:grpSp>
        <p:nvGrpSpPr>
          <p:cNvPr name="Group 35" id="35"/>
          <p:cNvGrpSpPr/>
          <p:nvPr/>
        </p:nvGrpSpPr>
        <p:grpSpPr>
          <a:xfrm rot="0">
            <a:off x="960120" y="8023860"/>
            <a:ext cx="5143500" cy="589788"/>
            <a:chOff x="0" y="0"/>
            <a:chExt cx="6858000" cy="786384"/>
          </a:xfrm>
        </p:grpSpPr>
        <p:sp>
          <p:nvSpPr>
            <p:cNvPr name="Freeform 36" id="36"/>
            <p:cNvSpPr/>
            <p:nvPr/>
          </p:nvSpPr>
          <p:spPr>
            <a:xfrm flipH="false" flipV="false" rot="0">
              <a:off x="0" y="0"/>
              <a:ext cx="6858000" cy="786384"/>
            </a:xfrm>
            <a:custGeom>
              <a:avLst/>
              <a:gdLst/>
              <a:ahLst/>
              <a:cxnLst/>
              <a:rect r="r" b="b" t="t" l="l"/>
              <a:pathLst>
                <a:path h="786384" w="6858000">
                  <a:moveTo>
                    <a:pt x="0" y="0"/>
                  </a:moveTo>
                  <a:lnTo>
                    <a:pt x="6858000" y="0"/>
                  </a:lnTo>
                  <a:lnTo>
                    <a:pt x="6858000" y="786384"/>
                  </a:lnTo>
                  <a:lnTo>
                    <a:pt x="0" y="786384"/>
                  </a:lnTo>
                  <a:close/>
                </a:path>
              </a:pathLst>
            </a:custGeom>
            <a:blipFill>
              <a:blip r:embed="rId2">
                <a:alphaModFix amt="0"/>
              </a:blip>
              <a:stretch>
                <a:fillRect l="0" t="-119927" r="0" b="-119927"/>
              </a:stretch>
            </a:blipFill>
          </p:spPr>
        </p:sp>
        <p:sp>
          <p:nvSpPr>
            <p:cNvPr name="TextBox 37" id="37"/>
            <p:cNvSpPr txBox="true"/>
            <p:nvPr/>
          </p:nvSpPr>
          <p:spPr>
            <a:xfrm>
              <a:off x="0" y="-38100"/>
              <a:ext cx="6858000" cy="824484"/>
            </a:xfrm>
            <a:prstGeom prst="rect">
              <a:avLst/>
            </a:prstGeom>
          </p:spPr>
          <p:txBody>
            <a:bodyPr anchor="ctr" rtlCol="false" tIns="0" lIns="0" bIns="0" rIns="0"/>
            <a:lstStyle/>
            <a:p>
              <a:pPr algn="ctr">
                <a:lnSpc>
                  <a:spcPts val="2250"/>
                </a:lnSpc>
              </a:pPr>
              <a:r>
                <a:rPr lang="en-US" sz="1875">
                  <a:solidFill>
                    <a:srgbClr val="6B7280"/>
                  </a:solidFill>
                  <a:latin typeface="Calibri (MS)"/>
                  <a:ea typeface="Calibri (MS)"/>
                  <a:cs typeface="Calibri (MS)"/>
                  <a:sym typeface="Calibri (MS)"/>
                </a:rPr>
                <a:t>Data Privacy Act</a:t>
              </a:r>
            </a:p>
          </p:txBody>
        </p:sp>
      </p:grpSp>
      <p:grpSp>
        <p:nvGrpSpPr>
          <p:cNvPr name="Group 38" id="38"/>
          <p:cNvGrpSpPr/>
          <p:nvPr/>
        </p:nvGrpSpPr>
        <p:grpSpPr>
          <a:xfrm rot="0">
            <a:off x="960120" y="8462772"/>
            <a:ext cx="5143500" cy="329184"/>
            <a:chOff x="0" y="0"/>
            <a:chExt cx="6858000" cy="438912"/>
          </a:xfrm>
        </p:grpSpPr>
        <p:sp>
          <p:nvSpPr>
            <p:cNvPr name="Freeform 39" id="39"/>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40" id="40"/>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9AA3B8"/>
                  </a:solidFill>
                  <a:latin typeface="Arimo"/>
                  <a:ea typeface="Arimo"/>
                  <a:cs typeface="Arimo"/>
                  <a:sym typeface="Arimo"/>
                </a:rPr>
                <a:t>DPA</a:t>
              </a:r>
            </a:p>
          </p:txBody>
        </p:sp>
      </p:grpSp>
      <p:grpSp>
        <p:nvGrpSpPr>
          <p:cNvPr name="Group 41" id="41"/>
          <p:cNvGrpSpPr/>
          <p:nvPr/>
        </p:nvGrpSpPr>
        <p:grpSpPr>
          <a:xfrm rot="0">
            <a:off x="6533007" y="7945755"/>
            <a:ext cx="5162550" cy="910590"/>
            <a:chOff x="0" y="0"/>
            <a:chExt cx="6883400" cy="1214120"/>
          </a:xfrm>
        </p:grpSpPr>
        <p:sp>
          <p:nvSpPr>
            <p:cNvPr name="Freeform 42" id="42"/>
            <p:cNvSpPr/>
            <p:nvPr/>
          </p:nvSpPr>
          <p:spPr>
            <a:xfrm flipH="false" flipV="false" rot="0">
              <a:off x="0" y="0"/>
              <a:ext cx="6883400" cy="1214120"/>
            </a:xfrm>
            <a:custGeom>
              <a:avLst/>
              <a:gdLst/>
              <a:ahLst/>
              <a:cxnLst/>
              <a:rect r="r" b="b" t="t" l="l"/>
              <a:pathLst>
                <a:path h="1214120" w="6883400">
                  <a:moveTo>
                    <a:pt x="0" y="168148"/>
                  </a:moveTo>
                  <a:cubicBezTo>
                    <a:pt x="0" y="75311"/>
                    <a:pt x="75311" y="0"/>
                    <a:pt x="168148" y="0"/>
                  </a:cubicBezTo>
                  <a:lnTo>
                    <a:pt x="6715252" y="0"/>
                  </a:lnTo>
                  <a:cubicBezTo>
                    <a:pt x="6808089" y="0"/>
                    <a:pt x="6883400" y="75311"/>
                    <a:pt x="6883400" y="168148"/>
                  </a:cubicBezTo>
                  <a:lnTo>
                    <a:pt x="6883400" y="1045972"/>
                  </a:lnTo>
                  <a:cubicBezTo>
                    <a:pt x="6883400" y="1138809"/>
                    <a:pt x="6808089" y="1214120"/>
                    <a:pt x="6715252" y="1214120"/>
                  </a:cubicBezTo>
                  <a:lnTo>
                    <a:pt x="168148" y="1214120"/>
                  </a:lnTo>
                  <a:cubicBezTo>
                    <a:pt x="75311" y="1214120"/>
                    <a:pt x="0" y="1138809"/>
                    <a:pt x="0" y="1045972"/>
                  </a:cubicBezTo>
                  <a:close/>
                </a:path>
              </a:pathLst>
            </a:custGeom>
            <a:solidFill>
              <a:srgbClr val="F4F7FC"/>
            </a:solidFill>
            <a:ln w="19050" cap="sq">
              <a:solidFill>
                <a:srgbClr val="D7DCEC"/>
              </a:solidFill>
              <a:prstDash val="solid"/>
              <a:miter/>
            </a:ln>
          </p:spPr>
        </p:sp>
      </p:grpSp>
      <p:grpSp>
        <p:nvGrpSpPr>
          <p:cNvPr name="Group 43" id="43"/>
          <p:cNvGrpSpPr/>
          <p:nvPr/>
        </p:nvGrpSpPr>
        <p:grpSpPr>
          <a:xfrm rot="0">
            <a:off x="6542532" y="8023860"/>
            <a:ext cx="5143500" cy="589788"/>
            <a:chOff x="0" y="0"/>
            <a:chExt cx="6858000" cy="786384"/>
          </a:xfrm>
        </p:grpSpPr>
        <p:sp>
          <p:nvSpPr>
            <p:cNvPr name="Freeform 44" id="44"/>
            <p:cNvSpPr/>
            <p:nvPr/>
          </p:nvSpPr>
          <p:spPr>
            <a:xfrm flipH="false" flipV="false" rot="0">
              <a:off x="0" y="0"/>
              <a:ext cx="6858000" cy="786384"/>
            </a:xfrm>
            <a:custGeom>
              <a:avLst/>
              <a:gdLst/>
              <a:ahLst/>
              <a:cxnLst/>
              <a:rect r="r" b="b" t="t" l="l"/>
              <a:pathLst>
                <a:path h="786384" w="6858000">
                  <a:moveTo>
                    <a:pt x="0" y="0"/>
                  </a:moveTo>
                  <a:lnTo>
                    <a:pt x="6858000" y="0"/>
                  </a:lnTo>
                  <a:lnTo>
                    <a:pt x="6858000" y="786384"/>
                  </a:lnTo>
                  <a:lnTo>
                    <a:pt x="0" y="786384"/>
                  </a:lnTo>
                  <a:close/>
                </a:path>
              </a:pathLst>
            </a:custGeom>
            <a:blipFill>
              <a:blip r:embed="rId2">
                <a:alphaModFix amt="0"/>
              </a:blip>
              <a:stretch>
                <a:fillRect l="0" t="-119927" r="0" b="-119927"/>
              </a:stretch>
            </a:blipFill>
          </p:spPr>
        </p:sp>
        <p:sp>
          <p:nvSpPr>
            <p:cNvPr name="TextBox 45" id="45"/>
            <p:cNvSpPr txBox="true"/>
            <p:nvPr/>
          </p:nvSpPr>
          <p:spPr>
            <a:xfrm>
              <a:off x="0" y="-38100"/>
              <a:ext cx="6858000" cy="824484"/>
            </a:xfrm>
            <a:prstGeom prst="rect">
              <a:avLst/>
            </a:prstGeom>
          </p:spPr>
          <p:txBody>
            <a:bodyPr anchor="ctr" rtlCol="false" tIns="0" lIns="0" bIns="0" rIns="0"/>
            <a:lstStyle/>
            <a:p>
              <a:pPr algn="ctr">
                <a:lnSpc>
                  <a:spcPts val="2250"/>
                </a:lnSpc>
              </a:pPr>
              <a:r>
                <a:rPr lang="en-US" sz="1875">
                  <a:solidFill>
                    <a:srgbClr val="6B7280"/>
                  </a:solidFill>
                  <a:latin typeface="Calibri (MS)"/>
                  <a:ea typeface="Calibri (MS)"/>
                  <a:cs typeface="Calibri (MS)"/>
                  <a:sym typeface="Calibri (MS)"/>
                </a:rPr>
                <a:t>DICT Act / NCSP</a:t>
              </a:r>
            </a:p>
          </p:txBody>
        </p:sp>
      </p:grpSp>
      <p:grpSp>
        <p:nvGrpSpPr>
          <p:cNvPr name="Group 46" id="46"/>
          <p:cNvGrpSpPr/>
          <p:nvPr/>
        </p:nvGrpSpPr>
        <p:grpSpPr>
          <a:xfrm rot="0">
            <a:off x="6542532" y="8462772"/>
            <a:ext cx="5143500" cy="329184"/>
            <a:chOff x="0" y="0"/>
            <a:chExt cx="6858000" cy="438912"/>
          </a:xfrm>
        </p:grpSpPr>
        <p:sp>
          <p:nvSpPr>
            <p:cNvPr name="Freeform 47" id="47"/>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48" id="48"/>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9AA3B8"/>
                  </a:solidFill>
                  <a:latin typeface="Arimo"/>
                  <a:ea typeface="Arimo"/>
                  <a:cs typeface="Arimo"/>
                  <a:sym typeface="Arimo"/>
                </a:rPr>
                <a:t>DICT</a:t>
              </a:r>
            </a:p>
          </p:txBody>
        </p:sp>
      </p:grpSp>
      <p:grpSp>
        <p:nvGrpSpPr>
          <p:cNvPr name="Group 49" id="49"/>
          <p:cNvGrpSpPr/>
          <p:nvPr/>
        </p:nvGrpSpPr>
        <p:grpSpPr>
          <a:xfrm rot="0">
            <a:off x="12115419" y="6779895"/>
            <a:ext cx="5162550" cy="2076450"/>
            <a:chOff x="0" y="0"/>
            <a:chExt cx="6883400" cy="2768600"/>
          </a:xfrm>
        </p:grpSpPr>
        <p:sp>
          <p:nvSpPr>
            <p:cNvPr name="Freeform 50" id="50"/>
            <p:cNvSpPr/>
            <p:nvPr/>
          </p:nvSpPr>
          <p:spPr>
            <a:xfrm flipH="false" flipV="false" rot="0">
              <a:off x="0" y="0"/>
              <a:ext cx="6883400" cy="2768600"/>
            </a:xfrm>
            <a:custGeom>
              <a:avLst/>
              <a:gdLst/>
              <a:ahLst/>
              <a:cxnLst/>
              <a:rect r="r" b="b" t="t" l="l"/>
              <a:pathLst>
                <a:path h="2768600" w="6883400">
                  <a:moveTo>
                    <a:pt x="0" y="166116"/>
                  </a:moveTo>
                  <a:cubicBezTo>
                    <a:pt x="0" y="74422"/>
                    <a:pt x="74422" y="0"/>
                    <a:pt x="166116" y="0"/>
                  </a:cubicBezTo>
                  <a:lnTo>
                    <a:pt x="6717284" y="0"/>
                  </a:lnTo>
                  <a:cubicBezTo>
                    <a:pt x="6808978" y="0"/>
                    <a:pt x="6883400" y="74422"/>
                    <a:pt x="6883400" y="166116"/>
                  </a:cubicBezTo>
                  <a:lnTo>
                    <a:pt x="6883400" y="2602484"/>
                  </a:lnTo>
                  <a:cubicBezTo>
                    <a:pt x="6883400" y="2694178"/>
                    <a:pt x="6808978" y="2768600"/>
                    <a:pt x="6717284" y="2768600"/>
                  </a:cubicBezTo>
                  <a:lnTo>
                    <a:pt x="166116" y="2768600"/>
                  </a:lnTo>
                  <a:cubicBezTo>
                    <a:pt x="74422" y="2768600"/>
                    <a:pt x="0" y="2694178"/>
                    <a:pt x="0" y="2602484"/>
                  </a:cubicBezTo>
                  <a:close/>
                </a:path>
              </a:pathLst>
            </a:custGeom>
            <a:solidFill>
              <a:srgbClr val="F4F7FC"/>
            </a:solidFill>
            <a:ln w="19050" cap="sq">
              <a:solidFill>
                <a:srgbClr val="D7DCEC"/>
              </a:solidFill>
              <a:prstDash val="solid"/>
              <a:miter/>
            </a:ln>
          </p:spPr>
        </p:sp>
      </p:grpSp>
      <p:grpSp>
        <p:nvGrpSpPr>
          <p:cNvPr name="Group 51" id="51"/>
          <p:cNvGrpSpPr/>
          <p:nvPr/>
        </p:nvGrpSpPr>
        <p:grpSpPr>
          <a:xfrm rot="0">
            <a:off x="12124944" y="6858000"/>
            <a:ext cx="5143500" cy="1755648"/>
            <a:chOff x="0" y="0"/>
            <a:chExt cx="6858000" cy="2340864"/>
          </a:xfrm>
        </p:grpSpPr>
        <p:sp>
          <p:nvSpPr>
            <p:cNvPr name="Freeform 52" id="52"/>
            <p:cNvSpPr/>
            <p:nvPr/>
          </p:nvSpPr>
          <p:spPr>
            <a:xfrm flipH="false" flipV="false" rot="0">
              <a:off x="0" y="0"/>
              <a:ext cx="6858000" cy="2340864"/>
            </a:xfrm>
            <a:custGeom>
              <a:avLst/>
              <a:gdLst/>
              <a:ahLst/>
              <a:cxnLst/>
              <a:rect r="r" b="b" t="t" l="l"/>
              <a:pathLst>
                <a:path h="2340864" w="6858000">
                  <a:moveTo>
                    <a:pt x="0" y="0"/>
                  </a:moveTo>
                  <a:lnTo>
                    <a:pt x="6858000" y="0"/>
                  </a:lnTo>
                  <a:lnTo>
                    <a:pt x="6858000" y="2340864"/>
                  </a:lnTo>
                  <a:lnTo>
                    <a:pt x="0" y="2340864"/>
                  </a:lnTo>
                  <a:close/>
                </a:path>
              </a:pathLst>
            </a:custGeom>
            <a:blipFill>
              <a:blip r:embed="rId2">
                <a:alphaModFix amt="0"/>
              </a:blip>
              <a:stretch>
                <a:fillRect l="0" t="-7085" r="0" b="-7085"/>
              </a:stretch>
            </a:blipFill>
          </p:spPr>
        </p:sp>
        <p:sp>
          <p:nvSpPr>
            <p:cNvPr name="TextBox 53" id="53"/>
            <p:cNvSpPr txBox="true"/>
            <p:nvPr/>
          </p:nvSpPr>
          <p:spPr>
            <a:xfrm>
              <a:off x="0" y="-38100"/>
              <a:ext cx="6858000" cy="2378964"/>
            </a:xfrm>
            <a:prstGeom prst="rect">
              <a:avLst/>
            </a:prstGeom>
          </p:spPr>
          <p:txBody>
            <a:bodyPr anchor="ctr" rtlCol="false" tIns="0" lIns="0" bIns="0" rIns="0"/>
            <a:lstStyle/>
            <a:p>
              <a:pPr algn="ctr">
                <a:lnSpc>
                  <a:spcPts val="2250"/>
                </a:lnSpc>
              </a:pPr>
              <a:r>
                <a:rPr lang="en-US" sz="1875">
                  <a:solidFill>
                    <a:srgbClr val="6B7280"/>
                  </a:solidFill>
                  <a:latin typeface="Calibri (MS)"/>
                  <a:ea typeface="Calibri (MS)"/>
                  <a:cs typeface="Calibri (MS)"/>
                  <a:sym typeface="Calibri (MS)"/>
                </a:rPr>
                <a:t>Critical Infra. Protection</a:t>
              </a:r>
            </a:p>
          </p:txBody>
        </p:sp>
      </p:grpSp>
      <p:grpSp>
        <p:nvGrpSpPr>
          <p:cNvPr name="Group 54" id="54"/>
          <p:cNvGrpSpPr/>
          <p:nvPr/>
        </p:nvGrpSpPr>
        <p:grpSpPr>
          <a:xfrm rot="0">
            <a:off x="12124944" y="8462772"/>
            <a:ext cx="5143500" cy="329184"/>
            <a:chOff x="0" y="0"/>
            <a:chExt cx="6858000" cy="438912"/>
          </a:xfrm>
        </p:grpSpPr>
        <p:sp>
          <p:nvSpPr>
            <p:cNvPr name="Freeform 55" id="55"/>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56" id="56"/>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9AA3B8"/>
                  </a:solidFill>
                  <a:latin typeface="Arimo"/>
                  <a:ea typeface="Arimo"/>
                  <a:cs typeface="Arimo"/>
                  <a:sym typeface="Arimo"/>
                </a:rPr>
                <a:t>CII</a:t>
              </a:r>
            </a:p>
          </p:txBody>
        </p:sp>
      </p:grpSp>
      <p:grpSp>
        <p:nvGrpSpPr>
          <p:cNvPr name="Group 57" id="57"/>
          <p:cNvGrpSpPr/>
          <p:nvPr/>
        </p:nvGrpSpPr>
        <p:grpSpPr>
          <a:xfrm rot="0">
            <a:off x="685800" y="9710928"/>
            <a:ext cx="10972800" cy="411480"/>
            <a:chOff x="0" y="0"/>
            <a:chExt cx="14630400" cy="548640"/>
          </a:xfrm>
        </p:grpSpPr>
        <p:sp>
          <p:nvSpPr>
            <p:cNvPr name="Freeform 58" id="58"/>
            <p:cNvSpPr/>
            <p:nvPr/>
          </p:nvSpPr>
          <p:spPr>
            <a:xfrm flipH="false" flipV="false" rot="0">
              <a:off x="0" y="0"/>
              <a:ext cx="14630400" cy="548640"/>
            </a:xfrm>
            <a:custGeom>
              <a:avLst/>
              <a:gdLst/>
              <a:ahLst/>
              <a:cxnLst/>
              <a:rect r="r" b="b" t="t" l="l"/>
              <a:pathLst>
                <a:path h="548640" w="14630400">
                  <a:moveTo>
                    <a:pt x="0" y="0"/>
                  </a:moveTo>
                  <a:lnTo>
                    <a:pt x="14630400" y="0"/>
                  </a:lnTo>
                  <a:lnTo>
                    <a:pt x="14630400" y="548640"/>
                  </a:lnTo>
                  <a:lnTo>
                    <a:pt x="0" y="548640"/>
                  </a:lnTo>
                  <a:close/>
                </a:path>
              </a:pathLst>
            </a:custGeom>
            <a:blipFill>
              <a:blip r:embed="rId2">
                <a:alphaModFix amt="0"/>
              </a:blip>
              <a:stretch>
                <a:fillRect l="0" t="-469601" r="0" b="-469601"/>
              </a:stretch>
            </a:blipFill>
          </p:spPr>
        </p:sp>
        <p:sp>
          <p:nvSpPr>
            <p:cNvPr name="TextBox 59" id="59"/>
            <p:cNvSpPr txBox="true"/>
            <p:nvPr/>
          </p:nvSpPr>
          <p:spPr>
            <a:xfrm>
              <a:off x="0" y="-38100"/>
              <a:ext cx="14630400" cy="586740"/>
            </a:xfrm>
            <a:prstGeom prst="rect">
              <a:avLst/>
            </a:prstGeom>
          </p:spPr>
          <p:txBody>
            <a:bodyPr anchor="ctr" rtlCol="false" tIns="0" lIns="0" bIns="0" rIns="0"/>
            <a:lstStyle/>
            <a:p>
              <a:pPr algn="l">
                <a:lnSpc>
                  <a:spcPts val="1800"/>
                </a:lnSpc>
              </a:pPr>
              <a:r>
                <a:rPr lang="en-US" sz="1500">
                  <a:solidFill>
                    <a:srgbClr val="6B7280"/>
                  </a:solidFill>
                  <a:latin typeface="Calibri (MS)"/>
                  <a:ea typeface="Calibri (MS)"/>
                  <a:cs typeface="Calibri (MS)"/>
                  <a:sym typeface="Calibri (MS)"/>
                </a:rPr>
                <a:t>Davao del Norte Provincial Government — Cybersecurity Seminar</a:t>
              </a:r>
            </a:p>
          </p:txBody>
        </p:sp>
      </p:grpSp>
      <p:grpSp>
        <p:nvGrpSpPr>
          <p:cNvPr name="Group 60" id="60"/>
          <p:cNvGrpSpPr/>
          <p:nvPr/>
        </p:nvGrpSpPr>
        <p:grpSpPr>
          <a:xfrm rot="0">
            <a:off x="16911828" y="9710928"/>
            <a:ext cx="685800" cy="411480"/>
            <a:chOff x="0" y="0"/>
            <a:chExt cx="914400" cy="548640"/>
          </a:xfrm>
        </p:grpSpPr>
        <p:sp>
          <p:nvSpPr>
            <p:cNvPr name="Freeform 61" id="61"/>
            <p:cNvSpPr/>
            <p:nvPr/>
          </p:nvSpPr>
          <p:spPr>
            <a:xfrm flipH="false" flipV="false" rot="0">
              <a:off x="0" y="0"/>
              <a:ext cx="914400" cy="548640"/>
            </a:xfrm>
            <a:custGeom>
              <a:avLst/>
              <a:gdLst/>
              <a:ahLst/>
              <a:cxnLst/>
              <a:rect r="r" b="b" t="t" l="l"/>
              <a:pathLst>
                <a:path h="548640" w="914400">
                  <a:moveTo>
                    <a:pt x="0" y="0"/>
                  </a:moveTo>
                  <a:lnTo>
                    <a:pt x="914400" y="0"/>
                  </a:lnTo>
                  <a:lnTo>
                    <a:pt x="914400" y="548640"/>
                  </a:lnTo>
                  <a:lnTo>
                    <a:pt x="0" y="548640"/>
                  </a:lnTo>
                  <a:close/>
                </a:path>
              </a:pathLst>
            </a:custGeom>
            <a:blipFill>
              <a:blip r:embed="rId2">
                <a:alphaModFix amt="0"/>
              </a:blip>
              <a:stretch>
                <a:fillRect l="-26982" t="0" r="-26982" b="0"/>
              </a:stretch>
            </a:blipFill>
          </p:spPr>
        </p:sp>
        <p:sp>
          <p:nvSpPr>
            <p:cNvPr name="TextBox 62" id="62"/>
            <p:cNvSpPr txBox="true"/>
            <p:nvPr/>
          </p:nvSpPr>
          <p:spPr>
            <a:xfrm>
              <a:off x="0" y="-38100"/>
              <a:ext cx="914400" cy="586740"/>
            </a:xfrm>
            <a:prstGeom prst="rect">
              <a:avLst/>
            </a:prstGeom>
          </p:spPr>
          <p:txBody>
            <a:bodyPr anchor="ctr" rtlCol="false" tIns="0" lIns="0" bIns="0" rIns="0"/>
            <a:lstStyle/>
            <a:p>
              <a:pPr algn="r">
                <a:lnSpc>
                  <a:spcPts val="1800"/>
                </a:lnSpc>
              </a:pPr>
              <a:r>
                <a:rPr lang="en-US" sz="1500">
                  <a:solidFill>
                    <a:srgbClr val="6B7280"/>
                  </a:solidFill>
                  <a:latin typeface="Calibri (MS)"/>
                  <a:ea typeface="Calibri (MS)"/>
                  <a:cs typeface="Calibri (MS)"/>
                  <a:sym typeface="Calibri (MS)"/>
                </a:rPr>
                <a:t>39</a:t>
              </a:r>
            </a:p>
          </p:txBody>
        </p:sp>
      </p:grpSp>
    </p:spTree>
  </p:cSld>
  <p:clrMapOvr>
    <a:masterClrMapping/>
  </p:clrMapOvr>
</p:sld>
</file>

<file path=ppt/slides/slide15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60120" y="685800"/>
            <a:ext cx="13716000" cy="411480"/>
            <a:chOff x="0" y="0"/>
            <a:chExt cx="18288000" cy="548640"/>
          </a:xfrm>
        </p:grpSpPr>
        <p:sp>
          <p:nvSpPr>
            <p:cNvPr name="Freeform 3" id="3"/>
            <p:cNvSpPr/>
            <p:nvPr/>
          </p:nvSpPr>
          <p:spPr>
            <a:xfrm flipH="false" flipV="false" rot="0">
              <a:off x="0" y="0"/>
              <a:ext cx="18288000" cy="548640"/>
            </a:xfrm>
            <a:custGeom>
              <a:avLst/>
              <a:gdLst/>
              <a:ahLst/>
              <a:cxnLst/>
              <a:rect r="r" b="b" t="t" l="l"/>
              <a:pathLst>
                <a:path h="548640" w="18288000">
                  <a:moveTo>
                    <a:pt x="0" y="0"/>
                  </a:moveTo>
                  <a:lnTo>
                    <a:pt x="18288000" y="0"/>
                  </a:lnTo>
                  <a:lnTo>
                    <a:pt x="18288000" y="548640"/>
                  </a:lnTo>
                  <a:lnTo>
                    <a:pt x="0" y="548640"/>
                  </a:lnTo>
                  <a:close/>
                </a:path>
              </a:pathLst>
            </a:custGeom>
            <a:blipFill>
              <a:blip r:embed="rId2">
                <a:alphaModFix amt="0"/>
              </a:blip>
              <a:stretch>
                <a:fillRect l="0" t="-599501" r="0" b="-599501"/>
              </a:stretch>
            </a:blipFill>
          </p:spPr>
        </p:sp>
        <p:sp>
          <p:nvSpPr>
            <p:cNvPr name="TextBox 4" id="4"/>
            <p:cNvSpPr txBox="true"/>
            <p:nvPr/>
          </p:nvSpPr>
          <p:spPr>
            <a:xfrm>
              <a:off x="0" y="-38100"/>
              <a:ext cx="18288000" cy="586740"/>
            </a:xfrm>
            <a:prstGeom prst="rect">
              <a:avLst/>
            </a:prstGeom>
          </p:spPr>
          <p:txBody>
            <a:bodyPr anchor="ctr" rtlCol="false" tIns="0" lIns="0" bIns="0" rIns="0"/>
            <a:lstStyle/>
            <a:p>
              <a:pPr algn="l">
                <a:lnSpc>
                  <a:spcPts val="2160"/>
                </a:lnSpc>
              </a:pPr>
              <a:r>
                <a:rPr lang="en-US" b="true" sz="1800" spc="225">
                  <a:solidFill>
                    <a:srgbClr val="00B4D8"/>
                  </a:solidFill>
                  <a:latin typeface="Calibri (MS) Bold"/>
                  <a:ea typeface="Calibri (MS) Bold"/>
                  <a:cs typeface="Calibri (MS) Bold"/>
                  <a:sym typeface="Calibri (MS) Bold"/>
                </a:rPr>
                <a:t>PH CYBER LAW SORT · ANSWER</a:t>
              </a:r>
            </a:p>
          </p:txBody>
        </p:sp>
      </p:grpSp>
      <p:grpSp>
        <p:nvGrpSpPr>
          <p:cNvPr name="Group 5" id="5"/>
          <p:cNvGrpSpPr/>
          <p:nvPr/>
        </p:nvGrpSpPr>
        <p:grpSpPr>
          <a:xfrm rot="0">
            <a:off x="960120" y="1069848"/>
            <a:ext cx="10972800" cy="822960"/>
            <a:chOff x="0" y="0"/>
            <a:chExt cx="14630400" cy="1097280"/>
          </a:xfrm>
        </p:grpSpPr>
        <p:sp>
          <p:nvSpPr>
            <p:cNvPr name="Freeform 6" id="6"/>
            <p:cNvSpPr/>
            <p:nvPr/>
          </p:nvSpPr>
          <p:spPr>
            <a:xfrm flipH="false" flipV="false" rot="0">
              <a:off x="0" y="0"/>
              <a:ext cx="14630400" cy="1097280"/>
            </a:xfrm>
            <a:custGeom>
              <a:avLst/>
              <a:gdLst/>
              <a:ahLst/>
              <a:cxnLst/>
              <a:rect r="r" b="b" t="t" l="l"/>
              <a:pathLst>
                <a:path h="1097280" w="14630400">
                  <a:moveTo>
                    <a:pt x="0" y="0"/>
                  </a:moveTo>
                  <a:lnTo>
                    <a:pt x="14630400" y="0"/>
                  </a:lnTo>
                  <a:lnTo>
                    <a:pt x="14630400" y="1097280"/>
                  </a:lnTo>
                  <a:lnTo>
                    <a:pt x="0" y="1097280"/>
                  </a:lnTo>
                  <a:close/>
                </a:path>
              </a:pathLst>
            </a:custGeom>
            <a:blipFill>
              <a:blip r:embed="rId2">
                <a:alphaModFix amt="0"/>
              </a:blip>
              <a:stretch>
                <a:fillRect l="0" t="-209800" r="0" b="-209800"/>
              </a:stretch>
            </a:blipFill>
          </p:spPr>
        </p:sp>
        <p:sp>
          <p:nvSpPr>
            <p:cNvPr name="TextBox 7" id="7"/>
            <p:cNvSpPr txBox="true"/>
            <p:nvPr/>
          </p:nvSpPr>
          <p:spPr>
            <a:xfrm>
              <a:off x="0" y="0"/>
              <a:ext cx="14630400" cy="1097280"/>
            </a:xfrm>
            <a:prstGeom prst="rect">
              <a:avLst/>
            </a:prstGeom>
          </p:spPr>
          <p:txBody>
            <a:bodyPr anchor="ctr" rtlCol="false" tIns="0" lIns="0" bIns="0" rIns="0"/>
            <a:lstStyle/>
            <a:p>
              <a:pPr algn="l">
                <a:lnSpc>
                  <a:spcPts val="4680"/>
                </a:lnSpc>
              </a:pPr>
              <a:r>
                <a:rPr lang="en-US" sz="3900" b="true">
                  <a:solidFill>
                    <a:srgbClr val="1E2761"/>
                  </a:solidFill>
                  <a:latin typeface="Cambria Bold"/>
                  <a:ea typeface="Cambria Bold"/>
                  <a:cs typeface="Cambria Bold"/>
                  <a:sym typeface="Cambria Bold"/>
                </a:rPr>
                <a:t>Scenario 15 — Answer</a:t>
              </a:r>
            </a:p>
          </p:txBody>
        </p:sp>
      </p:grpSp>
      <p:grpSp>
        <p:nvGrpSpPr>
          <p:cNvPr name="Group 8" id="8"/>
          <p:cNvGrpSpPr/>
          <p:nvPr/>
        </p:nvGrpSpPr>
        <p:grpSpPr>
          <a:xfrm rot="0">
            <a:off x="960120" y="1810512"/>
            <a:ext cx="8229600" cy="411480"/>
            <a:chOff x="0" y="0"/>
            <a:chExt cx="10972800" cy="548640"/>
          </a:xfrm>
        </p:grpSpPr>
        <p:sp>
          <p:nvSpPr>
            <p:cNvPr name="Freeform 9" id="9"/>
            <p:cNvSpPr/>
            <p:nvPr/>
          </p:nvSpPr>
          <p:spPr>
            <a:xfrm flipH="false" flipV="false" rot="0">
              <a:off x="0" y="0"/>
              <a:ext cx="10972800" cy="548640"/>
            </a:xfrm>
            <a:custGeom>
              <a:avLst/>
              <a:gdLst/>
              <a:ahLst/>
              <a:cxnLst/>
              <a:rect r="r" b="b" t="t" l="l"/>
              <a:pathLst>
                <a:path h="548640" w="10972800">
                  <a:moveTo>
                    <a:pt x="0" y="0"/>
                  </a:moveTo>
                  <a:lnTo>
                    <a:pt x="10972800" y="0"/>
                  </a:lnTo>
                  <a:lnTo>
                    <a:pt x="10972800" y="548640"/>
                  </a:lnTo>
                  <a:lnTo>
                    <a:pt x="0" y="548640"/>
                  </a:lnTo>
                  <a:close/>
                </a:path>
              </a:pathLst>
            </a:custGeom>
            <a:blipFill>
              <a:blip r:embed="rId2">
                <a:alphaModFix amt="0"/>
              </a:blip>
              <a:stretch>
                <a:fillRect l="0" t="-339700" r="0" b="-339700"/>
              </a:stretch>
            </a:blipFill>
          </p:spPr>
        </p:sp>
        <p:sp>
          <p:nvSpPr>
            <p:cNvPr name="TextBox 10" id="10"/>
            <p:cNvSpPr txBox="true"/>
            <p:nvPr/>
          </p:nvSpPr>
          <p:spPr>
            <a:xfrm>
              <a:off x="0" y="-28575"/>
              <a:ext cx="10972800" cy="577215"/>
            </a:xfrm>
            <a:prstGeom prst="rect">
              <a:avLst/>
            </a:prstGeom>
          </p:spPr>
          <p:txBody>
            <a:bodyPr anchor="ctr" rtlCol="false" tIns="0" lIns="0" bIns="0" rIns="0"/>
            <a:lstStyle/>
            <a:p>
              <a:pPr algn="l">
                <a:lnSpc>
                  <a:spcPts val="1980"/>
                </a:lnSpc>
              </a:pPr>
              <a:r>
                <a:rPr lang="en-US" sz="1650">
                  <a:solidFill>
                    <a:srgbClr val="6B7280"/>
                  </a:solidFill>
                  <a:latin typeface="Calibri (MS)"/>
                  <a:ea typeface="Calibri (MS)"/>
                  <a:cs typeface="Calibri (MS)"/>
                  <a:sym typeface="Calibri (MS)"/>
                </a:rPr>
                <a:t>15 of 15</a:t>
              </a:r>
            </a:p>
          </p:txBody>
        </p:sp>
      </p:grpSp>
      <p:grpSp>
        <p:nvGrpSpPr>
          <p:cNvPr name="Group 11" id="11"/>
          <p:cNvGrpSpPr/>
          <p:nvPr/>
        </p:nvGrpSpPr>
        <p:grpSpPr>
          <a:xfrm rot="0">
            <a:off x="960120" y="2537460"/>
            <a:ext cx="16322040" cy="2057400"/>
            <a:chOff x="0" y="0"/>
            <a:chExt cx="21762720" cy="2743200"/>
          </a:xfrm>
        </p:grpSpPr>
        <p:sp>
          <p:nvSpPr>
            <p:cNvPr name="Freeform 12" id="12"/>
            <p:cNvSpPr/>
            <p:nvPr/>
          </p:nvSpPr>
          <p:spPr>
            <a:xfrm flipH="false" flipV="false" rot="0">
              <a:off x="0" y="0"/>
              <a:ext cx="21762720" cy="2743200"/>
            </a:xfrm>
            <a:custGeom>
              <a:avLst/>
              <a:gdLst/>
              <a:ahLst/>
              <a:cxnLst/>
              <a:rect r="r" b="b" t="t" l="l"/>
              <a:pathLst>
                <a:path h="2743200" w="21762720">
                  <a:moveTo>
                    <a:pt x="0" y="182880"/>
                  </a:moveTo>
                  <a:cubicBezTo>
                    <a:pt x="0" y="81915"/>
                    <a:pt x="81915" y="0"/>
                    <a:pt x="182880" y="0"/>
                  </a:cubicBezTo>
                  <a:lnTo>
                    <a:pt x="21579839" y="0"/>
                  </a:lnTo>
                  <a:cubicBezTo>
                    <a:pt x="21680804" y="0"/>
                    <a:pt x="21762720" y="81915"/>
                    <a:pt x="21762720" y="182880"/>
                  </a:cubicBezTo>
                  <a:lnTo>
                    <a:pt x="21762720" y="2560320"/>
                  </a:lnTo>
                  <a:cubicBezTo>
                    <a:pt x="21762720" y="2661285"/>
                    <a:pt x="21680804" y="2743200"/>
                    <a:pt x="21579839" y="2743200"/>
                  </a:cubicBezTo>
                  <a:lnTo>
                    <a:pt x="182880" y="2743200"/>
                  </a:lnTo>
                  <a:cubicBezTo>
                    <a:pt x="81915" y="2743200"/>
                    <a:pt x="0" y="2661285"/>
                    <a:pt x="0" y="2560320"/>
                  </a:cubicBezTo>
                  <a:close/>
                </a:path>
              </a:pathLst>
            </a:custGeom>
            <a:solidFill>
              <a:srgbClr val="F4F7FC"/>
            </a:solidFill>
          </p:spPr>
        </p:sp>
      </p:grpSp>
      <p:grpSp>
        <p:nvGrpSpPr>
          <p:cNvPr name="Group 13" id="13"/>
          <p:cNvGrpSpPr/>
          <p:nvPr/>
        </p:nvGrpSpPr>
        <p:grpSpPr>
          <a:xfrm rot="0">
            <a:off x="1440180" y="2743200"/>
            <a:ext cx="15361920" cy="1645920"/>
            <a:chOff x="0" y="0"/>
            <a:chExt cx="20482560" cy="2194560"/>
          </a:xfrm>
        </p:grpSpPr>
        <p:sp>
          <p:nvSpPr>
            <p:cNvPr name="Freeform 14" id="14"/>
            <p:cNvSpPr/>
            <p:nvPr/>
          </p:nvSpPr>
          <p:spPr>
            <a:xfrm flipH="false" flipV="false" rot="0">
              <a:off x="0" y="0"/>
              <a:ext cx="20482561" cy="2194560"/>
            </a:xfrm>
            <a:custGeom>
              <a:avLst/>
              <a:gdLst/>
              <a:ahLst/>
              <a:cxnLst/>
              <a:rect r="r" b="b" t="t" l="l"/>
              <a:pathLst>
                <a:path h="2194560" w="20482561">
                  <a:moveTo>
                    <a:pt x="0" y="0"/>
                  </a:moveTo>
                  <a:lnTo>
                    <a:pt x="20482561" y="0"/>
                  </a:lnTo>
                  <a:lnTo>
                    <a:pt x="20482561" y="2194560"/>
                  </a:lnTo>
                  <a:lnTo>
                    <a:pt x="0" y="2194560"/>
                  </a:lnTo>
                  <a:close/>
                </a:path>
              </a:pathLst>
            </a:custGeom>
            <a:blipFill>
              <a:blip r:embed="rId2">
                <a:alphaModFix amt="0"/>
              </a:blip>
              <a:stretch>
                <a:fillRect l="0" t="-131860" r="0" b="-131860"/>
              </a:stretch>
            </a:blipFill>
          </p:spPr>
        </p:sp>
        <p:sp>
          <p:nvSpPr>
            <p:cNvPr name="TextBox 15" id="15"/>
            <p:cNvSpPr txBox="true"/>
            <p:nvPr/>
          </p:nvSpPr>
          <p:spPr>
            <a:xfrm>
              <a:off x="0" y="-66675"/>
              <a:ext cx="20482560" cy="2261235"/>
            </a:xfrm>
            <a:prstGeom prst="rect">
              <a:avLst/>
            </a:prstGeom>
          </p:spPr>
          <p:txBody>
            <a:bodyPr anchor="ctr" rtlCol="false" tIns="0" lIns="0" bIns="0" rIns="0"/>
            <a:lstStyle/>
            <a:p>
              <a:pPr algn="l">
                <a:lnSpc>
                  <a:spcPts val="3487"/>
                </a:lnSpc>
              </a:pPr>
              <a:r>
                <a:rPr lang="en-US" sz="2325" i="true">
                  <a:solidFill>
                    <a:srgbClr val="23262F"/>
                  </a:solidFill>
                  <a:latin typeface="Cambria Italics"/>
                  <a:ea typeface="Cambria Italics"/>
                  <a:cs typeface="Cambria Italics"/>
                  <a:sym typeface="Cambria Italics"/>
                </a:rPr>
                <a:t>"The IT office wants to know whether they're required to run a yearly security assessment on their critical systems, and against what standard."</a:t>
              </a:r>
            </a:p>
          </p:txBody>
        </p:sp>
      </p:grpSp>
      <p:grpSp>
        <p:nvGrpSpPr>
          <p:cNvPr name="Group 16" id="16"/>
          <p:cNvGrpSpPr/>
          <p:nvPr/>
        </p:nvGrpSpPr>
        <p:grpSpPr>
          <a:xfrm rot="0">
            <a:off x="950595" y="4928235"/>
            <a:ext cx="5162550" cy="842010"/>
            <a:chOff x="0" y="0"/>
            <a:chExt cx="6883400" cy="1122680"/>
          </a:xfrm>
        </p:grpSpPr>
        <p:sp>
          <p:nvSpPr>
            <p:cNvPr name="Freeform 17" id="17"/>
            <p:cNvSpPr/>
            <p:nvPr/>
          </p:nvSpPr>
          <p:spPr>
            <a:xfrm flipH="false" flipV="false" rot="0">
              <a:off x="0" y="0"/>
              <a:ext cx="6883400" cy="1122680"/>
            </a:xfrm>
            <a:custGeom>
              <a:avLst/>
              <a:gdLst/>
              <a:ahLst/>
              <a:cxnLst/>
              <a:rect r="r" b="b" t="t" l="l"/>
              <a:pathLst>
                <a:path h="1122680" w="6883400">
                  <a:moveTo>
                    <a:pt x="0" y="168402"/>
                  </a:moveTo>
                  <a:cubicBezTo>
                    <a:pt x="0" y="75438"/>
                    <a:pt x="75438" y="0"/>
                    <a:pt x="168402" y="0"/>
                  </a:cubicBezTo>
                  <a:lnTo>
                    <a:pt x="6714998" y="0"/>
                  </a:lnTo>
                  <a:cubicBezTo>
                    <a:pt x="6807962" y="0"/>
                    <a:pt x="6883400" y="75438"/>
                    <a:pt x="6883400" y="168402"/>
                  </a:cubicBezTo>
                  <a:lnTo>
                    <a:pt x="6883400" y="954278"/>
                  </a:lnTo>
                  <a:cubicBezTo>
                    <a:pt x="6883400" y="1047242"/>
                    <a:pt x="6807962" y="1122680"/>
                    <a:pt x="6714998" y="1122680"/>
                  </a:cubicBezTo>
                  <a:lnTo>
                    <a:pt x="168402" y="1122680"/>
                  </a:lnTo>
                  <a:cubicBezTo>
                    <a:pt x="75438" y="1122680"/>
                    <a:pt x="0" y="1047242"/>
                    <a:pt x="0" y="954278"/>
                  </a:cubicBezTo>
                  <a:close/>
                </a:path>
              </a:pathLst>
            </a:custGeom>
            <a:solidFill>
              <a:srgbClr val="F4F7FC"/>
            </a:solidFill>
            <a:ln w="19050" cap="sq">
              <a:solidFill>
                <a:srgbClr val="D7DCEC"/>
              </a:solidFill>
              <a:prstDash val="solid"/>
              <a:miter/>
            </a:ln>
          </p:spPr>
        </p:sp>
      </p:grpSp>
      <p:grpSp>
        <p:nvGrpSpPr>
          <p:cNvPr name="Group 18" id="18"/>
          <p:cNvGrpSpPr/>
          <p:nvPr/>
        </p:nvGrpSpPr>
        <p:grpSpPr>
          <a:xfrm rot="0">
            <a:off x="960120" y="5006340"/>
            <a:ext cx="5143500" cy="521208"/>
            <a:chOff x="0" y="0"/>
            <a:chExt cx="6858000" cy="694944"/>
          </a:xfrm>
        </p:grpSpPr>
        <p:sp>
          <p:nvSpPr>
            <p:cNvPr name="Freeform 19" id="19"/>
            <p:cNvSpPr/>
            <p:nvPr/>
          </p:nvSpPr>
          <p:spPr>
            <a:xfrm flipH="false" flipV="false" rot="0">
              <a:off x="0" y="0"/>
              <a:ext cx="6858000" cy="694944"/>
            </a:xfrm>
            <a:custGeom>
              <a:avLst/>
              <a:gdLst/>
              <a:ahLst/>
              <a:cxnLst/>
              <a:rect r="r" b="b" t="t" l="l"/>
              <a:pathLst>
                <a:path h="694944" w="6858000">
                  <a:moveTo>
                    <a:pt x="0" y="0"/>
                  </a:moveTo>
                  <a:lnTo>
                    <a:pt x="6858000" y="0"/>
                  </a:lnTo>
                  <a:lnTo>
                    <a:pt x="6858000" y="694944"/>
                  </a:lnTo>
                  <a:lnTo>
                    <a:pt x="0" y="694944"/>
                  </a:lnTo>
                  <a:close/>
                </a:path>
              </a:pathLst>
            </a:custGeom>
            <a:blipFill>
              <a:blip r:embed="rId2">
                <a:alphaModFix amt="0"/>
              </a:blip>
              <a:stretch>
                <a:fillRect l="0" t="-142286" r="0" b="-142286"/>
              </a:stretch>
            </a:blipFill>
          </p:spPr>
        </p:sp>
        <p:sp>
          <p:nvSpPr>
            <p:cNvPr name="TextBox 20" id="20"/>
            <p:cNvSpPr txBox="true"/>
            <p:nvPr/>
          </p:nvSpPr>
          <p:spPr>
            <a:xfrm>
              <a:off x="0" y="-38100"/>
              <a:ext cx="6858000" cy="733044"/>
            </a:xfrm>
            <a:prstGeom prst="rect">
              <a:avLst/>
            </a:prstGeom>
          </p:spPr>
          <p:txBody>
            <a:bodyPr anchor="ctr" rtlCol="false" tIns="0" lIns="0" bIns="0" rIns="0"/>
            <a:lstStyle/>
            <a:p>
              <a:pPr algn="ctr">
                <a:lnSpc>
                  <a:spcPts val="2250"/>
                </a:lnSpc>
              </a:pPr>
              <a:r>
                <a:rPr lang="en-US" sz="1875">
                  <a:solidFill>
                    <a:srgbClr val="6B7280"/>
                  </a:solidFill>
                  <a:latin typeface="Calibri (MS)"/>
                  <a:ea typeface="Calibri (MS)"/>
                  <a:cs typeface="Calibri (MS)"/>
                  <a:sym typeface="Calibri (MS)"/>
                </a:rPr>
                <a:t>E-Commerce Act</a:t>
              </a:r>
            </a:p>
          </p:txBody>
        </p:sp>
      </p:grpSp>
      <p:grpSp>
        <p:nvGrpSpPr>
          <p:cNvPr name="Group 21" id="21"/>
          <p:cNvGrpSpPr/>
          <p:nvPr/>
        </p:nvGrpSpPr>
        <p:grpSpPr>
          <a:xfrm rot="0">
            <a:off x="960120" y="5376672"/>
            <a:ext cx="5143500" cy="329184"/>
            <a:chOff x="0" y="0"/>
            <a:chExt cx="6858000" cy="438912"/>
          </a:xfrm>
        </p:grpSpPr>
        <p:sp>
          <p:nvSpPr>
            <p:cNvPr name="Freeform 22" id="22"/>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23" id="23"/>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9AA3B8"/>
                  </a:solidFill>
                  <a:latin typeface="Arimo"/>
                  <a:ea typeface="Arimo"/>
                  <a:cs typeface="Arimo"/>
                  <a:sym typeface="Arimo"/>
                </a:rPr>
                <a:t>ECA</a:t>
              </a:r>
            </a:p>
          </p:txBody>
        </p:sp>
      </p:grpSp>
      <p:grpSp>
        <p:nvGrpSpPr>
          <p:cNvPr name="Group 24" id="24"/>
          <p:cNvGrpSpPr/>
          <p:nvPr/>
        </p:nvGrpSpPr>
        <p:grpSpPr>
          <a:xfrm rot="0">
            <a:off x="6533007" y="4928235"/>
            <a:ext cx="5162550" cy="842010"/>
            <a:chOff x="0" y="0"/>
            <a:chExt cx="6883400" cy="1122680"/>
          </a:xfrm>
        </p:grpSpPr>
        <p:sp>
          <p:nvSpPr>
            <p:cNvPr name="Freeform 25" id="25"/>
            <p:cNvSpPr/>
            <p:nvPr/>
          </p:nvSpPr>
          <p:spPr>
            <a:xfrm flipH="false" flipV="false" rot="0">
              <a:off x="0" y="0"/>
              <a:ext cx="6883400" cy="1122680"/>
            </a:xfrm>
            <a:custGeom>
              <a:avLst/>
              <a:gdLst/>
              <a:ahLst/>
              <a:cxnLst/>
              <a:rect r="r" b="b" t="t" l="l"/>
              <a:pathLst>
                <a:path h="1122680" w="6883400">
                  <a:moveTo>
                    <a:pt x="0" y="168402"/>
                  </a:moveTo>
                  <a:cubicBezTo>
                    <a:pt x="0" y="75438"/>
                    <a:pt x="75438" y="0"/>
                    <a:pt x="168402" y="0"/>
                  </a:cubicBezTo>
                  <a:lnTo>
                    <a:pt x="6714998" y="0"/>
                  </a:lnTo>
                  <a:cubicBezTo>
                    <a:pt x="6807962" y="0"/>
                    <a:pt x="6883400" y="75438"/>
                    <a:pt x="6883400" y="168402"/>
                  </a:cubicBezTo>
                  <a:lnTo>
                    <a:pt x="6883400" y="954278"/>
                  </a:lnTo>
                  <a:cubicBezTo>
                    <a:pt x="6883400" y="1047242"/>
                    <a:pt x="6807962" y="1122680"/>
                    <a:pt x="6714998" y="1122680"/>
                  </a:cubicBezTo>
                  <a:lnTo>
                    <a:pt x="168402" y="1122680"/>
                  </a:lnTo>
                  <a:cubicBezTo>
                    <a:pt x="75438" y="1122680"/>
                    <a:pt x="0" y="1047242"/>
                    <a:pt x="0" y="954278"/>
                  </a:cubicBezTo>
                  <a:close/>
                </a:path>
              </a:pathLst>
            </a:custGeom>
            <a:solidFill>
              <a:srgbClr val="F4F7FC"/>
            </a:solidFill>
            <a:ln w="19050" cap="sq">
              <a:solidFill>
                <a:srgbClr val="D7DCEC"/>
              </a:solidFill>
              <a:prstDash val="solid"/>
              <a:miter/>
            </a:ln>
          </p:spPr>
        </p:sp>
      </p:grpSp>
      <p:grpSp>
        <p:nvGrpSpPr>
          <p:cNvPr name="Group 26" id="26"/>
          <p:cNvGrpSpPr/>
          <p:nvPr/>
        </p:nvGrpSpPr>
        <p:grpSpPr>
          <a:xfrm rot="0">
            <a:off x="6542532" y="5006340"/>
            <a:ext cx="5143500" cy="521208"/>
            <a:chOff x="0" y="0"/>
            <a:chExt cx="6858000" cy="694944"/>
          </a:xfrm>
        </p:grpSpPr>
        <p:sp>
          <p:nvSpPr>
            <p:cNvPr name="Freeform 27" id="27"/>
            <p:cNvSpPr/>
            <p:nvPr/>
          </p:nvSpPr>
          <p:spPr>
            <a:xfrm flipH="false" flipV="false" rot="0">
              <a:off x="0" y="0"/>
              <a:ext cx="6858000" cy="694944"/>
            </a:xfrm>
            <a:custGeom>
              <a:avLst/>
              <a:gdLst/>
              <a:ahLst/>
              <a:cxnLst/>
              <a:rect r="r" b="b" t="t" l="l"/>
              <a:pathLst>
                <a:path h="694944" w="6858000">
                  <a:moveTo>
                    <a:pt x="0" y="0"/>
                  </a:moveTo>
                  <a:lnTo>
                    <a:pt x="6858000" y="0"/>
                  </a:lnTo>
                  <a:lnTo>
                    <a:pt x="6858000" y="694944"/>
                  </a:lnTo>
                  <a:lnTo>
                    <a:pt x="0" y="694944"/>
                  </a:lnTo>
                  <a:close/>
                </a:path>
              </a:pathLst>
            </a:custGeom>
            <a:blipFill>
              <a:blip r:embed="rId2">
                <a:alphaModFix amt="0"/>
              </a:blip>
              <a:stretch>
                <a:fillRect l="0" t="-142286" r="0" b="-142286"/>
              </a:stretch>
            </a:blipFill>
          </p:spPr>
        </p:sp>
        <p:sp>
          <p:nvSpPr>
            <p:cNvPr name="TextBox 28" id="28"/>
            <p:cNvSpPr txBox="true"/>
            <p:nvPr/>
          </p:nvSpPr>
          <p:spPr>
            <a:xfrm>
              <a:off x="0" y="-38100"/>
              <a:ext cx="6858000" cy="733044"/>
            </a:xfrm>
            <a:prstGeom prst="rect">
              <a:avLst/>
            </a:prstGeom>
          </p:spPr>
          <p:txBody>
            <a:bodyPr anchor="ctr" rtlCol="false" tIns="0" lIns="0" bIns="0" rIns="0"/>
            <a:lstStyle/>
            <a:p>
              <a:pPr algn="ctr">
                <a:lnSpc>
                  <a:spcPts val="2250"/>
                </a:lnSpc>
              </a:pPr>
              <a:r>
                <a:rPr lang="en-US" sz="1875">
                  <a:solidFill>
                    <a:srgbClr val="6B7280"/>
                  </a:solidFill>
                  <a:latin typeface="Calibri (MS)"/>
                  <a:ea typeface="Calibri (MS)"/>
                  <a:cs typeface="Calibri (MS)"/>
                  <a:sym typeface="Calibri (MS)"/>
                </a:rPr>
                <a:t>Cybercrime Act</a:t>
              </a:r>
            </a:p>
          </p:txBody>
        </p:sp>
      </p:grpSp>
      <p:grpSp>
        <p:nvGrpSpPr>
          <p:cNvPr name="Group 29" id="29"/>
          <p:cNvGrpSpPr/>
          <p:nvPr/>
        </p:nvGrpSpPr>
        <p:grpSpPr>
          <a:xfrm rot="0">
            <a:off x="6542532" y="5376672"/>
            <a:ext cx="5143500" cy="329184"/>
            <a:chOff x="0" y="0"/>
            <a:chExt cx="6858000" cy="438912"/>
          </a:xfrm>
        </p:grpSpPr>
        <p:sp>
          <p:nvSpPr>
            <p:cNvPr name="Freeform 30" id="30"/>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31" id="31"/>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9AA3B8"/>
                  </a:solidFill>
                  <a:latin typeface="Arimo"/>
                  <a:ea typeface="Arimo"/>
                  <a:cs typeface="Arimo"/>
                  <a:sym typeface="Arimo"/>
                </a:rPr>
                <a:t>CPA</a:t>
              </a:r>
            </a:p>
          </p:txBody>
        </p:sp>
      </p:grpSp>
      <p:grpSp>
        <p:nvGrpSpPr>
          <p:cNvPr name="Group 32" id="32"/>
          <p:cNvGrpSpPr/>
          <p:nvPr/>
        </p:nvGrpSpPr>
        <p:grpSpPr>
          <a:xfrm rot="0">
            <a:off x="950595" y="5998083"/>
            <a:ext cx="5162550" cy="842010"/>
            <a:chOff x="0" y="0"/>
            <a:chExt cx="6883400" cy="1122680"/>
          </a:xfrm>
        </p:grpSpPr>
        <p:sp>
          <p:nvSpPr>
            <p:cNvPr name="Freeform 33" id="33"/>
            <p:cNvSpPr/>
            <p:nvPr/>
          </p:nvSpPr>
          <p:spPr>
            <a:xfrm flipH="false" flipV="false" rot="0">
              <a:off x="0" y="0"/>
              <a:ext cx="6883400" cy="1122680"/>
            </a:xfrm>
            <a:custGeom>
              <a:avLst/>
              <a:gdLst/>
              <a:ahLst/>
              <a:cxnLst/>
              <a:rect r="r" b="b" t="t" l="l"/>
              <a:pathLst>
                <a:path h="1122680" w="6883400">
                  <a:moveTo>
                    <a:pt x="0" y="168402"/>
                  </a:moveTo>
                  <a:cubicBezTo>
                    <a:pt x="0" y="75438"/>
                    <a:pt x="75438" y="0"/>
                    <a:pt x="168402" y="0"/>
                  </a:cubicBezTo>
                  <a:lnTo>
                    <a:pt x="6714998" y="0"/>
                  </a:lnTo>
                  <a:cubicBezTo>
                    <a:pt x="6807962" y="0"/>
                    <a:pt x="6883400" y="75438"/>
                    <a:pt x="6883400" y="168402"/>
                  </a:cubicBezTo>
                  <a:lnTo>
                    <a:pt x="6883400" y="954278"/>
                  </a:lnTo>
                  <a:cubicBezTo>
                    <a:pt x="6883400" y="1047242"/>
                    <a:pt x="6807962" y="1122680"/>
                    <a:pt x="6714998" y="1122680"/>
                  </a:cubicBezTo>
                  <a:lnTo>
                    <a:pt x="168402" y="1122680"/>
                  </a:lnTo>
                  <a:cubicBezTo>
                    <a:pt x="75438" y="1122680"/>
                    <a:pt x="0" y="1047242"/>
                    <a:pt x="0" y="954278"/>
                  </a:cubicBezTo>
                  <a:close/>
                </a:path>
              </a:pathLst>
            </a:custGeom>
            <a:solidFill>
              <a:srgbClr val="F4F7FC"/>
            </a:solidFill>
            <a:ln w="19050" cap="sq">
              <a:solidFill>
                <a:srgbClr val="D7DCEC"/>
              </a:solidFill>
              <a:prstDash val="solid"/>
              <a:miter/>
            </a:ln>
          </p:spPr>
        </p:sp>
      </p:grpSp>
      <p:grpSp>
        <p:nvGrpSpPr>
          <p:cNvPr name="Group 34" id="34"/>
          <p:cNvGrpSpPr/>
          <p:nvPr/>
        </p:nvGrpSpPr>
        <p:grpSpPr>
          <a:xfrm rot="0">
            <a:off x="960120" y="6076188"/>
            <a:ext cx="5143500" cy="521208"/>
            <a:chOff x="0" y="0"/>
            <a:chExt cx="6858000" cy="694944"/>
          </a:xfrm>
        </p:grpSpPr>
        <p:sp>
          <p:nvSpPr>
            <p:cNvPr name="Freeform 35" id="35"/>
            <p:cNvSpPr/>
            <p:nvPr/>
          </p:nvSpPr>
          <p:spPr>
            <a:xfrm flipH="false" flipV="false" rot="0">
              <a:off x="0" y="0"/>
              <a:ext cx="6858000" cy="694944"/>
            </a:xfrm>
            <a:custGeom>
              <a:avLst/>
              <a:gdLst/>
              <a:ahLst/>
              <a:cxnLst/>
              <a:rect r="r" b="b" t="t" l="l"/>
              <a:pathLst>
                <a:path h="694944" w="6858000">
                  <a:moveTo>
                    <a:pt x="0" y="0"/>
                  </a:moveTo>
                  <a:lnTo>
                    <a:pt x="6858000" y="0"/>
                  </a:lnTo>
                  <a:lnTo>
                    <a:pt x="6858000" y="694944"/>
                  </a:lnTo>
                  <a:lnTo>
                    <a:pt x="0" y="694944"/>
                  </a:lnTo>
                  <a:close/>
                </a:path>
              </a:pathLst>
            </a:custGeom>
            <a:blipFill>
              <a:blip r:embed="rId2">
                <a:alphaModFix amt="0"/>
              </a:blip>
              <a:stretch>
                <a:fillRect l="0" t="-142286" r="0" b="-142286"/>
              </a:stretch>
            </a:blipFill>
          </p:spPr>
        </p:sp>
        <p:sp>
          <p:nvSpPr>
            <p:cNvPr name="TextBox 36" id="36"/>
            <p:cNvSpPr txBox="true"/>
            <p:nvPr/>
          </p:nvSpPr>
          <p:spPr>
            <a:xfrm>
              <a:off x="0" y="-38100"/>
              <a:ext cx="6858000" cy="733044"/>
            </a:xfrm>
            <a:prstGeom prst="rect">
              <a:avLst/>
            </a:prstGeom>
          </p:spPr>
          <p:txBody>
            <a:bodyPr anchor="ctr" rtlCol="false" tIns="0" lIns="0" bIns="0" rIns="0"/>
            <a:lstStyle/>
            <a:p>
              <a:pPr algn="ctr">
                <a:lnSpc>
                  <a:spcPts val="2250"/>
                </a:lnSpc>
              </a:pPr>
              <a:r>
                <a:rPr lang="en-US" sz="1875">
                  <a:solidFill>
                    <a:srgbClr val="6B7280"/>
                  </a:solidFill>
                  <a:latin typeface="Calibri (MS)"/>
                  <a:ea typeface="Calibri (MS)"/>
                  <a:cs typeface="Calibri (MS)"/>
                  <a:sym typeface="Calibri (MS)"/>
                </a:rPr>
                <a:t>Data Privacy Act</a:t>
              </a:r>
            </a:p>
          </p:txBody>
        </p:sp>
      </p:grpSp>
      <p:grpSp>
        <p:nvGrpSpPr>
          <p:cNvPr name="Group 37" id="37"/>
          <p:cNvGrpSpPr/>
          <p:nvPr/>
        </p:nvGrpSpPr>
        <p:grpSpPr>
          <a:xfrm rot="0">
            <a:off x="960120" y="6446520"/>
            <a:ext cx="5143500" cy="329184"/>
            <a:chOff x="0" y="0"/>
            <a:chExt cx="6858000" cy="438912"/>
          </a:xfrm>
        </p:grpSpPr>
        <p:sp>
          <p:nvSpPr>
            <p:cNvPr name="Freeform 38" id="38"/>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39" id="39"/>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9AA3B8"/>
                  </a:solidFill>
                  <a:latin typeface="Arimo"/>
                  <a:ea typeface="Arimo"/>
                  <a:cs typeface="Arimo"/>
                  <a:sym typeface="Arimo"/>
                </a:rPr>
                <a:t>DPA</a:t>
              </a:r>
            </a:p>
          </p:txBody>
        </p:sp>
      </p:grpSp>
      <p:grpSp>
        <p:nvGrpSpPr>
          <p:cNvPr name="Group 40" id="40"/>
          <p:cNvGrpSpPr/>
          <p:nvPr/>
        </p:nvGrpSpPr>
        <p:grpSpPr>
          <a:xfrm rot="0">
            <a:off x="6533007" y="5998083"/>
            <a:ext cx="5162550" cy="842010"/>
            <a:chOff x="0" y="0"/>
            <a:chExt cx="6883400" cy="1122680"/>
          </a:xfrm>
        </p:grpSpPr>
        <p:sp>
          <p:nvSpPr>
            <p:cNvPr name="Freeform 41" id="41"/>
            <p:cNvSpPr/>
            <p:nvPr/>
          </p:nvSpPr>
          <p:spPr>
            <a:xfrm flipH="false" flipV="false" rot="0">
              <a:off x="0" y="0"/>
              <a:ext cx="6883400" cy="1122680"/>
            </a:xfrm>
            <a:custGeom>
              <a:avLst/>
              <a:gdLst/>
              <a:ahLst/>
              <a:cxnLst/>
              <a:rect r="r" b="b" t="t" l="l"/>
              <a:pathLst>
                <a:path h="1122680" w="6883400">
                  <a:moveTo>
                    <a:pt x="0" y="168402"/>
                  </a:moveTo>
                  <a:cubicBezTo>
                    <a:pt x="0" y="75438"/>
                    <a:pt x="75438" y="0"/>
                    <a:pt x="168402" y="0"/>
                  </a:cubicBezTo>
                  <a:lnTo>
                    <a:pt x="6714998" y="0"/>
                  </a:lnTo>
                  <a:cubicBezTo>
                    <a:pt x="6807962" y="0"/>
                    <a:pt x="6883400" y="75438"/>
                    <a:pt x="6883400" y="168402"/>
                  </a:cubicBezTo>
                  <a:lnTo>
                    <a:pt x="6883400" y="954278"/>
                  </a:lnTo>
                  <a:cubicBezTo>
                    <a:pt x="6883400" y="1047242"/>
                    <a:pt x="6807962" y="1122680"/>
                    <a:pt x="6714998" y="1122680"/>
                  </a:cubicBezTo>
                  <a:lnTo>
                    <a:pt x="168402" y="1122680"/>
                  </a:lnTo>
                  <a:cubicBezTo>
                    <a:pt x="75438" y="1122680"/>
                    <a:pt x="0" y="1047242"/>
                    <a:pt x="0" y="954278"/>
                  </a:cubicBezTo>
                  <a:close/>
                </a:path>
              </a:pathLst>
            </a:custGeom>
            <a:solidFill>
              <a:srgbClr val="F4F7FC"/>
            </a:solidFill>
            <a:ln w="19050" cap="sq">
              <a:solidFill>
                <a:srgbClr val="D7DCEC"/>
              </a:solidFill>
              <a:prstDash val="solid"/>
              <a:miter/>
            </a:ln>
          </p:spPr>
        </p:sp>
      </p:grpSp>
      <p:grpSp>
        <p:nvGrpSpPr>
          <p:cNvPr name="Group 42" id="42"/>
          <p:cNvGrpSpPr/>
          <p:nvPr/>
        </p:nvGrpSpPr>
        <p:grpSpPr>
          <a:xfrm rot="0">
            <a:off x="6542532" y="6076188"/>
            <a:ext cx="5143500" cy="521208"/>
            <a:chOff x="0" y="0"/>
            <a:chExt cx="6858000" cy="694944"/>
          </a:xfrm>
        </p:grpSpPr>
        <p:sp>
          <p:nvSpPr>
            <p:cNvPr name="Freeform 43" id="43"/>
            <p:cNvSpPr/>
            <p:nvPr/>
          </p:nvSpPr>
          <p:spPr>
            <a:xfrm flipH="false" flipV="false" rot="0">
              <a:off x="0" y="0"/>
              <a:ext cx="6858000" cy="694944"/>
            </a:xfrm>
            <a:custGeom>
              <a:avLst/>
              <a:gdLst/>
              <a:ahLst/>
              <a:cxnLst/>
              <a:rect r="r" b="b" t="t" l="l"/>
              <a:pathLst>
                <a:path h="694944" w="6858000">
                  <a:moveTo>
                    <a:pt x="0" y="0"/>
                  </a:moveTo>
                  <a:lnTo>
                    <a:pt x="6858000" y="0"/>
                  </a:lnTo>
                  <a:lnTo>
                    <a:pt x="6858000" y="694944"/>
                  </a:lnTo>
                  <a:lnTo>
                    <a:pt x="0" y="694944"/>
                  </a:lnTo>
                  <a:close/>
                </a:path>
              </a:pathLst>
            </a:custGeom>
            <a:blipFill>
              <a:blip r:embed="rId2">
                <a:alphaModFix amt="0"/>
              </a:blip>
              <a:stretch>
                <a:fillRect l="0" t="-142286" r="0" b="-142286"/>
              </a:stretch>
            </a:blipFill>
          </p:spPr>
        </p:sp>
        <p:sp>
          <p:nvSpPr>
            <p:cNvPr name="TextBox 44" id="44"/>
            <p:cNvSpPr txBox="true"/>
            <p:nvPr/>
          </p:nvSpPr>
          <p:spPr>
            <a:xfrm>
              <a:off x="0" y="-38100"/>
              <a:ext cx="6858000" cy="733044"/>
            </a:xfrm>
            <a:prstGeom prst="rect">
              <a:avLst/>
            </a:prstGeom>
          </p:spPr>
          <p:txBody>
            <a:bodyPr anchor="ctr" rtlCol="false" tIns="0" lIns="0" bIns="0" rIns="0"/>
            <a:lstStyle/>
            <a:p>
              <a:pPr algn="ctr">
                <a:lnSpc>
                  <a:spcPts val="2250"/>
                </a:lnSpc>
              </a:pPr>
              <a:r>
                <a:rPr lang="en-US" sz="1875">
                  <a:solidFill>
                    <a:srgbClr val="6B7280"/>
                  </a:solidFill>
                  <a:latin typeface="Calibri (MS)"/>
                  <a:ea typeface="Calibri (MS)"/>
                  <a:cs typeface="Calibri (MS)"/>
                  <a:sym typeface="Calibri (MS)"/>
                </a:rPr>
                <a:t>DICT Act / NCSP</a:t>
              </a:r>
            </a:p>
          </p:txBody>
        </p:sp>
      </p:grpSp>
      <p:grpSp>
        <p:nvGrpSpPr>
          <p:cNvPr name="Group 45" id="45"/>
          <p:cNvGrpSpPr/>
          <p:nvPr/>
        </p:nvGrpSpPr>
        <p:grpSpPr>
          <a:xfrm rot="0">
            <a:off x="6542532" y="6446520"/>
            <a:ext cx="5143500" cy="329184"/>
            <a:chOff x="0" y="0"/>
            <a:chExt cx="6858000" cy="438912"/>
          </a:xfrm>
        </p:grpSpPr>
        <p:sp>
          <p:nvSpPr>
            <p:cNvPr name="Freeform 46" id="46"/>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47" id="47"/>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9AA3B8"/>
                  </a:solidFill>
                  <a:latin typeface="Arimo"/>
                  <a:ea typeface="Arimo"/>
                  <a:cs typeface="Arimo"/>
                  <a:sym typeface="Arimo"/>
                </a:rPr>
                <a:t>DICT</a:t>
              </a:r>
            </a:p>
          </p:txBody>
        </p:sp>
      </p:grpSp>
      <p:grpSp>
        <p:nvGrpSpPr>
          <p:cNvPr name="Group 48" id="48"/>
          <p:cNvGrpSpPr/>
          <p:nvPr/>
        </p:nvGrpSpPr>
        <p:grpSpPr>
          <a:xfrm rot="0">
            <a:off x="12115419" y="4928235"/>
            <a:ext cx="5162550" cy="1911858"/>
            <a:chOff x="0" y="0"/>
            <a:chExt cx="6883400" cy="2549144"/>
          </a:xfrm>
        </p:grpSpPr>
        <p:sp>
          <p:nvSpPr>
            <p:cNvPr name="Freeform 49" id="49"/>
            <p:cNvSpPr/>
            <p:nvPr/>
          </p:nvSpPr>
          <p:spPr>
            <a:xfrm flipH="false" flipV="false" rot="0">
              <a:off x="0" y="0"/>
              <a:ext cx="6883400" cy="2549144"/>
            </a:xfrm>
            <a:custGeom>
              <a:avLst/>
              <a:gdLst/>
              <a:ahLst/>
              <a:cxnLst/>
              <a:rect r="r" b="b" t="t" l="l"/>
              <a:pathLst>
                <a:path h="2549144" w="6883400">
                  <a:moveTo>
                    <a:pt x="0" y="166243"/>
                  </a:moveTo>
                  <a:cubicBezTo>
                    <a:pt x="0" y="74422"/>
                    <a:pt x="74422" y="0"/>
                    <a:pt x="166243" y="0"/>
                  </a:cubicBezTo>
                  <a:lnTo>
                    <a:pt x="6717157" y="0"/>
                  </a:lnTo>
                  <a:cubicBezTo>
                    <a:pt x="6808978" y="0"/>
                    <a:pt x="6883400" y="74422"/>
                    <a:pt x="6883400" y="166243"/>
                  </a:cubicBezTo>
                  <a:lnTo>
                    <a:pt x="6883400" y="2382901"/>
                  </a:lnTo>
                  <a:cubicBezTo>
                    <a:pt x="6883400" y="2474722"/>
                    <a:pt x="6808978" y="2549144"/>
                    <a:pt x="6717157" y="2549144"/>
                  </a:cubicBezTo>
                  <a:lnTo>
                    <a:pt x="166243" y="2549144"/>
                  </a:lnTo>
                  <a:cubicBezTo>
                    <a:pt x="74422" y="2549144"/>
                    <a:pt x="0" y="2474722"/>
                    <a:pt x="0" y="2382901"/>
                  </a:cubicBezTo>
                  <a:close/>
                </a:path>
              </a:pathLst>
            </a:custGeom>
            <a:solidFill>
              <a:srgbClr val="D9631E"/>
            </a:solidFill>
            <a:ln w="19050" cap="sq">
              <a:solidFill>
                <a:srgbClr val="D9631E"/>
              </a:solidFill>
              <a:prstDash val="solid"/>
              <a:miter/>
            </a:ln>
          </p:spPr>
        </p:sp>
      </p:grpSp>
      <p:grpSp>
        <p:nvGrpSpPr>
          <p:cNvPr name="Group 50" id="50"/>
          <p:cNvGrpSpPr/>
          <p:nvPr/>
        </p:nvGrpSpPr>
        <p:grpSpPr>
          <a:xfrm rot="0">
            <a:off x="12124944" y="5006340"/>
            <a:ext cx="5143500" cy="1591056"/>
            <a:chOff x="0" y="0"/>
            <a:chExt cx="6858000" cy="2121408"/>
          </a:xfrm>
        </p:grpSpPr>
        <p:sp>
          <p:nvSpPr>
            <p:cNvPr name="Freeform 51" id="51"/>
            <p:cNvSpPr/>
            <p:nvPr/>
          </p:nvSpPr>
          <p:spPr>
            <a:xfrm flipH="false" flipV="false" rot="0">
              <a:off x="0" y="0"/>
              <a:ext cx="6858000" cy="2121408"/>
            </a:xfrm>
            <a:custGeom>
              <a:avLst/>
              <a:gdLst/>
              <a:ahLst/>
              <a:cxnLst/>
              <a:rect r="r" b="b" t="t" l="l"/>
              <a:pathLst>
                <a:path h="2121408" w="6858000">
                  <a:moveTo>
                    <a:pt x="0" y="0"/>
                  </a:moveTo>
                  <a:lnTo>
                    <a:pt x="6858000" y="0"/>
                  </a:lnTo>
                  <a:lnTo>
                    <a:pt x="6858000" y="2121408"/>
                  </a:lnTo>
                  <a:lnTo>
                    <a:pt x="0" y="2121408"/>
                  </a:lnTo>
                  <a:close/>
                </a:path>
              </a:pathLst>
            </a:custGeom>
            <a:blipFill>
              <a:blip r:embed="rId2">
                <a:alphaModFix amt="0"/>
              </a:blip>
              <a:stretch>
                <a:fillRect l="0" t="-12990" r="0" b="-12990"/>
              </a:stretch>
            </a:blipFill>
          </p:spPr>
        </p:sp>
        <p:sp>
          <p:nvSpPr>
            <p:cNvPr name="TextBox 52" id="52"/>
            <p:cNvSpPr txBox="true"/>
            <p:nvPr/>
          </p:nvSpPr>
          <p:spPr>
            <a:xfrm>
              <a:off x="0" y="-38100"/>
              <a:ext cx="6858000" cy="2159508"/>
            </a:xfrm>
            <a:prstGeom prst="rect">
              <a:avLst/>
            </a:prstGeom>
          </p:spPr>
          <p:txBody>
            <a:bodyPr anchor="ctr" rtlCol="false" tIns="0" lIns="0" bIns="0" rIns="0"/>
            <a:lstStyle/>
            <a:p>
              <a:pPr algn="ctr">
                <a:lnSpc>
                  <a:spcPts val="2250"/>
                </a:lnSpc>
              </a:pPr>
              <a:r>
                <a:rPr lang="en-US" sz="1875" b="true">
                  <a:solidFill>
                    <a:srgbClr val="FFFFFF"/>
                  </a:solidFill>
                  <a:latin typeface="Calibri (MS) Bold"/>
                  <a:ea typeface="Calibri (MS) Bold"/>
                  <a:cs typeface="Calibri (MS) Bold"/>
                  <a:sym typeface="Calibri (MS) Bold"/>
                </a:rPr>
                <a:t>✓  Critical Infra. Protection</a:t>
              </a:r>
            </a:p>
          </p:txBody>
        </p:sp>
      </p:grpSp>
      <p:grpSp>
        <p:nvGrpSpPr>
          <p:cNvPr name="Group 53" id="53"/>
          <p:cNvGrpSpPr/>
          <p:nvPr/>
        </p:nvGrpSpPr>
        <p:grpSpPr>
          <a:xfrm rot="0">
            <a:off x="12124944" y="6446520"/>
            <a:ext cx="5143500" cy="329184"/>
            <a:chOff x="0" y="0"/>
            <a:chExt cx="6858000" cy="438912"/>
          </a:xfrm>
        </p:grpSpPr>
        <p:sp>
          <p:nvSpPr>
            <p:cNvPr name="Freeform 54" id="54"/>
            <p:cNvSpPr/>
            <p:nvPr/>
          </p:nvSpPr>
          <p:spPr>
            <a:xfrm flipH="false" flipV="false" rot="0">
              <a:off x="0" y="0"/>
              <a:ext cx="6858000" cy="438912"/>
            </a:xfrm>
            <a:custGeom>
              <a:avLst/>
              <a:gdLst/>
              <a:ahLst/>
              <a:cxnLst/>
              <a:rect r="r" b="b" t="t" l="l"/>
              <a:pathLst>
                <a:path h="438912" w="6858000">
                  <a:moveTo>
                    <a:pt x="0" y="0"/>
                  </a:moveTo>
                  <a:lnTo>
                    <a:pt x="6858000" y="0"/>
                  </a:lnTo>
                  <a:lnTo>
                    <a:pt x="6858000" y="438912"/>
                  </a:lnTo>
                  <a:lnTo>
                    <a:pt x="0" y="438912"/>
                  </a:lnTo>
                  <a:close/>
                </a:path>
              </a:pathLst>
            </a:custGeom>
            <a:blipFill>
              <a:blip r:embed="rId2">
                <a:alphaModFix amt="0"/>
              </a:blip>
              <a:stretch>
                <a:fillRect l="0" t="-254453" r="0" b="-254453"/>
              </a:stretch>
            </a:blipFill>
          </p:spPr>
        </p:sp>
        <p:sp>
          <p:nvSpPr>
            <p:cNvPr name="TextBox 55" id="55"/>
            <p:cNvSpPr txBox="true"/>
            <p:nvPr/>
          </p:nvSpPr>
          <p:spPr>
            <a:xfrm>
              <a:off x="0" y="-19050"/>
              <a:ext cx="6858000" cy="457962"/>
            </a:xfrm>
            <a:prstGeom prst="rect">
              <a:avLst/>
            </a:prstGeom>
          </p:spPr>
          <p:txBody>
            <a:bodyPr anchor="ctr" rtlCol="false" tIns="0" lIns="0" bIns="0" rIns="0"/>
            <a:lstStyle/>
            <a:p>
              <a:pPr algn="ctr">
                <a:lnSpc>
                  <a:spcPts val="1620"/>
                </a:lnSpc>
              </a:pPr>
              <a:r>
                <a:rPr lang="en-US" sz="1350">
                  <a:solidFill>
                    <a:srgbClr val="FFFFFF"/>
                  </a:solidFill>
                  <a:latin typeface="Arimo"/>
                  <a:ea typeface="Arimo"/>
                  <a:cs typeface="Arimo"/>
                  <a:sym typeface="Arimo"/>
                </a:rPr>
                <a:t>CII</a:t>
              </a:r>
            </a:p>
          </p:txBody>
        </p:sp>
      </p:grpSp>
      <p:grpSp>
        <p:nvGrpSpPr>
          <p:cNvPr name="Group 56" id="56"/>
          <p:cNvGrpSpPr/>
          <p:nvPr/>
        </p:nvGrpSpPr>
        <p:grpSpPr>
          <a:xfrm rot="0">
            <a:off x="950595" y="7328535"/>
            <a:ext cx="16341090" cy="1596390"/>
            <a:chOff x="0" y="0"/>
            <a:chExt cx="21788120" cy="2128520"/>
          </a:xfrm>
        </p:grpSpPr>
        <p:sp>
          <p:nvSpPr>
            <p:cNvPr name="Freeform 57" id="57"/>
            <p:cNvSpPr/>
            <p:nvPr/>
          </p:nvSpPr>
          <p:spPr>
            <a:xfrm flipH="false" flipV="false" rot="0">
              <a:off x="0" y="0"/>
              <a:ext cx="21788120" cy="2128520"/>
            </a:xfrm>
            <a:custGeom>
              <a:avLst/>
              <a:gdLst/>
              <a:ahLst/>
              <a:cxnLst/>
              <a:rect r="r" b="b" t="t" l="l"/>
              <a:pathLst>
                <a:path h="2128520" w="21788120">
                  <a:moveTo>
                    <a:pt x="0" y="185039"/>
                  </a:moveTo>
                  <a:cubicBezTo>
                    <a:pt x="0" y="82931"/>
                    <a:pt x="82931" y="0"/>
                    <a:pt x="185039" y="0"/>
                  </a:cubicBezTo>
                  <a:lnTo>
                    <a:pt x="21603081" y="0"/>
                  </a:lnTo>
                  <a:cubicBezTo>
                    <a:pt x="21705317" y="0"/>
                    <a:pt x="21788120" y="82931"/>
                    <a:pt x="21788120" y="185039"/>
                  </a:cubicBezTo>
                  <a:lnTo>
                    <a:pt x="21788120" y="1943481"/>
                  </a:lnTo>
                  <a:cubicBezTo>
                    <a:pt x="21788120" y="2045716"/>
                    <a:pt x="21705190" y="2128520"/>
                    <a:pt x="21603081" y="2128520"/>
                  </a:cubicBezTo>
                  <a:lnTo>
                    <a:pt x="185039" y="2128520"/>
                  </a:lnTo>
                  <a:cubicBezTo>
                    <a:pt x="82931" y="2128520"/>
                    <a:pt x="0" y="2045589"/>
                    <a:pt x="0" y="1943481"/>
                  </a:cubicBezTo>
                  <a:close/>
                </a:path>
              </a:pathLst>
            </a:custGeom>
            <a:solidFill>
              <a:srgbClr val="FBF9F4"/>
            </a:solidFill>
            <a:ln w="19050" cap="sq">
              <a:solidFill>
                <a:srgbClr val="EFE6D2"/>
              </a:solidFill>
              <a:prstDash val="solid"/>
              <a:miter/>
            </a:ln>
          </p:spPr>
        </p:sp>
      </p:grpSp>
      <p:sp>
        <p:nvSpPr>
          <p:cNvPr name="TextBox 58" id="58"/>
          <p:cNvSpPr txBox="true"/>
          <p:nvPr/>
        </p:nvSpPr>
        <p:spPr>
          <a:xfrm rot="0">
            <a:off x="1463040" y="7494270"/>
            <a:ext cx="15316200" cy="1238250"/>
          </a:xfrm>
          <a:prstGeom prst="rect">
            <a:avLst/>
          </a:prstGeom>
        </p:spPr>
        <p:txBody>
          <a:bodyPr anchor="t" rtlCol="false" tIns="0" lIns="0" bIns="0" rIns="0">
            <a:spAutoFit/>
          </a:bodyPr>
          <a:lstStyle/>
          <a:p>
            <a:pPr algn="l">
              <a:lnSpc>
                <a:spcPts val="2764"/>
              </a:lnSpc>
            </a:pPr>
            <a:r>
              <a:rPr lang="en-US" sz="1800">
                <a:solidFill>
                  <a:srgbClr val="23262F"/>
                </a:solidFill>
                <a:latin typeface="Calibri (MS)"/>
                <a:ea typeface="Calibri (MS)"/>
                <a:cs typeface="Calibri (MS)"/>
                <a:sym typeface="Calibri (MS)"/>
              </a:rPr>
              <a:t>DICT MC 005-17 requires covered critical-infrastructure operators to adopt ISO/IEC 27001 and undergo an annual risk and vulnerability assessment — the same discipline you already know as VAPT.</a:t>
            </a:r>
          </a:p>
        </p:txBody>
      </p:sp>
      <p:grpSp>
        <p:nvGrpSpPr>
          <p:cNvPr name="Group 59" id="59"/>
          <p:cNvGrpSpPr/>
          <p:nvPr/>
        </p:nvGrpSpPr>
        <p:grpSpPr>
          <a:xfrm rot="0">
            <a:off x="685800" y="9710928"/>
            <a:ext cx="10972800" cy="411480"/>
            <a:chOff x="0" y="0"/>
            <a:chExt cx="14630400" cy="548640"/>
          </a:xfrm>
        </p:grpSpPr>
        <p:sp>
          <p:nvSpPr>
            <p:cNvPr name="Freeform 60" id="60"/>
            <p:cNvSpPr/>
            <p:nvPr/>
          </p:nvSpPr>
          <p:spPr>
            <a:xfrm flipH="false" flipV="false" rot="0">
              <a:off x="0" y="0"/>
              <a:ext cx="14630400" cy="548640"/>
            </a:xfrm>
            <a:custGeom>
              <a:avLst/>
              <a:gdLst/>
              <a:ahLst/>
              <a:cxnLst/>
              <a:rect r="r" b="b" t="t" l="l"/>
              <a:pathLst>
                <a:path h="548640" w="14630400">
                  <a:moveTo>
                    <a:pt x="0" y="0"/>
                  </a:moveTo>
                  <a:lnTo>
                    <a:pt x="14630400" y="0"/>
                  </a:lnTo>
                  <a:lnTo>
                    <a:pt x="14630400" y="548640"/>
                  </a:lnTo>
                  <a:lnTo>
                    <a:pt x="0" y="548640"/>
                  </a:lnTo>
                  <a:close/>
                </a:path>
              </a:pathLst>
            </a:custGeom>
            <a:blipFill>
              <a:blip r:embed="rId2">
                <a:alphaModFix amt="0"/>
              </a:blip>
              <a:stretch>
                <a:fillRect l="0" t="-469601" r="0" b="-469601"/>
              </a:stretch>
            </a:blipFill>
          </p:spPr>
        </p:sp>
        <p:sp>
          <p:nvSpPr>
            <p:cNvPr name="TextBox 61" id="61"/>
            <p:cNvSpPr txBox="true"/>
            <p:nvPr/>
          </p:nvSpPr>
          <p:spPr>
            <a:xfrm>
              <a:off x="0" y="-38100"/>
              <a:ext cx="14630400" cy="586740"/>
            </a:xfrm>
            <a:prstGeom prst="rect">
              <a:avLst/>
            </a:prstGeom>
          </p:spPr>
          <p:txBody>
            <a:bodyPr anchor="ctr" rtlCol="false" tIns="0" lIns="0" bIns="0" rIns="0"/>
            <a:lstStyle/>
            <a:p>
              <a:pPr algn="l">
                <a:lnSpc>
                  <a:spcPts val="1800"/>
                </a:lnSpc>
              </a:pPr>
              <a:r>
                <a:rPr lang="en-US" sz="1500">
                  <a:solidFill>
                    <a:srgbClr val="6B7280"/>
                  </a:solidFill>
                  <a:latin typeface="Calibri (MS)"/>
                  <a:ea typeface="Calibri (MS)"/>
                  <a:cs typeface="Calibri (MS)"/>
                  <a:sym typeface="Calibri (MS)"/>
                </a:rPr>
                <a:t>Davao del Norte Provincial Government — Cybersecurity Seminar</a:t>
              </a:r>
            </a:p>
          </p:txBody>
        </p:sp>
      </p:grpSp>
      <p:grpSp>
        <p:nvGrpSpPr>
          <p:cNvPr name="Group 62" id="62"/>
          <p:cNvGrpSpPr/>
          <p:nvPr/>
        </p:nvGrpSpPr>
        <p:grpSpPr>
          <a:xfrm rot="0">
            <a:off x="16911828" y="9710928"/>
            <a:ext cx="685800" cy="411480"/>
            <a:chOff x="0" y="0"/>
            <a:chExt cx="914400" cy="548640"/>
          </a:xfrm>
        </p:grpSpPr>
        <p:sp>
          <p:nvSpPr>
            <p:cNvPr name="Freeform 63" id="63"/>
            <p:cNvSpPr/>
            <p:nvPr/>
          </p:nvSpPr>
          <p:spPr>
            <a:xfrm flipH="false" flipV="false" rot="0">
              <a:off x="0" y="0"/>
              <a:ext cx="914400" cy="548640"/>
            </a:xfrm>
            <a:custGeom>
              <a:avLst/>
              <a:gdLst/>
              <a:ahLst/>
              <a:cxnLst/>
              <a:rect r="r" b="b" t="t" l="l"/>
              <a:pathLst>
                <a:path h="548640" w="914400">
                  <a:moveTo>
                    <a:pt x="0" y="0"/>
                  </a:moveTo>
                  <a:lnTo>
                    <a:pt x="914400" y="0"/>
                  </a:lnTo>
                  <a:lnTo>
                    <a:pt x="914400" y="548640"/>
                  </a:lnTo>
                  <a:lnTo>
                    <a:pt x="0" y="548640"/>
                  </a:lnTo>
                  <a:close/>
                </a:path>
              </a:pathLst>
            </a:custGeom>
            <a:blipFill>
              <a:blip r:embed="rId2">
                <a:alphaModFix amt="0"/>
              </a:blip>
              <a:stretch>
                <a:fillRect l="-26982" t="0" r="-26982" b="0"/>
              </a:stretch>
            </a:blipFill>
          </p:spPr>
        </p:sp>
        <p:sp>
          <p:nvSpPr>
            <p:cNvPr name="TextBox 64" id="64"/>
            <p:cNvSpPr txBox="true"/>
            <p:nvPr/>
          </p:nvSpPr>
          <p:spPr>
            <a:xfrm>
              <a:off x="0" y="-38100"/>
              <a:ext cx="914400" cy="586740"/>
            </a:xfrm>
            <a:prstGeom prst="rect">
              <a:avLst/>
            </a:prstGeom>
          </p:spPr>
          <p:txBody>
            <a:bodyPr anchor="ctr" rtlCol="false" tIns="0" lIns="0" bIns="0" rIns="0"/>
            <a:lstStyle/>
            <a:p>
              <a:pPr algn="r">
                <a:lnSpc>
                  <a:spcPts val="1800"/>
                </a:lnSpc>
              </a:pPr>
              <a:r>
                <a:rPr lang="en-US" sz="1500">
                  <a:solidFill>
                    <a:srgbClr val="6B7280"/>
                  </a:solidFill>
                  <a:latin typeface="Calibri (MS)"/>
                  <a:ea typeface="Calibri (MS)"/>
                  <a:cs typeface="Calibri (MS)"/>
                  <a:sym typeface="Calibri (MS)"/>
                </a:rPr>
                <a:t>40</a:t>
              </a:r>
            </a:p>
          </p:txBody>
        </p:sp>
      </p:grpSp>
    </p:spTree>
  </p:cSld>
  <p:clrMapOvr>
    <a:masterClrMapping/>
  </p:clrMapOvr>
</p:sld>
</file>

<file path=ppt/slides/slide157.xml><?xml version="1.0" encoding="utf-8"?>
<p:sld xmlns:p="http://schemas.openxmlformats.org/presentationml/2006/main" xmlns:a="http://schemas.openxmlformats.org/drawingml/2006/main" xmlns:r="http://schemas.openxmlformats.org/officeDocument/2006/relationships">
  <p:cSld>
    <p:bg>
      <p:bgPr>
        <a:solidFill>
          <a:srgbClr val="1E2761"/>
        </a:solidFill>
      </p:bgPr>
    </p:bg>
    <p:spTree>
      <p:nvGrpSpPr>
        <p:cNvPr id="1" name=""/>
        <p:cNvGrpSpPr/>
        <p:nvPr/>
      </p:nvGrpSpPr>
      <p:grpSpPr>
        <a:xfrm>
          <a:off x="0" y="0"/>
          <a:ext cx="0" cy="0"/>
          <a:chOff x="0" y="0"/>
          <a:chExt cx="0" cy="0"/>
        </a:xfrm>
      </p:grpSpPr>
      <p:grpSp>
        <p:nvGrpSpPr>
          <p:cNvPr name="Group 2" id="2"/>
          <p:cNvGrpSpPr/>
          <p:nvPr/>
        </p:nvGrpSpPr>
        <p:grpSpPr>
          <a:xfrm rot="0">
            <a:off x="13441680" y="-3566160"/>
            <a:ext cx="8915400" cy="8915400"/>
            <a:chOff x="0" y="0"/>
            <a:chExt cx="11887200" cy="11887200"/>
          </a:xfrm>
        </p:grpSpPr>
        <p:sp>
          <p:nvSpPr>
            <p:cNvPr name="Freeform 3" id="3"/>
            <p:cNvSpPr/>
            <p:nvPr/>
          </p:nvSpPr>
          <p:spPr>
            <a:xfrm flipH="false" flipV="false" rot="0">
              <a:off x="0" y="0"/>
              <a:ext cx="11887200" cy="11887200"/>
            </a:xfrm>
            <a:custGeom>
              <a:avLst/>
              <a:gdLst/>
              <a:ahLst/>
              <a:cxnLst/>
              <a:rect r="r" b="b" t="t" l="l"/>
              <a:pathLst>
                <a:path h="11887200" w="11887200">
                  <a:moveTo>
                    <a:pt x="0" y="5943600"/>
                  </a:moveTo>
                  <a:cubicBezTo>
                    <a:pt x="0" y="2661031"/>
                    <a:pt x="2661031" y="0"/>
                    <a:pt x="5943600" y="0"/>
                  </a:cubicBezTo>
                  <a:cubicBezTo>
                    <a:pt x="9226169" y="0"/>
                    <a:pt x="11887200" y="2661031"/>
                    <a:pt x="11887200" y="5943600"/>
                  </a:cubicBezTo>
                  <a:cubicBezTo>
                    <a:pt x="11887200" y="9226169"/>
                    <a:pt x="9226169" y="11887200"/>
                    <a:pt x="5943600" y="11887200"/>
                  </a:cubicBezTo>
                  <a:cubicBezTo>
                    <a:pt x="2661031" y="11887200"/>
                    <a:pt x="0" y="9226169"/>
                    <a:pt x="0" y="5943600"/>
                  </a:cubicBezTo>
                  <a:close/>
                </a:path>
              </a:pathLst>
            </a:custGeom>
            <a:solidFill>
              <a:srgbClr val="263186"/>
            </a:solidFill>
          </p:spPr>
        </p:sp>
      </p:grpSp>
      <p:grpSp>
        <p:nvGrpSpPr>
          <p:cNvPr name="Group 4" id="4"/>
          <p:cNvGrpSpPr/>
          <p:nvPr/>
        </p:nvGrpSpPr>
        <p:grpSpPr>
          <a:xfrm rot="0">
            <a:off x="0" y="1920240"/>
            <a:ext cx="18283428" cy="548640"/>
            <a:chOff x="0" y="0"/>
            <a:chExt cx="24377904" cy="731520"/>
          </a:xfrm>
        </p:grpSpPr>
        <p:sp>
          <p:nvSpPr>
            <p:cNvPr name="Freeform 5" id="5"/>
            <p:cNvSpPr/>
            <p:nvPr/>
          </p:nvSpPr>
          <p:spPr>
            <a:xfrm flipH="false" flipV="false" rot="0">
              <a:off x="0" y="0"/>
              <a:ext cx="24377904" cy="731520"/>
            </a:xfrm>
            <a:custGeom>
              <a:avLst/>
              <a:gdLst/>
              <a:ahLst/>
              <a:cxnLst/>
              <a:rect r="r" b="b" t="t" l="l"/>
              <a:pathLst>
                <a:path h="731520" w="24377904">
                  <a:moveTo>
                    <a:pt x="0" y="0"/>
                  </a:moveTo>
                  <a:lnTo>
                    <a:pt x="24377904" y="0"/>
                  </a:lnTo>
                  <a:lnTo>
                    <a:pt x="24377904" y="731520"/>
                  </a:lnTo>
                  <a:lnTo>
                    <a:pt x="0" y="731520"/>
                  </a:lnTo>
                  <a:close/>
                </a:path>
              </a:pathLst>
            </a:custGeom>
            <a:blipFill>
              <a:blip r:embed="rId2">
                <a:alphaModFix amt="0"/>
              </a:blip>
              <a:stretch>
                <a:fillRect l="0" t="-599338" r="0" b="-599338"/>
              </a:stretch>
            </a:blipFill>
          </p:spPr>
        </p:sp>
        <p:sp>
          <p:nvSpPr>
            <p:cNvPr name="TextBox 6" id="6"/>
            <p:cNvSpPr txBox="true"/>
            <p:nvPr/>
          </p:nvSpPr>
          <p:spPr>
            <a:xfrm>
              <a:off x="0" y="-47625"/>
              <a:ext cx="24377904" cy="779145"/>
            </a:xfrm>
            <a:prstGeom prst="rect">
              <a:avLst/>
            </a:prstGeom>
          </p:spPr>
          <p:txBody>
            <a:bodyPr anchor="ctr" rtlCol="false" tIns="0" lIns="0" bIns="0" rIns="0"/>
            <a:lstStyle/>
            <a:p>
              <a:pPr algn="ctr">
                <a:lnSpc>
                  <a:spcPts val="2520"/>
                </a:lnSpc>
              </a:pPr>
              <a:r>
                <a:rPr lang="en-US" b="true" sz="2100" spc="299">
                  <a:solidFill>
                    <a:srgbClr val="00B4D8"/>
                  </a:solidFill>
                  <a:latin typeface="Calibri (MS) Bold"/>
                  <a:ea typeface="Calibri (MS) Bold"/>
                  <a:cs typeface="Calibri (MS) Bold"/>
                  <a:sym typeface="Calibri (MS) Bold"/>
                </a:rPr>
                <a:t>TALK IT OVER — 5 MINUTES</a:t>
              </a:r>
            </a:p>
          </p:txBody>
        </p:sp>
      </p:grpSp>
      <p:grpSp>
        <p:nvGrpSpPr>
          <p:cNvPr name="Group 7" id="7"/>
          <p:cNvGrpSpPr/>
          <p:nvPr/>
        </p:nvGrpSpPr>
        <p:grpSpPr>
          <a:xfrm rot="0">
            <a:off x="1508760" y="2811780"/>
            <a:ext cx="15224760" cy="4937760"/>
            <a:chOff x="0" y="0"/>
            <a:chExt cx="20299680" cy="6583680"/>
          </a:xfrm>
        </p:grpSpPr>
        <p:sp>
          <p:nvSpPr>
            <p:cNvPr name="Freeform 8" id="8"/>
            <p:cNvSpPr/>
            <p:nvPr/>
          </p:nvSpPr>
          <p:spPr>
            <a:xfrm flipH="false" flipV="false" rot="0">
              <a:off x="0" y="0"/>
              <a:ext cx="20299680" cy="6583680"/>
            </a:xfrm>
            <a:custGeom>
              <a:avLst/>
              <a:gdLst/>
              <a:ahLst/>
              <a:cxnLst/>
              <a:rect r="r" b="b" t="t" l="l"/>
              <a:pathLst>
                <a:path h="6583680" w="20299680">
                  <a:moveTo>
                    <a:pt x="0" y="0"/>
                  </a:moveTo>
                  <a:lnTo>
                    <a:pt x="20299680" y="0"/>
                  </a:lnTo>
                  <a:lnTo>
                    <a:pt x="20299680" y="6583680"/>
                  </a:lnTo>
                  <a:lnTo>
                    <a:pt x="0" y="6583680"/>
                  </a:lnTo>
                  <a:close/>
                </a:path>
              </a:pathLst>
            </a:custGeom>
            <a:blipFill>
              <a:blip r:embed="rId2">
                <a:alphaModFix amt="0"/>
              </a:blip>
              <a:stretch>
                <a:fillRect l="0" t="-10078" r="0" b="-10078"/>
              </a:stretch>
            </a:blipFill>
          </p:spPr>
        </p:sp>
        <p:sp>
          <p:nvSpPr>
            <p:cNvPr name="TextBox 9" id="9"/>
            <p:cNvSpPr txBox="true"/>
            <p:nvPr/>
          </p:nvSpPr>
          <p:spPr>
            <a:xfrm>
              <a:off x="0" y="-142875"/>
              <a:ext cx="20299680" cy="6726555"/>
            </a:xfrm>
            <a:prstGeom prst="rect">
              <a:avLst/>
            </a:prstGeom>
          </p:spPr>
          <p:txBody>
            <a:bodyPr anchor="ctr" rtlCol="false" tIns="0" lIns="0" bIns="0" rIns="0"/>
            <a:lstStyle/>
            <a:p>
              <a:pPr algn="ctr">
                <a:lnSpc>
                  <a:spcPts val="5616"/>
                </a:lnSpc>
              </a:pPr>
              <a:r>
                <a:rPr lang="en-US" sz="3600" b="true">
                  <a:solidFill>
                    <a:srgbClr val="FFFFFF"/>
                  </a:solidFill>
                  <a:latin typeface="Cambria Bold"/>
                  <a:ea typeface="Cambria Bold"/>
                  <a:cs typeface="Cambria Bold"/>
                  <a:sym typeface="Cambria Bold"/>
                </a:rPr>
                <a:t>Think about your own office's systems and data right now.</a:t>
              </a:r>
            </a:p>
            <a:p>
              <a:pPr algn="ctr">
                <a:lnSpc>
                  <a:spcPts val="5616"/>
                </a:lnSpc>
              </a:pPr>
            </a:p>
            <a:p>
              <a:pPr algn="ctr">
                <a:lnSpc>
                  <a:spcPts val="5616"/>
                </a:lnSpc>
              </a:pPr>
              <a:r>
                <a:rPr lang="en-US" sz="3600" b="true">
                  <a:solidFill>
                    <a:srgbClr val="FFFFFF"/>
                  </a:solidFill>
                  <a:latin typeface="Cambria Bold"/>
                  <a:ea typeface="Cambria Bold"/>
                  <a:cs typeface="Cambria Bold"/>
                  <a:sym typeface="Cambria Bold"/>
                </a:rPr>
                <a:t>If an incident happened today, do you know which law or DICT rule would apply, who you'd have to notify, and how fast? What's the one gap you'd fix first?</a:t>
              </a:r>
            </a:p>
          </p:txBody>
        </p:sp>
      </p:grpSp>
      <p:grpSp>
        <p:nvGrpSpPr>
          <p:cNvPr name="Group 10" id="10"/>
          <p:cNvGrpSpPr/>
          <p:nvPr/>
        </p:nvGrpSpPr>
        <p:grpSpPr>
          <a:xfrm rot="0">
            <a:off x="0" y="7886700"/>
            <a:ext cx="18283428" cy="685800"/>
            <a:chOff x="0" y="0"/>
            <a:chExt cx="24377904" cy="914400"/>
          </a:xfrm>
        </p:grpSpPr>
        <p:sp>
          <p:nvSpPr>
            <p:cNvPr name="Freeform 11" id="11"/>
            <p:cNvSpPr/>
            <p:nvPr/>
          </p:nvSpPr>
          <p:spPr>
            <a:xfrm flipH="false" flipV="false" rot="0">
              <a:off x="0" y="0"/>
              <a:ext cx="24377904" cy="914400"/>
            </a:xfrm>
            <a:custGeom>
              <a:avLst/>
              <a:gdLst/>
              <a:ahLst/>
              <a:cxnLst/>
              <a:rect r="r" b="b" t="t" l="l"/>
              <a:pathLst>
                <a:path h="914400" w="24377904">
                  <a:moveTo>
                    <a:pt x="0" y="0"/>
                  </a:moveTo>
                  <a:lnTo>
                    <a:pt x="24377904" y="0"/>
                  </a:lnTo>
                  <a:lnTo>
                    <a:pt x="24377904" y="914400"/>
                  </a:lnTo>
                  <a:lnTo>
                    <a:pt x="0" y="914400"/>
                  </a:lnTo>
                  <a:close/>
                </a:path>
              </a:pathLst>
            </a:custGeom>
            <a:blipFill>
              <a:blip r:embed="rId2">
                <a:alphaModFix amt="0"/>
              </a:blip>
              <a:stretch>
                <a:fillRect l="0" t="-469471" r="0" b="-469471"/>
              </a:stretch>
            </a:blipFill>
          </p:spPr>
        </p:sp>
        <p:sp>
          <p:nvSpPr>
            <p:cNvPr name="TextBox 12" id="12"/>
            <p:cNvSpPr txBox="true"/>
            <p:nvPr/>
          </p:nvSpPr>
          <p:spPr>
            <a:xfrm>
              <a:off x="0" y="-57150"/>
              <a:ext cx="24377904" cy="971550"/>
            </a:xfrm>
            <a:prstGeom prst="rect">
              <a:avLst/>
            </a:prstGeom>
          </p:spPr>
          <p:txBody>
            <a:bodyPr anchor="ctr" rtlCol="false" tIns="0" lIns="0" bIns="0" rIns="0"/>
            <a:lstStyle/>
            <a:p>
              <a:pPr algn="ctr">
                <a:lnSpc>
                  <a:spcPts val="2700"/>
                </a:lnSpc>
              </a:pPr>
              <a:r>
                <a:rPr lang="en-US" sz="2250" i="true">
                  <a:solidFill>
                    <a:srgbClr val="CADCFC"/>
                  </a:solidFill>
                  <a:latin typeface="Calibri (MS) Italics"/>
                  <a:ea typeface="Calibri (MS) Italics"/>
                  <a:cs typeface="Calibri (MS) Italics"/>
                  <a:sym typeface="Calibri (MS) Italics"/>
                </a:rPr>
                <a:t>Share your answer with your table — then with the room.</a:t>
              </a:r>
            </a:p>
          </p:txBody>
        </p:sp>
      </p:grpSp>
      <p:grpSp>
        <p:nvGrpSpPr>
          <p:cNvPr name="Group 13" id="13"/>
          <p:cNvGrpSpPr/>
          <p:nvPr/>
        </p:nvGrpSpPr>
        <p:grpSpPr>
          <a:xfrm rot="0">
            <a:off x="685800" y="9710928"/>
            <a:ext cx="10972800" cy="411480"/>
            <a:chOff x="0" y="0"/>
            <a:chExt cx="14630400" cy="548640"/>
          </a:xfrm>
        </p:grpSpPr>
        <p:sp>
          <p:nvSpPr>
            <p:cNvPr name="Freeform 14" id="14"/>
            <p:cNvSpPr/>
            <p:nvPr/>
          </p:nvSpPr>
          <p:spPr>
            <a:xfrm flipH="false" flipV="false" rot="0">
              <a:off x="0" y="0"/>
              <a:ext cx="14630400" cy="548640"/>
            </a:xfrm>
            <a:custGeom>
              <a:avLst/>
              <a:gdLst/>
              <a:ahLst/>
              <a:cxnLst/>
              <a:rect r="r" b="b" t="t" l="l"/>
              <a:pathLst>
                <a:path h="548640" w="14630400">
                  <a:moveTo>
                    <a:pt x="0" y="0"/>
                  </a:moveTo>
                  <a:lnTo>
                    <a:pt x="14630400" y="0"/>
                  </a:lnTo>
                  <a:lnTo>
                    <a:pt x="14630400" y="548640"/>
                  </a:lnTo>
                  <a:lnTo>
                    <a:pt x="0" y="548640"/>
                  </a:lnTo>
                  <a:close/>
                </a:path>
              </a:pathLst>
            </a:custGeom>
            <a:blipFill>
              <a:blip r:embed="rId2">
                <a:alphaModFix amt="0"/>
              </a:blip>
              <a:stretch>
                <a:fillRect l="0" t="-469601" r="0" b="-469601"/>
              </a:stretch>
            </a:blipFill>
          </p:spPr>
        </p:sp>
        <p:sp>
          <p:nvSpPr>
            <p:cNvPr name="TextBox 15" id="15"/>
            <p:cNvSpPr txBox="true"/>
            <p:nvPr/>
          </p:nvSpPr>
          <p:spPr>
            <a:xfrm>
              <a:off x="0" y="-38100"/>
              <a:ext cx="14630400" cy="586740"/>
            </a:xfrm>
            <a:prstGeom prst="rect">
              <a:avLst/>
            </a:prstGeom>
          </p:spPr>
          <p:txBody>
            <a:bodyPr anchor="ctr" rtlCol="false" tIns="0" lIns="0" bIns="0" rIns="0"/>
            <a:lstStyle/>
            <a:p>
              <a:pPr algn="l">
                <a:lnSpc>
                  <a:spcPts val="1800"/>
                </a:lnSpc>
              </a:pPr>
              <a:r>
                <a:rPr lang="en-US" sz="1500">
                  <a:solidFill>
                    <a:srgbClr val="CADCFC"/>
                  </a:solidFill>
                  <a:latin typeface="Calibri (MS)"/>
                  <a:ea typeface="Calibri (MS)"/>
                  <a:cs typeface="Calibri (MS)"/>
                  <a:sym typeface="Calibri (MS)"/>
                </a:rPr>
                <a:t>Davao del Norte Provincial Government — Cybersecurity Seminar</a:t>
              </a:r>
            </a:p>
          </p:txBody>
        </p:sp>
      </p:grpSp>
      <p:grpSp>
        <p:nvGrpSpPr>
          <p:cNvPr name="Group 16" id="16"/>
          <p:cNvGrpSpPr/>
          <p:nvPr/>
        </p:nvGrpSpPr>
        <p:grpSpPr>
          <a:xfrm rot="0">
            <a:off x="16911828" y="9710928"/>
            <a:ext cx="685800" cy="411480"/>
            <a:chOff x="0" y="0"/>
            <a:chExt cx="914400" cy="548640"/>
          </a:xfrm>
        </p:grpSpPr>
        <p:sp>
          <p:nvSpPr>
            <p:cNvPr name="Freeform 17" id="17"/>
            <p:cNvSpPr/>
            <p:nvPr/>
          </p:nvSpPr>
          <p:spPr>
            <a:xfrm flipH="false" flipV="false" rot="0">
              <a:off x="0" y="0"/>
              <a:ext cx="914400" cy="548640"/>
            </a:xfrm>
            <a:custGeom>
              <a:avLst/>
              <a:gdLst/>
              <a:ahLst/>
              <a:cxnLst/>
              <a:rect r="r" b="b" t="t" l="l"/>
              <a:pathLst>
                <a:path h="548640" w="914400">
                  <a:moveTo>
                    <a:pt x="0" y="0"/>
                  </a:moveTo>
                  <a:lnTo>
                    <a:pt x="914400" y="0"/>
                  </a:lnTo>
                  <a:lnTo>
                    <a:pt x="914400" y="548640"/>
                  </a:lnTo>
                  <a:lnTo>
                    <a:pt x="0" y="548640"/>
                  </a:lnTo>
                  <a:close/>
                </a:path>
              </a:pathLst>
            </a:custGeom>
            <a:blipFill>
              <a:blip r:embed="rId2">
                <a:alphaModFix amt="0"/>
              </a:blip>
              <a:stretch>
                <a:fillRect l="-26982" t="0" r="-26982" b="0"/>
              </a:stretch>
            </a:blipFill>
          </p:spPr>
        </p:sp>
        <p:sp>
          <p:nvSpPr>
            <p:cNvPr name="TextBox 18" id="18"/>
            <p:cNvSpPr txBox="true"/>
            <p:nvPr/>
          </p:nvSpPr>
          <p:spPr>
            <a:xfrm>
              <a:off x="0" y="-38100"/>
              <a:ext cx="914400" cy="586740"/>
            </a:xfrm>
            <a:prstGeom prst="rect">
              <a:avLst/>
            </a:prstGeom>
          </p:spPr>
          <p:txBody>
            <a:bodyPr anchor="ctr" rtlCol="false" tIns="0" lIns="0" bIns="0" rIns="0"/>
            <a:lstStyle/>
            <a:p>
              <a:pPr algn="r">
                <a:lnSpc>
                  <a:spcPts val="1800"/>
                </a:lnSpc>
              </a:pPr>
              <a:r>
                <a:rPr lang="en-US" sz="1500">
                  <a:solidFill>
                    <a:srgbClr val="CADCFC"/>
                  </a:solidFill>
                  <a:latin typeface="Calibri (MS)"/>
                  <a:ea typeface="Calibri (MS)"/>
                  <a:cs typeface="Calibri (MS)"/>
                  <a:sym typeface="Calibri (MS)"/>
                </a:rPr>
                <a:t>41</a:t>
              </a: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DAHTzq8wAhc</dc:identifier>
  <dcterms:modified xsi:type="dcterms:W3CDTF">2011-08-01T06:04:30Z</dcterms:modified>
  <cp:revision>1</cp:revision>
  <dc:title>DAY 1 CYBER DEL NORTE</dc:title>
</cp:coreProperties>
</file>