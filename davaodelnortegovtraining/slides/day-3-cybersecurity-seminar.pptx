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Calibri (MS) Bold" charset="1" panose="020F0702030404030204"/>
      <p:regular r:id="rId33"/>
    </p:embeddedFont>
    <p:embeddedFont>
      <p:font typeface="Cambria Bold" charset="1" panose="02040803050406030204"/>
      <p:regular r:id="rId34"/>
    </p:embeddedFont>
    <p:embeddedFont>
      <p:font typeface="Calibri (MS) Italics" charset="1" panose="020F05020202040A0204"/>
      <p:regular r:id="rId35"/>
    </p:embeddedFont>
    <p:embeddedFont>
      <p:font typeface="Calibri (MS)" charset="1" panose="020F0502020204030204"/>
      <p:regular r:id="rId36"/>
    </p:embeddedFont>
    <p:embeddedFont>
      <p:font typeface="Cambria Italics" charset="1" panose="020405030504060A02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notesSlides/notesSlide2.xml" Type="http://schemas.openxmlformats.org/officeDocument/2006/relationships/notesSlide"/><Relationship Id="rId38" Target="notesSlides/notesSlide3.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60" Target="notesSlides/notesSlide24.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Deliver this as a direct address to the room, not a slide to be read silently. It's the emotional and logical bridge between the two days.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Principle 3 of the Framework the room will see in detail this afternoon. Flag that connection out loud now so the afternoon lands as reinforcement, not new material.</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Ask for a show of hands before revealing the minimum viable control. The silence is usually the point.</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Expect several hands. Normalize it, then move straight to the minimum viable fix.</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Inventory is almost always the honest gap. Use it to set up the workshop later.</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 this back to the CIRP from Day 2: phishing is the entry point most tabletop scenarios start from.</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usually the quietest room of the morning. Let the silence sit for a second before moving on.</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Directly reference yesterday's tabletop exercise by name if the group ran one.</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last domain before the workshop. Use it to transition: 'notice every fix we named today needs a policy and a budget line. That's this afternoon.'</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 this as a document the province can adopt directly, not a hypothetical model. It is structurally identical to a proven city-level framework, calibrated for a jurisdiction that governs multiple component LGUs.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five are unchanged in substance from the city framework; only the phrase 'across departments and component LGUs' is new.</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Emphasize that every role maps to an office already sitting in the room. This is not a new bureaucracy, it is a naming exercise for accountability that mostly already exists informally.</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Annual cycle rolls up results from both provincial departments and component LGUs before they reach the Steering Committee. Note that DMAIC is the same Lean Six Sigma methodology used in the source city framework.</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provincial-specific addition versus the city framework is tracking coordinator designation at the component-LGU level, not just the department level.</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distinction is the single most important idea of the afternoon: one document without the other is incomplete.</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Don't read every bullet verbatim. Walk the shape of the document, then spend real time on the pillars and roadmap that follow.</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Pillar 5 is the enabling pillar: the other four depend on it having a funded, sequenced technology roadmap.</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left to right. Emphasize that 2026's only real deliverable from THIS ROOM is the DISC designation memo reaching the PCPMO within 10 working days.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line: 'The engagement does not end today. It ends when the DISC designation memo reaches the PCPMO and the first governance meeting is on the calendar.'</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Coordinate with the host province's protocol officer beforehand on reading order and seating for VIPs.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the Governor's Office, PICTO, and Steering Committee sponsors by name before this slide goes up.</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E2761"/>
            </a:solidFill>
          </p:spPr>
        </p:sp>
      </p:grpSp>
      <p:grpSp>
        <p:nvGrpSpPr>
          <p:cNvPr name="Group 4" id="4"/>
          <p:cNvGrpSpPr/>
          <p:nvPr/>
        </p:nvGrpSpPr>
        <p:grpSpPr>
          <a:xfrm rot="0">
            <a:off x="13898423" y="-2194560"/>
            <a:ext cx="6309360" cy="6309360"/>
            <a:chOff x="0" y="0"/>
            <a:chExt cx="8412480" cy="8412480"/>
          </a:xfrm>
        </p:grpSpPr>
        <p:sp>
          <p:nvSpPr>
            <p:cNvPr name="Freeform 5" id="5"/>
            <p:cNvSpPr/>
            <p:nvPr/>
          </p:nvSpPr>
          <p:spPr>
            <a:xfrm flipH="false" flipV="false" rot="0">
              <a:off x="0" y="0"/>
              <a:ext cx="8412480" cy="8412480"/>
            </a:xfrm>
            <a:custGeom>
              <a:avLst/>
              <a:gdLst/>
              <a:ahLst/>
              <a:cxnLst/>
              <a:rect r="r" b="b" t="t" l="l"/>
              <a:pathLst>
                <a:path h="8412480" w="8412480">
                  <a:moveTo>
                    <a:pt x="0" y="4206240"/>
                  </a:moveTo>
                  <a:cubicBezTo>
                    <a:pt x="0" y="1883156"/>
                    <a:pt x="1883156" y="0"/>
                    <a:pt x="4206240" y="0"/>
                  </a:cubicBezTo>
                  <a:cubicBezTo>
                    <a:pt x="6529325" y="0"/>
                    <a:pt x="8412480" y="1883156"/>
                    <a:pt x="8412480" y="4206240"/>
                  </a:cubicBezTo>
                  <a:cubicBezTo>
                    <a:pt x="8412480" y="6529325"/>
                    <a:pt x="6529324" y="8412480"/>
                    <a:pt x="4206240" y="8412480"/>
                  </a:cubicBezTo>
                  <a:cubicBezTo>
                    <a:pt x="1883156" y="8412480"/>
                    <a:pt x="0" y="6529324"/>
                    <a:pt x="0" y="4206240"/>
                  </a:cubicBezTo>
                  <a:close/>
                </a:path>
              </a:pathLst>
            </a:custGeom>
            <a:solidFill>
              <a:srgbClr val="141A47"/>
            </a:solidFill>
          </p:spPr>
        </p:sp>
      </p:grpSp>
      <p:grpSp>
        <p:nvGrpSpPr>
          <p:cNvPr name="Group 6" id="6"/>
          <p:cNvGrpSpPr/>
          <p:nvPr/>
        </p:nvGrpSpPr>
        <p:grpSpPr>
          <a:xfrm rot="0">
            <a:off x="15955823" y="6720840"/>
            <a:ext cx="4389120" cy="4389120"/>
            <a:chOff x="0" y="0"/>
            <a:chExt cx="5852160" cy="5852160"/>
          </a:xfrm>
        </p:grpSpPr>
        <p:sp>
          <p:nvSpPr>
            <p:cNvPr name="Freeform 7" id="7"/>
            <p:cNvSpPr/>
            <p:nvPr/>
          </p:nvSpPr>
          <p:spPr>
            <a:xfrm flipH="false" flipV="false" rot="0">
              <a:off x="0" y="0"/>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283583"/>
            </a:solidFill>
          </p:spPr>
        </p:sp>
      </p:grpSp>
      <p:grpSp>
        <p:nvGrpSpPr>
          <p:cNvPr name="Group 8" id="8"/>
          <p:cNvGrpSpPr/>
          <p:nvPr/>
        </p:nvGrpSpPr>
        <p:grpSpPr>
          <a:xfrm rot="0">
            <a:off x="822960" y="754380"/>
            <a:ext cx="13716000" cy="480060"/>
            <a:chOff x="0" y="0"/>
            <a:chExt cx="18288000" cy="640080"/>
          </a:xfrm>
        </p:grpSpPr>
        <p:sp>
          <p:nvSpPr>
            <p:cNvPr name="Freeform 9" id="9"/>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10" id="10"/>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a:solidFill>
                    <a:srgbClr val="C9971F"/>
                  </a:solidFill>
                  <a:latin typeface="Calibri (MS) Bold"/>
                  <a:ea typeface="Calibri (MS) Bold"/>
                  <a:cs typeface="Calibri (MS) Bold"/>
                  <a:sym typeface="Calibri (MS) Bold"/>
                </a:rPr>
                <a:t>CYBERSECURITY TRAINING PROGRAM, DAY 3</a:t>
              </a:r>
            </a:p>
          </p:txBody>
        </p:sp>
      </p:grpSp>
      <p:sp>
        <p:nvSpPr>
          <p:cNvPr name="TextBox 11" id="11"/>
          <p:cNvSpPr txBox="true"/>
          <p:nvPr/>
        </p:nvSpPr>
        <p:spPr>
          <a:xfrm rot="0">
            <a:off x="822960" y="1314450"/>
            <a:ext cx="16596360" cy="3829050"/>
          </a:xfrm>
          <a:prstGeom prst="rect">
            <a:avLst/>
          </a:prstGeom>
        </p:spPr>
        <p:txBody>
          <a:bodyPr anchor="t" rtlCol="false" tIns="0" lIns="0" bIns="0" rIns="0">
            <a:spAutoFit/>
          </a:bodyPr>
          <a:lstStyle/>
          <a:p>
            <a:pPr algn="l">
              <a:lnSpc>
                <a:spcPts val="6220"/>
              </a:lnSpc>
            </a:pPr>
            <a:r>
              <a:rPr lang="en-US" b="true" sz="4800">
                <a:solidFill>
                  <a:srgbClr val="FFFFFF"/>
                </a:solidFill>
                <a:latin typeface="Cambria Bold"/>
                <a:ea typeface="Cambria Bold"/>
                <a:cs typeface="Cambria Bold"/>
                <a:sym typeface="Cambria Bold"/>
              </a:rPr>
              <a:t>Defensive Operations, the Provincial Cybersecurity Maturity Framework, and the Provincial Cybersecurity Plan 2026–2028</a:t>
            </a:r>
          </a:p>
        </p:txBody>
      </p:sp>
      <p:grpSp>
        <p:nvGrpSpPr>
          <p:cNvPr name="Group 12" id="12"/>
          <p:cNvGrpSpPr/>
          <p:nvPr/>
        </p:nvGrpSpPr>
        <p:grpSpPr>
          <a:xfrm rot="0">
            <a:off x="822960" y="5280660"/>
            <a:ext cx="15910560" cy="822960"/>
            <a:chOff x="0" y="0"/>
            <a:chExt cx="21214080" cy="1097280"/>
          </a:xfrm>
        </p:grpSpPr>
        <p:sp>
          <p:nvSpPr>
            <p:cNvPr name="Freeform 13" id="13"/>
            <p:cNvSpPr/>
            <p:nvPr/>
          </p:nvSpPr>
          <p:spPr>
            <a:xfrm flipH="false" flipV="false" rot="0">
              <a:off x="0" y="0"/>
              <a:ext cx="21214080" cy="1097280"/>
            </a:xfrm>
            <a:custGeom>
              <a:avLst/>
              <a:gdLst/>
              <a:ahLst/>
              <a:cxnLst/>
              <a:rect r="r" b="b" t="t" l="l"/>
              <a:pathLst>
                <a:path h="1097280" w="21214080">
                  <a:moveTo>
                    <a:pt x="0" y="0"/>
                  </a:moveTo>
                  <a:lnTo>
                    <a:pt x="21214080" y="0"/>
                  </a:lnTo>
                  <a:lnTo>
                    <a:pt x="21214080" y="1097280"/>
                  </a:lnTo>
                  <a:lnTo>
                    <a:pt x="0" y="1097280"/>
                  </a:lnTo>
                  <a:close/>
                </a:path>
              </a:pathLst>
            </a:custGeom>
            <a:blipFill>
              <a:blip r:embed="rId3">
                <a:alphaModFix amt="0"/>
              </a:blip>
              <a:stretch>
                <a:fillRect l="0" t="-326710" r="0" b="-326710"/>
              </a:stretch>
            </a:blipFill>
          </p:spPr>
        </p:sp>
        <p:sp>
          <p:nvSpPr>
            <p:cNvPr name="TextBox 14" id="14"/>
            <p:cNvSpPr txBox="true"/>
            <p:nvPr/>
          </p:nvSpPr>
          <p:spPr>
            <a:xfrm>
              <a:off x="0" y="-38100"/>
              <a:ext cx="21214080" cy="1135380"/>
            </a:xfrm>
            <a:prstGeom prst="rect">
              <a:avLst/>
            </a:prstGeom>
          </p:spPr>
          <p:txBody>
            <a:bodyPr anchor="ctr" rtlCol="false" tIns="0" lIns="0" bIns="0" rIns="0"/>
            <a:lstStyle/>
            <a:p>
              <a:pPr algn="l">
                <a:lnSpc>
                  <a:spcPts val="2879"/>
                </a:lnSpc>
              </a:pPr>
              <a:r>
                <a:rPr lang="en-US" sz="2400" i="true">
                  <a:solidFill>
                    <a:srgbClr val="CADCFC"/>
                  </a:solidFill>
                  <a:latin typeface="Calibri (MS) Italics"/>
                  <a:ea typeface="Calibri (MS) Italics"/>
                  <a:cs typeface="Calibri (MS) Italics"/>
                  <a:sym typeface="Calibri (MS) Italics"/>
                </a:rPr>
                <a:t>From technical hardening to institutional governance: closing out the three-day engagement.</a:t>
              </a:r>
            </a:p>
          </p:txBody>
        </p:sp>
      </p:grpSp>
      <p:sp>
        <p:nvSpPr>
          <p:cNvPr name="AutoShape 15" id="15"/>
          <p:cNvSpPr/>
          <p:nvPr/>
        </p:nvSpPr>
        <p:spPr>
          <a:xfrm rot="29580">
            <a:off x="803824" y="6231255"/>
            <a:ext cx="4427382" cy="0"/>
          </a:xfrm>
          <a:prstGeom prst="line">
            <a:avLst/>
          </a:prstGeom>
          <a:ln cap="rnd" w="19050">
            <a:solidFill>
              <a:srgbClr val="C9971F"/>
            </a:solidFill>
            <a:prstDash val="solid"/>
            <a:headEnd type="none" len="sm" w="sm"/>
            <a:tailEnd type="none" len="sm" w="sm"/>
          </a:ln>
        </p:spPr>
      </p:sp>
      <p:grpSp>
        <p:nvGrpSpPr>
          <p:cNvPr name="Group 16" id="16"/>
          <p:cNvGrpSpPr/>
          <p:nvPr/>
        </p:nvGrpSpPr>
        <p:grpSpPr>
          <a:xfrm rot="0">
            <a:off x="822960" y="6473952"/>
            <a:ext cx="10972800" cy="617220"/>
            <a:chOff x="0" y="0"/>
            <a:chExt cx="14630400" cy="822960"/>
          </a:xfrm>
        </p:grpSpPr>
        <p:sp>
          <p:nvSpPr>
            <p:cNvPr name="Freeform 17" id="17"/>
            <p:cNvSpPr/>
            <p:nvPr/>
          </p:nvSpPr>
          <p:spPr>
            <a:xfrm flipH="false" flipV="false" rot="0">
              <a:off x="0" y="0"/>
              <a:ext cx="14630400" cy="822960"/>
            </a:xfrm>
            <a:custGeom>
              <a:avLst/>
              <a:gdLst/>
              <a:ahLst/>
              <a:cxnLst/>
              <a:rect r="r" b="b" t="t" l="l"/>
              <a:pathLst>
                <a:path h="822960" w="14630400">
                  <a:moveTo>
                    <a:pt x="0" y="0"/>
                  </a:moveTo>
                  <a:lnTo>
                    <a:pt x="14630400" y="0"/>
                  </a:lnTo>
                  <a:lnTo>
                    <a:pt x="14630400" y="822960"/>
                  </a:lnTo>
                  <a:lnTo>
                    <a:pt x="0" y="822960"/>
                  </a:lnTo>
                  <a:close/>
                </a:path>
              </a:pathLst>
            </a:custGeom>
            <a:blipFill>
              <a:blip r:embed="rId3">
                <a:alphaModFix amt="0"/>
              </a:blip>
              <a:stretch>
                <a:fillRect l="0" t="-296400" r="0" b="-296400"/>
              </a:stretch>
            </a:blipFill>
          </p:spPr>
        </p:sp>
        <p:sp>
          <p:nvSpPr>
            <p:cNvPr name="TextBox 18" id="18"/>
            <p:cNvSpPr txBox="true"/>
            <p:nvPr/>
          </p:nvSpPr>
          <p:spPr>
            <a:xfrm>
              <a:off x="0" y="-57150"/>
              <a:ext cx="14630400" cy="880110"/>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Provincial Government of Davao del Norte</a:t>
              </a:r>
            </a:p>
          </p:txBody>
        </p:sp>
      </p:grpSp>
      <p:grpSp>
        <p:nvGrpSpPr>
          <p:cNvPr name="Group 19" id="19"/>
          <p:cNvGrpSpPr/>
          <p:nvPr/>
        </p:nvGrpSpPr>
        <p:grpSpPr>
          <a:xfrm rot="0">
            <a:off x="822960" y="7063740"/>
            <a:ext cx="10972800" cy="480060"/>
            <a:chOff x="0" y="0"/>
            <a:chExt cx="14630400" cy="640080"/>
          </a:xfrm>
        </p:grpSpPr>
        <p:sp>
          <p:nvSpPr>
            <p:cNvPr name="Freeform 20" id="20"/>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21" id="21"/>
            <p:cNvSpPr txBox="true"/>
            <p:nvPr/>
          </p:nvSpPr>
          <p:spPr>
            <a:xfrm>
              <a:off x="0" y="-47625"/>
              <a:ext cx="14630400" cy="687705"/>
            </a:xfrm>
            <a:prstGeom prst="rect">
              <a:avLst/>
            </a:prstGeom>
          </p:spPr>
          <p:txBody>
            <a:bodyPr anchor="ctr" rtlCol="false" tIns="0" lIns="0" bIns="0" rIns="0"/>
            <a:lstStyle/>
            <a:p>
              <a:pPr algn="l">
                <a:lnSpc>
                  <a:spcPts val="2520"/>
                </a:lnSpc>
              </a:pPr>
              <a:r>
                <a:rPr lang="en-US" sz="2100">
                  <a:solidFill>
                    <a:srgbClr val="CADCFC"/>
                  </a:solidFill>
                  <a:latin typeface="Calibri (MS)"/>
                  <a:ea typeface="Calibri (MS)"/>
                  <a:cs typeface="Calibri (MS)"/>
                  <a:sym typeface="Calibri (MS)"/>
                </a:rPr>
                <a:t>September 1–3, 2026</a:t>
              </a:r>
            </a:p>
          </p:txBody>
        </p:sp>
      </p:grpSp>
      <p:grpSp>
        <p:nvGrpSpPr>
          <p:cNvPr name="Group 22" id="22"/>
          <p:cNvGrpSpPr/>
          <p:nvPr/>
        </p:nvGrpSpPr>
        <p:grpSpPr>
          <a:xfrm rot="0">
            <a:off x="822960" y="8435340"/>
            <a:ext cx="10972800" cy="1234440"/>
            <a:chOff x="0" y="0"/>
            <a:chExt cx="14630400" cy="1645920"/>
          </a:xfrm>
        </p:grpSpPr>
        <p:sp>
          <p:nvSpPr>
            <p:cNvPr name="Freeform 23" id="23"/>
            <p:cNvSpPr/>
            <p:nvPr/>
          </p:nvSpPr>
          <p:spPr>
            <a:xfrm flipH="false" flipV="false" rot="0">
              <a:off x="0" y="0"/>
              <a:ext cx="14630400" cy="1645920"/>
            </a:xfrm>
            <a:custGeom>
              <a:avLst/>
              <a:gdLst/>
              <a:ahLst/>
              <a:cxnLst/>
              <a:rect r="r" b="b" t="t" l="l"/>
              <a:pathLst>
                <a:path h="1645920" w="14630400">
                  <a:moveTo>
                    <a:pt x="0" y="0"/>
                  </a:moveTo>
                  <a:lnTo>
                    <a:pt x="14630400" y="0"/>
                  </a:lnTo>
                  <a:lnTo>
                    <a:pt x="14630400" y="1645920"/>
                  </a:lnTo>
                  <a:lnTo>
                    <a:pt x="0" y="1645920"/>
                  </a:lnTo>
                  <a:close/>
                </a:path>
              </a:pathLst>
            </a:custGeom>
            <a:blipFill>
              <a:blip r:embed="rId3">
                <a:alphaModFix amt="0"/>
              </a:blip>
              <a:stretch>
                <a:fillRect l="0" t="-123200" r="0" b="-123200"/>
              </a:stretch>
            </a:blipFill>
          </p:spPr>
        </p:sp>
        <p:sp>
          <p:nvSpPr>
            <p:cNvPr name="TextBox 24" id="24"/>
            <p:cNvSpPr txBox="true"/>
            <p:nvPr/>
          </p:nvSpPr>
          <p:spPr>
            <a:xfrm>
              <a:off x="0" y="-66675"/>
              <a:ext cx="14630400" cy="1712595"/>
            </a:xfrm>
            <a:prstGeom prst="rect">
              <a:avLst/>
            </a:prstGeom>
          </p:spPr>
          <p:txBody>
            <a:bodyPr anchor="ctr" rtlCol="false" tIns="0" lIns="0" bIns="0" rIns="0"/>
            <a:lstStyle/>
            <a:p>
              <a:pPr algn="l">
                <a:lnSpc>
                  <a:spcPts val="2483"/>
                </a:lnSpc>
              </a:pPr>
              <a:r>
                <a:rPr lang="en-US" sz="1800">
                  <a:solidFill>
                    <a:srgbClr val="CADCFC"/>
                  </a:solidFill>
                  <a:latin typeface="Calibri (MS)"/>
                  <a:ea typeface="Calibri (MS)"/>
                  <a:cs typeface="Calibri (MS)"/>
                  <a:sym typeface="Calibri (MS)"/>
                </a:rPr>
                <a:t>Prepared and delivered by</a:t>
              </a:r>
            </a:p>
            <a:p>
              <a:pPr algn="l">
                <a:lnSpc>
                  <a:spcPts val="3104"/>
                </a:lnSpc>
              </a:pPr>
              <a:r>
                <a:rPr lang="en-US" b="true" sz="2250">
                  <a:solidFill>
                    <a:srgbClr val="FFFFFF"/>
                  </a:solidFill>
                  <a:latin typeface="Calibri (MS) Bold"/>
                  <a:ea typeface="Calibri (MS) Bold"/>
                  <a:cs typeface="Calibri (MS) Bold"/>
                  <a:sym typeface="Calibri (MS) Bold"/>
                </a:rPr>
                <a:t>Ferdie James Nervida, ACWI, CPS</a:t>
              </a:r>
            </a:p>
            <a:p>
              <a:pPr algn="l">
                <a:lnSpc>
                  <a:spcPts val="2483"/>
                </a:lnSpc>
              </a:pPr>
            </a:p>
            <a:p>
              <a:pPr algn="l">
                <a:lnSpc>
                  <a:spcPts val="2483"/>
                </a:lnSpc>
              </a:pPr>
              <a:r>
                <a:rPr lang="en-US" sz="1800">
                  <a:solidFill>
                    <a:srgbClr val="CADCFC"/>
                  </a:solidFill>
                  <a:latin typeface="Calibri (MS)"/>
                  <a:ea typeface="Calibri (MS)"/>
                  <a:cs typeface="Calibri (MS)"/>
                  <a:sym typeface="Calibri (MS)"/>
                </a:rPr>
                <a:t>Lead Consultant / Trainer, Cybersecurity Governance</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2194560" y="6995160"/>
            <a:ext cx="5760720" cy="5760720"/>
            <a:chOff x="0" y="0"/>
            <a:chExt cx="7680960" cy="7680960"/>
          </a:xfrm>
        </p:grpSpPr>
        <p:sp>
          <p:nvSpPr>
            <p:cNvPr name="Freeform 3" id="3"/>
            <p:cNvSpPr/>
            <p:nvPr/>
          </p:nvSpPr>
          <p:spPr>
            <a:xfrm flipH="false" flipV="false" rot="0">
              <a:off x="0" y="0"/>
              <a:ext cx="7680960" cy="7680960"/>
            </a:xfrm>
            <a:custGeom>
              <a:avLst/>
              <a:gdLst/>
              <a:ahLst/>
              <a:cxnLst/>
              <a:rect r="r" b="b" t="t" l="l"/>
              <a:pathLst>
                <a:path h="7680960" w="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141A47"/>
            </a:solidFill>
          </p:spPr>
        </p:sp>
      </p:grpSp>
      <p:grpSp>
        <p:nvGrpSpPr>
          <p:cNvPr name="Group 4" id="4"/>
          <p:cNvGrpSpPr/>
          <p:nvPr/>
        </p:nvGrpSpPr>
        <p:grpSpPr>
          <a:xfrm rot="0">
            <a:off x="16367303" y="-246888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283583"/>
            </a:solidFill>
          </p:spPr>
        </p:sp>
      </p:grpSp>
      <p:grpSp>
        <p:nvGrpSpPr>
          <p:cNvPr name="Group 6" id="6"/>
          <p:cNvGrpSpPr/>
          <p:nvPr/>
        </p:nvGrpSpPr>
        <p:grpSpPr>
          <a:xfrm rot="0">
            <a:off x="822960" y="3497580"/>
            <a:ext cx="13716000" cy="548640"/>
            <a:chOff x="0" y="0"/>
            <a:chExt cx="18288000" cy="731520"/>
          </a:xfrm>
        </p:grpSpPr>
        <p:sp>
          <p:nvSpPr>
            <p:cNvPr name="Freeform 7" id="7"/>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3">
                <a:alphaModFix amt="0"/>
              </a:blip>
              <a:stretch>
                <a:fillRect l="0" t="-437125" r="0" b="-437125"/>
              </a:stretch>
            </a:blipFill>
          </p:spPr>
        </p:sp>
        <p:sp>
          <p:nvSpPr>
            <p:cNvPr name="TextBox 8" id="8"/>
            <p:cNvSpPr txBox="true"/>
            <p:nvPr/>
          </p:nvSpPr>
          <p:spPr>
            <a:xfrm>
              <a:off x="0" y="-47625"/>
              <a:ext cx="18288000" cy="779145"/>
            </a:xfrm>
            <a:prstGeom prst="rect">
              <a:avLst/>
            </a:prstGeom>
          </p:spPr>
          <p:txBody>
            <a:bodyPr anchor="ctr" rtlCol="false" tIns="0" lIns="0" bIns="0" rIns="0"/>
            <a:lstStyle/>
            <a:p>
              <a:pPr algn="l">
                <a:lnSpc>
                  <a:spcPts val="2520"/>
                </a:lnSpc>
              </a:pPr>
              <a:r>
                <a:rPr lang="en-US" b="true" sz="2100">
                  <a:solidFill>
                    <a:srgbClr val="C9971F"/>
                  </a:solidFill>
                  <a:latin typeface="Calibri (MS) Bold"/>
                  <a:ea typeface="Calibri (MS) Bold"/>
                  <a:cs typeface="Calibri (MS) Bold"/>
                  <a:sym typeface="Calibri (MS) Bold"/>
                </a:rPr>
                <a:t>MORNING SESSION</a:t>
              </a:r>
            </a:p>
          </p:txBody>
        </p:sp>
      </p:grpSp>
      <p:grpSp>
        <p:nvGrpSpPr>
          <p:cNvPr name="Group 9" id="9"/>
          <p:cNvGrpSpPr/>
          <p:nvPr/>
        </p:nvGrpSpPr>
        <p:grpSpPr>
          <a:xfrm rot="0">
            <a:off x="822960" y="4114800"/>
            <a:ext cx="15499080" cy="2194560"/>
            <a:chOff x="0" y="0"/>
            <a:chExt cx="20665440" cy="2926080"/>
          </a:xfrm>
        </p:grpSpPr>
        <p:sp>
          <p:nvSpPr>
            <p:cNvPr name="Freeform 10" id="10"/>
            <p:cNvSpPr/>
            <p:nvPr/>
          </p:nvSpPr>
          <p:spPr>
            <a:xfrm flipH="false" flipV="false" rot="0">
              <a:off x="0" y="0"/>
              <a:ext cx="20665439" cy="2926080"/>
            </a:xfrm>
            <a:custGeom>
              <a:avLst/>
              <a:gdLst/>
              <a:ahLst/>
              <a:cxnLst/>
              <a:rect r="r" b="b" t="t" l="l"/>
              <a:pathLst>
                <a:path h="2926080" w="20665439">
                  <a:moveTo>
                    <a:pt x="0" y="0"/>
                  </a:moveTo>
                  <a:lnTo>
                    <a:pt x="20665439" y="0"/>
                  </a:lnTo>
                  <a:lnTo>
                    <a:pt x="20665439" y="2926080"/>
                  </a:lnTo>
                  <a:lnTo>
                    <a:pt x="0" y="2926080"/>
                  </a:lnTo>
                  <a:close/>
                </a:path>
              </a:pathLst>
            </a:custGeom>
            <a:blipFill>
              <a:blip r:embed="rId3">
                <a:alphaModFix amt="0"/>
              </a:blip>
              <a:stretch>
                <a:fillRect l="0" t="-87613" r="0" b="-87613"/>
              </a:stretch>
            </a:blipFill>
          </p:spPr>
        </p:sp>
        <p:sp>
          <p:nvSpPr>
            <p:cNvPr name="TextBox 11" id="11"/>
            <p:cNvSpPr txBox="true"/>
            <p:nvPr/>
          </p:nvSpPr>
          <p:spPr>
            <a:xfrm>
              <a:off x="0" y="-9525"/>
              <a:ext cx="20665440" cy="2935605"/>
            </a:xfrm>
            <a:prstGeom prst="rect">
              <a:avLst/>
            </a:prstGeom>
          </p:spPr>
          <p:txBody>
            <a:bodyPr anchor="ctr" rtlCol="false" tIns="0" lIns="0" bIns="0" rIns="0"/>
            <a:lstStyle/>
            <a:p>
              <a:pPr algn="l">
                <a:lnSpc>
                  <a:spcPts val="6480"/>
                </a:lnSpc>
              </a:pPr>
              <a:r>
                <a:rPr lang="en-US" b="true" sz="5400">
                  <a:solidFill>
                    <a:srgbClr val="FFFFFF"/>
                  </a:solidFill>
                  <a:latin typeface="Cambria Bold"/>
                  <a:ea typeface="Cambria Bold"/>
                  <a:cs typeface="Cambria Bold"/>
                  <a:sym typeface="Cambria Bold"/>
                </a:rPr>
                <a:t>Defensive Operations</a:t>
              </a:r>
            </a:p>
          </p:txBody>
        </p:sp>
      </p:grpSp>
      <p:grpSp>
        <p:nvGrpSpPr>
          <p:cNvPr name="Group 12" id="12"/>
          <p:cNvGrpSpPr/>
          <p:nvPr/>
        </p:nvGrpSpPr>
        <p:grpSpPr>
          <a:xfrm rot="0">
            <a:off x="822960" y="6172200"/>
            <a:ext cx="14538960" cy="1371600"/>
            <a:chOff x="0" y="0"/>
            <a:chExt cx="19385280" cy="1828800"/>
          </a:xfrm>
        </p:grpSpPr>
        <p:sp>
          <p:nvSpPr>
            <p:cNvPr name="Freeform 13" id="13"/>
            <p:cNvSpPr/>
            <p:nvPr/>
          </p:nvSpPr>
          <p:spPr>
            <a:xfrm flipH="false" flipV="false" rot="0">
              <a:off x="0" y="0"/>
              <a:ext cx="19385280" cy="1828800"/>
            </a:xfrm>
            <a:custGeom>
              <a:avLst/>
              <a:gdLst/>
              <a:ahLst/>
              <a:cxnLst/>
              <a:rect r="r" b="b" t="t" l="l"/>
              <a:pathLst>
                <a:path h="1828800" w="19385280">
                  <a:moveTo>
                    <a:pt x="0" y="0"/>
                  </a:moveTo>
                  <a:lnTo>
                    <a:pt x="19385280" y="0"/>
                  </a:lnTo>
                  <a:lnTo>
                    <a:pt x="19385280" y="1828800"/>
                  </a:lnTo>
                  <a:lnTo>
                    <a:pt x="0" y="1828800"/>
                  </a:lnTo>
                  <a:close/>
                </a:path>
              </a:pathLst>
            </a:custGeom>
            <a:blipFill>
              <a:blip r:embed="rId3">
                <a:alphaModFix amt="0"/>
              </a:blip>
              <a:stretch>
                <a:fillRect l="0" t="-156541" r="0" b="-156541"/>
              </a:stretch>
            </a:blipFill>
          </p:spPr>
        </p:sp>
        <p:sp>
          <p:nvSpPr>
            <p:cNvPr name="TextBox 14" id="14"/>
            <p:cNvSpPr txBox="true"/>
            <p:nvPr/>
          </p:nvSpPr>
          <p:spPr>
            <a:xfrm>
              <a:off x="0" y="-38100"/>
              <a:ext cx="19385280" cy="1866900"/>
            </a:xfrm>
            <a:prstGeom prst="rect">
              <a:avLst/>
            </a:prstGeom>
          </p:spPr>
          <p:txBody>
            <a:bodyPr anchor="ctr" rtlCol="false" tIns="0" lIns="0" bIns="0" rIns="0"/>
            <a:lstStyle/>
            <a:p>
              <a:pPr algn="l">
                <a:lnSpc>
                  <a:spcPts val="2879"/>
                </a:lnSpc>
              </a:pPr>
              <a:r>
                <a:rPr lang="en-US" sz="2400">
                  <a:solidFill>
                    <a:srgbClr val="CADCFC"/>
                  </a:solidFill>
                  <a:latin typeface="Calibri (MS)"/>
                  <a:ea typeface="Calibri (MS)"/>
                  <a:cs typeface="Calibri (MS)"/>
                  <a:sym typeface="Calibri (MS)"/>
                </a:rPr>
                <a:t>Strengthening cybersecurity posture within a provincial government environment; aligning technical controls with risk priorities.</a:t>
              </a:r>
            </a:p>
          </p:txBody>
        </p:sp>
      </p:grpSp>
      <p:grpSp>
        <p:nvGrpSpPr>
          <p:cNvPr name="Group 15" id="15"/>
          <p:cNvGrpSpPr/>
          <p:nvPr/>
        </p:nvGrpSpPr>
        <p:grpSpPr>
          <a:xfrm rot="0">
            <a:off x="822960" y="9710928"/>
            <a:ext cx="12344400" cy="411480"/>
            <a:chOff x="0" y="0"/>
            <a:chExt cx="16459200" cy="548640"/>
          </a:xfrm>
        </p:grpSpPr>
        <p:sp>
          <p:nvSpPr>
            <p:cNvPr name="Freeform 16" id="1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7" id="17"/>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8" id="18"/>
          <p:cNvGrpSpPr/>
          <p:nvPr/>
        </p:nvGrpSpPr>
        <p:grpSpPr>
          <a:xfrm rot="0">
            <a:off x="16778783" y="9710928"/>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0" id="2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3</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BRIDGING FROM DAY 2</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Why We Shift From Response to Prevention</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948940"/>
            <a:ext cx="16641623" cy="4937760"/>
            <a:chOff x="0" y="0"/>
            <a:chExt cx="22188830" cy="6583680"/>
          </a:xfrm>
        </p:grpSpPr>
        <p:sp>
          <p:nvSpPr>
            <p:cNvPr name="Freeform 8" id="8"/>
            <p:cNvSpPr/>
            <p:nvPr/>
          </p:nvSpPr>
          <p:spPr>
            <a:xfrm flipH="false" flipV="false" rot="0">
              <a:off x="0" y="0"/>
              <a:ext cx="22188932" cy="6583680"/>
            </a:xfrm>
            <a:custGeom>
              <a:avLst/>
              <a:gdLst/>
              <a:ahLst/>
              <a:cxnLst/>
              <a:rect r="r" b="b" t="t" l="l"/>
              <a:pathLst>
                <a:path h="6583680" w="22188932">
                  <a:moveTo>
                    <a:pt x="0" y="219456"/>
                  </a:moveTo>
                  <a:cubicBezTo>
                    <a:pt x="0" y="98298"/>
                    <a:pt x="98298" y="0"/>
                    <a:pt x="219456" y="0"/>
                  </a:cubicBezTo>
                  <a:lnTo>
                    <a:pt x="21969476" y="0"/>
                  </a:lnTo>
                  <a:cubicBezTo>
                    <a:pt x="22090633" y="0"/>
                    <a:pt x="22188932" y="98298"/>
                    <a:pt x="22188932" y="219456"/>
                  </a:cubicBezTo>
                  <a:lnTo>
                    <a:pt x="22188932" y="6364224"/>
                  </a:lnTo>
                  <a:cubicBezTo>
                    <a:pt x="22188932" y="6485382"/>
                    <a:pt x="22090633" y="6583680"/>
                    <a:pt x="21969476" y="6583680"/>
                  </a:cubicBezTo>
                  <a:lnTo>
                    <a:pt x="219456" y="6583680"/>
                  </a:lnTo>
                  <a:cubicBezTo>
                    <a:pt x="98298" y="6583680"/>
                    <a:pt x="0" y="6485382"/>
                    <a:pt x="0" y="6364224"/>
                  </a:cubicBezTo>
                  <a:close/>
                </a:path>
              </a:pathLst>
            </a:custGeom>
            <a:solidFill>
              <a:srgbClr val="EEF3FC"/>
            </a:solidFill>
          </p:spPr>
        </p:sp>
      </p:grpSp>
      <p:grpSp>
        <p:nvGrpSpPr>
          <p:cNvPr name="Group 9" id="9"/>
          <p:cNvGrpSpPr/>
          <p:nvPr/>
        </p:nvGrpSpPr>
        <p:grpSpPr>
          <a:xfrm rot="0">
            <a:off x="822960" y="2948940"/>
            <a:ext cx="123444" cy="4937760"/>
            <a:chOff x="0" y="0"/>
            <a:chExt cx="164592" cy="6583680"/>
          </a:xfrm>
        </p:grpSpPr>
        <p:sp>
          <p:nvSpPr>
            <p:cNvPr name="Freeform 10" id="10"/>
            <p:cNvSpPr/>
            <p:nvPr/>
          </p:nvSpPr>
          <p:spPr>
            <a:xfrm flipH="false" flipV="false" rot="0">
              <a:off x="0" y="0"/>
              <a:ext cx="164592" cy="6583680"/>
            </a:xfrm>
            <a:custGeom>
              <a:avLst/>
              <a:gdLst/>
              <a:ahLst/>
              <a:cxnLst/>
              <a:rect r="r" b="b" t="t" l="l"/>
              <a:pathLst>
                <a:path h="6583680" w="164592">
                  <a:moveTo>
                    <a:pt x="0" y="0"/>
                  </a:moveTo>
                  <a:lnTo>
                    <a:pt x="164592" y="0"/>
                  </a:lnTo>
                  <a:lnTo>
                    <a:pt x="164592" y="6583680"/>
                  </a:lnTo>
                  <a:lnTo>
                    <a:pt x="0" y="6583680"/>
                  </a:lnTo>
                  <a:close/>
                </a:path>
              </a:pathLst>
            </a:custGeom>
            <a:solidFill>
              <a:srgbClr val="C9971F"/>
            </a:solidFill>
          </p:spPr>
        </p:sp>
      </p:grpSp>
      <p:grpSp>
        <p:nvGrpSpPr>
          <p:cNvPr name="Group 11" id="11"/>
          <p:cNvGrpSpPr/>
          <p:nvPr/>
        </p:nvGrpSpPr>
        <p:grpSpPr>
          <a:xfrm rot="0">
            <a:off x="1577340" y="3429000"/>
            <a:ext cx="15132863" cy="3566160"/>
            <a:chOff x="0" y="0"/>
            <a:chExt cx="20177150" cy="4754880"/>
          </a:xfrm>
        </p:grpSpPr>
        <p:sp>
          <p:nvSpPr>
            <p:cNvPr name="Freeform 12" id="12"/>
            <p:cNvSpPr/>
            <p:nvPr/>
          </p:nvSpPr>
          <p:spPr>
            <a:xfrm flipH="false" flipV="false" rot="0">
              <a:off x="0" y="0"/>
              <a:ext cx="20177150" cy="4754880"/>
            </a:xfrm>
            <a:custGeom>
              <a:avLst/>
              <a:gdLst/>
              <a:ahLst/>
              <a:cxnLst/>
              <a:rect r="r" b="b" t="t" l="l"/>
              <a:pathLst>
                <a:path h="4754880" w="20177150">
                  <a:moveTo>
                    <a:pt x="0" y="0"/>
                  </a:moveTo>
                  <a:lnTo>
                    <a:pt x="20177150" y="0"/>
                  </a:lnTo>
                  <a:lnTo>
                    <a:pt x="20177150" y="4754880"/>
                  </a:lnTo>
                  <a:lnTo>
                    <a:pt x="0" y="4754880"/>
                  </a:lnTo>
                  <a:close/>
                </a:path>
              </a:pathLst>
            </a:custGeom>
            <a:blipFill>
              <a:blip r:embed="rId3">
                <a:alphaModFix amt="0"/>
              </a:blip>
              <a:stretch>
                <a:fillRect l="0" t="-32684" r="0" b="-32684"/>
              </a:stretch>
            </a:blipFill>
          </p:spPr>
        </p:sp>
        <p:sp>
          <p:nvSpPr>
            <p:cNvPr name="TextBox 13" id="13"/>
            <p:cNvSpPr txBox="true"/>
            <p:nvPr/>
          </p:nvSpPr>
          <p:spPr>
            <a:xfrm>
              <a:off x="0" y="-9525"/>
              <a:ext cx="20177150" cy="4764405"/>
            </a:xfrm>
            <a:prstGeom prst="rect">
              <a:avLst/>
            </a:prstGeom>
          </p:spPr>
          <p:txBody>
            <a:bodyPr anchor="ctr" rtlCol="false" tIns="0" lIns="0" bIns="0" rIns="0"/>
            <a:lstStyle/>
            <a:p>
              <a:pPr algn="l">
                <a:lnSpc>
                  <a:spcPts val="3960"/>
                </a:lnSpc>
              </a:pPr>
              <a:r>
                <a:rPr lang="en-US" sz="3300" i="true">
                  <a:solidFill>
                    <a:srgbClr val="1E2761"/>
                  </a:solidFill>
                  <a:latin typeface="Cambria Italics"/>
                  <a:ea typeface="Cambria Italics"/>
                  <a:cs typeface="Cambria Italics"/>
                  <a:sym typeface="Cambria Italics"/>
                </a:rPr>
                <a:t>So far,</a:t>
              </a:r>
              <a:r>
                <a:rPr lang="en-US" sz="3300" i="true">
                  <a:solidFill>
                    <a:srgbClr val="1E2761"/>
                  </a:solidFill>
                  <a:latin typeface="Cambria Italics"/>
                  <a:ea typeface="Cambria Italics"/>
                  <a:cs typeface="Cambria Italics"/>
                  <a:sym typeface="Cambria Italics"/>
                </a:rPr>
                <a:t> we built your capacity to detect, respond to, and recover from an incident, including drafting your CIRP and running a live ransomware scenario. Today we shift left. Today aims to reduce how often you need that CIRP in the first place.</a:t>
              </a:r>
            </a:p>
          </p:txBody>
        </p:sp>
      </p:grpSp>
      <p:grpSp>
        <p:nvGrpSpPr>
          <p:cNvPr name="Group 14" id="14"/>
          <p:cNvGrpSpPr/>
          <p:nvPr/>
        </p:nvGrpSpPr>
        <p:grpSpPr>
          <a:xfrm rot="0">
            <a:off x="822960" y="9710928"/>
            <a:ext cx="12344400" cy="411480"/>
            <a:chOff x="0" y="0"/>
            <a:chExt cx="16459200" cy="548640"/>
          </a:xfrm>
        </p:grpSpPr>
        <p:sp>
          <p:nvSpPr>
            <p:cNvPr name="Freeform 15" id="15"/>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6" id="16"/>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7" id="17"/>
          <p:cNvGrpSpPr/>
          <p:nvPr/>
        </p:nvGrpSpPr>
        <p:grpSpPr>
          <a:xfrm rot="0">
            <a:off x="16778783" y="9710928"/>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5</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FRAMEWORK FOR THE MORNING</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The Risk-Based Control Model</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606040"/>
            <a:ext cx="16641623" cy="960120"/>
            <a:chOff x="0" y="0"/>
            <a:chExt cx="22188830" cy="1280160"/>
          </a:xfrm>
        </p:grpSpPr>
        <p:sp>
          <p:nvSpPr>
            <p:cNvPr name="Freeform 8" id="8"/>
            <p:cNvSpPr/>
            <p:nvPr/>
          </p:nvSpPr>
          <p:spPr>
            <a:xfrm flipH="false" flipV="false" rot="0">
              <a:off x="0" y="0"/>
              <a:ext cx="22188830" cy="1280160"/>
            </a:xfrm>
            <a:custGeom>
              <a:avLst/>
              <a:gdLst/>
              <a:ahLst/>
              <a:cxnLst/>
              <a:rect r="r" b="b" t="t" l="l"/>
              <a:pathLst>
                <a:path h="1280160" w="22188830">
                  <a:moveTo>
                    <a:pt x="0" y="0"/>
                  </a:moveTo>
                  <a:lnTo>
                    <a:pt x="22188830" y="0"/>
                  </a:lnTo>
                  <a:lnTo>
                    <a:pt x="22188830" y="1280160"/>
                  </a:lnTo>
                  <a:lnTo>
                    <a:pt x="0" y="1280160"/>
                  </a:lnTo>
                  <a:close/>
                </a:path>
              </a:pathLst>
            </a:custGeom>
            <a:blipFill>
              <a:blip r:embed="rId3">
                <a:alphaModFix amt="0"/>
              </a:blip>
              <a:stretch>
                <a:fillRect l="0" t="-287731" r="0" b="-287731"/>
              </a:stretch>
            </a:blipFill>
          </p:spPr>
        </p:sp>
        <p:sp>
          <p:nvSpPr>
            <p:cNvPr name="TextBox 9" id="9"/>
            <p:cNvSpPr txBox="true"/>
            <p:nvPr/>
          </p:nvSpPr>
          <p:spPr>
            <a:xfrm>
              <a:off x="0" y="-57150"/>
              <a:ext cx="22188830" cy="1337310"/>
            </a:xfrm>
            <a:prstGeom prst="rect">
              <a:avLst/>
            </a:prstGeom>
          </p:spPr>
          <p:txBody>
            <a:bodyPr anchor="ctr" rtlCol="false" tIns="0" lIns="0" bIns="0" rIns="0"/>
            <a:lstStyle/>
            <a:p>
              <a:pPr algn="l">
                <a:lnSpc>
                  <a:spcPts val="2700"/>
                </a:lnSpc>
              </a:pPr>
              <a:r>
                <a:rPr lang="en-US" sz="2250">
                  <a:solidFill>
                    <a:srgbClr val="222222"/>
                  </a:solidFill>
                  <a:latin typeface="Calibri (MS)"/>
                  <a:ea typeface="Calibri (MS)"/>
                  <a:cs typeface="Calibri (MS)"/>
                  <a:sym typeface="Calibri (MS)"/>
                </a:rPr>
                <a:t>Controls are assigned by likelihood × impact, not by what is easiest to procure. The five NIST Cybersecurity Framework functions organize the rest of the morning.</a:t>
              </a:r>
            </a:p>
          </p:txBody>
        </p:sp>
      </p:grpSp>
      <p:grpSp>
        <p:nvGrpSpPr>
          <p:cNvPr name="Group 10" id="10"/>
          <p:cNvGrpSpPr/>
          <p:nvPr/>
        </p:nvGrpSpPr>
        <p:grpSpPr>
          <a:xfrm rot="0">
            <a:off x="822960" y="4251960"/>
            <a:ext cx="3021082" cy="4114800"/>
            <a:chOff x="0" y="0"/>
            <a:chExt cx="4028110" cy="5486400"/>
          </a:xfrm>
        </p:grpSpPr>
        <p:sp>
          <p:nvSpPr>
            <p:cNvPr name="Freeform 11" id="11"/>
            <p:cNvSpPr/>
            <p:nvPr/>
          </p:nvSpPr>
          <p:spPr>
            <a:xfrm flipH="false" flipV="false" rot="0">
              <a:off x="0" y="0"/>
              <a:ext cx="4028059" cy="5486400"/>
            </a:xfrm>
            <a:custGeom>
              <a:avLst/>
              <a:gdLst/>
              <a:ahLst/>
              <a:cxnLst/>
              <a:rect r="r" b="b" t="t" l="l"/>
              <a:pathLst>
                <a:path h="5486400" w="4028059">
                  <a:moveTo>
                    <a:pt x="0" y="182880"/>
                  </a:moveTo>
                  <a:cubicBezTo>
                    <a:pt x="0" y="81915"/>
                    <a:pt x="81915" y="0"/>
                    <a:pt x="182880" y="0"/>
                  </a:cubicBezTo>
                  <a:lnTo>
                    <a:pt x="3845179" y="0"/>
                  </a:lnTo>
                  <a:cubicBezTo>
                    <a:pt x="3946144" y="0"/>
                    <a:pt x="4028059" y="81915"/>
                    <a:pt x="4028059" y="182880"/>
                  </a:cubicBezTo>
                  <a:lnTo>
                    <a:pt x="4028059" y="5303520"/>
                  </a:lnTo>
                  <a:cubicBezTo>
                    <a:pt x="4028059" y="5404485"/>
                    <a:pt x="3946144" y="5486400"/>
                    <a:pt x="3845179" y="5486400"/>
                  </a:cubicBezTo>
                  <a:lnTo>
                    <a:pt x="182880" y="5486400"/>
                  </a:lnTo>
                  <a:cubicBezTo>
                    <a:pt x="81915" y="5486400"/>
                    <a:pt x="0" y="5404485"/>
                    <a:pt x="0" y="5303520"/>
                  </a:cubicBezTo>
                  <a:close/>
                </a:path>
              </a:pathLst>
            </a:custGeom>
            <a:solidFill>
              <a:srgbClr val="1E2761"/>
            </a:solidFill>
          </p:spPr>
        </p:sp>
      </p:grpSp>
      <p:grpSp>
        <p:nvGrpSpPr>
          <p:cNvPr name="Group 12" id="12"/>
          <p:cNvGrpSpPr/>
          <p:nvPr/>
        </p:nvGrpSpPr>
        <p:grpSpPr>
          <a:xfrm rot="0">
            <a:off x="822960" y="4498848"/>
            <a:ext cx="3021082" cy="685800"/>
            <a:chOff x="0" y="0"/>
            <a:chExt cx="4028110" cy="914400"/>
          </a:xfrm>
        </p:grpSpPr>
        <p:sp>
          <p:nvSpPr>
            <p:cNvPr name="Freeform 13" id="13"/>
            <p:cNvSpPr/>
            <p:nvPr/>
          </p:nvSpPr>
          <p:spPr>
            <a:xfrm flipH="false" flipV="false" rot="0">
              <a:off x="0" y="0"/>
              <a:ext cx="4028114" cy="914400"/>
            </a:xfrm>
            <a:custGeom>
              <a:avLst/>
              <a:gdLst/>
              <a:ahLst/>
              <a:cxnLst/>
              <a:rect r="r" b="b" t="t" l="l"/>
              <a:pathLst>
                <a:path h="914400" w="4028114">
                  <a:moveTo>
                    <a:pt x="0" y="0"/>
                  </a:moveTo>
                  <a:lnTo>
                    <a:pt x="4028114" y="0"/>
                  </a:lnTo>
                  <a:lnTo>
                    <a:pt x="4028114" y="914400"/>
                  </a:lnTo>
                  <a:lnTo>
                    <a:pt x="0" y="914400"/>
                  </a:lnTo>
                  <a:close/>
                </a:path>
              </a:pathLst>
            </a:custGeom>
            <a:blipFill>
              <a:blip r:embed="rId3">
                <a:alphaModFix amt="0"/>
              </a:blip>
              <a:stretch>
                <a:fillRect l="0" t="-35835" r="0" b="-35835"/>
              </a:stretch>
            </a:blipFill>
          </p:spPr>
        </p:sp>
        <p:sp>
          <p:nvSpPr>
            <p:cNvPr name="TextBox 14" id="14"/>
            <p:cNvSpPr txBox="true"/>
            <p:nvPr/>
          </p:nvSpPr>
          <p:spPr>
            <a:xfrm>
              <a:off x="0" y="-9525"/>
              <a:ext cx="4028110" cy="923925"/>
            </a:xfrm>
            <a:prstGeom prst="rect">
              <a:avLst/>
            </a:prstGeom>
          </p:spPr>
          <p:txBody>
            <a:bodyPr anchor="ctr" rtlCol="false" tIns="0" lIns="0" bIns="0" rIns="0"/>
            <a:lstStyle/>
            <a:p>
              <a:pPr algn="ctr">
                <a:lnSpc>
                  <a:spcPts val="3960"/>
                </a:lnSpc>
              </a:pPr>
              <a:r>
                <a:rPr lang="en-US" b="true" sz="3300">
                  <a:solidFill>
                    <a:srgbClr val="C9971F"/>
                  </a:solidFill>
                  <a:latin typeface="Cambria Bold"/>
                  <a:ea typeface="Cambria Bold"/>
                  <a:cs typeface="Cambria Bold"/>
                  <a:sym typeface="Cambria Bold"/>
                </a:rPr>
                <a:t>1</a:t>
              </a:r>
            </a:p>
          </p:txBody>
        </p:sp>
      </p:grpSp>
      <p:grpSp>
        <p:nvGrpSpPr>
          <p:cNvPr name="Group 15" id="15"/>
          <p:cNvGrpSpPr/>
          <p:nvPr/>
        </p:nvGrpSpPr>
        <p:grpSpPr>
          <a:xfrm rot="0">
            <a:off x="960120" y="5417820"/>
            <a:ext cx="2746762" cy="685800"/>
            <a:chOff x="0" y="0"/>
            <a:chExt cx="3662350" cy="914400"/>
          </a:xfrm>
        </p:grpSpPr>
        <p:sp>
          <p:nvSpPr>
            <p:cNvPr name="Freeform 16" id="16"/>
            <p:cNvSpPr/>
            <p:nvPr/>
          </p:nvSpPr>
          <p:spPr>
            <a:xfrm flipH="false" flipV="false" rot="0">
              <a:off x="0" y="0"/>
              <a:ext cx="3662354" cy="914400"/>
            </a:xfrm>
            <a:custGeom>
              <a:avLst/>
              <a:gdLst/>
              <a:ahLst/>
              <a:cxnLst/>
              <a:rect r="r" b="b" t="t" l="l"/>
              <a:pathLst>
                <a:path h="914400" w="3662354">
                  <a:moveTo>
                    <a:pt x="0" y="0"/>
                  </a:moveTo>
                  <a:lnTo>
                    <a:pt x="3662354" y="0"/>
                  </a:lnTo>
                  <a:lnTo>
                    <a:pt x="3662354" y="914400"/>
                  </a:lnTo>
                  <a:lnTo>
                    <a:pt x="0" y="914400"/>
                  </a:lnTo>
                  <a:close/>
                </a:path>
              </a:pathLst>
            </a:custGeom>
            <a:blipFill>
              <a:blip r:embed="rId3">
                <a:alphaModFix amt="0"/>
              </a:blip>
              <a:stretch>
                <a:fillRect l="0" t="-28041" r="0" b="-28041"/>
              </a:stretch>
            </a:blipFill>
          </p:spPr>
        </p:sp>
        <p:sp>
          <p:nvSpPr>
            <p:cNvPr name="TextBox 17" id="17"/>
            <p:cNvSpPr txBox="true"/>
            <p:nvPr/>
          </p:nvSpPr>
          <p:spPr>
            <a:xfrm>
              <a:off x="0" y="-9525"/>
              <a:ext cx="3662350" cy="923925"/>
            </a:xfrm>
            <a:prstGeom prst="rect">
              <a:avLst/>
            </a:prstGeom>
          </p:spPr>
          <p:txBody>
            <a:bodyPr anchor="ctr" rtlCol="false" tIns="0" lIns="0" bIns="0" rIns="0"/>
            <a:lstStyle/>
            <a:p>
              <a:pPr algn="ctr">
                <a:lnSpc>
                  <a:spcPts val="2879"/>
                </a:lnSpc>
              </a:pPr>
              <a:r>
                <a:rPr lang="en-US" b="true" sz="2400">
                  <a:solidFill>
                    <a:srgbClr val="FFFFFF"/>
                  </a:solidFill>
                  <a:latin typeface="Cambria Bold"/>
                  <a:ea typeface="Cambria Bold"/>
                  <a:cs typeface="Cambria Bold"/>
                  <a:sym typeface="Cambria Bold"/>
                </a:rPr>
                <a:t>Identify</a:t>
              </a:r>
            </a:p>
          </p:txBody>
        </p:sp>
      </p:grpSp>
      <p:sp>
        <p:nvSpPr>
          <p:cNvPr name="TextBox 18" id="18"/>
          <p:cNvSpPr txBox="true"/>
          <p:nvPr/>
        </p:nvSpPr>
        <p:spPr>
          <a:xfrm rot="0">
            <a:off x="1028700" y="6134100"/>
            <a:ext cx="2609602" cy="1958340"/>
          </a:xfrm>
          <a:prstGeom prst="rect">
            <a:avLst/>
          </a:prstGeom>
        </p:spPr>
        <p:txBody>
          <a:bodyPr anchor="t" rtlCol="false" tIns="0" lIns="0" bIns="0" rIns="0">
            <a:spAutoFit/>
          </a:bodyPr>
          <a:lstStyle/>
          <a:p>
            <a:pPr algn="ctr">
              <a:lnSpc>
                <a:spcPts val="2070"/>
              </a:lnSpc>
            </a:pPr>
            <a:r>
              <a:rPr lang="en-US" sz="1725">
                <a:solidFill>
                  <a:srgbClr val="CADCFC"/>
                </a:solidFill>
                <a:latin typeface="Calibri (MS)"/>
                <a:ea typeface="Calibri (MS)"/>
                <a:cs typeface="Calibri (MS)"/>
                <a:sym typeface="Calibri (MS)"/>
              </a:rPr>
              <a:t>Know your assets and risk</a:t>
            </a:r>
          </a:p>
        </p:txBody>
      </p:sp>
      <p:grpSp>
        <p:nvGrpSpPr>
          <p:cNvPr name="Group 19" id="19"/>
          <p:cNvGrpSpPr/>
          <p:nvPr/>
        </p:nvGrpSpPr>
        <p:grpSpPr>
          <a:xfrm rot="0">
            <a:off x="4228090" y="4251960"/>
            <a:ext cx="3021082" cy="4114800"/>
            <a:chOff x="0" y="0"/>
            <a:chExt cx="4028110" cy="5486400"/>
          </a:xfrm>
        </p:grpSpPr>
        <p:sp>
          <p:nvSpPr>
            <p:cNvPr name="Freeform 20" id="20"/>
            <p:cNvSpPr/>
            <p:nvPr/>
          </p:nvSpPr>
          <p:spPr>
            <a:xfrm flipH="false" flipV="false" rot="0">
              <a:off x="0" y="0"/>
              <a:ext cx="4028059" cy="5486400"/>
            </a:xfrm>
            <a:custGeom>
              <a:avLst/>
              <a:gdLst/>
              <a:ahLst/>
              <a:cxnLst/>
              <a:rect r="r" b="b" t="t" l="l"/>
              <a:pathLst>
                <a:path h="5486400" w="4028059">
                  <a:moveTo>
                    <a:pt x="0" y="182880"/>
                  </a:moveTo>
                  <a:cubicBezTo>
                    <a:pt x="0" y="81915"/>
                    <a:pt x="81915" y="0"/>
                    <a:pt x="182880" y="0"/>
                  </a:cubicBezTo>
                  <a:lnTo>
                    <a:pt x="3845179" y="0"/>
                  </a:lnTo>
                  <a:cubicBezTo>
                    <a:pt x="3946144" y="0"/>
                    <a:pt x="4028059" y="81915"/>
                    <a:pt x="4028059" y="182880"/>
                  </a:cubicBezTo>
                  <a:lnTo>
                    <a:pt x="4028059" y="5303520"/>
                  </a:lnTo>
                  <a:cubicBezTo>
                    <a:pt x="4028059" y="5404485"/>
                    <a:pt x="3946144" y="5486400"/>
                    <a:pt x="3845179" y="5486400"/>
                  </a:cubicBezTo>
                  <a:lnTo>
                    <a:pt x="182880" y="5486400"/>
                  </a:lnTo>
                  <a:cubicBezTo>
                    <a:pt x="81915" y="5486400"/>
                    <a:pt x="0" y="5404485"/>
                    <a:pt x="0" y="5303520"/>
                  </a:cubicBezTo>
                  <a:close/>
                </a:path>
              </a:pathLst>
            </a:custGeom>
            <a:solidFill>
              <a:srgbClr val="2B3A8F"/>
            </a:solidFill>
          </p:spPr>
        </p:sp>
      </p:grpSp>
      <p:grpSp>
        <p:nvGrpSpPr>
          <p:cNvPr name="Group 21" id="21"/>
          <p:cNvGrpSpPr/>
          <p:nvPr/>
        </p:nvGrpSpPr>
        <p:grpSpPr>
          <a:xfrm rot="0">
            <a:off x="4228090" y="4498848"/>
            <a:ext cx="3021082" cy="685800"/>
            <a:chOff x="0" y="0"/>
            <a:chExt cx="4028110" cy="914400"/>
          </a:xfrm>
        </p:grpSpPr>
        <p:sp>
          <p:nvSpPr>
            <p:cNvPr name="Freeform 22" id="22"/>
            <p:cNvSpPr/>
            <p:nvPr/>
          </p:nvSpPr>
          <p:spPr>
            <a:xfrm flipH="false" flipV="false" rot="0">
              <a:off x="0" y="0"/>
              <a:ext cx="4028114" cy="914400"/>
            </a:xfrm>
            <a:custGeom>
              <a:avLst/>
              <a:gdLst/>
              <a:ahLst/>
              <a:cxnLst/>
              <a:rect r="r" b="b" t="t" l="l"/>
              <a:pathLst>
                <a:path h="914400" w="4028114">
                  <a:moveTo>
                    <a:pt x="0" y="0"/>
                  </a:moveTo>
                  <a:lnTo>
                    <a:pt x="4028114" y="0"/>
                  </a:lnTo>
                  <a:lnTo>
                    <a:pt x="4028114" y="914400"/>
                  </a:lnTo>
                  <a:lnTo>
                    <a:pt x="0" y="914400"/>
                  </a:lnTo>
                  <a:close/>
                </a:path>
              </a:pathLst>
            </a:custGeom>
            <a:blipFill>
              <a:blip r:embed="rId3">
                <a:alphaModFix amt="0"/>
              </a:blip>
              <a:stretch>
                <a:fillRect l="0" t="-35835" r="0" b="-35835"/>
              </a:stretch>
            </a:blipFill>
          </p:spPr>
        </p:sp>
        <p:sp>
          <p:nvSpPr>
            <p:cNvPr name="TextBox 23" id="23"/>
            <p:cNvSpPr txBox="true"/>
            <p:nvPr/>
          </p:nvSpPr>
          <p:spPr>
            <a:xfrm>
              <a:off x="0" y="-9525"/>
              <a:ext cx="4028110" cy="923925"/>
            </a:xfrm>
            <a:prstGeom prst="rect">
              <a:avLst/>
            </a:prstGeom>
          </p:spPr>
          <p:txBody>
            <a:bodyPr anchor="ctr" rtlCol="false" tIns="0" lIns="0" bIns="0" rIns="0"/>
            <a:lstStyle/>
            <a:p>
              <a:pPr algn="ctr">
                <a:lnSpc>
                  <a:spcPts val="3960"/>
                </a:lnSpc>
              </a:pPr>
              <a:r>
                <a:rPr lang="en-US" b="true" sz="3300">
                  <a:solidFill>
                    <a:srgbClr val="C9971F"/>
                  </a:solidFill>
                  <a:latin typeface="Cambria Bold"/>
                  <a:ea typeface="Cambria Bold"/>
                  <a:cs typeface="Cambria Bold"/>
                  <a:sym typeface="Cambria Bold"/>
                </a:rPr>
                <a:t>2</a:t>
              </a:r>
            </a:p>
          </p:txBody>
        </p:sp>
      </p:grpSp>
      <p:grpSp>
        <p:nvGrpSpPr>
          <p:cNvPr name="Group 24" id="24"/>
          <p:cNvGrpSpPr/>
          <p:nvPr/>
        </p:nvGrpSpPr>
        <p:grpSpPr>
          <a:xfrm rot="0">
            <a:off x="4365250" y="5417820"/>
            <a:ext cx="2746762" cy="685800"/>
            <a:chOff x="0" y="0"/>
            <a:chExt cx="3662350" cy="914400"/>
          </a:xfrm>
        </p:grpSpPr>
        <p:sp>
          <p:nvSpPr>
            <p:cNvPr name="Freeform 25" id="25"/>
            <p:cNvSpPr/>
            <p:nvPr/>
          </p:nvSpPr>
          <p:spPr>
            <a:xfrm flipH="false" flipV="false" rot="0">
              <a:off x="0" y="0"/>
              <a:ext cx="3662354" cy="914400"/>
            </a:xfrm>
            <a:custGeom>
              <a:avLst/>
              <a:gdLst/>
              <a:ahLst/>
              <a:cxnLst/>
              <a:rect r="r" b="b" t="t" l="l"/>
              <a:pathLst>
                <a:path h="914400" w="3662354">
                  <a:moveTo>
                    <a:pt x="0" y="0"/>
                  </a:moveTo>
                  <a:lnTo>
                    <a:pt x="3662354" y="0"/>
                  </a:lnTo>
                  <a:lnTo>
                    <a:pt x="3662354" y="914400"/>
                  </a:lnTo>
                  <a:lnTo>
                    <a:pt x="0" y="914400"/>
                  </a:lnTo>
                  <a:close/>
                </a:path>
              </a:pathLst>
            </a:custGeom>
            <a:blipFill>
              <a:blip r:embed="rId3">
                <a:alphaModFix amt="0"/>
              </a:blip>
              <a:stretch>
                <a:fillRect l="0" t="-28041" r="0" b="-28041"/>
              </a:stretch>
            </a:blipFill>
          </p:spPr>
        </p:sp>
        <p:sp>
          <p:nvSpPr>
            <p:cNvPr name="TextBox 26" id="26"/>
            <p:cNvSpPr txBox="true"/>
            <p:nvPr/>
          </p:nvSpPr>
          <p:spPr>
            <a:xfrm>
              <a:off x="0" y="-9525"/>
              <a:ext cx="3662350" cy="923925"/>
            </a:xfrm>
            <a:prstGeom prst="rect">
              <a:avLst/>
            </a:prstGeom>
          </p:spPr>
          <p:txBody>
            <a:bodyPr anchor="ctr" rtlCol="false" tIns="0" lIns="0" bIns="0" rIns="0"/>
            <a:lstStyle/>
            <a:p>
              <a:pPr algn="ctr">
                <a:lnSpc>
                  <a:spcPts val="2879"/>
                </a:lnSpc>
              </a:pPr>
              <a:r>
                <a:rPr lang="en-US" b="true" sz="2400">
                  <a:solidFill>
                    <a:srgbClr val="FFFFFF"/>
                  </a:solidFill>
                  <a:latin typeface="Cambria Bold"/>
                  <a:ea typeface="Cambria Bold"/>
                  <a:cs typeface="Cambria Bold"/>
                  <a:sym typeface="Cambria Bold"/>
                </a:rPr>
                <a:t>Protect</a:t>
              </a:r>
            </a:p>
          </p:txBody>
        </p:sp>
      </p:grpSp>
      <p:sp>
        <p:nvSpPr>
          <p:cNvPr name="TextBox 27" id="27"/>
          <p:cNvSpPr txBox="true"/>
          <p:nvPr/>
        </p:nvSpPr>
        <p:spPr>
          <a:xfrm rot="0">
            <a:off x="4433830" y="6134100"/>
            <a:ext cx="2609602" cy="1958340"/>
          </a:xfrm>
          <a:prstGeom prst="rect">
            <a:avLst/>
          </a:prstGeom>
        </p:spPr>
        <p:txBody>
          <a:bodyPr anchor="t" rtlCol="false" tIns="0" lIns="0" bIns="0" rIns="0">
            <a:spAutoFit/>
          </a:bodyPr>
          <a:lstStyle/>
          <a:p>
            <a:pPr algn="ctr">
              <a:lnSpc>
                <a:spcPts val="2070"/>
              </a:lnSpc>
            </a:pPr>
            <a:r>
              <a:rPr lang="en-US" sz="1725">
                <a:solidFill>
                  <a:srgbClr val="CADCFC"/>
                </a:solidFill>
                <a:latin typeface="Calibri (MS)"/>
                <a:ea typeface="Calibri (MS)"/>
                <a:cs typeface="Calibri (MS)"/>
                <a:sym typeface="Calibri (MS)"/>
              </a:rPr>
              <a:t>Safeguard critical services</a:t>
            </a:r>
          </a:p>
        </p:txBody>
      </p:sp>
      <p:grpSp>
        <p:nvGrpSpPr>
          <p:cNvPr name="Group 28" id="28"/>
          <p:cNvGrpSpPr/>
          <p:nvPr/>
        </p:nvGrpSpPr>
        <p:grpSpPr>
          <a:xfrm rot="0">
            <a:off x="7633230" y="4251960"/>
            <a:ext cx="3021082" cy="4114800"/>
            <a:chOff x="0" y="0"/>
            <a:chExt cx="4028110" cy="5486400"/>
          </a:xfrm>
        </p:grpSpPr>
        <p:sp>
          <p:nvSpPr>
            <p:cNvPr name="Freeform 29" id="29"/>
            <p:cNvSpPr/>
            <p:nvPr/>
          </p:nvSpPr>
          <p:spPr>
            <a:xfrm flipH="false" flipV="false" rot="0">
              <a:off x="0" y="0"/>
              <a:ext cx="4028059" cy="5486400"/>
            </a:xfrm>
            <a:custGeom>
              <a:avLst/>
              <a:gdLst/>
              <a:ahLst/>
              <a:cxnLst/>
              <a:rect r="r" b="b" t="t" l="l"/>
              <a:pathLst>
                <a:path h="5486400" w="4028059">
                  <a:moveTo>
                    <a:pt x="0" y="182880"/>
                  </a:moveTo>
                  <a:cubicBezTo>
                    <a:pt x="0" y="81915"/>
                    <a:pt x="81915" y="0"/>
                    <a:pt x="182880" y="0"/>
                  </a:cubicBezTo>
                  <a:lnTo>
                    <a:pt x="3845179" y="0"/>
                  </a:lnTo>
                  <a:cubicBezTo>
                    <a:pt x="3946144" y="0"/>
                    <a:pt x="4028059" y="81915"/>
                    <a:pt x="4028059" y="182880"/>
                  </a:cubicBezTo>
                  <a:lnTo>
                    <a:pt x="4028059" y="5303520"/>
                  </a:lnTo>
                  <a:cubicBezTo>
                    <a:pt x="4028059" y="5404485"/>
                    <a:pt x="3946144" y="5486400"/>
                    <a:pt x="3845179" y="5486400"/>
                  </a:cubicBezTo>
                  <a:lnTo>
                    <a:pt x="182880" y="5486400"/>
                  </a:lnTo>
                  <a:cubicBezTo>
                    <a:pt x="81915" y="5486400"/>
                    <a:pt x="0" y="5404485"/>
                    <a:pt x="0" y="5303520"/>
                  </a:cubicBezTo>
                  <a:close/>
                </a:path>
              </a:pathLst>
            </a:custGeom>
            <a:solidFill>
              <a:srgbClr val="1E2761"/>
            </a:solidFill>
          </p:spPr>
        </p:sp>
      </p:grpSp>
      <p:grpSp>
        <p:nvGrpSpPr>
          <p:cNvPr name="Group 30" id="30"/>
          <p:cNvGrpSpPr/>
          <p:nvPr/>
        </p:nvGrpSpPr>
        <p:grpSpPr>
          <a:xfrm rot="0">
            <a:off x="7633230" y="4498848"/>
            <a:ext cx="3021082" cy="685800"/>
            <a:chOff x="0" y="0"/>
            <a:chExt cx="4028110" cy="914400"/>
          </a:xfrm>
        </p:grpSpPr>
        <p:sp>
          <p:nvSpPr>
            <p:cNvPr name="Freeform 31" id="31"/>
            <p:cNvSpPr/>
            <p:nvPr/>
          </p:nvSpPr>
          <p:spPr>
            <a:xfrm flipH="false" flipV="false" rot="0">
              <a:off x="0" y="0"/>
              <a:ext cx="4028114" cy="914400"/>
            </a:xfrm>
            <a:custGeom>
              <a:avLst/>
              <a:gdLst/>
              <a:ahLst/>
              <a:cxnLst/>
              <a:rect r="r" b="b" t="t" l="l"/>
              <a:pathLst>
                <a:path h="914400" w="4028114">
                  <a:moveTo>
                    <a:pt x="0" y="0"/>
                  </a:moveTo>
                  <a:lnTo>
                    <a:pt x="4028114" y="0"/>
                  </a:lnTo>
                  <a:lnTo>
                    <a:pt x="4028114" y="914400"/>
                  </a:lnTo>
                  <a:lnTo>
                    <a:pt x="0" y="914400"/>
                  </a:lnTo>
                  <a:close/>
                </a:path>
              </a:pathLst>
            </a:custGeom>
            <a:blipFill>
              <a:blip r:embed="rId3">
                <a:alphaModFix amt="0"/>
              </a:blip>
              <a:stretch>
                <a:fillRect l="0" t="-35835" r="0" b="-35835"/>
              </a:stretch>
            </a:blipFill>
          </p:spPr>
        </p:sp>
        <p:sp>
          <p:nvSpPr>
            <p:cNvPr name="TextBox 32" id="32"/>
            <p:cNvSpPr txBox="true"/>
            <p:nvPr/>
          </p:nvSpPr>
          <p:spPr>
            <a:xfrm>
              <a:off x="0" y="-9525"/>
              <a:ext cx="4028110" cy="923925"/>
            </a:xfrm>
            <a:prstGeom prst="rect">
              <a:avLst/>
            </a:prstGeom>
          </p:spPr>
          <p:txBody>
            <a:bodyPr anchor="ctr" rtlCol="false" tIns="0" lIns="0" bIns="0" rIns="0"/>
            <a:lstStyle/>
            <a:p>
              <a:pPr algn="ctr">
                <a:lnSpc>
                  <a:spcPts val="3960"/>
                </a:lnSpc>
              </a:pPr>
              <a:r>
                <a:rPr lang="en-US" b="true" sz="3300">
                  <a:solidFill>
                    <a:srgbClr val="C9971F"/>
                  </a:solidFill>
                  <a:latin typeface="Cambria Bold"/>
                  <a:ea typeface="Cambria Bold"/>
                  <a:cs typeface="Cambria Bold"/>
                  <a:sym typeface="Cambria Bold"/>
                </a:rPr>
                <a:t>3</a:t>
              </a:r>
            </a:p>
          </p:txBody>
        </p:sp>
      </p:grpSp>
      <p:grpSp>
        <p:nvGrpSpPr>
          <p:cNvPr name="Group 33" id="33"/>
          <p:cNvGrpSpPr/>
          <p:nvPr/>
        </p:nvGrpSpPr>
        <p:grpSpPr>
          <a:xfrm rot="0">
            <a:off x="7770390" y="5417820"/>
            <a:ext cx="2746762" cy="685800"/>
            <a:chOff x="0" y="0"/>
            <a:chExt cx="3662350" cy="914400"/>
          </a:xfrm>
        </p:grpSpPr>
        <p:sp>
          <p:nvSpPr>
            <p:cNvPr name="Freeform 34" id="34"/>
            <p:cNvSpPr/>
            <p:nvPr/>
          </p:nvSpPr>
          <p:spPr>
            <a:xfrm flipH="false" flipV="false" rot="0">
              <a:off x="0" y="0"/>
              <a:ext cx="3662354" cy="914400"/>
            </a:xfrm>
            <a:custGeom>
              <a:avLst/>
              <a:gdLst/>
              <a:ahLst/>
              <a:cxnLst/>
              <a:rect r="r" b="b" t="t" l="l"/>
              <a:pathLst>
                <a:path h="914400" w="3662354">
                  <a:moveTo>
                    <a:pt x="0" y="0"/>
                  </a:moveTo>
                  <a:lnTo>
                    <a:pt x="3662354" y="0"/>
                  </a:lnTo>
                  <a:lnTo>
                    <a:pt x="3662354" y="914400"/>
                  </a:lnTo>
                  <a:lnTo>
                    <a:pt x="0" y="914400"/>
                  </a:lnTo>
                  <a:close/>
                </a:path>
              </a:pathLst>
            </a:custGeom>
            <a:blipFill>
              <a:blip r:embed="rId3">
                <a:alphaModFix amt="0"/>
              </a:blip>
              <a:stretch>
                <a:fillRect l="0" t="-28041" r="0" b="-28041"/>
              </a:stretch>
            </a:blipFill>
          </p:spPr>
        </p:sp>
        <p:sp>
          <p:nvSpPr>
            <p:cNvPr name="TextBox 35" id="35"/>
            <p:cNvSpPr txBox="true"/>
            <p:nvPr/>
          </p:nvSpPr>
          <p:spPr>
            <a:xfrm>
              <a:off x="0" y="-9525"/>
              <a:ext cx="3662350" cy="923925"/>
            </a:xfrm>
            <a:prstGeom prst="rect">
              <a:avLst/>
            </a:prstGeom>
          </p:spPr>
          <p:txBody>
            <a:bodyPr anchor="ctr" rtlCol="false" tIns="0" lIns="0" bIns="0" rIns="0"/>
            <a:lstStyle/>
            <a:p>
              <a:pPr algn="ctr">
                <a:lnSpc>
                  <a:spcPts val="2879"/>
                </a:lnSpc>
              </a:pPr>
              <a:r>
                <a:rPr lang="en-US" b="true" sz="2400">
                  <a:solidFill>
                    <a:srgbClr val="FFFFFF"/>
                  </a:solidFill>
                  <a:latin typeface="Cambria Bold"/>
                  <a:ea typeface="Cambria Bold"/>
                  <a:cs typeface="Cambria Bold"/>
                  <a:sym typeface="Cambria Bold"/>
                </a:rPr>
                <a:t>Detect</a:t>
              </a:r>
            </a:p>
          </p:txBody>
        </p:sp>
      </p:grpSp>
      <p:sp>
        <p:nvSpPr>
          <p:cNvPr name="TextBox 36" id="36"/>
          <p:cNvSpPr txBox="true"/>
          <p:nvPr/>
        </p:nvSpPr>
        <p:spPr>
          <a:xfrm rot="0">
            <a:off x="7838970" y="6134100"/>
            <a:ext cx="2609602" cy="1958340"/>
          </a:xfrm>
          <a:prstGeom prst="rect">
            <a:avLst/>
          </a:prstGeom>
        </p:spPr>
        <p:txBody>
          <a:bodyPr anchor="t" rtlCol="false" tIns="0" lIns="0" bIns="0" rIns="0">
            <a:spAutoFit/>
          </a:bodyPr>
          <a:lstStyle/>
          <a:p>
            <a:pPr algn="ctr">
              <a:lnSpc>
                <a:spcPts val="2070"/>
              </a:lnSpc>
            </a:pPr>
            <a:r>
              <a:rPr lang="en-US" sz="1725">
                <a:solidFill>
                  <a:srgbClr val="CADCFC"/>
                </a:solidFill>
                <a:latin typeface="Calibri (MS)"/>
                <a:ea typeface="Calibri (MS)"/>
                <a:cs typeface="Calibri (MS)"/>
                <a:sym typeface="Calibri (MS)"/>
              </a:rPr>
              <a:t>Notice when something is wrong</a:t>
            </a:r>
          </a:p>
        </p:txBody>
      </p:sp>
      <p:grpSp>
        <p:nvGrpSpPr>
          <p:cNvPr name="Group 37" id="37"/>
          <p:cNvGrpSpPr/>
          <p:nvPr/>
        </p:nvGrpSpPr>
        <p:grpSpPr>
          <a:xfrm rot="0">
            <a:off x="11038361" y="4251960"/>
            <a:ext cx="3021082" cy="4114800"/>
            <a:chOff x="0" y="0"/>
            <a:chExt cx="4028110" cy="5486400"/>
          </a:xfrm>
        </p:grpSpPr>
        <p:sp>
          <p:nvSpPr>
            <p:cNvPr name="Freeform 38" id="38"/>
            <p:cNvSpPr/>
            <p:nvPr/>
          </p:nvSpPr>
          <p:spPr>
            <a:xfrm flipH="false" flipV="false" rot="0">
              <a:off x="0" y="0"/>
              <a:ext cx="4028059" cy="5486400"/>
            </a:xfrm>
            <a:custGeom>
              <a:avLst/>
              <a:gdLst/>
              <a:ahLst/>
              <a:cxnLst/>
              <a:rect r="r" b="b" t="t" l="l"/>
              <a:pathLst>
                <a:path h="5486400" w="4028059">
                  <a:moveTo>
                    <a:pt x="0" y="182880"/>
                  </a:moveTo>
                  <a:cubicBezTo>
                    <a:pt x="0" y="81915"/>
                    <a:pt x="81915" y="0"/>
                    <a:pt x="182880" y="0"/>
                  </a:cubicBezTo>
                  <a:lnTo>
                    <a:pt x="3845179" y="0"/>
                  </a:lnTo>
                  <a:cubicBezTo>
                    <a:pt x="3946144" y="0"/>
                    <a:pt x="4028059" y="81915"/>
                    <a:pt x="4028059" y="182880"/>
                  </a:cubicBezTo>
                  <a:lnTo>
                    <a:pt x="4028059" y="5303520"/>
                  </a:lnTo>
                  <a:cubicBezTo>
                    <a:pt x="4028059" y="5404485"/>
                    <a:pt x="3946144" y="5486400"/>
                    <a:pt x="3845179" y="5486400"/>
                  </a:cubicBezTo>
                  <a:lnTo>
                    <a:pt x="182880" y="5486400"/>
                  </a:lnTo>
                  <a:cubicBezTo>
                    <a:pt x="81915" y="5486400"/>
                    <a:pt x="0" y="5404485"/>
                    <a:pt x="0" y="5303520"/>
                  </a:cubicBezTo>
                  <a:close/>
                </a:path>
              </a:pathLst>
            </a:custGeom>
            <a:solidFill>
              <a:srgbClr val="2B3A8F"/>
            </a:solidFill>
          </p:spPr>
        </p:sp>
      </p:grpSp>
      <p:grpSp>
        <p:nvGrpSpPr>
          <p:cNvPr name="Group 39" id="39"/>
          <p:cNvGrpSpPr/>
          <p:nvPr/>
        </p:nvGrpSpPr>
        <p:grpSpPr>
          <a:xfrm rot="0">
            <a:off x="11038361" y="4498848"/>
            <a:ext cx="3021082" cy="685800"/>
            <a:chOff x="0" y="0"/>
            <a:chExt cx="4028110" cy="914400"/>
          </a:xfrm>
        </p:grpSpPr>
        <p:sp>
          <p:nvSpPr>
            <p:cNvPr name="Freeform 40" id="40"/>
            <p:cNvSpPr/>
            <p:nvPr/>
          </p:nvSpPr>
          <p:spPr>
            <a:xfrm flipH="false" flipV="false" rot="0">
              <a:off x="0" y="0"/>
              <a:ext cx="4028114" cy="914400"/>
            </a:xfrm>
            <a:custGeom>
              <a:avLst/>
              <a:gdLst/>
              <a:ahLst/>
              <a:cxnLst/>
              <a:rect r="r" b="b" t="t" l="l"/>
              <a:pathLst>
                <a:path h="914400" w="4028114">
                  <a:moveTo>
                    <a:pt x="0" y="0"/>
                  </a:moveTo>
                  <a:lnTo>
                    <a:pt x="4028114" y="0"/>
                  </a:lnTo>
                  <a:lnTo>
                    <a:pt x="4028114" y="914400"/>
                  </a:lnTo>
                  <a:lnTo>
                    <a:pt x="0" y="914400"/>
                  </a:lnTo>
                  <a:close/>
                </a:path>
              </a:pathLst>
            </a:custGeom>
            <a:blipFill>
              <a:blip r:embed="rId3">
                <a:alphaModFix amt="0"/>
              </a:blip>
              <a:stretch>
                <a:fillRect l="0" t="-35835" r="0" b="-35835"/>
              </a:stretch>
            </a:blipFill>
          </p:spPr>
        </p:sp>
        <p:sp>
          <p:nvSpPr>
            <p:cNvPr name="TextBox 41" id="41"/>
            <p:cNvSpPr txBox="true"/>
            <p:nvPr/>
          </p:nvSpPr>
          <p:spPr>
            <a:xfrm>
              <a:off x="0" y="-9525"/>
              <a:ext cx="4028110" cy="923925"/>
            </a:xfrm>
            <a:prstGeom prst="rect">
              <a:avLst/>
            </a:prstGeom>
          </p:spPr>
          <p:txBody>
            <a:bodyPr anchor="ctr" rtlCol="false" tIns="0" lIns="0" bIns="0" rIns="0"/>
            <a:lstStyle/>
            <a:p>
              <a:pPr algn="ctr">
                <a:lnSpc>
                  <a:spcPts val="3960"/>
                </a:lnSpc>
              </a:pPr>
              <a:r>
                <a:rPr lang="en-US" b="true" sz="3300">
                  <a:solidFill>
                    <a:srgbClr val="C9971F"/>
                  </a:solidFill>
                  <a:latin typeface="Cambria Bold"/>
                  <a:ea typeface="Cambria Bold"/>
                  <a:cs typeface="Cambria Bold"/>
                  <a:sym typeface="Cambria Bold"/>
                </a:rPr>
                <a:t>4</a:t>
              </a:r>
            </a:p>
          </p:txBody>
        </p:sp>
      </p:grpSp>
      <p:grpSp>
        <p:nvGrpSpPr>
          <p:cNvPr name="Group 42" id="42"/>
          <p:cNvGrpSpPr/>
          <p:nvPr/>
        </p:nvGrpSpPr>
        <p:grpSpPr>
          <a:xfrm rot="0">
            <a:off x="11175521" y="5417820"/>
            <a:ext cx="2746762" cy="685800"/>
            <a:chOff x="0" y="0"/>
            <a:chExt cx="3662350" cy="914400"/>
          </a:xfrm>
        </p:grpSpPr>
        <p:sp>
          <p:nvSpPr>
            <p:cNvPr name="Freeform 43" id="43"/>
            <p:cNvSpPr/>
            <p:nvPr/>
          </p:nvSpPr>
          <p:spPr>
            <a:xfrm flipH="false" flipV="false" rot="0">
              <a:off x="0" y="0"/>
              <a:ext cx="3662354" cy="914400"/>
            </a:xfrm>
            <a:custGeom>
              <a:avLst/>
              <a:gdLst/>
              <a:ahLst/>
              <a:cxnLst/>
              <a:rect r="r" b="b" t="t" l="l"/>
              <a:pathLst>
                <a:path h="914400" w="3662354">
                  <a:moveTo>
                    <a:pt x="0" y="0"/>
                  </a:moveTo>
                  <a:lnTo>
                    <a:pt x="3662354" y="0"/>
                  </a:lnTo>
                  <a:lnTo>
                    <a:pt x="3662354" y="914400"/>
                  </a:lnTo>
                  <a:lnTo>
                    <a:pt x="0" y="914400"/>
                  </a:lnTo>
                  <a:close/>
                </a:path>
              </a:pathLst>
            </a:custGeom>
            <a:blipFill>
              <a:blip r:embed="rId3">
                <a:alphaModFix amt="0"/>
              </a:blip>
              <a:stretch>
                <a:fillRect l="0" t="-28041" r="0" b="-28041"/>
              </a:stretch>
            </a:blipFill>
          </p:spPr>
        </p:sp>
        <p:sp>
          <p:nvSpPr>
            <p:cNvPr name="TextBox 44" id="44"/>
            <p:cNvSpPr txBox="true"/>
            <p:nvPr/>
          </p:nvSpPr>
          <p:spPr>
            <a:xfrm>
              <a:off x="0" y="-9525"/>
              <a:ext cx="3662350" cy="923925"/>
            </a:xfrm>
            <a:prstGeom prst="rect">
              <a:avLst/>
            </a:prstGeom>
          </p:spPr>
          <p:txBody>
            <a:bodyPr anchor="ctr" rtlCol="false" tIns="0" lIns="0" bIns="0" rIns="0"/>
            <a:lstStyle/>
            <a:p>
              <a:pPr algn="ctr">
                <a:lnSpc>
                  <a:spcPts val="2879"/>
                </a:lnSpc>
              </a:pPr>
              <a:r>
                <a:rPr lang="en-US" b="true" sz="2400">
                  <a:solidFill>
                    <a:srgbClr val="FFFFFF"/>
                  </a:solidFill>
                  <a:latin typeface="Cambria Bold"/>
                  <a:ea typeface="Cambria Bold"/>
                  <a:cs typeface="Cambria Bold"/>
                  <a:sym typeface="Cambria Bold"/>
                </a:rPr>
                <a:t>Respond</a:t>
              </a:r>
            </a:p>
          </p:txBody>
        </p:sp>
      </p:grpSp>
      <p:sp>
        <p:nvSpPr>
          <p:cNvPr name="TextBox 45" id="45"/>
          <p:cNvSpPr txBox="true"/>
          <p:nvPr/>
        </p:nvSpPr>
        <p:spPr>
          <a:xfrm rot="0">
            <a:off x="11244101" y="6134100"/>
            <a:ext cx="2609602" cy="1958340"/>
          </a:xfrm>
          <a:prstGeom prst="rect">
            <a:avLst/>
          </a:prstGeom>
        </p:spPr>
        <p:txBody>
          <a:bodyPr anchor="t" rtlCol="false" tIns="0" lIns="0" bIns="0" rIns="0">
            <a:spAutoFit/>
          </a:bodyPr>
          <a:lstStyle/>
          <a:p>
            <a:pPr algn="ctr">
              <a:lnSpc>
                <a:spcPts val="2070"/>
              </a:lnSpc>
            </a:pPr>
            <a:r>
              <a:rPr lang="en-US" sz="1725">
                <a:solidFill>
                  <a:srgbClr val="CADCFC"/>
                </a:solidFill>
                <a:latin typeface="Calibri (MS)"/>
                <a:ea typeface="Calibri (MS)"/>
                <a:cs typeface="Calibri (MS)"/>
                <a:sym typeface="Calibri (MS)"/>
              </a:rPr>
              <a:t>Contain and act on incidents</a:t>
            </a:r>
          </a:p>
        </p:txBody>
      </p:sp>
      <p:grpSp>
        <p:nvGrpSpPr>
          <p:cNvPr name="Group 46" id="46"/>
          <p:cNvGrpSpPr/>
          <p:nvPr/>
        </p:nvGrpSpPr>
        <p:grpSpPr>
          <a:xfrm rot="0">
            <a:off x="14443500" y="4251960"/>
            <a:ext cx="3021082" cy="4114800"/>
            <a:chOff x="0" y="0"/>
            <a:chExt cx="4028110" cy="5486400"/>
          </a:xfrm>
        </p:grpSpPr>
        <p:sp>
          <p:nvSpPr>
            <p:cNvPr name="Freeform 47" id="47"/>
            <p:cNvSpPr/>
            <p:nvPr/>
          </p:nvSpPr>
          <p:spPr>
            <a:xfrm flipH="false" flipV="false" rot="0">
              <a:off x="0" y="0"/>
              <a:ext cx="4028059" cy="5486400"/>
            </a:xfrm>
            <a:custGeom>
              <a:avLst/>
              <a:gdLst/>
              <a:ahLst/>
              <a:cxnLst/>
              <a:rect r="r" b="b" t="t" l="l"/>
              <a:pathLst>
                <a:path h="5486400" w="4028059">
                  <a:moveTo>
                    <a:pt x="0" y="182880"/>
                  </a:moveTo>
                  <a:cubicBezTo>
                    <a:pt x="0" y="81915"/>
                    <a:pt x="81915" y="0"/>
                    <a:pt x="182880" y="0"/>
                  </a:cubicBezTo>
                  <a:lnTo>
                    <a:pt x="3845179" y="0"/>
                  </a:lnTo>
                  <a:cubicBezTo>
                    <a:pt x="3946144" y="0"/>
                    <a:pt x="4028059" y="81915"/>
                    <a:pt x="4028059" y="182880"/>
                  </a:cubicBezTo>
                  <a:lnTo>
                    <a:pt x="4028059" y="5303520"/>
                  </a:lnTo>
                  <a:cubicBezTo>
                    <a:pt x="4028059" y="5404485"/>
                    <a:pt x="3946144" y="5486400"/>
                    <a:pt x="3845179" y="5486400"/>
                  </a:cubicBezTo>
                  <a:lnTo>
                    <a:pt x="182880" y="5486400"/>
                  </a:lnTo>
                  <a:cubicBezTo>
                    <a:pt x="81915" y="5486400"/>
                    <a:pt x="0" y="5404485"/>
                    <a:pt x="0" y="5303520"/>
                  </a:cubicBezTo>
                  <a:close/>
                </a:path>
              </a:pathLst>
            </a:custGeom>
            <a:solidFill>
              <a:srgbClr val="1E2761"/>
            </a:solidFill>
          </p:spPr>
        </p:sp>
      </p:grpSp>
      <p:grpSp>
        <p:nvGrpSpPr>
          <p:cNvPr name="Group 48" id="48"/>
          <p:cNvGrpSpPr/>
          <p:nvPr/>
        </p:nvGrpSpPr>
        <p:grpSpPr>
          <a:xfrm rot="0">
            <a:off x="14443500" y="4498848"/>
            <a:ext cx="3021082" cy="685800"/>
            <a:chOff x="0" y="0"/>
            <a:chExt cx="4028110" cy="914400"/>
          </a:xfrm>
        </p:grpSpPr>
        <p:sp>
          <p:nvSpPr>
            <p:cNvPr name="Freeform 49" id="49"/>
            <p:cNvSpPr/>
            <p:nvPr/>
          </p:nvSpPr>
          <p:spPr>
            <a:xfrm flipH="false" flipV="false" rot="0">
              <a:off x="0" y="0"/>
              <a:ext cx="4028114" cy="914400"/>
            </a:xfrm>
            <a:custGeom>
              <a:avLst/>
              <a:gdLst/>
              <a:ahLst/>
              <a:cxnLst/>
              <a:rect r="r" b="b" t="t" l="l"/>
              <a:pathLst>
                <a:path h="914400" w="4028114">
                  <a:moveTo>
                    <a:pt x="0" y="0"/>
                  </a:moveTo>
                  <a:lnTo>
                    <a:pt x="4028114" y="0"/>
                  </a:lnTo>
                  <a:lnTo>
                    <a:pt x="4028114" y="914400"/>
                  </a:lnTo>
                  <a:lnTo>
                    <a:pt x="0" y="914400"/>
                  </a:lnTo>
                  <a:close/>
                </a:path>
              </a:pathLst>
            </a:custGeom>
            <a:blipFill>
              <a:blip r:embed="rId3">
                <a:alphaModFix amt="0"/>
              </a:blip>
              <a:stretch>
                <a:fillRect l="0" t="-35835" r="0" b="-35835"/>
              </a:stretch>
            </a:blipFill>
          </p:spPr>
        </p:sp>
        <p:sp>
          <p:nvSpPr>
            <p:cNvPr name="TextBox 50" id="50"/>
            <p:cNvSpPr txBox="true"/>
            <p:nvPr/>
          </p:nvSpPr>
          <p:spPr>
            <a:xfrm>
              <a:off x="0" y="-9525"/>
              <a:ext cx="4028110" cy="923925"/>
            </a:xfrm>
            <a:prstGeom prst="rect">
              <a:avLst/>
            </a:prstGeom>
          </p:spPr>
          <p:txBody>
            <a:bodyPr anchor="ctr" rtlCol="false" tIns="0" lIns="0" bIns="0" rIns="0"/>
            <a:lstStyle/>
            <a:p>
              <a:pPr algn="ctr">
                <a:lnSpc>
                  <a:spcPts val="3960"/>
                </a:lnSpc>
              </a:pPr>
              <a:r>
                <a:rPr lang="en-US" b="true" sz="3300">
                  <a:solidFill>
                    <a:srgbClr val="C9971F"/>
                  </a:solidFill>
                  <a:latin typeface="Cambria Bold"/>
                  <a:ea typeface="Cambria Bold"/>
                  <a:cs typeface="Cambria Bold"/>
                  <a:sym typeface="Cambria Bold"/>
                </a:rPr>
                <a:t>5</a:t>
              </a:r>
            </a:p>
          </p:txBody>
        </p:sp>
      </p:grpSp>
      <p:grpSp>
        <p:nvGrpSpPr>
          <p:cNvPr name="Group 51" id="51"/>
          <p:cNvGrpSpPr/>
          <p:nvPr/>
        </p:nvGrpSpPr>
        <p:grpSpPr>
          <a:xfrm rot="0">
            <a:off x="14580660" y="5417820"/>
            <a:ext cx="2746762" cy="685800"/>
            <a:chOff x="0" y="0"/>
            <a:chExt cx="3662350" cy="914400"/>
          </a:xfrm>
        </p:grpSpPr>
        <p:sp>
          <p:nvSpPr>
            <p:cNvPr name="Freeform 52" id="52"/>
            <p:cNvSpPr/>
            <p:nvPr/>
          </p:nvSpPr>
          <p:spPr>
            <a:xfrm flipH="false" flipV="false" rot="0">
              <a:off x="0" y="0"/>
              <a:ext cx="3662354" cy="914400"/>
            </a:xfrm>
            <a:custGeom>
              <a:avLst/>
              <a:gdLst/>
              <a:ahLst/>
              <a:cxnLst/>
              <a:rect r="r" b="b" t="t" l="l"/>
              <a:pathLst>
                <a:path h="914400" w="3662354">
                  <a:moveTo>
                    <a:pt x="0" y="0"/>
                  </a:moveTo>
                  <a:lnTo>
                    <a:pt x="3662354" y="0"/>
                  </a:lnTo>
                  <a:lnTo>
                    <a:pt x="3662354" y="914400"/>
                  </a:lnTo>
                  <a:lnTo>
                    <a:pt x="0" y="914400"/>
                  </a:lnTo>
                  <a:close/>
                </a:path>
              </a:pathLst>
            </a:custGeom>
            <a:blipFill>
              <a:blip r:embed="rId3">
                <a:alphaModFix amt="0"/>
              </a:blip>
              <a:stretch>
                <a:fillRect l="0" t="-28041" r="0" b="-28041"/>
              </a:stretch>
            </a:blipFill>
          </p:spPr>
        </p:sp>
        <p:sp>
          <p:nvSpPr>
            <p:cNvPr name="TextBox 53" id="53"/>
            <p:cNvSpPr txBox="true"/>
            <p:nvPr/>
          </p:nvSpPr>
          <p:spPr>
            <a:xfrm>
              <a:off x="0" y="-9525"/>
              <a:ext cx="3662350" cy="923925"/>
            </a:xfrm>
            <a:prstGeom prst="rect">
              <a:avLst/>
            </a:prstGeom>
          </p:spPr>
          <p:txBody>
            <a:bodyPr anchor="ctr" rtlCol="false" tIns="0" lIns="0" bIns="0" rIns="0"/>
            <a:lstStyle/>
            <a:p>
              <a:pPr algn="ctr">
                <a:lnSpc>
                  <a:spcPts val="2879"/>
                </a:lnSpc>
              </a:pPr>
              <a:r>
                <a:rPr lang="en-US" b="true" sz="2400">
                  <a:solidFill>
                    <a:srgbClr val="FFFFFF"/>
                  </a:solidFill>
                  <a:latin typeface="Cambria Bold"/>
                  <a:ea typeface="Cambria Bold"/>
                  <a:cs typeface="Cambria Bold"/>
                  <a:sym typeface="Cambria Bold"/>
                </a:rPr>
                <a:t>Recover</a:t>
              </a:r>
            </a:p>
          </p:txBody>
        </p:sp>
      </p:grpSp>
      <p:sp>
        <p:nvSpPr>
          <p:cNvPr name="TextBox 54" id="54"/>
          <p:cNvSpPr txBox="true"/>
          <p:nvPr/>
        </p:nvSpPr>
        <p:spPr>
          <a:xfrm rot="0">
            <a:off x="14649240" y="6134100"/>
            <a:ext cx="2609602" cy="1958340"/>
          </a:xfrm>
          <a:prstGeom prst="rect">
            <a:avLst/>
          </a:prstGeom>
        </p:spPr>
        <p:txBody>
          <a:bodyPr anchor="t" rtlCol="false" tIns="0" lIns="0" bIns="0" rIns="0">
            <a:spAutoFit/>
          </a:bodyPr>
          <a:lstStyle/>
          <a:p>
            <a:pPr algn="ctr">
              <a:lnSpc>
                <a:spcPts val="2070"/>
              </a:lnSpc>
            </a:pPr>
            <a:r>
              <a:rPr lang="en-US" sz="1725">
                <a:solidFill>
                  <a:srgbClr val="CADCFC"/>
                </a:solidFill>
                <a:latin typeface="Calibri (MS)"/>
                <a:ea typeface="Calibri (MS)"/>
                <a:cs typeface="Calibri (MS)"/>
                <a:sym typeface="Calibri (MS)"/>
              </a:rPr>
              <a:t>Restore capability and service</a:t>
            </a:r>
          </a:p>
        </p:txBody>
      </p:sp>
      <p:grpSp>
        <p:nvGrpSpPr>
          <p:cNvPr name="Group 55" id="55"/>
          <p:cNvGrpSpPr/>
          <p:nvPr/>
        </p:nvGrpSpPr>
        <p:grpSpPr>
          <a:xfrm rot="0">
            <a:off x="822960" y="9710928"/>
            <a:ext cx="12344400" cy="411480"/>
            <a:chOff x="0" y="0"/>
            <a:chExt cx="16459200" cy="548640"/>
          </a:xfrm>
        </p:grpSpPr>
        <p:sp>
          <p:nvSpPr>
            <p:cNvPr name="Freeform 56" id="5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57" id="57"/>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58" id="58"/>
          <p:cNvGrpSpPr/>
          <p:nvPr/>
        </p:nvGrpSpPr>
        <p:grpSpPr>
          <a:xfrm rot="0">
            <a:off x="16778783" y="9710928"/>
            <a:ext cx="685800" cy="411480"/>
            <a:chOff x="0" y="0"/>
            <a:chExt cx="914400" cy="548640"/>
          </a:xfrm>
        </p:grpSpPr>
        <p:sp>
          <p:nvSpPr>
            <p:cNvPr name="Freeform 59" id="5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0" id="6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6</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A</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Identity and Access Management</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Control over who can access which system, with what privilege.</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t>
            </a:r>
            <a:r>
              <a:rPr lang="en-US" b="true" sz="1725">
                <a:solidFill>
                  <a:srgbClr val="1E2761"/>
                </a:solidFill>
                <a:latin typeface="Calibri (MS) Bold"/>
                <a:ea typeface="Calibri (MS) Bold"/>
                <a:cs typeface="Calibri (MS) Bold"/>
                <a:sym typeface="Calibri (MS) Bold"/>
              </a:rPr>
              <a:t>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High staff turnover after elections, plus job-order and contractual staffing, produces orphaned accounts. Shared logins are common in treasury and assessor's offices.</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Enforce unique logins and MFA on email and financial systems. Tie account deactivation to a documented HR clearance checklist.</a:t>
            </a:r>
          </a:p>
        </p:txBody>
      </p:sp>
      <p:grpSp>
        <p:nvGrpSpPr>
          <p:cNvPr name="Group 26" id="26"/>
          <p:cNvGrpSpPr/>
          <p:nvPr/>
        </p:nvGrpSpPr>
        <p:grpSpPr>
          <a:xfrm rot="0">
            <a:off x="822960" y="9710928"/>
            <a:ext cx="12344400" cy="411480"/>
            <a:chOff x="0" y="0"/>
            <a:chExt cx="16459200" cy="548640"/>
          </a:xfrm>
        </p:grpSpPr>
        <p:sp>
          <p:nvSpPr>
            <p:cNvPr name="Freeform 27" id="27"/>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8" id="28"/>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29" id="29"/>
          <p:cNvGrpSpPr/>
          <p:nvPr/>
        </p:nvGrpSpPr>
        <p:grpSpPr>
          <a:xfrm rot="0">
            <a:off x="16778783"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7</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B</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Network Defense and Segmentation</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Separating networks so a compromise in one area cannot freely reach another.</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t>
            </a:r>
            <a:r>
              <a:rPr lang="en-US" b="true" sz="1725">
                <a:solidFill>
                  <a:srgbClr val="1E2761"/>
                </a:solidFill>
                <a:latin typeface="Calibri (MS) Bold"/>
                <a:ea typeface="Calibri (MS) Bold"/>
                <a:cs typeface="Calibri (MS) Bold"/>
                <a:sym typeface="Calibri (MS) Bold"/>
              </a:rPr>
              <a:t>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Treasury, assessor, and civil registry systems often sit on the same flat network as general office Wi-Fi.</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Segment financial and citizen-data systems from general-use networks. Restrict traffic between segments with basic VLANs or firewall rules.</a:t>
            </a:r>
          </a:p>
        </p:txBody>
      </p:sp>
      <p:grpSp>
        <p:nvGrpSpPr>
          <p:cNvPr name="Group 26" id="26"/>
          <p:cNvGrpSpPr/>
          <p:nvPr/>
        </p:nvGrpSpPr>
        <p:grpSpPr>
          <a:xfrm rot="0">
            <a:off x="822960" y="9710928"/>
            <a:ext cx="12344400" cy="411480"/>
            <a:chOff x="0" y="0"/>
            <a:chExt cx="16459200" cy="548640"/>
          </a:xfrm>
        </p:grpSpPr>
        <p:sp>
          <p:nvSpPr>
            <p:cNvPr name="Freeform 27" id="27"/>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8" id="28"/>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29" id="29"/>
          <p:cNvGrpSpPr/>
          <p:nvPr/>
        </p:nvGrpSpPr>
        <p:grpSpPr>
          <a:xfrm rot="0">
            <a:off x="16778783"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8</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C</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Endpoint and Patch Management</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Keeping workstations, servers, and mobile devices updated and protected.</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t>
            </a:r>
            <a:r>
              <a:rPr lang="en-US" b="true" sz="1725">
                <a:solidFill>
                  <a:srgbClr val="1E2761"/>
                </a:solidFill>
                <a:latin typeface="Calibri (MS) Bold"/>
                <a:ea typeface="Calibri (MS) Bold"/>
                <a:cs typeface="Calibri (MS) Bold"/>
                <a:sym typeface="Calibri (MS) Bold"/>
              </a:rPr>
              <a:t>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Aging hardware and unlicensed software are recurring audit findings, and both expand the attack surface.</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Set a documented patch cadence. Deploy licensed endpoint protection on every machine touching citizen data. Maintain a current asset inventory.</a:t>
            </a:r>
          </a:p>
        </p:txBody>
      </p:sp>
      <p:grpSp>
        <p:nvGrpSpPr>
          <p:cNvPr name="Group 26" id="26"/>
          <p:cNvGrpSpPr/>
          <p:nvPr/>
        </p:nvGrpSpPr>
        <p:grpSpPr>
          <a:xfrm rot="0">
            <a:off x="822960" y="9710928"/>
            <a:ext cx="12344400" cy="411480"/>
            <a:chOff x="0" y="0"/>
            <a:chExt cx="16459200" cy="548640"/>
          </a:xfrm>
        </p:grpSpPr>
        <p:sp>
          <p:nvSpPr>
            <p:cNvPr name="Freeform 27" id="27"/>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8" id="28"/>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29" id="29"/>
          <p:cNvGrpSpPr/>
          <p:nvPr/>
        </p:nvGrpSpPr>
        <p:grpSpPr>
          <a:xfrm rot="0">
            <a:off x="16778783"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9</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D</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Email and Phishing Defense</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Technical and human controls against the most common entry point into LGU networks.</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t>
            </a:r>
            <a:r>
              <a:rPr lang="en-US" b="true" sz="1725">
                <a:solidFill>
                  <a:srgbClr val="1E2761"/>
                </a:solidFill>
                <a:latin typeface="Calibri (MS) Bold"/>
                <a:ea typeface="Calibri (MS) Bold"/>
                <a:cs typeface="Calibri (MS) Bold"/>
                <a:sym typeface="Calibri (MS) Bold"/>
              </a:rPr>
              <a:t>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Business email compromise and phishing aimed at disbursement and payroll are the most frequently reported attack vector against local government units.</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676341"/>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a:t>
            </a:r>
            <a:r>
              <a:rPr lang="en-US" sz="2100">
                <a:solidFill>
                  <a:srgbClr val="222222"/>
                </a:solidFill>
                <a:latin typeface="Calibri (MS)"/>
                <a:ea typeface="Calibri (MS)"/>
                <a:cs typeface="Calibri (MS)"/>
                <a:sym typeface="Calibri (MS)"/>
              </a:rPr>
              <a:t>ag external mail. Run a standing phishing-awareness cadence, not a one-time session. e.g: phishingquiz.withgoogle.com</a:t>
            </a:r>
          </a:p>
        </p:txBody>
      </p:sp>
      <p:grpSp>
        <p:nvGrpSpPr>
          <p:cNvPr name="Group 26" id="26"/>
          <p:cNvGrpSpPr/>
          <p:nvPr/>
        </p:nvGrpSpPr>
        <p:grpSpPr>
          <a:xfrm rot="0">
            <a:off x="822960" y="9710928"/>
            <a:ext cx="12344400" cy="411480"/>
            <a:chOff x="0" y="0"/>
            <a:chExt cx="16459200" cy="548640"/>
          </a:xfrm>
        </p:grpSpPr>
        <p:sp>
          <p:nvSpPr>
            <p:cNvPr name="Freeform 27" id="27"/>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8" id="28"/>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29" id="29"/>
          <p:cNvGrpSpPr/>
          <p:nvPr/>
        </p:nvGrpSpPr>
        <p:grpSpPr>
          <a:xfrm rot="0">
            <a:off x="16778783"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10</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E</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Logging, Monitoring, and Detection</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The ability to see what is happening on your systems, and to notice when something is wrong.</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t>
            </a:r>
            <a:r>
              <a:rPr lang="en-US" b="true" sz="1725">
                <a:solidFill>
                  <a:srgbClr val="1E2761"/>
                </a:solidFill>
                <a:latin typeface="Calibri (MS) Bold"/>
                <a:ea typeface="Calibri (MS) Bold"/>
                <a:cs typeface="Calibri (MS) Bold"/>
                <a:sym typeface="Calibri (MS) Bold"/>
              </a:rPr>
              <a:t>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Most LGUs learn of a breach from an outside party, such as a bank, the NPC, or the public, rather than from their own monitoring.</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Centralize logs from critical systems even without a full SIEM. Set a defined retention period. Assign someone to review logs on a schedule.</a:t>
            </a:r>
          </a:p>
        </p:txBody>
      </p:sp>
      <p:grpSp>
        <p:nvGrpSpPr>
          <p:cNvPr name="Group 26" id="26"/>
          <p:cNvGrpSpPr/>
          <p:nvPr/>
        </p:nvGrpSpPr>
        <p:grpSpPr>
          <a:xfrm rot="0">
            <a:off x="822960" y="9710928"/>
            <a:ext cx="12344400" cy="411480"/>
            <a:chOff x="0" y="0"/>
            <a:chExt cx="16459200" cy="548640"/>
          </a:xfrm>
        </p:grpSpPr>
        <p:sp>
          <p:nvSpPr>
            <p:cNvPr name="Freeform 27" id="27"/>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8" id="28"/>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29" id="29"/>
          <p:cNvGrpSpPr/>
          <p:nvPr/>
        </p:nvGrpSpPr>
        <p:grpSpPr>
          <a:xfrm rot="0">
            <a:off x="16778783" y="9710928"/>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11</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F</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Backup and Recovery</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The ability to restore systems and data after a destructive event.</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This is the direct technical counterpart to yesterday's ransomware tabletop. A tested backup turns a ransomware incident into an inconvenience instead of a crisis.</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Apply the 3-2-1 rule: three copies, two media types, one offsite or offline. Test a full restore at least twice a year.</a:t>
            </a:r>
          </a:p>
        </p:txBody>
      </p:sp>
      <p:grpSp>
        <p:nvGrpSpPr>
          <p:cNvPr name="Group 26" id="26"/>
          <p:cNvGrpSpPr/>
          <p:nvPr/>
        </p:nvGrpSpPr>
        <p:grpSpPr>
          <a:xfrm rot="0">
            <a:off x="5349240" y="7187184"/>
            <a:ext cx="11772443" cy="960120"/>
            <a:chOff x="0" y="0"/>
            <a:chExt cx="15696590" cy="1280160"/>
          </a:xfrm>
        </p:grpSpPr>
        <p:sp>
          <p:nvSpPr>
            <p:cNvPr name="Freeform 27" id="27"/>
            <p:cNvSpPr/>
            <p:nvPr/>
          </p:nvSpPr>
          <p:spPr>
            <a:xfrm flipH="false" flipV="false" rot="0">
              <a:off x="0" y="0"/>
              <a:ext cx="15696591" cy="1280160"/>
            </a:xfrm>
            <a:custGeom>
              <a:avLst/>
              <a:gdLst/>
              <a:ahLst/>
              <a:cxnLst/>
              <a:rect r="r" b="b" t="t" l="l"/>
              <a:pathLst>
                <a:path h="1280160" w="15696591">
                  <a:moveTo>
                    <a:pt x="0" y="0"/>
                  </a:moveTo>
                  <a:lnTo>
                    <a:pt x="15696591" y="0"/>
                  </a:lnTo>
                  <a:lnTo>
                    <a:pt x="15696591" y="1280160"/>
                  </a:lnTo>
                  <a:lnTo>
                    <a:pt x="0" y="1280160"/>
                  </a:lnTo>
                  <a:close/>
                </a:path>
              </a:pathLst>
            </a:custGeom>
            <a:blipFill>
              <a:blip r:embed="rId3">
                <a:alphaModFix amt="0"/>
              </a:blip>
              <a:stretch>
                <a:fillRect l="0" t="-188914" r="0" b="-188914"/>
              </a:stretch>
            </a:blipFill>
          </p:spPr>
        </p:sp>
        <p:sp>
          <p:nvSpPr>
            <p:cNvPr name="TextBox 28" id="28"/>
            <p:cNvSpPr txBox="true"/>
            <p:nvPr/>
          </p:nvSpPr>
          <p:spPr>
            <a:xfrm>
              <a:off x="0" y="-47625"/>
              <a:ext cx="15696590" cy="1327785"/>
            </a:xfrm>
            <a:prstGeom prst="rect">
              <a:avLst/>
            </a:prstGeom>
          </p:spPr>
          <p:txBody>
            <a:bodyPr anchor="ctr" rtlCol="false" tIns="0" lIns="0" bIns="0" rIns="0"/>
            <a:lstStyle/>
            <a:p>
              <a:pPr algn="l">
                <a:lnSpc>
                  <a:spcPts val="2520"/>
                </a:lnSpc>
              </a:pPr>
              <a:r>
                <a:rPr lang="en-US" sz="2100" i="true">
                  <a:solidFill>
                    <a:srgbClr val="FFFFFF"/>
                  </a:solidFill>
                  <a:latin typeface="Calibri (MS) Italics"/>
                  <a:ea typeface="Calibri (MS) Italics"/>
                  <a:cs typeface="Calibri (MS) Italics"/>
                  <a:sym typeface="Calibri (MS) Italics"/>
                </a:rPr>
                <a:t>Who here has actually tested a full restore, rather than just confirming the backup job completed?</a:t>
              </a:r>
            </a:p>
          </p:txBody>
        </p:sp>
      </p:grpSp>
      <p:grpSp>
        <p:nvGrpSpPr>
          <p:cNvPr name="Group 29" id="29"/>
          <p:cNvGrpSpPr/>
          <p:nvPr/>
        </p:nvGrpSpPr>
        <p:grpSpPr>
          <a:xfrm rot="0">
            <a:off x="822960" y="9710928"/>
            <a:ext cx="12344400" cy="411480"/>
            <a:chOff x="0" y="0"/>
            <a:chExt cx="16459200" cy="548640"/>
          </a:xfrm>
        </p:grpSpPr>
        <p:sp>
          <p:nvSpPr>
            <p:cNvPr name="Freeform 30" id="30"/>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31" id="31"/>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32" id="32"/>
          <p:cNvGrpSpPr/>
          <p:nvPr/>
        </p:nvGrpSpPr>
        <p:grpSpPr>
          <a:xfrm rot="0">
            <a:off x="16778783" y="9710928"/>
            <a:ext cx="685800" cy="411480"/>
            <a:chOff x="0" y="0"/>
            <a:chExt cx="914400" cy="548640"/>
          </a:xfrm>
        </p:grpSpPr>
        <p:sp>
          <p:nvSpPr>
            <p:cNvPr name="Freeform 33" id="3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4" id="3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12</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CORE DEFENSIVE DOMAIN</a:t>
              </a:r>
            </a:p>
          </p:txBody>
        </p:sp>
      </p:grpSp>
      <p:grpSp>
        <p:nvGrpSpPr>
          <p:cNvPr name="Group 5" id="5"/>
          <p:cNvGrpSpPr/>
          <p:nvPr/>
        </p:nvGrpSpPr>
        <p:grpSpPr>
          <a:xfrm rot="0">
            <a:off x="822960" y="1069848"/>
            <a:ext cx="932688" cy="932688"/>
            <a:chOff x="0" y="0"/>
            <a:chExt cx="1243584" cy="1243584"/>
          </a:xfrm>
        </p:grpSpPr>
        <p:sp>
          <p:nvSpPr>
            <p:cNvPr name="Freeform 6" id="6"/>
            <p:cNvSpPr/>
            <p:nvPr/>
          </p:nvSpPr>
          <p:spPr>
            <a:xfrm flipH="false" flipV="false" rot="0">
              <a:off x="0" y="0"/>
              <a:ext cx="1243584" cy="1243584"/>
            </a:xfrm>
            <a:custGeom>
              <a:avLst/>
              <a:gdLst/>
              <a:ahLst/>
              <a:cxnLst/>
              <a:rect r="r" b="b" t="t" l="l"/>
              <a:pathLst>
                <a:path h="1243584" w="1243584">
                  <a:moveTo>
                    <a:pt x="0" y="621792"/>
                  </a:moveTo>
                  <a:cubicBezTo>
                    <a:pt x="0" y="278384"/>
                    <a:pt x="278384" y="0"/>
                    <a:pt x="621792" y="0"/>
                  </a:cubicBezTo>
                  <a:cubicBezTo>
                    <a:pt x="965200" y="0"/>
                    <a:pt x="1243584" y="278384"/>
                    <a:pt x="1243584" y="621792"/>
                  </a:cubicBezTo>
                  <a:cubicBezTo>
                    <a:pt x="1243584" y="965200"/>
                    <a:pt x="965200" y="1243584"/>
                    <a:pt x="621792" y="1243584"/>
                  </a:cubicBezTo>
                  <a:cubicBezTo>
                    <a:pt x="278384" y="1243584"/>
                    <a:pt x="0" y="965200"/>
                    <a:pt x="0" y="621792"/>
                  </a:cubicBezTo>
                  <a:close/>
                </a:path>
              </a:pathLst>
            </a:custGeom>
            <a:solidFill>
              <a:srgbClr val="1E2761"/>
            </a:solidFill>
          </p:spPr>
        </p:sp>
      </p:grpSp>
      <p:grpSp>
        <p:nvGrpSpPr>
          <p:cNvPr name="Group 7" id="7"/>
          <p:cNvGrpSpPr/>
          <p:nvPr/>
        </p:nvGrpSpPr>
        <p:grpSpPr>
          <a:xfrm rot="0">
            <a:off x="822960" y="1069848"/>
            <a:ext cx="932688" cy="932688"/>
            <a:chOff x="0" y="0"/>
            <a:chExt cx="1243584" cy="1243584"/>
          </a:xfrm>
        </p:grpSpPr>
        <p:sp>
          <p:nvSpPr>
            <p:cNvPr name="Freeform 8" id="8"/>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close/>
                </a:path>
              </a:pathLst>
            </a:custGeom>
            <a:blipFill>
              <a:blip r:embed="rId3">
                <a:alphaModFix amt="0"/>
              </a:blip>
              <a:stretch>
                <a:fillRect l="-78303" t="0" r="-78303" b="0"/>
              </a:stretch>
            </a:blipFill>
          </p:spPr>
        </p:sp>
        <p:sp>
          <p:nvSpPr>
            <p:cNvPr name="TextBox 9" id="9"/>
            <p:cNvSpPr txBox="true"/>
            <p:nvPr/>
          </p:nvSpPr>
          <p:spPr>
            <a:xfrm>
              <a:off x="0" y="-9525"/>
              <a:ext cx="1243584" cy="1253109"/>
            </a:xfrm>
            <a:prstGeom prst="rect">
              <a:avLst/>
            </a:prstGeom>
          </p:spPr>
          <p:txBody>
            <a:bodyPr anchor="ctr" rtlCol="false" tIns="0" lIns="0" bIns="0" rIns="0"/>
            <a:lstStyle/>
            <a:p>
              <a:pPr algn="ctr">
                <a:lnSpc>
                  <a:spcPts val="3960"/>
                </a:lnSpc>
              </a:pPr>
              <a:r>
                <a:rPr lang="en-US" b="true" sz="3300">
                  <a:solidFill>
                    <a:srgbClr val="FFFFFF"/>
                  </a:solidFill>
                  <a:latin typeface="Cambria Bold"/>
                  <a:ea typeface="Cambria Bold"/>
                  <a:cs typeface="Cambria Bold"/>
                  <a:sym typeface="Cambria Bold"/>
                </a:rPr>
                <a:t>G</a:t>
              </a:r>
            </a:p>
          </p:txBody>
        </p:sp>
      </p:grpSp>
      <p:grpSp>
        <p:nvGrpSpPr>
          <p:cNvPr name="Group 10" id="10"/>
          <p:cNvGrpSpPr/>
          <p:nvPr/>
        </p:nvGrpSpPr>
        <p:grpSpPr>
          <a:xfrm rot="0">
            <a:off x="2057400" y="1069848"/>
            <a:ext cx="13167360" cy="960120"/>
            <a:chOff x="0" y="0"/>
            <a:chExt cx="17556480" cy="1280160"/>
          </a:xfrm>
        </p:grpSpPr>
        <p:sp>
          <p:nvSpPr>
            <p:cNvPr name="Freeform 11" id="11"/>
            <p:cNvSpPr/>
            <p:nvPr/>
          </p:nvSpPr>
          <p:spPr>
            <a:xfrm flipH="false" flipV="false" rot="0">
              <a:off x="0" y="0"/>
              <a:ext cx="17556480" cy="1280160"/>
            </a:xfrm>
            <a:custGeom>
              <a:avLst/>
              <a:gdLst/>
              <a:ahLst/>
              <a:cxnLst/>
              <a:rect r="r" b="b" t="t" l="l"/>
              <a:pathLst>
                <a:path h="1280160" w="17556480">
                  <a:moveTo>
                    <a:pt x="0" y="0"/>
                  </a:moveTo>
                  <a:lnTo>
                    <a:pt x="17556480" y="0"/>
                  </a:lnTo>
                  <a:lnTo>
                    <a:pt x="17556480" y="1280160"/>
                  </a:lnTo>
                  <a:lnTo>
                    <a:pt x="0" y="1280160"/>
                  </a:lnTo>
                  <a:close/>
                </a:path>
              </a:pathLst>
            </a:custGeom>
            <a:blipFill>
              <a:blip r:embed="rId3">
                <a:alphaModFix amt="0"/>
              </a:blip>
              <a:stretch>
                <a:fillRect l="0" t="-217223" r="0" b="-217223"/>
              </a:stretch>
            </a:blipFill>
          </p:spPr>
        </p:sp>
        <p:sp>
          <p:nvSpPr>
            <p:cNvPr name="TextBox 12" id="12"/>
            <p:cNvSpPr txBox="true"/>
            <p:nvPr/>
          </p:nvSpPr>
          <p:spPr>
            <a:xfrm>
              <a:off x="0" y="0"/>
              <a:ext cx="17556480" cy="1280160"/>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Data Protection and Privacy Controls</a:t>
              </a:r>
            </a:p>
          </p:txBody>
        </p:sp>
      </p:grpSp>
      <p:sp>
        <p:nvSpPr>
          <p:cNvPr name="AutoShape 13" id="13"/>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14" id="14"/>
          <p:cNvGrpSpPr/>
          <p:nvPr/>
        </p:nvGrpSpPr>
        <p:grpSpPr>
          <a:xfrm rot="0">
            <a:off x="822960" y="2674620"/>
            <a:ext cx="16641623" cy="1248156"/>
            <a:chOff x="0" y="0"/>
            <a:chExt cx="22188830" cy="1664208"/>
          </a:xfrm>
        </p:grpSpPr>
        <p:sp>
          <p:nvSpPr>
            <p:cNvPr name="Freeform 15" id="15"/>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16" id="16"/>
          <p:cNvSpPr txBox="true"/>
          <p:nvPr/>
        </p:nvSpPr>
        <p:spPr>
          <a:xfrm rot="0">
            <a:off x="1165860" y="274624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WHAT IT IS</a:t>
            </a:r>
          </a:p>
        </p:txBody>
      </p:sp>
      <p:sp>
        <p:nvSpPr>
          <p:cNvPr name="TextBox 17" id="17"/>
          <p:cNvSpPr txBox="true"/>
          <p:nvPr/>
        </p:nvSpPr>
        <p:spPr>
          <a:xfrm rot="0">
            <a:off x="5349240" y="273672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Technical and process controls that protect personal and sensitive data under RA 10173.</a:t>
            </a:r>
          </a:p>
        </p:txBody>
      </p:sp>
      <p:grpSp>
        <p:nvGrpSpPr>
          <p:cNvPr name="Group 18" id="18"/>
          <p:cNvGrpSpPr/>
          <p:nvPr/>
        </p:nvGrpSpPr>
        <p:grpSpPr>
          <a:xfrm rot="0">
            <a:off x="822960" y="4114800"/>
            <a:ext cx="16641623" cy="1248156"/>
            <a:chOff x="0" y="0"/>
            <a:chExt cx="22188830" cy="1664208"/>
          </a:xfrm>
        </p:grpSpPr>
        <p:sp>
          <p:nvSpPr>
            <p:cNvPr name="Freeform 19" id="19"/>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0" id="20"/>
          <p:cNvSpPr txBox="true"/>
          <p:nvPr/>
        </p:nvSpPr>
        <p:spPr>
          <a:xfrm rot="0">
            <a:off x="1165860" y="4186428"/>
            <a:ext cx="4114800" cy="295242"/>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RE</a:t>
            </a:r>
            <a:r>
              <a:rPr lang="en-US" b="true" sz="1725">
                <a:solidFill>
                  <a:srgbClr val="1E2761"/>
                </a:solidFill>
                <a:latin typeface="Calibri (MS) Bold"/>
                <a:ea typeface="Calibri (MS) Bold"/>
                <a:cs typeface="Calibri (MS) Bold"/>
                <a:sym typeface="Calibri (MS) Bold"/>
              </a:rPr>
              <a:t>ASON</a:t>
            </a:r>
          </a:p>
        </p:txBody>
      </p:sp>
      <p:sp>
        <p:nvSpPr>
          <p:cNvPr name="TextBox 21" id="21"/>
          <p:cNvSpPr txBox="true"/>
          <p:nvPr/>
        </p:nvSpPr>
        <p:spPr>
          <a:xfrm rot="0">
            <a:off x="5349240" y="417690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Provinces and their component LGUs hold large volumes of civil registry, health, and social welfare data, all high-risk categories under the Data Privacy Act.</a:t>
            </a:r>
          </a:p>
        </p:txBody>
      </p:sp>
      <p:grpSp>
        <p:nvGrpSpPr>
          <p:cNvPr name="Group 22" id="22"/>
          <p:cNvGrpSpPr/>
          <p:nvPr/>
        </p:nvGrpSpPr>
        <p:grpSpPr>
          <a:xfrm rot="0">
            <a:off x="822960" y="5554980"/>
            <a:ext cx="16641623" cy="1248156"/>
            <a:chOff x="0" y="0"/>
            <a:chExt cx="22188830" cy="1664208"/>
          </a:xfrm>
        </p:grpSpPr>
        <p:sp>
          <p:nvSpPr>
            <p:cNvPr name="Freeform 23" id="23"/>
            <p:cNvSpPr/>
            <p:nvPr/>
          </p:nvSpPr>
          <p:spPr>
            <a:xfrm flipH="false" flipV="false" rot="0">
              <a:off x="0" y="0"/>
              <a:ext cx="22188805" cy="1664208"/>
            </a:xfrm>
            <a:custGeom>
              <a:avLst/>
              <a:gdLst/>
              <a:ahLst/>
              <a:cxnLst/>
              <a:rect r="r" b="b" t="t" l="l"/>
              <a:pathLst>
                <a:path h="1664208" w="22188805">
                  <a:moveTo>
                    <a:pt x="0" y="109728"/>
                  </a:moveTo>
                  <a:cubicBezTo>
                    <a:pt x="0" y="49149"/>
                    <a:pt x="49149" y="0"/>
                    <a:pt x="109728" y="0"/>
                  </a:cubicBezTo>
                  <a:lnTo>
                    <a:pt x="22079077" y="0"/>
                  </a:lnTo>
                  <a:cubicBezTo>
                    <a:pt x="22139656" y="0"/>
                    <a:pt x="22188805" y="49149"/>
                    <a:pt x="22188805" y="109728"/>
                  </a:cubicBezTo>
                  <a:lnTo>
                    <a:pt x="22188805" y="1554480"/>
                  </a:lnTo>
                  <a:cubicBezTo>
                    <a:pt x="22188805" y="1615059"/>
                    <a:pt x="22139656" y="1664208"/>
                    <a:pt x="22079077" y="1664208"/>
                  </a:cubicBezTo>
                  <a:lnTo>
                    <a:pt x="109728" y="1664208"/>
                  </a:lnTo>
                  <a:cubicBezTo>
                    <a:pt x="49149" y="1664208"/>
                    <a:pt x="0" y="1615059"/>
                    <a:pt x="0" y="1554480"/>
                  </a:cubicBezTo>
                  <a:close/>
                </a:path>
              </a:pathLst>
            </a:custGeom>
            <a:solidFill>
              <a:srgbClr val="EEF3FC"/>
            </a:solidFill>
          </p:spPr>
        </p:sp>
      </p:grpSp>
      <p:sp>
        <p:nvSpPr>
          <p:cNvPr name="TextBox 24" id="24"/>
          <p:cNvSpPr txBox="true"/>
          <p:nvPr/>
        </p:nvSpPr>
        <p:spPr>
          <a:xfrm rot="0">
            <a:off x="1165860" y="5626608"/>
            <a:ext cx="4114800" cy="1066800"/>
          </a:xfrm>
          <a:prstGeom prst="rect">
            <a:avLst/>
          </a:prstGeom>
        </p:spPr>
        <p:txBody>
          <a:bodyPr anchor="t" rtlCol="false" tIns="0" lIns="0" bIns="0" rIns="0">
            <a:spAutoFit/>
          </a:bodyPr>
          <a:lstStyle/>
          <a:p>
            <a:pPr algn="l">
              <a:lnSpc>
                <a:spcPts val="2070"/>
              </a:lnSpc>
            </a:pPr>
            <a:r>
              <a:rPr lang="en-US" b="true" sz="1725">
                <a:solidFill>
                  <a:srgbClr val="1E2761"/>
                </a:solidFill>
                <a:latin typeface="Calibri (MS) Bold"/>
                <a:ea typeface="Calibri (MS) Bold"/>
                <a:cs typeface="Calibri (MS) Bold"/>
                <a:sym typeface="Calibri (MS) Bold"/>
              </a:rPr>
              <a:t>MINIMUM VIABLE CONTROL</a:t>
            </a:r>
          </a:p>
        </p:txBody>
      </p:sp>
      <p:sp>
        <p:nvSpPr>
          <p:cNvPr name="TextBox 25" id="25"/>
          <p:cNvSpPr txBox="true"/>
          <p:nvPr/>
        </p:nvSpPr>
        <p:spPr>
          <a:xfrm rot="0">
            <a:off x="5349240" y="5617083"/>
            <a:ext cx="11772443" cy="1076325"/>
          </a:xfrm>
          <a:prstGeom prst="rect">
            <a:avLst/>
          </a:prstGeom>
        </p:spPr>
        <p:txBody>
          <a:bodyPr anchor="t" rtlCol="false" tIns="0" lIns="0" bIns="0" rIns="0">
            <a:spAutoFit/>
          </a:bodyPr>
          <a:lstStyle/>
          <a:p>
            <a:pPr algn="l">
              <a:lnSpc>
                <a:spcPts val="2520"/>
              </a:lnSpc>
            </a:pPr>
            <a:r>
              <a:rPr lang="en-US" sz="2100">
                <a:solidFill>
                  <a:srgbClr val="222222"/>
                </a:solidFill>
                <a:latin typeface="Calibri (MS)"/>
                <a:ea typeface="Calibri (MS)"/>
                <a:cs typeface="Calibri (MS)"/>
                <a:sym typeface="Calibri (MS)"/>
              </a:rPr>
              <a:t>Encrypt citizen-data systems at rest and in transit. Log access. Designate a point of coordination with the Provincial Data Privacy Officer.</a:t>
            </a:r>
          </a:p>
        </p:txBody>
      </p:sp>
      <p:grpSp>
        <p:nvGrpSpPr>
          <p:cNvPr name="Group 26" id="26"/>
          <p:cNvGrpSpPr/>
          <p:nvPr/>
        </p:nvGrpSpPr>
        <p:grpSpPr>
          <a:xfrm rot="0">
            <a:off x="5349240" y="7187184"/>
            <a:ext cx="11772443" cy="960120"/>
            <a:chOff x="0" y="0"/>
            <a:chExt cx="15696590" cy="1280160"/>
          </a:xfrm>
        </p:grpSpPr>
        <p:sp>
          <p:nvSpPr>
            <p:cNvPr name="Freeform 27" id="27"/>
            <p:cNvSpPr/>
            <p:nvPr/>
          </p:nvSpPr>
          <p:spPr>
            <a:xfrm flipH="false" flipV="false" rot="0">
              <a:off x="0" y="0"/>
              <a:ext cx="15696591" cy="1280160"/>
            </a:xfrm>
            <a:custGeom>
              <a:avLst/>
              <a:gdLst/>
              <a:ahLst/>
              <a:cxnLst/>
              <a:rect r="r" b="b" t="t" l="l"/>
              <a:pathLst>
                <a:path h="1280160" w="15696591">
                  <a:moveTo>
                    <a:pt x="0" y="0"/>
                  </a:moveTo>
                  <a:lnTo>
                    <a:pt x="15696591" y="0"/>
                  </a:lnTo>
                  <a:lnTo>
                    <a:pt x="15696591" y="1280160"/>
                  </a:lnTo>
                  <a:lnTo>
                    <a:pt x="0" y="1280160"/>
                  </a:lnTo>
                  <a:close/>
                </a:path>
              </a:pathLst>
            </a:custGeom>
            <a:blipFill>
              <a:blip r:embed="rId3">
                <a:alphaModFix amt="0"/>
              </a:blip>
              <a:stretch>
                <a:fillRect l="0" t="-188914" r="0" b="-188914"/>
              </a:stretch>
            </a:blipFill>
          </p:spPr>
        </p:sp>
        <p:sp>
          <p:nvSpPr>
            <p:cNvPr name="TextBox 28" id="28"/>
            <p:cNvSpPr txBox="true"/>
            <p:nvPr/>
          </p:nvSpPr>
          <p:spPr>
            <a:xfrm>
              <a:off x="0" y="-47625"/>
              <a:ext cx="15696590" cy="1327785"/>
            </a:xfrm>
            <a:prstGeom prst="rect">
              <a:avLst/>
            </a:prstGeom>
          </p:spPr>
          <p:txBody>
            <a:bodyPr anchor="ctr" rtlCol="false" tIns="0" lIns="0" bIns="0" rIns="0"/>
            <a:lstStyle/>
            <a:p>
              <a:pPr algn="l">
                <a:lnSpc>
                  <a:spcPts val="2520"/>
                </a:lnSpc>
              </a:pPr>
              <a:r>
                <a:rPr lang="en-US" sz="2100" i="true">
                  <a:solidFill>
                    <a:srgbClr val="FFFFFF"/>
                  </a:solidFill>
                  <a:latin typeface="Calibri (MS) Italics"/>
                  <a:ea typeface="Calibri (MS) Italics"/>
                  <a:cs typeface="Calibri (MS) Italics"/>
                  <a:sym typeface="Calibri (MS) Italics"/>
                </a:rPr>
                <a:t>Does your department know who your Data Privacy Officer is, and when to call them?</a:t>
              </a:r>
            </a:p>
          </p:txBody>
        </p:sp>
      </p:grpSp>
      <p:grpSp>
        <p:nvGrpSpPr>
          <p:cNvPr name="Group 29" id="29"/>
          <p:cNvGrpSpPr/>
          <p:nvPr/>
        </p:nvGrpSpPr>
        <p:grpSpPr>
          <a:xfrm rot="0">
            <a:off x="822960" y="9710928"/>
            <a:ext cx="12344400" cy="411480"/>
            <a:chOff x="0" y="0"/>
            <a:chExt cx="16459200" cy="548640"/>
          </a:xfrm>
        </p:grpSpPr>
        <p:sp>
          <p:nvSpPr>
            <p:cNvPr name="Freeform 30" id="30"/>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31" id="31"/>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32" id="32"/>
          <p:cNvGrpSpPr/>
          <p:nvPr/>
        </p:nvGrpSpPr>
        <p:grpSpPr>
          <a:xfrm rot="0">
            <a:off x="16778783" y="9710928"/>
            <a:ext cx="685800" cy="411480"/>
            <a:chOff x="0" y="0"/>
            <a:chExt cx="914400" cy="548640"/>
          </a:xfrm>
        </p:grpSpPr>
        <p:sp>
          <p:nvSpPr>
            <p:cNvPr name="Freeform 33" id="3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4" id="3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13</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2194560" y="6995160"/>
            <a:ext cx="5760720" cy="5760720"/>
            <a:chOff x="0" y="0"/>
            <a:chExt cx="7680960" cy="7680960"/>
          </a:xfrm>
        </p:grpSpPr>
        <p:sp>
          <p:nvSpPr>
            <p:cNvPr name="Freeform 3" id="3"/>
            <p:cNvSpPr/>
            <p:nvPr/>
          </p:nvSpPr>
          <p:spPr>
            <a:xfrm flipH="false" flipV="false" rot="0">
              <a:off x="0" y="0"/>
              <a:ext cx="7680960" cy="7680960"/>
            </a:xfrm>
            <a:custGeom>
              <a:avLst/>
              <a:gdLst/>
              <a:ahLst/>
              <a:cxnLst/>
              <a:rect r="r" b="b" t="t" l="l"/>
              <a:pathLst>
                <a:path h="7680960" w="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141A47"/>
            </a:solidFill>
          </p:spPr>
        </p:sp>
      </p:grpSp>
      <p:grpSp>
        <p:nvGrpSpPr>
          <p:cNvPr name="Group 4" id="4"/>
          <p:cNvGrpSpPr/>
          <p:nvPr/>
        </p:nvGrpSpPr>
        <p:grpSpPr>
          <a:xfrm rot="0">
            <a:off x="16367303" y="-246888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283583"/>
            </a:solidFill>
          </p:spPr>
        </p:sp>
      </p:grpSp>
      <p:grpSp>
        <p:nvGrpSpPr>
          <p:cNvPr name="Group 6" id="6"/>
          <p:cNvGrpSpPr/>
          <p:nvPr/>
        </p:nvGrpSpPr>
        <p:grpSpPr>
          <a:xfrm rot="0">
            <a:off x="822960" y="3497580"/>
            <a:ext cx="13716000" cy="548640"/>
            <a:chOff x="0" y="0"/>
            <a:chExt cx="18288000" cy="731520"/>
          </a:xfrm>
        </p:grpSpPr>
        <p:sp>
          <p:nvSpPr>
            <p:cNvPr name="Freeform 7" id="7"/>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3">
                <a:alphaModFix amt="0"/>
              </a:blip>
              <a:stretch>
                <a:fillRect l="0" t="-437125" r="0" b="-437125"/>
              </a:stretch>
            </a:blipFill>
          </p:spPr>
        </p:sp>
        <p:sp>
          <p:nvSpPr>
            <p:cNvPr name="TextBox 8" id="8"/>
            <p:cNvSpPr txBox="true"/>
            <p:nvPr/>
          </p:nvSpPr>
          <p:spPr>
            <a:xfrm>
              <a:off x="0" y="-47625"/>
              <a:ext cx="18288000" cy="779145"/>
            </a:xfrm>
            <a:prstGeom prst="rect">
              <a:avLst/>
            </a:prstGeom>
          </p:spPr>
          <p:txBody>
            <a:bodyPr anchor="ctr" rtlCol="false" tIns="0" lIns="0" bIns="0" rIns="0"/>
            <a:lstStyle/>
            <a:p>
              <a:pPr algn="l">
                <a:lnSpc>
                  <a:spcPts val="2520"/>
                </a:lnSpc>
              </a:pPr>
              <a:r>
                <a:rPr lang="en-US" b="true" sz="2100">
                  <a:solidFill>
                    <a:srgbClr val="C9971F"/>
                  </a:solidFill>
                  <a:latin typeface="Calibri (MS) Bold"/>
                  <a:ea typeface="Calibri (MS) Bold"/>
                  <a:cs typeface="Calibri (MS) Bold"/>
                  <a:sym typeface="Calibri (MS) Bold"/>
                </a:rPr>
                <a:t>AFTERNOON SESSION</a:t>
              </a:r>
            </a:p>
          </p:txBody>
        </p:sp>
      </p:grpSp>
      <p:grpSp>
        <p:nvGrpSpPr>
          <p:cNvPr name="Group 9" id="9"/>
          <p:cNvGrpSpPr/>
          <p:nvPr/>
        </p:nvGrpSpPr>
        <p:grpSpPr>
          <a:xfrm rot="0">
            <a:off x="822960" y="4114800"/>
            <a:ext cx="15499080" cy="2194560"/>
            <a:chOff x="0" y="0"/>
            <a:chExt cx="20665440" cy="2926080"/>
          </a:xfrm>
        </p:grpSpPr>
        <p:sp>
          <p:nvSpPr>
            <p:cNvPr name="Freeform 10" id="10"/>
            <p:cNvSpPr/>
            <p:nvPr/>
          </p:nvSpPr>
          <p:spPr>
            <a:xfrm flipH="false" flipV="false" rot="0">
              <a:off x="0" y="0"/>
              <a:ext cx="20665439" cy="2926080"/>
            </a:xfrm>
            <a:custGeom>
              <a:avLst/>
              <a:gdLst/>
              <a:ahLst/>
              <a:cxnLst/>
              <a:rect r="r" b="b" t="t" l="l"/>
              <a:pathLst>
                <a:path h="2926080" w="20665439">
                  <a:moveTo>
                    <a:pt x="0" y="0"/>
                  </a:moveTo>
                  <a:lnTo>
                    <a:pt x="20665439" y="0"/>
                  </a:lnTo>
                  <a:lnTo>
                    <a:pt x="20665439" y="2926080"/>
                  </a:lnTo>
                  <a:lnTo>
                    <a:pt x="0" y="2926080"/>
                  </a:lnTo>
                  <a:close/>
                </a:path>
              </a:pathLst>
            </a:custGeom>
            <a:blipFill>
              <a:blip r:embed="rId3">
                <a:alphaModFix amt="0"/>
              </a:blip>
              <a:stretch>
                <a:fillRect l="0" t="-87613" r="0" b="-87613"/>
              </a:stretch>
            </a:blipFill>
          </p:spPr>
        </p:sp>
        <p:sp>
          <p:nvSpPr>
            <p:cNvPr name="TextBox 11" id="11"/>
            <p:cNvSpPr txBox="true"/>
            <p:nvPr/>
          </p:nvSpPr>
          <p:spPr>
            <a:xfrm>
              <a:off x="0" y="-9525"/>
              <a:ext cx="20665440" cy="2935605"/>
            </a:xfrm>
            <a:prstGeom prst="rect">
              <a:avLst/>
            </a:prstGeom>
          </p:spPr>
          <p:txBody>
            <a:bodyPr anchor="ctr" rtlCol="false" tIns="0" lIns="0" bIns="0" rIns="0"/>
            <a:lstStyle/>
            <a:p>
              <a:pPr algn="l">
                <a:lnSpc>
                  <a:spcPts val="6480"/>
                </a:lnSpc>
              </a:pPr>
              <a:r>
                <a:rPr lang="en-US" b="true" sz="5400">
                  <a:solidFill>
                    <a:srgbClr val="FFFFFF"/>
                  </a:solidFill>
                  <a:latin typeface="Cambria Bold"/>
                  <a:ea typeface="Cambria Bold"/>
                  <a:cs typeface="Cambria Bold"/>
                  <a:sym typeface="Cambria Bold"/>
                </a:rPr>
                <a:t>Provincial Cybersecurity Maturity Framework &amp; Provincial Cybersecurity Plan 2026–2028</a:t>
              </a:r>
            </a:p>
          </p:txBody>
        </p:sp>
      </p:grpSp>
      <p:grpSp>
        <p:nvGrpSpPr>
          <p:cNvPr name="Group 12" id="12"/>
          <p:cNvGrpSpPr/>
          <p:nvPr/>
        </p:nvGrpSpPr>
        <p:grpSpPr>
          <a:xfrm rot="0">
            <a:off x="822960" y="6172200"/>
            <a:ext cx="14538960" cy="1371600"/>
            <a:chOff x="0" y="0"/>
            <a:chExt cx="19385280" cy="1828800"/>
          </a:xfrm>
        </p:grpSpPr>
        <p:sp>
          <p:nvSpPr>
            <p:cNvPr name="Freeform 13" id="13"/>
            <p:cNvSpPr/>
            <p:nvPr/>
          </p:nvSpPr>
          <p:spPr>
            <a:xfrm flipH="false" flipV="false" rot="0">
              <a:off x="0" y="0"/>
              <a:ext cx="19385280" cy="1828800"/>
            </a:xfrm>
            <a:custGeom>
              <a:avLst/>
              <a:gdLst/>
              <a:ahLst/>
              <a:cxnLst/>
              <a:rect r="r" b="b" t="t" l="l"/>
              <a:pathLst>
                <a:path h="1828800" w="19385280">
                  <a:moveTo>
                    <a:pt x="0" y="0"/>
                  </a:moveTo>
                  <a:lnTo>
                    <a:pt x="19385280" y="0"/>
                  </a:lnTo>
                  <a:lnTo>
                    <a:pt x="19385280" y="1828800"/>
                  </a:lnTo>
                  <a:lnTo>
                    <a:pt x="0" y="1828800"/>
                  </a:lnTo>
                  <a:close/>
                </a:path>
              </a:pathLst>
            </a:custGeom>
            <a:blipFill>
              <a:blip r:embed="rId3">
                <a:alphaModFix amt="0"/>
              </a:blip>
              <a:stretch>
                <a:fillRect l="0" t="-156541" r="0" b="-156541"/>
              </a:stretch>
            </a:blipFill>
          </p:spPr>
        </p:sp>
        <p:sp>
          <p:nvSpPr>
            <p:cNvPr name="TextBox 14" id="14"/>
            <p:cNvSpPr txBox="true"/>
            <p:nvPr/>
          </p:nvSpPr>
          <p:spPr>
            <a:xfrm>
              <a:off x="0" y="-38100"/>
              <a:ext cx="19385280" cy="1866900"/>
            </a:xfrm>
            <a:prstGeom prst="rect">
              <a:avLst/>
            </a:prstGeom>
          </p:spPr>
          <p:txBody>
            <a:bodyPr anchor="ctr" rtlCol="false" tIns="0" lIns="0" bIns="0" rIns="0"/>
            <a:lstStyle/>
            <a:p>
              <a:pPr algn="l">
                <a:lnSpc>
                  <a:spcPts val="2879"/>
                </a:lnSpc>
              </a:pPr>
              <a:r>
                <a:rPr lang="en-US" sz="2400">
                  <a:solidFill>
                    <a:srgbClr val="CADCFC"/>
                  </a:solidFill>
                  <a:latin typeface="Calibri (MS)"/>
                  <a:ea typeface="Calibri (MS)"/>
                  <a:cs typeface="Calibri (MS)"/>
                  <a:sym typeface="Calibri (MS)"/>
                </a:rPr>
                <a:t>From technical controls to institutional governance: who owns this, and how it is sustained over the next three years.</a:t>
              </a:r>
            </a:p>
          </p:txBody>
        </p:sp>
      </p:grpSp>
      <p:grpSp>
        <p:nvGrpSpPr>
          <p:cNvPr name="Group 15" id="15"/>
          <p:cNvGrpSpPr/>
          <p:nvPr/>
        </p:nvGrpSpPr>
        <p:grpSpPr>
          <a:xfrm rot="0">
            <a:off x="822960" y="9710928"/>
            <a:ext cx="12344400" cy="411480"/>
            <a:chOff x="0" y="0"/>
            <a:chExt cx="16459200" cy="548640"/>
          </a:xfrm>
        </p:grpSpPr>
        <p:sp>
          <p:nvSpPr>
            <p:cNvPr name="Freeform 16" id="1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7" id="17"/>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8" id="18"/>
          <p:cNvGrpSpPr/>
          <p:nvPr/>
        </p:nvGrpSpPr>
        <p:grpSpPr>
          <a:xfrm rot="0">
            <a:off x="16778783" y="9710928"/>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0" id="2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16</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ORIENTATION: PROVINCIAL CYBERSECURITY MATURITY FRAMEWORK</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What This Framework Is</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948940"/>
            <a:ext cx="16641623" cy="4937760"/>
            <a:chOff x="0" y="0"/>
            <a:chExt cx="22188830" cy="6583680"/>
          </a:xfrm>
        </p:grpSpPr>
        <p:sp>
          <p:nvSpPr>
            <p:cNvPr name="Freeform 8" id="8"/>
            <p:cNvSpPr/>
            <p:nvPr/>
          </p:nvSpPr>
          <p:spPr>
            <a:xfrm flipH="false" flipV="false" rot="0">
              <a:off x="0" y="0"/>
              <a:ext cx="22188932" cy="6583680"/>
            </a:xfrm>
            <a:custGeom>
              <a:avLst/>
              <a:gdLst/>
              <a:ahLst/>
              <a:cxnLst/>
              <a:rect r="r" b="b" t="t" l="l"/>
              <a:pathLst>
                <a:path h="6583680" w="22188932">
                  <a:moveTo>
                    <a:pt x="0" y="219456"/>
                  </a:moveTo>
                  <a:cubicBezTo>
                    <a:pt x="0" y="98298"/>
                    <a:pt x="98298" y="0"/>
                    <a:pt x="219456" y="0"/>
                  </a:cubicBezTo>
                  <a:lnTo>
                    <a:pt x="21969476" y="0"/>
                  </a:lnTo>
                  <a:cubicBezTo>
                    <a:pt x="22090633" y="0"/>
                    <a:pt x="22188932" y="98298"/>
                    <a:pt x="22188932" y="219456"/>
                  </a:cubicBezTo>
                  <a:lnTo>
                    <a:pt x="22188932" y="6364224"/>
                  </a:lnTo>
                  <a:cubicBezTo>
                    <a:pt x="22188932" y="6485382"/>
                    <a:pt x="22090633" y="6583680"/>
                    <a:pt x="21969476" y="6583680"/>
                  </a:cubicBezTo>
                  <a:lnTo>
                    <a:pt x="219456" y="6583680"/>
                  </a:lnTo>
                  <a:cubicBezTo>
                    <a:pt x="98298" y="6583680"/>
                    <a:pt x="0" y="6485382"/>
                    <a:pt x="0" y="6364224"/>
                  </a:cubicBezTo>
                  <a:close/>
                </a:path>
              </a:pathLst>
            </a:custGeom>
            <a:solidFill>
              <a:srgbClr val="EEF3FC"/>
            </a:solidFill>
          </p:spPr>
        </p:sp>
      </p:grpSp>
      <p:grpSp>
        <p:nvGrpSpPr>
          <p:cNvPr name="Group 9" id="9"/>
          <p:cNvGrpSpPr/>
          <p:nvPr/>
        </p:nvGrpSpPr>
        <p:grpSpPr>
          <a:xfrm rot="0">
            <a:off x="822960" y="2948940"/>
            <a:ext cx="123444" cy="4937760"/>
            <a:chOff x="0" y="0"/>
            <a:chExt cx="164592" cy="6583680"/>
          </a:xfrm>
        </p:grpSpPr>
        <p:sp>
          <p:nvSpPr>
            <p:cNvPr name="Freeform 10" id="10"/>
            <p:cNvSpPr/>
            <p:nvPr/>
          </p:nvSpPr>
          <p:spPr>
            <a:xfrm flipH="false" flipV="false" rot="0">
              <a:off x="0" y="0"/>
              <a:ext cx="164592" cy="6583680"/>
            </a:xfrm>
            <a:custGeom>
              <a:avLst/>
              <a:gdLst/>
              <a:ahLst/>
              <a:cxnLst/>
              <a:rect r="r" b="b" t="t" l="l"/>
              <a:pathLst>
                <a:path h="6583680" w="164592">
                  <a:moveTo>
                    <a:pt x="0" y="0"/>
                  </a:moveTo>
                  <a:lnTo>
                    <a:pt x="164592" y="0"/>
                  </a:lnTo>
                  <a:lnTo>
                    <a:pt x="164592" y="6583680"/>
                  </a:lnTo>
                  <a:lnTo>
                    <a:pt x="0" y="6583680"/>
                  </a:lnTo>
                  <a:close/>
                </a:path>
              </a:pathLst>
            </a:custGeom>
            <a:solidFill>
              <a:srgbClr val="C9971F"/>
            </a:solidFill>
          </p:spPr>
        </p:sp>
      </p:grpSp>
      <p:grpSp>
        <p:nvGrpSpPr>
          <p:cNvPr name="Group 11" id="11"/>
          <p:cNvGrpSpPr/>
          <p:nvPr/>
        </p:nvGrpSpPr>
        <p:grpSpPr>
          <a:xfrm rot="0">
            <a:off x="1577340" y="3429000"/>
            <a:ext cx="15132863" cy="3566160"/>
            <a:chOff x="0" y="0"/>
            <a:chExt cx="20177150" cy="4754880"/>
          </a:xfrm>
        </p:grpSpPr>
        <p:sp>
          <p:nvSpPr>
            <p:cNvPr name="Freeform 12" id="12"/>
            <p:cNvSpPr/>
            <p:nvPr/>
          </p:nvSpPr>
          <p:spPr>
            <a:xfrm flipH="false" flipV="false" rot="0">
              <a:off x="0" y="0"/>
              <a:ext cx="20177150" cy="4754880"/>
            </a:xfrm>
            <a:custGeom>
              <a:avLst/>
              <a:gdLst/>
              <a:ahLst/>
              <a:cxnLst/>
              <a:rect r="r" b="b" t="t" l="l"/>
              <a:pathLst>
                <a:path h="4754880" w="20177150">
                  <a:moveTo>
                    <a:pt x="0" y="0"/>
                  </a:moveTo>
                  <a:lnTo>
                    <a:pt x="20177150" y="0"/>
                  </a:lnTo>
                  <a:lnTo>
                    <a:pt x="20177150" y="4754880"/>
                  </a:lnTo>
                  <a:lnTo>
                    <a:pt x="0" y="4754880"/>
                  </a:lnTo>
                  <a:close/>
                </a:path>
              </a:pathLst>
            </a:custGeom>
            <a:blipFill>
              <a:blip r:embed="rId3">
                <a:alphaModFix amt="0"/>
              </a:blip>
              <a:stretch>
                <a:fillRect l="0" t="-32684" r="0" b="-32684"/>
              </a:stretch>
            </a:blipFill>
          </p:spPr>
        </p:sp>
        <p:sp>
          <p:nvSpPr>
            <p:cNvPr name="TextBox 13" id="13"/>
            <p:cNvSpPr txBox="true"/>
            <p:nvPr/>
          </p:nvSpPr>
          <p:spPr>
            <a:xfrm>
              <a:off x="0" y="-9525"/>
              <a:ext cx="20177150" cy="4764405"/>
            </a:xfrm>
            <a:prstGeom prst="rect">
              <a:avLst/>
            </a:prstGeom>
          </p:spPr>
          <p:txBody>
            <a:bodyPr anchor="ctr" rtlCol="false" tIns="0" lIns="0" bIns="0" rIns="0"/>
            <a:lstStyle/>
            <a:p>
              <a:pPr algn="l">
                <a:lnSpc>
                  <a:spcPts val="3960"/>
                </a:lnSpc>
              </a:pPr>
              <a:r>
                <a:rPr lang="en-US" sz="3300" i="true">
                  <a:solidFill>
                    <a:srgbClr val="1E2761"/>
                  </a:solidFill>
                  <a:latin typeface="Cambria Italics"/>
                  <a:ea typeface="Cambria Italics"/>
                  <a:cs typeface="Cambria Italics"/>
                  <a:sym typeface="Cambria Italics"/>
                </a:rPr>
                <a:t>The Provincial Cybersecurity Maturity Framework establishes the structure, principles, and mechanisms through which the Provincial Government manages cybersecurity risk and builds maturity over time, across both provincial departments and component LGUs.</a:t>
              </a:r>
            </a:p>
          </p:txBody>
        </p:sp>
      </p:grpSp>
      <p:grpSp>
        <p:nvGrpSpPr>
          <p:cNvPr name="Group 14" id="14"/>
          <p:cNvGrpSpPr/>
          <p:nvPr/>
        </p:nvGrpSpPr>
        <p:grpSpPr>
          <a:xfrm rot="0">
            <a:off x="822960" y="9710928"/>
            <a:ext cx="12344400" cy="411480"/>
            <a:chOff x="0" y="0"/>
            <a:chExt cx="16459200" cy="548640"/>
          </a:xfrm>
        </p:grpSpPr>
        <p:sp>
          <p:nvSpPr>
            <p:cNvPr name="Freeform 15" id="15"/>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6" id="16"/>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7" id="17"/>
          <p:cNvGrpSpPr/>
          <p:nvPr/>
        </p:nvGrpSpPr>
        <p:grpSpPr>
          <a:xfrm rot="0">
            <a:off x="16778783" y="9710928"/>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18</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GOVERNANCE PRINCIPLES</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Five Principles That Guide the Framework</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aphicFrame>
        <p:nvGraphicFramePr>
          <p:cNvPr name="Table 7" id="7"/>
          <p:cNvGraphicFramePr>
            <a:graphicFrameLocks noGrp="true"/>
          </p:cNvGraphicFramePr>
          <p:nvPr/>
        </p:nvGraphicFramePr>
        <p:xfrm>
          <a:off x="822960" y="2674620"/>
          <a:ext cx="16611600" cy="3457575"/>
        </p:xfrm>
        <a:graphic>
          <a:graphicData uri="http://schemas.openxmlformats.org/drawingml/2006/table">
            <a:tbl>
              <a:tblPr/>
              <a:tblGrid>
                <a:gridCol w="4395708"/>
                <a:gridCol w="12215892"/>
              </a:tblGrid>
              <a:tr h="592181">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Principle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1E2761"/>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In a Provincial Setting</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1E2761"/>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Accountability</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Clear ownership, Governor's Office down to each component LGU's coordinator</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Transparency</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Documented, auditable reporting pathways across departments and LGUs</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Risk-Based Approach</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Prioritize by impact, using NIST CSF 2.0, DICT MC 006, and ISO 27001</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Continuous Improvement</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DMAIC-driven assessment built into regular governance, not a one-time project</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Compliance Orientation</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Aligned with DICT, NPC, and COA requirements across every covered LGU</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bl>
          </a:graphicData>
        </a:graphic>
      </p:graphicFrame>
      <p:grpSp>
        <p:nvGrpSpPr>
          <p:cNvPr name="Group 8" id="8"/>
          <p:cNvGrpSpPr/>
          <p:nvPr/>
        </p:nvGrpSpPr>
        <p:grpSpPr>
          <a:xfrm rot="0">
            <a:off x="822960" y="9710928"/>
            <a:ext cx="12344400" cy="411480"/>
            <a:chOff x="0" y="0"/>
            <a:chExt cx="16459200" cy="548640"/>
          </a:xfrm>
        </p:grpSpPr>
        <p:sp>
          <p:nvSpPr>
            <p:cNvPr name="Freeform 9" id="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0" id="10"/>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1" id="11"/>
          <p:cNvGrpSpPr/>
          <p:nvPr/>
        </p:nvGrpSpPr>
        <p:grpSpPr>
          <a:xfrm rot="0">
            <a:off x="16778783"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19</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ROLES AND RESPONSIBILITIES</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Who Does What</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aphicFrame>
        <p:nvGraphicFramePr>
          <p:cNvPr name="Table 7" id="7"/>
          <p:cNvGraphicFramePr>
            <a:graphicFrameLocks noGrp="true"/>
          </p:cNvGraphicFramePr>
          <p:nvPr/>
        </p:nvGraphicFramePr>
        <p:xfrm>
          <a:off x="822960" y="2674620"/>
          <a:ext cx="16630650" cy="4029075"/>
        </p:xfrm>
        <a:graphic>
          <a:graphicData uri="http://schemas.openxmlformats.org/drawingml/2006/table">
            <a:tbl>
              <a:tblPr/>
              <a:tblGrid>
                <a:gridCol w="8950661"/>
                <a:gridCol w="7679989"/>
              </a:tblGrid>
              <a:tr h="591949">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Role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1E2761"/>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Core Job</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1E2761"/>
                    </a:solidFill>
                  </a:tcPr>
                </a:tc>
              </a:tr>
              <a:tr h="572854">
                <a:tc>
                  <a:txBody>
                    <a:bodyPr anchor="t" rtlCol="false"/>
                    <a:lstStyle/>
                    <a:p>
                      <a:pPr algn="l">
                        <a:lnSpc>
                          <a:spcPts val="2250"/>
                        </a:lnSpc>
                        <a:defRPr/>
                      </a:pPr>
                      <a:r>
                        <a:rPr lang="en-US" sz="1875">
                          <a:solidFill>
                            <a:srgbClr val="222222"/>
                          </a:solidFill>
                          <a:latin typeface="Calibri (MS)"/>
                          <a:ea typeface="Calibri (MS)"/>
                          <a:cs typeface="Calibri (MS)"/>
                          <a:sym typeface="Calibri (MS)"/>
                        </a:rPr>
                        <a:t>Executive Sponsor (Governor / Provincial Administrator)</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Approve strategy, resource the program, set the security culture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2854">
                <a:tc>
                  <a:txBody>
                    <a:bodyPr anchor="t" rtlCol="false"/>
                    <a:lstStyle/>
                    <a:p>
                      <a:pPr algn="l">
                        <a:lnSpc>
                          <a:spcPts val="2250"/>
                        </a:lnSpc>
                        <a:defRPr/>
                      </a:pPr>
                      <a:r>
                        <a:rPr lang="en-US" sz="1875">
                          <a:solidFill>
                            <a:srgbClr val="222222"/>
                          </a:solidFill>
                          <a:latin typeface="Calibri (MS)"/>
                          <a:ea typeface="Calibri (MS)"/>
                          <a:cs typeface="Calibri (MS)"/>
                          <a:sym typeface="Calibri (MS)"/>
                        </a:rPr>
                        <a:t>Deputy Executive Sponsor (Head, PICTO)</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Coordinate across ICT divisions; secondary escalation point</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r h="572854">
                <a:tc>
                  <a:txBody>
                    <a:bodyPr anchor="t" rtlCol="false"/>
                    <a:lstStyle/>
                    <a:p>
                      <a:pPr algn="l">
                        <a:lnSpc>
                          <a:spcPts val="2250"/>
                        </a:lnSpc>
                        <a:defRPr/>
                      </a:pPr>
                      <a:r>
                        <a:rPr lang="en-US" sz="1875">
                          <a:solidFill>
                            <a:srgbClr val="222222"/>
                          </a:solidFill>
                          <a:latin typeface="Calibri (MS)"/>
                          <a:ea typeface="Calibri (MS)"/>
                          <a:cs typeface="Calibri (MS)"/>
                          <a:sym typeface="Calibri (MS)"/>
                        </a:rPr>
                        <a:t>Cybersecurity Steering Committee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Strategic oversight and policy approval</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2854">
                <a:tc>
                  <a:txBody>
                    <a:bodyPr anchor="t" rtlCol="false"/>
                    <a:lstStyle/>
                    <a:p>
                      <a:pPr algn="l">
                        <a:lnSpc>
                          <a:spcPts val="2250"/>
                        </a:lnSpc>
                        <a:defRPr/>
                      </a:pPr>
                      <a:r>
                        <a:rPr lang="en-US" sz="1875">
                          <a:solidFill>
                            <a:srgbClr val="222222"/>
                          </a:solidFill>
                          <a:latin typeface="Calibri (MS)"/>
                          <a:ea typeface="Calibri (MS)"/>
                          <a:cs typeface="Calibri (MS)"/>
                          <a:sym typeface="Calibri (MS)"/>
                        </a:rPr>
                        <a:t>Provincial Cybersecurity Program Management Office (PCPMO) (CERT)</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Operational coordination</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r h="572854">
                <a:tc>
                  <a:txBody>
                    <a:bodyPr anchor="t" rtlCol="false"/>
                    <a:lstStyle/>
                    <a:p>
                      <a:pPr algn="l">
                        <a:lnSpc>
                          <a:spcPts val="2250"/>
                        </a:lnSpc>
                        <a:defRPr/>
                      </a:pPr>
                      <a:r>
                        <a:rPr lang="en-US" sz="1875">
                          <a:solidFill>
                            <a:srgbClr val="222222"/>
                          </a:solidFill>
                          <a:latin typeface="Calibri (MS)"/>
                          <a:ea typeface="Calibri (MS)"/>
                          <a:cs typeface="Calibri (MS)"/>
                          <a:sym typeface="Calibri (MS)"/>
                        </a:rPr>
                        <a:t>Department Information Security Coordinator (</a:t>
                      </a:r>
                      <a:r>
                        <a:rPr lang="en-US" sz="1875">
                          <a:solidFill>
                            <a:srgbClr val="222222"/>
                          </a:solidFill>
                          <a:latin typeface="Calibri (MS)"/>
                          <a:ea typeface="Calibri (MS)"/>
                          <a:cs typeface="Calibri (MS)"/>
                          <a:sym typeface="Calibri (MS)"/>
                        </a:rPr>
                        <a:t>DISCs) </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Departmental </a:t>
                      </a:r>
                      <a:r>
                        <a:rPr lang="en-US" sz="1875">
                          <a:solidFill>
                            <a:srgbClr val="222222"/>
                          </a:solidFill>
                          <a:latin typeface="Calibri (MS)"/>
                          <a:ea typeface="Calibri (MS)"/>
                          <a:cs typeface="Calibri (MS)"/>
                          <a:sym typeface="Calibri (MS)"/>
                        </a:rPr>
                        <a:t>compliance, awareness, and reporting</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2854">
                <a:tc>
                  <a:txBody>
                    <a:bodyPr anchor="t" rtlCol="false"/>
                    <a:lstStyle/>
                    <a:p>
                      <a:pPr algn="l">
                        <a:lnSpc>
                          <a:spcPts val="2250"/>
                        </a:lnSpc>
                        <a:defRPr/>
                      </a:pPr>
                      <a:r>
                        <a:rPr lang="en-US" sz="1875">
                          <a:solidFill>
                            <a:srgbClr val="222222"/>
                          </a:solidFill>
                          <a:latin typeface="Calibri (MS)"/>
                          <a:ea typeface="Calibri (MS)"/>
                          <a:cs typeface="Calibri (MS)"/>
                          <a:sym typeface="Calibri (MS)"/>
                        </a:rPr>
                        <a:t>Support/Guidance (PHRMO, Data Privacy Committee, Legal, Cybersecurity Consultants)</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Specialized expertise on call</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bl>
          </a:graphicData>
        </a:graphic>
      </p:graphicFrame>
      <p:grpSp>
        <p:nvGrpSpPr>
          <p:cNvPr name="Group 8" id="8"/>
          <p:cNvGrpSpPr/>
          <p:nvPr/>
        </p:nvGrpSpPr>
        <p:grpSpPr>
          <a:xfrm rot="0">
            <a:off x="822960" y="9710928"/>
            <a:ext cx="12344400" cy="411480"/>
            <a:chOff x="0" y="0"/>
            <a:chExt cx="16459200" cy="548640"/>
          </a:xfrm>
        </p:grpSpPr>
        <p:sp>
          <p:nvSpPr>
            <p:cNvPr name="Freeform 9" id="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0" id="10"/>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1" id="11"/>
          <p:cNvGrpSpPr/>
          <p:nvPr/>
        </p:nvGrpSpPr>
        <p:grpSpPr>
          <a:xfrm rot="0">
            <a:off x="16778783"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22</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MATURITY MODEL</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How Maturity Is Measured and Improved</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674620"/>
            <a:ext cx="7977911" cy="6515100"/>
            <a:chOff x="0" y="0"/>
            <a:chExt cx="10637215" cy="8686800"/>
          </a:xfrm>
        </p:grpSpPr>
        <p:sp>
          <p:nvSpPr>
            <p:cNvPr name="Freeform 8" id="8"/>
            <p:cNvSpPr/>
            <p:nvPr/>
          </p:nvSpPr>
          <p:spPr>
            <a:xfrm flipH="false" flipV="false" rot="0">
              <a:off x="0" y="0"/>
              <a:ext cx="10637266" cy="8686800"/>
            </a:xfrm>
            <a:custGeom>
              <a:avLst/>
              <a:gdLst/>
              <a:ahLst/>
              <a:cxnLst/>
              <a:rect r="r" b="b" t="t" l="l"/>
              <a:pathLst>
                <a:path h="8686800" w="10637266">
                  <a:moveTo>
                    <a:pt x="0" y="182880"/>
                  </a:moveTo>
                  <a:cubicBezTo>
                    <a:pt x="0" y="81915"/>
                    <a:pt x="81915" y="0"/>
                    <a:pt x="182880" y="0"/>
                  </a:cubicBezTo>
                  <a:lnTo>
                    <a:pt x="10454386" y="0"/>
                  </a:lnTo>
                  <a:cubicBezTo>
                    <a:pt x="10555351" y="0"/>
                    <a:pt x="10637266" y="81915"/>
                    <a:pt x="10637266" y="182880"/>
                  </a:cubicBezTo>
                  <a:lnTo>
                    <a:pt x="10637266" y="8503920"/>
                  </a:lnTo>
                  <a:cubicBezTo>
                    <a:pt x="10637266" y="8604885"/>
                    <a:pt x="10555351" y="8686800"/>
                    <a:pt x="10454386" y="8686800"/>
                  </a:cubicBezTo>
                  <a:lnTo>
                    <a:pt x="182880" y="8686800"/>
                  </a:lnTo>
                  <a:cubicBezTo>
                    <a:pt x="81915" y="8686800"/>
                    <a:pt x="0" y="8604885"/>
                    <a:pt x="0" y="8503920"/>
                  </a:cubicBezTo>
                  <a:close/>
                </a:path>
              </a:pathLst>
            </a:custGeom>
            <a:solidFill>
              <a:srgbClr val="EEF3FC"/>
            </a:solidFill>
          </p:spPr>
        </p:sp>
      </p:grpSp>
      <p:grpSp>
        <p:nvGrpSpPr>
          <p:cNvPr name="Group 9" id="9"/>
          <p:cNvGrpSpPr/>
          <p:nvPr/>
        </p:nvGrpSpPr>
        <p:grpSpPr>
          <a:xfrm rot="0">
            <a:off x="1234440" y="2948940"/>
            <a:ext cx="7154951" cy="685800"/>
            <a:chOff x="0" y="0"/>
            <a:chExt cx="9539935" cy="914400"/>
          </a:xfrm>
        </p:grpSpPr>
        <p:sp>
          <p:nvSpPr>
            <p:cNvPr name="Freeform 10" id="10"/>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11" id="11"/>
            <p:cNvSpPr txBox="true"/>
            <p:nvPr/>
          </p:nvSpPr>
          <p:spPr>
            <a:xfrm>
              <a:off x="0" y="-9525"/>
              <a:ext cx="9539935" cy="923925"/>
            </a:xfrm>
            <a:prstGeom prst="rect">
              <a:avLst/>
            </a:prstGeom>
          </p:spPr>
          <p:txBody>
            <a:bodyPr anchor="ctr" rtlCol="false" tIns="0" lIns="0" bIns="0" rIns="0"/>
            <a:lstStyle/>
            <a:p>
              <a:pPr algn="l">
                <a:lnSpc>
                  <a:spcPts val="3060"/>
                </a:lnSpc>
              </a:pPr>
              <a:r>
                <a:rPr lang="en-US" b="true" sz="2550">
                  <a:solidFill>
                    <a:srgbClr val="1E2761"/>
                  </a:solidFill>
                  <a:latin typeface="Cambria Bold"/>
                  <a:ea typeface="Cambria Bold"/>
                  <a:cs typeface="Cambria Bold"/>
                  <a:sym typeface="Cambria Bold"/>
                </a:rPr>
                <a:t>NIST Cybersecurity Framework</a:t>
              </a:r>
            </a:p>
          </p:txBody>
        </p:sp>
      </p:grpSp>
      <p:grpSp>
        <p:nvGrpSpPr>
          <p:cNvPr name="Group 12" id="12"/>
          <p:cNvGrpSpPr/>
          <p:nvPr/>
        </p:nvGrpSpPr>
        <p:grpSpPr>
          <a:xfrm rot="0">
            <a:off x="1234440" y="3566160"/>
            <a:ext cx="7154951" cy="548640"/>
            <a:chOff x="0" y="0"/>
            <a:chExt cx="9539935" cy="731520"/>
          </a:xfrm>
        </p:grpSpPr>
        <p:sp>
          <p:nvSpPr>
            <p:cNvPr name="Freeform 13" id="13"/>
            <p:cNvSpPr/>
            <p:nvPr/>
          </p:nvSpPr>
          <p:spPr>
            <a:xfrm flipH="false" flipV="false" rot="0">
              <a:off x="0" y="0"/>
              <a:ext cx="9539936" cy="731520"/>
            </a:xfrm>
            <a:custGeom>
              <a:avLst/>
              <a:gdLst/>
              <a:ahLst/>
              <a:cxnLst/>
              <a:rect r="r" b="b" t="t" l="l"/>
              <a:pathLst>
                <a:path h="731520" w="9539936">
                  <a:moveTo>
                    <a:pt x="0" y="0"/>
                  </a:moveTo>
                  <a:lnTo>
                    <a:pt x="9539936" y="0"/>
                  </a:lnTo>
                  <a:lnTo>
                    <a:pt x="9539936" y="731520"/>
                  </a:lnTo>
                  <a:lnTo>
                    <a:pt x="0" y="731520"/>
                  </a:lnTo>
                  <a:close/>
                </a:path>
              </a:pathLst>
            </a:custGeom>
            <a:blipFill>
              <a:blip r:embed="rId3">
                <a:alphaModFix amt="0"/>
              </a:blip>
              <a:stretch>
                <a:fillRect l="0" t="-204109" r="0" b="-204109"/>
              </a:stretch>
            </a:blipFill>
          </p:spPr>
        </p:sp>
        <p:sp>
          <p:nvSpPr>
            <p:cNvPr name="TextBox 14" id="14"/>
            <p:cNvSpPr txBox="true"/>
            <p:nvPr/>
          </p:nvSpPr>
          <p:spPr>
            <a:xfrm>
              <a:off x="0" y="-38100"/>
              <a:ext cx="9539935" cy="769620"/>
            </a:xfrm>
            <a:prstGeom prst="rect">
              <a:avLst/>
            </a:prstGeom>
          </p:spPr>
          <p:txBody>
            <a:bodyPr anchor="ctr" rtlCol="false" tIns="0" lIns="0" bIns="0" rIns="0"/>
            <a:lstStyle/>
            <a:p>
              <a:pPr algn="l">
                <a:lnSpc>
                  <a:spcPts val="2160"/>
                </a:lnSpc>
              </a:pPr>
              <a:r>
                <a:rPr lang="en-US" sz="1800" i="true">
                  <a:solidFill>
                    <a:srgbClr val="5F6472"/>
                  </a:solidFill>
                  <a:latin typeface="Calibri (MS) Italics"/>
                  <a:ea typeface="Calibri (MS) Italics"/>
                  <a:cs typeface="Calibri (MS) Italics"/>
                  <a:sym typeface="Calibri (MS) Italics"/>
                </a:rPr>
                <a:t>The reference structure for assessing current capability</a:t>
              </a:r>
            </a:p>
          </p:txBody>
        </p:sp>
      </p:grpSp>
      <p:grpSp>
        <p:nvGrpSpPr>
          <p:cNvPr name="Group 15" id="15"/>
          <p:cNvGrpSpPr/>
          <p:nvPr/>
        </p:nvGrpSpPr>
        <p:grpSpPr>
          <a:xfrm rot="0">
            <a:off x="1234440" y="4251960"/>
            <a:ext cx="7154951" cy="685800"/>
            <a:chOff x="0" y="0"/>
            <a:chExt cx="9539935" cy="914400"/>
          </a:xfrm>
        </p:grpSpPr>
        <p:sp>
          <p:nvSpPr>
            <p:cNvPr name="Freeform 16" id="16"/>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17" id="17"/>
            <p:cNvSpPr txBox="true"/>
            <p:nvPr/>
          </p:nvSpPr>
          <p:spPr>
            <a:xfrm>
              <a:off x="0" y="-57150"/>
              <a:ext cx="9539935" cy="971550"/>
            </a:xfrm>
            <a:prstGeom prst="rect">
              <a:avLst/>
            </a:prstGeom>
          </p:spPr>
          <p:txBody>
            <a:bodyPr anchor="ctr" rtlCol="false" tIns="0" lIns="0" bIns="0" rIns="0"/>
            <a:lstStyle/>
            <a:p>
              <a:pPr algn="l">
                <a:lnSpc>
                  <a:spcPts val="2700"/>
                </a:lnSpc>
              </a:pPr>
              <a:r>
                <a:rPr lang="en-US" b="true" sz="2250">
                  <a:solidFill>
                    <a:srgbClr val="222222"/>
                  </a:solidFill>
                  <a:latin typeface="Calibri (MS) Bold"/>
                  <a:ea typeface="Calibri (MS) Bold"/>
                  <a:cs typeface="Calibri (MS) Bold"/>
                  <a:sym typeface="Calibri (MS) Bold"/>
                </a:rPr>
                <a:t>1.  Identify</a:t>
              </a:r>
            </a:p>
          </p:txBody>
        </p:sp>
      </p:grpSp>
      <p:grpSp>
        <p:nvGrpSpPr>
          <p:cNvPr name="Group 18" id="18"/>
          <p:cNvGrpSpPr/>
          <p:nvPr/>
        </p:nvGrpSpPr>
        <p:grpSpPr>
          <a:xfrm rot="0">
            <a:off x="1234440" y="5102352"/>
            <a:ext cx="7154951" cy="685800"/>
            <a:chOff x="0" y="0"/>
            <a:chExt cx="9539935" cy="914400"/>
          </a:xfrm>
        </p:grpSpPr>
        <p:sp>
          <p:nvSpPr>
            <p:cNvPr name="Freeform 19" id="19"/>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20" id="20"/>
            <p:cNvSpPr txBox="true"/>
            <p:nvPr/>
          </p:nvSpPr>
          <p:spPr>
            <a:xfrm>
              <a:off x="0" y="-57150"/>
              <a:ext cx="9539935" cy="971550"/>
            </a:xfrm>
            <a:prstGeom prst="rect">
              <a:avLst/>
            </a:prstGeom>
          </p:spPr>
          <p:txBody>
            <a:bodyPr anchor="ctr" rtlCol="false" tIns="0" lIns="0" bIns="0" rIns="0"/>
            <a:lstStyle/>
            <a:p>
              <a:pPr algn="l">
                <a:lnSpc>
                  <a:spcPts val="2700"/>
                </a:lnSpc>
              </a:pPr>
              <a:r>
                <a:rPr lang="en-US" b="true" sz="2250">
                  <a:solidFill>
                    <a:srgbClr val="222222"/>
                  </a:solidFill>
                  <a:latin typeface="Calibri (MS) Bold"/>
                  <a:ea typeface="Calibri (MS) Bold"/>
                  <a:cs typeface="Calibri (MS) Bold"/>
                  <a:sym typeface="Calibri (MS) Bold"/>
                </a:rPr>
                <a:t>2.  Protect</a:t>
              </a:r>
            </a:p>
          </p:txBody>
        </p:sp>
      </p:grpSp>
      <p:grpSp>
        <p:nvGrpSpPr>
          <p:cNvPr name="Group 21" id="21"/>
          <p:cNvGrpSpPr/>
          <p:nvPr/>
        </p:nvGrpSpPr>
        <p:grpSpPr>
          <a:xfrm rot="0">
            <a:off x="1234440" y="5952744"/>
            <a:ext cx="7154951" cy="685800"/>
            <a:chOff x="0" y="0"/>
            <a:chExt cx="9539935" cy="914400"/>
          </a:xfrm>
        </p:grpSpPr>
        <p:sp>
          <p:nvSpPr>
            <p:cNvPr name="Freeform 22" id="22"/>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23" id="23"/>
            <p:cNvSpPr txBox="true"/>
            <p:nvPr/>
          </p:nvSpPr>
          <p:spPr>
            <a:xfrm>
              <a:off x="0" y="-57150"/>
              <a:ext cx="9539935" cy="971550"/>
            </a:xfrm>
            <a:prstGeom prst="rect">
              <a:avLst/>
            </a:prstGeom>
          </p:spPr>
          <p:txBody>
            <a:bodyPr anchor="ctr" rtlCol="false" tIns="0" lIns="0" bIns="0" rIns="0"/>
            <a:lstStyle/>
            <a:p>
              <a:pPr algn="l">
                <a:lnSpc>
                  <a:spcPts val="2700"/>
                </a:lnSpc>
              </a:pPr>
              <a:r>
                <a:rPr lang="en-US" b="true" sz="2250">
                  <a:solidFill>
                    <a:srgbClr val="222222"/>
                  </a:solidFill>
                  <a:latin typeface="Calibri (MS) Bold"/>
                  <a:ea typeface="Calibri (MS) Bold"/>
                  <a:cs typeface="Calibri (MS) Bold"/>
                  <a:sym typeface="Calibri (MS) Bold"/>
                </a:rPr>
                <a:t>3.  Detect</a:t>
              </a:r>
            </a:p>
          </p:txBody>
        </p:sp>
      </p:grpSp>
      <p:grpSp>
        <p:nvGrpSpPr>
          <p:cNvPr name="Group 24" id="24"/>
          <p:cNvGrpSpPr/>
          <p:nvPr/>
        </p:nvGrpSpPr>
        <p:grpSpPr>
          <a:xfrm rot="0">
            <a:off x="1234440" y="6803136"/>
            <a:ext cx="7154951" cy="685800"/>
            <a:chOff x="0" y="0"/>
            <a:chExt cx="9539935" cy="914400"/>
          </a:xfrm>
        </p:grpSpPr>
        <p:sp>
          <p:nvSpPr>
            <p:cNvPr name="Freeform 25" id="25"/>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26" id="26"/>
            <p:cNvSpPr txBox="true"/>
            <p:nvPr/>
          </p:nvSpPr>
          <p:spPr>
            <a:xfrm>
              <a:off x="0" y="-57150"/>
              <a:ext cx="9539935" cy="971550"/>
            </a:xfrm>
            <a:prstGeom prst="rect">
              <a:avLst/>
            </a:prstGeom>
          </p:spPr>
          <p:txBody>
            <a:bodyPr anchor="ctr" rtlCol="false" tIns="0" lIns="0" bIns="0" rIns="0"/>
            <a:lstStyle/>
            <a:p>
              <a:pPr algn="l">
                <a:lnSpc>
                  <a:spcPts val="2700"/>
                </a:lnSpc>
              </a:pPr>
              <a:r>
                <a:rPr lang="en-US" b="true" sz="2250">
                  <a:solidFill>
                    <a:srgbClr val="222222"/>
                  </a:solidFill>
                  <a:latin typeface="Calibri (MS) Bold"/>
                  <a:ea typeface="Calibri (MS) Bold"/>
                  <a:cs typeface="Calibri (MS) Bold"/>
                  <a:sym typeface="Calibri (MS) Bold"/>
                </a:rPr>
                <a:t>4.  Respond</a:t>
              </a:r>
            </a:p>
          </p:txBody>
        </p:sp>
      </p:grpSp>
      <p:grpSp>
        <p:nvGrpSpPr>
          <p:cNvPr name="Group 27" id="27"/>
          <p:cNvGrpSpPr/>
          <p:nvPr/>
        </p:nvGrpSpPr>
        <p:grpSpPr>
          <a:xfrm rot="0">
            <a:off x="1234440" y="7653528"/>
            <a:ext cx="7154951" cy="685800"/>
            <a:chOff x="0" y="0"/>
            <a:chExt cx="9539935" cy="914400"/>
          </a:xfrm>
        </p:grpSpPr>
        <p:sp>
          <p:nvSpPr>
            <p:cNvPr name="Freeform 28" id="28"/>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29" id="29"/>
            <p:cNvSpPr txBox="true"/>
            <p:nvPr/>
          </p:nvSpPr>
          <p:spPr>
            <a:xfrm>
              <a:off x="0" y="-57150"/>
              <a:ext cx="9539935" cy="971550"/>
            </a:xfrm>
            <a:prstGeom prst="rect">
              <a:avLst/>
            </a:prstGeom>
          </p:spPr>
          <p:txBody>
            <a:bodyPr anchor="ctr" rtlCol="false" tIns="0" lIns="0" bIns="0" rIns="0"/>
            <a:lstStyle/>
            <a:p>
              <a:pPr algn="l">
                <a:lnSpc>
                  <a:spcPts val="2700"/>
                </a:lnSpc>
              </a:pPr>
              <a:r>
                <a:rPr lang="en-US" b="true" sz="2250">
                  <a:solidFill>
                    <a:srgbClr val="222222"/>
                  </a:solidFill>
                  <a:latin typeface="Calibri (MS) Bold"/>
                  <a:ea typeface="Calibri (MS) Bold"/>
                  <a:cs typeface="Calibri (MS) Bold"/>
                  <a:sym typeface="Calibri (MS) Bold"/>
                </a:rPr>
                <a:t>5.  Recover</a:t>
              </a:r>
            </a:p>
          </p:txBody>
        </p:sp>
      </p:grpSp>
      <p:grpSp>
        <p:nvGrpSpPr>
          <p:cNvPr name="Group 30" id="30"/>
          <p:cNvGrpSpPr/>
          <p:nvPr/>
        </p:nvGrpSpPr>
        <p:grpSpPr>
          <a:xfrm rot="0">
            <a:off x="9486671" y="2674620"/>
            <a:ext cx="7977911" cy="6515100"/>
            <a:chOff x="0" y="0"/>
            <a:chExt cx="10637215" cy="8686800"/>
          </a:xfrm>
        </p:grpSpPr>
        <p:sp>
          <p:nvSpPr>
            <p:cNvPr name="Freeform 31" id="31"/>
            <p:cNvSpPr/>
            <p:nvPr/>
          </p:nvSpPr>
          <p:spPr>
            <a:xfrm flipH="false" flipV="false" rot="0">
              <a:off x="0" y="0"/>
              <a:ext cx="10637266" cy="8686800"/>
            </a:xfrm>
            <a:custGeom>
              <a:avLst/>
              <a:gdLst/>
              <a:ahLst/>
              <a:cxnLst/>
              <a:rect r="r" b="b" t="t" l="l"/>
              <a:pathLst>
                <a:path h="8686800" w="10637266">
                  <a:moveTo>
                    <a:pt x="0" y="182880"/>
                  </a:moveTo>
                  <a:cubicBezTo>
                    <a:pt x="0" y="81915"/>
                    <a:pt x="81915" y="0"/>
                    <a:pt x="182880" y="0"/>
                  </a:cubicBezTo>
                  <a:lnTo>
                    <a:pt x="10454386" y="0"/>
                  </a:lnTo>
                  <a:cubicBezTo>
                    <a:pt x="10555351" y="0"/>
                    <a:pt x="10637266" y="81915"/>
                    <a:pt x="10637266" y="182880"/>
                  </a:cubicBezTo>
                  <a:lnTo>
                    <a:pt x="10637266" y="8503920"/>
                  </a:lnTo>
                  <a:cubicBezTo>
                    <a:pt x="10637266" y="8604885"/>
                    <a:pt x="10555351" y="8686800"/>
                    <a:pt x="10454386" y="8686800"/>
                  </a:cubicBezTo>
                  <a:lnTo>
                    <a:pt x="182880" y="8686800"/>
                  </a:lnTo>
                  <a:cubicBezTo>
                    <a:pt x="81915" y="8686800"/>
                    <a:pt x="0" y="8604885"/>
                    <a:pt x="0" y="8503920"/>
                  </a:cubicBezTo>
                  <a:close/>
                </a:path>
              </a:pathLst>
            </a:custGeom>
            <a:solidFill>
              <a:srgbClr val="1E2761"/>
            </a:solidFill>
          </p:spPr>
        </p:sp>
      </p:grpSp>
      <p:grpSp>
        <p:nvGrpSpPr>
          <p:cNvPr name="Group 32" id="32"/>
          <p:cNvGrpSpPr/>
          <p:nvPr/>
        </p:nvGrpSpPr>
        <p:grpSpPr>
          <a:xfrm rot="0">
            <a:off x="9898151" y="2948940"/>
            <a:ext cx="7154951" cy="685800"/>
            <a:chOff x="0" y="0"/>
            <a:chExt cx="9539935" cy="914400"/>
          </a:xfrm>
        </p:grpSpPr>
        <p:sp>
          <p:nvSpPr>
            <p:cNvPr name="Freeform 33" id="33"/>
            <p:cNvSpPr/>
            <p:nvPr/>
          </p:nvSpPr>
          <p:spPr>
            <a:xfrm flipH="false" flipV="false" rot="0">
              <a:off x="0" y="0"/>
              <a:ext cx="9539936" cy="914400"/>
            </a:xfrm>
            <a:custGeom>
              <a:avLst/>
              <a:gdLst/>
              <a:ahLst/>
              <a:cxnLst/>
              <a:rect r="r" b="b" t="t" l="l"/>
              <a:pathLst>
                <a:path h="914400" w="9539936">
                  <a:moveTo>
                    <a:pt x="0" y="0"/>
                  </a:moveTo>
                  <a:lnTo>
                    <a:pt x="9539936" y="0"/>
                  </a:lnTo>
                  <a:lnTo>
                    <a:pt x="9539936" y="914400"/>
                  </a:lnTo>
                  <a:lnTo>
                    <a:pt x="0" y="914400"/>
                  </a:lnTo>
                  <a:close/>
                </a:path>
              </a:pathLst>
            </a:custGeom>
            <a:blipFill>
              <a:blip r:embed="rId3">
                <a:alphaModFix amt="0"/>
              </a:blip>
              <a:stretch>
                <a:fillRect l="0" t="-153287" r="0" b="-153287"/>
              </a:stretch>
            </a:blipFill>
          </p:spPr>
        </p:sp>
        <p:sp>
          <p:nvSpPr>
            <p:cNvPr name="TextBox 34" id="34"/>
            <p:cNvSpPr txBox="true"/>
            <p:nvPr/>
          </p:nvSpPr>
          <p:spPr>
            <a:xfrm>
              <a:off x="0" y="-9525"/>
              <a:ext cx="9539935" cy="923925"/>
            </a:xfrm>
            <a:prstGeom prst="rect">
              <a:avLst/>
            </a:prstGeom>
          </p:spPr>
          <p:txBody>
            <a:bodyPr anchor="ctr" rtlCol="false" tIns="0" lIns="0" bIns="0" rIns="0"/>
            <a:lstStyle/>
            <a:p>
              <a:pPr algn="l">
                <a:lnSpc>
                  <a:spcPts val="3060"/>
                </a:lnSpc>
              </a:pPr>
              <a:r>
                <a:rPr lang="en-US" b="true" sz="2550">
                  <a:solidFill>
                    <a:srgbClr val="FFFFFF"/>
                  </a:solidFill>
                  <a:latin typeface="Cambria Bold"/>
                  <a:ea typeface="Cambria Bold"/>
                  <a:cs typeface="Cambria Bold"/>
                  <a:sym typeface="Cambria Bold"/>
                </a:rPr>
                <a:t>DMAIC Improvement Cycle</a:t>
              </a:r>
            </a:p>
          </p:txBody>
        </p:sp>
      </p:grpSp>
      <p:grpSp>
        <p:nvGrpSpPr>
          <p:cNvPr name="Group 35" id="35"/>
          <p:cNvGrpSpPr/>
          <p:nvPr/>
        </p:nvGrpSpPr>
        <p:grpSpPr>
          <a:xfrm rot="0">
            <a:off x="9898151" y="3566160"/>
            <a:ext cx="7154951" cy="548640"/>
            <a:chOff x="0" y="0"/>
            <a:chExt cx="9539935" cy="731520"/>
          </a:xfrm>
        </p:grpSpPr>
        <p:sp>
          <p:nvSpPr>
            <p:cNvPr name="Freeform 36" id="36"/>
            <p:cNvSpPr/>
            <p:nvPr/>
          </p:nvSpPr>
          <p:spPr>
            <a:xfrm flipH="false" flipV="false" rot="0">
              <a:off x="0" y="0"/>
              <a:ext cx="9539936" cy="731520"/>
            </a:xfrm>
            <a:custGeom>
              <a:avLst/>
              <a:gdLst/>
              <a:ahLst/>
              <a:cxnLst/>
              <a:rect r="r" b="b" t="t" l="l"/>
              <a:pathLst>
                <a:path h="731520" w="9539936">
                  <a:moveTo>
                    <a:pt x="0" y="0"/>
                  </a:moveTo>
                  <a:lnTo>
                    <a:pt x="9539936" y="0"/>
                  </a:lnTo>
                  <a:lnTo>
                    <a:pt x="9539936" y="731520"/>
                  </a:lnTo>
                  <a:lnTo>
                    <a:pt x="0" y="731520"/>
                  </a:lnTo>
                  <a:close/>
                </a:path>
              </a:pathLst>
            </a:custGeom>
            <a:blipFill>
              <a:blip r:embed="rId3">
                <a:alphaModFix amt="0"/>
              </a:blip>
              <a:stretch>
                <a:fillRect l="0" t="-204109" r="0" b="-204109"/>
              </a:stretch>
            </a:blipFill>
          </p:spPr>
        </p:sp>
        <p:sp>
          <p:nvSpPr>
            <p:cNvPr name="TextBox 37" id="37"/>
            <p:cNvSpPr txBox="true"/>
            <p:nvPr/>
          </p:nvSpPr>
          <p:spPr>
            <a:xfrm>
              <a:off x="0" y="-38100"/>
              <a:ext cx="9539935" cy="769620"/>
            </a:xfrm>
            <a:prstGeom prst="rect">
              <a:avLst/>
            </a:prstGeom>
          </p:spPr>
          <p:txBody>
            <a:bodyPr anchor="ctr" rtlCol="false" tIns="0" lIns="0" bIns="0" rIns="0"/>
            <a:lstStyle/>
            <a:p>
              <a:pPr algn="l">
                <a:lnSpc>
                  <a:spcPts val="2160"/>
                </a:lnSpc>
              </a:pPr>
              <a:r>
                <a:rPr lang="en-US" sz="1800" i="true">
                  <a:solidFill>
                    <a:srgbClr val="CADCFC"/>
                  </a:solidFill>
                  <a:latin typeface="Calibri (MS) Italics"/>
                  <a:ea typeface="Calibri (MS) Italics"/>
                  <a:cs typeface="Calibri (MS) Italics"/>
                  <a:sym typeface="Calibri (MS) Italics"/>
                </a:rPr>
                <a:t>The engine that drives continuous improvement</a:t>
              </a:r>
            </a:p>
          </p:txBody>
        </p:sp>
      </p:grpSp>
      <p:sp>
        <p:nvSpPr>
          <p:cNvPr name="TextBox 38" id="38"/>
          <p:cNvSpPr txBox="true"/>
          <p:nvPr/>
        </p:nvSpPr>
        <p:spPr>
          <a:xfrm rot="0">
            <a:off x="9898151" y="4145280"/>
            <a:ext cx="7154951" cy="833628"/>
          </a:xfrm>
          <a:prstGeom prst="rect">
            <a:avLst/>
          </a:prstGeom>
        </p:spPr>
        <p:txBody>
          <a:bodyPr anchor="t" rtlCol="false" tIns="0" lIns="0" bIns="0" rIns="0">
            <a:spAutoFit/>
          </a:bodyPr>
          <a:lstStyle/>
          <a:p>
            <a:pPr algn="l">
              <a:lnSpc>
                <a:spcPts val="2250"/>
              </a:lnSpc>
            </a:pPr>
            <a:r>
              <a:rPr lang="en-US" b="true" sz="1875">
                <a:solidFill>
                  <a:srgbClr val="C9971F"/>
                </a:solidFill>
                <a:latin typeface="Calibri (MS) Bold"/>
                <a:ea typeface="Calibri (MS) Bold"/>
                <a:cs typeface="Calibri (MS) Bold"/>
                <a:sym typeface="Calibri (MS) Bold"/>
              </a:rPr>
              <a:t>1.  Define  </a:t>
            </a:r>
            <a:r>
              <a:rPr lang="en-US" sz="1875">
                <a:solidFill>
                  <a:srgbClr val="FFFFFF"/>
                </a:solidFill>
                <a:latin typeface="Calibri (MS)"/>
                <a:ea typeface="Calibri (MS)"/>
                <a:cs typeface="Calibri (MS)"/>
                <a:sym typeface="Calibri (MS)"/>
              </a:rPr>
              <a:t>Scope improvements and governance objectives</a:t>
            </a:r>
          </a:p>
        </p:txBody>
      </p:sp>
      <p:sp>
        <p:nvSpPr>
          <p:cNvPr name="TextBox 39" id="39"/>
          <p:cNvSpPr txBox="true"/>
          <p:nvPr/>
        </p:nvSpPr>
        <p:spPr>
          <a:xfrm rot="0">
            <a:off x="9898151" y="4995672"/>
            <a:ext cx="7154951" cy="833628"/>
          </a:xfrm>
          <a:prstGeom prst="rect">
            <a:avLst/>
          </a:prstGeom>
        </p:spPr>
        <p:txBody>
          <a:bodyPr anchor="t" rtlCol="false" tIns="0" lIns="0" bIns="0" rIns="0">
            <a:spAutoFit/>
          </a:bodyPr>
          <a:lstStyle/>
          <a:p>
            <a:pPr algn="l">
              <a:lnSpc>
                <a:spcPts val="2250"/>
              </a:lnSpc>
            </a:pPr>
            <a:r>
              <a:rPr lang="en-US" b="true" sz="1875">
                <a:solidFill>
                  <a:srgbClr val="C9971F"/>
                </a:solidFill>
                <a:latin typeface="Calibri (MS) Bold"/>
                <a:ea typeface="Calibri (MS) Bold"/>
                <a:cs typeface="Calibri (MS) Bold"/>
                <a:sym typeface="Calibri (MS) Bold"/>
              </a:rPr>
              <a:t>2.  Measure  </a:t>
            </a:r>
            <a:r>
              <a:rPr lang="en-US" sz="1875">
                <a:solidFill>
                  <a:srgbClr val="FFFFFF"/>
                </a:solidFill>
                <a:latin typeface="Calibri (MS)"/>
                <a:ea typeface="Calibri (MS)"/>
                <a:cs typeface="Calibri (MS)"/>
                <a:sym typeface="Calibri (MS)"/>
              </a:rPr>
              <a:t>Current maturity through assessment and data</a:t>
            </a:r>
          </a:p>
        </p:txBody>
      </p:sp>
      <p:sp>
        <p:nvSpPr>
          <p:cNvPr name="TextBox 40" id="40"/>
          <p:cNvSpPr txBox="true"/>
          <p:nvPr/>
        </p:nvSpPr>
        <p:spPr>
          <a:xfrm rot="0">
            <a:off x="9898151" y="5846064"/>
            <a:ext cx="7154951" cy="833628"/>
          </a:xfrm>
          <a:prstGeom prst="rect">
            <a:avLst/>
          </a:prstGeom>
        </p:spPr>
        <p:txBody>
          <a:bodyPr anchor="t" rtlCol="false" tIns="0" lIns="0" bIns="0" rIns="0">
            <a:spAutoFit/>
          </a:bodyPr>
          <a:lstStyle/>
          <a:p>
            <a:pPr algn="l">
              <a:lnSpc>
                <a:spcPts val="2250"/>
              </a:lnSpc>
            </a:pPr>
            <a:r>
              <a:rPr lang="en-US" b="true" sz="1875">
                <a:solidFill>
                  <a:srgbClr val="C9971F"/>
                </a:solidFill>
                <a:latin typeface="Calibri (MS) Bold"/>
                <a:ea typeface="Calibri (MS) Bold"/>
                <a:cs typeface="Calibri (MS) Bold"/>
                <a:sym typeface="Calibri (MS) Bold"/>
              </a:rPr>
              <a:t>3.  Analyze  </a:t>
            </a:r>
            <a:r>
              <a:rPr lang="en-US" sz="1875">
                <a:solidFill>
                  <a:srgbClr val="FFFFFF"/>
                </a:solidFill>
                <a:latin typeface="Calibri (MS)"/>
                <a:ea typeface="Calibri (MS)"/>
                <a:cs typeface="Calibri (MS)"/>
                <a:sym typeface="Calibri (MS)"/>
              </a:rPr>
              <a:t>Weaknesses, gaps, and root causes</a:t>
            </a:r>
          </a:p>
        </p:txBody>
      </p:sp>
      <p:sp>
        <p:nvSpPr>
          <p:cNvPr name="TextBox 41" id="41"/>
          <p:cNvSpPr txBox="true"/>
          <p:nvPr/>
        </p:nvSpPr>
        <p:spPr>
          <a:xfrm rot="0">
            <a:off x="9898151" y="6696456"/>
            <a:ext cx="7154951" cy="833628"/>
          </a:xfrm>
          <a:prstGeom prst="rect">
            <a:avLst/>
          </a:prstGeom>
        </p:spPr>
        <p:txBody>
          <a:bodyPr anchor="t" rtlCol="false" tIns="0" lIns="0" bIns="0" rIns="0">
            <a:spAutoFit/>
          </a:bodyPr>
          <a:lstStyle/>
          <a:p>
            <a:pPr algn="l">
              <a:lnSpc>
                <a:spcPts val="2250"/>
              </a:lnSpc>
            </a:pPr>
            <a:r>
              <a:rPr lang="en-US" b="true" sz="1875">
                <a:solidFill>
                  <a:srgbClr val="C9971F"/>
                </a:solidFill>
                <a:latin typeface="Calibri (MS) Bold"/>
                <a:ea typeface="Calibri (MS) Bold"/>
                <a:cs typeface="Calibri (MS) Bold"/>
                <a:sym typeface="Calibri (MS) Bold"/>
              </a:rPr>
              <a:t>4.  Improve  </a:t>
            </a:r>
            <a:r>
              <a:rPr lang="en-US" sz="1875">
                <a:solidFill>
                  <a:srgbClr val="FFFFFF"/>
                </a:solidFill>
                <a:latin typeface="Calibri (MS)"/>
                <a:ea typeface="Calibri (MS)"/>
                <a:cs typeface="Calibri (MS)"/>
                <a:sym typeface="Calibri (MS)"/>
              </a:rPr>
              <a:t>Targeted action, training, policy, technical change</a:t>
            </a:r>
          </a:p>
        </p:txBody>
      </p:sp>
      <p:sp>
        <p:nvSpPr>
          <p:cNvPr name="TextBox 42" id="42"/>
          <p:cNvSpPr txBox="true"/>
          <p:nvPr/>
        </p:nvSpPr>
        <p:spPr>
          <a:xfrm rot="0">
            <a:off x="9898151" y="7546848"/>
            <a:ext cx="7154951" cy="833628"/>
          </a:xfrm>
          <a:prstGeom prst="rect">
            <a:avLst/>
          </a:prstGeom>
        </p:spPr>
        <p:txBody>
          <a:bodyPr anchor="t" rtlCol="false" tIns="0" lIns="0" bIns="0" rIns="0">
            <a:spAutoFit/>
          </a:bodyPr>
          <a:lstStyle/>
          <a:p>
            <a:pPr algn="l">
              <a:lnSpc>
                <a:spcPts val="2250"/>
              </a:lnSpc>
            </a:pPr>
            <a:r>
              <a:rPr lang="en-US" b="true" sz="1875">
                <a:solidFill>
                  <a:srgbClr val="C9971F"/>
                </a:solidFill>
                <a:latin typeface="Calibri (MS) Bold"/>
                <a:ea typeface="Calibri (MS) Bold"/>
                <a:cs typeface="Calibri (MS) Bold"/>
                <a:sym typeface="Calibri (MS) Bold"/>
              </a:rPr>
              <a:t>5.  Control  </a:t>
            </a:r>
            <a:r>
              <a:rPr lang="en-US" sz="1875">
                <a:solidFill>
                  <a:srgbClr val="FFFFFF"/>
                </a:solidFill>
                <a:latin typeface="Calibri (MS)"/>
                <a:ea typeface="Calibri (MS)"/>
                <a:cs typeface="Calibri (MS)"/>
                <a:sym typeface="Calibri (MS)"/>
              </a:rPr>
              <a:t>Monitor, document, and review periodically</a:t>
            </a:r>
          </a:p>
        </p:txBody>
      </p:sp>
      <p:grpSp>
        <p:nvGrpSpPr>
          <p:cNvPr name="Group 43" id="43"/>
          <p:cNvGrpSpPr/>
          <p:nvPr/>
        </p:nvGrpSpPr>
        <p:grpSpPr>
          <a:xfrm rot="0">
            <a:off x="822960" y="9710928"/>
            <a:ext cx="12344400" cy="411480"/>
            <a:chOff x="0" y="0"/>
            <a:chExt cx="16459200" cy="548640"/>
          </a:xfrm>
        </p:grpSpPr>
        <p:sp>
          <p:nvSpPr>
            <p:cNvPr name="Freeform 44" id="44"/>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5" id="45"/>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46" id="46"/>
          <p:cNvGrpSpPr/>
          <p:nvPr/>
        </p:nvGrpSpPr>
        <p:grpSpPr>
          <a:xfrm rot="0">
            <a:off x="16778783" y="9710928"/>
            <a:ext cx="685800" cy="411480"/>
            <a:chOff x="0" y="0"/>
            <a:chExt cx="914400" cy="548640"/>
          </a:xfrm>
        </p:grpSpPr>
        <p:sp>
          <p:nvSpPr>
            <p:cNvPr name="Freeform 47" id="4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8" id="4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24</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GOVERNANCE SUCCESS METRICS</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How Progress Is Measured</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aphicFrame>
        <p:nvGraphicFramePr>
          <p:cNvPr name="Table 7" id="7"/>
          <p:cNvGraphicFramePr>
            <a:graphicFrameLocks noGrp="true"/>
          </p:cNvGraphicFramePr>
          <p:nvPr/>
        </p:nvGraphicFramePr>
        <p:xfrm>
          <a:off x="822960" y="2674620"/>
          <a:ext cx="16630650" cy="3457575"/>
        </p:xfrm>
        <a:graphic>
          <a:graphicData uri="http://schemas.openxmlformats.org/drawingml/2006/table">
            <a:tbl>
              <a:tblPr/>
              <a:tblGrid>
                <a:gridCol w="5493829"/>
                <a:gridCol w="11136821"/>
              </a:tblGrid>
              <a:tr h="592181">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Category</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1E2761"/>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Key Indicators</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1E2761"/>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Participation</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 of departments/LGUs with a designated coordinator; training attendance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Maturity Improvement</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Gains in NIST CSF Tier scores; gaps closed and sustained</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Incident Management</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Detection, response, and recovery time; recurrence rate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Compliance &amp; Audit Readiness</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Policy completion; DICT and NPC conformance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EEF3FC"/>
                    </a:solidFill>
                  </a:tcPr>
                </a:tc>
              </a:tr>
              <a:tr h="573079">
                <a:tc>
                  <a:txBody>
                    <a:bodyPr anchor="t" rtlCol="false"/>
                    <a:lstStyle/>
                    <a:p>
                      <a:pPr algn="l">
                        <a:lnSpc>
                          <a:spcPts val="2250"/>
                        </a:lnSpc>
                        <a:defRPr/>
                      </a:pPr>
                      <a:r>
                        <a:rPr lang="en-US" sz="1875">
                          <a:solidFill>
                            <a:srgbClr val="222222"/>
                          </a:solidFill>
                          <a:latin typeface="Calibri (MS)"/>
                          <a:ea typeface="Calibri (MS)"/>
                          <a:cs typeface="Calibri (MS)"/>
                          <a:sym typeface="Calibri (MS)"/>
                        </a:rPr>
                        <a:t>Reporting and Review</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22222"/>
                          </a:solidFill>
                          <a:latin typeface="Calibri (MS)"/>
                          <a:ea typeface="Calibri (MS)"/>
                          <a:cs typeface="Calibri (MS)"/>
                          <a:sym typeface="Calibri (MS)"/>
                        </a:rPr>
                        <a:t>PCPMO → Steering Committee reporting cadence</a:t>
                      </a:r>
                      <a:endParaRPr lang="en-US" sz="1100"/>
                    </a:p>
                  </a:txBody>
                  <a:tcPr marL="91450" marR="91450" marT="91450" marB="91450" anchor="ctr">
                    <a:lnL cmpd="sng" algn="ctr" cap="flat" w="9525">
                      <a:solidFill>
                        <a:srgbClr val="D8DCE8"/>
                      </a:solidFill>
                      <a:prstDash val="solid"/>
                      <a:round/>
                      <a:headEnd type="none" w="med" len="med"/>
                      <a:tailEnd type="none" w="med" len="med"/>
                    </a:lnL>
                    <a:lnR cmpd="sng" algn="ctr" cap="flat" w="9525">
                      <a:solidFill>
                        <a:srgbClr val="D8DCE8"/>
                      </a:solidFill>
                      <a:prstDash val="solid"/>
                      <a:round/>
                      <a:headEnd type="none" w="med" len="med"/>
                      <a:tailEnd type="none" w="med" len="med"/>
                    </a:lnR>
                    <a:lnT cmpd="sng" algn="ctr" cap="flat" w="9525">
                      <a:solidFill>
                        <a:srgbClr val="D8DCE8"/>
                      </a:solidFill>
                      <a:prstDash val="solid"/>
                      <a:round/>
                      <a:headEnd type="none" w="med" len="med"/>
                      <a:tailEnd type="none" w="med" len="med"/>
                    </a:lnT>
                    <a:lnB cmpd="sng" algn="ctr" cap="flat" w="9525">
                      <a:solidFill>
                        <a:srgbClr val="D8DCE8"/>
                      </a:solidFill>
                      <a:prstDash val="solid"/>
                      <a:round/>
                      <a:headEnd type="none" w="med" len="med"/>
                      <a:tailEnd type="none" w="med" len="med"/>
                    </a:lnB>
                    <a:solidFill>
                      <a:srgbClr val="FFFFFF"/>
                    </a:solidFill>
                  </a:tcPr>
                </a:tc>
              </a:tr>
            </a:tbl>
          </a:graphicData>
        </a:graphic>
      </p:graphicFrame>
      <p:grpSp>
        <p:nvGrpSpPr>
          <p:cNvPr name="Group 8" id="8"/>
          <p:cNvGrpSpPr/>
          <p:nvPr/>
        </p:nvGrpSpPr>
        <p:grpSpPr>
          <a:xfrm rot="0">
            <a:off x="822960" y="9710928"/>
            <a:ext cx="12344400" cy="411480"/>
            <a:chOff x="0" y="0"/>
            <a:chExt cx="16459200" cy="548640"/>
          </a:xfrm>
        </p:grpSpPr>
        <p:sp>
          <p:nvSpPr>
            <p:cNvPr name="Freeform 9" id="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0" id="10"/>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1" id="11"/>
          <p:cNvGrpSpPr/>
          <p:nvPr/>
        </p:nvGrpSpPr>
        <p:grpSpPr>
          <a:xfrm rot="0">
            <a:off x="16778783"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25</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758835"/>
            <a:chOff x="0" y="0"/>
            <a:chExt cx="14630400" cy="1011780"/>
          </a:xfrm>
        </p:grpSpPr>
        <p:sp>
          <p:nvSpPr>
            <p:cNvPr name="Freeform 3" id="3"/>
            <p:cNvSpPr/>
            <p:nvPr/>
          </p:nvSpPr>
          <p:spPr>
            <a:xfrm flipH="false" flipV="false" rot="0">
              <a:off x="0" y="0"/>
              <a:ext cx="14630400" cy="1011780"/>
            </a:xfrm>
            <a:custGeom>
              <a:avLst/>
              <a:gdLst/>
              <a:ahLst/>
              <a:cxnLst/>
              <a:rect r="r" b="b" t="t" l="l"/>
              <a:pathLst>
                <a:path h="1011780" w="14630400">
                  <a:moveTo>
                    <a:pt x="0" y="0"/>
                  </a:moveTo>
                  <a:lnTo>
                    <a:pt x="14630400" y="0"/>
                  </a:lnTo>
                  <a:lnTo>
                    <a:pt x="14630400" y="1011780"/>
                  </a:lnTo>
                  <a:lnTo>
                    <a:pt x="0" y="1011780"/>
                  </a:lnTo>
                  <a:close/>
                </a:path>
              </a:pathLst>
            </a:custGeom>
            <a:blipFill>
              <a:blip r:embed="rId3">
                <a:alphaModFix amt="0"/>
              </a:blip>
              <a:stretch>
                <a:fillRect l="0" t="-250123" r="0" b="-213386"/>
              </a:stretch>
            </a:blipFill>
          </p:spPr>
        </p:sp>
        <p:sp>
          <p:nvSpPr>
            <p:cNvPr name="TextBox 4" id="4"/>
            <p:cNvSpPr txBox="true"/>
            <p:nvPr/>
          </p:nvSpPr>
          <p:spPr>
            <a:xfrm>
              <a:off x="0" y="-76200"/>
              <a:ext cx="14630400" cy="1087980"/>
            </a:xfrm>
            <a:prstGeom prst="rect">
              <a:avLst/>
            </a:prstGeom>
          </p:spPr>
          <p:txBody>
            <a:bodyPr anchor="ctr" rtlCol="false" tIns="0" lIns="0" bIns="0" rIns="0"/>
            <a:lstStyle/>
            <a:p>
              <a:pPr algn="l">
                <a:lnSpc>
                  <a:spcPts val="4559"/>
                </a:lnSpc>
              </a:pPr>
              <a:r>
                <a:rPr lang="en-US" b="true" sz="3799">
                  <a:solidFill>
                    <a:srgbClr val="141A47"/>
                  </a:solidFill>
                  <a:latin typeface="Calibri (MS) Bold"/>
                  <a:ea typeface="Calibri (MS) Bold"/>
                  <a:cs typeface="Calibri (MS) Bold"/>
                  <a:sym typeface="Calibri (MS) Bold"/>
                </a:rPr>
                <a:t>PROVINCIAL CYBERSECURITY PLAN 2026–2028</a:t>
              </a:r>
            </a:p>
          </p:txBody>
        </p:sp>
      </p:grpSp>
      <p:sp>
        <p:nvSpPr>
          <p:cNvPr name="TextBox 5" id="5"/>
          <p:cNvSpPr txBox="true"/>
          <p:nvPr/>
        </p:nvSpPr>
        <p:spPr>
          <a:xfrm rot="0">
            <a:off x="799146" y="1325382"/>
            <a:ext cx="16641623" cy="428559"/>
          </a:xfrm>
          <a:prstGeom prst="rect">
            <a:avLst/>
          </a:prstGeom>
        </p:spPr>
        <p:txBody>
          <a:bodyPr anchor="t" rtlCol="false" tIns="0" lIns="0" bIns="0" rIns="0">
            <a:spAutoFit/>
          </a:bodyPr>
          <a:lstStyle/>
          <a:p>
            <a:pPr algn="l">
              <a:lnSpc>
                <a:spcPts val="3360"/>
              </a:lnSpc>
            </a:pPr>
            <a:r>
              <a:rPr lang="en-US" b="true" sz="2800">
                <a:solidFill>
                  <a:srgbClr val="1E2761"/>
                </a:solidFill>
                <a:latin typeface="Cambria Bold"/>
                <a:ea typeface="Cambria Bold"/>
                <a:cs typeface="Cambria Bold"/>
                <a:sym typeface="Cambria Bold"/>
              </a:rPr>
              <a:t>What the Plan Adds to the Framework</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948940"/>
            <a:ext cx="16641623" cy="4937760"/>
            <a:chOff x="0" y="0"/>
            <a:chExt cx="22188830" cy="6583680"/>
          </a:xfrm>
        </p:grpSpPr>
        <p:sp>
          <p:nvSpPr>
            <p:cNvPr name="Freeform 8" id="8"/>
            <p:cNvSpPr/>
            <p:nvPr/>
          </p:nvSpPr>
          <p:spPr>
            <a:xfrm flipH="false" flipV="false" rot="0">
              <a:off x="0" y="0"/>
              <a:ext cx="22188932" cy="6583680"/>
            </a:xfrm>
            <a:custGeom>
              <a:avLst/>
              <a:gdLst/>
              <a:ahLst/>
              <a:cxnLst/>
              <a:rect r="r" b="b" t="t" l="l"/>
              <a:pathLst>
                <a:path h="6583680" w="22188932">
                  <a:moveTo>
                    <a:pt x="0" y="219456"/>
                  </a:moveTo>
                  <a:cubicBezTo>
                    <a:pt x="0" y="98298"/>
                    <a:pt x="98298" y="0"/>
                    <a:pt x="219456" y="0"/>
                  </a:cubicBezTo>
                  <a:lnTo>
                    <a:pt x="21969476" y="0"/>
                  </a:lnTo>
                  <a:cubicBezTo>
                    <a:pt x="22090633" y="0"/>
                    <a:pt x="22188932" y="98298"/>
                    <a:pt x="22188932" y="219456"/>
                  </a:cubicBezTo>
                  <a:lnTo>
                    <a:pt x="22188932" y="6364224"/>
                  </a:lnTo>
                  <a:cubicBezTo>
                    <a:pt x="22188932" y="6485382"/>
                    <a:pt x="22090633" y="6583680"/>
                    <a:pt x="21969476" y="6583680"/>
                  </a:cubicBezTo>
                  <a:lnTo>
                    <a:pt x="219456" y="6583680"/>
                  </a:lnTo>
                  <a:cubicBezTo>
                    <a:pt x="98298" y="6583680"/>
                    <a:pt x="0" y="6485382"/>
                    <a:pt x="0" y="6364224"/>
                  </a:cubicBezTo>
                  <a:close/>
                </a:path>
              </a:pathLst>
            </a:custGeom>
            <a:solidFill>
              <a:srgbClr val="EEF3FC"/>
            </a:solidFill>
          </p:spPr>
        </p:sp>
      </p:grpSp>
      <p:grpSp>
        <p:nvGrpSpPr>
          <p:cNvPr name="Group 9" id="9"/>
          <p:cNvGrpSpPr/>
          <p:nvPr/>
        </p:nvGrpSpPr>
        <p:grpSpPr>
          <a:xfrm rot="0">
            <a:off x="822960" y="2948940"/>
            <a:ext cx="123444" cy="4937760"/>
            <a:chOff x="0" y="0"/>
            <a:chExt cx="164592" cy="6583680"/>
          </a:xfrm>
        </p:grpSpPr>
        <p:sp>
          <p:nvSpPr>
            <p:cNvPr name="Freeform 10" id="10"/>
            <p:cNvSpPr/>
            <p:nvPr/>
          </p:nvSpPr>
          <p:spPr>
            <a:xfrm flipH="false" flipV="false" rot="0">
              <a:off x="0" y="0"/>
              <a:ext cx="164592" cy="6583680"/>
            </a:xfrm>
            <a:custGeom>
              <a:avLst/>
              <a:gdLst/>
              <a:ahLst/>
              <a:cxnLst/>
              <a:rect r="r" b="b" t="t" l="l"/>
              <a:pathLst>
                <a:path h="6583680" w="164592">
                  <a:moveTo>
                    <a:pt x="0" y="0"/>
                  </a:moveTo>
                  <a:lnTo>
                    <a:pt x="164592" y="0"/>
                  </a:lnTo>
                  <a:lnTo>
                    <a:pt x="164592" y="6583680"/>
                  </a:lnTo>
                  <a:lnTo>
                    <a:pt x="0" y="6583680"/>
                  </a:lnTo>
                  <a:close/>
                </a:path>
              </a:pathLst>
            </a:custGeom>
            <a:solidFill>
              <a:srgbClr val="C9971F"/>
            </a:solidFill>
          </p:spPr>
        </p:sp>
      </p:grpSp>
      <p:grpSp>
        <p:nvGrpSpPr>
          <p:cNvPr name="Group 11" id="11"/>
          <p:cNvGrpSpPr/>
          <p:nvPr/>
        </p:nvGrpSpPr>
        <p:grpSpPr>
          <a:xfrm rot="0">
            <a:off x="1577340" y="3429000"/>
            <a:ext cx="15132863" cy="3566160"/>
            <a:chOff x="0" y="0"/>
            <a:chExt cx="20177150" cy="4754880"/>
          </a:xfrm>
        </p:grpSpPr>
        <p:sp>
          <p:nvSpPr>
            <p:cNvPr name="Freeform 12" id="12"/>
            <p:cNvSpPr/>
            <p:nvPr/>
          </p:nvSpPr>
          <p:spPr>
            <a:xfrm flipH="false" flipV="false" rot="0">
              <a:off x="0" y="0"/>
              <a:ext cx="20177150" cy="4754880"/>
            </a:xfrm>
            <a:custGeom>
              <a:avLst/>
              <a:gdLst/>
              <a:ahLst/>
              <a:cxnLst/>
              <a:rect r="r" b="b" t="t" l="l"/>
              <a:pathLst>
                <a:path h="4754880" w="20177150">
                  <a:moveTo>
                    <a:pt x="0" y="0"/>
                  </a:moveTo>
                  <a:lnTo>
                    <a:pt x="20177150" y="0"/>
                  </a:lnTo>
                  <a:lnTo>
                    <a:pt x="20177150" y="4754880"/>
                  </a:lnTo>
                  <a:lnTo>
                    <a:pt x="0" y="4754880"/>
                  </a:lnTo>
                  <a:close/>
                </a:path>
              </a:pathLst>
            </a:custGeom>
            <a:blipFill>
              <a:blip r:embed="rId3">
                <a:alphaModFix amt="0"/>
              </a:blip>
              <a:stretch>
                <a:fillRect l="0" t="-32684" r="0" b="-32684"/>
              </a:stretch>
            </a:blipFill>
          </p:spPr>
        </p:sp>
        <p:sp>
          <p:nvSpPr>
            <p:cNvPr name="TextBox 13" id="13"/>
            <p:cNvSpPr txBox="true"/>
            <p:nvPr/>
          </p:nvSpPr>
          <p:spPr>
            <a:xfrm>
              <a:off x="0" y="-9525"/>
              <a:ext cx="20177150" cy="4764405"/>
            </a:xfrm>
            <a:prstGeom prst="rect">
              <a:avLst/>
            </a:prstGeom>
          </p:spPr>
          <p:txBody>
            <a:bodyPr anchor="ctr" rtlCol="false" tIns="0" lIns="0" bIns="0" rIns="0"/>
            <a:lstStyle/>
            <a:p>
              <a:pPr algn="l">
                <a:lnSpc>
                  <a:spcPts val="3960"/>
                </a:lnSpc>
              </a:pPr>
              <a:r>
                <a:rPr lang="en-US" sz="3300" i="true">
                  <a:solidFill>
                    <a:srgbClr val="1E2761"/>
                  </a:solidFill>
                  <a:latin typeface="Cambria Italics"/>
                  <a:ea typeface="Cambria Italics"/>
                  <a:cs typeface="Cambria Italics"/>
                  <a:sym typeface="Cambria Italics"/>
                </a:rPr>
                <a:t>Where the Framework defines who governs and how, the Plan is the operational, time-bound roadmap: what gets built, in what order, over the next three years, and how progress is measured.</a:t>
              </a:r>
            </a:p>
          </p:txBody>
        </p:sp>
      </p:grpSp>
      <p:grpSp>
        <p:nvGrpSpPr>
          <p:cNvPr name="Group 14" id="14"/>
          <p:cNvGrpSpPr/>
          <p:nvPr/>
        </p:nvGrpSpPr>
        <p:grpSpPr>
          <a:xfrm rot="0">
            <a:off x="822960" y="9710928"/>
            <a:ext cx="12344400" cy="411480"/>
            <a:chOff x="0" y="0"/>
            <a:chExt cx="16459200" cy="548640"/>
          </a:xfrm>
        </p:grpSpPr>
        <p:sp>
          <p:nvSpPr>
            <p:cNvPr name="Freeform 15" id="15"/>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6" id="16"/>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7" id="17"/>
          <p:cNvGrpSpPr/>
          <p:nvPr/>
        </p:nvGrpSpPr>
        <p:grpSpPr>
          <a:xfrm rot="0">
            <a:off x="16778783" y="9710928"/>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26</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PLAN COMPONENTS</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What the Plan Contains</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sp>
        <p:nvSpPr>
          <p:cNvPr name="TextBox 7" id="7"/>
          <p:cNvSpPr txBox="true"/>
          <p:nvPr/>
        </p:nvSpPr>
        <p:spPr>
          <a:xfrm rot="0">
            <a:off x="822960" y="2705100"/>
            <a:ext cx="16641623" cy="6347460"/>
          </a:xfrm>
          <a:prstGeom prst="rect">
            <a:avLst/>
          </a:prstGeom>
        </p:spPr>
        <p:txBody>
          <a:bodyPr anchor="t" rtlCol="false" tIns="0" lIns="0" bIns="0" rIns="0">
            <a:spAutoFit/>
          </a:bodyPr>
          <a:lstStyle/>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Executive summary and vision statement</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Legal and policy basis: RA 10173, DICT MC 006, National Cybersecurity Plan, the provincial EO/ordinance</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Baseline maturity assessment, by NIST CSF function, across departments and component LGUs</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Five strategic pillars, mapped to the Framework's governance processes</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Three-year roadmap with year-by-year milestones</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KPI dashboard, linked to the Framework's success metrics</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Resourcing and budget alignment across ICT, LDRRM, and Local Development Fund lines</a:t>
            </a: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Annual review folded into the Framework's maturity improvement cycle</a:t>
            </a:r>
          </a:p>
        </p:txBody>
      </p:sp>
      <p:grpSp>
        <p:nvGrpSpPr>
          <p:cNvPr name="Group 8" id="8"/>
          <p:cNvGrpSpPr/>
          <p:nvPr/>
        </p:nvGrpSpPr>
        <p:grpSpPr>
          <a:xfrm rot="0">
            <a:off x="822960" y="9710928"/>
            <a:ext cx="12344400" cy="411480"/>
            <a:chOff x="0" y="0"/>
            <a:chExt cx="16459200" cy="548640"/>
          </a:xfrm>
        </p:grpSpPr>
        <p:sp>
          <p:nvSpPr>
            <p:cNvPr name="Freeform 9" id="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0" id="10"/>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1" id="11"/>
          <p:cNvGrpSpPr/>
          <p:nvPr/>
        </p:nvGrpSpPr>
        <p:grpSpPr>
          <a:xfrm rot="0">
            <a:off x="16778783"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27</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STRATEGIC PILLARS</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Five Pillars, Mapped to the Framework</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743200"/>
            <a:ext cx="5272888" cy="3154680"/>
            <a:chOff x="0" y="0"/>
            <a:chExt cx="7030517" cy="4206240"/>
          </a:xfrm>
        </p:grpSpPr>
        <p:sp>
          <p:nvSpPr>
            <p:cNvPr name="Freeform 8" id="8"/>
            <p:cNvSpPr/>
            <p:nvPr/>
          </p:nvSpPr>
          <p:spPr>
            <a:xfrm flipH="false" flipV="false" rot="0">
              <a:off x="0" y="0"/>
              <a:ext cx="7030466" cy="4206240"/>
            </a:xfrm>
            <a:custGeom>
              <a:avLst/>
              <a:gdLst/>
              <a:ahLst/>
              <a:cxnLst/>
              <a:rect r="r" b="b" t="t" l="l"/>
              <a:pathLst>
                <a:path h="4206240" w="7030466">
                  <a:moveTo>
                    <a:pt x="0" y="146304"/>
                  </a:moveTo>
                  <a:cubicBezTo>
                    <a:pt x="0" y="65532"/>
                    <a:pt x="65532" y="0"/>
                    <a:pt x="146304" y="0"/>
                  </a:cubicBezTo>
                  <a:lnTo>
                    <a:pt x="6884162" y="0"/>
                  </a:lnTo>
                  <a:cubicBezTo>
                    <a:pt x="6964934" y="0"/>
                    <a:pt x="7030466" y="65532"/>
                    <a:pt x="7030466" y="146304"/>
                  </a:cubicBezTo>
                  <a:lnTo>
                    <a:pt x="7030466" y="4059936"/>
                  </a:lnTo>
                  <a:cubicBezTo>
                    <a:pt x="7030466" y="4140708"/>
                    <a:pt x="6964934" y="4206240"/>
                    <a:pt x="6884162" y="4206240"/>
                  </a:cubicBezTo>
                  <a:lnTo>
                    <a:pt x="146304" y="4206240"/>
                  </a:lnTo>
                  <a:cubicBezTo>
                    <a:pt x="65532" y="4206240"/>
                    <a:pt x="0" y="4140708"/>
                    <a:pt x="0" y="4059936"/>
                  </a:cubicBezTo>
                  <a:close/>
                </a:path>
              </a:pathLst>
            </a:custGeom>
            <a:solidFill>
              <a:srgbClr val="EEF3FC"/>
            </a:solidFill>
          </p:spPr>
        </p:sp>
      </p:grpSp>
      <p:grpSp>
        <p:nvGrpSpPr>
          <p:cNvPr name="Group 9" id="9"/>
          <p:cNvGrpSpPr/>
          <p:nvPr/>
        </p:nvGrpSpPr>
        <p:grpSpPr>
          <a:xfrm rot="0">
            <a:off x="1179576" y="3072384"/>
            <a:ext cx="630936" cy="630936"/>
            <a:chOff x="0" y="0"/>
            <a:chExt cx="841248" cy="841248"/>
          </a:xfrm>
        </p:grpSpPr>
        <p:sp>
          <p:nvSpPr>
            <p:cNvPr name="Freeform 10" id="10"/>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E2761"/>
            </a:solidFill>
          </p:spPr>
        </p:sp>
      </p:grpSp>
      <p:grpSp>
        <p:nvGrpSpPr>
          <p:cNvPr name="Group 11" id="11"/>
          <p:cNvGrpSpPr/>
          <p:nvPr/>
        </p:nvGrpSpPr>
        <p:grpSpPr>
          <a:xfrm rot="0">
            <a:off x="1179576" y="3072384"/>
            <a:ext cx="630936" cy="630936"/>
            <a:chOff x="0" y="0"/>
            <a:chExt cx="841248" cy="841248"/>
          </a:xfrm>
        </p:grpSpPr>
        <p:sp>
          <p:nvSpPr>
            <p:cNvPr name="Freeform 12" id="12"/>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13" id="13"/>
            <p:cNvSpPr txBox="true"/>
            <p:nvPr/>
          </p:nvSpPr>
          <p:spPr>
            <a:xfrm>
              <a:off x="0" y="-9525"/>
              <a:ext cx="841248" cy="850773"/>
            </a:xfrm>
            <a:prstGeom prst="rect">
              <a:avLst/>
            </a:prstGeom>
          </p:spPr>
          <p:txBody>
            <a:bodyPr anchor="ctr" rtlCol="false" tIns="0" lIns="0" bIns="0" rIns="0"/>
            <a:lstStyle/>
            <a:p>
              <a:pPr algn="ctr">
                <a:lnSpc>
                  <a:spcPts val="2879"/>
                </a:lnSpc>
              </a:pPr>
              <a:r>
                <a:rPr lang="en-US" b="true" sz="2400">
                  <a:solidFill>
                    <a:srgbClr val="C9971F"/>
                  </a:solidFill>
                  <a:latin typeface="Cambria Bold"/>
                  <a:ea typeface="Cambria Bold"/>
                  <a:cs typeface="Cambria Bold"/>
                  <a:sym typeface="Cambria Bold"/>
                </a:rPr>
                <a:t>1</a:t>
              </a:r>
            </a:p>
          </p:txBody>
        </p:sp>
      </p:grpSp>
      <p:sp>
        <p:nvSpPr>
          <p:cNvPr name="TextBox 14" id="14"/>
          <p:cNvSpPr txBox="true"/>
          <p:nvPr/>
        </p:nvSpPr>
        <p:spPr>
          <a:xfrm rot="0">
            <a:off x="1207008" y="3848862"/>
            <a:ext cx="4504792" cy="773430"/>
          </a:xfrm>
          <a:prstGeom prst="rect">
            <a:avLst/>
          </a:prstGeom>
        </p:spPr>
        <p:txBody>
          <a:bodyPr anchor="t" rtlCol="false" tIns="0" lIns="0" bIns="0" rIns="0">
            <a:spAutoFit/>
          </a:bodyPr>
          <a:lstStyle/>
          <a:p>
            <a:pPr algn="l">
              <a:lnSpc>
                <a:spcPts val="2700"/>
              </a:lnSpc>
            </a:pPr>
            <a:r>
              <a:rPr lang="en-US" b="true" sz="2250">
                <a:solidFill>
                  <a:srgbClr val="1E2761"/>
                </a:solidFill>
                <a:latin typeface="Cambria Bold"/>
                <a:ea typeface="Cambria Bold"/>
                <a:cs typeface="Cambria Bold"/>
                <a:sym typeface="Cambria Bold"/>
              </a:rPr>
              <a:t>Governance, Policy &amp; Compliance</a:t>
            </a:r>
          </a:p>
        </p:txBody>
      </p:sp>
      <p:sp>
        <p:nvSpPr>
          <p:cNvPr name="TextBox 15" id="15"/>
          <p:cNvSpPr txBox="true"/>
          <p:nvPr/>
        </p:nvSpPr>
        <p:spPr>
          <a:xfrm rot="0">
            <a:off x="1207008" y="4515612"/>
            <a:ext cx="4504792" cy="1135380"/>
          </a:xfrm>
          <a:prstGeom prst="rect">
            <a:avLst/>
          </a:prstGeom>
        </p:spPr>
        <p:txBody>
          <a:bodyPr anchor="t" rtlCol="false" tIns="0" lIns="0" bIns="0" rIns="0">
            <a:spAutoFit/>
          </a:bodyPr>
          <a:lstStyle/>
          <a:p>
            <a:pPr algn="l">
              <a:lnSpc>
                <a:spcPts val="2250"/>
              </a:lnSpc>
            </a:pPr>
            <a:r>
              <a:rPr lang="en-US" sz="1875">
                <a:solidFill>
                  <a:srgbClr val="222222"/>
                </a:solidFill>
                <a:latin typeface="Calibri (MS)"/>
                <a:ea typeface="Calibri (MS)"/>
                <a:cs typeface="Calibri (MS)"/>
                <a:sym typeface="Calibri (MS)"/>
              </a:rPr>
              <a:t>Gives the Policy Governance process a firm year-by-year timeline.</a:t>
            </a:r>
          </a:p>
        </p:txBody>
      </p:sp>
      <p:grpSp>
        <p:nvGrpSpPr>
          <p:cNvPr name="Group 16" id="16"/>
          <p:cNvGrpSpPr/>
          <p:nvPr/>
        </p:nvGrpSpPr>
        <p:grpSpPr>
          <a:xfrm rot="0">
            <a:off x="6507328" y="2743200"/>
            <a:ext cx="5272888" cy="3154680"/>
            <a:chOff x="0" y="0"/>
            <a:chExt cx="7030517" cy="4206240"/>
          </a:xfrm>
        </p:grpSpPr>
        <p:sp>
          <p:nvSpPr>
            <p:cNvPr name="Freeform 17" id="17"/>
            <p:cNvSpPr/>
            <p:nvPr/>
          </p:nvSpPr>
          <p:spPr>
            <a:xfrm flipH="false" flipV="false" rot="0">
              <a:off x="0" y="0"/>
              <a:ext cx="7030466" cy="4206240"/>
            </a:xfrm>
            <a:custGeom>
              <a:avLst/>
              <a:gdLst/>
              <a:ahLst/>
              <a:cxnLst/>
              <a:rect r="r" b="b" t="t" l="l"/>
              <a:pathLst>
                <a:path h="4206240" w="7030466">
                  <a:moveTo>
                    <a:pt x="0" y="146304"/>
                  </a:moveTo>
                  <a:cubicBezTo>
                    <a:pt x="0" y="65532"/>
                    <a:pt x="65532" y="0"/>
                    <a:pt x="146304" y="0"/>
                  </a:cubicBezTo>
                  <a:lnTo>
                    <a:pt x="6884162" y="0"/>
                  </a:lnTo>
                  <a:cubicBezTo>
                    <a:pt x="6964934" y="0"/>
                    <a:pt x="7030466" y="65532"/>
                    <a:pt x="7030466" y="146304"/>
                  </a:cubicBezTo>
                  <a:lnTo>
                    <a:pt x="7030466" y="4059936"/>
                  </a:lnTo>
                  <a:cubicBezTo>
                    <a:pt x="7030466" y="4140708"/>
                    <a:pt x="6964934" y="4206240"/>
                    <a:pt x="6884162" y="4206240"/>
                  </a:cubicBezTo>
                  <a:lnTo>
                    <a:pt x="146304" y="4206240"/>
                  </a:lnTo>
                  <a:cubicBezTo>
                    <a:pt x="65532" y="4206240"/>
                    <a:pt x="0" y="4140708"/>
                    <a:pt x="0" y="4059936"/>
                  </a:cubicBezTo>
                  <a:close/>
                </a:path>
              </a:pathLst>
            </a:custGeom>
            <a:solidFill>
              <a:srgbClr val="EEF3FC"/>
            </a:solidFill>
          </p:spPr>
        </p:sp>
      </p:grpSp>
      <p:grpSp>
        <p:nvGrpSpPr>
          <p:cNvPr name="Group 18" id="18"/>
          <p:cNvGrpSpPr/>
          <p:nvPr/>
        </p:nvGrpSpPr>
        <p:grpSpPr>
          <a:xfrm rot="0">
            <a:off x="6863944" y="3072384"/>
            <a:ext cx="630936" cy="630936"/>
            <a:chOff x="0" y="0"/>
            <a:chExt cx="841248" cy="841248"/>
          </a:xfrm>
        </p:grpSpPr>
        <p:sp>
          <p:nvSpPr>
            <p:cNvPr name="Freeform 19" id="19"/>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E2761"/>
            </a:solidFill>
          </p:spPr>
        </p:sp>
      </p:grpSp>
      <p:grpSp>
        <p:nvGrpSpPr>
          <p:cNvPr name="Group 20" id="20"/>
          <p:cNvGrpSpPr/>
          <p:nvPr/>
        </p:nvGrpSpPr>
        <p:grpSpPr>
          <a:xfrm rot="0">
            <a:off x="6863944" y="3072384"/>
            <a:ext cx="630936" cy="630936"/>
            <a:chOff x="0" y="0"/>
            <a:chExt cx="841248" cy="841248"/>
          </a:xfrm>
        </p:grpSpPr>
        <p:sp>
          <p:nvSpPr>
            <p:cNvPr name="Freeform 21" id="21"/>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22" id="22"/>
            <p:cNvSpPr txBox="true"/>
            <p:nvPr/>
          </p:nvSpPr>
          <p:spPr>
            <a:xfrm>
              <a:off x="0" y="-9525"/>
              <a:ext cx="841248" cy="850773"/>
            </a:xfrm>
            <a:prstGeom prst="rect">
              <a:avLst/>
            </a:prstGeom>
          </p:spPr>
          <p:txBody>
            <a:bodyPr anchor="ctr" rtlCol="false" tIns="0" lIns="0" bIns="0" rIns="0"/>
            <a:lstStyle/>
            <a:p>
              <a:pPr algn="ctr">
                <a:lnSpc>
                  <a:spcPts val="2879"/>
                </a:lnSpc>
              </a:pPr>
              <a:r>
                <a:rPr lang="en-US" b="true" sz="2400">
                  <a:solidFill>
                    <a:srgbClr val="C9971F"/>
                  </a:solidFill>
                  <a:latin typeface="Cambria Bold"/>
                  <a:ea typeface="Cambria Bold"/>
                  <a:cs typeface="Cambria Bold"/>
                  <a:sym typeface="Cambria Bold"/>
                </a:rPr>
                <a:t>2</a:t>
              </a:r>
            </a:p>
          </p:txBody>
        </p:sp>
      </p:grpSp>
      <p:sp>
        <p:nvSpPr>
          <p:cNvPr name="TextBox 23" id="23"/>
          <p:cNvSpPr txBox="true"/>
          <p:nvPr/>
        </p:nvSpPr>
        <p:spPr>
          <a:xfrm rot="0">
            <a:off x="6891376" y="3848862"/>
            <a:ext cx="4504792" cy="773430"/>
          </a:xfrm>
          <a:prstGeom prst="rect">
            <a:avLst/>
          </a:prstGeom>
        </p:spPr>
        <p:txBody>
          <a:bodyPr anchor="t" rtlCol="false" tIns="0" lIns="0" bIns="0" rIns="0">
            <a:spAutoFit/>
          </a:bodyPr>
          <a:lstStyle/>
          <a:p>
            <a:pPr algn="l">
              <a:lnSpc>
                <a:spcPts val="2700"/>
              </a:lnSpc>
            </a:pPr>
            <a:r>
              <a:rPr lang="en-US" b="true" sz="2250">
                <a:solidFill>
                  <a:srgbClr val="1E2761"/>
                </a:solidFill>
                <a:latin typeface="Cambria Bold"/>
                <a:ea typeface="Cambria Bold"/>
                <a:cs typeface="Cambria Bold"/>
                <a:sym typeface="Cambria Bold"/>
              </a:rPr>
              <a:t>Risk Management &amp; Resilience</a:t>
            </a:r>
          </a:p>
        </p:txBody>
      </p:sp>
      <p:sp>
        <p:nvSpPr>
          <p:cNvPr name="TextBox 24" id="24"/>
          <p:cNvSpPr txBox="true"/>
          <p:nvPr/>
        </p:nvSpPr>
        <p:spPr>
          <a:xfrm rot="0">
            <a:off x="6891376" y="4515612"/>
            <a:ext cx="4504792" cy="1135380"/>
          </a:xfrm>
          <a:prstGeom prst="rect">
            <a:avLst/>
          </a:prstGeom>
        </p:spPr>
        <p:txBody>
          <a:bodyPr anchor="t" rtlCol="false" tIns="0" lIns="0" bIns="0" rIns="0">
            <a:spAutoFit/>
          </a:bodyPr>
          <a:lstStyle/>
          <a:p>
            <a:pPr algn="l">
              <a:lnSpc>
                <a:spcPts val="2250"/>
              </a:lnSpc>
            </a:pPr>
            <a:r>
              <a:rPr lang="en-US" sz="1875">
                <a:solidFill>
                  <a:srgbClr val="222222"/>
                </a:solidFill>
                <a:latin typeface="Calibri (MS)"/>
                <a:ea typeface="Calibri (MS)"/>
                <a:cs typeface="Calibri (MS)"/>
                <a:sym typeface="Calibri (MS)"/>
              </a:rPr>
              <a:t>Operationalizes the Risk-Based Approach into a scheduled cycle.</a:t>
            </a:r>
          </a:p>
        </p:txBody>
      </p:sp>
      <p:grpSp>
        <p:nvGrpSpPr>
          <p:cNvPr name="Group 25" id="25"/>
          <p:cNvGrpSpPr/>
          <p:nvPr/>
        </p:nvGrpSpPr>
        <p:grpSpPr>
          <a:xfrm rot="0">
            <a:off x="12191695" y="2743200"/>
            <a:ext cx="5272888" cy="3154680"/>
            <a:chOff x="0" y="0"/>
            <a:chExt cx="7030517" cy="4206240"/>
          </a:xfrm>
        </p:grpSpPr>
        <p:sp>
          <p:nvSpPr>
            <p:cNvPr name="Freeform 26" id="26"/>
            <p:cNvSpPr/>
            <p:nvPr/>
          </p:nvSpPr>
          <p:spPr>
            <a:xfrm flipH="false" flipV="false" rot="0">
              <a:off x="0" y="0"/>
              <a:ext cx="7030466" cy="4206240"/>
            </a:xfrm>
            <a:custGeom>
              <a:avLst/>
              <a:gdLst/>
              <a:ahLst/>
              <a:cxnLst/>
              <a:rect r="r" b="b" t="t" l="l"/>
              <a:pathLst>
                <a:path h="4206240" w="7030466">
                  <a:moveTo>
                    <a:pt x="0" y="146304"/>
                  </a:moveTo>
                  <a:cubicBezTo>
                    <a:pt x="0" y="65532"/>
                    <a:pt x="65532" y="0"/>
                    <a:pt x="146304" y="0"/>
                  </a:cubicBezTo>
                  <a:lnTo>
                    <a:pt x="6884162" y="0"/>
                  </a:lnTo>
                  <a:cubicBezTo>
                    <a:pt x="6964934" y="0"/>
                    <a:pt x="7030466" y="65532"/>
                    <a:pt x="7030466" y="146304"/>
                  </a:cubicBezTo>
                  <a:lnTo>
                    <a:pt x="7030466" y="4059936"/>
                  </a:lnTo>
                  <a:cubicBezTo>
                    <a:pt x="7030466" y="4140708"/>
                    <a:pt x="6964934" y="4206240"/>
                    <a:pt x="6884162" y="4206240"/>
                  </a:cubicBezTo>
                  <a:lnTo>
                    <a:pt x="146304" y="4206240"/>
                  </a:lnTo>
                  <a:cubicBezTo>
                    <a:pt x="65532" y="4206240"/>
                    <a:pt x="0" y="4140708"/>
                    <a:pt x="0" y="4059936"/>
                  </a:cubicBezTo>
                  <a:close/>
                </a:path>
              </a:pathLst>
            </a:custGeom>
            <a:solidFill>
              <a:srgbClr val="EEF3FC"/>
            </a:solidFill>
          </p:spPr>
        </p:sp>
      </p:grpSp>
      <p:grpSp>
        <p:nvGrpSpPr>
          <p:cNvPr name="Group 27" id="27"/>
          <p:cNvGrpSpPr/>
          <p:nvPr/>
        </p:nvGrpSpPr>
        <p:grpSpPr>
          <a:xfrm rot="0">
            <a:off x="12548311" y="3072384"/>
            <a:ext cx="630936" cy="630936"/>
            <a:chOff x="0" y="0"/>
            <a:chExt cx="841248" cy="841248"/>
          </a:xfrm>
        </p:grpSpPr>
        <p:sp>
          <p:nvSpPr>
            <p:cNvPr name="Freeform 28" id="2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E2761"/>
            </a:solidFill>
          </p:spPr>
        </p:sp>
      </p:grpSp>
      <p:grpSp>
        <p:nvGrpSpPr>
          <p:cNvPr name="Group 29" id="29"/>
          <p:cNvGrpSpPr/>
          <p:nvPr/>
        </p:nvGrpSpPr>
        <p:grpSpPr>
          <a:xfrm rot="0">
            <a:off x="12548311" y="3072384"/>
            <a:ext cx="630936" cy="630936"/>
            <a:chOff x="0" y="0"/>
            <a:chExt cx="841248" cy="841248"/>
          </a:xfrm>
        </p:grpSpPr>
        <p:sp>
          <p:nvSpPr>
            <p:cNvPr name="Freeform 30" id="3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31" id="31"/>
            <p:cNvSpPr txBox="true"/>
            <p:nvPr/>
          </p:nvSpPr>
          <p:spPr>
            <a:xfrm>
              <a:off x="0" y="-9525"/>
              <a:ext cx="841248" cy="850773"/>
            </a:xfrm>
            <a:prstGeom prst="rect">
              <a:avLst/>
            </a:prstGeom>
          </p:spPr>
          <p:txBody>
            <a:bodyPr anchor="ctr" rtlCol="false" tIns="0" lIns="0" bIns="0" rIns="0"/>
            <a:lstStyle/>
            <a:p>
              <a:pPr algn="ctr">
                <a:lnSpc>
                  <a:spcPts val="2879"/>
                </a:lnSpc>
              </a:pPr>
              <a:r>
                <a:rPr lang="en-US" b="true" sz="2400">
                  <a:solidFill>
                    <a:srgbClr val="C9971F"/>
                  </a:solidFill>
                  <a:latin typeface="Cambria Bold"/>
                  <a:ea typeface="Cambria Bold"/>
                  <a:cs typeface="Cambria Bold"/>
                  <a:sym typeface="Cambria Bold"/>
                </a:rPr>
                <a:t>3</a:t>
              </a:r>
            </a:p>
          </p:txBody>
        </p:sp>
      </p:grpSp>
      <p:sp>
        <p:nvSpPr>
          <p:cNvPr name="TextBox 32" id="32"/>
          <p:cNvSpPr txBox="true"/>
          <p:nvPr/>
        </p:nvSpPr>
        <p:spPr>
          <a:xfrm rot="0">
            <a:off x="12575743" y="3848862"/>
            <a:ext cx="4504792" cy="773430"/>
          </a:xfrm>
          <a:prstGeom prst="rect">
            <a:avLst/>
          </a:prstGeom>
        </p:spPr>
        <p:txBody>
          <a:bodyPr anchor="t" rtlCol="false" tIns="0" lIns="0" bIns="0" rIns="0">
            <a:spAutoFit/>
          </a:bodyPr>
          <a:lstStyle/>
          <a:p>
            <a:pPr algn="l">
              <a:lnSpc>
                <a:spcPts val="2700"/>
              </a:lnSpc>
            </a:pPr>
            <a:r>
              <a:rPr lang="en-US" b="true" sz="2250">
                <a:solidFill>
                  <a:srgbClr val="1E2761"/>
                </a:solidFill>
                <a:latin typeface="Cambria Bold"/>
                <a:ea typeface="Cambria Bold"/>
                <a:cs typeface="Cambria Bold"/>
                <a:sym typeface="Cambria Bold"/>
              </a:rPr>
              <a:t>Detection, Monitoring &amp; Incident Response</a:t>
            </a:r>
          </a:p>
        </p:txBody>
      </p:sp>
      <p:sp>
        <p:nvSpPr>
          <p:cNvPr name="TextBox 33" id="33"/>
          <p:cNvSpPr txBox="true"/>
          <p:nvPr/>
        </p:nvSpPr>
        <p:spPr>
          <a:xfrm rot="0">
            <a:off x="12575743" y="4515612"/>
            <a:ext cx="4504792" cy="1135380"/>
          </a:xfrm>
          <a:prstGeom prst="rect">
            <a:avLst/>
          </a:prstGeom>
        </p:spPr>
        <p:txBody>
          <a:bodyPr anchor="t" rtlCol="false" tIns="0" lIns="0" bIns="0" rIns="0">
            <a:spAutoFit/>
          </a:bodyPr>
          <a:lstStyle/>
          <a:p>
            <a:pPr algn="l">
              <a:lnSpc>
                <a:spcPts val="2250"/>
              </a:lnSpc>
            </a:pPr>
            <a:r>
              <a:rPr lang="en-US" sz="1875">
                <a:solidFill>
                  <a:srgbClr val="222222"/>
                </a:solidFill>
                <a:latin typeface="Calibri (MS)"/>
                <a:ea typeface="Calibri (MS)"/>
                <a:cs typeface="Calibri (MS)"/>
                <a:sym typeface="Calibri (MS)"/>
              </a:rPr>
              <a:t>Sequences the buildout of logging and alerting capability.</a:t>
            </a:r>
          </a:p>
        </p:txBody>
      </p:sp>
      <p:grpSp>
        <p:nvGrpSpPr>
          <p:cNvPr name="Group 34" id="34"/>
          <p:cNvGrpSpPr/>
          <p:nvPr/>
        </p:nvGrpSpPr>
        <p:grpSpPr>
          <a:xfrm rot="0">
            <a:off x="822960" y="6309360"/>
            <a:ext cx="5272888" cy="3154680"/>
            <a:chOff x="0" y="0"/>
            <a:chExt cx="7030517" cy="4206240"/>
          </a:xfrm>
        </p:grpSpPr>
        <p:sp>
          <p:nvSpPr>
            <p:cNvPr name="Freeform 35" id="35"/>
            <p:cNvSpPr/>
            <p:nvPr/>
          </p:nvSpPr>
          <p:spPr>
            <a:xfrm flipH="false" flipV="false" rot="0">
              <a:off x="0" y="0"/>
              <a:ext cx="7030466" cy="4206240"/>
            </a:xfrm>
            <a:custGeom>
              <a:avLst/>
              <a:gdLst/>
              <a:ahLst/>
              <a:cxnLst/>
              <a:rect r="r" b="b" t="t" l="l"/>
              <a:pathLst>
                <a:path h="4206240" w="7030466">
                  <a:moveTo>
                    <a:pt x="0" y="146304"/>
                  </a:moveTo>
                  <a:cubicBezTo>
                    <a:pt x="0" y="65532"/>
                    <a:pt x="65532" y="0"/>
                    <a:pt x="146304" y="0"/>
                  </a:cubicBezTo>
                  <a:lnTo>
                    <a:pt x="6884162" y="0"/>
                  </a:lnTo>
                  <a:cubicBezTo>
                    <a:pt x="6964934" y="0"/>
                    <a:pt x="7030466" y="65532"/>
                    <a:pt x="7030466" y="146304"/>
                  </a:cubicBezTo>
                  <a:lnTo>
                    <a:pt x="7030466" y="4059936"/>
                  </a:lnTo>
                  <a:cubicBezTo>
                    <a:pt x="7030466" y="4140708"/>
                    <a:pt x="6964934" y="4206240"/>
                    <a:pt x="6884162" y="4206240"/>
                  </a:cubicBezTo>
                  <a:lnTo>
                    <a:pt x="146304" y="4206240"/>
                  </a:lnTo>
                  <a:cubicBezTo>
                    <a:pt x="65532" y="4206240"/>
                    <a:pt x="0" y="4140708"/>
                    <a:pt x="0" y="4059936"/>
                  </a:cubicBezTo>
                  <a:close/>
                </a:path>
              </a:pathLst>
            </a:custGeom>
            <a:solidFill>
              <a:srgbClr val="EEF3FC"/>
            </a:solidFill>
          </p:spPr>
        </p:sp>
      </p:grpSp>
      <p:grpSp>
        <p:nvGrpSpPr>
          <p:cNvPr name="Group 36" id="36"/>
          <p:cNvGrpSpPr/>
          <p:nvPr/>
        </p:nvGrpSpPr>
        <p:grpSpPr>
          <a:xfrm rot="0">
            <a:off x="1179576" y="6638544"/>
            <a:ext cx="630936" cy="630936"/>
            <a:chOff x="0" y="0"/>
            <a:chExt cx="841248" cy="841248"/>
          </a:xfrm>
        </p:grpSpPr>
        <p:sp>
          <p:nvSpPr>
            <p:cNvPr name="Freeform 37" id="37"/>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E2761"/>
            </a:solidFill>
          </p:spPr>
        </p:sp>
      </p:grpSp>
      <p:grpSp>
        <p:nvGrpSpPr>
          <p:cNvPr name="Group 38" id="38"/>
          <p:cNvGrpSpPr/>
          <p:nvPr/>
        </p:nvGrpSpPr>
        <p:grpSpPr>
          <a:xfrm rot="0">
            <a:off x="1179576" y="6638544"/>
            <a:ext cx="630936" cy="630936"/>
            <a:chOff x="0" y="0"/>
            <a:chExt cx="841248" cy="841248"/>
          </a:xfrm>
        </p:grpSpPr>
        <p:sp>
          <p:nvSpPr>
            <p:cNvPr name="Freeform 39" id="39"/>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40" id="40"/>
            <p:cNvSpPr txBox="true"/>
            <p:nvPr/>
          </p:nvSpPr>
          <p:spPr>
            <a:xfrm>
              <a:off x="0" y="-9525"/>
              <a:ext cx="841248" cy="850773"/>
            </a:xfrm>
            <a:prstGeom prst="rect">
              <a:avLst/>
            </a:prstGeom>
          </p:spPr>
          <p:txBody>
            <a:bodyPr anchor="ctr" rtlCol="false" tIns="0" lIns="0" bIns="0" rIns="0"/>
            <a:lstStyle/>
            <a:p>
              <a:pPr algn="ctr">
                <a:lnSpc>
                  <a:spcPts val="2879"/>
                </a:lnSpc>
              </a:pPr>
              <a:r>
                <a:rPr lang="en-US" b="true" sz="2400">
                  <a:solidFill>
                    <a:srgbClr val="C9971F"/>
                  </a:solidFill>
                  <a:latin typeface="Cambria Bold"/>
                  <a:ea typeface="Cambria Bold"/>
                  <a:cs typeface="Cambria Bold"/>
                  <a:sym typeface="Cambria Bold"/>
                </a:rPr>
                <a:t>4</a:t>
              </a:r>
            </a:p>
          </p:txBody>
        </p:sp>
      </p:grpSp>
      <p:sp>
        <p:nvSpPr>
          <p:cNvPr name="TextBox 41" id="41"/>
          <p:cNvSpPr txBox="true"/>
          <p:nvPr/>
        </p:nvSpPr>
        <p:spPr>
          <a:xfrm rot="0">
            <a:off x="1207008" y="7415022"/>
            <a:ext cx="4504792" cy="773430"/>
          </a:xfrm>
          <a:prstGeom prst="rect">
            <a:avLst/>
          </a:prstGeom>
        </p:spPr>
        <p:txBody>
          <a:bodyPr anchor="t" rtlCol="false" tIns="0" lIns="0" bIns="0" rIns="0">
            <a:spAutoFit/>
          </a:bodyPr>
          <a:lstStyle/>
          <a:p>
            <a:pPr algn="l">
              <a:lnSpc>
                <a:spcPts val="2700"/>
              </a:lnSpc>
            </a:pPr>
            <a:r>
              <a:rPr lang="en-US" b="true" sz="2250">
                <a:solidFill>
                  <a:srgbClr val="1E2761"/>
                </a:solidFill>
                <a:latin typeface="Cambria Bold"/>
                <a:ea typeface="Cambria Bold"/>
                <a:cs typeface="Cambria Bold"/>
                <a:sym typeface="Cambria Bold"/>
              </a:rPr>
              <a:t>Capacity Building &amp; Culture</a:t>
            </a:r>
          </a:p>
        </p:txBody>
      </p:sp>
      <p:sp>
        <p:nvSpPr>
          <p:cNvPr name="TextBox 42" id="42"/>
          <p:cNvSpPr txBox="true"/>
          <p:nvPr/>
        </p:nvSpPr>
        <p:spPr>
          <a:xfrm rot="0">
            <a:off x="1207008" y="8081772"/>
            <a:ext cx="4504792" cy="1135380"/>
          </a:xfrm>
          <a:prstGeom prst="rect">
            <a:avLst/>
          </a:prstGeom>
        </p:spPr>
        <p:txBody>
          <a:bodyPr anchor="t" rtlCol="false" tIns="0" lIns="0" bIns="0" rIns="0">
            <a:spAutoFit/>
          </a:bodyPr>
          <a:lstStyle/>
          <a:p>
            <a:pPr algn="l">
              <a:lnSpc>
                <a:spcPts val="2250"/>
              </a:lnSpc>
            </a:pPr>
            <a:r>
              <a:rPr lang="en-US" sz="1875">
                <a:solidFill>
                  <a:srgbClr val="222222"/>
                </a:solidFill>
                <a:latin typeface="Calibri (MS)"/>
                <a:ea typeface="Calibri (MS)"/>
                <a:cs typeface="Calibri (MS)"/>
                <a:sym typeface="Calibri (MS)"/>
              </a:rPr>
              <a:t>Turns training into a recurring calendar with a DISC pathway.</a:t>
            </a:r>
          </a:p>
        </p:txBody>
      </p:sp>
      <p:grpSp>
        <p:nvGrpSpPr>
          <p:cNvPr name="Group 43" id="43"/>
          <p:cNvGrpSpPr/>
          <p:nvPr/>
        </p:nvGrpSpPr>
        <p:grpSpPr>
          <a:xfrm rot="0">
            <a:off x="6507328" y="6309360"/>
            <a:ext cx="5272888" cy="3154680"/>
            <a:chOff x="0" y="0"/>
            <a:chExt cx="7030517" cy="4206240"/>
          </a:xfrm>
        </p:grpSpPr>
        <p:sp>
          <p:nvSpPr>
            <p:cNvPr name="Freeform 44" id="44"/>
            <p:cNvSpPr/>
            <p:nvPr/>
          </p:nvSpPr>
          <p:spPr>
            <a:xfrm flipH="false" flipV="false" rot="0">
              <a:off x="0" y="0"/>
              <a:ext cx="7030466" cy="4206240"/>
            </a:xfrm>
            <a:custGeom>
              <a:avLst/>
              <a:gdLst/>
              <a:ahLst/>
              <a:cxnLst/>
              <a:rect r="r" b="b" t="t" l="l"/>
              <a:pathLst>
                <a:path h="4206240" w="7030466">
                  <a:moveTo>
                    <a:pt x="0" y="146304"/>
                  </a:moveTo>
                  <a:cubicBezTo>
                    <a:pt x="0" y="65532"/>
                    <a:pt x="65532" y="0"/>
                    <a:pt x="146304" y="0"/>
                  </a:cubicBezTo>
                  <a:lnTo>
                    <a:pt x="6884162" y="0"/>
                  </a:lnTo>
                  <a:cubicBezTo>
                    <a:pt x="6964934" y="0"/>
                    <a:pt x="7030466" y="65532"/>
                    <a:pt x="7030466" y="146304"/>
                  </a:cubicBezTo>
                  <a:lnTo>
                    <a:pt x="7030466" y="4059936"/>
                  </a:lnTo>
                  <a:cubicBezTo>
                    <a:pt x="7030466" y="4140708"/>
                    <a:pt x="6964934" y="4206240"/>
                    <a:pt x="6884162" y="4206240"/>
                  </a:cubicBezTo>
                  <a:lnTo>
                    <a:pt x="146304" y="4206240"/>
                  </a:lnTo>
                  <a:cubicBezTo>
                    <a:pt x="65532" y="4206240"/>
                    <a:pt x="0" y="4140708"/>
                    <a:pt x="0" y="4059936"/>
                  </a:cubicBezTo>
                  <a:close/>
                </a:path>
              </a:pathLst>
            </a:custGeom>
            <a:solidFill>
              <a:srgbClr val="EEF3FC"/>
            </a:solidFill>
          </p:spPr>
        </p:sp>
      </p:grpSp>
      <p:grpSp>
        <p:nvGrpSpPr>
          <p:cNvPr name="Group 45" id="45"/>
          <p:cNvGrpSpPr/>
          <p:nvPr/>
        </p:nvGrpSpPr>
        <p:grpSpPr>
          <a:xfrm rot="0">
            <a:off x="6863944" y="6638544"/>
            <a:ext cx="630936" cy="630936"/>
            <a:chOff x="0" y="0"/>
            <a:chExt cx="841248" cy="841248"/>
          </a:xfrm>
        </p:grpSpPr>
        <p:sp>
          <p:nvSpPr>
            <p:cNvPr name="Freeform 46" id="46"/>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E2761"/>
            </a:solidFill>
          </p:spPr>
        </p:sp>
      </p:grpSp>
      <p:grpSp>
        <p:nvGrpSpPr>
          <p:cNvPr name="Group 47" id="47"/>
          <p:cNvGrpSpPr/>
          <p:nvPr/>
        </p:nvGrpSpPr>
        <p:grpSpPr>
          <a:xfrm rot="0">
            <a:off x="6863944" y="6638544"/>
            <a:ext cx="630936" cy="630936"/>
            <a:chOff x="0" y="0"/>
            <a:chExt cx="841248" cy="841248"/>
          </a:xfrm>
        </p:grpSpPr>
        <p:sp>
          <p:nvSpPr>
            <p:cNvPr name="Freeform 48" id="48"/>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49" id="49"/>
            <p:cNvSpPr txBox="true"/>
            <p:nvPr/>
          </p:nvSpPr>
          <p:spPr>
            <a:xfrm>
              <a:off x="0" y="-9525"/>
              <a:ext cx="841248" cy="850773"/>
            </a:xfrm>
            <a:prstGeom prst="rect">
              <a:avLst/>
            </a:prstGeom>
          </p:spPr>
          <p:txBody>
            <a:bodyPr anchor="ctr" rtlCol="false" tIns="0" lIns="0" bIns="0" rIns="0"/>
            <a:lstStyle/>
            <a:p>
              <a:pPr algn="ctr">
                <a:lnSpc>
                  <a:spcPts val="2879"/>
                </a:lnSpc>
              </a:pPr>
              <a:r>
                <a:rPr lang="en-US" b="true" sz="2400">
                  <a:solidFill>
                    <a:srgbClr val="C9971F"/>
                  </a:solidFill>
                  <a:latin typeface="Cambria Bold"/>
                  <a:ea typeface="Cambria Bold"/>
                  <a:cs typeface="Cambria Bold"/>
                  <a:sym typeface="Cambria Bold"/>
                </a:rPr>
                <a:t>5</a:t>
              </a:r>
            </a:p>
          </p:txBody>
        </p:sp>
      </p:grpSp>
      <p:sp>
        <p:nvSpPr>
          <p:cNvPr name="TextBox 50" id="50"/>
          <p:cNvSpPr txBox="true"/>
          <p:nvPr/>
        </p:nvSpPr>
        <p:spPr>
          <a:xfrm rot="0">
            <a:off x="6891376" y="7415022"/>
            <a:ext cx="4504792" cy="773430"/>
          </a:xfrm>
          <a:prstGeom prst="rect">
            <a:avLst/>
          </a:prstGeom>
        </p:spPr>
        <p:txBody>
          <a:bodyPr anchor="t" rtlCol="false" tIns="0" lIns="0" bIns="0" rIns="0">
            <a:spAutoFit/>
          </a:bodyPr>
          <a:lstStyle/>
          <a:p>
            <a:pPr algn="l">
              <a:lnSpc>
                <a:spcPts val="2700"/>
              </a:lnSpc>
            </a:pPr>
            <a:r>
              <a:rPr lang="en-US" b="true" sz="2250">
                <a:solidFill>
                  <a:srgbClr val="1E2761"/>
                </a:solidFill>
                <a:latin typeface="Cambria Bold"/>
                <a:ea typeface="Cambria Bold"/>
                <a:cs typeface="Cambria Bold"/>
                <a:sym typeface="Cambria Bold"/>
              </a:rPr>
              <a:t>Technology &amp; Infrastructure Modernization</a:t>
            </a:r>
          </a:p>
        </p:txBody>
      </p:sp>
      <p:sp>
        <p:nvSpPr>
          <p:cNvPr name="TextBox 51" id="51"/>
          <p:cNvSpPr txBox="true"/>
          <p:nvPr/>
        </p:nvSpPr>
        <p:spPr>
          <a:xfrm rot="0">
            <a:off x="6891376" y="8081772"/>
            <a:ext cx="4504792" cy="1135380"/>
          </a:xfrm>
          <a:prstGeom prst="rect">
            <a:avLst/>
          </a:prstGeom>
        </p:spPr>
        <p:txBody>
          <a:bodyPr anchor="t" rtlCol="false" tIns="0" lIns="0" bIns="0" rIns="0">
            <a:spAutoFit/>
          </a:bodyPr>
          <a:lstStyle/>
          <a:p>
            <a:pPr algn="l">
              <a:lnSpc>
                <a:spcPts val="2250"/>
              </a:lnSpc>
            </a:pPr>
            <a:r>
              <a:rPr lang="en-US" sz="1875">
                <a:solidFill>
                  <a:srgbClr val="222222"/>
                </a:solidFill>
                <a:latin typeface="Calibri (MS)"/>
                <a:ea typeface="Calibri (MS)"/>
                <a:cs typeface="Calibri (MS)"/>
                <a:sym typeface="Calibri (MS)"/>
              </a:rPr>
              <a:t>Budgets and sequences the investments the other pillars need.</a:t>
            </a:r>
          </a:p>
        </p:txBody>
      </p:sp>
      <p:grpSp>
        <p:nvGrpSpPr>
          <p:cNvPr name="Group 52" id="52"/>
          <p:cNvGrpSpPr/>
          <p:nvPr/>
        </p:nvGrpSpPr>
        <p:grpSpPr>
          <a:xfrm rot="0">
            <a:off x="822960" y="9710928"/>
            <a:ext cx="12344400" cy="411480"/>
            <a:chOff x="0" y="0"/>
            <a:chExt cx="16459200" cy="548640"/>
          </a:xfrm>
        </p:grpSpPr>
        <p:sp>
          <p:nvSpPr>
            <p:cNvPr name="Freeform 53" id="5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54" id="54"/>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55" id="55"/>
          <p:cNvGrpSpPr/>
          <p:nvPr/>
        </p:nvGrpSpPr>
        <p:grpSpPr>
          <a:xfrm rot="0">
            <a:off x="16778783" y="9710928"/>
            <a:ext cx="685800" cy="411480"/>
            <a:chOff x="0" y="0"/>
            <a:chExt cx="914400" cy="548640"/>
          </a:xfrm>
        </p:grpSpPr>
        <p:sp>
          <p:nvSpPr>
            <p:cNvPr name="Freeform 56" id="5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7" id="5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28</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THREE-YEAR ROADMAP</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2026–2028: Foundation, Build-Out, Optimize</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2674620"/>
            <a:ext cx="5227168" cy="1303020"/>
            <a:chOff x="0" y="0"/>
            <a:chExt cx="6969557" cy="1737360"/>
          </a:xfrm>
        </p:grpSpPr>
        <p:sp>
          <p:nvSpPr>
            <p:cNvPr name="Freeform 8" id="8"/>
            <p:cNvSpPr/>
            <p:nvPr/>
          </p:nvSpPr>
          <p:spPr>
            <a:xfrm flipH="false" flipV="false" rot="0">
              <a:off x="0" y="0"/>
              <a:ext cx="6969506" cy="1737360"/>
            </a:xfrm>
            <a:custGeom>
              <a:avLst/>
              <a:gdLst/>
              <a:ahLst/>
              <a:cxnLst/>
              <a:rect r="r" b="b" t="t" l="l"/>
              <a:pathLst>
                <a:path h="1737360" w="6969506">
                  <a:moveTo>
                    <a:pt x="0" y="146304"/>
                  </a:moveTo>
                  <a:cubicBezTo>
                    <a:pt x="0" y="65532"/>
                    <a:pt x="65532" y="0"/>
                    <a:pt x="146304" y="0"/>
                  </a:cubicBezTo>
                  <a:lnTo>
                    <a:pt x="6823202" y="0"/>
                  </a:lnTo>
                  <a:cubicBezTo>
                    <a:pt x="6903974" y="0"/>
                    <a:pt x="6969506" y="65532"/>
                    <a:pt x="6969506" y="146304"/>
                  </a:cubicBezTo>
                  <a:lnTo>
                    <a:pt x="6969506" y="1591056"/>
                  </a:lnTo>
                  <a:cubicBezTo>
                    <a:pt x="6969506" y="1671828"/>
                    <a:pt x="6903974" y="1737360"/>
                    <a:pt x="6823202" y="1737360"/>
                  </a:cubicBezTo>
                  <a:lnTo>
                    <a:pt x="146304" y="1737360"/>
                  </a:lnTo>
                  <a:cubicBezTo>
                    <a:pt x="65532" y="1737360"/>
                    <a:pt x="0" y="1671828"/>
                    <a:pt x="0" y="1591056"/>
                  </a:cubicBezTo>
                  <a:close/>
                </a:path>
              </a:pathLst>
            </a:custGeom>
            <a:solidFill>
              <a:srgbClr val="1E2761"/>
            </a:solidFill>
          </p:spPr>
        </p:sp>
      </p:grpSp>
      <p:grpSp>
        <p:nvGrpSpPr>
          <p:cNvPr name="Group 9" id="9"/>
          <p:cNvGrpSpPr/>
          <p:nvPr/>
        </p:nvGrpSpPr>
        <p:grpSpPr>
          <a:xfrm rot="0">
            <a:off x="1097280" y="2770632"/>
            <a:ext cx="4678528" cy="685800"/>
            <a:chOff x="0" y="0"/>
            <a:chExt cx="6238037" cy="914400"/>
          </a:xfrm>
        </p:grpSpPr>
        <p:sp>
          <p:nvSpPr>
            <p:cNvPr name="Freeform 10" id="10"/>
            <p:cNvSpPr/>
            <p:nvPr/>
          </p:nvSpPr>
          <p:spPr>
            <a:xfrm flipH="false" flipV="false" rot="0">
              <a:off x="0" y="0"/>
              <a:ext cx="6238036" cy="914400"/>
            </a:xfrm>
            <a:custGeom>
              <a:avLst/>
              <a:gdLst/>
              <a:ahLst/>
              <a:cxnLst/>
              <a:rect r="r" b="b" t="t" l="l"/>
              <a:pathLst>
                <a:path h="914400" w="6238036">
                  <a:moveTo>
                    <a:pt x="0" y="0"/>
                  </a:moveTo>
                  <a:lnTo>
                    <a:pt x="6238036" y="0"/>
                  </a:lnTo>
                  <a:lnTo>
                    <a:pt x="6238036" y="914400"/>
                  </a:lnTo>
                  <a:lnTo>
                    <a:pt x="0" y="914400"/>
                  </a:lnTo>
                  <a:close/>
                </a:path>
              </a:pathLst>
            </a:custGeom>
            <a:blipFill>
              <a:blip r:embed="rId3">
                <a:alphaModFix amt="0"/>
              </a:blip>
              <a:stretch>
                <a:fillRect l="0" t="-82926" r="0" b="-82926"/>
              </a:stretch>
            </a:blipFill>
          </p:spPr>
        </p:sp>
        <p:sp>
          <p:nvSpPr>
            <p:cNvPr name="TextBox 11" id="11"/>
            <p:cNvSpPr txBox="true"/>
            <p:nvPr/>
          </p:nvSpPr>
          <p:spPr>
            <a:xfrm>
              <a:off x="0" y="-19050"/>
              <a:ext cx="6238037" cy="933450"/>
            </a:xfrm>
            <a:prstGeom prst="rect">
              <a:avLst/>
            </a:prstGeom>
          </p:spPr>
          <p:txBody>
            <a:bodyPr anchor="ctr" rtlCol="false" tIns="0" lIns="0" bIns="0" rIns="0"/>
            <a:lstStyle/>
            <a:p>
              <a:pPr algn="l">
                <a:lnSpc>
                  <a:spcPts val="4320"/>
                </a:lnSpc>
              </a:pPr>
              <a:r>
                <a:rPr lang="en-US" b="true" sz="3600">
                  <a:solidFill>
                    <a:srgbClr val="C9971F"/>
                  </a:solidFill>
                  <a:latin typeface="Cambria Bold"/>
                  <a:ea typeface="Cambria Bold"/>
                  <a:cs typeface="Cambria Bold"/>
                  <a:sym typeface="Cambria Bold"/>
                </a:rPr>
                <a:t>2026</a:t>
              </a:r>
            </a:p>
          </p:txBody>
        </p:sp>
      </p:grpSp>
      <p:grpSp>
        <p:nvGrpSpPr>
          <p:cNvPr name="Group 12" id="12"/>
          <p:cNvGrpSpPr/>
          <p:nvPr/>
        </p:nvGrpSpPr>
        <p:grpSpPr>
          <a:xfrm rot="0">
            <a:off x="1097280" y="3497580"/>
            <a:ext cx="4678528" cy="438912"/>
            <a:chOff x="0" y="0"/>
            <a:chExt cx="6238037" cy="585216"/>
          </a:xfrm>
        </p:grpSpPr>
        <p:sp>
          <p:nvSpPr>
            <p:cNvPr name="Freeform 13" id="13"/>
            <p:cNvSpPr/>
            <p:nvPr/>
          </p:nvSpPr>
          <p:spPr>
            <a:xfrm flipH="false" flipV="false" rot="0">
              <a:off x="0" y="0"/>
              <a:ext cx="6238036" cy="585216"/>
            </a:xfrm>
            <a:custGeom>
              <a:avLst/>
              <a:gdLst/>
              <a:ahLst/>
              <a:cxnLst/>
              <a:rect r="r" b="b" t="t" l="l"/>
              <a:pathLst>
                <a:path h="585216" w="6238036">
                  <a:moveTo>
                    <a:pt x="0" y="0"/>
                  </a:moveTo>
                  <a:lnTo>
                    <a:pt x="6238036" y="0"/>
                  </a:lnTo>
                  <a:lnTo>
                    <a:pt x="6238036" y="585216"/>
                  </a:lnTo>
                  <a:lnTo>
                    <a:pt x="0" y="585216"/>
                  </a:lnTo>
                  <a:close/>
                </a:path>
              </a:pathLst>
            </a:custGeom>
            <a:blipFill>
              <a:blip r:embed="rId3">
                <a:alphaModFix amt="0"/>
              </a:blip>
              <a:stretch>
                <a:fillRect l="0" t="-157698" r="0" b="-157698"/>
              </a:stretch>
            </a:blipFill>
          </p:spPr>
        </p:sp>
        <p:sp>
          <p:nvSpPr>
            <p:cNvPr name="TextBox 14" id="14"/>
            <p:cNvSpPr txBox="true"/>
            <p:nvPr/>
          </p:nvSpPr>
          <p:spPr>
            <a:xfrm>
              <a:off x="0" y="-38100"/>
              <a:ext cx="6238037" cy="623316"/>
            </a:xfrm>
            <a:prstGeom prst="rect">
              <a:avLst/>
            </a:prstGeom>
          </p:spPr>
          <p:txBody>
            <a:bodyPr anchor="ctr" rtlCol="false" tIns="0" lIns="0" bIns="0" rIns="0"/>
            <a:lstStyle/>
            <a:p>
              <a:pPr algn="l">
                <a:lnSpc>
                  <a:spcPts val="2160"/>
                </a:lnSpc>
              </a:pPr>
              <a:r>
                <a:rPr lang="en-US" b="true" sz="1800">
                  <a:solidFill>
                    <a:srgbClr val="FFFFFF"/>
                  </a:solidFill>
                  <a:latin typeface="Calibri (MS) Bold"/>
                  <a:ea typeface="Calibri (MS) Bold"/>
                  <a:cs typeface="Calibri (MS) Bold"/>
                  <a:sym typeface="Calibri (MS) Bold"/>
                </a:rPr>
                <a:t>FOUNDATION</a:t>
              </a:r>
            </a:p>
          </p:txBody>
        </p:sp>
      </p:grpSp>
      <p:grpSp>
        <p:nvGrpSpPr>
          <p:cNvPr name="Group 15" id="15"/>
          <p:cNvGrpSpPr/>
          <p:nvPr/>
        </p:nvGrpSpPr>
        <p:grpSpPr>
          <a:xfrm rot="0">
            <a:off x="812292" y="4183380"/>
            <a:ext cx="5227168" cy="4937760"/>
            <a:chOff x="0" y="0"/>
            <a:chExt cx="6969557" cy="6583680"/>
          </a:xfrm>
        </p:grpSpPr>
        <p:sp>
          <p:nvSpPr>
            <p:cNvPr name="Freeform 16" id="16"/>
            <p:cNvSpPr/>
            <p:nvPr/>
          </p:nvSpPr>
          <p:spPr>
            <a:xfrm flipH="false" flipV="false" rot="0">
              <a:off x="0" y="0"/>
              <a:ext cx="6969633" cy="6583680"/>
            </a:xfrm>
            <a:custGeom>
              <a:avLst/>
              <a:gdLst/>
              <a:ahLst/>
              <a:cxnLst/>
              <a:rect r="r" b="b" t="t" l="l"/>
              <a:pathLst>
                <a:path h="6583680" w="6969633">
                  <a:moveTo>
                    <a:pt x="0" y="146304"/>
                  </a:moveTo>
                  <a:cubicBezTo>
                    <a:pt x="0" y="65532"/>
                    <a:pt x="65532" y="0"/>
                    <a:pt x="146304" y="0"/>
                  </a:cubicBezTo>
                  <a:lnTo>
                    <a:pt x="6823329" y="0"/>
                  </a:lnTo>
                  <a:cubicBezTo>
                    <a:pt x="6904101" y="0"/>
                    <a:pt x="6969633" y="65532"/>
                    <a:pt x="6969633" y="146304"/>
                  </a:cubicBezTo>
                  <a:lnTo>
                    <a:pt x="6969633" y="6437376"/>
                  </a:lnTo>
                  <a:cubicBezTo>
                    <a:pt x="6969633" y="6518148"/>
                    <a:pt x="6904101" y="6583680"/>
                    <a:pt x="6823329" y="6583680"/>
                  </a:cubicBezTo>
                  <a:lnTo>
                    <a:pt x="146304" y="6583680"/>
                  </a:lnTo>
                  <a:cubicBezTo>
                    <a:pt x="65532" y="6583680"/>
                    <a:pt x="0" y="6518148"/>
                    <a:pt x="0" y="6437376"/>
                  </a:cubicBezTo>
                  <a:close/>
                </a:path>
              </a:pathLst>
            </a:custGeom>
            <a:solidFill>
              <a:srgbClr val="EEF3FC"/>
            </a:solidFill>
          </p:spPr>
        </p:sp>
      </p:grpSp>
      <p:sp>
        <p:nvSpPr>
          <p:cNvPr name="TextBox 17" id="17"/>
          <p:cNvSpPr txBox="true"/>
          <p:nvPr/>
        </p:nvSpPr>
        <p:spPr>
          <a:xfrm rot="0">
            <a:off x="1124712" y="4419600"/>
            <a:ext cx="4623664" cy="146685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Stand up the Steering Committee and PCPMO</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Issue governing memos / EO</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Complete baseline maturity assessment</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Submit DISC designations</a:t>
            </a:r>
          </a:p>
        </p:txBody>
      </p:sp>
      <p:grpSp>
        <p:nvGrpSpPr>
          <p:cNvPr name="Group 18" id="18"/>
          <p:cNvGrpSpPr/>
          <p:nvPr/>
        </p:nvGrpSpPr>
        <p:grpSpPr>
          <a:xfrm rot="0">
            <a:off x="6077560" y="6309360"/>
            <a:ext cx="411480" cy="480060"/>
            <a:chOff x="0" y="0"/>
            <a:chExt cx="548640" cy="640080"/>
          </a:xfrm>
        </p:grpSpPr>
        <p:sp>
          <p:nvSpPr>
            <p:cNvPr name="Freeform 19" id="19"/>
            <p:cNvSpPr/>
            <p:nvPr/>
          </p:nvSpPr>
          <p:spPr>
            <a:xfrm flipH="false" flipV="false" rot="0">
              <a:off x="0" y="0"/>
              <a:ext cx="548640" cy="640080"/>
            </a:xfrm>
            <a:custGeom>
              <a:avLst/>
              <a:gdLst/>
              <a:ahLst/>
              <a:cxnLst/>
              <a:rect r="r" b="b" t="t" l="l"/>
              <a:pathLst>
                <a:path h="640080" w="548640">
                  <a:moveTo>
                    <a:pt x="0" y="0"/>
                  </a:moveTo>
                  <a:lnTo>
                    <a:pt x="274320" y="0"/>
                  </a:lnTo>
                  <a:lnTo>
                    <a:pt x="548640" y="320040"/>
                  </a:lnTo>
                  <a:lnTo>
                    <a:pt x="274320" y="640080"/>
                  </a:lnTo>
                  <a:lnTo>
                    <a:pt x="0" y="640080"/>
                  </a:lnTo>
                  <a:lnTo>
                    <a:pt x="274320" y="320040"/>
                  </a:lnTo>
                  <a:close/>
                </a:path>
              </a:pathLst>
            </a:custGeom>
            <a:solidFill>
              <a:srgbClr val="C9971F"/>
            </a:solidFill>
          </p:spPr>
        </p:sp>
      </p:grpSp>
      <p:grpSp>
        <p:nvGrpSpPr>
          <p:cNvPr name="Group 20" id="20"/>
          <p:cNvGrpSpPr/>
          <p:nvPr/>
        </p:nvGrpSpPr>
        <p:grpSpPr>
          <a:xfrm rot="0">
            <a:off x="6530188" y="2674620"/>
            <a:ext cx="5227168" cy="1303020"/>
            <a:chOff x="0" y="0"/>
            <a:chExt cx="6969557" cy="1737360"/>
          </a:xfrm>
        </p:grpSpPr>
        <p:sp>
          <p:nvSpPr>
            <p:cNvPr name="Freeform 21" id="21"/>
            <p:cNvSpPr/>
            <p:nvPr/>
          </p:nvSpPr>
          <p:spPr>
            <a:xfrm flipH="false" flipV="false" rot="0">
              <a:off x="0" y="0"/>
              <a:ext cx="6969506" cy="1737360"/>
            </a:xfrm>
            <a:custGeom>
              <a:avLst/>
              <a:gdLst/>
              <a:ahLst/>
              <a:cxnLst/>
              <a:rect r="r" b="b" t="t" l="l"/>
              <a:pathLst>
                <a:path h="1737360" w="6969506">
                  <a:moveTo>
                    <a:pt x="0" y="146304"/>
                  </a:moveTo>
                  <a:cubicBezTo>
                    <a:pt x="0" y="65532"/>
                    <a:pt x="65532" y="0"/>
                    <a:pt x="146304" y="0"/>
                  </a:cubicBezTo>
                  <a:lnTo>
                    <a:pt x="6823202" y="0"/>
                  </a:lnTo>
                  <a:cubicBezTo>
                    <a:pt x="6903974" y="0"/>
                    <a:pt x="6969506" y="65532"/>
                    <a:pt x="6969506" y="146304"/>
                  </a:cubicBezTo>
                  <a:lnTo>
                    <a:pt x="6969506" y="1591056"/>
                  </a:lnTo>
                  <a:cubicBezTo>
                    <a:pt x="6969506" y="1671828"/>
                    <a:pt x="6903974" y="1737360"/>
                    <a:pt x="6823202" y="1737360"/>
                  </a:cubicBezTo>
                  <a:lnTo>
                    <a:pt x="146304" y="1737360"/>
                  </a:lnTo>
                  <a:cubicBezTo>
                    <a:pt x="65532" y="1737360"/>
                    <a:pt x="0" y="1671828"/>
                    <a:pt x="0" y="1591056"/>
                  </a:cubicBezTo>
                  <a:close/>
                </a:path>
              </a:pathLst>
            </a:custGeom>
            <a:solidFill>
              <a:srgbClr val="1E2761"/>
            </a:solidFill>
          </p:spPr>
        </p:sp>
      </p:grpSp>
      <p:grpSp>
        <p:nvGrpSpPr>
          <p:cNvPr name="Group 22" id="22"/>
          <p:cNvGrpSpPr/>
          <p:nvPr/>
        </p:nvGrpSpPr>
        <p:grpSpPr>
          <a:xfrm rot="0">
            <a:off x="6804508" y="2770632"/>
            <a:ext cx="4678528" cy="685800"/>
            <a:chOff x="0" y="0"/>
            <a:chExt cx="6238037" cy="914400"/>
          </a:xfrm>
        </p:grpSpPr>
        <p:sp>
          <p:nvSpPr>
            <p:cNvPr name="Freeform 23" id="23"/>
            <p:cNvSpPr/>
            <p:nvPr/>
          </p:nvSpPr>
          <p:spPr>
            <a:xfrm flipH="false" flipV="false" rot="0">
              <a:off x="0" y="0"/>
              <a:ext cx="6238036" cy="914400"/>
            </a:xfrm>
            <a:custGeom>
              <a:avLst/>
              <a:gdLst/>
              <a:ahLst/>
              <a:cxnLst/>
              <a:rect r="r" b="b" t="t" l="l"/>
              <a:pathLst>
                <a:path h="914400" w="6238036">
                  <a:moveTo>
                    <a:pt x="0" y="0"/>
                  </a:moveTo>
                  <a:lnTo>
                    <a:pt x="6238036" y="0"/>
                  </a:lnTo>
                  <a:lnTo>
                    <a:pt x="6238036" y="914400"/>
                  </a:lnTo>
                  <a:lnTo>
                    <a:pt x="0" y="914400"/>
                  </a:lnTo>
                  <a:close/>
                </a:path>
              </a:pathLst>
            </a:custGeom>
            <a:blipFill>
              <a:blip r:embed="rId3">
                <a:alphaModFix amt="0"/>
              </a:blip>
              <a:stretch>
                <a:fillRect l="0" t="-82926" r="0" b="-82926"/>
              </a:stretch>
            </a:blipFill>
          </p:spPr>
        </p:sp>
        <p:sp>
          <p:nvSpPr>
            <p:cNvPr name="TextBox 24" id="24"/>
            <p:cNvSpPr txBox="true"/>
            <p:nvPr/>
          </p:nvSpPr>
          <p:spPr>
            <a:xfrm>
              <a:off x="0" y="-19050"/>
              <a:ext cx="6238037" cy="933450"/>
            </a:xfrm>
            <a:prstGeom prst="rect">
              <a:avLst/>
            </a:prstGeom>
          </p:spPr>
          <p:txBody>
            <a:bodyPr anchor="ctr" rtlCol="false" tIns="0" lIns="0" bIns="0" rIns="0"/>
            <a:lstStyle/>
            <a:p>
              <a:pPr algn="l">
                <a:lnSpc>
                  <a:spcPts val="4320"/>
                </a:lnSpc>
              </a:pPr>
              <a:r>
                <a:rPr lang="en-US" b="true" sz="3600">
                  <a:solidFill>
                    <a:srgbClr val="C9971F"/>
                  </a:solidFill>
                  <a:latin typeface="Cambria Bold"/>
                  <a:ea typeface="Cambria Bold"/>
                  <a:cs typeface="Cambria Bold"/>
                  <a:sym typeface="Cambria Bold"/>
                </a:rPr>
                <a:t>2027</a:t>
              </a:r>
            </a:p>
          </p:txBody>
        </p:sp>
      </p:grpSp>
      <p:grpSp>
        <p:nvGrpSpPr>
          <p:cNvPr name="Group 25" id="25"/>
          <p:cNvGrpSpPr/>
          <p:nvPr/>
        </p:nvGrpSpPr>
        <p:grpSpPr>
          <a:xfrm rot="0">
            <a:off x="6804508" y="3497580"/>
            <a:ext cx="4678528" cy="438912"/>
            <a:chOff x="0" y="0"/>
            <a:chExt cx="6238037" cy="585216"/>
          </a:xfrm>
        </p:grpSpPr>
        <p:sp>
          <p:nvSpPr>
            <p:cNvPr name="Freeform 26" id="26"/>
            <p:cNvSpPr/>
            <p:nvPr/>
          </p:nvSpPr>
          <p:spPr>
            <a:xfrm flipH="false" flipV="false" rot="0">
              <a:off x="0" y="0"/>
              <a:ext cx="6238036" cy="585216"/>
            </a:xfrm>
            <a:custGeom>
              <a:avLst/>
              <a:gdLst/>
              <a:ahLst/>
              <a:cxnLst/>
              <a:rect r="r" b="b" t="t" l="l"/>
              <a:pathLst>
                <a:path h="585216" w="6238036">
                  <a:moveTo>
                    <a:pt x="0" y="0"/>
                  </a:moveTo>
                  <a:lnTo>
                    <a:pt x="6238036" y="0"/>
                  </a:lnTo>
                  <a:lnTo>
                    <a:pt x="6238036" y="585216"/>
                  </a:lnTo>
                  <a:lnTo>
                    <a:pt x="0" y="585216"/>
                  </a:lnTo>
                  <a:close/>
                </a:path>
              </a:pathLst>
            </a:custGeom>
            <a:blipFill>
              <a:blip r:embed="rId3">
                <a:alphaModFix amt="0"/>
              </a:blip>
              <a:stretch>
                <a:fillRect l="0" t="-157698" r="0" b="-157698"/>
              </a:stretch>
            </a:blipFill>
          </p:spPr>
        </p:sp>
        <p:sp>
          <p:nvSpPr>
            <p:cNvPr name="TextBox 27" id="27"/>
            <p:cNvSpPr txBox="true"/>
            <p:nvPr/>
          </p:nvSpPr>
          <p:spPr>
            <a:xfrm>
              <a:off x="0" y="-38100"/>
              <a:ext cx="6238037" cy="623316"/>
            </a:xfrm>
            <a:prstGeom prst="rect">
              <a:avLst/>
            </a:prstGeom>
          </p:spPr>
          <p:txBody>
            <a:bodyPr anchor="ctr" rtlCol="false" tIns="0" lIns="0" bIns="0" rIns="0"/>
            <a:lstStyle/>
            <a:p>
              <a:pPr algn="l">
                <a:lnSpc>
                  <a:spcPts val="2160"/>
                </a:lnSpc>
              </a:pPr>
              <a:r>
                <a:rPr lang="en-US" b="true" sz="1800">
                  <a:solidFill>
                    <a:srgbClr val="FFFFFF"/>
                  </a:solidFill>
                  <a:latin typeface="Calibri (MS) Bold"/>
                  <a:ea typeface="Calibri (MS) Bold"/>
                  <a:cs typeface="Calibri (MS) Bold"/>
                  <a:sym typeface="Calibri (MS) Bold"/>
                </a:rPr>
                <a:t>BUILD-OUT</a:t>
              </a:r>
            </a:p>
          </p:txBody>
        </p:sp>
      </p:grpSp>
      <p:grpSp>
        <p:nvGrpSpPr>
          <p:cNvPr name="Group 28" id="28"/>
          <p:cNvGrpSpPr/>
          <p:nvPr/>
        </p:nvGrpSpPr>
        <p:grpSpPr>
          <a:xfrm rot="0">
            <a:off x="6530188" y="4183380"/>
            <a:ext cx="5227168" cy="4937760"/>
            <a:chOff x="0" y="0"/>
            <a:chExt cx="6969557" cy="6583680"/>
          </a:xfrm>
        </p:grpSpPr>
        <p:sp>
          <p:nvSpPr>
            <p:cNvPr name="Freeform 29" id="29"/>
            <p:cNvSpPr/>
            <p:nvPr/>
          </p:nvSpPr>
          <p:spPr>
            <a:xfrm flipH="false" flipV="false" rot="0">
              <a:off x="0" y="0"/>
              <a:ext cx="6969633" cy="6583680"/>
            </a:xfrm>
            <a:custGeom>
              <a:avLst/>
              <a:gdLst/>
              <a:ahLst/>
              <a:cxnLst/>
              <a:rect r="r" b="b" t="t" l="l"/>
              <a:pathLst>
                <a:path h="6583680" w="6969633">
                  <a:moveTo>
                    <a:pt x="0" y="146304"/>
                  </a:moveTo>
                  <a:cubicBezTo>
                    <a:pt x="0" y="65532"/>
                    <a:pt x="65532" y="0"/>
                    <a:pt x="146304" y="0"/>
                  </a:cubicBezTo>
                  <a:lnTo>
                    <a:pt x="6823329" y="0"/>
                  </a:lnTo>
                  <a:cubicBezTo>
                    <a:pt x="6904101" y="0"/>
                    <a:pt x="6969633" y="65532"/>
                    <a:pt x="6969633" y="146304"/>
                  </a:cubicBezTo>
                  <a:lnTo>
                    <a:pt x="6969633" y="6437376"/>
                  </a:lnTo>
                  <a:cubicBezTo>
                    <a:pt x="6969633" y="6518148"/>
                    <a:pt x="6904101" y="6583680"/>
                    <a:pt x="6823329" y="6583680"/>
                  </a:cubicBezTo>
                  <a:lnTo>
                    <a:pt x="146304" y="6583680"/>
                  </a:lnTo>
                  <a:cubicBezTo>
                    <a:pt x="65532" y="6583680"/>
                    <a:pt x="0" y="6518148"/>
                    <a:pt x="0" y="6437376"/>
                  </a:cubicBezTo>
                  <a:close/>
                </a:path>
              </a:pathLst>
            </a:custGeom>
            <a:solidFill>
              <a:srgbClr val="EEF3FC"/>
            </a:solidFill>
          </p:spPr>
        </p:sp>
      </p:grpSp>
      <p:sp>
        <p:nvSpPr>
          <p:cNvPr name="TextBox 30" id="30"/>
          <p:cNvSpPr txBox="true"/>
          <p:nvPr/>
        </p:nvSpPr>
        <p:spPr>
          <a:xfrm rot="0">
            <a:off x="6831940" y="4419600"/>
            <a:ext cx="4623664" cy="449580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Implement centralized logging and monitoring</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Run the first province-wide VAPT cycle</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Formalize training and phishing-simulation calendar</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Complete first annual maturity re-assessment</a:t>
            </a:r>
          </a:p>
        </p:txBody>
      </p:sp>
      <p:grpSp>
        <p:nvGrpSpPr>
          <p:cNvPr name="Group 31" id="31"/>
          <p:cNvGrpSpPr/>
          <p:nvPr/>
        </p:nvGrpSpPr>
        <p:grpSpPr>
          <a:xfrm rot="0">
            <a:off x="11784787" y="6309360"/>
            <a:ext cx="411480" cy="480060"/>
            <a:chOff x="0" y="0"/>
            <a:chExt cx="548640" cy="640080"/>
          </a:xfrm>
        </p:grpSpPr>
        <p:sp>
          <p:nvSpPr>
            <p:cNvPr name="Freeform 32" id="32"/>
            <p:cNvSpPr/>
            <p:nvPr/>
          </p:nvSpPr>
          <p:spPr>
            <a:xfrm flipH="false" flipV="false" rot="0">
              <a:off x="0" y="0"/>
              <a:ext cx="548640" cy="640080"/>
            </a:xfrm>
            <a:custGeom>
              <a:avLst/>
              <a:gdLst/>
              <a:ahLst/>
              <a:cxnLst/>
              <a:rect r="r" b="b" t="t" l="l"/>
              <a:pathLst>
                <a:path h="640080" w="548640">
                  <a:moveTo>
                    <a:pt x="0" y="0"/>
                  </a:moveTo>
                  <a:lnTo>
                    <a:pt x="274320" y="0"/>
                  </a:lnTo>
                  <a:lnTo>
                    <a:pt x="548640" y="320040"/>
                  </a:lnTo>
                  <a:lnTo>
                    <a:pt x="274320" y="640080"/>
                  </a:lnTo>
                  <a:lnTo>
                    <a:pt x="0" y="640080"/>
                  </a:lnTo>
                  <a:lnTo>
                    <a:pt x="274320" y="320040"/>
                  </a:lnTo>
                  <a:close/>
                </a:path>
              </a:pathLst>
            </a:custGeom>
            <a:solidFill>
              <a:srgbClr val="C9971F"/>
            </a:solidFill>
          </p:spPr>
        </p:sp>
      </p:grpSp>
      <p:grpSp>
        <p:nvGrpSpPr>
          <p:cNvPr name="Group 33" id="33"/>
          <p:cNvGrpSpPr/>
          <p:nvPr/>
        </p:nvGrpSpPr>
        <p:grpSpPr>
          <a:xfrm rot="0">
            <a:off x="12237415" y="2674620"/>
            <a:ext cx="5227168" cy="1303020"/>
            <a:chOff x="0" y="0"/>
            <a:chExt cx="6969557" cy="1737360"/>
          </a:xfrm>
        </p:grpSpPr>
        <p:sp>
          <p:nvSpPr>
            <p:cNvPr name="Freeform 34" id="34"/>
            <p:cNvSpPr/>
            <p:nvPr/>
          </p:nvSpPr>
          <p:spPr>
            <a:xfrm flipH="false" flipV="false" rot="0">
              <a:off x="0" y="0"/>
              <a:ext cx="6969506" cy="1737360"/>
            </a:xfrm>
            <a:custGeom>
              <a:avLst/>
              <a:gdLst/>
              <a:ahLst/>
              <a:cxnLst/>
              <a:rect r="r" b="b" t="t" l="l"/>
              <a:pathLst>
                <a:path h="1737360" w="6969506">
                  <a:moveTo>
                    <a:pt x="0" y="146304"/>
                  </a:moveTo>
                  <a:cubicBezTo>
                    <a:pt x="0" y="65532"/>
                    <a:pt x="65532" y="0"/>
                    <a:pt x="146304" y="0"/>
                  </a:cubicBezTo>
                  <a:lnTo>
                    <a:pt x="6823202" y="0"/>
                  </a:lnTo>
                  <a:cubicBezTo>
                    <a:pt x="6903974" y="0"/>
                    <a:pt x="6969506" y="65532"/>
                    <a:pt x="6969506" y="146304"/>
                  </a:cubicBezTo>
                  <a:lnTo>
                    <a:pt x="6969506" y="1591056"/>
                  </a:lnTo>
                  <a:cubicBezTo>
                    <a:pt x="6969506" y="1671828"/>
                    <a:pt x="6903974" y="1737360"/>
                    <a:pt x="6823202" y="1737360"/>
                  </a:cubicBezTo>
                  <a:lnTo>
                    <a:pt x="146304" y="1737360"/>
                  </a:lnTo>
                  <a:cubicBezTo>
                    <a:pt x="65532" y="1737360"/>
                    <a:pt x="0" y="1671828"/>
                    <a:pt x="0" y="1591056"/>
                  </a:cubicBezTo>
                  <a:close/>
                </a:path>
              </a:pathLst>
            </a:custGeom>
            <a:solidFill>
              <a:srgbClr val="1E2761"/>
            </a:solidFill>
          </p:spPr>
        </p:sp>
      </p:grpSp>
      <p:grpSp>
        <p:nvGrpSpPr>
          <p:cNvPr name="Group 35" id="35"/>
          <p:cNvGrpSpPr/>
          <p:nvPr/>
        </p:nvGrpSpPr>
        <p:grpSpPr>
          <a:xfrm rot="0">
            <a:off x="12511735" y="2770632"/>
            <a:ext cx="4678528" cy="685800"/>
            <a:chOff x="0" y="0"/>
            <a:chExt cx="6238037" cy="914400"/>
          </a:xfrm>
        </p:grpSpPr>
        <p:sp>
          <p:nvSpPr>
            <p:cNvPr name="Freeform 36" id="36"/>
            <p:cNvSpPr/>
            <p:nvPr/>
          </p:nvSpPr>
          <p:spPr>
            <a:xfrm flipH="false" flipV="false" rot="0">
              <a:off x="0" y="0"/>
              <a:ext cx="6238036" cy="914400"/>
            </a:xfrm>
            <a:custGeom>
              <a:avLst/>
              <a:gdLst/>
              <a:ahLst/>
              <a:cxnLst/>
              <a:rect r="r" b="b" t="t" l="l"/>
              <a:pathLst>
                <a:path h="914400" w="6238036">
                  <a:moveTo>
                    <a:pt x="0" y="0"/>
                  </a:moveTo>
                  <a:lnTo>
                    <a:pt x="6238036" y="0"/>
                  </a:lnTo>
                  <a:lnTo>
                    <a:pt x="6238036" y="914400"/>
                  </a:lnTo>
                  <a:lnTo>
                    <a:pt x="0" y="914400"/>
                  </a:lnTo>
                  <a:close/>
                </a:path>
              </a:pathLst>
            </a:custGeom>
            <a:blipFill>
              <a:blip r:embed="rId3">
                <a:alphaModFix amt="0"/>
              </a:blip>
              <a:stretch>
                <a:fillRect l="0" t="-82926" r="0" b="-82926"/>
              </a:stretch>
            </a:blipFill>
          </p:spPr>
        </p:sp>
        <p:sp>
          <p:nvSpPr>
            <p:cNvPr name="TextBox 37" id="37"/>
            <p:cNvSpPr txBox="true"/>
            <p:nvPr/>
          </p:nvSpPr>
          <p:spPr>
            <a:xfrm>
              <a:off x="0" y="-19050"/>
              <a:ext cx="6238037" cy="933450"/>
            </a:xfrm>
            <a:prstGeom prst="rect">
              <a:avLst/>
            </a:prstGeom>
          </p:spPr>
          <p:txBody>
            <a:bodyPr anchor="ctr" rtlCol="false" tIns="0" lIns="0" bIns="0" rIns="0"/>
            <a:lstStyle/>
            <a:p>
              <a:pPr algn="l">
                <a:lnSpc>
                  <a:spcPts val="4320"/>
                </a:lnSpc>
              </a:pPr>
              <a:r>
                <a:rPr lang="en-US" b="true" sz="3600">
                  <a:solidFill>
                    <a:srgbClr val="C9971F"/>
                  </a:solidFill>
                  <a:latin typeface="Cambria Bold"/>
                  <a:ea typeface="Cambria Bold"/>
                  <a:cs typeface="Cambria Bold"/>
                  <a:sym typeface="Cambria Bold"/>
                </a:rPr>
                <a:t>2028</a:t>
              </a:r>
            </a:p>
          </p:txBody>
        </p:sp>
      </p:grpSp>
      <p:grpSp>
        <p:nvGrpSpPr>
          <p:cNvPr name="Group 38" id="38"/>
          <p:cNvGrpSpPr/>
          <p:nvPr/>
        </p:nvGrpSpPr>
        <p:grpSpPr>
          <a:xfrm rot="0">
            <a:off x="12511735" y="3497580"/>
            <a:ext cx="4678528" cy="438912"/>
            <a:chOff x="0" y="0"/>
            <a:chExt cx="6238037" cy="585216"/>
          </a:xfrm>
        </p:grpSpPr>
        <p:sp>
          <p:nvSpPr>
            <p:cNvPr name="Freeform 39" id="39"/>
            <p:cNvSpPr/>
            <p:nvPr/>
          </p:nvSpPr>
          <p:spPr>
            <a:xfrm flipH="false" flipV="false" rot="0">
              <a:off x="0" y="0"/>
              <a:ext cx="6238036" cy="585216"/>
            </a:xfrm>
            <a:custGeom>
              <a:avLst/>
              <a:gdLst/>
              <a:ahLst/>
              <a:cxnLst/>
              <a:rect r="r" b="b" t="t" l="l"/>
              <a:pathLst>
                <a:path h="585216" w="6238036">
                  <a:moveTo>
                    <a:pt x="0" y="0"/>
                  </a:moveTo>
                  <a:lnTo>
                    <a:pt x="6238036" y="0"/>
                  </a:lnTo>
                  <a:lnTo>
                    <a:pt x="6238036" y="585216"/>
                  </a:lnTo>
                  <a:lnTo>
                    <a:pt x="0" y="585216"/>
                  </a:lnTo>
                  <a:close/>
                </a:path>
              </a:pathLst>
            </a:custGeom>
            <a:blipFill>
              <a:blip r:embed="rId3">
                <a:alphaModFix amt="0"/>
              </a:blip>
              <a:stretch>
                <a:fillRect l="0" t="-157698" r="0" b="-157698"/>
              </a:stretch>
            </a:blipFill>
          </p:spPr>
        </p:sp>
        <p:sp>
          <p:nvSpPr>
            <p:cNvPr name="TextBox 40" id="40"/>
            <p:cNvSpPr txBox="true"/>
            <p:nvPr/>
          </p:nvSpPr>
          <p:spPr>
            <a:xfrm>
              <a:off x="0" y="-38100"/>
              <a:ext cx="6238037" cy="623316"/>
            </a:xfrm>
            <a:prstGeom prst="rect">
              <a:avLst/>
            </a:prstGeom>
          </p:spPr>
          <p:txBody>
            <a:bodyPr anchor="ctr" rtlCol="false" tIns="0" lIns="0" bIns="0" rIns="0"/>
            <a:lstStyle/>
            <a:p>
              <a:pPr algn="l">
                <a:lnSpc>
                  <a:spcPts val="2160"/>
                </a:lnSpc>
              </a:pPr>
              <a:r>
                <a:rPr lang="en-US" b="true" sz="1800">
                  <a:solidFill>
                    <a:srgbClr val="FFFFFF"/>
                  </a:solidFill>
                  <a:latin typeface="Calibri (MS) Bold"/>
                  <a:ea typeface="Calibri (MS) Bold"/>
                  <a:cs typeface="Calibri (MS) Bold"/>
                  <a:sym typeface="Calibri (MS) Bold"/>
                </a:rPr>
                <a:t>OPTIMIZE</a:t>
              </a:r>
            </a:p>
          </p:txBody>
        </p:sp>
      </p:grpSp>
      <p:grpSp>
        <p:nvGrpSpPr>
          <p:cNvPr name="Group 41" id="41"/>
          <p:cNvGrpSpPr/>
          <p:nvPr/>
        </p:nvGrpSpPr>
        <p:grpSpPr>
          <a:xfrm rot="0">
            <a:off x="12237415" y="4183380"/>
            <a:ext cx="5227168" cy="4937760"/>
            <a:chOff x="0" y="0"/>
            <a:chExt cx="6969557" cy="6583680"/>
          </a:xfrm>
        </p:grpSpPr>
        <p:sp>
          <p:nvSpPr>
            <p:cNvPr name="Freeform 42" id="42"/>
            <p:cNvSpPr/>
            <p:nvPr/>
          </p:nvSpPr>
          <p:spPr>
            <a:xfrm flipH="false" flipV="false" rot="0">
              <a:off x="0" y="0"/>
              <a:ext cx="6969633" cy="6583680"/>
            </a:xfrm>
            <a:custGeom>
              <a:avLst/>
              <a:gdLst/>
              <a:ahLst/>
              <a:cxnLst/>
              <a:rect r="r" b="b" t="t" l="l"/>
              <a:pathLst>
                <a:path h="6583680" w="6969633">
                  <a:moveTo>
                    <a:pt x="0" y="146304"/>
                  </a:moveTo>
                  <a:cubicBezTo>
                    <a:pt x="0" y="65532"/>
                    <a:pt x="65532" y="0"/>
                    <a:pt x="146304" y="0"/>
                  </a:cubicBezTo>
                  <a:lnTo>
                    <a:pt x="6823329" y="0"/>
                  </a:lnTo>
                  <a:cubicBezTo>
                    <a:pt x="6904101" y="0"/>
                    <a:pt x="6969633" y="65532"/>
                    <a:pt x="6969633" y="146304"/>
                  </a:cubicBezTo>
                  <a:lnTo>
                    <a:pt x="6969633" y="6437376"/>
                  </a:lnTo>
                  <a:cubicBezTo>
                    <a:pt x="6969633" y="6518148"/>
                    <a:pt x="6904101" y="6583680"/>
                    <a:pt x="6823329" y="6583680"/>
                  </a:cubicBezTo>
                  <a:lnTo>
                    <a:pt x="146304" y="6583680"/>
                  </a:lnTo>
                  <a:cubicBezTo>
                    <a:pt x="65532" y="6583680"/>
                    <a:pt x="0" y="6518148"/>
                    <a:pt x="0" y="6437376"/>
                  </a:cubicBezTo>
                  <a:close/>
                </a:path>
              </a:pathLst>
            </a:custGeom>
            <a:solidFill>
              <a:srgbClr val="EEF3FC"/>
            </a:solidFill>
          </p:spPr>
        </p:sp>
      </p:grpSp>
      <p:sp>
        <p:nvSpPr>
          <p:cNvPr name="TextBox 43" id="43"/>
          <p:cNvSpPr txBox="true"/>
          <p:nvPr/>
        </p:nvSpPr>
        <p:spPr>
          <a:xfrm rot="0">
            <a:off x="12539167" y="4419600"/>
            <a:ext cx="4623664" cy="4495800"/>
          </a:xfrm>
          <a:prstGeom prst="rect">
            <a:avLst/>
          </a:prstGeom>
        </p:spPr>
        <p:txBody>
          <a:bodyPr anchor="t" rtlCol="false" tIns="0" lIns="0" bIns="0" rIns="0">
            <a:spAutoFit/>
          </a:bodyPr>
          <a:lstStyle/>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Achieve targeted one-level maturity increase</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Complete first full external audit-readiness review</a:t>
            </a:r>
          </a:p>
          <a:p>
            <a:pPr algn="l" marL="339328" indent="-169664" lvl="1">
              <a:lnSpc>
                <a:spcPts val="2250"/>
              </a:lnSpc>
              <a:buFont typeface="Arial"/>
              <a:buChar char="•"/>
            </a:pPr>
            <a:r>
              <a:rPr lang="en-US" sz="1875">
                <a:solidFill>
                  <a:srgbClr val="222222"/>
                </a:solidFill>
                <a:latin typeface="Calibri (MS)"/>
                <a:ea typeface="Calibri (MS)"/>
                <a:cs typeface="Calibri (MS)"/>
                <a:sym typeface="Calibri (MS)"/>
              </a:rPr>
              <a:t>Sustain DMAIC as a standing governance habit</a:t>
            </a:r>
          </a:p>
        </p:txBody>
      </p:sp>
      <p:grpSp>
        <p:nvGrpSpPr>
          <p:cNvPr name="Group 44" id="44"/>
          <p:cNvGrpSpPr/>
          <p:nvPr/>
        </p:nvGrpSpPr>
        <p:grpSpPr>
          <a:xfrm rot="0">
            <a:off x="822960" y="9710928"/>
            <a:ext cx="12344400" cy="411480"/>
            <a:chOff x="0" y="0"/>
            <a:chExt cx="16459200" cy="548640"/>
          </a:xfrm>
        </p:grpSpPr>
        <p:sp>
          <p:nvSpPr>
            <p:cNvPr name="Freeform 45" id="45"/>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6" id="46"/>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47" id="47"/>
          <p:cNvGrpSpPr/>
          <p:nvPr/>
        </p:nvGrpSpPr>
        <p:grpSpPr>
          <a:xfrm rot="0">
            <a:off x="16778783" y="9710928"/>
            <a:ext cx="685800" cy="411480"/>
            <a:chOff x="0" y="0"/>
            <a:chExt cx="914400" cy="548640"/>
          </a:xfrm>
        </p:grpSpPr>
        <p:sp>
          <p:nvSpPr>
            <p:cNvPr name="Freeform 48" id="4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9" id="4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29</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PROGRAM CLOSING</a:t>
              </a:r>
            </a:p>
          </p:txBody>
        </p:sp>
      </p:grpSp>
      <p:sp>
        <p:nvSpPr>
          <p:cNvPr name="TextBox 5" id="5"/>
          <p:cNvSpPr txBox="true"/>
          <p:nvPr/>
        </p:nvSpPr>
        <p:spPr>
          <a:xfrm rot="0">
            <a:off x="822960" y="1078230"/>
            <a:ext cx="16641623" cy="1253490"/>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Key Takeaways From the Three Days</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sp>
        <p:nvSpPr>
          <p:cNvPr name="TextBox 7" id="7"/>
          <p:cNvSpPr txBox="true"/>
          <p:nvPr/>
        </p:nvSpPr>
        <p:spPr>
          <a:xfrm rot="0">
            <a:off x="822960" y="2705100"/>
            <a:ext cx="16641623" cy="2571982"/>
          </a:xfrm>
          <a:prstGeom prst="rect">
            <a:avLst/>
          </a:prstGeom>
        </p:spPr>
        <p:txBody>
          <a:bodyPr anchor="t" rtlCol="false" tIns="0" lIns="0" bIns="0" rIns="0">
            <a:spAutoFit/>
          </a:bodyPr>
          <a:lstStyle/>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Day 1 built the shared threat landscape and baseline awareness.</a:t>
            </a:r>
          </a:p>
          <a:p>
            <a:pPr algn="l">
              <a:lnSpc>
                <a:spcPts val="2879"/>
              </a:lnSpc>
            </a:pP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Day 2 built the capacity to detect, respond to, and recover from an incident, including incident playbooks and a CIRP draft.</a:t>
            </a:r>
          </a:p>
          <a:p>
            <a:pPr algn="l">
              <a:lnSpc>
                <a:spcPts val="2879"/>
              </a:lnSpc>
            </a:pPr>
          </a:p>
          <a:p>
            <a:pPr algn="l" marL="434340" indent="-217170" lvl="1">
              <a:lnSpc>
                <a:spcPts val="2879"/>
              </a:lnSpc>
              <a:buFont typeface="Arial"/>
              <a:buChar char="•"/>
            </a:pPr>
            <a:r>
              <a:rPr lang="en-US" sz="2400">
                <a:solidFill>
                  <a:srgbClr val="222222"/>
                </a:solidFill>
                <a:latin typeface="Calibri (MS)"/>
                <a:ea typeface="Calibri (MS)"/>
                <a:cs typeface="Calibri (MS)"/>
                <a:sym typeface="Calibri (MS)"/>
              </a:rPr>
              <a:t>Day 3 a live ransomware tabletop exercise and the governance structure that assigns accountability, and the three-year roadmap that sequences the work.</a:t>
            </a:r>
          </a:p>
          <a:p>
            <a:pPr algn="l">
              <a:lnSpc>
                <a:spcPts val="2879"/>
              </a:lnSpc>
            </a:pPr>
          </a:p>
        </p:txBody>
      </p:sp>
      <p:grpSp>
        <p:nvGrpSpPr>
          <p:cNvPr name="Group 8" id="8"/>
          <p:cNvGrpSpPr/>
          <p:nvPr/>
        </p:nvGrpSpPr>
        <p:grpSpPr>
          <a:xfrm rot="0">
            <a:off x="822960" y="9710928"/>
            <a:ext cx="12344400" cy="411480"/>
            <a:chOff x="0" y="0"/>
            <a:chExt cx="16459200" cy="548640"/>
          </a:xfrm>
        </p:grpSpPr>
        <p:sp>
          <p:nvSpPr>
            <p:cNvPr name="Freeform 9" id="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0" id="10"/>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1" id="11"/>
          <p:cNvGrpSpPr/>
          <p:nvPr/>
        </p:nvGrpSpPr>
        <p:grpSpPr>
          <a:xfrm rot="0">
            <a:off x="16778783" y="9710928"/>
            <a:ext cx="685800" cy="411480"/>
            <a:chOff x="0" y="0"/>
            <a:chExt cx="914400" cy="548640"/>
          </a:xfrm>
        </p:grpSpPr>
        <p:sp>
          <p:nvSpPr>
            <p:cNvPr name="Freeform 12" id="1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3" id="1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32</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a:solidFill>
                    <a:srgbClr val="C9971F"/>
                  </a:solidFill>
                  <a:latin typeface="Calibri (MS) Bold"/>
                  <a:ea typeface="Calibri (MS) Bold"/>
                  <a:cs typeface="Calibri (MS) Bold"/>
                  <a:sym typeface="Calibri (MS) Bold"/>
                </a:rPr>
                <a:t>PROGRAM CLOSING</a:t>
              </a:r>
            </a:p>
          </p:txBody>
        </p:sp>
      </p:grpSp>
      <p:sp>
        <p:nvSpPr>
          <p:cNvPr name="TextBox 5" id="5"/>
          <p:cNvSpPr txBox="true"/>
          <p:nvPr/>
        </p:nvSpPr>
        <p:spPr>
          <a:xfrm rot="0">
            <a:off x="822960" y="1078230"/>
            <a:ext cx="16641623" cy="704817"/>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Slides and </a:t>
            </a:r>
            <a:r>
              <a:rPr lang="en-US" b="true" sz="4500">
                <a:solidFill>
                  <a:srgbClr val="1E2761"/>
                </a:solidFill>
                <a:latin typeface="Cambria Bold"/>
                <a:ea typeface="Cambria Bold"/>
                <a:cs typeface="Cambria Bold"/>
                <a:sym typeface="Cambria Bold"/>
              </a:rPr>
              <a:t>Awarding of Certificates of Completion</a:t>
            </a:r>
          </a:p>
        </p:txBody>
      </p:sp>
      <p:sp>
        <p:nvSpPr>
          <p:cNvPr name="AutoShape 6" id="6"/>
          <p:cNvSpPr/>
          <p:nvPr/>
        </p:nvSpPr>
        <p:spPr>
          <a:xfrm rot="49020">
            <a:off x="798976" y="2207704"/>
            <a:ext cx="3339808" cy="0"/>
          </a:xfrm>
          <a:prstGeom prst="line">
            <a:avLst/>
          </a:prstGeom>
          <a:ln cap="rnd" w="28575">
            <a:solidFill>
              <a:srgbClr val="C9971F"/>
            </a:solidFill>
            <a:prstDash val="solid"/>
            <a:headEnd type="none" len="sm" w="sm"/>
            <a:tailEnd type="none" len="sm" w="sm"/>
          </a:ln>
        </p:spPr>
      </p:sp>
      <p:grpSp>
        <p:nvGrpSpPr>
          <p:cNvPr name="Group 7" id="7"/>
          <p:cNvGrpSpPr/>
          <p:nvPr/>
        </p:nvGrpSpPr>
        <p:grpSpPr>
          <a:xfrm rot="0">
            <a:off x="822960" y="9710928"/>
            <a:ext cx="12344400" cy="411480"/>
            <a:chOff x="0" y="0"/>
            <a:chExt cx="16459200" cy="548640"/>
          </a:xfrm>
        </p:grpSpPr>
        <p:sp>
          <p:nvSpPr>
            <p:cNvPr name="Freeform 8" id="8"/>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9" id="9"/>
            <p:cNvSpPr txBox="true"/>
            <p:nvPr/>
          </p:nvSpPr>
          <p:spPr>
            <a:xfrm>
              <a:off x="0" y="-28575"/>
              <a:ext cx="16459200" cy="577215"/>
            </a:xfrm>
            <a:prstGeom prst="rect">
              <a:avLst/>
            </a:prstGeom>
          </p:spPr>
          <p:txBody>
            <a:bodyPr anchor="ctr" rtlCol="false" tIns="0" lIns="0" bIns="0" rIns="0"/>
            <a:lstStyle/>
            <a:p>
              <a:pPr algn="l">
                <a:lnSpc>
                  <a:spcPts val="1620"/>
                </a:lnSpc>
              </a:pPr>
              <a:r>
                <a:rPr lang="en-US" sz="1350">
                  <a:solidFill>
                    <a:srgbClr val="5F6472"/>
                  </a:solidFill>
                  <a:latin typeface="Calibri (MS)"/>
                  <a:ea typeface="Calibri (MS)"/>
                  <a:cs typeface="Calibri (MS)"/>
                  <a:sym typeface="Calibri (MS)"/>
                </a:rPr>
                <a:t>Provincial Government of Davao del Norte, Day 3 Facilitator Deck</a:t>
              </a:r>
            </a:p>
          </p:txBody>
        </p:sp>
      </p:grpSp>
      <p:grpSp>
        <p:nvGrpSpPr>
          <p:cNvPr name="Group 10" id="10"/>
          <p:cNvGrpSpPr/>
          <p:nvPr/>
        </p:nvGrpSpPr>
        <p:grpSpPr>
          <a:xfrm rot="0">
            <a:off x="16778783" y="9710928"/>
            <a:ext cx="685800" cy="411480"/>
            <a:chOff x="0" y="0"/>
            <a:chExt cx="914400" cy="548640"/>
          </a:xfrm>
        </p:grpSpPr>
        <p:sp>
          <p:nvSpPr>
            <p:cNvPr name="Freeform 11" id="1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2" id="12"/>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5F6472"/>
                  </a:solidFill>
                  <a:latin typeface="Calibri (MS)"/>
                  <a:ea typeface="Calibri (MS)"/>
                  <a:cs typeface="Calibri (MS)"/>
                  <a:sym typeface="Calibri (MS)"/>
                </a:rPr>
                <a:t>33</a:t>
              </a:r>
            </a:p>
          </p:txBody>
        </p:sp>
      </p:grpSp>
      <p:sp>
        <p:nvSpPr>
          <p:cNvPr name="TextBox 13" id="13"/>
          <p:cNvSpPr txBox="true"/>
          <p:nvPr/>
        </p:nvSpPr>
        <p:spPr>
          <a:xfrm rot="0">
            <a:off x="2777683" y="5403702"/>
            <a:ext cx="12191270" cy="704817"/>
          </a:xfrm>
          <a:prstGeom prst="rect">
            <a:avLst/>
          </a:prstGeom>
        </p:spPr>
        <p:txBody>
          <a:bodyPr anchor="t" rtlCol="false" tIns="0" lIns="0" bIns="0" rIns="0">
            <a:spAutoFit/>
          </a:bodyPr>
          <a:lstStyle/>
          <a:p>
            <a:pPr algn="l">
              <a:lnSpc>
                <a:spcPts val="5400"/>
              </a:lnSpc>
            </a:pPr>
            <a:r>
              <a:rPr lang="en-US" b="true" sz="4500">
                <a:solidFill>
                  <a:srgbClr val="1E2761"/>
                </a:solidFill>
                <a:latin typeface="Cambria Bold"/>
                <a:ea typeface="Cambria Bold"/>
                <a:cs typeface="Cambria Bold"/>
                <a:sym typeface="Cambria Bold"/>
              </a:rPr>
              <a:t>ferdienervida.com/davaodelnortegovtraining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2468880" y="-2468880"/>
            <a:ext cx="6309360" cy="6309360"/>
            <a:chOff x="0" y="0"/>
            <a:chExt cx="8412480" cy="8412480"/>
          </a:xfrm>
        </p:grpSpPr>
        <p:sp>
          <p:nvSpPr>
            <p:cNvPr name="Freeform 3" id="3"/>
            <p:cNvSpPr/>
            <p:nvPr/>
          </p:nvSpPr>
          <p:spPr>
            <a:xfrm flipH="false" flipV="false" rot="0">
              <a:off x="0" y="0"/>
              <a:ext cx="8412480" cy="8412480"/>
            </a:xfrm>
            <a:custGeom>
              <a:avLst/>
              <a:gdLst/>
              <a:ahLst/>
              <a:cxnLst/>
              <a:rect r="r" b="b" t="t" l="l"/>
              <a:pathLst>
                <a:path h="8412480" w="8412480">
                  <a:moveTo>
                    <a:pt x="0" y="4206240"/>
                  </a:moveTo>
                  <a:cubicBezTo>
                    <a:pt x="0" y="1883156"/>
                    <a:pt x="1883156" y="0"/>
                    <a:pt x="4206240" y="0"/>
                  </a:cubicBezTo>
                  <a:cubicBezTo>
                    <a:pt x="6529325" y="0"/>
                    <a:pt x="8412480" y="1883156"/>
                    <a:pt x="8412480" y="4206240"/>
                  </a:cubicBezTo>
                  <a:cubicBezTo>
                    <a:pt x="8412480" y="6529325"/>
                    <a:pt x="6529324" y="8412480"/>
                    <a:pt x="4206240" y="8412480"/>
                  </a:cubicBezTo>
                  <a:cubicBezTo>
                    <a:pt x="1883156" y="8412480"/>
                    <a:pt x="0" y="6529324"/>
                    <a:pt x="0" y="4206240"/>
                  </a:cubicBezTo>
                  <a:close/>
                </a:path>
              </a:pathLst>
            </a:custGeom>
            <a:solidFill>
              <a:srgbClr val="141A47"/>
            </a:solidFill>
          </p:spPr>
        </p:sp>
      </p:grpSp>
      <p:grpSp>
        <p:nvGrpSpPr>
          <p:cNvPr name="Group 4" id="4"/>
          <p:cNvGrpSpPr/>
          <p:nvPr/>
        </p:nvGrpSpPr>
        <p:grpSpPr>
          <a:xfrm rot="0">
            <a:off x="14721383" y="6720840"/>
            <a:ext cx="5486400" cy="5486400"/>
            <a:chOff x="0" y="0"/>
            <a:chExt cx="7315200" cy="7315200"/>
          </a:xfrm>
        </p:grpSpPr>
        <p:sp>
          <p:nvSpPr>
            <p:cNvPr name="Freeform 5" id="5"/>
            <p:cNvSpPr/>
            <p:nvPr/>
          </p:nvSpPr>
          <p:spPr>
            <a:xfrm flipH="false" flipV="false" rot="0">
              <a:off x="0" y="0"/>
              <a:ext cx="7315200" cy="7315200"/>
            </a:xfrm>
            <a:custGeom>
              <a:avLst/>
              <a:gdLst/>
              <a:ahLst/>
              <a:cxnLst/>
              <a:rect r="r" b="b" t="t" l="l"/>
              <a:pathLst>
                <a:path h="7315200" w="7315200">
                  <a:moveTo>
                    <a:pt x="0" y="3657600"/>
                  </a:moveTo>
                  <a:cubicBezTo>
                    <a:pt x="0" y="1637538"/>
                    <a:pt x="1637538" y="0"/>
                    <a:pt x="3657600" y="0"/>
                  </a:cubicBezTo>
                  <a:cubicBezTo>
                    <a:pt x="5677662" y="0"/>
                    <a:pt x="7315200" y="1637538"/>
                    <a:pt x="7315200" y="3657600"/>
                  </a:cubicBezTo>
                  <a:cubicBezTo>
                    <a:pt x="7315200" y="5677662"/>
                    <a:pt x="5677662" y="7315200"/>
                    <a:pt x="3657600" y="7315200"/>
                  </a:cubicBezTo>
                  <a:cubicBezTo>
                    <a:pt x="1637538" y="7315200"/>
                    <a:pt x="0" y="5677662"/>
                    <a:pt x="0" y="3657600"/>
                  </a:cubicBezTo>
                  <a:close/>
                </a:path>
              </a:pathLst>
            </a:custGeom>
            <a:solidFill>
              <a:srgbClr val="283583"/>
            </a:solidFill>
          </p:spPr>
        </p:sp>
      </p:grpSp>
      <p:grpSp>
        <p:nvGrpSpPr>
          <p:cNvPr name="Group 6" id="6"/>
          <p:cNvGrpSpPr/>
          <p:nvPr/>
        </p:nvGrpSpPr>
        <p:grpSpPr>
          <a:xfrm rot="0">
            <a:off x="0" y="3634740"/>
            <a:ext cx="18287543" cy="1234440"/>
            <a:chOff x="0" y="0"/>
            <a:chExt cx="24383390" cy="1645920"/>
          </a:xfrm>
        </p:grpSpPr>
        <p:sp>
          <p:nvSpPr>
            <p:cNvPr name="Freeform 7" id="7"/>
            <p:cNvSpPr/>
            <p:nvPr/>
          </p:nvSpPr>
          <p:spPr>
            <a:xfrm flipH="false" flipV="false" rot="0">
              <a:off x="0" y="0"/>
              <a:ext cx="24383391" cy="1645920"/>
            </a:xfrm>
            <a:custGeom>
              <a:avLst/>
              <a:gdLst/>
              <a:ahLst/>
              <a:cxnLst/>
              <a:rect r="r" b="b" t="t" l="l"/>
              <a:pathLst>
                <a:path h="1645920" w="24383391">
                  <a:moveTo>
                    <a:pt x="0" y="0"/>
                  </a:moveTo>
                  <a:lnTo>
                    <a:pt x="24383391" y="0"/>
                  </a:lnTo>
                  <a:lnTo>
                    <a:pt x="24383391" y="1645920"/>
                  </a:lnTo>
                  <a:lnTo>
                    <a:pt x="0" y="1645920"/>
                  </a:lnTo>
                  <a:close/>
                </a:path>
              </a:pathLst>
            </a:custGeom>
            <a:blipFill>
              <a:blip r:embed="rId3">
                <a:alphaModFix amt="0"/>
              </a:blip>
              <a:stretch>
                <a:fillRect l="0" t="-238660" r="0" b="-238660"/>
              </a:stretch>
            </a:blipFill>
          </p:spPr>
        </p:sp>
        <p:sp>
          <p:nvSpPr>
            <p:cNvPr name="TextBox 8" id="8"/>
            <p:cNvSpPr txBox="true"/>
            <p:nvPr/>
          </p:nvSpPr>
          <p:spPr>
            <a:xfrm>
              <a:off x="0" y="-38100"/>
              <a:ext cx="24383390" cy="1684020"/>
            </a:xfrm>
            <a:prstGeom prst="rect">
              <a:avLst/>
            </a:prstGeom>
          </p:spPr>
          <p:txBody>
            <a:bodyPr anchor="ctr" rtlCol="false" tIns="0" lIns="0" bIns="0" rIns="0"/>
            <a:lstStyle/>
            <a:p>
              <a:pPr algn="ctr">
                <a:lnSpc>
                  <a:spcPts val="2879"/>
                </a:lnSpc>
              </a:pPr>
              <a:r>
                <a:rPr lang="en-US" b="true" sz="2400">
                  <a:solidFill>
                    <a:srgbClr val="C9971F"/>
                  </a:solidFill>
                  <a:latin typeface="Calibri (MS) Bold"/>
                  <a:ea typeface="Calibri (MS) Bold"/>
                  <a:cs typeface="Calibri (MS) Bold"/>
                  <a:sym typeface="Calibri (MS) Bold"/>
                </a:rPr>
                <a:t>THANK YOU</a:t>
              </a:r>
            </a:p>
          </p:txBody>
        </p:sp>
      </p:grpSp>
      <p:grpSp>
        <p:nvGrpSpPr>
          <p:cNvPr name="Group 9" id="9"/>
          <p:cNvGrpSpPr/>
          <p:nvPr/>
        </p:nvGrpSpPr>
        <p:grpSpPr>
          <a:xfrm rot="0">
            <a:off x="0" y="4457700"/>
            <a:ext cx="18287543" cy="1097280"/>
            <a:chOff x="0" y="0"/>
            <a:chExt cx="24383390" cy="1463040"/>
          </a:xfrm>
        </p:grpSpPr>
        <p:sp>
          <p:nvSpPr>
            <p:cNvPr name="Freeform 10" id="10"/>
            <p:cNvSpPr/>
            <p:nvPr/>
          </p:nvSpPr>
          <p:spPr>
            <a:xfrm flipH="false" flipV="false" rot="0">
              <a:off x="0" y="0"/>
              <a:ext cx="24383391" cy="1463040"/>
            </a:xfrm>
            <a:custGeom>
              <a:avLst/>
              <a:gdLst/>
              <a:ahLst/>
              <a:cxnLst/>
              <a:rect r="r" b="b" t="t" l="l"/>
              <a:pathLst>
                <a:path h="1463040" w="24383391">
                  <a:moveTo>
                    <a:pt x="0" y="0"/>
                  </a:moveTo>
                  <a:lnTo>
                    <a:pt x="24383391" y="0"/>
                  </a:lnTo>
                  <a:lnTo>
                    <a:pt x="24383391" y="1463040"/>
                  </a:lnTo>
                  <a:lnTo>
                    <a:pt x="0" y="1463040"/>
                  </a:lnTo>
                  <a:close/>
                </a:path>
              </a:pathLst>
            </a:custGeom>
            <a:blipFill>
              <a:blip r:embed="rId3">
                <a:alphaModFix amt="0"/>
              </a:blip>
              <a:stretch>
                <a:fillRect l="0" t="-274742" r="0" b="-274742"/>
              </a:stretch>
            </a:blipFill>
          </p:spPr>
        </p:sp>
        <p:sp>
          <p:nvSpPr>
            <p:cNvPr name="TextBox 11" id="11"/>
            <p:cNvSpPr txBox="true"/>
            <p:nvPr/>
          </p:nvSpPr>
          <p:spPr>
            <a:xfrm>
              <a:off x="0" y="-9525"/>
              <a:ext cx="24383390" cy="1472565"/>
            </a:xfrm>
            <a:prstGeom prst="rect">
              <a:avLst/>
            </a:prstGeom>
          </p:spPr>
          <p:txBody>
            <a:bodyPr anchor="ctr" rtlCol="false" tIns="0" lIns="0" bIns="0" rIns="0"/>
            <a:lstStyle/>
            <a:p>
              <a:pPr algn="ctr">
                <a:lnSpc>
                  <a:spcPts val="5759"/>
                </a:lnSpc>
              </a:pPr>
              <a:r>
                <a:rPr lang="en-US" b="true" sz="4800">
                  <a:solidFill>
                    <a:srgbClr val="FFFFFF"/>
                  </a:solidFill>
                  <a:latin typeface="Cambria Bold"/>
                  <a:ea typeface="Cambria Bold"/>
                  <a:cs typeface="Cambria Bold"/>
                  <a:sym typeface="Cambria Bold"/>
                </a:rPr>
                <a:t>Provincial Government of Davao del Norte</a:t>
              </a:r>
            </a:p>
          </p:txBody>
        </p:sp>
      </p:grpSp>
      <p:grpSp>
        <p:nvGrpSpPr>
          <p:cNvPr name="Group 12" id="12"/>
          <p:cNvGrpSpPr/>
          <p:nvPr/>
        </p:nvGrpSpPr>
        <p:grpSpPr>
          <a:xfrm rot="0">
            <a:off x="457" y="6917500"/>
            <a:ext cx="18287543" cy="622205"/>
            <a:chOff x="0" y="0"/>
            <a:chExt cx="24383390" cy="829607"/>
          </a:xfrm>
        </p:grpSpPr>
        <p:sp>
          <p:nvSpPr>
            <p:cNvPr name="Freeform 13" id="13"/>
            <p:cNvSpPr/>
            <p:nvPr/>
          </p:nvSpPr>
          <p:spPr>
            <a:xfrm flipH="false" flipV="false" rot="0">
              <a:off x="0" y="0"/>
              <a:ext cx="24383391" cy="829607"/>
            </a:xfrm>
            <a:custGeom>
              <a:avLst/>
              <a:gdLst/>
              <a:ahLst/>
              <a:cxnLst/>
              <a:rect r="r" b="b" t="t" l="l"/>
              <a:pathLst>
                <a:path h="829607" w="24383391">
                  <a:moveTo>
                    <a:pt x="0" y="0"/>
                  </a:moveTo>
                  <a:lnTo>
                    <a:pt x="24383391" y="0"/>
                  </a:lnTo>
                  <a:lnTo>
                    <a:pt x="24383391" y="829607"/>
                  </a:lnTo>
                  <a:lnTo>
                    <a:pt x="0" y="829607"/>
                  </a:lnTo>
                  <a:close/>
                </a:path>
              </a:pathLst>
            </a:custGeom>
            <a:blipFill>
              <a:blip r:embed="rId3">
                <a:alphaModFix amt="0"/>
              </a:blip>
              <a:stretch>
                <a:fillRect l="0" t="-528606" r="0" b="-516783"/>
              </a:stretch>
            </a:blipFill>
          </p:spPr>
        </p:sp>
        <p:sp>
          <p:nvSpPr>
            <p:cNvPr name="TextBox 14" id="14"/>
            <p:cNvSpPr txBox="true"/>
            <p:nvPr/>
          </p:nvSpPr>
          <p:spPr>
            <a:xfrm>
              <a:off x="0" y="-38100"/>
              <a:ext cx="24383390" cy="867707"/>
            </a:xfrm>
            <a:prstGeom prst="rect">
              <a:avLst/>
            </a:prstGeom>
          </p:spPr>
          <p:txBody>
            <a:bodyPr anchor="ctr" rtlCol="false" tIns="0" lIns="0" bIns="0" rIns="0"/>
            <a:lstStyle/>
            <a:p>
              <a:pPr algn="ctr">
                <a:lnSpc>
                  <a:spcPts val="2160"/>
                </a:lnSpc>
              </a:pPr>
              <a:r>
                <a:rPr lang="en-US" sz="1800">
                  <a:solidFill>
                    <a:srgbClr val="CADCFC"/>
                  </a:solidFill>
                  <a:latin typeface="Calibri (MS)"/>
                  <a:ea typeface="Calibri (MS)"/>
                  <a:cs typeface="Calibri (MS)"/>
                  <a:sym typeface="Calibri (MS)"/>
                </a:rPr>
                <a:t>Ferdie James Nervida, ACWI, CPS  •  Consultant / Trainer, Cybersecurity Governance</a:t>
              </a:r>
            </a:p>
            <a:p>
              <a:pPr algn="ctr">
                <a:lnSpc>
                  <a:spcPts val="2160"/>
                </a:lnSpc>
              </a:pPr>
              <a:r>
                <a:rPr lang="en-US" sz="1800">
                  <a:solidFill>
                    <a:srgbClr val="CADCFC"/>
                  </a:solidFill>
                  <a:latin typeface="Calibri (MS)"/>
                  <a:ea typeface="Calibri (MS)"/>
                  <a:cs typeface="Calibri (MS)"/>
                  <a:sym typeface="Calibri (MS)"/>
                </a:rPr>
                <a:t>Jasper Van Marcellones • Consultant / Technical Trainer, VAPT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DAHT1hQ_yM8</dc:identifier>
  <dcterms:modified xsi:type="dcterms:W3CDTF">2011-08-01T06:04:30Z</dcterms:modified>
  <cp:revision>1</cp:revision>
  <dc:title>DAY 3 CYBER DEL NORTE</dc:title>
</cp:coreProperties>
</file>