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libri (MS) Bold" charset="1" panose="020F0702030404030204"/>
      <p:regular r:id="rId31"/>
    </p:embeddedFont>
    <p:embeddedFont>
      <p:font typeface="Cambria Bold" charset="1" panose="02040803050406030204"/>
      <p:regular r:id="rId32"/>
    </p:embeddedFont>
    <p:embeddedFont>
      <p:font typeface="Calibri (MS) Italics" charset="1" panose="020F05020202040A0204"/>
      <p:regular r:id="rId33"/>
    </p:embeddedFont>
    <p:embeddedFont>
      <p:font typeface="Calibri (MS)" charset="1" panose="020F0502020204030204"/>
      <p:regular r:id="rId34"/>
    </p:embeddedFont>
    <p:embeddedFont>
      <p:font typeface="Calibri (MS) Bold Italics" charset="1" panose="020F07020304040A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it.ly/tabletopcybertraining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-301752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61920" y="6309360"/>
            <a:ext cx="5486400" cy="5486400"/>
            <a:chOff x="0" y="0"/>
            <a:chExt cx="7315200" cy="731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2948940"/>
            <a:ext cx="14401800" cy="548640"/>
            <a:chOff x="0" y="0"/>
            <a:chExt cx="19202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2 — ATTACK TECHNIQUES AND DEFENSIVE COUNTERMEASURES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3566160"/>
            <a:ext cx="15773400" cy="2606040"/>
            <a:chOff x="0" y="0"/>
            <a:chExt cx="21031200" cy="3474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1031200" cy="3446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499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Incident Response Planning</a:t>
              </a:r>
            </a:p>
            <a:p>
              <a:pPr algn="l">
                <a:lnSpc>
                  <a:spcPts val="7499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and Playbooks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6240780"/>
            <a:ext cx="10972800" cy="685800"/>
            <a:chOff x="0" y="0"/>
            <a:chExt cx="14630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630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E8EE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Morning Session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8983980"/>
            <a:ext cx="13716000" cy="548640"/>
            <a:chOff x="0" y="0"/>
            <a:chExt cx="182880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FA3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Provincial Government of Davao del Norte  —  Cybersecurity Training Program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MORNING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Six Blocks, Two Hands-On Exercises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1783080" cy="795528"/>
            <a:chOff x="0" y="0"/>
            <a:chExt cx="2377440" cy="10607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74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43" t="0" r="-724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377440" cy="107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08:30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17520" y="2400300"/>
            <a:ext cx="5349240" cy="795528"/>
            <a:chOff x="0" y="0"/>
            <a:chExt cx="7132320" cy="10607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2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20" r="0" b="-810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13232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Welcome &amp; overview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3278124"/>
            <a:ext cx="1783080" cy="795528"/>
            <a:chOff x="0" y="0"/>
            <a:chExt cx="2377440" cy="10607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74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43" t="0" r="-72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377440" cy="107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08:40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17520" y="3278124"/>
            <a:ext cx="5349240" cy="795528"/>
            <a:chOff x="0" y="0"/>
            <a:chExt cx="7132320" cy="10607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20" r="0" b="-810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13232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landscape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03920" y="3278124"/>
            <a:ext cx="8778240" cy="795528"/>
            <a:chOff x="0" y="0"/>
            <a:chExt cx="11704320" cy="1060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04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704320" cy="110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Actor profiles · attack lifecycle · TTPs · network attack vectors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155948"/>
            <a:ext cx="1783080" cy="795528"/>
            <a:chOff x="0" y="0"/>
            <a:chExt cx="2377440" cy="10607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74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43" t="0" r="-724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377440" cy="107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09:25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17520" y="4155948"/>
            <a:ext cx="5349240" cy="795528"/>
            <a:chOff x="0" y="0"/>
            <a:chExt cx="7132320" cy="10607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2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20" r="0" b="-810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13232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IR frameworks &amp; roles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03920" y="4155948"/>
            <a:ext cx="8778240" cy="795528"/>
            <a:chOff x="0" y="0"/>
            <a:chExt cx="11704320" cy="10607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04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704320" cy="110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NIST SP 800-61 · who does what during an incident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033772"/>
            <a:ext cx="16596360" cy="548640"/>
            <a:chOff x="0" y="0"/>
            <a:chExt cx="221284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5033772"/>
            <a:ext cx="1783080" cy="548640"/>
            <a:chOff x="0" y="0"/>
            <a:chExt cx="23774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37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A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09:55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017520" y="5033772"/>
            <a:ext cx="5486400" cy="548640"/>
            <a:chOff x="0" y="0"/>
            <a:chExt cx="73152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A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BREAK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5664708"/>
            <a:ext cx="1783080" cy="795528"/>
            <a:chOff x="0" y="0"/>
            <a:chExt cx="2377440" cy="1060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774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43" t="0" r="-72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377440" cy="107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10:10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017520" y="5664708"/>
            <a:ext cx="5349240" cy="795528"/>
            <a:chOff x="0" y="0"/>
            <a:chExt cx="7132320" cy="10607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32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20" r="0" b="-8102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713232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Incident playbooks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503920" y="5664708"/>
            <a:ext cx="8778240" cy="795528"/>
            <a:chOff x="0" y="0"/>
            <a:chExt cx="11704320" cy="10607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04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1704320" cy="110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Detection → containment → eradication → recovery → lessons learned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6542532"/>
            <a:ext cx="1783080" cy="795528"/>
            <a:chOff x="0" y="0"/>
            <a:chExt cx="2377440" cy="10607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774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43" t="0" r="-724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377440" cy="107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10:40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017520" y="6542532"/>
            <a:ext cx="5349240" cy="795528"/>
            <a:chOff x="0" y="0"/>
            <a:chExt cx="7132320" cy="10607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132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20" r="0" b="-810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713232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Building your CIRP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503920" y="6542532"/>
            <a:ext cx="8778240" cy="795528"/>
            <a:chOff x="0" y="0"/>
            <a:chExt cx="11704320" cy="106070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704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1704320" cy="110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Structure, components, and your regulatory obligations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7420356"/>
            <a:ext cx="1783080" cy="795528"/>
            <a:chOff x="0" y="0"/>
            <a:chExt cx="2377440" cy="10607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774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43" t="0" r="-724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2377440" cy="107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11:10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017520" y="7420356"/>
            <a:ext cx="5349240" cy="795528"/>
            <a:chOff x="0" y="0"/>
            <a:chExt cx="7132320" cy="10607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32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20" r="0" b="-8102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713232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Drafting workshop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503920" y="7420356"/>
            <a:ext cx="8778240" cy="795528"/>
            <a:chOff x="0" y="0"/>
            <a:chExt cx="11704320" cy="10607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704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1704320" cy="110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your own office's CIRP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8298180"/>
            <a:ext cx="1783080" cy="795528"/>
            <a:chOff x="0" y="0"/>
            <a:chExt cx="2377440" cy="106070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774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43" t="0" r="-724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2377440" cy="107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13:00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017520" y="8298180"/>
            <a:ext cx="5349240" cy="795528"/>
            <a:chOff x="0" y="0"/>
            <a:chExt cx="7132320" cy="106070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32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20" r="0" b="-8102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713232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Tabletop exercise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03920" y="8298180"/>
            <a:ext cx="8778240" cy="795528"/>
            <a:chOff x="0" y="0"/>
            <a:chExt cx="11704320" cy="106070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704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1704320" cy="110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“Operation Silent Harvest” — live the plan you just wrote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172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116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48940" y="3360420"/>
            <a:ext cx="12344400" cy="548640"/>
            <a:chOff x="0" y="0"/>
            <a:chExt cx="16459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48940" y="3909060"/>
            <a:ext cx="13716000" cy="1783080"/>
            <a:chOff x="0" y="0"/>
            <a:chExt cx="18288000" cy="2377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2880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Threat Landscape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48940" y="5417820"/>
            <a:ext cx="13030200" cy="822960"/>
            <a:chOff x="0" y="0"/>
            <a:chExt cx="173736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37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E8EE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Who is coming after us, how, and in what order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LANDSCAPE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Threat Actor Profiles Targeting Government Institutions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3909060" cy="6240780"/>
            <a:chOff x="0" y="0"/>
            <a:chExt cx="5212080" cy="832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321040"/>
                  </a:lnTo>
                  <a:lnTo>
                    <a:pt x="0" y="83210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3909060" cy="164592"/>
            <a:chOff x="0" y="0"/>
            <a:chExt cx="5212080" cy="219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12080" cy="219456"/>
            </a:xfrm>
            <a:custGeom>
              <a:avLst/>
              <a:gdLst/>
              <a:ahLst/>
              <a:cxnLst/>
              <a:rect r="r" b="b" t="t" l="l"/>
              <a:pathLst>
                <a:path h="21945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8B1E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301752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3017520"/>
            <a:ext cx="754380" cy="754380"/>
            <a:chOff x="0" y="0"/>
            <a:chExt cx="100584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4046220"/>
            <a:ext cx="3223260" cy="1508760"/>
            <a:chOff x="0" y="0"/>
            <a:chExt cx="4297680" cy="2011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29768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Cybercriminal / Ransomware Affiliates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5860" y="5486400"/>
            <a:ext cx="3223260" cy="3017520"/>
            <a:chOff x="0" y="0"/>
            <a:chExt cx="4297680" cy="4023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976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113" t="0" r="-7011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297680" cy="4080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Financially motivated. By far the most common real-world threat to LGUs — opportunistic scanning, phishing, double extortion.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74920" y="2537460"/>
            <a:ext cx="3909060" cy="6240780"/>
            <a:chOff x="0" y="0"/>
            <a:chExt cx="5212080" cy="832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120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321040"/>
                  </a:lnTo>
                  <a:lnTo>
                    <a:pt x="0" y="83210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74920" y="2537460"/>
            <a:ext cx="3909060" cy="164592"/>
            <a:chOff x="0" y="0"/>
            <a:chExt cx="5212080" cy="2194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12080" cy="219456"/>
            </a:xfrm>
            <a:custGeom>
              <a:avLst/>
              <a:gdLst/>
              <a:ahLst/>
              <a:cxnLst/>
              <a:rect r="r" b="b" t="t" l="l"/>
              <a:pathLst>
                <a:path h="21945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17820" y="3017520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17820" y="3017520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17820" y="4046220"/>
            <a:ext cx="3223260" cy="1508760"/>
            <a:chOff x="0" y="0"/>
            <a:chExt cx="4297680" cy="2011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29768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Hacktivists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17820" y="5486400"/>
            <a:ext cx="3223260" cy="3017520"/>
            <a:chOff x="0" y="0"/>
            <a:chExt cx="4297680" cy="4023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76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113" t="0" r="-7011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297680" cy="4080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Grievance or politically motivated. Website defacement, DDoS, leaks timed to political events.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2537460"/>
            <a:ext cx="3909060" cy="6240780"/>
            <a:chOff x="0" y="0"/>
            <a:chExt cx="5212080" cy="8321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120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321040"/>
                  </a:lnTo>
                  <a:lnTo>
                    <a:pt x="0" y="83210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2537460"/>
            <a:ext cx="3909060" cy="164592"/>
            <a:chOff x="0" y="0"/>
            <a:chExt cx="5212080" cy="2194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12080" cy="219456"/>
            </a:xfrm>
            <a:custGeom>
              <a:avLst/>
              <a:gdLst/>
              <a:ahLst/>
              <a:cxnLst/>
              <a:rect r="r" b="b" t="t" l="l"/>
              <a:pathLst>
                <a:path h="21945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69780" y="3017520"/>
            <a:ext cx="754380" cy="754380"/>
            <a:chOff x="0" y="0"/>
            <a:chExt cx="100584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69780" y="3017520"/>
            <a:ext cx="754380" cy="754380"/>
            <a:chOff x="0" y="0"/>
            <a:chExt cx="100584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69780" y="4046220"/>
            <a:ext cx="3223260" cy="1508760"/>
            <a:chOff x="0" y="0"/>
            <a:chExt cx="4297680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429768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State-Linked / Espionage Actors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69780" y="5486400"/>
            <a:ext cx="3223260" cy="3017520"/>
            <a:chOff x="0" y="0"/>
            <a:chExt cx="4297680" cy="4023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976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113" t="0" r="-7011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4297680" cy="4080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Lower likelihood at provincial level, but relevant nationally. Quiet, long dwell time, after information rather than money.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78840" y="2537460"/>
            <a:ext cx="3909060" cy="6240780"/>
            <a:chOff x="0" y="0"/>
            <a:chExt cx="5212080" cy="8321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120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321040"/>
                  </a:lnTo>
                  <a:lnTo>
                    <a:pt x="0" y="83210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578840" y="2537460"/>
            <a:ext cx="3909060" cy="164592"/>
            <a:chOff x="0" y="0"/>
            <a:chExt cx="5212080" cy="2194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12080" cy="219456"/>
            </a:xfrm>
            <a:custGeom>
              <a:avLst/>
              <a:gdLst/>
              <a:ahLst/>
              <a:cxnLst/>
              <a:rect r="r" b="b" t="t" l="l"/>
              <a:pathLst>
                <a:path h="21945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5A5A5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921740" y="3017520"/>
            <a:ext cx="754380" cy="754380"/>
            <a:chOff x="0" y="0"/>
            <a:chExt cx="100584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A5A5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921740" y="3017520"/>
            <a:ext cx="754380" cy="754380"/>
            <a:chOff x="0" y="0"/>
            <a:chExt cx="100584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921740" y="4046220"/>
            <a:ext cx="3223260" cy="1508760"/>
            <a:chOff x="0" y="0"/>
            <a:chExt cx="4297680" cy="2011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429768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Insiders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921740" y="5486400"/>
            <a:ext cx="3223260" cy="3017520"/>
            <a:chOff x="0" y="0"/>
            <a:chExt cx="4297680" cy="4023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113" t="0" r="-7011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4297680" cy="4080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Negligent or malicious. Elevated risk given staff turnover and shared administrative accounts.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LANDSCAPE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Attack Lifecycle: The Cyber Kill Chain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80360"/>
            <a:ext cx="2194560" cy="1165860"/>
            <a:chOff x="0" y="0"/>
            <a:chExt cx="292608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880360"/>
            <a:ext cx="2194560" cy="1165860"/>
            <a:chOff x="0" y="0"/>
            <a:chExt cx="29260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9260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17520" y="2880360"/>
            <a:ext cx="205740" cy="1165860"/>
            <a:chOff x="0" y="0"/>
            <a:chExt cx="27432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053" t="0" r="-67705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74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5268840">
            <a:off x="1670504" y="4281488"/>
            <a:ext cx="499472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22960" y="4594860"/>
            <a:ext cx="2194560" cy="3566160"/>
            <a:chOff x="0" y="0"/>
            <a:chExt cx="2926080" cy="4754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8493" t="0" r="-15849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926080" cy="478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Scan the LGU's public services and staff online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223260" y="2880360"/>
            <a:ext cx="2194560" cy="1165860"/>
            <a:chOff x="0" y="0"/>
            <a:chExt cx="292608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223260" y="2880360"/>
            <a:ext cx="2194560" cy="1165860"/>
            <a:chOff x="0" y="0"/>
            <a:chExt cx="292608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9260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Weaponize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17820" y="2880360"/>
            <a:ext cx="205740" cy="1165860"/>
            <a:chOff x="0" y="0"/>
            <a:chExt cx="27432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053" t="0" r="-67705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74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5268840">
            <a:off x="4070804" y="4281488"/>
            <a:ext cx="499472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3223260" y="4594860"/>
            <a:ext cx="2194560" cy="3566160"/>
            <a:chOff x="0" y="0"/>
            <a:chExt cx="2926080" cy="4754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8493" t="0" r="-15849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926080" cy="478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Craft a phishing email referencing a COA audit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23560" y="2880360"/>
            <a:ext cx="2194560" cy="1165860"/>
            <a:chOff x="0" y="0"/>
            <a:chExt cx="292608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623560" y="2880360"/>
            <a:ext cx="2194560" cy="1165860"/>
            <a:chOff x="0" y="0"/>
            <a:chExt cx="292608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9260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818120" y="2880360"/>
            <a:ext cx="205740" cy="1165860"/>
            <a:chOff x="0" y="0"/>
            <a:chExt cx="27432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053" t="0" r="-67705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74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5268840">
            <a:off x="6471104" y="4281488"/>
            <a:ext cx="499472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5623560" y="4594860"/>
            <a:ext cx="2194560" cy="3566160"/>
            <a:chOff x="0" y="0"/>
            <a:chExt cx="2926080" cy="4754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8493" t="0" r="-15849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926080" cy="478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 the email with a malicious attachment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23860" y="2880360"/>
            <a:ext cx="2194560" cy="1165860"/>
            <a:chOff x="0" y="0"/>
            <a:chExt cx="29260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023860" y="2880360"/>
            <a:ext cx="2194560" cy="1165860"/>
            <a:chOff x="0" y="0"/>
            <a:chExt cx="292608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9260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Exploit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218420" y="2880360"/>
            <a:ext cx="205740" cy="1165860"/>
            <a:chOff x="0" y="0"/>
            <a:chExt cx="274320" cy="15544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4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053" t="0" r="-67705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74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5268840">
            <a:off x="8871404" y="4281488"/>
            <a:ext cx="499472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8023860" y="4594860"/>
            <a:ext cx="2194560" cy="3566160"/>
            <a:chOff x="0" y="0"/>
            <a:chExt cx="2926080" cy="4754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8493" t="0" r="-15849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926080" cy="478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Unpatched site or exposed RDP is exploited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424160" y="2880360"/>
            <a:ext cx="2194560" cy="1165860"/>
            <a:chOff x="0" y="0"/>
            <a:chExt cx="2926080" cy="15544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424160" y="2880360"/>
            <a:ext cx="2194560" cy="1165860"/>
            <a:chOff x="0" y="0"/>
            <a:chExt cx="2926080" cy="1554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29260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618720" y="2880360"/>
            <a:ext cx="205740" cy="1165860"/>
            <a:chOff x="0" y="0"/>
            <a:chExt cx="274320" cy="15544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4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053" t="0" r="-67705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74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sp>
        <p:nvSpPr>
          <p:cNvPr name="AutoShape 64" id="64"/>
          <p:cNvSpPr/>
          <p:nvPr/>
        </p:nvSpPr>
        <p:spPr>
          <a:xfrm rot="5268840">
            <a:off x="11271704" y="4281488"/>
            <a:ext cx="499472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0424160" y="4594860"/>
            <a:ext cx="2194560" cy="3566160"/>
            <a:chOff x="0" y="0"/>
            <a:chExt cx="2926080" cy="4754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2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8493" t="0" r="-15849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926080" cy="478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Backdoor dropped for persistence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824460" y="2880360"/>
            <a:ext cx="2194560" cy="1165860"/>
            <a:chOff x="0" y="0"/>
            <a:chExt cx="2926080" cy="15544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824460" y="2880360"/>
            <a:ext cx="2194560" cy="1165860"/>
            <a:chOff x="0" y="0"/>
            <a:chExt cx="2926080" cy="15544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9260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019020" y="2880360"/>
            <a:ext cx="205740" cy="1165860"/>
            <a:chOff x="0" y="0"/>
            <a:chExt cx="274320" cy="15544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74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053" t="0" r="-67705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274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5268840">
            <a:off x="13672004" y="4281488"/>
            <a:ext cx="499472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2824460" y="4594860"/>
            <a:ext cx="2194560" cy="3566160"/>
            <a:chOff x="0" y="0"/>
            <a:chExt cx="2926080" cy="47548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2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8493" t="0" r="-15849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2926080" cy="478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Beacon out to attacker infrastructure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224760" y="2880360"/>
            <a:ext cx="2194560" cy="1165860"/>
            <a:chOff x="0" y="0"/>
            <a:chExt cx="2926080" cy="15544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1444752"/>
                  </a:lnTo>
                  <a:cubicBezTo>
                    <a:pt x="2926080" y="1505331"/>
                    <a:pt x="2876931" y="1554480"/>
                    <a:pt x="2816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224760" y="2880360"/>
            <a:ext cx="2194560" cy="1165860"/>
            <a:chOff x="0" y="0"/>
            <a:chExt cx="2926080" cy="15544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29260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rot="5268840">
            <a:off x="16072304" y="4281488"/>
            <a:ext cx="499472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0">
            <a:off x="15224760" y="4594860"/>
            <a:ext cx="2194560" cy="3566160"/>
            <a:chOff x="0" y="0"/>
            <a:chExt cx="2926080" cy="4754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260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8493" t="0" r="-15849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926080" cy="478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Lateral movement, data theft, ransomware deployed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8709660"/>
            <a:ext cx="16596360" cy="685800"/>
            <a:chOff x="0" y="0"/>
            <a:chExt cx="22128480" cy="914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B886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specific techniques matter less than recognizing the pattern — knowing the stage tells you where to look and where to intervene.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LANDSCAPE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Tactics, Techniques, and Procedures in Real-World Incidents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4937760" cy="960120"/>
            <a:chOff x="0" y="0"/>
            <a:chExt cx="658368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537460"/>
            <a:ext cx="4526280" cy="960120"/>
            <a:chOff x="0" y="0"/>
            <a:chExt cx="603504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0350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 Access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97880" y="2537460"/>
            <a:ext cx="11521440" cy="960120"/>
            <a:chOff x="0" y="0"/>
            <a:chExt cx="1536192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6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172200" y="2537460"/>
            <a:ext cx="11109960" cy="960120"/>
            <a:chOff x="0" y="0"/>
            <a:chExt cx="1481328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81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8132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Phishing, exploiting public-facing apps, valid/stolen credentials, exposed RDP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607308"/>
            <a:ext cx="4937760" cy="960120"/>
            <a:chOff x="0" y="0"/>
            <a:chExt cx="65836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3607308"/>
            <a:ext cx="4526280" cy="960120"/>
            <a:chOff x="0" y="0"/>
            <a:chExt cx="603504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350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Execution &amp; Persistence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97880" y="3607308"/>
            <a:ext cx="11521440" cy="960120"/>
            <a:chOff x="0" y="0"/>
            <a:chExt cx="1536192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6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172200" y="3607308"/>
            <a:ext cx="11109960" cy="960120"/>
            <a:chOff x="0" y="0"/>
            <a:chExt cx="1481328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81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48132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PowerShell / living-off-the-land tools; scheduled tasks; new local accounts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4677156"/>
            <a:ext cx="4937760" cy="960120"/>
            <a:chOff x="0" y="0"/>
            <a:chExt cx="658368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8700" y="4677156"/>
            <a:ext cx="4526280" cy="960120"/>
            <a:chOff x="0" y="0"/>
            <a:chExt cx="603504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0350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Privilege Escalation &amp; Evasion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97880" y="4677156"/>
            <a:ext cx="11521440" cy="960120"/>
            <a:chOff x="0" y="0"/>
            <a:chExt cx="1536192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36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172200" y="4677156"/>
            <a:ext cx="11109960" cy="960120"/>
            <a:chOff x="0" y="0"/>
            <a:chExt cx="14813280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81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48132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Exploiting unpatched systems; disabling AV/EDR; clearing logs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5747004"/>
            <a:ext cx="4937760" cy="960120"/>
            <a:chOff x="0" y="0"/>
            <a:chExt cx="658368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8700" y="5747004"/>
            <a:ext cx="4526280" cy="960120"/>
            <a:chOff x="0" y="0"/>
            <a:chExt cx="603504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0350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Credential Access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897880" y="5747004"/>
            <a:ext cx="11521440" cy="960120"/>
            <a:chOff x="0" y="0"/>
            <a:chExt cx="1536192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36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172200" y="5747004"/>
            <a:ext cx="11109960" cy="960120"/>
            <a:chOff x="0" y="0"/>
            <a:chExt cx="14813280" cy="12801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81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48132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Credential dumping; password spraying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6816852"/>
            <a:ext cx="4937760" cy="960120"/>
            <a:chOff x="0" y="0"/>
            <a:chExt cx="658368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28700" y="6816852"/>
            <a:ext cx="4526280" cy="960120"/>
            <a:chOff x="0" y="0"/>
            <a:chExt cx="603504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0350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Lateral Movement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897880" y="6816852"/>
            <a:ext cx="11521440" cy="960120"/>
            <a:chOff x="0" y="0"/>
            <a:chExt cx="1536192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36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172200" y="6816852"/>
            <a:ext cx="11109960" cy="960120"/>
            <a:chOff x="0" y="0"/>
            <a:chExt cx="1481328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81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48132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SMB/admin shares; pass-the-hash; hopping across an unsegmented network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7886700"/>
            <a:ext cx="4937760" cy="960120"/>
            <a:chOff x="0" y="0"/>
            <a:chExt cx="658368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28700" y="7886700"/>
            <a:ext cx="4526280" cy="960120"/>
            <a:chOff x="0" y="0"/>
            <a:chExt cx="6035040" cy="12801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0350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Collection, Exfil &amp; Impact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897880" y="7886700"/>
            <a:ext cx="11521440" cy="960120"/>
            <a:chOff x="0" y="0"/>
            <a:chExt cx="15361920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36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172200" y="7886700"/>
            <a:ext cx="11109960" cy="960120"/>
            <a:chOff x="0" y="0"/>
            <a:chExt cx="14813280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81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48132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Staging data before encryption; exfil over HTTPS/cloud; ransomware, double extortion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LANDSCAPE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Network Attack Vectors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023860" cy="3154680"/>
            <a:chOff x="0" y="0"/>
            <a:chExt cx="10698480" cy="420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94894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948940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00300" y="2921508"/>
            <a:ext cx="6103620" cy="891540"/>
            <a:chOff x="0" y="0"/>
            <a:chExt cx="8138160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381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397" r="0" b="-8339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1381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Reconnaissance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977640"/>
            <a:ext cx="7200900" cy="1508760"/>
            <a:chOff x="0" y="0"/>
            <a:chExt cx="960120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0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60120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Passive OSINT and active scanning of exposed services — attackers map you before they touch you.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95460" y="2537460"/>
            <a:ext cx="8023860" cy="3154680"/>
            <a:chOff x="0" y="0"/>
            <a:chExt cx="10698480" cy="4206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06940" y="2948940"/>
            <a:ext cx="822960" cy="822960"/>
            <a:chOff x="0" y="0"/>
            <a:chExt cx="1097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06940" y="294894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0" y="2921508"/>
            <a:ext cx="6103620" cy="891540"/>
            <a:chOff x="0" y="0"/>
            <a:chExt cx="8138160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381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397" r="0" b="-833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81381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Exploitation of Exposed Services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06940" y="3977640"/>
            <a:ext cx="7200900" cy="1508760"/>
            <a:chOff x="0" y="0"/>
            <a:chExt cx="9601200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0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60120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Outdated CMS, exposed RDP/VPN, unpatched public-facing applications.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6103620"/>
            <a:ext cx="8023860" cy="3154680"/>
            <a:chOff x="0" y="0"/>
            <a:chExt cx="10698480" cy="4206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4440" y="6515100"/>
            <a:ext cx="822960" cy="822960"/>
            <a:chOff x="0" y="0"/>
            <a:chExt cx="10972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4440" y="6515100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00300" y="6487668"/>
            <a:ext cx="6103620" cy="891540"/>
            <a:chOff x="0" y="0"/>
            <a:chExt cx="813816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381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397" r="0" b="-833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1381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Lateral Movement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4440" y="7543800"/>
            <a:ext cx="7200900" cy="1508760"/>
            <a:chOff x="0" y="0"/>
            <a:chExt cx="9601200" cy="2011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0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60120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Flat networks with no segmentation between departments or servers; SMB abuse.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95460" y="6103620"/>
            <a:ext cx="8023860" cy="3154680"/>
            <a:chOff x="0" y="0"/>
            <a:chExt cx="10698480" cy="4206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984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06940" y="6515100"/>
            <a:ext cx="822960" cy="822960"/>
            <a:chOff x="0" y="0"/>
            <a:chExt cx="109728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06940" y="6515100"/>
            <a:ext cx="822960" cy="822960"/>
            <a:chOff x="0" y="0"/>
            <a:chExt cx="109728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72800" y="6487668"/>
            <a:ext cx="6103620" cy="891540"/>
            <a:chOff x="0" y="0"/>
            <a:chExt cx="8138160" cy="1188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381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397" r="0" b="-833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81381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Misconfiguration &amp; Weak Access Controls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06940" y="7543800"/>
            <a:ext cx="7200900" cy="1508760"/>
            <a:chOff x="0" y="0"/>
            <a:chExt cx="9601200" cy="2011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0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960120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Default or shared credentials, no MFA, over-privileged accounts, missing least-privilege on file shares.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172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116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48940" y="3360420"/>
            <a:ext cx="12344400" cy="548640"/>
            <a:chOff x="0" y="0"/>
            <a:chExt cx="16459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48940" y="3909060"/>
            <a:ext cx="13716000" cy="1783080"/>
            <a:chOff x="0" y="0"/>
            <a:chExt cx="18288000" cy="2377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2880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Frameworks and Roles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48940" y="5417820"/>
            <a:ext cx="13030200" cy="822960"/>
            <a:chOff x="0" y="0"/>
            <a:chExt cx="173736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37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E8EE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shared structure and named owners for every part of it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IR FRAMEWORKS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Four-Phase Incident Response Lifecycle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5087600" cy="548640"/>
            <a:chOff x="0" y="0"/>
            <a:chExt cx="201168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5A5A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classic NIST incident response lifecycle — the reference framework we'll build your CIRP around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291840"/>
            <a:ext cx="3909060" cy="5349240"/>
            <a:chOff x="0" y="0"/>
            <a:chExt cx="5212080" cy="7132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132320"/>
                  </a:lnTo>
                  <a:lnTo>
                    <a:pt x="0" y="713232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28850" y="3771900"/>
            <a:ext cx="1097280" cy="1097280"/>
            <a:chOff x="0" y="0"/>
            <a:chExt cx="146304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228850" y="3771900"/>
            <a:ext cx="1097280" cy="1097280"/>
            <a:chOff x="0" y="0"/>
            <a:chExt cx="146304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5212080"/>
            <a:ext cx="3360420" cy="1303020"/>
            <a:chOff x="0" y="0"/>
            <a:chExt cx="4480560" cy="1737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4805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6652260"/>
            <a:ext cx="3223260" cy="1851660"/>
            <a:chOff x="0" y="0"/>
            <a:chExt cx="4297680" cy="2468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76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706" t="0" r="-2370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29768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E8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Plans, playbooks, roles, tooling, training — before anything happens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32020" y="5486400"/>
            <a:ext cx="342900" cy="822960"/>
            <a:chOff x="0" y="0"/>
            <a:chExt cx="45720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57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74920" y="3291840"/>
            <a:ext cx="3909060" cy="5349240"/>
            <a:chOff x="0" y="0"/>
            <a:chExt cx="5212080" cy="7132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132320"/>
                  </a:lnTo>
                  <a:lnTo>
                    <a:pt x="0" y="7132320"/>
                  </a:ln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80810" y="3771900"/>
            <a:ext cx="1097280" cy="1097280"/>
            <a:chOff x="0" y="0"/>
            <a:chExt cx="14630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80810" y="3771900"/>
            <a:ext cx="1097280" cy="1097280"/>
            <a:chOff x="0" y="0"/>
            <a:chExt cx="14630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349240" y="5212080"/>
            <a:ext cx="3360420" cy="1303020"/>
            <a:chOff x="0" y="0"/>
            <a:chExt cx="448056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4805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 &amp; Analysis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17820" y="6652260"/>
            <a:ext cx="3223260" cy="1851660"/>
            <a:chOff x="0" y="0"/>
            <a:chExt cx="4297680" cy="2468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976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706" t="0" r="-2370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29768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E8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Spot the incident, triage, classify severity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83980" y="5486400"/>
            <a:ext cx="342900" cy="822960"/>
            <a:chOff x="0" y="0"/>
            <a:chExt cx="4572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457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26880" y="3291840"/>
            <a:ext cx="3909060" cy="5349240"/>
            <a:chOff x="0" y="0"/>
            <a:chExt cx="5212080" cy="7132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132320"/>
                  </a:lnTo>
                  <a:lnTo>
                    <a:pt x="0" y="713232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732770" y="3771900"/>
            <a:ext cx="1097280" cy="1097280"/>
            <a:chOff x="0" y="0"/>
            <a:chExt cx="146304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732770" y="3771900"/>
            <a:ext cx="1097280" cy="1097280"/>
            <a:chOff x="0" y="0"/>
            <a:chExt cx="146304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5212080"/>
            <a:ext cx="3360420" cy="1303020"/>
            <a:chOff x="0" y="0"/>
            <a:chExt cx="4480560" cy="1737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4805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Containment, Eradication &amp; Recovery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69780" y="6652260"/>
            <a:ext cx="3223260" cy="1851660"/>
            <a:chOff x="0" y="0"/>
            <a:chExt cx="4297680" cy="2468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976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706" t="0" r="-23706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29768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E8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 the damage, remove the cause, restore operations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235940" y="5486400"/>
            <a:ext cx="342900" cy="822960"/>
            <a:chOff x="0" y="0"/>
            <a:chExt cx="45720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457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578840" y="3291840"/>
            <a:ext cx="3909060" cy="5349240"/>
            <a:chOff x="0" y="0"/>
            <a:chExt cx="5212080" cy="71323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132320"/>
                  </a:lnTo>
                  <a:lnTo>
                    <a:pt x="0" y="7132320"/>
                  </a:ln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984730" y="3771900"/>
            <a:ext cx="1097280" cy="1097280"/>
            <a:chOff x="0" y="0"/>
            <a:chExt cx="146304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984730" y="3771900"/>
            <a:ext cx="1097280" cy="1097280"/>
            <a:chOff x="0" y="0"/>
            <a:chExt cx="1463040" cy="1463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853160" y="5212080"/>
            <a:ext cx="3360420" cy="1303020"/>
            <a:chOff x="0" y="0"/>
            <a:chExt cx="4480560" cy="1737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4805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Post-Incident Activity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921740" y="6652260"/>
            <a:ext cx="3223260" cy="1851660"/>
            <a:chOff x="0" y="0"/>
            <a:chExt cx="4297680" cy="24688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976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706" t="0" r="-23706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429768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E8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Review, learn, update the plan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2960" y="8846820"/>
            <a:ext cx="16596360" cy="1028700"/>
            <a:chOff x="0" y="0"/>
            <a:chExt cx="22128480" cy="1371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2212848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00" i="true">
                  <a:solidFill>
                    <a:srgbClr val="5A5A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four-phase structure originates from NIST SP 800-61 Rev. 2 (2012), which was withdrawn in April 2025. Current NIST guidance is SP 800-61 Rev. 3, reframed around the CSF 2.0 functions — these four phases remain a valid, widely-used way to teach the lifecycle, cited here as the classic model rather than current Rev. 2 guidance.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IR FRAMEWORKS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Roles and Responsibilities During a Cyber Incident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68880"/>
            <a:ext cx="8023860" cy="1440180"/>
            <a:chOff x="0" y="0"/>
            <a:chExt cx="1069848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468880"/>
            <a:ext cx="137160" cy="1440180"/>
            <a:chOff x="0" y="0"/>
            <a:chExt cx="182880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606040"/>
            <a:ext cx="7338060" cy="548640"/>
            <a:chOff x="0" y="0"/>
            <a:chExt cx="97840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784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Executive Sponsor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154680"/>
            <a:ext cx="7338060" cy="685800"/>
            <a:chOff x="0" y="0"/>
            <a:chExt cx="978408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784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Governor's Office / Provincial Administrator — authorizes major decisions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95460" y="2468880"/>
            <a:ext cx="8023860" cy="1440180"/>
            <a:chOff x="0" y="0"/>
            <a:chExt cx="1069848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95460" y="2468880"/>
            <a:ext cx="137160" cy="1440180"/>
            <a:chOff x="0" y="0"/>
            <a:chExt cx="182880" cy="1920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06940" y="2606040"/>
            <a:ext cx="7338060" cy="548640"/>
            <a:chOff x="0" y="0"/>
            <a:chExt cx="97840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784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IR Team Lead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06940" y="3154680"/>
            <a:ext cx="7338060" cy="685800"/>
            <a:chOff x="0" y="0"/>
            <a:chExt cx="978408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84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PICTO Head / MIS Officer — coordinates the response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4155948"/>
            <a:ext cx="8023860" cy="1440180"/>
            <a:chOff x="0" y="0"/>
            <a:chExt cx="10698480" cy="1920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9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4155948"/>
            <a:ext cx="137160" cy="1440180"/>
            <a:chOff x="0" y="0"/>
            <a:chExt cx="182880" cy="1920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" y="4293108"/>
            <a:ext cx="7338060" cy="548640"/>
            <a:chOff x="0" y="0"/>
            <a:chExt cx="97840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784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Lead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4841748"/>
            <a:ext cx="7338060" cy="685800"/>
            <a:chOff x="0" y="0"/>
            <a:chExt cx="978408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84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Network/systems admin — detection through recovery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95460" y="4155948"/>
            <a:ext cx="8023860" cy="1440180"/>
            <a:chOff x="0" y="0"/>
            <a:chExt cx="10698480" cy="192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9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95460" y="4155948"/>
            <a:ext cx="137160" cy="1440180"/>
            <a:chOff x="0" y="0"/>
            <a:chExt cx="18288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06940" y="4293108"/>
            <a:ext cx="7338060" cy="548640"/>
            <a:chOff x="0" y="0"/>
            <a:chExt cx="97840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784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Protection Officer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06940" y="4841748"/>
            <a:ext cx="7338060" cy="685800"/>
            <a:chOff x="0" y="0"/>
            <a:chExt cx="978408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784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Owns the NPC 72-hour breach notification clock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5843016"/>
            <a:ext cx="8023860" cy="1440180"/>
            <a:chOff x="0" y="0"/>
            <a:chExt cx="10698480" cy="1920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9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5843016"/>
            <a:ext cx="137160" cy="1440180"/>
            <a:chOff x="0" y="0"/>
            <a:chExt cx="182880" cy="1920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34440" y="5980176"/>
            <a:ext cx="7338060" cy="548640"/>
            <a:chOff x="0" y="0"/>
            <a:chExt cx="978408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784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Legal Counsel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4440" y="6528816"/>
            <a:ext cx="7338060" cy="685800"/>
            <a:chOff x="0" y="0"/>
            <a:chExt cx="978408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784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Law enforcement liaison, disclosure obligations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95460" y="5843016"/>
            <a:ext cx="8023860" cy="1440180"/>
            <a:chOff x="0" y="0"/>
            <a:chExt cx="10698480" cy="1920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9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95460" y="5843016"/>
            <a:ext cx="137160" cy="1440180"/>
            <a:chOff x="0" y="0"/>
            <a:chExt cx="182880" cy="1920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2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06940" y="5980176"/>
            <a:ext cx="7338060" cy="548640"/>
            <a:chOff x="0" y="0"/>
            <a:chExt cx="978408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784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Communications / PIO Lead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06940" y="6528816"/>
            <a:ext cx="7338060" cy="685800"/>
            <a:chOff x="0" y="0"/>
            <a:chExt cx="978408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7840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Internal updates, public statements, media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22960" y="8709660"/>
            <a:ext cx="16596360" cy="617220"/>
            <a:chOff x="0" y="0"/>
            <a:chExt cx="22128480" cy="822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12848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931" r="0" b="-4739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221284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i="true">
                  <a:solidFill>
                    <a:srgbClr val="B8860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 plan with titles but no names attached fails during an actual incident.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172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116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48940" y="3360420"/>
            <a:ext cx="12344400" cy="548640"/>
            <a:chOff x="0" y="0"/>
            <a:chExt cx="16459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48940" y="3909060"/>
            <a:ext cx="13716000" cy="1783080"/>
            <a:chOff x="0" y="0"/>
            <a:chExt cx="18288000" cy="2377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2880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Incident Playbooks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48940" y="5417820"/>
            <a:ext cx="13030200" cy="822960"/>
            <a:chOff x="0" y="0"/>
            <a:chExt cx="173736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37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E8EE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Detection, containment, eradication, recovery, lessons learned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INCIDENT PLAYBOOKS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Ransomware Playbook, Stage by Stage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91540" cy="891540"/>
            <a:chOff x="0" y="0"/>
            <a:chExt cx="1188720" cy="1188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88820" y="2537460"/>
            <a:ext cx="15499080" cy="1152144"/>
            <a:chOff x="0" y="0"/>
            <a:chExt cx="20665440" cy="15361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65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36192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31720" y="2537460"/>
            <a:ext cx="3291840" cy="1152144"/>
            <a:chOff x="0" y="0"/>
            <a:chExt cx="4389120" cy="1536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0" cy="1536192"/>
            </a:xfrm>
            <a:custGeom>
              <a:avLst/>
              <a:gdLst/>
              <a:ahLst/>
              <a:cxnLst/>
              <a:rect r="r" b="b" t="t" l="l"/>
              <a:pathLst>
                <a:path h="15361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38912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60720" y="2537460"/>
            <a:ext cx="11452860" cy="1152144"/>
            <a:chOff x="0" y="0"/>
            <a:chExt cx="15270480" cy="15361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7048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270480">
                  <a:moveTo>
                    <a:pt x="0" y="0"/>
                  </a:moveTo>
                  <a:lnTo>
                    <a:pt x="15270480" y="0"/>
                  </a:lnTo>
                  <a:lnTo>
                    <a:pt x="1527048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690" r="0" b="-1436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270480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AV/EDR alerts, helpdesk reports, unusual account activity, a ransom note on a share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3909060"/>
            <a:ext cx="891540" cy="891540"/>
            <a:chOff x="0" y="0"/>
            <a:chExt cx="1188720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909060"/>
            <a:ext cx="891540" cy="891540"/>
            <a:chOff x="0" y="0"/>
            <a:chExt cx="1188720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88820" y="3909060"/>
            <a:ext cx="15499080" cy="1152144"/>
            <a:chOff x="0" y="0"/>
            <a:chExt cx="20665440" cy="15361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665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36192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331720" y="3909060"/>
            <a:ext cx="3291840" cy="1152144"/>
            <a:chOff x="0" y="0"/>
            <a:chExt cx="4389120" cy="15361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0" cy="1536192"/>
            </a:xfrm>
            <a:custGeom>
              <a:avLst/>
              <a:gdLst/>
              <a:ahLst/>
              <a:cxnLst/>
              <a:rect r="r" b="b" t="t" l="l"/>
              <a:pathLst>
                <a:path h="15361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38912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760720" y="3909060"/>
            <a:ext cx="11452860" cy="1152144"/>
            <a:chOff x="0" y="0"/>
            <a:chExt cx="15270480" cy="15361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7048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270480">
                  <a:moveTo>
                    <a:pt x="0" y="0"/>
                  </a:moveTo>
                  <a:lnTo>
                    <a:pt x="15270480" y="0"/>
                  </a:lnTo>
                  <a:lnTo>
                    <a:pt x="1527048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690" r="0" b="-1436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5270480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Isolate affected hosts/VLAN, disable compromised accounts, preserve evidence first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5280660"/>
            <a:ext cx="891540" cy="891540"/>
            <a:chOff x="0" y="0"/>
            <a:chExt cx="1188720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5280660"/>
            <a:ext cx="891540" cy="891540"/>
            <a:chOff x="0" y="0"/>
            <a:chExt cx="1188720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88820" y="5280660"/>
            <a:ext cx="15499080" cy="1152144"/>
            <a:chOff x="0" y="0"/>
            <a:chExt cx="20665440" cy="15361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665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36192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331720" y="5280660"/>
            <a:ext cx="3291840" cy="1152144"/>
            <a:chOff x="0" y="0"/>
            <a:chExt cx="4389120" cy="15361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0" cy="1536192"/>
            </a:xfrm>
            <a:custGeom>
              <a:avLst/>
              <a:gdLst/>
              <a:ahLst/>
              <a:cxnLst/>
              <a:rect r="r" b="b" t="t" l="l"/>
              <a:pathLst>
                <a:path h="15361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38912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Eradication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760720" y="5280660"/>
            <a:ext cx="11452860" cy="1152144"/>
            <a:chOff x="0" y="0"/>
            <a:chExt cx="15270480" cy="15361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27048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270480">
                  <a:moveTo>
                    <a:pt x="0" y="0"/>
                  </a:moveTo>
                  <a:lnTo>
                    <a:pt x="15270480" y="0"/>
                  </a:lnTo>
                  <a:lnTo>
                    <a:pt x="1527048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690" r="0" b="-1436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5270480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 malware/backdoors, patch the exploited flaw, reset all affected credentials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6652260"/>
            <a:ext cx="891540" cy="891540"/>
            <a:chOff x="0" y="0"/>
            <a:chExt cx="1188720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22960" y="6652260"/>
            <a:ext cx="891540" cy="891540"/>
            <a:chOff x="0" y="0"/>
            <a:chExt cx="1188720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988820" y="6652260"/>
            <a:ext cx="15499080" cy="1152144"/>
            <a:chOff x="0" y="0"/>
            <a:chExt cx="20665440" cy="15361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665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36192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331720" y="6652260"/>
            <a:ext cx="3291840" cy="1152144"/>
            <a:chOff x="0" y="0"/>
            <a:chExt cx="4389120" cy="15361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89120" cy="1536192"/>
            </a:xfrm>
            <a:custGeom>
              <a:avLst/>
              <a:gdLst/>
              <a:ahLst/>
              <a:cxnLst/>
              <a:rect r="r" b="b" t="t" l="l"/>
              <a:pathLst>
                <a:path h="15361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438912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Recovery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0" y="6652260"/>
            <a:ext cx="11452860" cy="1152144"/>
            <a:chOff x="0" y="0"/>
            <a:chExt cx="15270480" cy="15361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27048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270480">
                  <a:moveTo>
                    <a:pt x="0" y="0"/>
                  </a:moveTo>
                  <a:lnTo>
                    <a:pt x="15270480" y="0"/>
                  </a:lnTo>
                  <a:lnTo>
                    <a:pt x="1527048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690" r="0" b="-14369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5270480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Restore from verified clean backups, phased return, heightened monitoring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8023860"/>
            <a:ext cx="891540" cy="891540"/>
            <a:chOff x="0" y="0"/>
            <a:chExt cx="118872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8023860"/>
            <a:ext cx="891540" cy="891540"/>
            <a:chOff x="0" y="0"/>
            <a:chExt cx="1188720" cy="1188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988820" y="8023860"/>
            <a:ext cx="15499080" cy="1152144"/>
            <a:chOff x="0" y="0"/>
            <a:chExt cx="20665440" cy="15361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665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36192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331720" y="8023860"/>
            <a:ext cx="3291840" cy="1152144"/>
            <a:chOff x="0" y="0"/>
            <a:chExt cx="4389120" cy="15361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89120" cy="1536192"/>
            </a:xfrm>
            <a:custGeom>
              <a:avLst/>
              <a:gdLst/>
              <a:ahLst/>
              <a:cxnLst/>
              <a:rect r="r" b="b" t="t" l="l"/>
              <a:pathLst>
                <a:path h="15361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438912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Lessons Learned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760720" y="8023860"/>
            <a:ext cx="11452860" cy="1152144"/>
            <a:chOff x="0" y="0"/>
            <a:chExt cx="15270480" cy="15361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527048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270480">
                  <a:moveTo>
                    <a:pt x="0" y="0"/>
                  </a:moveTo>
                  <a:lnTo>
                    <a:pt x="15270480" y="0"/>
                  </a:lnTo>
                  <a:lnTo>
                    <a:pt x="1527048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690" r="0" b="-14369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5270480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After-action review, update the plan, report to leadership and, where applicable, DICT/NPC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172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116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48940" y="3360420"/>
            <a:ext cx="12344400" cy="548640"/>
            <a:chOff x="0" y="0"/>
            <a:chExt cx="16459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48940" y="3909060"/>
            <a:ext cx="13716000" cy="1783080"/>
            <a:chOff x="0" y="0"/>
            <a:chExt cx="18288000" cy="2377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2880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Building Your CIRP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32124" y="5505987"/>
            <a:ext cx="13030200" cy="822960"/>
            <a:chOff x="0" y="0"/>
            <a:chExt cx="173736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737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CIRP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Eleven Sections, One Working Document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023860" cy="630936"/>
            <a:chOff x="0" y="0"/>
            <a:chExt cx="10698480" cy="8412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Purpose, scope &amp; authority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168396"/>
            <a:ext cx="8023860" cy="630936"/>
            <a:chOff x="0" y="0"/>
            <a:chExt cx="10698480" cy="8412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Definitions &amp; severity classification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3799332"/>
            <a:ext cx="8023860" cy="630936"/>
            <a:chOff x="0" y="0"/>
            <a:chExt cx="10698480" cy="8412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Roles, responsibilities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430268"/>
            <a:ext cx="8023860" cy="630936"/>
            <a:chOff x="0" y="0"/>
            <a:chExt cx="10698480" cy="8412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Detection &amp; reporting procedures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061204"/>
            <a:ext cx="8023860" cy="630936"/>
            <a:chOff x="0" y="0"/>
            <a:chExt cx="10698480" cy="8412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Activation criteria &amp; escalation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692140"/>
            <a:ext cx="8023860" cy="630936"/>
            <a:chOff x="0" y="0"/>
            <a:chExt cx="10698480" cy="8412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Containment / eradication / recovery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95460" y="2537460"/>
            <a:ext cx="8023860" cy="630936"/>
            <a:chOff x="0" y="0"/>
            <a:chExt cx="10698480" cy="841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Communications plan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95460" y="3168396"/>
            <a:ext cx="8023860" cy="630936"/>
            <a:chOff x="0" y="0"/>
            <a:chExt cx="10698480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8. Evidence handling &amp; chain of custody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95460" y="3799332"/>
            <a:ext cx="8023860" cy="630936"/>
            <a:chOff x="0" y="0"/>
            <a:chExt cx="10698480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9. Post-incident review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95460" y="4430268"/>
            <a:ext cx="8023860" cy="630936"/>
            <a:chOff x="0" y="0"/>
            <a:chExt cx="10698480" cy="8412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10. Plan maintenance &amp; testing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95460" y="5061204"/>
            <a:ext cx="8023860" cy="630936"/>
            <a:chOff x="0" y="0"/>
            <a:chExt cx="10698480" cy="8412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984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98" r="0" b="-19779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69848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11. Appendices (contacts, flowcharts, playbooks)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1680" y="-20574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CIRP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Deadline That Isn't Optional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880360"/>
            <a:ext cx="4937760" cy="3017520"/>
            <a:chOff x="0" y="0"/>
            <a:chExt cx="6583680" cy="4023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407" t="0" r="-2840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583680" cy="4032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B886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5692140"/>
            <a:ext cx="4389120" cy="685800"/>
            <a:chOff x="0" y="0"/>
            <a:chExt cx="585216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852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E8EE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HOURS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95160" y="3154680"/>
            <a:ext cx="10424160" cy="4937760"/>
            <a:chOff x="0" y="0"/>
            <a:chExt cx="13898880" cy="6583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8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775" t="0" r="-1077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13898880" cy="6697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2250">
                  <a:solidFill>
                    <a:srgbClr val="E8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a breach involves personal data — and constituent property tax or ID records certainly count — your Data Protection Officer must determine notifiability and submit through the National Privacy Commission's Data Breach Notification Management System (DBNMS) within 72 hours of knowing the breach occurred.</a:t>
              </a:r>
            </a:p>
            <a:p>
              <a:pPr algn="l">
                <a:lnSpc>
                  <a:spcPts val="3300"/>
                </a:lnSpc>
              </a:pPr>
            </a:p>
            <a:p>
              <a:pPr algn="l">
                <a:lnSpc>
                  <a:spcPts val="3300"/>
                </a:lnSpc>
              </a:pPr>
              <a:r>
                <a:rPr lang="en-US" sz="2250">
                  <a:solidFill>
                    <a:srgbClr val="E8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is a legal deadline under the Data Privacy Act (RA 10173) and NPC Circular 16-03 — not a courtesy, and not the same clock as any ransom deadline an attacker sets.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5820" y="476948"/>
            <a:ext cx="16596360" cy="3226372"/>
            <a:chOff x="0" y="0"/>
            <a:chExt cx="22128480" cy="43018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4301829"/>
            </a:xfrm>
            <a:custGeom>
              <a:avLst/>
              <a:gdLst/>
              <a:ahLst/>
              <a:cxnLst/>
              <a:rect r="r" b="b" t="t" l="l"/>
              <a:pathLst>
                <a:path h="430182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301829"/>
                  </a:lnTo>
                  <a:lnTo>
                    <a:pt x="0" y="43018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99" r="0" b="-193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43113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CIRP Drafting Workshop: ferdienervida.com/cirpcreator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16596360" cy="6309360"/>
            <a:chOff x="0" y="0"/>
            <a:chExt cx="22128480" cy="841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017520"/>
            <a:ext cx="15499080" cy="685800"/>
            <a:chOff x="0" y="0"/>
            <a:chExt cx="2066544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65439" cy="914400"/>
            </a:xfrm>
            <a:custGeom>
              <a:avLst/>
              <a:gdLst/>
              <a:ahLst/>
              <a:cxnLst/>
              <a:rect r="r" b="b" t="t" l="l"/>
              <a:pathLst>
                <a:path h="9144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66544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 minutes · by office/department: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600" y="411480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411480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00300" y="4046220"/>
            <a:ext cx="14538960" cy="822960"/>
            <a:chOff x="0" y="0"/>
            <a:chExt cx="1938528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38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 groups by office — a plan drafted for your own office lands harder than a generic one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5102352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5102352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00300" y="5033772"/>
            <a:ext cx="14538960" cy="822960"/>
            <a:chOff x="0" y="0"/>
            <a:chExt cx="19385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38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 Sections 1-7 first (Purpose through Communications Plan) — the highest-value ground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6089904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6089904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00300" y="6021324"/>
            <a:ext cx="14538960" cy="822960"/>
            <a:chOff x="0" y="0"/>
            <a:chExt cx="19385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938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actual people for every role in Section 3, not just titles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1600" y="7077456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1600" y="7077456"/>
            <a:ext cx="685800" cy="685800"/>
            <a:chOff x="0" y="0"/>
            <a:chExt cx="914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400300" y="7008876"/>
            <a:ext cx="14538960" cy="822960"/>
            <a:chOff x="0" y="0"/>
            <a:chExt cx="19385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938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Note your Data Protection Officer explicitly in Section 7 — they own the 72-hour clock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1600" y="8065008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8065008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400300" y="7996428"/>
            <a:ext cx="14538960" cy="822960"/>
            <a:chOff x="0" y="0"/>
            <a:chExt cx="193852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38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938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draft will not be finished today, and it isn't supposed to be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172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429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223260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116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9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48940" y="2948940"/>
            <a:ext cx="13716000" cy="1783080"/>
            <a:chOff x="0" y="0"/>
            <a:chExt cx="18288000" cy="2377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Tabletop Exercise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48940" y="4732020"/>
            <a:ext cx="13030200" cy="822960"/>
            <a:chOff x="0" y="0"/>
            <a:chExt cx="17373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37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E8EE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“Operation Silent Harvest” — live the plan you just wrote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 SILENT HARVEST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This 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16596360" cy="1165860"/>
            <a:chOff x="0" y="0"/>
            <a:chExt cx="2212848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12848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00" i="true">
                  <a:solidFill>
                    <a:srgbClr val="5A5A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phishing email referencing a fake COA audit compromises a Treasurer's Office account. The attacker moves laterally across an unsegmented network toward the file server holding property tax and constituent data.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909060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390906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51660" y="3840480"/>
            <a:ext cx="15087600" cy="822960"/>
            <a:chOff x="0" y="0"/>
            <a:chExt cx="201168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0116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Stay in your table group from the drafting workshop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4896612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4896612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51660" y="4828032"/>
            <a:ext cx="15087600" cy="822960"/>
            <a:chOff x="0" y="0"/>
            <a:chExt cx="2011680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0116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 up your copy of the Tabletop Log Sheet on </a:t>
              </a:r>
              <a:r>
                <a:rPr lang="en-US" b="true" sz="2250" u="sng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3" tooltip="https://bit.ly/tabletopcybertraining"/>
                </a:rPr>
                <a:t>bit.ly/tabletopcybertraining</a:t>
              </a:r>
              <a:r>
                <a:rPr lang="en-US" sz="22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fill in your name and department now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5884164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5884164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51660" y="5815584"/>
            <a:ext cx="15087600" cy="822960"/>
            <a:chOff x="0" y="0"/>
            <a:chExt cx="2011680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20116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slide is a moment happening to your office, live — react as your table would actually react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6871716"/>
            <a:ext cx="685800" cy="685800"/>
            <a:chOff x="0" y="0"/>
            <a:chExt cx="9144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6871716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51660" y="6803136"/>
            <a:ext cx="15087600" cy="822960"/>
            <a:chOff x="0" y="0"/>
            <a:chExt cx="201168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20116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each reveal, log what your group decided before the next one appears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7859268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" y="7859268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51660" y="7790688"/>
            <a:ext cx="15087600" cy="822960"/>
            <a:chOff x="0" y="0"/>
            <a:chExt cx="2011680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20116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There is no pause to read a handout — if you're unsure, write down the uncertainty itself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8983980"/>
            <a:ext cx="16596360" cy="617220"/>
            <a:chOff x="0" y="0"/>
            <a:chExt cx="22128480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12848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931" r="0" b="-4739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21284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B886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fault, no grading — the goal is to find the gaps in your plan now, not during a real incident.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822960"/>
            <a:ext cx="10972800" cy="685800"/>
            <a:chOff x="0" y="0"/>
            <a:chExt cx="14630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 SCENARIO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2331720"/>
            <a:ext cx="16047720" cy="1783080"/>
            <a:chOff x="0" y="0"/>
            <a:chExt cx="21396960" cy="2377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96961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21396960" cy="2358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 is a Tuesday morning.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4183380"/>
            <a:ext cx="15773400" cy="3429000"/>
            <a:chOff x="0" y="0"/>
            <a:chExt cx="21031200" cy="457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031200" cy="466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550">
                  <a:solidFill>
                    <a:srgbClr val="E8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staff member in the Provincial Treasurer's Office opened an email two days ago that looked like a routine COA audit request. It carried a malicious attachment. A helpdesk ticket just came in: their computer has been “running slow,” and a strange black window flashed open this morning before disappearing.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8435340"/>
            <a:ext cx="16047720" cy="960120"/>
            <a:chOff x="0" y="0"/>
            <a:chExt cx="213969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0180" y="8435340"/>
            <a:ext cx="15361920" cy="960120"/>
            <a:chOff x="0" y="0"/>
            <a:chExt cx="204825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4825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What does your CIRP say to do right now? Log it.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 Silent Harvest — tabletop exercise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822960"/>
            <a:ext cx="10972800" cy="685800"/>
            <a:chOff x="0" y="0"/>
            <a:chExt cx="14630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INJECT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440180"/>
            <a:ext cx="10972800" cy="548640"/>
            <a:chOff x="0" y="0"/>
            <a:chExt cx="14630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~10 minutes 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331720"/>
            <a:ext cx="16047720" cy="1783080"/>
            <a:chOff x="0" y="0"/>
            <a:chExt cx="21396960" cy="237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96961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1396960" cy="2358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Unusual login activity.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183380"/>
            <a:ext cx="15773400" cy="3429000"/>
            <a:chOff x="0" y="0"/>
            <a:chExt cx="21031200" cy="457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1031200" cy="466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550">
                  <a:solidFill>
                    <a:srgbClr val="FDED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account logged in at 2:14 AM from an unfamiliar location, and reached three servers it has never touched before. None of the Treasurer's Office accounts have multi-factor authentication enabled.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84353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0180" y="8435340"/>
            <a:ext cx="15361920" cy="960120"/>
            <a:chOff x="0" y="0"/>
            <a:chExt cx="204825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4825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What does the absence of MFA tell you about how far this may have already spread? Log your action.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 Silent Harvest — tabletop exercise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822960"/>
            <a:ext cx="10972800" cy="685800"/>
            <a:chOff x="0" y="0"/>
            <a:chExt cx="14630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INJECT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440180"/>
            <a:ext cx="10972800" cy="548640"/>
            <a:chOff x="0" y="0"/>
            <a:chExt cx="14630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~20 minutes 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331720"/>
            <a:ext cx="16047720" cy="1783080"/>
            <a:chOff x="0" y="0"/>
            <a:chExt cx="21396960" cy="237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96961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1396960" cy="2358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Ransom note discovered.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183380"/>
            <a:ext cx="15773400" cy="3429000"/>
            <a:chOff x="0" y="0"/>
            <a:chExt cx="21031200" cy="457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1031200" cy="466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550">
                  <a:solidFill>
                    <a:srgbClr val="FDED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Shared drives across the Treasurer's and Assessor's Offices now show a file named READ_ME_NOW.txt. Property tax records and a spreadsheet of constituent names, addresses, and TINs have been renamed with a .locked extension.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84353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0180" y="8435340"/>
            <a:ext cx="15361920" cy="960120"/>
            <a:chOff x="0" y="0"/>
            <a:chExt cx="204825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4825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Turn to Section 3 of your CIRP. Who did you name as DPO? Are they in the room? Log your action.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 Silent Harvest — tabletop exercise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822960"/>
            <a:ext cx="10972800" cy="685800"/>
            <a:chOff x="0" y="0"/>
            <a:chExt cx="14630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INJECT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440180"/>
            <a:ext cx="10972800" cy="548640"/>
            <a:chOff x="0" y="0"/>
            <a:chExt cx="14630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~30 minutes 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331720"/>
            <a:ext cx="16047720" cy="1783080"/>
            <a:chOff x="0" y="0"/>
            <a:chExt cx="21396960" cy="237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96961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1396960" cy="2358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reporter is calling.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183380"/>
            <a:ext cx="15773400" cy="3429000"/>
            <a:chOff x="0" y="0"/>
            <a:chExt cx="21031200" cy="457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1031200" cy="466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550">
                  <a:solidFill>
                    <a:srgbClr val="FDED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local news outlet calls the Provincial Information Office, asking to confirm “reports circulating on Facebook that the Provincial Government has been hacked,” and wants a statement within the hour.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84353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0180" y="8435340"/>
            <a:ext cx="15361920" cy="960120"/>
            <a:chOff x="0" y="0"/>
            <a:chExt cx="204825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4825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Turn to Section 7. Who is authorized to speak, and who signs off first? Log your action.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 Silent Harvest — tabletop exercise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822960"/>
            <a:ext cx="10972800" cy="685800"/>
            <a:chOff x="0" y="0"/>
            <a:chExt cx="14630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INJECT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440180"/>
            <a:ext cx="10972800" cy="548640"/>
            <a:chOff x="0" y="0"/>
            <a:chExt cx="14630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~40 minutes 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331720"/>
            <a:ext cx="16047720" cy="1783080"/>
            <a:chOff x="0" y="0"/>
            <a:chExt cx="21396960" cy="237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96961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1396960" cy="2358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72 hours. Pay, or the data leaks.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183380"/>
            <a:ext cx="15773400" cy="3429000"/>
            <a:chOff x="0" y="0"/>
            <a:chExt cx="21031200" cy="457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1031200" cy="466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550">
                  <a:solidFill>
                    <a:srgbClr val="FDED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ransom note demands cryptocurrency payment within 72 hours or the stolen constituent data goes public. That is not the same 72-hour clock as your NPC breach notification obligation — and both are now running.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84353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0180" y="8435340"/>
            <a:ext cx="15361920" cy="960120"/>
            <a:chOff x="0" y="0"/>
            <a:chExt cx="204825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4825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Which clock did your DPO start, and when? Log your action.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 Silent Harvest — tabletop exercise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822960"/>
            <a:ext cx="10972800" cy="685800"/>
            <a:chOff x="0" y="0"/>
            <a:chExt cx="14630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INJECT 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440180"/>
            <a:ext cx="10972800" cy="548640"/>
            <a:chOff x="0" y="0"/>
            <a:chExt cx="14630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~50 minutes 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331720"/>
            <a:ext cx="16047720" cy="1783080"/>
            <a:chOff x="0" y="0"/>
            <a:chExt cx="21396960" cy="237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96961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1396960" cy="2358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backups may be compromised too.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183380"/>
            <a:ext cx="15773400" cy="3429000"/>
            <a:chOff x="0" y="0"/>
            <a:chExt cx="21031200" cy="457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1031200" cy="466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550">
                  <a:solidFill>
                    <a:srgbClr val="FDED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confirms backups exist, but the last verified successful backup was five days ago — and the backup service account shares a password with several other admin accounts on the network.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84353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70181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0180" y="8435340"/>
            <a:ext cx="15361920" cy="960120"/>
            <a:chOff x="0" y="0"/>
            <a:chExt cx="204825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4825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Is your recovery plan still “clean”? Log your action.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 Silent Harvest — tabletop exercise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5087600" cy="480060"/>
            <a:chOff x="0" y="0"/>
            <a:chExt cx="20116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 SILENT HARVEST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A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Debrief &amp; Reflection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16596360" cy="685800"/>
            <a:chOff x="0" y="0"/>
            <a:chExt cx="2212848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5A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Turn to the Debrief &amp; Reflection section of your Log Sheet. Take five minutes with your table.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429000"/>
            <a:ext cx="891540" cy="891540"/>
            <a:chOff x="0" y="0"/>
            <a:chExt cx="1188720" cy="1188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3429000"/>
            <a:ext cx="891540" cy="891540"/>
            <a:chOff x="0" y="0"/>
            <a:chExt cx="118872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57400" y="3429000"/>
            <a:ext cx="15361920" cy="1371600"/>
            <a:chOff x="0" y="0"/>
            <a:chExt cx="2048256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400300" y="3429000"/>
            <a:ext cx="14676120" cy="1371600"/>
            <a:chOff x="0" y="0"/>
            <a:chExt cx="1956816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681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5681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actions from your CIRP worked well?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5143500"/>
            <a:ext cx="891540" cy="891540"/>
            <a:chOff x="0" y="0"/>
            <a:chExt cx="1188720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5143500"/>
            <a:ext cx="891540" cy="891540"/>
            <a:chOff x="0" y="0"/>
            <a:chExt cx="1188720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57400" y="5143500"/>
            <a:ext cx="15361920" cy="1371600"/>
            <a:chOff x="0" y="0"/>
            <a:chExt cx="2048256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4825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400300" y="5143500"/>
            <a:ext cx="14676120" cy="1371600"/>
            <a:chOff x="0" y="0"/>
            <a:chExt cx="1956816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5681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95681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did your CIRP or playbook fall short?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6858000"/>
            <a:ext cx="891540" cy="891540"/>
            <a:chOff x="0" y="0"/>
            <a:chExt cx="1188720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3A5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6858000"/>
            <a:ext cx="891540" cy="891540"/>
            <a:chOff x="0" y="0"/>
            <a:chExt cx="1188720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6858000"/>
            <a:ext cx="15361920" cy="1371600"/>
            <a:chOff x="0" y="0"/>
            <a:chExt cx="2048256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825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400300" y="6858000"/>
            <a:ext cx="14676120" cy="1371600"/>
            <a:chOff x="0" y="0"/>
            <a:chExt cx="1956816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681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95681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 3 improvements your department will make to your CIRP/playbook after this exercise.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8915400"/>
            <a:ext cx="16596360" cy="617220"/>
            <a:chOff x="0" y="0"/>
            <a:chExt cx="2212848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12848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931" r="0" b="-4739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21284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B886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fault, no grading — the gaps you just found are the whole point.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 Morning — Incident Response Planning and Playbooks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DAHT1K_swQ0</dc:identifier>
  <dcterms:modified xsi:type="dcterms:W3CDTF">2011-08-01T06:04:30Z</dcterms:modified>
  <cp:revision>1</cp:revision>
  <dc:title>DAY 2 CYBER DEL NORTE</dc:title>
</cp:coreProperties>
</file>